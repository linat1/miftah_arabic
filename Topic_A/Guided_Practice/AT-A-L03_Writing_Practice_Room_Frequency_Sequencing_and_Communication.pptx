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Lst>
  <p:notesMasterIdLst>
    <p:notesMasterId r:id="rId25"/>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notesMaster" Target="notesMasters/notesMaster1.xml"/><Relationship Id="rId26" Type="http://schemas.openxmlformats.org/officeDocument/2006/relationships/presProps" Target="presProps.xml"/><Relationship Id="rId27" Type="http://schemas.openxmlformats.org/officeDocument/2006/relationships/viewProps" Target="viewProps.xml"/><Relationship Id="rId28" Type="http://schemas.openxmlformats.org/officeDocument/2006/relationships/theme" Target="theme/theme1.xml"/><Relationship Id="rId29"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WRITING PRACTICE ROOM AT A GLANCE — 55–60 minutes; short launch in the main room, then writing pairs in breakout rooms (each student writes their OWN text; the buddy checks), back together to compare.
0–2 Welcome · 2–5 How the room works · ROOMS: Step 1 Q1 warm-up (4) · Step 2 Decode the Q2 task (6) · Step 3 Upgrade sentences (6) · Step 4 Write Q2 + buddy swap (14) · Step 5 Spot and fix + buddy check (6) · Step 6 One Q3 paragraph (10) · back together: Check yourself (5) · Self-check + close (2).
PURPOSE: students learn a REPEATABLE PROCESS for Paper 4 (decode → plan → write → check) and write independently, with support that fades.
CONTENT: Advanced Topic A · Everyday Activities, Lesson 3 (Frequency, Sequencing and Communication, AT-A-L03) — new writing tasks (not the Exam Practice workshop tasks).
WHERE TO WRITE: a page in the class notebook / a shared document (each student their own), or paper + a photo to the teacher. Buddies read each other’s page in Step 4 and Step 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(2 min). Show where students write. Then open the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(4 min). Personal answers, so no single model: the buddy checks meaning and spelling. Core: boxes 1–5.</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(2 min). Missing a bullet is the most common way to lose marks in Q2 — decoding stops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 read the task. Then decode it on the next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(3 min). Students decode in pairs; Core students may use the English on the task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answers (1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(2 min). Each line adds ONE thing. Students will do the same with their own sentences in Step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3 (4 min). Read the English, then choose the correct part from each column (start on the RIGHT, column 1). Buddies agree before checking the answer slide. Watch the agreement and the verb after أَنْ.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support. Core: use the Core frames for every bullet. Develop: use the Develop frames only if stuck. Stretch: no frames — add a contrast and a future plan.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4 (14 min). Teacher visits each room and reads ONE paragraph per student: one correction, one praise.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 Pairs agree on each correction before the answer slide. Then they look for the SAME mistakes in their own Q2.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(3 min).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(2 min). One paragraph done well is the building block of Q3: four paragraphs like this = a full Q3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(8 min). Core: 3–4 sentences using the bank. Develop: the full formula. Stretch: the formula + a contrast and a future link. Homework: write the other three paragraphs.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(76 words). CHECK YOURSELF (3 min, main room or rooms). Find the four bullets. Then each student copies ONE phrase from the model into their own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(61 words). CHECK YOURSELF (2 min). Students label T, D, R and F in the model, then in their own paragraph.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A · GUIDED PRACTICE  ·  AT-A-L03</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AT-A-L03</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Writing Practice Room — Frequency and Communication</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الكِتَابَةِ — التَّكْرَارُ وَالتَّوَاصُلُ</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Students practise the writing process in breakout rooms: a Q1 warm-up, decoding a new Q2 task (a message to a new pen-friend), upgrading sentences, writing with a buddy, spotting and fixing errors, and one Q3 paragraph with the T-D-R-F formula.</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AT-A-L03 · Advanced Topic A · Everyday Activities · guided practice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A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A › AT-A-L03</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23</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Six steps to a strong answer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552956"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19" name="Shape 16"/>
          <p:cNvSpPr/>
          <p:nvPr/>
        </p:nvSpPr>
        <p:spPr>
          <a:xfrm>
            <a:off x="1142238"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14223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1: Q1 form warm-up.</a:t>
            </a:r>
            <a:endParaRPr lang="en-US" sz="1200" dirty="0"/>
          </a:p>
        </p:txBody>
      </p:sp>
      <p:sp>
        <p:nvSpPr>
          <p:cNvPr id="22" name="Text 19"/>
          <p:cNvSpPr txBox="1"/>
          <p:nvPr/>
        </p:nvSpPr>
        <p:spPr>
          <a:xfrm>
            <a:off x="54864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الاسْتِمَارَةُ</a:t>
            </a:r>
            <a:endParaRPr lang="ar-SA" sz="1500" dirty="0"/>
          </a:p>
        </p:txBody>
      </p:sp>
      <p:sp>
        <p:nvSpPr>
          <p:cNvPr id="23" name="Shape 20"/>
          <p:cNvSpPr/>
          <p:nvPr/>
        </p:nvSpPr>
        <p:spPr>
          <a:xfrm>
            <a:off x="2357628"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467356" y="1938528"/>
            <a:ext cx="1552956" cy="566928"/>
          </a:xfrm>
          <a:prstGeom prst="roundRect">
            <a:avLst>
              <a:gd name="adj" fmla="val 9677"/>
            </a:avLst>
          </a:prstGeom>
          <a:solidFill>
            <a:srgbClr val="2F6FB0"/>
          </a:solidFill>
          <a:ln w="12700">
            <a:solidFill>
              <a:srgbClr val="2F6FB0"/>
            </a:solidFill>
            <a:prstDash val="solid"/>
          </a:ln>
        </p:spPr>
      </p:sp>
      <p:sp>
        <p:nvSpPr>
          <p:cNvPr id="25" name="Text 22"/>
          <p:cNvSpPr txBox="1"/>
          <p:nvPr/>
        </p:nvSpPr>
        <p:spPr>
          <a:xfrm>
            <a:off x="2503932"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26" name="Text 23"/>
          <p:cNvSpPr txBox="1"/>
          <p:nvPr/>
        </p:nvSpPr>
        <p:spPr>
          <a:xfrm>
            <a:off x="2503932"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27" name="Shape 24"/>
          <p:cNvSpPr/>
          <p:nvPr/>
        </p:nvSpPr>
        <p:spPr>
          <a:xfrm>
            <a:off x="3042666"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04266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485644"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2: decode the question.</a:t>
            </a:r>
            <a:endParaRPr lang="en-US" sz="1200" dirty="0"/>
          </a:p>
        </p:txBody>
      </p:sp>
      <p:sp>
        <p:nvSpPr>
          <p:cNvPr id="30" name="Text 27"/>
          <p:cNvSpPr txBox="1"/>
          <p:nvPr/>
        </p:nvSpPr>
        <p:spPr>
          <a:xfrm>
            <a:off x="2449068"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افْهَمِ السُّؤَالَ</a:t>
            </a:r>
            <a:endParaRPr lang="ar-SA" sz="1500" dirty="0"/>
          </a:p>
        </p:txBody>
      </p:sp>
      <p:sp>
        <p:nvSpPr>
          <p:cNvPr id="31" name="Shape 28"/>
          <p:cNvSpPr/>
          <p:nvPr/>
        </p:nvSpPr>
        <p:spPr>
          <a:xfrm>
            <a:off x="4258056"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4367784" y="1938528"/>
            <a:ext cx="1552956"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4404360"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4404360"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35" name="Shape 32"/>
          <p:cNvSpPr/>
          <p:nvPr/>
        </p:nvSpPr>
        <p:spPr>
          <a:xfrm>
            <a:off x="4943094"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9430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4386072"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3: upgrade your sentences.</a:t>
            </a:r>
            <a:endParaRPr lang="en-US" sz="1200" dirty="0"/>
          </a:p>
        </p:txBody>
      </p:sp>
      <p:sp>
        <p:nvSpPr>
          <p:cNvPr id="38" name="Text 35"/>
          <p:cNvSpPr txBox="1"/>
          <p:nvPr/>
        </p:nvSpPr>
        <p:spPr>
          <a:xfrm>
            <a:off x="4349496"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حَسِّنْ جُمَلَكَ</a:t>
            </a:r>
            <a:endParaRPr lang="ar-SA" sz="1500" dirty="0"/>
          </a:p>
        </p:txBody>
      </p:sp>
      <p:sp>
        <p:nvSpPr>
          <p:cNvPr id="39" name="Shape 36"/>
          <p:cNvSpPr/>
          <p:nvPr/>
        </p:nvSpPr>
        <p:spPr>
          <a:xfrm>
            <a:off x="6158484"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6268212" y="1938528"/>
            <a:ext cx="1552956"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6304788"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6304788"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43" name="Shape 40"/>
          <p:cNvSpPr/>
          <p:nvPr/>
        </p:nvSpPr>
        <p:spPr>
          <a:xfrm>
            <a:off x="68435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68435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6286500"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4: write Q2, then swap with your buddy.</a:t>
            </a:r>
            <a:endParaRPr lang="en-US" sz="1200" dirty="0"/>
          </a:p>
        </p:txBody>
      </p:sp>
      <p:sp>
        <p:nvSpPr>
          <p:cNvPr id="46" name="Text 43"/>
          <p:cNvSpPr txBox="1"/>
          <p:nvPr/>
        </p:nvSpPr>
        <p:spPr>
          <a:xfrm>
            <a:off x="6249924"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8058912"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8168640" y="1938528"/>
            <a:ext cx="155295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8205216"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8205216"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6 min</a:t>
            </a:r>
            <a:endParaRPr lang="en-US" sz="1000" dirty="0"/>
          </a:p>
        </p:txBody>
      </p:sp>
      <p:sp>
        <p:nvSpPr>
          <p:cNvPr id="51" name="Shape 48"/>
          <p:cNvSpPr/>
          <p:nvPr/>
        </p:nvSpPr>
        <p:spPr>
          <a:xfrm>
            <a:off x="8743950"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874395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8186928"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5: spot and fix · buddy check.</a:t>
            </a:r>
            <a:endParaRPr lang="en-US" sz="1200" dirty="0"/>
          </a:p>
        </p:txBody>
      </p:sp>
      <p:sp>
        <p:nvSpPr>
          <p:cNvPr id="54" name="Text 51"/>
          <p:cNvSpPr txBox="1"/>
          <p:nvPr/>
        </p:nvSpPr>
        <p:spPr>
          <a:xfrm>
            <a:off x="8150352"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صَحِّحْ</a:t>
            </a:r>
            <a:endParaRPr lang="ar-SA" sz="1500" dirty="0"/>
          </a:p>
        </p:txBody>
      </p:sp>
      <p:sp>
        <p:nvSpPr>
          <p:cNvPr id="55" name="Shape 52"/>
          <p:cNvSpPr/>
          <p:nvPr/>
        </p:nvSpPr>
        <p:spPr>
          <a:xfrm>
            <a:off x="9959340" y="1828800"/>
            <a:ext cx="1772412" cy="3246120"/>
          </a:xfrm>
          <a:prstGeom prst="roundRect">
            <a:avLst>
              <a:gd name="adj" fmla="val 412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10069068" y="1938528"/>
            <a:ext cx="1552956" cy="566928"/>
          </a:xfrm>
          <a:prstGeom prst="roundRect">
            <a:avLst>
              <a:gd name="adj" fmla="val 9677"/>
            </a:avLst>
          </a:prstGeom>
          <a:solidFill>
            <a:srgbClr val="1E6B52"/>
          </a:solidFill>
          <a:ln w="12700">
            <a:solidFill>
              <a:srgbClr val="1E6B52"/>
            </a:solidFill>
            <a:prstDash val="solid"/>
          </a:ln>
        </p:spPr>
      </p:sp>
      <p:sp>
        <p:nvSpPr>
          <p:cNvPr id="57" name="Text 54"/>
          <p:cNvSpPr txBox="1"/>
          <p:nvPr/>
        </p:nvSpPr>
        <p:spPr>
          <a:xfrm>
            <a:off x="10105644" y="1956816"/>
            <a:ext cx="147980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8" name="Text 55"/>
          <p:cNvSpPr txBox="1"/>
          <p:nvPr/>
        </p:nvSpPr>
        <p:spPr>
          <a:xfrm>
            <a:off x="10105644" y="2249424"/>
            <a:ext cx="147980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59" name="Shape 56"/>
          <p:cNvSpPr/>
          <p:nvPr/>
        </p:nvSpPr>
        <p:spPr>
          <a:xfrm>
            <a:off x="10644378"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1064437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10087356" y="3145536"/>
            <a:ext cx="151638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6: one Q3 paragraph.</a:t>
            </a:r>
            <a:endParaRPr lang="en-US" sz="1200" dirty="0"/>
          </a:p>
        </p:txBody>
      </p:sp>
      <p:sp>
        <p:nvSpPr>
          <p:cNvPr id="62" name="Text 59"/>
          <p:cNvSpPr txBox="1"/>
          <p:nvPr/>
        </p:nvSpPr>
        <p:spPr>
          <a:xfrm>
            <a:off x="10050780" y="4526280"/>
            <a:ext cx="158953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فِقْرَةٌ</a:t>
            </a:r>
            <a:endParaRPr lang="ar-SA" sz="1500" dirty="0"/>
          </a:p>
        </p:txBody>
      </p:sp>
      <p:sp>
        <p:nvSpPr>
          <p:cNvPr id="63" name="Shape 60"/>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64" name="Text 61"/>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65" name="Text 62"/>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Everyone writes their own answer. Your buddy reads it and checks it with the checklist. The models come at the very end — try first!</a:t>
            </a:r>
            <a:endParaRPr lang="en-US" sz="1250" dirty="0"/>
          </a:p>
        </p:txBody>
      </p:sp>
      <p:sp>
        <p:nvSpPr>
          <p:cNvPr id="66" name="Text 6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23</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WRITING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alone, check together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HOW IT WORKS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Rooms of two or three. Each person writes their OWN answer on their own page.</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keeps the time for each step and moves the room on.</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BUDDY — after each writing step, swap pages and check with the checklist (Step 5).</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Try every step BEFORE you look at a model. The models are at the end.</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PROCESS YOU WILL USE IN THE EXAM</a:t>
            </a:r>
            <a:endParaRPr lang="en-US" sz="1000" dirty="0"/>
          </a:p>
        </p:txBody>
      </p:sp>
      <p:sp>
        <p:nvSpPr>
          <p:cNvPr id="31" name="Text 28"/>
          <p:cNvSpPr txBox="1"/>
          <p:nvPr/>
        </p:nvSpPr>
        <p:spPr>
          <a:xfrm>
            <a:off x="6949440" y="2194560"/>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افْهَمْ ← خَطِّطْ ← اكْتُبْ ← رَاجِعْ</a:t>
            </a:r>
            <a:endParaRPr lang="ar-SA" sz="2800" dirty="0"/>
          </a:p>
        </p:txBody>
      </p:sp>
      <p:sp>
        <p:nvSpPr>
          <p:cNvPr id="32" name="Text 29"/>
          <p:cNvSpPr txBox="1"/>
          <p:nvPr/>
        </p:nvSpPr>
        <p:spPr>
          <a:xfrm>
            <a:off x="6949440" y="3336463"/>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decode → plan → write → check</a:t>
            </a:r>
            <a:endParaRPr lang="en-US" sz="1100" dirty="0"/>
          </a:p>
        </p:txBody>
      </p:sp>
      <p:sp>
        <p:nvSpPr>
          <p:cNvPr id="33" name="Shape 30"/>
          <p:cNvSpPr/>
          <p:nvPr/>
        </p:nvSpPr>
        <p:spPr>
          <a:xfrm>
            <a:off x="6995160" y="4215384"/>
            <a:ext cx="4553712" cy="0"/>
          </a:xfrm>
          <a:prstGeom prst="line">
            <a:avLst/>
          </a:prstGeom>
          <a:noFill/>
          <a:ln w="9525">
            <a:solidFill>
              <a:srgbClr val="E4DCCB"/>
            </a:solidFill>
            <a:prstDash val="dash"/>
          </a:ln>
        </p:spPr>
      </p:sp>
      <p:sp>
        <p:nvSpPr>
          <p:cNvPr id="34" name="Text 31"/>
          <p:cNvSpPr txBox="1"/>
          <p:nvPr/>
        </p:nvSpPr>
        <p:spPr>
          <a:xfrm>
            <a:off x="6949440" y="4233672"/>
            <a:ext cx="4645152" cy="1141903"/>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نُقْطَةٌ وَاحِدَةٌ = فِقْرَةٌ وَاحِدَةٌ</a:t>
            </a:r>
            <a:endParaRPr lang="ar-SA" sz="2800" dirty="0"/>
          </a:p>
        </p:txBody>
      </p:sp>
      <p:sp>
        <p:nvSpPr>
          <p:cNvPr id="35" name="Text 32"/>
          <p:cNvSpPr txBox="1"/>
          <p:nvPr/>
        </p:nvSpPr>
        <p:spPr>
          <a:xfrm>
            <a:off x="6949440" y="5375575"/>
            <a:ext cx="4645152" cy="815645"/>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bullet point = one paragraph</a:t>
            </a:r>
            <a:endParaRPr lang="en-US" sz="11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23</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1 · Q1 WARM-UP · 4 MINUTES · A SHORT ANSWER IN EACH BOX</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Pen-friend club: registration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نَادِي المُرَاسَلَةِ: التَّسْجِيلُ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99832" y="1810512"/>
            <a:ext cx="38587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Tip</a:t>
            </a:r>
            <a:endParaRPr lang="en-US" sz="1100" dirty="0"/>
          </a:p>
        </p:txBody>
      </p:sp>
      <p:sp>
        <p:nvSpPr>
          <p:cNvPr id="17" name="Text 14"/>
          <p:cNvSpPr txBox="1"/>
          <p:nvPr/>
        </p:nvSpPr>
        <p:spPr>
          <a:xfrm>
            <a:off x="4873752" y="1810512"/>
            <a:ext cx="27797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What to write</a:t>
            </a:r>
            <a:endParaRPr lang="en-US" sz="1100" dirty="0"/>
          </a:p>
        </p:txBody>
      </p:sp>
      <p:sp>
        <p:nvSpPr>
          <p:cNvPr id="18" name="Text 15"/>
          <p:cNvSpPr txBox="1"/>
          <p:nvPr/>
        </p:nvSpPr>
        <p:spPr>
          <a:xfrm>
            <a:off x="1033272"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form</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1" name="Text 18"/>
          <p:cNvSpPr txBox="1"/>
          <p:nvPr/>
        </p:nvSpPr>
        <p:spPr>
          <a:xfrm>
            <a:off x="7836408" y="2267712"/>
            <a:ext cx="382219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First name + family name.</a:t>
            </a:r>
            <a:endParaRPr lang="en-US" sz="1100" dirty="0"/>
          </a:p>
        </p:txBody>
      </p:sp>
      <p:sp>
        <p:nvSpPr>
          <p:cNvPr id="22" name="Text 19"/>
          <p:cNvSpPr txBox="1"/>
          <p:nvPr/>
        </p:nvSpPr>
        <p:spPr>
          <a:xfrm>
            <a:off x="4910328" y="226771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Name</a:t>
            </a:r>
            <a:endParaRPr lang="en-US" sz="1100" dirty="0"/>
          </a:p>
        </p:txBody>
      </p:sp>
      <p:sp>
        <p:nvSpPr>
          <p:cNvPr id="23" name="Text 20"/>
          <p:cNvSpPr txBox="1"/>
          <p:nvPr/>
        </p:nvSpPr>
        <p:spPr>
          <a:xfrm>
            <a:off x="1051560" y="226771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الاسْمُ</a:t>
            </a:r>
            <a:endParaRPr lang="ar-SA" sz="1700" dirty="0"/>
          </a:p>
        </p:txBody>
      </p:sp>
      <p:sp>
        <p:nvSpPr>
          <p:cNvPr id="24" name="Text 21"/>
          <p:cNvSpPr txBox="1"/>
          <p:nvPr/>
        </p:nvSpPr>
        <p:spPr>
          <a:xfrm>
            <a:off x="566928" y="226771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8" name="Text 25"/>
          <p:cNvSpPr txBox="1"/>
          <p:nvPr/>
        </p:nvSpPr>
        <p:spPr>
          <a:xfrm>
            <a:off x="7818120" y="2881884"/>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بِرِيطَانِيَا</a:t>
            </a:r>
            <a:endParaRPr lang="ar-SA" sz="2000" dirty="0"/>
          </a:p>
        </p:txBody>
      </p:sp>
      <p:sp>
        <p:nvSpPr>
          <p:cNvPr id="29" name="Text 26"/>
          <p:cNvSpPr txBox="1"/>
          <p:nvPr/>
        </p:nvSpPr>
        <p:spPr>
          <a:xfrm>
            <a:off x="4910328" y="2881884"/>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Country</a:t>
            </a:r>
            <a:endParaRPr lang="en-US" sz="1100" dirty="0"/>
          </a:p>
        </p:txBody>
      </p:sp>
      <p:sp>
        <p:nvSpPr>
          <p:cNvPr id="30" name="Text 27"/>
          <p:cNvSpPr txBox="1"/>
          <p:nvPr/>
        </p:nvSpPr>
        <p:spPr>
          <a:xfrm>
            <a:off x="1051560" y="2881884"/>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البَلَدُ</a:t>
            </a:r>
            <a:endParaRPr lang="ar-SA" sz="1700" dirty="0"/>
          </a:p>
        </p:txBody>
      </p:sp>
      <p:sp>
        <p:nvSpPr>
          <p:cNvPr id="31" name="Text 28"/>
          <p:cNvSpPr txBox="1"/>
          <p:nvPr/>
        </p:nvSpPr>
        <p:spPr>
          <a:xfrm>
            <a:off x="566928" y="2881884"/>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2927604"/>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292760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35" name="Text 32"/>
          <p:cNvSpPr txBox="1"/>
          <p:nvPr/>
        </p:nvSpPr>
        <p:spPr>
          <a:xfrm>
            <a:off x="7818120" y="3496056"/>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الإِنْجِلِيزِيَّةُ وَالعَرَبِيَّةُ</a:t>
            </a:r>
            <a:endParaRPr lang="ar-SA" sz="2000" dirty="0"/>
          </a:p>
        </p:txBody>
      </p:sp>
      <p:sp>
        <p:nvSpPr>
          <p:cNvPr id="36" name="Text 33"/>
          <p:cNvSpPr txBox="1"/>
          <p:nvPr/>
        </p:nvSpPr>
        <p:spPr>
          <a:xfrm>
            <a:off x="4910328" y="3496056"/>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Languages</a:t>
            </a:r>
            <a:endParaRPr lang="en-US" sz="1100" dirty="0"/>
          </a:p>
        </p:txBody>
      </p:sp>
      <p:sp>
        <p:nvSpPr>
          <p:cNvPr id="37" name="Text 34"/>
          <p:cNvSpPr txBox="1"/>
          <p:nvPr/>
        </p:nvSpPr>
        <p:spPr>
          <a:xfrm>
            <a:off x="1051560" y="3496056"/>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اللُّغَاتُ</a:t>
            </a:r>
            <a:endParaRPr lang="ar-SA" sz="1700" dirty="0"/>
          </a:p>
        </p:txBody>
      </p:sp>
      <p:sp>
        <p:nvSpPr>
          <p:cNvPr id="38" name="Text 35"/>
          <p:cNvSpPr txBox="1"/>
          <p:nvPr/>
        </p:nvSpPr>
        <p:spPr>
          <a:xfrm>
            <a:off x="566928" y="3496056"/>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541776"/>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54177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42" name="Text 39"/>
          <p:cNvSpPr txBox="1"/>
          <p:nvPr/>
        </p:nvSpPr>
        <p:spPr>
          <a:xfrm>
            <a:off x="7818120" y="4110228"/>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بِالبَرِيدِ الإِلِكْتْرُونِيِّ</a:t>
            </a:r>
            <a:endParaRPr lang="ar-SA" sz="2000" dirty="0"/>
          </a:p>
        </p:txBody>
      </p:sp>
      <p:sp>
        <p:nvSpPr>
          <p:cNvPr id="43" name="Text 40"/>
          <p:cNvSpPr txBox="1"/>
          <p:nvPr/>
        </p:nvSpPr>
        <p:spPr>
          <a:xfrm>
            <a:off x="4910328" y="4110228"/>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you prefer to keep in touch</a:t>
            </a:r>
            <a:endParaRPr lang="en-US" sz="1100" dirty="0"/>
          </a:p>
        </p:txBody>
      </p:sp>
      <p:sp>
        <p:nvSpPr>
          <p:cNvPr id="44" name="Text 41"/>
          <p:cNvSpPr txBox="1"/>
          <p:nvPr/>
        </p:nvSpPr>
        <p:spPr>
          <a:xfrm>
            <a:off x="1051560" y="4110228"/>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تُفَضِّلُ أَنْ تَتَوَاصَلَ؟</a:t>
            </a:r>
            <a:endParaRPr lang="ar-SA" sz="1700" dirty="0"/>
          </a:p>
        </p:txBody>
      </p:sp>
      <p:sp>
        <p:nvSpPr>
          <p:cNvPr id="45" name="Text 42"/>
          <p:cNvSpPr txBox="1"/>
          <p:nvPr/>
        </p:nvSpPr>
        <p:spPr>
          <a:xfrm>
            <a:off x="566928" y="4110228"/>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155948"/>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15594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Shape 45"/>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49" name="Text 46"/>
          <p:cNvSpPr txBox="1"/>
          <p:nvPr/>
        </p:nvSpPr>
        <p:spPr>
          <a:xfrm>
            <a:off x="7818120" y="4724400"/>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مَرَّةً فِي الأُسْبُوعِ</a:t>
            </a:r>
            <a:endParaRPr lang="ar-SA" sz="2000" dirty="0"/>
          </a:p>
        </p:txBody>
      </p:sp>
      <p:sp>
        <p:nvSpPr>
          <p:cNvPr id="50" name="Text 47"/>
          <p:cNvSpPr txBox="1"/>
          <p:nvPr/>
        </p:nvSpPr>
        <p:spPr>
          <a:xfrm>
            <a:off x="4910328" y="4724400"/>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 you will write</a:t>
            </a:r>
            <a:endParaRPr lang="en-US" sz="1100" dirty="0"/>
          </a:p>
        </p:txBody>
      </p:sp>
      <p:sp>
        <p:nvSpPr>
          <p:cNvPr id="51" name="Text 48"/>
          <p:cNvSpPr txBox="1"/>
          <p:nvPr/>
        </p:nvSpPr>
        <p:spPr>
          <a:xfrm>
            <a:off x="1051560" y="4724400"/>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مَرَّةً تَكْتُبُ؟</a:t>
            </a:r>
            <a:endParaRPr lang="ar-SA" sz="1700" dirty="0"/>
          </a:p>
        </p:txBody>
      </p:sp>
      <p:sp>
        <p:nvSpPr>
          <p:cNvPr id="52" name="Text 49"/>
          <p:cNvSpPr txBox="1"/>
          <p:nvPr/>
        </p:nvSpPr>
        <p:spPr>
          <a:xfrm>
            <a:off x="566928" y="4724400"/>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3" name="Shape 50"/>
          <p:cNvSpPr/>
          <p:nvPr/>
        </p:nvSpPr>
        <p:spPr>
          <a:xfrm>
            <a:off x="11091672" y="4770120"/>
            <a:ext cx="548640" cy="182880"/>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11091672" y="477012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55" name="Shape 52"/>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56" name="Text 53"/>
          <p:cNvSpPr txBox="1"/>
          <p:nvPr/>
        </p:nvSpPr>
        <p:spPr>
          <a:xfrm>
            <a:off x="7818120" y="5338572"/>
            <a:ext cx="3822192"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أُحِبُّ … لِأَنَّ …</a:t>
            </a:r>
            <a:endParaRPr lang="ar-SA" sz="2000" dirty="0"/>
          </a:p>
        </p:txBody>
      </p:sp>
      <p:sp>
        <p:nvSpPr>
          <p:cNvPr id="57" name="Text 54"/>
          <p:cNvSpPr txBox="1"/>
          <p:nvPr/>
        </p:nvSpPr>
        <p:spPr>
          <a:xfrm>
            <a:off x="4910328" y="5338572"/>
            <a:ext cx="274320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ONE sentence: your hobby</a:t>
            </a:r>
            <a:endParaRPr lang="en-US" sz="1100" dirty="0"/>
          </a:p>
        </p:txBody>
      </p:sp>
      <p:sp>
        <p:nvSpPr>
          <p:cNvPr id="58" name="Text 55"/>
          <p:cNvSpPr txBox="1"/>
          <p:nvPr/>
        </p:nvSpPr>
        <p:spPr>
          <a:xfrm>
            <a:off x="1051560" y="5338572"/>
            <a:ext cx="3657600" cy="559308"/>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جُمْلَةٌ: مَا هِوَايَتُكَ؟</a:t>
            </a:r>
            <a:endParaRPr lang="ar-SA" sz="1700" dirty="0"/>
          </a:p>
        </p:txBody>
      </p:sp>
      <p:sp>
        <p:nvSpPr>
          <p:cNvPr id="59" name="Text 56"/>
          <p:cNvSpPr txBox="1"/>
          <p:nvPr/>
        </p:nvSpPr>
        <p:spPr>
          <a:xfrm>
            <a:off x="566928" y="5338572"/>
            <a:ext cx="32004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6</a:t>
            </a:r>
            <a:endParaRPr lang="en-US" sz="1100" dirty="0"/>
          </a:p>
        </p:txBody>
      </p:sp>
      <p:sp>
        <p:nvSpPr>
          <p:cNvPr id="60" name="Text 57"/>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Write a word or a short phrase — about yourself. Buddy check: does each answer match exactly what the box asks?</a:t>
            </a:r>
            <a:endParaRPr lang="en-US" sz="1150" dirty="0"/>
          </a:p>
        </p:txBody>
      </p:sp>
      <p:sp>
        <p:nvSpPr>
          <p:cNvPr id="61" name="Text 58"/>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23</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2 · DECODE THE QUESTION BEFORE YOU WRITE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Four moves to decode a question</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افْهَمِ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DECODE IN TWO MINUTES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WHAT do I write (an email, a message, a blog) and to WHOM (a friend → informal)?</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NUMBER the bullet points 1–4. Each one = one short paragraph.</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UNDERLINE the question word in each bullet and decide the TENSE it needs.</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Write ONE idea (in English or Arabic) next to each bullet. That is your plan.</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VERB IN THE BULLET TELLS YOU THE TENSE</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فَعَلْتَ؟ ← فَعَلْتُ (المَاضِي)</a:t>
            </a:r>
            <a:endParaRPr lang="ar-SA" sz="26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did you do? → past</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تَفْعَلُ عَادَةً؟ ← أَفْعَلُ (الحَاضِرُ)</a:t>
            </a:r>
            <a:endParaRPr lang="ar-SA" sz="26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do you usually do? → present</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مَاذَا سَتَفْعَلُ؟ ← سَأَفْعَلُ (المُسْتَقْبَلُ)</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what will you do? → future</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مَا رَأْيُكَ؟ ← فِي رَأْيِي … لِأَنَّ …</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opinion? → in my opinion … because …</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23</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TODAY’S QUESTION 2 · ABOUT 80–90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Question 2: a first message to a pen-friend</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رِسَالَةٌ أُولَى إِلَى صَدِيقٍ بِالمُرَاسَلَةِ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906524"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906524"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Q2 · DIRECTED WRITING</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100" b="1" dirty="0">
                <a:solidFill>
                  <a:srgbClr val="1F2A37"/>
                </a:solidFill>
                <a:latin typeface="Calibri" pitchFamily="34" charset="0"/>
                <a:cs typeface="Amiri" pitchFamily="2" charset="-78"/>
              </a:rPr>
              <a:t>You have a new Arabic-speaking pen-friend. Write an email in Arabic of about 80–90 words. You must include: • how you keep in touch with your family and how often • what you do after school, in order • a message or call that made you happy recently • how often you will write to your pen-friend, and a question.</a:t>
            </a:r>
            <a:endParaRPr lang="en-US" sz="110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All four bullet points, in order.</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 greeting and a closing.</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The right tense for each bullet.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About 80–90 words.</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أَتَوَاصَلُ مَعَ … مَرَّةً فِي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keep in touch with … once a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أَنْ أَصِلَ إِلَى البَيْتِ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after I get home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الأُسْبُوعِ المَاضِي اتَّصَلَ بِي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last week … called me</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سَأَكْتُبُ لَكَ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will write to you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23</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2 · YOUR TURN · DECODE EACH BULLET (IN YOUR BOOK)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Decode it: question word · tense · my idea</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حَلِّلِ السُّؤَالَ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897112" y="1810512"/>
            <a:ext cx="2761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My idea</a:t>
            </a:r>
            <a:endParaRPr lang="en-US" sz="1100" dirty="0"/>
          </a:p>
        </p:txBody>
      </p:sp>
      <p:sp>
        <p:nvSpPr>
          <p:cNvPr id="17" name="Text 14"/>
          <p:cNvSpPr txBox="1"/>
          <p:nvPr/>
        </p:nvSpPr>
        <p:spPr>
          <a:xfrm>
            <a:off x="615391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9743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933688" y="2267712"/>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2" name="Text 19"/>
          <p:cNvSpPr txBox="1"/>
          <p:nvPr/>
        </p:nvSpPr>
        <p:spPr>
          <a:xfrm>
            <a:off x="6190488" y="2267712"/>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3" name="Text 20"/>
          <p:cNvSpPr txBox="1"/>
          <p:nvPr/>
        </p:nvSpPr>
        <p:spPr>
          <a:xfrm>
            <a:off x="1051560" y="2267712"/>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اكْتُبْ رِسَالَةً أُولَى إِلَى صَدِيقِكَ الجَدِيدِ بِالمُرَاسَلَةِ (٨٠–٩٠ كَلِمَةً).</a:t>
            </a:r>
            <a:endParaRPr lang="ar-SA" sz="17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933688" y="300471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29" name="Text 26"/>
          <p:cNvSpPr txBox="1"/>
          <p:nvPr/>
        </p:nvSpPr>
        <p:spPr>
          <a:xfrm>
            <a:off x="6190488" y="300471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0" name="Text 27"/>
          <p:cNvSpPr txBox="1"/>
          <p:nvPr/>
        </p:nvSpPr>
        <p:spPr>
          <a:xfrm>
            <a:off x="1051560" y="300471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كَيْفَ تَتَوَاصَلُ مَعَ عَائِلَتِكَ؟ وَكَمْ مَرَّةً؟</a:t>
            </a:r>
            <a:endParaRPr lang="ar-SA" sz="1700" dirty="0"/>
          </a:p>
        </p:txBody>
      </p:sp>
      <p:sp>
        <p:nvSpPr>
          <p:cNvPr id="31" name="Text 28"/>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933688" y="3741725"/>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6" name="Text 33"/>
          <p:cNvSpPr txBox="1"/>
          <p:nvPr/>
        </p:nvSpPr>
        <p:spPr>
          <a:xfrm>
            <a:off x="6190488" y="3741725"/>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37" name="Text 34"/>
          <p:cNvSpPr txBox="1"/>
          <p:nvPr/>
        </p:nvSpPr>
        <p:spPr>
          <a:xfrm>
            <a:off x="1051560" y="3741725"/>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تَفْعَلُ بَعْدَ المَدْرَسَةِ؟</a:t>
            </a:r>
            <a:endParaRPr lang="ar-SA" sz="1700" dirty="0"/>
          </a:p>
        </p:txBody>
      </p:sp>
      <p:sp>
        <p:nvSpPr>
          <p:cNvPr id="38" name="Text 35"/>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933688" y="4478731"/>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1" name="Text 38"/>
          <p:cNvSpPr txBox="1"/>
          <p:nvPr/>
        </p:nvSpPr>
        <p:spPr>
          <a:xfrm>
            <a:off x="6190488" y="4478731"/>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2" name="Text 39"/>
          <p:cNvSpPr txBox="1"/>
          <p:nvPr/>
        </p:nvSpPr>
        <p:spPr>
          <a:xfrm>
            <a:off x="1051560" y="4478731"/>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صِفْ رِسَالَةً أَوْ مُكَالَمَةً جَعَلَتْكَ سَعِيدًا.</a:t>
            </a:r>
            <a:endParaRPr lang="ar-SA" sz="1700" dirty="0"/>
          </a:p>
        </p:txBody>
      </p:sp>
      <p:sp>
        <p:nvSpPr>
          <p:cNvPr id="43" name="Text 40"/>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933688" y="5215738"/>
            <a:ext cx="272491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6" name="Text 43"/>
          <p:cNvSpPr txBox="1"/>
          <p:nvPr/>
        </p:nvSpPr>
        <p:spPr>
          <a:xfrm>
            <a:off x="6190488" y="5215738"/>
            <a:ext cx="256032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______________</a:t>
            </a:r>
            <a:endParaRPr lang="en-US" sz="1100" dirty="0"/>
          </a:p>
        </p:txBody>
      </p:sp>
      <p:sp>
        <p:nvSpPr>
          <p:cNvPr id="47" name="Text 44"/>
          <p:cNvSpPr txBox="1"/>
          <p:nvPr/>
        </p:nvSpPr>
        <p:spPr>
          <a:xfrm>
            <a:off x="1051560" y="5215738"/>
            <a:ext cx="493776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مَرَّةً سَتَكْتُبُ إِلَيْهِ؟ وَاسْأَلْهُ سُؤَالًا.</a:t>
            </a:r>
            <a:endParaRPr lang="ar-SA" sz="1700" dirty="0"/>
          </a:p>
        </p:txBody>
      </p:sp>
      <p:sp>
        <p:nvSpPr>
          <p:cNvPr id="48" name="Text 45"/>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Copy the two empty columns into your book and fill them in. Then check with your buddy on the next slide.</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23</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2 · CHECK YOUR DECODING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Decoded: what each bullet needs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تَحَقَّقْ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14232" y="1810512"/>
            <a:ext cx="29443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In English</a:t>
            </a:r>
            <a:endParaRPr lang="en-US" sz="1100" dirty="0"/>
          </a:p>
        </p:txBody>
      </p:sp>
      <p:sp>
        <p:nvSpPr>
          <p:cNvPr id="17" name="Text 14"/>
          <p:cNvSpPr txBox="1"/>
          <p:nvPr/>
        </p:nvSpPr>
        <p:spPr>
          <a:xfrm>
            <a:off x="5605272" y="1810512"/>
            <a:ext cx="29626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Question word + tense</a:t>
            </a:r>
            <a:endParaRPr lang="en-US" sz="1100" dirty="0"/>
          </a:p>
        </p:txBody>
      </p:sp>
      <p:sp>
        <p:nvSpPr>
          <p:cNvPr id="18" name="Text 15"/>
          <p:cNvSpPr txBox="1"/>
          <p:nvPr/>
        </p:nvSpPr>
        <p:spPr>
          <a:xfrm>
            <a:off x="1033272"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The bullet in Arabic</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50808" y="2267712"/>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Write a first message to your new pen-friend (80–90 words).</a:t>
            </a:r>
            <a:endParaRPr lang="en-US" sz="1100" dirty="0"/>
          </a:p>
        </p:txBody>
      </p:sp>
      <p:sp>
        <p:nvSpPr>
          <p:cNvPr id="22" name="Text 19"/>
          <p:cNvSpPr txBox="1"/>
          <p:nvPr/>
        </p:nvSpPr>
        <p:spPr>
          <a:xfrm>
            <a:off x="5641848" y="2267712"/>
            <a:ext cx="29260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first message to a pen-friend → greeting, introduce yourself, closing</a:t>
            </a:r>
            <a:endParaRPr lang="en-US" sz="1100" dirty="0"/>
          </a:p>
        </p:txBody>
      </p:sp>
      <p:sp>
        <p:nvSpPr>
          <p:cNvPr id="23" name="Text 20"/>
          <p:cNvSpPr txBox="1"/>
          <p:nvPr/>
        </p:nvSpPr>
        <p:spPr>
          <a:xfrm>
            <a:off x="1051560" y="2267712"/>
            <a:ext cx="4389120" cy="682142"/>
          </a:xfrm>
          <a:prstGeom prst="rect">
            <a:avLst/>
          </a:prstGeom>
          <a:noFill/>
          <a:ln/>
        </p:spPr>
        <p:txBody>
          <a:bodyPr wrap="square" lIns="0" tIns="0" rIns="0" bIns="0" rtlCol="0" anchor="ctr"/>
          <a:lstStyle/>
          <a:p>
            <a:pPr rtl="1" algn="ctr" indent="0" marL="0">
              <a:lnSpc>
                <a:spcPct val="120000"/>
              </a:lnSpc>
              <a:buNone/>
            </a:pPr>
            <a:r>
              <a:rPr lang="ar-SA" altLang="en-US" sz="1500" b="1" dirty="0">
                <a:solidFill>
                  <a:srgbClr val="1B3B6F"/>
                </a:solidFill>
                <a:latin typeface="Amiri" pitchFamily="2" charset="-78"/>
                <a:ea typeface="Amiri" pitchFamily="2" charset="-78"/>
                <a:cs typeface="Amiri" pitchFamily="2" charset="-78"/>
              </a:rPr>
              <a:t>اكْتُبْ رِسَالَةً أُولَى إِلَى صَدِيقِكَ الجَدِيدِ بِالمُرَاسَلَةِ (٨٠–٩٠ كَلِمَةً).</a:t>
            </a:r>
            <a:endParaRPr lang="ar-SA" sz="1500" dirty="0"/>
          </a:p>
        </p:txBody>
      </p:sp>
      <p:sp>
        <p:nvSpPr>
          <p:cNvPr id="24" name="Text 21"/>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task</a:t>
            </a:r>
            <a:endParaRPr lang="en-US" sz="1100" dirty="0"/>
          </a:p>
        </p:txBody>
      </p:sp>
      <p:sp>
        <p:nvSpPr>
          <p:cNvPr id="25" name="Shape 22"/>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6" name="Text 23"/>
          <p:cNvSpPr txBox="1"/>
          <p:nvPr/>
        </p:nvSpPr>
        <p:spPr>
          <a:xfrm>
            <a:off x="8750808" y="300471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and how often you keep in touch with family</a:t>
            </a:r>
            <a:endParaRPr lang="en-US" sz="1100" dirty="0"/>
          </a:p>
        </p:txBody>
      </p:sp>
      <p:sp>
        <p:nvSpPr>
          <p:cNvPr id="27" name="Text 24"/>
          <p:cNvSpPr txBox="1"/>
          <p:nvPr/>
        </p:nvSpPr>
        <p:spPr>
          <a:xfrm>
            <a:off x="5641848" y="300471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كَيْفَ</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كَمْ مَرَّةً</a:t>
            </a:r>
            <a:pPr algn="l" indent="0" marL="0">
              <a:buNone/>
            </a:pPr>
            <a:r>
              <a:rPr lang="en-US" sz="1100" dirty="0">
                <a:solidFill>
                  <a:srgbClr val="5A6472"/>
                </a:solidFill>
                <a:latin typeface="Calibri" pitchFamily="34" charset="0"/>
                <a:cs typeface="Amiri" pitchFamily="2" charset="-78"/>
              </a:rPr>
              <a:t> → PRESENT + a frequency word</a:t>
            </a:r>
            <a:endParaRPr lang="en-US" sz="1100" dirty="0"/>
          </a:p>
        </p:txBody>
      </p:sp>
      <p:sp>
        <p:nvSpPr>
          <p:cNvPr id="28" name="Text 25"/>
          <p:cNvSpPr txBox="1"/>
          <p:nvPr/>
        </p:nvSpPr>
        <p:spPr>
          <a:xfrm>
            <a:off x="1051560" y="300471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كَيْفَ تَتَوَاصَلُ مَعَ عَائِلَتِكَ؟ وَكَمْ مَرَّةً؟</a:t>
            </a:r>
            <a:endParaRPr lang="ar-SA" sz="1600" dirty="0"/>
          </a:p>
        </p:txBody>
      </p:sp>
      <p:sp>
        <p:nvSpPr>
          <p:cNvPr id="29" name="Text 26"/>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30" name="Shape 27"/>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1" name="Text 28"/>
          <p:cNvSpPr txBox="1"/>
          <p:nvPr/>
        </p:nvSpPr>
        <p:spPr>
          <a:xfrm>
            <a:off x="8750808" y="3741725"/>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you do after school, in order</a:t>
            </a:r>
            <a:endParaRPr lang="en-US" sz="1100" dirty="0"/>
          </a:p>
        </p:txBody>
      </p:sp>
      <p:sp>
        <p:nvSpPr>
          <p:cNvPr id="32" name="Text 29"/>
          <p:cNvSpPr txBox="1"/>
          <p:nvPr/>
        </p:nvSpPr>
        <p:spPr>
          <a:xfrm>
            <a:off x="5641848" y="3741725"/>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مَاذَا تَفْعَلُ</a:t>
            </a:r>
            <a:pPr algn="l" indent="0" marL="0">
              <a:buNone/>
            </a:pPr>
            <a:r>
              <a:rPr lang="en-US" sz="1100" dirty="0">
                <a:solidFill>
                  <a:srgbClr val="5A6472"/>
                </a:solidFill>
                <a:latin typeface="Calibri" pitchFamily="34" charset="0"/>
                <a:cs typeface="Amiri" pitchFamily="2" charset="-78"/>
              </a:rPr>
              <a:t> → PRESENT, in order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بَعْدَ أَنْ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3" name="Text 30"/>
          <p:cNvSpPr txBox="1"/>
          <p:nvPr/>
        </p:nvSpPr>
        <p:spPr>
          <a:xfrm>
            <a:off x="1051560" y="3741725"/>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تَفْعَلُ بَعْدَ المَدْرَسَةِ؟</a:t>
            </a:r>
            <a:endParaRPr lang="ar-SA" sz="1600" dirty="0"/>
          </a:p>
        </p:txBody>
      </p:sp>
      <p:sp>
        <p:nvSpPr>
          <p:cNvPr id="34" name="Text 31"/>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36" name="Text 33"/>
          <p:cNvSpPr txBox="1"/>
          <p:nvPr/>
        </p:nvSpPr>
        <p:spPr>
          <a:xfrm>
            <a:off x="8750808" y="4478731"/>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message or call that made you happy</a:t>
            </a:r>
            <a:endParaRPr lang="en-US" sz="1100" dirty="0"/>
          </a:p>
        </p:txBody>
      </p:sp>
      <p:sp>
        <p:nvSpPr>
          <p:cNvPr id="37" name="Text 34"/>
          <p:cNvSpPr txBox="1"/>
          <p:nvPr/>
        </p:nvSpPr>
        <p:spPr>
          <a:xfrm>
            <a:off x="5641848" y="4478731"/>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صِفْ … جَعَلَتْكَ</a:t>
            </a:r>
            <a:pPr algn="l" indent="0" marL="0">
              <a:buNone/>
            </a:pPr>
            <a:r>
              <a:rPr lang="en-US" sz="1100" dirty="0">
                <a:solidFill>
                  <a:srgbClr val="5A6472"/>
                </a:solidFill>
                <a:latin typeface="Calibri" pitchFamily="34" charset="0"/>
                <a:cs typeface="Amiri" pitchFamily="2" charset="-78"/>
              </a:rPr>
              <a:t> → PAST + a feeling</a:t>
            </a:r>
            <a:endParaRPr lang="en-US" sz="1100" dirty="0"/>
          </a:p>
        </p:txBody>
      </p:sp>
      <p:sp>
        <p:nvSpPr>
          <p:cNvPr id="38" name="Text 35"/>
          <p:cNvSpPr txBox="1"/>
          <p:nvPr/>
        </p:nvSpPr>
        <p:spPr>
          <a:xfrm>
            <a:off x="1051560" y="4478731"/>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صِفْ رِسَالَةً أَوْ مُكَالَمَةً جَعَلَتْكَ سَعِيدًا.</a:t>
            </a:r>
            <a:endParaRPr lang="ar-SA" sz="1600" dirty="0"/>
          </a:p>
        </p:txBody>
      </p:sp>
      <p:sp>
        <p:nvSpPr>
          <p:cNvPr id="39" name="Text 36"/>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0" name="Shape 37"/>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1" name="Text 38"/>
          <p:cNvSpPr txBox="1"/>
          <p:nvPr/>
        </p:nvSpPr>
        <p:spPr>
          <a:xfrm>
            <a:off x="8750808" y="5215738"/>
            <a:ext cx="2907792"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often you will write; a question</a:t>
            </a:r>
            <a:endParaRPr lang="en-US" sz="1100" dirty="0"/>
          </a:p>
        </p:txBody>
      </p:sp>
      <p:sp>
        <p:nvSpPr>
          <p:cNvPr id="42" name="Text 39"/>
          <p:cNvSpPr txBox="1"/>
          <p:nvPr/>
        </p:nvSpPr>
        <p:spPr>
          <a:xfrm>
            <a:off x="5641848" y="5215738"/>
            <a:ext cx="2926080" cy="682142"/>
          </a:xfrm>
          <a:prstGeom prst="rect">
            <a:avLst/>
          </a:prstGeom>
          <a:noFill/>
          <a:ln/>
        </p:spPr>
        <p:txBody>
          <a:bodyPr wrap="square" lIns="0" tIns="0" rIns="0" bIns="0" rtlCol="0" anchor="ctr"/>
          <a:lstStyle/>
          <a:p>
            <a:pPr algn="l" indent="0" marL="0">
              <a:buNone/>
            </a:pPr>
            <a:r>
              <a:rPr lang="ar-SA" altLang="en-US" sz="1450" dirty="0">
                <a:solidFill>
                  <a:srgbClr val="5A6472"/>
                </a:solidFill>
                <a:latin typeface="Amiri" pitchFamily="2" charset="-78"/>
                <a:ea typeface="Amiri" pitchFamily="2" charset="-78"/>
                <a:cs typeface="Amiri" pitchFamily="2" charset="-78"/>
              </a:rPr>
              <a:t>سَتَكْتُبُ</a:t>
            </a:r>
            <a:pPr algn="l" indent="0" marL="0">
              <a:buNone/>
            </a:pPr>
            <a:r>
              <a:rPr lang="en-US" sz="1100" dirty="0">
                <a:solidFill>
                  <a:srgbClr val="5A6472"/>
                </a:solidFill>
                <a:latin typeface="Calibri" pitchFamily="34" charset="0"/>
                <a:cs typeface="Amiri" pitchFamily="2" charset="-78"/>
              </a:rPr>
              <a:t> → FUTURE + a question (</a:t>
            </a:r>
            <a:pPr algn="l" indent="0" marL="0">
              <a:buNone/>
            </a:pPr>
            <a:r>
              <a:rPr lang="ar-SA" altLang="en-US" sz="1450" dirty="0">
                <a:solidFill>
                  <a:srgbClr val="5A6472"/>
                </a:solidFill>
                <a:latin typeface="Amiri" pitchFamily="2" charset="-78"/>
                <a:ea typeface="Amiri" pitchFamily="2" charset="-78"/>
                <a:cs typeface="Amiri" pitchFamily="2" charset="-78"/>
              </a:rPr>
              <a:t>هَلْ …؟</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3" name="Text 40"/>
          <p:cNvSpPr txBox="1"/>
          <p:nvPr/>
        </p:nvSpPr>
        <p:spPr>
          <a:xfrm>
            <a:off x="1051560" y="5215738"/>
            <a:ext cx="43891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مَرَّةً سَتَكْتُبُ إِلَيْهِ؟ وَاسْأَلْهُ سُؤَالًا.</a:t>
            </a:r>
            <a:endParaRPr lang="ar-SA" sz="1600" dirty="0"/>
          </a:p>
        </p:txBody>
      </p:sp>
      <p:sp>
        <p:nvSpPr>
          <p:cNvPr id="44" name="Text 41"/>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5" name="Text 42"/>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get the tense right for every bullet? Fix your plan before you write.</a:t>
            </a:r>
            <a:endParaRPr lang="en-US" sz="1150" dirty="0"/>
          </a:p>
        </p:txBody>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23</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3 · UPGRADE A SENTENCE · WATCH IT GROW</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From a simple sentence to a strong one</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حَسِّنِ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01400" y="2123694"/>
            <a:ext cx="402336" cy="402336"/>
          </a:xfrm>
          <a:prstGeom prst="ellipse">
            <a:avLst/>
          </a:prstGeom>
          <a:solidFill>
            <a:srgbClr val="1B3B6F"/>
          </a:solidFill>
          <a:ln w="12700">
            <a:solidFill>
              <a:srgbClr val="1B3B6F"/>
            </a:solidFill>
            <a:prstDash val="solid"/>
          </a:ln>
        </p:spPr>
      </p:sp>
      <p:sp>
        <p:nvSpPr>
          <p:cNvPr id="17" name="Text 14"/>
          <p:cNvSpPr txBox="1"/>
          <p:nvPr/>
        </p:nvSpPr>
        <p:spPr>
          <a:xfrm>
            <a:off x="11201400" y="212369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572000" y="1847088"/>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أَتَّصِلُ بِجَدِّي.</a:t>
            </a:r>
            <a:endParaRPr lang="ar-SA" sz="2600" dirty="0"/>
          </a:p>
        </p:txBody>
      </p:sp>
      <p:sp>
        <p:nvSpPr>
          <p:cNvPr id="19" name="Text 16"/>
          <p:cNvSpPr txBox="1"/>
          <p:nvPr/>
        </p:nvSpPr>
        <p:spPr>
          <a:xfrm>
            <a:off x="685800" y="1856232"/>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Simple</a:t>
            </a:r>
            <a:endParaRPr lang="en-US" sz="1250" dirty="0"/>
          </a:p>
          <a:p>
            <a:pPr indent="0" marL="0">
              <a:buNone/>
            </a:pPr>
            <a:r>
              <a:rPr lang="en-US" sz="1050" i="1" dirty="0">
                <a:solidFill>
                  <a:srgbClr val="8A6D1E"/>
                </a:solidFill>
                <a:latin typeface="Calibri" pitchFamily="34" charset="0"/>
                <a:cs typeface="Amiri" pitchFamily="2" charset="-78"/>
              </a:rPr>
              <a:t>I call my grandfather.</a:t>
            </a:r>
            <a:endParaRPr lang="en-US" sz="1250" dirty="0"/>
          </a:p>
        </p:txBody>
      </p:sp>
      <p:sp>
        <p:nvSpPr>
          <p:cNvPr id="20" name="Shape 17"/>
          <p:cNvSpPr/>
          <p:nvPr/>
        </p:nvSpPr>
        <p:spPr>
          <a:xfrm>
            <a:off x="457200" y="2967228"/>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201400" y="3280410"/>
            <a:ext cx="402336" cy="402336"/>
          </a:xfrm>
          <a:prstGeom prst="ellipse">
            <a:avLst/>
          </a:prstGeom>
          <a:solidFill>
            <a:srgbClr val="1B3B6F"/>
          </a:solidFill>
          <a:ln w="12700">
            <a:solidFill>
              <a:srgbClr val="1B3B6F"/>
            </a:solidFill>
            <a:prstDash val="solid"/>
          </a:ln>
        </p:spPr>
      </p:sp>
      <p:sp>
        <p:nvSpPr>
          <p:cNvPr id="22" name="Text 19"/>
          <p:cNvSpPr txBox="1"/>
          <p:nvPr/>
        </p:nvSpPr>
        <p:spPr>
          <a:xfrm>
            <a:off x="11201400" y="3280410"/>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572000" y="3003804"/>
            <a:ext cx="6492240" cy="955548"/>
          </a:xfrm>
          <a:prstGeom prst="rect">
            <a:avLst/>
          </a:prstGeom>
          <a:noFill/>
          <a:ln/>
        </p:spPr>
        <p:txBody>
          <a:bodyPr wrap="square" lIns="0" tIns="0" rIns="0" bIns="0" rtlCol="0" anchor="ctr"/>
          <a:lstStyle/>
          <a:p>
            <a:pPr rtl="1" algn="r" indent="0" marL="0">
              <a:buNone/>
            </a:pPr>
            <a:r>
              <a:rPr lang="ar-SA" altLang="en-US" sz="2600" b="1" dirty="0">
                <a:solidFill>
                  <a:srgbClr val="1B3B6F"/>
                </a:solidFill>
                <a:latin typeface="Amiri" pitchFamily="2" charset="-78"/>
                <a:ea typeface="Amiri" pitchFamily="2" charset="-78"/>
                <a:cs typeface="Amiri" pitchFamily="2" charset="-78"/>
              </a:rPr>
              <a:t>أَتَّصِلُ بِجَدِّي دَائِمًا يَوْمَ الجُمُعَةِ بَعْدَ أَنْ أَرْجِعَ مِنَ المَسْجِدِ.</a:t>
            </a:r>
            <a:endParaRPr lang="ar-SA" sz="2600" dirty="0"/>
          </a:p>
        </p:txBody>
      </p:sp>
      <p:sp>
        <p:nvSpPr>
          <p:cNvPr id="24" name="Text 21"/>
          <p:cNvSpPr txBox="1"/>
          <p:nvPr/>
        </p:nvSpPr>
        <p:spPr>
          <a:xfrm>
            <a:off x="685800" y="3012948"/>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detail (time, frequency, how much)</a:t>
            </a:r>
            <a:endParaRPr lang="en-US" sz="1250" dirty="0"/>
          </a:p>
          <a:p>
            <a:pPr indent="0" marL="0">
              <a:buNone/>
            </a:pPr>
            <a:r>
              <a:rPr lang="en-US" sz="1050" i="1" dirty="0">
                <a:solidFill>
                  <a:srgbClr val="8A6D1E"/>
                </a:solidFill>
                <a:latin typeface="Calibri" pitchFamily="34" charset="0"/>
                <a:cs typeface="Amiri" pitchFamily="2" charset="-78"/>
              </a:rPr>
              <a:t>… always on Friday, after I come back from the mosque.</a:t>
            </a:r>
            <a:endParaRPr lang="en-US" sz="1250" dirty="0"/>
          </a:p>
        </p:txBody>
      </p:sp>
      <p:sp>
        <p:nvSpPr>
          <p:cNvPr id="25" name="Shape 22"/>
          <p:cNvSpPr/>
          <p:nvPr/>
        </p:nvSpPr>
        <p:spPr>
          <a:xfrm>
            <a:off x="457200" y="4123944"/>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201400" y="4437126"/>
            <a:ext cx="402336" cy="402336"/>
          </a:xfrm>
          <a:prstGeom prst="ellipse">
            <a:avLst/>
          </a:prstGeom>
          <a:solidFill>
            <a:srgbClr val="1B3B6F"/>
          </a:solidFill>
          <a:ln w="12700">
            <a:solidFill>
              <a:srgbClr val="1B3B6F"/>
            </a:solidFill>
            <a:prstDash val="solid"/>
          </a:ln>
        </p:spPr>
      </p:sp>
      <p:sp>
        <p:nvSpPr>
          <p:cNvPr id="27" name="Text 24"/>
          <p:cNvSpPr txBox="1"/>
          <p:nvPr/>
        </p:nvSpPr>
        <p:spPr>
          <a:xfrm>
            <a:off x="11201400" y="443712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572000" y="4160520"/>
            <a:ext cx="6492240" cy="955548"/>
          </a:xfrm>
          <a:prstGeom prst="rect">
            <a:avLst/>
          </a:prstGeom>
          <a:noFill/>
          <a:ln/>
        </p:spPr>
        <p:txBody>
          <a:bodyPr wrap="square" lIns="0" tIns="0" rIns="0" bIns="0" rtlCol="0" anchor="ctr"/>
          <a:lstStyle/>
          <a:p>
            <a:pPr rtl="1" algn="r" indent="0" marL="0">
              <a:buNone/>
            </a:pPr>
            <a:r>
              <a:rPr lang="ar-SA" altLang="en-US" sz="2400" b="1" dirty="0">
                <a:solidFill>
                  <a:srgbClr val="1B3B6F"/>
                </a:solidFill>
                <a:latin typeface="Amiri" pitchFamily="2" charset="-78"/>
                <a:ea typeface="Amiri" pitchFamily="2" charset="-78"/>
                <a:cs typeface="Amiri" pitchFamily="2" charset="-78"/>
              </a:rPr>
              <a:t>أَتَّصِلُ بِجَدِّي دَائِمًا يَوْمَ الجُمُعَةِ، لِأَنَّهُ يَعِيشُ وَحْدَهُ فِي القَرْيَةِ.</a:t>
            </a:r>
            <a:endParaRPr lang="ar-SA" sz="2400" dirty="0"/>
          </a:p>
        </p:txBody>
      </p:sp>
      <p:sp>
        <p:nvSpPr>
          <p:cNvPr id="29" name="Text 26"/>
          <p:cNvSpPr txBox="1"/>
          <p:nvPr/>
        </p:nvSpPr>
        <p:spPr>
          <a:xfrm>
            <a:off x="685800" y="4169664"/>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 reason</a:t>
            </a:r>
            <a:endParaRPr lang="en-US" sz="1250" dirty="0"/>
          </a:p>
          <a:p>
            <a:pPr indent="0" marL="0">
              <a:buNone/>
            </a:pPr>
            <a:r>
              <a:rPr lang="en-US" sz="1050" i="1" dirty="0">
                <a:solidFill>
                  <a:srgbClr val="8A6D1E"/>
                </a:solidFill>
                <a:latin typeface="Calibri" pitchFamily="34" charset="0"/>
                <a:cs typeface="Amiri" pitchFamily="2" charset="-78"/>
              </a:rPr>
              <a:t>… because he lives alone in the village.</a:t>
            </a:r>
            <a:endParaRPr lang="en-US" sz="1250" dirty="0"/>
          </a:p>
        </p:txBody>
      </p:sp>
      <p:sp>
        <p:nvSpPr>
          <p:cNvPr id="30" name="Shape 27"/>
          <p:cNvSpPr/>
          <p:nvPr/>
        </p:nvSpPr>
        <p:spPr>
          <a:xfrm>
            <a:off x="457200" y="5280660"/>
            <a:ext cx="11274552" cy="1028700"/>
          </a:xfrm>
          <a:prstGeom prst="roundRect">
            <a:avLst>
              <a:gd name="adj" fmla="val 71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11201400" y="5593842"/>
            <a:ext cx="402336" cy="402336"/>
          </a:xfrm>
          <a:prstGeom prst="ellipse">
            <a:avLst/>
          </a:prstGeom>
          <a:solidFill>
            <a:srgbClr val="1B3B6F"/>
          </a:solidFill>
          <a:ln w="12700">
            <a:solidFill>
              <a:srgbClr val="1B3B6F"/>
            </a:solidFill>
            <a:prstDash val="solid"/>
          </a:ln>
        </p:spPr>
      </p:sp>
      <p:sp>
        <p:nvSpPr>
          <p:cNvPr id="32" name="Text 29"/>
          <p:cNvSpPr txBox="1"/>
          <p:nvPr/>
        </p:nvSpPr>
        <p:spPr>
          <a:xfrm>
            <a:off x="11201400" y="5593842"/>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4</a:t>
            </a:r>
            <a:endParaRPr lang="en-US" sz="1300" dirty="0"/>
          </a:p>
        </p:txBody>
      </p:sp>
      <p:sp>
        <p:nvSpPr>
          <p:cNvPr id="33" name="Text 30"/>
          <p:cNvSpPr txBox="1"/>
          <p:nvPr/>
        </p:nvSpPr>
        <p:spPr>
          <a:xfrm>
            <a:off x="4572000" y="5317236"/>
            <a:ext cx="6492240" cy="955548"/>
          </a:xfrm>
          <a:prstGeom prst="rect">
            <a:avLst/>
          </a:prstGeom>
          <a:noFill/>
          <a:ln/>
        </p:spPr>
        <p:txBody>
          <a:bodyPr wrap="square" lIns="0" tIns="0" rIns="0" bIns="0" rtlCol="0" anchor="ctr"/>
          <a:lstStyle/>
          <a:p>
            <a:pPr rtl="1" algn="r" indent="0" marL="0">
              <a:buNone/>
            </a:pPr>
            <a:r>
              <a:rPr lang="ar-SA" altLang="en-US" sz="2450" b="1" dirty="0">
                <a:solidFill>
                  <a:srgbClr val="1B3B6F"/>
                </a:solidFill>
                <a:latin typeface="Amiri" pitchFamily="2" charset="-78"/>
                <a:ea typeface="Amiri" pitchFamily="2" charset="-78"/>
                <a:cs typeface="Amiri" pitchFamily="2" charset="-78"/>
              </a:rPr>
              <a:t>… وَفِي رَأْيِي المُكَالَمَةُ تُفْرِحُهُ كَثِيرًا، لٰكِنَّهُ يُفَضِّلُ الزِّيَارَاتِ!</a:t>
            </a:r>
            <a:endParaRPr lang="ar-SA" sz="2450" dirty="0"/>
          </a:p>
        </p:txBody>
      </p:sp>
      <p:sp>
        <p:nvSpPr>
          <p:cNvPr id="34" name="Text 31"/>
          <p:cNvSpPr txBox="1"/>
          <p:nvPr/>
        </p:nvSpPr>
        <p:spPr>
          <a:xfrm>
            <a:off x="685800" y="5326380"/>
            <a:ext cx="3749040" cy="937260"/>
          </a:xfrm>
          <a:prstGeom prst="rect">
            <a:avLst/>
          </a:prstGeom>
          <a:noFill/>
          <a:ln/>
        </p:spPr>
        <p:txBody>
          <a:bodyPr wrap="square" lIns="0" tIns="0" rIns="0" bIns="0" rtlCol="0" anchor="ctr"/>
          <a:lstStyle/>
          <a:p>
            <a:pPr indent="0" marL="0">
              <a:buNone/>
            </a:pPr>
            <a:r>
              <a:rPr lang="en-US" sz="1250" b="1" dirty="0">
                <a:solidFill>
                  <a:srgbClr val="1F2A37"/>
                </a:solidFill>
                <a:latin typeface="Calibri" pitchFamily="34" charset="0"/>
                <a:cs typeface="Amiri" pitchFamily="2" charset="-78"/>
              </a:rPr>
              <a:t>+ an opinion or a contrast</a:t>
            </a:r>
            <a:endParaRPr lang="en-US" sz="1250" dirty="0"/>
          </a:p>
          <a:p>
            <a:pPr indent="0" marL="0">
              <a:buNone/>
            </a:pPr>
            <a:r>
              <a:rPr lang="en-US" sz="1050" i="1" dirty="0">
                <a:solidFill>
                  <a:srgbClr val="8A6D1E"/>
                </a:solidFill>
                <a:latin typeface="Calibri" pitchFamily="34" charset="0"/>
                <a:cs typeface="Amiri" pitchFamily="2" charset="-78"/>
              </a:rPr>
              <a:t>… in my opinion the call makes him very happy — but he prefers visits!</a:t>
            </a:r>
            <a:endParaRPr lang="en-US" sz="1250" dirty="0"/>
          </a:p>
        </p:txBody>
      </p:sp>
      <p:sp>
        <p:nvSpPr>
          <p:cNvPr id="35" name="Text 3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23</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3 · YOUR TURN · BUILD THREE STRONG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Sentence builder: choose A or B in each column</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I always read before I go to sleep.</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دَائِمًا</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أَبَدًا</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أَقْرَأُ</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قَرَأْتُ</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قَبْلَ أَنْ أَنَامَ</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قَبْلَ أَنْ أَنَامُ</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When I arrive home, I call my mother.</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عِنْدَمَا أَصِلُ</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عِنْدَمَا وَصَلَ</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إِلَى البَيْتِ</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البَيْتِ</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أَتَّصِلُ بِأُمِّي</a:t>
            </a:r>
            <a:endParaRPr lang="ar-SA"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تَتَّصِلُ بِأُمِّي</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My brother rarely sends messages.</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أَخِي</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أُخْتِي</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نَادِرًا مَا</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دَائِمًا</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يُرْسِلُ رَسَائِلَ</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تُرْسِلُ رَسَائِلَ</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23</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3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I always read before I go to sleep.</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Always → present; after </a:t>
            </a:r>
            <a:pPr algn="l" indent="0" marL="0">
              <a:buNone/>
            </a:pPr>
            <a:r>
              <a:rPr lang="ar-SA" altLang="en-US" sz="1350" dirty="0">
                <a:solidFill>
                  <a:srgbClr val="5A6472"/>
                </a:solidFill>
                <a:latin typeface="Amiri" pitchFamily="2" charset="-78"/>
                <a:ea typeface="Amiri" pitchFamily="2" charset="-78"/>
                <a:cs typeface="Amiri" pitchFamily="2" charset="-78"/>
              </a:rPr>
              <a:t>أَنْ</a:t>
            </a:r>
            <a:pPr algn="l" indent="0" marL="0">
              <a:buNone/>
            </a:pPr>
            <a:r>
              <a:rPr lang="en-US" sz="1050" i="1" dirty="0">
                <a:solidFill>
                  <a:srgbClr val="5A6472"/>
                </a:solidFill>
                <a:latin typeface="Calibri" pitchFamily="34" charset="0"/>
                <a:cs typeface="Amiri" pitchFamily="2" charset="-78"/>
              </a:rPr>
              <a:t> the verb ends in -a: </a:t>
            </a:r>
            <a:pPr algn="l" indent="0" marL="0">
              <a:buNone/>
            </a:pPr>
            <a:r>
              <a:rPr lang="ar-SA" altLang="en-US" sz="1350" dirty="0">
                <a:solidFill>
                  <a:srgbClr val="5A6472"/>
                </a:solidFill>
                <a:latin typeface="Amiri" pitchFamily="2" charset="-78"/>
                <a:ea typeface="Amiri" pitchFamily="2" charset="-78"/>
                <a:cs typeface="Amiri" pitchFamily="2" charset="-78"/>
              </a:rPr>
              <a:t>أَنَامَ</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دَائِمًا أَقْرَأُ قَبْلَ أَنْ أَنَامَ</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When I arrive home, I call my mother.</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 </a:t>
            </a:r>
            <a:pPr algn="l" indent="0" marL="0">
              <a:buNone/>
            </a:pPr>
            <a:r>
              <a:rPr lang="ar-SA" altLang="en-US" sz="1350" dirty="0">
                <a:solidFill>
                  <a:srgbClr val="5A6472"/>
                </a:solidFill>
                <a:latin typeface="Amiri" pitchFamily="2" charset="-78"/>
                <a:ea typeface="Amiri" pitchFamily="2" charset="-78"/>
                <a:cs typeface="Amiri" pitchFamily="2" charset="-78"/>
              </a:rPr>
              <a:t>أَصِلُ</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أَتَّصِلُ</a:t>
            </a:r>
            <a:pPr algn="l" indent="0" marL="0">
              <a:buNone/>
            </a:pPr>
            <a:r>
              <a:rPr lang="en-US" sz="1050" i="1" dirty="0">
                <a:solidFill>
                  <a:srgbClr val="5A6472"/>
                </a:solidFill>
                <a:latin typeface="Calibri" pitchFamily="34" charset="0"/>
                <a:cs typeface="Amiri" pitchFamily="2" charset="-78"/>
              </a:rPr>
              <a:t>; arrive TO = </a:t>
            </a:r>
            <a:pPr algn="l" indent="0" marL="0">
              <a:buNone/>
            </a:pPr>
            <a:r>
              <a:rPr lang="ar-SA" altLang="en-US" sz="1350" dirty="0">
                <a:solidFill>
                  <a:srgbClr val="5A6472"/>
                </a:solidFill>
                <a:latin typeface="Amiri" pitchFamily="2" charset="-78"/>
                <a:ea typeface="Amiri" pitchFamily="2" charset="-78"/>
                <a:cs typeface="Amiri" pitchFamily="2" charset="-78"/>
              </a:rPr>
              <a:t>إِلَى</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عِنْدَمَا أَصِلُ إِلَى البَيْتِ أَتَّصِلُ بِأُمِّي</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My brother rarely sends messages.</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a:t>
            </a:r>
            <a:pPr algn="l" indent="0" marL="0">
              <a:buNone/>
            </a:pPr>
            <a:r>
              <a:rPr lang="ar-SA" altLang="en-US" sz="1350" dirty="0">
                <a:solidFill>
                  <a:srgbClr val="5A6472"/>
                </a:solidFill>
                <a:latin typeface="Amiri" pitchFamily="2" charset="-78"/>
                <a:ea typeface="Amiri" pitchFamily="2" charset="-78"/>
                <a:cs typeface="Amiri" pitchFamily="2" charset="-78"/>
              </a:rPr>
              <a:t>يُرْسِلُ</a:t>
            </a:r>
            <a:pPr algn="l" indent="0" marL="0">
              <a:buNone/>
            </a:pPr>
            <a:r>
              <a:rPr lang="en-US" sz="1050" i="1" dirty="0">
                <a:solidFill>
                  <a:srgbClr val="5A6472"/>
                </a:solidFill>
                <a:latin typeface="Calibri" pitchFamily="34" charset="0"/>
                <a:cs typeface="Amiri" pitchFamily="2" charset="-78"/>
              </a:rPr>
              <a:t>; rarely = </a:t>
            </a:r>
            <a:pPr algn="l" indent="0" marL="0">
              <a:buNone/>
            </a:pPr>
            <a:r>
              <a:rPr lang="ar-SA" altLang="en-US" sz="1350" dirty="0">
                <a:solidFill>
                  <a:srgbClr val="5A6472"/>
                </a:solidFill>
                <a:latin typeface="Amiri" pitchFamily="2" charset="-78"/>
                <a:ea typeface="Amiri" pitchFamily="2" charset="-78"/>
                <a:cs typeface="Amiri" pitchFamily="2" charset="-78"/>
              </a:rPr>
              <a:t>نَادِرًا مَا</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أَخِي نَادِرًا مَا يُرْسِلُ رَسَائِلَ</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23</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QUESTION 2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frames for Question 2</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غَالِبًا ______ ، لٰكِنْ نَادِرًا مَا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often …, but I rarely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بَعْدَ أَنْ أَصِلَ إِلَى البَيْتِ ______ ، وَقَبْلَ أَنْ أَنَامَ ______ .</a:t>
            </a:r>
            <a:endParaRPr lang="ar-SA" sz="13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After I get home …, and before I sleep …</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750" b="1" dirty="0">
                <a:solidFill>
                  <a:srgbClr val="1B3B6F"/>
                </a:solidFill>
                <a:latin typeface="Amiri" pitchFamily="2" charset="-78"/>
                <a:ea typeface="Amiri" pitchFamily="2" charset="-78"/>
                <a:cs typeface="Amiri" pitchFamily="2" charset="-78"/>
              </a:rPr>
              <a:t>لَنْ أَنْسَى رِسَالَةً مِنْ ______ ، لِأَنَّ ______ .</a:t>
            </a:r>
            <a:endParaRPr lang="ar-SA" sz="175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I won’t forget a message from …, because …</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سَأَكْتُبُ إِلَيْكَ كُلَّ ______ ، وَأَتَمَنَّى أَنْ ______ .</a:t>
            </a:r>
            <a:endParaRPr lang="ar-SA" sz="16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will write to you every …, and I hope …</a:t>
            </a:r>
            <a:endParaRPr lang="en-US" sz="1050" dirty="0"/>
          </a:p>
        </p:txBody>
      </p:sp>
      <p:sp>
        <p:nvSpPr>
          <p:cNvPr id="26" name="Shape 23"/>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7" name="Shape 24"/>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9" name="Text 26"/>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مَرْحَبًا يَا ______ ، اسْمِي ______ .</a:t>
            </a:r>
            <a:endParaRPr lang="ar-SA" sz="1800" dirty="0"/>
          </a:p>
        </p:txBody>
      </p:sp>
      <p:sp>
        <p:nvSpPr>
          <p:cNvPr id="30" name="Text 27"/>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Hello …, my name is …</a:t>
            </a:r>
            <a:endParaRPr lang="en-US" sz="1050" dirty="0"/>
          </a:p>
        </p:txBody>
      </p:sp>
      <p:sp>
        <p:nvSpPr>
          <p:cNvPr id="31" name="Text 28"/>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أَتَوَاصَلُ مَعَ ______ بِالهَاتِفِ ______ .</a:t>
            </a:r>
            <a:endParaRPr lang="ar-SA" sz="1800" dirty="0"/>
          </a:p>
        </p:txBody>
      </p:sp>
      <p:sp>
        <p:nvSpPr>
          <p:cNvPr id="32" name="Text 29"/>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1 · I keep in touch with … by phone …</a:t>
            </a:r>
            <a:endParaRPr lang="en-US" sz="1050" dirty="0"/>
          </a:p>
        </p:txBody>
      </p:sp>
      <p:sp>
        <p:nvSpPr>
          <p:cNvPr id="33" name="Text 30"/>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بَعْدَ المَدْرَسَةِ ______ ، ثُمَّ ______ .</a:t>
            </a:r>
            <a:endParaRPr lang="ar-SA" sz="1800" dirty="0"/>
          </a:p>
        </p:txBody>
      </p:sp>
      <p:sp>
        <p:nvSpPr>
          <p:cNvPr id="34" name="Text 31"/>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2 · After school I …, then …</a:t>
            </a:r>
            <a:endParaRPr lang="en-US" sz="1050" dirty="0"/>
          </a:p>
        </p:txBody>
      </p:sp>
      <p:sp>
        <p:nvSpPr>
          <p:cNvPr id="35" name="Text 32"/>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350" b="1" dirty="0">
                <a:solidFill>
                  <a:srgbClr val="1B3B6F"/>
                </a:solidFill>
                <a:latin typeface="Amiri" pitchFamily="2" charset="-78"/>
                <a:ea typeface="Amiri" pitchFamily="2" charset="-78"/>
                <a:cs typeface="Amiri" pitchFamily="2" charset="-78"/>
              </a:rPr>
              <a:t>فِي الأُسْبُوعِ المَاضِي اتَّصَلَ بِي ______ ، فَشَعَرْتُ ______ .</a:t>
            </a:r>
            <a:endParaRPr lang="ar-SA" sz="1350" dirty="0"/>
          </a:p>
        </p:txBody>
      </p:sp>
      <p:sp>
        <p:nvSpPr>
          <p:cNvPr id="36" name="Text 33"/>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3 · Last week … called me, and I felt …</a:t>
            </a:r>
            <a:endParaRPr lang="en-US" sz="1050" dirty="0"/>
          </a:p>
        </p:txBody>
      </p:sp>
      <p:sp>
        <p:nvSpPr>
          <p:cNvPr id="37" name="Text 34"/>
          <p:cNvSpPr txBox="1"/>
          <p:nvPr/>
        </p:nvSpPr>
        <p:spPr>
          <a:xfrm>
            <a:off x="8202168"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سَأَكْتُبُ لَكَ ______ . هَلْ ______ ؟</a:t>
            </a:r>
            <a:endParaRPr lang="ar-SA" sz="1800" dirty="0"/>
          </a:p>
        </p:txBody>
      </p:sp>
      <p:sp>
        <p:nvSpPr>
          <p:cNvPr id="38" name="Text 35"/>
          <p:cNvSpPr txBox="1"/>
          <p:nvPr/>
        </p:nvSpPr>
        <p:spPr>
          <a:xfrm>
            <a:off x="6327648"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4 · I will write to you … Do you …?</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أَتَوَاصَلُ مَعَ  ·  أَتَّصِلُ بِجَدِّي  ·  أُرْسِلُ رِسَالَةً  ·  دَائِمًا · أَحْيَانًا  ·  مَرَّةً فِي الأُسْبُوعِ  ·  بَعْدَ أَنْ · قَبْلَ أَنْ  ·  عِنْدَمَا  ·  سَعِيدٌ / سَعِيدَةٌ</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23</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4 · WRITE, THEN SWAP · 14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Question 2 — bullet by bullet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 ثُمَّ بَادِلْ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4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Two rounds of writing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Round 1 (6 min): write bullets 1 and 2. SWAP: your buddy reads and ticks “bullet covered?”. Round 2 (6 min): write bullets 3 and 4 and your closing. SWAP again.</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Start with a greeting; end with a closing and a question.</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One short paragraph per bullet — tick it off your plan.</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at least one upgrade from Step 3 in every paragraph.</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Count your words: about 80–90.</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Use the Core frames. Aim for 60–70 words, every bullet covered.</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Develop frames only if stuck. Add a reason and a time word to every bullet. 80–90 words.</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No frames. Add a contrast (</a:t>
            </a:r>
            <a:pPr algn="l" indent="0" marL="0">
              <a:buNone/>
            </a:pPr>
            <a:r>
              <a:rPr lang="ar-SA" altLang="en-US" sz="1500" dirty="0">
                <a:solidFill>
                  <a:srgbClr val="1F2A37"/>
                </a:solidFill>
                <a:latin typeface="Amiri" pitchFamily="2" charset="-78"/>
                <a:ea typeface="Amiri" pitchFamily="2" charset="-78"/>
                <a:cs typeface="Amiri" pitchFamily="2" charset="-78"/>
              </a:rPr>
              <a:t>لٰكِنَّ</a:t>
            </a:r>
            <a:pPr algn="l" indent="0" marL="0">
              <a:buNone/>
            </a:pPr>
            <a:r>
              <a:rPr lang="en-US" sz="1150" dirty="0">
                <a:solidFill>
                  <a:srgbClr val="1F2A37"/>
                </a:solidFill>
                <a:latin typeface="Calibri" pitchFamily="34" charset="0"/>
                <a:cs typeface="Amiri" pitchFamily="2" charset="-78"/>
              </a:rPr>
              <a:t>) and a future plan. Up to 90 words, with no errors.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أَوَّلًا · ثُمَّ · بَعْدَ ذٰلِكَ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first · then · after that</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لِأَنَّ · لِذٰلِكَ</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because · so</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لٰكِنَّ · وَلٰكِنْ</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but</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فِي رَأْيِي</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in my opinion</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23</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5 · SPOT AND FIX · MISTAKES STUDENTS OFTEN MAKE IN THIS TOPIC</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بَعْدَ أَنْ أَصِلُ إِلَى البَيْتِ أَتَنَاوَلُ الغَدَاءَ.</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Look at the verb after </a:t>
            </a:r>
            <a:pPr algn="l" indent="0" marL="0">
              <a:buNone/>
            </a:pPr>
            <a:r>
              <a:rPr lang="ar-SA" altLang="en-US" sz="1700" dirty="0">
                <a:solidFill>
                  <a:srgbClr val="5A6472"/>
                </a:solidFill>
                <a:latin typeface="Amiri" pitchFamily="2" charset="-78"/>
                <a:ea typeface="Amiri" pitchFamily="2" charset="-78"/>
                <a:cs typeface="Amiri" pitchFamily="2" charset="-78"/>
              </a:rPr>
              <a:t>أَنْ</a:t>
            </a:r>
            <a:pPr algn="l" indent="0" marL="0">
              <a:buNone/>
            </a:pPr>
            <a:r>
              <a:rPr lang="en-US" sz="1300" i="1" dirty="0">
                <a:solidFill>
                  <a:srgbClr val="5A6472"/>
                </a:solidFill>
                <a:latin typeface="Calibri" pitchFamily="34" charset="0"/>
                <a:cs typeface="Amiri" pitchFamily="2" charset="-78"/>
              </a:rPr>
              <a:t>.</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أَتَّصِلُ جَدَّتِي كُلَّ يَوْمٍ.</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Which little word does this verb need?</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أَبَدًا أُرْسِلُ رَسَائِلَ فِي اللَّيْلِ.</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“Never” needs a negative.</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23</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5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lnSpc>
                <a:spcPct val="120000"/>
              </a:lnSpc>
              <a:buNone/>
            </a:pPr>
            <a:r>
              <a:rPr lang="ar-SA" altLang="en-US" sz="1800" b="1" dirty="0">
                <a:solidFill>
                  <a:srgbClr val="B83227"/>
                </a:solidFill>
                <a:latin typeface="Amiri" pitchFamily="2" charset="-78"/>
                <a:ea typeface="Amiri" pitchFamily="2" charset="-78"/>
                <a:cs typeface="Amiri" pitchFamily="2" charset="-78"/>
              </a:rPr>
              <a:t>بَعْدَ أَنْ أَصِلُ إِلَى البَيْتِ أَتَنَاوَلُ الغَدَاءَ.</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بَعْدَ أَنْ أَصِلَ إِلَى البَيْتِ أَتَنَاوَلُ الغَدَاءَ.</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After </a:t>
            </a:r>
            <a:pPr algn="l" indent="0" marL="0">
              <a:buNone/>
            </a:pPr>
            <a:r>
              <a:rPr lang="ar-SA" altLang="en-US" sz="1500" b="1" dirty="0">
                <a:solidFill>
                  <a:srgbClr val="1B3B6F"/>
                </a:solidFill>
                <a:latin typeface="Amiri" pitchFamily="2" charset="-78"/>
                <a:ea typeface="Amiri" pitchFamily="2" charset="-78"/>
                <a:cs typeface="Amiri" pitchFamily="2" charset="-78"/>
              </a:rPr>
              <a:t>أَنْ</a:t>
            </a:r>
            <a:pPr algn="l" indent="0" marL="0">
              <a:buNone/>
            </a:pPr>
            <a:r>
              <a:rPr lang="en-US" sz="1150" b="1" dirty="0">
                <a:solidFill>
                  <a:srgbClr val="1B3B6F"/>
                </a:solidFill>
                <a:latin typeface="Calibri" pitchFamily="34" charset="0"/>
                <a:cs typeface="Amiri" pitchFamily="2" charset="-78"/>
              </a:rPr>
              <a:t> the verb ends in -a: </a:t>
            </a:r>
            <a:pPr algn="l" indent="0" marL="0">
              <a:buNone/>
            </a:pPr>
            <a:r>
              <a:rPr lang="ar-SA" altLang="en-US" sz="1500" b="1" dirty="0">
                <a:solidFill>
                  <a:srgbClr val="1B3B6F"/>
                </a:solidFill>
                <a:latin typeface="Amiri" pitchFamily="2" charset="-78"/>
                <a:ea typeface="Amiri" pitchFamily="2" charset="-78"/>
                <a:cs typeface="Amiri" pitchFamily="2" charset="-78"/>
              </a:rPr>
              <a:t>أَصِلَ</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أَتَّصِلُ جَدَّتِي كُلَّ يَوْمٍ.</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أَتَّصِلُ بِجَدَّتِي كُلَّ يَوْمٍ.</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اتَّصَلَ</a:t>
            </a:r>
            <a:pPr algn="l" indent="0" marL="0">
              <a:buNone/>
            </a:pPr>
            <a:r>
              <a:rPr lang="en-US" sz="1150" b="1" dirty="0">
                <a:solidFill>
                  <a:srgbClr val="1B3B6F"/>
                </a:solidFill>
                <a:latin typeface="Calibri" pitchFamily="34" charset="0"/>
                <a:cs typeface="Amiri" pitchFamily="2" charset="-78"/>
              </a:rPr>
              <a:t> always takes </a:t>
            </a:r>
            <a:pPr algn="l" indent="0" marL="0">
              <a:buNone/>
            </a:pPr>
            <a:r>
              <a:rPr lang="ar-SA" altLang="en-US" sz="1500" b="1" dirty="0">
                <a:solidFill>
                  <a:srgbClr val="1B3B6F"/>
                </a:solidFill>
                <a:latin typeface="Amiri" pitchFamily="2" charset="-78"/>
                <a:ea typeface="Amiri" pitchFamily="2" charset="-78"/>
                <a:cs typeface="Amiri" pitchFamily="2" charset="-78"/>
              </a:rPr>
              <a:t>بِ</a:t>
            </a:r>
            <a:pPr algn="l" indent="0" marL="0">
              <a:buNone/>
            </a:pPr>
            <a:r>
              <a:rPr lang="en-US" sz="1150" b="1" dirty="0">
                <a:solidFill>
                  <a:srgbClr val="1B3B6F"/>
                </a:solidFill>
                <a:latin typeface="Calibri" pitchFamily="34" charset="0"/>
                <a:cs typeface="Amiri" pitchFamily="2" charset="-78"/>
              </a:rPr>
              <a:t>: </a:t>
            </a:r>
            <a:pPr algn="l" indent="0" marL="0">
              <a:buNone/>
            </a:pPr>
            <a:r>
              <a:rPr lang="ar-SA" altLang="en-US" sz="1500" b="1" dirty="0">
                <a:solidFill>
                  <a:srgbClr val="1B3B6F"/>
                </a:solidFill>
                <a:latin typeface="Amiri" pitchFamily="2" charset="-78"/>
                <a:ea typeface="Amiri" pitchFamily="2" charset="-78"/>
                <a:cs typeface="Amiri" pitchFamily="2" charset="-78"/>
              </a:rPr>
              <a:t>أَتَّصِلُ بِجَدَّتِي</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أَبَدًا أُرْسِلُ رَسَائِلَ فِي اللَّيْلِ.</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لَا أُرْسِلُ رَسَائِلَ فِي اللَّيْلِ أَبَدًا.</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Never = </a:t>
            </a:r>
            <a:pPr algn="l" indent="0" marL="0">
              <a:buNone/>
            </a:pPr>
            <a:r>
              <a:rPr lang="ar-SA" altLang="en-US" sz="1500" b="1" dirty="0">
                <a:solidFill>
                  <a:srgbClr val="1B3B6F"/>
                </a:solidFill>
                <a:latin typeface="Amiri" pitchFamily="2" charset="-78"/>
                <a:ea typeface="Amiri" pitchFamily="2" charset="-78"/>
                <a:cs typeface="Amiri" pitchFamily="2" charset="-78"/>
              </a:rPr>
              <a:t>لَا</a:t>
            </a:r>
            <a:pPr algn="l" indent="0" marL="0">
              <a:buNone/>
            </a:pPr>
            <a:r>
              <a:rPr lang="en-US" sz="1150" b="1" dirty="0">
                <a:solidFill>
                  <a:srgbClr val="1B3B6F"/>
                </a:solidFill>
                <a:latin typeface="Calibri" pitchFamily="34" charset="0"/>
                <a:cs typeface="Amiri" pitchFamily="2" charset="-78"/>
              </a:rPr>
              <a:t> + verb … </a:t>
            </a:r>
            <a:pPr algn="l" indent="0" marL="0">
              <a:buNone/>
            </a:pPr>
            <a:r>
              <a:rPr lang="ar-SA" altLang="en-US" sz="1500" b="1" dirty="0">
                <a:solidFill>
                  <a:srgbClr val="1B3B6F"/>
                </a:solidFill>
                <a:latin typeface="Amiri" pitchFamily="2" charset="-78"/>
                <a:ea typeface="Amiri" pitchFamily="2" charset="-78"/>
                <a:cs typeface="Amiri" pitchFamily="2" charset="-78"/>
              </a:rPr>
              <a:t>أَبَدًا</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23</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BUDDY CHECK · READ YOUR BUDDY’S Q2</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ALL four bullets (one paragraph each)?</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the right verb ending (I · we) and the right tense for each bullet?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make adjectives agree (m. / f. / non-human plural)?</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and give at least two reasons?</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past, present AND future, and give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WWW + one EBI.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23</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6 · QUESTION 3 · HOW TO BUILD ONE STRONG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00" b="1" dirty="0">
                <a:solidFill>
                  <a:srgbClr val="1B3B6F"/>
                </a:solidFill>
                <a:latin typeface="Cambria" pitchFamily="34" charset="0"/>
                <a:cs typeface="Amiri" pitchFamily="2" charset="-78"/>
              </a:rPr>
              <a:t>The paragraph formula: T · D · R · F</a:t>
            </a:r>
            <a:endParaRPr lang="en-US" sz="26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تَكْتُبُ 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FOUR PARTS</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T — TOPIC sentence: say what the paragraph is about.</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D — DETAILS: what, when, where, with whom (two sentences).</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R — REASON: why? (</a:t>
            </a:r>
            <a:pPr algn="l" indent="0" marL="0">
              <a:buNone/>
            </a:pPr>
            <a:r>
              <a:rPr lang="ar-SA" altLang="en-US" sz="1700" dirty="0">
                <a:solidFill>
                  <a:srgbClr val="1F2A37"/>
                </a:solidFill>
                <a:latin typeface="Amiri" pitchFamily="2" charset="-78"/>
                <a:ea typeface="Amiri" pitchFamily="2" charset="-78"/>
                <a:cs typeface="Amiri" pitchFamily="2" charset="-78"/>
              </a:rPr>
              <a:t>لِأَنَّ … / لِذٰلِكَ</a:t>
            </a:r>
            <a:pPr algn="l" indent="0" marL="0">
              <a:buNone/>
            </a:pPr>
            <a:r>
              <a:rPr lang="en-US" sz="1300" dirty="0">
                <a:solidFill>
                  <a:srgbClr val="1F2A37"/>
                </a:solidFill>
                <a:latin typeface="Calibri" pitchFamily="34" charset="0"/>
                <a:cs typeface="Amiri" pitchFamily="2" charset="-78"/>
              </a:rPr>
              <a:t> …)</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F — FEELING or opinion, and (Stretch) a link to the future.</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FORMULA IN ACTION</a:t>
            </a:r>
            <a:endParaRPr lang="en-US" sz="1000" dirty="0"/>
          </a:p>
        </p:txBody>
      </p:sp>
      <p:sp>
        <p:nvSpPr>
          <p:cNvPr id="31" name="Text 28"/>
          <p:cNvSpPr txBox="1"/>
          <p:nvPr/>
        </p:nvSpPr>
        <p:spPr>
          <a:xfrm>
            <a:off x="6949440" y="2194560"/>
            <a:ext cx="4645152" cy="570951"/>
          </a:xfrm>
          <a:prstGeom prst="rect">
            <a:avLst/>
          </a:prstGeom>
          <a:noFill/>
          <a:ln/>
        </p:spPr>
        <p:txBody>
          <a:bodyPr wrap="square" lIns="0" tIns="0" rIns="0" bIns="0" rtlCol="0" anchor="ctr"/>
          <a:lstStyle/>
          <a:p>
            <a:pPr rtl="1" algn="ctr" indent="0" marL="0">
              <a:buNone/>
            </a:pPr>
            <a:r>
              <a:rPr lang="ar-SA" altLang="en-US" sz="2250" b="1" dirty="0">
                <a:solidFill>
                  <a:srgbClr val="1B3B6F"/>
                </a:solidFill>
                <a:latin typeface="Amiri" pitchFamily="2" charset="-78"/>
                <a:ea typeface="Amiri" pitchFamily="2" charset="-78"/>
                <a:cs typeface="Amiri" pitchFamily="2" charset="-78"/>
              </a:rPr>
              <a:t>لَنْ أَنْسَى مُكَالَمَةً مِنْ خَالِي فِي الشِّتَاءِ المَاضِي.</a:t>
            </a:r>
            <a:endParaRPr lang="ar-SA" sz="2250" dirty="0"/>
          </a:p>
        </p:txBody>
      </p:sp>
      <p:sp>
        <p:nvSpPr>
          <p:cNvPr id="32" name="Text 29"/>
          <p:cNvSpPr txBox="1"/>
          <p:nvPr/>
        </p:nvSpPr>
        <p:spPr>
          <a:xfrm>
            <a:off x="6949440" y="2765511"/>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T · I won’t forget a call from my uncle last winter.</a:t>
            </a:r>
            <a:endParaRPr lang="en-US" sz="1100" dirty="0"/>
          </a:p>
        </p:txBody>
      </p:sp>
      <p:sp>
        <p:nvSpPr>
          <p:cNvPr id="33" name="Shape 30"/>
          <p:cNvSpPr/>
          <p:nvPr/>
        </p:nvSpPr>
        <p:spPr>
          <a:xfrm>
            <a:off x="6995160" y="3195828"/>
            <a:ext cx="4553712" cy="0"/>
          </a:xfrm>
          <a:prstGeom prst="line">
            <a:avLst/>
          </a:prstGeom>
          <a:noFill/>
          <a:ln w="9525">
            <a:solidFill>
              <a:srgbClr val="E4DCCB"/>
            </a:solidFill>
            <a:prstDash val="dash"/>
          </a:ln>
        </p:spPr>
      </p:sp>
      <p:sp>
        <p:nvSpPr>
          <p:cNvPr id="34" name="Text 31"/>
          <p:cNvSpPr txBox="1"/>
          <p:nvPr/>
        </p:nvSpPr>
        <p:spPr>
          <a:xfrm>
            <a:off x="6949440" y="3214116"/>
            <a:ext cx="4645152" cy="570951"/>
          </a:xfrm>
          <a:prstGeom prst="rect">
            <a:avLst/>
          </a:prstGeom>
          <a:noFill/>
          <a:ln/>
        </p:spPr>
        <p:txBody>
          <a:bodyPr wrap="square" lIns="0" tIns="0" rIns="0" bIns="0" rtlCol="0" anchor="ctr"/>
          <a:lstStyle/>
          <a:p>
            <a:pPr rtl="1" algn="ctr" indent="0" marL="0">
              <a:buNone/>
            </a:pPr>
            <a:r>
              <a:rPr lang="ar-SA" altLang="en-US" sz="2550" b="1" dirty="0">
                <a:solidFill>
                  <a:srgbClr val="1B3B6F"/>
                </a:solidFill>
                <a:latin typeface="Amiri" pitchFamily="2" charset="-78"/>
                <a:ea typeface="Amiri" pitchFamily="2" charset="-78"/>
                <a:cs typeface="Amiri" pitchFamily="2" charset="-78"/>
              </a:rPr>
              <a:t>اتَّصَلَ بِي فِي اللَّيْلِ، وَأَخْبَرَنِي بِخَبَرٍ رَائِعٍ.</a:t>
            </a:r>
            <a:endParaRPr lang="ar-SA" sz="2550" dirty="0"/>
          </a:p>
        </p:txBody>
      </p:sp>
      <p:sp>
        <p:nvSpPr>
          <p:cNvPr id="35" name="Text 32"/>
          <p:cNvSpPr txBox="1"/>
          <p:nvPr/>
        </p:nvSpPr>
        <p:spPr>
          <a:xfrm>
            <a:off x="6949440" y="3785067"/>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D · He called at night and told me great news.</a:t>
            </a:r>
            <a:endParaRPr lang="en-US" sz="1100" dirty="0"/>
          </a:p>
        </p:txBody>
      </p:sp>
      <p:sp>
        <p:nvSpPr>
          <p:cNvPr id="36" name="Shape 33"/>
          <p:cNvSpPr/>
          <p:nvPr/>
        </p:nvSpPr>
        <p:spPr>
          <a:xfrm>
            <a:off x="6995160" y="4215384"/>
            <a:ext cx="4553712" cy="0"/>
          </a:xfrm>
          <a:prstGeom prst="line">
            <a:avLst/>
          </a:prstGeom>
          <a:noFill/>
          <a:ln w="9525">
            <a:solidFill>
              <a:srgbClr val="E4DCCB"/>
            </a:solidFill>
            <a:prstDash val="dash"/>
          </a:ln>
        </p:spPr>
      </p:sp>
      <p:sp>
        <p:nvSpPr>
          <p:cNvPr id="37" name="Text 34"/>
          <p:cNvSpPr txBox="1"/>
          <p:nvPr/>
        </p:nvSpPr>
        <p:spPr>
          <a:xfrm>
            <a:off x="6949440" y="4233672"/>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كَانَتْ مُهِمَّةً لِأَنَّهُ دَعَانِي إِلَى زِفَافِهِ.</a:t>
            </a:r>
            <a:endParaRPr lang="ar-SA" sz="2650" dirty="0"/>
          </a:p>
        </p:txBody>
      </p:sp>
      <p:sp>
        <p:nvSpPr>
          <p:cNvPr id="38" name="Text 35"/>
          <p:cNvSpPr txBox="1"/>
          <p:nvPr/>
        </p:nvSpPr>
        <p:spPr>
          <a:xfrm>
            <a:off x="6949440" y="4804623"/>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R · It mattered because he invited me to his wedding.</a:t>
            </a:r>
            <a:endParaRPr lang="en-US" sz="1100" dirty="0"/>
          </a:p>
        </p:txBody>
      </p:sp>
      <p:sp>
        <p:nvSpPr>
          <p:cNvPr id="39" name="Shape 36"/>
          <p:cNvSpPr/>
          <p:nvPr/>
        </p:nvSpPr>
        <p:spPr>
          <a:xfrm>
            <a:off x="6995160" y="5234940"/>
            <a:ext cx="4553712" cy="0"/>
          </a:xfrm>
          <a:prstGeom prst="line">
            <a:avLst/>
          </a:prstGeom>
          <a:noFill/>
          <a:ln w="9525">
            <a:solidFill>
              <a:srgbClr val="E4DCCB"/>
            </a:solidFill>
            <a:prstDash val="dash"/>
          </a:ln>
        </p:spPr>
      </p:sp>
      <p:sp>
        <p:nvSpPr>
          <p:cNvPr id="40" name="Text 37"/>
          <p:cNvSpPr txBox="1"/>
          <p:nvPr/>
        </p:nvSpPr>
        <p:spPr>
          <a:xfrm>
            <a:off x="6949440" y="5253228"/>
            <a:ext cx="4645152" cy="570951"/>
          </a:xfrm>
          <a:prstGeom prst="rect">
            <a:avLst/>
          </a:prstGeom>
          <a:noFill/>
          <a:ln/>
        </p:spPr>
        <p:txBody>
          <a:bodyPr wrap="square" lIns="0" tIns="0" rIns="0" bIns="0" rtlCol="0" anchor="ctr"/>
          <a:lstStyle/>
          <a:p>
            <a:pPr rtl="1" algn="ctr" indent="0" marL="0">
              <a:buNone/>
            </a:pPr>
            <a:r>
              <a:rPr lang="ar-SA" altLang="en-US" sz="2650" b="1" dirty="0">
                <a:solidFill>
                  <a:srgbClr val="1B3B6F"/>
                </a:solidFill>
                <a:latin typeface="Amiri" pitchFamily="2" charset="-78"/>
                <a:ea typeface="Amiri" pitchFamily="2" charset="-78"/>
                <a:cs typeface="Amiri" pitchFamily="2" charset="-78"/>
              </a:rPr>
              <a:t>شَعَرْتُ بِالفَرَحِ، وَسَأَتَّصِلُ بِهِ أَكْثَرَ.</a:t>
            </a:r>
            <a:endParaRPr lang="ar-SA" sz="2650" dirty="0"/>
          </a:p>
        </p:txBody>
      </p:sp>
      <p:sp>
        <p:nvSpPr>
          <p:cNvPr id="41" name="Text 38"/>
          <p:cNvSpPr txBox="1"/>
          <p:nvPr/>
        </p:nvSpPr>
        <p:spPr>
          <a:xfrm>
            <a:off x="6949440" y="5824179"/>
            <a:ext cx="4645152" cy="407822"/>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 · I felt happy, and I will call him more.</a:t>
            </a:r>
            <a:endParaRPr lang="en-US" sz="11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23</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8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6 · WRITE ONE PARAGRAPH OF QUESTION 3 · ABOUT 50–70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850" b="1" dirty="0">
                <a:solidFill>
                  <a:srgbClr val="1B3B6F"/>
                </a:solidFill>
                <a:latin typeface="Cambria" pitchFamily="34" charset="0"/>
                <a:cs typeface="Amiri" pitchFamily="2" charset="-78"/>
              </a:rPr>
              <a:t>Question 3, one paragraph: a call I will never forget</a:t>
            </a:r>
            <a:endParaRPr lang="en-US" sz="18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مُكَالَمَةٌ لَا أَنْسَاهَا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673352"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673352"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Q3 · ONE PARAGRAPH</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Full Q3 title: “Communication in my life”. Today write ONLY the past paragraph: a call or message you will never forget — who it was from, when, what was said, why it mattered and how you felt.</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T — a topic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D — two details (when, where, who, what).</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R — a reason with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or </a:t>
            </a:r>
            <a:pPr algn="l" indent="0" marL="0">
              <a:buNone/>
            </a:pPr>
            <a:r>
              <a:rPr lang="ar-SA" altLang="en-US" sz="1550" dirty="0">
                <a:solidFill>
                  <a:srgbClr val="1F2A37"/>
                </a:solidFill>
                <a:latin typeface="Amiri" pitchFamily="2" charset="-78"/>
                <a:ea typeface="Amiri" pitchFamily="2" charset="-78"/>
                <a:cs typeface="Amiri" pitchFamily="2" charset="-78"/>
              </a:rPr>
              <a:t>لِذٰلِكَ</a:t>
            </a:r>
            <a:pPr algn="l" indent="0" marL="0">
              <a:buNone/>
            </a:pPr>
            <a:r>
              <a:rPr lang="en-US" sz="1200" dirty="0">
                <a:solidFill>
                  <a:srgbClr val="1F2A37"/>
                </a:solidFill>
                <a:latin typeface="Calibri" pitchFamily="34" charset="0"/>
                <a:cs typeface="Amiri" pitchFamily="2" charset="-78"/>
              </a:rPr>
              <a:t>.</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 — a feeling or opinion (Stretch: + a future sentence).</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past verbs with the right ending?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 FOR THIS PARAGRAPH</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لَنْ أَنْسَى مُكَالَمَةً مِنْ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I won’t forget a call from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اتَّصَلَ بِي / اتَّصَلَتْ بِي</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called me</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أَخْبَرَنِي أَنَّ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told me that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البِدَايَةِ … ثُمَّ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at first … then …</a:t>
            </a:r>
            <a:endParaRPr lang="en-US" sz="1050" dirty="0"/>
          </a:p>
        </p:txBody>
      </p:sp>
      <p:sp>
        <p:nvSpPr>
          <p:cNvPr id="34" name="Text 31"/>
          <p:cNvSpPr txBox="1"/>
          <p:nvPr/>
        </p:nvSpPr>
        <p:spPr>
          <a:xfrm>
            <a:off x="8412480" y="4864608"/>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مُنْذُ ذٰلِكَ اليَوْمِ …</a:t>
            </a:r>
            <a:endParaRPr lang="ar-SA" sz="1800" dirty="0"/>
          </a:p>
        </p:txBody>
      </p:sp>
      <p:sp>
        <p:nvSpPr>
          <p:cNvPr id="35" name="Text 32"/>
          <p:cNvSpPr txBox="1"/>
          <p:nvPr/>
        </p:nvSpPr>
        <p:spPr>
          <a:xfrm>
            <a:off x="6400800" y="5193792"/>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since that day …</a:t>
            </a:r>
            <a:endParaRPr lang="en-US" sz="105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23</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2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Q2: compare with a strong answer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مَرْحَبًا يَا خَالِدُ،</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اسْمِي عُمَرُ، وَأَنَا مِنْ لَنْدَنَ. أَتَوَاصَلُ مَعَ عَائِلَتِي فِي الأُرْدُنِّ بِالفِيدْيُو مَرَّتَيْنِ فِي الأُسْبُوعِ، وَأُرْسِلُ رَسَائِلَ إِلَى جَدِّي كُلَّ يَوْمٍ تَقْرِيبًا. بَعْدَ أَنْ أَصِلَ إِلَى البَيْتِ أَتَنَاوَلُ وَجْبَةً خَفِيفَةً، ثُمَّ أَكْتُبُ وَاجِبَاتِي، وَقَبْلَ أَنْ أَنَامَ أَقْرَأُ قَلِيلًا. فِي الأُسْبُوعِ المَاضِي اتَّصَلَتْ بِي جَدَّتِي فِي عِيدِ مِيلَادِي، وَغَنَّتْ لِي أُغْنِيَةً جَمِيلَةً، فَشَعَرْتُ بِسَعَادَةٍ كَبِيرَةٍ. سَأَكْتُبُ إِلَيْكَ كُلَّ يَوْمِ سَبْتٍ، لِأَنِّي أَكُونُ أَقَلَّ انْشِغَالًا. وَأَنْتَ، كَيْفَ تَتَوَاصَلُ مَعَ أَصْدِقَائِكَ؟ وَمَا هِوَايَتُكَ المُفَضَّلَةُ؟</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مَعَ تَحِيَّاتِي،</a:t>
            </a:r>
            <a:endParaRPr lang="ar-SA" sz="1800" dirty="0"/>
          </a:p>
          <a:p>
            <a:pPr rtl="1" algn="r" indent="0" marL="0">
              <a:lnSpc>
                <a:spcPct val="120000"/>
              </a:lnSpc>
              <a:buNone/>
            </a:pPr>
            <a:r>
              <a:rPr lang="ar-SA" altLang="en-US" sz="1800" dirty="0">
                <a:solidFill>
                  <a:srgbClr val="1F2A37"/>
                </a:solidFill>
                <a:latin typeface="Amiri" pitchFamily="2" charset="-78"/>
                <a:ea typeface="Amiri" pitchFamily="2" charset="-78"/>
                <a:cs typeface="Amiri" pitchFamily="2" charset="-78"/>
              </a:rPr>
              <a:t>عُمَرُ</a:t>
            </a:r>
            <a:endParaRPr lang="ar-SA" sz="18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“Hi Khalid, my name is Omar and I am from London. I keep in touch with my family in Jordan by video twice a week, and I send messages to my grandfather almost every day. After I get home I have a snack, then I do my homework, and before I sleep I read a little. Last week my grandmother called me on my birthday and sang me a lovely song, so I felt very happy. I will write to you every Saturday, because I am less busy then. And you, how do you keep in touch with your friends? And what is your favourite hobby? Best wishes, Omar.”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مَرَّتَيْنِ فِي الأُسْبُوعِ</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بَعْدَ أَنْ أَصِلَ</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وَقَبْلَ أَنْ أَنَامَ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سَأَكْتُبُ إِلَيْكَ</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23</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QUESTION 3 · ONE PARAGRAPH</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Q3 paragraph: T · D · R · F in a model</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الفِقْرَةِ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لَنْ أَنْسَى مُكَالَمَةً مِنْ أَبِي فِي الشِّتَاءِ المَاضِي. كَانَ يَعْمَلُ فِي الخَارِجِ مُنْذُ سِتَّةِ أَشْهُرٍ، وَكُنْتُ أَشْتَاقُ إِلَيْهِ كَثِيرًا. فِي لَيْلَةٍ بَارِدَةٍ رَنَّ الهَاتِفُ، فَقَالَ لِي إِنَّهُ سَيَرْجِعُ إِلَى البَيْتِ قَبْلَ العِيدِ بِأُسْبُوعٍ. فِي البِدَايَةِ لَمْ أُصَدِّقْ، ثُمَّ صَرَخْتُ مِنَ الفَرَحِ، وَرَكَضْتُ إِلَى أُمِّي. كَانَتْ تِلْكَ المُكَالَمَةُ مُهِمَّةً، لِأَنَّهَا أَنْهَتْ شُهُورًا مِنَ الانْتِظَارِ. مُنْذُ ذٰلِكَ اليَوْمِ أَتَّصِلُ بِأَبِي دَائِمًا عِنْدَمَا يُسَافِرُ.</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T: I won’t forget a call from my dad last winter · D: he had been working abroad for six months and I missed him; one cold night the phone rang and he said he would come home a week before Eid; at first I didn’t believe it, then I shouted with joy and ran to my mum · R: the call mattered because it ended months of waiting · since then I always call my dad when he travels.</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لَنْ أَنْسَى مُكَالَمَةً</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كُنْتُ أَشْتَاقُ</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فِي البِدَايَةِ … ثُمَّ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مُنْذُ ذٰلِكَ اليَوْمِ</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23</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AT-A-L03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Topic A · Writing practice room · AT-A-L03</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decoded every bullet: question word and tense.</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Q2 answers all four bullets, with a greeting and a closing.</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upgraded my sentences: detail + reason in every bullet.</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work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Q3 paragraph has T, D, R and F, with past and future.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23</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AT-A-L03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wrote it yourself!</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500" b="1" dirty="0">
                <a:solidFill>
                  <a:srgbClr val="FFFFFF"/>
                </a:solidFill>
                <a:latin typeface="Cambria" pitchFamily="34" charset="0"/>
                <a:cs typeface="Amiri" pitchFamily="2" charset="-78"/>
              </a:rPr>
              <a:t>AT-A-L04 · The next lesson in the topic</a:t>
            </a:r>
            <a:endParaRPr lang="en-US" sz="25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الدَّرْسُ التَّالِي</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decode → plan → write → check. Every bullet,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23</Slides>
  <Notes>23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23</vt:i4>
      </vt:variant>
    </vt:vector>
  </HeadingPairs>
  <TitlesOfParts>
    <vt:vector size="2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AT-A-L03 · Writing Practice Room — Frequency and Communication</dc:title>
  <dc:subject>PptxGenJS Presentation</dc:subject>
  <dc:creator>Al Madina Online School · Arabic Department</dc:creator>
  <cp:lastModifiedBy>Al Madina Online School · Arabic Department</cp:lastModifiedBy>
  <cp:revision>1</cp:revision>
  <dcterms:created xsi:type="dcterms:W3CDTF">2026-10-25T14:04:46Z</dcterms:created>
  <dcterms:modified xsi:type="dcterms:W3CDTF">2026-10-25T14:04:46Z</dcterms:modified>
</cp:coreProperties>
</file>