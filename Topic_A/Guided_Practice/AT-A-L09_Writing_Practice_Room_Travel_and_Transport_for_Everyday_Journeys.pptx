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9 (Travel and Transport for Everyday Journeys, AT-A-L09)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(78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Everyday Journeys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المُوَاصَلَاتُ اليَوْمِيَّةُ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(directions for a friend coming to your party),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AT-A-L09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Student travel card: application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بِطَاقَةِ مُوَاصَلَاتٍ لِلطُّلَّابِ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name of your school.</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الحَافِلَةُ · القِطَارُ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transport</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وَسِيلَةُ المُوَاصَلَاتِ</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البَيْتِ إِلَى المَدْرَسَةِ</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 to …</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 إِلَى …</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نِصْفُ سَاعَةٍ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Journey time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مُدَّةُ الرِّحْلَةِ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أَحْتَاجُهَا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need the card</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تَحْتَاجُ البِطَاقَةَ؟</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Question 2: how to get to my party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تَصِلُ إِلَى حَفْلَتِي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friend is coming to your birthday party but does not know your area. Write an email in Arabic of about 80–90 words. You must include: • the best way to come (transport) and why • how long the journey takes and how much it costs • directions from the station to your house • what happened when another friend got lost last year.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طَرِيقَةٍ هِيَ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best way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تَسْتَغْرِقُ الرِّحْلَةُ … وَثَمَنُ التَّذْكِرَةِ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journey takes … and the ticket costs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اخْرُجْ مِنَ المَحَطَّةِ، ثُمَّ انْعَطِفْ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leave the station, then turn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السَّنَةِ المَاضِيَةِ ضَاعَ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year … got lost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الطَّرِيقِ إِلَى حَفْلَتِكَ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أَفْضَلُ وَسِيلَةٍ لِلْمَجِيءِ؟ وَلِمَاذَا؟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تَسْتَغْرِقُ الرِّحْلَةُ؟ وَكَمْ ثَمَنُهَا؟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الطَّرِيقَ مِنَ المَحَطَّةِ إِلَى بَيْتِكَ.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عِنْدَمَا ضَاعَ صَدِيقٌ آخَرُ فِي السَّنَةِ المَاضِيَةِ؟</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the way to your party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الطَّرِيقِ إِلَى حَفْلَتِكَ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best transport, and why</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أَفْضَلُ … وَلِمَاذَا</a:t>
            </a:r>
            <a:pPr algn="l" indent="0" marL="0">
              <a:buNone/>
            </a:pPr>
            <a:r>
              <a:rPr lang="en-US" sz="1100" dirty="0">
                <a:solidFill>
                  <a:srgbClr val="5A6472"/>
                </a:solidFill>
                <a:latin typeface="Calibri" pitchFamily="34" charset="0"/>
                <a:cs typeface="Amiri" pitchFamily="2" charset="-78"/>
              </a:rPr>
              <a:t> → PRESENT + comparative + reason</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أَفْضَلُ وَسِيلَةٍ لِلْمَجِيءِ؟ وَلِمَاذَا؟</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Journey time and cost</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كَمْ … كَمْ ثَمَنُهَا</a:t>
            </a:r>
            <a:pPr algn="l" indent="0" marL="0">
              <a:buNone/>
            </a:pPr>
            <a:r>
              <a:rPr lang="en-US" sz="1100" dirty="0">
                <a:solidFill>
                  <a:srgbClr val="5A6472"/>
                </a:solidFill>
                <a:latin typeface="Calibri" pitchFamily="34" charset="0"/>
                <a:cs typeface="Amiri" pitchFamily="2" charset="-78"/>
              </a:rPr>
              <a:t> → PRESENT + numbers</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تَسْتَغْرِقُ الرِّحْلَةُ؟ وَكَمْ ثَمَنُهَا؟</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Directions from the station</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 الطَّرِيقَ</a:t>
            </a:r>
            <a:pPr algn="l" indent="0" marL="0">
              <a:buNone/>
            </a:pPr>
            <a:r>
              <a:rPr lang="en-US" sz="1100" dirty="0">
                <a:solidFill>
                  <a:srgbClr val="5A6472"/>
                </a:solidFill>
                <a:latin typeface="Calibri" pitchFamily="34" charset="0"/>
                <a:cs typeface="Amiri" pitchFamily="2" charset="-78"/>
              </a:rPr>
              <a:t> → IMPERATIVES: </a:t>
            </a:r>
            <a:pPr algn="l" indent="0" marL="0">
              <a:buNone/>
            </a:pPr>
            <a:r>
              <a:rPr lang="ar-SA" altLang="en-US" sz="1450" dirty="0">
                <a:solidFill>
                  <a:srgbClr val="5A6472"/>
                </a:solidFill>
                <a:latin typeface="Amiri" pitchFamily="2" charset="-78"/>
                <a:ea typeface="Amiri" pitchFamily="2" charset="-78"/>
                <a:cs typeface="Amiri" pitchFamily="2" charset="-78"/>
              </a:rPr>
              <a:t>اذْهَبْ</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انْعَطِفْ</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امْشِ</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الطَّرِيقَ مِنَ المَحَطَّةِ إِلَى بَيْتِكَ.</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another friend got lost last year</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 … ضَاعَ</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عِنْدَمَا ضَاعَ صَدِيقٌ آخَرُ فِي السَّنَةِ المَاضِيَةِ؟</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أَذْهَبُ بِالقِطَارِ.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go by train.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ea typeface="Amiri" pitchFamily="2" charset="-78"/>
                <a:cs typeface="Amiri" pitchFamily="2" charset="-78"/>
              </a:rPr>
              <a:t>أَذْهَبُ إِلَى المَدِينَةِ بِالقِطَارِ كُلَّ يَوْمِ سَبْتٍ، وَتَسْتَغْرِقُ الرِّحْلَةُ سَاعَةً.</a:t>
            </a:r>
            <a:endParaRPr lang="ar-SA" sz="22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to town every Saturday, and the journey takes an hour.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أَذْهَبُ إِلَى المَدِينَةِ بِالقِطَارِ كُلَّ يَوْمِ سَبْتٍ، لِأَنَّهُ أَسْرَعُ مِنَ الحَافِلَةِ.</a:t>
            </a:r>
            <a:endParaRPr lang="ar-SA" sz="22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it is faster than the bus.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وَفِي رَأْيِي القِطَارُ مُرِيحٌ، لٰكِنَّ التَّذَاكِرَ غَالِيَةٌ جِدًّا!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the train is comfortable, but tickets are very expensive!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train is faster than the bus.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القِطَارُ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قِطَارٌ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أَسْرَعُ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سَرِيعٌ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الحَافِلَةِ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لِلْحَافِلَةِ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Turn left, then walk straight on.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يَنْعَطِفُ</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يَسَارًا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يَمِينًا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امْشِ إِلَى الأَمَامِ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يَمْشِي إِلَى الأَمَامِ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journey took two hours yesterday.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اسْتَغْرَقَتِ الرِّحْلَةُ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اسْتَغْرَقَ الرِّحْلَةُ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سَاعَتَيْنِ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سَاعَتَانِ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train is faster than the bus.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Comparison = </a:t>
            </a:r>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أَسْرَعُ مِنَ الحَافِلَةِ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القِطَارُ أَسْرَعُ مِنَ الحَافِلَةِ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Turn left, then walk straight on.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Directions use imperatives: </a:t>
            </a:r>
            <a:pPr algn="l" indent="0" marL="0">
              <a:buNone/>
            </a:pPr>
            <a:r>
              <a:rPr lang="ar-SA" altLang="en-US" sz="1350" dirty="0">
                <a:solidFill>
                  <a:srgbClr val="5A6472"/>
                </a:solidFill>
                <a:latin typeface="Amiri" pitchFamily="2" charset="-78"/>
                <a:ea typeface="Amiri" pitchFamily="2" charset="-78"/>
                <a:cs typeface="Amiri" pitchFamily="2" charset="-78"/>
              </a:rPr>
              <a:t>انْعَطِفْ</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امْشِ</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انْعَطِفْ يَسَارًا ثُمَّ امْشِ إِلَى الأَمَامِ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journey took two hours yesterday.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الرِّحْلَةُ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اسْتَغْرَقَتْ</a:t>
            </a:r>
            <a:pPr algn="l" indent="0" marL="0">
              <a:buNone/>
            </a:pPr>
            <a:r>
              <a:rPr lang="en-US" sz="1050" i="1" dirty="0">
                <a:solidFill>
                  <a:srgbClr val="5A6472"/>
                </a:solidFill>
                <a:latin typeface="Calibri" pitchFamily="34" charset="0"/>
                <a:cs typeface="Amiri" pitchFamily="2" charset="-78"/>
              </a:rPr>
              <a:t>; two hours as the object = </a:t>
            </a:r>
            <a:pPr algn="l" indent="0" marL="0">
              <a:buNone/>
            </a:pPr>
            <a:r>
              <a:rPr lang="ar-SA" altLang="en-US" sz="1350" dirty="0">
                <a:solidFill>
                  <a:srgbClr val="5A6472"/>
                </a:solidFill>
                <a:latin typeface="Amiri" pitchFamily="2" charset="-78"/>
                <a:ea typeface="Amiri" pitchFamily="2" charset="-78"/>
                <a:cs typeface="Amiri" pitchFamily="2" charset="-78"/>
              </a:rPr>
              <a:t>سَاعَتَيْنِ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اسْتَغْرَقَتِ الرِّحْلَةُ سَاعَتَيْنِ أَمْسِ</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القِطَارُ ______ مِنَ الحَافِلَةِ، لٰكِنَّ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train is …er than the bus, but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يَنْطَلِقُ القِطَارُ كُلَّ ______ ، وَيَصِلُ بَعْدَ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train leaves every …, and arrives after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امْشِ إِلَى الأَمَامِ حَتَّى ______ ، وَبَيْتِي ______ .</a:t>
            </a:r>
            <a:endParaRPr lang="ar-SA" sz="15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Walk straight on until …, and my house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نَزَلَ فِي المَحَطَّةِ الخَطَأِ، فَ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He got off at the wrong station, so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طَرِيقَةٍ هِيَ ______ ، لِأَنَّ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best way is …,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تَسْتَغْرِقُ الرِّحْلَةُ ______ ، وَثَمَنُ التَّذْكِرَةِ ______ .</a:t>
            </a:r>
            <a:endParaRPr lang="ar-SA" sz="15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journey takes …, and the ticket costs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اخْرُجْ مِنَ المَحَطَّةِ، ثُمَّ انْعَطِفْ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Leave the station, then turn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السَّنَةِ المَاضِيَةِ ضَاعَ ______ ، لِأَنَّ ______ .</a:t>
            </a:r>
            <a:endParaRPr lang="ar-SA" sz="155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Last year … got lost,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بِالقِطَارِ · بِالحَافِلَةِ  ·  مَحَطَّةٌ  ·  تَذْكِرَةٌ  ·  أَسْرَعُ مِنْ  ·  يَمِينًا · يَسَارًا  ·  إِلَى الأَمَامِ  ·  مُقَابِلَ · بِجَانِبِ  ·  ضَاعَ</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فِي الحَافِلَةِ إِلَى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little word means “by”?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القِطَارُ أَسْرَعُ الحَافِلَةِ.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Comparisons need one more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تَسْتَغْرِقُ الرِّحْلَةُ ثَلَاثَةَ سَاعَاتٍ.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سَاعَة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فِي الحَافِلَةِ إِلَى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بِالحَافِلَةِ إِلَى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By + transport = bi-: </a:t>
            </a:r>
            <a:pPr algn="l" indent="0" marL="0">
              <a:buNone/>
            </a:pPr>
            <a:r>
              <a:rPr lang="ar-SA" altLang="en-US" sz="1500" b="1" dirty="0">
                <a:solidFill>
                  <a:srgbClr val="1B3B6F"/>
                </a:solidFill>
                <a:latin typeface="Amiri" pitchFamily="2" charset="-78"/>
                <a:ea typeface="Amiri" pitchFamily="2" charset="-78"/>
                <a:cs typeface="Amiri" pitchFamily="2" charset="-78"/>
              </a:rPr>
              <a:t>بِالحَافِلَةِ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القِطَارُ أَسْرَعُ الحَافِلَةِ.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القِطَارُ أَسْرَعُ مِنَ الحَافِلَةِ.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Comparative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(than).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تَسْتَغْرِقُ الرِّحْلَةُ ثَلَاثَةَ سَاعَاتٍ.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تَسْتَغْرِقُ الرِّحْلَةُ ثَلَاثَ سَاعَاتٍ.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سَاعَة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ثَلَاثَ سَاعَاتٍ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فِي الصَّيْفِ المَاضِي سَافَرْنَا بِالسَّيَّارَةِ إِلَى البَحْرِ.</a:t>
            </a:r>
            <a:endParaRPr lang="ar-SA" sz="21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summer we drove to the sea.</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الطَّرِيقِ تَعَطَّلَتِ السَّيَّارَةُ، فَانْتَظَرْنَا سَاعَتَيْنِ.</a:t>
            </a:r>
            <a:endParaRPr lang="ar-SA" sz="22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On the way the car broke down; we waited two hours.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حَدَثَ ذٰلِكَ لِأَنَّ السَّيَّارَةَ كَانَتْ قَدِيمَةً.</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because the car was old.</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كُنَّا غَاضِبِينَ، لٰكِنَّنَا ضَحِكْنَا فِي النِّهَايَةِ.</a:t>
            </a:r>
            <a:endParaRPr lang="ar-SA" sz="260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We were angry, but we laughed in the end.</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 journey that went wrong</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لَمْ تَسِرْ كَمَا خَطَّطْنَا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“Getting around”. Today write ONLY the past paragraph: a journey that went wrong — where you were going, how, what happened, how you solved it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مُسَافِرِينَ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were travelling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الطَّرِيقِ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way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تَأَخَّرَ · تَعَطَّلَ · ضَاعَ</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was late · broke down · got lost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وَصَلْنَا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 we arrived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تَعَلَّمْتُ أَنْ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learnt to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حَسَنُ،</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أَنَا سَعِيدٌ لِأَنَّكَ سَتَأْتِي إِلَى حَفْلَتِي يَوْمَ السَّبْتِ! أَفْضَلُ طَرِيقَةٍ هِيَ القِطَارُ، لِأَنَّهُ أَسْرَعُ مِنَ الحَافِلَةِ، وَلَا يَتَأَخَّرُ كَثِيرًا. تَسْتَغْرِقُ الرِّحْلَةُ نِصْفَ سَاعَةٍ فَقَطْ، وَثَمَنُ التَّذْكِرَةِ أَرْبَعَةُ جُنَيْهَاتٍ لِلطُّلَّابِ. عِنْدَمَا تَخْرُجُ مِنَ المَحَطَّةِ، انْعَطِفْ يَمِينًا، ثُمَّ امْشِ إِلَى الأَمَامِ خَمْسَ دَقَائِقَ حَتَّى المَسْجِدِ، وَبَيْتِي مُقَابِلَهُ، وَبَابُهُ أَزْرَقُ، وَأَمَامَهُ شَجَرَةٌ كَبِيرَةٌ. فِي السَّنَةِ المَاضِيَةِ ضَاعَ صَدِيقِي سَامِي، لِأَنَّهُ نَزَلَ فِي المَحَطَّةِ الخَطَأِ، فَوَصَلَ بَعْدَ أَنْ أَكَلْنَا الكَعْكَةَ كُلَّهَا! لِذٰلِكَ اتَّصِلْ بِي إِذَا ضِعْتَ.</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إِلَى اللِّقَاءِ،</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بِلَالٌ</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Hassan, I’m happy you’re coming to my party on Saturday! The best way is the train, because it is faster than the bus and is rarely late. The journey takes only half an hour, and a student ticket costs four pounds. When you leave the station, turn right, then walk straight on for five minutes to the mosque; my house is opposite it, with a blue door and a big tree in front. Last year my friend Sami got lost because he got off at the wrong station, so he arrived after we had eaten all the cake! So call me if you get lost. See you, Bilal.”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أَسْرَعُ مِنَ الحَافِلَةِ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تَسْتَغْرِقُ الرِّحْلَةُ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انْعَطِفْ يَمِينًا، ثُمَّ امْشِ</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نَزَلَ فِي المَحَطَّةِ الخَطَأِ</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العُطْلَةِ المَاضِيَةِ سَافَرْتُ مَعَ أُمِّي بِالقِطَارِ إِلَى مَانْشِسْتَرَ لِنَزُورَ خَالِي. فِي الطَّرِيقِ تَوَقَّفَ القِطَارُ فَجْأَةً بِسَبَبِ عُطْلٍ، وَانْتَظَرْنَا سَاعَةً كَامِلَةً بِدُونِ طَعَامٍ. بَعْدَ ذٰلِكَ نَزَلْنَا فِي مَحَطَّةٍ صَغِيرَةٍ، وَأَخَذْنَا حَافِلَةً بَطِيئَةً وَمُزْدَحِمَةً جِدًّا. وَصَلْنَا مُتَأَخِّرِينَ ثَلَاثَ سَاعَاتٍ، وَكُنْتُ جَائِعًا وَغَاضِبًا، لٰكِنَّ خَالِي اسْتَقْبَلَنَا بِعَشَاءٍ لَذِيذٍ، فَنَسِيتُ كُلَّ شَيْءٍ. تَعَلَّمْتُ أَنْ آخُذَ مَعِي طَعَامًا فِي كُلِّ رِحْلَةٍ.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holiday I travelled with my mum by train to Manchester to visit my uncle · D: on the way the train suddenly stopped because of a fault; we waited a whole hour with no food, then got off at a small station and took a slow, very crowded bus · F: we arrived three hours late and I was hungry and angry, but my uncle welcomed us with a delicious dinner and I forgot everything · I learnt to take food on every journey.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الطَّرِيقِ تَوَقَّفَ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عُطْلٍ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وَصَلْنَا مُتَأَخِّرِينَ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تَعَلَّمْتُ أَنْ آخُذَ</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AT-A-L09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AT-A-L10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AT-A-L09 · Writing Practice Room — Everyday Journeys</dc:title>
  <dc:subject>PptxGenJS Presentation</dc:subject>
  <dc:creator>Al Madina Online School · Arabic Department</dc:creator>
  <cp:lastModifiedBy>Al Madina Online School · Arabic Department</cp:lastModifiedBy>
  <cp:revision>1</cp:revision>
  <dcterms:created xsi:type="dcterms:W3CDTF">2026-10-25T14:12:54Z</dcterms:created>
  <dcterms:modified xsi:type="dcterms:W3CDTF">2026-10-25T14:12:54Z</dcterms:modified>
</cp:coreProperties>
</file>