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SPEAKING PRACTICE ROOM AT A GLANCE — 55–60 minutes; about 8 minutes in the main room, about 40 minutes in breakout rooms of three, about 8 minutes back together.
0–2 Welcome · 2–6 How the room works (roles, rules) · then ROOMS: Step 1 Word warm-up (5) · Step 2 The answer ladder (8) · Step 3 Role plays 1 and 2 (14) · Step 4 Topic conversation with A-R-E-T (8) · Step 5 One-minute talk (5) · back in the main room: Check yourself (6) · Self-check + close (3).
PURPOSE: students practise ON THEIR OWN with a clear structure. The teacher visits each room (about 3 minutes per room), listens, and gives one live correction per student.
CONTENT: Advanced Topic A · Everyday Activities, Lesson 9 (Travel and Transport for Everyday Journeys, AT-A-L09) — new role plays and questions (not the ones in the Exam Practice workshop), using the lesson’s language (travel verbs with bi- (bi-l-ḥāfila); prepositions of place; journey time (tastaghriqu ar-riḥla …); comparatives (asraʿu min, arkhaṣu min); directions (imperatives)).
SET-UP: rooms of three (same-level rooms keep the routes simple). Share this deck or its PDF in the chat so every room can follow the steps. Post the step timings in the chat.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show the route through the steps. Students keep this slide in mind: the step number is always in the top-left of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THE ROOM WORKS (3 min, main room). Model the three roles quickly with two volunteers using one question. Stress: the Coach is not a judge — one WWW, one EBI, kind and specific. Then open the breakout rooms.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(5 min in rooms). The vocab slides that follow are the reference. Teacher: visit the first room straight away to model the 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 — the Leader picks the English, the Speaker gives the Arabic.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(read together for 2 min). Each level ADDS one thing. Core aims for level 2, Develop for level 3, Stretch for level 4.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(6 min). The cells are STARTERS, not full answers. Core: questions 1–2 to level 2. Develop: all four to level 3. Stretch: level 4 with an opinion or another time frame.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3 introduction (2 min). Role play 1 shows the plan column filled in; for role play 2 students write it themselves. This is the fading: by the exam, they plan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1 (Core · Develop) — SUPPORTED: the plan column models the thinking (question word → tense → first words), NOT the full answer.
ROOM ROUTINE: Leader reads the left column in order · Speaker answers · Coach ticks the checklist (step 5 slide) and gives one WWW + one EBI · swap so that everyone is Speaker once.
To a girl the Leader says: تَحْتَاجِينَ · اذْهَبِي · انْعَطِفِي · تُسَافِرِينَ · وَصَلْتِ · تُرِيدِينَ.
Language: understanding directions (idhhab, inʿaṭif yasāran) · hal hiya baʿīdatun? · bi- + transport · comparatives arkhaṣu. Task 4: the Speaker says وَصَلْتُ بِالطَّائِرَةِ.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2 (Develop · Stretch) — FADED SUPPORT: students now write their own plan column — exactly what they will do in the exam in their preparation time.
ROOM ROUTINE: Leader reads the left column in order · Speaker answers · Coach ticks the checklist (step 5 slide) and gives one WWW + one EBI · swap so that everyone is Speaker once.
To a girl the Leader says: أُسَاعِدَكِ · تَسْتَعْمِلِينَ.
Language: past narrative (intaẓartu, akhadhtu, dafaʿtu) · lam taʾti · comparatives arkhaṣu / abṭaʾu · hal yumkinu an turjiʿū · yajibu an + li-kay (Stretch).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introduction (2 min). Show one answer growing link by link, then open the conversation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(6 min). Leaders choose questions that suit the Speaker: Core questions first, then move up. The follow-up column trains extended answers — exactly what the conversation part of the exam rewards.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5 (5 min). A monologue builds fluency for the conversation.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Coach keeps this slide open during Steps 2–5. Back in the main room, ask each room for its best WWW.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— only AFTER the room has performed both cards. Each student finds one task they answered less fully and re-says it using the model.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— only AFTER the room has performed both cards. Each student finds one task they answered less fully and re-says it using the model.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(2 min, main room). Read one aloud together; students say which A-R-E-T link they will add next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ADVANCED TOPIC A · GUIDED PRACTICE  ·  AT-A-L09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AT-A-L09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Practice Room — Everyday Journeys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غُرْفَةُ التَّحَدُّثِ — المُوَاصَلَاتُ اليَوْمِيَّةُ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Students run their own speaking practice in breakout rooms: a word warm-up, the answer ladder, two new role plays (asking for directions to the station, a bus that never came), a topic conversation with A-R-E-T, and a one-minute talk about their journey to school.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AT-A-L09 · Advanced Topic A · Everyday Activities · guided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 A · A1+ → B1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Topic A › AT-A-L09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AT-A-L09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AT-A-L09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ROOM PLAN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Five steps — you run them yourselves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خُطُوَاتُ الغُرْفَةِ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5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14223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14223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1: word warm-up.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2F6FB0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الكَلِمَاتُ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357628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467356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503932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503932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042666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042666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485644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2: climb the answer ladder.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449068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2F6FB0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السُّلَّمُ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4258056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367784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404360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4404360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9430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9430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4386072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3: two role plays (planned, then you plan).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4349496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6158484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6268212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304788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6304788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68435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8435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6286500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4: topic conversation, A-R-E-T.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6249924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8058912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8168640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205216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8205216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5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8743950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743950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8186928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5: one-minute talk.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8150352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دَقِيقَةٌ وَاحِدَةٌ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9959340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Shape 53"/>
          <p:cNvSpPr/>
          <p:nvPr/>
        </p:nvSpPr>
        <p:spPr>
          <a:xfrm>
            <a:off x="10069068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10105644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8" name="Text 55"/>
          <p:cNvSpPr txBox="1"/>
          <p:nvPr/>
        </p:nvSpPr>
        <p:spPr>
          <a:xfrm>
            <a:off x="10105644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6 min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1064437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1064437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300" dirty="0"/>
          </a:p>
        </p:txBody>
      </p:sp>
      <p:sp>
        <p:nvSpPr>
          <p:cNvPr id="61" name="Text 58"/>
          <p:cNvSpPr txBox="1"/>
          <p:nvPr/>
        </p:nvSpPr>
        <p:spPr>
          <a:xfrm>
            <a:off x="10087356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Check yourself with the models.</a:t>
            </a:r>
            <a:endParaRPr lang="en-US" sz="1200" dirty="0"/>
          </a:p>
        </p:txBody>
      </p:sp>
      <p:sp>
        <p:nvSpPr>
          <p:cNvPr id="62" name="Text 59"/>
          <p:cNvSpPr txBox="1"/>
          <p:nvPr/>
        </p:nvSpPr>
        <p:spPr>
          <a:xfrm>
            <a:off x="10050780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</a:t>
            </a:r>
            <a:endParaRPr lang="ar-SA" sz="1500" dirty="0"/>
          </a:p>
        </p:txBody>
      </p:sp>
      <p:sp>
        <p:nvSpPr>
          <p:cNvPr id="63" name="Shape 60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4" name="Text 61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HOW THE ROOM RUNS</a:t>
            </a:r>
            <a:endParaRPr lang="en-US" sz="1000" dirty="0"/>
          </a:p>
        </p:txBody>
      </p:sp>
      <p:sp>
        <p:nvSpPr>
          <p:cNvPr id="65" name="Text 62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Everybody speaks in every step. Swap roles each time: Leader → Speaker → Coach. If you finish early, do the step again with the Stretch route.</a:t>
            </a:r>
            <a:endParaRPr lang="en-US" sz="1250" dirty="0"/>
          </a:p>
        </p:txBody>
      </p:sp>
      <p:sp>
        <p:nvSpPr>
          <p:cNvPr id="66" name="Text 6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21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AT-A-L09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BEFORE THE ROOMS · HOW YOUR ROOM WORKS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Three roles, four rules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نَعْمَلُ فِي الغُرْفَةِ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ROLES (SWAP AFTER EVERY TASK)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LEADER — opens the next step, keeps the time, and reads the examiner’s questions.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SPEAKER — answers in full Arabic sentences. Plan for a few seconds, then speak.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 — listens with the checklist, then gives one WWW (what went well) and one EBI (even better if).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RULES: Arabic only in the tasks · full sentences · no silence (use a repair phrase) · everyone speaks in every step.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ROOM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 / دَوْرُكِ!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 (m. / f.)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21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AT-A-L09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STEP 1 · WORD WARM-UP · 5 MINUTES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Say it — then use it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قُلْهَا وَاسْتَعْمِلْهَا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1 · IN YOUR ROOM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🔤  Word ping-pong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Leader says a word in ENGLISH from the next two slides. The Speaker says it in ARABIC, then uses it in a short sentence about themselves. The Coach checks the Arabic on the slide.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Leader: say 4 English words; Speaker answers in Arabic + one sentence each.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 checks the word and the ending (I / he / she / they).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roles — new words each time.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Last round: say the he / she form of each verb.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Say the Arabic word, then a simple sentence: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 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Add when or how often: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كُلَّ يَوْمٍ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أَحْيَانًا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مَرَّتَيْنِ فِي الأُسْبُوعِ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Use two words in one sentence with a reason (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…).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أَعِدْ مِنْ فَضْلِكَ / أَعِيدِي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repeat please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 أَكْثَرَ / تَكَلَّمِي أَكْثَرَ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 (m. / f.)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21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AT-A-L09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 BANK (1)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Getting around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التَّنَقُّلُ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 · she · they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أَذْهَبُ بِالحَافِلَةِ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go by bus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adh-ha-bu bil-ḥā-fi-la-ti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1054303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59789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they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588752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يَذْهَبُونَ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939088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44575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943660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تَذْهَبُ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823874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32" name="Text 29"/>
          <p:cNvSpPr txBox="1"/>
          <p:nvPr/>
        </p:nvSpPr>
        <p:spPr>
          <a:xfrm>
            <a:off x="828446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يَذْهَبُ</a:t>
            </a:r>
            <a:endParaRPr lang="ar-SA" sz="1500" dirty="0"/>
          </a:p>
        </p:txBody>
      </p:sp>
      <p:sp>
        <p:nvSpPr>
          <p:cNvPr id="33" name="Shape 30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782312" y="1938528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782312" y="193852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 · she · they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أَرْكَبُ</a:t>
            </a:r>
            <a:endParaRPr lang="ar-SA" sz="3000" dirty="0"/>
          </a:p>
        </p:txBody>
      </p:sp>
      <p:sp>
        <p:nvSpPr>
          <p:cNvPr id="41" name="Text 38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ride, get on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ar-ka-bu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672084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77570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they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6766560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يَرْكَبُونَ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5568696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623560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47" name="Text 44"/>
          <p:cNvSpPr txBox="1"/>
          <p:nvPr/>
        </p:nvSpPr>
        <p:spPr>
          <a:xfrm>
            <a:off x="5614416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تَرْكَبُ</a:t>
            </a:r>
            <a:endParaRPr lang="ar-SA" sz="1500" dirty="0"/>
          </a:p>
        </p:txBody>
      </p:sp>
      <p:sp>
        <p:nvSpPr>
          <p:cNvPr id="48" name="Shape 45"/>
          <p:cNvSpPr/>
          <p:nvPr/>
        </p:nvSpPr>
        <p:spPr>
          <a:xfrm>
            <a:off x="441655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447141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50" name="Text 47"/>
          <p:cNvSpPr txBox="1"/>
          <p:nvPr/>
        </p:nvSpPr>
        <p:spPr>
          <a:xfrm>
            <a:off x="446227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يَرْكَبُ</a:t>
            </a:r>
            <a:endParaRPr lang="ar-SA" sz="1500" dirty="0"/>
          </a:p>
        </p:txBody>
      </p:sp>
      <p:sp>
        <p:nvSpPr>
          <p:cNvPr id="51" name="Shape 48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960120" y="1938528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960120" y="193852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 · she · they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8" name="Text 55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أَصِلُ</a:t>
            </a:r>
            <a:endParaRPr lang="ar-SA" sz="3000" dirty="0"/>
          </a:p>
        </p:txBody>
      </p:sp>
      <p:sp>
        <p:nvSpPr>
          <p:cNvPr id="59" name="Text 56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arrive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a-ṣi-lu</a:t>
            </a:r>
            <a:endParaRPr lang="en-US" sz="1350" dirty="0"/>
          </a:p>
        </p:txBody>
      </p:sp>
      <p:sp>
        <p:nvSpPr>
          <p:cNvPr id="60" name="Shape 57"/>
          <p:cNvSpPr/>
          <p:nvPr/>
        </p:nvSpPr>
        <p:spPr>
          <a:xfrm>
            <a:off x="289864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295351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they</a:t>
            </a:r>
            <a:endParaRPr lang="en-US" sz="700" dirty="0"/>
          </a:p>
        </p:txBody>
      </p:sp>
      <p:sp>
        <p:nvSpPr>
          <p:cNvPr id="62" name="Text 59"/>
          <p:cNvSpPr txBox="1"/>
          <p:nvPr/>
        </p:nvSpPr>
        <p:spPr>
          <a:xfrm>
            <a:off x="2944368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يَصِلُونَ</a:t>
            </a:r>
            <a:endParaRPr lang="ar-SA" sz="1350" dirty="0"/>
          </a:p>
        </p:txBody>
      </p:sp>
      <p:sp>
        <p:nvSpPr>
          <p:cNvPr id="63" name="Shape 60"/>
          <p:cNvSpPr/>
          <p:nvPr/>
        </p:nvSpPr>
        <p:spPr>
          <a:xfrm>
            <a:off x="174650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180136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65" name="Text 62"/>
          <p:cNvSpPr txBox="1"/>
          <p:nvPr/>
        </p:nvSpPr>
        <p:spPr>
          <a:xfrm>
            <a:off x="179222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تَصِلُ</a:t>
            </a:r>
            <a:endParaRPr lang="ar-SA" sz="1500" dirty="0"/>
          </a:p>
        </p:txBody>
      </p:sp>
      <p:sp>
        <p:nvSpPr>
          <p:cNvPr id="66" name="Shape 63"/>
          <p:cNvSpPr/>
          <p:nvPr/>
        </p:nvSpPr>
        <p:spPr>
          <a:xfrm>
            <a:off x="59436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64922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68" name="Text 65"/>
          <p:cNvSpPr txBox="1"/>
          <p:nvPr/>
        </p:nvSpPr>
        <p:spPr>
          <a:xfrm>
            <a:off x="640080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يَصِلُ</a:t>
            </a:r>
            <a:endParaRPr lang="ar-SA" sz="1500" dirty="0"/>
          </a:p>
        </p:txBody>
      </p:sp>
      <p:sp>
        <p:nvSpPr>
          <p:cNvPr id="69" name="Shape 66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0" name="Shape 67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8604504" y="4279392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604504" y="4279392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 · she · they</a:t>
            </a:r>
            <a:endParaRPr lang="en-US" sz="800" dirty="0"/>
          </a:p>
        </p:txBody>
      </p:sp>
      <p:sp>
        <p:nvSpPr>
          <p:cNvPr id="74" name="Shape 71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6" name="Text 73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أَمْشِي</a:t>
            </a:r>
            <a:endParaRPr lang="ar-SA" sz="3000" dirty="0"/>
          </a:p>
        </p:txBody>
      </p:sp>
      <p:sp>
        <p:nvSpPr>
          <p:cNvPr id="77" name="Text 74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walk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am-shī</a:t>
            </a:r>
            <a:endParaRPr lang="en-US" sz="1350" dirty="0"/>
          </a:p>
        </p:txBody>
      </p:sp>
      <p:sp>
        <p:nvSpPr>
          <p:cNvPr id="78" name="Shape 75"/>
          <p:cNvSpPr/>
          <p:nvPr/>
        </p:nvSpPr>
        <p:spPr>
          <a:xfrm>
            <a:off x="10543032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10597896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they</a:t>
            </a:r>
            <a:endParaRPr lang="en-US" sz="700" dirty="0"/>
          </a:p>
        </p:txBody>
      </p:sp>
      <p:sp>
        <p:nvSpPr>
          <p:cNvPr id="80" name="Text 77"/>
          <p:cNvSpPr txBox="1"/>
          <p:nvPr/>
        </p:nvSpPr>
        <p:spPr>
          <a:xfrm>
            <a:off x="10588752" y="59161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يَمْشُونَ</a:t>
            </a:r>
            <a:endParaRPr lang="ar-SA" sz="1350" dirty="0"/>
          </a:p>
        </p:txBody>
      </p:sp>
      <p:sp>
        <p:nvSpPr>
          <p:cNvPr id="81" name="Shape 78"/>
          <p:cNvSpPr/>
          <p:nvPr/>
        </p:nvSpPr>
        <p:spPr>
          <a:xfrm>
            <a:off x="9390888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9445752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83" name="Text 80"/>
          <p:cNvSpPr txBox="1"/>
          <p:nvPr/>
        </p:nvSpPr>
        <p:spPr>
          <a:xfrm>
            <a:off x="9436608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تَمْشِي</a:t>
            </a:r>
            <a:endParaRPr lang="ar-SA" sz="1500" dirty="0"/>
          </a:p>
        </p:txBody>
      </p:sp>
      <p:sp>
        <p:nvSpPr>
          <p:cNvPr id="84" name="Shape 81"/>
          <p:cNvSpPr/>
          <p:nvPr/>
        </p:nvSpPr>
        <p:spPr>
          <a:xfrm>
            <a:off x="8238744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8293608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86" name="Text 83"/>
          <p:cNvSpPr txBox="1"/>
          <p:nvPr/>
        </p:nvSpPr>
        <p:spPr>
          <a:xfrm>
            <a:off x="8284464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يَمْشِي</a:t>
            </a:r>
            <a:endParaRPr lang="ar-SA" sz="1500" dirty="0"/>
          </a:p>
        </p:txBody>
      </p:sp>
      <p:sp>
        <p:nvSpPr>
          <p:cNvPr id="87" name="Shape 84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88" name="Shape 85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9" name="Text 86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90" name="Shape 87"/>
          <p:cNvSpPr/>
          <p:nvPr/>
        </p:nvSpPr>
        <p:spPr>
          <a:xfrm>
            <a:off x="4782312" y="4279392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4782312" y="4279392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transport</a:t>
            </a:r>
            <a:endParaRPr lang="en-US" sz="800" dirty="0"/>
          </a:p>
        </p:txBody>
      </p:sp>
      <p:sp>
        <p:nvSpPr>
          <p:cNvPr id="92" name="Shape 89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3" name="Text 90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4" name="Text 91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حَافِلَةٌ · قِطَارٌ · سَيَّارَةٌ</a:t>
            </a:r>
            <a:endParaRPr lang="ar-SA" sz="3000" dirty="0"/>
          </a:p>
        </p:txBody>
      </p:sp>
      <p:sp>
        <p:nvSpPr>
          <p:cNvPr id="95" name="Text 92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bus · train · car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ḥā-fi-la-tun · qi-ṭā-run · say-yā-ra-tun</a:t>
            </a:r>
            <a:endParaRPr lang="en-US" sz="1350" dirty="0"/>
          </a:p>
        </p:txBody>
      </p:sp>
      <p:sp>
        <p:nvSpPr>
          <p:cNvPr id="96" name="Shape 93"/>
          <p:cNvSpPr/>
          <p:nvPr/>
        </p:nvSpPr>
        <p:spPr>
          <a:xfrm>
            <a:off x="4416552" y="5779008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7" name="Text 94"/>
          <p:cNvSpPr txBox="1"/>
          <p:nvPr/>
        </p:nvSpPr>
        <p:spPr>
          <a:xfrm>
            <a:off x="4471416" y="5788152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98" name="Text 95"/>
          <p:cNvSpPr txBox="1"/>
          <p:nvPr/>
        </p:nvSpPr>
        <p:spPr>
          <a:xfrm>
            <a:off x="4462272" y="5824728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حَافِلَاتٌ · قِطَارَاتٌ · سَيَّارَاتٌ</a:t>
            </a:r>
            <a:endParaRPr lang="ar-SA" sz="1500" dirty="0"/>
          </a:p>
        </p:txBody>
      </p:sp>
      <p:sp>
        <p:nvSpPr>
          <p:cNvPr id="99" name="Shape 96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00" name="Shape 97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01" name="Text 98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102" name="Shape 99"/>
          <p:cNvSpPr/>
          <p:nvPr/>
        </p:nvSpPr>
        <p:spPr>
          <a:xfrm>
            <a:off x="960120" y="4279392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960120" y="4279392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pl.</a:t>
            </a:r>
            <a:endParaRPr lang="en-US" sz="800" dirty="0"/>
          </a:p>
        </p:txBody>
      </p:sp>
      <p:sp>
        <p:nvSpPr>
          <p:cNvPr id="104" name="Shape 101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05" name="Text 102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106" name="Text 103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مَحَطَّةٌ</a:t>
            </a:r>
            <a:endParaRPr lang="ar-SA" sz="3000" dirty="0"/>
          </a:p>
        </p:txBody>
      </p:sp>
      <p:sp>
        <p:nvSpPr>
          <p:cNvPr id="107" name="Text 104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station, a stop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ma-ḥaṭ-ṭa-tun</a:t>
            </a:r>
            <a:endParaRPr lang="en-US" sz="1350" dirty="0"/>
          </a:p>
        </p:txBody>
      </p:sp>
      <p:sp>
        <p:nvSpPr>
          <p:cNvPr id="108" name="Shape 105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9" name="Text 106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110" name="Text 107"/>
          <p:cNvSpPr txBox="1"/>
          <p:nvPr/>
        </p:nvSpPr>
        <p:spPr>
          <a:xfrm>
            <a:off x="2368296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مَحَطَّاتٌ</a:t>
            </a:r>
            <a:endParaRPr lang="ar-SA" sz="1500" dirty="0"/>
          </a:p>
        </p:txBody>
      </p:sp>
      <p:sp>
        <p:nvSpPr>
          <p:cNvPr id="111" name="Shape 108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12" name="Text 109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113" name="Text 110"/>
          <p:cNvSpPr txBox="1"/>
          <p:nvPr/>
        </p:nvSpPr>
        <p:spPr>
          <a:xfrm>
            <a:off x="640080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مَحَطَّةٌ</a:t>
            </a:r>
            <a:endParaRPr lang="ar-SA" sz="1500" dirty="0"/>
          </a:p>
        </p:txBody>
      </p:sp>
      <p:sp>
        <p:nvSpPr>
          <p:cNvPr id="114" name="Text 11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21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AT-A-L09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 BANK (2)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Comparing transport and giving directions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المُقَارَنَةُ وَالاتِّجَاهَاتُ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pl.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تَذْكِرَةٌ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ticket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tadh-ki-ra-tun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تَذَاكِرُ</a:t>
            </a:r>
            <a:endParaRPr lang="ar-SA" sz="150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تَذْكِرَةٌ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958291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9582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comparative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سَرِيعٌ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fast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sa-rī-ʿun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72084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77570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faster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6766560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أَسْرَعُ مِنْ</a:t>
            </a:r>
            <a:endParaRPr lang="ar-SA" sz="1350" dirty="0"/>
          </a:p>
        </p:txBody>
      </p:sp>
      <p:sp>
        <p:nvSpPr>
          <p:cNvPr id="42" name="Shape 39"/>
          <p:cNvSpPr/>
          <p:nvPr/>
        </p:nvSpPr>
        <p:spPr>
          <a:xfrm>
            <a:off x="5568696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5623560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44" name="Text 41"/>
          <p:cNvSpPr txBox="1"/>
          <p:nvPr/>
        </p:nvSpPr>
        <p:spPr>
          <a:xfrm>
            <a:off x="5614416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سَرِيعَةٌ</a:t>
            </a:r>
            <a:endParaRPr lang="ar-SA" sz="1500" dirty="0"/>
          </a:p>
        </p:txBody>
      </p:sp>
      <p:sp>
        <p:nvSpPr>
          <p:cNvPr id="45" name="Shape 42"/>
          <p:cNvSpPr/>
          <p:nvPr/>
        </p:nvSpPr>
        <p:spPr>
          <a:xfrm>
            <a:off x="441655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447141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47" name="Text 44"/>
          <p:cNvSpPr txBox="1"/>
          <p:nvPr/>
        </p:nvSpPr>
        <p:spPr>
          <a:xfrm>
            <a:off x="446227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سَرِيعٌ</a:t>
            </a:r>
            <a:endParaRPr lang="ar-SA" sz="1500" dirty="0"/>
          </a:p>
        </p:txBody>
      </p:sp>
      <p:sp>
        <p:nvSpPr>
          <p:cNvPr id="48" name="Shape 45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960120" y="1938528"/>
            <a:ext cx="958291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960120" y="1938528"/>
            <a:ext cx="9582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comparative</a:t>
            </a:r>
            <a:endParaRPr lang="en-US" sz="800" dirty="0"/>
          </a:p>
        </p:txBody>
      </p:sp>
      <p:sp>
        <p:nvSpPr>
          <p:cNvPr id="53" name="Shape 50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5" name="Text 52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رَخِيصٌ · غَالٍ</a:t>
            </a:r>
            <a:endParaRPr lang="ar-SA" sz="3000" dirty="0"/>
          </a:p>
        </p:txBody>
      </p:sp>
      <p:sp>
        <p:nvSpPr>
          <p:cNvPr id="56" name="Text 53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cheap · expensive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ra-khī-ṣun · ghā-lin</a:t>
            </a:r>
            <a:endParaRPr lang="en-US" sz="1350" dirty="0"/>
          </a:p>
        </p:txBody>
      </p:sp>
      <p:sp>
        <p:nvSpPr>
          <p:cNvPr id="57" name="Shape 54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dearer</a:t>
            </a:r>
            <a:endParaRPr lang="en-US" sz="700" dirty="0"/>
          </a:p>
        </p:txBody>
      </p:sp>
      <p:sp>
        <p:nvSpPr>
          <p:cNvPr id="59" name="Text 56"/>
          <p:cNvSpPr txBox="1"/>
          <p:nvPr/>
        </p:nvSpPr>
        <p:spPr>
          <a:xfrm>
            <a:off x="2368296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أَغْلَى</a:t>
            </a:r>
            <a:endParaRPr lang="ar-SA" sz="1350" dirty="0"/>
          </a:p>
        </p:txBody>
      </p:sp>
      <p:sp>
        <p:nvSpPr>
          <p:cNvPr id="60" name="Shape 57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cheaper</a:t>
            </a:r>
            <a:endParaRPr lang="en-US" sz="700" dirty="0"/>
          </a:p>
        </p:txBody>
      </p:sp>
      <p:sp>
        <p:nvSpPr>
          <p:cNvPr id="62" name="Text 59"/>
          <p:cNvSpPr txBox="1"/>
          <p:nvPr/>
        </p:nvSpPr>
        <p:spPr>
          <a:xfrm>
            <a:off x="6400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أَرْخَصُ</a:t>
            </a:r>
            <a:endParaRPr lang="ar-SA" sz="1350" dirty="0"/>
          </a:p>
        </p:txBody>
      </p:sp>
      <p:sp>
        <p:nvSpPr>
          <p:cNvPr id="63" name="Shape 60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4" name="Shape 61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66" name="Shape 63"/>
          <p:cNvSpPr/>
          <p:nvPr/>
        </p:nvSpPr>
        <p:spPr>
          <a:xfrm>
            <a:off x="8604504" y="4279392"/>
            <a:ext cx="1144829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8604504" y="4279392"/>
            <a:ext cx="11448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 · more</a:t>
            </a:r>
            <a:endParaRPr lang="en-US" sz="800" dirty="0"/>
          </a:p>
        </p:txBody>
      </p:sp>
      <p:sp>
        <p:nvSpPr>
          <p:cNvPr id="68" name="Shape 65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0" name="Text 67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مُزْدَحِمٌ</a:t>
            </a:r>
            <a:endParaRPr lang="ar-SA" sz="3000" dirty="0"/>
          </a:p>
        </p:txBody>
      </p:sp>
      <p:sp>
        <p:nvSpPr>
          <p:cNvPr id="71" name="Text 68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crowded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muz-da-ḥi-mun</a:t>
            </a:r>
            <a:endParaRPr lang="en-US" sz="1350" dirty="0"/>
          </a:p>
        </p:txBody>
      </p:sp>
      <p:sp>
        <p:nvSpPr>
          <p:cNvPr id="72" name="Shape 69"/>
          <p:cNvSpPr/>
          <p:nvPr/>
        </p:nvSpPr>
        <p:spPr>
          <a:xfrm>
            <a:off x="10543032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10597896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more</a:t>
            </a:r>
            <a:endParaRPr lang="en-US" sz="700" dirty="0"/>
          </a:p>
        </p:txBody>
      </p:sp>
      <p:sp>
        <p:nvSpPr>
          <p:cNvPr id="74" name="Text 71"/>
          <p:cNvSpPr txBox="1"/>
          <p:nvPr/>
        </p:nvSpPr>
        <p:spPr>
          <a:xfrm>
            <a:off x="10588752" y="59161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أَكْثَرُ ازْدِحَامًا</a:t>
            </a:r>
            <a:endParaRPr lang="ar-SA" sz="1350" dirty="0"/>
          </a:p>
        </p:txBody>
      </p:sp>
      <p:sp>
        <p:nvSpPr>
          <p:cNvPr id="75" name="Shape 72"/>
          <p:cNvSpPr/>
          <p:nvPr/>
        </p:nvSpPr>
        <p:spPr>
          <a:xfrm>
            <a:off x="9390888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9445752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77" name="Text 74"/>
          <p:cNvSpPr txBox="1"/>
          <p:nvPr/>
        </p:nvSpPr>
        <p:spPr>
          <a:xfrm>
            <a:off x="9436608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مُزْدَحِمَةٌ</a:t>
            </a:r>
            <a:endParaRPr lang="ar-SA" sz="1500" dirty="0"/>
          </a:p>
        </p:txBody>
      </p:sp>
      <p:sp>
        <p:nvSpPr>
          <p:cNvPr id="78" name="Shape 75"/>
          <p:cNvSpPr/>
          <p:nvPr/>
        </p:nvSpPr>
        <p:spPr>
          <a:xfrm>
            <a:off x="8238744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8293608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80" name="Text 77"/>
          <p:cNvSpPr txBox="1"/>
          <p:nvPr/>
        </p:nvSpPr>
        <p:spPr>
          <a:xfrm>
            <a:off x="8284464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مُزْدَحِمٌ</a:t>
            </a:r>
            <a:endParaRPr lang="ar-SA" sz="1500" dirty="0"/>
          </a:p>
        </p:txBody>
      </p:sp>
      <p:sp>
        <p:nvSpPr>
          <p:cNvPr id="81" name="Shape 78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82" name="Shape 79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3" name="Text 80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84" name="Shape 81"/>
          <p:cNvSpPr/>
          <p:nvPr/>
        </p:nvSpPr>
        <p:spPr>
          <a:xfrm>
            <a:off x="4782312" y="4279392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4782312" y="4279392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directions</a:t>
            </a:r>
            <a:endParaRPr lang="en-US" sz="800" dirty="0"/>
          </a:p>
        </p:txBody>
      </p:sp>
      <p:sp>
        <p:nvSpPr>
          <p:cNvPr id="86" name="Shape 83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7" name="Text 84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8" name="Text 85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اذْهَبْ · خُذْ · انْعَطِفْ</a:t>
            </a:r>
            <a:endParaRPr lang="ar-SA" sz="3000" dirty="0"/>
          </a:p>
        </p:txBody>
      </p:sp>
      <p:sp>
        <p:nvSpPr>
          <p:cNvPr id="89" name="Text 86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go · take · turn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adh-hab · khudh · an-ʿa-ṭif</a:t>
            </a:r>
            <a:endParaRPr lang="en-US" sz="1350" dirty="0"/>
          </a:p>
        </p:txBody>
      </p:sp>
      <p:sp>
        <p:nvSpPr>
          <p:cNvPr id="90" name="Shape 87"/>
          <p:cNvSpPr/>
          <p:nvPr/>
        </p:nvSpPr>
        <p:spPr>
          <a:xfrm>
            <a:off x="4416552" y="5779008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4471416" y="5788152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92" name="Text 89"/>
          <p:cNvSpPr txBox="1"/>
          <p:nvPr/>
        </p:nvSpPr>
        <p:spPr>
          <a:xfrm>
            <a:off x="4462272" y="5824728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اذْهَبِي · خُذِي · انْعَطِفِي</a:t>
            </a:r>
            <a:endParaRPr lang="ar-SA" sz="1500" dirty="0"/>
          </a:p>
        </p:txBody>
      </p:sp>
      <p:sp>
        <p:nvSpPr>
          <p:cNvPr id="93" name="Shape 90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4" name="Shape 91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5" name="Text 92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96" name="Shape 93"/>
          <p:cNvSpPr/>
          <p:nvPr/>
        </p:nvSpPr>
        <p:spPr>
          <a:xfrm>
            <a:off x="960120" y="4279392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7" name="Text 94"/>
          <p:cNvSpPr txBox="1"/>
          <p:nvPr/>
        </p:nvSpPr>
        <p:spPr>
          <a:xfrm>
            <a:off x="960120" y="4279392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directions</a:t>
            </a:r>
            <a:endParaRPr lang="en-US" sz="800" dirty="0"/>
          </a:p>
        </p:txBody>
      </p:sp>
      <p:sp>
        <p:nvSpPr>
          <p:cNvPr id="98" name="Shape 95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9" name="Text 96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100" name="Text 97"/>
          <p:cNvSpPr txBox="1"/>
          <p:nvPr/>
        </p:nvSpPr>
        <p:spPr>
          <a:xfrm>
            <a:off x="566928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5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يَمِينًا · يَسَارًا · إِلَى الأَمَامِ</a:t>
            </a:r>
            <a:endParaRPr lang="ar-SA" sz="2550" dirty="0"/>
          </a:p>
        </p:txBody>
      </p:sp>
      <p:sp>
        <p:nvSpPr>
          <p:cNvPr id="101" name="Text 98"/>
          <p:cNvSpPr txBox="1"/>
          <p:nvPr/>
        </p:nvSpPr>
        <p:spPr>
          <a:xfrm>
            <a:off x="594360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right · left · straight on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ya-mī-nan · ya-sā-ran · i-lā al-a-mā-mi</a:t>
            </a:r>
            <a:endParaRPr lang="en-US" sz="1350" dirty="0"/>
          </a:p>
        </p:txBody>
      </p:sp>
      <p:sp>
        <p:nvSpPr>
          <p:cNvPr id="102" name="Text 9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21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AT-A-L09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2 · THE ANSWER LADDER · HOW A SHORT ANSWER BECOMES A STRONG ONE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Climb the ladder: “How do you get to school?”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تَذْهَبُ إِلَى المَدْرَسَةِ؟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1201400" y="2123694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1201400" y="212369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0" y="1847088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أَذْهَبُ إِلَى المَدْرَسَةِ بِالحَافِلَةِ.</a:t>
            </a:r>
            <a:endParaRPr lang="ar-SA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1856232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1 · Answer in a full sentence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go to school by bus.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57200" y="2967228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11201400" y="3280410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1201400" y="328041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0" y="3003804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أَذْهَبُ إِلَى المَدْرَسَةِ بِالحَافِلَةِ، لِأَنَّهَا أَرْخَصُ مِنَ القِطَارِ.</a:t>
            </a:r>
            <a:endParaRPr lang="ar-SA" sz="2600" dirty="0"/>
          </a:p>
        </p:txBody>
      </p:sp>
      <p:sp>
        <p:nvSpPr>
          <p:cNvPr id="24" name="Text 21"/>
          <p:cNvSpPr txBox="1"/>
          <p:nvPr/>
        </p:nvSpPr>
        <p:spPr>
          <a:xfrm>
            <a:off x="685800" y="3012948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2 · + a reason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because it is cheaper than the train.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457200" y="4123944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11201400" y="4437126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1201400" y="443712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0" y="4160520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وَتَسْتَغْرِقُ الرِّحْلَةُ عِشْرِينَ دَقِيقَةً، لٰكِنَّ الحَافِلَةَ تَكُونُ مُزْدَحِمَةً فِي الصَّبَاحِ.</a:t>
            </a:r>
            <a:endParaRPr lang="ar-SA" sz="2000" dirty="0"/>
          </a:p>
        </p:txBody>
      </p:sp>
      <p:sp>
        <p:nvSpPr>
          <p:cNvPr id="29" name="Text 26"/>
          <p:cNvSpPr txBox="1"/>
          <p:nvPr/>
        </p:nvSpPr>
        <p:spPr>
          <a:xfrm>
            <a:off x="685800" y="4169664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3 · + a detail (time, frequency, example)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the journey takes twenty minutes, but the bus is crowded in the morning.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457200" y="5280660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11201400" y="5593842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1201400" y="5593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4572000" y="5317236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وَفِي السَّنَةِ القَادِمَةِ سَأَذْهَبُ بِالدَّرَّاجَةِ، فَهِيَ فِي رَأْيِي أَسْرَعُ وَأَصَحُّ.</a:t>
            </a:r>
            <a:endParaRPr lang="ar-SA" sz="2200" dirty="0"/>
          </a:p>
        </p:txBody>
      </p:sp>
      <p:sp>
        <p:nvSpPr>
          <p:cNvPr id="34" name="Text 31"/>
          <p:cNvSpPr txBox="1"/>
          <p:nvPr/>
        </p:nvSpPr>
        <p:spPr>
          <a:xfrm>
            <a:off x="685800" y="5326380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4 · + another time frame or an opinion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next year I will cycle — in my opinion it is quicker and healthier.</a:t>
            </a:r>
            <a:endParaRPr lang="en-US" sz="12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21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AT-A-L09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STEP 2 · YOUR TURN · CLIMB THE LADDER FOR EACH QUESTION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Your ladder: build each answer level by level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اصْعَدِ السُّلَّمَ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445752" y="1810512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3–4 · + detail / time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068312" y="1810512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2 · + reason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99432" y="1810512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1 · answer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464040" y="2267712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وَأَمْسِ اسْتَغْرَقَتْ …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7086600" y="226771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لِأَنَّ …</a:t>
            </a:r>
            <a:endParaRPr lang="ar-SA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4617720" y="226771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تَسْتَغْرِقُ …</a:t>
            </a:r>
            <a:endParaRPr lang="ar-SA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226771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دَقِيقَةً تَسْتَغْرِقُ رِحْلَتُكَ إِلَى المَدْرَسَةِ؟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464040" y="3054096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وَفِي المُسْتَقْبَلِ …</a:t>
            </a:r>
            <a:endParaRPr lang="ar-SA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7086600" y="3054096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لِأَنَّهُ أَسْرَعُ مِنْ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4617720" y="3054096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أُفَضِّلُ …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054096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وَسِيلَةُ المُوَاصَلَاتِ الَّتِي تُفَضِّلُهَا؟</a:t>
            </a:r>
            <a:endParaRPr lang="ar-SA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1091672" y="3099816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1091672" y="309981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464040" y="3840480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مَثَلًا …</a:t>
            </a:r>
            <a:endParaRPr lang="ar-SA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7086600" y="3840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لِأَنَّ …</a:t>
            </a:r>
            <a:endParaRPr lang="ar-SA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4617720" y="38404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 / لَا، …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1051560" y="38404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المُوَاصَلَاتُ فِي مَدِينَتِكَ جَيِّدَةٌ؟</a:t>
            </a:r>
            <a:endParaRPr lang="ar-SA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457200" y="4626864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9464040" y="4626864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وَاسْتَغْرَقَتِ الرِّحْلَةُ …</a:t>
            </a:r>
            <a:endParaRPr lang="ar-SA" sz="1500" dirty="0"/>
          </a:p>
        </p:txBody>
      </p:sp>
      <p:sp>
        <p:nvSpPr>
          <p:cNvPr id="45" name="Text 42"/>
          <p:cNvSpPr txBox="1"/>
          <p:nvPr/>
        </p:nvSpPr>
        <p:spPr>
          <a:xfrm>
            <a:off x="7086600" y="4626864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لِأَنَّ 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4617720" y="4626864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ذَهَبْتُ بِالسَّيَّارَةِ …</a:t>
            </a:r>
            <a:endParaRPr lang="ar-SA" sz="15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4626864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ذَهَبْتَ إِلَى البَحْرِ آخِرَ مَرَّةٍ؟</a:t>
            </a:r>
            <a:endParaRPr lang="ar-SA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626864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Leader asks · Speaker climbs as high as they can · Coach says which level they reached. Swap for each question.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AT-A-L09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3 · ROLE PLAY · HOW TO USE YOUR 1 MINUTE OF PREPARATION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Plan a role-play card in one minute</a:t>
            </a:r>
            <a:endParaRPr lang="en-US" sz="2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خَطِّطْ فِي دَقِيقَةٍ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FOUR MOVES IN ONE MINUTE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WHO am I and WHO is the examiner? (formal or friendly · a man or a woman → your endings).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For each task, find the QUESTION WORD and the TENSE (past · present · future).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Plan only your FIRST 2–3 words for each task — not whole sentences.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Task ! is unexpected: listen for the question word, then answer in a full sentence.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QUESTION WORD → HOW TO START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…؟ ← رَقْمٌ + اسْمٌ</a:t>
            </a:r>
            <a:endParaRPr lang="ar-SA" sz="265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765511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many → a number + a noun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19582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214116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…؟ ← فِي السَّاعَةِ … / يَوْمَ …</a:t>
            </a:r>
            <a:endParaRPr lang="ar-SA" sz="265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3785067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→ at … o’clock / on …day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215384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233672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…؟ ← لِأَنَّ …</a:t>
            </a:r>
            <a:endParaRPr lang="ar-SA" sz="265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4804623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 → because …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6995160" y="523494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40" name="Text 37"/>
          <p:cNvSpPr txBox="1"/>
          <p:nvPr/>
        </p:nvSpPr>
        <p:spPr>
          <a:xfrm>
            <a:off x="6949440" y="5253228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…؟ ← نَعَمْ / لَا + جُمْلَةٌ كَامِلَةٌ</a:t>
            </a:r>
            <a:endParaRPr lang="ar-SA" sz="2650" dirty="0"/>
          </a:p>
        </p:txBody>
      </p:sp>
      <p:sp>
        <p:nvSpPr>
          <p:cNvPr id="41" name="Text 38"/>
          <p:cNvSpPr txBox="1"/>
          <p:nvPr/>
        </p:nvSpPr>
        <p:spPr>
          <a:xfrm>
            <a:off x="6949440" y="5824179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yes/no question → yes / no + a full sentence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21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AT-A-L09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8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3 · ROLE PLAY 1 · CORE · DEVELOP · THE PLAN IS GIVEN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1 — Asking the way to the station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المَحَطَّةُ؟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57032" y="181051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Plan: question word → my first words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96519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Speaker’s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 (the examiner)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75320" y="2267712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← عَفْوًا، أَيْنَ مَحَطَّةُ …؟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01768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where the bus station is.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نَعَمْ؟ هَلْ تَحْتَاجُ إِلَى مُسَاعَدَةٍ؟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75320" y="300471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← هَلْ هِيَ بَعِيدَةٌ؟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01768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if it is far.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اذْهَبْ إِلَى الأَمَامِ، ثُمَّ انْعَطِفْ يَسَارًا.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275320" y="3741725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إِلَى أَيْنَ ← أُسَافِرُ إِلَى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01768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where you are going.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لَا، عَشْرُ دَقَائِقَ مَشْيًا. إِلَى أَيْنَ تُسَافِرُ؟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75320" y="4478731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← وَصَلْتُ بِالطَّائِرَةِ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01768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how you arrived (past).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جَمِيلٌ! كَيْفَ وَصَلْتَ إِلَى عَمَّانَ؟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275320" y="521573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← لَا، شُكْرًا، لِأَنَّ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01768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with a reason.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تُرِيدُ أَنْ تَأْخُذَ سَيَّارَةَ أُجْرَةٍ؟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Speaker = a tourist · Leader = a passer-by. Use the plan column in your 1 minute of preparation, then hide it and speak. Then swap roles.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AT-A-L09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8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3 · ROLE PLAY 2 · DEVELOP · STRETCH · PLAN IT YOURSELF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2 — The bus that never came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الحَافِلَةُ الَّتِي لَمْ تَأْتِ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57032" y="181051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Plan it: question word → my first words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96519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Speaker’s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 (the examiner)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93608" y="2267712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5001768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Explain what happened this morning (past).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أَسْتَطِيعُ أَنْ أُسَاعِدَكَ؟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93608" y="300471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5001768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what you did and the result.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آسِفٌ جِدًّا. مَاذَا حَدَثَ بَعْدَ ذٰلِكَ؟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741725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5001768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how often and compare with another option.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تَسْتَعْمِلُ هٰذِهِ الحَافِلَةَ كَثِيرًا؟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293608" y="4478731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5001768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about compensation or a timetable.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سَنَتَحَقَّقُ مِنَ المُشْكِلَةِ.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293608" y="521573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5001768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(advice + reason).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الَّذِي يَجِبُ أَنْ نُغَيِّرَهُ فِي خِدْمَتِنَا؟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Speaker = a passenger · Leader = the customer-service officer. In your 1 minute, write the plan column in your book. Task ! : the Leader reads it without warning. Then swap roles.</a:t>
            </a: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21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AT-A-L09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4 · TOPIC CONVERSATION · KEEP THE ANSWER GOING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A-R-E-T: four links in every answer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سِلْسِلَةُ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3456432"/>
          </a:xfrm>
          <a:prstGeom prst="roundRect">
            <a:avLst>
              <a:gd name="adj" fmla="val 211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A · R · E · 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— ANSWER the question in a full sentence.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035808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035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2926080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 — give a REASON: 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 … / لِذٰلِكَ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378561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3785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3675888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 — add an EXAMPLE or a detail: 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مَثَلًا … / كُلَّ يَوْمٍ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45354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4535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4425696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 — change the TIME: past (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أَمْسِ / فِي المَاضِي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 or future (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سَوْفَ / فِي المُسْتَقْبَلِ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3456432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 COACH PUSHES WITH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26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761244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18820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206496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مِثْلَ مَاذَا؟</a:t>
            </a:r>
            <a:endParaRPr lang="ar-SA" sz="26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3773180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Like what?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200144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218432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وَفِي المَاضِي؟ / وَفِي المُسْتَقْبَلِ؟</a:t>
            </a:r>
            <a:endParaRPr lang="ar-SA" sz="26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4785116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And in the past? / And in the future?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39496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Text 37"/>
          <p:cNvSpPr txBox="1"/>
          <p:nvPr/>
        </p:nvSpPr>
        <p:spPr>
          <a:xfrm>
            <a:off x="658368" y="5468112"/>
            <a:ext cx="1920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ROUTES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2606040" y="5449824"/>
            <a:ext cx="8961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Core: A + R. Develop: A + R + E. Stretch: all four, plus an opinion (</a:t>
            </a:r>
            <a:pPr algn="l" indent="0" marL="0">
              <a:buNone/>
            </a:pPr>
            <a:r>
              <a:rPr lang="ar-SA" altLang="en-US" sz="16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رَأْيِي</a:t>
            </a:r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 or a contrast (</a:t>
            </a:r>
            <a:pPr algn="l" indent="0" marL="0">
              <a:buNone/>
            </a:pPr>
            <a:r>
              <a:rPr lang="ar-SA" altLang="en-US" sz="16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</a:t>
            </a:r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250" dirty="0"/>
          </a:p>
        </p:txBody>
      </p:sp>
      <p:sp>
        <p:nvSpPr>
          <p:cNvPr id="42" name="Text 3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21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AT-A-L09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4 · CONVERSATION CARD · THE LEADER ASKS, THE COACH PUSHES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Conversation: answer, then keep going</a:t>
            </a:r>
            <a:endParaRPr lang="en-US" sz="24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رِحْلَاتِي اليَوْمِيَّةُ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177272" y="1810512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891272" y="1810512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Coach’s follow-up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23951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" y="1810512"/>
            <a:ext cx="4059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asks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213848" y="2267712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7909560" y="2267712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دَقِيقَةً؟</a:t>
            </a:r>
            <a:endParaRPr lang="ar-SA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276088" y="2267712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do you get to your grandmother’s house?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2267712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تَذْهَبُ إِلَى بَيْتِ جَدَّتِكَ؟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26771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0213848" y="2881884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7909560" y="2881884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276088" y="2881884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 like the train?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2881884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تُحِبُّ القِطَارَ؟</a:t>
            </a:r>
            <a:endParaRPr lang="ar-SA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2881884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10213848" y="3496056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7909560" y="3496056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حَدَثَ؟</a:t>
            </a:r>
            <a:endParaRPr lang="ar-SA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5276088" y="3496056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a difficult journey you made.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1051560" y="3496056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رِحْلَةً صَعْبَةً قُمْتَ بِهَا.</a:t>
            </a:r>
            <a:endParaRPr lang="ar-SA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3496056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10213848" y="4110228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7909560" y="4110228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وَالأَرْخَصُ؟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276088" y="4110228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quicker in your town: bus or train?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4110228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الأَسْرَعُ فِي مَدِينَتِكَ: الحَافِلَةُ أَمِ القِطَارُ؟</a:t>
            </a:r>
            <a:endParaRPr lang="ar-SA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110228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10213848" y="4724400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909560" y="4724400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1500" dirty="0"/>
          </a:p>
        </p:txBody>
      </p:sp>
      <p:sp>
        <p:nvSpPr>
          <p:cNvPr id="52" name="Text 49"/>
          <p:cNvSpPr txBox="1"/>
          <p:nvPr/>
        </p:nvSpPr>
        <p:spPr>
          <a:xfrm>
            <a:off x="5276088" y="4724400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Should public transport be free for students?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1051560" y="4724400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يَجِبُ أَنْ تَكُونَ المُوَاصَلَاتُ العَامَّةُ مَجَّانِيَّةً لِلطُّلَّابِ؟</a:t>
            </a:r>
            <a:endParaRPr lang="ar-SA" sz="1600" dirty="0"/>
          </a:p>
        </p:txBody>
      </p:sp>
      <p:sp>
        <p:nvSpPr>
          <p:cNvPr id="54" name="Text 51"/>
          <p:cNvSpPr txBox="1"/>
          <p:nvPr/>
        </p:nvSpPr>
        <p:spPr>
          <a:xfrm>
            <a:off x="566928" y="4724400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10213848" y="5338572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57" name="Text 54"/>
          <p:cNvSpPr txBox="1"/>
          <p:nvPr/>
        </p:nvSpPr>
        <p:spPr>
          <a:xfrm>
            <a:off x="7909560" y="5338572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وَهَلْ هٰذَا أَفْضَلُ؟</a:t>
            </a:r>
            <a:endParaRPr lang="ar-SA" sz="1500" dirty="0"/>
          </a:p>
        </p:txBody>
      </p:sp>
      <p:sp>
        <p:nvSpPr>
          <p:cNvPr id="58" name="Text 55"/>
          <p:cNvSpPr txBox="1"/>
          <p:nvPr/>
        </p:nvSpPr>
        <p:spPr>
          <a:xfrm>
            <a:off x="5276088" y="5338572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will people travel in twenty years?</a:t>
            </a:r>
            <a:endParaRPr lang="en-US" sz="1100" dirty="0"/>
          </a:p>
        </p:txBody>
      </p:sp>
      <p:sp>
        <p:nvSpPr>
          <p:cNvPr id="59" name="Text 56"/>
          <p:cNvSpPr txBox="1"/>
          <p:nvPr/>
        </p:nvSpPr>
        <p:spPr>
          <a:xfrm>
            <a:off x="1051560" y="5338572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سَيَتَنَقَّلُ النَّاسُ بَعْدَ عِشْرِينَ سَنَةً؟</a:t>
            </a:r>
            <a:endParaRPr lang="ar-SA" sz="1600" dirty="0"/>
          </a:p>
        </p:txBody>
      </p:sp>
      <p:sp>
        <p:nvSpPr>
          <p:cNvPr id="60" name="Text 57"/>
          <p:cNvSpPr txBox="1"/>
          <p:nvPr/>
        </p:nvSpPr>
        <p:spPr>
          <a:xfrm>
            <a:off x="566928" y="533857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100" dirty="0"/>
          </a:p>
        </p:txBody>
      </p:sp>
      <p:sp>
        <p:nvSpPr>
          <p:cNvPr id="61" name="Text 58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Each Speaker answers three questions (one per route if you can), using A-R-E-T. The Coach asks the follow-up. Swap.</a:t>
            </a:r>
            <a:endParaRPr lang="en-US" sz="1150" dirty="0"/>
          </a:p>
        </p:txBody>
      </p:sp>
      <p:sp>
        <p:nvSpPr>
          <p:cNvPr id="62" name="Text 5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21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AT-A-L09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5 · THE ONE-MINUTE TALK · RECORD AND REVIEW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One minute: my journey to school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رِحْلَتِي إِلَى المَدْرَسَةِ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5 · IN YOUR ROOM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⏱  Talk for one minute — no stopping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Talk for one minute about your journey to school: how you go, how long it takes, what you see, what is good or bad about it — and how you would like to travel in the future.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30 seconds: jot 4 key words (one per bullet) — no sentences.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Speaker talks; the Leader times it (record it on your phone or in Teams if you can).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Coach: tick the checklist on the next slide, then WWW + EBI.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Swap. Listen back to your recording at home and fix one sentence.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30 seconds: how you go (bi- + transport), how long, and one adjective (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مُزْدَحِمٌ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سَرِيعٌ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60 seconds: add a comparison (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أَسْرَعُ مِنْ / أَرْخَصُ مِنْ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 and a journey that went wrong.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90 seconds: three time frames, a comparison and an opinion about transport in your town.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أَذْهَبُ بِالحَافِلَةِ / مَشْيًا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go by bus / on foot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تَسْتَغْرِقُ الرِّحْلَةُ …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journey takes …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الطَّرِيقِ أَرَى …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 the way I see …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أَتَمَنَّى أَنْ …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hope to …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21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AT-A-L09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COACH · CHECKLIST FOR EVERY STEP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Coach: tick, then give WWW + EBI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وَرَقَةُ المُدَرِّبِ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754112" y="1810512"/>
            <a:ext cx="859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382512" y="1810512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705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Speaker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790688" y="2267712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419088" y="2267712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question / task in a FULL sentence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790688" y="2881884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419088" y="2881884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bi- + transport (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بِالحَافِلَةِ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) and said how long the journey takes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790688" y="3496056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419088" y="3496056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) and a detail (time, frequency, example)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790688" y="4110228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419088" y="4110228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a comparative (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أَسْرَعُ مِنْ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أَرْخَصُ مِنْ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) with a reason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790688" y="4724400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419088" y="4724400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changed the time frame (past or future) or gave an opinion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790688" y="5338572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419088" y="5338572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is kind and specific: “WWW: you used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 twice. EBI: add a past sentence.”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21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AT-A-L09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ROLE PLAY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1: compare with a strong answer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أَيْنَ مَحَطَّةُ الحَافِلَاتِ، مِنْ فَضْلِكَ؟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Excuse me, where is the bus station, please?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نَعَمْ؟ هَلْ تَحْتَاجُ إِلَى مُسَاعَدَةٍ؟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هِيَ بَعِيدَةٌ مِنْ هُنَا؟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Is it far from here?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اذْهَبْ إِلَى الأَمَامِ، ثُمَّ انْعَطِفْ يَسَارًا.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أُسَافِرُ إِلَى البَتْرَاءِ.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am travelling to Petra.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لَا، عَشْرُ دَقَائِقَ مَشْيًا. إِلَى أَيْنَ تُسَافِرُ؟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وَصَلْتُ بِالطَّائِرَةِ مِنْ لَنْدَنَ.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arrived by plane from London.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جَمِيلٌ! كَيْفَ وَصَلْتَ إِلَى عَمَّانَ؟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لَا، شُكْرًا، لِأَنَّ المَشْيَ أَرْخَصُ وَالطَّقْسَ جَمِيلٌ.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No thanks, because walking is cheaper and the weather is nice.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تُرِيدُ أَنْ تَأْخُذَ سَيَّارَةَ أُجْرَةٍ؟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Compare: did you answer EVERY task with a full sentence? Steal one phrase you did not use and say it aloud.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21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AT-A-L09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ROLE PLAY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2: compare with a strong answer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انْتَظَرْتُ الحَافِلَةَ رَقْمَ ٢٥ أَرْبَعِينَ دَقِيقَةً هٰذَا الصَّبَاحَ، لٰكِنَّهَا لَمْ تَأْتِ.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waited forty minutes for the number 25 bus this morning, but it never came.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أَسْتَطِيعُ أَنْ أُسَاعِدَكَ؟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أَخَذْتُ سَيَّارَةَ أُجْرَةٍ، فَدَفَعْتُ خَمْسَةَ عَشَرَ جُنَيْهًا وَوَصَلْتُ مُتَأَخِّرًا إِلَى الامْتِحَانِ.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took a taxi, paid fifteen pounds and arrived late for my exam.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آسِفٌ جِدًّا. مَاذَا حَدَثَ بَعْدَ ذٰلِكَ؟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كُلَّ يَوْمٍ، لِأَنَّهَا أَرْخَصُ مِنَ القِطَارِ، لٰكِنَّهَا أَبْطَأُ.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every day, because it is cheaper than the train, but slower.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تَسْتَعْمِلُ هٰذِهِ الحَافِلَةَ كَثِيرًا؟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يُمْكِنُ أَنْ تُرْجِعُوا لِي ثَمَنَ سَيَّارَةِ الأُجْرَةِ؟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Could you refund me the taxi fare?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سَنَتَحَقَّقُ مِنَ المُشْكِلَةِ.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يَجِبُ أَنْ تُرْسِلُوا رِسَالَةً إِلَى الرُّكَّابِ عِنْدَمَا تَتَأَخَّرُ الحَافِلَةُ، لِكَيْ يُخَطِّطُوا لِرِحْلَتِهِمْ.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 should send passengers a message when a bus is late, so they can plan their journey.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الَّذِي يَجِبُ أَنْ نُغَيِّرَهُ فِي خِدْمَتِنَا؟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Compare: did you answer EVERY task with a full sentence? Steal one phrase you did not use and say it aloud.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21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AT-A-L09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CONVERSATION AND ONE-MINUTE TALK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Strong answers to compare with yours</a:t>
            </a:r>
            <a:endParaRPr lang="en-US" sz="23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نَمَاذِجُ لِلْمُقَارَنَةِ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أُحِبُّهُ كَثِيرًا، لِأَنَّهُ مُرِيحٌ وَأَسْرَعُ مِنَ السَّيَّارَةِ؛ فِي الصَّيْفِ المَاضِي سَافَرْنَا بِالقِطَارِ إِلَى إِدِنْبَرَةَ، وَقَرَأْتُ كِتَابًا كَامِلًا فِي الطَّرِيقِ.</a:t>
            </a:r>
            <a:endParaRPr lang="ar-SA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A: yes, a lot · R: comfortable, faster than the car · E/T: last summer we took the train to Edinburgh and I read a whole book on the way.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تُحِبُّ القِطَارَ؟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الشِّتَاءِ المَاضِي تَأَخَّرَ القِطَارُ سَاعَتَيْنِ بِسَبَبِ الثَّلْجِ، فَانْتَظَرْنَا فِي المَحَطَّةِ البَارِدَةِ؛ وَصَلْنَا إِلَى البَيْتِ فِي مُنْتَصَفِ اللَّيْلِ، وَكُنْتُ مُتْعَبًا جِدًّا.</a:t>
            </a:r>
            <a:endParaRPr lang="ar-SA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A: last winter the train was two hours late because of snow · E: we waited in the cold station and got home at midnight · I was very tired.</a:t>
            </a:r>
            <a:endParaRPr lang="en-US" sz="8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رِحْلَةً صَعْبَةً قُمْتَ بِهَا.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رَأْيِي نَعَمْ، لِأَنَّ كَثِيرًا مِنَ العَائِلَاتِ لَا تَسْتَطِيعُ أَنْ تَدْفَعَ كُلَّ يَوْمٍ؛ صَحِيحٌ أَنَّ ذٰلِكَ غَالٍ لِلْحُكُومَةِ، غَيْرَ أَنَّهُ يُقَلِّلُ السَّيَّارَاتِ فِي الشَّوَارِعِ.</a:t>
            </a:r>
            <a:endParaRPr lang="ar-SA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Opinion: yes · R: many families cannot pay every day · concession: it’s expensive for the government, but it reduces cars on the roads.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يَجِبُ أَنْ تَكُونَ المُوَاصَلَاتُ العَامَّةُ مَجَّانِيَّةً لِلطُّلَّابِ؟</a:t>
            </a:r>
            <a:endParaRPr lang="ar-SA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Find the A, R, E and T in each answer. Which link do you usually forget?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21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AT-A-L09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answered every role-play task in a full sentence.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planned my first words from the question word.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climbed to level 3: answer + reason + detail.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today’s key structure correctly when I spoke.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all four A-R-E-T links and spoke for 90 seconds.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21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AT-A-L09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you ran your own speaking practice!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AT-A-L09 · Writing practice room · Decode, plan, write and check — step by step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answer + reason + detail + another time frame — every time you speak.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AT-A-L09 · Speaking Practice Room — Everyday Journeys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2026-10-25T14:12:50Z</dcterms:created>
  <dcterms:modified xsi:type="dcterms:W3CDTF">2026-10-25T14:12:50Z</dcterms:modified>
</cp:coreProperties>
</file>