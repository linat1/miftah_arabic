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A · Everyday Activities, Lesson 8 (Doctor, Pharmacy and Advice, AT-A-L08)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(79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(62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GUIDED PRACTICE  ·  AT-A-L08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Doctor and Pharmacy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عِنْدَ الطَّبِيبِ وَفِي الصَّيْدَلِيَّةِ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(advice to a cousin who is coming to visit),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AT-A-L08 · Advanced Topic A · Everyday Activities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Health centre: new patient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المَرْكَزُ الصِّحِّيُّ: مَرِيضٌ جَدِيدٌ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العِشْرُونَ مِنْ أَبْرِيلَ</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Date of birth</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تَارِيخُ المِيلَادِ</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36408" y="3496056"/>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Digits: </a:t>
            </a:r>
            <a:pPr algn="l" indent="0" marL="0">
              <a:buNone/>
            </a:pPr>
            <a:r>
              <a:rPr lang="ar-SA" altLang="en-US" sz="1450" dirty="0">
                <a:solidFill>
                  <a:srgbClr val="5A6472"/>
                </a:solidFill>
                <a:latin typeface="Amiri" pitchFamily="2" charset="-78"/>
                <a:ea typeface="Amiri" pitchFamily="2" charset="-78"/>
                <a:cs typeface="Amiri" pitchFamily="2" charset="-78"/>
              </a:rPr>
              <a:t>٠٧٧٠٠</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Phone number</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رَقْمُ الهَاتِفِ</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تُوجَدُ · الغُبَارُ</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Allergies</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الحَسَاسِيَّةُ</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آخُذُ أَيَّ دَوَاءٍ</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Current medicines</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الأَدْوِيَةُ الحَالِيَّةُ</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عِنْدِي … مُنْذُ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reason for the visit</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سَبَبُ الزِّيَارَةِ</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Question 2: health advice for your cousin</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نَصَائِحُ صِحِّيَّةٌ لِابْنِ عَمِّي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Your cousin is coming to stay with you in winter. Write an email in Arabic of about 80–90 words. You must include: • what the weather and illnesses are like in winter where you live • what happened when you were ill last winter • two pieces of advice to stay healthy, with reasons • where the nearest pharmacy or doctor is, and when they open.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الشِّتَاءِ يَكُونُ الجَوُّ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winter the weather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الشِّتَاءِ المَاضِي كَانَ عِنْدِي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winter I had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أَنْصَحُكَ بِأَنْ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advise you to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تَفْتَحُ الصَّيْدَلِيَّةُ فِي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pharmacy opens 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ابْنِ عَمِّكَ قَبْلَ زِيَارَتِهِ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الطَّقْسُ وَالأَمْرَاضُ فِي الشِّتَاءِ عِنْدَكُمْ؟</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حَدَثَ عِنْدَمَا كُنْتَ مَرِيضًا فِي الشِّتَاءِ المَاضِي؟</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أَعْطِهِ نَصِيحَتَيْنِ لِيَبْقَى بِصِحَّةٍ جَيِّدَةٍ.</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أَقْرَبُ صَيْدَلِيَّةٍ أَوْ طَبِيبٍ؟ وَمَتَى تَفْتَحُ؟</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cousin before his visit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COUSIN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ابْنِ عَمِّكَ قَبْلَ زِيَارَتِهِ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Winter weather and illnesses where you live</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 فِي الشِّتَاءِ</a:t>
            </a:r>
            <a:pPr algn="l" indent="0" marL="0">
              <a:buNone/>
            </a:pPr>
            <a:r>
              <a:rPr lang="en-US" sz="1100" dirty="0">
                <a:solidFill>
                  <a:srgbClr val="5A6472"/>
                </a:solidFill>
                <a:latin typeface="Calibri" pitchFamily="34" charset="0"/>
                <a:cs typeface="Amiri" pitchFamily="2" charset="-78"/>
              </a:rPr>
              <a:t> → PRESENT description</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الطَّقْسُ وَالأَمْرَاضُ فِي الشِّتَاءِ عِنْدَكُمْ؟</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you were ill last winter</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حَدَثَ … كُنْتَ</a:t>
            </a:r>
            <a:pPr algn="l" indent="0" marL="0">
              <a:buNone/>
            </a:pPr>
            <a:r>
              <a:rPr lang="en-US" sz="1100" dirty="0">
                <a:solidFill>
                  <a:srgbClr val="5A6472"/>
                </a:solidFill>
                <a:latin typeface="Calibri" pitchFamily="34" charset="0"/>
                <a:cs typeface="Amiri" pitchFamily="2" charset="-78"/>
              </a:rPr>
              <a:t> → PAST</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حَدَثَ عِنْدَمَا كُنْتَ مَرِيضًا فِي الشِّتَاءِ المَاضِي؟</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pieces of advice, with reasons</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أَعْطِهِ نَصِيحَتَيْنِ</a:t>
            </a:r>
            <a:pPr algn="l" indent="0" marL="0">
              <a:buNone/>
            </a:pPr>
            <a:r>
              <a:rPr lang="en-US" sz="1100" dirty="0">
                <a:solidFill>
                  <a:srgbClr val="5A6472"/>
                </a:solidFill>
                <a:latin typeface="Calibri" pitchFamily="34" charset="0"/>
                <a:cs typeface="Amiri" pitchFamily="2" charset="-78"/>
              </a:rPr>
              <a:t> → ADVICE: </a:t>
            </a:r>
            <a:pPr algn="l" indent="0" marL="0">
              <a:buNone/>
            </a:pPr>
            <a:r>
              <a:rPr lang="ar-SA" altLang="en-US" sz="1450" dirty="0">
                <a:solidFill>
                  <a:srgbClr val="5A6472"/>
                </a:solidFill>
                <a:latin typeface="Amiri" pitchFamily="2" charset="-78"/>
                <a:ea typeface="Amiri" pitchFamily="2" charset="-78"/>
                <a:cs typeface="Amiri" pitchFamily="2" charset="-78"/>
              </a:rPr>
              <a:t>أَنْصَحُكَ بِأَنْ / يَجِبُ أَنْ</a:t>
            </a:r>
            <a:pPr algn="l" indent="0" marL="0">
              <a:buNone/>
            </a:pPr>
            <a:r>
              <a:rPr lang="en-US" sz="1100" dirty="0">
                <a:solidFill>
                  <a:srgbClr val="5A6472"/>
                </a:solidFill>
                <a:latin typeface="Calibri" pitchFamily="34" charset="0"/>
                <a:cs typeface="Amiri" pitchFamily="2" charset="-78"/>
              </a:rPr>
              <a:t> + verb in -a</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أَعْطِهِ نَصِيحَتَيْنِ لِيَبْقَى بِصِحَّةٍ جَيِّدَةٍ.</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the nearest pharmacy is; opening times</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أَيْنَ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مَتَى</a:t>
            </a:r>
            <a:pPr algn="l" indent="0" marL="0">
              <a:buNone/>
            </a:pPr>
            <a:r>
              <a:rPr lang="en-US" sz="1100" dirty="0">
                <a:solidFill>
                  <a:srgbClr val="5A6472"/>
                </a:solidFill>
                <a:latin typeface="Calibri" pitchFamily="34" charset="0"/>
                <a:cs typeface="Amiri" pitchFamily="2" charset="-78"/>
              </a:rPr>
              <a:t> → PRESENT place + times</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أَقْرَبُ صَيْدَلِيَّةٍ أَوْ طَبِيبٍ؟ وَمَتَى تَفْتَحُ؟</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خُذِ الدَّوَاءَ.</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Take the medicine.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خُذْ هٰذَا الدَّوَاءَ مَرَّتَيْنِ فِي اليَوْمِ بَعْدَ الأَكْلِ.</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twice a day after food.</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خُذْ هٰذَا الدَّوَاءَ مَرَّتَيْنِ فِي اليَوْمِ بَعْدَ الأَكْلِ، لِأَنَّهُ قَوِيٌّ عَلَى المَعِدَةِ.</a:t>
            </a:r>
            <a:endParaRPr lang="ar-SA" sz="21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because it is strong on the stomach.</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 وَيَجِبُ أَلَّا تَأْخُذَهُ أَكْثَرَ مِنْ أُسْبُوعٍ، وَإِلَّا فَاسْأَلِ الطَّبِيبَ.</a:t>
            </a:r>
            <a:endParaRPr lang="ar-SA" sz="255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and you must not take it for more than a week — otherwise ask the doctor.</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advise you to rest at home.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أَنْصَحُكَ</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أَنْصَحُنِي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بِأَنْ تَرْتَاحَ</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بِأَنْ تَرْتَاحُ</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البَيْتِ</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المَدْرَسَةِ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Take two tablets before eating.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خُذْ</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أَخَذَ</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حَبَّتَيْنِ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حَبَّتَانِ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قَبْلَ الأَكْلِ</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بَعْدَ الأَكْلِ</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You must not eat sweets.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 يَجِبُ</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أَلَّا تَأْكُلَ</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لَا تَأْكُلُ</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الحَلَوِيَّاتِ</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الحَلَوِيَّاتُ</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advise you to rest at home.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the verb ends in -a: </a:t>
            </a:r>
            <a:pPr algn="l" indent="0" marL="0">
              <a:buNone/>
            </a:pPr>
            <a:r>
              <a:rPr lang="ar-SA" altLang="en-US" sz="1350" dirty="0">
                <a:solidFill>
                  <a:srgbClr val="5A6472"/>
                </a:solidFill>
                <a:latin typeface="Amiri" pitchFamily="2" charset="-78"/>
                <a:ea typeface="Amiri" pitchFamily="2" charset="-78"/>
                <a:cs typeface="Amiri" pitchFamily="2" charset="-78"/>
              </a:rPr>
              <a:t>تَرْتَاحَ</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أَنْصَحُكَ بِأَنْ تَرْتَاحَ فِي البَيْتِ</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Take two tablets before eating.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Imperative </a:t>
            </a:r>
            <a:pPr algn="l" indent="0" marL="0">
              <a:buNone/>
            </a:pPr>
            <a:r>
              <a:rPr lang="ar-SA" altLang="en-US" sz="1350" dirty="0">
                <a:solidFill>
                  <a:srgbClr val="5A6472"/>
                </a:solidFill>
                <a:latin typeface="Amiri" pitchFamily="2" charset="-78"/>
                <a:ea typeface="Amiri" pitchFamily="2" charset="-78"/>
                <a:cs typeface="Amiri" pitchFamily="2" charset="-78"/>
              </a:rPr>
              <a:t>خُذْ</a:t>
            </a:r>
            <a:pPr algn="l" indent="0" marL="0">
              <a:buNone/>
            </a:pPr>
            <a:r>
              <a:rPr lang="en-US" sz="1050" i="1" dirty="0">
                <a:solidFill>
                  <a:srgbClr val="5A6472"/>
                </a:solidFill>
                <a:latin typeface="Calibri" pitchFamily="34" charset="0"/>
                <a:cs typeface="Amiri" pitchFamily="2" charset="-78"/>
              </a:rPr>
              <a:t>; two tablets as the object = the dual </a:t>
            </a:r>
            <a:pPr algn="l" indent="0" marL="0">
              <a:buNone/>
            </a:pPr>
            <a:r>
              <a:rPr lang="ar-SA" altLang="en-US" sz="1350" dirty="0">
                <a:solidFill>
                  <a:srgbClr val="5A6472"/>
                </a:solidFill>
                <a:latin typeface="Amiri" pitchFamily="2" charset="-78"/>
                <a:ea typeface="Amiri" pitchFamily="2" charset="-78"/>
                <a:cs typeface="Amiri" pitchFamily="2" charset="-78"/>
              </a:rPr>
              <a:t>حَبَّتَيْنِ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خُذْ حَبَّتَيْنِ قَبْلَ الأَكْلِ</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You must not eat sweets.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Must not = </a:t>
            </a:r>
            <a:pPr algn="l" indent="0" marL="0">
              <a:buNone/>
            </a:pPr>
            <a:r>
              <a:rPr lang="ar-SA" altLang="en-US" sz="1350" dirty="0">
                <a:solidFill>
                  <a:srgbClr val="5A6472"/>
                </a:solidFill>
                <a:latin typeface="Amiri" pitchFamily="2" charset="-78"/>
                <a:ea typeface="Amiri" pitchFamily="2" charset="-78"/>
                <a:cs typeface="Amiri" pitchFamily="2" charset="-78"/>
              </a:rPr>
              <a:t>يَجِبُ أَلَّا</a:t>
            </a:r>
            <a:pPr algn="l" indent="0" marL="0">
              <a:buNone/>
            </a:pPr>
            <a:r>
              <a:rPr lang="en-US" sz="1050" i="1" dirty="0">
                <a:solidFill>
                  <a:srgbClr val="5A6472"/>
                </a:solidFill>
                <a:latin typeface="Calibri" pitchFamily="34" charset="0"/>
                <a:cs typeface="Amiri" pitchFamily="2" charset="-78"/>
              </a:rPr>
              <a:t> + verb in -a; the object → </a:t>
            </a:r>
            <a:pPr algn="l" indent="0" marL="0">
              <a:buNone/>
            </a:pPr>
            <a:r>
              <a:rPr lang="ar-SA" altLang="en-US" sz="1350" dirty="0">
                <a:solidFill>
                  <a:srgbClr val="5A6472"/>
                </a:solidFill>
                <a:latin typeface="Amiri" pitchFamily="2" charset="-78"/>
                <a:ea typeface="Amiri" pitchFamily="2" charset="-78"/>
                <a:cs typeface="Amiri" pitchFamily="2" charset="-78"/>
              </a:rPr>
              <a:t>الحَلَوِيَّاتِ</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يَجِبُ أَلَّا تَأْكُلَ الحَلَوِيَّاتِ</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الشِّتَاءُ عِنْدَنَا ______ وَ ______ ، لِذٰلِكَ ______ .</a:t>
            </a:r>
            <a:endParaRPr lang="ar-SA" sz="15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Our winter is … and …, so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مَرِضْتُ ______ ، ذَهَبْتُ إِلَى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When I got ill …, I went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______ ، وَيَجِبُ أَلَّا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You must …, and you must not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أَقْرَبُ صَيْدَلِيَّةٍ ______ ، وَهِيَ مَفْتُوحَةٌ مِنْ ______ إِلَى ______ .</a:t>
            </a:r>
            <a:endParaRPr lang="ar-SA" sz="12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The nearest pharmacy is …, open from … to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how are you?</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فِي الشِّتَاءِ يَكُونُ الجَوُّ ______ ، وَالنَّاسُ ______ .</a:t>
            </a:r>
            <a:endParaRPr lang="ar-SA" sz="15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In winter the weather is …, and people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الشِّتَاءِ المَاضِي كَانَ عِنْدِي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Last winter I had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أَنْصَحُكَ بِأَنْ ______ ، لِأَنَّ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 advise you to …, because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الصَّيْدَلِيَّةُ ______ ، وَتَفْتَحُ فِي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The pharmacy is …, and opens at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بَارِدٌ · مُمْطِرٌ  ·  زُكَامٌ · سُعَالٌ  ·  دَوَاءٌ  ·  الصَّيْدَلِيُّ  ·  مِعْطَفٌ  ·  أَنْصَحُكَ بِأَنْ  ·  يَجِبُ أَلَّا  ·  مُقَابِلَ · بِجَانِبِ</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أَنْصَحُكَ بِأَنْ تَشْرَبُ المَاءَ.</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verb 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خُذْ الدَّوَاءَ ثَلَاثَةَ مَرَّاتٍ.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t>
            </a:r>
            <a:pPr algn="l" indent="0" marL="0">
              <a:buNone/>
            </a:pPr>
            <a:r>
              <a:rPr lang="ar-SA" altLang="en-US" sz="1700" dirty="0">
                <a:solidFill>
                  <a:srgbClr val="5A6472"/>
                </a:solidFill>
                <a:latin typeface="Amiri" pitchFamily="2" charset="-78"/>
                <a:ea typeface="Amiri" pitchFamily="2" charset="-78"/>
                <a:cs typeface="Amiri" pitchFamily="2" charset="-78"/>
              </a:rPr>
              <a:t>مَرَّة</a:t>
            </a:r>
            <a:pPr algn="l" indent="0" marL="0">
              <a:buNone/>
            </a:pPr>
            <a:r>
              <a:rPr lang="en-US" sz="1300" i="1" dirty="0">
                <a:solidFill>
                  <a:srgbClr val="5A6472"/>
                </a:solidFill>
                <a:latin typeface="Calibri" pitchFamily="34" charset="0"/>
                <a:cs typeface="Amiri" pitchFamily="2" charset="-78"/>
              </a:rPr>
              <a:t> 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هَلْ يُمْكِنُ أُرِيدُ مَوْعِدًا؟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polite request has a set pattern.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أَنْصَحُكَ بِأَنْ تَشْرَبُ المَاءَ.</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أَنْصَحُكَ بِأَنْ تَشْرَبَ المَاءَ.</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the verb ends in -a: </a:t>
            </a:r>
            <a:pPr algn="l" indent="0" marL="0">
              <a:buNone/>
            </a:pPr>
            <a:r>
              <a:rPr lang="ar-SA" altLang="en-US" sz="1500" b="1" dirty="0">
                <a:solidFill>
                  <a:srgbClr val="1B3B6F"/>
                </a:solidFill>
                <a:latin typeface="Amiri" pitchFamily="2" charset="-78"/>
                <a:ea typeface="Amiri" pitchFamily="2" charset="-78"/>
                <a:cs typeface="Amiri" pitchFamily="2" charset="-78"/>
              </a:rPr>
              <a:t>تَشْرَبَ</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خُذْ الدَّوَاءَ ثَلَاثَةَ مَرَّاتٍ.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خُذِ الدَّوَاءَ ثَلَاثَ مَرَّاتٍ.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مَرَّة</a:t>
            </a:r>
            <a:pPr algn="l" indent="0" marL="0">
              <a:buNone/>
            </a:pPr>
            <a:r>
              <a:rPr lang="en-US" sz="1150" b="1" dirty="0">
                <a:solidFill>
                  <a:srgbClr val="1B3B6F"/>
                </a:solidFill>
                <a:latin typeface="Calibri" pitchFamily="34" charset="0"/>
                <a:cs typeface="Amiri" pitchFamily="2" charset="-78"/>
              </a:rPr>
              <a:t> is feminine → </a:t>
            </a:r>
            <a:pPr algn="l" indent="0" marL="0">
              <a:buNone/>
            </a:pPr>
            <a:r>
              <a:rPr lang="ar-SA" altLang="en-US" sz="1500" b="1" dirty="0">
                <a:solidFill>
                  <a:srgbClr val="1B3B6F"/>
                </a:solidFill>
                <a:latin typeface="Amiri" pitchFamily="2" charset="-78"/>
                <a:ea typeface="Amiri" pitchFamily="2" charset="-78"/>
                <a:cs typeface="Amiri" pitchFamily="2" charset="-78"/>
              </a:rPr>
              <a:t>ثَلَاثَ مَرَّاتٍ</a:t>
            </a:r>
            <a:pPr algn="l" indent="0" marL="0">
              <a:buNone/>
            </a:pPr>
            <a:r>
              <a:rPr lang="en-US" sz="1150" b="1" dirty="0">
                <a:solidFill>
                  <a:srgbClr val="1B3B6F"/>
                </a:solidFill>
                <a:latin typeface="Calibri" pitchFamily="34" charset="0"/>
                <a:cs typeface="Amiri" pitchFamily="2" charset="-78"/>
              </a:rPr>
              <a:t> (and </a:t>
            </a:r>
            <a:pPr algn="l" indent="0" marL="0">
              <a:buNone/>
            </a:pPr>
            <a:r>
              <a:rPr lang="ar-SA" altLang="en-US" sz="1500" b="1" dirty="0">
                <a:solidFill>
                  <a:srgbClr val="1B3B6F"/>
                </a:solidFill>
                <a:latin typeface="Amiri" pitchFamily="2" charset="-78"/>
                <a:ea typeface="Amiri" pitchFamily="2" charset="-78"/>
                <a:cs typeface="Amiri" pitchFamily="2" charset="-78"/>
              </a:rPr>
              <a:t>خُذِ</a:t>
            </a:r>
            <a:pPr algn="l" indent="0" marL="0">
              <a:buNone/>
            </a:pPr>
            <a:r>
              <a:rPr lang="en-US" sz="1150" b="1" dirty="0">
                <a:solidFill>
                  <a:srgbClr val="1B3B6F"/>
                </a:solidFill>
                <a:latin typeface="Calibri" pitchFamily="34" charset="0"/>
                <a:cs typeface="Amiri" pitchFamily="2" charset="-78"/>
              </a:rPr>
              <a:t> before al-).</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هَلْ يُمْكِنُ أُرِيدُ مَوْعِدًا؟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هَلْ يُمْكِنُ أَنْ آخُذَ مَوْعِدًا؟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هَلْ يُمْكِنُ أَنْ</a:t>
            </a:r>
            <a:pPr algn="l" indent="0" marL="0">
              <a:buNone/>
            </a:pPr>
            <a:r>
              <a:rPr lang="en-US" sz="1150" b="1" dirty="0">
                <a:solidFill>
                  <a:srgbClr val="1B3B6F"/>
                </a:solidFill>
                <a:latin typeface="Calibri" pitchFamily="34" charset="0"/>
                <a:cs typeface="Amiri" pitchFamily="2" charset="-78"/>
              </a:rPr>
              <a:t> + a verb in -a.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فِي الشَّهْرِ المَاضِي ذَهَبْتُ إِلَى طَبِيبِ الأَسْنَانِ.</a:t>
            </a:r>
            <a:endParaRPr lang="ar-SA" sz="240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Last month I went to the dentist.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كَانَ سِنِّي يُؤْلِمُنِي، فَفَحَصَهُ الطَّبِيبُ.</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My tooth hurt, so the dentist checked it.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نَصَحَنِي بِأَنْ آكُلَ حَلَوِيَّاتٍ أَقَلَّ.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He advised me to eat fewer sweets.</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شَعَرْتُ بِالرَّاحَةِ، وَسَأَتْبَعُ نَصِيحَتَهُ.</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felt relieved, and I will follow his advice.</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Question 3, one paragraph: a visit to the doctor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زِيَارَةٌ إِلَى الطَّبِيبِ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“Staying healthy”. Today write ONLY the past paragraph: a visit to a doctor, dentist or hospital you remember — why you went, what happened, what advice you were given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ذَهَبْتُ إِلَى … لِأَنَّ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went to … because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فَحَصَنِي الطَّبِيبُ وَ…</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doctor examined me and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نَصَحَنِي بِأَنْ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advised me to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البِدَايَةِ كُنْتُ خَائِفًا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first I was afraid</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شَعَرْتُ بِالرَّاحَةِ</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felt relieved</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مَرْحَبًا يَا عَلِيُّ،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أَنَا سَعِيدٌ جِدًّا لِأَنَّكَ سَتَزُورُنَا! فِي الشِّتَاءِ يَكُونُ الجَوُّ بَارِدًا وَمُمْطِرًا هُنَا فِي إِسْكُتْلَنْدَا، وَكَثِيرٌ مِنَ النَّاسِ يَمْرَضُونَ بِالزُّكَامِ، خُصُوصًا فِي شَهْرِ يَنَايِرَ. فِي الشِّتَاءِ المَاضِي كَانَ عِنْدِي سُعَالٌ شَدِيدٌ وَحُمَّى، فَبَقِيتُ فِي البَيْتِ أُسْبُوعًا كَامِلًا، وَفَاتَتْنِي مُبَارَاةٌ مُهِمَّةٌ. لِذٰلِكَ أَنْصَحُكَ بِأَنْ تُحْضِرَ مِعْطَفًا ثَقِيلًا، لِأَنَّ الرِّيحَ قَوِيَّةٌ، وَيَجِبُ أَنْ تَشْرَبَ مَشْرُوبَاتٍ سَاخِنَةً كَثِيرًا. أَقْرَبُ صَيْدَلِيَّةٍ مُقَابِلَ بَيْتِنَا، وَهِيَ مَفْتُوحَةٌ مِنَ الثَّامِنَةِ صَبَاحًا إِلَى التَّاسِعَةِ مَسَاءً، وَالصَّيْدَلِيُّ لَطِيفٌ جِدًّا، وَيَتَكَلَّمُ العَرَبِيَّةَ. أَرَاكَ قَرِيبًا!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إِلَى اللِّقَاءِ،</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إِبْرَاهِيمُ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Ali, I am so happy you are visiting us! In winter the weather is cold and rainy here in Scotland, and many people catch colds, especially in January. Last winter I had a bad cough and a fever, so I stayed at home for a whole week and missed an important match. So I advise you to bring a heavy coat, because the wind is strong, and you must drink lots of hot drinks. The nearest pharmacy is opposite our house; it is open from 8 a.m. to 9 p.m., and the pharmacist is very kind and speaks Arabic. See you soon! Ibrahim.”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كَثِيرٌ مِنَ النَّاسِ يَمْرَضُونَ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فَبَقِيتُ فِي البَيْتِ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أَنْصَحُكَ بِأَنْ تُحْضِرَ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الثَّامِنَةِ … إِلَى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الشَّهْرِ المَاضِي ذَهَبْتُ إِلَى طَبِيبِ الأَسْنَانِ، لِأَنَّ سِنِّي كَانَ يُؤْلِمُنِي كَثِيرًا عِنْدَمَا آكُلُ الأَشْيَاءَ البَارِدَةَ. فِي البِدَايَةِ كُنْتُ خَائِفًا جِدًّا، لٰكِنَّ الطَّبِيبَ كَانَ لَطِيفًا، وَشَرَحَ لِي كُلَّ شَيْءٍ قَبْلَ أَنْ يَبْدَأَ. فَحَصَ أَسْنَانِي، ثُمَّ قَالَ إِنَّ المُشْكِلَةَ صَغِيرَةٌ، وَنَصَحَنِي بِأَنْ أُنَظِّفَ أَسْنَانِي مَرَّتَيْنِ فِي اليَوْمِ، وَأَنْ آكُلَ حَلَوِيَّاتٍ أَقَلَّ. شَعَرْتُ بِالرَّاحَةِ عِنْدَمَا خَرَجْتُ، وَمِنْ ذٰلِكَ اليَوْمِ لَا أَشْرَبُ المَشْرُوبَاتِ الغَازِيَّةَ أَبَدًا.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last month I went to the dentist because my tooth hurt with cold food · D: at first I was very afraid, but the dentist was kind and explained everything before starting; he checked my teeth and said the problem was small · R: he advised me to brush twice a day and eat fewer sweets · F: I felt relieved when I left, and since that day I never drink fizzy drinks.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 سِنِّي كَانَ يُؤْلِمُنِي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البِدَايَةِ كُنْتُ خَائِفًا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وَنَصَحَنِي بِأَنْ أُنَظِّفَ</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شَعَرْتُ بِالرَّاحَةِ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cs typeface="Amiri" pitchFamily="2" charset="-78"/>
              </a:rPr>
              <a:t>AT-A-L09 · The next lesson in the topic</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AT-A-L08 · Writing Practice Room — Doctor and Pharmacy</dc:title>
  <dc:subject>PptxGenJS Presentation</dc:subject>
  <dc:creator>Al Madina Online School · Arabic Department</dc:creator>
  <cp:lastModifiedBy>Al Madina Online School · Arabic Department</cp:lastModifiedBy>
  <cp:revision>1</cp:revision>
  <dcterms:created xsi:type="dcterms:W3CDTF">2026-10-25T14:12:45Z</dcterms:created>
  <dcterms:modified xsi:type="dcterms:W3CDTF">2026-10-25T14:12:45Z</dcterms:modified>
</cp:coreProperties>
</file>