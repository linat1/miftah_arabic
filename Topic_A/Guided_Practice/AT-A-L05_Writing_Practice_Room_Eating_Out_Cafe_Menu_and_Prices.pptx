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5 (Eating Out — Café, Menu and Prices, AT-A-L05)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(70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cs typeface="Amiri" pitchFamily="2" charset="-78"/>
              </a:rPr>
              <a:t>Writing Practice Room — Eating Out</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فِي المَطْعَمِ وَالمَقْهَى</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review of a new café),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AT-A-L05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table booking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حَجْزُ طَاوِلَةٍ فِي المَطْعَمِ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السَّبْتُ، العَاشِرُ مِنْ مَارِسَ</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التَّارِيخُ</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السَّابِعَةُ مَسَاءً</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السَّاعَةُ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أَرْبَعَةُ أَشْخَاصٍ</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people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الأَشْخَاصِ</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عِيدُ مِيلَادٍ</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Occasion</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المُنَاسَبَةُ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36408" y="5338572"/>
            <a:ext cx="382219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هَلْ يُمْكِنُ أَنْ … ؟</a:t>
            </a:r>
            <a:pPr algn="l" indent="0" marL="0">
              <a:buNone/>
            </a:pPr>
            <a:r>
              <a:rPr lang="en-US" sz="1100" dirty="0">
                <a:solidFill>
                  <a:srgbClr val="5A6472"/>
                </a:solidFill>
                <a:latin typeface="Calibri" pitchFamily="34" charset="0"/>
                <a:cs typeface="Amiri" pitchFamily="2" charset="-78"/>
              </a:rPr>
              <a:t> (a verb in -a)</a:t>
            </a:r>
            <a:endParaRPr lang="en-US" sz="11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special request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طَلَبٌ خَاصٌّ</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Question 2: a review of a new café</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رَأْيِي فِي مَقْهًى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new café has opened in your town. Write an email in Arabic to your friend of about 80–90 words. You must include: • where the café is and what it is like • what you ordered and the prices • what you liked and did not like, and why • when you will go back, and an invitation to your friend.</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فُتِحَ مَقْهًى جَدِيدٌ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new café opened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 وَثَمَنُهُ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and it cost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أَعْجَبَنِي … لٰكِنْ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liked … but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تَأْتِي مَعِي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you come with me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مَقْهًى جَدِيدٍ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المَقْهَى؟ وَكَيْفَ هُوَ؟</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طَلَبْتَ؟ وَكَمْ كَانَ الثَّمَنُ؟</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أَعْجَبَكَ؟ وَمَاذَا لَمْ يُعْجِبْكَ؟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سَتَرْجِعُ؟ وَادْعُ صَدِيقَكَ.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new café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مَقْهًى جَدِيدٍ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café is and what it is like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PRESENT description (</a:t>
            </a:r>
            <a:pPr algn="l" indent="0" marL="0">
              <a:buNone/>
            </a:pPr>
            <a:r>
              <a:rPr lang="ar-SA" altLang="en-US" sz="1450" dirty="0">
                <a:solidFill>
                  <a:srgbClr val="5A6472"/>
                </a:solidFill>
                <a:latin typeface="Amiri" pitchFamily="2" charset="-78"/>
                <a:ea typeface="Amiri" pitchFamily="2" charset="-78"/>
                <a:cs typeface="Amiri" pitchFamily="2" charset="-78"/>
              </a:rPr>
              <a:t>يَقَعُ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هُوَ</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المَقْهَى؟ وَكَيْفَ هُوَ؟</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ordered and the prices</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طَلَبْتَ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 كَانَ</a:t>
            </a:r>
            <a:pPr algn="l" indent="0" marL="0">
              <a:buNone/>
            </a:pPr>
            <a:r>
              <a:rPr lang="en-US" sz="1100" dirty="0">
                <a:solidFill>
                  <a:srgbClr val="5A6472"/>
                </a:solidFill>
                <a:latin typeface="Calibri" pitchFamily="34" charset="0"/>
                <a:cs typeface="Amiri" pitchFamily="2" charset="-78"/>
              </a:rPr>
              <a:t> → PAST + prices</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طَلَبْتَ؟ وَكَمْ كَانَ الثَّمَنُ؟</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liked and didn’t,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أَعْجَبَكَ</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لَمْ يُعْجِبْكَ</a:t>
            </a:r>
            <a:pPr algn="l" indent="0" marL="0">
              <a:buNone/>
            </a:pPr>
            <a:r>
              <a:rPr lang="en-US" sz="1100" dirty="0">
                <a:solidFill>
                  <a:srgbClr val="5A6472"/>
                </a:solidFill>
                <a:latin typeface="Calibri" pitchFamily="34" charset="0"/>
                <a:cs typeface="Amiri" pitchFamily="2" charset="-78"/>
              </a:rPr>
              <a:t> → PAST opinion + reasons</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أَعْجَبَكَ؟ وَمَاذَا لَمْ يُعْجِبْكَ؟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will go back; invite your friend</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سَتَرْجِعُ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ادْعُ</a:t>
            </a:r>
            <a:pPr algn="l" indent="0" marL="0">
              <a:buNone/>
            </a:pPr>
            <a:r>
              <a:rPr lang="en-US" sz="1100" dirty="0">
                <a:solidFill>
                  <a:srgbClr val="5A6472"/>
                </a:solidFill>
                <a:latin typeface="Calibri" pitchFamily="34" charset="0"/>
                <a:cs typeface="Amiri" pitchFamily="2" charset="-78"/>
              </a:rPr>
              <a:t> → FUTURE + an invitation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سَتَرْجِعُ؟ وَادْعُ صَدِيقَكَ.</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طَلَبْتُ البِيتْزَا.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ordered pizza.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طَلَبْتُ بِيتْزَا كَبِيرَةً بِالخُضَارِ، وَكَانَ ثَمَنُهَا عَشَرَةَ جُنَيْهَاتٍ.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 large vegetable pizza, and it cost ten pounds.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طَلَبْتُ بِيتْزَا كَبِيرَةً بِالخُضَارِ، لِأَنِّي كُنْتُ جَائِعًا جِدًّا بَعْدَ المُبَارَاةِ.</a:t>
            </a:r>
            <a:endParaRPr lang="ar-SA" sz="22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 was very hungry after the match.</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وَفِي رَأْيِي كَانَتْ لَذِيذَةً، لٰكِنَّهَا كَانَتْ غَالِيَةً قَلِيلًا.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was tasty, but a little expensive.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Give me the bill, please.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أَعْطِنِي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أَعْطِي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الحِسَابَ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الحِسَابُ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coffee costs three pounds.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ثَمَنُ القَهْوَةِ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القَهْوَةُ ثَمَنٌ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liked the cake but not the service.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أَعْجَبَتْنِي الكَعْكَةُ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أَعْجَبَنِي الكَعْكَةُ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 تُعْجِبْنِي الخِدْمَةُ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يُعْجِبُنِي الخِدْمَةُ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Give me the bill, please.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Imperative “give me” = </a:t>
            </a:r>
            <a:pPr algn="l" indent="0" marL="0">
              <a:buNone/>
            </a:pPr>
            <a:r>
              <a:rPr lang="ar-SA" altLang="en-US" sz="1350" dirty="0">
                <a:solidFill>
                  <a:srgbClr val="5A6472"/>
                </a:solidFill>
                <a:latin typeface="Amiri" pitchFamily="2" charset="-78"/>
                <a:ea typeface="Amiri" pitchFamily="2" charset="-78"/>
                <a:cs typeface="Amiri" pitchFamily="2" charset="-78"/>
              </a:rPr>
              <a:t>أَعْطِنِي</a:t>
            </a:r>
            <a:pPr algn="l" indent="0" marL="0">
              <a:buNone/>
            </a:pPr>
            <a:r>
              <a:rPr lang="en-US" sz="1050" i="1" dirty="0">
                <a:solidFill>
                  <a:srgbClr val="5A6472"/>
                </a:solidFill>
                <a:latin typeface="Calibri" pitchFamily="34" charset="0"/>
                <a:cs typeface="Amiri" pitchFamily="2" charset="-78"/>
              </a:rPr>
              <a:t>; the bill is the object → </a:t>
            </a:r>
            <a:pPr algn="l" indent="0" marL="0">
              <a:buNone/>
            </a:pPr>
            <a:r>
              <a:rPr lang="ar-SA" altLang="en-US" sz="1350" dirty="0">
                <a:solidFill>
                  <a:srgbClr val="5A6472"/>
                </a:solidFill>
                <a:latin typeface="Amiri" pitchFamily="2" charset="-78"/>
                <a:ea typeface="Amiri" pitchFamily="2" charset="-78"/>
                <a:cs typeface="Amiri" pitchFamily="2" charset="-78"/>
              </a:rPr>
              <a:t>الحِسَابَ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أَعْطِنِي الحِسَابَ مِنْ فَضْلِكَ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coffee costs three pounds.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جُنَيْه</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ثَلَاثَةُ</a:t>
            </a:r>
            <a:pPr algn="l" indent="0" marL="0">
              <a:buNone/>
            </a:pPr>
            <a:r>
              <a:rPr lang="en-US" sz="1050" i="1" dirty="0">
                <a:solidFill>
                  <a:srgbClr val="5A6472"/>
                </a:solidFill>
                <a:latin typeface="Calibri" pitchFamily="34" charset="0"/>
                <a:cs typeface="Amiri" pitchFamily="2" charset="-78"/>
              </a:rPr>
              <a:t> + a plural: </a:t>
            </a:r>
            <a:pPr algn="l" indent="0" marL="0">
              <a:buNone/>
            </a:pPr>
            <a:r>
              <a:rPr lang="ar-SA" altLang="en-US" sz="1350" dirty="0">
                <a:solidFill>
                  <a:srgbClr val="5A6472"/>
                </a:solidFill>
                <a:latin typeface="Amiri" pitchFamily="2" charset="-78"/>
                <a:ea typeface="Amiri" pitchFamily="2" charset="-78"/>
                <a:cs typeface="Amiri" pitchFamily="2" charset="-78"/>
              </a:rPr>
              <a:t>ثَلَاثَةُ جُنَيْهَاتٍ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ثَمَنُ القَهْوَةِ ثَلَاثَةُ جُنَيْهَاتٍ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liked the cake but not the service.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الكَعْكَةُ</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الخِدْمَةُ</a:t>
            </a:r>
            <a:pPr algn="l" indent="0" marL="0">
              <a:buNone/>
            </a:pPr>
            <a:r>
              <a:rPr lang="en-US" sz="1050" i="1" dirty="0">
                <a:solidFill>
                  <a:srgbClr val="5A6472"/>
                </a:solidFill>
                <a:latin typeface="Calibri" pitchFamily="34" charset="0"/>
                <a:cs typeface="Amiri" pitchFamily="2" charset="-78"/>
              </a:rPr>
              <a:t> are feminine → </a:t>
            </a:r>
            <a:pPr algn="l" indent="0" marL="0">
              <a:buNone/>
            </a:pPr>
            <a:r>
              <a:rPr lang="ar-SA" altLang="en-US" sz="1350" dirty="0">
                <a:solidFill>
                  <a:srgbClr val="5A6472"/>
                </a:solidFill>
                <a:latin typeface="Amiri" pitchFamily="2" charset="-78"/>
                <a:ea typeface="Amiri" pitchFamily="2" charset="-78"/>
                <a:cs typeface="Amiri" pitchFamily="2" charset="-78"/>
              </a:rPr>
              <a:t>أَعْجَبَتْنِي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لَمْ تُعْجِبْنِي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أَعْجَبَتْنِي الكَعْكَةُ لٰكِنْ لَمْ تُعْجِبْنِي الخِدْمَةُ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يَقَعُ المَقْهَى فِي ______ ، وَهُوَ ______ وَ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café is in …, and it is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______ بِخَمْسَةِ جُنَيْهَاتٍ،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ordered … for five pounds,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أَحْبَبْتُ ______ لِأَنَّهُ ______ ، أَمَّا ______ فَكَانَ ______ .</a:t>
            </a:r>
            <a:endParaRPr lang="ar-SA" sz="13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loved … because …, as for …, it was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أَنْ نَذْهَبَ مَعًا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How about going together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فُتِحَ مَقْهًى جَدِيدٌ قُرْبَ ______ ، وَهُوَ ______ .</a:t>
            </a:r>
            <a:endParaRPr lang="ar-SA" sz="17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A new café opened near …, and it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______ ، وَكَانَ الثَّمَنُ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ordered …, and the price was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أَعْجَبَنِي ______ ، لٰكِنْ لَمْ يُعْجِبْنِي ______ .</a:t>
            </a:r>
            <a:endParaRPr lang="ar-SA" sz="17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liked …, but I didn’t like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سَأَرْجِعُ يَوْمَ ______ . هَلْ تَأْتِي مَعِي؟</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go back on … Will you come with me?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قَائِمَةُ الطَّعَامِ  ·  رَخِيصٌ · غَالٍ  ·  لَذِيذٌ  ·  الخِدْمَةُ  ·  سَرِيعَةٌ · بَطِيئَةٌ  ·  جُنَيْهٌ · جُنَيْهَاتٌ  ·  هَادِئٌ · مُزْدَحِمٌ  ·  نَادِلٌ لَطِيفٌ</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أَعْطِينِي القَهْوَةُ.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things: the imperative to a man, and the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ثَمَنُ الشَّايِ خَمْسَةُ جُنَيْهٍ.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Numbers 3–10 take a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الوَجْبَةُ كَانَ غَالِيًا.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وَجْبَة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أَعْطِينِي القَهْوَةُ.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أَعْطِنِي القَهْوَةَ.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man: </a:t>
            </a:r>
            <a:pPr algn="l" indent="0" marL="0">
              <a:buNone/>
            </a:pPr>
            <a:r>
              <a:rPr lang="ar-SA" altLang="en-US" sz="1500" b="1" dirty="0">
                <a:solidFill>
                  <a:srgbClr val="1B3B6F"/>
                </a:solidFill>
                <a:latin typeface="Amiri" pitchFamily="2" charset="-78"/>
                <a:ea typeface="Amiri" pitchFamily="2" charset="-78"/>
                <a:cs typeface="Amiri" pitchFamily="2" charset="-78"/>
              </a:rPr>
              <a:t>أَعْطِنِي</a:t>
            </a:r>
            <a:pPr algn="l" indent="0" marL="0">
              <a:buNone/>
            </a:pPr>
            <a:r>
              <a:rPr lang="en-US" sz="1150" b="1" dirty="0">
                <a:solidFill>
                  <a:srgbClr val="1B3B6F"/>
                </a:solidFill>
                <a:latin typeface="Calibri" pitchFamily="34" charset="0"/>
                <a:cs typeface="Amiri" pitchFamily="2" charset="-78"/>
              </a:rPr>
              <a:t>; the object ends in -a: </a:t>
            </a:r>
            <a:pPr algn="l" indent="0" marL="0">
              <a:buNone/>
            </a:pPr>
            <a:r>
              <a:rPr lang="ar-SA" altLang="en-US" sz="1500" b="1" dirty="0">
                <a:solidFill>
                  <a:srgbClr val="1B3B6F"/>
                </a:solidFill>
                <a:latin typeface="Amiri" pitchFamily="2" charset="-78"/>
                <a:ea typeface="Amiri" pitchFamily="2" charset="-78"/>
                <a:cs typeface="Amiri" pitchFamily="2" charset="-78"/>
              </a:rPr>
              <a:t>القَهْوَةَ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ثَمَنُ الشَّايِ خَمْسَةُ جُنَيْهٍ.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ثَمَنُ الشَّايِ خَمْسَةُ جُنَيْهَاتٍ.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3–10 + plural genitive: </a:t>
            </a:r>
            <a:pPr algn="l" indent="0" marL="0">
              <a:buNone/>
            </a:pPr>
            <a:r>
              <a:rPr lang="ar-SA" altLang="en-US" sz="1500" b="1" dirty="0">
                <a:solidFill>
                  <a:srgbClr val="1B3B6F"/>
                </a:solidFill>
                <a:latin typeface="Amiri" pitchFamily="2" charset="-78"/>
                <a:ea typeface="Amiri" pitchFamily="2" charset="-78"/>
                <a:cs typeface="Amiri" pitchFamily="2" charset="-78"/>
              </a:rPr>
              <a:t>خَمْسَةُ جُنَيْهَاتٍ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الوَجْبَةُ كَانَ غَالِيًا.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الوَجْبَةُ كَانَتْ غَالِيَةً.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كَانَتْ</a:t>
            </a:r>
            <a:pPr algn="l" indent="0" marL="0">
              <a:buNone/>
            </a:pPr>
            <a:r>
              <a:rPr lang="en-US" sz="1150" b="1" dirty="0">
                <a:solidFill>
                  <a:srgbClr val="1B3B6F"/>
                </a:solidFill>
                <a:latin typeface="Calibri" pitchFamily="34" charset="0"/>
                <a:cs typeface="Amiri" pitchFamily="2" charset="-78"/>
              </a:rPr>
              <a:t> + feminine adjective: </a:t>
            </a:r>
            <a:pPr algn="l" indent="0" marL="0">
              <a:buNone/>
            </a:pPr>
            <a:r>
              <a:rPr lang="ar-SA" altLang="en-US" sz="1500" b="1" dirty="0">
                <a:solidFill>
                  <a:srgbClr val="1B3B6F"/>
                </a:solidFill>
                <a:latin typeface="Amiri" pitchFamily="2" charset="-78"/>
                <a:ea typeface="Amiri" pitchFamily="2" charset="-78"/>
                <a:cs typeface="Amiri" pitchFamily="2" charset="-78"/>
              </a:rPr>
              <a:t>غَالِيَةً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الصَّيْفِ المَاضِي احْتَفَلْنَا بِنَجَاحِ أُخْتِي فِي مَطْعَمٍ يَمَنِيٍّ.</a:t>
            </a:r>
            <a:endParaRPr lang="ar-SA" sz="19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summer we celebrated my sister’s success in a Yemeni restaurant.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طَلَبْنَا المَنْدِي، وَجَلَسْنَا عَلَى الأَرْضِ.</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ordered mandi and sat on the floor.</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مُمَيَّزًا لِأَنَّهَا أَوَّلُ مَرَّةٍ أَجْلِسُ هٰكَذَا.</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was special — the first time I sat like that.</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ضَحِكْنَا كَثِيرًا، وَسَنَرْجِعُ فِي العِيدِ.</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We laughed a lot, and we will go back at Eid.</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Question 3, one paragraph: a special meal out</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وَجْبَةٌ مُمَيَّزَةٌ فِي مَطْعَمٍ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“Eating out with family and friends”. Today write ONLY the past paragraph: a special meal in a restaurant — the occasion, the place, what you ordered, one thing that happened,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احْتَفَلْنَا بِ… فِي مَطْعَمٍ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celebrated … in a … restaurant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طَلَبْنَا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ordered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جَاءَ النَّادِلُ وَ…</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waiter came and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الحِسَابُ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bill was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بِالسَّعَادَةِ لِأَنَّ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happy because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يُوسُفُ،</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فُتِحَ مَقْهًى جَدِيدٌ فِي الشَّارِعِ الرَّئِيسِيِّ، قُرْبَ المَكْتَبَةِ العَامَّةِ، وَهُوَ وَاسِعٌ وَهَادِئٌ، وَفِيهِ كُتُبٌ كَثِيرَةٌ لِلْقِرَاءَةِ. يَوْمَ الأَحَدِ المَاضِي طَلَبْتُ كَعْكَةَ الشُّوكُولَاتَةِ وَعَصِيرَ الفَرَاوِلَةِ، وَكَانَ الحِسَابُ سَبْعَةَ جُنَيْهَاتٍ فَقَطْ. أَعْجَبَتْنِي الكَعْكَةُ كَثِيرًا لِأَنَّهَا كَانَتْ طَازَجَةً، أَمَّا الخِدْمَةُ فَكَانَتْ بَطِيئَةً قَلِيلًا، لِأَنَّ المَقْهَى كَانَ مُزْدَحِمًا جِدًّا. سَأَرْجِعُ يَوْمَ السَّبْتِ القَادِمِ بَعْدَ التَّدْرِيبِ، فَمَا رَأْيُكَ أَنْ تَأْتِيَ مَعِي؟ أَنَا مُتَأَكِّدٌ أَنَّكَ سَتُحِبُّ المَكَانَ وَالعَصِيرَ!</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إِلَى اللِّقَاءِ،</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زَيْدٌ</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Yusuf, how are you? A new café has opened on the high street near the public library; it is spacious and quiet, with lots of books to read. Last Sunday I ordered chocolate cake and strawberry juice, and the bill was only seven pounds. I really liked the cake because it was fresh, but the service was a bit slow because the café was very busy. I will go back next Saturday after training — how about coming with me? I am sure you will love the place and the juice! See you, Zaid.”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فُتِحَ مَقْهًى جَدِيدٌ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سَبْعَةَ جُنَيْهَاتٍ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الخِدْمَةُ فَكَانَتْ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فَمَا رَأْيُكَ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احْتَفَلْنَا بِنَجَاحِ أُخْتِي الكُبْرَى فِي مَطْعَمٍ يَمَنِيٍّ فِي وَسَطِ المَدِينَةِ. جَلَسْنَا عَلَى الأَرْضِ، وَطَلَبْنَا المَنْدِي بِاللَّحْمِ وَالخُبْزَ السَّاخِنَ، ثُمَّ شَرِبْنَا الشَّايَ بِالحَلِيبِ. فِي آخِرِ الوَجْبَةِ جَاءَ النَّادِلُ بِكَعْكَةٍ كَبِيرَةٍ مَكْتُوبٍ عَلَيْهَا اسْمُ أُخْتِي، لِأَنَّ أَبِي طَلَبَهَا سِرًّا! شَعَرَتْ أُخْتِي بِالمُفَاجَأَةِ، وَضَحِكْنَا كُلُّنَا كَثِيرًا. كَانَ الحِسَابُ غَالِيًا، لٰكِنَّهُ كَانَ أَجْمَلَ مَسَاءٍ فِي الصَّيْفِ، وَسَنَرْجِعُ إِلَى هُنَاكَ فِي العِيدِ.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we celebrated my older sister’s success in a Yemeni restaurant downtown · D: we sat on the floor, ordered meat mandi and hot bread, then drank milky tea; at the end the waiter brought a big cake with my sister’s name on it, because dad had ordered it secretly · F: she was surprised and we all laughed a lot · the bill was expensive, but it was the best evening of the summer, and we will go back at Eid.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احْتَفَلْنَا بِنَجَاحِ</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طَلَبْنَا المَنْدِي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أَبِي طَلَبَهَا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لٰكِنَّهُ كَانَ أَجْمَلَ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AT-A-L06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AT-A-L05 · Writing Practice Room — Eating Out</dc:title>
  <dc:subject>PptxGenJS Presentation</dc:subject>
  <dc:creator>Al Madina Online School · Arabic Department</dc:creator>
  <cp:lastModifiedBy>Al Madina Online School · Arabic Department</cp:lastModifiedBy>
  <cp:revision>1</cp:revision>
  <dcterms:created xsi:type="dcterms:W3CDTF">2026-10-25T14:08:27Z</dcterms:created>
  <dcterms:modified xsi:type="dcterms:W3CDTF">2026-10-25T14:08:27Z</dcterms:modified>
</cp:coreProperties>
</file>