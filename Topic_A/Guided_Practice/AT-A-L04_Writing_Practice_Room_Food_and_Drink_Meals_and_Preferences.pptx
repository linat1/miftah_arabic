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4 (Food and Drink — Meals and Preferences, AT-A-L04)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(69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(51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Writing Practice Room — Food and Drink</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الطَّعَامُ وَالشَّرَابُ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family celebration meal),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AT-A-L04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trip: meal choices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مَدْرَسِيَّةٌ: اخْتِيَارُ الوَجَبَاتِ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بَيْضٌ · خُبْزٌ · جُبْنٌ</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Breakfast choice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الفُطُورُ</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دَجَاجٌ مَعَ الأَرُزِّ</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Lunch choice</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الغَدَاءُ</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عَصِيرُ التُّفَّاحِ</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Drink</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المَشْرُوبُ</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السَّمَكُ · المُكَسَّرَاتُ</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don’t eat</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طَعَامٌ لَا تَأْكُلُهُ</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طَبَقِي المُفَضَّلُ … لِأَنَّهُ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your favourite dish</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 طَبَقَكَ المُفَضَّلَ</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Question 2: a family celebration meal</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وَجْبَةُ احْتِفَالٍ عَائِلِيَّةٌ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an email in Arabic to your friend of about 80–90 words about a family celebration meal. You must include: • what the celebration was and who was there • what you ate and drank • which dish you liked most, and why • what you will cook for your friend when they visit.</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احْتَفَلْنَا بِعِيدٍ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celebrated a festival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أَكَلْنَا … وَشَرِبْنَا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ate … and drank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أَعْجَبَنِي … لِأَنَّهُ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liked … because it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تَزُورُنِي سَأَطْبُخُ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you visit me I will cook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وَجْبَةِ احْتِفَالٍ عَائِلِيَّةٍ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المُنَاسَبَةُ؟ وَمَنْ كَانَ هُنَاكَ؟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أَكَلْتُمْ وَشَرِبْتُمْ؟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طَبَقٍ أَعْجَبَكَ أَكْثَرَ؟ وَلِمَاذَا؟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سَتَطْبُخُ لِصَدِيقِكَ عِنْدَمَا يَزُورُكَ؟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a family celebration meal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اكْتُبْ رِسَالَةً إِلَى صَدِيقِكَ عَنْ وَجْبَةِ احْتِفَالٍ عَائِلِيَّةٍ (٨٠–٩٠ كَلِمَةً).</a:t>
            </a:r>
            <a:endParaRPr lang="ar-SA" sz="15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celebration and who was there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 مَنْ كَانَ</a:t>
            </a:r>
            <a:pPr algn="l" indent="0" marL="0">
              <a:buNone/>
            </a:pPr>
            <a:r>
              <a:rPr lang="en-US" sz="1100" dirty="0">
                <a:solidFill>
                  <a:srgbClr val="5A6472"/>
                </a:solidFill>
                <a:latin typeface="Calibri" pitchFamily="34" charset="0"/>
                <a:cs typeface="Amiri" pitchFamily="2" charset="-78"/>
              </a:rPr>
              <a:t> → PAST (</a:t>
            </a:r>
            <a:pPr algn="l" indent="0" marL="0">
              <a:buNone/>
            </a:pPr>
            <a:r>
              <a:rPr lang="ar-SA" altLang="en-US" sz="1450" dirty="0">
                <a:solidFill>
                  <a:srgbClr val="5A6472"/>
                </a:solidFill>
                <a:latin typeface="Amiri" pitchFamily="2" charset="-78"/>
                <a:ea typeface="Amiri" pitchFamily="2" charset="-78"/>
                <a:cs typeface="Amiri" pitchFamily="2" charset="-78"/>
              </a:rPr>
              <a:t>كَانَ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المُنَاسَبَةُ؟ وَمَنْ كَانَ هُنَاكَ؟</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ate and drank</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أَكَلْتُمْ</a:t>
            </a:r>
            <a:pPr algn="l" indent="0" marL="0">
              <a:buNone/>
            </a:pPr>
            <a:r>
              <a:rPr lang="en-US" sz="1100" dirty="0">
                <a:solidFill>
                  <a:srgbClr val="5A6472"/>
                </a:solidFill>
                <a:latin typeface="Calibri" pitchFamily="34" charset="0"/>
                <a:cs typeface="Amiri" pitchFamily="2" charset="-78"/>
              </a:rPr>
              <a:t> → PAST, we-form (</a:t>
            </a:r>
            <a:pPr algn="l" indent="0" marL="0">
              <a:buNone/>
            </a:pPr>
            <a:r>
              <a:rPr lang="ar-SA" altLang="en-US" sz="1450" dirty="0">
                <a:solidFill>
                  <a:srgbClr val="5A6472"/>
                </a:solidFill>
                <a:latin typeface="Amiri" pitchFamily="2" charset="-78"/>
                <a:ea typeface="Amiri" pitchFamily="2" charset="-78"/>
                <a:cs typeface="Amiri" pitchFamily="2" charset="-78"/>
              </a:rPr>
              <a:t>أَكَلْنَا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أَكَلْتُمْ وَشَرِبْتُمْ؟</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dish you liked most, and why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 … وَلِمَاذَا</a:t>
            </a:r>
            <a:pPr algn="l" indent="0" marL="0">
              <a:buNone/>
            </a:pPr>
            <a:r>
              <a:rPr lang="en-US" sz="1100" dirty="0">
                <a:solidFill>
                  <a:srgbClr val="5A6472"/>
                </a:solidFill>
                <a:latin typeface="Calibri" pitchFamily="34" charset="0"/>
                <a:cs typeface="Amiri" pitchFamily="2" charset="-78"/>
              </a:rPr>
              <a:t> → PAST opinion + a reason</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طَبَقٍ أَعْجَبَكَ أَكْثَرَ؟ وَلِمَاذَا؟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cook for your friend</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سَتَطْبُخُ</a:t>
            </a:r>
            <a:pPr algn="l" indent="0" marL="0">
              <a:buNone/>
            </a:pPr>
            <a:r>
              <a:rPr lang="en-US" sz="1100" dirty="0">
                <a:solidFill>
                  <a:srgbClr val="5A6472"/>
                </a:solidFill>
                <a:latin typeface="Calibri" pitchFamily="34" charset="0"/>
                <a:cs typeface="Amiri" pitchFamily="2" charset="-78"/>
              </a:rPr>
              <a:t> → FUTURE (sa-)</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سَتَطْبُخُ لِصَدِيقِكَ عِنْدَمَا يَزُورُكَ؟</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الحُمُّصَ.</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like hummus.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الحُمُّصَ مَعَ الخُبْزِ السَّاخِنِ، وَآكُلُهُ كُلَّ صَبَاحٍ.</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with hot bread, and I eat it every morning.</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الحُمُّصَ مَعَ الخُبْزِ السَّاخِنِ، لِأَنَّهُ صِحِّيٌّ وَيُشْبِعُنِي.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it is healthy and fills me up.</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وَفِي رَأْيِي هُوَ أَطْيَبُ مِنَ الجُبْنِ، لٰكِنَّ أُخْتِي لَا تُحِبُّهُ!</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it is tastier than cheese — but my sister doesn’t like it!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soup is hot and delicious.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الشُّورْبَةُ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الشُّورْبَةَ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سَاخِنَةٌ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سَاخِنٌ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وَلَذِيذَةٌ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وَلَذِيذٌ</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drink apple juice every morning.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أَشْرَبُ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شَرِبْتُ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عَصِيرَ التُّفَّاحِ</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العَصِيرَ التُّفَّاحِ</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صَبَاحٍ</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cakes were sweet.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 الكَعَكَاتُ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 الكَعَكَاتُ</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حُلْوَةً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حُلْوَاتٌ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دَائِمًا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soup is hot and delicious.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الشُّورْبَةُ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سَاخِنَةٌ وَلَذِيذَةٌ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الشُّورْبَةُ سَاخِنَةٌ وَلَذِيذَةٌ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drink apple juice every morning.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Iḍāfa: the first word has no al-: </a:t>
            </a:r>
            <a:pPr algn="l" indent="0" marL="0">
              <a:buNone/>
            </a:pPr>
            <a:r>
              <a:rPr lang="ar-SA" altLang="en-US" sz="1350" dirty="0">
                <a:solidFill>
                  <a:srgbClr val="5A6472"/>
                </a:solidFill>
                <a:latin typeface="Amiri" pitchFamily="2" charset="-78"/>
                <a:ea typeface="Amiri" pitchFamily="2" charset="-78"/>
                <a:cs typeface="Amiri" pitchFamily="2" charset="-78"/>
              </a:rPr>
              <a:t>عَصِيرَ التُّفَّاحِ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أَشْرَبُ عَصِيرَ التُّفَّاحِ كُلَّ صَبَاحٍ</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cakes were sweet.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t>
            </a:r>
            <a:pPr algn="l" indent="0" marL="0">
              <a:buNone/>
            </a:pPr>
            <a:r>
              <a:rPr lang="ar-SA" altLang="en-US" sz="1350" dirty="0">
                <a:solidFill>
                  <a:srgbClr val="5A6472"/>
                </a:solidFill>
                <a:latin typeface="Amiri" pitchFamily="2" charset="-78"/>
                <a:ea typeface="Amiri" pitchFamily="2" charset="-78"/>
                <a:cs typeface="Amiri" pitchFamily="2" charset="-78"/>
              </a:rPr>
              <a:t>كَانَتْ … حُلْوَةً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كَانَتِ الكَعَكَاتُ حُلْوَةً جِدًّا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الأُسْبُوعِ المَاضِي اجْتَمَعَتْ عَائِلَتِي فِي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Last week my family got together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كَانَتِ المَائِدَةُ مَلِيئَةً بِالأَطْبَاقِ: ______ وَ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table was full of dishes: … 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أَشْهَى طَبَقٍ كَانَ ______ ،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The tastiest dish was …,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سَأَطْبُخُ لَكَ ______ ، وَأَتَمَنَّى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will cook you …, and I hope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احْتَفَلْنَا بِعِيدِ مِيلَادِ ______ ، وَكَانَتْ ______ هُنَاكَ.</a:t>
            </a:r>
            <a:endParaRPr lang="ar-SA" sz="14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We celebrated …’s birthday, and … was there.</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أَكَلْنَا ______ ، وَشَرِبْنَا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We ate …, and we drank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أَعْجَبَنِي ______ ، لِأَنَّهُ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liked …, because it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تَزُورُنِي سَأَطْبُخُ لَكَ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When you visit, I will cook you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لَذِيذٌ / لَذِيذَةٌ  ·  حَارٌّ  ·  حُلْوٌ  ·  طَبَقٌ  ·  كَعْكَةٌ  ·  عَصِيرُ المَانْجُو  ·  أَطْبَاقٌ شَهِيَّةٌ  ·  أُفَضِّلُ … عَلَى …</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أَشْرَبُ العَصِيرُ البُرْتُقَالِ.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iḍāfa.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السَّلَطَةُ لَذِيذٌ.</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سَلَطَة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الفَوَاكِهُ صِحِّيُّونَ.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Non-human plural agreement.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أَشْرَبُ العَصِيرُ البُرْتُقَالِ.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أَشْرَبُ عَصِيرَ البُرْتُقَالِ.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an iḍāfa the first word has no al-: </a:t>
            </a:r>
            <a:pPr algn="l" indent="0" marL="0">
              <a:buNone/>
            </a:pPr>
            <a:r>
              <a:rPr lang="ar-SA" altLang="en-US" sz="1500" b="1" dirty="0">
                <a:solidFill>
                  <a:srgbClr val="1B3B6F"/>
                </a:solidFill>
                <a:latin typeface="Amiri" pitchFamily="2" charset="-78"/>
                <a:ea typeface="Amiri" pitchFamily="2" charset="-78"/>
                <a:cs typeface="Amiri" pitchFamily="2" charset="-78"/>
              </a:rPr>
              <a:t>عَصِيرَ البُرْتُقَالِ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السَّلَطَةُ لَذِيذٌ.</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السَّلَطَةُ لَذِيذَةٌ.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feminine adjective: </a:t>
            </a:r>
            <a:pPr algn="l" indent="0" marL="0">
              <a:buNone/>
            </a:pPr>
            <a:r>
              <a:rPr lang="ar-SA" altLang="en-US" sz="1500" b="1" dirty="0">
                <a:solidFill>
                  <a:srgbClr val="1B3B6F"/>
                </a:solidFill>
                <a:latin typeface="Amiri" pitchFamily="2" charset="-78"/>
                <a:ea typeface="Amiri" pitchFamily="2" charset="-78"/>
                <a:cs typeface="Amiri" pitchFamily="2" charset="-78"/>
              </a:rPr>
              <a:t>لَذِيذَةٌ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الفَوَاكِهُ صِحِّيُّونَ.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الفَوَاكِهُ صِحِّيَّةٌ.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 </a:t>
            </a:r>
            <a:pPr algn="l" indent="0" marL="0">
              <a:buNone/>
            </a:pPr>
            <a:r>
              <a:rPr lang="ar-SA" altLang="en-US" sz="1500" b="1" dirty="0">
                <a:solidFill>
                  <a:srgbClr val="1B3B6F"/>
                </a:solidFill>
                <a:latin typeface="Amiri" pitchFamily="2" charset="-78"/>
                <a:ea typeface="Amiri" pitchFamily="2" charset="-78"/>
                <a:cs typeface="Amiri" pitchFamily="2" charset="-78"/>
              </a:rPr>
              <a:t>صِحِّيَّةٌ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لَنْ أَنْسَى العَشَاءَ الأَوَّلَ فِي رَمَضَانَ المَاضِي.</a:t>
            </a:r>
            <a:endParaRPr lang="ar-SA" sz="24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 won’t forget the first iftar last Ramadan.</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أَكَلْنَا التَّمْرَ وَالشُّورْبَةَ مَعَ جِيرَانِنَا.</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ate dates and soup with our neighbours.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خَاصًّا لِأَنَّهُ أَوَّلُ صِيَامٍ لِأَخِي.</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was special because it was my brother’s first fast.</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بِالفَخْرِ وَالسَّعَادَةِ.</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proud and happy.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Question 3, one paragraph: a meal I will never forget</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وَجْبَةٌ لَا أَنْسَاهَا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“Food in my life”. Today write ONLY the past paragraph: a meal you will never forget — where and when, what you ate, who was with you, why it was special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أَنْسَى وَجْبَةً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won’t forget a meal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المَائِدَةُ مَلِيئَةً بِ…</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table was full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أَكَلْنَا … وَشَرِبْنَا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ate … and drank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خَاصًّا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special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بِالفَخْرِ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proud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سَارَةُ،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كَيْفَ حَالُكِ؟ فِي الأُسْبُوعِ المَاضِي احْتَفَلْنَا بِعِيدِ مِيلَادِ جَدِّي السَّبْعِينَ، وَاجْتَمَعَتْ كُلُّ العَائِلَةِ فِي بَيْتِ عَمِّي. كَانَتِ المَائِدَةُ مَلِيئَةً بِالأَطْبَاقِ الشَّهِيَّةِ: أَكَلْنَا المَنْسَفَ وَالسَّلَطَةَ وَالحُمُّصَ، وَشَرِبْنَا عَصِيرَ المَانْجُو البَارِدَ. أَشْهَى طَبَقٍ كَانَ الكُنَافَةَ، لِأَنَّ عَمَّتِي صَنَعَتْهَا بِالجُبْنِ وَالقَطْرِ، وَكَانَتْ سَاخِنَةً وَحُلْوَةً جِدًّا! عِنْدَمَا تَزُورِينَنِي فِي الصَّيْفِ سَأَطْبُخُ لَكِ المَقْلُوبَةَ، فَهِيَ أَفْضَلُ طَبَقٍ أَعْرِفُ أَنْ أَطْبُخَهُ. وَأَنْتِ، مَا طَبَقُكِ المُفَضَّلُ؟ وَهَلْ تُحِبِّينَ الحَلَوِيَّاتِ العَرَبِيَّةَ؟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مَعَ مَحَبَّتِي،</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لَيْلَى</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Sara, how are you? Last week we celebrated my grandfather’s seventieth birthday, and the whole family got together at my uncle’s house. The table was full of tasty dishes: we ate mansaf, salad and hummus, and drank cold mango juice. The tastiest dish was the kunafa, because my aunt made it with cheese and syrup, and it was hot and very sweet! When you visit me in the summer I will cook you maqluba — it is the best dish I know how to cook. And you, what is your favourite dish? Do you like Arab sweets? Love,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احْتَفَلْنَا بِعِيدِ مِيلَادِ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عَصِيرَ المَانْجُو البَارِدَ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أَشْهَى طَبَقٍ كَانَ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سَأَطْبُخُ لَكِ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لَنْ أَنْسَى أَوَّلَ إِفْطَارٍ فِي رَمَضَانَ المَاضِي، لِأَنَّهُ كَانَ أَوَّلَ يَوْمٍ يَصُومُ فِيهِ أَخِي الصَّغِيرُ. دَعَوْنَا جِيرَانَنَا، وَطَبَخَتْ أُمِّي شُورْبَةَ العَدَسِ وَالدَّجَاجَ مَعَ الأَرُزِّ، وَصَنَعْتُ أَنَا السَّلَطَةَ. عِنْدَمَا سَمِعْنَا الأَذَانَ أَكَلْنَا التَّمْرَ، وَشَرِبْنَا اللَّبَنَ البَارِدَ. كَانَ أَخِي مُتْعَبًا، لٰكِنَّهُ كَانَ سَعِيدًا جِدًّا، فَشَعَرْنَا كُلُّنَا بِالفَخْرِ. فِي رَمَضَانَ القَادِمِ سَأَطْبُخُ الشُّورْبَةَ بِنَفْسِي.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I won’t forget the first iftar last Ramadan — my little brother’s first fast · D: we invited our neighbours; mum cooked lentil soup and chicken with rice and I made the salad; at the call to prayer we ate dates and drank cold laban · F: my brother was tired but very happy, and we all felt proud · future: next Ramadan I will cook the soup myself.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أَنْسَى أَوَّلَ إِفْطَارٍ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كَانَ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عِنْدَمَا سَمِعْنَا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فَشَعَرْنَا … بِالفَخْرِ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AT-A-L05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AT-A-L04 · Writing Practice Room — Food and Drink</dc:title>
  <dc:subject>PptxGenJS Presentation</dc:subject>
  <dc:creator>Al Madina Online School · Arabic Department</dc:creator>
  <cp:lastModifiedBy>Al Madina Online School · Arabic Department</cp:lastModifiedBy>
  <cp:revision>1</cp:revision>
  <dcterms:created xsi:type="dcterms:W3CDTF">2026-10-25T14:04:56Z</dcterms:created>
  <dcterms:modified xsi:type="dcterms:W3CDTF">2026-10-25T14:04:56Z</dcterms:modified>
</cp:coreProperties>
</file>