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A · Everyday Activities, Lesson 12 (Topic A Review — mock exam practice, AT-A-L12)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(78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(60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GUIDED PRACTICE  ·  AT-A-L12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750" b="1" dirty="0">
                <a:solidFill>
                  <a:srgbClr val="FFFFFF"/>
                </a:solidFill>
                <a:latin typeface="Cambria" pitchFamily="34" charset="0"/>
                <a:cs typeface="Amiri" pitchFamily="2" charset="-78"/>
              </a:rPr>
              <a:t>Writing Practice Room — Topic A Review</a:t>
            </a:r>
            <a:endParaRPr lang="en-US" sz="27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مُرَاجَعَةُ المِحْوَرِ الأَوَّلِ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The last Topic A writing room before the mock: a Q1 warm-up, decoding a new Q2 task (an exchange student’s first week), upgrading sentences, writing with a buddy, spotting and fixing the most common Topic A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AT-A-L12 · Advanced Topic A · Everyday Activities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AT-A-L12</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Exchange programme: student profile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بَرْنَامَجُ التَّبَادُلِ: مَلَفُّ الطَّالِبِ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السَّابِعَةُ</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Wake-up time</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وَقْتُ الاسْتِيقَاظِ</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لَحْمُ الخِنْزِيرِ · السَّمَكُ</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food you don’t eat</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طَعَامٌ لَا تَأْكُلُهُ</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لَا تُوجَدُ · حَسَاسِيَّةٌ</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health issue</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مُشْكِلَةٌ صِحِّيَّةٌ</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بِالحَافِلَةِ</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get to school</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تَذْهَبُ إِلَى المَدْرَسَةِ</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أُرِيدُ أَنْ … لِأَنَّ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want to take part</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تُرِيدُ أَنْ تُشَارِكَ؟</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Question 2: my first week as an exchange student</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أُسْبُوعِي الأَوَّلُ فِي التَّبَادُلِ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are on a school exchange in an Arab country. Write an email in Arabic to your family of about 80–90 words. You must include: • your daily routine at your host family’s house • the food and what you think of it • a small health problem you had this week and what you did • a trip you will take next weekend.</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أَسْتَيْقِظُ هُنَا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here I wake up at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الطَّعَامُ هُنَا … أَكْثَرَ مِنْ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food here is more … than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يُؤْلِمُنِي … فَذَهَبْتُ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hurt, so I went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نِهَايَةِ الأُسْبُوعِ القَادِمِ سَنَزُورُ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next weekend we will visit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عَائِلَتِكَ عَنْ أُسْبُوعِكَ الأَوَّلِ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رُوتِينَكَ اليَوْمِيَّ.</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رَأْيُكَ فِي الطَّعَامِ؟</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المُشْكِلَةُ الصِّحِّيَّةُ الَّتِي حَدَثَتْ؟ وَمَاذَا فَعَلْتَ؟</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سَتَذْهَبُ فِي نِهَايَةِ الأُسْبُوعِ القَادِمِ؟</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family about your first week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your FAMILY → informal: </a:t>
            </a:r>
            <a:pPr algn="l" indent="0" marL="0">
              <a:buNone/>
            </a:pPr>
            <a:r>
              <a:rPr lang="ar-SA" altLang="en-US" sz="1450" dirty="0">
                <a:solidFill>
                  <a:srgbClr val="5A6472"/>
                </a:solidFill>
                <a:latin typeface="Amiri" pitchFamily="2" charset="-78"/>
                <a:ea typeface="Amiri" pitchFamily="2" charset="-78"/>
                <a:cs typeface="Amiri" pitchFamily="2" charset="-78"/>
              </a:rPr>
              <a:t>أُمِّي وَأَبِي العَزِيزَانِ</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رِسَالَةً إِلَى عَائِلَتِكَ عَنْ أُسْبُوعِكَ الأَوَّلِ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daily routine</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صِفْ رُوتِينَكَ</a:t>
            </a:r>
            <a:pPr algn="l" indent="0" marL="0">
              <a:buNone/>
            </a:pPr>
            <a:r>
              <a:rPr lang="en-US" sz="1100" dirty="0">
                <a:solidFill>
                  <a:srgbClr val="5A6472"/>
                </a:solidFill>
                <a:latin typeface="Calibri" pitchFamily="34" charset="0"/>
                <a:cs typeface="Amiri" pitchFamily="2" charset="-78"/>
              </a:rPr>
              <a:t> → PRESENT routine + times</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رُوتِينَكَ اليَوْمِيَّ.</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food and your opinion</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رَأْيُكَ فِي الطَّعَامِ</a:t>
            </a:r>
            <a:pPr algn="l" indent="0" marL="0">
              <a:buNone/>
            </a:pPr>
            <a:r>
              <a:rPr lang="en-US" sz="1100" dirty="0">
                <a:solidFill>
                  <a:srgbClr val="5A6472"/>
                </a:solidFill>
                <a:latin typeface="Calibri" pitchFamily="34" charset="0"/>
                <a:cs typeface="Amiri" pitchFamily="2" charset="-78"/>
              </a:rPr>
              <a:t> → PRESENT opinion + comparison</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رَأْيُكَ فِي الطَّعَامِ؟</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health problem and what you did</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حَدَثَتْ</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فَعَلْتَ</a:t>
            </a:r>
            <a:pPr algn="l" indent="0" marL="0">
              <a:buNone/>
            </a:pPr>
            <a:r>
              <a:rPr lang="en-US" sz="1100" dirty="0">
                <a:solidFill>
                  <a:srgbClr val="5A6472"/>
                </a:solidFill>
                <a:latin typeface="Calibri" pitchFamily="34" charset="0"/>
                <a:cs typeface="Amiri" pitchFamily="2" charset="-78"/>
              </a:rPr>
              <a:t> → PAST</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المُشْكِلَةُ الصِّحِّيَّةُ الَّتِي حَدَثَتْ؟ وَمَاذَا فَعَلْتَ؟</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 weekend’s trip</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سَتَذْهَبُ</a:t>
            </a:r>
            <a:pPr algn="l" indent="0" marL="0">
              <a:buNone/>
            </a:pPr>
            <a:r>
              <a:rPr lang="en-US" sz="1100" dirty="0">
                <a:solidFill>
                  <a:srgbClr val="5A6472"/>
                </a:solidFill>
                <a:latin typeface="Calibri" pitchFamily="34" charset="0"/>
                <a:cs typeface="Amiri" pitchFamily="2" charset="-78"/>
              </a:rPr>
              <a:t> → FUTURE + transport</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سَتَذْهَبُ فِي نِهَايَةِ الأُسْبُوعِ القَادِمِ؟</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سَافَرْنَا إِلَى البَحْرِ.</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We travelled to the sea.</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lnSpc>
                <a:spcPct val="120000"/>
              </a:lnSpc>
              <a:buNone/>
            </a:pPr>
            <a:r>
              <a:rPr lang="ar-SA" altLang="en-US" sz="2150" b="1" dirty="0">
                <a:solidFill>
                  <a:srgbClr val="1B3B6F"/>
                </a:solidFill>
                <a:latin typeface="Amiri" pitchFamily="2" charset="-78"/>
                <a:ea typeface="Amiri" pitchFamily="2" charset="-78"/>
                <a:cs typeface="Amiri" pitchFamily="2" charset="-78"/>
              </a:rPr>
              <a:t>سَافَرْنَا بِالقِطَارِ إِلَى البَحْرِ يَوْمَ السَّبْتِ، وَاسْتَغْرَقَتِ الرِّحْلَةُ سَاعَتَيْنِ.</a:t>
            </a:r>
            <a:endParaRPr lang="ar-SA" sz="215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 by train on Saturday; it took two hours.</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250" b="1" dirty="0">
                <a:solidFill>
                  <a:srgbClr val="1B3B6F"/>
                </a:solidFill>
                <a:latin typeface="Amiri" pitchFamily="2" charset="-78"/>
                <a:ea typeface="Amiri" pitchFamily="2" charset="-78"/>
                <a:cs typeface="Amiri" pitchFamily="2" charset="-78"/>
              </a:rPr>
              <a:t>سَافَرْنَا بِالقِطَارِ إِلَى البَحْرِ يَوْمَ السَّبْتِ، لِأَنَّهُ أَسْرَعُ مِنَ السَّيَّارَةِ.</a:t>
            </a:r>
            <a:endParaRPr lang="ar-SA" sz="225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because it is faster than the car.</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 وَلَوْ كَانَ الجَوُّ أَدْفَأَ، لَسَبَحْنَا طُوَالَ اليَوْمِ!</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and if the weather had been warmer, we would have swum all day!</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Every morning I have breakfast at seven.</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صَبَاحٍ</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أَتَنَاوَلُ الفُطُورَ</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تَنَاوَلْتُ الفُطُورَ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السَّاعَةِ السَّابِعَةِ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السَّاعَةِ السَّابِعِ</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doctor advised me to rest.</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نَصَحَنِي الطَّبِيبُ</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نَصَحْتُ الطَّبِيبَ</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بِأَنْ أَرْتَاحَ</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بِأَنْ أَرْتَاحُ</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البَيْتِ</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البَيْتِ</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If I had time, I would cook every day.</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لَوْ كَانَ عِنْدِي وَقْتٌ</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كَانَ عِنْدِي وَقْتٌ</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لَطَبَخْتُ</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سَأَطْبُخُ</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يَوْمٍ</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Every morning I have breakfast at seven.</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Every morning → present; </a:t>
            </a:r>
            <a:pPr algn="l" indent="0" marL="0">
              <a:buNone/>
            </a:pPr>
            <a:r>
              <a:rPr lang="ar-SA" altLang="en-US" sz="1350" dirty="0">
                <a:solidFill>
                  <a:srgbClr val="5A6472"/>
                </a:solidFill>
                <a:latin typeface="Amiri" pitchFamily="2" charset="-78"/>
                <a:ea typeface="Amiri" pitchFamily="2" charset="-78"/>
                <a:cs typeface="Amiri" pitchFamily="2" charset="-78"/>
              </a:rPr>
              <a:t>السَّاعَةُ</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السَّابِعَةِ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كُلَّ صَبَاحٍ أَتَنَاوَلُ الفُطُورَ فِي السَّاعَةِ السَّابِعَةِ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doctor advised me to rest.</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advised ME → </a:t>
            </a:r>
            <a:pPr algn="l" indent="0" marL="0">
              <a:buNone/>
            </a:pPr>
            <a:r>
              <a:rPr lang="ar-SA" altLang="en-US" sz="1350" dirty="0">
                <a:solidFill>
                  <a:srgbClr val="5A6472"/>
                </a:solidFill>
                <a:latin typeface="Amiri" pitchFamily="2" charset="-78"/>
                <a:ea typeface="Amiri" pitchFamily="2" charset="-78"/>
                <a:cs typeface="Amiri" pitchFamily="2" charset="-78"/>
              </a:rPr>
              <a:t>نَصَحَنِي</a:t>
            </a:r>
            <a:pPr algn="l" indent="0" marL="0">
              <a:buNone/>
            </a:pPr>
            <a:r>
              <a:rPr lang="en-US" sz="1050" i="1" dirty="0">
                <a:solidFill>
                  <a:srgbClr val="5A6472"/>
                </a:solidFill>
                <a:latin typeface="Calibri" pitchFamily="34" charset="0"/>
                <a:cs typeface="Amiri" pitchFamily="2" charset="-78"/>
              </a:rPr>
              <a:t>; after </a:t>
            </a:r>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أَرْتَاحَ</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نَصَحَنِي الطَّبِيبُ بِأَنْ أَرْتَاحَ فِي البَيْتِ</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If I had time, I would cook every day.</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Unreal wish → law … la- + past.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لَوْ كَانَ عِنْدِي وَقْتٌ لَطَبَخْتُ كُلَّ يَوْمٍ</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رُوتِينِي هُنَا مُخْتَلِفٌ: ______ ، بَيْنَمَا فِي البَيْتِ ______ .</a:t>
            </a:r>
            <a:endParaRPr lang="ar-SA" sz="13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My routine here is different: …, whereas at home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الطَّعَامُ ______ أَكْثَرَ مِنْ طَعَامِنَا، لٰكِنَّ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The food is more … than ours, but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نَصَحَتْنِي الأُسْرَةُ بِأَنْ ______ ، فَتَحَسَّنْتُ.</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The family advised me to …, so I got better.</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سَنُسَافِرُ بِالقِطَارِ إِلَى ______ ، وَإِذَا ______ .</a:t>
            </a:r>
            <a:endParaRPr lang="ar-SA" sz="16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We will travel by train to …, and if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أُمِّي وَأَبِي العَزِيزَانِ،</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Dear Mum and Dad,</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أَسْتَيْقِظُ فِي السَّاعَةِ ______ ، ثُمَّ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 wake at …, then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الطَّعَامُ هُنَا ______ ، وَأُحِبُّ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The food here is …, and I like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يَوْمَ ______ كَانَ يُؤْلِمُنِي ______ ، فَذَهَبْتُ ______ .</a:t>
            </a:r>
            <a:endParaRPr lang="ar-SA" sz="145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On … my … hurt, so I went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فِي نِهَايَةِ الأُسْبُوعِ القَادِمِ سَنَزُورُ ______ .</a:t>
            </a:r>
            <a:endParaRPr lang="ar-SA" sz="175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Next weekend we will visit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أَسْتَيْقِظُ  ·  الأُسْرَةُ المُضِيفَةُ  ·  حَارٌّ · لَذِيذٌ  ·  أَكْثَرُ … مِنْ  ·  يُؤْلِمُنِي بَطْنِي  ·  صَيْدَلِيَّةٌ  ·  نَصَحَنِي بِأَنْ  ·  سَنَزُورُ</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أُخْتِي يَأْكُلُ الفَطُورَ فِي السَّابِعَةِ.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She …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يَجِبُ أَنْ نَشْرَبُ المَاءَ وَنَنَامُ مُبَكِّرًا.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verbs 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لَوْ كُنْتُ غَنِيًّا، سَأُسَافِرُ إِلَى مِصْرَ.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لَوْ</a:t>
            </a:r>
            <a:pPr algn="l" indent="0" marL="0">
              <a:buNone/>
            </a:pPr>
            <a:r>
              <a:rPr lang="en-US" sz="1300" i="1" dirty="0">
                <a:solidFill>
                  <a:srgbClr val="5A6472"/>
                </a:solidFill>
                <a:latin typeface="Calibri" pitchFamily="34" charset="0"/>
                <a:cs typeface="Amiri" pitchFamily="2" charset="-78"/>
              </a:rPr>
              <a:t> needs a special answer.</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أُخْتِي يَأْكُلُ الفَطُورَ فِي السَّابِعَةِ.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أُخْتِي تَأْكُلُ الفُطُورَ فِي السَّابِعَةِ.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She → </a:t>
            </a:r>
            <a:pPr algn="l" indent="0" marL="0">
              <a:buNone/>
            </a:pPr>
            <a:r>
              <a:rPr lang="ar-SA" altLang="en-US" sz="1500" b="1" dirty="0">
                <a:solidFill>
                  <a:srgbClr val="1B3B6F"/>
                </a:solidFill>
                <a:latin typeface="Amiri" pitchFamily="2" charset="-78"/>
                <a:ea typeface="Amiri" pitchFamily="2" charset="-78"/>
                <a:cs typeface="Amiri" pitchFamily="2" charset="-78"/>
              </a:rPr>
              <a:t>تَأْكُلُ</a:t>
            </a:r>
            <a:pPr algn="l" indent="0" marL="0">
              <a:buNone/>
            </a:pPr>
            <a:r>
              <a:rPr lang="en-US" sz="1150" b="1" dirty="0">
                <a:solidFill>
                  <a:srgbClr val="1B3B6F"/>
                </a:solidFill>
                <a:latin typeface="Calibri" pitchFamily="34" charset="0"/>
                <a:cs typeface="Amiri" pitchFamily="2" charset="-78"/>
              </a:rPr>
              <a:t> (and the word is </a:t>
            </a:r>
            <a:pPr algn="l" indent="0" marL="0">
              <a:buNone/>
            </a:pPr>
            <a:r>
              <a:rPr lang="ar-SA" altLang="en-US" sz="1500" b="1" dirty="0">
                <a:solidFill>
                  <a:srgbClr val="1B3B6F"/>
                </a:solidFill>
                <a:latin typeface="Amiri" pitchFamily="2" charset="-78"/>
                <a:ea typeface="Amiri" pitchFamily="2" charset="-78"/>
                <a:cs typeface="Amiri" pitchFamily="2" charset="-78"/>
              </a:rPr>
              <a:t>الفُطُورَ</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يَجِبُ أَنْ نَشْرَبُ المَاءَ وَنَنَامُ مُبَكِّرًا.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يَجِبُ أَنْ نَشْرَبَ المَاءَ وَنَنَامَ مُبَكِّرًا.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Both verbs 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end in -a.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لَوْ كُنْتُ غَنِيًّا، سَأُسَافِرُ إِلَى مِصْرَ.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لَوْ كُنْتُ غَنِيًّا، لَسَافَرْتُ إِلَى مِصْرَ.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لَوْ</a:t>
            </a:r>
            <a:pPr algn="l" indent="0" marL="0">
              <a:buNone/>
            </a:pPr>
            <a:r>
              <a:rPr lang="en-US" sz="1150" b="1" dirty="0">
                <a:solidFill>
                  <a:srgbClr val="1B3B6F"/>
                </a:solidFill>
                <a:latin typeface="Calibri" pitchFamily="34" charset="0"/>
                <a:cs typeface="Amiri" pitchFamily="2" charset="-78"/>
              </a:rPr>
              <a:t> → la- + past.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1850" b="1" dirty="0">
                <a:solidFill>
                  <a:srgbClr val="1B3B6F"/>
                </a:solidFill>
                <a:latin typeface="Amiri" pitchFamily="2" charset="-78"/>
                <a:ea typeface="Amiri" pitchFamily="2" charset="-78"/>
                <a:cs typeface="Amiri" pitchFamily="2" charset="-78"/>
              </a:rPr>
              <a:t>فِي الصَّيْفِ المَاضِي تَغَيَّرَتْ عَادَاتِي بَعْدَ رِحْلَةٍ إِلَى الجِبَالِ.</a:t>
            </a:r>
            <a:endParaRPr lang="ar-SA" sz="18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Last summer my habits changed after a mountain trip.</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لَمْ أَسْتَطِعْ أَنْ أَمْشِيَ كَثِيرًا، فَتَعِبْتُ بِسُرْعَةٍ.</a:t>
            </a:r>
            <a:endParaRPr lang="ar-SA" sz="25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I couldn’t walk much and got tired quickly.</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حَدَثَ ذٰلِكَ لِأَنِّي كُنْتُ لَا أُمَارِسُ الرِّيَاضَةَ.</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because I never did sport.</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شَعَرْتُ بِالخَجَلِ، وَالآنَ أَرْكُضُ كُلَّ يَوْمٍ.</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 felt embarrassed — now I run every day.</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Question 3, one paragraph: a day that changed my habits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يَوْمٌ غَيَّرَ عَادَاتِي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“My daily life — then and now”. Today write ONLY the past paragraph: a day or event that changed your habits (food, sleep, sport or travel) — what happened, why, and how you felt.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تَغَيَّرَتْ عَادَاتِي بَعْدَ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habits changed after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كُنْتُ … أَمَّا الآنَ فَأَمْشِي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used to … but now I walk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حَدَثَ ذٰلِكَ لِأَنَّ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that happened because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قَرَّرْتُ 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decided to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مُنْذُ ذٰلِكَ الوَقْتِ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since then …</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أُمِّي وَأَبِي العَزِيزَانِ،</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أَنَا بِخَيْرٍ فِي الأُرْدُنِّ! أَسْتَيْقِظُ هُنَا فِي السَّاعَةِ السَّادِسَةِ، لِأَنَّ المَدْرَسَةَ تَبْدَأُ مُبَكِّرًا، ثُمَّ أَتَنَاوَلُ الفُطُورَ مَعَ الأُسْرَةِ المُضِيفَةِ. الطَّعَامُ هُنَا أَلَذُّ مِنْ طَعَامِنَا، لٰكِنَّهُ حَارٌّ قَلِيلًا، وَأُحِبُّ الفَلَافِلَ وَالحُمُّصَ كَثِيرًا، خُصُوصًا مَعَ الخُبْزِ السَّاخِنِ. يَوْمَ الثُّلَاثَاءِ كَانَ يُؤْلِمُنِي بَطْنِي، لِأَنِّي أَكَلْتُ كَثِيرًا جِدًّا، فَنَصَحَتْنِي الأُمُّ المُضِيفَةُ بِأَنْ أَشْرَبَ الشَّايَ بِالنَّعْنَاعِ، وَأَنْ أَرْتَاحَ، فَتَحَسَّنْتُ بِسُرْعَةٍ. فِي نِهَايَةِ الأُسْبُوعِ القَادِمِ سَنُسَافِرُ بِالحَافِلَةِ إِلَى البَحْرِ المَيِّتِ، وَإِذَا كَانَ الجَوُّ جَمِيلًا، فَسَأَسْبَحُ فِيهِ. أَشْتَاقُ إِلَيْكُمْ كَثِيرًا!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ابْنُكُمَا،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طَارِقٌ</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Mum and Dad, I am fine in Jordan! Here I wake up at six because school starts early, then I have breakfast with the host family. The food here is tastier than ours, but a bit spicy, and I really love falafel and hummus, especially with hot bread. On Tuesday my stomach hurt because I ate far too much, so my host mother advised me to drink mint tea and rest, and I got better quickly. Next weekend we will travel by bus to the Dead Sea, and if the weather is nice I will swim in it. I miss you a lot! Your son, Tariq.”</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 المَدْرَسَةَ تَبْدَأُ</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أَلَذُّ مِنْ طَعَامِنَا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فَنَصَحَتْنِي … بِأَنْ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وَإِذَا كَانَ الجَوُّ جَمِيلًا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الصَّيْفِ المَاضِي تَغَيَّرَتْ عَادَاتِي بَعْدَ رِحْلَةٍ مَدْرَسِيَّةٍ إِلَى الجِبَالِ. كُنْتُ أَقْضِي سَاعَاتٍ أَمَامَ الشَّاشَةِ، وَآكُلُ الوَجَبَاتِ السَّرِيعَةَ كُلَّ يَوْمٍ تَقْرِيبًا. فِي الرِّحْلَةِ مَشَيْنَا خَمْسَةَ كِيلُومِتْرَاتٍ، لٰكِنِّي تَعِبْتُ بَعْدَ نِصْفِ سَاعَةٍ، وَكَانَتْ رِجْلَايَ تُؤْلِمَانِنِي كَثِيرًا. شَعَرْتُ بِالخَجَلِ أَمَامَ أَصْدِقَائِي، فَقَرَّرْتُ أَنْ أُغَيِّرَ حَيَاتِي. مُنْذُ ذٰلِكَ الوَقْتِ أَمْشِي إِلَى المَدْرَسَةِ، وَأَطْبُخُ مَعَ أُمِّي طَعَامًا صِحِّيًّا، وَفِي الصَّيْفِ القَادِمِ سَأَصْعَدُ الجَبَلَ نَفْسَهُ!</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last summer my habits changed after a school trip to the mountains · D: I used to spend hours in front of screens and eat fast food almost daily; on the trip we walked five kilometres, but I was tired after half an hour and my legs hurt a lot · F: I felt embarrassed in front of my friends, so I decided to change my life · since then I walk to school and cook healthy food with my mum, and next summer I will climb the same mountain!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تَغَيَّرَتْ عَادَاتِي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كُنْتُ أَقْضِي سَاعَاتٍ</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فَقَرَّرْتُ أَنْ أُغَيِّرَ</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مُنْذُ ذٰلِكَ الوَقْتِ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Topic B · The next topic</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المِحْوَرُ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AT-A-L12 · Writing Practice Room — Topic A Review</dc:title>
  <dc:subject>PptxGenJS Presentation</dc:subject>
  <dc:creator>Al Madina Online School · Arabic Department</dc:creator>
  <cp:lastModifiedBy>Al Madina Online School · Arabic Department</cp:lastModifiedBy>
  <cp:revision>1</cp:revision>
  <dcterms:created xsi:type="dcterms:W3CDTF">2026-10-25T14:18:29Z</dcterms:created>
  <dcterms:modified xsi:type="dcterms:W3CDTF">2026-10-25T14:18:29Z</dcterms:modified>
</cp:coreProperties>
</file>