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11 (Travel and Tourism, AT-A-L11)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(75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Travel and Tourism</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السَّفَرُ وَالسِّيَاحَةُ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postcard-style email from a holiday),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AT-A-L11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Hotel booking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حَجْزِ فُنْدُقٍ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الخَامِسُ مِنْ أَغُسْطُسَ</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 date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الوُصُولِ</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أَرْبَعُ لَيَالٍ</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nights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اللَّيَالِي</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غُرْفَةٌ مُزْدَوِجَةٌ</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 type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الغُرْفَةِ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شَخْصَانِ</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people</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الأَشْخَاصِ</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غُرْفَةً تُطِلُّ عَلَى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 special request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طَلَبٌ خَاصٌّ</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Question 2: an email from my holiday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مِنْ عُطْلَتِي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are on holiday. Write an email in Arabic to your friend of about 80–90 words. You must include: • where you are, who with, and how you travelled • the hotel and the weather • what you visited and ate yesterday • where you would go next time, and why.</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الآنَ فِي … مَعَ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now in … with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نَزَلْنَا فِي فُنْدُقٍ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are staying in a … hotel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زُرْنَا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visited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المَرَّةِ القَادِمَةِ سَأَزُورُ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time I will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مِنْ عُطْلَتِكَ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أَنْتَ؟ وَمَعَ مَنْ؟ وَكَيْفَ سَافَرْتَ؟</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الفُنْدُقَ وَالطَّقْسَ.</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زُرْتَ وَأَكَلْتَ أَمْسِ؟</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سَتَذْهَبُ فِي المَرَّةِ القَادِمَةِ؟ وَلِمَاذَا؟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from your holiday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مِنْ عُطْلَتِكَ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who with, how you travelled</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 أَنْتَ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 سَافَرْتَ</a:t>
            </a:r>
            <a:pPr algn="l" indent="0" marL="0">
              <a:buNone/>
            </a:pPr>
            <a:r>
              <a:rPr lang="en-US" sz="1100" dirty="0">
                <a:solidFill>
                  <a:srgbClr val="5A6472"/>
                </a:solidFill>
                <a:latin typeface="Calibri" pitchFamily="34" charset="0"/>
                <a:cs typeface="Amiri" pitchFamily="2" charset="-78"/>
              </a:rPr>
              <a:t> → PRESENT place + PAST journey</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أَنْتَ؟ وَمَعَ مَنْ؟ وَكَيْفَ سَافَرْتَ؟</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hotel and the weather</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a:t>
            </a:r>
            <a:pPr algn="l" indent="0" marL="0">
              <a:buNone/>
            </a:pPr>
            <a:r>
              <a:rPr lang="en-US" sz="1100" dirty="0">
                <a:solidFill>
                  <a:srgbClr val="5A6472"/>
                </a:solidFill>
                <a:latin typeface="Calibri" pitchFamily="34" charset="0"/>
                <a:cs typeface="Amiri" pitchFamily="2" charset="-78"/>
              </a:rPr>
              <a:t> → PRESENT description (adjectives agree)</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الفُنْدُقَ وَالطَّقْسَ.</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visited and ate yesterday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زُرْتَ وَأَكَلْتَ أَمْسِ</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زُرْتَ وَأَكَلْتَ أَمْسِ؟</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will go next time, and why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سَتَذْهَبُ … وَلِمَاذَا</a:t>
            </a:r>
            <a:pPr algn="l" indent="0" marL="0">
              <a:buNone/>
            </a:pPr>
            <a:r>
              <a:rPr lang="en-US" sz="1100" dirty="0">
                <a:solidFill>
                  <a:srgbClr val="5A6472"/>
                </a:solidFill>
                <a:latin typeface="Calibri" pitchFamily="34" charset="0"/>
                <a:cs typeface="Amiri" pitchFamily="2" charset="-78"/>
              </a:rPr>
              <a:t> → FUTURE + a reason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سَتَذْهَبُ فِي المَرَّةِ القَادِمَةِ؟ وَلِمَاذَا؟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زُرْتُ المُتْحَفَ.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visited the museum.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زُرْتُ المُتْحَفَ الوَطَنِيَّ فِي العَاصِمَةِ يَوْمَ الثُّلَاثَاءِ مَعَ خَالِي.</a:t>
            </a:r>
            <a:endParaRPr lang="ar-SA" sz="25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the national museum in the capital on Tuesday with my uncle.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زُرْتُ المُتْحَفَ الوَطَنِيَّ مَعَ خَالِي، لِأَنَّهُ يُحِبُّ التَّارِيخَ كَثِيرًا.</a:t>
            </a:r>
            <a:endParaRPr lang="ar-SA" sz="25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he loves history.</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 وَفِي رَأْيِي كَانَ مُمْتِعًا، لٰكِنْ لَوْ كَانَ عِنْدِي وَقْتٌ أَطْوَلُ، لَرَأَيْتُ كُلَّ شَيْءٍ!</a:t>
            </a:r>
            <a:endParaRPr lang="ar-SA" sz="21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it was fun — but if I had had more time, I would have seen everything!</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stayed in a comfortable hotel.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نَزَلْنَا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نَنْزِلُ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فُنْدُقٍ</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فُنْدُقٍ</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مُرِيحٍ</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مُرِيحٌ</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I pass, I will travel to Oman.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نَجَحْتُ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نَجَحْتُ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سَأُسَافِرُ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سَافَرْتُ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عُمَانَ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عُمَانَ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I were rich, I would visit Japan.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كُنْتُ غَنِيًّا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كُنْتُ غَنِيًّا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لَزُرْتُ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سَأَزُورُ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اليَابَانَ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اليَابَانُ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stayed in a comfortable hotel.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a:t>
            </a:r>
            <a:pPr algn="l" indent="0" marL="0">
              <a:buNone/>
            </a:pPr>
            <a:r>
              <a:rPr lang="ar-SA" altLang="en-US" sz="1350" dirty="0">
                <a:solidFill>
                  <a:srgbClr val="5A6472"/>
                </a:solidFill>
                <a:latin typeface="Amiri" pitchFamily="2" charset="-78"/>
                <a:ea typeface="Amiri" pitchFamily="2" charset="-78"/>
                <a:cs typeface="Amiri" pitchFamily="2" charset="-78"/>
              </a:rPr>
              <a:t>نَزَلْنَا فِي</a:t>
            </a:r>
            <a:pPr algn="l" indent="0" marL="0">
              <a:buNone/>
            </a:pPr>
            <a:r>
              <a:rPr lang="en-US" sz="1050" i="1" dirty="0">
                <a:solidFill>
                  <a:srgbClr val="5A6472"/>
                </a:solidFill>
                <a:latin typeface="Calibri" pitchFamily="34" charset="0"/>
                <a:cs typeface="Amiri" pitchFamily="2" charset="-78"/>
              </a:rPr>
              <a:t>; the adjective follows the noun’s case: </a:t>
            </a:r>
            <a:pPr algn="l" indent="0" marL="0">
              <a:buNone/>
            </a:pPr>
            <a:r>
              <a:rPr lang="ar-SA" altLang="en-US" sz="1350" dirty="0">
                <a:solidFill>
                  <a:srgbClr val="5A6472"/>
                </a:solidFill>
                <a:latin typeface="Amiri" pitchFamily="2" charset="-78"/>
                <a:ea typeface="Amiri" pitchFamily="2" charset="-78"/>
                <a:cs typeface="Amiri" pitchFamily="2" charset="-78"/>
              </a:rPr>
              <a:t>فُنْدُقٍ مُرِيحٍ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نَزَلْنَا فِي فُنْدُقٍ مُرِيحٍ</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I pass, I will travel to Oman.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real possibility → </a:t>
            </a:r>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i="1" dirty="0">
                <a:solidFill>
                  <a:srgbClr val="5A6472"/>
                </a:solidFill>
                <a:latin typeface="Calibri" pitchFamily="34" charset="0"/>
                <a:cs typeface="Amiri" pitchFamily="2" charset="-78"/>
              </a:rPr>
              <a:t> + past, then a future verb.</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نَجَحْتُ سَأُسَافِرُ إِلَى عُمَانَ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I were rich, I would visit Japan.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unreal wish → </a:t>
            </a:r>
            <a:pPr algn="l" indent="0" marL="0">
              <a:buNone/>
            </a:pPr>
            <a:r>
              <a:rPr lang="ar-SA" altLang="en-US" sz="1350" dirty="0">
                <a:solidFill>
                  <a:srgbClr val="5A6472"/>
                </a:solidFill>
                <a:latin typeface="Amiri" pitchFamily="2" charset="-78"/>
                <a:ea typeface="Amiri" pitchFamily="2" charset="-78"/>
                <a:cs typeface="Amiri" pitchFamily="2" charset="-78"/>
              </a:rPr>
              <a:t>لَوْ</a:t>
            </a:r>
            <a:pPr algn="l" indent="0" marL="0">
              <a:buNone/>
            </a:pPr>
            <a:r>
              <a:rPr lang="en-US" sz="1050" i="1" dirty="0">
                <a:solidFill>
                  <a:srgbClr val="5A6472"/>
                </a:solidFill>
                <a:latin typeface="Calibri" pitchFamily="34" charset="0"/>
                <a:cs typeface="Amiri" pitchFamily="2" charset="-78"/>
              </a:rPr>
              <a:t> … then la- + past: </a:t>
            </a:r>
            <a:pPr algn="l" indent="0" marL="0">
              <a:buNone/>
            </a:pPr>
            <a:r>
              <a:rPr lang="ar-SA" altLang="en-US" sz="1350" dirty="0">
                <a:solidFill>
                  <a:srgbClr val="5A6472"/>
                </a:solidFill>
                <a:latin typeface="Amiri" pitchFamily="2" charset="-78"/>
                <a:ea typeface="Amiri" pitchFamily="2" charset="-78"/>
                <a:cs typeface="Amiri" pitchFamily="2" charset="-78"/>
              </a:rPr>
              <a:t>لَزُرْتُ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لَوْ كُنْتُ غَنِيًّا لَزُرْتُ اليَابَانَ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وَصَلْنَا بَعْدَ رِحْلَةٍ ______ ، وَكَانَتْ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We arrived after a … journey, which was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نَزَلْنَا فِي فُنْدُقٍ ______ ، وَغُرْفَتِي تُطِلُّ عَلَى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We are in a … hotel; my room looks out on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تَجَوَّلْنَا فِي ______ ، ثُمَّ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Yesterday we wandered around …, then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كَانَ عِنْدِي وَقْتٌ، لَزُرْتُ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I had time, I would visit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أَنَا الآنَ فِي ______ مَعَ ______ . سَافَرْنَا بِالطَّائِرَةِ.</a:t>
            </a:r>
            <a:endParaRPr lang="ar-SA" sz="14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am now in … with … We flew.</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الفُنْدُقُ ______ ، وَالجَوُّ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hotel is …, and the weather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زُرْنَا ______ ، وَأَكَلْنَا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Yesterday we visited …, and ate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فِي المَرَّةِ القَادِمَةِ سَأَزُورُ ______ ، لِأَنَّ ______ .</a:t>
            </a:r>
            <a:endParaRPr lang="ar-SA" sz="15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Next time I will visit …,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سَافَرْنَا  ·  نَزَلْنَا فِي  ·  فُنْدُقٌ مُرِيحٌ  ·  غُرْفَةٌ مُزْدَوِجَةٌ  ·  مَعْلَمٌ تَارِيخِيٌّ  ·  مُشْمِسٌ · حَارٌّ  ·  تُطِلُّ عَلَى  ·  سُوقٌ قَدِيمٌ</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كَانَ عِنْدِي مَالٌ، سَأُسَافِرُ.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لَوْ</a:t>
            </a:r>
            <a:pPr algn="l" indent="0" marL="0">
              <a:buNone/>
            </a:pPr>
            <a:r>
              <a:rPr lang="en-US" sz="1300" i="1" dirty="0">
                <a:solidFill>
                  <a:srgbClr val="5A6472"/>
                </a:solidFill>
                <a:latin typeface="Calibri" pitchFamily="34" charset="0"/>
                <a:cs typeface="Amiri" pitchFamily="2" charset="-78"/>
              </a:rPr>
              <a:t> needs a special answer.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نَزَلْنَا فِي فُنْدُقٌ كَبِيرٌ.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noun after </a:t>
            </a:r>
            <a:pPr algn="l" indent="0" marL="0">
              <a:buNone/>
            </a:pPr>
            <a:r>
              <a:rPr lang="ar-SA" altLang="en-US" sz="1700" dirty="0">
                <a:solidFill>
                  <a:srgbClr val="5A6472"/>
                </a:solidFill>
                <a:latin typeface="Amiri" pitchFamily="2" charset="-78"/>
                <a:ea typeface="Amiri" pitchFamily="2" charset="-78"/>
                <a:cs typeface="Amiri" pitchFamily="2" charset="-78"/>
              </a:rPr>
              <a:t>فِي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بَقِيتُ فِي الفُنْدُقِ ثَلَاثَةَ لَيَالٍ.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لَيْلَة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كَانَ عِنْدِي مَالٌ، سَأُسَافِرُ.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كَانَ عِنْدِي مَالٌ، لَسَافَرْتُ.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(unreal) → la- + past: </a:t>
            </a:r>
            <a:pPr algn="l" indent="0" marL="0">
              <a:buNone/>
            </a:pPr>
            <a:r>
              <a:rPr lang="ar-SA" altLang="en-US" sz="1500" b="1" dirty="0">
                <a:solidFill>
                  <a:srgbClr val="1B3B6F"/>
                </a:solidFill>
                <a:latin typeface="Amiri" pitchFamily="2" charset="-78"/>
                <a:ea typeface="Amiri" pitchFamily="2" charset="-78"/>
                <a:cs typeface="Amiri" pitchFamily="2" charset="-78"/>
              </a:rPr>
              <a:t>لَسَافَرْتُ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نَزَلْنَا فِي فُنْدُقٌ كَبِيرٌ.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نَزَلْنَا فِي فُنْدُقٍ كَبِيرٍ.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the noun and its adjective take -in: </a:t>
            </a:r>
            <a:pPr algn="l" indent="0" marL="0">
              <a:buNone/>
            </a:pPr>
            <a:r>
              <a:rPr lang="ar-SA" altLang="en-US" sz="1500" b="1" dirty="0">
                <a:solidFill>
                  <a:srgbClr val="1B3B6F"/>
                </a:solidFill>
                <a:latin typeface="Amiri" pitchFamily="2" charset="-78"/>
                <a:ea typeface="Amiri" pitchFamily="2" charset="-78"/>
                <a:cs typeface="Amiri" pitchFamily="2" charset="-78"/>
              </a:rPr>
              <a:t>فُنْدُقٍ كَبِيرٍ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بَقِيتُ فِي الفُنْدُقِ ثَلَاثَةَ لَيَالٍ.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بَقِيتُ فِي الفُنْدُقِ ثَلَاثَ لَيَالٍ.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لَيْلَة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ثَلَاثَ لَيَالٍ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أَجْمَلُ عُطْلَةٍ كَانَتْ فِي الأُرْدُنِّ قَبْلَ سَنَتَيْنِ.</a:t>
            </a:r>
            <a:endParaRPr lang="ar-SA" sz="26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My best holiday was in Jordan two years ago.</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نَزَلْنَا فِي مُخَيَّمٍ فِي الصَّحْرَاءِ، وَرَكِبْنَا الجِمَالَ.</a:t>
            </a:r>
            <a:endParaRPr lang="ar-SA" sz="22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stayed in a desert camp and rode camels.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كَانَتْ مُمَيَّزَةً لِأَنَّنَا نِمْنَا تَحْتَ النُّجُومِ.</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Special because we slept under the stars.</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بِالسَّلَامِ، وَأَتَمَنَّى أَنْ أَرْجِعَ.</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peaceful, and I hope to go back.</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my most memorable holiday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أَجْمَلُ عُطْلَةٍ فِي حَيَاتِي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“Travel and holidays”. Today write ONLY the past paragraph: your most memorable holiday — where, who with, where you stayed, one thing that happened,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سَنَتَيْنِ سَافَرْنَا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two years ago we travelled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نَزَلْنَا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stayed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يَوْمٍ مِنَ الأَيَّامِ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day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مُمَيَّزَةً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special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رَجَعْتُ، لَبَقِيتُ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went back, I would stay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جَمِيلَةُ،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أَنَا الآنَ فِي القَاهِرَةِ مَعَ أُمِّي وَأَخِي! سَافَرْنَا بِالطَّائِرَةِ مِنْ لَنْدَنَ، وَاسْتَغْرَقَتِ الرِّحْلَةُ خَمْسَ سَاعَاتٍ. نَزَلْنَا فِي فُنْدُقٍ مُرِيحٍ بِجَانِبِ النِّيلِ، وَغُرْفَتِي تُطِلُّ عَلَى النَّهْرِ، أَمَّا الجَوُّ فَحَارٌّ وَمُشْمِسٌ جِدًّا. أَمْسِ زُرْنَا الأَهْرَامَاتِ فِي الصَّبَاحِ البَاكِرِ، لِأَنَّ الشَّمْسَ تَكُونُ أَقْوَى بَعْدَ الظُّهْرِ، ثُمَّ أَكَلْنَا الكُشَرِيَّ فِي مَطْعَمٍ شَعْبِيٍّ، وَكَانَ لَذِيذًا وَرَخِيصًا. فِي المَرَّةِ القَادِمَةِ سَأَزُورُ الأُقْصُرَ، لِأَنَّ فِيهَا مَعَابِدَ قَدِيمَةً كَثِيرَةً، وَلَوْ كَانَ عِنْدِي وَقْتٌ، لَسَافَرْتُ إِلَى هُنَاكَ بِالقِطَارِ.</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إِلَى اللِّقَاءِ،</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أَمِينَةُ</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Jamila, I am in Cairo now with my mum and brother! We flew from London, and the journey took five hours. We are staying in a comfortable hotel by the Nile; my room looks out on the river, and the weather is very hot and sunny. Yesterday we visited the pyramids early in the morning, because the sun is stronger in the afternoon, then we ate koshari in a local restaurant — tasty and cheap. Next time I will visit Luxor, because it has many ancient temples, and if I had time I would travel there by train. See you, Amina.”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نَزَلْنَا فِي فُنْدُقٍ</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الجَوُّ فَحَارٌّ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أَمْسِ زُرْنَا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كَانَ عِنْدِي وَقْتٌ، لَسَافَرْتُ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أَجْمَلُ عُطْلَةٍ فِي حَيَاتِي كَانَتْ فِي الأُرْدُنِّ قَبْلَ سَنَتَيْنِ. سَافَرْتُ مَعَ عَائِلَتِي بِالطَّائِرَةِ إِلَى عَمَّانَ، ثُمَّ ذَهَبْنَا بِالسَّيَّارَةِ إِلَى وَادِي رَمٍّ فِي الجَنُوبِ. نَزَلْنَا فِي مُخَيَّمٍ صَغِيرٍ فِي الصَّحْرَاءِ، وَرَكِبْنَا الجِمَالَ عِنْدَ غُرُوبِ الشَّمْسِ. فِي اللَّيْلِ أَكَلْنَا الزَّرْبَ، وَهُوَ لَحْمٌ يُطْبَخُ تَحْتَ الرَّمْلِ، ثُمَّ نِمْنَا خَارِجَ الخَيْمَةِ تَحْتَ النُّجُومِ. كَانَتْ مُمَيَّزَةً لِأَنِّي لَمْ أَرَ سَمَاءً جَمِيلَةً مِثْلَهَا مِنْ قَبْلُ. لَوْ رَجَعْتُ إِلَى هُنَاكَ، لَبَقِيتُ أُسْبُوعًا كَامِلًا.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my best holiday was in Jordan two years ago · D: we flew to Amman, then drove to Wadi Rum in the south; we stayed in a small desert camp and rode camels at sunset; at night we ate zarb — meat cooked under the sand — and slept outside under the stars · R: special because I had never seen such a beautiful sky · if I went back, I would stay a whole week.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أَجْمَلُ عُطْلَةٍ فِي حَيَاتِي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نَزَلْنَا فِي مُخَيَّمٍ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مُمَيَّزَةً لِأَنِّي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رَجَعْتُ … لَبَقِيتُ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AT-A-L12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AT-A-L11 · Writing Practice Room — Travel and Tourism</dc:title>
  <dc:subject>PptxGenJS Presentation</dc:subject>
  <dc:creator>Al Madina Online School · Arabic Department</dc:creator>
  <cp:lastModifiedBy>Al Madina Online School · Arabic Department</cp:lastModifiedBy>
  <cp:revision>1</cp:revision>
  <dcterms:created xsi:type="dcterms:W3CDTF">2026-10-25T14:18:20Z</dcterms:created>
  <dcterms:modified xsi:type="dcterms:W3CDTF">2026-10-25T14:18:20Z</dcterms:modified>
</cp:coreProperties>
</file>