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1 (Time and Daily Routine, AT-A-L01)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(52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Time and Daily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الوَقْتُ وَالرُّوتِينُ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message about a busy day),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AT-A-L01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After-school club: sign-up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نَادِي مَا بَعْدَ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الصَّفُّ العَاشِرُ</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Year / class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الصَّفُّ</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السَّاعَةُ السَّابِعَةُ</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you wake up</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وَقْتُ الاسْتِيقَاظِ</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بِالحَافِلَةِ · مَشْيًا</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school</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المُوَاصَلَاتِ</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الاثْنَيْنِ وَيَوْمُ الخَمِيسِ</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that suit you</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المُنَاسِبَةُ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36408" y="5338572"/>
            <a:ext cx="382219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أُرِيدُ أَنْ</a:t>
            </a:r>
            <a:pPr algn="l" indent="0" marL="0">
              <a:buNone/>
            </a:pPr>
            <a:r>
              <a:rPr lang="en-US" sz="1100" dirty="0">
                <a:solidFill>
                  <a:srgbClr val="5A6472"/>
                </a:solidFill>
                <a:latin typeface="Calibri" pitchFamily="34" charset="0"/>
                <a:cs typeface="Amiri" pitchFamily="2" charset="-78"/>
              </a:rPr>
              <a:t> + a verb in -a: </a:t>
            </a:r>
            <a:pPr algn="l" indent="0" marL="0">
              <a:buNone/>
            </a:pPr>
            <a:r>
              <a:rPr lang="ar-SA" altLang="en-US" sz="1450" dirty="0">
                <a:solidFill>
                  <a:srgbClr val="5A6472"/>
                </a:solidFill>
                <a:latin typeface="Amiri" pitchFamily="2" charset="-78"/>
                <a:ea typeface="Amiri" pitchFamily="2" charset="-78"/>
                <a:cs typeface="Amiri" pitchFamily="2" charset="-78"/>
              </a:rPr>
              <a:t>أُرِيدُ أَنْ أَتَعَلَّمَ</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club?</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هٰذَا النَّادِيَ؟</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busiest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أَكْثَرُ أَيَّامِي ازْدِحَامًا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email in Arabic to your friend of about 80–90 words about your busiest school day. You must include: • which day it is and when you wake up • what you do during the day, in order • how you feel at the end of the day, and why • how you will make the day easier next week.</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أَيَّامِي ازْدِحَامًا هُوَ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busiest day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أَشْعُرُ بِالتَّعَبِ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feel tired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 سَأُحَاوِلُ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week I will try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أَكْثَرِ أَيَّامِكَ ازْدِحَامًا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هٰذَا اليَوْمُ؟ وَمَتَى تَسْتَيْقِظُ؟</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خِلَالَ اليَوْمِ؟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تَشْعُرُ فِي آخِرِ اليَوْمِ؟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سَتَجْعَلُ اليَوْمَ أَسْهَلَ فِي الأُسْبُوعِ القَادِمِ؟</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busiest day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إِلَى صَدِيقِكَ عَنْ أَكْثَرِ أَيَّامِكَ ازْدِحَامًا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when you wake up</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a:t>
            </a:r>
            <a:pPr algn="l" indent="0" marL="0">
              <a:buNone/>
            </a:pPr>
            <a:r>
              <a:rPr lang="en-US" sz="1100" dirty="0">
                <a:solidFill>
                  <a:srgbClr val="5A6472"/>
                </a:solidFill>
                <a:latin typeface="Calibri" pitchFamily="34" charset="0"/>
                <a:cs typeface="Amiri" pitchFamily="2" charset="-78"/>
              </a:rPr>
              <a:t> → PRESENT + a day and a time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هٰذَا اليَوْمُ؟ وَمَتَى تَسْتَيْقِظُ؟</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during the day</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تَفْعَلُ</a:t>
            </a:r>
            <a:pPr algn="l" indent="0" marL="0">
              <a:buNone/>
            </a:pPr>
            <a:r>
              <a:rPr lang="en-US" sz="1100" dirty="0">
                <a:solidFill>
                  <a:srgbClr val="5A6472"/>
                </a:solidFill>
                <a:latin typeface="Calibri" pitchFamily="34" charset="0"/>
                <a:cs typeface="Amiri" pitchFamily="2" charset="-78"/>
              </a:rPr>
              <a:t> → PRESENT, in order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خِلَالَ اليَوْمِ؟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feel at the end,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 وَلِمَاذَا</a:t>
            </a:r>
            <a:pPr algn="l" indent="0" marL="0">
              <a:buNone/>
            </a:pPr>
            <a:r>
              <a:rPr lang="en-US" sz="1100" dirty="0">
                <a:solidFill>
                  <a:srgbClr val="5A6472"/>
                </a:solidFill>
                <a:latin typeface="Calibri" pitchFamily="34" charset="0"/>
                <a:cs typeface="Amiri" pitchFamily="2" charset="-78"/>
              </a:rPr>
              <a:t> → PRESENT feeling + a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تَشْعُرُ فِي آخِرِ اليَوْمِ؟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will make it easier next week</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سَتَجْعَلُ</a:t>
            </a:r>
            <a:pPr algn="l" indent="0" marL="0">
              <a:buNone/>
            </a:pPr>
            <a:r>
              <a:rPr lang="en-US" sz="1100" dirty="0">
                <a:solidFill>
                  <a:srgbClr val="5A6472"/>
                </a:solidFill>
                <a:latin typeface="Calibri" pitchFamily="34" charset="0"/>
                <a:cs typeface="Amiri" pitchFamily="2" charset="-78"/>
              </a:rPr>
              <a:t> → FUTURE (sa- / sawfa)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سَتَجْعَلُ اليَوْمَ أَسْهَلَ فِي الأُسْبُوعِ القَادِمِ؟</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أَسْتَيْقِظُ مُبَكِّرًا.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wake up early.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أَسْتَيْقِظُ مُبَكِّرًا فِي السَّاعَةِ السَّادِسَةِ كُلَّ يَوْمٍ.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wake up early at six every day.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أَسْتَيْقِظُ فِي السَّاعَةِ السَّادِسَةِ كُلَّ يَوْمٍ، لِأَنَّ الحَافِلَةَ تَصِلُ فِي السَّابِعَةِ.</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the bus comes at seven.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 وَفِي رَأْيِي هٰذَا مُبَكِّرٌ جِدًّا، لٰكِنِّي أَكُونُ نَشِيطًا فِي الصَّبَاحِ.</a:t>
            </a:r>
            <a:endParaRPr lang="ar-SA" sz="25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that is very early, but I am energetic in the morning.</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wakes up at seven.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تَسْتَيْقِظُ</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يَسْتَيْقِظُ</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السَّابِعَةِ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السَّابِعَ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Usually I have breakfast, then I take the bus.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 الفُطُورَ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تَنَاوَلْتُ الفُطُورَ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أَسْتَقِلُّ الحَافِلَةَ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اسْتَقْلَلْتُ الحَافِلَةَ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Yesterday I arrived late, so I was tired.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وَصَلْتُ مُتَأَخِّرًا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أَصِلُ مُتَأَخِّرًا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فَكُنْتُ مُتْعَبًا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فَأَكُونُ مُتْعَبًا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wakes up at seven.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تَسْتَيْقِظُ</a:t>
            </a:r>
            <a:pPr algn="l" indent="0" marL="0">
              <a:buNone/>
            </a:pPr>
            <a:r>
              <a:rPr lang="en-US" sz="1050" i="1" dirty="0">
                <a:solidFill>
                  <a:srgbClr val="5A6472"/>
                </a:solidFill>
                <a:latin typeface="Calibri" pitchFamily="34" charset="0"/>
                <a:cs typeface="Amiri" pitchFamily="2" charset="-78"/>
              </a:rPr>
              <a:t>; the hour is feminine: </a:t>
            </a:r>
            <a:pPr algn="l" indent="0" marL="0">
              <a:buNone/>
            </a:pPr>
            <a:r>
              <a:rPr lang="ar-SA" altLang="en-US" sz="1350" dirty="0">
                <a:solidFill>
                  <a:srgbClr val="5A6472"/>
                </a:solidFill>
                <a:latin typeface="Amiri" pitchFamily="2" charset="-78"/>
                <a:ea typeface="Amiri" pitchFamily="2" charset="-78"/>
                <a:cs typeface="Amiri" pitchFamily="2" charset="-78"/>
              </a:rPr>
              <a:t>السَّابِعَةِ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تَسْتَيْقِظُ فِي السَّاعَةِ السَّابِعَةِ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Usually I have breakfast, then I take the bus.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 present tense in both verbs.</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عَادَةً أَتَنَاوَلُ الفُطُورَ ثُمَّ أَسْتَقِلُّ الحَافِلَةَ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Yesterday I arrived late, so I was tired.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time → past verbs (</a:t>
            </a:r>
            <a:pPr algn="l" indent="0" marL="0">
              <a:buNone/>
            </a:pPr>
            <a:r>
              <a:rPr lang="ar-SA" altLang="en-US" sz="1350" dirty="0">
                <a:solidFill>
                  <a:srgbClr val="5A6472"/>
                </a:solidFill>
                <a:latin typeface="Amiri" pitchFamily="2" charset="-78"/>
                <a:ea typeface="Amiri" pitchFamily="2" charset="-78"/>
                <a:cs typeface="Amiri" pitchFamily="2" charset="-78"/>
              </a:rPr>
              <a:t>وَصَلْتُ</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أَمْسِ وَصَلْتُ مُتَأَخِّرًا فَكُنْتُ مُتْعَبًا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لَيْسَ عِنْدِي وَقْتٌ يَوْمَ ______ ، لِأَنَّ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have no time on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أَوَّلًا ______ ، ثُمَّ ______ ، وَبَعْدَ ذٰلِكَ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First …, then …, after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أَصِلُ إِلَى البَيْتِ أَكُونُ ______ جِدًّا.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When I get home I am very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لِذٰلِكَ سَأَسْتَعِدُّ ______ ، وَسَأُحَاوِلُ أَنْ ______ .</a:t>
            </a:r>
            <a:endParaRPr lang="ar-SA" sz="16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So I will prepare … and try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أَيَّامِي ازْدِحَامًا هُوَ يَوْمُ ______ .</a:t>
            </a:r>
            <a:endParaRPr lang="ar-SA" sz="1800" dirty="0"/>
          </a:p>
        </p:txBody>
      </p:sp>
      <p:sp>
        <p:nvSpPr>
          <p:cNvPr id="32" name="Text 29"/>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busiest day is …</a:t>
            </a:r>
            <a:endParaRPr lang="en-US" sz="1050" dirty="0"/>
          </a:p>
        </p:txBody>
      </p:sp>
      <p:sp>
        <p:nvSpPr>
          <p:cNvPr id="33" name="Text 30"/>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 ثُمَّ ______ .</a:t>
            </a:r>
            <a:endParaRPr lang="ar-SA" sz="1800" dirty="0"/>
          </a:p>
        </p:txBody>
      </p:sp>
      <p:sp>
        <p:nvSpPr>
          <p:cNvPr id="34" name="Text 31"/>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1–2 · I wake at …, then …</a:t>
            </a:r>
            <a:endParaRPr lang="en-US" sz="1050" dirty="0"/>
          </a:p>
        </p:txBody>
      </p:sp>
      <p:sp>
        <p:nvSpPr>
          <p:cNvPr id="35" name="Text 32"/>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آخِرِ اليَوْمِ أَشْعُرُ بِالتَّعَبِ لِأَنَّ ______ .</a:t>
            </a:r>
            <a:endParaRPr lang="ar-SA" sz="1800" dirty="0"/>
          </a:p>
        </p:txBody>
      </p:sp>
      <p:sp>
        <p:nvSpPr>
          <p:cNvPr id="36" name="Text 33"/>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At the end I feel tired because …</a:t>
            </a:r>
            <a:endParaRPr lang="en-US" sz="1050" dirty="0"/>
          </a:p>
        </p:txBody>
      </p:sp>
      <p:sp>
        <p:nvSpPr>
          <p:cNvPr id="37" name="Text 34"/>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 سَأَنَامُ ______ .</a:t>
            </a:r>
            <a:endParaRPr lang="ar-SA" sz="1800" dirty="0"/>
          </a:p>
        </p:txBody>
      </p:sp>
      <p:sp>
        <p:nvSpPr>
          <p:cNvPr id="38" name="Text 35"/>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week I will sleep …</a:t>
            </a:r>
            <a:endParaRPr lang="en-US" sz="1050" dirty="0"/>
          </a:p>
        </p:txBody>
      </p:sp>
      <p:sp>
        <p:nvSpPr>
          <p:cNvPr id="39" name="Text 36"/>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40" name="Text 37"/>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See you.</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أَسْتَقِلُّ الحَافِلَةَ  ·  أَصِلُ  ·  حِصَّةٌ  ·  تَدْرِيبٌ  ·  وَاجِبَاتٌ  ·  مُتْعَبٌ / مُتْعَبَةٌ  ·  مُبَكِّرًا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يَسْتَيْقِظُ فِي السَّادِسَةِ.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doing the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أَصِلُ إِلَى المَدْرَسَةِ فِي السَّاعَةِ الثَّامِنُ.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hour.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أَنَامُ مُتَأَخِّرًا.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time?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يَسْتَيْقِظُ فِي السَّادِسَةِ.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تَسْتَيْقِظُ فِي السَّادِسَةِ.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the verb starts with ta-: </a:t>
            </a:r>
            <a:pPr algn="l" indent="0" marL="0">
              <a:buNone/>
            </a:pPr>
            <a:r>
              <a:rPr lang="ar-SA" altLang="en-US" sz="1500" b="1" dirty="0">
                <a:solidFill>
                  <a:srgbClr val="1B3B6F"/>
                </a:solidFill>
                <a:latin typeface="Amiri" pitchFamily="2" charset="-78"/>
                <a:ea typeface="Amiri" pitchFamily="2" charset="-78"/>
                <a:cs typeface="Amiri" pitchFamily="2" charset="-78"/>
              </a:rPr>
              <a:t>تَسْتَيْقِظُ</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أَصِلُ إِلَى المَدْرَسَةِ فِي السَّاعَةِ الثَّامِنُ.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أَصِلُ إِلَى المَدْرَسَةِ فِي السَّاعَةِ الثَّامِنَةِ.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السَّاعَة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الثَّامِنَةِ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أَنَامُ مُتَأَخِّرًا.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نِمْتُ مُتَأَخِّرًا.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Yesterday → past tense: </a:t>
            </a:r>
            <a:pPr algn="l" indent="0" marL="0">
              <a:buNone/>
            </a:pPr>
            <a:r>
              <a:rPr lang="ar-SA" altLang="en-US" sz="1500" b="1" dirty="0">
                <a:solidFill>
                  <a:srgbClr val="1B3B6F"/>
                </a:solidFill>
                <a:latin typeface="Amiri" pitchFamily="2" charset="-78"/>
                <a:ea typeface="Amiri" pitchFamily="2" charset="-78"/>
                <a:cs typeface="Amiri" pitchFamily="2" charset="-78"/>
              </a:rPr>
              <a:t>نِمْتُ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ea typeface="Amiri" pitchFamily="2" charset="-78"/>
                <a:cs typeface="Amiri" pitchFamily="2" charset="-78"/>
              </a:rPr>
              <a:t>فِي يَوْمِ الاثْنَيْنِ المَاضِي لَمْ يَسِرْ صَبَاحِي كَمَا خَطَّطْتُ.</a:t>
            </a:r>
            <a:endParaRPr lang="ar-SA" sz="20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Monday my morning did not go to plan.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اسْتَيْقَظْتُ مُتَأَخِّرًا، وَفَاتَتْنِي الحَافِلَةُ.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woke up late and missed the bus.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لِأَنَّ المُنَبِّهَ لَمْ يَرِنَّ.</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because the alarm did not ring.</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بِالقَلَقِ، وَالآنَ أَسْتَعِدُّ فِي اللَّيْلِ.</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worried — now I get ready at night.</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Question 3, one paragraph: a day that went wrong</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لَمْ يَسِرْ كَمَا خَطَّطْتُ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“My daily routine — and a day I will not forget”. Today write ONLY the past paragraph: a day when your routine went wrong (you woke up late, missed the bus …) — what happened, why,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 … المَاضِي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اسْتَيْقَظْتُ مُتَأَخِّرًا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woke up late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فَاتَتْنِي الحَافِلَةُ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missed the bus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 لَمْ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 did not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بِالقَلَقِ · بِالخَجَلِ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worried · embarrassed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سَامِي،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أَكْثَرُ أَيَّامِي ازْدِحَامًا هُوَ يَوْمُ الثُّلَاثَاءِ. أَسْتَيْقِظُ فِي السَّاعَةِ السَّادِسَةِ وَالنِّصْفِ، لِأَنَّ عِنْدِي تَدْرِيبَ سِبَاحَةٍ قَبْلَ المَدْرَسَةِ، وَأَتَنَاوَلُ فُطُورًا سَرِيعًا فِي المَطْبَخِ. بَعْدَ التَّدْرِيبِ أَسْتَقِلُّ الحَافِلَةَ، ثُمَّ عِنْدِي سِتُّ حِصَصٍ، وَبَعْدَ ذٰلِكَ أَذْهَبُ إِلَى نَادِي العُلُومِ حَتَّى السَّاعَةِ الخَامِسَةِ وَالنِّصْفِ. عِنْدَمَا أَصِلُ إِلَى البَيْتِ فِي السَّادِسَةِ أَكُونُ مُتْعَبًا جِدًّا، لِأَنِّي لَا أَرْتَاحُ أَبَدًا! لِذٰلِكَ سَأَسْتَعِدُّ فِي الأُسْبُوعِ القَادِمِ مِنْ يَوْمِ الاثْنَيْنِ، وَسَأُحَاوِلُ أَنْ أَنَامَ قَبْلَ العَاشِرَةِ. وَأَنْتَ، مَا أَكْثَرُ أَيَّامِكَ ازْدِحَامًا؟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Sami, how are you? My busiest day is Tuesday. I wake up at half past six because I have swimming training before school, and I eat a quick breakfast in the kitchen. After training I take the bus, then I have six lessons, and after that I go to science club until half past five. When I get home at six I am very tired, because I never rest! So next week I will get ready on Monday, and I will try to go to bed before ten. And you, what is your busiest day? See you,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أَيَّامِي ازْدِحَامًا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 … وَبَعْدَ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لَا أَرْتَاحُ</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سَأُحَاوِلُ أَنْ 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يَوْمِ الخَمِيسِ المَاضِي لَمْ يَسِرْ صَبَاحِي كَمَا خَطَّطْتُ. نِمْتُ مُتَأَخِّرًا لِأَنِّي كُنْتُ أُرَاجِعُ لِلِامْتِحَانِ، فَلَمْ أَسْمَعِ المُنَبِّهَ، وَاسْتَيْقَظْتُ فِي السَّاعَةِ الثَّامِنَةِ! لَبِسْتُ مَلَابِسِي بِسُرْعَةٍ، وَلَمْ أَتَنَاوَلِ الفُطُورَ، لٰكِنْ فَاتَتْنِي الحَافِلَةُ، فَأَوْصَلَنِي أَبِي بِالسَّيَّارَةِ. وَصَلْتُ مُتَأَخِّرًا عَشْرَ دَقَائِقَ، وَشَعَرْتُ بِالخَجَلِ أَمَامَ المُعَلِّمِ. مُنْذُ ذٰلِكَ اليَوْمِ أَسْتَعِدُّ فِي اللَّيْلِ، وَسَأَنَامُ دَائِمًا قَبْلَ العَاشِرَةِ.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Thursday my morning did not go to plan · D: I went to bed late revising, didn’t hear the alarm and woke at eight; I dressed quickly, skipped breakfast, missed the bus, and my dad drove me · R/F: I arrived ten minutes late and felt embarrassed in front of the teacher · future: since then I get ready at night, and I will always sleep before ten.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يَسِرْ صَبَاحِي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كُنْتُ أُرَاجِعُ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فَاتَتْنِي الحَافِلَةُ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بِالخَجَلِ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AT-A-L02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AT-A-L01 · Writing Practice Room — Time and Daily Routine</dc:title>
  <dc:subject>PptxGenJS Presentation</dc:subject>
  <dc:creator>Al Madina Online School · Arabic Department</dc:creator>
  <cp:lastModifiedBy>Al Madina Online School · Arabic Department</cp:lastModifiedBy>
  <cp:revision>1</cp:revision>
  <dcterms:created xsi:type="dcterms:W3CDTF">2026-10-25T13:59:21Z</dcterms:created>
  <dcterms:modified xsi:type="dcterms:W3CDTF">2026-10-25T13:59:21Z</dcterms:modified>
</cp:coreProperties>
</file>