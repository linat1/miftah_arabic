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A · Everyday Activities, Lesson 7 (Body Parts and Health Problems, AT-A-L07)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(75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(60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GUIDED PRACTICE  ·  AT-A-L07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Body and Health Problems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الجِسْمُ وَالمَشَاكِلُ الصِّحِّيَّةُ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(an email to a teacher about missing school),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AT-A-L07 · Advanced Topic A · Everyday Activities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School medical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طِبِّيَّةٌ مَدْرَسِيَّةٌ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Student’s 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اسْمُ الطَّالِبِ</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أَرْبَعَ عَشْرَةَ سَنَةً</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تُوجَدُ · الفُولُ السُّودَانِيُّ</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Allergies</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الحَسَاسِيَّةُ</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رَأْسِي · بَطْنِي</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hurts now</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يُؤْلِمُكَ الآنَ</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مُنْذُ أَمْسِ</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Since when</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مُنْذُ مَتَى؟</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أَشْعُرُ بِالتَّعَبِ وَعِنْدِي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describe how you feel</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صِفْ كَيْفَ تَشْعُرُ</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Question 2: an email to your teacher</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إِلَى مُعَلِّمِكَ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missed school this week because you were ill. Write an email in Arabic to your Arabic teacher of about 80–90 words. You must include: • why you were absent and for how long • what was wrong (symptoms) • what the doctor told you to do • when you will return and a question about the homework.</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 أَحْضُرْ إِلَى المَدْرَسَةِ لِأَنَّ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did not come to school because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عِنْدِي … وَكَانَ يُؤْلِمُنِي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had … and my … hurt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نَصَحَنِي الطَّبِيبُ بِأَنْ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doctor advised me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سَأَرْجِعُ يَوْمَ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be back on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مُعَلِّمِكَ عَنْ غِيَابِكَ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غِبْتَ؟ وَكَمْ يَوْمًا؟</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كَانَ عِنْدَكَ؟</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نَصَحَكَ الطَّبِيبُ؟</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سَتَرْجِعُ؟ وَاسْأَلْ عَنِ الوَاجِبِ.</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teacher about your absence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TEACHER → polite: </a:t>
            </a:r>
            <a:pPr algn="l" indent="0" marL="0">
              <a:buNone/>
            </a:pPr>
            <a:r>
              <a:rPr lang="ar-SA" altLang="en-US" sz="1450" dirty="0">
                <a:solidFill>
                  <a:srgbClr val="5A6472"/>
                </a:solidFill>
                <a:latin typeface="Amiri" pitchFamily="2" charset="-78"/>
                <a:ea typeface="Amiri" pitchFamily="2" charset="-78"/>
                <a:cs typeface="Amiri" pitchFamily="2" charset="-78"/>
              </a:rPr>
              <a:t>أُسْتَاذِي العَزِيزُ / مَعَ الاحْتِرَامِ</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مُعَلِّمِكَ عَنْ غِيَابِكَ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you were absent, for how long</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لِمَاذَا غِبْتَ</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كَمْ</a:t>
            </a:r>
            <a:pPr algn="l" indent="0" marL="0">
              <a:buNone/>
            </a:pPr>
            <a:r>
              <a:rPr lang="en-US" sz="1100" dirty="0">
                <a:solidFill>
                  <a:srgbClr val="5A6472"/>
                </a:solidFill>
                <a:latin typeface="Calibri" pitchFamily="34" charset="0"/>
                <a:cs typeface="Amiri" pitchFamily="2" charset="-78"/>
              </a:rPr>
              <a:t> → PAST + a reason + a number of days</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غِبْتَ؟ وَكَمْ يَوْمًا؟</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was wrong (symptoms)</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كَانَ عِنْدَكَ</a:t>
            </a:r>
            <a:pPr algn="l" indent="0" marL="0">
              <a:buNone/>
            </a:pPr>
            <a:r>
              <a:rPr lang="en-US" sz="1100" dirty="0">
                <a:solidFill>
                  <a:srgbClr val="5A6472"/>
                </a:solidFill>
                <a:latin typeface="Calibri" pitchFamily="34" charset="0"/>
                <a:cs typeface="Amiri" pitchFamily="2" charset="-78"/>
              </a:rPr>
              <a:t> → PAST symptoms (</a:t>
            </a:r>
            <a:pPr algn="l" indent="0" marL="0">
              <a:buNone/>
            </a:pPr>
            <a:r>
              <a:rPr lang="ar-SA" altLang="en-US" sz="1450" dirty="0">
                <a:solidFill>
                  <a:srgbClr val="5A6472"/>
                </a:solidFill>
                <a:latin typeface="Amiri" pitchFamily="2" charset="-78"/>
                <a:ea typeface="Amiri" pitchFamily="2" charset="-78"/>
                <a:cs typeface="Amiri" pitchFamily="2" charset="-78"/>
              </a:rPr>
              <a:t>كَانَ عِنْدِي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كَانَ عِنْدَكَ؟</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the doctor advised</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بِمَاذَا نَصَحَكَ</a:t>
            </a:r>
            <a:pPr algn="l" indent="0" marL="0">
              <a:buNone/>
            </a:pPr>
            <a:r>
              <a:rPr lang="en-US" sz="1100" dirty="0">
                <a:solidFill>
                  <a:srgbClr val="5A6472"/>
                </a:solidFill>
                <a:latin typeface="Calibri" pitchFamily="34" charset="0"/>
                <a:cs typeface="Amiri" pitchFamily="2" charset="-78"/>
              </a:rPr>
              <a:t> → PAST advice: </a:t>
            </a:r>
            <a:pPr algn="l" indent="0" marL="0">
              <a:buNone/>
            </a:pPr>
            <a:r>
              <a:rPr lang="ar-SA" altLang="en-US" sz="1450" dirty="0">
                <a:solidFill>
                  <a:srgbClr val="5A6472"/>
                </a:solidFill>
                <a:latin typeface="Amiri" pitchFamily="2" charset="-78"/>
                <a:ea typeface="Amiri" pitchFamily="2" charset="-78"/>
                <a:cs typeface="Amiri" pitchFamily="2" charset="-78"/>
              </a:rPr>
              <a:t>نَصَحَنِي بِأَنْ</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بِمَاذَا نَصَحَكَ الطَّبِيبُ؟</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you will return; ask about homework</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سَتَرْجِعُ</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اسْأَلْ</a:t>
            </a:r>
            <a:pPr algn="l" indent="0" marL="0">
              <a:buNone/>
            </a:pPr>
            <a:r>
              <a:rPr lang="en-US" sz="1100" dirty="0">
                <a:solidFill>
                  <a:srgbClr val="5A6472"/>
                </a:solidFill>
                <a:latin typeface="Calibri" pitchFamily="34" charset="0"/>
                <a:cs typeface="Amiri" pitchFamily="2" charset="-78"/>
              </a:rPr>
              <a:t> → FUTURE + a polite question</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سَتَرْجِعُ؟ وَاسْأَلْ عَنِ الوَاجِبِ.</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يُؤْلِمُنِي ظَهْرِي.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My back hurts.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يُؤْلِمُنِي ظَهْرِي كَثِيرًا مُنْذُ ثَلَاثَةِ أَيَّامٍ.</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a lot, for three days.</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350" b="1" dirty="0">
                <a:solidFill>
                  <a:srgbClr val="1B3B6F"/>
                </a:solidFill>
                <a:latin typeface="Amiri" pitchFamily="2" charset="-78"/>
                <a:ea typeface="Amiri" pitchFamily="2" charset="-78"/>
                <a:cs typeface="Amiri" pitchFamily="2" charset="-78"/>
              </a:rPr>
              <a:t>يُؤْلِمُنِي ظَهْرِي مُنْذُ ثَلَاثَةِ أَيَّامٍ، لِأَنِّي حَمَلْتُ حَقِيبَةً ثَقِيلَةً جِدًّا.</a:t>
            </a:r>
            <a:endParaRPr lang="ar-SA" sz="23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I carried a very heavy bag.</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 وَفِي رَأْيِي الحَقَائِبُ المَدْرَسِيَّةُ ثَقِيلَةٌ، لِذٰلِكَ سَأَتْرُكُ بَعْضَ الكُتُبِ فِي الخِزَانَةِ.</a:t>
            </a:r>
            <a:endParaRPr lang="ar-SA" sz="19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school bags are heavy, so I will leave some books in my locker.</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His head hurts him.</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يُؤْلِمُهُ</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يُؤْلِمُنِي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رَأْسُهُ</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رَأْسِي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كَثِيرًا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have had a fever since yesterday.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عِنْدَهُ</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حُمَّى</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حُمَّاهُ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مُنْذُ أَمْسِ</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بَعْدَ أَمْسِ</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was tired, so she stayed at home.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كَانَتْ أُخْتِي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كَانَ أُخْتِي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مُتْعَبَةً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مُتْعَبًا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فَبَقِيَتْ فِي البَيْتِ</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فَبَقِيتُ فِي البَيْتِ</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His head hurts him.</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-hu on both: </a:t>
            </a:r>
            <a:pPr algn="l" indent="0" marL="0">
              <a:buNone/>
            </a:pPr>
            <a:r>
              <a:rPr lang="ar-SA" altLang="en-US" sz="1350" dirty="0">
                <a:solidFill>
                  <a:srgbClr val="5A6472"/>
                </a:solidFill>
                <a:latin typeface="Amiri" pitchFamily="2" charset="-78"/>
                <a:ea typeface="Amiri" pitchFamily="2" charset="-78"/>
                <a:cs typeface="Amiri" pitchFamily="2" charset="-78"/>
              </a:rPr>
              <a:t>يُؤْلِمُهُ رَأْسُهُ</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يُؤْلِمُهُ رَأْسُهُ كَثِيرًا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have had a fever since yesterday.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Since = </a:t>
            </a:r>
            <a:pPr algn="l" indent="0" marL="0">
              <a:buNone/>
            </a:pPr>
            <a:r>
              <a:rPr lang="ar-SA" altLang="en-US" sz="1350" dirty="0">
                <a:solidFill>
                  <a:srgbClr val="5A6472"/>
                </a:solidFill>
                <a:latin typeface="Amiri" pitchFamily="2" charset="-78"/>
                <a:ea typeface="Amiri" pitchFamily="2" charset="-78"/>
                <a:cs typeface="Amiri" pitchFamily="2" charset="-78"/>
              </a:rPr>
              <a:t>مُنْذُ</a:t>
            </a:r>
            <a:pPr algn="l" indent="0" marL="0">
              <a:buNone/>
            </a:pPr>
            <a:r>
              <a:rPr lang="en-US" sz="1050" i="1" dirty="0">
                <a:solidFill>
                  <a:srgbClr val="5A6472"/>
                </a:solidFill>
                <a:latin typeface="Calibri" pitchFamily="34" charset="0"/>
                <a:cs typeface="Amiri" pitchFamily="2" charset="-78"/>
              </a:rPr>
              <a:t>; I have = </a:t>
            </a:r>
            <a:pPr algn="l" indent="0" marL="0">
              <a:buNone/>
            </a:pPr>
            <a:r>
              <a:rPr lang="ar-SA" altLang="en-US" sz="1350" dirty="0">
                <a:solidFill>
                  <a:srgbClr val="5A6472"/>
                </a:solidFill>
                <a:latin typeface="Amiri" pitchFamily="2" charset="-78"/>
                <a:ea typeface="Amiri" pitchFamily="2" charset="-78"/>
                <a:cs typeface="Amiri" pitchFamily="2" charset="-78"/>
              </a:rPr>
              <a:t>عِنْدِي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عِنْدِي حُمَّى مُنْذُ أَمْسِ</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was tired, so she stayed at home.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كَانَتْ … مُتْعَبَةً</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بَقِيَتْ</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كَانَتْ أُخْتِي مُتْعَبَةً فَبَقِيَتْ فِي البَيْتِ</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أَعْتَذِرُ عَنْ غِيَابِي مُنْذُ يَوْمِ ______ ، لِأَنَّ ______ .</a:t>
            </a:r>
            <a:endParaRPr lang="ar-SA" sz="15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apologise for my absence since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البِدَايَةِ ______ ، ثُمَّ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At first …, then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لِي الطَّبِيبُ إِنَّهُ يَجِبُ أَنْ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The doctor told me I must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إِنْ شَاءَ اللّٰهُ سَأَرْجِعُ ______ ، وَهَلْ يُمْكِنُ أَنْ ______ ؟</a:t>
            </a:r>
            <a:endParaRPr lang="ar-SA" sz="14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God willing I will return …, and could you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أُسْتَاذِي العَزِيزُ،</a:t>
            </a:r>
            <a:endParaRPr lang="ar-SA" sz="1800" dirty="0"/>
          </a:p>
        </p:txBody>
      </p:sp>
      <p:sp>
        <p:nvSpPr>
          <p:cNvPr id="30" name="Text 27"/>
          <p:cNvSpPr txBox="1"/>
          <p:nvPr/>
        </p:nvSpPr>
        <p:spPr>
          <a:xfrm>
            <a:off x="6327648" y="224942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teacher,</a:t>
            </a:r>
            <a:endParaRPr lang="en-US" sz="1050" dirty="0"/>
          </a:p>
        </p:txBody>
      </p:sp>
      <p:sp>
        <p:nvSpPr>
          <p:cNvPr id="31" name="Text 28"/>
          <p:cNvSpPr txBox="1"/>
          <p:nvPr/>
        </p:nvSpPr>
        <p:spPr>
          <a:xfrm>
            <a:off x="8202168" y="2752344"/>
            <a:ext cx="3383280" cy="477774"/>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لَمْ أَحْضُرْ إِلَى المَدْرَسَةِ ______ أَيَّامٍ، لِأَنِّي كُنْتُ مَرِيضًا.</a:t>
            </a:r>
            <a:endParaRPr lang="ar-SA" sz="1350" dirty="0"/>
          </a:p>
        </p:txBody>
      </p:sp>
      <p:sp>
        <p:nvSpPr>
          <p:cNvPr id="32" name="Text 29"/>
          <p:cNvSpPr txBox="1"/>
          <p:nvPr/>
        </p:nvSpPr>
        <p:spPr>
          <a:xfrm>
            <a:off x="6327648" y="275234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missed school for … days because I was ill.</a:t>
            </a:r>
            <a:endParaRPr lang="en-US" sz="1050" dirty="0"/>
          </a:p>
        </p:txBody>
      </p:sp>
      <p:sp>
        <p:nvSpPr>
          <p:cNvPr id="33" name="Text 30"/>
          <p:cNvSpPr txBox="1"/>
          <p:nvPr/>
        </p:nvSpPr>
        <p:spPr>
          <a:xfrm>
            <a:off x="8202168" y="3255264"/>
            <a:ext cx="3383280" cy="477774"/>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كَانَ عِنْدِي ______ ، وَكَانَ يُؤْلِمُنِي ______ .</a:t>
            </a:r>
            <a:endParaRPr lang="ar-SA" sz="1750" dirty="0"/>
          </a:p>
        </p:txBody>
      </p:sp>
      <p:sp>
        <p:nvSpPr>
          <p:cNvPr id="34" name="Text 31"/>
          <p:cNvSpPr txBox="1"/>
          <p:nvPr/>
        </p:nvSpPr>
        <p:spPr>
          <a:xfrm>
            <a:off x="6327648" y="325526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 had …, and my … hurt.</a:t>
            </a:r>
            <a:endParaRPr lang="en-US" sz="1050" dirty="0"/>
          </a:p>
        </p:txBody>
      </p:sp>
      <p:sp>
        <p:nvSpPr>
          <p:cNvPr id="35" name="Text 32"/>
          <p:cNvSpPr txBox="1"/>
          <p:nvPr/>
        </p:nvSpPr>
        <p:spPr>
          <a:xfrm>
            <a:off x="8202168" y="375818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نَصَحَنِي الطَّبِيبُ بِأَنْ ______ .</a:t>
            </a:r>
            <a:endParaRPr lang="ar-SA" sz="1800" dirty="0"/>
          </a:p>
        </p:txBody>
      </p:sp>
      <p:sp>
        <p:nvSpPr>
          <p:cNvPr id="36" name="Text 33"/>
          <p:cNvSpPr txBox="1"/>
          <p:nvPr/>
        </p:nvSpPr>
        <p:spPr>
          <a:xfrm>
            <a:off x="6327648" y="375818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The doctor advised me to …</a:t>
            </a:r>
            <a:endParaRPr lang="en-US" sz="1050" dirty="0"/>
          </a:p>
        </p:txBody>
      </p:sp>
      <p:sp>
        <p:nvSpPr>
          <p:cNvPr id="37" name="Text 34"/>
          <p:cNvSpPr txBox="1"/>
          <p:nvPr/>
        </p:nvSpPr>
        <p:spPr>
          <a:xfrm>
            <a:off x="8202168" y="4261104"/>
            <a:ext cx="3383280" cy="47777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سَأَرْجِعُ يَوْمَ ______ . مَا هُوَ الوَاجِبُ، مِنْ فَضْلِكَ؟</a:t>
            </a:r>
            <a:endParaRPr lang="ar-SA" sz="1600" dirty="0"/>
          </a:p>
        </p:txBody>
      </p:sp>
      <p:sp>
        <p:nvSpPr>
          <p:cNvPr id="38" name="Text 35"/>
          <p:cNvSpPr txBox="1"/>
          <p:nvPr/>
        </p:nvSpPr>
        <p:spPr>
          <a:xfrm>
            <a:off x="6327648" y="426110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will be back on … What is the homework, please?</a:t>
            </a:r>
            <a:endParaRPr lang="en-US" sz="1050" dirty="0"/>
          </a:p>
        </p:txBody>
      </p:sp>
      <p:sp>
        <p:nvSpPr>
          <p:cNvPr id="39" name="Text 36"/>
          <p:cNvSpPr txBox="1"/>
          <p:nvPr/>
        </p:nvSpPr>
        <p:spPr>
          <a:xfrm>
            <a:off x="8202168" y="476402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الاحْتِرَامِ،</a:t>
            </a:r>
            <a:endParaRPr lang="ar-SA" sz="1800" dirty="0"/>
          </a:p>
        </p:txBody>
      </p:sp>
      <p:sp>
        <p:nvSpPr>
          <p:cNvPr id="40" name="Text 37"/>
          <p:cNvSpPr txBox="1"/>
          <p:nvPr/>
        </p:nvSpPr>
        <p:spPr>
          <a:xfrm>
            <a:off x="6327648" y="476402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Respectfully,</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حُمَّى  ·  زُكَامٌ  ·  سُعَالٌ  ·  صُدَاعٌ  ·  يُؤْلِمُنِي حَلْقِي  ·  أَرْتَاحُ  ·  أَشْرَبُ السَّوَائِلَ  ·  أَتَحَسَّنُ</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يُؤْلِمُنِي رَأْسُهُ.</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Whose head? Check both endings.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عِنْدِي زُكَامٌ مِنْ يَوْمَيْنِ.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word means “for / since”?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مَرِيضٌ.</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Agreement.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يُؤْلِمُنِي رَأْسُهُ.</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يُؤْلِمُنِي رَأْسِي.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My head hurts me → both endings are “my”: </a:t>
            </a:r>
            <a:pPr algn="l" indent="0" marL="0">
              <a:buNone/>
            </a:pPr>
            <a:r>
              <a:rPr lang="ar-SA" altLang="en-US" sz="1500" b="1" dirty="0">
                <a:solidFill>
                  <a:srgbClr val="1B3B6F"/>
                </a:solidFill>
                <a:latin typeface="Amiri" pitchFamily="2" charset="-78"/>
                <a:ea typeface="Amiri" pitchFamily="2" charset="-78"/>
                <a:cs typeface="Amiri" pitchFamily="2" charset="-78"/>
              </a:rPr>
              <a:t>يُؤْلِمُنِي رَأْسِي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عِنْدِي زُكَامٌ مِنْ يَوْمَيْنِ.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عِنْدِي زُكَامٌ مُنْذُ يَوْمَيْنِ.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Duration = </a:t>
            </a:r>
            <a:pPr algn="l" indent="0" marL="0">
              <a:buNone/>
            </a:pPr>
            <a:r>
              <a:rPr lang="ar-SA" altLang="en-US" sz="1500" b="1" dirty="0">
                <a:solidFill>
                  <a:srgbClr val="1B3B6F"/>
                </a:solidFill>
                <a:latin typeface="Amiri" pitchFamily="2" charset="-78"/>
                <a:ea typeface="Amiri" pitchFamily="2" charset="-78"/>
                <a:cs typeface="Amiri" pitchFamily="2" charset="-78"/>
              </a:rPr>
              <a:t>مُنْذُ</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ea typeface="Amiri" pitchFamily="2" charset="-78"/>
                <a:cs typeface="Amiri" pitchFamily="2" charset="-78"/>
              </a:rPr>
              <a:t>مُنْذُ يَوْمَيْنِ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مَرِيضٌ.</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مَرِيضَةٌ.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girl → feminine adjective: </a:t>
            </a:r>
            <a:pPr algn="l" indent="0" marL="0">
              <a:buNone/>
            </a:pPr>
            <a:r>
              <a:rPr lang="ar-SA" altLang="en-US" sz="1500" b="1" dirty="0">
                <a:solidFill>
                  <a:srgbClr val="1B3B6F"/>
                </a:solidFill>
                <a:latin typeface="Amiri" pitchFamily="2" charset="-78"/>
                <a:ea typeface="Amiri" pitchFamily="2" charset="-78"/>
                <a:cs typeface="Amiri" pitchFamily="2" charset="-78"/>
              </a:rPr>
              <a:t>مَرِيضَةٌ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فِي العُطْلَةِ المَاضِيَةِ سَقَطْتُ عَنْ دَرَّاجَتِي.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Last holiday I fell off my bike.</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450" b="1" dirty="0">
                <a:solidFill>
                  <a:srgbClr val="1B3B6F"/>
                </a:solidFill>
                <a:latin typeface="Amiri" pitchFamily="2" charset="-78"/>
                <a:ea typeface="Amiri" pitchFamily="2" charset="-78"/>
                <a:cs typeface="Amiri" pitchFamily="2" charset="-78"/>
              </a:rPr>
              <a:t>كَانَتْ يَدِي تُؤْلِمُنِي، فَذَهَبْنَا إِلَى المُسْتَشْفَى.</a:t>
            </a:r>
            <a:endParaRPr lang="ar-SA" sz="24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My hand hurt, so we went to hospital.</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حَدَثَ ذٰلِكَ لِأَنِّي لَمْ أَلْبَسِ الخُوذَةَ.</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because I wasn’t wearing a helmet.</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بِالخَوْفِ، وَالآنَ أَلْبَسُهَا دَائِمًا.</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was scared — now I always wear it.</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Question 3, one paragraph: an accident I remember</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حَادِثٌ أَتَذَكَّرُهُ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“Health and the body”. Today write ONLY the past paragraph: an accident or illness you remember — what happened, what hurt, who helped you, why it mattered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 المَاضِي سَقَطْتُ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 I fell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يُؤْلِمُنِي … كَثِيرًا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hurt me a lot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أَخَذَنِي … إِلَى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took me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قَالَ الطَّبِيبُ إِنَّ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doctor said that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مُنْذُ ذٰلِكَ الوَقْتِ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since then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أُسْتَاذِي العَزِيزُ،</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السَّلَامُ عَلَيْكُمْ. أَعْتَذِرُ عَنْ غِيَابِي عَنِ المَدْرَسَةِ ثَلَاثَةَ أَيَّامٍ هٰذَا الأُسْبُوعَ، لِأَنِّي كُنْتُ مَرِيضًا جِدًّا. فِي البِدَايَةِ كَانَ عِنْدِي صُدَاعٌ وَسُعَالٌ خَفِيفٌ، ثُمَّ ارْتَفَعَتْ حَرَارَتِي يَوْمَ الثُّلَاثَاءِ، وَكَانَ يُؤْلِمُنِي حَلْقِي كَثِيرًا. ذَهَبْتُ إِلَى الطَّبِيبِ، فَنَصَحَنِي بِأَنْ أَرْتَاحَ فِي البَيْتِ، وَأَنْ أَشْرَبَ السَّوَائِلَ السَّاخِنَةَ كَثِيرًا، وَأَعْطَانِي دَوَاءً لِلْحُمَّى. الآنَ أَشْعُرُ بِتَحَسُّنٍ، وَإِنْ شَاءَ اللّٰهُ سَأَرْجِعُ إِلَى المَدْرَسَةِ يَوْمَ الاثْنَيْنِ القَادِمِ. هَلْ يُمْكِنُ أَنْ تُرْسِلَ لِي وَاجِبَ هٰذَا الأُسْبُوعِ، مِنْ فَضْلِكَ؟</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مَعَ الاحْتِرَامِ،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طَالِبُكَ حَمْزَةُ</a:t>
            </a:r>
            <a:endParaRPr lang="ar-SA" sz="17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teacher, peace be upon you. I apologise for missing school for three days this week, because I was very ill. At first I had a headache and a slight cough, then my temperature went up on Tuesday and my throat hurt a lot. I went to the doctor, who advised me to rest at home and to drink plenty of hot drinks, and gave me medicine for the fever. Now I feel better, and God willing I will return to school next Monday. Could you send me this week’s homework, please? Respectfully, your student Hamza.”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أَعْتَذِرُ عَنْ غِيَابِي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البِدَايَةِ … ثُمَّ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فَنَصَحَنِي بِأَنْ أَرْتَاحَ</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هَلْ يُمْكِنُ أَنْ تُرْسِلَ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العُطْلَةِ الصَّيْفِيَّةِ المَاضِيَةِ سَقَطْتُ عَنْ دَرَّاجَتِي فِي الحَدِيقَةِ، لِأَنِّي كُنْتُ أَرْكَبُهَا بِسُرْعَةٍ كَبِيرَةٍ. كَانَتْ يَدِي اليُمْنَى تُؤْلِمُنِي كَثِيرًا، فَأَخَذَنِي أَبِي إِلَى المُسْتَشْفَى فَوْرًا. قَالَ الطَّبِيبُ إِنَّ يَدِي مَكْسُورَةٌ، وَوَضَعَ عَلَيْهَا الجِبْسَ سِتَّةَ أَسَابِيعَ. فِي البِدَايَةِ شَعَرْتُ بِالحُزْنِ، لِأَنِّي لَمْ أَسْتَطِعْ أَنْ أَسْبَحَ مَعَ أَصْدِقَائِي، لٰكِنَّ إِخْوَتِي كَتَبُوا أَسْمَاءَهُمْ عَلَى الجِبْسِ، فَضَحِكْتُ. مُنْذُ ذٰلِكَ الوَقْتِ أَلْبَسُ الخُوذَةَ دَائِمًا، وَأَرْكَبُ بِبُطْءٍ.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summer holiday I fell off my bike in the park, because I was riding very fast · D: my right hand hurt a lot, so my dad took me to hospital; the doctor said it was broken and put it in plaster for six weeks · F: at first I felt sad because I couldn’t swim with my friends, but my brothers wrote their names on the plaster and I laughed · since then I always wear a helmet and ride slowly.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سَقَطْتُ عَنْ دَرَّاجَتِي</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لِأَنِّي كُنْتُ أَرْكَبُهَا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قَالَ الطَّبِيبُ إِنَّ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مُنْذُ ذٰلِكَ الوَقْتِ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AT-A-L07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AT-A-L08 · The next lesson in the topic</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AT-A-L07 · Writing Practice Room — Body and Health Problems</dc:title>
  <dc:subject>PptxGenJS Presentation</dc:subject>
  <dc:creator>Al Madina Online School · Arabic Department</dc:creator>
  <cp:lastModifiedBy>Al Madina Online School · Arabic Department</cp:lastModifiedBy>
  <cp:revision>1</cp:revision>
  <dcterms:created xsi:type="dcterms:W3CDTF">2026-10-25T14:08:37Z</dcterms:created>
  <dcterms:modified xsi:type="dcterms:W3CDTF">2026-10-25T14:08:37Z</dcterms:modified>
</cp:coreProperties>
</file>