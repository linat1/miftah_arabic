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A · Everyday Activities, Lesson 1 (Time and Daily Routine, AT-A-L01) — new role plays and questions (not the ones in the Exam Practice workshop), using the lesson’s language (present-tense routine verbs (I · he · she); telling the time (fī as-sāʿati …); frequency (ʿādatan, aḥyānan); sequence (thumma, baʿda dhālika)).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تَنَامِينَ · تَسْتَيْقِظِينَ · تَتَنَاوَلِينَ · تَحْتَاجِينَ · سَتَذْهَبِينَ.
Language: time with fī as-sāʿati + ordinal (as-sābiʿati wa-n-niṣf) · ʿādatan · hal yumkinu an + verb in -a (polite request) · sa- for the future.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صِفِي · حَيَاتِكِ · عِنْدَكِ · فَعَلْتِ · رُوتِينُكِ — and the Speaker says مُتْعَبَةً.
Language: sequencing (thumma) · times with ordinals and quarters · past routine verbs (istayqaẓtu, laʿibtu) · comparison abkaru min · future negative lan akūna.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A · GUIDED PRACTICE  ·  AT-A-L01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AT-A-L01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Time and Daily Routine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الوَقْتُ وَالرُّوتِينُ اليَوْمِيُّ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warm-up, the answer ladder, two new role plays (a sleepover at a friend’s house, a school exchange interview), a topic conversation with A-R-E-T, and a one-minute talk about their school day.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AT-A-L01 · Advanced Topic A · Everyday Activities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A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A › AT-A-L01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Verbs for your day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أَفْعَالُ الرُّوتِينِ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أَسْتَيْقِظُ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wake up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as-tay-qi-ẓu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يَسْتَيْقِظُونَ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تَسْتَيْقِظُ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يَسْتَيْقِظُ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أَتَنَاوَلُ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have (a meal)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a-ta-nā-wa-lu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يَتَنَاوَلُونَ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تَتَنَاوَلُ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يَتَنَاوَلُ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أَسْتَقِلُّ الحَافِلَةَ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take the bus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as-ta-qil-lu al-ḥā-fi-la-ta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يَسْتَقِلُّونَ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تَسْتَقِلُّ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يَسْتَقِلُّ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أَسْتَعِدُّ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get ready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as-ta-ʿid-du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80" name="Text 77"/>
          <p:cNvSpPr txBox="1"/>
          <p:nvPr/>
        </p:nvSpPr>
        <p:spPr>
          <a:xfrm>
            <a:off x="10588752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يَسْتَعِدُّونَ</a:t>
            </a:r>
            <a:endParaRPr lang="ar-SA" sz="1350" dirty="0"/>
          </a:p>
        </p:txBody>
      </p:sp>
      <p:sp>
        <p:nvSpPr>
          <p:cNvPr id="81" name="Shape 78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تَسْتَعِدُّ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يَسْتَعِدُّ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82312" y="427939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782312" y="42793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أَصِلُ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arrive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a-ṣi-lu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672084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77570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98" name="Text 95"/>
          <p:cNvSpPr txBox="1"/>
          <p:nvPr/>
        </p:nvSpPr>
        <p:spPr>
          <a:xfrm>
            <a:off x="6766560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يَصِلُونَ</a:t>
            </a:r>
            <a:endParaRPr lang="ar-SA" sz="1350" dirty="0"/>
          </a:p>
        </p:txBody>
      </p:sp>
      <p:sp>
        <p:nvSpPr>
          <p:cNvPr id="99" name="Shape 96"/>
          <p:cNvSpPr/>
          <p:nvPr/>
        </p:nvSpPr>
        <p:spPr>
          <a:xfrm>
            <a:off x="5568696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5623560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5614416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تَصِلُ</a:t>
            </a:r>
            <a:endParaRPr lang="ar-SA" sz="1500" dirty="0"/>
          </a:p>
        </p:txBody>
      </p:sp>
      <p:sp>
        <p:nvSpPr>
          <p:cNvPr id="102" name="Shape 99"/>
          <p:cNvSpPr/>
          <p:nvPr/>
        </p:nvSpPr>
        <p:spPr>
          <a:xfrm>
            <a:off x="441655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447141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446227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يَصِلُ</a:t>
            </a:r>
            <a:endParaRPr lang="ar-SA" sz="1500" dirty="0"/>
          </a:p>
        </p:txBody>
      </p:sp>
      <p:sp>
        <p:nvSpPr>
          <p:cNvPr id="105" name="Shape 102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6" name="Shape 103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7" name="Text 104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960120" y="427939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960120" y="42793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110" name="Shape 107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1" name="Text 108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12" name="Text 109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أَنَامُ</a:t>
            </a:r>
            <a:endParaRPr lang="ar-SA" sz="3000" dirty="0"/>
          </a:p>
        </p:txBody>
      </p:sp>
      <p:sp>
        <p:nvSpPr>
          <p:cNvPr id="113" name="Text 110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sleep, go to bed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a-nā-mu</a:t>
            </a:r>
            <a:endParaRPr lang="en-US" sz="1350" dirty="0"/>
          </a:p>
        </p:txBody>
      </p:sp>
      <p:sp>
        <p:nvSpPr>
          <p:cNvPr id="114" name="Shape 111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116" name="Text 113"/>
          <p:cNvSpPr txBox="1"/>
          <p:nvPr/>
        </p:nvSpPr>
        <p:spPr>
          <a:xfrm>
            <a:off x="2944368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يَنَامُونَ</a:t>
            </a:r>
            <a:endParaRPr lang="ar-SA" sz="1350" dirty="0"/>
          </a:p>
        </p:txBody>
      </p:sp>
      <p:sp>
        <p:nvSpPr>
          <p:cNvPr id="117" name="Shape 114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8" name="Text 115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119" name="Text 116"/>
          <p:cNvSpPr txBox="1"/>
          <p:nvPr/>
        </p:nvSpPr>
        <p:spPr>
          <a:xfrm>
            <a:off x="179222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تَنَامُ</a:t>
            </a:r>
            <a:endParaRPr lang="ar-SA" sz="1500" dirty="0"/>
          </a:p>
        </p:txBody>
      </p:sp>
      <p:sp>
        <p:nvSpPr>
          <p:cNvPr id="120" name="Shape 117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21" name="Text 118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122" name="Text 119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يَنَامُ</a:t>
            </a:r>
            <a:endParaRPr lang="ar-SA" sz="1500" dirty="0"/>
          </a:p>
        </p:txBody>
      </p:sp>
      <p:sp>
        <p:nvSpPr>
          <p:cNvPr id="123" name="Text 12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Feelings, time and frequency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الصِّفَاتُ وَالوَقْتُ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نَشِيطٌ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energetic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na-shī-ṭun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نَشِيطُونَ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نَشِيطَةٌ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نَشِيطٌ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نَاعِسٌ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sleepy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nā-ʿi-sun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نَاعِسُونَ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نَاعِسَةٌ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نَاعِسٌ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مُتْعَبٌ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tired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mut-ʿa-bun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مُتْعَبُونَ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مُتْعَبَةٌ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مُتْعَبٌ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مُنَبِّهٌ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 alarm clock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mu-nab-bi-hun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مُنَبِّهَاتٌ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مُنَبِّهٌ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4782312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782312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frequency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عَادَةً · أَحْيَانًا</a:t>
            </a:r>
            <a:endParaRPr lang="ar-SA" sz="3000" dirty="0"/>
          </a:p>
        </p:txBody>
      </p:sp>
      <p:sp>
        <p:nvSpPr>
          <p:cNvPr id="92" name="Text 89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usually · sometimes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ʿā-da-tan · aḥ-yā-nan</a:t>
            </a:r>
            <a:endParaRPr lang="en-US" sz="1350" dirty="0"/>
          </a:p>
        </p:txBody>
      </p:sp>
      <p:sp>
        <p:nvSpPr>
          <p:cNvPr id="93" name="Shape 9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time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0" name="Text 97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مُبَكِّرًا · مُتَأَخِّرًا</a:t>
            </a:r>
            <a:endParaRPr lang="ar-SA" sz="3000" dirty="0"/>
          </a:p>
        </p:txBody>
      </p:sp>
      <p:sp>
        <p:nvSpPr>
          <p:cNvPr id="101" name="Text 98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early · late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mu-bak-ki-ran · mu-ta-ʾakh-khi-ran</a:t>
            </a:r>
            <a:endParaRPr lang="en-US" sz="1350" dirty="0"/>
          </a:p>
        </p:txBody>
      </p:sp>
      <p:sp>
        <p:nvSpPr>
          <p:cNvPr id="102" name="Text 9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“When do you wake up?”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تَسْتَيْقِظُ؟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أَسْتَيْقِظُ فِي السَّاعَةِ السَّابِعَةِ.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wake up at seven o’clock.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أَسْتَيْقِظُ فِي السَّاعَةِ السَّابِعَةِ، لِأَنَّ المَدْرَسَةَ تَبْدَأُ مُبَكِّرًا.</a:t>
            </a:r>
            <a:endParaRPr lang="ar-SA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because school starts early.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وَعَادَةً أَتَنَاوَلُ الفُطُورَ مَعَ أُخْتِي، ثُمَّ أَسْتَقِلُّ الحَافِلَةَ.</a:t>
            </a:r>
            <a:endParaRPr lang="ar-SA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usually I have breakfast with my sister, then I take the bus.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أَمْسِ اسْتَيْقَظْتُ مُتَأَخِّرًا، فَفِي رَأْيِي المُنَبِّهُ ضَرُورِيٌّ!</a:t>
            </a:r>
            <a:endParaRPr lang="ar-SA" sz="26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yesterday I woke up late — in my opinion an alarm is essential!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عَادَةً / فِي السَّاعَةِ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لِأَنَّهُ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أَتَنَاوَلُ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تَتَنَاوَلُ فِي الفُطُورِ؟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وَأَصِلُ فِي السَّاعَةِ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أَذْهَبُ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تَذْهَبُ إِلَى المَدْرَسَةِ؟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ثُمَّ … / أَمْسِ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لِأَنِّي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بَعْدَ المَدْرَسَةِ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بَعْدَ المَدْرَسَةِ؟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 نِهَايَةِ الأُسْبُوعِ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لِأَنِّي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أَنَامُ فِي السَّاعَةِ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تَنَامُ؟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Staying the night at your friend’s house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لَيْلَةٌ عِنْدَ صَدِيقِي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← أَنَامُ فِي السَّاعَةِ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when you usually go to bed.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مَتَى تَنَامُ عَادَةً؟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← أَسْتَيْقِظُ فِي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when you wake up.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وَمَتَى تَسْتَيْقِظُ؟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← أَتَنَاوَلُ … وَ…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have for breakfast.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تَتَنَاوَلُ فِي الفُطُورِ؟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نَعَمْ، هَلْ يُمْكِنُ أَنْ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for something you need.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تَحْتَاجُ إِلَى شَيْءٍ؟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+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سَتَذْهَبُ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←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سَأَذْهَبُ بِالحَافِلَةِ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… (future)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(future).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سَتَذْهَبُ إِلَى البَيْتِ غَدًا؟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guest · Leader = your friend’s mother or father.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Interview for a school exchange in Jordan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مُقَابَلَةٌ لِتَبَادُلٍ مَدْرَسِيٍّ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normal day (sequence).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لِي يَوْمًا عَادِيًّا فِي حَيَاتِكَ.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your favourite time of day, with a reason.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الوَقْتُ المُفَضَّلُ عِنْدَكَ فِي اليَوْمِ؟ وَلِمَاذَا؟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one question about the school day in Jordan.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الأُرْدُنِّ تَبْدَأُ المَدْرَسَةُ فِي السَّاعَةِ السَّابِعَةِ وَالنِّصْفِ.</a:t>
            </a:r>
            <a:endParaRPr lang="ar-SA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did last Saturday (past).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فَعَلْتَ يَوْمَ السَّبْتِ المَاضِي؟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 + comparison).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سَيَتَغَيَّرُ رُوتِينُكَ فِي الأُرْدُنِّ؟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student applying for the exchange · Leader = the exchange coordinator.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تَذْهَبُ؟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do you arrive at school?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تَصِلُ إِلَى المَدْرَسَةِ؟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you energetic in the morning?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أَنْتَ نَشِيطٌ فِي الصَّبَاحِ؟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فَعَلْتَ أَمْسِ؟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get ready for school at night?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تَسْتَعِدُّ لِلْمَدْرَسَةِ فِي اللَّيْلِ؟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تُفَضِّلُ؟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difference between a school day and a day off?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 يَوْمِ المَدْرَسَةِ وَيَوْمِ العُطْلَةِ؟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فِي رَأْيِكَ؟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a routine important for students?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الرُّوتِينُ مُهِمٌّ لِلطُّلَّابِ؟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الَّذِي سَيَتَغَيَّرُ؟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will your routine be like in ten years?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سَيَكُونُ رُوتِينُكَ بَعْدَ عَشْرِ سَنَوَاتٍ؟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my school day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يَوْمِي المَدْرَسِيُّ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your school day from morning to night: times, what you do, how you feel — and one thing you did differently yesterday.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four times and four verbs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أَسْتَيْقِظُ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أَتَنَاوَلُ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أَصِلُ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أَنَامُ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 / بَعْدَ ذٰلِكَ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, how you feel and how often.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today, yesterday and next weekend; one opinion about your routine.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الصَّبَاحِ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the morning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 · بَعْدَ ذٰلِكَ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then · after that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yesterday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finish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said times correctly (fī as-sāʿati + the hour)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sequence and frequency words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عَادَةً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أَنَامُ عَادَةً فِي السَّاعَةِ العَاشِرَةِ.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usually go to bed at ten.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مَتَى تَنَامُ عَادَةً؟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أَسْتَيْقِظُ فِي السَّاعَةِ السَّابِعَةِ وَالنِّصْفِ.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wake up at half past seven.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وَمَتَى تَسْتَيْقِظُ؟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أَتَنَاوَلُ البَيْضَ وَالخُبْزَ، وَأَشْرَبُ الحَلِيبَ.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have eggs and bread, and I drink milk.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تَتَنَاوَلُ فِي الفُطُورِ؟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هَلْ يُمْكِنُ أَنْ أَسْتَعْمِلَ المُنَبِّهَ، مِنْ فَضْلِكِ؟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could I use the alarm clock, please?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تَحْتَاجُ إِلَى شَيْءٍ؟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سَأَذْهَبُ بِالحَافِلَةِ فِي السَّاعَةِ العَاشِرَةِ.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go by bus at ten o’clock.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سَتَذْهَبُ إِلَى البَيْتِ غَدًا؟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أَسْتَيْقِظُ فِي السَّابِعَةِ، ثُمَّ أَسْتَقِلُّ الحَافِلَةَ، وَأَصِلُ إِلَى المَدْرَسَةِ فِي الثَّامِنَةِ وَالرُّبْعِ.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wake at seven, then take the bus, and I arrive at school at quarter past eight.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لِي يَوْمًا عَادِيًّا فِي حَيَاتِكَ.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المَسَاءَ، لِأَنِّي أَرْتَاحُ وَأَقْرَأُ بَعْدَ الوَاجِبَاتِ.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the evening, because I relax and read after homework.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الوَقْتُ المُفَضَّلُ عِنْدَكَ فِي اليَوْمِ؟ وَلِمَاذَا؟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وَمَتَى تَنْتَهِي المَدْرَسَةُ هُنَاكَ؟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when does school finish there?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الأُرْدُنِّ تَبْدَأُ المَدْرَسَةُ فِي السَّاعَةِ السَّابِعَةِ وَالنِّصْفِ.</a:t>
            </a:r>
            <a:endParaRPr lang="ar-SA" sz="145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اسْتَيْقَظْتُ مُتَأَخِّرًا، ثُمَّ لَعِبْتُ كُرَةَ القَدَمِ مَعَ أَصْدِقَائِي فِي الحَدِيقَةِ.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woke up late, then played football with my friends in the park.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فَعَلْتَ يَوْمَ السَّبْتِ المَاضِي؟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سَأَسْتَيْقِظُ أَبْكَرَ مِنَ الآنَ، لٰكِنِّي سَأَنَامُ مُبَكِّرًا أَيْضًا، فَلَنْ أَكُونَ مُتْعَبًا.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wake up earlier than now, but I will also go to bed early, so I won’t be tired.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سَيَتَغَيَّرُ رُوتِينُكَ فِي الأُرْدُنِّ؟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أَنَا نَاعِسٌ فِي الصَّبَاحِ، لِأَنِّي أَنَامُ مُتَأَخِّرًا؛ مَثَلًا أَمْسِ نِمْتُ فِي السَّاعَةِ الحَادِيَةَ عَشْرَةَ، وَمِنَ الآنَ سَأَنَامُ أَبْكَرَ.</a:t>
            </a:r>
            <a:endParaRPr lang="ar-SA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no, I’m sleepy · R: I go to bed late · E: last night at eleven · T: from now on I’ll sleep earlier.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أَنْتَ نَشِيطٌ فِي الصَّبَاحِ؟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يَوْمِ المَدْرَسَةِ أَسْتَيْقِظُ مُبَكِّرًا، بَيْنَمَا أَسْتَيْقِظُ فِي العُطْلَةِ فِي العَاشِرَةِ، لِأَنِّي أُحِبُّ النَّوْمَ؛ وَيَوْمَ الأَحَدِ القَادِمِ سَأَزُورُ جَدَّتِي.</a:t>
            </a:r>
            <a:endParaRPr lang="ar-SA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early on school days, ten on holidays · R: I love sleeping · T: next Sunday I will visit my grandmother.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 يَوْمِ المَدْرَسَةِ وَيَوْمِ العُطْلَةِ؟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رَأْيِي الرُّوتِينُ مُهِمٌّ جِدًّا، لِأَنَّهُ يُسَاعِدُنَا عَلَى التَّنْظِيمِ؛ عِنْدَمَا كُنْتُ صَغِيرًا لَمْ يَكُنْ عِنْدِي رُوتِينٌ، فَكُنْتُ أَنْسَى وَاجِبَاتِي كَثِيرًا.</a:t>
            </a:r>
            <a:endParaRPr lang="ar-SA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+ opinion: very important · R: it helps us organise · E/T: when I was little I had no routine, so I often forgot my homework.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الرُّوتِينُ مُهِمٌّ لِلطُّلَّابِ؟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AT-A-L01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AT-A-L01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AT-A-L01 · Speaking Practice Room — Time and Daily Routine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2026-10-25T13:59:15Z</dcterms:created>
  <dcterms:modified xsi:type="dcterms:W3CDTF">2026-10-25T13:59:15Z</dcterms:modified>
</cp:coreProperties>
</file>