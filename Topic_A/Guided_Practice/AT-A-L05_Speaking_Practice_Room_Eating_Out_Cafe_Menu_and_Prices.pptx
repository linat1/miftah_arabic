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PRACTICE ROOM AT A GLANCE — 55–60 minutes; about 8 minutes in the main room, about 40 minutes in breakout rooms of three, about 8 minutes back together.
0–2 Welcome · 2–6 How the room works (roles, rules) · then ROOMS: Step 1 Word warm-up (5) · Step 2 The answer ladder (8) · Step 3 Role plays 1 and 2 (14) · Step 4 Topic conversation with A-R-E-T (8) · Step 5 One-minute talk (5) · back in the main room: Check yourself (6) · Self-check + close (3).
PURPOSE: students practise ON THEIR OWN with a clear structure. The teacher visits each room (about 3 minutes per room), listens, and gives one live correction per student.
CONTENT: Advanced Topic A · Everyday Activities, Lesson 5 (Eating Out — Café, Menu and Prices, AT-A-L05) — new role plays and questions (not the ones in the Exam Practice workshop), using the lesson’s language (polite requests (urīdu · aʿṭinī · hal yumkinu an); imperatives; attached pronouns (-hu / -hā); numbers and prices (kam thamanu …?)).
SET-UP: rooms of three (same-level rooms keep the routes simple). Share this deck or its PDF in the chat so every room can follow the steps. Post the step timings in the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show the route through the steps. Students keep this slide in mind: the step number is always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ROOM WORKS (3 min, main room). Model the three roles quickly with two volunteers using one question. Stress: the Coach is not a judge — one WWW, one EBI, kind and specific. Then open the breakout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(5 min in rooms). The vocab slides that follow are the reference. Teacher: visit the first room straight away to model the 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the Leader picks the English, the Speaker gives the Arabic.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(read together for 2 min). Each level ADDS one thing. Core aims for level 2, Develop for level 3, Stretch for level 4.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(6 min). The cells are STARTERS, not full answers. Core: questions 1–2 to level 2. Develop: all four to level 3. Stretch: level 4 with an opinion or another time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introduction (2 min). Role play 1 shows the plan column filled in; for role play 2 students write it themselves. This is the fading: by the exam, they plan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1 (Core · Develop) — SUPPORTED: the plan column models the thinking (question word → tense → first words), NOT the full answer.
ROOM ROUTINE: Leader reads the left column in order · Speaker answers · Coach ticks the checklist (step 5 slide) and gives one WWW + one EBI · swap so that everyone is Speaker once.
To a girl the Leader says: تُرِيدِينَ · تَشْرَبِي · تَدْفَعِينَ.
Language: urīdu · aʿṭinī (give me) · kami al-ḥisābu? · numbers + tamyīz (ʿishrūna dirhaman) · nqdan / bi-l-biṭāqa.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2 (Develop · Stretch) — FADED SUPPORT: students now write their own plan column — exactly what they will do in the exam in their preparation time.
ROOM ROUTINE: Leader reads the left column in order · Speaker answers · Coach ticks the checklist (step 5 slide) and gives one WWW + one EBI · swap so that everyone is Speaker once.
To a girl the Leader says: أُسَاعِدُكِ · تَفَضَّلِي · سَتَرْجِعِينَ.
Language: aẓunnu anna … · the dual ṭabaqay (two plates) · numbers + plural · contrast lākinna · hal yumkinu an tuʿṭiyanī …? · idhā … (Stretch).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introduction (2 min). Show one answer growing link by link, then open the conversation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min). Leaders choose questions that suit the Speaker: Core questions first, then move up. The follow-up column trains extended answers — exactly what the conversation part of the exam rewards.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(5 min). A monologue builds fluency for the conversation.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Coach keeps this slide open during Steps 2–5. Back in the main room, ask each room for its best WWW.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Read one aloud together; students say which A-R-E-T link they will add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A · GUIDED PRACTICE  ·  AT-A-L05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AT-A-L05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Practice Room — Eating Out</a:t>
            </a:r>
            <a:endParaRPr lang="en-US" sz="2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التَّحَدُّثِ — فِي المَطْعَمِ وَالمَقْهَى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run their own speaking practice in breakout rooms: a word warm-up, the answer ladder, two new role plays (ordering at a juice bar, a problem with a restaurant bill), a topic conversation with A-R-E-T, and a one-minute talk about a restaurant they know.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AT-A-L05 · Advanced Topic A · Everyday Activities · guided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A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A › AT-A-L05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ROOM PLAN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Five steps — you run them yourselves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14223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4223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1: word warm-up.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الكَلِمَاتُ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357628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467356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503932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503932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042666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042666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485644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2: climb the answer ladder.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449068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السُّلَّمُ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4258056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367784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404360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404360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9430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9430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386072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3: two role plays (planned, then you plan).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349496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6158484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268212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304788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304788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8435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435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6286500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4: topic conversation, A-R-E-T.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6249924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8058912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8168640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05216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8205216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743950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4395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8186928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5: one-minute talk.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8150352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دَقِيقَةٌ وَاحِدَةٌ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995934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1006906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10564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1010564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1064437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64437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1008735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1005078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Text 61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ROOM RUNS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Everybody speaks in every step. Swap roles each time: Leader → Speaker → Coach. If you finish early, do the step again with the Stretch route.</a:t>
            </a:r>
            <a:endParaRPr lang="en-US" sz="125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BEFORE THE ROOMS · HOW YOUR ROOM WORKS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Three roles, four rules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نَعْمَلُ فِي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ROLES (SWAP AFTER EVERY TASK)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 — opens the next step, keeps the time, and reads the examiner’s questions.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— answers in full Arabic sentences. Plan for a few seconds, then speak.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— listens with the checklist, then gives one WWW (what went well) and one EBI (even better if).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RULES: Arabic only in the tasks · full sentences · no silence (use a repair phrase) · everyone speaks in every step.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ROOM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1 · WORD WARM-UP · 5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Say it — then use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قُلْهَا وَاسْتَعْمِلْهَا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🔤  Word ping-pong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Leader says a word in ENGLISH from the next two slides. The Speaker says it in ARABIC, then uses it in a short sentence about themselves. The Coach checks the Arabic on the slide.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Leader: say 4 English words; Speaker answers in Arabic + one sentence each.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checks the word and the ending (I / he / she / they).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roles — new words each time.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say the he / she form of each verb.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word, then a simple sentence: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when or how often: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كُلَّ يَوْمٍ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مَرَّتَيْنِ فِي الأُسْبُوعِ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Use two words in one sentence with a reason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أَعِدْ مِنْ فَضْلِكَ / أَعِيدِي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repeat please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 / تَكَلَّمِي أَكْثَرَ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(1)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Ordering and paying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الطَّلَبُ وَالدَّفْعُ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أَطْلُبُ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order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aṭ-lu-bu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يَطْلُبُونَ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تَطْلُبُ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يَطْلُبُ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أَدْفَعُ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pay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ad-fa-ʿu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يَدْفَعُونَ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تَدْفَعُ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يَدْفَعُ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أَحْجِزُ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book, reserve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aḥ-ji-zu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62" name="Text 59"/>
          <p:cNvSpPr txBox="1"/>
          <p:nvPr/>
        </p:nvSpPr>
        <p:spPr>
          <a:xfrm>
            <a:off x="2944368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يَحْجِزُونَ</a:t>
            </a:r>
            <a:endParaRPr lang="ar-SA" sz="1350" dirty="0"/>
          </a:p>
        </p:txBody>
      </p:sp>
      <p:sp>
        <p:nvSpPr>
          <p:cNvPr id="63" name="Shape 60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تَحْجِزُ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يَحْجِزُ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604504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604504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أَعْطِنِي …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give me … (imperative)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aʿ-ṭi-nī …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to pl.</a:t>
            </a:r>
            <a:endParaRPr lang="en-US" sz="700" dirty="0"/>
          </a:p>
        </p:txBody>
      </p:sp>
      <p:sp>
        <p:nvSpPr>
          <p:cNvPr id="80" name="Text 77"/>
          <p:cNvSpPr txBox="1"/>
          <p:nvPr/>
        </p:nvSpPr>
        <p:spPr>
          <a:xfrm>
            <a:off x="10588752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أَعْطُونِي</a:t>
            </a:r>
            <a:endParaRPr lang="ar-SA" sz="1350" dirty="0"/>
          </a:p>
        </p:txBody>
      </p:sp>
      <p:sp>
        <p:nvSpPr>
          <p:cNvPr id="81" name="Shape 78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to f.</a:t>
            </a:r>
            <a:endParaRPr lang="en-US" sz="700" dirty="0"/>
          </a:p>
        </p:txBody>
      </p:sp>
      <p:sp>
        <p:nvSpPr>
          <p:cNvPr id="83" name="Text 80"/>
          <p:cNvSpPr txBox="1"/>
          <p:nvPr/>
        </p:nvSpPr>
        <p:spPr>
          <a:xfrm>
            <a:off x="9436608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أَعْطِينِي</a:t>
            </a:r>
            <a:endParaRPr lang="ar-SA" sz="1350" dirty="0"/>
          </a:p>
        </p:txBody>
      </p:sp>
      <p:sp>
        <p:nvSpPr>
          <p:cNvPr id="84" name="Shape 81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to m.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8284464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أَعْطِنِي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8" name="Shape 85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4782312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782312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92" name="Shape 89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4" name="Text 91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نَادِلٌ</a:t>
            </a:r>
            <a:endParaRPr lang="ar-SA" sz="3000" dirty="0"/>
          </a:p>
        </p:txBody>
      </p:sp>
      <p:sp>
        <p:nvSpPr>
          <p:cNvPr id="95" name="Text 92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waiter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nā-di-lun</a:t>
            </a:r>
            <a:endParaRPr lang="en-US" sz="1350" dirty="0"/>
          </a:p>
        </p:txBody>
      </p:sp>
      <p:sp>
        <p:nvSpPr>
          <p:cNvPr id="96" name="Shape 93"/>
          <p:cNvSpPr/>
          <p:nvPr/>
        </p:nvSpPr>
        <p:spPr>
          <a:xfrm>
            <a:off x="672084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677570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98" name="Text 95"/>
          <p:cNvSpPr txBox="1"/>
          <p:nvPr/>
        </p:nvSpPr>
        <p:spPr>
          <a:xfrm>
            <a:off x="676656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نُدُلٌ</a:t>
            </a:r>
            <a:endParaRPr lang="ar-SA" sz="1500" dirty="0"/>
          </a:p>
        </p:txBody>
      </p:sp>
      <p:sp>
        <p:nvSpPr>
          <p:cNvPr id="99" name="Shape 96"/>
          <p:cNvSpPr/>
          <p:nvPr/>
        </p:nvSpPr>
        <p:spPr>
          <a:xfrm>
            <a:off x="5568696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5623560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101" name="Text 98"/>
          <p:cNvSpPr txBox="1"/>
          <p:nvPr/>
        </p:nvSpPr>
        <p:spPr>
          <a:xfrm>
            <a:off x="5614416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نَادِلَةٌ</a:t>
            </a:r>
            <a:endParaRPr lang="ar-SA" sz="1500" dirty="0"/>
          </a:p>
        </p:txBody>
      </p:sp>
      <p:sp>
        <p:nvSpPr>
          <p:cNvPr id="102" name="Shape 99"/>
          <p:cNvSpPr/>
          <p:nvPr/>
        </p:nvSpPr>
        <p:spPr>
          <a:xfrm>
            <a:off x="441655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447141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104" name="Text 101"/>
          <p:cNvSpPr txBox="1"/>
          <p:nvPr/>
        </p:nvSpPr>
        <p:spPr>
          <a:xfrm>
            <a:off x="446227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نَادِلٌ</a:t>
            </a:r>
            <a:endParaRPr lang="ar-SA" sz="1500" dirty="0"/>
          </a:p>
        </p:txBody>
      </p:sp>
      <p:sp>
        <p:nvSpPr>
          <p:cNvPr id="105" name="Shape 102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06" name="Shape 103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07" name="Text 104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108" name="Shape 105"/>
          <p:cNvSpPr/>
          <p:nvPr/>
        </p:nvSpPr>
        <p:spPr>
          <a:xfrm>
            <a:off x="960120" y="4279392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960120" y="4279392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dual · pl.</a:t>
            </a:r>
            <a:endParaRPr lang="en-US" sz="800" dirty="0"/>
          </a:p>
        </p:txBody>
      </p:sp>
      <p:sp>
        <p:nvSpPr>
          <p:cNvPr id="110" name="Shape 107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1" name="Text 108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12" name="Text 109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مَطْعَمٌ</a:t>
            </a:r>
            <a:endParaRPr lang="ar-SA" sz="3000" dirty="0"/>
          </a:p>
        </p:txBody>
      </p:sp>
      <p:sp>
        <p:nvSpPr>
          <p:cNvPr id="113" name="Text 110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restaurant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maṭ-ʿa-mun</a:t>
            </a:r>
            <a:endParaRPr lang="en-US" sz="1350" dirty="0"/>
          </a:p>
        </p:txBody>
      </p:sp>
      <p:sp>
        <p:nvSpPr>
          <p:cNvPr id="114" name="Shape 111"/>
          <p:cNvSpPr/>
          <p:nvPr/>
        </p:nvSpPr>
        <p:spPr>
          <a:xfrm>
            <a:off x="289864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5" name="Text 112"/>
          <p:cNvSpPr txBox="1"/>
          <p:nvPr/>
        </p:nvSpPr>
        <p:spPr>
          <a:xfrm>
            <a:off x="295351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16" name="Text 113"/>
          <p:cNvSpPr txBox="1"/>
          <p:nvPr/>
        </p:nvSpPr>
        <p:spPr>
          <a:xfrm>
            <a:off x="294436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مَطَاعِمُ</a:t>
            </a:r>
            <a:endParaRPr lang="ar-SA" sz="1500" dirty="0"/>
          </a:p>
        </p:txBody>
      </p:sp>
      <p:sp>
        <p:nvSpPr>
          <p:cNvPr id="117" name="Shape 114"/>
          <p:cNvSpPr/>
          <p:nvPr/>
        </p:nvSpPr>
        <p:spPr>
          <a:xfrm>
            <a:off x="174650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8" name="Text 115"/>
          <p:cNvSpPr txBox="1"/>
          <p:nvPr/>
        </p:nvSpPr>
        <p:spPr>
          <a:xfrm>
            <a:off x="180136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dual</a:t>
            </a:r>
            <a:endParaRPr lang="en-US" sz="700" dirty="0"/>
          </a:p>
        </p:txBody>
      </p:sp>
      <p:sp>
        <p:nvSpPr>
          <p:cNvPr id="119" name="Text 116"/>
          <p:cNvSpPr txBox="1"/>
          <p:nvPr/>
        </p:nvSpPr>
        <p:spPr>
          <a:xfrm>
            <a:off x="1792224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مَطْعَمَانِ</a:t>
            </a:r>
            <a:endParaRPr lang="ar-SA" sz="1350" dirty="0"/>
          </a:p>
        </p:txBody>
      </p:sp>
      <p:sp>
        <p:nvSpPr>
          <p:cNvPr id="120" name="Shape 117"/>
          <p:cNvSpPr/>
          <p:nvPr/>
        </p:nvSpPr>
        <p:spPr>
          <a:xfrm>
            <a:off x="59436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21" name="Text 118"/>
          <p:cNvSpPr txBox="1"/>
          <p:nvPr/>
        </p:nvSpPr>
        <p:spPr>
          <a:xfrm>
            <a:off x="64922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122" name="Text 119"/>
          <p:cNvSpPr txBox="1"/>
          <p:nvPr/>
        </p:nvSpPr>
        <p:spPr>
          <a:xfrm>
            <a:off x="64008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مَطْعَمٌ</a:t>
            </a:r>
            <a:endParaRPr lang="ar-SA" sz="1500" dirty="0"/>
          </a:p>
        </p:txBody>
      </p:sp>
      <p:sp>
        <p:nvSpPr>
          <p:cNvPr id="123" name="Text 120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(2)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Menus, bills and prices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القَائِمَةُ وَالأَسْعَارُ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idāfa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قَائِمَةُ الطَّعَامِ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menu (idāfa)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qā-ʾi-ma-tu aṭ-ṭa-ʿā-mi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782312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782312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الحِسَابُ · الفَاتُورَةُ</a:t>
            </a:r>
            <a:endParaRPr lang="ar-SA" sz="3000" dirty="0"/>
          </a:p>
        </p:txBody>
      </p:sp>
      <p:sp>
        <p:nvSpPr>
          <p:cNvPr id="32" name="Text 29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bill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al-ḥi-sā-bu · al-fā-tū-ra-tu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35" name="Text 32"/>
          <p:cNvSpPr txBox="1"/>
          <p:nvPr/>
        </p:nvSpPr>
        <p:spPr>
          <a:xfrm>
            <a:off x="6190488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فَوَاتِيرُ</a:t>
            </a:r>
            <a:endParaRPr lang="ar-SA" sz="1500" dirty="0"/>
          </a:p>
        </p:txBody>
      </p:sp>
      <p:sp>
        <p:nvSpPr>
          <p:cNvPr id="36" name="Shape 33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38" name="Text 35"/>
          <p:cNvSpPr txBox="1"/>
          <p:nvPr/>
        </p:nvSpPr>
        <p:spPr>
          <a:xfrm>
            <a:off x="4462272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فَاتُورَةٌ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960120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60120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6" name="Text 43"/>
          <p:cNvSpPr txBox="1"/>
          <p:nvPr/>
        </p:nvSpPr>
        <p:spPr>
          <a:xfrm>
            <a:off x="566928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ثَمَنُ …؟</a:t>
            </a:r>
            <a:endParaRPr lang="ar-SA" sz="3000" dirty="0"/>
          </a:p>
        </p:txBody>
      </p:sp>
      <p:sp>
        <p:nvSpPr>
          <p:cNvPr id="47" name="Text 44"/>
          <p:cNvSpPr txBox="1"/>
          <p:nvPr/>
        </p:nvSpPr>
        <p:spPr>
          <a:xfrm>
            <a:off x="594360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much is …?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kam tha-ma-nu …?</a:t>
            </a:r>
            <a:endParaRPr lang="en-US" sz="1350" dirty="0"/>
          </a:p>
        </p:txBody>
      </p:sp>
      <p:sp>
        <p:nvSpPr>
          <p:cNvPr id="48" name="Shape 45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604504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604504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numbers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5" name="Text 52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دِينَارٌ</a:t>
            </a:r>
            <a:endParaRPr lang="ar-SA" sz="3000" dirty="0"/>
          </a:p>
        </p:txBody>
      </p:sp>
      <p:sp>
        <p:nvSpPr>
          <p:cNvPr id="56" name="Text 53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dinar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dī-nā-run</a:t>
            </a:r>
            <a:endParaRPr lang="en-US" sz="1350" dirty="0"/>
          </a:p>
        </p:txBody>
      </p:sp>
      <p:sp>
        <p:nvSpPr>
          <p:cNvPr id="57" name="Shape 54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3–10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10588752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دَنَانِيرُ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دِينَارَانِ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دِينَارٌ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4782312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4782312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3" name="Text 70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رَخِيصٌ</a:t>
            </a:r>
            <a:endParaRPr lang="ar-SA" sz="3000" dirty="0"/>
          </a:p>
        </p:txBody>
      </p:sp>
      <p:sp>
        <p:nvSpPr>
          <p:cNvPr id="74" name="Text 71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cheap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ra-khī-ṣun</a:t>
            </a:r>
            <a:endParaRPr lang="en-US" sz="1350" dirty="0"/>
          </a:p>
        </p:txBody>
      </p:sp>
      <p:sp>
        <p:nvSpPr>
          <p:cNvPr id="75" name="Shape 72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77" name="Text 74"/>
          <p:cNvSpPr txBox="1"/>
          <p:nvPr/>
        </p:nvSpPr>
        <p:spPr>
          <a:xfrm>
            <a:off x="6190488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رَخِيصَةٌ</a:t>
            </a:r>
            <a:endParaRPr lang="ar-SA" sz="1500" dirty="0"/>
          </a:p>
        </p:txBody>
      </p:sp>
      <p:sp>
        <p:nvSpPr>
          <p:cNvPr id="78" name="Shape 75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رَخِيصٌ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2" name="Shape 79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960120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960120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</a:t>
            </a:r>
            <a:endParaRPr lang="en-US" sz="800" dirty="0"/>
          </a:p>
        </p:txBody>
      </p:sp>
      <p:sp>
        <p:nvSpPr>
          <p:cNvPr id="86" name="Shape 83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8" name="Text 85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غَالٍ</a:t>
            </a:r>
            <a:endParaRPr lang="ar-SA" sz="3000" dirty="0"/>
          </a:p>
        </p:txBody>
      </p:sp>
      <p:sp>
        <p:nvSpPr>
          <p:cNvPr id="89" name="Text 86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expensive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ghā-lin</a:t>
            </a:r>
            <a:endParaRPr lang="en-US" sz="1350" dirty="0"/>
          </a:p>
        </p:txBody>
      </p:sp>
      <p:sp>
        <p:nvSpPr>
          <p:cNvPr id="90" name="Shape 87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92" name="Text 89"/>
          <p:cNvSpPr txBox="1"/>
          <p:nvPr/>
        </p:nvSpPr>
        <p:spPr>
          <a:xfrm>
            <a:off x="2368296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غَالِيَةٌ</a:t>
            </a:r>
            <a:endParaRPr lang="ar-SA" sz="1500" dirty="0"/>
          </a:p>
        </p:txBody>
      </p:sp>
      <p:sp>
        <p:nvSpPr>
          <p:cNvPr id="93" name="Shape 90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95" name="Text 92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غَالٍ</a:t>
            </a:r>
            <a:endParaRPr lang="ar-SA" sz="1500" dirty="0"/>
          </a:p>
        </p:txBody>
      </p:sp>
      <p:sp>
        <p:nvSpPr>
          <p:cNvPr id="96" name="Text 9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2 · THE ANSWER LADDER · HOW A SHORT ANSWER BECOMES A STRONG ONE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Climb the ladder: “Which restaurant do you prefer?”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المَطْعَمُ الَّذِي تُفَضِّلُهُ؟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201400" y="2123694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201400" y="21236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1847088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مَطْعَمًا لُبْنَانِيًّا قَرِيبًا مِنْ بَيْتِي.</a:t>
            </a:r>
            <a:endParaRPr lang="ar-SA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1856232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1 · Answer in a full sentence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prefer a Lebanese restaurant near my home.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2967228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201400" y="3280410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201400" y="328041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3003804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2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مَطْعَمًا لُبْنَانِيًّا قَرِيبًا مِنْ بَيْتِي، لِأَنَّ الطَّعَامَ لَذِيذٌ وَرَخِيصٌ.</a:t>
            </a:r>
            <a:endParaRPr lang="ar-SA" sz="225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3012948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2 · + a reason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because the food is tasty and cheap.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57200" y="4123944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201400" y="4437126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201400" y="44371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160520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وَعَادَةً أَطْلُبُ الشَّاوِرْمَا، وَثَمَنُهَا خَمْسَةُ جُنَيْهَاتٍ فَقَطْ.</a:t>
            </a:r>
            <a:endParaRPr lang="ar-SA" sz="260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4169664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3 · + a detail (time, frequency, example)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I usually order shawarma, and it costs only five pounds.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57200" y="5280660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11201400" y="5593842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201400" y="5593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0" y="5317236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وَيَوْمَ السَّبْتِ سَأَحْتَفِلُ هُنَاكَ بِعِيدِ مِيلَادِي، فَهُوَ فِي رَأْيِي أَفْضَلُ مَطْعَمٍ فِي المَدِينَةِ.</a:t>
            </a:r>
            <a:endParaRPr lang="ar-SA" sz="185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5326380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4 · + another time frame or an opinion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on Saturday I will celebrate my birthday there — in my opinion it is the best restaurant in town.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2 · YOUR TURN · CLIMB THE LADDER FOR EACH QUESTION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ladder: build each answer level by level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اصْعَدِ السُّلَّمَ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445752" y="181051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3–4 · + detail / time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06831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2 · + reason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1 · answer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64040" y="2267712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آخِرَ مَرَّةٍ …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22677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617720" y="22677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آكُلُ فِي مَطْعَمٍ …</a:t>
            </a:r>
            <a:endParaRPr lang="ar-SA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مَرَّةً تَأْكُلُ فِي مَطْعَمٍ؟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464040" y="3054096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وَثَمَنُهُ …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086600" y="305409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لِأَنَّهُ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617720" y="305409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أَطْلُبُ …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05409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تَطْلُبُ فِي المَقْهَى؟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309981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30998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464040" y="384048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لٰكِنْ أَحْيَانًا …</a:t>
            </a:r>
            <a:endParaRPr lang="ar-SA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708660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461772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تُفَضِّلُ الأَكْلَ فِي البَيْتِ أَمْ فِي المَطْعَمِ؟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626864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464040" y="4626864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وَفِي المَرَّةِ القَادِمَةِ …</a:t>
            </a:r>
            <a:endParaRPr lang="ar-SA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7086600" y="462686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4617720" y="462686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يَدْفَعُ الحِسَابَ</a:t>
            </a:r>
            <a:endParaRPr lang="ar-SA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62686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يَدْفَعُ الحِسَابَ عَادَةً؟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626864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Leader asks · Speaker climbs as high as they can · Coach says which level they reached. Swap for each question.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3 · ROLE PLAY · HOW TO USE YOUR 1 MINUTE OF PREPARATION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Plan a role-play card in one minute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خَطِّطْ فِي دَقِيقَةٍ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FOUR MOVES IN ONE MINUTE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WHO am I and WHO is the examiner? (formal or friendly · a man or a woman → your endings).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For each task, find the QUESTION WORD and the TENSE (past · present · future).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Plan only your FIRST 2–3 words for each task — not whole sentences.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Task ! is unexpected: listen for the question word, then answer in a full sentence.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QUESTION WORD → HOW TO START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…؟ ← رَقْمٌ + اسْمٌ</a:t>
            </a:r>
            <a:endParaRPr lang="ar-SA" sz="265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5511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→ a number + a noun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9582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14116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…؟ ← فِي السَّاعَةِ … / يَوْمَ …</a:t>
            </a:r>
            <a:endParaRPr lang="ar-SA" sz="265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85067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→ at … o’clock / on …day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1538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33672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…؟ ← لِأَنَّ …</a:t>
            </a:r>
            <a:endParaRPr lang="ar-SA" sz="265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804623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→ because …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995160" y="523494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40" name="Text 37"/>
          <p:cNvSpPr txBox="1"/>
          <p:nvPr/>
        </p:nvSpPr>
        <p:spPr>
          <a:xfrm>
            <a:off x="6949440" y="5253228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…؟ ← نَعَمْ / لَا + جُمْلَةٌ كَامِلَةٌ</a:t>
            </a:r>
            <a:endParaRPr lang="ar-SA" sz="2650" dirty="0"/>
          </a:p>
        </p:txBody>
      </p:sp>
      <p:sp>
        <p:nvSpPr>
          <p:cNvPr id="41" name="Text 38"/>
          <p:cNvSpPr txBox="1"/>
          <p:nvPr/>
        </p:nvSpPr>
        <p:spPr>
          <a:xfrm>
            <a:off x="6949440" y="5824179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yes/no question → yes / no + a full sentence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1 · CORE · DEVELOP · THE PLAN IS GIVEN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 — At the juice bar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مَحَلِّ العَصِيرِ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← أُرِيدُ عَصِيرَ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Order a juice.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 وَسَهْلًا! مَاذَا تُرِيدُ أَنْ تَشْرَبَ؟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 ← … ، مِنْ فَضْلِكَ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Choose the size.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صَغِيرٌ أَمْ كَبِيرٌ؟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75320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← نَعَمْ، أَعْطِنِي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Order something to eat.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تُرِيدُ شَيْئًا لِلْأَكْلِ؟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5320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← كَمِ الحِسَابُ؟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how much it costs.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حَاضِرٌ.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75320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 ← أَدْفَعُ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عِشْرُونَ دِرْهَمًا. هَلْ تَدْفَعُ نَقْدًا أَمْ بِالبِطَاقَةِ؟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customer · Leader = the waiter. Use the plan column in your 1 minute of preparation, then hide it and speak. Then swap roles.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2 · DEVELOP · STRETCH · PLAN IT YOURSELF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 — A problem with the bill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مُشْكِلَةٌ فِي الفَاتُورَةِ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 it: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3608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politely that there is a problem.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تَفَضَّلْ، كَيْفَ أُسَاعِدُكَ؟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93608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ordered and what is wrong.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المُشْكِلَةُ بِالضَّبْطِ؟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your opinion of the food, with a reason.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آسِفٌ جِدًّا. وَكَيْفَ كَانَ الطَّعَامُ؟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a polite question (e.g. a receipt, a discount).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سَأُغَيِّرُ الفَاتُورَةَ حَالًا.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 + condition).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سَتَرْجِعُ إِلَى مَطْعَمِنَا؟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customer who checks the bill · Leader = the restaurant manager. In your 1 minute, write the plan column in your book. Task ! : the Leader reads it without warning. Then swap roles.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4 · TOPIC CONVERSATION · KEEP THE ANSWER GOING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A-R-E-T: four links in every answer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سِلْسِلَةُ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3456432"/>
          </a:xfrm>
          <a:prstGeom prst="roundRect">
            <a:avLst>
              <a:gd name="adj" fmla="val 211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 · R · E · 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— ANSWER the question in a full sentence.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035808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292608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 — give a REASON: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/ لِذٰلِكَ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378561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367588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 — add an EXAMPLE or a detail: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 … / كُلَّ يَوْمٍ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45354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4425696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 — change the TIME: past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أَمْسِ / فِي المَاضِي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future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سَوْفَ / فِي المُسْتَقْبَلِ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COACH PUSHES WITH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1244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8820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06496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مِثْلَ مَاذَا؟</a:t>
            </a:r>
            <a:endParaRPr lang="ar-SA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73180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Like what?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0014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18432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المَاضِي؟ / وَفِي المُسْتَقْبَلِ؟</a:t>
            </a:r>
            <a:endParaRPr lang="ar-SA" sz="26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785116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in the past? / And in the future?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949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658368" y="546811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ROUTES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2606040" y="5449824"/>
            <a:ext cx="8961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Core: A + R. Develop: A + R + E. Stretch: all four, plus an opinion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a contrast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CONVERSATION CARD · THE LEADER ASKS, THE COACH PUSHES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Conversation: answer, then keep going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الأَكْلُ خَارِجَ البَيْتِ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177272" y="181051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91272" y="181051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Coach’s follow-up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23951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213848" y="226771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909560" y="226771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هُوَ؟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276088" y="226771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favourite restaurant called?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اسْمُ مَطْعَمِكَ المُفَضَّلِ؟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213848" y="2881884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909560" y="2881884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هِيَ رَخِيصَةٌ؟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276088" y="2881884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much is a meal in the school canteen?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ثَمَنُ وَجْبَةٍ فِي مَقْصَفِ المَدْرَسَةِ؟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213848" y="3496056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909560" y="3496056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طَلَبْتَ؟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5276088" y="3496056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did you last eat in a restaurant?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أَكَلْتَ فِي مَطْعَمٍ آخِرَ مَرَّةٍ؟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213848" y="4110228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7909560" y="4110228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أَيُّهُمَا تُفَضِّلُ؟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276088" y="4110228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the difference between a café and a restaurant?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110228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الفَرْقُ بَيْنَ المَقْهَى وَالمَطْعَمِ؟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213848" y="4724400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909560" y="4724400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الحَلُّ؟</a:t>
            </a:r>
            <a:endParaRPr lang="ar-SA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5276088" y="4724400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eating out too expensive today?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1051560" y="4724400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الأَكْلُ فِي المَطَاعِمِ غَالٍ جِدًّا اليَوْمَ؟</a:t>
            </a:r>
            <a:endParaRPr lang="ar-SA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213848" y="533857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7909560" y="533857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5276088" y="533857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were a waiter, how would you deal with an angry customer?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1051560" y="533857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كُنْتَ نَادِلًا، كَيْفَ تَتَعَامَلُ مَعَ زَبُونٍ غَاضِبٍ؟</a:t>
            </a:r>
            <a:endParaRPr lang="ar-SA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Each Speaker answers three questions (one per route if you can), using A-R-E-T. The Coach asks the follow-up. Swap.</a:t>
            </a:r>
            <a:endParaRPr lang="en-US" sz="1150" dirty="0"/>
          </a:p>
        </p:txBody>
      </p:sp>
      <p:sp>
        <p:nvSpPr>
          <p:cNvPr id="62" name="Text 5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THE ONE-MINUTE TALK · RECORD AND REVIEW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One minute: a restaurant I know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مَطْعَمٌ أَعْرِفُهُ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5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one minute — no stopping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Talk for one minute about a café or restaurant you know: where it is, what is on the menu, prices, what you order — and your last visit.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jot 4 key words (one per bullet) —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Leader times it (record it on your phone or in Teams if you can).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Coach: tick the checklist on the next slide, then WWW + EBI.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Swap. Listen back to your recording at home and fix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the name, two dishes and one price (…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جُنَيْهَاتٍ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60 seconds: add what you usually order, why, and your last visit (past).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90 seconds: compare it with another place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أَرْخَصُ مِنْ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أَلَذُّ مِنْ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and recommend it with a reason.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قَائِمَةِ الطَّعَامِ …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 the menu …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ثَمَنُ … هُوَ …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price of … is …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آخِرَ مَرَّةٍ طَلَبْتُ …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last time I ordered …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أَنْصَحُكَ بِهِ لِأَنَّ …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recommend it because …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COACH · CHECKLIST FOR EVERY STEP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Coach: tick, then give WWW + EBI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المُدَرِّبِ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54112" y="181051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82512" y="1810512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705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Speaker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790688" y="226771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19088" y="226771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question / task in a FULL sentence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790688" y="2881884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419088" y="2881884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polite requests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… مِنْ فَضْلِكَ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أَعْطِنِي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…)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790688" y="3496056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419088" y="3496056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and a detail (time, frequency, example)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790688" y="4110228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419088" y="4110228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prices correctly (number + noun) and an opinion with a reason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790688" y="4724400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419088" y="4724400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changed the time frame (past or future) or gave an opinion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790688" y="533857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419088" y="533857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is kind and specific: “WWW: you used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twice. EBI: add a past sentence.”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عَصِيرَ المَانْجُو، مِنْ فَضْلِكَ.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would like a mango juice, please.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 وَسَهْلًا! مَاذَا تُرِيدُ أَنْ تَشْرَبَ؟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كَبِيرٌ، مِنْ فَضْلِكَ، وَمَعَ ثَلْجٍ.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Large, please, with ice.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صَغِيرٌ أَمْ كَبِيرٌ؟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أَعْطِنِي سَنْدَوِيشَ جُبْنٍ، مِنْ فَضْلِكَ.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give me a cheese sandwich, please.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تُرِيدُ شَيْئًا لِلْأَكْلِ؟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كَمِ الحِسَابُ، مِنْ فَضْلِكَ؟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much is the bill, please?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حَاضِرٌ.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أَدْفَعُ بِالبِطَاقَةِ، شُكْرًا.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will pay by card, thank you.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عِشْرُونَ دِرْهَمًا. هَلْ تَدْفَعُ نَقْدًا أَمْ بِالبِطَاقَةِ؟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21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أَظُنُّ أَنَّ هُنَاكَ خَطَأً فِي الفَاتُورَةِ.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Excuse me, I think there is a mistake in the bill.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تَفَضَّلْ، كَيْفَ أُسَاعِدُكَ؟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طَلَبْتُ طَبَقَيْ كُشَرِيٍّ فَقَطْ، لٰكِنَّ الفَاتُورَةَ فِيهَا ثَلَاثَةُ أَطْبَاقٍ.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ordered only two plates of koshari, but the bill has three.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المُشْكِلَةُ بِالضَّبْطِ؟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الكُشَرِيُّ لَذِيذًا جِدًّا، لٰكِنَّ الخِدْمَةَ كَانَتْ بَطِيئَةً قَلِيلًا.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koshari was delicious, but the service was a bit slow.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آسِفٌ جِدًّا. وَكَيْفَ كَانَ الطَّعَامُ؟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شُكْرًا، وَهَلْ يُمْكِنُ أَنْ تُعْطِيَنِي إِيصَالًا؟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Thank you — could you give me a receipt?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سَأُغَيِّرُ الفَاتُورَةَ حَالًا.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سَأَرْجِعُ إِذَا كَانَتِ الخِدْمَةُ أَسْرَعَ، لِأَنَّ الطَّعَامَ مُمْتَازٌ.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will come back if the service is faster, because the food is excellent.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سَتَرْجِعُ إِلَى مَطْعَمِنَا؟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21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CONVERSATION AND ONE-MINUTE TALK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Strong answers to compare with yours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نَمَاذِجُ لِلْمُقَارَنَةِ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ثَمَنُ الوَجْبَةِ ثَلَاثَةُ جُنَيْهَاتٍ، وَهِيَ رَخِيصَةٌ لِأَنَّ المَدْرَسَةَ تَدْعَمُهَا؛ عَادَةً آكُلُ المَعْكَرُونَةَ، وَغَدًا سَأُجَرِّبُ الطَّبَقَ الهِنْدِيَّ الجَدِيدَ.</a:t>
            </a:r>
            <a:endParaRPr lang="ar-SA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three pounds · R: cheap because the school supports it · E: I usually eat pasta · T: tomorrow I’ll try the new Indian dish.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ثَمَنُ وَجْبَةٍ فِي مَقْصَفِ المَدْرَسَةِ؟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أَكَلْتُ فِي مَطْعَمٍ تُرْكِيٍّ يَوْمَ الجُمُعَةِ المَاضِي مَعَ عَائِلَتِي، لِأَنَّ أُمِّي نَجَحَتْ فِي امْتِحَانِ القِيَادَةِ؛ طَلَبْتُ المَشَاوِيَ، وَكَانَ الحِسَابُ غَالِيًا قَلِيلًا.</a:t>
            </a:r>
            <a:endParaRPr lang="ar-SA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a Turkish restaurant last Friday · R: mum passed her driving test · E: I ordered grills; the bill was a bit expensive.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أَكَلْتَ فِي مَطْعَمٍ آخِرَ مَرَّةٍ؟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الأَسْعَارَ ارْتَفَعَتْ كَثِيرًا، لِذٰلِكَ نَأْكُلُ فِي المَطْعَمِ مَرَّةً فِي الشَّهْرِ فَقَطْ؛ فِي رَأْيِي الطَّبْخُ فِي البَيْتِ أَرْخَصُ وَأَصَحُّ، وَسَأَتَعَلَّمُ طَبَقًا جَدِيدًا كُلَّ أُسْبُوعٍ.</a:t>
            </a:r>
            <a:endParaRPr lang="ar-SA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prices have risen a lot · R/E: so we eat out once a month · opinion: cooking at home is cheaper and healthier · T: I will learn a new dish every week.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الأَكْلُ فِي المَطَاعِمِ غَالٍ جِدًّا اليَوْمَ؟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Find the A, R, E and T in each answer. Which link do you usually forget?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 in a full sentence.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planned my first words from the question word.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climbed to level 3: answer + reason + detail.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today’s key structure correctly when I spoke.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all four A-R-E-T links and spoke for 90 seconds.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AT-A-L05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ran your own speaking practice!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AT-A-L05 · Writing practice room · Decode, plan, write and check — step by step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answer + reason + detail + another time frame — every time you speak.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AT-A-L05 · Speaking Practice Room — Eating Out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2026-10-25T14:08:54Z</dcterms:created>
  <dcterms:modified xsi:type="dcterms:W3CDTF">2026-10-25T14:08:54Z</dcterms:modified>
</cp:coreProperties>
</file>