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PRACTICE ROOM AT A GLANCE — 55–60 minutes; short launch in the main room, then writing pairs in breakout rooms (each student writes their OWN text; the buddy checks), back together to compare.
0–2 Welcome · 2–5 How the room works · ROOMS: Step 1 Q1 warm-up (4) · Step 2 Decode the Q2 task (6) · Step 3 Upgrade sentences (6) · Step 4 Write Q2 + buddy swap (14) · Step 5 Spot and fix + buddy check (6) · Step 6 One Q3 paragraph (10) · back together: Check yourself (5) · Self-check + close (2).
PURPOSE: students learn a REPEATABLE PROCESS for Paper 4 (decode → plan → write → check) and write independently, with support that fades.
CONTENT: Advanced Topic A · Everyday Activities, Lesson 6 (Healthy Eating and Lifestyle Choices, AT-A-L06) — new writing tasks (not the Exam Practice workshop tasks).
WHERE TO WRITE: a page in the class notebook / a shared document (each student their own), or paper + a photo to the teacher. Buddies read each other’s page in Step 4 and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(2 min). Show where students write. Then open the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Personal answers, so no single model: the buddy checks meaning and spelling. Core: boxes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(2 min). Missing a bullet is the most common way to lose marks in Q2 — decoding stops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 read the task. Then decode it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Students decode in pairs; Core students may use the English on the task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answers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(2 min). Each line adds ONE thing. Students will do the same with their own sentences in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(4 min). Read the English, then choose the correct part from each column (start on the RIGHT, column 1). Buddies agree before checking the answer slide. Watch the agreement and the verb after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(4 min). Read the English, then choose the correct part from each column (start on the RIGHT, column 1). Buddies agree before checking the answer slide. Watch the agreement and the verb after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support. Core: use the Core frames for every bullet. Develop: use the Develop frames only if stuck. Stretch: no frames — add a contrast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(14 min). Teacher visits each room and reads ONE paragraph per student: one correction, one praise.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(3 min). Pairs agree on each correction before the answer slide. Then they look for the SAME mistakes in their own Q2.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(3 min). Pairs agree on each correction before the answer slide. Then they look for the SAME mistakes in their own Q2.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(2 min). One paragraph done well is the building block of Q3: four paragraphs like this = a full Q3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(8 min). Core: 3–4 sentences using the bank. Develop: the full formula. Stretch: the formula + a contrast and a future link. Homework: write the other three paragraphs.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(79 words). CHECK YOURSELF (3 min, main room or rooms). Find the four bullets. Then each student copies ONE phrase from the model into their own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CHECK YOURSELF (2 min). Students label T, D, R and F in the model, then in their own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GUIDED PRACTICE  ·  AT-A-L06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Practice Room — A Healthy Lifestyle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الكِتَابَةِ — نَمَطُ الحَيَاةِ الصِّحِّيُّ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learn and practise a repeatable writing process in breakout rooms: a Q1 warm-up, decoding a new Q2 task (a healthy-week challenge), upgrading sentences, writing with a buddy, spotting and fixing errors, and writing one Q3 paragraph with the T-D-R-F formula.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AT-A-L06 · Advanced Topic A · Everyday Activities · guided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steps to a strong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1: Q1 form warm-up.</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الاسْتِمَارَةُ</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2: decode the question.</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افْهَمِ السُّؤَالَ</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3: upgrade your sentences.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حَسِّنْ جُمَلَكَ</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4: write Q2, then swap with your buddy.</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5: spot and fix · buddy 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صَحِّحْ</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1E6B52"/>
          </a:solidFill>
          <a:ln w="12700">
            <a:solidFill>
              <a:srgbClr val="1E6B52"/>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6: one Q3 paragraph.</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فِقْرَةٌ</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Everyone writes their own answer. Your buddy reads it and checks it with the checklist. The models come at the very end — try first!</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WRITING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alone, check together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IT WORKS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Rooms of two or three. Each person writes their OWN answer on their own page.</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keeps the time for each step and moves the room on.</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BUDDY — after each writing step, swap pages and check with the checklist (Step 5).</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Try every step BEFORE you look at a model. The models are at the end.</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PROCESS YOU WILL USE IN THE EXAM</a:t>
            </a:r>
            <a:endParaRPr lang="en-US" sz="1000" dirty="0"/>
          </a:p>
        </p:txBody>
      </p:sp>
      <p:sp>
        <p:nvSpPr>
          <p:cNvPr id="31" name="Text 28"/>
          <p:cNvSpPr txBox="1"/>
          <p:nvPr/>
        </p:nvSpPr>
        <p:spPr>
          <a:xfrm>
            <a:off x="6949440" y="2194560"/>
            <a:ext cx="4645152" cy="1141903"/>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افْهَمْ ← خَطِّطْ ← اكْتُبْ ← رَاجِعْ</a:t>
            </a:r>
            <a:endParaRPr lang="ar-SA" sz="2800" dirty="0"/>
          </a:p>
        </p:txBody>
      </p:sp>
      <p:sp>
        <p:nvSpPr>
          <p:cNvPr id="32" name="Text 29"/>
          <p:cNvSpPr txBox="1"/>
          <p:nvPr/>
        </p:nvSpPr>
        <p:spPr>
          <a:xfrm>
            <a:off x="6949440" y="3336463"/>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decode → plan → write → check</a:t>
            </a:r>
            <a:endParaRPr lang="en-US" sz="1100" dirty="0"/>
          </a:p>
        </p:txBody>
      </p:sp>
      <p:sp>
        <p:nvSpPr>
          <p:cNvPr id="33" name="Shape 30"/>
          <p:cNvSpPr/>
          <p:nvPr/>
        </p:nvSpPr>
        <p:spPr>
          <a:xfrm>
            <a:off x="6995160" y="4215384"/>
            <a:ext cx="4553712" cy="0"/>
          </a:xfrm>
          <a:prstGeom prst="line">
            <a:avLst/>
          </a:prstGeom>
          <a:noFill/>
          <a:ln w="9525">
            <a:solidFill>
              <a:srgbClr val="E4DCCB"/>
            </a:solidFill>
            <a:prstDash val="dash"/>
          </a:ln>
        </p:spPr>
      </p:sp>
      <p:sp>
        <p:nvSpPr>
          <p:cNvPr id="34" name="Text 31"/>
          <p:cNvSpPr txBox="1"/>
          <p:nvPr/>
        </p:nvSpPr>
        <p:spPr>
          <a:xfrm>
            <a:off x="6949440" y="4233672"/>
            <a:ext cx="4645152" cy="1141903"/>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نُقْطَةٌ وَاحِدَةٌ = فِقْرَةٌ وَاحِدَةٌ</a:t>
            </a:r>
            <a:endParaRPr lang="ar-SA" sz="2800" dirty="0"/>
          </a:p>
        </p:txBody>
      </p:sp>
      <p:sp>
        <p:nvSpPr>
          <p:cNvPr id="35" name="Text 32"/>
          <p:cNvSpPr txBox="1"/>
          <p:nvPr/>
        </p:nvSpPr>
        <p:spPr>
          <a:xfrm>
            <a:off x="6949440" y="5375575"/>
            <a:ext cx="4645152" cy="815645"/>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bullet point = one paragraph</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1 · Q1 WARM-UP · 4 MINUTES · A SHORT ANSWER IN EACH BOX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Fitness club: new member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نَادِي اللِّيَاقَةِ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99832" y="1810512"/>
            <a:ext cx="3858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Tip</a:t>
            </a:r>
            <a:endParaRPr lang="en-US" sz="1100" dirty="0"/>
          </a:p>
        </p:txBody>
      </p:sp>
      <p:sp>
        <p:nvSpPr>
          <p:cNvPr id="17" name="Text 14"/>
          <p:cNvSpPr txBox="1"/>
          <p:nvPr/>
        </p:nvSpPr>
        <p:spPr>
          <a:xfrm>
            <a:off x="48737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836408" y="2267712"/>
            <a:ext cx="3822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name + family name.</a:t>
            </a:r>
            <a:endParaRPr lang="en-US" sz="1100" dirty="0"/>
          </a:p>
        </p:txBody>
      </p:sp>
      <p:sp>
        <p:nvSpPr>
          <p:cNvPr id="22" name="Text 19"/>
          <p:cNvSpPr txBox="1"/>
          <p:nvPr/>
        </p:nvSpPr>
        <p:spPr>
          <a:xfrm>
            <a:off x="49103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name</a:t>
            </a:r>
            <a:endParaRPr lang="en-US" sz="1100" dirty="0"/>
          </a:p>
        </p:txBody>
      </p:sp>
      <p:sp>
        <p:nvSpPr>
          <p:cNvPr id="23" name="Text 20"/>
          <p:cNvSpPr txBox="1"/>
          <p:nvPr/>
        </p:nvSpPr>
        <p:spPr>
          <a:xfrm>
            <a:off x="1051560" y="2267712"/>
            <a:ext cx="365760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836408" y="2881884"/>
            <a:ext cx="3822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number + </a:t>
            </a:r>
            <a:pPr algn="l" indent="0" marL="0">
              <a:buNone/>
            </a:pPr>
            <a:r>
              <a:rPr lang="ar-SA" altLang="en-US" sz="1450" dirty="0">
                <a:solidFill>
                  <a:srgbClr val="5A6472"/>
                </a:solidFill>
                <a:latin typeface="Amiri" pitchFamily="2" charset="-78"/>
                <a:ea typeface="Amiri" pitchFamily="2" charset="-78"/>
                <a:cs typeface="Amiri" pitchFamily="2" charset="-78"/>
              </a:rPr>
              <a:t>سَنَةً</a:t>
            </a:r>
            <a:pPr algn="l" indent="0" marL="0">
              <a:buNone/>
            </a:pPr>
            <a:r>
              <a:rPr lang="en-US" sz="1100" dirty="0">
                <a:solidFill>
                  <a:srgbClr val="5A6472"/>
                </a:solidFill>
                <a:latin typeface="Calibri" pitchFamily="34" charset="0"/>
                <a:cs typeface="Amiri" pitchFamily="2" charset="-78"/>
              </a:rPr>
              <a:t>: </a:t>
            </a:r>
            <a:pPr algn="l" indent="0" marL="0">
              <a:buNone/>
            </a:pPr>
            <a:r>
              <a:rPr lang="ar-SA" altLang="en-US" sz="1450" dirty="0">
                <a:solidFill>
                  <a:srgbClr val="5A6472"/>
                </a:solidFill>
                <a:latin typeface="Amiri" pitchFamily="2" charset="-78"/>
                <a:ea typeface="Amiri" pitchFamily="2" charset="-78"/>
                <a:cs typeface="Amiri" pitchFamily="2" charset="-78"/>
              </a:rPr>
              <a:t>خَمْسَ عَشْرَةَ سَنَةً</a:t>
            </a:r>
            <a:endParaRPr lang="en-US" sz="1100" dirty="0"/>
          </a:p>
        </p:txBody>
      </p:sp>
      <p:sp>
        <p:nvSpPr>
          <p:cNvPr id="29" name="Text 26"/>
          <p:cNvSpPr txBox="1"/>
          <p:nvPr/>
        </p:nvSpPr>
        <p:spPr>
          <a:xfrm>
            <a:off x="49103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881884"/>
            <a:ext cx="365760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836408" y="3496056"/>
            <a:ext cx="3822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al-: </a:t>
            </a:r>
            <a:pPr algn="l" indent="0" marL="0">
              <a:buNone/>
            </a:pPr>
            <a:r>
              <a:rPr lang="ar-SA" altLang="en-US" sz="1450" dirty="0">
                <a:solidFill>
                  <a:srgbClr val="5A6472"/>
                </a:solidFill>
                <a:latin typeface="Amiri" pitchFamily="2" charset="-78"/>
                <a:ea typeface="Amiri" pitchFamily="2" charset="-78"/>
                <a:cs typeface="Amiri" pitchFamily="2" charset="-78"/>
              </a:rPr>
              <a:t>السِّبَاحَةُ</a:t>
            </a:r>
            <a:endParaRPr lang="en-US" sz="1100" dirty="0"/>
          </a:p>
        </p:txBody>
      </p:sp>
      <p:sp>
        <p:nvSpPr>
          <p:cNvPr id="36" name="Text 33"/>
          <p:cNvSpPr txBox="1"/>
          <p:nvPr/>
        </p:nvSpPr>
        <p:spPr>
          <a:xfrm>
            <a:off x="49103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sport</a:t>
            </a:r>
            <a:endParaRPr lang="en-US" sz="1100" dirty="0"/>
          </a:p>
        </p:txBody>
      </p:sp>
      <p:sp>
        <p:nvSpPr>
          <p:cNvPr id="37" name="Text 34"/>
          <p:cNvSpPr txBox="1"/>
          <p:nvPr/>
        </p:nvSpPr>
        <p:spPr>
          <a:xfrm>
            <a:off x="1051560" y="3496056"/>
            <a:ext cx="365760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الرِّيَاضَةُ المُفَضَّلَةُ</a:t>
            </a:r>
            <a:endParaRPr lang="ar-SA" sz="1700" dirty="0"/>
          </a:p>
        </p:txBody>
      </p:sp>
      <p:sp>
        <p:nvSpPr>
          <p:cNvPr id="38" name="Text 35"/>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818120" y="4110228"/>
            <a:ext cx="382219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مَرَّتَيْنِ فِي الأُسْبُوعِ</a:t>
            </a:r>
            <a:endParaRPr lang="ar-SA" sz="2000" dirty="0"/>
          </a:p>
        </p:txBody>
      </p:sp>
      <p:sp>
        <p:nvSpPr>
          <p:cNvPr id="43" name="Text 40"/>
          <p:cNvSpPr txBox="1"/>
          <p:nvPr/>
        </p:nvSpPr>
        <p:spPr>
          <a:xfrm>
            <a:off x="49103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 you train</a:t>
            </a:r>
            <a:endParaRPr lang="en-US" sz="1100" dirty="0"/>
          </a:p>
        </p:txBody>
      </p:sp>
      <p:sp>
        <p:nvSpPr>
          <p:cNvPr id="44" name="Text 41"/>
          <p:cNvSpPr txBox="1"/>
          <p:nvPr/>
        </p:nvSpPr>
        <p:spPr>
          <a:xfrm>
            <a:off x="1051560" y="4110228"/>
            <a:ext cx="365760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تَتَدَرَّبُ؟</a:t>
            </a:r>
            <a:endParaRPr lang="ar-SA" sz="1700" dirty="0"/>
          </a:p>
        </p:txBody>
      </p:sp>
      <p:sp>
        <p:nvSpPr>
          <p:cNvPr id="45" name="Text 42"/>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7818120" y="4724400"/>
            <a:ext cx="382219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السُّكَّرُ · الوَجَبَاتُ السَّرِيعَةُ</a:t>
            </a:r>
            <a:endParaRPr lang="ar-SA" sz="2000" dirty="0"/>
          </a:p>
        </p:txBody>
      </p:sp>
      <p:sp>
        <p:nvSpPr>
          <p:cNvPr id="50" name="Text 47"/>
          <p:cNvSpPr txBox="1"/>
          <p:nvPr/>
        </p:nvSpPr>
        <p:spPr>
          <a:xfrm>
            <a:off x="49103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you avoid</a:t>
            </a:r>
            <a:endParaRPr lang="en-US" sz="1100" dirty="0"/>
          </a:p>
        </p:txBody>
      </p:sp>
      <p:sp>
        <p:nvSpPr>
          <p:cNvPr id="51" name="Text 48"/>
          <p:cNvSpPr txBox="1"/>
          <p:nvPr/>
        </p:nvSpPr>
        <p:spPr>
          <a:xfrm>
            <a:off x="1051560" y="4724400"/>
            <a:ext cx="365760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 تَتَجَنَّبُهُ</a:t>
            </a:r>
            <a:endParaRPr lang="ar-SA" sz="1700" dirty="0"/>
          </a:p>
        </p:txBody>
      </p:sp>
      <p:sp>
        <p:nvSpPr>
          <p:cNvPr id="52" name="Text 49"/>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7836408" y="5338572"/>
            <a:ext cx="382219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أُرِيدُ أَنْ</a:t>
            </a:r>
            <a:pPr algn="l" indent="0" marL="0">
              <a:buNone/>
            </a:pPr>
            <a:r>
              <a:rPr lang="en-US" sz="1100" dirty="0">
                <a:solidFill>
                  <a:srgbClr val="5A6472"/>
                </a:solidFill>
                <a:latin typeface="Calibri" pitchFamily="34" charset="0"/>
                <a:cs typeface="Amiri" pitchFamily="2" charset="-78"/>
              </a:rPr>
              <a:t> + a verb in -a: </a:t>
            </a:r>
            <a:pPr algn="l" indent="0" marL="0">
              <a:buNone/>
            </a:pPr>
            <a:r>
              <a:rPr lang="ar-SA" altLang="en-US" sz="1450" dirty="0">
                <a:solidFill>
                  <a:srgbClr val="5A6472"/>
                </a:solidFill>
                <a:latin typeface="Amiri" pitchFamily="2" charset="-78"/>
                <a:ea typeface="Amiri" pitchFamily="2" charset="-78"/>
                <a:cs typeface="Amiri" pitchFamily="2" charset="-78"/>
              </a:rPr>
              <a:t>أُرِيدُ أَنْ أَكُونَ نَشِيطًا</a:t>
            </a:r>
            <a:endParaRPr lang="en-US" sz="1100" dirty="0"/>
          </a:p>
        </p:txBody>
      </p:sp>
      <p:sp>
        <p:nvSpPr>
          <p:cNvPr id="57" name="Text 54"/>
          <p:cNvSpPr txBox="1"/>
          <p:nvPr/>
        </p:nvSpPr>
        <p:spPr>
          <a:xfrm>
            <a:off x="49103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do you want to join?</a:t>
            </a:r>
            <a:endParaRPr lang="en-US" sz="1100" dirty="0"/>
          </a:p>
        </p:txBody>
      </p:sp>
      <p:sp>
        <p:nvSpPr>
          <p:cNvPr id="58" name="Text 55"/>
          <p:cNvSpPr txBox="1"/>
          <p:nvPr/>
        </p:nvSpPr>
        <p:spPr>
          <a:xfrm>
            <a:off x="1051560" y="5338572"/>
            <a:ext cx="365760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أَنْ تَشْتَرِكَ؟</a:t>
            </a:r>
            <a:endParaRPr lang="ar-SA" sz="1700" dirty="0"/>
          </a:p>
        </p:txBody>
      </p:sp>
      <p:sp>
        <p:nvSpPr>
          <p:cNvPr id="59" name="Text 56"/>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a word or a short phrase — about yourself. Buddy check: does each answer match exactly what the box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2 · DECODE THE QUESTION BEFORE YOU WRITE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moves to decode a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افْهَمِ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DECODE IN TWO MINUTES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do I write (an email, a message, a blog) and to WHOM (a friend → informal)?</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NUMBER the bullet points 1–4. Each one = one short paragraph.</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UNDERLINE the question word in each bullet and decide the TENSE it needs.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Write ONE idea (in English or Arabic) next to each bullet. That is your plan.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VERB IN THE BULLET TELLS YOU THE TENSE</a:t>
            </a:r>
            <a:endParaRPr lang="en-US" sz="1000" dirty="0"/>
          </a:p>
        </p:txBody>
      </p:sp>
      <p:sp>
        <p:nvSpPr>
          <p:cNvPr id="31" name="Text 28"/>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مَاذَا فَعَلْتَ؟ ← فَعَلْتُ (المَاضِي)</a:t>
            </a:r>
            <a:endParaRPr lang="ar-SA" sz="2650" dirty="0"/>
          </a:p>
        </p:txBody>
      </p:sp>
      <p:sp>
        <p:nvSpPr>
          <p:cNvPr id="32" name="Text 29"/>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what did you do? → past</a:t>
            </a:r>
            <a:endParaRPr lang="en-US" sz="1100" dirty="0"/>
          </a:p>
        </p:txBody>
      </p:sp>
      <p:sp>
        <p:nvSpPr>
          <p:cNvPr id="33" name="Shape 30"/>
          <p:cNvSpPr/>
          <p:nvPr/>
        </p:nvSpPr>
        <p:spPr>
          <a:xfrm>
            <a:off x="6995160" y="3195828"/>
            <a:ext cx="4553712" cy="0"/>
          </a:xfrm>
          <a:prstGeom prst="line">
            <a:avLst/>
          </a:prstGeom>
          <a:noFill/>
          <a:ln w="9525">
            <a:solidFill>
              <a:srgbClr val="E4DCCB"/>
            </a:solidFill>
            <a:prstDash val="dash"/>
          </a:ln>
        </p:spPr>
      </p:sp>
      <p:sp>
        <p:nvSpPr>
          <p:cNvPr id="34" name="Text 31"/>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مَاذَا تَفْعَلُ عَادَةً؟ ← أَفْعَلُ (الحَاضِرُ)</a:t>
            </a:r>
            <a:endParaRPr lang="ar-SA" sz="2650" dirty="0"/>
          </a:p>
        </p:txBody>
      </p:sp>
      <p:sp>
        <p:nvSpPr>
          <p:cNvPr id="35" name="Text 32"/>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what do you usually do? → present</a:t>
            </a:r>
            <a:endParaRPr lang="en-US" sz="1100" dirty="0"/>
          </a:p>
        </p:txBody>
      </p:sp>
      <p:sp>
        <p:nvSpPr>
          <p:cNvPr id="36" name="Shape 33"/>
          <p:cNvSpPr/>
          <p:nvPr/>
        </p:nvSpPr>
        <p:spPr>
          <a:xfrm>
            <a:off x="6995160" y="4215384"/>
            <a:ext cx="4553712" cy="0"/>
          </a:xfrm>
          <a:prstGeom prst="line">
            <a:avLst/>
          </a:prstGeom>
          <a:noFill/>
          <a:ln w="9525">
            <a:solidFill>
              <a:srgbClr val="E4DCCB"/>
            </a:solidFill>
            <a:prstDash val="dash"/>
          </a:ln>
        </p:spPr>
      </p:sp>
      <p:sp>
        <p:nvSpPr>
          <p:cNvPr id="37" name="Text 34"/>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مَاذَا سَتَفْعَلُ؟ ← سَأَفْعَلُ (المُسْتَقْبَلُ)</a:t>
            </a:r>
            <a:endParaRPr lang="ar-SA" sz="2650" dirty="0"/>
          </a:p>
        </p:txBody>
      </p:sp>
      <p:sp>
        <p:nvSpPr>
          <p:cNvPr id="38" name="Text 35"/>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what will you do? → future</a:t>
            </a:r>
            <a:endParaRPr lang="en-US" sz="1100" dirty="0"/>
          </a:p>
        </p:txBody>
      </p:sp>
      <p:sp>
        <p:nvSpPr>
          <p:cNvPr id="39" name="Shape 36"/>
          <p:cNvSpPr/>
          <p:nvPr/>
        </p:nvSpPr>
        <p:spPr>
          <a:xfrm>
            <a:off x="6995160" y="5234940"/>
            <a:ext cx="4553712" cy="0"/>
          </a:xfrm>
          <a:prstGeom prst="line">
            <a:avLst/>
          </a:prstGeom>
          <a:noFill/>
          <a:ln w="9525">
            <a:solidFill>
              <a:srgbClr val="E4DCCB"/>
            </a:solidFill>
            <a:prstDash val="dash"/>
          </a:ln>
        </p:spPr>
      </p:sp>
      <p:sp>
        <p:nvSpPr>
          <p:cNvPr id="40" name="Text 37"/>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مَا رَأْيُكَ؟ ← فِي رَأْيِي … لِأَنَّ …</a:t>
            </a:r>
            <a:endParaRPr lang="ar-SA" sz="2650" dirty="0"/>
          </a:p>
        </p:txBody>
      </p:sp>
      <p:sp>
        <p:nvSpPr>
          <p:cNvPr id="41" name="Text 38"/>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opinion? → in my opinion … because …</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2 · TODAY’S QUESTION 2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Question 2: the healthy-week challenge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الأُسْبُوعِ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Your school ran a “healthy week” challenge. Write an email in Arabic to your friend of about 80–90 words. You must include: • what the challenge was • what you did during the week • what was difficult, and why • what you will carry on doing in the future.</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(bullets 1–3) and future (bullet 4).</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reason with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التَّحَدِّي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challenge was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صَعْبًا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was hard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سَأَسْتَمِرُّ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carry on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2 · YOUR TURN · DECODE EACH BULLET (IN YOUR BOOK)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Decode it: question word · tense · my idea</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حَلِّلِ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idea</a:t>
            </a:r>
            <a:endParaRPr lang="en-US" sz="1100" dirty="0"/>
          </a:p>
        </p:txBody>
      </p:sp>
      <p:sp>
        <p:nvSpPr>
          <p:cNvPr id="17" name="Text 14"/>
          <p:cNvSpPr txBox="1"/>
          <p:nvPr/>
        </p:nvSpPr>
        <p:spPr>
          <a:xfrm>
            <a:off x="61539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word + tense</a:t>
            </a:r>
            <a:endParaRPr lang="en-US" sz="1100" dirty="0"/>
          </a:p>
        </p:txBody>
      </p:sp>
      <p:sp>
        <p:nvSpPr>
          <p:cNvPr id="18" name="Text 15"/>
          <p:cNvSpPr txBox="1"/>
          <p:nvPr/>
        </p:nvSpPr>
        <p:spPr>
          <a:xfrm>
            <a:off x="103327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bullet in Arabic</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933688" y="2267712"/>
            <a:ext cx="2724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619048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3" name="Text 20"/>
          <p:cNvSpPr txBox="1"/>
          <p:nvPr/>
        </p:nvSpPr>
        <p:spPr>
          <a:xfrm>
            <a:off x="1051560" y="2267712"/>
            <a:ext cx="49377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اكْتُبْ رِسَالَةً إِلَى صَدِيقِكَ عَنْ تَحَدِّي الأُسْبُوعِ الصِّحِّيِّ (٨٠–٩٠ كَلِمَةً).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933688" y="3004718"/>
            <a:ext cx="2724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619048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0" name="Text 27"/>
          <p:cNvSpPr txBox="1"/>
          <p:nvPr/>
        </p:nvSpPr>
        <p:spPr>
          <a:xfrm>
            <a:off x="1051560" y="3004718"/>
            <a:ext cx="49377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كَانَ التَّحَدِّي؟</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933688" y="3741725"/>
            <a:ext cx="2724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619048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1051560" y="3741725"/>
            <a:ext cx="49377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فَعَلْتَ خِلَالَ الأُسْبُوعِ؟</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933688" y="4478731"/>
            <a:ext cx="2724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619048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2" name="Text 39"/>
          <p:cNvSpPr txBox="1"/>
          <p:nvPr/>
        </p:nvSpPr>
        <p:spPr>
          <a:xfrm>
            <a:off x="1051560" y="4478731"/>
            <a:ext cx="49377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الشَّيْءُ الصَّعْبُ؟ وَلِمَاذَا؟</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933688" y="5215738"/>
            <a:ext cx="2724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619048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7" name="Text 44"/>
          <p:cNvSpPr txBox="1"/>
          <p:nvPr/>
        </p:nvSpPr>
        <p:spPr>
          <a:xfrm>
            <a:off x="1051560" y="5215738"/>
            <a:ext cx="49377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سَتَسْتَمِرُّ فِي فِعْلِهِ فِي المُسْتَقْبَلِ؟</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Copy the two empty columns into your book and fill them in. Then check with your buddy on the next slide.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CHECK YOUR DECODING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Decoded: what each bullet needs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14232" y="1810512"/>
            <a:ext cx="2944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56052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word + tense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bullet in Arabic</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50808" y="2267712"/>
            <a:ext cx="2907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the healthy-week challenge (80–90 words).</a:t>
            </a:r>
            <a:endParaRPr lang="en-US" sz="1100" dirty="0"/>
          </a:p>
        </p:txBody>
      </p:sp>
      <p:sp>
        <p:nvSpPr>
          <p:cNvPr id="22" name="Text 19"/>
          <p:cNvSpPr txBox="1"/>
          <p:nvPr/>
        </p:nvSpPr>
        <p:spPr>
          <a:xfrm>
            <a:off x="564184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email to a FRIEND → informal greeting and closing</a:t>
            </a:r>
            <a:endParaRPr lang="en-US" sz="1100" dirty="0"/>
          </a:p>
        </p:txBody>
      </p:sp>
      <p:sp>
        <p:nvSpPr>
          <p:cNvPr id="23" name="Text 20"/>
          <p:cNvSpPr txBox="1"/>
          <p:nvPr/>
        </p:nvSpPr>
        <p:spPr>
          <a:xfrm>
            <a:off x="1051560" y="2267712"/>
            <a:ext cx="4389120" cy="682142"/>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اكْتُبْ رِسَالَةً إِلَى صَدِيقِكَ عَنْ تَحَدِّي الأُسْبُوعِ الصِّحِّيِّ (٨٠–٩٠ كَلِمَةً).</a:t>
            </a:r>
            <a:endParaRPr lang="ar-SA" sz="15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750808" y="3004718"/>
            <a:ext cx="2907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challenge was</a:t>
            </a:r>
            <a:endParaRPr lang="en-US" sz="1100" dirty="0"/>
          </a:p>
        </p:txBody>
      </p:sp>
      <p:sp>
        <p:nvSpPr>
          <p:cNvPr id="27" name="Text 24"/>
          <p:cNvSpPr txBox="1"/>
          <p:nvPr/>
        </p:nvSpPr>
        <p:spPr>
          <a:xfrm>
            <a:off x="5641848" y="3004718"/>
            <a:ext cx="29260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مَا كَانَ</a:t>
            </a:r>
            <a:pPr algn="l" indent="0" marL="0">
              <a:buNone/>
            </a:pPr>
            <a:r>
              <a:rPr lang="en-US" sz="1100" dirty="0">
                <a:solidFill>
                  <a:srgbClr val="5A6472"/>
                </a:solidFill>
                <a:latin typeface="Calibri" pitchFamily="34" charset="0"/>
                <a:cs typeface="Amiri" pitchFamily="2" charset="-78"/>
              </a:rPr>
              <a:t> → PAST (kāna)</a:t>
            </a:r>
            <a:endParaRPr lang="en-US" sz="1100" dirty="0"/>
          </a:p>
        </p:txBody>
      </p:sp>
      <p:sp>
        <p:nvSpPr>
          <p:cNvPr id="28" name="Text 25"/>
          <p:cNvSpPr txBox="1"/>
          <p:nvPr/>
        </p:nvSpPr>
        <p:spPr>
          <a:xfrm>
            <a:off x="1051560" y="3004718"/>
            <a:ext cx="43891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كَانَ التَّحَدِّي؟</a:t>
            </a:r>
            <a:endParaRPr lang="ar-SA" sz="16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750808" y="3741725"/>
            <a:ext cx="2907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during the week</a:t>
            </a:r>
            <a:endParaRPr lang="en-US" sz="1100" dirty="0"/>
          </a:p>
        </p:txBody>
      </p:sp>
      <p:sp>
        <p:nvSpPr>
          <p:cNvPr id="32" name="Text 29"/>
          <p:cNvSpPr txBox="1"/>
          <p:nvPr/>
        </p:nvSpPr>
        <p:spPr>
          <a:xfrm>
            <a:off x="5641848" y="3741725"/>
            <a:ext cx="29260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مَاذَا فَعَلْتَ</a:t>
            </a:r>
            <a:pPr algn="l" indent="0" marL="0">
              <a:buNone/>
            </a:pPr>
            <a:r>
              <a:rPr lang="en-US" sz="1100" dirty="0">
                <a:solidFill>
                  <a:srgbClr val="5A6472"/>
                </a:solidFill>
                <a:latin typeface="Calibri" pitchFamily="34" charset="0"/>
                <a:cs typeface="Amiri" pitchFamily="2" charset="-78"/>
              </a:rPr>
              <a:t> → PAST (faʿaltu)</a:t>
            </a:r>
            <a:endParaRPr lang="en-US" sz="1100" dirty="0"/>
          </a:p>
        </p:txBody>
      </p:sp>
      <p:sp>
        <p:nvSpPr>
          <p:cNvPr id="33" name="Text 30"/>
          <p:cNvSpPr txBox="1"/>
          <p:nvPr/>
        </p:nvSpPr>
        <p:spPr>
          <a:xfrm>
            <a:off x="1051560" y="3741725"/>
            <a:ext cx="43891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فَعَلْتَ خِلَالَ الأُسْبُوعِ؟</a:t>
            </a:r>
            <a:endParaRPr lang="ar-SA" sz="16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750808" y="4478731"/>
            <a:ext cx="2907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was difficult, and why</a:t>
            </a:r>
            <a:endParaRPr lang="en-US" sz="1100" dirty="0"/>
          </a:p>
        </p:txBody>
      </p:sp>
      <p:sp>
        <p:nvSpPr>
          <p:cNvPr id="37" name="Text 34"/>
          <p:cNvSpPr txBox="1"/>
          <p:nvPr/>
        </p:nvSpPr>
        <p:spPr>
          <a:xfrm>
            <a:off x="5641848" y="4478731"/>
            <a:ext cx="29260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مَا … وَلِمَاذَا</a:t>
            </a:r>
            <a:pPr algn="l" indent="0" marL="0">
              <a:buNone/>
            </a:pPr>
            <a:r>
              <a:rPr lang="en-US" sz="1100" dirty="0">
                <a:solidFill>
                  <a:srgbClr val="5A6472"/>
                </a:solidFill>
                <a:latin typeface="Calibri" pitchFamily="34" charset="0"/>
                <a:cs typeface="Amiri" pitchFamily="2" charset="-78"/>
              </a:rPr>
              <a:t> → PAST + a reason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8" name="Text 35"/>
          <p:cNvSpPr txBox="1"/>
          <p:nvPr/>
        </p:nvSpPr>
        <p:spPr>
          <a:xfrm>
            <a:off x="1051560" y="4478731"/>
            <a:ext cx="43891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الشَّيْءُ الصَّعْبُ؟ وَلِمَاذَا؟</a:t>
            </a:r>
            <a:endParaRPr lang="ar-SA" sz="16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750808" y="5215738"/>
            <a:ext cx="2907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carry on doing</a:t>
            </a:r>
            <a:endParaRPr lang="en-US" sz="1100" dirty="0"/>
          </a:p>
        </p:txBody>
      </p:sp>
      <p:sp>
        <p:nvSpPr>
          <p:cNvPr id="42" name="Text 39"/>
          <p:cNvSpPr txBox="1"/>
          <p:nvPr/>
        </p:nvSpPr>
        <p:spPr>
          <a:xfrm>
            <a:off x="5641848" y="5215738"/>
            <a:ext cx="29260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سَتَسْتَمِرُّ</a:t>
            </a:r>
            <a:pPr algn="l" indent="0" marL="0">
              <a:buNone/>
            </a:pPr>
            <a:r>
              <a:rPr lang="en-US" sz="1100" dirty="0">
                <a:solidFill>
                  <a:srgbClr val="5A6472"/>
                </a:solidFill>
                <a:latin typeface="Calibri" pitchFamily="34" charset="0"/>
                <a:cs typeface="Amiri" pitchFamily="2" charset="-78"/>
              </a:rPr>
              <a:t> → FUTURE (sa- / sawfa)</a:t>
            </a:r>
            <a:endParaRPr lang="en-US" sz="1100" dirty="0"/>
          </a:p>
        </p:txBody>
      </p:sp>
      <p:sp>
        <p:nvSpPr>
          <p:cNvPr id="43" name="Text 40"/>
          <p:cNvSpPr txBox="1"/>
          <p:nvPr/>
        </p:nvSpPr>
        <p:spPr>
          <a:xfrm>
            <a:off x="1051560" y="5215738"/>
            <a:ext cx="43891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سَتَسْتَمِرُّ فِي فِعْلِهِ فِي المُسْتَقْبَلِ؟</a:t>
            </a:r>
            <a:endParaRPr lang="ar-SA" sz="16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get the tense right for every bullet? Fix your plan before you write.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3 · UPGRADE A SENTENCE · WATCH IT GROW</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From a simple sentence to a strong one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أَشْرَبُ المَاءَ.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Simple</a:t>
            </a:r>
            <a:endParaRPr lang="en-US" sz="1250" dirty="0"/>
          </a:p>
          <a:p>
            <a:pPr indent="0" marL="0">
              <a:buNone/>
            </a:pPr>
            <a:r>
              <a:rPr lang="en-US" sz="1050" i="1" dirty="0">
                <a:solidFill>
                  <a:srgbClr val="8A6D1E"/>
                </a:solidFill>
                <a:latin typeface="Calibri" pitchFamily="34" charset="0"/>
                <a:cs typeface="Amiri" pitchFamily="2" charset="-78"/>
              </a:rPr>
              <a:t>I drink water.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أَشْرَبُ ثَمَانِيَةَ أَكْوَابٍ مِنَ المَاءِ كُلَّ يَوْمٍ.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 detail (time, frequency, how much)</a:t>
            </a:r>
            <a:endParaRPr lang="en-US" sz="1250" dirty="0"/>
          </a:p>
          <a:p>
            <a:pPr indent="0" marL="0">
              <a:buNone/>
            </a:pPr>
            <a:r>
              <a:rPr lang="en-US" sz="1050" i="1" dirty="0">
                <a:solidFill>
                  <a:srgbClr val="8A6D1E"/>
                </a:solidFill>
                <a:latin typeface="Calibri" pitchFamily="34" charset="0"/>
                <a:cs typeface="Amiri" pitchFamily="2" charset="-78"/>
              </a:rPr>
              <a:t>I drink eight glasses of water every day.</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أَشْرَبُ ثَمَانِيَةَ أَكْوَابٍ مِنَ المَاءِ كُلَّ يَوْمٍ، لِأَنَّ المَاءَ يُسَاعِدُنِي عَلَى التَّرْكِيزِ.</a:t>
            </a:r>
            <a:endParaRPr lang="ar-SA" sz="195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 a reason</a:t>
            </a:r>
            <a:endParaRPr lang="en-US" sz="1250" dirty="0"/>
          </a:p>
          <a:p>
            <a:pPr indent="0" marL="0">
              <a:buNone/>
            </a:pPr>
            <a:r>
              <a:rPr lang="en-US" sz="1050" i="1" dirty="0">
                <a:solidFill>
                  <a:srgbClr val="8A6D1E"/>
                </a:solidFill>
                <a:latin typeface="Calibri" pitchFamily="34" charset="0"/>
                <a:cs typeface="Amiri" pitchFamily="2" charset="-78"/>
              </a:rPr>
              <a:t>… because water helps me concentrate.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 وَفِي رَأْيِي هُوَ أَفْضَلُ مِنَ المَشْرُوبَاتِ الغَازِيَّةِ، لٰكِنِّي أَنْسَى أَحْيَانًا!</a:t>
            </a:r>
            <a:endParaRPr lang="ar-SA" sz="22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 an opinion or a contrast</a:t>
            </a:r>
            <a:endParaRPr lang="en-US" sz="1250" dirty="0"/>
          </a:p>
          <a:p>
            <a:pPr indent="0" marL="0">
              <a:buNone/>
            </a:pPr>
            <a:r>
              <a:rPr lang="en-US" sz="1050" i="1" dirty="0">
                <a:solidFill>
                  <a:srgbClr val="8A6D1E"/>
                </a:solidFill>
                <a:latin typeface="Calibri" pitchFamily="34" charset="0"/>
                <a:cs typeface="Amiri" pitchFamily="2" charset="-78"/>
              </a:rPr>
              <a:t>… in my opinion it is better than fizzy drinks — but sometimes I forget!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3 · YOUR TURN · BUILD THREE STRONG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Sentence builder: choose A or B in each column</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must eat vegetables every day.</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أَنْ</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نَأْكُلَ الخُضَارَ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نَأْكُلُ الخُضَارَ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يَوْمٍ</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أَمْسِ</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sister is active because she runs in the morning.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 نَشِيطٌ</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 نَشِيطَةٌ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لِأَنَّهَا تَرْكُضُ</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 يَرْكُضُ</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الصَّبَاحِ</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المَسَاءِ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Last week I avoided fast food.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الأُسْبُوعِ المَاضِي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الأُسْبُوعِ القَادِمِ</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تَجَنَّبْتُ</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أَتَجَنَّبُ</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الوَجَبَاتِ السَّرِيعَةَ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الوَجَبَاتُ السَّرِيعَةُ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3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must eat vegetables every day.</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the verb ends in -a: </a:t>
            </a:r>
            <a:pPr algn="l" indent="0" marL="0">
              <a:buNone/>
            </a:pPr>
            <a:r>
              <a:rPr lang="ar-SA" altLang="en-US" sz="1350" dirty="0">
                <a:solidFill>
                  <a:srgbClr val="5A6472"/>
                </a:solidFill>
                <a:latin typeface="Amiri" pitchFamily="2" charset="-78"/>
                <a:ea typeface="Amiri" pitchFamily="2" charset="-78"/>
                <a:cs typeface="Amiri" pitchFamily="2" charset="-78"/>
              </a:rPr>
              <a:t>نَأْكُلَ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يَجِبُ أَنْ نَأْكُلَ الخُضَارَ كُلَّ يَوْمٍ</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sister is active because she runs in the morning.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girl → </a:t>
            </a:r>
            <a:pPr algn="l" indent="0" marL="0">
              <a:buNone/>
            </a:pPr>
            <a:r>
              <a:rPr lang="ar-SA" altLang="en-US" sz="1350" dirty="0">
                <a:solidFill>
                  <a:srgbClr val="5A6472"/>
                </a:solidFill>
                <a:latin typeface="Amiri" pitchFamily="2" charset="-78"/>
                <a:ea typeface="Amiri" pitchFamily="2" charset="-78"/>
                <a:cs typeface="Amiri" pitchFamily="2" charset="-78"/>
              </a:rPr>
              <a:t>نَشِيطَةٌ</a:t>
            </a:r>
            <a:pPr algn="l" indent="0" marL="0">
              <a:buNone/>
            </a:pPr>
            <a:r>
              <a:rPr lang="en-US" sz="1050" i="1" dirty="0">
                <a:solidFill>
                  <a:srgbClr val="5A6472"/>
                </a:solidFill>
                <a:latin typeface="Calibri" pitchFamily="34" charset="0"/>
                <a:cs typeface="Amiri" pitchFamily="2" charset="-78"/>
              </a:rPr>
              <a:t> and </a:t>
            </a:r>
            <a:pPr algn="l" indent="0" marL="0">
              <a:buNone/>
            </a:pPr>
            <a:r>
              <a:rPr lang="ar-SA" altLang="en-US" sz="1350" dirty="0">
                <a:solidFill>
                  <a:srgbClr val="5A6472"/>
                </a:solidFill>
                <a:latin typeface="Amiri" pitchFamily="2" charset="-78"/>
                <a:ea typeface="Amiri" pitchFamily="2" charset="-78"/>
                <a:cs typeface="Amiri" pitchFamily="2" charset="-78"/>
              </a:rPr>
              <a:t>لِأَنَّهَا تَرْكُضُ</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أُخْتِي نَشِيطَةٌ لِأَنَّهَا تَرْكُضُ فِي الصَّبَاحِ</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Last week I avoided fast food.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Past time → past verb; the food is the object → -a / -i endings.</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فِي الأُسْبُوعِ المَاضِي تَجَنَّبْتُ الوَجَبَاتِ السَّرِيعَةَ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4 · WRITE QUESTION 2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frames for Question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الهَدَفُ أَنْ ______ وَأَنْ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 · The aim was to … and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صَبَاحٍ ______ ، ثُمَّ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2 · Every morning …, then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أَصْعَبُ شَيْءٍ كَانَ ______ ، لِأَنِّي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 The hardest thing was …, because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لٰكِنِّي شَعَرْتُ أَنِّي ______ أَكْثَرَ.</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 But I felt more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لِذٰلِكَ سَأَسْتَمِرُّ فِي ______ وَسَأُحَاوِلُ أَنْ ______ .</a:t>
            </a:r>
            <a:endParaRPr lang="ar-SA" sz="16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4 · So I will keep … and try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477774"/>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32" name="Text 29"/>
          <p:cNvSpPr txBox="1"/>
          <p:nvPr/>
        </p:nvSpPr>
        <p:spPr>
          <a:xfrm>
            <a:off x="6327648" y="2249424"/>
            <a:ext cx="1828800" cy="477774"/>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Hello …, how are you?</a:t>
            </a:r>
            <a:endParaRPr lang="en-US" sz="1050" dirty="0"/>
          </a:p>
        </p:txBody>
      </p:sp>
      <p:sp>
        <p:nvSpPr>
          <p:cNvPr id="33" name="Text 30"/>
          <p:cNvSpPr txBox="1"/>
          <p:nvPr/>
        </p:nvSpPr>
        <p:spPr>
          <a:xfrm>
            <a:off x="8202168" y="2752344"/>
            <a:ext cx="3383280" cy="477774"/>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التَّحَدِّي أَنْ ______ كُلَّ يَوْمٍ.</a:t>
            </a:r>
            <a:endParaRPr lang="ar-SA" sz="1800" dirty="0"/>
          </a:p>
        </p:txBody>
      </p:sp>
      <p:sp>
        <p:nvSpPr>
          <p:cNvPr id="34" name="Text 31"/>
          <p:cNvSpPr txBox="1"/>
          <p:nvPr/>
        </p:nvSpPr>
        <p:spPr>
          <a:xfrm>
            <a:off x="6327648" y="2752344"/>
            <a:ext cx="1828800" cy="477774"/>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 · The challenge was to … every day.</a:t>
            </a:r>
            <a:endParaRPr lang="en-US" sz="1050" dirty="0"/>
          </a:p>
        </p:txBody>
      </p:sp>
      <p:sp>
        <p:nvSpPr>
          <p:cNvPr id="35" name="Text 32"/>
          <p:cNvSpPr txBox="1"/>
          <p:nvPr/>
        </p:nvSpPr>
        <p:spPr>
          <a:xfrm>
            <a:off x="8202168" y="3255264"/>
            <a:ext cx="3383280" cy="477774"/>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أَكَلْتُ ______ وَمَارَسْتُ ______ .</a:t>
            </a:r>
            <a:endParaRPr lang="ar-SA" sz="1800" dirty="0"/>
          </a:p>
        </p:txBody>
      </p:sp>
      <p:sp>
        <p:nvSpPr>
          <p:cNvPr id="36" name="Text 33"/>
          <p:cNvSpPr txBox="1"/>
          <p:nvPr/>
        </p:nvSpPr>
        <p:spPr>
          <a:xfrm>
            <a:off x="6327648" y="3255264"/>
            <a:ext cx="1828800" cy="477774"/>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2 · I ate … and did …</a:t>
            </a:r>
            <a:endParaRPr lang="en-US" sz="1050" dirty="0"/>
          </a:p>
        </p:txBody>
      </p:sp>
      <p:sp>
        <p:nvSpPr>
          <p:cNvPr id="37" name="Text 34"/>
          <p:cNvSpPr txBox="1"/>
          <p:nvPr/>
        </p:nvSpPr>
        <p:spPr>
          <a:xfrm>
            <a:off x="8202168" y="3758184"/>
            <a:ext cx="3383280" cy="477774"/>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______ صَعْبًا لِأَنَّ ______ .</a:t>
            </a:r>
            <a:endParaRPr lang="ar-SA" sz="1800" dirty="0"/>
          </a:p>
        </p:txBody>
      </p:sp>
      <p:sp>
        <p:nvSpPr>
          <p:cNvPr id="38" name="Text 35"/>
          <p:cNvSpPr txBox="1"/>
          <p:nvPr/>
        </p:nvSpPr>
        <p:spPr>
          <a:xfrm>
            <a:off x="6327648" y="3758184"/>
            <a:ext cx="1828800" cy="477774"/>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 … was hard because …</a:t>
            </a:r>
            <a:endParaRPr lang="en-US" sz="1050" dirty="0"/>
          </a:p>
        </p:txBody>
      </p:sp>
      <p:sp>
        <p:nvSpPr>
          <p:cNvPr id="39" name="Text 36"/>
          <p:cNvSpPr txBox="1"/>
          <p:nvPr/>
        </p:nvSpPr>
        <p:spPr>
          <a:xfrm>
            <a:off x="8202168" y="4261104"/>
            <a:ext cx="3383280" cy="477774"/>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سَأَسْتَمِرُّ فِي ______ .</a:t>
            </a:r>
            <a:endParaRPr lang="ar-SA" sz="1800" dirty="0"/>
          </a:p>
        </p:txBody>
      </p:sp>
      <p:sp>
        <p:nvSpPr>
          <p:cNvPr id="40" name="Text 37"/>
          <p:cNvSpPr txBox="1"/>
          <p:nvPr/>
        </p:nvSpPr>
        <p:spPr>
          <a:xfrm>
            <a:off x="6327648" y="4261104"/>
            <a:ext cx="1828800" cy="477774"/>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4 · In the future I will keep …</a:t>
            </a:r>
            <a:endParaRPr lang="en-US" sz="1050" dirty="0"/>
          </a:p>
        </p:txBody>
      </p:sp>
      <p:sp>
        <p:nvSpPr>
          <p:cNvPr id="41" name="Text 38"/>
          <p:cNvSpPr txBox="1"/>
          <p:nvPr/>
        </p:nvSpPr>
        <p:spPr>
          <a:xfrm>
            <a:off x="8202168" y="4764024"/>
            <a:ext cx="3383280" cy="477774"/>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وَأَنْتَ؟ إِلَى اللِّقَاءِ.</a:t>
            </a:r>
            <a:endParaRPr lang="ar-SA" sz="1800" dirty="0"/>
          </a:p>
        </p:txBody>
      </p:sp>
      <p:sp>
        <p:nvSpPr>
          <p:cNvPr id="42" name="Text 39"/>
          <p:cNvSpPr txBox="1"/>
          <p:nvPr/>
        </p:nvSpPr>
        <p:spPr>
          <a:xfrm>
            <a:off x="6327648" y="4764024"/>
            <a:ext cx="1828800" cy="477774"/>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 See you.</a:t>
            </a:r>
            <a:endParaRPr lang="en-US" sz="1050" dirty="0"/>
          </a:p>
        </p:txBody>
      </p:sp>
      <p:sp>
        <p:nvSpPr>
          <p:cNvPr id="43" name="Shape 4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5" name="Text 4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شَرِبْتُ المَاءَ  ·  الخُضَارُ وَالفَوَاكِهُ  ·  مَشَيْتُ  ·  نِمْتُ مُبَكِّرًا  ·  تَجَنَّبْتُ السُّكَّرَ  ·  الحَلَوِيَّاتُ  ·  نَشِيطٌ / نَشِيطَةٌ  ·  صِحِّيٌّ</a:t>
            </a:r>
            <a:endParaRPr lang="ar-SA" sz="16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4 · WRITE, THEN SWAP · 14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Question 2 — bullet by bullet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 ثُمَّ بَادِلْ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4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Two rounds of writing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Round 1 (6 min): write bullets 1 and 2. SWAP: your buddy reads and ticks “bullet covered?”. Round 2 (6 min): write bullets 3 and 4 and your closing. SWAP again.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Start with a greeting; end with a closing and a question.</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short paragraph per bullet — tick it off your plan.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at least one upgrade from Step 3 in every paragraph.</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Count your words: about 80–90.</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the Core frames. Aim for 60–70 words, every bullet covered.</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Develop frames only if stuck. Add a reason and a time word to every bullet. 80–90 words.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frames. Add a contrast (</a:t>
            </a:r>
            <a:pPr algn="l" indent="0" marL="0">
              <a:buNone/>
            </a:pPr>
            <a:r>
              <a:rPr lang="ar-SA" altLang="en-US" sz="1500" dirty="0">
                <a:solidFill>
                  <a:srgbClr val="1F2A37"/>
                </a:solidFill>
                <a:latin typeface="Amiri" pitchFamily="2" charset="-78"/>
                <a:ea typeface="Amiri" pitchFamily="2" charset="-78"/>
                <a:cs typeface="Amiri" pitchFamily="2" charset="-78"/>
              </a:rPr>
              <a:t>لٰكِنَّ</a:t>
            </a:r>
            <a:pPr algn="l" indent="0" marL="0">
              <a:buNone/>
            </a:pPr>
            <a:r>
              <a:rPr lang="en-US" sz="1150" dirty="0">
                <a:solidFill>
                  <a:srgbClr val="1F2A37"/>
                </a:solidFill>
                <a:latin typeface="Calibri" pitchFamily="34" charset="0"/>
                <a:cs typeface="Amiri" pitchFamily="2" charset="-78"/>
              </a:rPr>
              <a:t>) and a future plan. Up to 90 words, with no errors.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 بَعْدَ ذٰلِكَ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 after that</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لِذٰلِكَ</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so</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لٰكِنَّ · وَلٰكِنْ</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but</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SPOT AND FIX · MISTAKES STUDENTS OFTEN MAKE IN THIS TOPIC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نَشْرَبُ المَاءَ.</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at the verb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أَكَلْتُ وَجَبَاتٍ سَرِيعٍ أَمْسِ.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Agreement with a non-human plural.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غَدًا أَمْشِي إِلَى المَدْرَسَةِ.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time?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5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نَشْرَبُ المَاءَ.</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نَشْرَبَ المَاءَ.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ends in -a: </a:t>
            </a:r>
            <a:pPr algn="l" indent="0" marL="0">
              <a:buNone/>
            </a:pPr>
            <a:r>
              <a:rPr lang="ar-SA" altLang="en-US" sz="1500" b="1" dirty="0">
                <a:solidFill>
                  <a:srgbClr val="1B3B6F"/>
                </a:solidFill>
                <a:latin typeface="Amiri" pitchFamily="2" charset="-78"/>
                <a:ea typeface="Amiri" pitchFamily="2" charset="-78"/>
                <a:cs typeface="Amiri" pitchFamily="2" charset="-78"/>
              </a:rPr>
              <a:t>نَشْرَبَ</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أَكَلْتُ وَجَبَاتٍ سَرِيعٍ أَمْسِ.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أَكَلْتُ وَجَبَاتٍ سَرِيعَةً أَمْسِ.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 feminine singular adjective: </a:t>
            </a:r>
            <a:pPr algn="l" indent="0" marL="0">
              <a:buNone/>
            </a:pPr>
            <a:r>
              <a:rPr lang="ar-SA" altLang="en-US" sz="1500" b="1" dirty="0">
                <a:solidFill>
                  <a:srgbClr val="1B3B6F"/>
                </a:solidFill>
                <a:latin typeface="Amiri" pitchFamily="2" charset="-78"/>
                <a:ea typeface="Amiri" pitchFamily="2" charset="-78"/>
                <a:cs typeface="Amiri" pitchFamily="2" charset="-78"/>
              </a:rPr>
              <a:t>سَرِيعَةً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غَدًا أَمْشِي إِلَى المَدْرَسَةِ.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غَدًا سَأَمْشِي إِلَى المَدْرَسَةِ.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Future time → sa- + present: </a:t>
            </a:r>
            <a:pPr algn="l" indent="0" marL="0">
              <a:buNone/>
            </a:pPr>
            <a:r>
              <a:rPr lang="ar-SA" altLang="en-US" sz="1500" b="1" dirty="0">
                <a:solidFill>
                  <a:srgbClr val="1B3B6F"/>
                </a:solidFill>
                <a:latin typeface="Amiri" pitchFamily="2" charset="-78"/>
                <a:ea typeface="Amiri" pitchFamily="2" charset="-78"/>
                <a:cs typeface="Amiri" pitchFamily="2" charset="-78"/>
              </a:rPr>
              <a:t>سَأَمْشِي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BUDDY CHECK · READ YOUR BUDDY’S Q2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ALL four bullets (one paragraph each)?</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the right verb ending (I · we) and the right tense for each bullet?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adjectives agree (m. / f. / non-human plural)?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and give at least two reasons?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past, present AND future, and give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WWW + one EBI.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6 · QUESTION 3 · HOW TO BUILD ONE STRONG PARAGRAPH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The paragraph formula: T · D · R · F</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تَكْتُبُ فِقْرَةً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FOUR PARTS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 — TOPIC sentence: say what the paragraph is about.</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 — DETAILS: what, when, where, with whom (two sentences).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 — REASON: why? (</a:t>
            </a:r>
            <a:pPr algn="l" indent="0" marL="0">
              <a:buNone/>
            </a:pPr>
            <a:r>
              <a:rPr lang="ar-SA" altLang="en-US" sz="1700" dirty="0">
                <a:solidFill>
                  <a:srgbClr val="1F2A37"/>
                </a:solidFill>
                <a:latin typeface="Amiri" pitchFamily="2" charset="-78"/>
                <a:ea typeface="Amiri" pitchFamily="2" charset="-78"/>
                <a:cs typeface="Amiri" pitchFamily="2" charset="-78"/>
              </a:rPr>
              <a:t>لِأَنَّ … / لِذٰلِكَ</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 — FEELING or opinion, and (Stretch) a link to the future.</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FORMULA IN ACTION</a:t>
            </a:r>
            <a:endParaRPr lang="en-US" sz="1000" dirty="0"/>
          </a:p>
        </p:txBody>
      </p:sp>
      <p:sp>
        <p:nvSpPr>
          <p:cNvPr id="31" name="Text 28"/>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قَبْلَ سَنَةٍ قَرَّرْتُ أَنْ أُغَيِّرَ عَادَةً سَيِّئَةً.</a:t>
            </a:r>
            <a:endParaRPr lang="ar-SA" sz="2650" dirty="0"/>
          </a:p>
        </p:txBody>
      </p:sp>
      <p:sp>
        <p:nvSpPr>
          <p:cNvPr id="32" name="Text 29"/>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 · A year ago I decided to change a bad habit.</a:t>
            </a:r>
            <a:endParaRPr lang="en-US" sz="1100" dirty="0"/>
          </a:p>
        </p:txBody>
      </p:sp>
      <p:sp>
        <p:nvSpPr>
          <p:cNvPr id="33" name="Shape 30"/>
          <p:cNvSpPr/>
          <p:nvPr/>
        </p:nvSpPr>
        <p:spPr>
          <a:xfrm>
            <a:off x="6995160" y="3195828"/>
            <a:ext cx="4553712" cy="0"/>
          </a:xfrm>
          <a:prstGeom prst="line">
            <a:avLst/>
          </a:prstGeom>
          <a:noFill/>
          <a:ln w="9525">
            <a:solidFill>
              <a:srgbClr val="E4DCCB"/>
            </a:solidFill>
            <a:prstDash val="dash"/>
          </a:ln>
        </p:spPr>
      </p:sp>
      <p:sp>
        <p:nvSpPr>
          <p:cNvPr id="34" name="Text 31"/>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كُنْتُ أَشْرَبُ المَشْرُوبَاتِ الغَازِيَّةَ كُلَّ يَوْمٍ.</a:t>
            </a:r>
            <a:endParaRPr lang="ar-SA" sz="2650" dirty="0"/>
          </a:p>
        </p:txBody>
      </p:sp>
      <p:sp>
        <p:nvSpPr>
          <p:cNvPr id="35" name="Text 32"/>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 · I used to drink fizzy drinks every day.</a:t>
            </a:r>
            <a:endParaRPr lang="en-US" sz="1100" dirty="0"/>
          </a:p>
        </p:txBody>
      </p:sp>
      <p:sp>
        <p:nvSpPr>
          <p:cNvPr id="36" name="Shape 33"/>
          <p:cNvSpPr/>
          <p:nvPr/>
        </p:nvSpPr>
        <p:spPr>
          <a:xfrm>
            <a:off x="6995160" y="4215384"/>
            <a:ext cx="4553712" cy="0"/>
          </a:xfrm>
          <a:prstGeom prst="line">
            <a:avLst/>
          </a:prstGeom>
          <a:noFill/>
          <a:ln w="9525">
            <a:solidFill>
              <a:srgbClr val="E4DCCB"/>
            </a:solidFill>
            <a:prstDash val="dash"/>
          </a:ln>
        </p:spPr>
      </p:sp>
      <p:sp>
        <p:nvSpPr>
          <p:cNvPr id="37" name="Text 34"/>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قَرَّرْتُ ذٰلِكَ لِأَنَّ طَبِيبَ الأَسْنَانِ نَصَحَنِي.</a:t>
            </a:r>
            <a:endParaRPr lang="ar-SA" sz="2650" dirty="0"/>
          </a:p>
        </p:txBody>
      </p:sp>
      <p:sp>
        <p:nvSpPr>
          <p:cNvPr id="38" name="Text 35"/>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 · because the dentist advised me.</a:t>
            </a:r>
            <a:endParaRPr lang="en-US" sz="1100" dirty="0"/>
          </a:p>
        </p:txBody>
      </p:sp>
      <p:sp>
        <p:nvSpPr>
          <p:cNvPr id="39" name="Shape 36"/>
          <p:cNvSpPr/>
          <p:nvPr/>
        </p:nvSpPr>
        <p:spPr>
          <a:xfrm>
            <a:off x="6995160" y="5234940"/>
            <a:ext cx="4553712" cy="0"/>
          </a:xfrm>
          <a:prstGeom prst="line">
            <a:avLst/>
          </a:prstGeom>
          <a:noFill/>
          <a:ln w="9525">
            <a:solidFill>
              <a:srgbClr val="E4DCCB"/>
            </a:solidFill>
            <a:prstDash val="dash"/>
          </a:ln>
        </p:spPr>
      </p:sp>
      <p:sp>
        <p:nvSpPr>
          <p:cNvPr id="40" name="Text 37"/>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الآنَ أَشْعُرُ أَنِّي أَقْوَى، وَسَأَسْتَمِرُّ.</a:t>
            </a:r>
            <a:endParaRPr lang="ar-SA" sz="2650" dirty="0"/>
          </a:p>
        </p:txBody>
      </p:sp>
      <p:sp>
        <p:nvSpPr>
          <p:cNvPr id="41" name="Text 38"/>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 · Now I feel stronger, and I will keep going.</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6 · WRITE ONE PARAGRAPH OF QUESTION 3 · ABOUT 50–70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Question 3, one paragraph: a healthy change in my life</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تَغْيِيرٌ صِحِّيٌّ فِي حَيَاتِي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67335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67335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Q3 · ONE PARAGRAPH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Full Q3 title: “A healthy change in my life”. Today write ONLY the past paragraph: the day you decided to change one unhealthy habit — what the habit was, what happened, why you decided, and how you felt.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 — a topic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 — two details (when, where, who, what).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 — a reason with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لِذٰلِكَ</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 — a feeling or opinion (Stretch: +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past verbs with the right ending?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 FOR THIS PARAGRAPH</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 قَرَّرْتُ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ago I decided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 كُلَّ يَوْمٍ</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used to … every day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نَصَحَنِي …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advised me to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البِدَايَةِ كَانَ صَعْبًا، لٰكِنْ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first it was hard, but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شَعَرْتُ بِالفَخْرِ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felt proud</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QUESTION 2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Q2: compare with a strong answer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مَرْحَبًا يَا عُمَرُ،</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كَيْفَ حَالُكَ؟ فِي الأُسْبُوعِ المَاضِي نَظَّمَتْ مَدْرَسَتِي "أُسْبُوعَ الصِّحَّةِ"، وَكَانَ التَّحَدِّي أَنْ نَأْكُلَ خَمْسَ حِصَصٍ مِنَ الخُضَارِ وَالفَوَاكِهِ كُلَّ يَوْمٍ، وَأَنْ نَمْشِيَ عَشْرَةَ آلَافِ خُطْوَةٍ. كُلَّ صَبَاحٍ شَرِبْتُ كُوبَيْنِ مِنَ المَاءِ، ثُمَّ مَشَيْتُ إِلَى المَدْرَسَةِ مَعَ أَخِي. أَصْعَبُ شَيْءٍ كَانَ تَرْكَ الحَلَوِيَّاتِ، لِأَنِّي أُحِبُّ الشُّوكُولَاتَةَ كَثِيرًا! لٰكِنِّي شَعَرْتُ أَنِّي أَنْشَطُ، وَأَنَامُ أَفْضَلَ. لِذٰلِكَ سَأَسْتَمِرُّ فِي المَشْيِ كُلَّ يَوْمٍ، وَسَأُحَاوِلُ أَنْ آكُلَ الحَلَوِيَّاتِ مَرَّةً وَاحِدَةً فِي الأُسْبُوعِ فَقَطْ. وَأَنْتَ، هَلْ جَرَّبْتَ تَحَدِّيًا مِثْلَ هٰذَا؟</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إِلَى اللِّقَاءِ،</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يُوسُفُ</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“Hi Omar, how are you? Last week my school organised a “health week”: the challenge was to eat five portions of vegetables and fruit every day and to walk ten thousand steps. Every morning I drank two glasses of water, then walked to school with my brother. The hardest thing was giving up sweets, because I love chocolate! But I felt more active and slept better. So I will keep walking every day and try to eat sweets only once a week. And you, have you tried a challenge like this? See you,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التَّحَدِّي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كُلَّ صَبَاحٍ … ثُمَّ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لِأَنِّي أُحِبُّ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سَأَسْتَمِرُّ فِي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QUESTION 3 · ONE PARAGRAPH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Q3 paragraph: T · D · R · F in a model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الفِقْرَةِ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قَبْلَ سِتَّةِ أَشْهُرٍ قَرَّرْتُ أَنْ أُغَيِّرَ عَادَةً سَيِّئَةً جِدًّا. كُنْتُ أَسْهَرُ أَمَامَ الهَاتِفِ حَتَّى السَّاعَةِ الوَاحِدَةِ لَيْلًا، فَكُنْتُ أَذْهَبُ إِلَى المَدْرَسَةِ مُتْعَبًا. وَفِي يَوْمٍ مِنَ الأَيَّامِ نِمْتُ فِي حِصَّةِ الرِّيَاضِيَّاتِ، فَنَصَحَتْنِي مُعَلِّمَتِي أَنْ أَتْرُكَ الهَاتِفَ خَارِجَ غُرْفَتِي. فِي البِدَايَةِ كَانَ ذٰلِكَ صَعْبًا، لٰكِنِّي الآنَ أَنَامُ ثَمَانِيَ سَاعَاتٍ، وَأَشْعُرُ بِالفَخْرِ لِأَنِّي نَجَحْتُ. وَفِي المُسْتَقْبَلِ سَأُحَافِظُ عَلَى هٰذِهِ العَادَةِ الجَدِيدَةِ.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 six months ago I decided to change a very bad habit · D: I used to stay up on my phone until 1 a.m., so I went to school tired; one day I fell asleep in maths and my teacher advised me to leave my phone outside my room · R/F: at first it was hard, but now I sleep eight hours and feel proud because I succeeded · future: I will keep this new habit.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قَبْلَ سِتَّةِ أَشْهُرٍ قَرَّرْتُ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أَسْهَرُ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فَنَصَحَتْنِي …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أَشْعُرُ بِالفَخْرِ لِأَنِّي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practice room · AT-A-L06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decoded every bullet: question word and tense.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Q2 answers all four bullets,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upgraded my sentences: detail + reason in every bullet.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work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Q3 paragraph has T, D, R and F, with past and future.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wrote it yourself!</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cs typeface="Amiri" pitchFamily="2" charset="-78"/>
              </a:rPr>
              <a:t>AT-A-L07 · The next lesson in the topic</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الدَّرْسُ التَّالِي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decode → plan → write → check. Every bullet,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AT-A-L06 · Writing Practice Room — A Healthy Lifestyle</dc:title>
  <dc:subject>PptxGenJS Presentation</dc:subject>
  <dc:creator>Al Madina Online School · Arabic Department</dc:creator>
  <cp:lastModifiedBy>Al Madina Online School · Arabic Department</cp:lastModifiedBy>
  <cp:revision>1</cp:revision>
  <dcterms:created xsi:type="dcterms:W3CDTF">2026-10-25T13:10:27Z</dcterms:created>
  <dcterms:modified xsi:type="dcterms:W3CDTF">2026-10-25T13:10:27Z</dcterms:modified>
</cp:coreProperties>
</file>