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6 (Healthy Eating and Lifestyle Choices, AT-A-L06)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(79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(58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AT-A-L06</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AT-A-L06</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A Healthy Lifestyle</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نَمَطُ الحَيَاةِ الصِّحِّيُّ</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learn and practise a repeatable writing process in breakout rooms: a Q1 warm-up, decoding a new Q2 task (a healthy-week challenge), upgrading sentences, writing with a buddy, spotting and fixing errors, and writing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AT-A-L06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AT-A-L06</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Fitness club: new member form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اسْتِمَارَةُ نَادِي اللِّيَاقَةِ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Full 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 الكَامِلُ</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36408" y="2881884"/>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number + </a:t>
            </a:r>
            <a:pPr algn="l" indent="0" marL="0">
              <a:buNone/>
            </a:pPr>
            <a:r>
              <a:rPr lang="ar-SA" altLang="en-US" sz="1450" dirty="0">
                <a:solidFill>
                  <a:srgbClr val="5A6472"/>
                </a:solidFill>
                <a:latin typeface="Amiri" pitchFamily="2" charset="-78"/>
                <a:ea typeface="Amiri" pitchFamily="2" charset="-78"/>
                <a:cs typeface="Amiri" pitchFamily="2" charset="-78"/>
              </a:rPr>
              <a:t>سَنَةً</a:t>
            </a:r>
            <a:pPr algn="l" indent="0" marL="0">
              <a:buNone/>
            </a:pPr>
            <a:r>
              <a:rPr lang="en-US" sz="1100" dirty="0">
                <a:solidFill>
                  <a:srgbClr val="5A6472"/>
                </a:solidFill>
                <a:latin typeface="Calibri" pitchFamily="34" charset="0"/>
                <a:cs typeface="Amiri" pitchFamily="2" charset="-78"/>
              </a:rPr>
              <a:t>: </a:t>
            </a:r>
            <a:pPr algn="l" indent="0" marL="0">
              <a:buNone/>
            </a:pPr>
            <a:r>
              <a:rPr lang="ar-SA" altLang="en-US" sz="1450" dirty="0">
                <a:solidFill>
                  <a:srgbClr val="5A6472"/>
                </a:solidFill>
                <a:latin typeface="Amiri" pitchFamily="2" charset="-78"/>
                <a:ea typeface="Amiri" pitchFamily="2" charset="-78"/>
                <a:cs typeface="Amiri" pitchFamily="2" charset="-78"/>
              </a:rPr>
              <a:t>خَمْسَ عَشْرَةَ سَنَةً</a:t>
            </a:r>
            <a:endParaRPr lang="en-US" sz="11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Age</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العُمُرُ</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36408" y="3496056"/>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With al-: </a:t>
            </a:r>
            <a:pPr algn="l" indent="0" marL="0">
              <a:buNone/>
            </a:pPr>
            <a:r>
              <a:rPr lang="ar-SA" altLang="en-US" sz="1450" dirty="0">
                <a:solidFill>
                  <a:srgbClr val="5A6472"/>
                </a:solidFill>
                <a:latin typeface="Amiri" pitchFamily="2" charset="-78"/>
                <a:ea typeface="Amiri" pitchFamily="2" charset="-78"/>
                <a:cs typeface="Amiri" pitchFamily="2" charset="-78"/>
              </a:rPr>
              <a:t>السِّبَاحَةُ</a:t>
            </a:r>
            <a:endParaRPr lang="en-US" sz="11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Favourite sport</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الرِّيَاضَةُ المُفَضَّلَةُ</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مَرَّتَيْنِ فِي الأُسْبُوعِ</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you train</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تَتَدَرَّبُ؟</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السُّكَّرُ · الوَجَبَاتُ السَّرِيعَةُ</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food you avoid</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طَعَامٌ تَتَجَنَّبُهُ</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36408" y="5338572"/>
            <a:ext cx="3822192" cy="559308"/>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أُرِيدُ أَنْ</a:t>
            </a:r>
            <a:pPr algn="l" indent="0" marL="0">
              <a:buNone/>
            </a:pPr>
            <a:r>
              <a:rPr lang="en-US" sz="1100" dirty="0">
                <a:solidFill>
                  <a:srgbClr val="5A6472"/>
                </a:solidFill>
                <a:latin typeface="Calibri" pitchFamily="34" charset="0"/>
                <a:cs typeface="Amiri" pitchFamily="2" charset="-78"/>
              </a:rPr>
              <a:t> + a verb in -a: </a:t>
            </a:r>
            <a:pPr algn="l" indent="0" marL="0">
              <a:buNone/>
            </a:pPr>
            <a:r>
              <a:rPr lang="ar-SA" altLang="en-US" sz="1450" dirty="0">
                <a:solidFill>
                  <a:srgbClr val="5A6472"/>
                </a:solidFill>
                <a:latin typeface="Amiri" pitchFamily="2" charset="-78"/>
                <a:ea typeface="Amiri" pitchFamily="2" charset="-78"/>
                <a:cs typeface="Amiri" pitchFamily="2" charset="-78"/>
              </a:rPr>
              <a:t>أُرِيدُ أَنْ أَكُونَ نَشِيطًا</a:t>
            </a:r>
            <a:endParaRPr lang="en-US" sz="11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why do you want to join?</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لِمَاذَا تُرِيدُ أَنْ تَشْتَرِكَ؟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50" b="1" dirty="0">
                <a:solidFill>
                  <a:srgbClr val="1B3B6F"/>
                </a:solidFill>
                <a:latin typeface="Cambria" pitchFamily="34" charset="0"/>
                <a:cs typeface="Amiri" pitchFamily="2" charset="-78"/>
              </a:rPr>
              <a:t>Question 2: the healthy-week challenge</a:t>
            </a:r>
            <a:endParaRPr lang="en-US" sz="24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الأُسْبُوعِ الصِّحِّيِّ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Your school ran a “healthy week” challenge. Write an email in Arabic to your friend of about 80–90 words. You must include: • what the challenge was • what you did during the week • what was difficult, and why • what you will carry on doing in the future.</a:t>
            </a:r>
            <a:endParaRPr lang="en-US" sz="12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Past (bullets 1–3) and future (bullet 4).</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التَّحَدِّي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the challenge was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صَعْبًا لِأَنَّ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it was hard because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سَأَسْتَمِرُّ فِي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carry on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إِلَى صَدِيقِكَ عَنْ تَحَدِّي الأُسْبُوعِ الصِّحِّيِّ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كَانَ التَّحَدِّي؟</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فَعَلْتَ خِلَالَ الأُسْبُوعِ؟</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الشَّيْءُ الصَّعْبُ؟ وَلِمَاذَا؟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سَتَسْتَمِرُّ فِي فِعْلِهِ فِي المُسْتَقْبَلِ؟</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to your friend about the healthy-week challenge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email to a FRIEND → informal greeting and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إِلَى صَدِيقِكَ عَنْ تَحَدِّي الأُسْبُوعِ الصِّحِّيِّ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the challenge was</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كَانَ</a:t>
            </a:r>
            <a:pPr algn="l" indent="0" marL="0">
              <a:buNone/>
            </a:pPr>
            <a:r>
              <a:rPr lang="en-US" sz="1100" dirty="0">
                <a:solidFill>
                  <a:srgbClr val="5A6472"/>
                </a:solidFill>
                <a:latin typeface="Calibri" pitchFamily="34" charset="0"/>
                <a:cs typeface="Amiri" pitchFamily="2" charset="-78"/>
              </a:rPr>
              <a:t> → PAST (kāna)</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كَانَ التَّحَدِّي؟</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did during the week</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فَعَلْتَ</a:t>
            </a:r>
            <a:pPr algn="l" indent="0" marL="0">
              <a:buNone/>
            </a:pPr>
            <a:r>
              <a:rPr lang="en-US" sz="1100" dirty="0">
                <a:solidFill>
                  <a:srgbClr val="5A6472"/>
                </a:solidFill>
                <a:latin typeface="Calibri" pitchFamily="34" charset="0"/>
                <a:cs typeface="Amiri" pitchFamily="2" charset="-78"/>
              </a:rPr>
              <a:t> → PAST (faʿaltu)</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فَعَلْتَ خِلَالَ الأُسْبُوعِ؟</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was difficult, and why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 … وَلِمَاذَا</a:t>
            </a:r>
            <a:pPr algn="l" indent="0" marL="0">
              <a:buNone/>
            </a:pPr>
            <a:r>
              <a:rPr lang="en-US" sz="1100" dirty="0">
                <a:solidFill>
                  <a:srgbClr val="5A6472"/>
                </a:solidFill>
                <a:latin typeface="Calibri" pitchFamily="34" charset="0"/>
                <a:cs typeface="Amiri" pitchFamily="2" charset="-78"/>
              </a:rPr>
              <a:t> → PAST + a reason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الشَّيْءُ الصَّعْبُ؟ وَلِمَاذَا؟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will carry on doing</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سَتَسْتَمِرُّ</a:t>
            </a:r>
            <a:pPr algn="l" indent="0" marL="0">
              <a:buNone/>
            </a:pPr>
            <a:r>
              <a:rPr lang="en-US" sz="1100" dirty="0">
                <a:solidFill>
                  <a:srgbClr val="5A6472"/>
                </a:solidFill>
                <a:latin typeface="Calibri" pitchFamily="34" charset="0"/>
                <a:cs typeface="Amiri" pitchFamily="2" charset="-78"/>
              </a:rPr>
              <a:t> → FUTURE (sa- / sawfa)</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سَتَسْتَمِرُّ فِي فِعْلِهِ فِي المُسْتَقْبَلِ؟</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أَشْرَبُ المَاءَ.</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drink water.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أَشْرَبُ ثَمَانِيَةَ أَكْوَابٍ مِنَ المَاءِ كُلَّ يَوْمٍ.</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I drink eight glasses of water every day.</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أَشْرَبُ ثَمَانِيَةَ أَكْوَابٍ مِنَ المَاءِ كُلَّ يَوْمٍ، لِأَنَّ المَاءَ يُسَاعِدُنِي عَلَى التَّرْكِيزِ.</a:t>
            </a:r>
            <a:endParaRPr lang="ar-SA" sz="195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water helps me concentrate.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2" charset="-78"/>
                <a:ea typeface="Amiri" pitchFamily="2" charset="-78"/>
                <a:cs typeface="Amiri" pitchFamily="2" charset="-78"/>
              </a:rPr>
              <a:t>… وَفِي رَأْيِي هُوَ أَفْضَلُ مِنَ المَشْرُوبَاتِ الغَازِيَّةِ، لٰكِنِّي أَنْسَى أَحْيَانًا!</a:t>
            </a:r>
            <a:endParaRPr lang="ar-SA" sz="22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it is better than fizzy drinks — but sometimes I forget!</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We must eat vegetables every day.</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 أَنْ</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يَجِبُ</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نَأْكُلَ الخُضَارَ</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نَأْكُلُ الخُضَارَ</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كُلَّ يَوْمٍ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أَمْسِ</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sister is active because she runs in the morning.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 نَشِيطٌ</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 نَشِيطَةٌ</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لِأَنَّهَا تَرْكُضُ</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لِأَنَّهُ يَرْكُضُ</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الصَّبَاحِ</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المَسَاءِ</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Last week I avoided fast food.</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المَاضِي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الأُسْبُوعِ القَادِمِ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تَجَنَّبْتُ</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أَتَجَنَّبُ</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الوَجَبَاتِ السَّرِيعَةَ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الوَجَبَاتُ السَّرِيعَةُ</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We must eat vegetables every day.</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the verb ends in -a: </a:t>
            </a:r>
            <a:pPr algn="l" indent="0" marL="0">
              <a:buNone/>
            </a:pPr>
            <a:r>
              <a:rPr lang="ar-SA" altLang="en-US" sz="1350" dirty="0">
                <a:solidFill>
                  <a:srgbClr val="5A6472"/>
                </a:solidFill>
                <a:latin typeface="Amiri" pitchFamily="2" charset="-78"/>
                <a:ea typeface="Amiri" pitchFamily="2" charset="-78"/>
                <a:cs typeface="Amiri" pitchFamily="2" charset="-78"/>
              </a:rPr>
              <a:t>نَأْكُلَ</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يَجِبُ أَنْ نَأْكُلَ الخُضَارَ كُلَّ يَوْمٍ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sister is active because she runs in the morning.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B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 girl → </a:t>
            </a:r>
            <a:pPr algn="l" indent="0" marL="0">
              <a:buNone/>
            </a:pPr>
            <a:r>
              <a:rPr lang="ar-SA" altLang="en-US" sz="1350" dirty="0">
                <a:solidFill>
                  <a:srgbClr val="5A6472"/>
                </a:solidFill>
                <a:latin typeface="Amiri" pitchFamily="2" charset="-78"/>
                <a:ea typeface="Amiri" pitchFamily="2" charset="-78"/>
                <a:cs typeface="Amiri" pitchFamily="2" charset="-78"/>
              </a:rPr>
              <a:t>نَشِيطَةٌ</a:t>
            </a:r>
            <a:pPr algn="l" indent="0" marL="0">
              <a:buNone/>
            </a:pPr>
            <a:r>
              <a:rPr lang="en-US" sz="1050" i="1" dirty="0">
                <a:solidFill>
                  <a:srgbClr val="5A6472"/>
                </a:solidFill>
                <a:latin typeface="Calibri" pitchFamily="34" charset="0"/>
                <a:cs typeface="Amiri" pitchFamily="2" charset="-78"/>
              </a:rPr>
              <a:t> and </a:t>
            </a:r>
            <a:pPr algn="l" indent="0" marL="0">
              <a:buNone/>
            </a:pPr>
            <a:r>
              <a:rPr lang="ar-SA" altLang="en-US" sz="1350" dirty="0">
                <a:solidFill>
                  <a:srgbClr val="5A6472"/>
                </a:solidFill>
                <a:latin typeface="Amiri" pitchFamily="2" charset="-78"/>
                <a:ea typeface="Amiri" pitchFamily="2" charset="-78"/>
                <a:cs typeface="Amiri" pitchFamily="2" charset="-78"/>
              </a:rPr>
              <a:t>لِأَنَّهَا تَرْكُضُ</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أُخْتِي نَشِيطَةٌ لِأَنَّهَا تَرْكُضُ فِي الصَّبَاحِ</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Last week I avoided fast food.</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Past time → past verb; the food is the object → -a / -i endings.</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فِي الأُسْبُوعِ المَاضِي تَجَنَّبْتُ الوَجَبَاتِ السَّرِيعَةَ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الهَدَفُ أَنْ ______ وَأَنْ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aim was to … and to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كُلَّ صَبَاحٍ ______ ، ثُمَّ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Every morning …, then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أَصْعَبُ شَيْءٍ كَانَ ______ ، لِأَنِّي ______ .</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The hardest thing was …, because I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لٰكِنِّي شَعَرْتُ أَنِّي ______ أَكْثَرَ.</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But I felt more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لِذٰلِكَ سَأَسْتَمِرُّ فِي ______ وَسَأُحَاوِلُ أَنْ ______ .</a:t>
            </a:r>
            <a:endParaRPr lang="ar-SA" sz="16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So I will keep … and try to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كَيْفَ حَالُكَ؟</a:t>
            </a:r>
            <a:endParaRPr lang="ar-SA" sz="1800" dirty="0"/>
          </a:p>
        </p:txBody>
      </p:sp>
      <p:sp>
        <p:nvSpPr>
          <p:cNvPr id="32" name="Text 29"/>
          <p:cNvSpPr txBox="1"/>
          <p:nvPr/>
        </p:nvSpPr>
        <p:spPr>
          <a:xfrm>
            <a:off x="6327648" y="22494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how are you?</a:t>
            </a:r>
            <a:endParaRPr lang="en-US" sz="1050" dirty="0"/>
          </a:p>
        </p:txBody>
      </p:sp>
      <p:sp>
        <p:nvSpPr>
          <p:cNvPr id="33" name="Text 30"/>
          <p:cNvSpPr txBox="1"/>
          <p:nvPr/>
        </p:nvSpPr>
        <p:spPr>
          <a:xfrm>
            <a:off x="8202168" y="275234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التَّحَدِّي أَنْ ______ كُلَّ يَوْمٍ.</a:t>
            </a:r>
            <a:endParaRPr lang="ar-SA" sz="1800" dirty="0"/>
          </a:p>
        </p:txBody>
      </p:sp>
      <p:sp>
        <p:nvSpPr>
          <p:cNvPr id="34" name="Text 31"/>
          <p:cNvSpPr txBox="1"/>
          <p:nvPr/>
        </p:nvSpPr>
        <p:spPr>
          <a:xfrm>
            <a:off x="6327648" y="275234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The challenge was to … every day.</a:t>
            </a:r>
            <a:endParaRPr lang="en-US" sz="1050" dirty="0"/>
          </a:p>
        </p:txBody>
      </p:sp>
      <p:sp>
        <p:nvSpPr>
          <p:cNvPr id="35" name="Text 32"/>
          <p:cNvSpPr txBox="1"/>
          <p:nvPr/>
        </p:nvSpPr>
        <p:spPr>
          <a:xfrm>
            <a:off x="8202168" y="325526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أَكَلْتُ ______ وَمَارَسْتُ ______ .</a:t>
            </a:r>
            <a:endParaRPr lang="ar-SA" sz="1800" dirty="0"/>
          </a:p>
        </p:txBody>
      </p:sp>
      <p:sp>
        <p:nvSpPr>
          <p:cNvPr id="36" name="Text 33"/>
          <p:cNvSpPr txBox="1"/>
          <p:nvPr/>
        </p:nvSpPr>
        <p:spPr>
          <a:xfrm>
            <a:off x="6327648" y="325526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I ate … and did …</a:t>
            </a:r>
            <a:endParaRPr lang="en-US" sz="1050" dirty="0"/>
          </a:p>
        </p:txBody>
      </p:sp>
      <p:sp>
        <p:nvSpPr>
          <p:cNvPr id="37" name="Text 34"/>
          <p:cNvSpPr txBox="1"/>
          <p:nvPr/>
        </p:nvSpPr>
        <p:spPr>
          <a:xfrm>
            <a:off x="8202168" y="375818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كَانَ ______ صَعْبًا لِأَنَّ ______ .</a:t>
            </a:r>
            <a:endParaRPr lang="ar-SA" sz="1800" dirty="0"/>
          </a:p>
        </p:txBody>
      </p:sp>
      <p:sp>
        <p:nvSpPr>
          <p:cNvPr id="38" name="Text 35"/>
          <p:cNvSpPr txBox="1"/>
          <p:nvPr/>
        </p:nvSpPr>
        <p:spPr>
          <a:xfrm>
            <a:off x="6327648" y="375818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 was hard because …</a:t>
            </a:r>
            <a:endParaRPr lang="en-US" sz="1050" dirty="0"/>
          </a:p>
        </p:txBody>
      </p:sp>
      <p:sp>
        <p:nvSpPr>
          <p:cNvPr id="39" name="Text 36"/>
          <p:cNvSpPr txBox="1"/>
          <p:nvPr/>
        </p:nvSpPr>
        <p:spPr>
          <a:xfrm>
            <a:off x="8202168" y="426110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المُسْتَقْبَلِ سَأَسْتَمِرُّ فِي ______ .</a:t>
            </a:r>
            <a:endParaRPr lang="ar-SA" sz="1800" dirty="0"/>
          </a:p>
        </p:txBody>
      </p:sp>
      <p:sp>
        <p:nvSpPr>
          <p:cNvPr id="40" name="Text 37"/>
          <p:cNvSpPr txBox="1"/>
          <p:nvPr/>
        </p:nvSpPr>
        <p:spPr>
          <a:xfrm>
            <a:off x="6327648" y="426110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In the future I will keep …</a:t>
            </a:r>
            <a:endParaRPr lang="en-US" sz="1050" dirty="0"/>
          </a:p>
        </p:txBody>
      </p:sp>
      <p:sp>
        <p:nvSpPr>
          <p:cNvPr id="41" name="Text 38"/>
          <p:cNvSpPr txBox="1"/>
          <p:nvPr/>
        </p:nvSpPr>
        <p:spPr>
          <a:xfrm>
            <a:off x="8202168" y="4764024"/>
            <a:ext cx="3383280" cy="477774"/>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وَأَنْتَ؟ إِلَى اللِّقَاءِ.</a:t>
            </a:r>
            <a:endParaRPr lang="ar-SA" sz="1800" dirty="0"/>
          </a:p>
        </p:txBody>
      </p:sp>
      <p:sp>
        <p:nvSpPr>
          <p:cNvPr id="42" name="Text 39"/>
          <p:cNvSpPr txBox="1"/>
          <p:nvPr/>
        </p:nvSpPr>
        <p:spPr>
          <a:xfrm>
            <a:off x="6327648" y="4764024"/>
            <a:ext cx="1828800" cy="477774"/>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And you? See you.</a:t>
            </a:r>
            <a:endParaRPr lang="en-US" sz="1050" dirty="0"/>
          </a:p>
        </p:txBody>
      </p:sp>
      <p:sp>
        <p:nvSpPr>
          <p:cNvPr id="43" name="Shape 4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Text 4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5" name="Text 4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شَرِبْتُ المَاءَ  ·  الخُضَارُ وَالفَوَاكِهُ  ·  مَشَيْتُ  ·  نِمْتُ مُبَكِّرًا  ·  تَجَنَّبْتُ السُّكَّرَ  ·  الحَلَوِيَّاتُ  ·  نَشِيطٌ / نَشِيطَةٌ  ·  صِحِّيٌّ</a:t>
            </a:r>
            <a:endParaRPr lang="ar-SA" sz="160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يَجِبُ أَنْ نَشْرَبُ المَاءَ.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أَكَلْتُ وَجَبَاتٍ سَرِيعٍ أَمْسِ.</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Agreement with a non-human plural.</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غَدًا أَمْشِي إِلَى المَدْرَسَةِ.</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time? Which tense?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يَجِبُ أَنْ نَشْرَبُ المَاءَ.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يَجِبُ أَنْ نَشْرَبَ المَاءَ.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ends in -a: </a:t>
            </a:r>
            <a:pPr algn="l" indent="0" marL="0">
              <a:buNone/>
            </a:pPr>
            <a:r>
              <a:rPr lang="ar-SA" altLang="en-US" sz="1500" b="1" dirty="0">
                <a:solidFill>
                  <a:srgbClr val="1B3B6F"/>
                </a:solidFill>
                <a:latin typeface="Amiri" pitchFamily="2" charset="-78"/>
                <a:ea typeface="Amiri" pitchFamily="2" charset="-78"/>
                <a:cs typeface="Amiri" pitchFamily="2" charset="-78"/>
              </a:rPr>
              <a:t>نَشْرَبَ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أَكَلْتُ وَجَبَاتٍ سَرِيعٍ أَمْسِ.</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أَكَلْتُ وَجَبَاتٍ سَرِيعَةً أَمْسِ.</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Non-human plural → feminine singular adjective: </a:t>
            </a:r>
            <a:pPr algn="l" indent="0" marL="0">
              <a:buNone/>
            </a:pPr>
            <a:r>
              <a:rPr lang="ar-SA" altLang="en-US" sz="1500" b="1" dirty="0">
                <a:solidFill>
                  <a:srgbClr val="1B3B6F"/>
                </a:solidFill>
                <a:latin typeface="Amiri" pitchFamily="2" charset="-78"/>
                <a:ea typeface="Amiri" pitchFamily="2" charset="-78"/>
                <a:cs typeface="Amiri" pitchFamily="2" charset="-78"/>
              </a:rPr>
              <a:t>سَرِيعَةً</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غَدًا أَمْشِي إِلَى المَدْرَسَةِ.</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غَدًا سَأَمْشِي إِلَى المَدْرَسَةِ.</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Future time → sa- + present: </a:t>
            </a:r>
            <a:pPr algn="l" indent="0" marL="0">
              <a:buNone/>
            </a:pPr>
            <a:r>
              <a:rPr lang="ar-SA" altLang="en-US" sz="1500" b="1" dirty="0">
                <a:solidFill>
                  <a:srgbClr val="1B3B6F"/>
                </a:solidFill>
                <a:latin typeface="Amiri" pitchFamily="2" charset="-78"/>
                <a:ea typeface="Amiri" pitchFamily="2" charset="-78"/>
                <a:cs typeface="Amiri" pitchFamily="2" charset="-78"/>
              </a:rPr>
              <a:t>سَأَمْشِي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قَبْلَ سَنَةٍ قَرَّرْتُ أَنْ أُغَيِّرَ عَادَةً سَيِّئَةً.</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A year ago I decided to change a bad habit.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كُنْتُ أَشْرَبُ المَشْرُوبَاتِ الغَازِيَّةَ كُلَّ يَوْمٍ.</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I used to drink fizzy drinks every day.</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قَرَّرْتُ ذٰلِكَ لِأَنَّ طَبِيبَ الأَسْنَانِ نَصَحَنِي.</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because the dentist advised me.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الآنَ أَشْعُرُ أَنِّي أَقْوَى، وَسَأَسْتَمِرُّ.</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Now I feel stronger, and I will keep going.</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00" b="1" dirty="0">
                <a:solidFill>
                  <a:srgbClr val="1B3B6F"/>
                </a:solidFill>
                <a:latin typeface="Cambria" pitchFamily="34" charset="0"/>
                <a:cs typeface="Amiri" pitchFamily="2" charset="-78"/>
              </a:rPr>
              <a:t>Question 3, one paragraph: a healthy change in my life</a:t>
            </a:r>
            <a:endParaRPr lang="en-US" sz="1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تَغْيِيرٌ صِحِّيٌّ فِي حَيَاتِي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“A healthy change in my life”. Today write ONLY the past paragraph: the day you decided to change one unhealthy habit — what the habit was, what happened, why you decided,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قَبْلَ … قَرَّرْتُ أَنْ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ago I decided to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كُنْتُ … كُلَّ يَوْمٍ</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used to … every day</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نَصَحَنِي …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 advised me to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كَانَ صَعْبًا، لٰكِنْ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it was hard, but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شَعَرْتُ بِالفَخْرِ</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felt proud</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عُمَرُ،</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كَيْفَ حَالُكَ؟ فِي الأُسْبُوعِ المَاضِي نَظَّمَتْ مَدْرَسَتِي "أُسْبُوعَ الصِّحَّةِ"، وَكَانَ التَّحَدِّي أَنْ نَأْكُلَ خَمْسَ حِصَصٍ مِنَ الخُضَارِ وَالفَوَاكِهِ كُلَّ يَوْمٍ، وَأَنْ نَمْشِيَ عَشْرَةَ آلَافِ خُطْوَةٍ. كُلَّ صَبَاحٍ شَرِبْتُ كُوبَيْنِ مِنَ المَاءِ، ثُمَّ مَشَيْتُ إِلَى المَدْرَسَةِ مَعَ أَخِي. أَصْعَبُ شَيْءٍ كَانَ تَرْكَ الحَلَوِيَّاتِ، لِأَنِّي أُحِبُّ الشُّوكُولَاتَةَ كَثِيرًا! لٰكِنِّي شَعَرْتُ أَنِّي أَنْشَطُ، وَأَنَامُ أَفْضَلَ. لِذٰلِكَ سَأَسْتَمِرُّ فِي المَشْيِ كُلَّ يَوْمٍ، وَسَأُحَاوِلُ أَنْ آكُلَ الحَلَوِيَّاتِ مَرَّةً وَاحِدَةً فِي الأُسْبُوعِ فَقَطْ. وَأَنْتَ، هَلْ جَرَّبْتَ تَحَدِّيًا مِثْلَ هٰذَا؟</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إِلَى اللِّقَاءِ،</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يُوسُفُ</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Omar, how are you? Last week my school organised a “health week”: the challenge was to eat five portions of vegetables and fruit every day and to walk ten thousand steps. Every morning I drank two glasses of water, then walked to school with my brother. The hardest thing was giving up sweets, because I love chocolate! But I felt more active and slept better. So I will keep walking every day and try to eat sweets only once a week. And you, have you tried a challenge like this? See you, Yusuf.”</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كَانَ التَّحَدِّي أَنْ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كُلَّ صَبَاحٍ … ثُمَّ</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لِأَنِّي أُحِبُّ</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سَأَسْتَمِرُّ فِي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قَبْلَ سِتَّةِ أَشْهُرٍ قَرَّرْتُ أَنْ أُغَيِّرَ عَادَةً سَيِّئَةً جِدًّا. كُنْتُ أَسْهَرُ أَمَامَ الهَاتِفِ حَتَّى السَّاعَةِ الوَاحِدَةِ لَيْلًا، فَكُنْتُ أَذْهَبُ إِلَى المَدْرَسَةِ مُتْعَبًا. وَفِي يَوْمٍ مِنَ الأَيَّامِ نِمْتُ فِي حِصَّةِ الرِّيَاضِيَّاتِ، فَنَصَحَتْنِي مُعَلِّمَتِي أَنْ أَتْرُكَ الهَاتِفَ خَارِجَ غُرْفَتِي. فِي البِدَايَةِ كَانَ ذٰلِكَ صَعْبًا، لٰكِنِّي الآنَ أَنَامُ ثَمَانِيَ سَاعَاتٍ، وَأَشْعُرُ بِالفَخْرِ لِأَنِّي نَجَحْتُ. وَفِي المُسْتَقْبَلِ سَأُحَافِظُ عَلَى هٰذِهِ العَادَةِ الجَدِيدَةِ.</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six months ago I decided to change a very bad habit · D: I used to stay up on my phone until 1 a.m., so I went to school tired; one day I fell asleep in maths and my teacher advised me to leave my phone outside my room · R/F: at first it was hard, but now I sleep eight hours and feel proud because I succeeded · future: I will keep this new habit.</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قَبْلَ سِتَّةِ أَشْهُرٍ قَرَّرْتُ</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كُنْتُ أَسْهَرُ</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فَنَصَحَتْنِي … أَنْ</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أَشْعُرُ بِالفَخْرِ لِأَنِّي</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AT-A-L06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AT-A-L06</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AT-A-L06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AT-A-L07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AT-A-L06 · Writing Practice Room — A Healthy Lifestyle</dc:title>
  <dc:subject>PptxGenJS Presentation</dc:subject>
  <dc:creator>Al Madina Online School · Arabic Department</dc:creator>
  <cp:lastModifiedBy>Al Madina Online School · Arabic Department</cp:lastModifiedBy>
  <cp:revision>1</cp:revision>
  <dcterms:created xsi:type="dcterms:W3CDTF">2026-10-25T13:10:27Z</dcterms:created>
  <dcterms:modified xsi:type="dcterms:W3CDTF">2026-10-25T13:10:27Z</dcterms:modified>
</cp:coreProperties>
</file>