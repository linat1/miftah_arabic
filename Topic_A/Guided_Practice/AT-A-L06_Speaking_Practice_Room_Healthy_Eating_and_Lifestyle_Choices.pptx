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SPEAKING PRACTICE ROOM AT A GLANCE — 55–60 minutes; about 8 minutes in the main room, about 40 minutes in breakout rooms of three, about 8 minutes back together.
0–2 Welcome · 2–6 How the room works (roles, rules) · then ROOMS: Step 1 Word warm-up (5) · Step 2 The answer ladder (8) · Step 3 Role plays 1 and 2 (14) · Step 4 Topic conversation with A-R-E-T (8) · Step 5 One-minute talk (5) · back in the main room: Check yourself (6) · Self-check + close (3).
PURPOSE: students practise ON THEIR OWN with a clear structure. The teacher visits each room (about 3 minutes per room), listens, and gives one live correction per student.
CONTENT: Advanced Topic A · Everyday Activities, Lesson 6 (Healthy Eating and Lifestyle Choices, AT-A-L06) — new role plays and questions (not the ones in the Exam Practice workshop), using the lesson’s language (food, sport and sleep vocabulary; advice with يَجِبُ / يَنْبَغِي أَنْ + verb in -a; reasons; past and future).
SET-UP: rooms of three (same-level rooms keep the routes simple). Share this deck or its PDF in the chat so every room can follow the steps. Post the step timings in the chat.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show the route through the steps. Students keep this slide in mind: the step number is always in the top-left of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THE ROOM WORKS (3 min, main room). Model the three roles quickly with two volunteers using one question. Stress: the Coach is not a judge — one WWW, one EBI, kind and specific. Then open the breakout rooms.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(5 min in rooms). The vocab slides that follow are the reference. Teacher: visit the first room straight away to model the pace.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 — the Leader picks the English, the Speaker gives the Arabic.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1 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STEP 2 (read together for 2 min). Each level ADDS one thing. Core aims for level 2, Develop for level 3, Stretch for level 4. Point at what each level ADDS: لِأَنَّ (reason) · ثَلَاثَ مَرَّاتٍ فِي الأُسْبُوعِ (frequency) · سَأَتَعَلَّمُ (future) + فِي رَأْيِي (opinion).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2 (6 min). The cells are STARTERS, not full answers. Core: questions 1–2 to level 2. Develop: all four to level 3. Stretch: level 4 with an opinion or another time frame.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3 introduction (2 min). Role play 1 shows the plan column filled in; for role play 2 students write it themselves. This is the fading: by the exam, they plan alone.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1 (Core · Develop) — SUPPORTED: the plan column models the thinking (question word → tense → first words), NOT the full answer.
ROOM ROUTINE: Leader reads the left column in order · Speaker answers · Coach ticks the checklist (step 5 slide) and gives one WWW + one EBI · swap so that everyone is Speaker once.
To a girl the Leader says: تَقْتَرِحِينَ · تَأْكُلِينَ.
Language: يُحِبُّ الطُّلَّابُ أَنْ يَأْكُلُوا (they like to eat) · أَقْتَرِحُ (I suggest) · numbers 3–10 + plural: خَمْسَةَ أَيَّامٍ · بَدَلَ (instead of).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2 (Develop · Stretch) — FADED SUPPORT: students now write their own plan column — exactly what they will do in the exam in their preparation time.
ROOM ROUTINE: Leader reads the left column in order · Speaker answers · Coach ticks the checklist (step 5 slide) and gives one WWW + one EBI · swap so that everyone is Speaker once.
To a girl the Leader says: مَارَسْتِهَا · تَوَقَّفْتِ · يَوْمُكِ · تَتَدَرَّبِي · هَدَفُكِ — and the Speaker says مَشْغُولَةً.
Language: كُنْتُ + present (used to) · لِأَنِّي كُنْتُ … · a daily-routine sequence · the Speaker ASKS with يَنْبَغِي أَنْ + verb in -a · future with sa-.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introduction (2 min). Show one answer growing link by link, then open the conversation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4 (6 min). Leaders choose questions that suit the Speaker: Core questions first, then move up. The follow-up column trains extended answers — exactly what the conversation part of the exam rewards.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5 (5 min). A monologue builds fluency for the conversation.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Coach keeps this slide open during Steps 2–5. Back in the main room, ask each room for its best WWW.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— only AFTER the room has performed both cards. Each student finds one task they answered less fully and re-says it using the model.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— only AFTER the room has performed both cards. Each student finds one task they answered less fully and re-says it using the model.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YOURSELF (2 min, main room). Read one aloud together; students say which A-R-E-T link they will add next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A · GUIDED PRACTICE  ·  AT-A-L06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AT-A-L06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Practice Room — A Healthy Lifestyle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غُرْفَةُ التَّحَدُّثِ — نَمَطُ الحَيَاةِ الصِّحِّيُّ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Students run their own speaking practice in breakout rooms: a word warm-up, the answer ladder, two new role plays (a healthy canteen menu, a personal trainer), a topic conversation with A-R-E-T, and a one-minute talk about their healthy week.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Advanced Topic A · Everyday Activities · guided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A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A › AT-A-L06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ROOM PLAN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Five steps — you run them yourselves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خُطُوَاتُ الغُرْفَةِ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1772412" cy="3246120"/>
          </a:xfrm>
          <a:prstGeom prst="roundRect">
            <a:avLst>
              <a:gd name="adj" fmla="val 412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552956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4798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4798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14223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14223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5163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Step 1: word warm-up.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5895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الكَلِمَاتُ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357628" y="1828800"/>
            <a:ext cx="1772412" cy="3246120"/>
          </a:xfrm>
          <a:prstGeom prst="roundRect">
            <a:avLst>
              <a:gd name="adj" fmla="val 412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467356" y="1938528"/>
            <a:ext cx="1552956" cy="566928"/>
          </a:xfrm>
          <a:prstGeom prst="roundRect">
            <a:avLst>
              <a:gd name="adj" fmla="val 9677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503932" y="1956816"/>
            <a:ext cx="14798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503932" y="2249424"/>
            <a:ext cx="14798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042666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042666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485644" y="3145536"/>
            <a:ext cx="15163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Step 2: climb the answer ladder.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449068" y="4526280"/>
            <a:ext cx="15895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2F6FB0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السُّلَّمُ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4258056" y="1828800"/>
            <a:ext cx="1772412" cy="3246120"/>
          </a:xfrm>
          <a:prstGeom prst="roundRect">
            <a:avLst>
              <a:gd name="adj" fmla="val 412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4367784" y="1938528"/>
            <a:ext cx="1552956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404360" y="1956816"/>
            <a:ext cx="14798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4404360" y="2249424"/>
            <a:ext cx="14798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9430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430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4386072" y="3145536"/>
            <a:ext cx="15163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Step 3: two role plays (planned, then you plan).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4349496" y="4526280"/>
            <a:ext cx="15895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6158484" y="1828800"/>
            <a:ext cx="1772412" cy="3246120"/>
          </a:xfrm>
          <a:prstGeom prst="roundRect">
            <a:avLst>
              <a:gd name="adj" fmla="val 412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6268212" y="1938528"/>
            <a:ext cx="1552956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6304788" y="1956816"/>
            <a:ext cx="14798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304788" y="2249424"/>
            <a:ext cx="14798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68435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8435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6286500" y="3145536"/>
            <a:ext cx="15163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Step 4: topic conversation, A-R-E-T.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6249924" y="4526280"/>
            <a:ext cx="15895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8058912" y="1828800"/>
            <a:ext cx="1772412" cy="3246120"/>
          </a:xfrm>
          <a:prstGeom prst="roundRect">
            <a:avLst>
              <a:gd name="adj" fmla="val 412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8168640" y="1938528"/>
            <a:ext cx="1552956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05216" y="1956816"/>
            <a:ext cx="14798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8205216" y="2249424"/>
            <a:ext cx="14798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5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8743950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743950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8186928" y="3145536"/>
            <a:ext cx="15163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Step 5: one-minute talk.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8150352" y="4526280"/>
            <a:ext cx="15895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دَقِيقَةٌ وَاحِدَةٌ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9959340" y="1828800"/>
            <a:ext cx="1772412" cy="3246120"/>
          </a:xfrm>
          <a:prstGeom prst="roundRect">
            <a:avLst>
              <a:gd name="adj" fmla="val 4127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Shape 53"/>
          <p:cNvSpPr/>
          <p:nvPr/>
        </p:nvSpPr>
        <p:spPr>
          <a:xfrm>
            <a:off x="10069068" y="1938528"/>
            <a:ext cx="1552956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0105644" y="1956816"/>
            <a:ext cx="14798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8" name="Text 55"/>
          <p:cNvSpPr txBox="1"/>
          <p:nvPr/>
        </p:nvSpPr>
        <p:spPr>
          <a:xfrm>
            <a:off x="10105644" y="2249424"/>
            <a:ext cx="14798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6 min</a:t>
            </a:r>
            <a:endParaRPr lang="en-US" sz="1000" dirty="0"/>
          </a:p>
        </p:txBody>
      </p:sp>
      <p:sp>
        <p:nvSpPr>
          <p:cNvPr id="59" name="Shape 56"/>
          <p:cNvSpPr/>
          <p:nvPr/>
        </p:nvSpPr>
        <p:spPr>
          <a:xfrm>
            <a:off x="1064437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064437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10087356" y="3145536"/>
            <a:ext cx="15163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Check yourself with the models.</a:t>
            </a:r>
            <a:endParaRPr lang="en-US" sz="1200" dirty="0"/>
          </a:p>
        </p:txBody>
      </p:sp>
      <p:sp>
        <p:nvSpPr>
          <p:cNvPr id="62" name="Text 59"/>
          <p:cNvSpPr txBox="1"/>
          <p:nvPr/>
        </p:nvSpPr>
        <p:spPr>
          <a:xfrm>
            <a:off x="10050780" y="4526280"/>
            <a:ext cx="15895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4" name="Text 61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HOW THE ROOM RUNS</a:t>
            </a:r>
            <a:endParaRPr lang="en-US" sz="1000" dirty="0"/>
          </a:p>
        </p:txBody>
      </p:sp>
      <p:sp>
        <p:nvSpPr>
          <p:cNvPr id="65" name="Text 62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Everybody speaks in every step. Swap roles each time: Leader → Speaker → Coach. If you finish early, do the step again with the Stretch route.</a:t>
            </a:r>
            <a:endParaRPr lang="en-US" sz="1250" dirty="0"/>
          </a:p>
        </p:txBody>
      </p:sp>
      <p:sp>
        <p:nvSpPr>
          <p:cNvPr id="66" name="Text 6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BEFORE THE ROOMS · HOW YOUR ROOM WORKS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Three roles, four rules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نَعْمَلُ فِي الغُرْفَةِ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ROLES (SWAP AFTER EVERY TASK)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LEADER — opens the next step, keeps the time, and reads the examiner’s questions.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— answers in full Arabic sentences. Plan for a few seconds, then speak.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COACH — listens with the checklist, then gives one WWW (what went well) and one EBI (even better if).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RULES: Arabic only in the tasks · full sentences · no silence (use a repair phrase) · everyone speaks in every step.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ROOM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 / دَوْرُكِ!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 (m. / f.)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1 · WORD WARM-UP · 5 MINUTES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Say it — then use it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قُلْهَا وَاسْتَعْمِلْهَا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1 · IN YOUR ROOM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🔤  Word ping-pong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Leader says a word in ENGLISH from the next two slides. The Speaker says it in ARABIC, then uses it in a short sentence about themselves. The Coach checks the Arabic on the slide.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Leader: say 4 English words; Speaker answers in Arabic + one sentence each.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Coach checks the word and the ending (I / he / she / they).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roles — new words each time.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Last round: say the he / she form of each verb.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Say the Arabic word, then a simple sentence: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 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Add when or how often: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كُلَّ يَوْمٍ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أَحْيَانًا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مَرَّتَيْنِ فِي الأُسْبُوعِ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Use two words in one sentence with a reason (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…).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أَعِدْ مِنْ فَضْلِكَ / أَعِيدِي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repeat please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 / تَكَلَّمِي أَكْثَرَ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 (m. / f.)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21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 BANK (1)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Healthy habits and advice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العَادَاتُ الصِّحِّيَّةُ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أُمَارِسُ الرِّيَاضَةَ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do sport / exercise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u-mā-ri-su ar-ri-yā-ḍa-ta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يُمَارِسُونَ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تُمَارِسُ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يُمَارِسُ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أَنَامُ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sleep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a-nā-mu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يَنَامُونَ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تَنَامُ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يَنَامُ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أُحَافِظُ عَلَى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look after, keep up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u-ḥā-fi-ẓu ʿa-lā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يُحَافِظُونَ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تُحَافِظُ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يُحَافِظُ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أَتَجَنَّبُ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avoid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a-ta-jan-na-bu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يَتَجَنَّبُونَ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تَتَجَنَّبُ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يَتَجَنَّبُ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advice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…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you must … (+ verb in -a)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ya-ji-bu an …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advice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يَنْبَغِي أَنْ …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you should … (+ verb in -a)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yan-ba-ghī an …</a:t>
            </a:r>
            <a:endParaRPr lang="en-US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1 · WORD BANK (2)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Healthy, active — and what to avoid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التَّغْذِيَةُ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64226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64226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non-hum. pl.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صِحِّيٌّ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healthy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ṣiḥ-ḥiy-yun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صِحِّيَّةٌ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صِحِّيَّةٌ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صِحِّيٌّ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 · f.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نَشِيطٌ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active, energetic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na-shī-ṭun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نَشِيطُونَ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نَشِيطَةٌ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نَشِيطٌ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food groups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خُضَارٌ وَفَوَاكِهُ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vegetables and fruit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khu-ḍā-run wa-fa-wā-ki-hu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nutrition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السُّكَّرُ · الدُّهُونُ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46811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sugar · fats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as-suk-ka-ru · ad-du-hū-nu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habit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ʿā-da-tun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عَادَاتٌ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عَادَةٌ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وَجْبَةٌ سَرِيعَةٌ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fast food (a quick meal)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waj-ba-tun sa-rī-ʿa-tun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2368296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وَجَبَاتٌ سَرِيعَةٌ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وَجْبَةٌ سَرِيعَةٌ</a:t>
            </a:r>
            <a:endParaRPr lang="ar-SA" sz="1500" dirty="0"/>
          </a:p>
        </p:txBody>
      </p:sp>
      <p:sp>
        <p:nvSpPr>
          <p:cNvPr id="99" name="Text 9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21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2 · THE ANSWER LADDER · HOW A SHORT ANSWER BECOMES A STRONG ONE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Climb the ladder: “How do you look after your health?”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تُحَافِظُ عَلَى صِحَّتِكَ؟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10287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11201400" y="2123694"/>
            <a:ext cx="402336" cy="40233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201400" y="212369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1847088"/>
            <a:ext cx="649224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أُحَافِظُ عَلَى صِحَّتِي بِالرِّيَاضَةِ.</a:t>
            </a:r>
            <a:endParaRPr lang="ar-SA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685800" y="1856232"/>
            <a:ext cx="37490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Level 1 · Answer in a full sentence</a:t>
            </a:r>
            <a:endParaRPr lang="en-US" sz="1250" dirty="0"/>
          </a:p>
          <a:p>
            <a:pPr indent="0" marL="0">
              <a:buNone/>
            </a:pPr>
            <a:r>
              <a:rPr lang="en-US" sz="10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look after my health with sport.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57200" y="2967228"/>
            <a:ext cx="11274552" cy="10287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11201400" y="3280410"/>
            <a:ext cx="402336" cy="40233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1201400" y="328041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3003804"/>
            <a:ext cx="649224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أُحَافِظُ عَلَى صِحَّتِي بِالرِّيَاضَةِ، لِأَنَّهَا تُعْطِينِي طَاقَةً.</a:t>
            </a:r>
            <a:endParaRPr lang="ar-SA" sz="2600" dirty="0"/>
          </a:p>
        </p:txBody>
      </p:sp>
      <p:sp>
        <p:nvSpPr>
          <p:cNvPr id="24" name="Text 21"/>
          <p:cNvSpPr txBox="1"/>
          <p:nvPr/>
        </p:nvSpPr>
        <p:spPr>
          <a:xfrm>
            <a:off x="685800" y="3012948"/>
            <a:ext cx="37490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Level 2 · + a reason</a:t>
            </a:r>
            <a:endParaRPr lang="en-US" sz="1250" dirty="0"/>
          </a:p>
          <a:p>
            <a:pPr indent="0" marL="0">
              <a:buNone/>
            </a:pPr>
            <a:r>
              <a:rPr lang="en-US" sz="10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… because it gives me energy.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57200" y="4123944"/>
            <a:ext cx="11274552" cy="10287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11201400" y="4437126"/>
            <a:ext cx="402336" cy="40233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1201400" y="443712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4160520"/>
            <a:ext cx="649224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1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لِأَنَّهَا تُعْطِينِي طَاقَةً، وَأَرْكُضُ فِي الحَدِيقَةِ ثَلَاثَ مَرَّاتٍ فِي الأُسْبُوعِ.</a:t>
            </a:r>
            <a:endParaRPr lang="ar-SA" sz="2150" dirty="0"/>
          </a:p>
        </p:txBody>
      </p:sp>
      <p:sp>
        <p:nvSpPr>
          <p:cNvPr id="29" name="Text 26"/>
          <p:cNvSpPr txBox="1"/>
          <p:nvPr/>
        </p:nvSpPr>
        <p:spPr>
          <a:xfrm>
            <a:off x="685800" y="4169664"/>
            <a:ext cx="37490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Level 3 · + a detail (time, frequency, example)</a:t>
            </a:r>
            <a:endParaRPr lang="en-US" sz="1250" dirty="0"/>
          </a:p>
          <a:p>
            <a:pPr indent="0" marL="0">
              <a:buNone/>
            </a:pPr>
            <a:r>
              <a:rPr lang="en-US" sz="10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… and I run in the park three times a week.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457200" y="5280660"/>
            <a:ext cx="11274552" cy="1028700"/>
          </a:xfrm>
          <a:prstGeom prst="roundRect">
            <a:avLst>
              <a:gd name="adj" fmla="val 7111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11201400" y="5593842"/>
            <a:ext cx="402336" cy="40233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1201400" y="559384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33" name="Text 30"/>
          <p:cNvSpPr txBox="1"/>
          <p:nvPr/>
        </p:nvSpPr>
        <p:spPr>
          <a:xfrm>
            <a:off x="4572000" y="5317236"/>
            <a:ext cx="6492240" cy="9555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وَفِي الصَّيْفِ القَادِمِ سَأَتَعَلَّمُ السِّبَاحَةَ، فَهِيَ فِي رَأْيِي أَفْضَلُ رِيَاضَةٍ.</a:t>
            </a:r>
            <a:endParaRPr lang="ar-SA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685800" y="5326380"/>
            <a:ext cx="3749040" cy="937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Level 4 · + another time frame or an opinion</a:t>
            </a:r>
            <a:endParaRPr lang="en-US" sz="1250" dirty="0"/>
          </a:p>
          <a:p>
            <a:pPr indent="0" marL="0">
              <a:buNone/>
            </a:pPr>
            <a:r>
              <a:rPr lang="en-US" sz="10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… and next summer I will learn to swim — in my opinion it is the best sport.</a:t>
            </a:r>
            <a:endParaRPr lang="en-US" sz="12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21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70978" y="274320"/>
            <a:ext cx="1388974" cy="329184"/>
          </a:xfrm>
          <a:prstGeom prst="roundRect">
            <a:avLst>
              <a:gd name="adj" fmla="val 50000"/>
            </a:avLst>
          </a:prstGeom>
          <a:solidFill>
            <a:srgbClr val="2F6FB0"/>
          </a:solidFill>
          <a:ln w="12700">
            <a:solidFill>
              <a:srgbClr val="2F6F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70978" y="274320"/>
            <a:ext cx="138897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2F6FB0"/>
                </a:solidFill>
                <a:latin typeface="Calibri" pitchFamily="34" charset="0"/>
                <a:cs typeface="Amiri" pitchFamily="2" charset="-78"/>
              </a:rPr>
              <a:t>STEP 2 · YOUR TURN · CLIMB THE LADDER FOR EACH QUESTION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Your ladder: build each answer level by level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اصْعَدِ السُّلَّمَ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445752" y="1810512"/>
            <a:ext cx="2212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Level 3–4 · + detail / time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068312" y="1810512"/>
            <a:ext cx="2231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Level 2 · + reason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4599432" y="1810512"/>
            <a:ext cx="2322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Level 1 · answer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64040" y="2267712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فِي المَدْرَسَةِ / كُلَّ يَوْمٍ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7086600" y="2267712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لِأَنَّهُ / لِأَنَّهَا …</a:t>
            </a:r>
            <a:endParaRPr lang="ar-SA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4617720" y="226771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آكُلُ …</a:t>
            </a:r>
            <a:endParaRPr lang="ar-SA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تَأْكُلُ فِي الغَدَاءِ عَادَةً؟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464040" y="3054096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وَأَمْسِ نِمْتُ …</a:t>
            </a:r>
            <a:endParaRPr lang="ar-SA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7086600" y="3054096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لِأَنِّي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4617720" y="3054096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أَنَامُ … سَاعَاتٍ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054096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تَنَامُ جَيِّدًا؟</a:t>
            </a:r>
            <a:endParaRPr lang="ar-SA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3099816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464040" y="3840480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أُمَارِسُهَا مَعَ … / سَوْفَ …</a:t>
            </a:r>
            <a:endParaRPr lang="ar-SA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7086600" y="384048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لِأَنَّهَا …</a:t>
            </a:r>
            <a:endParaRPr lang="ar-SA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4617720" y="38404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أُفَضِّلُ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84048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الرِّيَاضَةُ الَّتِي تُفَضِّلُهَا؟</a:t>
            </a:r>
            <a:endParaRPr lang="ar-SA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4626864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9464040" y="4626864"/>
            <a:ext cx="2176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وَمِنَ الآنَ سَأَتَجَنَّبُ …</a:t>
            </a:r>
            <a:endParaRPr lang="ar-SA" sz="1500" dirty="0"/>
          </a:p>
        </p:txBody>
      </p:sp>
      <p:sp>
        <p:nvSpPr>
          <p:cNvPr id="45" name="Text 42"/>
          <p:cNvSpPr txBox="1"/>
          <p:nvPr/>
        </p:nvSpPr>
        <p:spPr>
          <a:xfrm>
            <a:off x="7086600" y="462686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… لِأَنَّ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4617720" y="462686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عِنْدِي عَادَةٌ … : …</a:t>
            </a:r>
            <a:endParaRPr lang="ar-SA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4626864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العَادَةُ غَيْرُ الصِّحِّيَّةِ عِنْدَكَ؟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626864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Leader asks · Speaker climbs as high as they can · Coach says which level they reached. Swap for each question.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21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3 · ROLE PLAY · HOW TO USE YOUR 1 MINUTE OF PREPARATION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Plan a role-play card in one minute</a:t>
            </a:r>
            <a:endParaRPr lang="en-US" sz="2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خَطِّطْ فِي دَقِيقَةٍ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FOUR MOVES IN ONE MINUTE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WHO am I and WHO is the examiner? (formal or friendly · a man or a woman → your endings).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For each task, find the QUESTION WORD and the TENSE (past · present · future).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Plan only your FIRST 2–3 words for each task — not whole sentences.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Task ! is unexpected: listen for the question word, then answer in a full sentence.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QUESTION WORD → HOW TO START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570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…؟ ← رَقْمٌ + اسْمٌ</a:t>
            </a:r>
            <a:endParaRPr lang="ar-SA" sz="265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765511"/>
            <a:ext cx="4645152" cy="407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→ a number + a noun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19582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214116"/>
            <a:ext cx="4645152" cy="570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مَتَى …؟ ← فِي السَّاعَةِ … / يَوْمَ …</a:t>
            </a:r>
            <a:endParaRPr lang="ar-SA" sz="265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3785067"/>
            <a:ext cx="4645152" cy="407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→ at … o’clock / on …day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215384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233672"/>
            <a:ext cx="4645152" cy="570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…؟ ← لِأَنَّ …</a:t>
            </a:r>
            <a:endParaRPr lang="ar-SA" sz="265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4804623"/>
            <a:ext cx="4645152" cy="407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→ because …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995160" y="523494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40" name="Text 37"/>
          <p:cNvSpPr txBox="1"/>
          <p:nvPr/>
        </p:nvSpPr>
        <p:spPr>
          <a:xfrm>
            <a:off x="6949440" y="5253228"/>
            <a:ext cx="4645152" cy="5709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…؟ ← نَعَمْ / لَا + جُمْلَةٌ كَامِلَةٌ</a:t>
            </a:r>
            <a:endParaRPr lang="ar-SA" sz="2650" dirty="0"/>
          </a:p>
        </p:txBody>
      </p:sp>
      <p:sp>
        <p:nvSpPr>
          <p:cNvPr id="41" name="Text 38"/>
          <p:cNvSpPr txBox="1"/>
          <p:nvPr/>
        </p:nvSpPr>
        <p:spPr>
          <a:xfrm>
            <a:off x="6949440" y="5824179"/>
            <a:ext cx="4645152" cy="407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yes/no question → yes / no + a full sentence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21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8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3 · ROLE PLAY 1 · CORE · DEVELOP · THE PLAN IS GIVEN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1 — A healthy menu for the canteen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قَائِمَةُ طَعَامٍ صِحِّيَّةٌ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Plan: question word → my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reads (the examiner)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75320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يُحِبُّ الطُّلَّابُ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students like to eat.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يُحِبُّ الطُّلَّابُ أَنْ يَأْكُلُوا؟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75320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← أَقْتَرِحُ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one healthy dish.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الطَّعَامُ الصِّحِّيُّ الَّذِي تَقْتَرِحُهُ؟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75320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← رَقْمٌ + أَيَّامٍ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many days to serve fruit.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يَوْمًا فِي الأُسْبُوعِ نُقَدِّمُ الفَوَاكِهَ؟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← نَبِيعُ … وَ…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Suggest drinks instead of fizzy drinks.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نَبِيعُ بَدَلَ المَشْرُوبَاتِ الغَازِيَّةِ؟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275320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← نَعَمْ / لَا + جُمْلَةٌ كَامِلَةٌ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 فِي المَقْصَفِ كُلَّ يَوْمٍ؟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a student on the school council · Leader = the canteen manager. Use the plan column in your 1 minute of preparation, then hide it and speak. Then swap roles.</a:t>
            </a:r>
            <a:endParaRPr lang="en-US" sz="110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8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3 · ROLE PLAY 2 · DEVELOP · STRETCH · PLAN IT YOURSELF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2 — Your first session with a personal trainer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مَعَ المُدَرِّبِ الشَّخْصِيِّ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57032" y="1810512"/>
            <a:ext cx="3401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Plan it: question word → my first words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96519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Speaker’s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785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reads (the examiner)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93608" y="2267712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01768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sport you used to do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الرِّيَاضَةُ الَّتِي مَارَسْتَهَا فِي المَاضِي؟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293608" y="300471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5001768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تَوَقَّفْتَ؟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741725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32" name="Text 29"/>
          <p:cNvSpPr txBox="1"/>
          <p:nvPr/>
        </p:nvSpPr>
        <p:spPr>
          <a:xfrm>
            <a:off x="5001768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usual day: food and sleep.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يَوْمُكَ عَادَةً؟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293608" y="4478731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001768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 question about the training plan.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تَتَدَرَّبَ ثَلَاثَ مَرَّاتٍ فِي الأُسْبُوعِ.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293608" y="5215738"/>
            <a:ext cx="336499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______________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5001768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749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هَدَفُكَ بَعْدَ ثَلَاثَةِ أَشْهُرٍ؟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Speaker = someone who wants to get fit · Leader = the personal trainer. In your 1 minute, write the plan column in your book. Task ! : the Leader reads it without warning. Then swap roles.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STEP 4 · TOPIC CONVERSATION · KEEP THE ANSWER GOING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A-R-E-T: four links in every answer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سِلْسِلَةُ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3456432"/>
          </a:xfrm>
          <a:prstGeom prst="roundRect">
            <a:avLst>
              <a:gd name="adj" fmla="val 211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A · R · E · T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— ANSWER the question in a full sentence.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035808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035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2926080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 — give a REASON: 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… / لِذٰلِكَ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378561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37856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3675888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 — add an EXAMPLE or a detail: 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مَثَلًا … / كُلَّ يَوْمٍ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45354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45354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4425696"/>
            <a:ext cx="5394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 — change the TIME: past (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أَمْسِ / فِي المَاضِي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 or future (</a:t>
            </a:r>
            <a:pPr algn="l" indent="0" marL="0">
              <a:buNone/>
            </a:pPr>
            <a:r>
              <a:rPr lang="ar-SA" altLang="en-US" sz="17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سَوْفَ / فِي المُسْتَقْبَلِ</a:t>
            </a:r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3456432"/>
          </a:xfrm>
          <a:prstGeom prst="roundRect">
            <a:avLst>
              <a:gd name="adj" fmla="val 211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COACH PUSHES WITH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566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26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761244"/>
            <a:ext cx="4645152" cy="404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18820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206496"/>
            <a:ext cx="4645152" cy="566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مِثْلَ مَاذَا؟</a:t>
            </a:r>
            <a:endParaRPr lang="ar-SA" sz="26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3773180"/>
            <a:ext cx="4645152" cy="404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Like what?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200144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218432"/>
            <a:ext cx="4645152" cy="5666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وَفِي المَاضِي؟ / وَفِي المُسْتَقْبَلِ؟</a:t>
            </a:r>
            <a:endParaRPr lang="ar-SA" sz="26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4785116"/>
            <a:ext cx="4645152" cy="404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And in the past? / And in the future?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394960"/>
            <a:ext cx="11274552" cy="914400"/>
          </a:xfrm>
          <a:prstGeom prst="roundRect">
            <a:avLst>
              <a:gd name="adj" fmla="val 8000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658368" y="5468112"/>
            <a:ext cx="1920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ROUTES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2606040" y="5449824"/>
            <a:ext cx="89611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Core: A + R. Develop: A + R + E. Stretch: all four, plus an opinion (</a:t>
            </a:r>
            <a:pPr algn="l" indent="0" marL="0">
              <a:buNone/>
            </a:pPr>
            <a:r>
              <a:rPr lang="ar-SA" altLang="en-US" sz="16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رَأْيِي</a:t>
            </a:r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 or a contrast (</a:t>
            </a:r>
            <a:pPr algn="l" indent="0" marL="0">
              <a:buNone/>
            </a:pPr>
            <a:r>
              <a:rPr lang="ar-SA" altLang="en-US" sz="165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</a:t>
            </a:r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250" dirty="0"/>
          </a:p>
        </p:txBody>
      </p:sp>
      <p:sp>
        <p:nvSpPr>
          <p:cNvPr id="42" name="Text 3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21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15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4 · CONVERSATION CARD · THE LEADER ASKS, THE COACH PUSHES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Conversation: answer, then keep going</a:t>
            </a:r>
            <a:endParaRPr lang="en-US" sz="24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صِحَّتِي وَعَادَاتِي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177272" y="1810512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91272" y="1810512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Coach’s follow-up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23951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33272" y="1810512"/>
            <a:ext cx="4059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asks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213848" y="2267712"/>
            <a:ext cx="14447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7909560" y="2267712"/>
            <a:ext cx="21031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5276088" y="226771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meal?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51560" y="2267712"/>
            <a:ext cx="40233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وَجْبَتُكَ المُفَضَّلَةُ؟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226771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9" name="Shape 26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213848" y="2881884"/>
            <a:ext cx="14447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7909560" y="2881884"/>
            <a:ext cx="21031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وَأَمْسِ؟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276088" y="2881884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hours do you usually sleep?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2881884"/>
            <a:ext cx="40233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سَاعَةً تَنَامُ عَادَةً؟</a:t>
            </a:r>
            <a:endParaRPr lang="ar-SA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2881884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7" name="Shape 34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10213848" y="3496056"/>
            <a:ext cx="14447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7909560" y="3496056"/>
            <a:ext cx="21031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مَرَّةً؟</a:t>
            </a:r>
            <a:endParaRPr lang="ar-SA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5276088" y="3496056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eat fast food?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1051560" y="3496056"/>
            <a:ext cx="40233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 الوَجَبَاتِ السَّرِيعَةَ؟</a:t>
            </a:r>
            <a:endParaRPr lang="ar-SA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566928" y="3496056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213848" y="4110228"/>
            <a:ext cx="14447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7909560" y="4110228"/>
            <a:ext cx="21031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وَفِي نِهَايَةِ الأُسْبُوعِ القَادِمِ؟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276088" y="4110228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did you do last weekend to be active?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4110228"/>
            <a:ext cx="40233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فِي نِهَايَةِ الأُسْبُوعِ المَاضِي لِتَكُونَ نَشِيطًا؟</a:t>
            </a:r>
            <a:endParaRPr lang="ar-SA" sz="16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110228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10213848" y="4724400"/>
            <a:ext cx="14447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909560" y="4724400"/>
            <a:ext cx="21031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فِي رَأْيِكَ؟</a:t>
            </a:r>
            <a:endParaRPr lang="ar-SA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5276088" y="4724400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young people less active today than in the past?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51560" y="4724400"/>
            <a:ext cx="40233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الشَّبَابُ اليَوْمَ أَقَلُّ نَشَاطًا مِنَ المَاضِي؟</a:t>
            </a:r>
            <a:endParaRPr lang="ar-SA" sz="1600" dirty="0"/>
          </a:p>
        </p:txBody>
      </p:sp>
      <p:sp>
        <p:nvSpPr>
          <p:cNvPr id="54" name="Text 51"/>
          <p:cNvSpPr txBox="1"/>
          <p:nvPr/>
        </p:nvSpPr>
        <p:spPr>
          <a:xfrm>
            <a:off x="566928" y="4724400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10213848" y="5338572"/>
            <a:ext cx="144475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57" name="Text 54"/>
          <p:cNvSpPr txBox="1"/>
          <p:nvPr/>
        </p:nvSpPr>
        <p:spPr>
          <a:xfrm>
            <a:off x="7909560" y="5338572"/>
            <a:ext cx="21031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يَجِبُ أَنْ يَتَجَنَّبَ؟</a:t>
            </a:r>
            <a:endParaRPr lang="ar-SA" sz="1500" dirty="0"/>
          </a:p>
        </p:txBody>
      </p:sp>
      <p:sp>
        <p:nvSpPr>
          <p:cNvPr id="58" name="Text 55"/>
          <p:cNvSpPr txBox="1"/>
          <p:nvPr/>
        </p:nvSpPr>
        <p:spPr>
          <a:xfrm>
            <a:off x="5276088" y="5338572"/>
            <a:ext cx="24688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health advice would you give a new student?</a:t>
            </a:r>
            <a:endParaRPr lang="en-US" sz="1100" dirty="0"/>
          </a:p>
        </p:txBody>
      </p:sp>
      <p:sp>
        <p:nvSpPr>
          <p:cNvPr id="59" name="Text 56"/>
          <p:cNvSpPr txBox="1"/>
          <p:nvPr/>
        </p:nvSpPr>
        <p:spPr>
          <a:xfrm>
            <a:off x="1051560" y="5338572"/>
            <a:ext cx="40233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النَّصِيحَةُ الَّتِي تُعْطِيهَا لِطَالِبٍ جَدِيدٍ عَنِ الصِّحَّةِ؟</a:t>
            </a:r>
            <a:endParaRPr lang="ar-SA" sz="1600" dirty="0"/>
          </a:p>
        </p:txBody>
      </p:sp>
      <p:sp>
        <p:nvSpPr>
          <p:cNvPr id="60" name="Text 57"/>
          <p:cNvSpPr txBox="1"/>
          <p:nvPr/>
        </p:nvSpPr>
        <p:spPr>
          <a:xfrm>
            <a:off x="566928" y="5338572"/>
            <a:ext cx="32004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Each Speaker answers three questions (one per route if you can), using A-R-E-T. The Coach asks the follow-up. Swap.</a:t>
            </a:r>
            <a:endParaRPr lang="en-US" sz="1150" dirty="0"/>
          </a:p>
        </p:txBody>
      </p:sp>
      <p:sp>
        <p:nvSpPr>
          <p:cNvPr id="62" name="Text 5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STEP 5 · THE ONE-MINUTE TALK · RECORD AND REVIEW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One minute: my healthy week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أُسْبُوعِي الصِّحِّيُّ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STEP 5 · IN YOUR ROOM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⏱  Talk for one minute — no stopping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Talk for one minute about your week: what you eat and drink, the sport you do, how you sleep — and one change you will make.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30 seconds: jot 4 key words (one per bullet) — no sentences.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Speaker talks; the Leader times it (record it on your phone or in Teams if you can).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Coach: tick the checklist on the next slide, then WWW + EBI.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Swap. Listen back to your recording at home and fix one sentence.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30 seconds: three sentences — food, sport, sleep (present tense).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60 seconds: add reasons and how often, and one past sentence (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نِهَايَةِ الأُسْبُوعِ المَاضِي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…).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90 seconds: all three time frames, some advice (</a:t>
            </a:r>
            <a:pPr algn="l" indent="0" marL="0">
              <a:buNone/>
            </a:pPr>
            <a:r>
              <a:rPr lang="ar-SA" altLang="en-US" sz="1500" dirty="0">
                <a:solidFill>
                  <a:srgbClr val="1F2A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</a:t>
            </a:r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 …) and an opinion.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سَأَتَكَلَّمُ عَنْ …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going to talk about …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أَوَّلًا … ثُمَّ …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first … then …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الأُسْبُوعِ المَاضِي …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week …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الخِتَامِ …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 finish …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21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COACH · CHECKLIST FOR EVERY STEP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Coach: tick, then give WWW + EBI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المُدَرِّبِ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754112" y="1810512"/>
            <a:ext cx="859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382512" y="1810512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705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Speaker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790688" y="2267712"/>
            <a:ext cx="822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419088" y="2267712"/>
            <a:ext cx="11887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669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question / task in a FULL sentence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790688" y="2881884"/>
            <a:ext cx="822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419088" y="2881884"/>
            <a:ext cx="11887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669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the topic words (food, sport, sleep) with the right I / he / she endings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790688" y="3496056"/>
            <a:ext cx="822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419088" y="3496056"/>
            <a:ext cx="11887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669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) and a detail (time, frequency, example)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790688" y="4110228"/>
            <a:ext cx="822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419088" y="4110228"/>
            <a:ext cx="11887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669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advice with </a:t>
            </a:r>
            <a:pPr algn="l" indent="0" marL="0">
              <a:buNone/>
            </a:pPr>
            <a:r>
              <a:rPr lang="ar-SA" altLang="en-US" sz="1450" dirty="0">
                <a:solidFill>
                  <a:srgbClr val="5A647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/ يَنْبَغِي أَنْ</a:t>
            </a:r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 + a verb in -a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790688" y="4724400"/>
            <a:ext cx="822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419088" y="4724400"/>
            <a:ext cx="11887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669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changed the time frame (past or future) or gave an opinion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790688" y="5338572"/>
            <a:ext cx="8229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419088" y="5338572"/>
            <a:ext cx="118872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66928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is kind and specific: “WWW: you used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</a:t>
            </a:r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 twice. EBI: add a past sentence.”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21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 PLAY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1: compare with a strong answer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يُحِبُّ الطُّلَّابُ البِيتْزَا وَالمَعْكَرُونَةَ.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Students like pizza and pasta.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يُحِبُّ الطُّلَّابُ أَنْ يَأْكُلُوا؟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أَقْتَرِحُ سَلَطَةَ الدَّجَاجِ مَعَ الأَرُزِّ.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suggest chicken salad with rice.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الطَّعَامُ الصِّحِّيُّ الَّذِي تَقْتَرِحُهُ؟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خَمْسَةَ أَيَّامٍ فِي الأُسْبُوعِ، كُلَّ يَوْمٍ دِرَاسِيٍّ.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Five days a week — every school 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يَوْمًا فِي الأُسْبُوعِ نُقَدِّمُ الفَوَاكِهَ؟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نَبِيعُ المَاءَ وَعَصِيرَ البُرْتُقَالِ الطَّبِيعِيَّ.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sell water and natural orange juice.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نَبِيعُ بَدَلَ المَشْرُوبَاتِ الغَازِيَّةِ؟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آكُلُ فِي المَقْصَفِ ثَلَاثَ مَرَّاتٍ فِي الأُسْبُوعِ فَقَطْ.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I only eat in the canteen three times a week.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تَأْكُلُ فِي المَقْصَفِ كُلَّ يَوْمٍ؟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Compare: did you answer EVERY task with a full sentence? Steal one phrase you did not use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21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ROLE PLAY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2: compare with a strong answer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قَارِنْ إِجَابَتَكَ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Leader reads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كُنْتُ أَلْعَبُ كُرَةَ السَّلَّةِ فِي المَدْرَسَةِ الابْتِدَائِيَّةِ، لٰكِنِّي تَوَقَّفْتُ.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play basketball at primary school, but I stopped.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الرِّيَاضَةُ الَّتِي مَارَسْتَهَا فِي المَاضِي؟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تَوَقَّفْتُ لِأَنِّي كُنْتُ مَشْغُولًا جِدًّا بِالدِّرَاسَةِ وَالوَاجِبَاتِ.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stopped because I was very busy with studying and homework.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تَوَقَّفْتَ؟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أَسْتَيْقِظُ مُبَكِّرًا، وَآكُلُ فُطُورًا خَفِيفًا، وَأَنَامُ فِي السَّاعَةِ الحَادِيَةَ عَشْرَةَ.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get up early, eat a light breakfast and go to bed at eleven.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يَوْمُكَ عَادَةً؟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دَقِيقَةً يَنْبَغِي أَنْ أَتَدَرَّبَ كُلَّ مَرَّةٍ؟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many minutes should I train each time?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يَجِبُ أَنْ تَتَدَرَّبَ ثَلَاثَ مَرَّاتٍ فِي الأُسْبُوعِ.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بَعْدَ ثَلَاثَةِ أَشْهُرٍ سَأَرْكُضُ خَمْسَةَ كِيلُومِتْرَاتٍ دُونَ تَوَقُّفٍ.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In three months I will run five kilometres without stopping.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هَدَفُكَ بَعْدَ ثَلَاثَةِ أَشْهُرٍ؟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Compare: did you answer EVERY task with a full sentence? Steal one phrase you did not use and say it aloud.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21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CHECK YOURSELF · CONVERSATION AND ONE-MINUTE TALK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Strong answers to compare with yours</a:t>
            </a:r>
            <a:endParaRPr lang="en-US" sz="23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نَمَاذِجُ لِلْمُقَارَنَةِ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 strong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وَجْبَتِي المُفَضَّلَةُ السَّمَكُ مَعَ الخُضَارِ، لِأَنَّهَا لَذِيذَةٌ وَصِحِّيَّةٌ؛ تَطْبُخُهَا أُمِّي كُلَّ يَوْمِ جُمُعَةٍ، وَفِي المُسْتَقْبَلِ سَأَتَعَلَّمُ أَنْ أَطْبُخَهَا.</a:t>
            </a:r>
            <a:endParaRPr lang="ar-SA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A: fish with vegetables · R: tasty and healthy · E: mum cooks it every Friday · T: I will learn to cook it.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وَجْبَتُكَ المُفَضَّلَةُ؟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مَشَيْتُ مَعَ أَبِي إِلَى الحَدِيقَةِ سَاعَةً كَامِلَةً، لِأَنَّ الجَوَّ كَانَ جَمِيلًا؛ ثُمَّ لَعِبْنَا كُرَةَ القَدَمِ، وَفِي نِهَايَةِ الأُسْبُوعِ القَادِمِ سَنَرْكَبُ الدَّرَّاجَاتِ.</a:t>
            </a:r>
            <a:endParaRPr lang="ar-SA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A: walked to the park for an hour · R: the weather was lovely · E: then we played football · T: next weekend we will cycle.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فَعَلْتَ فِي نِهَايَةِ الأُسْبُوعِ المَاضِي لِتَكُونَ نَشِيطًا؟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2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الشَّبَابَ يَجْلِسُونَ أَمَامَ الشَّاشَاتِ كَثِيرًا، لِذٰلِكَ هُمْ أَقَلُّ نَشَاطًا؛ فِي المَاضِي كَانَ الأَطْفَالُ يَلْعَبُونَ فِي الشَّارِعِ، وَلٰكِنْ فِي رَأْيِي تُسَاعِدُنَا تَطْبِيقَاتُ الرِّيَاضَةِ اليَوْمَ.</a:t>
            </a:r>
            <a:endParaRPr lang="ar-SA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+ R: yes — screens, so less active · E/T: in the past children played in the street · opinion: sports apps can help us today.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الشَّبَابُ اليَوْمَ أَقَلُّ نَشَاطًا مِنَ المَاضِي؟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Find the A, R, E and T in each answer. Which link do you usually forget?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21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AT-A-L06 · Speaking practice room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A · Speaking practice room · AT-A-L06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answered every role-play task in a full sentence.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planned my first words from the question word.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climbed to level 3: answer + reason + detail.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advice with yajibu an / yanbaghī an + a verb in -a.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all four A-R-E-T links and spoke for 90 seconds.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21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AT-A-L06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you ran your own speaking practice!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AT-A-L06 · Writing practice room · Decode, plan, write and check — step by step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answer + reason + detail + another time frame — every time you speak.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AT-A-L06 · Speaking Practice Room — A Healthy Lifestyle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2026-10-25T13:10:21Z</dcterms:created>
  <dcterms:modified xsi:type="dcterms:W3CDTF">2026-10-25T13:10:21Z</dcterms:modified>
</cp:coreProperties>
</file>