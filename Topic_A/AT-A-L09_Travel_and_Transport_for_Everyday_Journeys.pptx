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AT-A-L09 — Travel and Transport for Everyday Journeys. Website: Advanced Topics › Topic A (Everyday Activities) › Lesson 9.
The website builds this lesson on the F6-L03 lesson engine, with the Topic focus “Describe transport, plan everyday journeys, understand timetables and ask for directions.” (grammar: Travel verbs; prepositions; time; comparison; directions; skills: Listening · Reading · Speaking) and the application challenge “Journey planner”.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9 (AT-A-L09), lesson engine Pathways › Foundation › F6 › AT-A-L09.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transport words + “I go to … by …” with بِـ, عَلَى or مَشْيًا (the website’s one big idea). Develop: ask a boy / a girl (تَذْهَبُ / تَذْهَبِينَ), give a reason (لِأَنَّهُ سَرِيعٌ), use departure / arrival times. Stretch (Topic A): compare two options (أَسْرَعُ مِنْ، أَرْخَصُ مِنْ) and plan a route from a timetable.
• Three patterns only: بِالحَافِلَةِ (motorised) · عَلَى الدَّرَّاجَةِ (ride on) · مَشْيًا (on foot, no preposition).
• Links: AT-A-L01 (going to school), AT-A-L02 (clock times for the timetable), AT-A-L03 (frequency: كُلَّ يَوْمٍ، أَحْيَانًا).
• Urdu bridge: سفر، مسافر، سواری (not Arabic), ٹکٹ ← تَذْكِرَةٌ (not cognate), راستہ / طَرِيقٌ (طریقہ = method).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transport words prepared at home at the end of AT-A-L08. Questions 3–5 retrieve AT-A-L08 (advice, imperative) and AT-A-L02 (time — needed for today’s timetable).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By bus / train / car → bi-. On a bike → ‘alā. On foot → mashyan (no little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CAREFUL: طریقہ in Urdu is “method”, Arabic طَرِيقٌ is a road / route; رحلت in Urdu means death — Arabic رِحْلَةٌ is simply a trip. Urdu تذکرہ is a mention / biography; Arabic تَذْكِرَةٌ is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Public transport (website vocabulary (1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Public transport (website vocabulary (2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Journey actions and people (website vocabulary (1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Journey actions and people (website vocabulary (2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“Travel by most motorised transport” (بِـ), “Ride on a bicycle or motorbike” (عَلَى), “Say on foot” (مَشْيًا, no preposition) and “Ask and answer how someone travels” (تَذْهَبُ / تَذْهَبِينَ), with the website table.
Website common error: أُسَافِرُ عَلَى الحَافِلَةِ ✗ → أُسَافِرُ بِالحَافِلَةِ ✓ · أَذْهَبُ بِمَشْيًا ✗ → أَذْهَبُ مَشْيًا ✓.
Quick-fire: say a vehicle; students type بِـ / عَلَى /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Topic A page lists “travel verbs; prepositions; time; comparison; directions” for this lesson. The reason pattern is from the website listening (يُفَضِّلُ الأَبُ القِطَارَ لِأَنَّهُ سَرِيعٌ … الأُمُّ تُفَضِّلُ السَّيَّارَةَ لِأَنَّهَا مُرِيحَةٌ). Departure / arrival come from the website vocabulary (مَوْعِدُ المُغَادَرَةِ / مَوْعِدُ الوُصُولِ).
Comparatives (teacher layer, Stretch): أَسْرَعُ (faster), أَبْطَأُ (slower), أَرْخَصُ (cheaper), أَغْلَى (more expensive), أَقْرَبُ (nearer), أَرْيَحُ (more comfortable) + مِنْ. The comparative does not change for feminine: السَّيَّارَةُ أَسْرَعُ مِنَ الدَّرَّاجَةِ.
Directions (FLEX): اِذْهَبْ مُسْتَقِيمًا · اِنْعَطِفْ يَمِينًا / يَسَارًا — imperatives from AT-A-L08.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website patterns (بِالحَافِلَةِ · عَلَى الدَّرَّاجَةِ · مَشْيًا) and the website model (لِأَنَّ بَيْتِي بَعِيدٌ · أَمَّا أُخْتِي فَـ…) with a Topic A time and a comparison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“Use a timetable and map to choose a route, compare two transport options and explain the journey using times, prepositions and direction language.”
Teacher-made timetable for the website “journey planner”. Model answer (Develop): أَذْهَبُ بِالقِطَارِ. يُغَادِرُ فِي السَّاعَةِ التَّاسِعَةِ وَيَصِلُ قَبْلَ التَّاسِعَةِ وَالنِّصْفِ، ثُمَّ أَذْهَبُ مَشْيًا عَشْرَ دَقَائِقَ. Stretch: القِطَارُ أَسْرَعُ مِنَ الحَافِلَةِ، وَلٰكِنَّ الحَافِلَةَ أَرْخَصُ. Check: the train arrives 9:25 + 10 min walk = 9:35 — before 10:00 ✓; the bike arrives 9:45 ✓ but the class may argue it is tiring.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prompts (order changed so Core starts with the simplest). Website model continues: A: لِمَاذَا تُفَضِّلِينَ الحَافِلَةَ؟ B: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بِالحَافِلَةِ · عَلَى الدَّرَّاجَةِ · فَتَذْهَبُ · لِأَنَّ بَيْتِي بَعِيدٌ / لِأَنَّهُ سَرِيعٌ. Link to AT-A-L06: لِأَنَّ المَشْيَ صِحِّيٌّ.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(AT-A-L10 · Reading and Listening Exam Skills) will spend class time USING this language, so students prepare it tonight — short, simple, easy to access (school guidance: “Simple, Short, Interesting, Relevant, Easy to access”). The five words come from the website AT-A-L10 vocabulary (the AT-A-L10 lesson engine: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Travel and Transport for Everyday Journeys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السَّفَرُ وَوَسَائِلُ النَّقْلِ فِي الرِّحْلَاتِ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transport, plan everyday journeys, understand timetables and ask for directions.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AT-A-L09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Transport words, then by / on / on foot, then asking a boy 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pattern,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تَسْتَرِيحَ.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تَسْتَرِيحَ.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“Drink!” to a girl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اِشْرَبُوا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السَّاعَةُ الثَّامِنَةُ إِلَّا الرُّبْعَ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7:45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تَسْتَرِيحَ.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تَسْتَرِيحَ.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AT-A-L08: -a after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“Drink!” to a girl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اِشْرَبُوا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اِشْرَبِي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AT-A-L08: imperative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السَّاعَةُ الثَّامِنَةُ إِلَّا الرُّبْعَ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7:45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quarter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By bus / train / car → bi-. On a bike → ‘alā. On foot → mashyan (no little word).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أَذْهَبُ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بِالحَافِلَةِ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الدَّرَّاجَةِ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I go to school (by / on / on foot).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how they travel.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and a time.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ways to travel (faster than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plan and explain a journey from a timetable.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travel words from the website in 3 groups. Core: public transport (12). Journey actions and stations / tickets are FLEX — they return in the challenge.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 a journey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طَرِيقٌ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‎طریقہ‎ </a:t>
            </a:r>
            <a:pPr indent="0" marL="0">
              <a:buNone/>
            </a:pPr>
            <a:r>
              <a:rPr lang="en-US" sz="950" b="1" dirty="0">
                <a:solidFill>
                  <a:srgbClr val="2E8B57"/>
                </a:solidFill>
                <a:latin typeface="Calibri" pitchFamily="34" charset="0"/>
                <a:cs typeface="Amiri" pitchFamily="2" charset="-78"/>
              </a:rPr>
              <a:t> ṭarīq · route, way (Urdu: method)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‎رحلت‎ </a:t>
            </a:r>
            <a:pPr indent="0" marL="0">
              <a:buNone/>
            </a:pPr>
            <a:r>
              <a:rPr lang="en-US" sz="950" b="1" dirty="0">
                <a:solidFill>
                  <a:srgbClr val="2E8B57"/>
                </a:solidFill>
                <a:latin typeface="Calibri" pitchFamily="34" charset="0"/>
                <a:cs typeface="Amiri" pitchFamily="2" charset="-78"/>
              </a:rPr>
              <a:t> riḥla · journey (Urdu: passing away!)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‎ٹکٹ‎ </a:t>
            </a:r>
            <a:pPr indent="0" marL="0">
              <a:buNone/>
            </a:pPr>
            <a:r>
              <a:rPr lang="en-US" sz="950" b="1" dirty="0">
                <a:solidFill>
                  <a:srgbClr val="2E8B57"/>
                </a:solidFill>
                <a:latin typeface="Calibri" pitchFamily="34" charset="0"/>
                <a:cs typeface="Amiri" pitchFamily="2" charset="-78"/>
              </a:rPr>
              <a:t> tadhkira · ticket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a:t>
            </a:r>
            <a:endParaRPr lang="en-US" sz="1350" dirty="0"/>
          </a:p>
          <a:p>
            <a:pPr indent="0" marL="0">
              <a:buNone/>
            </a:pPr>
            <a:r>
              <a:rPr lang="en-US" sz="1100" i="1" dirty="0">
                <a:solidFill>
                  <a:srgbClr val="5A6472"/>
                </a:solidFill>
                <a:latin typeface="Calibri" pitchFamily="34" charset="0"/>
                <a:cs typeface="Amiri" pitchFamily="2" charset="-78"/>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بِالحَافِلَةِ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a:t>
            </a:r>
            <a:endParaRPr lang="en-US" sz="1350" dirty="0"/>
          </a:p>
          <a:p>
            <a:pPr indent="0" marL="0">
              <a:buNone/>
            </a:pPr>
            <a:r>
              <a:rPr lang="en-US" sz="1100" i="1" dirty="0">
                <a:solidFill>
                  <a:srgbClr val="5A6472"/>
                </a:solidFill>
                <a:latin typeface="Calibri" pitchFamily="34" charset="0"/>
                <a:cs typeface="Amiri" pitchFamily="2" charset="-78"/>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قِطَارَاتٌ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بِالقِطَارِ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مِتْرُو</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metro / underground</a:t>
            </a:r>
            <a:endParaRPr lang="en-US" sz="1350" dirty="0"/>
          </a:p>
          <a:p>
            <a:pPr indent="0" marL="0">
              <a:buNone/>
            </a:pPr>
            <a:r>
              <a:rPr lang="en-US" sz="1100" i="1" dirty="0">
                <a:solidFill>
                  <a:srgbClr val="5A6472"/>
                </a:solidFill>
                <a:latin typeface="Calibri" pitchFamily="34" charset="0"/>
                <a:cs typeface="Amiri" pitchFamily="2" charset="-78"/>
              </a:rPr>
              <a:t>mit-rū</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a:t>
            </a:r>
            <a:endParaRPr lang="en-US" sz="1350" dirty="0"/>
          </a:p>
          <a:p>
            <a:pPr indent="0" marL="0">
              <a:buNone/>
            </a:pPr>
            <a:r>
              <a:rPr lang="en-US" sz="1100" i="1" dirty="0">
                <a:solidFill>
                  <a:srgbClr val="5A6472"/>
                </a:solidFill>
                <a:latin typeface="Calibri" pitchFamily="34" charset="0"/>
                <a:cs typeface="Amiri" pitchFamily="2" charset="-78"/>
              </a:rPr>
              <a:t>say-yā-ra-tun</a:t>
            </a:r>
            <a:endParaRPr lang="en-US" sz="1350" dirty="0"/>
          </a:p>
        </p:txBody>
      </p:sp>
      <p:sp>
        <p:nvSpPr>
          <p:cNvPr id="59" name="Shape 5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سَيَّارَاتٌ</a:t>
            </a:r>
            <a:endParaRPr lang="ar-SA" sz="1500" dirty="0"/>
          </a:p>
        </p:txBody>
      </p:sp>
      <p:sp>
        <p:nvSpPr>
          <p:cNvPr id="62" name="Shape 5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64" name="Text 6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بِالسَّيَّارَةِ</a:t>
            </a:r>
            <a:endParaRPr lang="ar-SA"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 أُجْرَةٍ</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taxi</a:t>
            </a:r>
            <a:endParaRPr lang="en-US" sz="1350" dirty="0"/>
          </a:p>
          <a:p>
            <a:pPr indent="0" marL="0">
              <a:buNone/>
            </a:pPr>
            <a:r>
              <a:rPr lang="en-US" sz="1100" i="1" dirty="0">
                <a:solidFill>
                  <a:srgbClr val="5A6472"/>
                </a:solidFill>
                <a:latin typeface="Calibri" pitchFamily="34" charset="0"/>
                <a:cs typeface="Amiri" pitchFamily="2" charset="-78"/>
              </a:rPr>
              <a:t>say-yā-ra-tu uj-ra-tin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سَيَّارَاتُ أُجْرَةٍ</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79" name="Text 7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بِسَيَّارَةِ أُجْرَةٍ</a:t>
            </a:r>
            <a:endParaRPr lang="ar-SA" sz="135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3" name="Shape 8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85" name="Shape 8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7" name="Text 8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دَرَّاجَةٌ</a:t>
            </a:r>
            <a:endParaRPr lang="ar-SA" sz="3000" dirty="0"/>
          </a:p>
        </p:txBody>
      </p:sp>
      <p:sp>
        <p:nvSpPr>
          <p:cNvPr id="88" name="Text 8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bicycle</a:t>
            </a:r>
            <a:endParaRPr lang="en-US" sz="1350" dirty="0"/>
          </a:p>
          <a:p>
            <a:pPr indent="0" marL="0">
              <a:buNone/>
            </a:pPr>
            <a:r>
              <a:rPr lang="en-US" sz="1100" i="1" dirty="0">
                <a:solidFill>
                  <a:srgbClr val="5A6472"/>
                </a:solidFill>
                <a:latin typeface="Calibri" pitchFamily="34" charset="0"/>
                <a:cs typeface="Amiri" pitchFamily="2" charset="-78"/>
              </a:rPr>
              <a:t>dar-rā-ja-tun</a:t>
            </a:r>
            <a:endParaRPr lang="en-US" sz="1350" dirty="0"/>
          </a:p>
        </p:txBody>
      </p:sp>
      <p:sp>
        <p:nvSpPr>
          <p:cNvPr id="89" name="Shape 8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1" name="Text 8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دَرَّاجَاتٌ</a:t>
            </a:r>
            <a:endParaRPr lang="ar-SA" sz="1500" dirty="0"/>
          </a:p>
        </p:txBody>
      </p:sp>
      <p:sp>
        <p:nvSpPr>
          <p:cNvPr id="92" name="Shape 8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94" name="Text 9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عَلَى الدَّرَّاجَةِ</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دَرَّاجَةٌ نَارِيَّةٌ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motorbike</a:t>
            </a:r>
            <a:endParaRPr lang="en-US" sz="1350" dirty="0"/>
          </a:p>
          <a:p>
            <a:pPr indent="0" marL="0">
              <a:buNone/>
            </a:pPr>
            <a:r>
              <a:rPr lang="en-US" sz="1100" i="1" dirty="0">
                <a:solidFill>
                  <a:srgbClr val="5A6472"/>
                </a:solidFill>
                <a:latin typeface="Calibri" pitchFamily="34" charset="0"/>
                <a:cs typeface="Amiri" pitchFamily="2" charset="-78"/>
              </a:rPr>
              <a:t>dar-rā-ja-tun nā-riy-ya-tun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دَرَّاجَاتٌ نَارِيَّةٌ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عَلَى الدَّرَّاجَةِ النَّارِيَّةِ</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طَائِرَةٌ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aeroplane</a:t>
            </a:r>
            <a:endParaRPr lang="en-US" sz="1350" dirty="0"/>
          </a:p>
          <a:p>
            <a:pPr indent="0" marL="0">
              <a:buNone/>
            </a:pPr>
            <a:r>
              <a:rPr lang="en-US" sz="1100" i="1" dirty="0">
                <a:solidFill>
                  <a:srgbClr val="5A6472"/>
                </a:solidFill>
                <a:latin typeface="Calibri" pitchFamily="34" charset="0"/>
                <a:cs typeface="Amiri" pitchFamily="2" charset="-78"/>
              </a:rPr>
              <a:t>ṭā-ʾi-ra-tun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بِالطَّائِرَةِ</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سَفِينَةٌ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ship</a:t>
            </a:r>
            <a:endParaRPr lang="en-US" sz="1350" dirty="0"/>
          </a:p>
          <a:p>
            <a:pPr indent="0" marL="0">
              <a:buNone/>
            </a:pPr>
            <a:r>
              <a:rPr lang="en-US" sz="1100" i="1" dirty="0">
                <a:solidFill>
                  <a:srgbClr val="5A6472"/>
                </a:solidFill>
                <a:latin typeface="Calibri" pitchFamily="34" charset="0"/>
                <a:cs typeface="Amiri" pitchFamily="2" charset="-78"/>
              </a:rPr>
              <a:t>sa-fī-na-tun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سُفُنٌ</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بِالسَّفِينَةِ</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عَبَّارَةٌ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ferry</a:t>
            </a:r>
            <a:endParaRPr lang="en-US" sz="1350" dirty="0"/>
          </a:p>
          <a:p>
            <a:pPr indent="0" marL="0">
              <a:buNone/>
            </a:pPr>
            <a:r>
              <a:rPr lang="en-US" sz="1100" i="1" dirty="0">
                <a:solidFill>
                  <a:srgbClr val="5A6472"/>
                </a:solidFill>
                <a:latin typeface="Calibri" pitchFamily="34" charset="0"/>
                <a:cs typeface="Amiri" pitchFamily="2" charset="-78"/>
              </a:rPr>
              <a:t>ʿab-bā-ra-tun</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تِرَامٌ</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tram</a:t>
            </a:r>
            <a:endParaRPr lang="en-US" sz="1350" dirty="0"/>
          </a:p>
          <a:p>
            <a:pPr indent="0" marL="0">
              <a:buNone/>
            </a:pPr>
            <a:r>
              <a:rPr lang="en-US" sz="1100" i="1" dirty="0">
                <a:solidFill>
                  <a:srgbClr val="5A6472"/>
                </a:solidFill>
                <a:latin typeface="Calibri" pitchFamily="34" charset="0"/>
                <a:cs typeface="Amiri" pitchFamily="2" charset="-78"/>
              </a:rPr>
              <a:t>ti-rā-mun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قَارِبٌ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boat</a:t>
            </a:r>
            <a:endParaRPr lang="en-US" sz="1350" dirty="0"/>
          </a:p>
          <a:p>
            <a:pPr indent="0" marL="0">
              <a:buNone/>
            </a:pPr>
            <a:r>
              <a:rPr lang="en-US" sz="1100" i="1" dirty="0">
                <a:solidFill>
                  <a:srgbClr val="5A6472"/>
                </a:solidFill>
                <a:latin typeface="Calibri" pitchFamily="34" charset="0"/>
                <a:cs typeface="Amiri" pitchFamily="2" charset="-78"/>
              </a:rPr>
              <a:t>qā-ri-bun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actions and people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 boards transport</a:t>
            </a:r>
            <a:endParaRPr lang="en-US" sz="1350" dirty="0"/>
          </a:p>
          <a:p>
            <a:pPr indent="0" marL="0">
              <a:buNone/>
            </a:pPr>
            <a:r>
              <a:rPr lang="en-US" sz="1100" i="1" dirty="0">
                <a:solidFill>
                  <a:srgbClr val="5A6472"/>
                </a:solidFill>
                <a:latin typeface="Calibri" pitchFamily="34" charset="0"/>
                <a:cs typeface="Amiri" pitchFamily="2" charset="-78"/>
              </a:rPr>
              <a:t>yas-ta-qil-lu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يَرْكَبُ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rides</a:t>
            </a:r>
            <a:endParaRPr lang="en-US" sz="1350" dirty="0"/>
          </a:p>
          <a:p>
            <a:pPr indent="0" marL="0">
              <a:buNone/>
            </a:pPr>
            <a:r>
              <a:rPr lang="en-US" sz="1100" i="1" dirty="0">
                <a:solidFill>
                  <a:srgbClr val="5A6472"/>
                </a:solidFill>
                <a:latin typeface="Calibri" pitchFamily="34" charset="0"/>
                <a:cs typeface="Amiri" pitchFamily="2" charset="-78"/>
              </a:rPr>
              <a:t>yar-ka-bu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يَقُودُ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drives</a:t>
            </a:r>
            <a:endParaRPr lang="en-US" sz="1350" dirty="0"/>
          </a:p>
          <a:p>
            <a:pPr indent="0" marL="0">
              <a:buNone/>
            </a:pPr>
            <a:r>
              <a:rPr lang="en-US" sz="1100" i="1" dirty="0">
                <a:solidFill>
                  <a:srgbClr val="5A6472"/>
                </a:solidFill>
                <a:latin typeface="Calibri" pitchFamily="34" charset="0"/>
                <a:cs typeface="Amiri" pitchFamily="2" charset="-78"/>
              </a:rPr>
              <a:t>ya-qū-du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يَسِيرُ مَشْيًا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 / goes on foot</a:t>
            </a:r>
            <a:endParaRPr lang="en-US" sz="1350" dirty="0"/>
          </a:p>
          <a:p>
            <a:pPr indent="0" marL="0">
              <a:buNone/>
            </a:pPr>
            <a:r>
              <a:rPr lang="en-US" sz="1100" i="1" dirty="0">
                <a:solidFill>
                  <a:srgbClr val="5A6472"/>
                </a:solidFill>
                <a:latin typeface="Calibri" pitchFamily="34" charset="0"/>
                <a:cs typeface="Amiri" pitchFamily="2" charset="-78"/>
              </a:rPr>
              <a:t>ya-sī-ru mash-yan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travels</a:t>
            </a:r>
            <a:endParaRPr lang="en-US" sz="1350" dirty="0"/>
          </a:p>
          <a:p>
            <a:pPr indent="0" marL="0">
              <a:buNone/>
            </a:pPr>
            <a:r>
              <a:rPr lang="en-US" sz="1100" i="1" dirty="0">
                <a:solidFill>
                  <a:srgbClr val="5A6472"/>
                </a:solidFill>
                <a:latin typeface="Calibri" pitchFamily="34" charset="0"/>
                <a:cs typeface="Amiri" pitchFamily="2" charset="-78"/>
              </a:rPr>
              <a:t>yu-sā-fi-ru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actions and people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سَائِقٌ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driver</a:t>
            </a:r>
            <a:endParaRPr lang="en-US" sz="1350" dirty="0"/>
          </a:p>
          <a:p>
            <a:pPr indent="0" marL="0">
              <a:buNone/>
            </a:pPr>
            <a:r>
              <a:rPr lang="en-US" sz="1100" i="1" dirty="0">
                <a:solidFill>
                  <a:srgbClr val="5A6472"/>
                </a:solidFill>
                <a:latin typeface="Calibri" pitchFamily="34" charset="0"/>
                <a:cs typeface="Amiri" pitchFamily="2" charset="-78"/>
              </a:rPr>
              <a:t>sā-ʾi-qun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رَاكِبٌ / رَاكِبَةٌ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passenger m/f</a:t>
            </a:r>
            <a:endParaRPr lang="en-US" sz="1350" dirty="0"/>
          </a:p>
          <a:p>
            <a:pPr indent="0" marL="0">
              <a:buNone/>
            </a:pPr>
            <a:r>
              <a:rPr lang="en-US" sz="1100" i="1" dirty="0">
                <a:solidFill>
                  <a:srgbClr val="5A6472"/>
                </a:solidFill>
                <a:latin typeface="Calibri" pitchFamily="34" charset="0"/>
                <a:cs typeface="Amiri" pitchFamily="2" charset="-78"/>
              </a:rPr>
              <a:t>rā-ki-bun / rā-ki-ba-tun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رُكَّابٌ</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رَاكِبَةٌ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رَاكِبٌ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journey</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طَرِيقٌ</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route</a:t>
            </a:r>
            <a:endParaRPr lang="en-US" sz="1350" dirty="0"/>
          </a:p>
          <a:p>
            <a:pPr indent="0" marL="0">
              <a:buNone/>
            </a:pPr>
            <a:r>
              <a:rPr lang="en-US" sz="1100" i="1" dirty="0">
                <a:solidFill>
                  <a:srgbClr val="5A6472"/>
                </a:solidFill>
                <a:latin typeface="Calibri" pitchFamily="34" charset="0"/>
                <a:cs typeface="Amiri" pitchFamily="2" charset="-78"/>
              </a:rPr>
              <a:t>ṭa-rī-qun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مَوَاصَلَاتٌ عَامَّةٌ</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ma-wā-ṣa-lā-tun ʿām-ma-tun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way</a:t>
            </a:r>
            <a:endParaRPr lang="en-US" sz="1350" dirty="0"/>
          </a:p>
          <a:p>
            <a:pPr indent="0" marL="0">
              <a:buNone/>
            </a:pPr>
            <a:r>
              <a:rPr lang="en-US" sz="1100" i="1" dirty="0">
                <a:solidFill>
                  <a:srgbClr val="5A6472"/>
                </a:solidFill>
                <a:latin typeface="Calibri" pitchFamily="34" charset="0"/>
                <a:cs typeface="Amiri" pitchFamily="2" charset="-78"/>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a:t>
            </a:r>
            <a:endParaRPr lang="en-US" sz="1350" dirty="0"/>
          </a:p>
          <a:p>
            <a:pPr indent="0" marL="0">
              <a:buNone/>
            </a:pPr>
            <a:r>
              <a:rPr lang="en-US" sz="1100" i="1" dirty="0">
                <a:solidFill>
                  <a:srgbClr val="5A6472"/>
                </a:solidFill>
                <a:latin typeface="Calibri" pitchFamily="34" charset="0"/>
                <a:cs typeface="Amiri" pitchFamily="2" charset="-78"/>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 station</a:t>
            </a:r>
            <a:endParaRPr lang="en-US" sz="1350" dirty="0"/>
          </a:p>
          <a:p>
            <a:pPr indent="0" marL="0">
              <a:buNone/>
            </a:pPr>
            <a:r>
              <a:rPr lang="en-US" sz="1100" i="1" dirty="0">
                <a:solidFill>
                  <a:srgbClr val="5A6472"/>
                </a:solidFill>
                <a:latin typeface="Calibri" pitchFamily="34" charset="0"/>
                <a:cs typeface="Amiri" pitchFamily="2" charset="-78"/>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 station</a:t>
            </a:r>
            <a:endParaRPr lang="en-US" sz="1350" dirty="0"/>
          </a:p>
          <a:p>
            <a:pPr indent="0" marL="0">
              <a:buNone/>
            </a:pPr>
            <a:r>
              <a:rPr lang="en-US" sz="1100" i="1" dirty="0">
                <a:solidFill>
                  <a:srgbClr val="5A6472"/>
                </a:solidFill>
                <a:latin typeface="Calibri" pitchFamily="34" charset="0"/>
                <a:cs typeface="Amiri" pitchFamily="2" charset="-78"/>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line / route</a:t>
            </a:r>
            <a:endParaRPr lang="en-US" sz="1350" dirty="0"/>
          </a:p>
          <a:p>
            <a:pPr indent="0" marL="0">
              <a:buNone/>
            </a:pPr>
            <a:r>
              <a:rPr lang="en-US" sz="1100" i="1" dirty="0">
                <a:solidFill>
                  <a:srgbClr val="5A6472"/>
                </a:solidFill>
                <a:latin typeface="Calibri" pitchFamily="34" charset="0"/>
                <a:cs typeface="Amiri" pitchFamily="2" charset="-78"/>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departure time</a:t>
            </a:r>
            <a:endParaRPr lang="en-US" sz="1350" dirty="0"/>
          </a:p>
          <a:p>
            <a:pPr indent="0" marL="0">
              <a:buNone/>
            </a:pPr>
            <a:r>
              <a:rPr lang="en-US" sz="1100" i="1" dirty="0">
                <a:solidFill>
                  <a:srgbClr val="5A6472"/>
                </a:solidFill>
                <a:latin typeface="Calibri" pitchFamily="34" charset="0"/>
                <a:cs typeface="Amiri" pitchFamily="2" charset="-78"/>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arrival time</a:t>
            </a:r>
            <a:endParaRPr lang="en-US" sz="1350" dirty="0"/>
          </a:p>
          <a:p>
            <a:pPr indent="0" marL="0">
              <a:buNone/>
            </a:pPr>
            <a:r>
              <a:rPr lang="en-US" sz="1100" i="1" dirty="0">
                <a:solidFill>
                  <a:srgbClr val="5A6472"/>
                </a:solidFill>
                <a:latin typeface="Calibri" pitchFamily="34" charset="0"/>
                <a:cs typeface="Amiri" pitchFamily="2" charset="-78"/>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WAYS TO TRAVEL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By bus, on a bike,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63185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go … / to a boy</a:t>
            </a:r>
            <a:endParaRPr lang="en-US" sz="1100" dirty="0"/>
          </a:p>
        </p:txBody>
      </p:sp>
      <p:sp>
        <p:nvSpPr>
          <p:cNvPr id="18" name="Text 15"/>
          <p:cNvSpPr txBox="1"/>
          <p:nvPr/>
        </p:nvSpPr>
        <p:spPr>
          <a:xfrm>
            <a:off x="26609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goes … / to a girl</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بِـ</a:t>
            </a:r>
            <a:endParaRPr lang="ar-SA" sz="2400" dirty="0"/>
          </a:p>
        </p:txBody>
      </p:sp>
      <p:sp>
        <p:nvSpPr>
          <p:cNvPr id="22" name="Text 19"/>
          <p:cNvSpPr txBox="1"/>
          <p:nvPr/>
        </p:nvSpPr>
        <p:spPr>
          <a:xfrm>
            <a:off x="63367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أَذْهَبُ </a:t>
            </a:r>
            <a:pPr rtl="1" algn="ctr" indent="0" marL="0">
              <a:buNone/>
            </a:pPr>
            <a:r>
              <a:rPr lang="ar-SA" altLang="en-US" sz="2400" b="1" dirty="0">
                <a:solidFill>
                  <a:srgbClr val="0E7C86"/>
                </a:solidFill>
                <a:latin typeface="Amiri" pitchFamily="2" charset="-78"/>
                <a:ea typeface="Amiri" pitchFamily="2" charset="-78"/>
                <a:cs typeface="Amiri" pitchFamily="2" charset="-78"/>
              </a:rPr>
              <a:t>بِالحَافِلَةِ</a:t>
            </a:r>
            <a:endParaRPr lang="ar-SA" sz="2400" dirty="0"/>
          </a:p>
        </p:txBody>
      </p:sp>
      <p:sp>
        <p:nvSpPr>
          <p:cNvPr id="23" name="Text 20"/>
          <p:cNvSpPr txBox="1"/>
          <p:nvPr/>
        </p:nvSpPr>
        <p:spPr>
          <a:xfrm>
            <a:off x="26791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ذْهَبُ </a:t>
            </a:r>
            <a:pPr rtl="1" algn="ctr" indent="0" marL="0">
              <a:buNone/>
            </a:pPr>
            <a:r>
              <a:rPr lang="ar-SA" altLang="en-US" sz="2400" b="1" dirty="0">
                <a:solidFill>
                  <a:srgbClr val="0E7C86"/>
                </a:solidFill>
                <a:latin typeface="Amiri" pitchFamily="2" charset="-78"/>
                <a:ea typeface="Amiri" pitchFamily="2" charset="-78"/>
                <a:cs typeface="Amiri" pitchFamily="2" charset="-78"/>
              </a:rPr>
              <a:t>بِالقِطَارِ</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عَلَى</a:t>
            </a:r>
            <a:endParaRPr lang="ar-SA" sz="2400" dirty="0"/>
          </a:p>
        </p:txBody>
      </p:sp>
      <p:sp>
        <p:nvSpPr>
          <p:cNvPr id="29" name="Text 26"/>
          <p:cNvSpPr txBox="1"/>
          <p:nvPr/>
        </p:nvSpPr>
        <p:spPr>
          <a:xfrm>
            <a:off x="63367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أَذْهَبُ </a:t>
            </a:r>
            <a:pPr rtl="1" algn="ctr" indent="0" marL="0">
              <a:buNone/>
            </a:pPr>
            <a:r>
              <a:rPr lang="ar-SA" altLang="en-US" sz="2400" b="1" dirty="0">
                <a:solidFill>
                  <a:srgbClr val="0E7C86"/>
                </a:solidFill>
                <a:latin typeface="Amiri" pitchFamily="2" charset="-78"/>
                <a:ea typeface="Amiri" pitchFamily="2" charset="-78"/>
                <a:cs typeface="Amiri" pitchFamily="2" charset="-78"/>
              </a:rPr>
              <a:t>عَلَى</a:t>
            </a:r>
            <a:pPr rtl="1" algn="ctr" indent="0" marL="0">
              <a:buNone/>
            </a:pPr>
            <a:r>
              <a:rPr lang="ar-SA" altLang="en-US" sz="2400" b="1" dirty="0">
                <a:solidFill>
                  <a:srgbClr val="1B3B6F"/>
                </a:solidFill>
                <a:latin typeface="Amiri" pitchFamily="2" charset="-78"/>
                <a:ea typeface="Amiri" pitchFamily="2" charset="-78"/>
                <a:cs typeface="Amiri" pitchFamily="2" charset="-78"/>
              </a:rPr>
              <a:t> الدَّرَّاجَةِ</a:t>
            </a:r>
            <a:endParaRPr lang="ar-SA" sz="2400" dirty="0"/>
          </a:p>
        </p:txBody>
      </p:sp>
      <p:sp>
        <p:nvSpPr>
          <p:cNvPr id="30" name="Text 27"/>
          <p:cNvSpPr txBox="1"/>
          <p:nvPr/>
        </p:nvSpPr>
        <p:spPr>
          <a:xfrm>
            <a:off x="26791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ذْهَبُ </a:t>
            </a:r>
            <a:pPr rtl="1" algn="ctr" indent="0" marL="0">
              <a:buNone/>
            </a:pPr>
            <a:r>
              <a:rPr lang="ar-SA" altLang="en-US" sz="2400" b="1" dirty="0">
                <a:solidFill>
                  <a:srgbClr val="0E7C86"/>
                </a:solidFill>
                <a:latin typeface="Amiri" pitchFamily="2" charset="-78"/>
                <a:ea typeface="Amiri" pitchFamily="2" charset="-78"/>
                <a:cs typeface="Amiri" pitchFamily="2" charset="-78"/>
              </a:rPr>
              <a:t>عَلَى</a:t>
            </a:r>
            <a:pPr rtl="1" algn="ctr" indent="0" marL="0">
              <a:buNone/>
            </a:pPr>
            <a:r>
              <a:rPr lang="ar-SA" altLang="en-US" sz="2400" b="1" dirty="0">
                <a:solidFill>
                  <a:srgbClr val="1B3B6F"/>
                </a:solidFill>
                <a:latin typeface="Amiri" pitchFamily="2" charset="-78"/>
                <a:ea typeface="Amiri" pitchFamily="2" charset="-78"/>
                <a:cs typeface="Amiri" pitchFamily="2" charset="-78"/>
              </a:rPr>
              <a:t> الدَّرَّاجَةِ</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مَشْيًا</a:t>
            </a:r>
            <a:endParaRPr lang="ar-SA" sz="2400" dirty="0"/>
          </a:p>
        </p:txBody>
      </p:sp>
      <p:sp>
        <p:nvSpPr>
          <p:cNvPr id="36" name="Text 33"/>
          <p:cNvSpPr txBox="1"/>
          <p:nvPr/>
        </p:nvSpPr>
        <p:spPr>
          <a:xfrm>
            <a:off x="63367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أَذْهَبُ </a:t>
            </a:r>
            <a:pPr rtl="1" algn="ctr" indent="0" marL="0">
              <a:buNone/>
            </a:pPr>
            <a:r>
              <a:rPr lang="ar-SA" altLang="en-US" sz="2400" b="1" dirty="0">
                <a:solidFill>
                  <a:srgbClr val="0E7C86"/>
                </a:solidFill>
                <a:latin typeface="Amiri" pitchFamily="2" charset="-78"/>
                <a:ea typeface="Amiri" pitchFamily="2" charset="-78"/>
                <a:cs typeface="Amiri" pitchFamily="2" charset="-78"/>
              </a:rPr>
              <a:t>مَشْيًا</a:t>
            </a:r>
            <a:endParaRPr lang="ar-SA" sz="2400" dirty="0"/>
          </a:p>
        </p:txBody>
      </p:sp>
      <p:sp>
        <p:nvSpPr>
          <p:cNvPr id="37" name="Text 34"/>
          <p:cNvSpPr txBox="1"/>
          <p:nvPr/>
        </p:nvSpPr>
        <p:spPr>
          <a:xfrm>
            <a:off x="26791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ذْهَبُ </a:t>
            </a:r>
            <a:pPr rtl="1" algn="ctr" indent="0" marL="0">
              <a:buNone/>
            </a:pPr>
            <a:r>
              <a:rPr lang="ar-SA" altLang="en-US" sz="2400" b="1" dirty="0">
                <a:solidFill>
                  <a:srgbClr val="0E7C86"/>
                </a:solidFill>
                <a:latin typeface="Amiri" pitchFamily="2" charset="-78"/>
                <a:ea typeface="Amiri" pitchFamily="2" charset="-78"/>
                <a:cs typeface="Amiri" pitchFamily="2" charset="-78"/>
              </a:rPr>
              <a:t>مَشْيًا</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foot</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كَيْفَ …؟</a:t>
            </a:r>
            <a:endParaRPr lang="ar-SA" sz="2400" dirty="0"/>
          </a:p>
        </p:txBody>
      </p:sp>
      <p:sp>
        <p:nvSpPr>
          <p:cNvPr id="43" name="Text 40"/>
          <p:cNvSpPr txBox="1"/>
          <p:nvPr/>
        </p:nvSpPr>
        <p:spPr>
          <a:xfrm>
            <a:off x="63367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كَيْفَ تَذْهَبُ؟</a:t>
            </a:r>
            <a:endParaRPr lang="ar-SA" sz="2400" dirty="0"/>
          </a:p>
        </p:txBody>
      </p:sp>
      <p:sp>
        <p:nvSpPr>
          <p:cNvPr id="44" name="Text 41"/>
          <p:cNvSpPr txBox="1"/>
          <p:nvPr/>
        </p:nvSpPr>
        <p:spPr>
          <a:xfrm>
            <a:off x="26791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كَيْفَ تَذْهَبِ</a:t>
            </a:r>
            <a:pPr rtl="1" algn="ctr" indent="0" marL="0">
              <a:buNone/>
            </a:pPr>
            <a:r>
              <a:rPr lang="ar-SA" altLang="en-US" sz="2400" b="1" dirty="0">
                <a:solidFill>
                  <a:srgbClr val="D6336C"/>
                </a:solidFill>
                <a:latin typeface="Amiri" pitchFamily="2" charset="-78"/>
                <a:ea typeface="Amiri" pitchFamily="2" charset="-78"/>
                <a:cs typeface="Amiri" pitchFamily="2" charset="-78"/>
              </a:rPr>
              <a:t>ينَ</a:t>
            </a:r>
            <a:pPr rtl="1" algn="ctr" indent="0" marL="0">
              <a:buNone/>
            </a:pPr>
            <a:r>
              <a:rPr lang="ar-SA" altLang="en-US" sz="2400" b="1" dirty="0">
                <a:solidFill>
                  <a:srgbClr val="1B3B6F"/>
                </a:solidFill>
                <a:latin typeface="Amiri" pitchFamily="2" charset="-78"/>
                <a:ea typeface="Amiri" pitchFamily="2" charset="-78"/>
                <a:cs typeface="Amiri" pitchFamily="2" charset="-78"/>
              </a:rPr>
              <a:t>؟</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(to m. · to f.)</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bi + al-ḥāfila = bil-ḥāfila. Never bi before mashyan.</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WHY, WHEN AND WHICH IS BETTER (TOPIC A: TIME AND COMPARISON)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Because … at … faster than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لِأَنَّ · فِي السَّاعَةِ · أَسْرَعُ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أُفَضِّلُ القِطَارَ لِأَنَّهُ سَرِيعٌ.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the train because it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Train m. → li’annahu.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يُغَادِرُ · يَصِلُ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يُغَادِرُ القِطَارُ فِي السَّاعَةِ الثَّامِنَةِ.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train leaves at eight o’clock.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Time from AT-A-L02.</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أَفْعَلُ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القِطَارُ أَسْرَعُ مِنَ الحَافِلَةِ.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train is faster than the bus.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form for m. and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reason pronoun matches the vehicle: the car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أُفَضِّلُ السَّيَّارَةَ لِأَنَّهَا مُرِيحَةٌ.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أُفَضِّلُ السَّيَّارَةَ لِأَنَّهُ مُرِيحٌ.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 for bicycle travel?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بِالدَّرَّاجَةِ</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عَلَى الدَّرَّاجَةِ</a:t>
            </a:r>
            <a:endParaRPr lang="ar-SA" sz="220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مَشْيًا الدَّرَّاجَةَ</a:t>
            </a:r>
            <a:endParaRPr lang="ar-SA" sz="220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مَشْيًا</a:t>
            </a:r>
            <a:pPr algn="l" indent="0" marL="0">
              <a:buNone/>
            </a:pPr>
            <a:r>
              <a:rPr lang="en-US" sz="1050" i="1" dirty="0">
                <a:solidFill>
                  <a:srgbClr val="8A6D1E"/>
                </a:solidFill>
                <a:latin typeface="Calibri" pitchFamily="34" charset="0"/>
                <a:cs typeface="Amiri" pitchFamily="2" charset="-78"/>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 for bicycle travel?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بِالدَّرَّاجَةِ</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عَلَى الدَّرَّاجَةِ</a:t>
            </a:r>
            <a:endParaRPr lang="ar-SA" sz="22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مَشْيًا الدَّرَّاجَةَ</a:t>
            </a:r>
            <a:endParaRPr lang="ar-SA" sz="22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plan teaches </a:t>
            </a:r>
            <a:pPr algn="l" indent="0" marL="0">
              <a:buNone/>
            </a:pPr>
            <a:r>
              <a:rPr lang="ar-SA" altLang="en-US" sz="1350" dirty="0">
                <a:solidFill>
                  <a:srgbClr val="8A6D1E"/>
                </a:solidFill>
                <a:latin typeface="Amiri" pitchFamily="2" charset="-78"/>
                <a:ea typeface="Amiri" pitchFamily="2" charset="-78"/>
                <a:cs typeface="Amiri" pitchFamily="2" charset="-78"/>
              </a:rPr>
              <a:t>عَلَى الدَّرَّاجَةِ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addressee form ends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explain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أَذْهَبُ إِلَى المَدْرَسَةِ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بِالحَافِلَةِ</a:t>
            </a:r>
            <a:pPr rtl="1" algn="ctr" indent="0" marL="0">
              <a:lnSpc>
                <a:spcPct val="120000"/>
              </a:lnSpc>
              <a:buNone/>
            </a:pPr>
            <a:r>
              <a:rPr lang="ar-SA" altLang="en-US" sz="1850" b="1" dirty="0">
                <a:solidFill>
                  <a:srgbClr val="1B3B6F"/>
                </a:solidFill>
                <a:latin typeface="Amiri" pitchFamily="2" charset="-78"/>
                <a:cs typeface="Amiri" pitchFamily="2" charset="-78"/>
              </a:rPr>
              <a:t>.</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 → bi-.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تُغَادِرُ الحَافِلَةُ فِي السَّاعَةِ السَّابِعَةِ وَالنِّصْفِ.</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 is f. → tughādiru.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أَمَّا أَخِي فَيَذْهَبُ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الدَّرَّاجَةِ.</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Bike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الحَافِلَةُ </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أَسْرَعُ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الدَّرَّاجَةِ، وَلٰكِنَّ الدَّرَّاجَةَ أَرْخَصُ.</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faster than … cheaper.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BY / 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أَذْهَبُ إِلَى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بِالحَافِلَةِ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 بَيْتِي بَعِيدٌ. تُغَادِرُ الحَافِلَةُ فِي السَّاعَةِ السَّابِعَةِ وَالنِّصْفِ. أَمَّا أَخِي فَيَذْهَبُ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الدَّرَّاجَةِ، وَأُخْتِي تَذْهَبُ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مَشْيًا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الحَافِلَةُ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أَسْرَعُ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الدَّرَّاجَةِ، وَلٰكِنَّ الدَّرَّاجَةَ أَرْخَصُ.</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go to school by bus because my house is far. The bus leaves at half past seven. As for my brother, he goes by bike, and my sister walks. The bus is faster than the bike, but the bike is cheaper.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school by bus.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the park by bicycle.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walk to the library.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do you (f) go to school?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bicycle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مَاشِيًا.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بِالحَافِلَةِ.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بِالدَّرَّاجَةِ.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bicycle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مَاشِيًا.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on foot.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بِـ · by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عَلَى · 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بِـ · by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عَلَى · on</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he travels.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أُسَافِرُ؟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نَذْهَبُ إِلَى المَطَارِ ___ سَيَّارَةِ أُجْرَةٍ.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“he drives”?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public transport?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مَحَطَّةٌ قَدِيمَةٌ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رِحْلَةٌ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مَوَاصَلَاتٌ عَامَّةٌ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he travels.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تُسَافِرِينَ؟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أُسَافِرُ؟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تُسَافِرُ؟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تُسَافِرُ</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نَذْهَبُ إِلَى المَطَارِ ___ سَيَّارَةِ أُجْرَةٍ.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taxi.</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“he drives”?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يَرْكَبُ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يَقُودُ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يَقُودُ</a:t>
            </a:r>
            <a:pPr algn="l" indent="0" marL="0">
              <a:buNone/>
            </a:pPr>
            <a:r>
              <a:rPr lang="en-US" sz="1050" i="1" dirty="0">
                <a:solidFill>
                  <a:srgbClr val="8A6D1E"/>
                </a:solidFill>
                <a:latin typeface="Calibri" pitchFamily="34" charset="0"/>
                <a:cs typeface="Amiri" pitchFamily="2" charset="-78"/>
              </a:rPr>
              <a:t> means drives.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public transport?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مَحَطَّةٌ قَدِيمَةٌ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رِحْلَةٌ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مَوَاصَلَاتٌ عَامَّةٌ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مَوَاصَلَاتٌ عَامَّةٌ</a:t>
            </a:r>
            <a:pPr algn="l" indent="0" marL="0">
              <a:buNone/>
            </a:pPr>
            <a:r>
              <a:rPr lang="en-US" sz="1050" i="1" dirty="0">
                <a:solidFill>
                  <a:srgbClr val="8A6D1E"/>
                </a:solidFill>
                <a:latin typeface="Calibri" pitchFamily="34" charset="0"/>
                <a:cs typeface="Amiri" pitchFamily="2" charset="-78"/>
              </a:rPr>
              <a:t> means public transport.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Train: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foot: is a preposition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بِالحَافِلَةِ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 الدَّرَّاجَةِ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بِالقِطَارِ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تَذْهَبُ سَارَةُ إِلَى المَدْرَسَةِ بِالحَافِلَةِ لِأَنَّ بَيْتَهَا بَعِيدٌ.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 goes to school by bus because her house is far.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أَخُوهَا عَلِيٌّ فَيَذْهَبُ عَلَى الدَّرَّاجَةِ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her brother Ali, he goes by bike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 المَدْرَسَةَ قَرِيبَةٌ مِنْ بَيْتِهِ.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school is near his house.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نِهَايَةِ الأُسْبُوعِ تُسَافِرُ الأُسْرَةُ إِلَى المَدِينَةِ بِالقِطَارِ.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weekend the family travels to the city by train.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يُفَضِّلُ الأَبُ القِطَارَ لِأَنَّهُ سَرِيعٌ، وَلٰكِنَّ الأُمَّ تُفَضِّلُ السَّيَّارَةَ لِأَنَّهَا 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prefers the train because it is fast, but the mother prefers the car because it is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بِالحَافِلَةِ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 الدَّرَّاجَةِ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بِالقِطَارِ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Journey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Journey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Use a timetable and map to choose a route, compare two transport options and explain the journey using times, prepositions and direction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Goal: school to the city library before 10:00. Timetable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choose a route and a transport option.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two options: faster / cheaper / more comfortable.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the journey on the mic: transport, times, “then”, and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one option. Say: “adhhabu bil-… · fī s-sā‘a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departure and arrival time and one reason (li’annahu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two options (asra‘u min … / arkhaṣu min …) and add walking from the station.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بِالحَافِلَةِ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bus · £2 · leaves 8:30, arrives 9:20</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بِالقِطَارِ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train · £5 · leaves 9:00, arrives 9:25</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عَلَى الدَّرَّاجَةِ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bike · free · 8:15 to 9:45</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مَشْيًا مِنَ المَحَطَّةِ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walk from the station: 10 min</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Transport survey and journey comparison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تَذْهَبُ إِلَى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تُسَافِرُ إِلَى مَدِينَةٍ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يَقُودُ السَّيَّارَةَ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وَسِيلَةُ النَّقْلِ الَّتِي تُفَضِّلُهَا؟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أَذْهَبُ إِلَى المَدْرَسَةِ بِـ ___ / مَشْيًا.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أُسَافِرُ بِـ ___ لِأَنَّهُ / لِأَنَّهَا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يَقُودُ السَّيَّارَةَ.</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أُفَضِّلُ ___ لِأَنَّهُ أَسْرَعُ / أَرْخَصُ مِنْ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تَذْهَبِينَ إِلَى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(f.) go to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أَذْهَبُ بِالحَافِلَةِ، وَلٰكِنِّي أَعُودُ مَشْيًا أَحْيَانًا.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go by bus, but sometimes I come back on foot.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How you, a brother and a sister go to school — one with bi-, one with ‘alā, one with mashyan.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Develop: compare three journeys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departure time and one “because it is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compare how three people travel.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yastaqillu or yaqūdu, a he and a she verb, a comparison (asra‘u min …) and a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تَذْهَبِينَ إِلَى المَدْرَسَةِ؟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you (f.) go to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لِأَنَّهُ سَرِيعٌ / لِأَنَّهَا رَخِيصَةٌ.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fast / cheap.</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القِطَارُ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leaves 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يَصِلُ فِي السَّاعَةِ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arrives 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القِطَارُ أَسْرَعُ مِنَ الحَافِلَةِ.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is faster than the bus.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on foot.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يَذْهَبُ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goes by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تَذْهَبُ بِـ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goes by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حَافِلَةٌ  ·  قِطَارٌ  ·  سَيَّارَةٌ  ·  دَرَّاجَةٌ  ·  طَائِرَةٌ  ·  مِتْرُو  ·  بِـ  ·  عَلَى  ·  مَشْيًا  ·  سَرِيعٌ  ·  رَخِيصٌ  ·  مُرِيحٌ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بِـ</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عَلَى</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مَشْيًا</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خَارِجَ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live outside the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أَسْتَقِلُّ الحَافِلَةَ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take the bus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يَقُودُ السَّيَّارَةَ إِلَى العَمَلِ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father drives the car to work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يُسَافِرُ إِلَى مَدِينَةٍ أُخْرَى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he travels to another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go to school by bus every day because my house is far. As for my sister, she goes by bike because her school is near. My father drives the car to work, then takes the train when he visits another city. I prefer the train because it is fast and comfortable, but I walk in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 with a vehicle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‘alā with a bike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she-verb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with because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Vehicles take bi-; bikes take ‘alā.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little word before mashyan.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reason pronoun matches the vehicle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time (leaves / arrives at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options with … min.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أَذْهَبُ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الدَّرَّاجَةِ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أَذْهَبُ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الدَّرَّاجَةِ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bicycle.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addressee form ends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أَسْكُنُ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خَارِجَ المَدِينَةِ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outside the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 صَبَاحٍ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every morning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أَسِيرُ مَشْيًا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مَحَطَّةِ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أَسْتَقِلُّ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الجَامِعَةِ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university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يَقُودُ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drives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العُطْلَةِ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holiday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أَسْكُنُ خَارِجَ المَدِينَةِ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AT-A-L10: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AT-A-L10 · Reading and Listening Exam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predict</a:t>
            </a:r>
            <a:pPr indent="0" marL="0">
              <a:buNone/>
            </a:pPr>
            <a:r>
              <a:rPr lang="ar-SA" sz="1000" i="1" dirty="0">
                <a:solidFill>
                  <a:srgbClr val="5A6472"/>
                </a:solidFill>
                <a:latin typeface="Calibri" pitchFamily="34" charset="0"/>
                <a:ea typeface="Amiri" pitchFamily="2" charset="-78"/>
                <a:cs typeface="Amiri" pitchFamily="2" charset="-78"/>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ar-SA" sz="1000" i="1" dirty="0">
                <a:solidFill>
                  <a:srgbClr val="5A6472"/>
                </a:solidFill>
                <a:latin typeface="Calibri" pitchFamily="34" charset="0"/>
                <a:ea typeface="Amiri" pitchFamily="2" charset="-78"/>
                <a:cs typeface="Amiri" pitchFamily="2" charset="-78"/>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focus on</a:t>
            </a:r>
            <a:pPr indent="0" marL="0">
              <a:buNone/>
            </a:pPr>
            <a:r>
              <a:rPr lang="ar-SA" sz="1000" i="1" dirty="0">
                <a:solidFill>
                  <a:srgbClr val="5A6472"/>
                </a:solidFill>
                <a:latin typeface="Calibri" pitchFamily="34" charset="0"/>
                <a:ea typeface="Amiri" pitchFamily="2" charset="-78"/>
                <a:cs typeface="Amiri" pitchFamily="2" charset="-78"/>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يُسَاعِدُكَ فِي الاِسْتِمَاعِ؟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AT-A-L09: the picture game and the sorter “Which travel pattern?”.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how your family travels, with reasons and a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70–90 words comparing how three people travel.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AT-A-L10 · Reading and Listening Exam Skills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مَهَارَاتُ الْقِرَاءَةِ وَالِاسْتِمَاعِ لِلِامْتِحَانِ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exam-strategy words + your best listening tip.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Travel and Transport for Everyday Journeys</dc:title>
  <dc:subject>PptxGenJS Presentation</dc:subject>
  <dc:creator>Al Madina Online School · Arabic Department</dc:creator>
  <cp:lastModifiedBy>Al Madina Online School · Arabic Department</cp:lastModifiedBy>
  <cp:revision>1</cp:revision>
  <dcterms:created xsi:type="dcterms:W3CDTF">2026-10-11T06:43:45Z</dcterms:created>
  <dcterms:modified xsi:type="dcterms:W3CDTF">2026-10-11T06:43:45Z</dcterms:modified>
</cp:coreProperties>
</file>