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AT-A-L09 — Travel and Transport for Everyday Journeys. Website: Advanced Topics › Topic A (Everyday Activities) › Lesson 9.
The website builds this lesson on the F6-L03 lesson engine, with the Topic focus “Describe transport, plan everyday journeys, understand timetables and ask for directions.” (grammar: Travel verbs; prepositions; time; comparison; directions; skills: Listening · Reading · Speaking) and the application challenge “Journey planner”.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9 (AT-A-L09), lesson engine Pathways › Foundation › F6 › AT-A-L09. The website lesson “Transport: Types and How We Travel”: vocabulary, grammar rules and quiz, patterns, common mistakes, sorter, listening, reading, speaking prompts and model, writing task and model, differentiation, final check and the lesson mission. Picture match: website visual game “Transport: Types and How We Travel”.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transport words + “I go to … by …” with بِـ, عَلَى or مَشْيًا (the website’s one big idea). Develop: ask a boy / a girl (تَذْهَبُ / تَذْهَبِينَ), give a reason (لِأَنَّهُ سَرِيعٌ), use departure / arrival times. Stretch (Topic A): compare two options (أَسْرَعُ مِنْ، أَرْخَصُ مِنْ) and plan a route from a timetable.
• Three patterns only: بِالحَافِلَةِ (motorised) · عَلَى الدَّرَّاجَةِ (ride on) · مَشْيًا (on foot, no preposition).
• Links: AT-A-L01 (going to school), AT-A-L02 (clock times for the timetable), AT-A-L03 (frequency: كُلَّ يَوْمٍ، أَحْيَانًا).
• Urdu bridge: سفر، مسافر، سواری (not Arabic), ٹکٹ ← تَذْكِرَةٌ (not cognate), راستہ / طَرِيقٌ (طریقہ = method).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transport words prepared at home at the end of AT-A-L08. Questions 3–5 retrieve AT-A-L08 (advice, imperative) and AT-A-L02 (time — needed for today’s timetable).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By bus / train / car → bi-. On a bike → ‘alā. On foot → mashyan (no little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and مسافر are identical. CAREFUL: طریقہ in Urdu is “method”, Arabic طَرِيقٌ is a road / route; رحلت in Urdu means death — Arabic رِحْلَةٌ is simply a trip. Urdu تذکرہ is a mention / biography; Arabic تَذْكِرَةٌ is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Public transport (website vocabulary (1 of 2)). Hear → Say → See → Use. Transliteration is printed for Core students (cover it for Develop/Stretch).
Every card shows the plural and the travel phrase (by … / on …). Most take بِـ; bicycles and motorbikes take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Public transport (website vocabulary (2 of 2)). Hear → Say → See → Use. Transliteration is printed for Core students (cover it for Develop/Stretch).
Every card shows the plural and the travel phrase (by … / on …). Most take بِـ; bicycles and motorbikes take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Journey actions and people (website vocabulary (1 of 2)). Hear → Say → See → Use. Transliteration is printed for Core students (cover it for Develop/Stretch).
FLEX: teach if time allows; otherwise these are on the website vocabulary tab for homework.
FLEX: journey verbs. يَسْتَقِلُّ (takes / boards) and يَقُودُ (drives) are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Journey actions and people (website vocabulary (2 of 2)). Hear → Say → See → Use. Transliteration is printed for Core students (cover it for Develop/Stretch).
FLEX: teach if time allows; otherwise these are on the website vocabulary tab for homework.
FLEX: journey verbs. يَسْتَقِلُّ (takes / boards) and يَقُودُ (drives) are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(1 of 2)). Hear → Say → See → Use. Transliteration is printed for Core students (cover it for Develop/Stretch).
FLEX: teach if time allows; otherwise these are on the website vocabulary tab for homework.
FLEX: stations and tickets — needed for the journey planner (departure / arrival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(2 of 2)). Hear → Say → See → Use. Transliteration is printed for Core students (cover it for Develop/Stretch).
FLEX: teach if time allows; otherwise these are on the website vocabulary tab for homework.
FLEX: stations and tickets — needed for the journey planner (departure / arrival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“Travel by most motorised transport” (بِـ), “Ride on a bicycle or motorbike” (عَلَى), “Say on foot” (مَشْيًا, no preposition) and “Ask and answer how someone travels” (تَذْهَبُ / تَذْهَبِينَ), with the website table.
Website common error: أُسَافِرُ عَلَى الحَافِلَةِ ✗ → أُسَافِرُ بِالحَافِلَةِ ✓ · أَذْهَبُ بِمَشْيًا ✗ → أَذْهَبُ مَشْيًا ✓.
Quick-fire: say a vehicle; students type بِـ / عَلَى /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Topic A page lists “travel verbs; prepositions; time; comparison; directions” for this lesson. The reason pattern is from the website listening (يُفَضِّلُ الأَبُ القِطَارَ لِأَنَّهُ سَرِيعٌ … الأُمُّ تُفَضِّلُ السَّيَّارَةَ لِأَنَّهَا مُرِيحَةٌ). Departure / arrival come from the website vocabulary (مَوْعِدُ المُغَادَرَةِ / مَوْعِدُ الوُصُولِ).
Comparatives (teacher layer, Stretch): أَسْرَعُ (faster), أَبْطَأُ (slower), أَرْخَصُ (cheaper), أَغْلَى (more expensive), أَقْرَبُ (nearer), أَرْيَحُ (more comfortable) + مِنْ. The comparative does not change for feminine: السَّيَّارَةُ أَسْرَعُ مِنَ الدَّرَّاجَةِ.
Directions (FLEX): اِذْهَبْ مُسْتَقِيمًا · اِنْعَطِفْ يَمِينًا / يَسَارًا — imperatives from AT-A-L08.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“Transport is not one single pattern. Use بِـ with most motorised transport, عَلَى with bicycles and similar vehicles, and مَشْيًا without a transport noun. The verb also changes according to the person.”
• Travel by most motorised transport: The preposition بِـ joins the definite noun: بِ + الحَافِلَةِ becomes بِالحَافِلَةِ.
• Ride on a bicycle or motorbike: Use عَلَى when the person rides on top of the vehicle.
• Say “on foot”: مَشْيًا is an adverb. Do not add بِـ or عَلَى before it.
• Ask and answer how someone travels: Use تُـ when addressing one male learner, تُـ...ينَ for one female learner, and أَـ in the first-person answer.
Website common error: Do not write أُسَافِرُ عَلَى الحَافِلَةِ. The standard Foundation pattern is أُسَافِرُ بِالحَافِلَةِ.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(بِالحَافِلَةِ · عَلَى الدَّرَّاجَةِ · مَشْيًا) and the website model (لِأَنَّ بَيْتِي بَعِيدٌ · أَمَّا أُخْتِي فَـ…) with a Topic A time and a comparison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website game card says أَذْهَبُ بِالدَّرَّاجَةِ — also heard in everyday Arabic; the lesson rule teaches عَلَى الدَّرَّاجَةِ (both are understood). Other cards for homework: أُسَافِرُ بِالقِطَارِ، أَذْهَبُ بِالسَّيَّارَةِ، أُسَافِرُ بِالطَّائِرَةِ.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website game card says أَذْهَبُ بِالدَّرَّاجَةِ — also heard in everyday Arabic; the lesson rule teaches عَلَى الدَّرَّاجَةِ (both are understood). Other cards for homework: أُسَافِرُ بِالقِطَارِ، أَذْهَبُ بِالسَّيَّارَةِ، أُسَافِرُ بِالطَّائِرَةِ.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the required transport pattern.
Then: make one “I go to … by …” sentence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the required transport pattern.
Then: make one “I go to … by …” sentence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تَذْهَبُ سَارَةُ إِلَى المَدْرَسَةِ بِالحَافِلَةِ لِأَنَّ بَيْتَهَا بَعِيدٌ. أَمَّا أَخُوهَا عَلِيٌّ فَيَذْهَبُ عَلَى الدَّرَّاجَةِ لِأَنَّ المَدْرَسَةَ قَرِيبَةٌ مِنْ بَيْتِهِ. فِي نِهَايَةِ الأُسْبُوعِ تُسَافِرُ الأُسْرَةُ إِلَى المَدِينَةِ بِالقِطَارِ. يُفَضِّلُ الأَبُ القِطَارَ لِأَنَّهُ سَرِيعٌ، وَلٰكِنَّ الأُمَّ تُفَضِّلُ السَّيَّارَةَ لِأَنَّهَا مُرِيحَةٌ.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“Use a timetable and map to choose a route, compare two transport options and explain the journey using times, prepositions and direction language.”
Teacher-made timetable for the website “journey planner”. Model answer (Develop): أَذْهَبُ بِالقِطَارِ. يُغَادِرُ فِي السَّاعَةِ التَّاسِعَةِ وَيَصِلُ قَبْلَ التَّاسِعَةِ وَالنِّصْفِ، ثُمَّ أَذْهَبُ مَشْيًا عَشْرَ دَقَائِقَ. Stretch: القِطَارُ أَسْرَعُ مِنَ الحَافِلَةِ، وَلٰكِنَّ الحَافِلَةَ أَرْخَصُ. Check: the train arrives 9:25 + 10 min walk = 9:35 — before 10:00 ✓; the bike arrives 9:45 ✓ but the class may argue it is tiring.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لِمَاذَا تُفَضِّلِينَ الحَافِلَةَ؟ (Why do you prefer the bus?)
B: لِأَنَّهَا رَخِيصَةٌ وَسَرِيعَةٌ. (Because it is cheap and fast.)
Website prompts (order changed so Core starts with the simplest). Website model continues: A: لِمَاذَا تُفَضِّلِينَ الحَافِلَةَ؟ B: لِأَنَّهَا رَخِيصَةٌ وَسَرِيعَةٌ.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six transport types and produce four accurate journey sentences. · Develop — Compare three journeys with correct prepositions and reasons. · Stretch — Use يَسْتَقِلُّ, يَقُودُ and varied person forms in a connected transport survey report.
Website writing task (Stretch): Write 70–90 Arabic words comparing how three people travel.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بِالحَافِلَةِ · عَلَى الدَّرَّاجَةِ · فَتَذْهَبُ · لِأَنَّ بَيْتِي بَعِيدٌ / لِأَنَّهُ سَرِيعٌ. Link to AT-A-L06: لِأَنَّ المَشْيَ صِحِّيٌّ.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(AT-A-L10 · Reading and Listening Exam Skills) will spend class time USING this language, so students prepare it tonight — short, simple, easy to access (school guidance: “Simple, Short, Interesting, Relevant, Easy to access”). The five words come from the website AT-A-L10 vocabulary (the AT-A-L10 lesson engine: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Travel and Transport for Everyday Journeys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السَّفَرُ وَوَسَائِلُ النَّقْلِ فِي الرِّحْلَاتِ الْيَوْمِيَّةِ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transport, plan everyday journeys, understand timetables and ask for directions.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AT-A-L09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Transport words, then by / on / on foot, then asking a boy or a girl.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by pattern,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bike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advice.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تَسْتَرِيحُ.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تَسْتَرِيحَ.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تَسْتَرِيحَ.</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“Drink!” to a girl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اِشْرَبْ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اِشْرَبُوا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اِشْرَبِي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السَّاعَةُ الثَّامِنَةُ إِلَّا الرُّبْعَ = ?</a:t>
            </a:r>
            <a:endParaRPr lang="ar-SA"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7:45</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8:15</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8:45</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foot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bike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advice.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تَسْتَرِيحُ.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تَسْتَرِيحَ.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تَسْتَرِيحَ.</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AT-A-L08: -a after “an”.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“Drink!” to a girl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اِشْرَبْ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اِشْرَبُوا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اِشْرَبِي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AT-A-L08: imperative -ī.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السَّاعَةُ الثَّامِنَةُ إِلَّا الرُّبْعَ = ?</a:t>
            </a:r>
            <a:endParaRPr lang="ar-SA"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7:45</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8:15</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8:45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AT-A-L02: quarter to.</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By bus / train / car → bi-. On a bike → ‘alā. On foot → mashyan (no little word).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أَذْهَبُ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الحَافِلَةِ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الدَّرَّاجَةِ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مَشْيًا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at least twelve forms of transport.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correct preposition for each journey.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how people travel.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and listen for transport, route and passenger details.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kinds of transport.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I go to school (by / on / on foot).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how they travel.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reason and a time.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ways to travel (faster than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plan and explain a journey from a timetable.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31 travel words from the website in 3 groups. Core: public transport (12). Journey actions and stations / tickets are FLEX — they return in the challenge.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Public transport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Journey actions and people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Stations and tickets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a:t>
            </a:r>
            <a:pPr indent="0" marL="0">
              <a:buNone/>
            </a:pPr>
            <a:r>
              <a:rPr lang="en-US" sz="950" b="1" dirty="0">
                <a:solidFill>
                  <a:srgbClr val="2E8B57"/>
                </a:solidFill>
                <a:latin typeface="Calibri" pitchFamily="34" charset="0"/>
                <a:ea typeface="Calibri" pitchFamily="34" charset="-122"/>
                <a:cs typeface="Calibri" pitchFamily="34" charset="-120"/>
              </a:rPr>
              <a:t> safar · travel, a journey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مُسَافِرٌ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‎مسافر‎ </a:t>
            </a:r>
            <a:pPr indent="0" marL="0">
              <a:buNone/>
            </a:pPr>
            <a:r>
              <a:rPr lang="en-US" sz="950" b="1" dirty="0">
                <a:solidFill>
                  <a:srgbClr val="2E8B57"/>
                </a:solidFill>
                <a:latin typeface="Calibri" pitchFamily="34" charset="0"/>
                <a:ea typeface="Calibri" pitchFamily="34" charset="-122"/>
                <a:cs typeface="Calibri" pitchFamily="34" charset="-120"/>
              </a:rPr>
              <a:t> musāfir · a traveller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طَرِيقٌ</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‎طریقہ‎ </a:t>
            </a:r>
            <a:pPr indent="0" marL="0">
              <a:buNone/>
            </a:pPr>
            <a:r>
              <a:rPr lang="en-US" sz="950" b="1" dirty="0">
                <a:solidFill>
                  <a:srgbClr val="2E8B57"/>
                </a:solidFill>
                <a:latin typeface="Calibri" pitchFamily="34" charset="0"/>
                <a:ea typeface="Calibri" pitchFamily="34" charset="-122"/>
                <a:cs typeface="Calibri" pitchFamily="34" charset="-120"/>
              </a:rPr>
              <a:t> ṭarīq · route, way (Urdu: method)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رِحْلَةٌ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‎رحلت‎ </a:t>
            </a:r>
            <a:pPr indent="0" marL="0">
              <a:buNone/>
            </a:pPr>
            <a:r>
              <a:rPr lang="en-US" sz="950" b="1" dirty="0">
                <a:solidFill>
                  <a:srgbClr val="2E8B57"/>
                </a:solidFill>
                <a:latin typeface="Calibri" pitchFamily="34" charset="0"/>
                <a:ea typeface="Calibri" pitchFamily="34" charset="-122"/>
                <a:cs typeface="Calibri" pitchFamily="34" charset="-120"/>
              </a:rPr>
              <a:t> riḥla · journey (Urdu: passing away!)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تَذْكِرَةٌ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‎ٹکٹ‎ </a:t>
            </a:r>
            <a:pPr indent="0" marL="0">
              <a:buNone/>
            </a:pPr>
            <a:r>
              <a:rPr lang="en-US" sz="950" b="1" dirty="0">
                <a:solidFill>
                  <a:srgbClr val="2E8B57"/>
                </a:solidFill>
                <a:latin typeface="Calibri" pitchFamily="34" charset="0"/>
                <a:ea typeface="Calibri" pitchFamily="34" charset="-122"/>
                <a:cs typeface="Calibri" pitchFamily="34" charset="-120"/>
              </a:rPr>
              <a:t> tadhkira · ticket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Public transport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حَافِلَةٌ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ḥā-fi-la-tun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حَافِلَاتٌ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بِالحَافِلَةِ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قِطَارٌ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qi-ṭā-run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قِطَارَاتٌ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بِالقِطَارِ</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مِتْرُو</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metro / underground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mit-rū</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3" name="Shape 5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55" name="Shape 5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سَيَّارَةٌ</a:t>
            </a:r>
            <a:endParaRPr lang="ar-SA" sz="3000" dirty="0"/>
          </a:p>
        </p:txBody>
      </p:sp>
      <p:sp>
        <p:nvSpPr>
          <p:cNvPr id="58" name="Text 5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say-yā-ra-tun</a:t>
            </a:r>
            <a:endParaRPr lang="en-US" sz="1350" dirty="0"/>
          </a:p>
        </p:txBody>
      </p:sp>
      <p:sp>
        <p:nvSpPr>
          <p:cNvPr id="59" name="Shape 5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1" name="Text 5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سَيَّارَاتٌ</a:t>
            </a:r>
            <a:endParaRPr lang="ar-SA" sz="1500" dirty="0"/>
          </a:p>
        </p:txBody>
      </p:sp>
      <p:sp>
        <p:nvSpPr>
          <p:cNvPr id="62" name="Shape 5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64" name="Text 6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بِالسَّيَّارَةِ</a:t>
            </a:r>
            <a:endParaRPr lang="ar-SA"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8" name="Shape 6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2" name="Text 6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سَيَّارَةُ أُجْرَةٍ</a:t>
            </a:r>
            <a:endParaRPr lang="ar-SA" sz="3000" dirty="0"/>
          </a:p>
        </p:txBody>
      </p:sp>
      <p:sp>
        <p:nvSpPr>
          <p:cNvPr id="73" name="Text 7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taxi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say-yā-ra-tu uj-ra-tin</a:t>
            </a:r>
            <a:endParaRPr lang="en-US" sz="1350" dirty="0"/>
          </a:p>
        </p:txBody>
      </p:sp>
      <p:sp>
        <p:nvSpPr>
          <p:cNvPr id="74" name="Shape 7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سَيَّارَاتُ أُجْرَةٍ</a:t>
            </a:r>
            <a:endParaRPr lang="ar-SA" sz="1500" dirty="0"/>
          </a:p>
        </p:txBody>
      </p:sp>
      <p:sp>
        <p:nvSpPr>
          <p:cNvPr id="77" name="Shape 7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79" name="Text 7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بِسَيَّارَةِ أُجْرَةٍ</a:t>
            </a:r>
            <a:endParaRPr lang="ar-SA" sz="1350" dirty="0"/>
          </a:p>
        </p:txBody>
      </p:sp>
      <p:sp>
        <p:nvSpPr>
          <p:cNvPr id="80" name="Shape 7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566928" y="4261104"/>
            <a:ext cx="310896" cy="310896"/>
          </a:xfrm>
          <a:prstGeom prst="ellipse">
            <a:avLst/>
          </a:prstGeom>
          <a:solidFill>
            <a:srgbClr val="F4F1EA"/>
          </a:solidFill>
          <a:ln w="12700">
            <a:solidFill>
              <a:srgbClr val="F4F1EA"/>
            </a:solidFill>
            <a:prstDash val="solid"/>
          </a:ln>
        </p:spPr>
      </p:sp>
      <p:sp>
        <p:nvSpPr>
          <p:cNvPr id="82" name="Text 7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3" name="Shape 80"/>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4" name="Text 81"/>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85" name="Shape 8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7" name="Text 8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دَرَّاجَةٌ</a:t>
            </a:r>
            <a:endParaRPr lang="ar-SA" sz="3000" dirty="0"/>
          </a:p>
        </p:txBody>
      </p:sp>
      <p:sp>
        <p:nvSpPr>
          <p:cNvPr id="88" name="Text 8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bicycle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dar-rā-ja-tun</a:t>
            </a:r>
            <a:endParaRPr lang="en-US" sz="1350" dirty="0"/>
          </a:p>
        </p:txBody>
      </p:sp>
      <p:sp>
        <p:nvSpPr>
          <p:cNvPr id="89" name="Shape 8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1" name="Text 8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دَرَّاجَاتٌ</a:t>
            </a:r>
            <a:endParaRPr lang="ar-SA" sz="1500" dirty="0"/>
          </a:p>
        </p:txBody>
      </p:sp>
      <p:sp>
        <p:nvSpPr>
          <p:cNvPr id="92" name="Shape 8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94" name="Text 9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عَلَى الدَّرَّاجَةِ</a:t>
            </a:r>
            <a:endParaRPr lang="ar-SA" sz="1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Public transport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دَرَّاجَةٌ نَارِيَّةٌ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motorbike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dar-rā-ja-tun nā-riy-ya-tun</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دَرَّاجَاتٌ نَارِيَّةٌ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عَلَى الدَّرَّاجَةِ النَّارِيَّةِ</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1" name="Shape 28"/>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طَائِرَةٌ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aeroplane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ṭā-ʾi-ra-tun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طَائِرَاتٌ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42" name="Text 39"/>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بِالطَّائِرَةِ</a:t>
            </a:r>
            <a:endParaRPr lang="ar-SA" sz="135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6" name="Shape 4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سَفِينَةٌ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sa-fī-na-tun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سُفُنٌ</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بِالسَّفِينَةِ</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عَبَّارَةٌ</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ferry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ʿab-bā-ra-tun</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تِرَامٌ</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ti-rā-mun</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9" name="Text 6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قَارِبٌ</a:t>
            </a:r>
            <a:endParaRPr lang="ar-SA" sz="3000" dirty="0"/>
          </a:p>
        </p:txBody>
      </p:sp>
      <p:sp>
        <p:nvSpPr>
          <p:cNvPr id="70" name="Text 6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qā-ri-bun</a:t>
            </a:r>
            <a:endParaRPr lang="en-US"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Journey actions and people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takes / boards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yas-ta-qil-lu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يَرْكَبُ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yar-ka-bu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يَقُودُ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ya-qū-du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يَسِيرُ مَشْيًا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walks / goes on foot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ya-sī-ru mash-yan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يُسَافِرُ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travels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yu-sā-fi-ru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Journey actions and people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سَائِقٌ</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sā-ʾi-qun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رَاكِبٌ / رَاكِبَةٌ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passenger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rā-ki-bun / rā-ki-ba-tun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رُكَّابٌ</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رَاكِبَةٌ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رَاكِبٌ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رِحْلَةٌ</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journey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riḥ-la-tun</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طَرِيقٌ</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ṭa-rī-qun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62" name="Text 5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مَوَاصَلَاتٌ عَامَّةٌ</a:t>
            </a:r>
            <a:endParaRPr lang="ar-SA" sz="3000" dirty="0"/>
          </a:p>
        </p:txBody>
      </p:sp>
      <p:sp>
        <p:nvSpPr>
          <p:cNvPr id="63" name="Text 6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ma-wā-ṣa-lā-tun ʿām-ma-tun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Stations and tickets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tadh-ki-ra-tun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ذَهَابًا فَقَطْ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one way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dha-hā-ban fa-qaṭ</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ذَهَابًا وَإِيَابًا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return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dha-hā-ban wa-ʾi-yā-ban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مَحَطَّةُ الحَافِلَاتِ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 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ma-ḥaṭ-ṭa-tu al-ḥā-fi-lā-ti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مَحَطَّةُ القِطَارِ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 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ma-ḥaṭ-ṭa-tu al-qi-ṭā-ri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Stations and tickets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رَصِيفٌ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ra-ṣī-fun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line / 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khaṭ-ṭun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المُغَادَرَةِ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departure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al-mu-ghā-da-ra-ti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الوُصُولِ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arrival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al-wu-ṣū-li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WAYS TO TRAVEL (WEBSITE RULES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By bus, on a bike, on foot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بِـ · عَلَى · مَشْيًا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63185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go … / to a boy</a:t>
            </a:r>
            <a:endParaRPr lang="en-US" sz="1100" dirty="0"/>
          </a:p>
        </p:txBody>
      </p:sp>
      <p:sp>
        <p:nvSpPr>
          <p:cNvPr id="18" name="Text 15"/>
          <p:cNvSpPr txBox="1"/>
          <p:nvPr/>
        </p:nvSpPr>
        <p:spPr>
          <a:xfrm>
            <a:off x="26609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goes … / to a girl</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994392" y="2267712"/>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بِـ</a:t>
            </a:r>
            <a:endParaRPr lang="ar-SA" sz="2400" dirty="0"/>
          </a:p>
        </p:txBody>
      </p:sp>
      <p:sp>
        <p:nvSpPr>
          <p:cNvPr id="22" name="Text 19"/>
          <p:cNvSpPr txBox="1"/>
          <p:nvPr/>
        </p:nvSpPr>
        <p:spPr>
          <a:xfrm>
            <a:off x="6336792" y="2267712"/>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بِـ</a:t>
            </a:r>
            <a:pPr rtl="1" algn="ctr" indent="0" marL="0">
              <a:buNone/>
            </a:pPr>
            <a:r>
              <a:rPr lang="ar-SA" altLang="en-US" sz="2400" b="1" dirty="0">
                <a:solidFill>
                  <a:srgbClr val="1B3B6F"/>
                </a:solidFill>
                <a:latin typeface="Amiri" pitchFamily="34" charset="0"/>
                <a:ea typeface="Amiri" pitchFamily="34" charset="-122"/>
                <a:cs typeface="Amiri" pitchFamily="34" charset="-120"/>
              </a:rPr>
              <a:t>الحَافِلَةِ</a:t>
            </a:r>
            <a:endParaRPr lang="ar-SA" sz="2400" dirty="0"/>
          </a:p>
        </p:txBody>
      </p:sp>
      <p:sp>
        <p:nvSpPr>
          <p:cNvPr id="23" name="Text 20"/>
          <p:cNvSpPr txBox="1"/>
          <p:nvPr/>
        </p:nvSpPr>
        <p:spPr>
          <a:xfrm>
            <a:off x="2679192" y="2267712"/>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بِـ</a:t>
            </a:r>
            <a:pPr rtl="1" algn="ctr" indent="0" marL="0">
              <a:buNone/>
            </a:pPr>
            <a:r>
              <a:rPr lang="ar-SA" altLang="en-US" sz="2400" b="1" dirty="0">
                <a:solidFill>
                  <a:srgbClr val="1B3B6F"/>
                </a:solidFill>
                <a:latin typeface="Amiri" pitchFamily="34" charset="0"/>
                <a:ea typeface="Amiri" pitchFamily="34" charset="-122"/>
                <a:cs typeface="Amiri" pitchFamily="34" charset="-120"/>
              </a:rPr>
              <a:t>القِطَارِ</a:t>
            </a:r>
            <a:endParaRPr lang="ar-SA" sz="2400" dirty="0"/>
          </a:p>
        </p:txBody>
      </p:sp>
      <p:sp>
        <p:nvSpPr>
          <p:cNvPr id="24" name="Text 21"/>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994392" y="3054096"/>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endParaRPr lang="ar-SA" sz="2400" dirty="0"/>
          </a:p>
        </p:txBody>
      </p:sp>
      <p:sp>
        <p:nvSpPr>
          <p:cNvPr id="29" name="Text 26"/>
          <p:cNvSpPr txBox="1"/>
          <p:nvPr/>
        </p:nvSpPr>
        <p:spPr>
          <a:xfrm>
            <a:off x="6336792" y="3054096"/>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الدَّرَّاجَةِ</a:t>
            </a:r>
            <a:endParaRPr lang="ar-SA" sz="2400" dirty="0"/>
          </a:p>
        </p:txBody>
      </p:sp>
      <p:sp>
        <p:nvSpPr>
          <p:cNvPr id="30" name="Text 27"/>
          <p:cNvSpPr txBox="1"/>
          <p:nvPr/>
        </p:nvSpPr>
        <p:spPr>
          <a:xfrm>
            <a:off x="2679192" y="3054096"/>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الدَّرَّاجَةِ</a:t>
            </a:r>
            <a:endParaRPr lang="ar-SA" sz="2400" dirty="0"/>
          </a:p>
        </p:txBody>
      </p:sp>
      <p:sp>
        <p:nvSpPr>
          <p:cNvPr id="31" name="Text 28"/>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994392" y="3840480"/>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مَشْيًا</a:t>
            </a:r>
            <a:endParaRPr lang="ar-SA" sz="2400" dirty="0"/>
          </a:p>
        </p:txBody>
      </p:sp>
      <p:sp>
        <p:nvSpPr>
          <p:cNvPr id="36" name="Text 33"/>
          <p:cNvSpPr txBox="1"/>
          <p:nvPr/>
        </p:nvSpPr>
        <p:spPr>
          <a:xfrm>
            <a:off x="6336792" y="3840480"/>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مَشْيًا</a:t>
            </a:r>
            <a:endParaRPr lang="ar-SA" sz="2400" dirty="0"/>
          </a:p>
        </p:txBody>
      </p:sp>
      <p:sp>
        <p:nvSpPr>
          <p:cNvPr id="37" name="Text 34"/>
          <p:cNvSpPr txBox="1"/>
          <p:nvPr/>
        </p:nvSpPr>
        <p:spPr>
          <a:xfrm>
            <a:off x="2679192" y="3840480"/>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مَشْيًا</a:t>
            </a:r>
            <a:endParaRPr lang="ar-SA" sz="2400" dirty="0"/>
          </a:p>
        </p:txBody>
      </p:sp>
      <p:sp>
        <p:nvSpPr>
          <p:cNvPr id="38" name="Text 3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 foot</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994392" y="4626864"/>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a:t>
            </a:r>
            <a:endParaRPr lang="ar-SA" sz="2400" dirty="0"/>
          </a:p>
        </p:txBody>
      </p:sp>
      <p:sp>
        <p:nvSpPr>
          <p:cNvPr id="43" name="Text 40"/>
          <p:cNvSpPr txBox="1"/>
          <p:nvPr/>
        </p:nvSpPr>
        <p:spPr>
          <a:xfrm>
            <a:off x="6336792" y="4626864"/>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تَذْهَبُ؟</a:t>
            </a:r>
            <a:endParaRPr lang="ar-SA" sz="2400" dirty="0"/>
          </a:p>
        </p:txBody>
      </p:sp>
      <p:sp>
        <p:nvSpPr>
          <p:cNvPr id="44" name="Text 41"/>
          <p:cNvSpPr txBox="1"/>
          <p:nvPr/>
        </p:nvSpPr>
        <p:spPr>
          <a:xfrm>
            <a:off x="2679192" y="4626864"/>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تَذْهَبِ</a:t>
            </a:r>
            <a:pPr rtl="1" algn="ctr" indent="0" marL="0">
              <a:buNone/>
            </a:pPr>
            <a:r>
              <a:rPr lang="ar-SA" altLang="en-US" sz="2400" b="1" dirty="0">
                <a:solidFill>
                  <a:srgbClr val="D6336C"/>
                </a:solidFill>
                <a:latin typeface="Amiri" pitchFamily="34" charset="0"/>
                <a:ea typeface="Amiri" pitchFamily="34" charset="-122"/>
                <a:cs typeface="Amiri" pitchFamily="34" charset="-120"/>
              </a:rPr>
              <a:t>ينَ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45" name="Text 42"/>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(to m. · to f.)</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bi + al-ḥāfila = bil-ḥāfila. Never bi before mashyan.</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WHY, WHEN AND WHICH IS BETTER (TOPIC A: TIME AND COMPARISON)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Because … at … faster than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لِأَنَّ · فِي السَّاعَةِ · أَسْرَعُ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WHY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أُفَضِّلُ القِطَارَ لِأَنَّهُ سَرِيعٌ.</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the train because it is fast.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Train m. → li’annahu.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WHEN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يُغَادِرُ · يَصِلُ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يُغَادِرُ القِطَارُ فِي السَّاعَةِ الثَّامِنَةِ.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train leaves at eight o’clock.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Time from AT-A-L02.</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أَفْعَلُ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القِطَارُ أَسْرَعُ مِنَ الحَافِلَةِ.</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train is faster than the bus.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Same form for m. and 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reason pronoun matches the vehicle: the car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أُفَضِّلُ السَّيَّارَةَ لِأَنَّهَا مُرِيحَةٌ.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أُفَضِّلُ السَّيَّارَةَ لِأَنَّهُ مُرِيحٌ.</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Transport verbs and the correct preposition</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34" charset="0"/>
                <a:ea typeface="Amiri" pitchFamily="34" charset="-122"/>
                <a:cs typeface="Amiri" pitchFamily="34" charset="-120"/>
              </a:rPr>
              <a:t>أَفْعَالُ المُوَاصَلَاتِ وَحَرْفُ الجَرِّ الصَّحِيحُ</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Travel by most motorised transport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أَذْهَبُ / أُسَافِرُ + بِـ + وَسِيلَةِ النَّقْلِ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أَذْهَبُ إِلَى المَدْرَسَةِ بِالحَافِلَةِ.   ·   أُسَافِرُ إِلَى لَنْدَنَ بِالقِطَارِ.   ·   نَذْهَبُ إِلَى المَطَارِ بِسَيَّارَةِ أُجْرَةٍ.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Ride on a bicycle or motorbike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أَرْكَبُ / أَذْهَبُ + عَلَى + الدَّرَّاجَةِ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أَرْكَبُ الدَّرَّاجَةَ.   ·   أَذْهَبُ إِلَى الحَدِيقَةِ عَلَى الدَّرَّاجَةِ.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Say “on foot”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أَذْهَبُ / أَسِيرُ + مَشْيًا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أَذْهَبُ إِلَى المَكْتَبَةِ مَشْيًا.   ·   أَسِيرُ مَشْيًا لِمُدَّةِ عَشْرِ دَقَائِقَ.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Ask and answer how someone travels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كَيْفَ تُسَافِرُ؟ / كَيْفَ تَذْهَبُ؟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كَيْفَ تَذْهَبُ إِلَى المَدْرَسَةِ؟   ·   كَيْفَ تَذْهَبِينَ إِلَى المَدْرَسَةِ؟   ·   أَذْهَبُ بِالمِتْرُو.</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عَلَى الحَافِلَةِ.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مَشْيًا الحَافِلَةَ.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بِالحَافِلَةِ.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on foot.”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مَشْيًا.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بِالمَشْيِ.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عَلَى المَشْيِ.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correct for bicycle travel?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بِالدَّرَّاجَةِ</a:t>
            </a:r>
            <a:pPr algn="l" indent="0" marL="0">
              <a:buNone/>
            </a:pPr>
            <a:r>
              <a:rPr lang="en-US" sz="1250" dirty="0">
                <a:solidFill>
                  <a:srgbClr val="1F2A37"/>
                </a:solidFill>
                <a:latin typeface="Calibri" pitchFamily="34" charset="0"/>
                <a:ea typeface="Calibri" pitchFamily="34" charset="-122"/>
                <a:cs typeface="Calibri" pitchFamily="34" charset="-120"/>
              </a:rPr>
              <a:t> only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عَلَى الدَّرَّاجَةِ</a:t>
            </a:r>
            <a:endParaRPr lang="ar-SA" sz="220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مَشْيًا الدَّرَّاجَةَ</a:t>
            </a:r>
            <a:endParaRPr lang="ar-SA" sz="220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how she goes to school.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تَذْهَبِينَ إِلَى المَدْرَسَةِ؟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 إِلَى المَدْرَسَةِ؟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تَذْهَبِينَ؟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bus.”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عَلَى الحَافِلَةِ.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مَشْيًا الحَافِلَةَ.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بِالحَافِلَةِ.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bus.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on foot.”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مَشْيًا.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بِالمَشْيِ.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عَلَى المَشْيِ.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مَشْيًا</a:t>
            </a:r>
            <a:pPr algn="l" indent="0" marL="0">
              <a:buNone/>
            </a:pPr>
            <a:r>
              <a:rPr lang="en-US" sz="1050" i="1" dirty="0">
                <a:solidFill>
                  <a:srgbClr val="8A6D1E"/>
                </a:solidFill>
                <a:latin typeface="Calibri" pitchFamily="34" charset="0"/>
                <a:ea typeface="Calibri" pitchFamily="34" charset="-122"/>
                <a:cs typeface="Calibri" pitchFamily="34" charset="-120"/>
              </a:rPr>
              <a:t> is used without a preposition.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correct for bicycle travel?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بِالدَّرَّاجَةِ</a:t>
            </a:r>
            <a:pPr algn="l" indent="0" marL="0">
              <a:buNone/>
            </a:pPr>
            <a:r>
              <a:rPr lang="en-US" sz="1250" dirty="0">
                <a:solidFill>
                  <a:srgbClr val="9AA1AB"/>
                </a:solidFill>
                <a:latin typeface="Calibri" pitchFamily="34" charset="0"/>
                <a:ea typeface="Calibri" pitchFamily="34" charset="-122"/>
                <a:cs typeface="Calibri" pitchFamily="34" charset="-120"/>
              </a:rPr>
              <a:t> only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عَلَى الدَّرَّاجَةِ</a:t>
            </a:r>
            <a:endParaRPr lang="ar-SA" sz="22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مَشْيًا الدَّرَّاجَةَ</a:t>
            </a:r>
            <a:endParaRPr lang="ar-SA" sz="22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plan teaches </a:t>
            </a:r>
            <a:pPr algn="l" indent="0" marL="0">
              <a:buNone/>
            </a:pPr>
            <a:r>
              <a:rPr lang="ar-SA" altLang="en-US" sz="1350" dirty="0">
                <a:solidFill>
                  <a:srgbClr val="8A6D1E"/>
                </a:solidFill>
                <a:latin typeface="Amiri" pitchFamily="34" charset="0"/>
                <a:ea typeface="Amiri" pitchFamily="34" charset="-122"/>
                <a:cs typeface="Amiri" pitchFamily="34" charset="-120"/>
              </a:rPr>
              <a:t>عَلَى الدَّرَّاجَةِ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how she goes to school.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تَذْهَبِينَ إِلَى المَدْرَسَةِ؟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تَذْهَبُ إِلَى المَدْرَسَةِ؟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تَذْهَبِينَ؟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addressee form ends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explain a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أَذْهَبُ إِلَى المَدْرَسَةِ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بِـ</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الحَافِلَةِ.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Bus → bi-.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تُغَادِرُ الحَافِلَةُ فِي السَّاعَةِ السَّابِعَةِ وَالنِّصْفِ.</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Bus is f. → tughādiru.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أَمَّا أَخِي فَيَذْهَبُ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الدَّرَّاجَةِ.</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Bike → ‘alā.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الحَافِلَةُ </a:t>
            </a:r>
            <a:pPr rtl="1" algn="ctr" indent="0" marL="0">
              <a:lnSpc>
                <a:spcPct val="120000"/>
              </a:lnSpc>
              <a:buNone/>
            </a:pPr>
            <a:r>
              <a:rPr lang="ar-SA" altLang="en-US" sz="1750" b="1" dirty="0">
                <a:solidFill>
                  <a:srgbClr val="C77700"/>
                </a:solidFill>
                <a:latin typeface="Amiri" pitchFamily="34" charset="0"/>
                <a:ea typeface="Amiri" pitchFamily="34" charset="-122"/>
                <a:cs typeface="Amiri" pitchFamily="34" charset="-120"/>
              </a:rPr>
              <a:t>أَسْرَعُ 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الدَّرَّاجَةِ، وَلٰكِنَّ الدَّرَّاجَةَ أَرْخَصُ.</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faster than … cheaper.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BY / ON</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أَذْهَبُ إِلَى المَدْرَسَةِ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الحَافِلَةِ لِأَنَّ بَيْتِي بَعِيدٌ. تُغَادِرُ الحَافِلَةُ فِي السَّاعَةِ السَّابِعَةِ وَالنِّصْفِ. أَمَّا أَخِي فَيَذْهَبُ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الدَّرَّاجَةِ، وَأُخْتِي تَذْهَبُ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مَشْيًا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الحَافِلَةُ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أَسْرَعُ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الدَّرَّاجَةِ، وَلٰكِنَّ الدَّرَّاجَةَ أَرْخَصُ.</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go to school by bus because my house is far. The bus leaves at half past seven. As for my brother, he goes by bike, and my sister walks. The bus is faster than the bike, but the bike is cheaper.</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المَدْرَسَةِ بِالحَافِلَةِ.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go to school by bus.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بِـ with the bus.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الحَدِيقَةِ عَلَى الدَّرَّاجَةِ.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go to the park by bicycle.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عَلَى with a bicycle.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المَكْتَبَةِ مَشْيًا.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walk to the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 preposition before مَشْيًا.</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كَيْفَ تَذْهَبِينَ إِلَى المَدْرَسَةِ؟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do you (f) go to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feminine addressee form ends ـينَ.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TRANSPORT: TYPES AND HOW WE TRAVEL”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How do they travel?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bus</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bicycle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walking</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مَاشِيًا.</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بِالحَافِلَةِ.</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بِالدَّرَّاجَةِ.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bus</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بِالحَافِلَةِ.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by bus.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bicycle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بِالدَّرَّاجَةِ.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by bicycle.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walking</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مَاشِيًا.</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on foot.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travel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القِطَارُ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الحَافِلَةُ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الطَّائِرَةُ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سَيَّارَةُ أُجْرَةٍ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 النَّارِيَّةُ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القَدَمَيْنِ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بِـ · by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عَلَى · on</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مَشْيًا · on foot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بِـ · by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القِطَارُ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الحَافِلَةُ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الطَّائِرَةُ</a:t>
            </a:r>
            <a:endParaRPr lang="ar-SA" sz="1800" dirty="0"/>
          </a:p>
        </p:txBody>
      </p:sp>
      <p:sp>
        <p:nvSpPr>
          <p:cNvPr id="24" name="Shape 21"/>
          <p:cNvSpPr/>
          <p:nvPr/>
        </p:nvSpPr>
        <p:spPr>
          <a:xfrm>
            <a:off x="8232648" y="3913632"/>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سَيَّارَةُ أُجْرَةٍ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عَلَى · on</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 النَّارِيَّةُ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مَشْيًا · on foot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القَدَمَيْنِ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how he travels.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أُسَافِرُ؟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نَذْهَبُ إِلَى المَطَارِ ___ سَيَّارَةِ أُجْرَةٍ.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“he drives”?</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يَرْكَبُ</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يَقُودُ</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يَسِيرُ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public transport?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مَحَطَّةٌ قَدِيمَةٌ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رِحْلَةٌ قَصِيرَةٌ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مَوَاصَلَاتٌ عَامَّةٌ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how he travels.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تُسَافِرِينَ؟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أُسَافِرُ؟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تُسَافِرُ؟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تُسَافِرُ</a:t>
            </a:r>
            <a:pPr algn="l" indent="0" marL="0">
              <a:buNone/>
            </a:pPr>
            <a:r>
              <a:rPr lang="en-US" sz="1050" i="1" dirty="0">
                <a:solidFill>
                  <a:srgbClr val="8A6D1E"/>
                </a:solidFill>
                <a:latin typeface="Calibri" pitchFamily="34" charset="0"/>
                <a:ea typeface="Calibri" pitchFamily="34" charset="-122"/>
                <a:cs typeface="Calibri" pitchFamily="34" charset="-120"/>
              </a:rPr>
              <a:t> addresses one male person.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نَذْهَبُ إِلَى المَطَارِ ___ سَيَّارَةِ أُجْرَةٍ.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taxi.</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“he drives”?</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يَرْكَبُ</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يَقُودُ</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يَسِيرُ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يَقُودُ</a:t>
            </a:r>
            <a:pPr algn="l" indent="0" marL="0">
              <a:buNone/>
            </a:pPr>
            <a:r>
              <a:rPr lang="en-US" sz="1050" i="1" dirty="0">
                <a:solidFill>
                  <a:srgbClr val="8A6D1E"/>
                </a:solidFill>
                <a:latin typeface="Calibri" pitchFamily="34" charset="0"/>
                <a:ea typeface="Calibri" pitchFamily="34" charset="-122"/>
                <a:cs typeface="Calibri" pitchFamily="34" charset="-120"/>
              </a:rPr>
              <a:t> means drives.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public transport?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مَحَطَّةٌ قَدِيمَةٌ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رِحْلَةٌ قَصِيرَةٌ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مَوَاصَلَاتٌ عَامَّةٌ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مَوَاصَلَاتٌ عَامَّةٌ</a:t>
            </a:r>
            <a:pPr algn="l" indent="0" marL="0">
              <a:buNone/>
            </a:pPr>
            <a:r>
              <a:rPr lang="en-US" sz="1050" i="1" dirty="0">
                <a:solidFill>
                  <a:srgbClr val="8A6D1E"/>
                </a:solidFill>
                <a:latin typeface="Calibri" pitchFamily="34" charset="0"/>
                <a:ea typeface="Calibri" pitchFamily="34" charset="-122"/>
                <a:cs typeface="Calibri" pitchFamily="34" charset="-120"/>
              </a:rPr>
              <a:t> means public transport.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أُسَافِرُ عَلَى القِطَارِ.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Train: which little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أَذْهَبُ بِمَشْيًا.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 foot: is a preposition needed?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34" charset="0"/>
                <a:ea typeface="Amiri" pitchFamily="34" charset="-122"/>
                <a:cs typeface="Amiri" pitchFamily="34" charset="-120"/>
              </a:rPr>
              <a:t>كَيْفَ تَذْهَبُ؟</a:t>
            </a:r>
            <a:pPr algn="l" indent="0" marL="0">
              <a:buNone/>
            </a:pPr>
            <a:r>
              <a:rPr lang="en-US" sz="3000" b="1" dirty="0">
                <a:solidFill>
                  <a:srgbClr val="B83227"/>
                </a:solidFill>
                <a:latin typeface="Calibri" pitchFamily="34" charset="0"/>
                <a:ea typeface="Calibri" pitchFamily="34" charset="-122"/>
                <a:cs typeface="Calibri" pitchFamily="34" charset="-120"/>
              </a:rPr>
              <a:t> said to a girl</a:t>
            </a:r>
            <a:endParaRPr lang="en-US"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Asking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أُسَافِرُ عَلَى القِطَارِ.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أُسَافِرُ بِالقِطَارِ.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with the train.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أَذْهَبُ بِمَشْيًا.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أَذْهَبُ مَشْيًا.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مَشْيًا</a:t>
            </a:r>
            <a:pPr algn="l" indent="0" marL="0">
              <a:buNone/>
            </a:pPr>
            <a:r>
              <a:rPr lang="en-US" sz="1150" b="1" dirty="0">
                <a:solidFill>
                  <a:srgbClr val="1B3B6F"/>
                </a:solidFill>
                <a:latin typeface="Calibri" pitchFamily="34" charset="0"/>
                <a:ea typeface="Calibri" pitchFamily="34" charset="-122"/>
                <a:cs typeface="Calibri" pitchFamily="34" charset="-120"/>
              </a:rPr>
              <a:t> needs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34" charset="0"/>
                <a:ea typeface="Amiri" pitchFamily="34" charset="-122"/>
                <a:cs typeface="Amiri" pitchFamily="34" charset="-120"/>
              </a:rPr>
              <a:t>كَيْفَ تَذْهَبُ؟</a:t>
            </a:r>
            <a:pPr algn="l" indent="0" marL="0">
              <a:buNone/>
            </a:pPr>
            <a:r>
              <a:rPr lang="en-US" sz="1800" dirty="0">
                <a:solidFill>
                  <a:srgbClr val="B83227"/>
                </a:solidFill>
                <a:latin typeface="Calibri" pitchFamily="34" charset="0"/>
                <a:ea typeface="Calibri" pitchFamily="34" charset="-122"/>
                <a:cs typeface="Calibri" pitchFamily="34" charset="-120"/>
              </a:rPr>
              <a:t> said to a girl</a:t>
            </a:r>
            <a:endParaRPr lang="en-US"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كَيْفَ تَذْهَبِينَ؟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feminine singular ending when addressing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does each person travel?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Sarah go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bicycle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use that transport?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likes the driver.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home is far.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Ali 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taxi</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bicycle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family travel at weekends?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plane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ferry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mother prefer the car?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fast.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comfortable.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بِالحَافِلَةِ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 الدَّرَّاجَةِ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بِالقِطَارِ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تَذْهَبُ سَارَةُ إِلَى المَدْرَسَةِ بِالحَافِلَةِ لِأَنَّ بَيْتَهَا بَعِيدٌ.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Sarah goes to school by bus because her house is far.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أَخُوهَا عَلِيٌّ فَيَذْهَبُ عَلَى الدَّرَّاجَةِ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her brother Ali, he goes by bike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 المَدْرَسَةَ قَرِيبَةٌ مِنْ بَيْتِهِ.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the school is near his house.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نِهَايَةِ الأُسْبُوعِ تُسَافِرُ الأُسْرَةُ إِلَى المَدِينَةِ بِالقِطَارِ.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weekend the family travels to the city by train.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يُفَضِّلُ الأَبُ القِطَارَ لِأَنَّهُ سَرِيعٌ، وَلٰكِنَّ الأُمَّ تُفَضِّلُ السَّيَّارَةَ لِأَنَّهَا مُرِيحَةٌ.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 prefers the train because it is fast, but the mother prefers the car because it is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Sarah go to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bicycle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تَذْهَبُ ... بِالحَافِلَةِ.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use that transport?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likes the driver.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home is far.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بَيْتَهَا بَعِيدٌ.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Ali go?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train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taxi</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bicycle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يَذْهَبُ عَلَى الدَّرَّاجَةِ.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family travel at weekends?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train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plane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ferry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تُسَافِرُ الأُسْرَةُ بِالقِطَارِ.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mother prefer the car?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fast.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comfortable.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cheap.</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مُرِيحَةٌ.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بِالحَافِلَةِ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 الدَّرَّاجَةِ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بِالقِطَارِ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Journey planner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Journey planner</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Use a timetable and map to choose a route, compare two transport options and explain the journey using times, prepositions and direction language.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Goal: school to the city library before 10:00. Timetable on the right.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choose a route and a transport option.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Compare two options: faster / cheaper / more comfortable.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the journey on the mic: transport, times, “then”, and why.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one option. Say: “adhhabu bil-… · fī s-sā‘a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Give the departure and arrival time and one reason (li’annahu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Compare two options (asra‘u min … / arkhaṣu min …) and add walking from the station.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بِالحَافِلَةِ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bus · £2 · leaves 8:30, arrives 9:20</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بِالقِطَارِ</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train · £5 · leaves 9:00, arrives 9:25</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عَلَى الدَّرَّاجَةِ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bike · free · 8:15 to 9:45</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مَشْيًا مِنَ المَحَطَّةِ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walk from the station: 10 min</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Transport survey and journey comparison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تَذْهَبُ إِلَى المَدْرَسَةِ؟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تُسَافِرُ إِلَى مَدِينَةٍ أُخْرَى؟</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يَقُودُ السَّيَّارَةَ فِي أُسْرَتِكَ؟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وَسِيلَةُ النَّقْلِ الَّتِي تُفَضِّلُهَا؟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أَذْهَبُ إِلَى المَدْرَسَةِ بِـ ___ / مَشْيًا.</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أُسَافِرُ بِـ ___ لِأَنَّهُ / لِأَنَّهَا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يَقُودُ السَّيَّارَةَ.</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أُفَضِّلُ ___ لِأَنَّهُ أَسْرَعُ / أَرْخَصُ مِنْ ___ .</a:t>
            </a:r>
            <a:endParaRPr lang="ar-SA" sz="15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تَذْهَبِينَ إِلَى المَدْرَسَةِ؟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(f.) go to school?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أَذْهَبُ بِالحَافِلَةِ، وَلٰكِنِّي أَعُودُ مَشْيًا أَحْيَانًا.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go by bus, but sometimes I come back on foot.</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Core: four accurate journey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How you, a brother and a sister go to school — one with bi-, one with ‘alā, one with mashyan.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Develop: compare three journeys with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departure time and one “because it is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compare how three people travel.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yastaqillu or yaqūdu, a he and a she verb, a comparison (asra‘u min …) and a time.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تَذْهَبِينَ إِلَى المَدْرَسَةِ؟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do you (f.) go to school?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لِأَنَّهُ سَرِيعٌ / لِأَنَّهَا رَخِيصَةٌ.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it is fast / cheap.</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يُغَادِرُ القِطَارُ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train leaves 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يَصِلُ فِي السَّاعَةِ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arrives 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القِطَارُ أَسْرَعُ مِنَ الحَافِلَةِ.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train is faster than the bus.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 بِالحَافِلَةِ.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school by bus.</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عَلَى الدَّرَّاجَةِ.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by bike.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مَشْيًا.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on foot.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يَذْهَبُ بِـ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goes by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تَذْهَبُ بِـ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goes by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حَافِلَةٌ  ·  قِطَارٌ  ·  سَيَّارَةٌ  ·  دَرَّاجَةٌ  ·  طَائِرَةٌ  ·  مِتْرُو  ·  بِـ  ·  عَلَى  ·  مَشْيًا  ·  سَرِيعٌ  ·  رَخِيصٌ  ·  مُرِيحٌ</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70–90 Arabic words comparing how three people travel.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three different transport types.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بِـ</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عَلَى</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مَشْيًا</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male and one female third-person verb.</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two justified opinions and sequence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خَارِجَ المَدِينَةِ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live outside the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take the bus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أَبِي يَقُودُ السَّيَّارَةَ إِلَى العَمَلِ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father drives the car to work</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عِنْدَمَا يُسَافِرُ إِلَى مَدِينَةٍ أُخْرَى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he travels to another city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المَشْيَ صِحِّيٌّ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walking is healthy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أَذْهَبُ إِلَى المَدْرَسَةِ بِالحَافِلَةِ كُلَّ يَوْمٍ لِأَنَّ بَيْتِي بَعِيدٌ. أَمَّا أُخْتِي فَتَذْهَبُ عَلَى الدَّرَّاجَةِ لِأَنَّ مَدْرَسَتَهَا قَرِيبَةٌ. أَبِي يَقُودُ السَّيَّارَةَ إِلَى العَمَلِ، ثُمَّ يَسْتَقِلُّ القِطَارَ عِنْدَمَا يَزُورُ مَدِينَةً أُخْرَى. أُفَضِّلُ القِطَارَ لِأَنَّهُ سَرِيعٌ وَمُرِيحٌ، وَلٰكِنِّي أَسِيرُ مَشْيًا فِي الحَيِّ لِأَنَّ المَشْيَ صِحِّيٌّ.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go to school by bus every day because my house is far. As for my sister, she goes by bike because her school is near. My father drives the car to work, then takes the train when he visits another city. I prefer the train because it is fast and comfortable, but I walk in the neighbourhood because walking is healthy.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 with a vehicle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‘alā with a bike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she-verb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 with because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Vehicles take bi-; bikes take ‘alā.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little word before mashyan.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reason pronoun matches the vehicle (-hu / -hā).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time (leaves / arrives at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two options with … min.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أُسَافِرُ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أَذْهَبُ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الدَّرَّاجَةِ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a female listener how she travels?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يُسَافِرُ؟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أُسَافِرُ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train.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أَذْهَبُ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الدَّرَّاجَةِ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مَشْيًا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with bicycle.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a female listener how she travels?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كَيْفَ تُسَافِرِينَ؟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تُسَافِرُ؟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يُسَافِرُ؟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addressee form ends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journeys to the city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أَنَا طَالِبٌ وَأَسْكُنُ خَارِجَ المَدِينَةِ. كُلَّ صَبَاحٍ أَسِيرُ مَشْيًا إِلَى مَحَطَّةِ الحَافِلَاتِ، ثُمَّ أَسْتَقِلُّ الحَافِلَةَ إِلَى المَدْرَسَةِ. أُخْتِي تَدْرُسُ فِي الجَامِعَةِ وَتَذْهَبُ بِالمِتْرُو. أَبِي يَقُودُ السَّيَّارَةَ إِلَى العَمَلِ، وَلٰكِنَّهُ يَسْتَقِلُّ القِطَارَ عِنْدَمَا يُسَافِرُ إِلَى مَدِينَةٍ أُخْرَى. فِي العُطْلَةِ نُحِبُّ السَّفَرَ بِالعَبَّارَةِ.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أَسْكُنُ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live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خَارِجَ المَدِينَةِ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outside the city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 صَبَاحٍ</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every morning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أَسِيرُ مَشْيًا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walk</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مَحَطَّةِ الحَافِلَاتِ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bus station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أَسْتَقِلُّ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take (transport)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الجَامِعَةِ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university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يَقُودُ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drives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العُطْلَةِ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holiday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بِالعَبَّارَةِ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ferry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writer live?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city centre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outside the city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school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before taking the bus?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rides a bicycle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the metro</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walks to the station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his sister go to university?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metro</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drives to work?</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sister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father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father use the train?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travelling to another city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morning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during the holiday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does the family like in holidays?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tram</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taxi</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ferry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writer live?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city centre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outside the city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school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أَسْكُنُ خَارِجَ المَدِينَةِ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before taking the bus?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rides a bicycle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the metro</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walks to the station</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أَسِيرُ مَشْيًا إِلَى مَحَطَّةِ الحَافِلَاتِ.</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his sister go to university?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metro</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bus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تَذْهَبُ بِالمِتْرُو.</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drives to work?</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sister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father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أَبِي يَقُودُ السَّيَّارَةَ.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father use the train?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when travelling to another city</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morning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during the holiday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عِنْدَمَا يُسَافِرُ إِلَى مَدِينَةٍ أُخْرَى.</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does the family like in holidays?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tram</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taxi</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ferry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نُحِبُّ السَّفَرَ بِالعَبَّارَةِ.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AT-A-L10: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AT-A-L10 · Reading and Listening Exam Skills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أَتَوَقَّعُ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predict</a:t>
            </a:r>
            <a:pPr indent="0" marL="0">
              <a:buNone/>
            </a:pPr>
            <a:r>
              <a:rPr lang="en-US" sz="1000" i="1" dirty="0">
                <a:solidFill>
                  <a:srgbClr val="5A6472"/>
                </a:solidFill>
                <a:latin typeface="Calibri" pitchFamily="34" charset="0"/>
                <a:ea typeface="Calibri" pitchFamily="34" charset="-122"/>
                <a:cs typeface="Calibri" pitchFamily="34" charset="-120"/>
              </a:rPr>
              <a:t>  he: يَتَوَقَّعُ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key word</a:t>
            </a:r>
            <a:pPr indent="0" marL="0">
              <a:buNone/>
            </a:pPr>
            <a:r>
              <a:rPr lang="en-US" sz="1000" i="1" dirty="0">
                <a:solidFill>
                  <a:srgbClr val="5A6472"/>
                </a:solidFill>
                <a:latin typeface="Calibri" pitchFamily="34" charset="0"/>
                <a:ea typeface="Calibri" pitchFamily="34" charset="-122"/>
                <a:cs typeface="Calibri" pitchFamily="34" charset="-120"/>
              </a:rPr>
              <a:t>  pl.: كَلِمَاتٌ مِفْتَاحِيَّةٌ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أُرَكِّزُ عَلَى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focus on</a:t>
            </a:r>
            <a:pPr indent="0" marL="0">
              <a:buNone/>
            </a:pPr>
            <a:r>
              <a:rPr lang="en-US" sz="1000" i="1" dirty="0">
                <a:solidFill>
                  <a:srgbClr val="5A6472"/>
                </a:solidFill>
                <a:latin typeface="Calibri" pitchFamily="34" charset="0"/>
                <a:ea typeface="Calibri" pitchFamily="34" charset="-122"/>
                <a:cs typeface="Calibri" pitchFamily="34" charset="-120"/>
              </a:rPr>
              <a:t>  he: يُرَكِّزُ</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distractor</a:t>
            </a:r>
            <a:pPr indent="0" marL="0">
              <a:buNone/>
            </a:pPr>
            <a:r>
              <a:rPr lang="en-US" sz="1000" i="1" dirty="0">
                <a:solidFill>
                  <a:srgbClr val="5A6472"/>
                </a:solidFill>
                <a:latin typeface="Calibri" pitchFamily="34" charset="0"/>
                <a:ea typeface="Calibri" pitchFamily="34" charset="-122"/>
                <a:cs typeface="Calibri" pitchFamily="34" charset="-120"/>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التَّفْصِيلُ الدَّقِيقُ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precise detail</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you listen to Arabic, what helps you most? Think of two strategies.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يُسَاعِدُكَ فِي الاِسْتِمَاعِ؟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AT-A-L09: the picture game and the sorter “Which travel pattern?”.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 sentences about how your family travels, with reasons and a time.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70–90 words comparing how three people travel.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AT-A-L10 · Reading and Listening Exam Skills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مَهَارَاتُ الْقِرَاءَةِ وَالِاسْتِمَاعِ لِلِامْتِحَانِ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exam-strategy words + your best listening tip.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AT-A-L09 · Travel and Transport for Everyday Journeys</dc:title>
  <dc:subject>PptxGenJS Presentation</dc:subject>
  <dc:creator>Al Madina Online School · Arabic Department</dc:creator>
  <cp:lastModifiedBy>Al Madina Online School · Arabic Department</cp:lastModifiedBy>
  <cp:revision>1</cp:revision>
  <dcterms:created xsi:type="dcterms:W3CDTF">2026-09-27T12:43:34Z</dcterms:created>
  <dcterms:modified xsi:type="dcterms:W3CDTF">2026-09-27T12:43:34Z</dcterms:modified>
</cp:coreProperties>
</file>