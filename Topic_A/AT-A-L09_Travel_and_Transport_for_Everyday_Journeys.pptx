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AT-A-L09 — Travel and Transport for Everyday Journeys. Website: Advanced Topics › Topic A (Everyday Activities) › Lesson 9.
The website builds this lesson on the F6-L03 lesson engine, with the Topic focus “Describe transport, plan everyday journeys, understand timetables and ask for directions.” (grammar: Travel verbs; prepositions; time; comparison; directions; skills: Listening · Reading · Speaking) and the application challenge “Journey planner”.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9 (AT-A-L09), lesson engine Pathways › Foundation › F6 › AT-A-L09. The website lesson “Transport: Types and How We Travel”: vocabulary, grammar rules and quiz, patterns, common mistakes, sorter, listening, reading, speaking prompts and model, writing task and model, differentiation, final check and the lesson mission. Picture match: website visual game “Transport: Types and How We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transport words + “I go to … by …” with بِـ, عَلَى or مَشْيًا (the website’s one big idea). Develop: ask a boy / a girl (تَذْهَبُ / تَذْهَبِينَ), give a reason (لِأَنَّهُ سَرِيعٌ), use departure / arrival times. Stretch (Topic A): compare two options (أَسْرَعُ مِنْ، أَرْخَصُ مِنْ) and plan a route from a timetable.
• Three patterns only: بِالحَافِلَةِ (motorised) · عَلَى الدَّرَّاجَةِ (ride on) · مَشْيًا (on foot, no preposition).
• Links: AT-A-L01 (going to school), AT-A-L02 (clock times for the timetable), AT-A-L03 (frequency: كُلَّ يَوْمٍ، أَحْيَانًا).
• Urdu bridge: سفر، مسافر، سواری (not Arabic), ٹکٹ ← تَذْكِرَةٌ (not cognate), راستہ / طَرِيقٌ (طریقہ = method).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transport words prepared at home at the end of AT-A-L08. Questions 3–5 retrieve AT-A-L08 (advice, imperative) and AT-A-L02 (time — needed for today’s timetable).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By bus / train / car → bi-. On a bike → ‘alā. On foot → mashyan (no little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and مسافر are identical. CAREFUL: طریقہ in Urdu is “method”, Arabic طَرِيقٌ is a road / route; رحلت in Urdu means death — Arabic رِحْلَةٌ is simply a trip. Urdu تذکرہ is a mention / biography; Arabic تَذْكِرَةٌ is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(1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Public transport (website vocabulary (2 of 2)). Hear → Say → See → Use. Transliteration is printed for Core students (cover it for Develop/Stretch).
Every card shows the plural and the travel phrase (by … / on …). Most take بِـ; bicycles and motorbikes take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(1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Journey actions and people (website vocabulary (2 of 2)). Hear → Say → See → Use. Transliteration is printed for Core students (cover it for Develop/Stretch).
FLEX: teach if time allows; otherwise these are on the website vocabulary tab for homework.
FLEX: journey verbs. يَسْتَقِلُّ (takes / boards) and يَقُودُ (drives) are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(1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Stations and tickets (website vocabulary (2 of 2)). Hear → Say → See → Use. Transliteration is printed for Core students (cover it for Develop/Stretch).
FLEX: teach if time allows; otherwise these are on the website vocabulary tab for homework.
FLEX: stations and tickets — needed for the journey planner (departure / arrival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“Travel by most motorised transport” (بِـ), “Ride on a bicycle or motorbike” (عَلَى), “Say on foot” (مَشْيًا, no preposition) and “Ask and answer how someone travels” (تَذْهَبُ / تَذْهَبِينَ), with the website table.
Website common error: أُسَافِرُ عَلَى الحَافِلَةِ ✗ → أُسَافِرُ بِالحَافِلَةِ ✓ · أَذْهَبُ بِمَشْيًا ✗ → أَذْهَبُ مَشْيًا ✓.
Quick-fire: say a vehicle; students type بِـ / عَلَى / مَشْيًا.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“travel verbs; prepositions; time; comparison; directions” for this lesson. The reason pattern is from the website listening (يُفَضِّلُ الأَبُ القِطَارَ لِأَنَّهُ سَرِيعٌ … الأُمُّ تُفَضِّلُ السَّيَّارَةَ لِأَنَّهَا مُرِيحَةٌ). Departure / arrival come from the website vocabulary (مَوْعِدُ المُغَادَرَةِ / مَوْعِدُ الوُصُولِ).
Comparatives (teacher layer, Stretch): أَسْرَعُ (faster), أَبْطَأُ (slower), أَرْخَصُ (cheaper), أَغْلَى (more expensive), أَقْرَبُ (nearer), أَرْيَحُ (more comfortable) + مِنْ. The comparative does not change for feminine: السَّيَّارَةُ أَسْرَعُ مِنَ الدَّرَّاجَةِ.
Directions (FLEX): اِذْهَبْ مُسْتَقِيمًا · اِنْعَطِفْ يَمِينًا / يَسَارًا — imperatives from AT-A-L08.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“Transport is not one single pattern. Use بِـ with most motorised transport, عَلَى with bicycles and similar vehicles, and مَشْيًا without a transport noun. The verb also changes according to the person.”
• Travel by most motorised transport: The preposition بِـ joins the definite noun: بِ + الحَافِلَةِ becomes بِالحَافِلَةِ.
• Ride on a bicycle or motorbike: Use عَلَى when the person rides on top of the vehicle.
• Say “on foot”: مَشْيًا is an adverb. Do not add بِـ or عَلَى before it.
• Ask and answer how someone travels: Use تُـ when addressing one male learner, تُـ...ينَ for one female learner, and أَـ in the first-person answer.
Website common error: Do not write أُسَافِرُ عَلَى الحَافِلَةِ. The standard Foundation pattern is أُسَافِرُ بِالحَافِلَةِ.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(بِالحَافِلَةِ · عَلَى الدَّرَّاجَةِ · مَشْيًا) and the website model (لِأَنَّ بَيْتِي بَعِيدٌ · أَمَّا أُخْتِي فَـ…) with a Topic A time and a comparison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Transport: Types and How We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website game card says أَذْهَبُ بِالدَّرَّاجَةِ — also heard in everyday Arabic; the lesson rule teaches عَلَى الدَّرَّاجَةِ (both are understood). Other cards for homework: أُسَافِرُ بِالقِطَارِ، أَذْهَبُ بِالسَّيَّارَةِ، أُسَافِرُ بِالطَّائِرَةِ.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the required transport pattern.
Then: make one “I go to … by …” sentence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تَذْهَبُ سَارَةُ إِلَى المَدْرَسَةِ بِالحَافِلَةِ لِأَنَّ بَيْتَهَا بَعِيدٌ. أَمَّا أَخُوهَا عَلِيٌّ فَيَذْهَبُ عَلَى الدَّرَّاجَةِ لِأَنَّ المَدْرَسَةَ قَرِيبَةٌ مِنْ بَيْتِهِ. فِي نِهَايَةِ الأُسْبُوعِ تُسَافِرُ الأُسْرَةُ إِلَى المَدِينَةِ بِالقِطَارِ. يُفَضِّلُ الأَبُ القِطَارَ لِأَنَّهُ سَرِيعٌ، وَلٰكِنَّ الأُمَّ تُفَضِّلُ السَّيَّارَةَ لِأَنَّهَا 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“Use a timetable and map to choose a route, compare two transport options and explain the journey using times, prepositions and direction language.”
Teacher-made timetable for the website “journey planner”. Model answer (Develop): أَذْهَبُ بِالقِطَارِ. يُغَادِرُ فِي السَّاعَةِ التَّاسِعَةِ وَيَصِلُ قَبْلَ التَّاسِعَةِ وَالنِّصْفِ، ثُمَّ أَذْهَبُ مَشْيًا عَشْرَ دَقَائِقَ. Stretch: القِطَارُ أَسْرَعُ مِنَ الحَافِلَةِ، وَلٰكِنَّ الحَافِلَةَ أَرْخَصُ. Check: the train arrives 9:25 + 10 min walk = 9:35 — before 10:00 ✓; the bike arrives 9:45 ✓ but the class may argue it is tiring.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لِمَاذَا تُفَضِّلِينَ الحَافِلَةَ؟ (Why do you prefer the bus?)
B: لِأَنَّهَا رَخِيصَةٌ وَسَرِيعَةٌ. (Because it is cheap and fast.)
Website prompts (order changed so Core starts with the simplest). Website model continues: A: لِمَاذَا تُفَضِّلِينَ الحَافِلَةَ؟ B: لِأَنَّهَا رَخِيصَةٌ وَسَرِيعَةٌ.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six transport types and produce four accurate journey sentences. · Develop — Compare three journeys with correct prepositions and reasons. · Stretch — Use يَسْتَقِلُّ, يَقُودُ and varied person forms in a connected transport survey report.
Website writing task (Stretch): Write 70–90 Arabic words comparing how three people travel.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بِالحَافِلَةِ · عَلَى الدَّرَّاجَةِ · فَتَذْهَبُ · لِأَنَّ بَيْتِي بَعِيدٌ / لِأَنَّهُ سَرِيعٌ. Link to AT-A-L06: لِأَنَّ المَشْيَ صِحِّيٌّ.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(AT-A-L10 · Reading and Listening Exam Skills) will spend class time USING this language, so students prepare it tonight — short, simple, easy to access (school guidance: “Simple, Short, Interesting, Relevant, Easy to access”). The five words come from the website AT-A-L10 vocabulary (the AT-A-L10 lesson engine: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Travel and Transport for Everyday Journeys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السَّفَرُ وَوَسَائِلُ النَّقْلِ فِي الرِّحْلَاتِ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transport, plan everyday journeys, understand timetables and ask for directions.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AT-A-L09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Transport words, then by / on / on foot, then asking a boy or a girl.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pattern,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تَسْتَرِيحَ.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تَسْتَرِيحَ.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تَسْتَرِيحُ.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تَسْتَرِيحَ.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تَسْتَرِيحَ.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-a after “an”.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“Drink!” to a girl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اِشْرَبُوا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imperative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الثَّامِنَةُ إِلَّا الرُّبْعَ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quarter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By bus / train / car → bi-. On a bike → ‘alā. On foot → mashyan (no little word).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بِالحَافِلَةِ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الدَّرَّاجَةِ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مَشْيًا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twelve forms of transport.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correct preposition for each journey.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how people travel.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and listen for transport, route and passenger details.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kinds of transport.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go to school (by / on / on foot).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how they travel.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and a time.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ways to travel (faster than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plan and explain a journey from a timetable.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travel words from the website in 3 groups. Core: public transport (12). Journey actions and stations / tickets are FLEX — they return in the challenge.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Public transport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Journey actions and people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Stations and tickets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 a journey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طَرِيقٌ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‎طریقہ‎ </a:t>
            </a:r>
            <a:pPr indent="0" marL="0">
              <a:buNone/>
            </a:pPr>
            <a:r>
              <a:rPr lang="en-US" sz="950" b="1" dirty="0">
                <a:solidFill>
                  <a:srgbClr val="2E8B57"/>
                </a:solidFill>
                <a:latin typeface="Calibri" pitchFamily="34" charset="0"/>
                <a:ea typeface="Calibri" pitchFamily="34" charset="-122"/>
                <a:cs typeface="Calibri" pitchFamily="34" charset="-120"/>
              </a:rPr>
              <a:t> ṭarīq · route, way (Urdu: method)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‎رحلت‎ </a:t>
            </a:r>
            <a:pPr indent="0" marL="0">
              <a:buNone/>
            </a:pPr>
            <a:r>
              <a:rPr lang="en-US" sz="950" b="1" dirty="0">
                <a:solidFill>
                  <a:srgbClr val="2E8B57"/>
                </a:solidFill>
                <a:latin typeface="Calibri" pitchFamily="34" charset="0"/>
                <a:ea typeface="Calibri" pitchFamily="34" charset="-122"/>
                <a:cs typeface="Calibri" pitchFamily="34" charset="-120"/>
              </a:rPr>
              <a:t> riḥla · journey (Urdu: passing away!)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‎ٹکٹ‎ </a:t>
            </a:r>
            <a:pPr indent="0" marL="0">
              <a:buNone/>
            </a:pPr>
            <a:r>
              <a:rPr lang="en-US" sz="950" b="1" dirty="0">
                <a:solidFill>
                  <a:srgbClr val="2E8B57"/>
                </a:solidFill>
                <a:latin typeface="Calibri" pitchFamily="34" charset="0"/>
                <a:ea typeface="Calibri" pitchFamily="34" charset="-122"/>
                <a:cs typeface="Calibri" pitchFamily="34" charset="-120"/>
              </a:rPr>
              <a:t> tadhkira · ticket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بِالحَافِلَةِ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قِطَارٌ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qi-ṭā-run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قِطَارَاتٌ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بِالقِطَارِ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مِتْرُو</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metro / underground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mit-rū</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say-yā-ra-tun</a:t>
            </a:r>
            <a:endParaRPr lang="en-US" sz="1350" dirty="0"/>
          </a:p>
        </p:txBody>
      </p:sp>
      <p:sp>
        <p:nvSpPr>
          <p:cNvPr id="59" name="Shape 5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a:t>
            </a:r>
            <a:endParaRPr lang="ar-SA" sz="1500" dirty="0"/>
          </a:p>
        </p:txBody>
      </p:sp>
      <p:sp>
        <p:nvSpPr>
          <p:cNvPr id="62" name="Shape 5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64" name="Text 6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بِالسَّيَّارَةِ</a:t>
            </a:r>
            <a:endParaRPr lang="ar-SA"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8" name="Shape 6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 أُجْرَةٍ</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taxi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 uj-ra-tin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 أُجْرَةٍ</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بِسَيَّارَةِ أُجْرَةٍ</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3" name="Shape 8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7" name="Text 8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a:t>
            </a:r>
            <a:endParaRPr lang="ar-SA" sz="3000" dirty="0"/>
          </a:p>
        </p:txBody>
      </p:sp>
      <p:sp>
        <p:nvSpPr>
          <p:cNvPr id="88" name="Text 8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bicycle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a:t>
            </a:r>
            <a:endParaRPr lang="en-US" sz="1350" dirty="0"/>
          </a:p>
        </p:txBody>
      </p:sp>
      <p:sp>
        <p:nvSpPr>
          <p:cNvPr id="89" name="Shape 8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1" name="Text 8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a:t>
            </a:r>
            <a:endParaRPr lang="ar-SA" sz="1500" dirty="0"/>
          </a:p>
        </p:txBody>
      </p:sp>
      <p:sp>
        <p:nvSpPr>
          <p:cNvPr id="92" name="Shape 8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94" name="Text 9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Public transport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دَرَّاجَةٌ نَارِيَّةٌ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motorbike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dar-rā-ja-tun nā-riy-ya-tun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دَرَّاجَاتٌ نَارِيَّةٌ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عَلَى الدَّرَّاجَةِ النَّارِيَّةِ</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aeroplane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بِالطَّائِرَةِ</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سَفِينَةٌ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sa-fī-na-tun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سُفُنٌ</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by / on</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بِالسَّفِينَةِ</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عَبَّارَةٌ</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ʿab-bā-ra-tun</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تِرَامٌ</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ti-rā-mun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قَارِبٌ</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qā-ri-bun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 boards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yas-ta-qil-lu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يَرْكَبُ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yar-ka-bu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يَسِيرُ مَشْيًا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walks / goes on foot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ya-sī-ru mash-yan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يُسَافِرُ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yu-sā-fi-ru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actions and people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sā-ʾi-qun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رَاكِبٌ / رَاكِبَةٌ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passenger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rā-ki-bun / rā-ki-ba-tun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رُكَّابٌ</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رَاكِبٌ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طَرِيقٌ</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ṭa-rī-qun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مَوَاصَلَاتٌ عَامَّةٌ</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ma-wā-ṣa-lā-tun ʿām-ma-tun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فَقَطْ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way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fa-qaṭ</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ذَهَابًا وَإِيَابًا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dha-hā-ban wa-ʾi-yā-ban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الحَافِلَاتِ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al-ḥā-fi-lā-ti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 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ma-ḥaṭ-ṭa-tu al-qi-ṭā-ri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Stations and tickets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line /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khaṭ-ṭun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المُغَادَرَةِ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al-mu-ghā-da-ra-ti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الوُصُولِ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arrival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al-wu-ṣū-li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TRAVEL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By bus, on a bike, on foot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بِـ · عَلَى · مَشْيًا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63185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go … / to a boy</a:t>
            </a:r>
            <a:endParaRPr lang="en-US" sz="1100" dirty="0"/>
          </a:p>
        </p:txBody>
      </p:sp>
      <p:sp>
        <p:nvSpPr>
          <p:cNvPr id="18" name="Text 15"/>
          <p:cNvSpPr txBox="1"/>
          <p:nvPr/>
        </p:nvSpPr>
        <p:spPr>
          <a:xfrm>
            <a:off x="26609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goes … / to a girl</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994392"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2" name="Text 19"/>
          <p:cNvSpPr txBox="1"/>
          <p:nvPr/>
        </p:nvSpPr>
        <p:spPr>
          <a:xfrm>
            <a:off x="63367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بِالحَافِلَةِ</a:t>
            </a:r>
            <a:endParaRPr lang="ar-SA" sz="2400" dirty="0"/>
          </a:p>
        </p:txBody>
      </p:sp>
      <p:sp>
        <p:nvSpPr>
          <p:cNvPr id="23" name="Text 20"/>
          <p:cNvSpPr txBox="1"/>
          <p:nvPr/>
        </p:nvSpPr>
        <p:spPr>
          <a:xfrm>
            <a:off x="267919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بِالقِطَارِ</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994392"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29" name="Text 26"/>
          <p:cNvSpPr txBox="1"/>
          <p:nvPr/>
        </p:nvSpPr>
        <p:spPr>
          <a:xfrm>
            <a:off x="63367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0" name="Text 27"/>
          <p:cNvSpPr txBox="1"/>
          <p:nvPr/>
        </p:nvSpPr>
        <p:spPr>
          <a:xfrm>
            <a:off x="267919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الدَّرَّاجَةِ</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994392"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6" name="Text 33"/>
          <p:cNvSpPr txBox="1"/>
          <p:nvPr/>
        </p:nvSpPr>
        <p:spPr>
          <a:xfrm>
            <a:off x="63367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7" name="Text 34"/>
          <p:cNvSpPr txBox="1"/>
          <p:nvPr/>
        </p:nvSpPr>
        <p:spPr>
          <a:xfrm>
            <a:off x="267919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ذْهَبُ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مَشْيًا</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foot</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994392"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a:t>
            </a:r>
            <a:endParaRPr lang="ar-SA" sz="2400" dirty="0"/>
          </a:p>
        </p:txBody>
      </p:sp>
      <p:sp>
        <p:nvSpPr>
          <p:cNvPr id="43" name="Text 40"/>
          <p:cNvSpPr txBox="1"/>
          <p:nvPr/>
        </p:nvSpPr>
        <p:spPr>
          <a:xfrm>
            <a:off x="63367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endParaRPr lang="ar-SA" sz="2400" dirty="0"/>
          </a:p>
        </p:txBody>
      </p:sp>
      <p:sp>
        <p:nvSpPr>
          <p:cNvPr id="44" name="Text 41"/>
          <p:cNvSpPr txBox="1"/>
          <p:nvPr/>
        </p:nvSpPr>
        <p:spPr>
          <a:xfrm>
            <a:off x="267919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(to m. · to f.)</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bi + al-ḥāfila = bil-ḥāfila. Never bi before mashyan.</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WHY, WHEN AND WHICH IS BETTER (TOPIC A: TIME AND COMPARISON)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Because … at … faster than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 · فِي السَّاعَةِ · أَسْرَعُ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أُفَضِّلُ القِطَارَ لِأَنَّهُ سَرِيعٌ.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train because it is fast.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Train m. → li’annahu.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يُغَادِرُ · يَصِلُ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يُغَادِرُ القِطَارُ فِي السَّاعَةِ الثَّامِنَةِ.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leaves at eight o’clock.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Time from AT-A-L02.</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أَفْعَلُ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القِطَارُ أَسْرَعُ مِنَ الحَافِلَةِ.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faster than the bus.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form for m. and 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reason pronoun matches the vehicle: the car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أُفَضِّلُ السَّيَّارَةَ لِأَنَّهَا مُرِيحَةٌ.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أُفَضِّلُ السَّيَّارَةَ لِأَنَّهُ مُرِيحٌ.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Transport verbs and the correct preposition</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أَفْعَالُ المُوَاصَلَاتِ وَحَرْفُ الجَرِّ الصَّحِيحُ</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Travel by most motorised transport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أُسَافِرُ + بِـ + وَسِيلَةِ النَّقْلِ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أَذْهَبُ إِلَى المَدْرَسَةِ بِالحَافِلَةِ.   ·   أُسَافِرُ إِلَى لَنْدَنَ بِالقِطَارِ.   ·   نَذْهَبُ إِلَى المَطَارِ بِسَيَّارَةِ أُجْرَةٍ.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Ride on a bicycle or motorbike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أَرْكَبُ / أَذْهَبُ + عَلَى + الدَّرَّاجَةِ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أَرْكَبُ الدَّرَّاجَةَ.   ·   أَذْهَبُ إِلَى الحَدِيقَةِ عَلَى الدَّرَّاجَةِ.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Say “on foot”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أَذْهَبُ / أَسِيرُ + مَشْيًا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إِلَى المَكْتَبَةِ مَشْيًا.   ·   أَسِيرُ مَشْيًا لِمُدَّةِ عَشْرِ دَقَائِقَ.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and answer how someone travels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كَيْفَ تُسَافِرُ؟ / كَيْفَ تَذْهَبُ؟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تَذْهَبُ إِلَى المَدْرَسَةِ؟   ·   كَيْفَ تَذْهَبِينَ إِلَى المَدْرَسَةِ؟   ·   أَذْهَبُ بِالمِتْرُو.</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بِالحَافِلَةِ.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بِالمَشْيِ.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المَشْيِ.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بِالدَّرَّاجَةِ</a:t>
            </a:r>
            <a:pPr algn="l" indent="0" marL="0">
              <a:buNone/>
            </a:pPr>
            <a:r>
              <a:rPr lang="en-US" sz="1250" dirty="0">
                <a:solidFill>
                  <a:srgbClr val="1F2A37"/>
                </a:solidFill>
                <a:latin typeface="Calibri" pitchFamily="34" charset="0"/>
                <a:ea typeface="Calibri" pitchFamily="34" charset="-122"/>
                <a:cs typeface="Calibri" pitchFamily="34" charset="-120"/>
              </a:rPr>
              <a:t> only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مَشْيًا الدَّرَّاجَةَ</a:t>
            </a:r>
            <a:endParaRPr lang="ar-SA" sz="220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تَذْهَبِينَ؟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الحَافِلَةِ.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الحَافِلَةَ.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بِالحَافِلَةِ.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bus.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on foot.”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مَشْيًا.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بِالمَشْيِ.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المَشْيِ.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مَشْيًا</a:t>
            </a:r>
            <a:pPr algn="l" indent="0" marL="0">
              <a:buNone/>
            </a:pPr>
            <a:r>
              <a:rPr lang="en-US" sz="1050" i="1" dirty="0">
                <a:solidFill>
                  <a:srgbClr val="8A6D1E"/>
                </a:solidFill>
                <a:latin typeface="Calibri" pitchFamily="34" charset="0"/>
                <a:ea typeface="Calibri" pitchFamily="34" charset="-122"/>
                <a:cs typeface="Calibri" pitchFamily="34" charset="-120"/>
              </a:rPr>
              <a:t> is used without a preposition.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correct for bicycle travel?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بِالدَّرَّاجَةِ</a:t>
            </a:r>
            <a:pPr algn="l" indent="0" marL="0">
              <a:buNone/>
            </a:pPr>
            <a:r>
              <a:rPr lang="en-US" sz="1250" dirty="0">
                <a:solidFill>
                  <a:srgbClr val="9AA1AB"/>
                </a:solidFill>
                <a:latin typeface="Calibri" pitchFamily="34" charset="0"/>
                <a:ea typeface="Calibri" pitchFamily="34" charset="-122"/>
                <a:cs typeface="Calibri" pitchFamily="34" charset="-120"/>
              </a:rPr>
              <a:t> only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عَلَى الدَّرَّاجَةِ</a:t>
            </a:r>
            <a:endParaRPr lang="ar-SA" sz="22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مَشْيًا الدَّرَّاجَةَ</a:t>
            </a:r>
            <a:endParaRPr lang="ar-SA" sz="22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plan teaches </a:t>
            </a:r>
            <a:pPr algn="l" indent="0" marL="0">
              <a:buNone/>
            </a:pPr>
            <a:r>
              <a:rPr lang="ar-SA" altLang="en-US" sz="1350" dirty="0">
                <a:solidFill>
                  <a:srgbClr val="8A6D1E"/>
                </a:solidFill>
                <a:latin typeface="Amiri" pitchFamily="34" charset="0"/>
                <a:ea typeface="Amiri" pitchFamily="34" charset="-122"/>
                <a:cs typeface="Amiri" pitchFamily="34" charset="-120"/>
              </a:rPr>
              <a:t>عَلَى الدَّرَّاجَةِ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how she goes to school.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تَذْهَبِينَ إِلَى المَدْرَسَةِ؟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 إِلَى المَدْرَسَةِ؟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تَذْهَبِينَ؟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explain a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أَذْهَبُ إِلَى المَدْرَسَةِ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بِالحَافِلَةِ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 bi-.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تُغَادِرُ الحَافِلَةُ فِي السَّاعَةِ السَّابِعَةِ وَالنِّصْفِ.</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 is f. → tughādiru.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أَمَّا أَخِي فَيَذْهَبُ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الدَّرَّاجَةِ.</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Bike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الحَافِلَةُ </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أَسْرَعُ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الدَّرَّاجَةِ، وَلٰكِنَّ الدَّرَّاجَةَ أَرْخَصُ.</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faster than … cheaper.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BY / 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أَذْهَبُ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بِالحَافِلَةِ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 بَيْتِي بَعِيدٌ. تُغَادِرُ الحَافِلَةُ فِي السَّاعَةِ السَّابِعَةِ وَالنِّصْفِ. أَمَّا أَخِي فَيَذْهَبُ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وَأُخْتِي تَذْهَبُ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مَشْيًا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الحَافِلَةُ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أَسْرَعُ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الدَّرَّاجَةِ، وَلٰكِنَّ الدَّرَّاجَةَ أَرْخَصُ.</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go to school by bus because my house is far. The bus leaves at half past seven. As for my brother, he goes by bike, and my sister walks. The bus is faster than the bike, but the bike is cheaper.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المَدْرَسَةِ بِالحَافِلَةِ.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school by bus.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بِـ with the bus.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الحَدِيقَةِ عَلَى الدَّرَّاجَةِ.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go to the park by bicycle.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عَلَى with a bicycle.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 إِلَى المَكْتَبَةِ مَشْيًا.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walk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preposition before مَشْيًا.</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كَيْفَ تَذْهَبِينَ إِلَى المَدْرَسَةِ؟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do you (f) go to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feminine addressee form ends ـينَ.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TRANSPORT: TYPES AND HOW WE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How do they travel?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مَاشِيًا.</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بِالدَّرَّاجَةِ.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bicycle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بِالدَّرَّاجَةِ.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bicycle.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مَاشِيًا.</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on foot.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travel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بِـ · by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الحَافِلَةُ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الطَّائِرَةُ</a:t>
            </a:r>
            <a:endParaRPr lang="ar-SA" sz="1800" dirty="0"/>
          </a:p>
        </p:txBody>
      </p:sp>
      <p:sp>
        <p:nvSpPr>
          <p:cNvPr id="24" name="Shape 21"/>
          <p:cNvSpPr/>
          <p:nvPr/>
        </p:nvSpPr>
        <p:spPr>
          <a:xfrm>
            <a:off x="8232648" y="3913632"/>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سَيَّارَةُ أُجْرَةٍ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عَلَى · on</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الدَّرَّاجَةُ النَّارِيَّةُ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مَشْيًا · on foot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القَدَمَيْنِ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أُسَافِرُ؟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يَرْكَبُ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 قَدِيمَةٌ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he travels.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تُسَافِرِينَ؟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أُسَافِرُ؟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تُسَافِرُ؟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تُسَافِرُ</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نَذْهَبُ إِلَى المَطَارِ ___ سَيَّارَةِ أُجْرَةٍ.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taxi.</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“he drives”?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يَرْكَبُ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يَقُودُ</a:t>
            </a:r>
            <a:pPr algn="l" indent="0" marL="0">
              <a:buNone/>
            </a:pPr>
            <a:r>
              <a:rPr lang="en-US" sz="1050" i="1" dirty="0">
                <a:solidFill>
                  <a:srgbClr val="8A6D1E"/>
                </a:solidFill>
                <a:latin typeface="Calibri" pitchFamily="34" charset="0"/>
                <a:ea typeface="Calibri" pitchFamily="34" charset="-122"/>
                <a:cs typeface="Calibri" pitchFamily="34" charset="-120"/>
              </a:rPr>
              <a:t> means drives.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public transport?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مَحَطَّةٌ قَدِيمَةٌ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رِحْلَةٌ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مَوَاصَلَاتٌ عَامَّةٌ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مَوَاصَلَاتٌ عَامَّةٌ</a:t>
            </a:r>
            <a:pPr algn="l" indent="0" marL="0">
              <a:buNone/>
            </a:pPr>
            <a:r>
              <a:rPr lang="en-US" sz="1050" i="1" dirty="0">
                <a:solidFill>
                  <a:srgbClr val="8A6D1E"/>
                </a:solidFill>
                <a:latin typeface="Calibri" pitchFamily="34" charset="0"/>
                <a:ea typeface="Calibri" pitchFamily="34" charset="-122"/>
                <a:cs typeface="Calibri" pitchFamily="34" charset="-120"/>
              </a:rPr>
              <a:t> means public transport.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أُسَافِرُ عَلَى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Train: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أَذْهَبُ بِمَشْيًا.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foot: is a preposition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كَيْفَ تَذْهَبُ؟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أُسَافِرُ عَلَى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أُسَافِرُ بِالقِطَارِ.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with the train.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أَذْهَبُ بِمَشْيًا.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أَذْهَبُ مَشْيًا.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مَشْيًا</a:t>
            </a:r>
            <a:pPr algn="l" indent="0" marL="0">
              <a:buNone/>
            </a:pPr>
            <a:r>
              <a:rPr lang="en-US" sz="1150" b="1" dirty="0">
                <a:solidFill>
                  <a:srgbClr val="1B3B6F"/>
                </a:solidFill>
                <a:latin typeface="Calibri" pitchFamily="34" charset="0"/>
                <a:ea typeface="Calibri" pitchFamily="34" charset="-122"/>
                <a:cs typeface="Calibri" pitchFamily="34" charset="-120"/>
              </a:rPr>
              <a:t> needs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كَيْفَ تَذْهَبُ؟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كَيْفَ تَذْهَبِينَ؟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singular ending when addressing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does each person travel?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the driver.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taxi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ferry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تَذْهَبُ سَارَةُ إِلَى المَدْرَسَةِ بِالحَافِلَةِ لِأَنَّ بَيْتَهَا بَعِيدٌ.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 goes to school by bus because her house is far.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أَخُوهَا عَلِيٌّ فَيَذْهَبُ عَلَى الدَّرَّاجَةِ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her brother Ali, he goes by bike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 المَدْرَسَةَ قَرِيبَةٌ مِنْ بَيْتِهِ.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school is near his house.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تُسَافِرُ الأُسْرَةُ إِلَى المَدِينَةِ بِالقِطَارِ.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the family travels to the city by train.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الأَبُ القِطَارَ لِأَنَّهُ سَرِيعٌ، وَلٰكِنَّ الأُمَّ تُفَضِّلُ السَّيَّارَةَ لِأَنَّهَا 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 prefers the train because it is fast, but the mother prefers the car because it is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Sarah go to school?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 بِالحَافِلَةِ.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Sarah use that transport?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the driver.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home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بَيْتَهَا بَعِيدٌ.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Ali go?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taxi</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يَذْهَبُ عَلَى الدَّرَّاجَةِ.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family travel at weekends?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ferry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تُسَافِرُ الأُسْرَةُ بِالقِطَارِ.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mother prefer the car?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مُرِيحَةٌ.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بِالحَافِلَةِ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 الدَّرَّاجَةِ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بِالقِطَارِ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Journey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Journey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Use a timetable and map to choose a route, compare two transport options and explain the journey using times, prepositions and direction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Goal: school to the city library before 10:00. Timetable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choose a route and a transport option.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faster / cheaper / more comfortable.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the journey on the mic: transport, times, “then”, and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one option. Say: “adhhabu bil-… · fī s-sā‘a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the departure and arrival time and one reason (li’annahu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two options (asra‘u min … / arkhaṣu min …) and add walking from the station.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بِالحَافِلَةِ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bus · £2 · leaves 8:30, arrives 9:20</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بِالقِطَارِ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train · £5 · leaves 9:00, arrives 9:25</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عَلَى الدَّرَّاجَةِ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bike · free · 8:15 to 9:45</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مَشْيًا مِنَ المَحَطَّةِ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walk from the station: 10 min</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Transport survey and journey comparison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إِلَى المَدْرَسَةِ؟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تُسَافِرُ إِلَى مَدِينَةٍ أُخْرَى؟</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يَقُودُ السَّيَّارَةَ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وَسِيلَةُ النَّقْلِ الَّتِي تُفَضِّلُهَا؟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أَذْهَبُ إِلَى المَدْرَسَةِ بِـ ___ / مَشْيًا.</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أُسَافِرُ بِـ ___ لِأَنَّهُ / لِأَنَّهَا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يَقُودُ السَّيَّارَةَ.</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أُفَضِّلُ ___ لِأَنَّهُ أَسْرَعُ / أَرْخَصُ مِنْ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تَذْهَبِينَ إِلَى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(f.) go to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أَذْهَبُ بِالحَافِلَةِ، وَلٰكِنِّي أَعُودُ مَشْيًا أَحْيَانًا.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go by bus, but sometimes I come back on foot.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four accurate journey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you, a brother and a sister go to school — one with bi-, one with ‘alā, one with mashyan.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compare three journeys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departure time and one “because it is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compare how three people travel.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yastaqillu or yaqūdu, a he and a she verb, a comparison (asra‘u min …) and a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تَذْهَبِينَ إِلَى المَدْرَسَةِ؟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(f.) go to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سَرِيعٌ / لِأَنَّهَا رَخِيصَةٌ.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fast / cheap.</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يُغَادِرُ القِطَارُ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leaves 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يَصِلُ فِي السَّاعَةِ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arrives 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القِطَارُ أَسْرَعُ مِنَ الحَافِلَةِ.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is faster than the bus.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بِالحَافِلَةِ.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bus.</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عَلَى الدَّرَّاجَةِ.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by bike.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مَشْيًا.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on foot.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يَذْهَبُ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goes by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تَذْهَبُ بِـ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goes by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حَافِلَةٌ  ·  قِطَارٌ  ·  سَيَّارَةٌ  ·  دَرَّاجَةٌ  ·  طَائِرَةٌ  ·  مِتْرُو  ·  بِـ  ·  عَلَى  ·  مَشْيًا  ·  سَرِيعٌ  ·  رَخِيصٌ  ·  مُرِيحٌ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70–90 Arabic words comparing how three people travel.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different transport types.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بِـ</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عَلَى</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مَشْيًا</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male and one female third-person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two justified opinions and sequence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خَارِجَ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live outside the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take the bus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يَقُودُ السَّيَّارَةَ إِلَى العَمَلِ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father drives the car to work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يُسَافِرُ إِلَى مَدِينَةٍ أُخْرَى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he travels to another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المَشْيَ صِحِّيٌّ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walking is healthy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أَذْهَبُ إِلَى المَدْرَسَةِ بِالحَافِلَةِ كُلَّ يَوْمٍ لِأَنَّ بَيْتِي بَعِيدٌ. أَمَّا أُخْتِي فَتَذْهَبُ عَلَى الدَّرَّاجَةِ لِأَنَّ مَدْرَسَتَهَا قَرِيبَةٌ. أَبِي يَقُودُ السَّيَّارَةَ إِلَى العَمَلِ، ثُمَّ يَسْتَقِلُّ القِطَارَ عِنْدَمَا يَزُورُ مَدِينَةً أُخْرَى. أُفَضِّلُ القِطَارَ لِأَنَّهُ سَرِيعٌ وَمُرِيحٌ، وَلٰكِنِّي أَسِيرُ مَشْيًا فِي الحَيِّ لِأَنَّ المَشْيَ صِحِّيٌّ.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go to school by bus every day because my house is far. As for my sister, she goes by bike because her school is near. My father drives the car to work, then takes the train when he visits another city. I prefer the train because it is fast and comfortable, but I walk in the neighbourhood because walking is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 with a vehicle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‘alā with a bike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she-verb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because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Vehicles take bi-; bikes take ‘alā.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little word before mashyan.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 pronoun matches the vehicle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time (leaves / arrives at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options with … min.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يُسَافِرُ؟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أُسَافِرُ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train.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أَذْهَبُ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الدَّرَّاجَةِ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مَشْيًا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bicycle.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a female listener how she travels?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تُسَافِرِينَ؟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يُسَافِرُ؟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addressee form ends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journeys to the city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طَالِبٌ وَأَسْكُنُ خَارِجَ المَدِينَةِ. كُلَّ صَبَاحٍ أَسِيرُ مَشْيًا إِلَى مَحَطَّةِ الحَافِلَاتِ، ثُمَّ أَسْتَقِلُّ الحَافِلَةَ إِلَى المَدْرَسَةِ. أُخْتِي تَدْرُسُ فِي الجَامِعَةِ وَتَذْهَبُ بِالمِتْرُو. أَبِي يَقُودُ السَّيَّارَةَ إِلَى العَمَلِ، وَلٰكِنَّهُ يَسْتَقِلُّ القِطَارَ عِنْدَمَا يُسَافِرُ إِلَى مَدِينَةٍ أُخْرَى. فِي العُطْلَةِ نُحِبُّ السَّفَرَ بِالعَبَّارَةِ.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أَسْكُنُ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خَارِجَ المَدِينَةِ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outside the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صَبَاحٍ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every morning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أَسِيرُ مَشْيًا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walk</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الحَافِلَاتِ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أَسْتَقِلُّ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الجَامِعَةِ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university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drives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holiday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بِالعَبَّارَةِ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ferry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rides a bicycle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metro</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metro</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travelling to another city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during the holiday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tram</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ferry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writer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city centre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خَارِجَ المَدِينَةِ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taking the bus?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rides a bicycle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metro</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to the station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أَسِيرُ مَشْيًا إِلَى مَحَطَّةِ الحَافِلَاتِ.</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his sister go to university?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metro</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تَذْهَبُ بِالمِتْرُو.</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drives to work?</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يَقُودُ السَّيَّارَةَ.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father use the train?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when travelling to another city</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during the holiday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عِنْدَمَا يُسَافِرُ إِلَى مَدِينَةٍ أُخْرَى.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the family like in holidays?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tram</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ferry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نُحِبُّ السَّفَرَ بِالعَبَّارَةِ.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AT-A-L09 · Travel and Transport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AT-A-L10: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AT-A-L10 · Reading and Listening Exam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يُسَاعِدُكَ فِي الاِسْتِمَاعِ؟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AT-A-L09: the picture game and the sorter “Which travel pattern?”.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how your family travels, with reasons and a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70–90 words comparing how three people travel.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AT-A-L10 · Reading and Listening Exam Skills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مَهَارَاتُ الْقِرَاءَةِ وَالِاسْتِمَاعِ لِلِامْتِحَانِ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exam-strategy words + your best listening tip.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Travel and Transport for Everyday Journeys</dc:title>
  <dc:subject>PptxGenJS Presentation</dc:subject>
  <dc:creator>Al Madina Online School · Arabic Department</dc:creator>
  <cp:lastModifiedBy>Al Madina Online School · Arabic Department</cp:lastModifiedBy>
  <cp:revision>1</cp:revision>
  <dcterms:created xsi:type="dcterms:W3CDTF">2026-10-03T10:11:15Z</dcterms:created>
  <dcterms:modified xsi:type="dcterms:W3CDTF">2026-10-03T10:11:15Z</dcterms:modified>
</cp:coreProperties>
</file>