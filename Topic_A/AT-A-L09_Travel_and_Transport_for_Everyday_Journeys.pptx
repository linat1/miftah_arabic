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AT-A-L09 — Travel and Transport for Everyday Journeys. Website: Advanced Topics › Topic A (Everyday Activities) › Lesson 9.
The website builds this lesson on the F6-L03 lesson engine, with the Topic focus “Describe transport, plan everyday journeys, understand timetables and ask for directions.” (grammar: Travel verbs; prepositions; time; comparison; directions; skills: Listening · Reading · Speaking) and the application challenge “Journey planner”.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A › Lesson 9 (AT-A-L09), lesson engine Pathways › Foundation › F6 › AT-A-L09. The website lesson “Transport: Types and How We Travel”: vocabulary, grammar rules and quiz, patterns, common mistakes, sorter, listening, reading, speaking prompts and model, writing task and model, differentiation, final check and the lesson mission. Picture match: website visual game “Transport: Types and How We Travel”.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6 transport words + “I go to … by …” with بِـ, عَلَى or مَشْيًا (the website’s one big idea). Develop: ask a boy / a girl (تَذْهَبُ / تَذْهَبِينَ), give a reason (لِأَنَّهُ سَرِيعٌ), use departure / arrival times. Stretch (Topic A): compare two options (أَسْرَعُ مِنْ، أَرْخَصُ مِنْ) and plan a route from a timetable.
• Three patterns only: بِالحَافِلَةِ (motorised) · عَلَى الدَّرَّاجَةِ (ride on) · مَشْيًا (on foot, no preposition).
• Links: AT-A-L01 (going to school), AT-A-L02 (clock times for the timetable), AT-A-L03 (frequency: كُلَّ يَوْمٍ، أَحْيَانًا).
• Urdu bridge: سفر، مسافر، سواری (not Arabic), ٹکٹ ← تَذْكِرَةٌ (not cognate), راستہ / طَرِيقٌ (طریقہ = method).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transport words prepared at home at the end of AT-A-L08. Questions 3–5 retrieve AT-A-L08 (advice, imperative) and AT-A-L02 (time — needed for today’s timetable).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By bus / train / car → bi-. On a bike → ‘alā. On foot → mashyan (no little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سفر and مسافر are identical. CAREFUL: طریقہ in Urdu is “method”, Arabic طَرِيقٌ is a road / route; رحلت in Urdu means death — Arabic رِحْلَةٌ is simply a trip. Urdu تذکرہ is a mention / biography; Arabic تَذْكِرَةٌ is a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Public transport (website vocabulary (1 of 2)). Hear → Say → See → Use. Transliteration is printed for Core students (cover it for Develop/Stretch).
Every card shows the plural and the travel phrase (by … / on …). Most take بِـ; bicycles and motorbikes take عَلَى.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Public transport (website vocabulary (2 of 2)). Hear → Say → See → Use. Transliteration is printed for Core students (cover it for Develop/Stretch).
Every card shows the plural and the travel phrase (by … / on …). Most take بِـ; bicycles and motorbikes take عَلَى.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Journey actions and people (website vocabulary (1 of 2)). Hear → Say → See → Use. Transliteration is printed for Core students (cover it for Develop/Stretch).
FLEX: teach if time allows; otherwise these are on the website vocabulary tab for homework.
FLEX: journey verbs. يَسْتَقِلُّ (takes / boards) and يَقُودُ (drives) are in the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Journey actions and people (website vocabulary (2 of 2)). Hear → Say → See → Use. Transliteration is printed for Core students (cover it for Develop/Stretch).
FLEX: teach if time allows; otherwise these are on the website vocabulary tab for homework.
FLEX: journey verbs. يَسْتَقِلُّ (takes / boards) and يَقُودُ (drives) are in the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Stations and tickets (website vocabulary (1 of 2)). Hear → Say → See → Use. Transliteration is printed for Core students (cover it for Develop/Stretch).
FLEX: teach if time allows; otherwise these are on the website vocabulary tab for homework.
FLEX: stations and tickets — needed for the journey planner (departure / arrival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Stations and tickets (website vocabulary (2 of 2)). Hear → Say → See → Use. Transliteration is printed for Core students (cover it for Develop/Stretch).
FLEX: teach if time allows; otherwise these are on the website vocabulary tab for homework.
FLEX: stations and tickets — needed for the journey planner (departure / arrival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“Travel by most motorised transport” (بِـ), “Ride on a bicycle or motorbike” (عَلَى), “Say on foot” (مَشْيًا, no preposition) and “Ask and answer how someone travels” (تَذْهَبُ / تَذْهَبِينَ), with the website table.
Website common error: أُسَافِرُ عَلَى الحَافِلَةِ ✗ → أُسَافِرُ بِالحَافِلَةِ ✓ · أَذْهَبُ بِمَشْيًا ✗ → أَذْهَبُ مَشْيًا ✓.
Quick-fire: say a vehicle; students type بِـ / عَلَى / مَشْيًا.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Topic A page lists “travel verbs; prepositions; time; comparison; directions” for this lesson. The reason pattern is from the website listening (يُفَضِّلُ الأَبُ القِطَارَ لِأَنَّهُ سَرِيعٌ … الأُمُّ تُفَضِّلُ السَّيَّارَةَ لِأَنَّهَا مُرِيحَةٌ). Departure / arrival come from the website vocabulary (مَوْعِدُ المُغَادَرَةِ / مَوْعِدُ الوُصُولِ).
Comparatives (teacher layer, Stretch): أَسْرَعُ (faster), أَبْطَأُ (slower), أَرْخَصُ (cheaper), أَغْلَى (more expensive), أَقْرَبُ (nearer), أَرْيَحُ (more comfortable) + مِنْ. The comparative does not change for feminine: السَّيَّارَةُ أَسْرَعُ مِنَ الدَّرَّاجَةِ.
Directions (FLEX): اِذْهَبْ مُسْتَقِيمًا · اِنْعَطِفْ يَمِينًا / يَسَارًا — imperatives from AT-A-L08.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“Transport is not one single pattern. Use بِـ with most motorised transport, عَلَى with bicycles and similar vehicles, and مَشْيًا without a transport noun. The verb also changes according to the person.”
• Travel by most motorised transport: The preposition بِـ joins the definite noun: بِ + الحَافِلَةِ becomes بِالحَافِلَةِ.
• Ride on a bicycle or motorbike: Use عَلَى when the person rides on top of the vehicle.
• Say “on foot”: مَشْيًا is an adverb. Do not add بِـ or عَلَى before it.
• Ask and answer how someone travels: Use تُـ when addressing one male learner, تُـ...ينَ for one female learner, and أَـ in the first-person answer.
Website common error: Do not write أُسَافِرُ عَلَى الحَافِلَةِ. The standard Foundation pattern is أُسَافِرُ بِالحَافِلَةِ.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(بِالحَافِلَةِ · عَلَى الدَّرَّاجَةِ · مَشْيًا) and the website model (لِأَنَّ بَيْتِي بَعِيدٌ · أَمَّا أُخْتِي فَـ…) with a Topic A time and a comparison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Transport: Types and How We Travel”)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Note: the website game card says أَذْهَبُ بِالدَّرَّاجَةِ — also heard in everyday Arabic; the lesson rule teaches عَلَى الدَّرَّاجَةِ (both are understood). Other cards for homework: أُسَافِرُ بِالقِطَارِ، أَذْهَبُ بِالسَّيَّارَةِ، أُسَافِرُ بِالطَّائِرَةِ.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Transport: Types and How We Travel”)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Note: the website game card says أَذْهَبُ بِالدَّرَّاجَةِ — also heard in everyday Arabic; the lesson rule teaches عَلَى الدَّرَّاجَةِ (both are understood). Other cards for homework: أُسَافِرُ بِالقِطَارِ، أَذْهَبُ بِالسَّيَّارَةِ، أُسَافِرُ بِالطَّائِرَةِ.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phrase by the required transport pattern.
Then: make one “I go to … by …” sentence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phrase by the required transport pattern.
Then: make one “I go to … by …” sentence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تَذْهَبُ سَارَةُ إِلَى المَدْرَسَةِ بِالحَافِلَةِ لِأَنَّ بَيْتَهَا بَعِيدٌ. أَمَّا أَخُوهَا عَلِيٌّ فَيَذْهَبُ عَلَى الدَّرَّاجَةِ لِأَنَّ المَدْرَسَةَ قَرِيبَةٌ مِنْ بَيْتِهِ. فِي نِهَايَةِ الأُسْبُوعِ تُسَافِرُ الأُسْرَةُ إِلَى المَدِينَةِ بِالقِطَارِ. يُفَضِّلُ الأَبُ القِطَارَ لِأَنَّهُ سَرِيعٌ، وَلٰكِنَّ الأُمَّ تُفَضِّلُ السَّيَّارَةَ لِأَنَّهَا مُرِيحَةٌ.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“Use a timetable and map to choose a route, compare two transport options and explain the journey using times, prepositions and direction language.”
Teacher-made timetable for the website “journey planner”. Model answer (Develop): أَذْهَبُ بِالقِطَارِ. يُغَادِرُ فِي السَّاعَةِ التَّاسِعَةِ وَيَصِلُ قَبْلَ التَّاسِعَةِ وَالنِّصْفِ، ثُمَّ أَذْهَبُ مَشْيًا عَشْرَ دَقَائِقَ. Stretch: القِطَارُ أَسْرَعُ مِنَ الحَافِلَةِ، وَلٰكِنَّ الحَافِلَةَ أَرْخَصُ. Check: the train arrives 9:25 + 10 min walk = 9:35 — before 10:00 ✓; the bike arrives 9:45 ✓ but the class may argue it is tiring.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لِمَاذَا تُفَضِّلِينَ الحَافِلَةَ؟ (Why do you prefer the bus?)
B: لِأَنَّهَا رَخِيصَةٌ وَسَرِيعَةٌ. (Because it is cheap and fast.)
Website prompts (order changed so Core starts with the simplest). Website model continues: A: لِمَاذَا تُفَضِّلِينَ الحَافِلَةَ؟ B: لِأَنَّهَا رَخِيصَةٌ وَسَرِيعَةٌ.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Name six transport types and produce four accurate journey sentences. · Develop — Compare three journeys with correct prepositions and reasons. · Stretch — Use يَسْتَقِلُّ, يَقُودُ and varied person forms in a connected transport survey report.
Website writing task (Stretch): Write 70–90 Arabic words comparing how three people travel.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بِالحَافِلَةِ · عَلَى الدَّرَّاجَةِ · فَتَذْهَبُ · لِأَنَّ بَيْتِي بَعِيدٌ / لِأَنَّهُ سَرِيعٌ. Link to AT-A-L06: لِأَنَّ المَشْيَ صِحِّيٌّ.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(AT-A-L10 · Reading and Listening Exam Skills) will spend class time USING this language, so students prepare it tonight — short, simple, easy to access (school guidance: “Simple, Short, Interesting, Relevant, Easy to access”). The five words come from the website AT-A-L10 vocabulary (the AT-A-L10 lesson engine: listening strategies).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AT-A-L09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Travel and Transport for Everyday Journeys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السَّفَرُ وَوَسَائِلُ النَّقْلِ فِي الرِّحْلَاتِ الْيَوْمِيَّةِ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transport, plan everyday journeys, understand timetables and ask for directions.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AT-A-L09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Transport words, then by / on / on foot, then asking a boy or a girl.</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by pattern,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AT-A-L10.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قِطَارٌ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plane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مَشْيًا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foot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car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bike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advice.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أَنْ تَسْتَرِيحُ.</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تَسْتَرِيحَ.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أَنْ تَسْتَرِيحَ.</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“Drink!” to a girl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اِشْرَبْ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اِشْرَبُوا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اِشْرَبِي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السَّاعَةُ الثَّامِنَةُ إِلَّا الرُّبْعَ = ?</a:t>
            </a:r>
            <a:endParaRPr lang="ar-SA"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7:45</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8:15</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8:45</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قِطَارٌ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train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plane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(AT-A-L08).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مَشْيًا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foot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car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bike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(AT-A-L08).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advice.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يَجِبُ أَنْ تَسْتَرِيحُ.</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يَجِبُ تَسْتَرِيحَ.</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يَجِبُ أَنْ تَسْتَرِيحَ.</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AT-A-L08: -a after “an”.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“Drink!” to a girl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اِشْرَبْ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اِشْرَبُوا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اِشْرَبِي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AT-A-L08: imperative -ī.</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السَّاعَةُ الثَّامِنَةُ إِلَّا الرُّبْعَ = ?</a:t>
            </a:r>
            <a:endParaRPr lang="ar-SA"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7:45</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8:15</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8:45</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AT-A-L02: quarter to.</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By bus / train / car → bi-. On a bike → ‘alā. On foot → mashyan (no little word).</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أَذْهَبُ </a:t>
            </a:r>
            <a:pPr rtl="1" algn="ctr" indent="0" marL="0">
              <a:lnSpc>
                <a:spcPct val="120000"/>
              </a:lnSpc>
              <a:buNone/>
            </a:pPr>
            <a:r>
              <a:rPr lang="ar-SA" altLang="en-US" sz="1950" b="1" dirty="0">
                <a:solidFill>
                  <a:srgbClr val="0E7C86"/>
                </a:solidFill>
                <a:latin typeface="Amiri" pitchFamily="2" charset="-78"/>
                <a:cs typeface="Amiri" pitchFamily="2" charset="-78"/>
              </a:rPr>
              <a:t>بِالحَافِلَةِ</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cs typeface="Amiri" pitchFamily="2" charset="-78"/>
              </a:rPr>
              <a:t>عَلَى</a:t>
            </a:r>
            <a:pPr rtl="1" algn="ctr" indent="0" marL="0">
              <a:lnSpc>
                <a:spcPct val="120000"/>
              </a:lnSpc>
              <a:buNone/>
            </a:pPr>
            <a:r>
              <a:rPr lang="ar-SA" altLang="en-US" sz="1950" b="1" dirty="0">
                <a:solidFill>
                  <a:srgbClr val="1B3B6F"/>
                </a:solidFill>
                <a:latin typeface="Amiri" pitchFamily="2" charset="-78"/>
                <a:cs typeface="Amiri" pitchFamily="2" charset="-78"/>
              </a:rPr>
              <a:t> الدَّرَّاجَةِ · </a:t>
            </a:r>
            <a:pPr rtl="1" algn="ctr" indent="0" marL="0">
              <a:lnSpc>
                <a:spcPct val="120000"/>
              </a:lnSpc>
              <a:buNone/>
            </a:pPr>
            <a:r>
              <a:rPr lang="ar-SA" altLang="en-US" sz="1950" b="1" dirty="0">
                <a:solidFill>
                  <a:srgbClr val="0E7C86"/>
                </a:solidFill>
                <a:latin typeface="Amiri" pitchFamily="2" charset="-78"/>
                <a:cs typeface="Amiri" pitchFamily="2" charset="-78"/>
              </a:rPr>
              <a:t>مَشْيًا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at least twelve forms of transport.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correct preposition for each journey.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and answer how people travel.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and listen for transport, route and passenger details.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6 kinds of transport.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how I go to school (by / on / on foot).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a boy or a girl how they travel.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 reason and a time.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ways to travel (faster than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plan and explain a journey from a timetable.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31 travel words from the website in 3 groups. Core: public transport (12). Journey actions and stations / tickets are FLEX — they return in the challenge.</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Public transport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Journey actions and people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Stations and tickets · 9</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سَفَرٌ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‎سفر‎ </a:t>
            </a:r>
            <a:pPr indent="0" marL="0">
              <a:buNone/>
            </a:pPr>
            <a:r>
              <a:rPr lang="en-US" sz="950" b="1" dirty="0">
                <a:solidFill>
                  <a:srgbClr val="2E8B57"/>
                </a:solidFill>
                <a:latin typeface="Calibri" pitchFamily="34" charset="0"/>
                <a:cs typeface="Amiri" pitchFamily="2" charset="-78"/>
              </a:rPr>
              <a:t> safar · travel, a journey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مُسَافِرٌ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‎مسافر‎ </a:t>
            </a:r>
            <a:pPr indent="0" marL="0">
              <a:buNone/>
            </a:pPr>
            <a:r>
              <a:rPr lang="en-US" sz="950" b="1" dirty="0">
                <a:solidFill>
                  <a:srgbClr val="2E8B57"/>
                </a:solidFill>
                <a:latin typeface="Calibri" pitchFamily="34" charset="0"/>
                <a:cs typeface="Amiri" pitchFamily="2" charset="-78"/>
              </a:rPr>
              <a:t> musāfir · a traveller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طَرِيقٌ</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‎طریقہ‎ </a:t>
            </a:r>
            <a:pPr indent="0" marL="0">
              <a:buNone/>
            </a:pPr>
            <a:r>
              <a:rPr lang="en-US" sz="950" b="1" dirty="0">
                <a:solidFill>
                  <a:srgbClr val="2E8B57"/>
                </a:solidFill>
                <a:latin typeface="Calibri" pitchFamily="34" charset="0"/>
                <a:cs typeface="Amiri" pitchFamily="2" charset="-78"/>
              </a:rPr>
              <a:t> ṭarīq · route, way (Urdu: method)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رِحْلَةٌ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‎رحلت‎ </a:t>
            </a:r>
            <a:pPr indent="0" marL="0">
              <a:buNone/>
            </a:pPr>
            <a:r>
              <a:rPr lang="en-US" sz="950" b="1" dirty="0">
                <a:solidFill>
                  <a:srgbClr val="2E8B57"/>
                </a:solidFill>
                <a:latin typeface="Calibri" pitchFamily="34" charset="0"/>
                <a:cs typeface="Amiri" pitchFamily="2" charset="-78"/>
              </a:rPr>
              <a:t> riḥla · journey (Urdu: passing away!)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تَذْكِرَةٌ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‎ٹکٹ‎ </a:t>
            </a:r>
            <a:pPr indent="0" marL="0">
              <a:buNone/>
            </a:pPr>
            <a:r>
              <a:rPr lang="en-US" sz="950" b="1" dirty="0">
                <a:solidFill>
                  <a:srgbClr val="2E8B57"/>
                </a:solidFill>
                <a:latin typeface="Calibri" pitchFamily="34" charset="0"/>
                <a:cs typeface="Amiri" pitchFamily="2" charset="-78"/>
              </a:rPr>
              <a:t> tadhkira · ticket (not cognate)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Public transport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حَافِلَةٌ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bus</a:t>
            </a:r>
            <a:endParaRPr lang="en-US" sz="1350" dirty="0"/>
          </a:p>
          <a:p>
            <a:pPr indent="0" marL="0">
              <a:buNone/>
            </a:pPr>
            <a:r>
              <a:rPr lang="en-US" sz="1100" i="1" dirty="0">
                <a:solidFill>
                  <a:srgbClr val="5A6472"/>
                </a:solidFill>
                <a:latin typeface="Calibri" pitchFamily="34" charset="0"/>
                <a:cs typeface="Amiri" pitchFamily="2" charset="-78"/>
              </a:rPr>
              <a:t>ḥā-fi-la-tun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حَافِلَاتٌ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by / on</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بِالحَافِلَةِ</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قِطَارٌ</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train</a:t>
            </a:r>
            <a:endParaRPr lang="en-US" sz="1350" dirty="0"/>
          </a:p>
          <a:p>
            <a:pPr indent="0" marL="0">
              <a:buNone/>
            </a:pPr>
            <a:r>
              <a:rPr lang="en-US" sz="1100" i="1" dirty="0">
                <a:solidFill>
                  <a:srgbClr val="5A6472"/>
                </a:solidFill>
                <a:latin typeface="Calibri" pitchFamily="34" charset="0"/>
                <a:cs typeface="Amiri" pitchFamily="2" charset="-78"/>
              </a:rPr>
              <a:t>qi-ṭā-run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قِطَارَاتٌ</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by / on</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بِالقِطَارِ</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Text 4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مِتْرُو</a:t>
            </a:r>
            <a:endParaRPr lang="ar-SA" sz="3000" dirty="0"/>
          </a:p>
        </p:txBody>
      </p:sp>
      <p:sp>
        <p:nvSpPr>
          <p:cNvPr id="49" name="Text 4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metro / underground</a:t>
            </a:r>
            <a:endParaRPr lang="en-US" sz="1350" dirty="0"/>
          </a:p>
          <a:p>
            <a:pPr indent="0" marL="0">
              <a:buNone/>
            </a:pPr>
            <a:r>
              <a:rPr lang="en-US" sz="1100" i="1" dirty="0">
                <a:solidFill>
                  <a:srgbClr val="5A6472"/>
                </a:solidFill>
                <a:latin typeface="Calibri" pitchFamily="34" charset="0"/>
                <a:cs typeface="Amiri" pitchFamily="2" charset="-78"/>
              </a:rPr>
              <a:t>mit-rū</a:t>
            </a:r>
            <a:endParaRPr lang="en-US" sz="135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3" name="Shape 50"/>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55" name="Shape 5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7" name="Text 5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سَيَّارَةٌ</a:t>
            </a:r>
            <a:endParaRPr lang="ar-SA" sz="3000" dirty="0"/>
          </a:p>
        </p:txBody>
      </p:sp>
      <p:sp>
        <p:nvSpPr>
          <p:cNvPr id="58" name="Text 5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car</a:t>
            </a:r>
            <a:endParaRPr lang="en-US" sz="1350" dirty="0"/>
          </a:p>
          <a:p>
            <a:pPr indent="0" marL="0">
              <a:buNone/>
            </a:pPr>
            <a:r>
              <a:rPr lang="en-US" sz="1100" i="1" dirty="0">
                <a:solidFill>
                  <a:srgbClr val="5A6472"/>
                </a:solidFill>
                <a:latin typeface="Calibri" pitchFamily="34" charset="0"/>
                <a:cs typeface="Amiri" pitchFamily="2" charset="-78"/>
              </a:rPr>
              <a:t>say-yā-ra-tun</a:t>
            </a:r>
            <a:endParaRPr lang="en-US" sz="1350" dirty="0"/>
          </a:p>
        </p:txBody>
      </p:sp>
      <p:sp>
        <p:nvSpPr>
          <p:cNvPr id="59" name="Shape 5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1" name="Text 5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سَيَّارَاتٌ</a:t>
            </a:r>
            <a:endParaRPr lang="ar-SA" sz="1500" dirty="0"/>
          </a:p>
        </p:txBody>
      </p:sp>
      <p:sp>
        <p:nvSpPr>
          <p:cNvPr id="62" name="Shape 5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by / on</a:t>
            </a:r>
            <a:endParaRPr lang="en-US" sz="700" dirty="0"/>
          </a:p>
        </p:txBody>
      </p:sp>
      <p:sp>
        <p:nvSpPr>
          <p:cNvPr id="64" name="Text 6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بِالسَّيَّارَةِ</a:t>
            </a:r>
            <a:endParaRPr lang="ar-SA"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8" name="Shape 65"/>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70" name="Shape 6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2" name="Text 6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سَيَّارَةُ أُجْرَةٍ</a:t>
            </a:r>
            <a:endParaRPr lang="ar-SA" sz="3000" dirty="0"/>
          </a:p>
        </p:txBody>
      </p:sp>
      <p:sp>
        <p:nvSpPr>
          <p:cNvPr id="73" name="Text 7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taxi</a:t>
            </a:r>
            <a:endParaRPr lang="en-US" sz="1350" dirty="0"/>
          </a:p>
          <a:p>
            <a:pPr indent="0" marL="0">
              <a:buNone/>
            </a:pPr>
            <a:r>
              <a:rPr lang="en-US" sz="1100" i="1" dirty="0">
                <a:solidFill>
                  <a:srgbClr val="5A6472"/>
                </a:solidFill>
                <a:latin typeface="Calibri" pitchFamily="34" charset="0"/>
                <a:cs typeface="Amiri" pitchFamily="2" charset="-78"/>
              </a:rPr>
              <a:t>say-yā-ra-tu uj-ra-tin</a:t>
            </a:r>
            <a:endParaRPr lang="en-US" sz="1350" dirty="0"/>
          </a:p>
        </p:txBody>
      </p:sp>
      <p:sp>
        <p:nvSpPr>
          <p:cNvPr id="74" name="Shape 7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6" name="Text 7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سَيَّارَاتُ أُجْرَةٍ</a:t>
            </a:r>
            <a:endParaRPr lang="ar-SA" sz="1500" dirty="0"/>
          </a:p>
        </p:txBody>
      </p:sp>
      <p:sp>
        <p:nvSpPr>
          <p:cNvPr id="77" name="Shape 7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by / on</a:t>
            </a:r>
            <a:endParaRPr lang="en-US" sz="700" dirty="0"/>
          </a:p>
        </p:txBody>
      </p:sp>
      <p:sp>
        <p:nvSpPr>
          <p:cNvPr id="79" name="Text 7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بِسَيَّارَةِ أُجْرَةٍ</a:t>
            </a:r>
            <a:endParaRPr lang="ar-SA" sz="1350" dirty="0"/>
          </a:p>
        </p:txBody>
      </p:sp>
      <p:sp>
        <p:nvSpPr>
          <p:cNvPr id="80" name="Shape 7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566928" y="4261104"/>
            <a:ext cx="310896" cy="310896"/>
          </a:xfrm>
          <a:prstGeom prst="ellipse">
            <a:avLst/>
          </a:prstGeom>
          <a:solidFill>
            <a:srgbClr val="F4F1EA"/>
          </a:solidFill>
          <a:ln w="12700">
            <a:solidFill>
              <a:srgbClr val="F4F1EA"/>
            </a:solidFill>
            <a:prstDash val="solid"/>
          </a:ln>
        </p:spPr>
      </p:sp>
      <p:sp>
        <p:nvSpPr>
          <p:cNvPr id="82" name="Text 7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3" name="Shape 80"/>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84" name="Text 81"/>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85" name="Shape 8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6" name="Text 8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7" name="Text 8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دَرَّاجَةٌ</a:t>
            </a:r>
            <a:endParaRPr lang="ar-SA" sz="3000" dirty="0"/>
          </a:p>
        </p:txBody>
      </p:sp>
      <p:sp>
        <p:nvSpPr>
          <p:cNvPr id="88" name="Text 8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bicycle</a:t>
            </a:r>
            <a:endParaRPr lang="en-US" sz="1350" dirty="0"/>
          </a:p>
          <a:p>
            <a:pPr indent="0" marL="0">
              <a:buNone/>
            </a:pPr>
            <a:r>
              <a:rPr lang="en-US" sz="1100" i="1" dirty="0">
                <a:solidFill>
                  <a:srgbClr val="5A6472"/>
                </a:solidFill>
                <a:latin typeface="Calibri" pitchFamily="34" charset="0"/>
                <a:cs typeface="Amiri" pitchFamily="2" charset="-78"/>
              </a:rPr>
              <a:t>dar-rā-ja-tun</a:t>
            </a:r>
            <a:endParaRPr lang="en-US" sz="1350" dirty="0"/>
          </a:p>
        </p:txBody>
      </p:sp>
      <p:sp>
        <p:nvSpPr>
          <p:cNvPr id="89" name="Shape 8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0" name="Text 8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1" name="Text 8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دَرَّاجَاتٌ</a:t>
            </a:r>
            <a:endParaRPr lang="ar-SA" sz="1500" dirty="0"/>
          </a:p>
        </p:txBody>
      </p:sp>
      <p:sp>
        <p:nvSpPr>
          <p:cNvPr id="92" name="Shape 8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by / on</a:t>
            </a:r>
            <a:endParaRPr lang="en-US" sz="700" dirty="0"/>
          </a:p>
        </p:txBody>
      </p:sp>
      <p:sp>
        <p:nvSpPr>
          <p:cNvPr id="94" name="Text 91"/>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عَلَى الدَّرَّاجَةِ</a:t>
            </a:r>
            <a:endParaRPr lang="ar-SA" sz="13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Public transport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دَرَّاجَةٌ نَارِيَّةٌ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motorbike</a:t>
            </a:r>
            <a:endParaRPr lang="en-US" sz="1350" dirty="0"/>
          </a:p>
          <a:p>
            <a:pPr indent="0" marL="0">
              <a:buNone/>
            </a:pPr>
            <a:r>
              <a:rPr lang="en-US" sz="1100" i="1" dirty="0">
                <a:solidFill>
                  <a:srgbClr val="5A6472"/>
                </a:solidFill>
                <a:latin typeface="Calibri" pitchFamily="34" charset="0"/>
                <a:cs typeface="Amiri" pitchFamily="2" charset="-78"/>
              </a:rPr>
              <a:t>dar-rā-ja-tun nā-riy-ya-tun</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دَرَّاجَاتٌ نَارِيَّةٌ</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by / on</a:t>
            </a:r>
            <a:endParaRPr lang="en-US" sz="700" dirty="0"/>
          </a:p>
        </p:txBody>
      </p:sp>
      <p:sp>
        <p:nvSpPr>
          <p:cNvPr id="27" name="Text 24"/>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عَلَى الدَّرَّاجَةِ النَّارِيَّةِ</a:t>
            </a:r>
            <a:endParaRPr lang="ar-SA" sz="135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1" name="Shape 28"/>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طَائِرَةٌ</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aeroplane</a:t>
            </a:r>
            <a:endParaRPr lang="en-US" sz="1350" dirty="0"/>
          </a:p>
          <a:p>
            <a:pPr indent="0" marL="0">
              <a:buNone/>
            </a:pPr>
            <a:r>
              <a:rPr lang="en-US" sz="1100" i="1" dirty="0">
                <a:solidFill>
                  <a:srgbClr val="5A6472"/>
                </a:solidFill>
                <a:latin typeface="Calibri" pitchFamily="34" charset="0"/>
                <a:cs typeface="Amiri" pitchFamily="2" charset="-78"/>
              </a:rPr>
              <a:t>ṭā-ʾi-ra-tun</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طَائِرَاتٌ</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by / on</a:t>
            </a:r>
            <a:endParaRPr lang="en-US" sz="700" dirty="0"/>
          </a:p>
        </p:txBody>
      </p:sp>
      <p:sp>
        <p:nvSpPr>
          <p:cNvPr id="42" name="Text 39"/>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بِالطَّائِرَةِ</a:t>
            </a:r>
            <a:endParaRPr lang="ar-SA" sz="135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6" name="Shape 43"/>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سَفِينَةٌ</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ship</a:t>
            </a:r>
            <a:endParaRPr lang="en-US" sz="1350" dirty="0"/>
          </a:p>
          <a:p>
            <a:pPr indent="0" marL="0">
              <a:buNone/>
            </a:pPr>
            <a:r>
              <a:rPr lang="en-US" sz="1100" i="1" dirty="0">
                <a:solidFill>
                  <a:srgbClr val="5A6472"/>
                </a:solidFill>
                <a:latin typeface="Calibri" pitchFamily="34" charset="0"/>
                <a:cs typeface="Amiri" pitchFamily="2" charset="-78"/>
              </a:rPr>
              <a:t>sa-fī-na-tun</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سُفُنٌ</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by / on</a:t>
            </a:r>
            <a:endParaRPr lang="en-US" sz="700" dirty="0"/>
          </a:p>
        </p:txBody>
      </p:sp>
      <p:sp>
        <p:nvSpPr>
          <p:cNvPr id="55" name="Text 52"/>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بِالسَّفِينَةِ</a:t>
            </a:r>
            <a:endParaRPr lang="ar-SA"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9" name="Text 5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عَبَّارَةٌ</a:t>
            </a:r>
            <a:endParaRPr lang="ar-SA" sz="3000" dirty="0"/>
          </a:p>
        </p:txBody>
      </p:sp>
      <p:sp>
        <p:nvSpPr>
          <p:cNvPr id="60" name="Text 5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ferry</a:t>
            </a:r>
            <a:endParaRPr lang="en-US" sz="1350" dirty="0"/>
          </a:p>
          <a:p>
            <a:pPr indent="0" marL="0">
              <a:buNone/>
            </a:pPr>
            <a:r>
              <a:rPr lang="en-US" sz="1100" i="1" dirty="0">
                <a:solidFill>
                  <a:srgbClr val="5A6472"/>
                </a:solidFill>
                <a:latin typeface="Calibri" pitchFamily="34" charset="0"/>
                <a:cs typeface="Amiri" pitchFamily="2" charset="-78"/>
              </a:rPr>
              <a:t>ʿab-bā-ra-tun</a:t>
            </a:r>
            <a:endParaRPr lang="en-US" sz="135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4" name="Text 6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تِرَامٌ</a:t>
            </a:r>
            <a:endParaRPr lang="ar-SA" sz="3000" dirty="0"/>
          </a:p>
        </p:txBody>
      </p:sp>
      <p:sp>
        <p:nvSpPr>
          <p:cNvPr id="65" name="Text 6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tram</a:t>
            </a:r>
            <a:endParaRPr lang="en-US" sz="1350" dirty="0"/>
          </a:p>
          <a:p>
            <a:pPr indent="0" marL="0">
              <a:buNone/>
            </a:pPr>
            <a:r>
              <a:rPr lang="en-US" sz="1100" i="1" dirty="0">
                <a:solidFill>
                  <a:srgbClr val="5A6472"/>
                </a:solidFill>
                <a:latin typeface="Calibri" pitchFamily="34" charset="0"/>
                <a:cs typeface="Amiri" pitchFamily="2" charset="-78"/>
              </a:rPr>
              <a:t>ti-rā-mun</a:t>
            </a:r>
            <a:endParaRPr lang="en-US" sz="1350" dirty="0"/>
          </a:p>
        </p:txBody>
      </p:sp>
      <p:sp>
        <p:nvSpPr>
          <p:cNvPr id="66" name="Shape 6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566928"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9" name="Text 6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قَارِبٌ</a:t>
            </a:r>
            <a:endParaRPr lang="ar-SA" sz="3000" dirty="0"/>
          </a:p>
        </p:txBody>
      </p:sp>
      <p:sp>
        <p:nvSpPr>
          <p:cNvPr id="70" name="Text 6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boat</a:t>
            </a:r>
            <a:endParaRPr lang="en-US" sz="1350" dirty="0"/>
          </a:p>
          <a:p>
            <a:pPr indent="0" marL="0">
              <a:buNone/>
            </a:pPr>
            <a:r>
              <a:rPr lang="en-US" sz="1100" i="1" dirty="0">
                <a:solidFill>
                  <a:srgbClr val="5A6472"/>
                </a:solidFill>
                <a:latin typeface="Calibri" pitchFamily="34" charset="0"/>
                <a:cs typeface="Amiri" pitchFamily="2" charset="-78"/>
              </a:rPr>
              <a:t>qā-ri-bun</a:t>
            </a:r>
            <a:endParaRPr lang="en-US" sz="13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Journey actions and people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يَسْتَقِلُّ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takes / boards transport</a:t>
            </a:r>
            <a:endParaRPr lang="en-US" sz="1350" dirty="0"/>
          </a:p>
          <a:p>
            <a:pPr indent="0" marL="0">
              <a:buNone/>
            </a:pPr>
            <a:r>
              <a:rPr lang="en-US" sz="1100" i="1" dirty="0">
                <a:solidFill>
                  <a:srgbClr val="5A6472"/>
                </a:solidFill>
                <a:latin typeface="Calibri" pitchFamily="34" charset="0"/>
                <a:cs typeface="Amiri" pitchFamily="2" charset="-78"/>
              </a:rPr>
              <a:t>yas-ta-qil-lu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يَرْكَبُ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rides</a:t>
            </a:r>
            <a:endParaRPr lang="en-US" sz="1350" dirty="0"/>
          </a:p>
          <a:p>
            <a:pPr indent="0" marL="0">
              <a:buNone/>
            </a:pPr>
            <a:r>
              <a:rPr lang="en-US" sz="1100" i="1" dirty="0">
                <a:solidFill>
                  <a:srgbClr val="5A6472"/>
                </a:solidFill>
                <a:latin typeface="Calibri" pitchFamily="34" charset="0"/>
                <a:cs typeface="Amiri" pitchFamily="2" charset="-78"/>
              </a:rPr>
              <a:t>yar-ka-bu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يَقُودُ</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drives</a:t>
            </a:r>
            <a:endParaRPr lang="en-US" sz="1350" dirty="0"/>
          </a:p>
          <a:p>
            <a:pPr indent="0" marL="0">
              <a:buNone/>
            </a:pPr>
            <a:r>
              <a:rPr lang="en-US" sz="1100" i="1" dirty="0">
                <a:solidFill>
                  <a:srgbClr val="5A6472"/>
                </a:solidFill>
                <a:latin typeface="Calibri" pitchFamily="34" charset="0"/>
                <a:cs typeface="Amiri" pitchFamily="2" charset="-78"/>
              </a:rPr>
              <a:t>ya-qū-du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يَسِيرُ مَشْيًا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walks / goes on foot</a:t>
            </a:r>
            <a:endParaRPr lang="en-US" sz="1350" dirty="0"/>
          </a:p>
          <a:p>
            <a:pPr indent="0" marL="0">
              <a:buNone/>
            </a:pPr>
            <a:r>
              <a:rPr lang="en-US" sz="1100" i="1" dirty="0">
                <a:solidFill>
                  <a:srgbClr val="5A6472"/>
                </a:solidFill>
                <a:latin typeface="Calibri" pitchFamily="34" charset="0"/>
                <a:cs typeface="Amiri" pitchFamily="2" charset="-78"/>
              </a:rPr>
              <a:t>ya-sī-ru mash-yan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يُسَافِرُ</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travels</a:t>
            </a:r>
            <a:endParaRPr lang="en-US" sz="1350" dirty="0"/>
          </a:p>
          <a:p>
            <a:pPr indent="0" marL="0">
              <a:buNone/>
            </a:pPr>
            <a:r>
              <a:rPr lang="en-US" sz="1100" i="1" dirty="0">
                <a:solidFill>
                  <a:srgbClr val="5A6472"/>
                </a:solidFill>
                <a:latin typeface="Calibri" pitchFamily="34" charset="0"/>
                <a:cs typeface="Amiri" pitchFamily="2" charset="-78"/>
              </a:rPr>
              <a:t>yu-sā-fi-ru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Journey actions and people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سَائِقٌ</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driver</a:t>
            </a:r>
            <a:endParaRPr lang="en-US" sz="1350" dirty="0"/>
          </a:p>
          <a:p>
            <a:pPr indent="0" marL="0">
              <a:buNone/>
            </a:pPr>
            <a:r>
              <a:rPr lang="en-US" sz="1100" i="1" dirty="0">
                <a:solidFill>
                  <a:srgbClr val="5A6472"/>
                </a:solidFill>
                <a:latin typeface="Calibri" pitchFamily="34" charset="0"/>
                <a:cs typeface="Amiri" pitchFamily="2" charset="-78"/>
              </a:rPr>
              <a:t>sā-ʾi-qun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سَائِقُونَ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سَائِقَةٌ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سَائِقٌ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رَاكِبٌ / رَاكِبَةٌ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passenger m/f</a:t>
            </a:r>
            <a:endParaRPr lang="en-US" sz="1350" dirty="0"/>
          </a:p>
          <a:p>
            <a:pPr indent="0" marL="0">
              <a:buNone/>
            </a:pPr>
            <a:r>
              <a:rPr lang="en-US" sz="1100" i="1" dirty="0">
                <a:solidFill>
                  <a:srgbClr val="5A6472"/>
                </a:solidFill>
                <a:latin typeface="Calibri" pitchFamily="34" charset="0"/>
                <a:cs typeface="Amiri" pitchFamily="2" charset="-78"/>
              </a:rPr>
              <a:t>rā-ki-bun / rā-ki-ba-tun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رُكَّابٌ</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رَاكِبَةٌ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رَاكِبٌ</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2" name="Text 4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رِحْلَةٌ</a:t>
            </a:r>
            <a:endParaRPr lang="ar-SA" sz="3000" dirty="0"/>
          </a:p>
        </p:txBody>
      </p:sp>
      <p:sp>
        <p:nvSpPr>
          <p:cNvPr id="53" name="Text 5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journey</a:t>
            </a:r>
            <a:endParaRPr lang="en-US" sz="1350" dirty="0"/>
          </a:p>
          <a:p>
            <a:pPr indent="0" marL="0">
              <a:buNone/>
            </a:pPr>
            <a:r>
              <a:rPr lang="en-US" sz="1100" i="1" dirty="0">
                <a:solidFill>
                  <a:srgbClr val="5A6472"/>
                </a:solidFill>
                <a:latin typeface="Calibri" pitchFamily="34" charset="0"/>
                <a:cs typeface="Amiri" pitchFamily="2" charset="-78"/>
              </a:rPr>
              <a:t>riḥ-la-tun</a:t>
            </a:r>
            <a:endParaRPr lang="en-US" sz="135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7" name="Text 5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طَرِيقٌ</a:t>
            </a:r>
            <a:endParaRPr lang="ar-SA" sz="3000" dirty="0"/>
          </a:p>
        </p:txBody>
      </p:sp>
      <p:sp>
        <p:nvSpPr>
          <p:cNvPr id="58" name="Text 5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route</a:t>
            </a:r>
            <a:endParaRPr lang="en-US" sz="1350" dirty="0"/>
          </a:p>
          <a:p>
            <a:pPr indent="0" marL="0">
              <a:buNone/>
            </a:pPr>
            <a:r>
              <a:rPr lang="en-US" sz="1100" i="1" dirty="0">
                <a:solidFill>
                  <a:srgbClr val="5A6472"/>
                </a:solidFill>
                <a:latin typeface="Calibri" pitchFamily="34" charset="0"/>
                <a:cs typeface="Amiri" pitchFamily="2" charset="-78"/>
              </a:rPr>
              <a:t>ṭa-rī-qun</a:t>
            </a:r>
            <a:endParaRPr lang="en-US"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62" name="Text 5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مَوَاصَلَاتٌ عَامَّةٌ</a:t>
            </a:r>
            <a:endParaRPr lang="ar-SA" sz="3000" dirty="0"/>
          </a:p>
        </p:txBody>
      </p:sp>
      <p:sp>
        <p:nvSpPr>
          <p:cNvPr id="63" name="Text 6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public transport</a:t>
            </a:r>
            <a:endParaRPr lang="en-US" sz="1350" dirty="0"/>
          </a:p>
          <a:p>
            <a:pPr indent="0" marL="0">
              <a:buNone/>
            </a:pPr>
            <a:r>
              <a:rPr lang="en-US" sz="1100" i="1" dirty="0">
                <a:solidFill>
                  <a:srgbClr val="5A6472"/>
                </a:solidFill>
                <a:latin typeface="Calibri" pitchFamily="34" charset="0"/>
                <a:cs typeface="Amiri" pitchFamily="2" charset="-78"/>
              </a:rPr>
              <a:t>ma-wā-ṣa-lā-tun ʿām-ma-tun</a:t>
            </a:r>
            <a:endParaRPr lang="en-US" sz="13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Stations and tickets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تَذْكِرَةٌ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ticket</a:t>
            </a:r>
            <a:endParaRPr lang="en-US" sz="1350" dirty="0"/>
          </a:p>
          <a:p>
            <a:pPr indent="0" marL="0">
              <a:buNone/>
            </a:pPr>
            <a:r>
              <a:rPr lang="en-US" sz="1100" i="1" dirty="0">
                <a:solidFill>
                  <a:srgbClr val="5A6472"/>
                </a:solidFill>
                <a:latin typeface="Calibri" pitchFamily="34" charset="0"/>
                <a:cs typeface="Amiri" pitchFamily="2" charset="-78"/>
              </a:rPr>
              <a:t>tadh-ki-ra-tun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ذَهَابًا فَقَطْ</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one way</a:t>
            </a:r>
            <a:endParaRPr lang="en-US" sz="1350" dirty="0"/>
          </a:p>
          <a:p>
            <a:pPr indent="0" marL="0">
              <a:buNone/>
            </a:pPr>
            <a:r>
              <a:rPr lang="en-US" sz="1100" i="1" dirty="0">
                <a:solidFill>
                  <a:srgbClr val="5A6472"/>
                </a:solidFill>
                <a:latin typeface="Calibri" pitchFamily="34" charset="0"/>
                <a:cs typeface="Amiri" pitchFamily="2" charset="-78"/>
              </a:rPr>
              <a:t>dha-hā-ban fa-qaṭ</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ذَهَابًا وَإِيَابًا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return</a:t>
            </a:r>
            <a:endParaRPr lang="en-US" sz="1350" dirty="0"/>
          </a:p>
          <a:p>
            <a:pPr indent="0" marL="0">
              <a:buNone/>
            </a:pPr>
            <a:r>
              <a:rPr lang="en-US" sz="1100" i="1" dirty="0">
                <a:solidFill>
                  <a:srgbClr val="5A6472"/>
                </a:solidFill>
                <a:latin typeface="Calibri" pitchFamily="34" charset="0"/>
                <a:cs typeface="Amiri" pitchFamily="2" charset="-78"/>
              </a:rPr>
              <a:t>dha-hā-ban wa-ʾi-yā-ban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مَحَطَّةُ الحَافِلَاتِ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bus station</a:t>
            </a:r>
            <a:endParaRPr lang="en-US" sz="1350" dirty="0"/>
          </a:p>
          <a:p>
            <a:pPr indent="0" marL="0">
              <a:buNone/>
            </a:pPr>
            <a:r>
              <a:rPr lang="en-US" sz="1100" i="1" dirty="0">
                <a:solidFill>
                  <a:srgbClr val="5A6472"/>
                </a:solidFill>
                <a:latin typeface="Calibri" pitchFamily="34" charset="0"/>
                <a:cs typeface="Amiri" pitchFamily="2" charset="-78"/>
              </a:rPr>
              <a:t>ma-ḥaṭ-ṭa-tu al-ḥā-fi-lā-ti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مَحَطَّةُ القِطَارِ</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train station</a:t>
            </a:r>
            <a:endParaRPr lang="en-US" sz="1350" dirty="0"/>
          </a:p>
          <a:p>
            <a:pPr indent="0" marL="0">
              <a:buNone/>
            </a:pPr>
            <a:r>
              <a:rPr lang="en-US" sz="1100" i="1" dirty="0">
                <a:solidFill>
                  <a:srgbClr val="5A6472"/>
                </a:solidFill>
                <a:latin typeface="Calibri" pitchFamily="34" charset="0"/>
                <a:cs typeface="Amiri" pitchFamily="2" charset="-78"/>
              </a:rPr>
              <a:t>ma-ḥaṭ-ṭa-tu al-qi-ṭā-ri</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Stations and tickets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رَصِيفٌ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platform</a:t>
            </a:r>
            <a:endParaRPr lang="en-US" sz="1350" dirty="0"/>
          </a:p>
          <a:p>
            <a:pPr indent="0" marL="0">
              <a:buNone/>
            </a:pPr>
            <a:r>
              <a:rPr lang="en-US" sz="1100" i="1" dirty="0">
                <a:solidFill>
                  <a:srgbClr val="5A6472"/>
                </a:solidFill>
                <a:latin typeface="Calibri" pitchFamily="34" charset="0"/>
                <a:cs typeface="Amiri" pitchFamily="2" charset="-78"/>
              </a:rPr>
              <a:t>ra-ṣī-fun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خَطٌّ</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line / route</a:t>
            </a:r>
            <a:endParaRPr lang="en-US" sz="1350" dirty="0"/>
          </a:p>
          <a:p>
            <a:pPr indent="0" marL="0">
              <a:buNone/>
            </a:pPr>
            <a:r>
              <a:rPr lang="en-US" sz="1100" i="1" dirty="0">
                <a:solidFill>
                  <a:srgbClr val="5A6472"/>
                </a:solidFill>
                <a:latin typeface="Calibri" pitchFamily="34" charset="0"/>
                <a:cs typeface="Amiri" pitchFamily="2" charset="-78"/>
              </a:rPr>
              <a:t>khaṭ-ṭun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مَوْعِدُ المُغَادَرَةِ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departure time</a:t>
            </a:r>
            <a:endParaRPr lang="en-US" sz="1350" dirty="0"/>
          </a:p>
          <a:p>
            <a:pPr indent="0" marL="0">
              <a:buNone/>
            </a:pPr>
            <a:r>
              <a:rPr lang="en-US" sz="1100" i="1" dirty="0">
                <a:solidFill>
                  <a:srgbClr val="5A6472"/>
                </a:solidFill>
                <a:latin typeface="Calibri" pitchFamily="34" charset="0"/>
                <a:cs typeface="Amiri" pitchFamily="2" charset="-78"/>
              </a:rPr>
              <a:t>maw-ʿi-du al-mu-ghā-da-ra-ti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مَوْعِدُ الوُصُولِ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arrival time</a:t>
            </a:r>
            <a:endParaRPr lang="en-US" sz="1350" dirty="0"/>
          </a:p>
          <a:p>
            <a:pPr indent="0" marL="0">
              <a:buNone/>
            </a:pPr>
            <a:r>
              <a:rPr lang="en-US" sz="1100" i="1" dirty="0">
                <a:solidFill>
                  <a:srgbClr val="5A6472"/>
                </a:solidFill>
                <a:latin typeface="Calibri" pitchFamily="34" charset="0"/>
                <a:cs typeface="Amiri" pitchFamily="2" charset="-78"/>
              </a:rPr>
              <a:t>maw-ʿi-du al-wu-ṣū-li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THREE WAYS TO TRAVEL (WEBSITE RULES +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By bus, on a bike, on foot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بِـ · عَلَى · مَشْيًا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7610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7" name="Text 14"/>
          <p:cNvSpPr txBox="1"/>
          <p:nvPr/>
        </p:nvSpPr>
        <p:spPr>
          <a:xfrm>
            <a:off x="63185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 go … / to a boy</a:t>
            </a:r>
            <a:endParaRPr lang="en-US" sz="1100" dirty="0"/>
          </a:p>
        </p:txBody>
      </p:sp>
      <p:sp>
        <p:nvSpPr>
          <p:cNvPr id="18" name="Text 15"/>
          <p:cNvSpPr txBox="1"/>
          <p:nvPr/>
        </p:nvSpPr>
        <p:spPr>
          <a:xfrm>
            <a:off x="26609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goes … / to a girl</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994392" y="2267712"/>
            <a:ext cx="164592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بِـ</a:t>
            </a:r>
            <a:endParaRPr lang="ar-SA" sz="2400" dirty="0"/>
          </a:p>
        </p:txBody>
      </p:sp>
      <p:sp>
        <p:nvSpPr>
          <p:cNvPr id="22" name="Text 19"/>
          <p:cNvSpPr txBox="1"/>
          <p:nvPr/>
        </p:nvSpPr>
        <p:spPr>
          <a:xfrm>
            <a:off x="6336792" y="2267712"/>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أَذْهَبُ </a:t>
            </a:r>
            <a:pPr rtl="1" algn="ctr" indent="0" marL="0">
              <a:buNone/>
            </a:pPr>
            <a:r>
              <a:rPr lang="ar-SA" altLang="en-US" sz="2400" b="1" dirty="0">
                <a:solidFill>
                  <a:srgbClr val="0E7C86"/>
                </a:solidFill>
                <a:latin typeface="Amiri" pitchFamily="2" charset="-78"/>
                <a:cs typeface="Amiri" pitchFamily="2" charset="-78"/>
              </a:rPr>
              <a:t>بِالحَافِلَةِ</a:t>
            </a:r>
            <a:endParaRPr lang="ar-SA" sz="2400" dirty="0"/>
          </a:p>
        </p:txBody>
      </p:sp>
      <p:sp>
        <p:nvSpPr>
          <p:cNvPr id="23" name="Text 20"/>
          <p:cNvSpPr txBox="1"/>
          <p:nvPr/>
        </p:nvSpPr>
        <p:spPr>
          <a:xfrm>
            <a:off x="2679192" y="2267712"/>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تَ</a:t>
            </a:r>
            <a:pPr rtl="1" algn="ctr" indent="0" marL="0">
              <a:buNone/>
            </a:pPr>
            <a:r>
              <a:rPr lang="ar-SA" altLang="en-US" sz="2400" b="1" dirty="0">
                <a:solidFill>
                  <a:srgbClr val="1B3B6F"/>
                </a:solidFill>
                <a:latin typeface="Amiri" pitchFamily="2" charset="-78"/>
                <a:cs typeface="Amiri" pitchFamily="2" charset="-78"/>
              </a:rPr>
              <a:t>ذْهَبُ </a:t>
            </a:r>
            <a:pPr rtl="1" algn="ctr" indent="0" marL="0">
              <a:buNone/>
            </a:pPr>
            <a:r>
              <a:rPr lang="ar-SA" altLang="en-US" sz="2400" b="1" dirty="0">
                <a:solidFill>
                  <a:srgbClr val="0E7C86"/>
                </a:solidFill>
                <a:latin typeface="Amiri" pitchFamily="2" charset="-78"/>
                <a:cs typeface="Amiri" pitchFamily="2" charset="-78"/>
              </a:rPr>
              <a:t>بِالقِطَارِ</a:t>
            </a:r>
            <a:endParaRPr lang="ar-SA" sz="2400" dirty="0"/>
          </a:p>
        </p:txBody>
      </p:sp>
      <p:sp>
        <p:nvSpPr>
          <p:cNvPr id="24" name="Text 21"/>
          <p:cNvSpPr txBox="1"/>
          <p:nvPr/>
        </p:nvSpPr>
        <p:spPr>
          <a:xfrm>
            <a:off x="566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994392" y="3054096"/>
            <a:ext cx="164592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عَلَى</a:t>
            </a:r>
            <a:endParaRPr lang="ar-SA" sz="2400" dirty="0"/>
          </a:p>
        </p:txBody>
      </p:sp>
      <p:sp>
        <p:nvSpPr>
          <p:cNvPr id="29" name="Text 26"/>
          <p:cNvSpPr txBox="1"/>
          <p:nvPr/>
        </p:nvSpPr>
        <p:spPr>
          <a:xfrm>
            <a:off x="6336792" y="3054096"/>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أَذْهَبُ </a:t>
            </a:r>
            <a:pPr rtl="1" algn="ctr" indent="0" marL="0">
              <a:buNone/>
            </a:pPr>
            <a:r>
              <a:rPr lang="ar-SA" altLang="en-US" sz="2400" b="1" dirty="0">
                <a:solidFill>
                  <a:srgbClr val="0E7C86"/>
                </a:solidFill>
                <a:latin typeface="Amiri" pitchFamily="2" charset="-78"/>
                <a:cs typeface="Amiri" pitchFamily="2" charset="-78"/>
              </a:rPr>
              <a:t>عَلَى</a:t>
            </a:r>
            <a:pPr rtl="1" algn="ctr" indent="0" marL="0">
              <a:buNone/>
            </a:pPr>
            <a:r>
              <a:rPr lang="ar-SA" altLang="en-US" sz="2400" b="1" dirty="0">
                <a:solidFill>
                  <a:srgbClr val="1B3B6F"/>
                </a:solidFill>
                <a:latin typeface="Amiri" pitchFamily="2" charset="-78"/>
                <a:cs typeface="Amiri" pitchFamily="2" charset="-78"/>
              </a:rPr>
              <a:t> الدَّرَّاجَةِ</a:t>
            </a:r>
            <a:endParaRPr lang="ar-SA" sz="2400" dirty="0"/>
          </a:p>
        </p:txBody>
      </p:sp>
      <p:sp>
        <p:nvSpPr>
          <p:cNvPr id="30" name="Text 27"/>
          <p:cNvSpPr txBox="1"/>
          <p:nvPr/>
        </p:nvSpPr>
        <p:spPr>
          <a:xfrm>
            <a:off x="2679192" y="3054096"/>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تَ</a:t>
            </a:r>
            <a:pPr rtl="1" algn="ctr" indent="0" marL="0">
              <a:buNone/>
            </a:pPr>
            <a:r>
              <a:rPr lang="ar-SA" altLang="en-US" sz="2400" b="1" dirty="0">
                <a:solidFill>
                  <a:srgbClr val="1B3B6F"/>
                </a:solidFill>
                <a:latin typeface="Amiri" pitchFamily="2" charset="-78"/>
                <a:cs typeface="Amiri" pitchFamily="2" charset="-78"/>
              </a:rPr>
              <a:t>ذْهَبُ </a:t>
            </a:r>
            <a:pPr rtl="1" algn="ctr" indent="0" marL="0">
              <a:buNone/>
            </a:pPr>
            <a:r>
              <a:rPr lang="ar-SA" altLang="en-US" sz="2400" b="1" dirty="0">
                <a:solidFill>
                  <a:srgbClr val="0E7C86"/>
                </a:solidFill>
                <a:latin typeface="Amiri" pitchFamily="2" charset="-78"/>
                <a:cs typeface="Amiri" pitchFamily="2" charset="-78"/>
              </a:rPr>
              <a:t>عَلَى</a:t>
            </a:r>
            <a:pPr rtl="1" algn="ctr" indent="0" marL="0">
              <a:buNone/>
            </a:pPr>
            <a:r>
              <a:rPr lang="ar-SA" altLang="en-US" sz="2400" b="1" dirty="0">
                <a:solidFill>
                  <a:srgbClr val="1B3B6F"/>
                </a:solidFill>
                <a:latin typeface="Amiri" pitchFamily="2" charset="-78"/>
                <a:cs typeface="Amiri" pitchFamily="2" charset="-78"/>
              </a:rPr>
              <a:t> الدَّرَّاجَةِ</a:t>
            </a:r>
            <a:endParaRPr lang="ar-SA" sz="2400" dirty="0"/>
          </a:p>
        </p:txBody>
      </p:sp>
      <p:sp>
        <p:nvSpPr>
          <p:cNvPr id="31" name="Text 28"/>
          <p:cNvSpPr txBox="1"/>
          <p:nvPr/>
        </p:nvSpPr>
        <p:spPr>
          <a:xfrm>
            <a:off x="566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994392" y="3840480"/>
            <a:ext cx="164592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مَشْيًا</a:t>
            </a:r>
            <a:endParaRPr lang="ar-SA" sz="2400" dirty="0"/>
          </a:p>
        </p:txBody>
      </p:sp>
      <p:sp>
        <p:nvSpPr>
          <p:cNvPr id="36" name="Text 33"/>
          <p:cNvSpPr txBox="1"/>
          <p:nvPr/>
        </p:nvSpPr>
        <p:spPr>
          <a:xfrm>
            <a:off x="6336792" y="3840480"/>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أَذْهَبُ </a:t>
            </a:r>
            <a:pPr rtl="1" algn="ctr" indent="0" marL="0">
              <a:buNone/>
            </a:pPr>
            <a:r>
              <a:rPr lang="ar-SA" altLang="en-US" sz="2400" b="1" dirty="0">
                <a:solidFill>
                  <a:srgbClr val="0E7C86"/>
                </a:solidFill>
                <a:latin typeface="Amiri" pitchFamily="2" charset="-78"/>
                <a:cs typeface="Amiri" pitchFamily="2" charset="-78"/>
              </a:rPr>
              <a:t>مَشْيًا</a:t>
            </a:r>
            <a:endParaRPr lang="ar-SA" sz="2400" dirty="0"/>
          </a:p>
        </p:txBody>
      </p:sp>
      <p:sp>
        <p:nvSpPr>
          <p:cNvPr id="37" name="Text 34"/>
          <p:cNvSpPr txBox="1"/>
          <p:nvPr/>
        </p:nvSpPr>
        <p:spPr>
          <a:xfrm>
            <a:off x="2679192" y="3840480"/>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تَ</a:t>
            </a:r>
            <a:pPr rtl="1" algn="ctr" indent="0" marL="0">
              <a:buNone/>
            </a:pPr>
            <a:r>
              <a:rPr lang="ar-SA" altLang="en-US" sz="2400" b="1" dirty="0">
                <a:solidFill>
                  <a:srgbClr val="1B3B6F"/>
                </a:solidFill>
                <a:latin typeface="Amiri" pitchFamily="2" charset="-78"/>
                <a:cs typeface="Amiri" pitchFamily="2" charset="-78"/>
              </a:rPr>
              <a:t>ذْهَبُ </a:t>
            </a:r>
            <a:pPr rtl="1" algn="ctr" indent="0" marL="0">
              <a:buNone/>
            </a:pPr>
            <a:r>
              <a:rPr lang="ar-SA" altLang="en-US" sz="2400" b="1" dirty="0">
                <a:solidFill>
                  <a:srgbClr val="0E7C86"/>
                </a:solidFill>
                <a:latin typeface="Amiri" pitchFamily="2" charset="-78"/>
                <a:cs typeface="Amiri" pitchFamily="2" charset="-78"/>
              </a:rPr>
              <a:t>مَشْيًا</a:t>
            </a:r>
            <a:endParaRPr lang="ar-SA" sz="2400" dirty="0"/>
          </a:p>
        </p:txBody>
      </p:sp>
      <p:sp>
        <p:nvSpPr>
          <p:cNvPr id="38" name="Text 35"/>
          <p:cNvSpPr txBox="1"/>
          <p:nvPr/>
        </p:nvSpPr>
        <p:spPr>
          <a:xfrm>
            <a:off x="566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foot</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994392" y="4626864"/>
            <a:ext cx="16459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كَيْفَ …؟</a:t>
            </a:r>
            <a:endParaRPr lang="ar-SA" sz="2400" dirty="0"/>
          </a:p>
        </p:txBody>
      </p:sp>
      <p:sp>
        <p:nvSpPr>
          <p:cNvPr id="43" name="Text 40"/>
          <p:cNvSpPr txBox="1"/>
          <p:nvPr/>
        </p:nvSpPr>
        <p:spPr>
          <a:xfrm>
            <a:off x="6336792" y="4626864"/>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كَيْفَ تَذْهَبُ؟</a:t>
            </a:r>
            <a:endParaRPr lang="ar-SA" sz="2400" dirty="0"/>
          </a:p>
        </p:txBody>
      </p:sp>
      <p:sp>
        <p:nvSpPr>
          <p:cNvPr id="44" name="Text 41"/>
          <p:cNvSpPr txBox="1"/>
          <p:nvPr/>
        </p:nvSpPr>
        <p:spPr>
          <a:xfrm>
            <a:off x="2679192" y="4626864"/>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كَيْفَ تَذْهَبِ</a:t>
            </a:r>
            <a:pPr rtl="1" algn="ctr" indent="0" marL="0">
              <a:buNone/>
            </a:pPr>
            <a:r>
              <a:rPr lang="ar-SA" altLang="en-US" sz="2400" b="1" dirty="0">
                <a:solidFill>
                  <a:srgbClr val="D6336C"/>
                </a:solidFill>
                <a:latin typeface="Amiri" pitchFamily="2" charset="-78"/>
                <a:cs typeface="Amiri" pitchFamily="2" charset="-78"/>
              </a:rPr>
              <a:t>ينَ</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45" name="Text 42"/>
          <p:cNvSpPr txBox="1"/>
          <p:nvPr/>
        </p:nvSpPr>
        <p:spPr>
          <a:xfrm>
            <a:off x="566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(to m. · to f.)</a:t>
            </a:r>
            <a:endParaRPr lang="en-US" sz="11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bi + al-ḥāfila = bil-ḥāfila. Never bi before mashyan.</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WHY, WHEN AND WHICH IS BETTER (TOPIC A: TIME AND COMPARISON)</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Because … at … faster than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لِأَنَّ · فِي السَّاعَةِ · أَسْرَعُ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96012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WHY · CORE</a:t>
            </a:r>
            <a:endParaRPr lang="en-US" sz="850" dirty="0"/>
          </a:p>
        </p:txBody>
      </p:sp>
      <p:sp>
        <p:nvSpPr>
          <p:cNvPr id="18" name="Text 15"/>
          <p:cNvSpPr txBox="1"/>
          <p:nvPr/>
        </p:nvSpPr>
        <p:spPr>
          <a:xfrm>
            <a:off x="9238488"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لِأَنَّهُ / لِأَنَّهَا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cs typeface="Amiri" pitchFamily="2" charset="-78"/>
              </a:rPr>
              <a:t>أُفَضِّلُ القِطَارَ لِأَنَّهُ سَرِيعٌ.</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prefer the train because it is fast.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Train m. → li’annahu.</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WHEN · DEVELOP</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يُغَادِرُ · يَصِلُ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يُغَادِرُ القِطَارُ فِي السَّاعَةِ الثَّامِنَةِ.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train leaves at eight o’clock.</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Time from AT-A-L02.</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COMPARE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أَفْعَلُ مِنْ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cs typeface="Amiri" pitchFamily="2" charset="-78"/>
              </a:rPr>
              <a:t>القِطَارُ أَسْرَعُ مِنَ الحَافِلَةِ.</a:t>
            </a:r>
            <a:endParaRPr lang="ar-SA" sz="28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train is faster than the bus.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Same form for m. and f.</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The reason pronoun matches the vehicle: the car is feminine.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أُفَضِّلُ السَّيَّارَةَ لِأَنَّهَا مُرِيحَةٌ.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أُفَضِّلُ السَّيَّارَةَ لِأَنَّهُ مُرِيحٌ.</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Transport verbs and the correct preposition</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00" b="1" dirty="0">
                <a:solidFill>
                  <a:srgbClr val="8A6D1E"/>
                </a:solidFill>
                <a:latin typeface="Amiri" pitchFamily="2" charset="-78"/>
                <a:cs typeface="Amiri" pitchFamily="2" charset="-78"/>
              </a:rPr>
              <a:t>أَفْعَالُ المُوَاصَلَاتِ وَحَرْفُ الجَرِّ الصَّحِيحُ</a:t>
            </a:r>
            <a:endParaRPr lang="ar-SA" sz="26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Travel by most motorised transport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أَذْهَبُ / أُسَافِرُ + بِـ + وَسِيلَةِ النَّقْلِ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أَذْهَبُ إِلَى المَدْرَسَةِ بِالحَافِلَةِ.   ·   أُسَافِرُ إِلَى لَنْدَنَ بِالقِطَارِ.   ·   نَذْهَبُ إِلَى المَطَارِ بِسَيَّارَةِ أُجْرَةٍ.</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Ride on a bicycle or motorbike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أَرْكَبُ / أَذْهَبُ + عَلَى + الدَّرَّاجَةِ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أَرْكَبُ الدَّرَّاجَةَ.   ·   أَذْهَبُ إِلَى الحَدِيقَةِ عَلَى الدَّرَّاجَةِ.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Say “on foot”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أَذْهَبُ / أَسِيرُ + مَشْيًا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أَذْهَبُ إِلَى المَكْتَبَةِ مَشْيًا.   ·   أَسِيرُ مَشْيًا لِمُدَّةِ عَشْرِ دَقَائِقَ.</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Ask and answer how someone travels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كَيْفَ تُسَافِرُ؟ / كَيْفَ تَذْهَبُ؟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كَيْفَ تَذْهَبُ إِلَى المَدْرَسَةِ؟   ·   كَيْفَ تَذْهَبِينَ إِلَى المَدْرَسَةِ؟   ·   أَذْهَبُ بِالمِتْرُو.</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go by bus.”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أَذْهَبُ عَلَى الحَافِلَةِ.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أَذْهَبُ مَشْيًا الحَافِلَةَ.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أَذْهَبُ بِالحَافِلَةِ.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go on foot.”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أَذْهَبُ مَشْيًا.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أَذْهَبُ بِالمَشْيِ.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أَذْهَبُ عَلَى المَشْيِ.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correct for bicycle travel?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بِالدَّرَّاجَةِ</a:t>
            </a:r>
            <a:pPr algn="l" indent="0" marL="0">
              <a:buNone/>
            </a:pPr>
            <a:r>
              <a:rPr lang="en-US" sz="1250" dirty="0">
                <a:solidFill>
                  <a:srgbClr val="1F2A37"/>
                </a:solidFill>
                <a:latin typeface="Calibri" pitchFamily="34" charset="0"/>
                <a:cs typeface="Amiri" pitchFamily="2" charset="-78"/>
              </a:rPr>
              <a:t> only</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cs typeface="Amiri" pitchFamily="2" charset="-78"/>
              </a:rPr>
              <a:t>عَلَى الدَّرَّاجَةِ</a:t>
            </a:r>
            <a:endParaRPr lang="ar-SA" sz="220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cs typeface="Amiri" pitchFamily="2" charset="-78"/>
              </a:rPr>
              <a:t>مَشْيًا الدَّرَّاجَةَ</a:t>
            </a:r>
            <a:endParaRPr lang="ar-SA" sz="220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how she goes to school.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تَذْهَبِينَ إِلَى المَدْرَسَةِ؟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تَذْهَبُ إِلَى المَدْرَسَةِ؟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 تَذْهَبِينَ؟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go by bus.”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أَذْهَبُ عَلَى الحَافِلَةِ.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أَذْهَبُ مَشْيًا الحَافِلَةَ.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أَذْهَبُ بِالحَافِلَةِ.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with a bus.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go on foot.”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أَذْهَبُ مَشْيًا.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أَذْهَبُ بِالمَشْيِ.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أَذْهَبُ عَلَى المَشْيِ.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مَشْيًا</a:t>
            </a:r>
            <a:pPr algn="l" indent="0" marL="0">
              <a:buNone/>
            </a:pPr>
            <a:r>
              <a:rPr lang="en-US" sz="1050" i="1" dirty="0">
                <a:solidFill>
                  <a:srgbClr val="8A6D1E"/>
                </a:solidFill>
                <a:latin typeface="Calibri" pitchFamily="34" charset="0"/>
                <a:cs typeface="Amiri" pitchFamily="2" charset="-78"/>
              </a:rPr>
              <a:t> is used without a preposition.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correct for bicycle travel?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بِالدَّرَّاجَةِ</a:t>
            </a:r>
            <a:pPr algn="l" indent="0" marL="0">
              <a:buNone/>
            </a:pPr>
            <a:r>
              <a:rPr lang="en-US" sz="1250" dirty="0">
                <a:solidFill>
                  <a:srgbClr val="9AA1AB"/>
                </a:solidFill>
                <a:latin typeface="Calibri" pitchFamily="34" charset="0"/>
                <a:cs typeface="Amiri" pitchFamily="2" charset="-78"/>
              </a:rPr>
              <a:t> only</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2" charset="-78"/>
                <a:cs typeface="Amiri" pitchFamily="2" charset="-78"/>
              </a:rPr>
              <a:t>عَلَى الدَّرَّاجَةِ</a:t>
            </a:r>
            <a:endParaRPr lang="ar-SA" sz="22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cs typeface="Amiri" pitchFamily="2" charset="-78"/>
              </a:rPr>
              <a:t>مَشْيًا الدَّرَّاجَةَ</a:t>
            </a:r>
            <a:endParaRPr lang="ar-SA" sz="22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plan teaches </a:t>
            </a:r>
            <a:pPr algn="l" indent="0" marL="0">
              <a:buNone/>
            </a:pPr>
            <a:r>
              <a:rPr lang="ar-SA" altLang="en-US" sz="1350" dirty="0">
                <a:solidFill>
                  <a:srgbClr val="8A6D1E"/>
                </a:solidFill>
                <a:latin typeface="Amiri" pitchFamily="2" charset="-78"/>
                <a:cs typeface="Amiri" pitchFamily="2" charset="-78"/>
              </a:rPr>
              <a:t>عَلَى الدَّرَّاجَةِ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how she goes to school.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كَيْفَ تَذْهَبِينَ إِلَى المَدْرَسَةِ؟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كَيْفَ تَذْهَبُ إِلَى المَدْرَسَةِ؟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أَيْنَ تَذْهَبِينَ؟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singular addressee form ends </a:t>
            </a:r>
            <a:pPr algn="l" indent="0" marL="0">
              <a:buNone/>
            </a:pPr>
            <a:r>
              <a:rPr lang="ar-SA" altLang="en-US" sz="1350" dirty="0">
                <a:solidFill>
                  <a:srgbClr val="8A6D1E"/>
                </a:solidFill>
                <a:latin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explain a journey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How</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cs typeface="Amiri" pitchFamily="2" charset="-78"/>
              </a:rPr>
              <a:t>أَذْهَبُ إِلَى المَدْرَسَةِ </a:t>
            </a:r>
            <a:pPr rtl="1" algn="ctr" indent="0" marL="0">
              <a:lnSpc>
                <a:spcPct val="120000"/>
              </a:lnSpc>
              <a:buNone/>
            </a:pPr>
            <a:r>
              <a:rPr lang="ar-SA" altLang="en-US" sz="1850" b="1" dirty="0">
                <a:solidFill>
                  <a:srgbClr val="0E7C86"/>
                </a:solidFill>
                <a:latin typeface="Amiri" pitchFamily="2" charset="-78"/>
                <a:cs typeface="Amiri" pitchFamily="2" charset="-78"/>
              </a:rPr>
              <a:t>بِالحَافِلَةِ</a:t>
            </a:r>
            <a:pPr rtl="1" algn="ctr" indent="0" marL="0">
              <a:lnSpc>
                <a:spcPct val="120000"/>
              </a:lnSpc>
              <a:buNone/>
            </a:pPr>
            <a:r>
              <a:rPr lang="ar-SA" altLang="en-US" sz="1850" b="1" dirty="0">
                <a:solidFill>
                  <a:srgbClr val="1B3B6F"/>
                </a:solidFill>
                <a:latin typeface="Amiri" pitchFamily="2" charset="-78"/>
                <a:cs typeface="Amiri" pitchFamily="2" charset="-78"/>
              </a:rPr>
              <a:t>.</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Bus → bi-.</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تُغَادِرُ الحَافِلَةُ فِي السَّاعَةِ السَّابِعَةِ وَالنِّصْفِ.</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Bus is f. → tughādiru.</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Someone else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cs typeface="Amiri" pitchFamily="2" charset="-78"/>
              </a:rPr>
              <a:t>أَمَّا أَخِي فَيَذْهَبُ </a:t>
            </a:r>
            <a:pPr rtl="1" algn="ctr" indent="0" marL="0">
              <a:lnSpc>
                <a:spcPct val="120000"/>
              </a:lnSpc>
              <a:buNone/>
            </a:pPr>
            <a:r>
              <a:rPr lang="ar-SA" altLang="en-US" sz="1850" b="1" dirty="0">
                <a:solidFill>
                  <a:srgbClr val="0E7C86"/>
                </a:solidFill>
                <a:latin typeface="Amiri" pitchFamily="2" charset="-78"/>
                <a:cs typeface="Amiri" pitchFamily="2" charset="-78"/>
              </a:rPr>
              <a:t>عَلَى</a:t>
            </a:r>
            <a:pPr rtl="1" algn="ctr" indent="0" marL="0">
              <a:lnSpc>
                <a:spcPct val="120000"/>
              </a:lnSpc>
              <a:buNone/>
            </a:pPr>
            <a:r>
              <a:rPr lang="ar-SA" altLang="en-US" sz="1850" b="1" dirty="0">
                <a:solidFill>
                  <a:srgbClr val="1B3B6F"/>
                </a:solidFill>
                <a:latin typeface="Amiri" pitchFamily="2" charset="-78"/>
                <a:cs typeface="Amiri" pitchFamily="2" charset="-78"/>
              </a:rPr>
              <a:t> الدَّرَّاجَةِ.</a:t>
            </a:r>
            <a:endParaRPr lang="ar-SA" sz="18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Bike → ‘alā.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الحَافِلَةُ </a:t>
            </a:r>
            <a:pPr rtl="1" algn="ctr" indent="0" marL="0">
              <a:lnSpc>
                <a:spcPct val="120000"/>
              </a:lnSpc>
              <a:buNone/>
            </a:pPr>
            <a:r>
              <a:rPr lang="ar-SA" altLang="en-US" sz="1750" b="1" dirty="0">
                <a:solidFill>
                  <a:srgbClr val="C77700"/>
                </a:solidFill>
                <a:latin typeface="Amiri" pitchFamily="2" charset="-78"/>
                <a:cs typeface="Amiri" pitchFamily="2" charset="-78"/>
              </a:rPr>
              <a:t>أَسْرَعُ مِنَ</a:t>
            </a:r>
            <a:pPr rtl="1" algn="ctr" indent="0" marL="0">
              <a:lnSpc>
                <a:spcPct val="120000"/>
              </a:lnSpc>
              <a:buNone/>
            </a:pPr>
            <a:r>
              <a:rPr lang="ar-SA" altLang="en-US" sz="1750" b="1" dirty="0">
                <a:solidFill>
                  <a:srgbClr val="1B3B6F"/>
                </a:solidFill>
                <a:latin typeface="Amiri" pitchFamily="2" charset="-78"/>
                <a:cs typeface="Amiri" pitchFamily="2" charset="-78"/>
              </a:rPr>
              <a:t> الدَّرَّاجَةِ، وَلٰكِنَّ الدَّرَّاجَةَ أَرْخَصُ.</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faster than … cheaper.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BY / ON</a:t>
            </a:r>
            <a:endParaRPr lang="en-US" sz="800" dirty="0"/>
          </a:p>
        </p:txBody>
      </p:sp>
      <p:sp>
        <p:nvSpPr>
          <p:cNvPr id="47" name="Shape 43"/>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COMPARE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أَذْهَبُ إِلَى المَدْرَسَةِ </a:t>
            </a:r>
            <a:pPr rtl="1" algn="r" indent="0" marL="0">
              <a:lnSpc>
                <a:spcPct val="120000"/>
              </a:lnSpc>
              <a:buNone/>
            </a:pPr>
            <a:r>
              <a:rPr lang="ar-SA" altLang="en-US" sz="1400" b="1" dirty="0">
                <a:solidFill>
                  <a:srgbClr val="0E7C86"/>
                </a:solidFill>
                <a:latin typeface="Amiri" pitchFamily="2" charset="-78"/>
                <a:cs typeface="Amiri" pitchFamily="2" charset="-78"/>
              </a:rPr>
              <a:t>بِالحَافِلَةِ</a:t>
            </a:r>
            <a:pPr rtl="1" algn="r" indent="0" marL="0">
              <a:lnSpc>
                <a:spcPct val="120000"/>
              </a:lnSpc>
              <a:buNone/>
            </a:pPr>
            <a:r>
              <a:rPr lang="ar-SA" altLang="en-US" sz="1400" b="1" dirty="0">
                <a:solidFill>
                  <a:srgbClr val="1B3B6F"/>
                </a:solidFill>
                <a:latin typeface="Amiri" pitchFamily="2" charset="-78"/>
                <a:cs typeface="Amiri" pitchFamily="2" charset="-78"/>
              </a:rPr>
              <a:t> لِأَنَّ بَيْتِي بَعِيدٌ. تُغَادِرُ الحَافِلَةُ فِي السَّاعَةِ السَّابِعَةِ وَالنِّصْفِ. أَمَّا أَخِي فَيَذْهَبُ </a:t>
            </a:r>
            <a:pPr rtl="1" algn="r" indent="0" marL="0">
              <a:lnSpc>
                <a:spcPct val="120000"/>
              </a:lnSpc>
              <a:buNone/>
            </a:pPr>
            <a:r>
              <a:rPr lang="ar-SA" altLang="en-US" sz="1400" b="1" dirty="0">
                <a:solidFill>
                  <a:srgbClr val="0E7C86"/>
                </a:solidFill>
                <a:latin typeface="Amiri" pitchFamily="2" charset="-78"/>
                <a:cs typeface="Amiri" pitchFamily="2" charset="-78"/>
              </a:rPr>
              <a:t>عَلَى</a:t>
            </a:r>
            <a:pPr rtl="1" algn="r" indent="0" marL="0">
              <a:lnSpc>
                <a:spcPct val="120000"/>
              </a:lnSpc>
              <a:buNone/>
            </a:pPr>
            <a:r>
              <a:rPr lang="ar-SA" altLang="en-US" sz="1400" b="1" dirty="0">
                <a:solidFill>
                  <a:srgbClr val="1B3B6F"/>
                </a:solidFill>
                <a:latin typeface="Amiri" pitchFamily="2" charset="-78"/>
                <a:cs typeface="Amiri" pitchFamily="2" charset="-78"/>
              </a:rPr>
              <a:t> الدَّرَّاجَةِ، وَأُخْتِي تَذْهَبُ </a:t>
            </a:r>
            <a:pPr rtl="1" algn="r" indent="0" marL="0">
              <a:lnSpc>
                <a:spcPct val="120000"/>
              </a:lnSpc>
              <a:buNone/>
            </a:pPr>
            <a:r>
              <a:rPr lang="ar-SA" altLang="en-US" sz="1400" b="1" dirty="0">
                <a:solidFill>
                  <a:srgbClr val="0E7C86"/>
                </a:solidFill>
                <a:latin typeface="Amiri" pitchFamily="2" charset="-78"/>
                <a:cs typeface="Amiri" pitchFamily="2" charset="-78"/>
              </a:rPr>
              <a:t>مَشْيًا</a:t>
            </a:r>
            <a:pPr rtl="1" algn="r" indent="0" marL="0">
              <a:lnSpc>
                <a:spcPct val="120000"/>
              </a:lnSpc>
              <a:buNone/>
            </a:pPr>
            <a:r>
              <a:rPr lang="ar-SA" altLang="en-US" sz="1400" b="1" dirty="0">
                <a:solidFill>
                  <a:srgbClr val="1B3B6F"/>
                </a:solidFill>
                <a:latin typeface="Amiri" pitchFamily="2" charset="-78"/>
                <a:cs typeface="Amiri" pitchFamily="2" charset="-78"/>
              </a:rPr>
              <a:t>. الحَافِلَةُ </a:t>
            </a:r>
            <a:pPr rtl="1" algn="r" indent="0" marL="0">
              <a:lnSpc>
                <a:spcPct val="120000"/>
              </a:lnSpc>
              <a:buNone/>
            </a:pPr>
            <a:r>
              <a:rPr lang="ar-SA" altLang="en-US" sz="1400" b="1" dirty="0">
                <a:solidFill>
                  <a:srgbClr val="C77700"/>
                </a:solidFill>
                <a:latin typeface="Amiri" pitchFamily="2" charset="-78"/>
                <a:cs typeface="Amiri" pitchFamily="2" charset="-78"/>
              </a:rPr>
              <a:t>أَسْرَعُ مِنَ</a:t>
            </a:r>
            <a:pPr rtl="1" algn="r" indent="0" marL="0">
              <a:lnSpc>
                <a:spcPct val="120000"/>
              </a:lnSpc>
              <a:buNone/>
            </a:pPr>
            <a:r>
              <a:rPr lang="ar-SA" altLang="en-US" sz="1400" b="1" dirty="0">
                <a:solidFill>
                  <a:srgbClr val="1B3B6F"/>
                </a:solidFill>
                <a:latin typeface="Amiri" pitchFamily="2" charset="-78"/>
                <a:cs typeface="Amiri" pitchFamily="2" charset="-78"/>
              </a:rPr>
              <a:t> الدَّرَّاجَةِ، وَلٰكِنَّ الدَّرَّاجَةَ أَرْخَصُ.</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go to school by bus because my house is far. The bus leaves at half past seven. As for my brother, he goes by bike, and my sister walks. The bus is faster than the bike, but the bike is cheaper.</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أَذْهَبُ إِلَى المَدْرَسَةِ بِالحَافِلَةِ.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go to school by bus.</a:t>
            </a:r>
            <a:endParaRPr lang="en-US" sz="1250" dirty="0"/>
          </a:p>
          <a:p>
            <a:pPr indent="0" marL="0">
              <a:buNone/>
            </a:pPr>
            <a:r>
              <a:rPr lang="en-US" sz="1050" i="1" dirty="0">
                <a:solidFill>
                  <a:srgbClr val="8A6D1E"/>
                </a:solidFill>
                <a:latin typeface="Calibri" pitchFamily="34" charset="0"/>
                <a:cs typeface="Amiri" pitchFamily="2" charset="-78"/>
              </a:rPr>
              <a:t>Use بِـ with the bus.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أَذْهَبُ إِلَى الحَدِيقَةِ عَلَى الدَّرَّاجَةِ.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go to the park by bicycle.</a:t>
            </a:r>
            <a:endParaRPr lang="en-US" sz="1250" dirty="0"/>
          </a:p>
          <a:p>
            <a:pPr indent="0" marL="0">
              <a:buNone/>
            </a:pPr>
            <a:r>
              <a:rPr lang="en-US" sz="1050" i="1" dirty="0">
                <a:solidFill>
                  <a:srgbClr val="8A6D1E"/>
                </a:solidFill>
                <a:latin typeface="Calibri" pitchFamily="34" charset="0"/>
                <a:cs typeface="Amiri" pitchFamily="2" charset="-78"/>
              </a:rPr>
              <a:t>Use عَلَى with a bicycle.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أَذْهَبُ إِلَى المَكْتَبَةِ مَشْيًا.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walk to the library.</a:t>
            </a:r>
            <a:endParaRPr lang="en-US" sz="1250" dirty="0"/>
          </a:p>
          <a:p>
            <a:pPr indent="0" marL="0">
              <a:buNone/>
            </a:pPr>
            <a:r>
              <a:rPr lang="en-US" sz="1050" i="1" dirty="0">
                <a:solidFill>
                  <a:srgbClr val="8A6D1E"/>
                </a:solidFill>
                <a:latin typeface="Calibri" pitchFamily="34" charset="0"/>
                <a:cs typeface="Amiri" pitchFamily="2" charset="-78"/>
              </a:rPr>
              <a:t>No preposition before مَشْيًا.</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كَيْفَ تَذْهَبِينَ إِلَى المَدْرَسَةِ؟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How do you (f) go to school?</a:t>
            </a:r>
            <a:endParaRPr lang="en-US" sz="1250" dirty="0"/>
          </a:p>
          <a:p>
            <a:pPr indent="0" marL="0">
              <a:buNone/>
            </a:pPr>
            <a:r>
              <a:rPr lang="en-US" sz="1050" i="1" dirty="0">
                <a:solidFill>
                  <a:srgbClr val="8A6D1E"/>
                </a:solidFill>
                <a:latin typeface="Calibri" pitchFamily="34" charset="0"/>
                <a:cs typeface="Amiri" pitchFamily="2" charset="-78"/>
              </a:rPr>
              <a:t>The feminine addressee form ends ـينَ.</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TRANSPORT: TYPES AND HOW WE TRAVEL”</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How do they travel? Match the picture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وَسَائِلُ النَّقْلِ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bus</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bicycle</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walking</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أَذْهَبُ مَاشِيًا.</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أَذْهَبُ بِالحَافِلَةِ.</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أَذْهَبُ بِالدَّرَّاجَةِ.</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وَسَائِلُ النَّقْلِ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bus</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أَذْهَبُ بِالحَافِلَةِ.</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go by bus.</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bicycle</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أَذْهَبُ بِالدَّرَّاجَةِ.</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go by bicycle.</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walking</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أَذْهَبُ مَاشِيًا.</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go on foot.</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travel pattern?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القِطَارُ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الحَافِلَةُ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الطَّائِرَةُ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سَيَّارَةُ أُجْرَةٍ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الدَّرَّاجَةُ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الدَّرَّاجَةُ النَّارِيَّةُ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عَلَى القَدَمَيْنِ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مَشْيًا</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بِـ · by</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عَلَى · on</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مَشْيًا · on foot</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بِـ · by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القِطَارُ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الحَافِلَةُ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الطَّائِرَةُ</a:t>
            </a:r>
            <a:endParaRPr lang="ar-SA" sz="1800" dirty="0"/>
          </a:p>
        </p:txBody>
      </p:sp>
      <p:sp>
        <p:nvSpPr>
          <p:cNvPr id="24" name="Shape 21"/>
          <p:cNvSpPr/>
          <p:nvPr/>
        </p:nvSpPr>
        <p:spPr>
          <a:xfrm>
            <a:off x="8232648" y="3913632"/>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913632"/>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سَيَّارَةُ أُجْرَةٍ</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عَلَى · on</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الدَّرَّاجَةُ</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الدَّرَّاجَةُ النَّارِيَّةُ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مَشْيًا · on foot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عَلَى القَدَمَيْنِ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مَشْيًا</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boy how he travels.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تُسَافِرِينَ؟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أُسَافِرُ؟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تُسَافِرُ؟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نَذْهَبُ إِلَى المَطَارِ ___ سَيَّارَةِ أُجْرَةٍ.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مَشْيًا</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“he drives”?</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يَرْكَبُ</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يَقُودُ</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يَسِيرُ</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public transport?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مَحَطَّةٌ قَدِيمَةٌ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رِحْلَةٌ قَصِيرَةٌ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مَوَاصَلَاتٌ عَامَّةٌ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boy how he travels.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كَيْفَ تُسَافِرِينَ؟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كَيْفَ أُسَافِرُ؟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كَيْفَ تُسَافِرُ؟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تُسَافِرُ</a:t>
            </a:r>
            <a:pPr algn="l" indent="0" marL="0">
              <a:buNone/>
            </a:pPr>
            <a:r>
              <a:rPr lang="en-US" sz="1050" i="1" dirty="0">
                <a:solidFill>
                  <a:srgbClr val="8A6D1E"/>
                </a:solidFill>
                <a:latin typeface="Calibri" pitchFamily="34" charset="0"/>
                <a:cs typeface="Amiri" pitchFamily="2" charset="-78"/>
              </a:rPr>
              <a:t> addresses one male person.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نَذْهَبُ إِلَى المَطَارِ ___ سَيَّارَةِ أُجْرَةٍ.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مَشْيًا</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with a taxi.</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“he drives”?</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يَرْكَبُ</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يَقُودُ</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يَسِيرُ</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يَقُودُ</a:t>
            </a:r>
            <a:pPr algn="l" indent="0" marL="0">
              <a:buNone/>
            </a:pPr>
            <a:r>
              <a:rPr lang="en-US" sz="1050" i="1" dirty="0">
                <a:solidFill>
                  <a:srgbClr val="8A6D1E"/>
                </a:solidFill>
                <a:latin typeface="Calibri" pitchFamily="34" charset="0"/>
                <a:cs typeface="Amiri" pitchFamily="2" charset="-78"/>
              </a:rPr>
              <a:t> means drives.</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public transport?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مَحَطَّةٌ قَدِيمَةٌ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رِحْلَةٌ قَصِيرَةٌ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مَوَاصَلَاتٌ عَامَّةٌ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مَوَاصَلَاتٌ عَامَّةٌ</a:t>
            </a:r>
            <a:pPr algn="l" indent="0" marL="0">
              <a:buNone/>
            </a:pPr>
            <a:r>
              <a:rPr lang="en-US" sz="1050" i="1" dirty="0">
                <a:solidFill>
                  <a:srgbClr val="8A6D1E"/>
                </a:solidFill>
                <a:latin typeface="Calibri" pitchFamily="34" charset="0"/>
                <a:cs typeface="Amiri" pitchFamily="2" charset="-78"/>
              </a:rPr>
              <a:t> means public transport.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أُسَافِرُ عَلَى القِطَارِ.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Train: which little word?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أَذْهَبُ بِمَشْيًا.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On foot: is a preposition needed?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كَيْفَ تَذْهَبُ؟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Asking a girl: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أُسَافِرُ عَلَى القِطَارِ.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أُسَافِرُ بِالقِطَارِ.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 with the train.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أَذْهَبُ بِمَشْيًا.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أَذْهَبُ مَشْيًا.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مَشْيًا</a:t>
            </a:r>
            <a:pPr algn="l" indent="0" marL="0">
              <a:buNone/>
            </a:pPr>
            <a:r>
              <a:rPr lang="en-US" sz="1150" b="1" dirty="0">
                <a:solidFill>
                  <a:srgbClr val="1B3B6F"/>
                </a:solidFill>
                <a:latin typeface="Calibri" pitchFamily="34" charset="0"/>
                <a:cs typeface="Amiri" pitchFamily="2" charset="-78"/>
              </a:rPr>
              <a:t> needs no preposition.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كَيْفَ تَذْهَبُ؟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كَيْفَ تَذْهَبِينَ؟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feminine singular ending when addressing a girl.</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does each person travel?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Sarah go to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bus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bicycle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foot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Sarah use that transport?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 is cheap.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likes the driver.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home is far.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Ali go?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train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taxi</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bicycle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family travel at weekends?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train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plane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ferry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mother prefer the car?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fast.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comfortable.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cheap.</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بِالحَافِلَةِ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عَلَى الدَّرَّاجَةِ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بِالقِطَارِ</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تَذْهَبُ سَارَةُ إِلَى المَدْرَسَةِ بِالحَافِلَةِ لِأَنَّ بَيْتَهَا بَعِيدٌ.</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Sarah goes to school by bus because her house is far.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أَمَّا أَخُوهَا عَلِيٌّ فَيَذْهَبُ عَلَى الدَّرَّاجَةِ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her brother Ali, he goes by bike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لِأَنَّ المَدْرَسَةَ قَرِيبَةٌ مِنْ بَيْتِهِ.</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the school is near his house.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نِهَايَةِ الأُسْبُوعِ تُسَافِرُ الأُسْرَةُ إِلَى المَدِينَةِ بِالقِطَارِ.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weekend the family travels to the city by train.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يُفَضِّلُ الأَبُ القِطَارَ لِأَنَّهُ سَرِيعٌ، وَلٰكِنَّ الأُمَّ تُفَضِّلُ السَّيَّارَةَ لِأَنَّهَا مُرِيحَةٌ.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father prefers the train because it is fast, but the mother prefers the car because it is comfortable.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Sarah go to school?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bus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bicycle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foot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تَذْهَبُ ... بِالحَافِلَةِ.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Sarah use that transport?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bus is cheap.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likes the driver.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home is far.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لِأَنَّ بَيْتَهَا بَعِيدٌ.</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Ali go?</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train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taxi</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bicycle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يَذْهَبُ عَلَى الدَّرَّاجَةِ.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family travel at weekends?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train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plane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ferry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تُسَافِرُ الأُسْرَةُ بِالقِطَارِ.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mother prefer the car?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fast.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comfortable.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cheap.</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لِأَنَّهَا مُرِيحَةٌ.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بِالحَافِلَةِ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عَلَى الدَّرَّاجَةِ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بِالقِطَارِ</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Journey planner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Journey planner</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Use a timetable and map to choose a route, compare two transport options and explain the journey using times, prepositions and direction language.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Goal: school to the city library before 10:00. Timetable on the right.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choose a route and a transport option.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Compare two options: faster / cheaper / more comfortable.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Explain the journey on the mic: transport, times, “then”, and why.</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Choose one option. Say: “adhhabu bil-… · fī s-sā‘a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departure and arrival time and one reason (li’annahu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Compare two options (asra‘u min … / arkhaṣu min …) and add walking from the station.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بِالحَافِلَةِ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bus · £2 · leaves 8:30, arrives 9:20</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بِالقِطَارِ</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train · £5 · leaves 9:00, arrives 9:25</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عَلَى الدَّرَّاجَةِ</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bike · free · 8:15 to 9:45</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مَشْيًا مِنَ المَحَطَّةِ</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walk from the station: 10 min</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Transport survey and journey comparison</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تَذْهَبُ إِلَى المَدْرَسَةِ؟</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تُسَافِرُ إِلَى مَدِينَةٍ أُخْرَى؟</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يَقُودُ السَّيَّارَةَ فِي أُسْرَتِكَ؟</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وَسِيلَةُ النَّقْلِ الَّتِي تُفَضِّلُهَا؟ وَلِمَاذَا؟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أَذْهَبُ إِلَى المَدْرَسَةِ بِـ ___ / مَشْيًا.</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أُسَافِرُ بِـ ___ لِأَنَّهُ / لِأَنَّهَا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___ يَقُودُ السَّيَّارَةَ.</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أُفَضِّلُ ___ لِأَنَّهُ أَسْرَعُ / أَرْخَصُ مِنْ ___ .</a:t>
            </a:r>
            <a:endParaRPr lang="ar-SA" sz="155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كَيْفَ تَذْهَبِينَ إِلَى المَدْرَسَةِ؟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do you (f.) go to school?</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أَذْهَبُ بِالحَافِلَةِ، وَلٰكِنِّي أَعُودُ مَشْيًا أَحْيَانًا.</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go by bus, but sometimes I come back on foot.</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Core: four accurate journey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How you, a brother and a sister go to school — one with bi-, one with ‘alā, one with mashyan.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Develop: compare three journeys with reasons.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departure time and one “because it is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70–90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compare how three people travel.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yastaqillu or yaqūdu, a he and a she verb, a comparison (asra‘u min …) and a time.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تَذْهَبِينَ إِلَى المَدْرَسَةِ؟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do you (f.) go to school?</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لِأَنَّهُ سَرِيعٌ / لِأَنَّهَا رَخِيصَةٌ.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because it is fast / cheap.</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يُغَادِرُ القِطَارُ فِي السَّاعَةِ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train leaves 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يَصِلُ فِي السَّاعَةِ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arrives at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القِطَارُ أَسْرَعُ مِنَ الحَافِلَةِ.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train is faster than the bus.</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أَذْهَبُ إِلَى المَدْرَسَةِ بِالحَافِلَةِ.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go to school by bus.</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أَذْهَبُ عَلَى الدَّرَّاجَةِ.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go by bike.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أَذْهَبُ مَشْيًا.</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go on foot.</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أَخِي يَذْهَبُ بِـ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brother goes by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أُخْتِي تَذْهَبُ بِـ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goes by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حَافِلَةٌ  ·  قِطَارٌ  ·  سَيَّارَةٌ  ·  دَرَّاجَةٌ  ·  طَائِرَةٌ  ·  مِتْرُو  ·  بِـ  ·  عَلَى  ·  مَشْيًا  ·  سَرِيعٌ  ·  رَخِيصٌ  ·  مُرِيحٌ</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70–90 Arabic words comparing how three people travel.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three different transport types.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cs typeface="Amiri" pitchFamily="2" charset="-78"/>
              </a:rPr>
              <a:t>بِـ</a:t>
            </a:r>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cs typeface="Amiri" pitchFamily="2" charset="-78"/>
              </a:rPr>
              <a:t>عَلَى</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cs typeface="Amiri" pitchFamily="2" charset="-78"/>
              </a:rPr>
              <a:t>مَشْيًا</a:t>
            </a:r>
            <a:pPr algn="l" indent="0" marL="0">
              <a:buNone/>
            </a:pPr>
            <a:r>
              <a:rPr lang="en-US" sz="1200" dirty="0">
                <a:solidFill>
                  <a:srgbClr val="1F2A37"/>
                </a:solidFill>
                <a:latin typeface="Calibri" pitchFamily="34" charset="0"/>
                <a:cs typeface="Amiri" pitchFamily="2" charset="-78"/>
              </a:rPr>
              <a:t>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one male and one female third-person verb.</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two justified opinions and sequence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أَسْكُنُ خَارِجَ المَدِينَةِ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live outside the city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أَسْتَقِلُّ الحَافِلَةَ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take the bus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أَبِي يَقُودُ السَّيَّارَةَ إِلَى العَمَلِ</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father drives the car to work</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عِنْدَمَا يُسَافِرُ إِلَى مَدِينَةٍ أُخْرَى</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when he travels to another city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لِأَنَّ المَشْيَ صِحِّيٌّ</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walking is healthy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أَذْهَبُ إِلَى المَدْرَسَةِ بِالحَافِلَةِ كُلَّ يَوْمٍ لِأَنَّ بَيْتِي بَعِيدٌ. أَمَّا أُخْتِي فَتَذْهَبُ عَلَى الدَّرَّاجَةِ لِأَنَّ مَدْرَسَتَهَا قَرِيبَةٌ. أَبِي يَقُودُ السَّيَّارَةَ إِلَى العَمَلِ، ثُمَّ يَسْتَقِلُّ القِطَارَ عِنْدَمَا يَزُورُ مَدِينَةً أُخْرَى. أُفَضِّلُ القِطَارَ لِأَنَّهُ سَرِيعٌ وَمُرِيحٌ، وَلٰكِنِّي أَسِيرُ مَشْيًا فِي الحَيِّ لِأَنَّ المَشْيَ صِحِّيٌّ.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go to school by bus every day because my house is far. As for my sister, she goes by bike because her school is near. My father drives the car to work, then takes the train when he visits another city. I prefer the train because it is fast and comfortable, but I walk in the neighbourhood because walking is healthy.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bi- with a vehicle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‘alā with a bike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she-verb</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reason with because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Vehicles take bi-; bikes take ‘alā.</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 little word before mashyan.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reason pronoun matches the vehicle (-hu / -hā).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a time (leaves / arrives at …).</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compared two options with … min.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أُسَافِرُ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القِطَارِ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أَذْهَبُ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الدَّرَّاجَةِ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مَشْيًا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a female listener how she travels?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تُسَافِرِينَ؟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تُسَافِرُ؟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يُسَافِرُ؟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أُسَافِرُ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القِطَارِ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with train.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أَذْهَبُ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الدَّرَّاجَةِ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بِـ</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عَلَى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مَشْيًا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with bicycle.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a female listener how she travels?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كَيْفَ تُسَافِرِينَ؟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كَيْفَ تُسَافِرُ؟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كَيْفَ يُسَافِرُ؟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addressee form ends </a:t>
            </a:r>
            <a:pPr algn="l" indent="0" marL="0">
              <a:buNone/>
            </a:pPr>
            <a:r>
              <a:rPr lang="ar-SA" altLang="en-US" sz="1350" dirty="0">
                <a:solidFill>
                  <a:srgbClr val="8A6D1E"/>
                </a:solidFill>
                <a:latin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journeys to the city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أَنَا طَالِبٌ وَأَسْكُنُ خَارِجَ المَدِينَةِ. كُلَّ صَبَاحٍ أَسِيرُ مَشْيًا إِلَى مَحَطَّةِ الحَافِلَاتِ، ثُمَّ أَسْتَقِلُّ الحَافِلَةَ إِلَى المَدْرَسَةِ. أُخْتِي تَدْرُسُ فِي الجَامِعَةِ وَتَذْهَبُ بِالمِتْرُو. أَبِي يَقُودُ السَّيَّارَةَ إِلَى العَمَلِ، وَلٰكِنَّهُ يَسْتَقِلُّ القِطَارَ عِنْدَمَا يُسَافِرُ إِلَى مَدِينَةٍ أُخْرَى. فِي العُطْلَةِ نُحِبُّ السَّفَرَ بِالعَبَّارَةِ.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أَسْكُنُ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live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خَارِجَ المَدِينَةِ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outside the city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كُلَّ صَبَاحٍ</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every morning</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أَسِيرُ مَشْيًا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walk</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مَحَطَّةِ الحَافِلَاتِ</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bus station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أَسْتَقِلُّ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take (transport)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الجَامِعَةِ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university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يَقُودُ</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drives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العُطْلَةِ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holiday</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بِالعَبَّارَةِ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by ferry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the writer live?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city centre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outside the city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to school</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before taking the bus?</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rides a bicycle</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takes the metro</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walks to the station</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his sister go to university?</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metro</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bus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car</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drives to work?</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sister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father</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father use the train?</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travelling to another city</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morning</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during the holiday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transport does the family like in holidays?</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tram</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taxi</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ferry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the writer live?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city centre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outside the city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next to school</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cs typeface="Amiri" pitchFamily="2" charset="-78"/>
              </a:rPr>
              <a:t>أَسْكُنُ خَارِجَ المَدِينَةِ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before taking the bus?</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rides a bicycle</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takes the metro</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walks to the station</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أَسِيرُ مَشْيًا إِلَى مَحَطَّةِ الحَافِلَاتِ.</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his sister go to university?</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metro</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bus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car</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تَذْهَبُ بِالمِتْرُو.</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drives to work?</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sister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his father</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أَبِي يَقُودُ السَّيَّارَةَ.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father use the train?</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when travelling to another city</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morning</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during the holiday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عِنْدَمَا يُسَافِرُ إِلَى مَدِينَةٍ أُخْرَى.</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transport does the family like in holidays?</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tram</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taxi</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ferry</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نُحِبُّ السَّفَرَ بِالعَبَّارَةِ.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Travel and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Before AT-A-L10: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AT-A-L10 · Reading and Listening Exam Skills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أَتَوَقَّعُ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predict</a:t>
            </a:r>
            <a:pPr indent="0" marL="0">
              <a:buNone/>
            </a:pPr>
            <a:r>
              <a:rPr lang="en-US" sz="1000" i="1" dirty="0">
                <a:solidFill>
                  <a:srgbClr val="5A6472"/>
                </a:solidFill>
                <a:latin typeface="Calibri" pitchFamily="34" charset="0"/>
                <a:cs typeface="Amiri" pitchFamily="2" charset="-78"/>
              </a:rPr>
              <a:t>  he: يَتَوَقَّعُ</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كَلِمَةٌ مِفْتَاحِيَّةٌ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key word</a:t>
            </a:r>
            <a:pPr indent="0" marL="0">
              <a:buNone/>
            </a:pPr>
            <a:r>
              <a:rPr lang="en-US" sz="1000" i="1" dirty="0">
                <a:solidFill>
                  <a:srgbClr val="5A6472"/>
                </a:solidFill>
                <a:latin typeface="Calibri" pitchFamily="34" charset="0"/>
                <a:cs typeface="Amiri" pitchFamily="2" charset="-78"/>
              </a:rPr>
              <a:t>  pl.: كَلِمَاتٌ مِفْتَاحِيَّةٌ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أُرَكِّزُ عَلَى</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focus on</a:t>
            </a:r>
            <a:pPr indent="0" marL="0">
              <a:buNone/>
            </a:pPr>
            <a:r>
              <a:rPr lang="en-US" sz="1000" i="1" dirty="0">
                <a:solidFill>
                  <a:srgbClr val="5A6472"/>
                </a:solidFill>
                <a:latin typeface="Calibri" pitchFamily="34" charset="0"/>
                <a:cs typeface="Amiri" pitchFamily="2" charset="-78"/>
              </a:rPr>
              <a:t>  he: يُرَكِّزُ</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مُشَتِّتٌ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distractor</a:t>
            </a:r>
            <a:pPr indent="0" marL="0">
              <a:buNone/>
            </a:pPr>
            <a:r>
              <a:rPr lang="en-US" sz="1000" i="1" dirty="0">
                <a:solidFill>
                  <a:srgbClr val="5A6472"/>
                </a:solidFill>
                <a:latin typeface="Calibri" pitchFamily="34" charset="0"/>
                <a:cs typeface="Amiri" pitchFamily="2" charset="-78"/>
              </a:rPr>
              <a:t>  pl.: مُشَتِّتَاتٌ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التَّفْصِيلُ الدَّقِيقُ</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precise detail</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When you listen to Arabic, what helps you most? Think of two strategies.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مَاذَا يُسَاعِدُكَ فِي الاِسْتِمَاعِ؟</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AT-A-L09: the picture game and the sorter “Which travel pattern?”.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6 sentences about how your family travels, with reasons and a time.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70–90 words comparing how three people travel.</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mbria" pitchFamily="34" charset="0"/>
                <a:cs typeface="Amiri" pitchFamily="2" charset="-78"/>
              </a:rPr>
              <a:t>AT-A-L10 · Reading and Listening Exam Skills</a:t>
            </a:r>
            <a:endParaRPr lang="en-US" sz="22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مَهَارَاتُ الْقِرَاءَةِ وَالِاسْتِمَاعِ لِلِامْتِحَانِ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exam-strategy words + your best listening tip.</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AT-A-L09 · Travel and Transport for Everyday Journeys</dc:title>
  <dc:subject>PptxGenJS Presentation</dc:subject>
  <dc:creator>Al Madina Online School · Arabic Department</dc:creator>
  <cp:lastModifiedBy>Al Madina Online School · Arabic Department</cp:lastModifiedBy>
  <cp:revision>1</cp:revision>
  <dcterms:created xsi:type="dcterms:W3CDTF">2026-10-11T06:43:45Z</dcterms:created>
  <dcterms:modified xsi:type="dcterms:W3CDTF">2026-10-11T06:43:45Z</dcterms:modified>
</cp:coreProperties>
</file>