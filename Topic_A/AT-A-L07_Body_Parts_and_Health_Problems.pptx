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ADVANCED TOPIC A · AT-A-L07 — Body Parts and Health Problems. Website: Advanced Topics › Topic A (Everyday Activities) › Lesson 7.
The website builds this lesson on the F5-L07 lesson engine, with the Topic focus “Name body parts, describe symptoms and explain how you feel.” (grammar: Possessive suffixes; عند; symptoms and duration; skills: Listening · Speaking) and the application challenge “Symptom detective”. This deck follows the same engine, re-sequenced for Topic A: lesson references now point to Topic A codes (lessons outside Topic A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A › Lesson 7 (AT-A-L07), lesson engine Pathways › Foundation › F5 › AT-A-L07 (symptom language from F5 lesson 8). The website lesson “The Body and Its Parts”: vocabulary, grammar rules and quiz, patterns, common mistakes, sorter, listening, reading, speaking prompts and model, writing task and model, differentiation, final check and the lesson mission. Picture match: website visual game “The Body and Its Parts”.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Two halves: the body (website AT-A-L07 engine) and what is wrong with it (Topic A focus: symptoms and duration, from the website F5 lesson 8 page). Core: 8 face and head words + “this is my …” + “I have a headache / pain in my …”. Develop: هٰذَا / هٰذِهِ by gender, duals (عَيْنَانِ), and مُنْذُ + time. Stretch: describe a problem in 4–5 connected sentences with duration and a cause, and ask a follow-up question.
• Gender surprise: يَدٌ، عَيْنٌ، أُذُنٌ، رِجْلٌ، قَدَمٌ are feminine without ـة (website common error). Teach them with هٰذِهِ.
• Sensitivity: invented patients only — never ask students about their own medical history.
• Links: AT-A-L06 (healthy habits → advice next lesson); AT-A-L02 time words return in مُنْذُ يَوْمَيْنِ / مُنْذُ أُسْبُوعٍ.
• Urdu bridge: جسم، قلب، صدر، حلق، بخار (not Arabic), زکام ← زُكَامٌ، درد (Persian) / أَلَمٌ.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body words prepared at home at the end of AT-A-L06. Questions 3–4 retrieve AT-A-L06 (rich in, advice). Question 5 previews today’s duration phrase.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Add -ī for “my”: ra’s → ra’sī (my head). Say what is wrong with ‘indī (I have) + since how long with mundhu.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جسم، قلب and زکام are the same words. صدر in Urdu means “president” / “chest” (سینہ is everyday Urdu). CAREFUL: fever is بخار in Urdu (Persian) — Arabic is حُمَّى.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Head and face (website vocabulary (1 of 2)). Hear → Say → See → Use. Transliteration is printed for Core students (cover it for Develop/Stretch).
Every card: gender (هٰذَا / هٰذِهِ) and “my …” or the “two” form. Eyes and ears are feminine and come in twos: عَيْنَانِ، أُذُنَانِ.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Head and face (website vocabulary (2 of 2)). Hear → Say → See → Use. Transliteration is printed for Core students (cover it for Develop/Stretch).
Every card: gender (هٰذَا / هٰذِهِ) and “my …” or the “two” form. Eyes and ears are feminine and come in twos: عَيْنَانِ، أُذُنَانِ.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Upper body (website vocabulary (1 of 2)). Hear → Say → See → Use. Transliteration is printed for Core students (cover it for Develop/Stretch).
FLEX: teach if time allows; otherwise these are on the website vocabulary tab for homework.
FLEX: upper body. يَدٌ and ذِرَاعٌ are feminine. قَلْبٌ and مَعِدَةٌ return in the listening and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Upper body (website vocabulary (2 of 2)). Hear → Say → See → Use. Transliteration is printed for Core students (cover it for Develop/Stretch).
FLEX: teach if time allows; otherwise these are on the website vocabulary tab for homework.
FLEX: upper body. يَدٌ and ذِرَاعٌ are feminine. قَلْبٌ and مَعِدَةٌ return in the listening and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Lower body and structure (website vocabulary (1 of 2)). Hear → Say → See → Use. Transliteration is printed for Core students (cover it for Develop/Stretch).
FLEX: teach if time allows; otherwise these are on the website vocabulary tab for homework.
FLEX: lower body. رِجْلٌ and قَدَمٌ are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Lower body and structure (website vocabulary (2 of 2)). Hear → Say → See → Use. Transliteration is printed for Core students (cover it for Develop/Stretch).
FLEX: teach if time allows; otherwise these are on the website vocabulary tab for homework.
FLEX: lower body. رِجْلٌ and قَدَمٌ are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Body actions (website vocabulary). Hear → Say → See → Use. Transliteration is printed for Core students (cover it for Develop/Stretch).
FLEX: teach if time allows; otherwise these are on the website vocabulary tab for homework.
FLEX: actions — they appear in the listening (أَرَى بِعَيْنَيَّ، أَسْمَعُ بِأُذُنَيَّ).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A KEY WORDS — symptoms from the website F5 lesson 8 vocabulary (“Common symptoms”). The Topic A page lists “possessive suffixes; عِنْد; symptoms and duration” for this lesson, so these six are CORE today.
Every card shows the “I have …” sentence. أَلَمٌ فِي + body part + ـي (my): عِنْدِي أَلَمٌ فِي رَأْسِي. Other website symptoms for homework: أَلَمُ الأَسْنَانِ (toothache), حَسَاسِيَّةٌ (allergy), غَثَيَانٌ (nausea), دُوَارٌ (dizziness).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“Use هٰذَا with masculine nouns”, “Use هٰذِهِ with feminine nouns”, “Form the dual” (ـَانِ) and “Add the possessive ending” (ـِي = my), and the website gender table.
Website common error: do not choose هٰذَا just because there is no ـة: هٰذِهِ يَدِي ✓ (هٰذَا يَدِي ✗).
Quick-fire: point to a part of your face on camera; students type هٰذَا or هٰذِهِ.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(Topic A) — website F5 lesson 8 rules “Locate pain” (عِنْدِي أَلَمٌ فِي + جُزْءِ الجِسْمِ), “Name an illness directly” (عِنْدِي صُدَاعٌ)، “Agree with the speaker” (مَرِيضٌ / مَرِيضَةٌ) and “Add duration” (مُنْذُ أَمْسِ · مُنْذُ يَوْمَيْنِ · مُنْذُ أُسْبُوعٍ).
عِنْدَ + pronoun is the Topic A grammar point: عِنْدِي (I have), عِنْدَهُ (he has), عِنْدَهَا (she has) — Develop uses it to report a partner in the challenge.
Stretch: يُؤْلِمُنِي + masculine body part / تُؤْلِمُنِي + feminine or plural (تُؤْلِمُنِي أَسْنَانِي، يُؤْلِمُنِي رَأْسِي).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“The lesson-plan grammar focus is choosing the correct demonstrative for the grammatical gender of a body part and using the dual form for paired body parts.”
• Use هٰذَا with masculine nouns: Use هٰذَا with masculine body-part nouns.
• Use هٰذِهِ with feminine nouns: Some body-part nouns are grammatically feminine even without ـة.
• Form the dual: Paired body parts often use the dual rather than the number اثنان.
• Add the possessive ending: The ending ـي means “my”.
Website common error: Do not choose هٰذَا only by looking for ـة. يَدٌ، عَيْنٌ and أُذُنٌ are feminine: هٰذِهِ يَدِي.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the website AT-A-L07 pattern (هٰذَا رَأْسِي، وَهٰذِهِ يَدِي) joined to the F5 lesson 8 patterns (عِنْدِي صُدَاعٌ · مُنْذُ يَوْمَيْنِ). Then re-say it as a girl: مَرِيضَةٌ.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The Body and Its Parts”)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هٰذِهِ for the hand? (يَدٌ is feminine). Other cards for homework: هٰذِهِ أُذُنٌ، هٰذَا سِنٌّ، هٰذِهِ سَاقٌ.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The Body and Its Parts”)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هٰذِهِ for the hand? (يَدٌ is feminine). Other cards for homework: هٰذِهِ أُذُنٌ، هٰذَا سِنٌّ، هٰذِهِ سَاقٌ.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the body noun by the demonstrative it takes.
Then: say each one with “my” — رَأْسِي، يَدِي، عَيْنِي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the body noun by the demonstrative it takes.
Then: say each one with “my” — رَأْسِي، يَدِي، عَيْنِي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and 2. Develop / Stretch: all 4.
Listen 1: just listen. Listen 2: note answers. Then chat the letters.
Support: after the second listening, show the read-along slide (Arabic + English, line by line) for Core students.
SCRIPT (read aloud):
أَرَى بِعَيْنَيَّ، وَأَسْمَعُ بِأُذُنَيَّ. أَشُمُّ بِأَنْفِي، وَآكُلُ بِفَمِي. أَكْتُبُ بِيَدِي اليُمْنَى، وَأَرْكُضُ بِرِجْلَيَّ وَقَدَمَيَّ. عِنْدَمَا أَتَعَبُ، أَضَعُ يَدِي عَلَى صَدْرِي وَأَتَنَفَّسُ بِعُمْقٍ.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A APPLICATION CHALLENGE (3 min — it takes the speaking-rehearsal slot; the website speaking slide after it is FLEX) — from the website Topic page: “Describe a health problem without naming it. Partners identify the symptom, body part and likely duration, then ask one sensible follow-up question.”
Secret problems to send (private chat): صُدَاعٌ مُنْذُ أَمْسِ · أَلَمٌ فِي الحَلْقِ مُنْذُ يَوْمَيْنِ · أَلَمُ المَعِدَةِ مُنْذُ الصَّبَاحِ · سُعَالٌ مُنْذُ أُسْبُوعٍ · أَلَمٌ فِي الرِّجْلِ مُنْذُ ثَلَاثَةِ أَيَّامٍ · زُكَامٌ مُنْذُ أُسْبُوعٍ. Model clue: عِنْدِي أَلَمٌ فِي رَأْسِي مُنْذُ أَمْسِ. → صُدَاعٌ!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FLEX — the Topic A challenge before this slide is the main speaking task; use these website prompts if time allows or as homework rehearsal.
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أ: وَمَا هٰذَا؟ (And what is this?)
ب: هٰذَا كَتِفٌ. (This is a shoulder.)
Website prompts 1–3 (body). The symptom prompts (مَا بِكَ؟ “what’s wrong with you?”, مُنْذُ مَتَى؟) are teacher-added from the website F5 lesson 8 vocabulary for the Topic A 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Label twelve body parts with a word bank and select the correct demonstrative. · Develop — Explain the function of six body parts in complete sentences. · Stretch — Produce a short science-style explanation using duals, plurals and purpose phrases لِـ.
Website writing task (Stretch): Write 7–8 sentences describing the body and what selected parts do. Include four possessive forms, two dual forms and two action verbs.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هٰذَا رَأْسِي · هٰذِهِ يَدِي · عَيْنَانِ وَأُذُنَانِ · أَرَى / أَسْمَعُ / أَكْتُبُ / أَمْشِي. Topic A extension: add one sentence with عِنْدِي + symptom + مُنْذُ.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(AT-A-L08 · Doctor, Pharmacy and Advice) will spend class time USING this language, so students prepare it tonight — short, simple, easy to access (school guidance: “Simple, Short, Interesting, Relevant, Easy to access”). The five words come from the website AT-A-L08 vocabulary (the AT-A-L08 lesson engine).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A  ·  AT-A-L07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AT-A-L07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cs typeface="Amiri" pitchFamily="2" charset="-78"/>
              </a:rPr>
              <a:t>Body Parts and Health Problems</a:t>
            </a:r>
            <a:endParaRPr lang="en-US" sz="34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أَجْزَاءُ الْجِسْمِ وَالْمُشْكِلَاتُ الصِّحِّيَّةُ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Name body parts, describe symptoms and explain how you feel.</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AT-A-L07 · Advanced Topic A · Everyday Activities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A › AT-A-L07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Body words with this (m./f.), then I have … / pain in my … / since …</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masculine / feminine,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AT-A-L08.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رَأْسٌ</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hand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head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eye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عَيْنَانِ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eyes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eye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hands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التَّمْرُ غَنِيٌّ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الحَدِيدِ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advice.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المَاءَ.</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مَاءٌ.</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أَنْ نَشْرَبَ المَاءَ.</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مُنْذُ يَوْمَيْنِ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two days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two days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days ago</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رَأْسٌ</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hand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head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eye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(AT-A-L06).</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عَيْنَانِ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 eyes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eye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hands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(AT-A-L06).</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التَّمْرُ غَنِيٌّ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الحَدِيدِ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AT-A-L06: rich in + bi-.</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advice.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المَاءَ.</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مَاءٌ.</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يَجِبُ أَنْ نَشْرَبَ المَاءَ.</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AT-A-L06: healthy habits.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مُنْذُ يَوْمَيْنِ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for two days</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two days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days ago</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New today — guess from </a:t>
            </a:r>
            <a:pPr algn="l" indent="0" marL="0">
              <a:buNone/>
            </a:pPr>
            <a:r>
              <a:rPr lang="ar-SA" altLang="en-US" sz="1350" dirty="0">
                <a:solidFill>
                  <a:srgbClr val="8A6D1E"/>
                </a:solidFill>
                <a:latin typeface="Amiri" pitchFamily="2" charset="-78"/>
                <a:ea typeface="Amiri" pitchFamily="2" charset="-78"/>
                <a:cs typeface="Amiri" pitchFamily="2" charset="-78"/>
              </a:rPr>
              <a:t>يَوْمٌ</a:t>
            </a:r>
            <a:pPr algn="l" indent="0" marL="0">
              <a:buNone/>
            </a:pPr>
            <a:r>
              <a:rPr lang="en-US" sz="1050" i="1" dirty="0">
                <a:solidFill>
                  <a:srgbClr val="8A6D1E"/>
                </a:solidFill>
                <a:latin typeface="Calibri" pitchFamily="34" charset="0"/>
                <a:cs typeface="Amiri" pitchFamily="2" charset="-78"/>
              </a:rPr>
              <a:t> (AT-A-L02).</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Add -ī for “my”: ra’s → ra’sī (my head). Say what is wrong with ‘indī (I have) + since how long with mundhu.</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رَأْسِ</a:t>
            </a:r>
            <a:pPr rtl="1" algn="ctr" indent="0" marL="0">
              <a:buNone/>
            </a:pPr>
            <a:r>
              <a:rPr lang="ar-SA" altLang="en-US" sz="2400" b="1" dirty="0">
                <a:solidFill>
                  <a:srgbClr val="D6336C"/>
                </a:solidFill>
                <a:latin typeface="Amiri" pitchFamily="2" charset="-78"/>
                <a:ea typeface="Amiri" pitchFamily="2" charset="-78"/>
                <a:cs typeface="Amiri" pitchFamily="2" charset="-78"/>
              </a:rPr>
              <a:t>ي</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1D5FBF"/>
                </a:solidFill>
                <a:latin typeface="Amiri" pitchFamily="2" charset="-78"/>
                <a:ea typeface="Amiri" pitchFamily="2" charset="-78"/>
                <a:cs typeface="Amiri" pitchFamily="2" charset="-78"/>
              </a:rPr>
              <a:t>عِنْدِي</a:t>
            </a:r>
            <a:pPr rtl="1" algn="ctr" indent="0" marL="0">
              <a:buNone/>
            </a:pPr>
            <a:r>
              <a:rPr lang="ar-SA" altLang="en-US" sz="2400" b="1" dirty="0">
                <a:solidFill>
                  <a:srgbClr val="1B3B6F"/>
                </a:solidFill>
                <a:latin typeface="Amiri" pitchFamily="2" charset="-78"/>
                <a:ea typeface="Amiri" pitchFamily="2" charset="-78"/>
                <a:cs typeface="Amiri" pitchFamily="2" charset="-78"/>
              </a:rPr>
              <a:t> صُدَاعٌ </a:t>
            </a:r>
            <a:pPr rtl="1" algn="ctr" indent="0" marL="0">
              <a:buNone/>
            </a:pPr>
            <a:r>
              <a:rPr lang="ar-SA" altLang="en-US" sz="2400" b="1" dirty="0">
                <a:solidFill>
                  <a:srgbClr val="0E7C86"/>
                </a:solidFill>
                <a:latin typeface="Amiri" pitchFamily="2" charset="-78"/>
                <a:ea typeface="Amiri" pitchFamily="2" charset="-78"/>
                <a:cs typeface="Amiri" pitchFamily="2" charset="-78"/>
              </a:rPr>
              <a:t>مُنْذُ</a:t>
            </a:r>
            <a:pPr rtl="1" algn="ctr" indent="0" marL="0">
              <a:buNone/>
            </a:pPr>
            <a:r>
              <a:rPr lang="ar-SA" altLang="en-US" sz="2400" b="1" dirty="0">
                <a:solidFill>
                  <a:srgbClr val="1B3B6F"/>
                </a:solidFill>
                <a:latin typeface="Amiri" pitchFamily="2" charset="-78"/>
                <a:ea typeface="Amiri" pitchFamily="2" charset="-78"/>
                <a:cs typeface="Amiri" pitchFamily="2" charset="-78"/>
              </a:rPr>
              <a:t> أَمْسِ</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and name major external body parts.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ea typeface="Amiri" pitchFamily="2" charset="-78"/>
                <a:cs typeface="Amiri" pitchFamily="2" charset="-78"/>
              </a:rPr>
              <a:t>هٰذَا / هٰذِهِ</a:t>
            </a:r>
            <a:pPr algn="l" indent="0" marL="0">
              <a:buNone/>
            </a:pPr>
            <a:r>
              <a:rPr lang="en-US" sz="1300" dirty="0">
                <a:solidFill>
                  <a:srgbClr val="1F2A37"/>
                </a:solidFill>
                <a:latin typeface="Calibri" pitchFamily="34" charset="0"/>
                <a:cs typeface="Amiri" pitchFamily="2" charset="-78"/>
              </a:rPr>
              <a:t> and possessive suffixes with body nouns.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common dual forms for paired body parts.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simple statements about seeing, hearing, smelling, touching and movement.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8 parts of the head and face.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“I have a headache” and “pain in my …”.</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choose this (m.) / this (f.) and use “two” forms.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how long: since yesterday / for two days.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describe a health problem in connected sentences.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ask a follow-up question (since when? where exactly?).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31 body words from the website in 4 groups, plus 6 symptoms (Topic A). Core: head and face + the six symptoms. Upper body, lower body and actions are FLEX / homework.</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Head and face · 8</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Upper body · 9</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Lower body and structure · 8</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4</a:t>
            </a:r>
            <a:endParaRPr lang="en-US" sz="900" dirty="0"/>
          </a:p>
          <a:p>
            <a:pPr indent="0" marL="0">
              <a:buNone/>
            </a:pPr>
            <a:r>
              <a:rPr lang="en-US" sz="1200" b="1" dirty="0">
                <a:solidFill>
                  <a:srgbClr val="FFFFFF"/>
                </a:solidFill>
                <a:latin typeface="Calibri" pitchFamily="34" charset="0"/>
                <a:cs typeface="Amiri" pitchFamily="2" charset="-78"/>
              </a:rPr>
              <a:t>Body actions · 6</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جِسْمٌ</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‎جسم‎ </a:t>
            </a:r>
            <a:pPr indent="0" marL="0">
              <a:buNone/>
            </a:pPr>
            <a:r>
              <a:rPr lang="en-US" sz="950" b="1" dirty="0">
                <a:solidFill>
                  <a:srgbClr val="2E8B57"/>
                </a:solidFill>
                <a:latin typeface="Calibri" pitchFamily="34" charset="0"/>
                <a:cs typeface="Amiri" pitchFamily="2" charset="-78"/>
              </a:rPr>
              <a:t> jism · body</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قَلْبٌ</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‎قلب‎ </a:t>
            </a:r>
            <a:pPr indent="0" marL="0">
              <a:buNone/>
            </a:pPr>
            <a:r>
              <a:rPr lang="en-US" sz="950" b="1" dirty="0">
                <a:solidFill>
                  <a:srgbClr val="2E8B57"/>
                </a:solidFill>
                <a:latin typeface="Calibri" pitchFamily="34" charset="0"/>
                <a:cs typeface="Amiri" pitchFamily="2" charset="-78"/>
              </a:rPr>
              <a:t> qalb · heart</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صَدْرٌ</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‎صدر / سینہ‎ </a:t>
            </a:r>
            <a:pPr indent="0" marL="0">
              <a:buNone/>
            </a:pPr>
            <a:r>
              <a:rPr lang="en-US" sz="950" b="1" dirty="0">
                <a:solidFill>
                  <a:srgbClr val="2E8B57"/>
                </a:solidFill>
                <a:latin typeface="Calibri" pitchFamily="34" charset="0"/>
                <a:cs typeface="Amiri" pitchFamily="2" charset="-78"/>
              </a:rPr>
              <a:t> ṣadr · chest</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زُكَامٌ</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‎زکام‎ </a:t>
            </a:r>
            <a:pPr indent="0" marL="0">
              <a:buNone/>
            </a:pPr>
            <a:r>
              <a:rPr lang="en-US" sz="950" b="1" dirty="0">
                <a:solidFill>
                  <a:srgbClr val="2E8B57"/>
                </a:solidFill>
                <a:latin typeface="Calibri" pitchFamily="34" charset="0"/>
                <a:cs typeface="Amiri" pitchFamily="2" charset="-78"/>
              </a:rPr>
              <a:t> zukām · a cold</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حُمَّى</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‎بخار‎ </a:t>
            </a:r>
            <a:pPr indent="0" marL="0">
              <a:buNone/>
            </a:pPr>
            <a:r>
              <a:rPr lang="en-US" sz="950" b="1" dirty="0">
                <a:solidFill>
                  <a:srgbClr val="2E8B57"/>
                </a:solidFill>
                <a:latin typeface="Calibri" pitchFamily="34" charset="0"/>
                <a:cs typeface="Amiri" pitchFamily="2" charset="-78"/>
              </a:rPr>
              <a:t> ḥummā · fever (not cognate)</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Head and face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m. · هٰذَا</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رَأْسٌ</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head</a:t>
            </a:r>
            <a:endParaRPr lang="en-US" sz="1350" dirty="0"/>
          </a:p>
          <a:p>
            <a:pPr indent="0" marL="0">
              <a:buNone/>
            </a:pPr>
            <a:r>
              <a:rPr lang="en-US" sz="1100" i="1" dirty="0">
                <a:solidFill>
                  <a:srgbClr val="5A6472"/>
                </a:solidFill>
                <a:latin typeface="Calibri" pitchFamily="34" charset="0"/>
                <a:cs typeface="Amiri" pitchFamily="2" charset="-78"/>
              </a:rPr>
              <a:t>raʾ-sun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رُؤُوسٌ</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رَأْسِي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m. · هٰذَا</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وَجْهٌ</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face</a:t>
            </a:r>
            <a:endParaRPr lang="en-US" sz="1350" dirty="0"/>
          </a:p>
          <a:p>
            <a:pPr indent="0" marL="0">
              <a:buNone/>
            </a:pPr>
            <a:r>
              <a:rPr lang="en-US" sz="1100" i="1" dirty="0">
                <a:solidFill>
                  <a:srgbClr val="5A6472"/>
                </a:solidFill>
                <a:latin typeface="Calibri" pitchFamily="34" charset="0"/>
                <a:cs typeface="Amiri" pitchFamily="2" charset="-78"/>
              </a:rPr>
              <a:t>waj-hun</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وُجُوهٌ</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وَجْهِي</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one · two · pl</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عَيْنٌ / عَيْنَانِ</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eye / two eyes</a:t>
            </a:r>
            <a:endParaRPr lang="en-US" sz="1350" dirty="0"/>
          </a:p>
          <a:p>
            <a:pPr indent="0" marL="0">
              <a:buNone/>
            </a:pPr>
            <a:r>
              <a:rPr lang="en-US" sz="1100" i="1" dirty="0">
                <a:solidFill>
                  <a:srgbClr val="5A6472"/>
                </a:solidFill>
                <a:latin typeface="Calibri" pitchFamily="34" charset="0"/>
                <a:cs typeface="Amiri" pitchFamily="2" charset="-78"/>
              </a:rPr>
              <a:t>ʿay-nun / ʿay-nā-ni</a:t>
            </a:r>
            <a:endParaRPr lang="en-US" sz="1350" dirty="0"/>
          </a:p>
        </p:txBody>
      </p:sp>
      <p:sp>
        <p:nvSpPr>
          <p:cNvPr id="54" name="Shape 51"/>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6" name="Text 53"/>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عُيُونٌ</a:t>
            </a:r>
            <a:endParaRPr lang="ar-SA" sz="1500" dirty="0"/>
          </a:p>
        </p:txBody>
      </p:sp>
      <p:sp>
        <p:nvSpPr>
          <p:cNvPr id="57" name="Shape 54"/>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two</a:t>
            </a:r>
            <a:endParaRPr lang="en-US" sz="750" dirty="0"/>
          </a:p>
        </p:txBody>
      </p:sp>
      <p:sp>
        <p:nvSpPr>
          <p:cNvPr id="59" name="Text 56"/>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عَيْنَانِ</a:t>
            </a:r>
            <a:endParaRPr lang="ar-SA" sz="1500" dirty="0"/>
          </a:p>
        </p:txBody>
      </p:sp>
      <p:sp>
        <p:nvSpPr>
          <p:cNvPr id="60" name="Shape 57"/>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62" name="Text 59"/>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عَيْنٌ</a:t>
            </a:r>
            <a:endParaRPr lang="ar-SA" sz="1500" dirty="0"/>
          </a:p>
        </p:txBody>
      </p:sp>
      <p:sp>
        <p:nvSpPr>
          <p:cNvPr id="63" name="Shape 6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8211312"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6" name="Shape 63"/>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one · two · pl</a:t>
            </a:r>
            <a:endParaRPr lang="en-US" sz="800" dirty="0"/>
          </a:p>
        </p:txBody>
      </p:sp>
      <p:sp>
        <p:nvSpPr>
          <p:cNvPr id="68" name="Shape 65"/>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أُذُنٌ / أُذُنَانِ</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ear / two ears</a:t>
            </a:r>
            <a:endParaRPr lang="en-US" sz="1350" dirty="0"/>
          </a:p>
          <a:p>
            <a:pPr indent="0" marL="0">
              <a:buNone/>
            </a:pPr>
            <a:r>
              <a:rPr lang="en-US" sz="1100" i="1" dirty="0">
                <a:solidFill>
                  <a:srgbClr val="5A6472"/>
                </a:solidFill>
                <a:latin typeface="Calibri" pitchFamily="34" charset="0"/>
                <a:cs typeface="Amiri" pitchFamily="2" charset="-78"/>
              </a:rPr>
              <a:t>u-dhu-nun / u-dhu-nā-ni</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آذَانٌ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two</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أُذُنَانِ</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أُذُنٌ</a:t>
            </a:r>
            <a:endParaRPr lang="ar-SA" sz="150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Head and face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m. · هٰذَا</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أَنْفٌ</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nose</a:t>
            </a:r>
            <a:endParaRPr lang="en-US" sz="1350" dirty="0"/>
          </a:p>
          <a:p>
            <a:pPr indent="0" marL="0">
              <a:buNone/>
            </a:pPr>
            <a:r>
              <a:rPr lang="en-US" sz="1100" i="1" dirty="0">
                <a:solidFill>
                  <a:srgbClr val="5A6472"/>
                </a:solidFill>
                <a:latin typeface="Calibri" pitchFamily="34" charset="0"/>
                <a:cs typeface="Amiri" pitchFamily="2" charset="-78"/>
              </a:rPr>
              <a:t>an-fun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أُنُوفٌ</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أَنْفِي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33" name="Shape 30"/>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m. · هٰذَا</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فَمٌ</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mouth</a:t>
            </a:r>
            <a:endParaRPr lang="en-US" sz="1350" dirty="0"/>
          </a:p>
          <a:p>
            <a:pPr indent="0" marL="0">
              <a:buNone/>
            </a:pPr>
            <a:r>
              <a:rPr lang="en-US" sz="1100" i="1" dirty="0">
                <a:solidFill>
                  <a:srgbClr val="5A6472"/>
                </a:solidFill>
                <a:latin typeface="Calibri" pitchFamily="34" charset="0"/>
                <a:cs typeface="Amiri" pitchFamily="2" charset="-78"/>
              </a:rPr>
              <a:t>fa-mun</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أَفْوَاهٌ</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فَمِي</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48" name="Shape 45"/>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f. · هٰذِهِ</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سِنٌّ / أَسْنَانٌ</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tooth / teeth</a:t>
            </a:r>
            <a:endParaRPr lang="en-US" sz="1350" dirty="0"/>
          </a:p>
          <a:p>
            <a:pPr indent="0" marL="0">
              <a:buNone/>
            </a:pPr>
            <a:r>
              <a:rPr lang="en-US" sz="1100" i="1" dirty="0">
                <a:solidFill>
                  <a:srgbClr val="5A6472"/>
                </a:solidFill>
                <a:latin typeface="Calibri" pitchFamily="34" charset="0"/>
                <a:cs typeface="Amiri" pitchFamily="2" charset="-78"/>
              </a:rPr>
              <a:t>sin-nun / as-nā-nun</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أَسْنَانٌ</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my teeth</a:t>
            </a:r>
            <a:endParaRPr lang="en-US" sz="700" dirty="0"/>
          </a:p>
        </p:txBody>
      </p:sp>
      <p:sp>
        <p:nvSpPr>
          <p:cNvPr id="59" name="Text 56"/>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أَسْنَانِي</a:t>
            </a:r>
            <a:endParaRPr lang="ar-SA" sz="135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63" name="Shape 6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4" name="Text 6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5" name="Text 6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حَلْقٌ / حَنْجَرَةٌ</a:t>
            </a:r>
            <a:endParaRPr lang="ar-SA" sz="3000" dirty="0"/>
          </a:p>
        </p:txBody>
      </p:sp>
      <p:sp>
        <p:nvSpPr>
          <p:cNvPr id="66" name="Text 6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throat</a:t>
            </a:r>
            <a:endParaRPr lang="en-US" sz="1350" dirty="0"/>
          </a:p>
          <a:p>
            <a:pPr indent="0" marL="0">
              <a:buNone/>
            </a:pPr>
            <a:r>
              <a:rPr lang="en-US" sz="1100" i="1" dirty="0">
                <a:solidFill>
                  <a:srgbClr val="5A6472"/>
                </a:solidFill>
                <a:latin typeface="Calibri" pitchFamily="34" charset="0"/>
                <a:cs typeface="Amiri" pitchFamily="2" charset="-78"/>
              </a:rPr>
              <a:t>ḥal-qun / ḥan-ja-ra-tun</a:t>
            </a:r>
            <a:endParaRPr lang="en-US" sz="13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Upper body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عُنُقٌ / رَقَبَةٌ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neck</a:t>
            </a:r>
            <a:endParaRPr lang="en-US" sz="1350" dirty="0"/>
          </a:p>
          <a:p>
            <a:pPr indent="0" marL="0">
              <a:buNone/>
            </a:pPr>
            <a:r>
              <a:rPr lang="en-US" sz="1100" i="1" dirty="0">
                <a:solidFill>
                  <a:srgbClr val="5A6472"/>
                </a:solidFill>
                <a:latin typeface="Calibri" pitchFamily="34" charset="0"/>
                <a:cs typeface="Amiri" pitchFamily="2" charset="-78"/>
              </a:rPr>
              <a:t>ʿu-nu-qun / ra-qa-ba-tun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كَتِفٌ</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shoulder</a:t>
            </a:r>
            <a:endParaRPr lang="en-US" sz="1350" dirty="0"/>
          </a:p>
          <a:p>
            <a:pPr indent="0" marL="0">
              <a:buNone/>
            </a:pPr>
            <a:r>
              <a:rPr lang="en-US" sz="1100" i="1" dirty="0">
                <a:solidFill>
                  <a:srgbClr val="5A6472"/>
                </a:solidFill>
                <a:latin typeface="Calibri" pitchFamily="34" charset="0"/>
                <a:cs typeface="Amiri" pitchFamily="2" charset="-78"/>
              </a:rPr>
              <a:t>ka-ti-fun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0" name="Shape 27"/>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f. · هٰذِهِ</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ذِرَاعٌ</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arm</a:t>
            </a:r>
            <a:endParaRPr lang="en-US" sz="1350" dirty="0"/>
          </a:p>
          <a:p>
            <a:pPr indent="0" marL="0">
              <a:buNone/>
            </a:pPr>
            <a:r>
              <a:rPr lang="en-US" sz="1100" i="1" dirty="0">
                <a:solidFill>
                  <a:srgbClr val="5A6472"/>
                </a:solidFill>
                <a:latin typeface="Calibri" pitchFamily="34" charset="0"/>
                <a:cs typeface="Amiri" pitchFamily="2" charset="-78"/>
              </a:rPr>
              <a:t>dhi-rā-ʿun</a:t>
            </a:r>
            <a:endParaRPr lang="en-US" sz="1350" dirty="0"/>
          </a:p>
        </p:txBody>
      </p:sp>
      <p:sp>
        <p:nvSpPr>
          <p:cNvPr id="34" name="Shape 3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two</a:t>
            </a:r>
            <a:endParaRPr lang="en-US" sz="750" dirty="0"/>
          </a:p>
        </p:txBody>
      </p:sp>
      <p:sp>
        <p:nvSpPr>
          <p:cNvPr id="36" name="Text 3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ذِرَاعَانِ</a:t>
            </a:r>
            <a:endParaRPr lang="ar-SA" sz="1500" dirty="0"/>
          </a:p>
        </p:txBody>
      </p:sp>
      <p:sp>
        <p:nvSpPr>
          <p:cNvPr id="37" name="Shape 3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39" name="Text 3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ذِرَاعِي</a:t>
            </a:r>
            <a:endParaRPr lang="ar-SA" sz="150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3" name="Shape 40"/>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one · two · pl</a:t>
            </a:r>
            <a:endParaRPr lang="en-US" sz="800" dirty="0"/>
          </a:p>
        </p:txBody>
      </p:sp>
      <p:sp>
        <p:nvSpPr>
          <p:cNvPr id="45" name="Text 4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يَدٌ / يَدَانِ</a:t>
            </a:r>
            <a:endParaRPr lang="ar-SA" sz="3000" dirty="0"/>
          </a:p>
        </p:txBody>
      </p:sp>
      <p:sp>
        <p:nvSpPr>
          <p:cNvPr id="46" name="Text 4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hand / two hands</a:t>
            </a:r>
            <a:endParaRPr lang="en-US" sz="1350" dirty="0"/>
          </a:p>
          <a:p>
            <a:pPr indent="0" marL="0">
              <a:buNone/>
            </a:pPr>
            <a:r>
              <a:rPr lang="en-US" sz="1100" i="1" dirty="0">
                <a:solidFill>
                  <a:srgbClr val="5A6472"/>
                </a:solidFill>
                <a:latin typeface="Calibri" pitchFamily="34" charset="0"/>
                <a:cs typeface="Amiri" pitchFamily="2" charset="-78"/>
              </a:rPr>
              <a:t>ya-dun / ya-dā-ni</a:t>
            </a:r>
            <a:endParaRPr lang="en-US" sz="1350" dirty="0"/>
          </a:p>
        </p:txBody>
      </p:sp>
      <p:sp>
        <p:nvSpPr>
          <p:cNvPr id="47" name="Shape 44"/>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9" name="Text 46"/>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أَيْدٍ</a:t>
            </a:r>
            <a:endParaRPr lang="ar-SA" sz="1500" dirty="0"/>
          </a:p>
        </p:txBody>
      </p:sp>
      <p:sp>
        <p:nvSpPr>
          <p:cNvPr id="50" name="Shape 47"/>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two</a:t>
            </a:r>
            <a:endParaRPr lang="en-US" sz="750" dirty="0"/>
          </a:p>
        </p:txBody>
      </p:sp>
      <p:sp>
        <p:nvSpPr>
          <p:cNvPr id="52" name="Text 49"/>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يَدَانِ</a:t>
            </a:r>
            <a:endParaRPr lang="ar-SA" sz="1500" dirty="0"/>
          </a:p>
        </p:txBody>
      </p:sp>
      <p:sp>
        <p:nvSpPr>
          <p:cNvPr id="53" name="Shape 50"/>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55" name="Text 52"/>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يَدٌ</a:t>
            </a:r>
            <a:endParaRPr lang="ar-SA" sz="1500" dirty="0"/>
          </a:p>
        </p:txBody>
      </p:sp>
      <p:sp>
        <p:nvSpPr>
          <p:cNvPr id="56" name="Shape 5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4389120"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59" name="Text 56"/>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إِصْبَعُ اليَدِ</a:t>
            </a:r>
            <a:endParaRPr lang="ar-SA" sz="3000" dirty="0"/>
          </a:p>
        </p:txBody>
      </p:sp>
      <p:sp>
        <p:nvSpPr>
          <p:cNvPr id="60" name="Text 57"/>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finger</a:t>
            </a:r>
            <a:endParaRPr lang="en-US" sz="1350" dirty="0"/>
          </a:p>
          <a:p>
            <a:pPr indent="0" marL="0">
              <a:buNone/>
            </a:pPr>
            <a:r>
              <a:rPr lang="en-US" sz="1100" i="1" dirty="0">
                <a:solidFill>
                  <a:srgbClr val="5A6472"/>
                </a:solidFill>
                <a:latin typeface="Calibri" pitchFamily="34" charset="0"/>
                <a:cs typeface="Amiri" pitchFamily="2" charset="-78"/>
              </a:rPr>
              <a:t>iṣ-ba-ʿu al-ya-di</a:t>
            </a:r>
            <a:endParaRPr lang="en-US" sz="13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Upper body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صَدْرٌ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chest</a:t>
            </a:r>
            <a:endParaRPr lang="en-US" sz="1350" dirty="0"/>
          </a:p>
          <a:p>
            <a:pPr indent="0" marL="0">
              <a:buNone/>
            </a:pPr>
            <a:r>
              <a:rPr lang="en-US" sz="1100" i="1" dirty="0">
                <a:solidFill>
                  <a:srgbClr val="5A6472"/>
                </a:solidFill>
                <a:latin typeface="Calibri" pitchFamily="34" charset="0"/>
                <a:cs typeface="Amiri" pitchFamily="2" charset="-78"/>
              </a:rPr>
              <a:t>ṣad-run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ظَهْرٌ</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back</a:t>
            </a:r>
            <a:endParaRPr lang="en-US" sz="1350" dirty="0"/>
          </a:p>
          <a:p>
            <a:pPr indent="0" marL="0">
              <a:buNone/>
            </a:pPr>
            <a:r>
              <a:rPr lang="en-US" sz="1100" i="1" dirty="0">
                <a:solidFill>
                  <a:srgbClr val="5A6472"/>
                </a:solidFill>
                <a:latin typeface="Calibri" pitchFamily="34" charset="0"/>
                <a:cs typeface="Amiri" pitchFamily="2" charset="-78"/>
              </a:rPr>
              <a:t>ẓah-run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قَلْبٌ</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heart</a:t>
            </a:r>
            <a:endParaRPr lang="en-US" sz="1350" dirty="0"/>
          </a:p>
          <a:p>
            <a:pPr indent="0" marL="0">
              <a:buNone/>
            </a:pPr>
            <a:r>
              <a:rPr lang="en-US" sz="1100" i="1" dirty="0">
                <a:solidFill>
                  <a:srgbClr val="5A6472"/>
                </a:solidFill>
                <a:latin typeface="Calibri" pitchFamily="34" charset="0"/>
                <a:cs typeface="Amiri" pitchFamily="2" charset="-78"/>
              </a:rPr>
              <a:t>qal-bun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مَعِدَةٌ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stomach</a:t>
            </a:r>
            <a:endParaRPr lang="en-US" sz="1350" dirty="0"/>
          </a:p>
          <a:p>
            <a:pPr indent="0" marL="0">
              <a:buNone/>
            </a:pPr>
            <a:r>
              <a:rPr lang="en-US" sz="1100" i="1" dirty="0">
                <a:solidFill>
                  <a:srgbClr val="5A6472"/>
                </a:solidFill>
                <a:latin typeface="Calibri" pitchFamily="34" charset="0"/>
                <a:cs typeface="Amiri" pitchFamily="2" charset="-78"/>
              </a:rPr>
              <a:t>ma-ʿi-da-tun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Lower body and structure (1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Shape 17"/>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f. · هٰذِهِ</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رِجْلٌ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leg</a:t>
            </a:r>
            <a:endParaRPr lang="en-US" sz="1350" dirty="0"/>
          </a:p>
          <a:p>
            <a:pPr indent="0" marL="0">
              <a:buNone/>
            </a:pPr>
            <a:r>
              <a:rPr lang="en-US" sz="1100" i="1" dirty="0">
                <a:solidFill>
                  <a:srgbClr val="5A6472"/>
                </a:solidFill>
                <a:latin typeface="Calibri" pitchFamily="34" charset="0"/>
                <a:cs typeface="Amiri" pitchFamily="2" charset="-78"/>
              </a:rPr>
              <a:t>rij-lun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two</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رِجْلَانِ</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رِجْلِي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3" name="Text 3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رُكْبَةٌ</a:t>
            </a:r>
            <a:endParaRPr lang="ar-SA" sz="3000" dirty="0"/>
          </a:p>
        </p:txBody>
      </p:sp>
      <p:sp>
        <p:nvSpPr>
          <p:cNvPr id="34" name="Text 3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knee</a:t>
            </a:r>
            <a:endParaRPr lang="en-US" sz="1350" dirty="0"/>
          </a:p>
          <a:p>
            <a:pPr indent="0" marL="0">
              <a:buNone/>
            </a:pPr>
            <a:r>
              <a:rPr lang="en-US" sz="1100" i="1" dirty="0">
                <a:solidFill>
                  <a:srgbClr val="5A6472"/>
                </a:solidFill>
                <a:latin typeface="Calibri" pitchFamily="34" charset="0"/>
                <a:cs typeface="Amiri" pitchFamily="2" charset="-78"/>
              </a:rPr>
              <a:t>ruk-ba-tun</a:t>
            </a:r>
            <a:endParaRPr lang="en-US" sz="135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8" name="Shape 35"/>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one · two · pl</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قَدَمٌ / قَدَمَانِ</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foot / two feet</a:t>
            </a:r>
            <a:endParaRPr lang="en-US" sz="1350" dirty="0"/>
          </a:p>
          <a:p>
            <a:pPr indent="0" marL="0">
              <a:buNone/>
            </a:pPr>
            <a:r>
              <a:rPr lang="en-US" sz="1100" i="1" dirty="0">
                <a:solidFill>
                  <a:srgbClr val="5A6472"/>
                </a:solidFill>
                <a:latin typeface="Calibri" pitchFamily="34" charset="0"/>
                <a:cs typeface="Amiri" pitchFamily="2" charset="-78"/>
              </a:rPr>
              <a:t>qa-da-mun / qa-da-mā-ni</a:t>
            </a:r>
            <a:endParaRPr lang="en-US" sz="1350" dirty="0"/>
          </a:p>
        </p:txBody>
      </p:sp>
      <p:sp>
        <p:nvSpPr>
          <p:cNvPr id="42" name="Shape 39"/>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أَقْدَامٌ</a:t>
            </a:r>
            <a:endParaRPr lang="ar-SA" sz="1500" dirty="0"/>
          </a:p>
        </p:txBody>
      </p:sp>
      <p:sp>
        <p:nvSpPr>
          <p:cNvPr id="45" name="Shape 42"/>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two</a:t>
            </a:r>
            <a:endParaRPr lang="en-US" sz="750" dirty="0"/>
          </a:p>
        </p:txBody>
      </p:sp>
      <p:sp>
        <p:nvSpPr>
          <p:cNvPr id="47" name="Text 44"/>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قَدَمَانِ</a:t>
            </a:r>
            <a:endParaRPr lang="ar-SA" sz="1500" dirty="0"/>
          </a:p>
        </p:txBody>
      </p:sp>
      <p:sp>
        <p:nvSpPr>
          <p:cNvPr id="48" name="Shape 45"/>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50" name="Text 47"/>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قَدَمٌ</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54" name="Text 5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إِصْبَعُ القَدَمِ</a:t>
            </a:r>
            <a:endParaRPr lang="ar-SA" sz="3000" dirty="0"/>
          </a:p>
        </p:txBody>
      </p:sp>
      <p:sp>
        <p:nvSpPr>
          <p:cNvPr id="55" name="Text 5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toe</a:t>
            </a:r>
            <a:endParaRPr lang="en-US" sz="1350" dirty="0"/>
          </a:p>
          <a:p>
            <a:pPr indent="0" marL="0">
              <a:buNone/>
            </a:pPr>
            <a:r>
              <a:rPr lang="en-US" sz="1100" i="1" dirty="0">
                <a:solidFill>
                  <a:srgbClr val="5A6472"/>
                </a:solidFill>
                <a:latin typeface="Calibri" pitchFamily="34" charset="0"/>
                <a:cs typeface="Amiri" pitchFamily="2" charset="-78"/>
              </a:rPr>
              <a:t>iṣ-ba-ʿu al-qa-da-mi</a:t>
            </a:r>
            <a:endParaRPr lang="en-US" sz="13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Lower body and structure (2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كَاحِلٌ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ankle</a:t>
            </a:r>
            <a:endParaRPr lang="en-US" sz="1350" dirty="0"/>
          </a:p>
          <a:p>
            <a:pPr indent="0" marL="0">
              <a:buNone/>
            </a:pPr>
            <a:r>
              <a:rPr lang="en-US" sz="1100" i="1" dirty="0">
                <a:solidFill>
                  <a:srgbClr val="5A6472"/>
                </a:solidFill>
                <a:latin typeface="Calibri" pitchFamily="34" charset="0"/>
                <a:cs typeface="Amiri" pitchFamily="2" charset="-78"/>
              </a:rPr>
              <a:t>kā-ḥi-lun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عَظْمٌ / عِظَامٌ</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bone / bones</a:t>
            </a:r>
            <a:endParaRPr lang="en-US" sz="1350" dirty="0"/>
          </a:p>
          <a:p>
            <a:pPr indent="0" marL="0">
              <a:buNone/>
            </a:pPr>
            <a:r>
              <a:rPr lang="en-US" sz="1100" i="1" dirty="0">
                <a:solidFill>
                  <a:srgbClr val="5A6472"/>
                </a:solidFill>
                <a:latin typeface="Calibri" pitchFamily="34" charset="0"/>
                <a:cs typeface="Amiri" pitchFamily="2" charset="-78"/>
              </a:rPr>
              <a:t>ʿaẓ-mun / ʿi-ẓā-mun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جِلْدٌ / بَشَرَةٌ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skin</a:t>
            </a:r>
            <a:endParaRPr lang="en-US" sz="1350" dirty="0"/>
          </a:p>
          <a:p>
            <a:pPr indent="0" marL="0">
              <a:buNone/>
            </a:pPr>
            <a:r>
              <a:rPr lang="en-US" sz="1100" i="1" dirty="0">
                <a:solidFill>
                  <a:srgbClr val="5A6472"/>
                </a:solidFill>
                <a:latin typeface="Calibri" pitchFamily="34" charset="0"/>
                <a:cs typeface="Amiri" pitchFamily="2" charset="-78"/>
              </a:rPr>
              <a:t>jil-dun / ba-sha-ra-tun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جِسْمٌ / جَسَدٌ</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body</a:t>
            </a:r>
            <a:endParaRPr lang="en-US" sz="1350" dirty="0"/>
          </a:p>
          <a:p>
            <a:pPr indent="0" marL="0">
              <a:buNone/>
            </a:pPr>
            <a:r>
              <a:rPr lang="en-US" sz="1100" i="1" dirty="0">
                <a:solidFill>
                  <a:srgbClr val="5A6472"/>
                </a:solidFill>
                <a:latin typeface="Calibri" pitchFamily="34" charset="0"/>
                <a:cs typeface="Amiri" pitchFamily="2" charset="-78"/>
              </a:rPr>
              <a:t>jis-mun / ja-sa-dun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4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Body actions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يَرَى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sees</a:t>
            </a:r>
            <a:endParaRPr lang="en-US" sz="1350" dirty="0"/>
          </a:p>
          <a:p>
            <a:pPr indent="0" marL="0">
              <a:buNone/>
            </a:pPr>
            <a:r>
              <a:rPr lang="en-US" sz="1100" i="1" dirty="0">
                <a:solidFill>
                  <a:srgbClr val="5A6472"/>
                </a:solidFill>
                <a:latin typeface="Calibri" pitchFamily="34" charset="0"/>
                <a:cs typeface="Amiri" pitchFamily="2" charset="-78"/>
              </a:rPr>
              <a:t>ya-rā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يَسْمَعُ</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hears</a:t>
            </a:r>
            <a:endParaRPr lang="en-US" sz="1350" dirty="0"/>
          </a:p>
          <a:p>
            <a:pPr indent="0" marL="0">
              <a:buNone/>
            </a:pPr>
            <a:r>
              <a:rPr lang="en-US" sz="1100" i="1" dirty="0">
                <a:solidFill>
                  <a:srgbClr val="5A6472"/>
                </a:solidFill>
                <a:latin typeface="Calibri" pitchFamily="34" charset="0"/>
                <a:cs typeface="Amiri" pitchFamily="2" charset="-78"/>
              </a:rPr>
              <a:t>yas-ma-ʿu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يَشُمُّ</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smells</a:t>
            </a:r>
            <a:endParaRPr lang="en-US" sz="1350" dirty="0"/>
          </a:p>
          <a:p>
            <a:pPr indent="0" marL="0">
              <a:buNone/>
            </a:pPr>
            <a:r>
              <a:rPr lang="en-US" sz="1100" i="1" dirty="0">
                <a:solidFill>
                  <a:srgbClr val="5A6472"/>
                </a:solidFill>
                <a:latin typeface="Calibri" pitchFamily="34" charset="0"/>
                <a:cs typeface="Amiri" pitchFamily="2" charset="-78"/>
              </a:rPr>
              <a:t>ya-shum-mu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يَلْمِسُ</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touches</a:t>
            </a:r>
            <a:endParaRPr lang="en-US" sz="1350" dirty="0"/>
          </a:p>
          <a:p>
            <a:pPr indent="0" marL="0">
              <a:buNone/>
            </a:pPr>
            <a:r>
              <a:rPr lang="en-US" sz="1100" i="1" dirty="0">
                <a:solidFill>
                  <a:srgbClr val="5A6472"/>
                </a:solidFill>
                <a:latin typeface="Calibri" pitchFamily="34" charset="0"/>
                <a:cs typeface="Amiri" pitchFamily="2" charset="-78"/>
              </a:rPr>
              <a:t>yal-mi-su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يَتَنَفَّسُ</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breathes</a:t>
            </a:r>
            <a:endParaRPr lang="en-US" sz="1350" dirty="0"/>
          </a:p>
          <a:p>
            <a:pPr indent="0" marL="0">
              <a:buNone/>
            </a:pPr>
            <a:r>
              <a:rPr lang="en-US" sz="1100" i="1" dirty="0">
                <a:solidFill>
                  <a:srgbClr val="5A6472"/>
                </a:solidFill>
                <a:latin typeface="Calibri" pitchFamily="34" charset="0"/>
                <a:cs typeface="Amiri" pitchFamily="2" charset="-78"/>
              </a:rPr>
              <a:t>ya-ta-naf-fa-su</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يَتَنَفَّسُ بِعُمْقٍ</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breathes deeply</a:t>
            </a:r>
            <a:endParaRPr lang="en-US" sz="1350" dirty="0"/>
          </a:p>
          <a:p>
            <a:pPr indent="0" marL="0">
              <a:buNone/>
            </a:pPr>
            <a:r>
              <a:rPr lang="en-US" sz="1100" i="1" dirty="0">
                <a:solidFill>
                  <a:srgbClr val="5A6472"/>
                </a:solidFill>
                <a:latin typeface="Calibri" pitchFamily="34" charset="0"/>
                <a:cs typeface="Amiri" pitchFamily="2" charset="-78"/>
              </a:rPr>
              <a:t>ya-ta-naf-fa-su bi-ʿum-qin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TOPIC A · HEALTH PROBLEMS (WEBSITE F5 LESSON 8)</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is wrong?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الأَعْرَاضُ</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32</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صُدَاعٌ</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headache</a:t>
            </a:r>
            <a:endParaRPr lang="en-US" sz="1350" dirty="0"/>
          </a:p>
          <a:p>
            <a:pPr indent="0" marL="0">
              <a:buNone/>
            </a:pPr>
            <a:r>
              <a:rPr lang="en-US" sz="1100" i="1" dirty="0">
                <a:solidFill>
                  <a:srgbClr val="5A6472"/>
                </a:solidFill>
                <a:latin typeface="Calibri" pitchFamily="34" charset="0"/>
                <a:cs typeface="Amiri" pitchFamily="2" charset="-78"/>
              </a:rPr>
              <a:t>ṣu-dā-ʿun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I have</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عِنْدِي صُدَاعٌ</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33</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حُمَّى</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fever</a:t>
            </a:r>
            <a:endParaRPr lang="en-US" sz="1350" dirty="0"/>
          </a:p>
          <a:p>
            <a:pPr indent="0" marL="0">
              <a:buNone/>
            </a:pPr>
            <a:r>
              <a:rPr lang="en-US" sz="1100" i="1" dirty="0">
                <a:solidFill>
                  <a:srgbClr val="5A6472"/>
                </a:solidFill>
                <a:latin typeface="Calibri" pitchFamily="34" charset="0"/>
                <a:cs typeface="Amiri" pitchFamily="2" charset="-78"/>
              </a:rPr>
              <a:t>ḥum-mā</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I have</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عِنْدِي حُمَّى</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34</a:t>
            </a:r>
            <a:endParaRPr lang="en-US" sz="1000" dirty="0"/>
          </a:p>
        </p:txBody>
      </p:sp>
      <p:sp>
        <p:nvSpPr>
          <p:cNvPr id="42" name="Shape 39"/>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سُعَالٌ</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cough</a:t>
            </a:r>
            <a:endParaRPr lang="en-US" sz="1350" dirty="0"/>
          </a:p>
          <a:p>
            <a:pPr indent="0" marL="0">
              <a:buNone/>
            </a:pPr>
            <a:r>
              <a:rPr lang="en-US" sz="1100" i="1" dirty="0">
                <a:solidFill>
                  <a:srgbClr val="5A6472"/>
                </a:solidFill>
                <a:latin typeface="Calibri" pitchFamily="34" charset="0"/>
                <a:cs typeface="Amiri" pitchFamily="2" charset="-78"/>
              </a:rPr>
              <a:t>su-ʿā-lun</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I have</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عِنْدِي سُعَالٌ</a:t>
            </a:r>
            <a:endParaRPr lang="ar-SA" sz="135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35</a:t>
            </a:r>
            <a:endParaRPr lang="en-US" sz="1000" dirty="0"/>
          </a:p>
        </p:txBody>
      </p:sp>
      <p:sp>
        <p:nvSpPr>
          <p:cNvPr id="54" name="Shape 51"/>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زُكَامٌ</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cold</a:t>
            </a:r>
            <a:endParaRPr lang="en-US" sz="1350" dirty="0"/>
          </a:p>
          <a:p>
            <a:pPr indent="0" marL="0">
              <a:buNone/>
            </a:pPr>
            <a:r>
              <a:rPr lang="en-US" sz="1100" i="1" dirty="0">
                <a:solidFill>
                  <a:srgbClr val="5A6472"/>
                </a:solidFill>
                <a:latin typeface="Calibri" pitchFamily="34" charset="0"/>
                <a:cs typeface="Amiri" pitchFamily="2" charset="-78"/>
              </a:rPr>
              <a:t>zu-kā-mun</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I have</a:t>
            </a:r>
            <a:endParaRPr lang="en-US" sz="700" dirty="0"/>
          </a:p>
        </p:txBody>
      </p:sp>
      <p:sp>
        <p:nvSpPr>
          <p:cNvPr id="62" name="Text 59"/>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عِنْدِي زُكَامٌ</a:t>
            </a:r>
            <a:endParaRPr lang="ar-SA" sz="135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36</a:t>
            </a:r>
            <a:endParaRPr lang="en-US" sz="1000" dirty="0"/>
          </a:p>
        </p:txBody>
      </p:sp>
      <p:sp>
        <p:nvSpPr>
          <p:cNvPr id="66" name="Shape 6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68" name="Shape 6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0" name="Text 6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أَلَمُ الحَلْقِ</a:t>
            </a:r>
            <a:endParaRPr lang="ar-SA" sz="3000" dirty="0"/>
          </a:p>
        </p:txBody>
      </p:sp>
      <p:sp>
        <p:nvSpPr>
          <p:cNvPr id="71" name="Text 6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sore throat</a:t>
            </a:r>
            <a:endParaRPr lang="en-US" sz="1350" dirty="0"/>
          </a:p>
          <a:p>
            <a:pPr indent="0" marL="0">
              <a:buNone/>
            </a:pPr>
            <a:r>
              <a:rPr lang="en-US" sz="1100" i="1" dirty="0">
                <a:solidFill>
                  <a:srgbClr val="5A6472"/>
                </a:solidFill>
                <a:latin typeface="Calibri" pitchFamily="34" charset="0"/>
                <a:cs typeface="Amiri" pitchFamily="2" charset="-78"/>
              </a:rPr>
              <a:t>a-la-mu al-ḥal-qi</a:t>
            </a:r>
            <a:endParaRPr lang="en-US" sz="1350" dirty="0"/>
          </a:p>
        </p:txBody>
      </p:sp>
      <p:sp>
        <p:nvSpPr>
          <p:cNvPr id="72" name="Shape 69"/>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I have</a:t>
            </a:r>
            <a:endParaRPr lang="en-US" sz="700" dirty="0"/>
          </a:p>
        </p:txBody>
      </p:sp>
      <p:sp>
        <p:nvSpPr>
          <p:cNvPr id="74" name="Text 71"/>
          <p:cNvSpPr txBox="1"/>
          <p:nvPr/>
        </p:nvSpPr>
        <p:spPr>
          <a:xfrm>
            <a:off x="4462272"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عِنْدِي أَلَمٌ فِي حَلْقِي</a:t>
            </a:r>
            <a:endParaRPr lang="ar-SA" sz="1350" dirty="0"/>
          </a:p>
        </p:txBody>
      </p:sp>
      <p:sp>
        <p:nvSpPr>
          <p:cNvPr id="75" name="Shape 7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66928"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37</a:t>
            </a:r>
            <a:endParaRPr lang="en-US" sz="1000" dirty="0"/>
          </a:p>
        </p:txBody>
      </p:sp>
      <p:sp>
        <p:nvSpPr>
          <p:cNvPr id="78" name="Shape 75"/>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80" name="Shape 7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أَلَمُ المَعِدَةِ</a:t>
            </a:r>
            <a:endParaRPr lang="ar-SA" sz="3000" dirty="0"/>
          </a:p>
        </p:txBody>
      </p:sp>
      <p:sp>
        <p:nvSpPr>
          <p:cNvPr id="83" name="Text 8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stomach ache</a:t>
            </a:r>
            <a:endParaRPr lang="en-US" sz="1350" dirty="0"/>
          </a:p>
          <a:p>
            <a:pPr indent="0" marL="0">
              <a:buNone/>
            </a:pPr>
            <a:r>
              <a:rPr lang="en-US" sz="1100" i="1" dirty="0">
                <a:solidFill>
                  <a:srgbClr val="5A6472"/>
                </a:solidFill>
                <a:latin typeface="Calibri" pitchFamily="34" charset="0"/>
                <a:cs typeface="Amiri" pitchFamily="2" charset="-78"/>
              </a:rPr>
              <a:t>a-la-mu al-ma-ʿi-da-ti</a:t>
            </a:r>
            <a:endParaRPr lang="en-US" sz="1350" dirty="0"/>
          </a:p>
        </p:txBody>
      </p:sp>
      <p:sp>
        <p:nvSpPr>
          <p:cNvPr id="84" name="Shape 81"/>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I have</a:t>
            </a:r>
            <a:endParaRPr lang="en-US" sz="700" dirty="0"/>
          </a:p>
        </p:txBody>
      </p:sp>
      <p:sp>
        <p:nvSpPr>
          <p:cNvPr id="86" name="Text 83"/>
          <p:cNvSpPr txBox="1"/>
          <p:nvPr/>
        </p:nvSpPr>
        <p:spPr>
          <a:xfrm>
            <a:off x="640080"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عِنْدِي أَلَمٌ فِي مَعِدَتِي</a:t>
            </a:r>
            <a:endParaRPr lang="ar-SA" sz="135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THIS, MY AND TWO (WEBSITE RULES +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This is my … I have two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هٰذَا · هٰذِهِ · ـي · ـانِ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1034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Body part</a:t>
            </a:r>
            <a:endParaRPr lang="en-US" sz="1100" dirty="0"/>
          </a:p>
        </p:txBody>
      </p:sp>
      <p:sp>
        <p:nvSpPr>
          <p:cNvPr id="17" name="Text 14"/>
          <p:cNvSpPr txBox="1"/>
          <p:nvPr/>
        </p:nvSpPr>
        <p:spPr>
          <a:xfrm>
            <a:off x="7964424"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Gender</a:t>
            </a:r>
            <a:endParaRPr lang="en-US" sz="1100" dirty="0"/>
          </a:p>
        </p:txBody>
      </p:sp>
      <p:sp>
        <p:nvSpPr>
          <p:cNvPr id="18" name="Text 15"/>
          <p:cNvSpPr txBox="1"/>
          <p:nvPr/>
        </p:nvSpPr>
        <p:spPr>
          <a:xfrm>
            <a:off x="503834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This is my …</a:t>
            </a:r>
            <a:endParaRPr lang="en-US" sz="1100" dirty="0"/>
          </a:p>
        </p:txBody>
      </p:sp>
      <p:sp>
        <p:nvSpPr>
          <p:cNvPr id="19" name="Text 16"/>
          <p:cNvSpPr txBox="1"/>
          <p:nvPr/>
        </p:nvSpPr>
        <p:spPr>
          <a:xfrm>
            <a:off x="266090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Two (dual)</a:t>
            </a:r>
            <a:endParaRPr lang="en-US" sz="1100" dirty="0"/>
          </a:p>
        </p:txBody>
      </p:sp>
      <p:sp>
        <p:nvSpPr>
          <p:cNvPr id="20" name="Text 17"/>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628632" y="2267712"/>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رَأْسٌ</a:t>
            </a:r>
            <a:endParaRPr lang="ar-SA" sz="2600" dirty="0"/>
          </a:p>
        </p:txBody>
      </p:sp>
      <p:sp>
        <p:nvSpPr>
          <p:cNvPr id="23" name="Text 20"/>
          <p:cNvSpPr txBox="1"/>
          <p:nvPr/>
        </p:nvSpPr>
        <p:spPr>
          <a:xfrm>
            <a:off x="8001000" y="2267712"/>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t>
            </a:r>
            <a:endParaRPr lang="en-US" sz="1100" dirty="0"/>
          </a:p>
        </p:txBody>
      </p:sp>
      <p:sp>
        <p:nvSpPr>
          <p:cNvPr id="24" name="Text 21"/>
          <p:cNvSpPr txBox="1"/>
          <p:nvPr/>
        </p:nvSpPr>
        <p:spPr>
          <a:xfrm>
            <a:off x="5056632" y="2267712"/>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هٰذَا</a:t>
            </a:r>
            <a:pPr rtl="1" algn="ctr" indent="0" marL="0">
              <a:buNone/>
            </a:pPr>
            <a:r>
              <a:rPr lang="ar-SA" altLang="en-US" sz="2400" b="1" dirty="0">
                <a:solidFill>
                  <a:srgbClr val="1B3B6F"/>
                </a:solidFill>
                <a:latin typeface="Amiri" pitchFamily="2" charset="-78"/>
                <a:ea typeface="Amiri" pitchFamily="2" charset="-78"/>
                <a:cs typeface="Amiri" pitchFamily="2" charset="-78"/>
              </a:rPr>
              <a:t> رَأْسِ</a:t>
            </a:r>
            <a:pPr rtl="1" algn="ctr" indent="0" marL="0">
              <a:buNone/>
            </a:pPr>
            <a:r>
              <a:rPr lang="ar-SA" altLang="en-US" sz="2400" b="1" dirty="0">
                <a:solidFill>
                  <a:srgbClr val="D6336C"/>
                </a:solidFill>
                <a:latin typeface="Amiri" pitchFamily="2" charset="-78"/>
                <a:ea typeface="Amiri" pitchFamily="2" charset="-78"/>
                <a:cs typeface="Amiri" pitchFamily="2" charset="-78"/>
              </a:rPr>
              <a:t>ي</a:t>
            </a:r>
            <a:endParaRPr lang="ar-SA" sz="2400" dirty="0"/>
          </a:p>
        </p:txBody>
      </p:sp>
      <p:sp>
        <p:nvSpPr>
          <p:cNvPr id="25" name="Text 22"/>
          <p:cNvSpPr txBox="1"/>
          <p:nvPr/>
        </p:nvSpPr>
        <p:spPr>
          <a:xfrm>
            <a:off x="2679192" y="2267712"/>
            <a:ext cx="2194560" cy="682142"/>
          </a:xfrm>
          <a:prstGeom prst="rect">
            <a:avLst/>
          </a:prstGeom>
          <a:noFill/>
          <a:ln/>
        </p:spPr>
        <p:txBody>
          <a:bodyPr wrap="square" lIns="0" tIns="0" rIns="0" bIns="0" rtlCol="0" anchor="ctr"/>
          <a:lstStyle/>
          <a:p>
            <a:pPr algn="ctr" indent="0" marL="0">
              <a:buNone/>
            </a:pPr>
            <a:r>
              <a:rPr lang="en-US" sz="2400" b="1" dirty="0">
                <a:solidFill>
                  <a:srgbClr val="1B3B6F"/>
                </a:solidFill>
                <a:latin typeface="Calibri" pitchFamily="34" charset="0"/>
                <a:cs typeface="Amiri" pitchFamily="2" charset="-78"/>
              </a:rPr>
              <a:t>—</a:t>
            </a:r>
            <a:endParaRPr lang="en-US" sz="2400" dirty="0"/>
          </a:p>
        </p:txBody>
      </p:sp>
      <p:sp>
        <p:nvSpPr>
          <p:cNvPr id="26" name="Text 23"/>
          <p:cNvSpPr txBox="1"/>
          <p:nvPr/>
        </p:nvSpPr>
        <p:spPr>
          <a:xfrm>
            <a:off x="566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head</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628632" y="3004718"/>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عَيْنٌ</a:t>
            </a:r>
            <a:endParaRPr lang="ar-SA" sz="2600" dirty="0"/>
          </a:p>
        </p:txBody>
      </p:sp>
      <p:sp>
        <p:nvSpPr>
          <p:cNvPr id="31" name="Text 28"/>
          <p:cNvSpPr txBox="1"/>
          <p:nvPr/>
        </p:nvSpPr>
        <p:spPr>
          <a:xfrm>
            <a:off x="8001000" y="300471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t>
            </a:r>
            <a:endParaRPr lang="en-US" sz="1100" dirty="0"/>
          </a:p>
        </p:txBody>
      </p:sp>
      <p:sp>
        <p:nvSpPr>
          <p:cNvPr id="32" name="Text 29"/>
          <p:cNvSpPr txBox="1"/>
          <p:nvPr/>
        </p:nvSpPr>
        <p:spPr>
          <a:xfrm>
            <a:off x="5056632" y="3004718"/>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C77700"/>
                </a:solidFill>
                <a:latin typeface="Amiri" pitchFamily="2" charset="-78"/>
                <a:ea typeface="Amiri" pitchFamily="2" charset="-78"/>
                <a:cs typeface="Amiri" pitchFamily="2" charset="-78"/>
              </a:rPr>
              <a:t>هٰذِهِ</a:t>
            </a:r>
            <a:pPr rtl="1" algn="ctr" indent="0" marL="0">
              <a:buNone/>
            </a:pPr>
            <a:r>
              <a:rPr lang="ar-SA" altLang="en-US" sz="2400" b="1" dirty="0">
                <a:solidFill>
                  <a:srgbClr val="1B3B6F"/>
                </a:solidFill>
                <a:latin typeface="Amiri" pitchFamily="2" charset="-78"/>
                <a:ea typeface="Amiri" pitchFamily="2" charset="-78"/>
                <a:cs typeface="Amiri" pitchFamily="2" charset="-78"/>
              </a:rPr>
              <a:t> عَيْنِ</a:t>
            </a:r>
            <a:pPr rtl="1" algn="ctr" indent="0" marL="0">
              <a:buNone/>
            </a:pPr>
            <a:r>
              <a:rPr lang="ar-SA" altLang="en-US" sz="2400" b="1" dirty="0">
                <a:solidFill>
                  <a:srgbClr val="D6336C"/>
                </a:solidFill>
                <a:latin typeface="Amiri" pitchFamily="2" charset="-78"/>
                <a:ea typeface="Amiri" pitchFamily="2" charset="-78"/>
                <a:cs typeface="Amiri" pitchFamily="2" charset="-78"/>
              </a:rPr>
              <a:t>ي</a:t>
            </a:r>
            <a:endParaRPr lang="ar-SA" sz="2400" dirty="0"/>
          </a:p>
        </p:txBody>
      </p:sp>
      <p:sp>
        <p:nvSpPr>
          <p:cNvPr id="33" name="Text 30"/>
          <p:cNvSpPr txBox="1"/>
          <p:nvPr/>
        </p:nvSpPr>
        <p:spPr>
          <a:xfrm>
            <a:off x="2679192"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عَيْنَ</a:t>
            </a:r>
            <a:pPr rtl="1" algn="ctr" indent="0" marL="0">
              <a:buNone/>
            </a:pPr>
            <a:r>
              <a:rPr lang="ar-SA" altLang="en-US" sz="2400" b="1" dirty="0">
                <a:solidFill>
                  <a:srgbClr val="0E7C86"/>
                </a:solidFill>
                <a:latin typeface="Amiri" pitchFamily="2" charset="-78"/>
                <a:ea typeface="Amiri" pitchFamily="2" charset="-78"/>
                <a:cs typeface="Amiri" pitchFamily="2" charset="-78"/>
              </a:rPr>
              <a:t>انِ</a:t>
            </a:r>
            <a:endParaRPr lang="ar-SA" sz="2400" dirty="0"/>
          </a:p>
        </p:txBody>
      </p:sp>
      <p:sp>
        <p:nvSpPr>
          <p:cNvPr id="34" name="Text 31"/>
          <p:cNvSpPr txBox="1"/>
          <p:nvPr/>
        </p:nvSpPr>
        <p:spPr>
          <a:xfrm>
            <a:off x="566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eye</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628632" y="3741725"/>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أُذُنٌ</a:t>
            </a:r>
            <a:endParaRPr lang="ar-SA" sz="2600" dirty="0"/>
          </a:p>
        </p:txBody>
      </p:sp>
      <p:sp>
        <p:nvSpPr>
          <p:cNvPr id="39" name="Text 36"/>
          <p:cNvSpPr txBox="1"/>
          <p:nvPr/>
        </p:nvSpPr>
        <p:spPr>
          <a:xfrm>
            <a:off x="8001000" y="3741725"/>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t>
            </a:r>
            <a:endParaRPr lang="en-US" sz="1100" dirty="0"/>
          </a:p>
        </p:txBody>
      </p:sp>
      <p:sp>
        <p:nvSpPr>
          <p:cNvPr id="40" name="Text 37"/>
          <p:cNvSpPr txBox="1"/>
          <p:nvPr/>
        </p:nvSpPr>
        <p:spPr>
          <a:xfrm>
            <a:off x="5056632" y="3741725"/>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C77700"/>
                </a:solidFill>
                <a:latin typeface="Amiri" pitchFamily="2" charset="-78"/>
                <a:ea typeface="Amiri" pitchFamily="2" charset="-78"/>
                <a:cs typeface="Amiri" pitchFamily="2" charset="-78"/>
              </a:rPr>
              <a:t>هٰذِهِ</a:t>
            </a:r>
            <a:pPr rtl="1" algn="ctr" indent="0" marL="0">
              <a:buNone/>
            </a:pPr>
            <a:r>
              <a:rPr lang="ar-SA" altLang="en-US" sz="2400" b="1" dirty="0">
                <a:solidFill>
                  <a:srgbClr val="1B3B6F"/>
                </a:solidFill>
                <a:latin typeface="Amiri" pitchFamily="2" charset="-78"/>
                <a:ea typeface="Amiri" pitchFamily="2" charset="-78"/>
                <a:cs typeface="Amiri" pitchFamily="2" charset="-78"/>
              </a:rPr>
              <a:t> أُذُنِ</a:t>
            </a:r>
            <a:pPr rtl="1" algn="ctr" indent="0" marL="0">
              <a:buNone/>
            </a:pPr>
            <a:r>
              <a:rPr lang="ar-SA" altLang="en-US" sz="2400" b="1" dirty="0">
                <a:solidFill>
                  <a:srgbClr val="D6336C"/>
                </a:solidFill>
                <a:latin typeface="Amiri" pitchFamily="2" charset="-78"/>
                <a:ea typeface="Amiri" pitchFamily="2" charset="-78"/>
                <a:cs typeface="Amiri" pitchFamily="2" charset="-78"/>
              </a:rPr>
              <a:t>ي</a:t>
            </a:r>
            <a:endParaRPr lang="ar-SA" sz="2400" dirty="0"/>
          </a:p>
        </p:txBody>
      </p:sp>
      <p:sp>
        <p:nvSpPr>
          <p:cNvPr id="41" name="Text 38"/>
          <p:cNvSpPr txBox="1"/>
          <p:nvPr/>
        </p:nvSpPr>
        <p:spPr>
          <a:xfrm>
            <a:off x="2679192"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أُذُنَ</a:t>
            </a:r>
            <a:pPr rtl="1" algn="ctr" indent="0" marL="0">
              <a:buNone/>
            </a:pPr>
            <a:r>
              <a:rPr lang="ar-SA" altLang="en-US" sz="2400" b="1" dirty="0">
                <a:solidFill>
                  <a:srgbClr val="0E7C86"/>
                </a:solidFill>
                <a:latin typeface="Amiri" pitchFamily="2" charset="-78"/>
                <a:ea typeface="Amiri" pitchFamily="2" charset="-78"/>
                <a:cs typeface="Amiri" pitchFamily="2" charset="-78"/>
              </a:rPr>
              <a:t>انِ</a:t>
            </a:r>
            <a:endParaRPr lang="ar-SA" sz="2400" dirty="0"/>
          </a:p>
        </p:txBody>
      </p:sp>
      <p:sp>
        <p:nvSpPr>
          <p:cNvPr id="42" name="Text 39"/>
          <p:cNvSpPr txBox="1"/>
          <p:nvPr/>
        </p:nvSpPr>
        <p:spPr>
          <a:xfrm>
            <a:off x="566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ear</a:t>
            </a:r>
            <a:endParaRPr lang="en-US" sz="1100" dirty="0"/>
          </a:p>
        </p:txBody>
      </p:sp>
      <p:sp>
        <p:nvSpPr>
          <p:cNvPr id="43" name="Shape 4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4" name="Text 41"/>
          <p:cNvSpPr txBox="1"/>
          <p:nvPr/>
        </p:nvSpPr>
        <p:spPr>
          <a:xfrm>
            <a:off x="9628632" y="4478731"/>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يَدٌ</a:t>
            </a:r>
            <a:endParaRPr lang="ar-SA" sz="2600" dirty="0"/>
          </a:p>
        </p:txBody>
      </p:sp>
      <p:sp>
        <p:nvSpPr>
          <p:cNvPr id="45" name="Text 42"/>
          <p:cNvSpPr txBox="1"/>
          <p:nvPr/>
        </p:nvSpPr>
        <p:spPr>
          <a:xfrm>
            <a:off x="8001000" y="4478731"/>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t>
            </a:r>
            <a:endParaRPr lang="en-US" sz="1100" dirty="0"/>
          </a:p>
        </p:txBody>
      </p:sp>
      <p:sp>
        <p:nvSpPr>
          <p:cNvPr id="46" name="Text 43"/>
          <p:cNvSpPr txBox="1"/>
          <p:nvPr/>
        </p:nvSpPr>
        <p:spPr>
          <a:xfrm>
            <a:off x="5056632" y="4478731"/>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C77700"/>
                </a:solidFill>
                <a:latin typeface="Amiri" pitchFamily="2" charset="-78"/>
                <a:ea typeface="Amiri" pitchFamily="2" charset="-78"/>
                <a:cs typeface="Amiri" pitchFamily="2" charset="-78"/>
              </a:rPr>
              <a:t>هٰذِهِ</a:t>
            </a:r>
            <a:pPr rtl="1" algn="ctr" indent="0" marL="0">
              <a:buNone/>
            </a:pPr>
            <a:r>
              <a:rPr lang="ar-SA" altLang="en-US" sz="2400" b="1" dirty="0">
                <a:solidFill>
                  <a:srgbClr val="1B3B6F"/>
                </a:solidFill>
                <a:latin typeface="Amiri" pitchFamily="2" charset="-78"/>
                <a:ea typeface="Amiri" pitchFamily="2" charset="-78"/>
                <a:cs typeface="Amiri" pitchFamily="2" charset="-78"/>
              </a:rPr>
              <a:t> يَدِ</a:t>
            </a:r>
            <a:pPr rtl="1" algn="ctr" indent="0" marL="0">
              <a:buNone/>
            </a:pPr>
            <a:r>
              <a:rPr lang="ar-SA" altLang="en-US" sz="2400" b="1" dirty="0">
                <a:solidFill>
                  <a:srgbClr val="D6336C"/>
                </a:solidFill>
                <a:latin typeface="Amiri" pitchFamily="2" charset="-78"/>
                <a:ea typeface="Amiri" pitchFamily="2" charset="-78"/>
                <a:cs typeface="Amiri" pitchFamily="2" charset="-78"/>
              </a:rPr>
              <a:t>ي</a:t>
            </a:r>
            <a:endParaRPr lang="ar-SA" sz="2400" dirty="0"/>
          </a:p>
        </p:txBody>
      </p:sp>
      <p:sp>
        <p:nvSpPr>
          <p:cNvPr id="47" name="Text 44"/>
          <p:cNvSpPr txBox="1"/>
          <p:nvPr/>
        </p:nvSpPr>
        <p:spPr>
          <a:xfrm>
            <a:off x="2679192"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يَدَ</a:t>
            </a:r>
            <a:pPr rtl="1" algn="ctr" indent="0" marL="0">
              <a:buNone/>
            </a:pPr>
            <a:r>
              <a:rPr lang="ar-SA" altLang="en-US" sz="2400" b="1" dirty="0">
                <a:solidFill>
                  <a:srgbClr val="0E7C86"/>
                </a:solidFill>
                <a:latin typeface="Amiri" pitchFamily="2" charset="-78"/>
                <a:ea typeface="Amiri" pitchFamily="2" charset="-78"/>
                <a:cs typeface="Amiri" pitchFamily="2" charset="-78"/>
              </a:rPr>
              <a:t>انِ</a:t>
            </a:r>
            <a:endParaRPr lang="ar-SA" sz="2400" dirty="0"/>
          </a:p>
        </p:txBody>
      </p:sp>
      <p:sp>
        <p:nvSpPr>
          <p:cNvPr id="48" name="Text 45"/>
          <p:cNvSpPr txBox="1"/>
          <p:nvPr/>
        </p:nvSpPr>
        <p:spPr>
          <a:xfrm>
            <a:off x="566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hand</a:t>
            </a:r>
            <a:endParaRPr lang="en-US" sz="1100" dirty="0"/>
          </a:p>
        </p:txBody>
      </p:sp>
      <p:sp>
        <p:nvSpPr>
          <p:cNvPr id="49" name="Shape 4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0" name="Text 47"/>
          <p:cNvSpPr txBox="1"/>
          <p:nvPr/>
        </p:nvSpPr>
        <p:spPr>
          <a:xfrm>
            <a:off x="9628632" y="5215738"/>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أَنْفٌ</a:t>
            </a:r>
            <a:endParaRPr lang="ar-SA" sz="2600" dirty="0"/>
          </a:p>
        </p:txBody>
      </p:sp>
      <p:sp>
        <p:nvSpPr>
          <p:cNvPr id="51" name="Text 48"/>
          <p:cNvSpPr txBox="1"/>
          <p:nvPr/>
        </p:nvSpPr>
        <p:spPr>
          <a:xfrm>
            <a:off x="8001000" y="521573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t>
            </a:r>
            <a:endParaRPr lang="en-US" sz="1100" dirty="0"/>
          </a:p>
        </p:txBody>
      </p:sp>
      <p:sp>
        <p:nvSpPr>
          <p:cNvPr id="52" name="Text 49"/>
          <p:cNvSpPr txBox="1"/>
          <p:nvPr/>
        </p:nvSpPr>
        <p:spPr>
          <a:xfrm>
            <a:off x="5056632" y="5215738"/>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هٰذَا</a:t>
            </a:r>
            <a:pPr rtl="1" algn="ctr" indent="0" marL="0">
              <a:buNone/>
            </a:pPr>
            <a:r>
              <a:rPr lang="ar-SA" altLang="en-US" sz="2400" b="1" dirty="0">
                <a:solidFill>
                  <a:srgbClr val="1B3B6F"/>
                </a:solidFill>
                <a:latin typeface="Amiri" pitchFamily="2" charset="-78"/>
                <a:ea typeface="Amiri" pitchFamily="2" charset="-78"/>
                <a:cs typeface="Amiri" pitchFamily="2" charset="-78"/>
              </a:rPr>
              <a:t> أَنْفِ</a:t>
            </a:r>
            <a:pPr rtl="1" algn="ctr" indent="0" marL="0">
              <a:buNone/>
            </a:pPr>
            <a:r>
              <a:rPr lang="ar-SA" altLang="en-US" sz="2400" b="1" dirty="0">
                <a:solidFill>
                  <a:srgbClr val="D6336C"/>
                </a:solidFill>
                <a:latin typeface="Amiri" pitchFamily="2" charset="-78"/>
                <a:ea typeface="Amiri" pitchFamily="2" charset="-78"/>
                <a:cs typeface="Amiri" pitchFamily="2" charset="-78"/>
              </a:rPr>
              <a:t>ي</a:t>
            </a:r>
            <a:endParaRPr lang="ar-SA" sz="2400" dirty="0"/>
          </a:p>
        </p:txBody>
      </p:sp>
      <p:sp>
        <p:nvSpPr>
          <p:cNvPr id="53" name="Text 50"/>
          <p:cNvSpPr txBox="1"/>
          <p:nvPr/>
        </p:nvSpPr>
        <p:spPr>
          <a:xfrm>
            <a:off x="2679192" y="5215738"/>
            <a:ext cx="2194560" cy="682142"/>
          </a:xfrm>
          <a:prstGeom prst="rect">
            <a:avLst/>
          </a:prstGeom>
          <a:noFill/>
          <a:ln/>
        </p:spPr>
        <p:txBody>
          <a:bodyPr wrap="square" lIns="0" tIns="0" rIns="0" bIns="0" rtlCol="0" anchor="ctr"/>
          <a:lstStyle/>
          <a:p>
            <a:pPr algn="ctr" indent="0" marL="0">
              <a:buNone/>
            </a:pPr>
            <a:r>
              <a:rPr lang="en-US" sz="2400" b="1" dirty="0">
                <a:solidFill>
                  <a:srgbClr val="1B3B6F"/>
                </a:solidFill>
                <a:latin typeface="Calibri" pitchFamily="34" charset="0"/>
                <a:cs typeface="Amiri" pitchFamily="2" charset="-78"/>
              </a:rPr>
              <a:t>—</a:t>
            </a:r>
            <a:endParaRPr lang="en-US" sz="2400" dirty="0"/>
          </a:p>
        </p:txBody>
      </p:sp>
      <p:sp>
        <p:nvSpPr>
          <p:cNvPr id="54" name="Text 51"/>
          <p:cNvSpPr txBox="1"/>
          <p:nvPr/>
        </p:nvSpPr>
        <p:spPr>
          <a:xfrm>
            <a:off x="566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nose</a:t>
            </a:r>
            <a:endParaRPr lang="en-US" sz="110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 -a ending but still feminine: ‘ayn, udhun, yad, rijl, qadam → hādhihi.</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WHAT IS WRONG, AND SINCE WHEN? (WEBSITE F5 LESSON 8 RULES · TOPIC A)</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 have … pain in my … since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عِنْدِي · أَلَمٌ فِي · مُنْذُ</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2344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NAME IT · CORE</a:t>
            </a:r>
            <a:endParaRPr lang="en-US" sz="850" dirty="0"/>
          </a:p>
        </p:txBody>
      </p:sp>
      <p:sp>
        <p:nvSpPr>
          <p:cNvPr id="18" name="Text 15"/>
          <p:cNvSpPr txBox="1"/>
          <p:nvPr/>
        </p:nvSpPr>
        <p:spPr>
          <a:xfrm>
            <a:off x="9512808"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عِنْدِي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عِنْدِي صُدَاعٌ وَحُمَّى.</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have a headache and a fever.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‘indī = I have.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9728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WHERE · CORE</a:t>
            </a:r>
            <a:endParaRPr lang="en-US" sz="850" dirty="0"/>
          </a:p>
        </p:txBody>
      </p:sp>
      <p:sp>
        <p:nvSpPr>
          <p:cNvPr id="26" name="Text 23"/>
          <p:cNvSpPr txBox="1"/>
          <p:nvPr/>
        </p:nvSpPr>
        <p:spPr>
          <a:xfrm>
            <a:off x="5556504"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أَلَمٌ فِي …ي</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عِنْدِي أَلَمٌ فِي ظَهْرِي.</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have pain in my back.</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my = -ī on the body part.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C77700"/>
          </a:solidFill>
          <a:ln w="12700">
            <a:solidFill>
              <a:srgbClr val="C77700"/>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HOW LONG · DEVELOP</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مُنْذُ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ea typeface="Amiri" pitchFamily="2" charset="-78"/>
                <a:cs typeface="Amiri" pitchFamily="2" charset="-78"/>
              </a:rPr>
              <a:t>تُؤْلِمُنِي أَسْنَانِي مُنْذُ يَوْمَيْنِ.</a:t>
            </a:r>
            <a:endParaRPr lang="ar-SA" sz="27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My teeth have hurt for two days.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mundhu = since / for.</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A girl says marīḍa, not marīḍ (website rule “Agree with the speaker”).</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أَنَا مَرِيضَةٌ اليَوْمَ.</a:t>
            </a:r>
            <a:endParaRPr lang="ar-SA" sz="20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150" b="1" dirty="0">
                <a:solidFill>
                  <a:srgbClr val="B83227"/>
                </a:solidFill>
                <a:latin typeface="Amiri" pitchFamily="2" charset="-78"/>
                <a:ea typeface="Amiri" pitchFamily="2" charset="-78"/>
                <a:cs typeface="Amiri" pitchFamily="2" charset="-78"/>
              </a:rPr>
              <a:t>أَنَا مَرِيضٌ اليَوْمَ.</a:t>
            </a:r>
            <a:endParaRPr lang="ar-SA" sz="21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أَسْمَاءُ الإِشَارَةِ وَصِيغَةُ المُثَنَّى</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Use </a:t>
            </a:r>
            <a:pPr algn="l" indent="0" marL="0">
              <a:buNone/>
            </a:pPr>
            <a:r>
              <a:rPr lang="ar-SA" altLang="en-US" sz="1650" b="1" dirty="0">
                <a:solidFill>
                  <a:srgbClr val="1B3B6F"/>
                </a:solidFill>
                <a:latin typeface="Amiri" pitchFamily="2" charset="-78"/>
                <a:ea typeface="Amiri" pitchFamily="2" charset="-78"/>
                <a:cs typeface="Amiri" pitchFamily="2" charset="-78"/>
              </a:rPr>
              <a:t>هٰذَا</a:t>
            </a:r>
            <a:pPr algn="l" indent="0" marL="0">
              <a:buNone/>
            </a:pPr>
            <a:r>
              <a:rPr lang="en-US" sz="1250" b="1" dirty="0">
                <a:solidFill>
                  <a:srgbClr val="1B3B6F"/>
                </a:solidFill>
                <a:latin typeface="Calibri" pitchFamily="34" charset="0"/>
                <a:cs typeface="Amiri" pitchFamily="2" charset="-78"/>
              </a:rPr>
              <a:t> with masculine nouns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هٰذَا + اسْمٌ مُذَكَّرٌ</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هٰذَا رَأْسِي.   ·   هٰذَا أَنْفِي.   ·   هٰذَا فَمِي.</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Use </a:t>
            </a:r>
            <a:pPr algn="l" indent="0" marL="0">
              <a:buNone/>
            </a:pPr>
            <a:r>
              <a:rPr lang="ar-SA" altLang="en-US" sz="1650" b="1" dirty="0">
                <a:solidFill>
                  <a:srgbClr val="1B3B6F"/>
                </a:solidFill>
                <a:latin typeface="Amiri" pitchFamily="2" charset="-78"/>
                <a:ea typeface="Amiri" pitchFamily="2" charset="-78"/>
                <a:cs typeface="Amiri" pitchFamily="2" charset="-78"/>
              </a:rPr>
              <a:t>هٰذِهِ</a:t>
            </a:r>
            <a:pPr algn="l" indent="0" marL="0">
              <a:buNone/>
            </a:pPr>
            <a:r>
              <a:rPr lang="en-US" sz="1250" b="1" dirty="0">
                <a:solidFill>
                  <a:srgbClr val="1B3B6F"/>
                </a:solidFill>
                <a:latin typeface="Calibri" pitchFamily="34" charset="0"/>
                <a:cs typeface="Amiri" pitchFamily="2" charset="-78"/>
              </a:rPr>
              <a:t> with feminine nouns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هٰذِهِ + اسْمٌ مُؤَنَّثٌ</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هٰذِهِ يَدِي.   ·   هٰذِهِ عَيْنِي.   ·   هٰذِهِ أُذُنِي.</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Form the dual</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ـَانِ</a:t>
            </a:r>
            <a:pPr algn="l" indent="0" marL="0">
              <a:buNone/>
            </a:pPr>
            <a:r>
              <a:rPr lang="en-US" sz="1050" dirty="0">
                <a:solidFill>
                  <a:srgbClr val="5A6472"/>
                </a:solidFill>
                <a:latin typeface="Calibri" pitchFamily="34" charset="0"/>
                <a:cs typeface="Amiri" pitchFamily="2" charset="-78"/>
              </a:rPr>
              <a:t> (subject) · </a:t>
            </a:r>
            <a:pPr algn="l" indent="0" marL="0">
              <a:buNone/>
            </a:pPr>
            <a:r>
              <a:rPr lang="ar-SA" altLang="en-US" sz="1350" dirty="0">
                <a:solidFill>
                  <a:srgbClr val="5A6472"/>
                </a:solidFill>
                <a:latin typeface="Amiri" pitchFamily="2" charset="-78"/>
                <a:ea typeface="Amiri" pitchFamily="2" charset="-78"/>
                <a:cs typeface="Amiri" pitchFamily="2" charset="-78"/>
              </a:rPr>
              <a:t>ـَيْنِ</a:t>
            </a:r>
            <a:pPr algn="l" indent="0" marL="0">
              <a:buNone/>
            </a:pPr>
            <a:r>
              <a:rPr lang="en-US" sz="1050" dirty="0">
                <a:solidFill>
                  <a:srgbClr val="5A6472"/>
                </a:solidFill>
                <a:latin typeface="Calibri" pitchFamily="34" charset="0"/>
                <a:cs typeface="Amiri" pitchFamily="2" charset="-78"/>
              </a:rPr>
              <a:t> (other positions)</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لِي عَيْنَانِ.   ·   أَغْسِلُ يَدَيْنِ.   ·   أَرَى بِعَيْنَيْنِ.</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Add the possessive ending</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اسْمُ الجِسْمِ + ـِي</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رَأْسِي   ·   يَدِي   ·   عَيْنَايَ</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is my hand.”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يَدِي.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يَدُكَ.</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يَدِي.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means “my head”?</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رَأْسِي</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رَأْسُهُ</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رَأْسُكَ</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dual form?</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عَيْنٌ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عَيْنَانِ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عُيُونٌ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demonstrative for </a:t>
            </a:r>
            <a:pPr algn="l" indent="0" marL="0">
              <a:buNone/>
            </a:pPr>
            <a:r>
              <a:rPr lang="ar-SA" altLang="en-US" sz="1650" b="1" dirty="0">
                <a:solidFill>
                  <a:srgbClr val="1B3B6F"/>
                </a:solidFill>
                <a:latin typeface="Amiri" pitchFamily="2" charset="-78"/>
                <a:ea typeface="Amiri" pitchFamily="2" charset="-78"/>
                <a:cs typeface="Amiri" pitchFamily="2" charset="-78"/>
              </a:rPr>
              <a:t>أَنْفٌ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هٰؤُلَاءِ</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is my hand.”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يَدِي.</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هٰذِهِ يَدُكَ.</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هٰذِهِ يَدِي.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يَدٌ</a:t>
            </a:r>
            <a:pPr algn="l" indent="0" marL="0">
              <a:buNone/>
            </a:pPr>
            <a:r>
              <a:rPr lang="en-US" sz="1050" i="1" dirty="0">
                <a:solidFill>
                  <a:srgbClr val="8A6D1E"/>
                </a:solidFill>
                <a:latin typeface="Calibri" pitchFamily="34" charset="0"/>
                <a:cs typeface="Amiri" pitchFamily="2" charset="-78"/>
              </a:rPr>
              <a:t> is grammatically feminine.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means “my head”?</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رَأْسِي</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رَأْسُهُ</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رَأْسُكَ</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suffix </a:t>
            </a:r>
            <a:pPr algn="l" indent="0" marL="0">
              <a:buNone/>
            </a:pPr>
            <a:r>
              <a:rPr lang="ar-SA" altLang="en-US" sz="1350" dirty="0">
                <a:solidFill>
                  <a:srgbClr val="8A6D1E"/>
                </a:solidFill>
                <a:latin typeface="Amiri" pitchFamily="2" charset="-78"/>
                <a:ea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 means “my”.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dual form?</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عَيْنٌ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عَيْنَانِ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عُيُونٌ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ending </a:t>
            </a:r>
            <a:pPr algn="l" indent="0" marL="0">
              <a:buNone/>
            </a:pPr>
            <a:r>
              <a:rPr lang="ar-SA" altLang="en-US" sz="1350" dirty="0">
                <a:solidFill>
                  <a:srgbClr val="8A6D1E"/>
                </a:solidFill>
                <a:latin typeface="Amiri" pitchFamily="2" charset="-78"/>
                <a:ea typeface="Amiri" pitchFamily="2" charset="-78"/>
                <a:cs typeface="Amiri" pitchFamily="2" charset="-78"/>
              </a:rPr>
              <a:t>ـانِ</a:t>
            </a:r>
            <a:pPr algn="l" indent="0" marL="0">
              <a:buNone/>
            </a:pPr>
            <a:r>
              <a:rPr lang="en-US" sz="1050" i="1" dirty="0">
                <a:solidFill>
                  <a:srgbClr val="8A6D1E"/>
                </a:solidFill>
                <a:latin typeface="Calibri" pitchFamily="34" charset="0"/>
                <a:cs typeface="Amiri" pitchFamily="2" charset="-78"/>
              </a:rPr>
              <a:t> marks the dual here.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demonstrative for </a:t>
            </a:r>
            <a:pPr algn="l" indent="0" marL="0">
              <a:buNone/>
            </a:pPr>
            <a:r>
              <a:rPr lang="ar-SA" altLang="en-US" sz="1650" b="1" dirty="0">
                <a:solidFill>
                  <a:srgbClr val="1B3B6F"/>
                </a:solidFill>
                <a:latin typeface="Amiri" pitchFamily="2" charset="-78"/>
                <a:ea typeface="Amiri" pitchFamily="2" charset="-78"/>
                <a:cs typeface="Amiri" pitchFamily="2" charset="-78"/>
              </a:rPr>
              <a:t>أَنْفٌ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هٰذِهِ</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هٰؤُلَاءِ</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أَنْفٌ</a:t>
            </a:r>
            <a:pPr algn="l" indent="0" marL="0">
              <a:buNone/>
            </a:pPr>
            <a:r>
              <a:rPr lang="en-US" sz="1050" i="1" dirty="0">
                <a:solidFill>
                  <a:srgbClr val="8A6D1E"/>
                </a:solidFill>
                <a:latin typeface="Calibri" pitchFamily="34" charset="0"/>
                <a:cs typeface="Amiri" pitchFamily="2" charset="-78"/>
              </a:rPr>
              <a:t> is masculine singular.</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explain what is wrong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Show</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هٰذَا</a:t>
            </a:r>
            <a:pPr rtl="1" algn="ctr" indent="0" marL="0">
              <a:buNone/>
            </a:pPr>
            <a:r>
              <a:rPr lang="ar-SA" altLang="en-US" sz="2400" b="1" dirty="0">
                <a:solidFill>
                  <a:srgbClr val="1B3B6F"/>
                </a:solidFill>
                <a:latin typeface="Amiri" pitchFamily="2" charset="-78"/>
                <a:ea typeface="Amiri" pitchFamily="2" charset="-78"/>
                <a:cs typeface="Amiri" pitchFamily="2" charset="-78"/>
              </a:rPr>
              <a:t> رَأْسِ</a:t>
            </a:r>
            <a:pPr rtl="1" algn="ctr" indent="0" marL="0">
              <a:buNone/>
            </a:pPr>
            <a:r>
              <a:rPr lang="ar-SA" altLang="en-US" sz="2400" b="1" dirty="0">
                <a:solidFill>
                  <a:srgbClr val="D6336C"/>
                </a:solidFill>
                <a:latin typeface="Amiri" pitchFamily="2" charset="-78"/>
                <a:ea typeface="Amiri" pitchFamily="2" charset="-78"/>
                <a:cs typeface="Amiri" pitchFamily="2" charset="-78"/>
              </a:rPr>
              <a:t>ي</a:t>
            </a:r>
            <a:pPr rtl="1" algn="ctr" indent="0" marL="0">
              <a:buNone/>
            </a:pPr>
            <a:r>
              <a:rPr lang="ar-SA" altLang="en-US" sz="2400" b="1" dirty="0">
                <a:solidFill>
                  <a:srgbClr val="1B3B6F"/>
                </a:solidFill>
                <a:latin typeface="Amiri" pitchFamily="2" charset="-78"/>
                <a:ea typeface="Amiri" pitchFamily="2" charset="-78"/>
                <a:cs typeface="Amiri" pitchFamily="2" charset="-78"/>
              </a:rPr>
              <a:t>، وَ</a:t>
            </a:r>
            <a:pPr rtl="1" algn="ctr" indent="0" marL="0">
              <a:buNone/>
            </a:pPr>
            <a:r>
              <a:rPr lang="ar-SA" altLang="en-US" sz="2400" b="1" dirty="0">
                <a:solidFill>
                  <a:srgbClr val="C77700"/>
                </a:solidFill>
                <a:latin typeface="Amiri" pitchFamily="2" charset="-78"/>
                <a:ea typeface="Amiri" pitchFamily="2" charset="-78"/>
                <a:cs typeface="Amiri" pitchFamily="2" charset="-78"/>
              </a:rPr>
              <a:t>هٰذِهِ</a:t>
            </a:r>
            <a:pPr rtl="1" algn="ctr" indent="0" marL="0">
              <a:buNone/>
            </a:pPr>
            <a:r>
              <a:rPr lang="ar-SA" altLang="en-US" sz="2400" b="1" dirty="0">
                <a:solidFill>
                  <a:srgbClr val="1B3B6F"/>
                </a:solidFill>
                <a:latin typeface="Amiri" pitchFamily="2" charset="-78"/>
                <a:ea typeface="Amiri" pitchFamily="2" charset="-78"/>
                <a:cs typeface="Amiri" pitchFamily="2" charset="-78"/>
              </a:rPr>
              <a:t> عَيْنِ</a:t>
            </a:r>
            <a:pPr rtl="1" algn="ctr" indent="0" marL="0">
              <a:buNone/>
            </a:pPr>
            <a:r>
              <a:rPr lang="ar-SA" altLang="en-US" sz="2400" b="1" dirty="0">
                <a:solidFill>
                  <a:srgbClr val="D6336C"/>
                </a:solidFill>
                <a:latin typeface="Amiri" pitchFamily="2" charset="-78"/>
                <a:ea typeface="Amiri" pitchFamily="2" charset="-78"/>
                <a:cs typeface="Amiri" pitchFamily="2" charset="-78"/>
              </a:rPr>
              <a:t>ي</a:t>
            </a:r>
            <a:pPr rtl="1" algn="ctr" indent="0" marL="0">
              <a:buNone/>
            </a:pPr>
            <a:r>
              <a:rPr lang="ar-SA" altLang="en-US" sz="2400" b="1" dirty="0">
                <a:solidFill>
                  <a:srgbClr val="1B3B6F"/>
                </a:solidFill>
                <a:latin typeface="Amiri" pitchFamily="2" charset="-78"/>
                <a:cs typeface="Amiri" pitchFamily="2" charset="-78"/>
              </a:rPr>
              <a:t>.</a:t>
            </a:r>
            <a:endParaRPr lang="ar-SA" sz="24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Head m. → hādhā. Eye f. → hādhihi.</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Name it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أَنَا مَرِيضٌ اليَوْمَ. عِنْدِي صُدَاعٌ.</a:t>
            </a:r>
            <a:endParaRPr lang="ar-SA" sz="18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 have = ‘indī.</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Where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عِنْدِي أَلَمٌ فِي عَيْنَيَّ أَيْضًا.</a:t>
            </a:r>
            <a:endParaRPr lang="ar-SA" sz="22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Both eyes: ‘aynayya.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How long</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ea typeface="Amiri" pitchFamily="2" charset="-78"/>
                <a:cs typeface="Amiri" pitchFamily="2" charset="-78"/>
              </a:rPr>
              <a:t>مُنْذُ</a:t>
            </a:r>
            <a:pPr rtl="1" algn="ctr" indent="0" marL="0">
              <a:buNone/>
            </a:pPr>
            <a:r>
              <a:rPr lang="ar-SA" altLang="en-US" sz="2800" b="1" dirty="0">
                <a:solidFill>
                  <a:srgbClr val="1B3B6F"/>
                </a:solidFill>
                <a:latin typeface="Amiri" pitchFamily="2" charset="-78"/>
                <a:ea typeface="Amiri" pitchFamily="2" charset="-78"/>
                <a:cs typeface="Amiri" pitchFamily="2" charset="-78"/>
              </a:rPr>
              <a:t> يَوْمَيْنِ.</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Duration: mundhu.</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THIS (M.)</a:t>
            </a:r>
            <a:endParaRPr lang="en-US" sz="800" dirty="0"/>
          </a:p>
        </p:txBody>
      </p:sp>
      <p:sp>
        <p:nvSpPr>
          <p:cNvPr id="47" name="Shape 43"/>
          <p:cNvSpPr/>
          <p:nvPr/>
        </p:nvSpPr>
        <p:spPr>
          <a:xfrm>
            <a:off x="8540496" y="4736592"/>
            <a:ext cx="914400" cy="237744"/>
          </a:xfrm>
          <a:prstGeom prst="roundRect">
            <a:avLst>
              <a:gd name="adj" fmla="val 50000"/>
            </a:avLst>
          </a:prstGeom>
          <a:solidFill>
            <a:srgbClr val="C77700"/>
          </a:solidFill>
          <a:ln w="12700">
            <a:solidFill>
              <a:srgbClr val="C77700"/>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THIS (F.)</a:t>
            </a:r>
            <a:endParaRPr lang="en-US" sz="800" dirty="0"/>
          </a:p>
        </p:txBody>
      </p:sp>
      <p:sp>
        <p:nvSpPr>
          <p:cNvPr id="49" name="Shape 45"/>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MY</a:t>
            </a:r>
            <a:endParaRPr lang="en-US" sz="800" dirty="0"/>
          </a:p>
        </p:txBody>
      </p:sp>
      <p:sp>
        <p:nvSpPr>
          <p:cNvPr id="51" name="Shape 47"/>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SINCE</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200" b="1" dirty="0">
                <a:solidFill>
                  <a:srgbClr val="1D5FBF"/>
                </a:solidFill>
                <a:latin typeface="Amiri" pitchFamily="2" charset="-78"/>
                <a:ea typeface="Amiri" pitchFamily="2" charset="-78"/>
                <a:cs typeface="Amiri" pitchFamily="2" charset="-78"/>
              </a:rPr>
              <a:t>هٰذَا</a:t>
            </a:r>
            <a:pPr rtl="1" algn="r" indent="0" marL="0">
              <a:buNone/>
            </a:pPr>
            <a:r>
              <a:rPr lang="ar-SA" altLang="en-US" sz="2200" b="1" dirty="0">
                <a:solidFill>
                  <a:srgbClr val="1B3B6F"/>
                </a:solidFill>
                <a:latin typeface="Amiri" pitchFamily="2" charset="-78"/>
                <a:ea typeface="Amiri" pitchFamily="2" charset="-78"/>
                <a:cs typeface="Amiri" pitchFamily="2" charset="-78"/>
              </a:rPr>
              <a:t> رَأْسِ</a:t>
            </a:r>
            <a:pPr rtl="1" algn="r" indent="0" marL="0">
              <a:buNone/>
            </a:pPr>
            <a:r>
              <a:rPr lang="ar-SA" altLang="en-US" sz="2200" b="1" dirty="0">
                <a:solidFill>
                  <a:srgbClr val="D6336C"/>
                </a:solidFill>
                <a:latin typeface="Amiri" pitchFamily="2" charset="-78"/>
                <a:ea typeface="Amiri" pitchFamily="2" charset="-78"/>
                <a:cs typeface="Amiri" pitchFamily="2" charset="-78"/>
              </a:rPr>
              <a:t>ي</a:t>
            </a:r>
            <a:pPr rtl="1" algn="r" indent="0" marL="0">
              <a:buNone/>
            </a:pPr>
            <a:r>
              <a:rPr lang="ar-SA" altLang="en-US" sz="2200" b="1" dirty="0">
                <a:solidFill>
                  <a:srgbClr val="1B3B6F"/>
                </a:solidFill>
                <a:latin typeface="Amiri" pitchFamily="2" charset="-78"/>
                <a:ea typeface="Amiri" pitchFamily="2" charset="-78"/>
                <a:cs typeface="Amiri" pitchFamily="2" charset="-78"/>
              </a:rPr>
              <a:t>، وَ</a:t>
            </a:r>
            <a:pPr rtl="1" algn="r" indent="0" marL="0">
              <a:buNone/>
            </a:pPr>
            <a:r>
              <a:rPr lang="ar-SA" altLang="en-US" sz="2200" b="1" dirty="0">
                <a:solidFill>
                  <a:srgbClr val="C77700"/>
                </a:solidFill>
                <a:latin typeface="Amiri" pitchFamily="2" charset="-78"/>
                <a:ea typeface="Amiri" pitchFamily="2" charset="-78"/>
                <a:cs typeface="Amiri" pitchFamily="2" charset="-78"/>
              </a:rPr>
              <a:t>هٰذِهِ</a:t>
            </a:r>
            <a:pPr rtl="1" algn="r" indent="0" marL="0">
              <a:buNone/>
            </a:pPr>
            <a:r>
              <a:rPr lang="ar-SA" altLang="en-US" sz="2200" b="1" dirty="0">
                <a:solidFill>
                  <a:srgbClr val="1B3B6F"/>
                </a:solidFill>
                <a:latin typeface="Amiri" pitchFamily="2" charset="-78"/>
                <a:ea typeface="Amiri" pitchFamily="2" charset="-78"/>
                <a:cs typeface="Amiri" pitchFamily="2" charset="-78"/>
              </a:rPr>
              <a:t> عَيْنِ</a:t>
            </a:r>
            <a:pPr rtl="1" algn="r" indent="0" marL="0">
              <a:buNone/>
            </a:pPr>
            <a:r>
              <a:rPr lang="ar-SA" altLang="en-US" sz="2200" b="1" dirty="0">
                <a:solidFill>
                  <a:srgbClr val="D6336C"/>
                </a:solidFill>
                <a:latin typeface="Amiri" pitchFamily="2" charset="-78"/>
                <a:ea typeface="Amiri" pitchFamily="2" charset="-78"/>
                <a:cs typeface="Amiri" pitchFamily="2" charset="-78"/>
              </a:rPr>
              <a:t>ي</a:t>
            </a:r>
            <a:pPr rtl="1" algn="r" indent="0" marL="0">
              <a:buNone/>
            </a:pPr>
            <a:r>
              <a:rPr lang="ar-SA" altLang="en-US" sz="2200" b="1" dirty="0">
                <a:solidFill>
                  <a:srgbClr val="1B3B6F"/>
                </a:solidFill>
                <a:latin typeface="Amiri" pitchFamily="2" charset="-78"/>
                <a:ea typeface="Amiri" pitchFamily="2" charset="-78"/>
                <a:cs typeface="Amiri" pitchFamily="2" charset="-78"/>
              </a:rPr>
              <a:t>. أَنَا مَرِيضٌ اليَوْمَ: عِنْدِي صُدَاعٌ، وَعِنْدِي أَلَمٌ فِي عَيْنَيَّ أَيْضًا </a:t>
            </a:r>
            <a:pPr rtl="1" algn="r" indent="0" marL="0">
              <a:buNone/>
            </a:pPr>
            <a:r>
              <a:rPr lang="ar-SA" altLang="en-US" sz="2200" b="1" dirty="0">
                <a:solidFill>
                  <a:srgbClr val="0E7C86"/>
                </a:solidFill>
                <a:latin typeface="Amiri" pitchFamily="2" charset="-78"/>
                <a:ea typeface="Amiri" pitchFamily="2" charset="-78"/>
                <a:cs typeface="Amiri" pitchFamily="2" charset="-78"/>
              </a:rPr>
              <a:t>مُنْذُ</a:t>
            </a:r>
            <a:pPr rtl="1" algn="r" indent="0" marL="0">
              <a:buNone/>
            </a:pPr>
            <a:r>
              <a:rPr lang="ar-SA" altLang="en-US" sz="2200" b="1" dirty="0">
                <a:solidFill>
                  <a:srgbClr val="1B3B6F"/>
                </a:solidFill>
                <a:latin typeface="Amiri" pitchFamily="2" charset="-78"/>
                <a:ea typeface="Amiri" pitchFamily="2" charset="-78"/>
                <a:cs typeface="Amiri" pitchFamily="2" charset="-78"/>
              </a:rPr>
              <a:t> يَوْمَيْنِ. أُرِيدُ أَنْ أَرْتَاحَ.</a:t>
            </a:r>
            <a:endParaRPr lang="ar-SA" sz="22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This is my head, and this is my eye. I am ill today: I have a headache, and I also have pain in my eyes, for two days. I want to rest.</a:t>
            </a:r>
            <a:endParaRPr lang="en-US" sz="13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هٰذَا رَأْسِي، وَهٰذِهِ يَدِي.</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is my head, and this is my hand.</a:t>
            </a:r>
            <a:endParaRPr lang="en-US" sz="1250" dirty="0"/>
          </a:p>
          <a:p>
            <a:pPr indent="0" marL="0">
              <a:buNone/>
            </a:pPr>
            <a:r>
              <a:rPr lang="en-US" sz="1050" i="1" dirty="0">
                <a:solidFill>
                  <a:srgbClr val="8A6D1E"/>
                </a:solidFill>
                <a:latin typeface="Calibri" pitchFamily="34" charset="0"/>
                <a:cs typeface="Amiri" pitchFamily="2" charset="-78"/>
              </a:rPr>
              <a:t>Choose the demonstrative according to noun gender.</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لِي عَيْنَانِ وَأُذُنَانِ.</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have two eyes and two ears.</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The dual ending -انِ signals two in this form.</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نَرَى بِأَعْيُنِنَا، وَنَسْمَعُ بِآذَانِنَا.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see with our eyes and hear with our ears.</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بِـ can express the body part used.</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القَلْبُ فِي الصَّدْرِ، وَالمَعِدَةُ فِي البَطْنِ.</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heart is in the chest, and the stomach is in the abdomen.</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Use فِي to locate internal organs.</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WE DO · PICTURE MATCH · WEBSITE GAME “VISUAL GAME — THE BODY AND ITS PARTS”</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This or this?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أَجْزَاءُ الجِسْمِ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two eyes</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558698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28" name="Text 2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nose (face)</a:t>
            </a:r>
            <a:endParaRPr lang="en-US" sz="1100" dirty="0"/>
          </a:p>
        </p:txBody>
      </p:sp>
      <p:sp>
        <p:nvSpPr>
          <p:cNvPr id="29" name="Shape 2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4"/>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Shape 26"/>
          <p:cNvSpPr/>
          <p:nvPr/>
        </p:nvSpPr>
        <p:spPr>
          <a:xfrm>
            <a:off x="176784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34" name="Text 2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hand</a:t>
            </a:r>
            <a:endParaRPr lang="en-US" sz="1100" dirty="0"/>
          </a:p>
        </p:txBody>
      </p:sp>
      <p:sp>
        <p:nvSpPr>
          <p:cNvPr id="35" name="Shape 28"/>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6" name="Shape 29"/>
          <p:cNvSpPr/>
          <p:nvPr/>
        </p:nvSpPr>
        <p:spPr>
          <a:xfrm>
            <a:off x="11247120" y="3831336"/>
            <a:ext cx="292608" cy="292608"/>
          </a:xfrm>
          <a:prstGeom prst="ellipse">
            <a:avLst/>
          </a:prstGeom>
          <a:solidFill>
            <a:srgbClr val="2F6FB0"/>
          </a:solidFill>
          <a:ln w="12700">
            <a:solidFill>
              <a:srgbClr val="2F6FB0"/>
            </a:solidFill>
            <a:prstDash val="solid"/>
          </a:ln>
        </p:spPr>
      </p:sp>
      <p:sp>
        <p:nvSpPr>
          <p:cNvPr id="37" name="Text 30"/>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8" name="Text 31"/>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يَدٌ.</a:t>
            </a:r>
            <a:endParaRPr lang="ar-SA" sz="2000" dirty="0"/>
          </a:p>
        </p:txBody>
      </p:sp>
      <p:sp>
        <p:nvSpPr>
          <p:cNvPr id="39" name="Shape 32"/>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0" name="Shape 33"/>
          <p:cNvSpPr/>
          <p:nvPr/>
        </p:nvSpPr>
        <p:spPr>
          <a:xfrm>
            <a:off x="11247120" y="4398264"/>
            <a:ext cx="292608" cy="292608"/>
          </a:xfrm>
          <a:prstGeom prst="ellipse">
            <a:avLst/>
          </a:prstGeom>
          <a:solidFill>
            <a:srgbClr val="2F6FB0"/>
          </a:solidFill>
          <a:ln w="12700">
            <a:solidFill>
              <a:srgbClr val="2F6FB0"/>
            </a:solidFill>
            <a:prstDash val="solid"/>
          </a:ln>
        </p:spPr>
      </p:sp>
      <p:sp>
        <p:nvSpPr>
          <p:cNvPr id="41" name="Text 34"/>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2" name="Text 35"/>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العَيْنَانِ.</a:t>
            </a:r>
            <a:endParaRPr lang="ar-SA" sz="2000" dirty="0"/>
          </a:p>
        </p:txBody>
      </p:sp>
      <p:sp>
        <p:nvSpPr>
          <p:cNvPr id="43" name="Shape 36"/>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4" name="Shape 37"/>
          <p:cNvSpPr/>
          <p:nvPr/>
        </p:nvSpPr>
        <p:spPr>
          <a:xfrm>
            <a:off x="11247120" y="4965192"/>
            <a:ext cx="292608" cy="292608"/>
          </a:xfrm>
          <a:prstGeom prst="ellipse">
            <a:avLst/>
          </a:prstGeom>
          <a:solidFill>
            <a:srgbClr val="2F6FB0"/>
          </a:solidFill>
          <a:ln w="12700">
            <a:solidFill>
              <a:srgbClr val="2F6FB0"/>
            </a:solidFill>
            <a:prstDash val="solid"/>
          </a:ln>
        </p:spPr>
      </p:sp>
      <p:sp>
        <p:nvSpPr>
          <p:cNvPr id="45" name="Text 38"/>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6" name="Text 39"/>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هٰذَا أَنْفٌ.</a:t>
            </a:r>
            <a:endParaRPr lang="ar-SA" sz="2000" dirty="0"/>
          </a:p>
        </p:txBody>
      </p:sp>
      <p:sp>
        <p:nvSpPr>
          <p:cNvPr id="47" name="Text 40"/>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8" name="Text 41"/>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9"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أَجْزَاءُ الجِسْمِ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two eyes</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العَيْنَانِ.</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These are the two eyes.</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558698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33"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nose (face)</a:t>
            </a:r>
            <a:endParaRPr lang="en-US" sz="1100" dirty="0"/>
          </a:p>
        </p:txBody>
      </p:sp>
      <p:sp>
        <p:nvSpPr>
          <p:cNvPr id="34" name="Shape 28"/>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9"/>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30"/>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7" name="Text 31"/>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هٰذَا أَنْفٌ.</a:t>
            </a:r>
            <a:endParaRPr lang="ar-SA" sz="2200" dirty="0"/>
          </a:p>
        </p:txBody>
      </p:sp>
      <p:sp>
        <p:nvSpPr>
          <p:cNvPr id="38" name="Text 32"/>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nose.</a:t>
            </a:r>
            <a:endParaRPr lang="en-US" sz="1200" dirty="0"/>
          </a:p>
        </p:txBody>
      </p:sp>
      <p:sp>
        <p:nvSpPr>
          <p:cNvPr id="39" name="Shape 3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4"/>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2" name="Shape 36"/>
          <p:cNvSpPr/>
          <p:nvPr/>
        </p:nvSpPr>
        <p:spPr>
          <a:xfrm>
            <a:off x="176784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44" name="Text 3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hand</a:t>
            </a:r>
            <a:endParaRPr lang="en-US" sz="1100" dirty="0"/>
          </a:p>
        </p:txBody>
      </p:sp>
      <p:sp>
        <p:nvSpPr>
          <p:cNvPr id="45" name="Shape 38"/>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6" name="Shape 39"/>
          <p:cNvSpPr/>
          <p:nvPr/>
        </p:nvSpPr>
        <p:spPr>
          <a:xfrm>
            <a:off x="3617976" y="3785616"/>
            <a:ext cx="329184" cy="329184"/>
          </a:xfrm>
          <a:prstGeom prst="ellipse">
            <a:avLst/>
          </a:prstGeom>
          <a:solidFill>
            <a:srgbClr val="2E8B57"/>
          </a:solidFill>
          <a:ln w="12700">
            <a:solidFill>
              <a:srgbClr val="2E8B57"/>
            </a:solidFill>
            <a:prstDash val="solid"/>
          </a:ln>
        </p:spPr>
      </p:sp>
      <p:sp>
        <p:nvSpPr>
          <p:cNvPr id="47" name="Text 40"/>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8" name="Text 41"/>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يَدٌ.</a:t>
            </a:r>
            <a:endParaRPr lang="ar-SA" sz="2200" dirty="0"/>
          </a:p>
        </p:txBody>
      </p:sp>
      <p:sp>
        <p:nvSpPr>
          <p:cNvPr id="49" name="Text 42"/>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hand.</a:t>
            </a:r>
            <a:endParaRPr lang="en-US" sz="1200" dirty="0"/>
          </a:p>
        </p:txBody>
      </p:sp>
      <p:sp>
        <p:nvSpPr>
          <p:cNvPr id="50"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Masculine or feminine?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رَأْسٌ</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يَدٌ</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عَيْنٌ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أَنْفٌ</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رُكْبَةٌ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فَمٌ</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قَدَمٌ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ظَهْرٌ</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this (m.) · هٰذَا</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this (f.) · هٰذِهِ</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this (m.) · هٰذَا</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رَأْسٌ</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أَنْفٌ</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فَمٌ</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ظَهْرٌ</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this (f.) · هٰذِهِ</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يَدٌ</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عَيْنٌ</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رُكْبَةٌ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قَدَمٌ</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أَرَى ___ عَيْنَيَّ.</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locates the heart?</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القَلْبُ بِالصَّدْرِ.</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القَلْبُ فِي الصَّدْرِ.</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القَلْبُ مِنَ الصَّدْرِ.</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demonstrative: ___ </a:t>
            </a:r>
            <a:pPr algn="l" indent="0" marL="0">
              <a:buNone/>
            </a:pPr>
            <a:r>
              <a:rPr lang="ar-SA" altLang="en-US" sz="1650" b="1" dirty="0">
                <a:solidFill>
                  <a:srgbClr val="1B3B6F"/>
                </a:solidFill>
                <a:latin typeface="Amiri" pitchFamily="2" charset="-78"/>
                <a:ea typeface="Amiri" pitchFamily="2" charset="-78"/>
                <a:cs typeface="Amiri" pitchFamily="2" charset="-78"/>
              </a:rPr>
              <a:t>يَدِي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هَؤُلَاءِ</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“I have two eyes”?</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عِنْدِي اثْنَانِ عَيْنٌ.</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 عَيْنٌ اثْنَانِ.</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 عَيْنَانِ.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أَرَى ___ عَيْنَيَّ.</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expresses the body part used.</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locates the heart?</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القَلْبُ بِالصَّدْرِ.</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القَلْبُ فِي الصَّدْرِ.</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القَلْبُ مِنَ الصَّدْرِ.</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 to say where it is.</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demonstrative: ___ </a:t>
            </a:r>
            <a:pPr algn="l" indent="0" marL="0">
              <a:buNone/>
            </a:pPr>
            <a:r>
              <a:rPr lang="ar-SA" altLang="en-US" sz="1650" b="1" dirty="0">
                <a:solidFill>
                  <a:srgbClr val="1B3B6F"/>
                </a:solidFill>
                <a:latin typeface="Amiri" pitchFamily="2" charset="-78"/>
                <a:ea typeface="Amiri" pitchFamily="2" charset="-78"/>
                <a:cs typeface="Amiri" pitchFamily="2" charset="-78"/>
              </a:rPr>
              <a:t>يَدِي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هٰذِهِ</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هَؤُلَاءِ</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يَدٌ</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“I have two eyes”?</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عِنْدِي اثْنَانِ عَيْنٌ.</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لِي عَيْنٌ اثْنَانِ.</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لِي عَيْنَانِ.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the dual form </a:t>
            </a:r>
            <a:pPr algn="l" indent="0" marL="0">
              <a:buNone/>
            </a:pPr>
            <a:r>
              <a:rPr lang="ar-SA" altLang="en-US" sz="1350" dirty="0">
                <a:solidFill>
                  <a:srgbClr val="8A6D1E"/>
                </a:solidFill>
                <a:latin typeface="Amiri" pitchFamily="2" charset="-78"/>
                <a:ea typeface="Amiri" pitchFamily="2" charset="-78"/>
                <a:cs typeface="Amiri" pitchFamily="2" charset="-78"/>
              </a:rPr>
              <a:t>عَيْنَانِ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هٰذَا يَدِي.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 hand is masculine or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عِنْدِي اثْنَانِ عَيْنٌ.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Two eyes: which form?</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نَسْمَعُ بِالعَيْنِ.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We hear with which part?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هٰذَا يَدِي.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هٰذِهِ يَدِي.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يَدٌ</a:t>
            </a:r>
            <a:pPr algn="l" indent="0" marL="0">
              <a:buNone/>
            </a:pPr>
            <a:r>
              <a:rPr lang="en-US" sz="1150" b="1" dirty="0">
                <a:solidFill>
                  <a:srgbClr val="1B3B6F"/>
                </a:solidFill>
                <a:latin typeface="Calibri" pitchFamily="34" charset="0"/>
                <a:cs typeface="Amiri" pitchFamily="2" charset="-78"/>
              </a:rPr>
              <a:t> is grammatically feminine.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عِنْدِي اثْنَانِ عَيْنٌ.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لِي عَيْنَانِ.</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the dual noun form for two eyes.</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نَسْمَعُ بِالعَيْنِ.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نَسْمَعُ بِالأُذُنِ.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Hearing is associated with the ear; the correction also reinforces the correct noun.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 and identify the body part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body part is used to see?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eyes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ears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nose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body part is used to smell?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mouth</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hand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nose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hand is used for writing?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left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right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do when tired?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puts a hand on the chest and breathes deeply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touches the head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sits on the floor</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and 2.</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بِعَيْنَيَّ</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بِأَنْفِي</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يَدِي</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أَرَى بِعَيْنَيَّ، وَأَسْمَعُ بِأُذُنَيَّ.</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see with my eyes, and I hear with my ears.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أَشُمُّ بِأَنْفِي، وَآكُلُ بِفَمِي.</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smell with my nose, and I eat with my mouth.</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أَكْتُبُ بِيَدِي اليُمْنَى،</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write with my right hand,</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وَأَرْكُضُ بِرِجْلَيَّ وَقَدَمَيَّ.</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I run with my legs and feet.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عِنْدَمَا أَتَعَبُ، أَضَعُ يَدِي عَلَى صَدْرِي وَأَتَنَفَّسُ بِعُمْقٍ.</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I get tired, I put my hand on my chest and breathe deeply.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body part is used to see?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eyes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ears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nose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عَيْنَيَّ</a:t>
            </a:r>
            <a:pPr algn="l" indent="0" marL="0">
              <a:buNone/>
            </a:pPr>
            <a:r>
              <a:rPr lang="en-US" sz="1050" i="1" dirty="0">
                <a:solidFill>
                  <a:srgbClr val="8A6D1E"/>
                </a:solidFill>
                <a:latin typeface="Calibri" pitchFamily="34" charset="0"/>
                <a:cs typeface="Amiri" pitchFamily="2" charset="-78"/>
              </a:rPr>
              <a:t> are the eyes.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body part is used to smell?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mouth</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hand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nose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أَنْفِي</a:t>
            </a:r>
            <a:pPr algn="l" indent="0" marL="0">
              <a:buNone/>
            </a:pPr>
            <a:r>
              <a:rPr lang="en-US" sz="1050" i="1" dirty="0">
                <a:solidFill>
                  <a:srgbClr val="8A6D1E"/>
                </a:solidFill>
                <a:latin typeface="Calibri" pitchFamily="34" charset="0"/>
                <a:cs typeface="Amiri" pitchFamily="2" charset="-78"/>
              </a:rPr>
              <a:t> is my nose.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hand is used for writing?</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left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right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يَدِي اليُمْنَى.</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do when tired?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puts a hand on the chest and breathes deeply</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touches the head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sits on the floor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sentence states both actions.</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and 2.</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بِعَيْنَيَّ</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بِأَنْفِي</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يَدِي</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A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Symptom detective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A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Symptom detective</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Describe a health problem without naming it. Partners identify the symptom, body part and likely duration, then ask one sensible follow-up question.</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gives each student a secret problem in a private chat.</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Describe it without naming it: where, how it feels, how long.</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class guesses the symptom, the body part and the duration.</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describer answers one follow-up question (since when? where exactly?).</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Clue with one body part: “‘indī alam fī …ī” — the class names the symptom.</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clues + a duration with mundhu; guessers answer in a full sentence.</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Describe it as a third person (‘indahu / ‘indahā) and answer a follow-up question.</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عِنْدِي أَلَمٌ فِي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have pain in my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مُنْذُ أَمْسِ</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since yesterday</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مُنْذُ مَتَى؟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since when?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هَلْ عِنْدَكَ صُدَاعٌ؟</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do you have a headache?</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Body-part identification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هٰذَا / مَا هٰذِهِ؟</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عَيْنًا لَدَيْكَ؟ بِأَيِّ عُضْوٍ نَسْمَعُ؟</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بِكَ؟ / مَا بِكِ؟</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مُنْذُ مَتَى؟ أَيْنَ الأَلَمُ بِالضَّبْطِ؟</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هٰذَا ___ . / هٰذِهِ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لِي عَيْنَانِ. نَسْمَعُ بِـ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عِنْدِي ___ . / عِنْدِي أَلَمٌ فِي ___ ي.</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مُنْذُ ___ . الأَلَمُ فِي ___ ، وَ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Amiri" pitchFamily="2" charset="-78"/>
                <a:ea typeface="Amiri" pitchFamily="2" charset="-78"/>
                <a:cs typeface="Amiri" pitchFamily="2" charset="-78"/>
              </a:rPr>
              <a:t>أ</a:t>
            </a:r>
            <a:endParaRPr lang="ar-SA"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هٰذِهِ؟</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this?</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Amiri" pitchFamily="2" charset="-78"/>
                <a:ea typeface="Amiri" pitchFamily="2" charset="-78"/>
                <a:cs typeface="Amiri" pitchFamily="2" charset="-78"/>
              </a:rPr>
              <a:t>ب</a:t>
            </a:r>
            <a:endParaRPr lang="ar-SA"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هٰذِهِ يَدٌ.</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This is a hand.</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Core: label body parts and choose the right “this”.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Three “this is my …” sentences + two “I have …” sentences (a symptom and a pain).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the body and what parts do — four “my” forms and two “two” forms.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one health problem with since / for (mundhu).</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8–10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Stretch: a science-style explanation with duals, plurals and purpose (li-).</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Then a patient’s note: symptoms, where, how long and one follow-up question.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لِي عَيْنَانِ وَأُذُنَانِ.</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two eyes and two ears.</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أَرَى بِعَيْنَيَّ.</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see with my eyes.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مُنْذُ أَمْسِ.</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since yesterday.</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مُنْذُ يَوْمَيْنِ / مُنْذُ أُسْبُوعٍ.</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for two days / for a week.</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عِنْدَهُ ______ . / عِنْدَهَا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has … / She has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رَأْسِي.</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my head.</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يَدِي.</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my hand.</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عِنْدِي صُدَاعٌ.</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a headache.</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عِنْدِي أَلَمٌ فِي ______ ي.</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pain in my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مَرِيضٌ. / أَنَا مَرِيضَةٌ.</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ill (m. / f.).</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رَأْسٌ  ·  عَيْنٌ  ·  أُذُنٌ  ·  أَنْفٌ  ·  فَمٌ  ·  يَدٌ  ·  صُدَاعٌ  ·  حُمَّى  ·  سُعَالٌ  ·  عِنْدِي  ·  أَلَمٌ فِي  ·  مُنْذُ</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7–8 sentences describing the body and what selected parts do. Include four possessive forms, two dual forms and two action verbs.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ea typeface="Amiri" pitchFamily="2" charset="-78"/>
                <a:cs typeface="Amiri" pitchFamily="2" charset="-78"/>
              </a:rPr>
              <a:t>هٰذَا / هٰذِهِ</a:t>
            </a:r>
            <a:pPr algn="l" indent="0" marL="0">
              <a:buNone/>
            </a:pPr>
            <a:r>
              <a:rPr lang="en-US" sz="1200" dirty="0">
                <a:solidFill>
                  <a:srgbClr val="1F2A37"/>
                </a:solidFill>
                <a:latin typeface="Calibri" pitchFamily="34" charset="0"/>
                <a:cs typeface="Amiri" pitchFamily="2" charset="-78"/>
              </a:rPr>
              <a:t> accurately.</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a:t>
            </a:r>
            <a:pPr algn="l" indent="0" marL="0">
              <a:buNone/>
            </a:pPr>
            <a:r>
              <a:rPr lang="ar-SA" altLang="en-US" sz="1550" dirty="0">
                <a:solidFill>
                  <a:srgbClr val="1F2A37"/>
                </a:solidFill>
                <a:latin typeface="Amiri" pitchFamily="2" charset="-78"/>
                <a:ea typeface="Amiri" pitchFamily="2" charset="-78"/>
                <a:cs typeface="Amiri" pitchFamily="2" charset="-78"/>
              </a:rPr>
              <a:t>عَيْنَانِ، أُذُنَانِ، يَدَانِ</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قَدَمَانِ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two of </a:t>
            </a:r>
            <a:pPr algn="l" indent="0" marL="0">
              <a:buNone/>
            </a:pPr>
            <a:r>
              <a:rPr lang="ar-SA" altLang="en-US" sz="1550" dirty="0">
                <a:solidFill>
                  <a:srgbClr val="1F2A37"/>
                </a:solidFill>
                <a:latin typeface="Amiri" pitchFamily="2" charset="-78"/>
                <a:ea typeface="Amiri" pitchFamily="2" charset="-78"/>
                <a:cs typeface="Amiri" pitchFamily="2" charset="-78"/>
              </a:rPr>
              <a:t>يَرَى، يَسْمَعُ، يَشُمُّ، يَلْمِسُ، يَتَنَفَّسُ</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Check feminine nouns such as </a:t>
            </a:r>
            <a:pPr algn="l" indent="0" marL="0">
              <a:buNone/>
            </a:pPr>
            <a:r>
              <a:rPr lang="ar-SA" altLang="en-US" sz="1550" dirty="0">
                <a:solidFill>
                  <a:srgbClr val="1F2A37"/>
                </a:solidFill>
                <a:latin typeface="Amiri" pitchFamily="2" charset="-78"/>
                <a:ea typeface="Amiri" pitchFamily="2" charset="-78"/>
                <a:cs typeface="Amiri" pitchFamily="2" charset="-78"/>
              </a:rPr>
              <a:t>يَدٌ، عَيْنٌ، قَدَمٌ</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الرَّأْسِ عَيْنَانِ لِلرُّؤْيَةِ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head are two eyes for seeing</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العِظَامُ تَدْعَمُ الجِسْمَ</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bones support the body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وَالجِلْدُ يَحْمِيهِ</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the skin protects it</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تُؤْلِمُنِي أَسْنَانِي مُنْذُ يَوْمَيْنِ</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teeth have hurt for two days</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مُصَابٌ بِالزُّكَامِ</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have (am suffering from) a cold</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هٰذَا رَأْسِي، وَهٰذَا وَجْهِي. لِي عَيْنَانِ وَأُذُنَانِ. أَرَى بِعَيْنَيَّ وَأَسْمَعُ بِأُذُنَيَّ. هٰذِهِ يَدِي اليُمْنَى، وَهٰذِهِ يَدِي اليُسْرَى. أَكْتُبُ بِيَدِي، وَأَمْشِي بِقَدَمَيَّ. القَلْبُ فِي صَدْرِي.</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This is my head, and this is my face. I have two eyes and two ears. I see with my eyes and hear with my ears. This is my right hand, and this is my left hand. I write with my hand, and I walk with my feet. The heart is in my chest.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“this” with a masculine part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“this” with a feminine part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“two” form</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action verb</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Feminine body parts take hādhihi.</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‘indī for a symptom.</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“two” form (-āni).</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said how long with mundhu.</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problem has symptom, place, time and a question.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shoulder?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كَتِفٌ</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كَاحِلٌ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عُنُقٌ</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phrase.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يَدٌ</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يَدٌ</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رَأْسٌ</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عَيْنَانِ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eyes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eye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eyes (plural)</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shoulder?</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كَتِفٌ</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كَاحِلٌ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عُنُقٌ</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كَتِفٌ</a:t>
            </a:r>
            <a:pPr algn="l" indent="0" marL="0">
              <a:buNone/>
            </a:pPr>
            <a:r>
              <a:rPr lang="en-US" sz="1050" i="1" dirty="0">
                <a:solidFill>
                  <a:srgbClr val="8A6D1E"/>
                </a:solidFill>
                <a:latin typeface="Calibri" pitchFamily="34" charset="0"/>
                <a:cs typeface="Amiri" pitchFamily="2" charset="-78"/>
              </a:rPr>
              <a:t> means shoulder.</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phrase.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هٰذَا يَدٌ</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هٰذِهِ يَدٌ</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هٰذِهِ رَأْسٌ</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يَدٌ</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عَيْنَانِ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 eyes</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eye</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eyes (plural)</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dual ending indicates two.</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body science note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الجِسْمُ نِظَامٌ مُتَكَامِلٌ. فِي الرَّأْسِ عَيْنَانِ لِلرُّؤْيَةِ وَأُذُنَانِ لِلسَّمْعِ، وَفِي الوَجْهِ أَنْفٌ لِلشَّمِّ وَفَمٌ لِلْأَكْلِ وَالكَلَامِ. القَلْبُ فِي الصَّدْرِ وَيَعْمَلُ دَائِمًا. العِظَامُ تَدْعَمُ الجِسْمَ، وَالجِلْدُ يَحْمِيهِ. نَسْتَخْدِمُ أَيْدِيَنَا لِلْكِتَابَةِ وَاللَّمْسِ، وَأَقْدَامَنَا لِلْمَشْيِ.</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نِظَامٌ مُتَكَامِلٌ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complete system</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لِلرُّؤْيَةِ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seeing</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لِلسَّمْعِ</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hearing</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لِلشَّمِّ</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smelling</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وَالكَلَامِ</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and speaking</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يَعْمَلُ دَائِمًا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works all the time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تَدْعَمُ</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support</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يَحْمِيهِ</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protects it</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أَيْدِيَنَا</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our hands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أَقْدَامَنَا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our feet</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eyes and ears are mentioned?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of each</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of each</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 of each</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mouth used for?</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hearing and smelling</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walking and writing</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eating and speaking</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heart?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chest</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head</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back</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supports the body?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skin</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bones</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hands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protects the body?</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skin</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eyes</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feet</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eyes and ears are mentioned?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of each</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 of each</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 of each</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عَيْنَانِ</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ea typeface="Amiri" pitchFamily="2" charset="-78"/>
                <a:cs typeface="Amiri" pitchFamily="2" charset="-78"/>
              </a:rPr>
              <a:t>أُذُنَانِ</a:t>
            </a:r>
            <a:pPr algn="l" indent="0" marL="0">
              <a:buNone/>
            </a:pPr>
            <a:r>
              <a:rPr lang="en-US" sz="1050" i="1" dirty="0">
                <a:solidFill>
                  <a:srgbClr val="8A6D1E"/>
                </a:solidFill>
                <a:latin typeface="Calibri" pitchFamily="34" charset="0"/>
                <a:cs typeface="Amiri" pitchFamily="2" charset="-78"/>
              </a:rPr>
              <a:t> mean two.</a:t>
            </a:r>
            <a:endParaRPr lang="en-US" sz="10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mouth used for?</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hearing and smelling</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walking and writing</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eating and speaking</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لِلْأَكْلِ وَالكَلَامِ.</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heart?</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the chest</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head</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back</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القَلْبُ فِي الصَّدْرِ.</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supports the body?</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skin</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bones</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hands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العِظَامُ تَدْعَمُ الجِسْمَ.</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protects the body?</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skin</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eyes</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feet</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الجِلْدُ يَحْمِيهِ.</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Body and Health</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Before AT-A-L08: get ready at home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AT-A-L08 · Doctor, Pharmacy and Advice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طَبِيبٌ</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doctor</a:t>
            </a:r>
            <a:pPr indent="0" marL="0">
              <a:buNone/>
            </a:pPr>
            <a:r>
              <a:rPr lang="ar-SA" sz="1000" i="1" dirty="0">
                <a:solidFill>
                  <a:srgbClr val="5A6472"/>
                </a:solidFill>
                <a:latin typeface="Calibri" pitchFamily="34" charset="0"/>
                <a:ea typeface="Amiri" pitchFamily="2" charset="-78"/>
                <a:cs typeface="Amiri" pitchFamily="2" charset="-78"/>
              </a:rPr>
              <a:t>  f. طَبِيبَةٌ · pl. أَطِبَّاءُ</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صَيْدَلِيَّةٌ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pharmacy</a:t>
            </a:r>
            <a:pPr indent="0" marL="0">
              <a:buNone/>
            </a:pPr>
            <a:r>
              <a:rPr lang="ar-SA" sz="1000" i="1" dirty="0">
                <a:solidFill>
                  <a:srgbClr val="5A6472"/>
                </a:solidFill>
                <a:latin typeface="Calibri" pitchFamily="34" charset="0"/>
                <a:ea typeface="Amiri" pitchFamily="2" charset="-78"/>
                <a:cs typeface="Amiri" pitchFamily="2" charset="-78"/>
              </a:rPr>
              <a:t>  pl. صَيْدَلِيَّاتٌ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دَوَاءٌ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medicine</a:t>
            </a:r>
            <a:pPr indent="0" marL="0">
              <a:buNone/>
            </a:pPr>
            <a:r>
              <a:rPr lang="ar-SA" sz="1000" i="1" dirty="0">
                <a:solidFill>
                  <a:srgbClr val="5A6472"/>
                </a:solidFill>
                <a:latin typeface="Calibri" pitchFamily="34" charset="0"/>
                <a:ea typeface="Amiri" pitchFamily="2" charset="-78"/>
                <a:cs typeface="Amiri" pitchFamily="2" charset="-78"/>
              </a:rPr>
              <a:t>  pl. أَدْوِيَةٌ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مَوْعِدٌ</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appointment</a:t>
            </a:r>
            <a:pPr indent="0" marL="0">
              <a:buNone/>
            </a:pPr>
            <a:r>
              <a:rPr lang="ar-SA" sz="1000" i="1" dirty="0">
                <a:solidFill>
                  <a:srgbClr val="5A6472"/>
                </a:solidFill>
                <a:latin typeface="Calibri" pitchFamily="34" charset="0"/>
                <a:ea typeface="Amiri" pitchFamily="2" charset="-78"/>
                <a:cs typeface="Amiri" pitchFamily="2" charset="-78"/>
              </a:rPr>
              <a:t>  pl. مَوَاعِيدُ</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مُسْتَشْفًى</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hospital</a:t>
            </a:r>
            <a:pPr indent="0" marL="0">
              <a:buNone/>
            </a:pPr>
            <a:r>
              <a:rPr lang="ar-SA" sz="1000" i="1" dirty="0">
                <a:solidFill>
                  <a:srgbClr val="5A6472"/>
                </a:solidFill>
                <a:latin typeface="Calibri" pitchFamily="34" charset="0"/>
                <a:ea typeface="Amiri" pitchFamily="2" charset="-78"/>
                <a:cs typeface="Amiri" pitchFamily="2" charset="-78"/>
              </a:rPr>
              <a:t>  pl. مُسْتَشْفَيَاتٌ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Where do you go when you have a cold: the doctor, the pharmacy or the hospital?</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أَيْنَ تَذْهَبُ عِنْدَمَا تَكُونُ مَرِيضًا؟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AT-A-L07: the picture game and vocabulary tab — label 12 body parts with this (m. / f.).</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7–8 sentences about the body, plus one health problem with since.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patient’s note: three symptoms, where, how long and one question for the doctor.</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AT-A-L07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cs typeface="Amiri" pitchFamily="2" charset="-78"/>
              </a:rPr>
              <a:t>AT-A-L08 · Doctor, Pharmacy and Advice</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الطَّبِيبُ وَالصَّيْدَلِيَّةُ وَالنَّصِيحَةُ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doctor and pharmacy words + “‘indī …”.</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AT-A-L07 · Body Parts and Health Problems</dc:title>
  <dc:subject>PptxGenJS Presentation</dc:subject>
  <dc:creator>Al Madina Online School · Arabic Department</dc:creator>
  <cp:lastModifiedBy>Al Madina Online School · Arabic Department</cp:lastModifiedBy>
  <cp:revision>1</cp:revision>
  <dcterms:created xsi:type="dcterms:W3CDTF">2026-10-11T06:43:44Z</dcterms:created>
  <dcterms:modified xsi:type="dcterms:W3CDTF">2026-10-11T06:43:44Z</dcterms:modified>
</cp:coreProperties>
</file>