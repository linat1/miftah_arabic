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AT-A-L07 — Body Parts and Health Problems. Website: Advanced Topics › Topic A (Everyday Activities) › Lesson 7.
The website builds this lesson on the F5-L07 lesson engine, with the Topic focus “Name body parts, describe symptoms and explain how you feel.” (grammar: Possessive suffixes; عند; symptoms and duration; skills: Listening · Speaking) and the application challenge “Symptom detective”.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7 (AT-A-L07), lesson engine Pathways › Foundation › F5 › AT-A-L07 (symptom language from F5 lesson 8). The website lesson “The Body and Its Parts”: vocabulary, grammar rules and quiz, patterns, common mistakes, sorter, listening, reading, speaking prompts and model, writing task and model, differentiation, final check and the lesson mission. Picture match: website visual game “The Body and Its Parts”.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Two halves: the body (website AT-A-L07 engine) and what is wrong with it (Topic A focus: symptoms and duration, from the website F5 lesson 8 page). Core: 8 face and head words + “this is my …” + “I have a headache / pain in my …”. Develop: هٰذَا / هٰذِهِ by gender, duals (عَيْنَانِ), and مُنْذُ + time. Stretch: describe a problem in 4–5 connected sentences with duration and a cause, and ask a follow-up question.
• Gender surprise: يَدٌ، عَيْنٌ، أُذُنٌ، رِجْلٌ، قَدَمٌ are feminine without ـة (website common error). Teach them with هٰذِهِ.
• Sensitivity: invented patients only — never ask students about their own medical history.
• Links: AT-A-L06 (healthy habits → advice next lesson); AT-A-L02 time words return in مُنْذُ يَوْمَيْنِ / مُنْذُ أُسْبُوعٍ.
• Urdu bridge: جسم، قلب، صدر، حلق، بخار (not Arabic), زکام ← زُكَامٌ، درد (Persian) / أَلَمٌ.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body words prepared at home at the end of AT-A-L06. Questions 3–4 retrieve AT-A-L06 (rich in, advice). Question 5 previews today’s duration phrase.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Add -ī for “my”: ra’s → ra’sī (my head). Say what is wrong with ‘indī (I have) + since how long with mundhu.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قلب and زکام are the same words. صدر in Urdu means “president” / “chest” (سینہ is everyday Urdu). CAREFUL: fever is بخار in Urdu (Persian) — Arabic is حُمَّى.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Head and face (website vocabulary (1 of 2)). Hear → Say → See → Use. Transliteration is printed for Core students (cover it for Develop/Stretch).
Every card: gender (هٰذَا / هٰذِهِ) and “my …” or the “two” form. Eyes and ears are feminine and come in twos: عَيْنَانِ، أُذُنَانِ.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Head and face (website vocabulary (2 of 2)). Hear → Say → See → Use. Transliteration is printed for Core students (cover it for Develop/Stretch).
Every card: gender (هٰذَا / هٰذِهِ) and “my …” or the “two” form. Eyes and ears are feminine and come in twos: عَيْنَانِ، أُذُنَانِ.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Upper body (website vocabulary (1 of 2)). Hear → Say → See → Use. Transliteration is printed for Core students (cover it for Develop/Stretch).
FLEX: teach if time allows; otherwise these are on the website vocabulary tab for homework.
FLEX: upper body. يَدٌ and ذِرَاعٌ are feminine. قَلْبٌ and مَعِدَةٌ return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Upper body (website vocabulary (2 of 2)). Hear → Say → See → Use. Transliteration is printed for Core students (cover it for Develop/Stretch).
FLEX: teach if time allows; otherwise these are on the website vocabulary tab for homework.
FLEX: upper body. يَدٌ and ذِرَاعٌ are feminine. قَلْبٌ and مَعِدَةٌ return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Lower body and structure (website vocabulary (1 of 2)). Hear → Say → See → Use. Transliteration is printed for Core students (cover it for Develop/Stretch).
FLEX: teach if time allows; otherwise these are on the website vocabulary tab for homework.
FLEX: lower body. رِجْلٌ and قَدَمٌ are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Lower body and structure (website vocabulary (2 of 2)). Hear → Say → See → Use. Transliteration is printed for Core students (cover it for Develop/Stretch).
FLEX: teach if time allows; otherwise these are on the website vocabulary tab for homework.
FLEX: lower body. رِجْلٌ and قَدَمٌ are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Body actions (website vocabulary). Hear → Say → See → Use. Transliteration is printed for Core students (cover it for Develop/Stretch).
FLEX: teach if time allows; otherwise these are on the website vocabulary tab for homework.
FLEX: actions — they appear in the listening (أَرَى بِعَيْنَيَّ، أَسْمَعُ بِأُذُنَيَّ).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KEY WORDS — symptoms from the website F5 lesson 8 vocabulary (“Common symptoms”). The Topic A page lists “possessive suffixes; عِنْد; symptoms and duration” for this lesson, so these six are CORE today.
Every card shows the “I have …” sentence. أَلَمٌ فِي + body part + ـي (my): عِنْدِي أَلَمٌ فِي رَأْسِي. Other website symptoms for homework: أَلَمُ الأَسْنَانِ (toothache), حَسَاسِيَّةٌ (allergy), غَثَيَانٌ (nausea), دُوَارٌ (dizziness).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هٰذَا with masculine nouns”, “Use هٰذِهِ with feminine nouns”, “Form the dual” (ـَانِ) and “Add the possessive ending” (ـِي = my), and the website gender table.
Website common error: do not choose هٰذَا just because there is no ـة: هٰذِهِ يَدِي ✓ (هٰذَا يَدِي ✗).
Quick-fire: point to a part of your face on camera; students type هٰذَا or هٰذِهِ.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(Topic A) — website F5 lesson 8 rules “Locate pain” (عِنْدِي أَلَمٌ فِي + جُزْءِ الجِسْمِ), “Name an illness directly” (عِنْدِي صُدَاعٌ)، “Agree with the speaker” (مَرِيضٌ / مَرِيضَةٌ) and “Add duration” (مُنْذُ أَمْسِ · مُنْذُ يَوْمَيْنِ · مُنْذُ أُسْبُوعٍ).
عِنْدَ + pronoun is the Topic A grammar point: عِنْدِي (I have), عِنْدَهُ (he has), عِنْدَهَا (she has) — Develop uses it to report a partner in the challenge.
Stretch: يُؤْلِمُنِي + masculine body part / تُؤْلِمُنِي + feminine or plural (تُؤْلِمُنِي أَسْنَانِي، يُؤْلِمُنِي رَأْسِي).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choosing the correct demonstrative for the grammatical gender of a body part and using the dual form for paired body parts.”
• Use هٰذَا with masculine nouns: Use هٰذَا with masculine body-part nouns.
• Use هٰذِهِ with feminine nouns: Some body-part nouns are grammatically feminine even without ـة.
• Form the dual: Paired body parts often use the dual rather than the number اثنان.
• Add the possessive ending: The ending ـي means “my”.
Website common error: Do not choose هٰذَا only by looking for ـة. يَدٌ، عَيْنٌ and أُذُنٌ are feminine: هٰذِهِ 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AT-A-L07 pattern (هٰذَا رَأْسِي، وَهٰذِهِ يَدِي) joined to the F5 lesson 8 patterns (عِنْدِي صُدَاعٌ · مُنْذُ يَوْمَيْنِ). Then re-say it as a girl: مَرِيضَةٌ.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hand? (يَدٌ is feminine). Other cards for homework: هٰذِهِ أُذُنٌ، هٰذَا سِنٌّ، هٰذِهِ سَاقٌ.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hand? (يَدٌ is feminine). Other cards for homework: هٰذِهِ أُذُنٌ، هٰذَا سِنٌّ، هٰذِهِ سَاقٌ.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body noun by the demonstrative it takes.
Then: say each one with “my” — رَأْسِي، يَدِي، عَيْنِي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body noun by the demonstrative it takes.
Then: say each one with “my” — رَأْسِي، يَدِي، عَيْنِي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 / Stretch: all 4.
Listen 1: just listen. Listen 2: note answers. Then chat the letters.
Support: after the second listening, show the read-along slide (Arabic + English, line by line) for Core students.
SCRIPT (read aloud):
أَرَى بِعَيْنَيَّ، وَأَسْمَعُ بِأُذُنَيَّ. أَشُمُّ بِأَنْفِي، وَآكُلُ بِفَمِي. أَكْتُبُ بِيَدِي اليُمْنَى، وَأَرْكُضُ بِرِجْلَيَّ وَقَدَمَيَّ. عِنْدَمَا أَتَعَبُ، أَضَعُ يَدِي عَلَى صَدْرِي وَأَتَنَفَّسُ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“Describe a health problem without naming it. Partners identify the symptom, body part and likely duration, then ask one sensible follow-up question.”
Secret problems to send (private chat): صُدَاعٌ مُنْذُ أَمْسِ · أَلَمٌ فِي الحَلْقِ مُنْذُ يَوْمَيْنِ · أَلَمُ المَعِدَةِ مُنْذُ الصَّبَاحِ · سُعَالٌ مُنْذُ أُسْبُوعٍ · أَلَمٌ فِي الرِّجْلِ مُنْذُ ثَلَاثَةِ أَيَّامٍ · زُكَامٌ مُنْذُ أُسْبُوعٍ. Model clue: عِنْدِي أَلَمٌ فِي رَأْسِي مُنْذُ أَمْسِ. → صُدَاعٌ!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 هٰذَا؟ (And what is this?)
ب: هٰذَا كَتِفٌ. (This is a shoulder.)
Website prompts 1–3 (body). The symptom prompts (مَا بِكَ؟ “what’s wrong with you?”, مُنْذُ مَتَى؟) are teacher-added from the website F5 lesson 8 vocabulary for the Topic A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twelve body parts with a word bank and select the correct demonstrative. · Develop — Explain the function of six body parts in complete sentences. · Stretch — Produce a short science-style explanation using duals, plurals and purpose phrases لِـ.
Website writing task (Stretch): Write 7–8 sentences describing the body and what selected parts do. Include four possessive forms, two dual forms and two action verbs.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هٰذَا رَأْسِي · هٰذِهِ يَدِي · عَيْنَانِ وَأُذُنَانِ · أَرَى / أَسْمَعُ / أَكْتُبُ / أَمْشِي. Topic A extension: add one sentence with عِنْدِي + symptom + مُنْذُ.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(AT-A-L08 · Doctor, Pharmacy and Advice) will spend class time USING this language, so students prepare it tonight — short, simple, easy to access (school guidance: “Simple, Short, Interesting, Relevant, Easy to access”). The five words come from the website AT-A-L08 vocabulary (the AT-A-L08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Body Parts and Health Problems</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أَجْزَاءُ الْجِسْمِ وَالْمُشْكِلَاتُ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body parts, describe symptoms and explain how you feel.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AT-A-L07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Body words with this (m./f.), then I have … / pain in my … / since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masculine / feminine,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eye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hands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التَّمْرُ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المَاءَ.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نَشْرَبَ المَاءَ.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مُنْذُ يَوْمَيْنِ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two days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 ago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eye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hands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التَّمْرُ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AT-A-L06: rich in + bi-.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المَاءَ.</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نَشْرَبَ المَاءَ.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AT-A-L06: healthy habits.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مُنْذُ يَوْمَيْنِ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two days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days ago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New today — guess from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(AT-A-L02).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Add -ī for “my”: ra’s → ra’sī (my head). Say what is wrong with ‘indī (I have) + since how long with mundhu.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رَأْسِ</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عِنْدِي</a:t>
            </a:r>
            <a:pPr rtl="1" algn="ctr" indent="0" marL="0">
              <a:buNone/>
            </a:pPr>
            <a:r>
              <a:rPr lang="ar-SA" altLang="en-US" sz="2400" b="1" dirty="0">
                <a:solidFill>
                  <a:srgbClr val="1B3B6F"/>
                </a:solidFill>
                <a:latin typeface="Amiri" pitchFamily="34" charset="0"/>
                <a:ea typeface="Amiri" pitchFamily="34" charset="-122"/>
                <a:cs typeface="Amiri" pitchFamily="34" charset="-120"/>
              </a:rPr>
              <a:t> صُدَاعٌ </a:t>
            </a:r>
            <a:pPr rtl="1" algn="ctr" indent="0" marL="0">
              <a:buNone/>
            </a:pPr>
            <a:r>
              <a:rPr lang="ar-SA" altLang="en-US" sz="2400" b="1" dirty="0">
                <a:solidFill>
                  <a:srgbClr val="0E7C86"/>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أَمْسِ</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name major external body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هٰذَا / هٰذِهِ</a:t>
            </a:r>
            <a:pPr algn="l" indent="0" marL="0">
              <a:buNone/>
            </a:pPr>
            <a:r>
              <a:rPr lang="en-US" sz="1300" dirty="0">
                <a:solidFill>
                  <a:srgbClr val="1F2A37"/>
                </a:solidFill>
                <a:latin typeface="Calibri" pitchFamily="34" charset="0"/>
                <a:ea typeface="Calibri" pitchFamily="34" charset="-122"/>
                <a:cs typeface="Calibri" pitchFamily="34" charset="-120"/>
              </a:rPr>
              <a:t> and possessive suffixes with body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common dual forms for paired body parts.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simple statements about seeing, hearing, smelling, touching and movement.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parts of the head and face.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 have a headache” and “pain in my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this (m.) / this (f.) and use “two” forms.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how long: since yesterday / for two days.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health problem in connected sentences.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ask a follow-up question (since when? where exactly?).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31 body words from the website in 4 groups, plus 6 symptoms (Topic A). Core: head and face + the six symptoms. Upper body, lower body and actions are FLEX / homework.</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Head and face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Upper body · 9</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Lower body and structure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Body actions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جِسْمٌ</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‎جسم‎ </a:t>
            </a:r>
            <a:pPr indent="0" marL="0">
              <a:buNone/>
            </a:pPr>
            <a:r>
              <a:rPr lang="en-US" sz="950" b="1" dirty="0">
                <a:solidFill>
                  <a:srgbClr val="2E8B57"/>
                </a:solidFill>
                <a:latin typeface="Calibri" pitchFamily="34" charset="0"/>
                <a:ea typeface="Calibri" pitchFamily="34" charset="-122"/>
                <a:cs typeface="Calibri" pitchFamily="34" charset="-120"/>
              </a:rPr>
              <a:t> jism · body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‎قلب‎ </a:t>
            </a:r>
            <a:pPr indent="0" marL="0">
              <a:buNone/>
            </a:pPr>
            <a:r>
              <a:rPr lang="en-US" sz="950" b="1" dirty="0">
                <a:solidFill>
                  <a:srgbClr val="2E8B57"/>
                </a:solidFill>
                <a:latin typeface="Calibri" pitchFamily="34" charset="0"/>
                <a:ea typeface="Calibri" pitchFamily="34" charset="-122"/>
                <a:cs typeface="Calibri" pitchFamily="34" charset="-120"/>
              </a:rPr>
              <a:t> qalb · heart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صَدْرٌ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‎صدر / سینہ‎ </a:t>
            </a:r>
            <a:pPr indent="0" marL="0">
              <a:buNone/>
            </a:pPr>
            <a:r>
              <a:rPr lang="en-US" sz="950" b="1" dirty="0">
                <a:solidFill>
                  <a:srgbClr val="2E8B57"/>
                </a:solidFill>
                <a:latin typeface="Calibri" pitchFamily="34" charset="0"/>
                <a:ea typeface="Calibri" pitchFamily="34" charset="-122"/>
                <a:cs typeface="Calibri" pitchFamily="34" charset="-120"/>
              </a:rPr>
              <a:t> ṣadr · chest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زُكَامٌ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‎زکام‎ </a:t>
            </a:r>
            <a:pPr indent="0" marL="0">
              <a:buNone/>
            </a:pPr>
            <a:r>
              <a:rPr lang="en-US" sz="950" b="1" dirty="0">
                <a:solidFill>
                  <a:srgbClr val="2E8B57"/>
                </a:solidFill>
                <a:latin typeface="Calibri" pitchFamily="34" charset="0"/>
                <a:ea typeface="Calibri" pitchFamily="34" charset="-122"/>
                <a:cs typeface="Calibri" pitchFamily="34" charset="-120"/>
              </a:rPr>
              <a:t> zukām · a cold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حُمَّى</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‎بخار‎ </a:t>
            </a:r>
            <a:pPr indent="0" marL="0">
              <a:buNone/>
            </a:pPr>
            <a:r>
              <a:rPr lang="en-US" sz="950" b="1" dirty="0">
                <a:solidFill>
                  <a:srgbClr val="2E8B57"/>
                </a:solidFill>
                <a:latin typeface="Calibri" pitchFamily="34" charset="0"/>
                <a:ea typeface="Calibri" pitchFamily="34" charset="-122"/>
                <a:cs typeface="Calibri" pitchFamily="34" charset="-120"/>
              </a:rPr>
              <a:t> ḥummā · fever (not cognate)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Head and face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هٰذَا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raʾ-sun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رُؤُوسٌ</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رَأْسِي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هٰذَا</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waj-hun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وُجُوهٌ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وَجْهِي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عَيْنٌ / عَيْنَانِ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eye / two eyes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ʿay-nun / ʿay-nā-ni</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عَيْنَانِ</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عَيْنٌ</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6" name="Shape 63"/>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 · pl</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أُذُنٌ / أُذُنَانِ</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 / two 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u-dhu-nun / u-dhu-nā-ni</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آذَانٌ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أُذُنَانِ</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أُذُنٌ</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Head and face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هٰذَا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أُنُوفٌ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أَنْفِي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هٰذَا</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fa-mun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أَفْوَاهٌ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فَمِي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هٰذِهِ</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سِنٌّ / أَسْنَانٌ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tooth /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sin-nun / as-nā-nun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أَسْنَانٌ</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my teeth</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أَسْنَانِي</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حَلْقٌ / حَنْجَرَةٌ</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ḥal-qun / ḥan-ja-ra-tun</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Upper body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عُنُقٌ / رَقَبَةٌ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ʿu-nu-qun / ra-qa-ba-tun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كَتِفٌ</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ka-ti-fun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هٰذِهِ</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ذِرَاعٌ</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dhi-rā-ʿun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ذِرَاعَانِ</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ذِرَاعِي</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Shape 4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 · pl</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 / يَدَانِ</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hand / two hands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ya-dun / ya-dā-ni</a:t>
            </a:r>
            <a:endParaRPr lang="en-US" sz="1350" dirty="0"/>
          </a:p>
        </p:txBody>
      </p:sp>
      <p:sp>
        <p:nvSpPr>
          <p:cNvPr id="47" name="Shape 4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أَيْدٍ</a:t>
            </a:r>
            <a:endParaRPr lang="ar-SA" sz="1500" dirty="0"/>
          </a:p>
        </p:txBody>
      </p:sp>
      <p:sp>
        <p:nvSpPr>
          <p:cNvPr id="50" name="Shape 4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52" name="Text 4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يَدَانِ</a:t>
            </a:r>
            <a:endParaRPr lang="ar-SA" sz="1500" dirty="0"/>
          </a:p>
        </p:txBody>
      </p:sp>
      <p:sp>
        <p:nvSpPr>
          <p:cNvPr id="53" name="Shape 5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5" name="Text 5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إِصْبَعُ اليَدِ</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iṣ-ba-ʿu al-ya-di</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Upper body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ẓah-run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stomach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Lower body and structure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هٰذِهِ</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رِجْلٌ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rij-lun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رِجْلَانِ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رِجْلِي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رُكْبَةٌ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knee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ruk-ba-tun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8" name="Shape 3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قَدَمٌ / قَدَمَانِ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foot / two feet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qa-da-mun / qa-da-mā-ni</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أَقْدَامٌ</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قَدَمَانِ</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قَدَمٌ</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إِصْبَعُ القَدَمِ</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iṣ-ba-ʿu al-qa-da-mi</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Lower body and structure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ankle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kā-ḥi-lun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عَظْمٌ / عِظَامٌ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bone / bones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ʿaẓ-mun / ʿi-ẓā-mun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جِلْدٌ / بَشَرَةٌ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jil-dun / ba-sha-ra-tun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جِسْمٌ / جَسَدٌ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jis-mun / ja-sa-dun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Body actions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sees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yas-ma-ʿu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smells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ya-shum-mu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يَلْمِسُ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touches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yal-mi-su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يَتَنَفَّسُ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breathes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ya-ta-naf-fa-su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يَتَنَفَّسُ بِعُمْقٍ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breathes deeply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ya-ta-naf-fa-su bi-ʿum-qin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TOPIC A · HEALTH PROBLEMS (WEBSITE F5 LESSON 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صُدَاعٌ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ṣu-dā-ʿun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صُدَاعٌ</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حُمَّى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ḥum-mā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حُمَّى</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سُعَالٌ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su-ʿā-lun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سُعَالٌ</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zu-kā-mun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زُكَامٌ</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الحَلْقِ</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sore 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al-ḥal-qi</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أَلَمٌ فِي حَلْقِي</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المَعِدَةِ</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stomach 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al-ma-ʿi-da-ti</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أَلَمٌ فِي مَعِدَتِي</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THIS, MY AND TWO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is my … I have two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 · ـي · ـانِ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Body part</a:t>
            </a:r>
            <a:endParaRPr lang="en-US" sz="1100" dirty="0"/>
          </a:p>
        </p:txBody>
      </p:sp>
      <p:sp>
        <p:nvSpPr>
          <p:cNvPr id="17" name="Text 14"/>
          <p:cNvSpPr txBox="1"/>
          <p:nvPr/>
        </p:nvSpPr>
        <p:spPr>
          <a:xfrm>
            <a:off x="79644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Gender</a:t>
            </a:r>
            <a:endParaRPr lang="en-US" sz="1100" dirty="0"/>
          </a:p>
        </p:txBody>
      </p:sp>
      <p:sp>
        <p:nvSpPr>
          <p:cNvPr id="18" name="Text 15"/>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This is my …</a:t>
            </a:r>
            <a:endParaRPr lang="en-US" sz="1100" dirty="0"/>
          </a:p>
        </p:txBody>
      </p:sp>
      <p:sp>
        <p:nvSpPr>
          <p:cNvPr id="19" name="Text 16"/>
          <p:cNvSpPr txBox="1"/>
          <p:nvPr/>
        </p:nvSpPr>
        <p:spPr>
          <a:xfrm>
            <a:off x="26609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Two (dual)</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رَأْسٌ</a:t>
            </a:r>
            <a:endParaRPr lang="ar-SA" sz="2600" dirty="0"/>
          </a:p>
        </p:txBody>
      </p:sp>
      <p:sp>
        <p:nvSpPr>
          <p:cNvPr id="23" name="Text 20"/>
          <p:cNvSpPr txBox="1"/>
          <p:nvPr/>
        </p:nvSpPr>
        <p:spPr>
          <a:xfrm>
            <a:off x="8001000"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24" name="Text 21"/>
          <p:cNvSpPr txBox="1"/>
          <p:nvPr/>
        </p:nvSpPr>
        <p:spPr>
          <a:xfrm>
            <a:off x="505663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25" name="Text 22"/>
          <p:cNvSpPr txBox="1"/>
          <p:nvPr/>
        </p:nvSpPr>
        <p:spPr>
          <a:xfrm>
            <a:off x="2679192" y="2267712"/>
            <a:ext cx="219456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head</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عَيْنٌ</a:t>
            </a:r>
            <a:endParaRPr lang="ar-SA" sz="2600" dirty="0"/>
          </a:p>
        </p:txBody>
      </p:sp>
      <p:sp>
        <p:nvSpPr>
          <p:cNvPr id="31" name="Text 28"/>
          <p:cNvSpPr txBox="1"/>
          <p:nvPr/>
        </p:nvSpPr>
        <p:spPr>
          <a:xfrm>
            <a:off x="8001000"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32" name="Text 29"/>
          <p:cNvSpPr txBox="1"/>
          <p:nvPr/>
        </p:nvSpPr>
        <p:spPr>
          <a:xfrm>
            <a:off x="505663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عَيْنِ</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33" name="Text 30"/>
          <p:cNvSpPr txBox="1"/>
          <p:nvPr/>
        </p:nvSpPr>
        <p:spPr>
          <a:xfrm>
            <a:off x="267919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عَيْنَ</a:t>
            </a:r>
            <a:pPr rtl="1" algn="ctr" indent="0" marL="0">
              <a:buNone/>
            </a:pPr>
            <a:r>
              <a:rPr lang="ar-SA" altLang="en-US" sz="2400" b="1" dirty="0">
                <a:solidFill>
                  <a:srgbClr val="0E7C86"/>
                </a:solidFill>
                <a:latin typeface="Amiri" pitchFamily="34" charset="0"/>
                <a:ea typeface="Amiri" pitchFamily="34" charset="-122"/>
                <a:cs typeface="Amiri" pitchFamily="34" charset="-120"/>
              </a:rPr>
              <a:t>انِ</a:t>
            </a:r>
            <a:endParaRPr lang="ar-SA" sz="24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eye</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أُذُنٌ</a:t>
            </a:r>
            <a:endParaRPr lang="ar-SA" sz="2600" dirty="0"/>
          </a:p>
        </p:txBody>
      </p:sp>
      <p:sp>
        <p:nvSpPr>
          <p:cNvPr id="39" name="Text 36"/>
          <p:cNvSpPr txBox="1"/>
          <p:nvPr/>
        </p:nvSpPr>
        <p:spPr>
          <a:xfrm>
            <a:off x="8001000"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40" name="Text 37"/>
          <p:cNvSpPr txBox="1"/>
          <p:nvPr/>
        </p:nvSpPr>
        <p:spPr>
          <a:xfrm>
            <a:off x="505663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أُذُنِ</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41" name="Text 38"/>
          <p:cNvSpPr txBox="1"/>
          <p:nvPr/>
        </p:nvSpPr>
        <p:spPr>
          <a:xfrm>
            <a:off x="267919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أُذُنَ</a:t>
            </a:r>
            <a:pPr rtl="1" algn="ctr" indent="0" marL="0">
              <a:buNone/>
            </a:pPr>
            <a:r>
              <a:rPr lang="ar-SA" altLang="en-US" sz="2400" b="1" dirty="0">
                <a:solidFill>
                  <a:srgbClr val="0E7C86"/>
                </a:solidFill>
                <a:latin typeface="Amiri" pitchFamily="34" charset="0"/>
                <a:ea typeface="Amiri" pitchFamily="34" charset="-122"/>
                <a:cs typeface="Amiri" pitchFamily="34" charset="-120"/>
              </a:rPr>
              <a:t>انِ</a:t>
            </a:r>
            <a:endParaRPr lang="ar-SA" sz="24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ear</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يَدٌ</a:t>
            </a:r>
            <a:endParaRPr lang="ar-SA" sz="2600" dirty="0"/>
          </a:p>
        </p:txBody>
      </p:sp>
      <p:sp>
        <p:nvSpPr>
          <p:cNvPr id="45" name="Text 42"/>
          <p:cNvSpPr txBox="1"/>
          <p:nvPr/>
        </p:nvSpPr>
        <p:spPr>
          <a:xfrm>
            <a:off x="8001000"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46" name="Text 43"/>
          <p:cNvSpPr txBox="1"/>
          <p:nvPr/>
        </p:nvSpPr>
        <p:spPr>
          <a:xfrm>
            <a:off x="505663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يَدِ</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47" name="Text 44"/>
          <p:cNvSpPr txBox="1"/>
          <p:nvPr/>
        </p:nvSpPr>
        <p:spPr>
          <a:xfrm>
            <a:off x="267919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يَدَ</a:t>
            </a:r>
            <a:pPr rtl="1" algn="ctr" indent="0" marL="0">
              <a:buNone/>
            </a:pPr>
            <a:r>
              <a:rPr lang="ar-SA" altLang="en-US" sz="2400" b="1" dirty="0">
                <a:solidFill>
                  <a:srgbClr val="0E7C86"/>
                </a:solidFill>
                <a:latin typeface="Amiri" pitchFamily="34" charset="0"/>
                <a:ea typeface="Amiri" pitchFamily="34" charset="-122"/>
                <a:cs typeface="Amiri" pitchFamily="34" charset="-120"/>
              </a:rPr>
              <a:t>انِ</a:t>
            </a:r>
            <a:endParaRPr lang="ar-SA" sz="2400" dirty="0"/>
          </a:p>
        </p:txBody>
      </p:sp>
      <p:sp>
        <p:nvSpPr>
          <p:cNvPr id="48" name="Text 45"/>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hand</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أَنْفٌ</a:t>
            </a:r>
            <a:endParaRPr lang="ar-SA" sz="2600" dirty="0"/>
          </a:p>
        </p:txBody>
      </p:sp>
      <p:sp>
        <p:nvSpPr>
          <p:cNvPr id="51" name="Text 48"/>
          <p:cNvSpPr txBox="1"/>
          <p:nvPr/>
        </p:nvSpPr>
        <p:spPr>
          <a:xfrm>
            <a:off x="8001000"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52" name="Text 49"/>
          <p:cNvSpPr txBox="1"/>
          <p:nvPr/>
        </p:nvSpPr>
        <p:spPr>
          <a:xfrm>
            <a:off x="505663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أَنْفِ</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53" name="Text 50"/>
          <p:cNvSpPr txBox="1"/>
          <p:nvPr/>
        </p:nvSpPr>
        <p:spPr>
          <a:xfrm>
            <a:off x="2679192" y="5215738"/>
            <a:ext cx="219456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54" name="Text 51"/>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nose</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-a ending but still feminine: ‘ayn, udhun, yad, rijl, qadam → hādhihi.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WHAT IS WRONG, AND SINCE WHEN? (WEBSITE F5 LESSON 8 RULES · TOPIC A)</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have … pain in my … since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عِنْدِي · أَلَمٌ فِي · مُنْذُ</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NAME IT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عِنْدِي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عِنْدِي صُدَاعٌ وَحُمَّى.</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headache and a fever.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‘indī = I have.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WHERE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أَلَمٌ فِي …ي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عِنْدِي أَلَمٌ فِي ظَهْرِي.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pain in my back.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my = -ī on the body part.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LONG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مُنْذُ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تُؤْلِمُنِي أَسْنَانِي مُنْذُ يَوْمَيْنِ.</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teeth have hurt for two days.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mundhu = since / for.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girl says marīḍa, not marīḍ (website rule “Agree with the speaker”).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أَنَا مَرِيضَةٌ اليَوْمَ.</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أَنَا مَرِيضٌ اليَوْمَ.</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ar-SA" altLang="en-US" sz="3650" b="1" dirty="0">
                <a:solidFill>
                  <a:srgbClr val="1B3B6F"/>
                </a:solidFill>
                <a:latin typeface="Amiri" pitchFamily="34" charset="0"/>
                <a:ea typeface="Amiri" pitchFamily="34" charset="-122"/>
                <a:cs typeface="Amiri" pitchFamily="34" charset="-120"/>
              </a:rPr>
              <a:t>هٰذَا / هٰذِهِ</a:t>
            </a:r>
            <a:pPr algn="l" indent="0" marL="0">
              <a:buNone/>
            </a:pPr>
            <a:r>
              <a:rPr lang="en-US" sz="2800" b="1" dirty="0">
                <a:solidFill>
                  <a:srgbClr val="1B3B6F"/>
                </a:solidFill>
                <a:latin typeface="Cambria" pitchFamily="34" charset="0"/>
                <a:ea typeface="Cambria" pitchFamily="34" charset="-122"/>
                <a:cs typeface="Cambria" pitchFamily="34" charset="-120"/>
              </a:rPr>
              <a:t> and the dual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أَسْمَاءُ الإِشَارَةِ وَصِيغَةُ المُثَنَّى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with masculine nouns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هٰذَا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رَأْسِي.   ·   هٰذَا أَنْفِي.   ·   هٰذَا فَمِي.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هٰذِهِ</a:t>
            </a:r>
            <a:pPr algn="l" indent="0" marL="0">
              <a:buNone/>
            </a:pPr>
            <a:r>
              <a:rPr lang="en-US" sz="1250" b="1" dirty="0">
                <a:solidFill>
                  <a:srgbClr val="1B3B6F"/>
                </a:solidFill>
                <a:latin typeface="Calibri" pitchFamily="34" charset="0"/>
                <a:ea typeface="Calibri" pitchFamily="34" charset="-122"/>
                <a:cs typeface="Calibri" pitchFamily="34" charset="-120"/>
              </a:rPr>
              <a:t> with feminine 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هٰذِهِ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هٰذِهِ يَدِي.   ·   هٰذِهِ عَيْنِي.   ·   هٰذِهِ أُذُنِي.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Form the dual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ـَانِ</a:t>
            </a:r>
            <a:pPr algn="l" indent="0" marL="0">
              <a:buNone/>
            </a:pPr>
            <a:r>
              <a:rPr lang="en-US" sz="1050" dirty="0">
                <a:solidFill>
                  <a:srgbClr val="5A6472"/>
                </a:solidFill>
                <a:latin typeface="Calibri" pitchFamily="34" charset="0"/>
                <a:ea typeface="Calibri" pitchFamily="34" charset="-122"/>
                <a:cs typeface="Calibri" pitchFamily="34" charset="-120"/>
              </a:rPr>
              <a:t> (subject) · </a:t>
            </a:r>
            <a:pPr algn="l" indent="0" marL="0">
              <a:buNone/>
            </a:pPr>
            <a:r>
              <a:rPr lang="ar-SA" altLang="en-US" sz="1350" dirty="0">
                <a:solidFill>
                  <a:srgbClr val="5A6472"/>
                </a:solidFill>
                <a:latin typeface="Amiri" pitchFamily="34" charset="0"/>
                <a:ea typeface="Amiri" pitchFamily="34" charset="-122"/>
                <a:cs typeface="Amiri" pitchFamily="34" charset="-120"/>
              </a:rPr>
              <a:t>ـَيْنِ</a:t>
            </a:r>
            <a:pPr algn="l" indent="0" marL="0">
              <a:buNone/>
            </a:pPr>
            <a:r>
              <a:rPr lang="en-US" sz="1050" dirty="0">
                <a:solidFill>
                  <a:srgbClr val="5A6472"/>
                </a:solidFill>
                <a:latin typeface="Calibri" pitchFamily="34" charset="0"/>
                <a:ea typeface="Calibri" pitchFamily="34" charset="-122"/>
                <a:cs typeface="Calibri" pitchFamily="34" charset="-120"/>
              </a:rPr>
              <a:t> (other positions)</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لِي عَيْنَانِ.   ·   أَغْسِلُ يَدَيْنِ.   ·   أَرَى بِعَيْنَيْنِ.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Add the possessive ending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الجِسْمِ + ـِي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رَأْسِي   ·   يَدِي   ·   عَيْنَايَ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head”?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for </a:t>
            </a:r>
            <a:pPr algn="l" indent="0" marL="0">
              <a:buNone/>
            </a:pPr>
            <a:r>
              <a:rPr lang="ar-SA" altLang="en-US" sz="1650" b="1" dirty="0">
                <a:solidFill>
                  <a:srgbClr val="1B3B6F"/>
                </a:solidFill>
                <a:latin typeface="Amiri" pitchFamily="34" charset="0"/>
                <a:ea typeface="Amiri" pitchFamily="34" charset="-122"/>
                <a:cs typeface="Amiri" pitchFamily="34" charset="-120"/>
              </a:rPr>
              <a:t>أَنْفٌ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يَدِي.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يَدُكَ.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يَدِي.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a:t>
            </a:r>
            <a:pPr algn="l" indent="0" marL="0">
              <a:buNone/>
            </a:pPr>
            <a:r>
              <a:rPr lang="en-US" sz="1050" i="1" dirty="0">
                <a:solidFill>
                  <a:srgbClr val="8A6D1E"/>
                </a:solidFill>
                <a:latin typeface="Calibri" pitchFamily="34" charset="0"/>
                <a:ea typeface="Calibri" pitchFamily="34" charset="-122"/>
                <a:cs typeface="Calibri" pitchFamily="34" charset="-120"/>
              </a:rPr>
              <a:t> is grammatically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head”?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رَأْسِي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عَيْنَانِ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a:t>
            </a:r>
            <a:pPr algn="l" indent="0" marL="0">
              <a:buNone/>
            </a:pPr>
            <a:r>
              <a:rPr lang="ar-SA" altLang="en-US" sz="1350" dirty="0">
                <a:solidFill>
                  <a:srgbClr val="8A6D1E"/>
                </a:solidFill>
                <a:latin typeface="Amiri" pitchFamily="34" charset="0"/>
                <a:ea typeface="Amiri" pitchFamily="34" charset="-122"/>
                <a:cs typeface="Amiri" pitchFamily="34" charset="-120"/>
              </a:rPr>
              <a:t>ـانِ</a:t>
            </a:r>
            <a:pPr algn="l" indent="0" marL="0">
              <a:buNone/>
            </a:pPr>
            <a:r>
              <a:rPr lang="en-US" sz="1050" i="1" dirty="0">
                <a:solidFill>
                  <a:srgbClr val="8A6D1E"/>
                </a:solidFill>
                <a:latin typeface="Calibri" pitchFamily="34" charset="0"/>
                <a:ea typeface="Calibri" pitchFamily="34" charset="-122"/>
                <a:cs typeface="Calibri" pitchFamily="34" charset="-120"/>
              </a:rPr>
              <a:t> marks the dual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for </a:t>
            </a:r>
            <a:pPr algn="l" indent="0" marL="0">
              <a:buNone/>
            </a:pPr>
            <a:r>
              <a:rPr lang="ar-SA" altLang="en-US" sz="1650" b="1" dirty="0">
                <a:solidFill>
                  <a:srgbClr val="1B3B6F"/>
                </a:solidFill>
                <a:latin typeface="Amiri" pitchFamily="34" charset="0"/>
                <a:ea typeface="Amiri" pitchFamily="34" charset="-122"/>
                <a:cs typeface="Amiri" pitchFamily="34" charset="-120"/>
              </a:rPr>
              <a:t>أَنْفٌ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أَنْفٌ</a:t>
            </a:r>
            <a:pPr algn="l" indent="0" marL="0">
              <a:buNone/>
            </a:pPr>
            <a:r>
              <a:rPr lang="en-US" sz="1050" i="1" dirty="0">
                <a:solidFill>
                  <a:srgbClr val="8A6D1E"/>
                </a:solidFill>
                <a:latin typeface="Calibri" pitchFamily="34" charset="0"/>
                <a:ea typeface="Calibri" pitchFamily="34" charset="-122"/>
                <a:cs typeface="Calibri" pitchFamily="34" charset="-120"/>
              </a:rPr>
              <a:t> is masculine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explain 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وَ</a:t>
            </a:r>
            <a:pPr rtl="1" algn="ctr" indent="0" marL="0">
              <a:buNone/>
            </a:pPr>
            <a:r>
              <a:rPr lang="ar-SA" altLang="en-US" sz="2400" b="1" dirty="0">
                <a:solidFill>
                  <a:srgbClr val="C77700"/>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عَيْنِ</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Head m. → hādhā. Eye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أَنَا مَرِيضٌ اليَوْمَ. عِنْدِي صُدَاعٌ.</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have = ‘indī.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أَلَمٌ فِي عَيْنَيَّ أَيْضًا.</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eyes: ‘aynayya.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long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مُنْذُ</a:t>
            </a:r>
            <a:pPr rtl="1" algn="ctr" indent="0" marL="0">
              <a:buNone/>
            </a:pPr>
            <a:r>
              <a:rPr lang="ar-SA" altLang="en-US" sz="2800" b="1" dirty="0">
                <a:solidFill>
                  <a:srgbClr val="1B3B6F"/>
                </a:solidFill>
                <a:latin typeface="Amiri" pitchFamily="34" charset="0"/>
                <a:ea typeface="Amiri" pitchFamily="34" charset="-122"/>
                <a:cs typeface="Amiri" pitchFamily="34" charset="-120"/>
              </a:rPr>
              <a:t> يَوْمَيْنِ.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Duration: mundhu.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THIS (M.)</a:t>
            </a:r>
            <a:endParaRPr lang="en-US" sz="800" dirty="0"/>
          </a:p>
        </p:txBody>
      </p:sp>
      <p:sp>
        <p:nvSpPr>
          <p:cNvPr id="47" name="Shape 43"/>
          <p:cNvSpPr/>
          <p:nvPr/>
        </p:nvSpPr>
        <p:spPr>
          <a:xfrm>
            <a:off x="8540496"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THIS (F.)</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SINCE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D5FBF"/>
                </a:solidFill>
                <a:latin typeface="Amiri" pitchFamily="34" charset="0"/>
                <a:ea typeface="Amiri" pitchFamily="34" charset="-122"/>
                <a:cs typeface="Amiri" pitchFamily="34" charset="-120"/>
              </a:rPr>
              <a:t>هٰذَا</a:t>
            </a:r>
            <a:pPr rtl="1" algn="r" indent="0" marL="0">
              <a:buNone/>
            </a:pPr>
            <a:r>
              <a:rPr lang="ar-SA" altLang="en-US" sz="2200" b="1" dirty="0">
                <a:solidFill>
                  <a:srgbClr val="1B3B6F"/>
                </a:solidFill>
                <a:latin typeface="Amiri" pitchFamily="34" charset="0"/>
                <a:ea typeface="Amiri" pitchFamily="34" charset="-122"/>
                <a:cs typeface="Amiri" pitchFamily="34" charset="-120"/>
              </a:rPr>
              <a:t> رَأْسِ</a:t>
            </a:r>
            <a:pPr rtl="1" algn="r" indent="0" marL="0">
              <a:buNone/>
            </a:pPr>
            <a:r>
              <a:rPr lang="ar-SA" altLang="en-US" sz="2200" b="1" dirty="0">
                <a:solidFill>
                  <a:srgbClr val="D6336C"/>
                </a:solidFill>
                <a:latin typeface="Amiri" pitchFamily="34" charset="0"/>
                <a:ea typeface="Amiri" pitchFamily="34" charset="-122"/>
                <a:cs typeface="Amiri" pitchFamily="34" charset="-120"/>
              </a:rPr>
              <a:t>ي</a:t>
            </a:r>
            <a:pPr rtl="1" algn="r" indent="0" marL="0">
              <a:buNone/>
            </a:pPr>
            <a:r>
              <a:rPr lang="ar-SA" altLang="en-US" sz="2200" b="1" dirty="0">
                <a:solidFill>
                  <a:srgbClr val="1B3B6F"/>
                </a:solidFill>
                <a:latin typeface="Amiri" pitchFamily="34" charset="0"/>
                <a:ea typeface="Amiri" pitchFamily="34" charset="-122"/>
                <a:cs typeface="Amiri" pitchFamily="34" charset="-120"/>
              </a:rPr>
              <a:t>، وَ</a:t>
            </a:r>
            <a:pPr rtl="1" algn="r" indent="0" marL="0">
              <a:buNone/>
            </a:pPr>
            <a:r>
              <a:rPr lang="ar-SA" altLang="en-US" sz="2200" b="1" dirty="0">
                <a:solidFill>
                  <a:srgbClr val="C77700"/>
                </a:solidFill>
                <a:latin typeface="Amiri" pitchFamily="34" charset="0"/>
                <a:ea typeface="Amiri" pitchFamily="34" charset="-122"/>
                <a:cs typeface="Amiri" pitchFamily="34" charset="-120"/>
              </a:rPr>
              <a:t>هٰذِهِ</a:t>
            </a:r>
            <a:pPr rtl="1" algn="r" indent="0" marL="0">
              <a:buNone/>
            </a:pPr>
            <a:r>
              <a:rPr lang="ar-SA" altLang="en-US" sz="2200" b="1" dirty="0">
                <a:solidFill>
                  <a:srgbClr val="1B3B6F"/>
                </a:solidFill>
                <a:latin typeface="Amiri" pitchFamily="34" charset="0"/>
                <a:ea typeface="Amiri" pitchFamily="34" charset="-122"/>
                <a:cs typeface="Amiri" pitchFamily="34" charset="-120"/>
              </a:rPr>
              <a:t> عَيْنِ</a:t>
            </a:r>
            <a:pPr rtl="1" algn="r" indent="0" marL="0">
              <a:buNone/>
            </a:pPr>
            <a:r>
              <a:rPr lang="ar-SA" altLang="en-US" sz="2200" b="1" dirty="0">
                <a:solidFill>
                  <a:srgbClr val="D6336C"/>
                </a:solidFill>
                <a:latin typeface="Amiri" pitchFamily="34" charset="0"/>
                <a:ea typeface="Amiri" pitchFamily="34" charset="-122"/>
                <a:cs typeface="Amiri" pitchFamily="34" charset="-120"/>
              </a:rPr>
              <a:t>ي</a:t>
            </a:r>
            <a:pPr rtl="1" algn="r" indent="0" marL="0">
              <a:buNone/>
            </a:pPr>
            <a:r>
              <a:rPr lang="ar-SA" altLang="en-US" sz="2200" b="1" dirty="0">
                <a:solidFill>
                  <a:srgbClr val="1B3B6F"/>
                </a:solidFill>
                <a:latin typeface="Amiri" pitchFamily="34" charset="0"/>
                <a:ea typeface="Amiri" pitchFamily="34" charset="-122"/>
                <a:cs typeface="Amiri" pitchFamily="34" charset="-120"/>
              </a:rPr>
              <a:t>. أَنَا مَرِيضٌ اليَوْمَ: عِنْدِي صُدَاعٌ، وَعِنْدِي أَلَمٌ فِي عَيْنَيَّ أَيْضًا </a:t>
            </a:r>
            <a:pPr rtl="1" algn="r" indent="0" marL="0">
              <a:buNone/>
            </a:pPr>
            <a:r>
              <a:rPr lang="ar-SA" altLang="en-US" sz="2200" b="1" dirty="0">
                <a:solidFill>
                  <a:srgbClr val="0E7C86"/>
                </a:solidFill>
                <a:latin typeface="Amiri" pitchFamily="34" charset="0"/>
                <a:ea typeface="Amiri" pitchFamily="34" charset="-122"/>
                <a:cs typeface="Amiri" pitchFamily="34" charset="-120"/>
              </a:rPr>
              <a:t>مُنْذُ</a:t>
            </a:r>
            <a:pPr rtl="1" algn="r" indent="0" marL="0">
              <a:buNone/>
            </a:pPr>
            <a:r>
              <a:rPr lang="ar-SA" altLang="en-US" sz="2200" b="1" dirty="0">
                <a:solidFill>
                  <a:srgbClr val="1B3B6F"/>
                </a:solidFill>
                <a:latin typeface="Amiri" pitchFamily="34" charset="0"/>
                <a:ea typeface="Amiri" pitchFamily="34" charset="-122"/>
                <a:cs typeface="Amiri" pitchFamily="34" charset="-120"/>
              </a:rPr>
              <a:t> يَوْمَيْنِ. أُرِيدُ أَنْ أَرْتَاحَ.</a:t>
            </a:r>
            <a:endParaRPr lang="ar-SA" sz="22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This is my head, and this is my eye. I am ill today: I have a headache, and I also have pain in my eyes, for two days. I want to rest.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رَأْسِي، وَهٰذِهِ يَدِي.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head, and this is my hand.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Choose the demonstrative according to noun gender.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لِي عَيْنَانِ وَأُذُنَانِ.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two eyes and two 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dual ending -انِ signals two in this form.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نَرَى بِأَعْيُنِنَا، وَنَسْمَعُ بِآذَانِنَا.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see with our eyes and hear with our 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can express the body part used.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القَلْبُ فِي الصَّدْرِ، وَالمَعِدَةُ فِي البَطْنِ.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heart is in the chest, and the stomach is in the abdomen.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فِي to locate internal organs.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“VISUAL GAME — THE BODY AND ITS PARTS”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or this?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eyes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nose (face)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hand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يَدٌ.</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العَيْنَانِ.</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أَنْفٌ.</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eyes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العَيْنَانِ.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These are the two eyes.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nose (face)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أَنْفٌ.</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nose.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hand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يَدٌ.</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hand.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رُكْبَةٌ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ظَهْرٌ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this (m.) · هٰذَا</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this (f.) · هٰذِهِ</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this (m.) · هٰذَا</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ظَهْرٌ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this (f.) · هٰذِهِ</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رُكْبَةٌ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قَدَمٌ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أَرَى ___ عَيْنَيَّ.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locates the heart?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بِالصَّدْرِ.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فِي الصَّدْرِ.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مِنَ الصَّدْرِ.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___ </a:t>
            </a:r>
            <a:pPr algn="l" indent="0" marL="0">
              <a:buNone/>
            </a:pPr>
            <a:r>
              <a:rPr lang="ar-SA" altLang="en-US" sz="1650" b="1" dirty="0">
                <a:solidFill>
                  <a:srgbClr val="1B3B6F"/>
                </a:solidFill>
                <a:latin typeface="Amiri" pitchFamily="34" charset="0"/>
                <a:ea typeface="Amiri" pitchFamily="34" charset="-122"/>
                <a:cs typeface="Amiri" pitchFamily="34" charset="-120"/>
              </a:rPr>
              <a:t>يَدِي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have two eyes”?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اثْنَانِ عَيْنٌ.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عَيْنٌ اثْنَانِ.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عَيْنَانِ.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أَرَى ___ عَيْنَيَّ.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expresses the body part used.</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locates the heart?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القَلْبُ بِالصَّدْرِ.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القَلْبُ فِي الصَّدْرِ.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القَلْبُ مِنَ الصَّدْرِ.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to say where it is.</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___ </a:t>
            </a:r>
            <a:pPr algn="l" indent="0" marL="0">
              <a:buNone/>
            </a:pPr>
            <a:r>
              <a:rPr lang="ar-SA" altLang="en-US" sz="1650" b="1" dirty="0">
                <a:solidFill>
                  <a:srgbClr val="1B3B6F"/>
                </a:solidFill>
                <a:latin typeface="Amiri" pitchFamily="34" charset="0"/>
                <a:ea typeface="Amiri" pitchFamily="34" charset="-122"/>
                <a:cs typeface="Amiri" pitchFamily="34" charset="-120"/>
              </a:rPr>
              <a:t>يَدِي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have two eyes”?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اثْنَانِ عَيْنٌ.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 عَيْنٌ اثْنَانِ.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 عَيْنَانِ.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dual form </a:t>
            </a:r>
            <a:pPr algn="l" indent="0" marL="0">
              <a:buNone/>
            </a:pPr>
            <a:r>
              <a:rPr lang="ar-SA" altLang="en-US" sz="1350" dirty="0">
                <a:solidFill>
                  <a:srgbClr val="8A6D1E"/>
                </a:solidFill>
                <a:latin typeface="Amiri" pitchFamily="34" charset="0"/>
                <a:ea typeface="Amiri" pitchFamily="34" charset="-122"/>
                <a:cs typeface="Amiri" pitchFamily="34" charset="-120"/>
              </a:rPr>
              <a:t>عَيْنَانِ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يَدِي.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hand is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عِنْدِي اثْنَانِ عَيْنٌ.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eyes: which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نَسْمَعُ بِالعَيْنِ.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We hear with which part?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يَدِي.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يَدِي.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يَدٌ</a:t>
            </a:r>
            <a:pPr algn="l" indent="0" marL="0">
              <a:buNone/>
            </a:pPr>
            <a:r>
              <a:rPr lang="en-US" sz="1150" b="1" dirty="0">
                <a:solidFill>
                  <a:srgbClr val="1B3B6F"/>
                </a:solidFill>
                <a:latin typeface="Calibri" pitchFamily="34" charset="0"/>
                <a:ea typeface="Calibri" pitchFamily="34" charset="-122"/>
                <a:cs typeface="Calibri" pitchFamily="34" charset="-120"/>
              </a:rPr>
              <a:t> is grammatically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عِنْدِي اثْنَانِ عَيْنٌ.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 عَيْنَانِ.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dual noun form for two eyes.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نَسْمَعُ بِالعَيْنِ.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نَسْمَعُ بِالأُذُنِ.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Hearing is associated with the ear; the correction also reinforces the correct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and identify the body 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smell?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hand is used for writing?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when tired?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puts a hand on the chest and breathes deeply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touches the head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sits on the floor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2.</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بِعَيْنَيَّ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بِأَنْفِي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يَدِي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أَرَى بِعَيْنَيَّ، وَأَسْمَعُ بِأُذُنَيَّ.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see with my eyes, and I hear with my ears.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أَشُمُّ بِأَنْفِي، وَآكُلُ بِفَمِي.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smell with my nose, and I eat with my mouth.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أَكْتُبُ بِيَدِي اليُمْنَى،</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write with my right hand,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وَأَرْكُضُ بِرِجْلَيَّ وَقَدَمَيَّ.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run with my legs and feet.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 أَتَعَبُ، أَضَعُ يَدِي عَلَى صَدْرِي وَأَتَنَفَّسُ بِعُمْقٍ.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I get tired, I put my hand on my chest and breathe deeply.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eyes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عَيْنَيَّ</a:t>
            </a:r>
            <a:pPr algn="l" indent="0" marL="0">
              <a:buNone/>
            </a:pPr>
            <a:r>
              <a:rPr lang="en-US" sz="1050" i="1" dirty="0">
                <a:solidFill>
                  <a:srgbClr val="8A6D1E"/>
                </a:solidFill>
                <a:latin typeface="Calibri" pitchFamily="34" charset="0"/>
                <a:ea typeface="Calibri" pitchFamily="34" charset="-122"/>
                <a:cs typeface="Calibri" pitchFamily="34" charset="-120"/>
              </a:rPr>
              <a:t> are the eyes.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smell?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mouth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أَنْفِي</a:t>
            </a:r>
            <a:pPr algn="l" indent="0" marL="0">
              <a:buNone/>
            </a:pPr>
            <a:r>
              <a:rPr lang="en-US" sz="1050" i="1" dirty="0">
                <a:solidFill>
                  <a:srgbClr val="8A6D1E"/>
                </a:solidFill>
                <a:latin typeface="Calibri" pitchFamily="34" charset="0"/>
                <a:ea typeface="Calibri" pitchFamily="34" charset="-122"/>
                <a:cs typeface="Calibri" pitchFamily="34" charset="-120"/>
              </a:rPr>
              <a:t> is my nose.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hand is used for writing?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يَدِي اليُمْنَى.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when tired?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puts a hand on the chest and breathes deeply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touches the head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sits on the floor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states both actions.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2.</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بِعَيْنَيَّ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بِأَنْفِي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يَدِي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Symptom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Symptom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Describe a health problem without naming it. Partners identify the symptom, body part and likely duration, then ask one sensible follow-up question.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gives each student a secret problem in a private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it without naming it: where, how it feels, how long.</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class guesses the symptom, the body part and the duration.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describer answers one follow-up question (since when? where exactly?).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Clue with one body part: “‘indī alam fī …ī” — the class names the symptom.</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clues + a duration with mundhu; guessers answer in a full sentence.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it as a third person (‘indahu / ‘indahā) and answer a follow-up question.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عِنْدِي أَلَمٌ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have pain in my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مُنْذُ أَمْسِ</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since yesterday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مُنْذُ مَتَى؟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since when?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هَلْ عِنْدَكَ صُدَاعٌ؟</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do you have a headache?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Body-part identification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 مَا هٰذِهِ؟</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عَيْنًا لَدَيْكَ؟ بِأَيِّ عُضْوٍ نَسْمَعُ؟</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بِكَ؟ / مَا بِكِ؟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 مَتَى؟ أَيْنَ الأَلَمُ بِالضَّبْطِ؟</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 / هٰذِهِ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لِي عَيْنَانِ. نَسْمَعُ بِـ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عِنْدِي ___ . / عِنْدِي أَلَمٌ فِي ___ ي.</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مُنْذُ ___ . الأَلَمُ فِي ___ ، وَ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هٰذِهِ؟</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يَدٌ.</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a hand.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label body parts and choose the right “this”.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“this is my …” sentences + two “I have …” sentences (a symptom and a pain).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the body and what parts do — four “my” forms and two “two” forms.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health problem with since / for (mundhu).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Stretch: a science-style explanation with duals, plurals and purpose (li-).</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a patient’s note: symptoms, where, how long and one follow-up question.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 عَيْنَانِ وَأُذُنَانِ.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eyes and two ears.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أَرَى بِعَيْنَيَّ.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see with my eyes.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مُنْذُ أَمْسِ.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since yesterday.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مُنْذُ يَوْمَيْنِ / مُنْذُ 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for two days / for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عِنْدَهُ ______ . / عِنْدَهَا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has … / She has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رَأْسِي.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يَدِي.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hand.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صُدَاعٌ.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headache.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أَلَمٌ فِي ______ 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pain in my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مَرِيضٌ. / أَنَا مَرِيضَةٌ.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ill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رَأْسٌ  ·  عَيْنٌ  ·  أُذُنٌ  ·  أَنْفٌ  ·  فَمٌ  ·  يَدٌ  ·  صُدَاعٌ  ·  حُمَّى  ·  سُعَالٌ  ·  عِنْدِي  ·  أَلَمٌ فِي  ·  مُنْذُ</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7–8 sentences describing the body and what selected parts do. Include four possessive forms, two dual forms and two action verbs.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هٰذَا / هٰذِهِ</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عَيْنَانِ، أُذُنَانِ، يَدَانِ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قَدَمَانِ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of </a:t>
            </a:r>
            <a:pPr algn="l" indent="0" marL="0">
              <a:buNone/>
            </a:pPr>
            <a:r>
              <a:rPr lang="ar-SA" altLang="en-US" sz="1550" dirty="0">
                <a:solidFill>
                  <a:srgbClr val="1F2A37"/>
                </a:solidFill>
                <a:latin typeface="Amiri" pitchFamily="34" charset="0"/>
                <a:ea typeface="Amiri" pitchFamily="34" charset="-122"/>
                <a:cs typeface="Amiri" pitchFamily="34" charset="-120"/>
              </a:rPr>
              <a:t>يَرَى، يَسْمَعُ، يَشُمُّ، يَلْمِسُ، يَتَنَفَّسُ</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feminine nouns such as </a:t>
            </a:r>
            <a:pPr algn="l" indent="0" marL="0">
              <a:buNone/>
            </a:pPr>
            <a:r>
              <a:rPr lang="ar-SA" altLang="en-US" sz="1550" dirty="0">
                <a:solidFill>
                  <a:srgbClr val="1F2A37"/>
                </a:solidFill>
                <a:latin typeface="Amiri" pitchFamily="34" charset="0"/>
                <a:ea typeface="Amiri" pitchFamily="34" charset="-122"/>
                <a:cs typeface="Amiri" pitchFamily="34" charset="-120"/>
              </a:rPr>
              <a:t>يَدٌ، عَيْنٌ، قَدَمٌ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الرَّأْسِ عَيْنَانِ لِلرُّؤْيَةِ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head are two eyes for seeing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العِظَامُ تَدْعَمُ الجِسْمَ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bones support the body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وَالجِلْدُ يَحْمِيهِ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the skin protects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تُؤْلِمُنِي أَسْنَانِي مُنْذُ يَوْمَيْنِ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teeth have hurt for two days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مُصَابٌ بِالزُّكَامِ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(am suffering from) a cold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هٰذَا رَأْسِي، وَهٰذَا وَجْهِي. لِي عَيْنَانِ وَأُذُنَانِ. أَرَى بِعَيْنَيَّ وَأَسْمَعُ بِأُذُنَيَّ. هٰذِهِ يَدِي اليُمْنَى، وَهٰذِهِ يَدِي اليُسْرَى. أَكْتُبُ بِيَدِي، وَأَمْشِي بِقَدَمَيَّ. القَلْبُ فِي صَدْرِي.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head, and this is my face. I have two eyes and two ears. I see with my eyes and hear with my ears. This is my right hand, and this is my left hand. I write with my hand, and I walk with my feet. The heart is in my chest.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“this” with a masculine part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“this” with a feminine part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“two” form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action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body parts take hādhihi.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‘indī for a symptom.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“two” form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how long with mundhu.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problem has symptom, place, time and a question.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shoulder?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رَأْسٌ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eyes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eye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 (plural)</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shoulder?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كَاحِلٌ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كَتِفٌ</a:t>
            </a:r>
            <a:pPr algn="l" indent="0" marL="0">
              <a:buNone/>
            </a:pPr>
            <a:r>
              <a:rPr lang="en-US" sz="1050" i="1" dirty="0">
                <a:solidFill>
                  <a:srgbClr val="8A6D1E"/>
                </a:solidFill>
                <a:latin typeface="Calibri" pitchFamily="34" charset="0"/>
                <a:ea typeface="Calibri" pitchFamily="34" charset="-122"/>
                <a:cs typeface="Calibri" pitchFamily="34" charset="-120"/>
              </a:rPr>
              <a:t> means shoulder.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يَدٌ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رَأْسٌ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eyes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eye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 (plural)</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ending indicates two.</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body science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الجِسْمُ نِظَامٌ مُتَكَامِلٌ. فِي الرَّأْسِ عَيْنَانِ لِلرُّؤْيَةِ وَأُذُنَانِ لِلسَّمْعِ، وَفِي الوَجْهِ أَنْفٌ لِلشَّمِّ وَفَمٌ لِلْأَكْلِ وَالكَلَامِ. القَلْبُ فِي الصَّدْرِ وَيَعْمَلُ دَائِمًا. العِظَامُ تَدْعَمُ الجِسْمَ، وَالجِلْدُ يَحْمِيهِ. نَسْتَخْدِمُ أَيْدِيَنَا لِلْكِتَابَةِ وَاللَّمْسِ، وَأَقْدَامَنَا لِلْمَشْيِ.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نِظَامٌ مُتَكَامِلٌ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complete system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لِلرُّؤْيَةِ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seeing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لِلسَّمْعِ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hearing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لِلشَّمِّ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smelling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وَالكَلَامِ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speaking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يَعْمَلُ دَائِمًا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works all the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تَدْعَمُ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support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يَحْمِيهِ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protects 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أَيْدِيَنَا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hands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أَقْدَامَنَا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feet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eyes and ears are mentioned?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of each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of each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of each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mouth used for?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hearing and smelling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walking and writing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eating and speaking</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heart?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chest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head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back</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supports the body?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bones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protects the body?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feet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eyes and ears are mentioned?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of each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of each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of each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عَيْنَانِ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أُذُنَانِ</a:t>
            </a:r>
            <a:pPr algn="l" indent="0" marL="0">
              <a:buNone/>
            </a:pPr>
            <a:r>
              <a:rPr lang="en-US" sz="1050" i="1" dirty="0">
                <a:solidFill>
                  <a:srgbClr val="8A6D1E"/>
                </a:solidFill>
                <a:latin typeface="Calibri" pitchFamily="34" charset="0"/>
                <a:ea typeface="Calibri" pitchFamily="34" charset="-122"/>
                <a:cs typeface="Calibri" pitchFamily="34" charset="-120"/>
              </a:rPr>
              <a:t> mean two.</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mouth used for?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hearing and smelling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walking and writing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eating and speaking</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لِلْأَكْلِ وَالكَلَامِ.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heart?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chest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head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back</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القَلْبُ فِي الصَّدْرِ.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supports the body?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bones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العِظَامُ تَدْعَمُ الجِسْمَ.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protects the body?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skin</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feet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الجِلْدُ يَحْمِيهِ.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AT-A-L08: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AT-A-L08 · Doctor, Pharmacy and Advice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طَبِيبٌ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doctor</a:t>
            </a:r>
            <a:pPr indent="0" marL="0">
              <a:buNone/>
            </a:pPr>
            <a:r>
              <a:rPr lang="en-US" sz="1000" i="1" dirty="0">
                <a:solidFill>
                  <a:srgbClr val="5A6472"/>
                </a:solidFill>
                <a:latin typeface="Calibri" pitchFamily="34" charset="0"/>
                <a:ea typeface="Calibri" pitchFamily="34" charset="-122"/>
                <a:cs typeface="Calibri" pitchFamily="34" charset="-120"/>
              </a:rPr>
              <a:t>  f. طَبِيبَةٌ · pl. أَطِبَّاءُ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صَيْدَلِيَّةٌ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pharmacy</a:t>
            </a:r>
            <a:pPr indent="0" marL="0">
              <a:buNone/>
            </a:pPr>
            <a:r>
              <a:rPr lang="en-US" sz="1000" i="1" dirty="0">
                <a:solidFill>
                  <a:srgbClr val="5A6472"/>
                </a:solidFill>
                <a:latin typeface="Calibri" pitchFamily="34" charset="0"/>
                <a:ea typeface="Calibri" pitchFamily="34" charset="-122"/>
                <a:cs typeface="Calibri" pitchFamily="34" charset="-120"/>
              </a:rPr>
              <a:t>  pl. صَيْدَلِيَّاتٌ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medicine</a:t>
            </a:r>
            <a:pPr indent="0" marL="0">
              <a:buNone/>
            </a:pPr>
            <a:r>
              <a:rPr lang="en-US" sz="1000" i="1" dirty="0">
                <a:solidFill>
                  <a:srgbClr val="5A6472"/>
                </a:solidFill>
                <a:latin typeface="Calibri" pitchFamily="34" charset="0"/>
                <a:ea typeface="Calibri" pitchFamily="34" charset="-122"/>
                <a:cs typeface="Calibri" pitchFamily="34" charset="-120"/>
              </a:rPr>
              <a:t>  pl. أَدْوِيَةٌ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appointment</a:t>
            </a:r>
            <a:pPr indent="0" marL="0">
              <a:buNone/>
            </a:pPr>
            <a:r>
              <a:rPr lang="en-US" sz="1000" i="1" dirty="0">
                <a:solidFill>
                  <a:srgbClr val="5A6472"/>
                </a:solidFill>
                <a:latin typeface="Calibri" pitchFamily="34" charset="0"/>
                <a:ea typeface="Calibri" pitchFamily="34" charset="-122"/>
                <a:cs typeface="Calibri" pitchFamily="34" charset="-120"/>
              </a:rPr>
              <a:t>  pl. مَوَاعِيدُ</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a:t>
            </a:r>
            <a:pPr indent="0" marL="0">
              <a:buNone/>
            </a:pPr>
            <a:r>
              <a:rPr lang="en-US" sz="1000" i="1" dirty="0">
                <a:solidFill>
                  <a:srgbClr val="5A6472"/>
                </a:solidFill>
                <a:latin typeface="Calibri" pitchFamily="34" charset="0"/>
                <a:ea typeface="Calibri" pitchFamily="34" charset="-122"/>
                <a:cs typeface="Calibri" pitchFamily="34" charset="-120"/>
              </a:rPr>
              <a:t>  pl. مُسْتَشْفَيَاتٌ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do you go when you have a cold: the doctor, the pharmacy or the hospital?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أَيْنَ تَذْهَبُ عِنْدَمَا تَكُونُ مَرِيضًا؟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AT-A-L07: the picture game and vocabulary tab — label 12 body parts with this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7–8 sentences about the body, plus one health problem with since.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patient’s note: three symptoms, where, how long and one question for the doctor.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AT-A-L08 · Doctor, Pharmacy and Advice</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الطَّبِيبُ وَالصَّيْدَلِيَّةُ وَالنَّصِيحَةُ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doctor and pharmacy words + “‘indī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AT-A-L07 · Body Parts and Health Problems</dc:title>
  <dc:subject>PptxGenJS Presentation</dc:subject>
  <dc:creator>Al Madina Online School · Arabic Department</dc:creator>
  <cp:lastModifiedBy>Al Madina Online School · Arabic Department</cp:lastModifiedBy>
  <cp:revision>1</cp:revision>
  <dcterms:created xsi:type="dcterms:W3CDTF">2026-09-27T12:32:48Z</dcterms:created>
  <dcterms:modified xsi:type="dcterms:W3CDTF">2026-09-27T12:32:48Z</dcterms:modified>
</cp:coreProperties>
</file>