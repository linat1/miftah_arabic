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A · AT-A-L02 — Calendar, Dates and the School Week. Website: Advanced Topics › Topic A (Everyday Activities) › Lesson 2.
The website builds this lesson on the D1-L02 lesson engine, with the Topic focus “Communicate clock times, days, dates, months and the organisation of a school week.” (grammar: Ordinal numbers; clock expressions; prepositions of time; skills: Listening · Reading) and the application challenge “Calendar and time bingo”. This deck follows the same engine, re-sequenced for Topic A: lesson references now point to Topic A codes (others are marked “Revision”),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10–16 Key words · 16–22 The hours + وَ / إِلَّا · 22–24 Quick check · 24–27 I Do · 27–37 We Do (Beat the Clock, sorter, fix, listening) · 37–49 You Do · 49–54 Feedback · 54–56 Preparation.
FLEX slides are optional. Use them if the class is moving quickly; otherwise the same activities are on the website for homework.
Content source: Miftah Arabic website, Pathways › Development › Topic A Daily Routine and Time › AT-A-L02. The website lesson “Telling the Time — What Time Is It?”: vocabulary, grammar rules and quiz, patterns, common mistakes, sorter, listening, reading, speaking prompts and model, writing task and model, differentiation, final check and the lesson mission. Picture match: website visual game “Beat the Clock”.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Time is a CALCULATION (website): the current hour + minutes past (وَ), or the NEXT hour − minutes to (إِلَّا). Core: o’clock, quarter past, half past, quarter to (the four “anchor” times). Develop: five-minute precision with وَ / إِلَّا. Stretch: 24-hour times and duration (يَسْتَمِرُّ مُدَّةَ …).
• The hour words are ordinals (السَّابِعَةُ = the seventh) — a “clock face” table of all twelve hours is provided; Core students keep it open.
• Maths link: many students find the إِلَّا “count back from the next hour” rule easiest with a drawn clock — use the Teams whiteboard.
• Urdu bridge: وقت، دقیقہ، ساعت، مدت، تقریباً.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AT-A-L01 (prefixes and sequence words).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Minutes PAST the hour → وَ. Minutes TO the next hour → إِلَّا (and name the NEXT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وقت (waqt → الوَقْتُ), دقیقہ (→ دَقِيقَةٌ), ساعت (sā‘at → السَّاعَةُ), مدت (muddat → مُدَّةٌ duration). Arabic also uses تَقْرِيبًا for “approximately”, but the website word today is حَوَالَيْ.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Minutes past and to (website vocabulary (1 of 2)). Hear → Say → See → Use. Transliteration is printed for Core students (cover it for Develop/Stretch).
Minutes past (وَ) and to (إِلَّا). Gesture: clockwise hand for وَ (moving on from the hour); pointing forward to the NEXT hour for إِلَّا.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Minutes past and to (website vocabulary (2 of 2)). Hear → Say → See → Use. Transliteration is printed for Core students (cover it for Develop/Stretch).
Minutes past (وَ) and to (إِلَّا). Gesture: clockwise hand for وَ (moving on from the hour); pointing forward to the NEXT hour for إِلَّا.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Schedule language (website vocabulary (1 of 2)). Hear → Say → See → Use. Transliteration is printed for Core students (cover it for Develop/Stretch).
Schedule verbs: a feminine subject (الحِصَّةُ، الاِسْتِرَاحَةُ) takes تَـ: تَبْدَأُ الحِصَّةُ.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Schedule language (website vocabulary (2 of 2)). Hear → Say → See → Use. Transliteration is printed for Core students (cover it for Develop/Stretch).
FLEX: teach if time allows; otherwise these are on the website vocabulary tab for homework.
Schedule verbs: a feminine subject (الحِصَّةُ، الاِسْتِرَاحَةُ) takes تَـ: تَبْدَأُ الحِصَّةُ.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24-hour time (website vocabulary). Hear → Say → See → Use. Transliteration is printed for Core students (cover it for Develop/Stretch).
FLEX: teach if time allows; otherwise these are on the website vocabulary tab for homework.
24-hour forms are Stretch; Core recognises صَبَاحًا (a.m.) and مَسَاءً (p.m.).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HOURS (teacher reference built from the website examples). The hour is an ORDINAL (“the seventh”) and feminine because it describes السَّاعَةُ.
Question: كَمِ السَّاعَةُ؟ Answer: السَّاعَةُ … . “At” a time: فِي + the hour in the -i form (فِي السَّاعَةِ السَّادِسَةِ) — recognition for Core.
Core: learn 6–9 (the school-morning hours)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“Use وَ for minutes after the hour” and “Use إِلَّا for minutes before the next hour”. Website teaching: “Treat the Arabic time phrase as a calculation: current hour + elapsed minutes, or next hour − remaining minutes.”
Pink = the hour CHANGES to the next one after half past.
Website common error: at 5:45 do NOT say الخَامِسَةُ إِلَّا الرُّبْعَ — name the next hour: السَّادِسَةُ إِلَّا الرُّبْعَ.
Notice the ending: وَالرُّبْعُ (-u) but إِلَّا الرُّبْعَ (-a) — Stretch observation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rules “Distinguish start, finish and duration” and “Read formal 24-hour time accurately” (١٤:٣٠ ← الرَّابِعَةَ عَشْرَةَ وَالنِّصْفُ; in everyday speech → الثَّانِيَةُ وَالنِّصْفُ مَسَاءً).
Website: “A timetable answer may require an exact start, finish or length. Do not confuse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“Arabic time expressions require two decisions: whether the minutes come after the current hour with وَ, or count down to the next hour with إِلَّا. Formal timetables may use 24-hour time, while conversation often adds صَبَاحًا or مَسَاءً.”
• Use وَ for minutes after the hour: For 1–30 minutes past, keep the current hour and add وَ followed by the minutes.
• Use إِلَّا for minutes before the next hour: After the half hour, move to the next hour and subtract the remaining minutes.
• Read formal 24-hour time accurately: In a timetable, state the numbered hour directly. In everyday speech, you may convert it to 2:30 p.m.
• Distinguish start, finish and duration: A timetable answer may require an exact start, finish or length. Do not confuse them.
Website common error: At 5:45, do not say السَّاعَةُ الخَامِسَةُ إِلَّا الرُّبْعَ. With إِلَّا, name the next hour: السَّاعَةُ السَّادِسَةُ إِلَّا الرُّبْعَ.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four website patterns as one timetable, modelled with a think-aloud (“past or to? which hour? start, finish or how long?”). Draw the clock on the Teams whiteboard for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(“Calendar Challenge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FLEX: use it if the class is secure on dates; the ordinal الأَوَّلُ (the first) is the key point.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(“Calendar Challenge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FLEX: use it if the class is secure on dates; the ordinal الأَوَّلُ (the first) is the key point.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whole-class version of the website “Beat the Clock” game (teacher-made times). 20-second timer per clock; chat the letters. Then show-me: students say the time aloud before the reveal.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class says each time aloud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expression by its time logic.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expression by its time logic.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يَوْمَ الأَرْبِعَاءِ يَبْدَأُ دَوَامِي فِي السَّاعَةِ الثَّامِنَةِ إِلَّا عَشْرَ دَقَائِقَ. الحِصَّةُ الأُولَى مِنَ الثَّامِنَةِ إِلَى التَّاسِعَةِ إِلَّا الرُّبْعَ، ثُمَّ عِنْدَنَا اِسْتِرَاحَةٌ تَسْتَمِرُّ عِشْرِينَ دَقِيقَةً. يَبْدَأُ دَرْسُ العُلُومِ فِي التَّاسِعَةِ وَخَمْسِ دَقَائِقَ، وَيَنْتَهِي فِي العَاشِرَةِ وَخَمْسٍ وَأَرْبَعِينَ دَقِيقَةً. بَعْدَ المَدْرَسَةِ أَذْهَبُ إِلَى التَّمْرِينِ فِي السَّاعَةِ السَّادِسَةَ عَشْرَةَ وَالنِّصْفِ، وَأَعُودُ إِلَى البَيْتِ حَوَالَيْ الثَّامِنَةِ مَسَاءً.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A APPLICATION CHALLENGE (3 min — it takes the speaking-rehearsal slot; the website speaking slide after it is FLEX) — from the website Topic page: “Listen for days, dates, months and clock times, mark the matching square, then create two clues of your own using complete Arabic time expressions.”
Teacher calls (read each twice): يَوْمُ الثُّلَاثَاءِ · شَهْرُ يَنَايِرَ · السَّاعَةُ السَّابِعَةُ وَالرُّبْعُ · يَوْمُ الجُمُعَةِ · شَهْرُ رَمَضَانَ · السَّاعَةُ الثَّالِثَةُ إِلَّا الرُّبْعَ · الأَوَّلُ مِنْ سِبْتَمْبَرَ · يَوْمُ الخَمِيسِ.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A challenge before this slide is the main speaking task; use these website prompts if time allows or as homework rehearsal.
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“When do you wake up? When do you leave home?” — two times from the AT-A-L01 routine. Pairs quiz each other with digital times in chat (partner answers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Read and write quarter past, half past and quarter to times. · Develop — Interpret a mixed 12-hour and 24-hour timetable. · Stretch — Calculate duration and explain a full schedule without relying on digital numerals.
Website writing task (Stretch): Create a 100–120-word schedule for one busy weekday and explain which part is easiest or most difficult.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السَّادِسَةِ وَالنِّصْفِ · السَّابِعَةِ إِلَّا عَشْرَ دَقَائِقَ · السَّادِسَةَ عَشْرَةَ · يَسْتَمِرُّ التَّمْرِينُ مُدَّةَ سَاعَةٍ · أَصْعَبُ جُزْءٍ … لِأَنَّنِي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(AT-A-L03 · Frequency, Sequencing and Communication) will spend class time USING this language, so students prepare it tonight — short, simple, easy to access (school guidance: “Simple, Short, Interesting, Relevant, Easy to access”). The five words come from the website AT-A-L03 vocabulary (frequency, the week and contrast).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A  ·  AT-A-L02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AT-A-L02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ea typeface="Cambria" pitchFamily="34" charset="-122"/>
                <a:cs typeface="Cambria" pitchFamily="34" charset="-120"/>
              </a:rPr>
              <a:t>Calendar, Dates and the School Week</a:t>
            </a:r>
            <a:endParaRPr lang="en-US" sz="3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التَّقْوِيمُ وَالتَّوَارِيخُ وَالْأُسْبُوعُ الدِّرَاسِيُّ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Communicate clock times, days, dates, months and the organisation of a school week.</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AT-A-L02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A › AT-A-L02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twelve hours, then minutes past (</a:t>
            </a:r>
            <a:pPr algn="ctr" indent="0" marL="0">
              <a:buNone/>
            </a:pPr>
            <a:r>
              <a:rPr lang="ar-SA" altLang="en-US" sz="1550" dirty="0">
                <a:solidFill>
                  <a:srgbClr val="1F2A37"/>
                </a:solidFill>
                <a:latin typeface="Amiri" pitchFamily="34" charset="0"/>
                <a:ea typeface="Amiri" pitchFamily="34" charset="-122"/>
                <a:cs typeface="Amiri" pitchFamily="34" charset="-120"/>
              </a:rPr>
              <a:t>وَ</a:t>
            </a:r>
            <a:pPr algn="ctr" indent="0" marL="0">
              <a:buNone/>
            </a:pPr>
            <a:r>
              <a:rPr lang="en-US" sz="1200" dirty="0">
                <a:solidFill>
                  <a:srgbClr val="1F2A37"/>
                </a:solidFill>
                <a:latin typeface="Calibri" pitchFamily="34" charset="0"/>
                <a:ea typeface="Calibri" pitchFamily="34" charset="-122"/>
                <a:cs typeface="Calibri" pitchFamily="34" charset="-120"/>
              </a:rPr>
              <a:t>) and to (</a:t>
            </a:r>
            <a:pPr algn="ctr" indent="0" marL="0">
              <a:buNone/>
            </a:pPr>
            <a:r>
              <a:rPr lang="ar-SA" altLang="en-US" sz="1550" dirty="0">
                <a:solidFill>
                  <a:srgbClr val="1F2A37"/>
                </a:solidFill>
                <a:latin typeface="Amiri" pitchFamily="34" charset="0"/>
                <a:ea typeface="Amiri" pitchFamily="34" charset="-122"/>
                <a:cs typeface="Amiri" pitchFamily="34" charset="-120"/>
              </a:rPr>
              <a:t>إِلَّا</a:t>
            </a:r>
            <a:pPr algn="ctr"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Beat the Clock, sort past / to,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AT-A-L03.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السَّاعَةُ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minute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hour / the clock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وَالنِّصْفُ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half past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quarter past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quarter to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wake up” (AT-A-L01).</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تَسْتَيْقِظُ</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for “she”: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الإِفْطَارَ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يَتَنَاوَلُ</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أَتَنَاوَلُ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تَتَنَاوَلُ</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means “after that”?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ذٰلِكَ</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أَوَّلًا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نَادِرًا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السَّاعَةُ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minute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hour / the clock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وَالنِّصْفُ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half past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quarter past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quarter to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wake up” (AT-A-L01).</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يَسْتَيْقِظُ</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تَسْتَيْقِظُ</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أَسْتَيْقِظُ</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AT-A-L01: </a:t>
            </a:r>
            <a:pPr algn="l" indent="0" marL="0">
              <a:buNone/>
            </a:pPr>
            <a:r>
              <a:rPr lang="ar-SA" altLang="en-US" sz="1350" dirty="0">
                <a:solidFill>
                  <a:srgbClr val="8A6D1E"/>
                </a:solidFill>
                <a:latin typeface="Amiri" pitchFamily="34" charset="0"/>
                <a:ea typeface="Amiri" pitchFamily="34" charset="-122"/>
                <a:cs typeface="Amiri" pitchFamily="34" charset="-120"/>
              </a:rPr>
              <a:t>أَـ</a:t>
            </a:r>
            <a:pPr algn="l" indent="0" marL="0">
              <a:buNone/>
            </a:pPr>
            <a:r>
              <a:rPr lang="en-US" sz="1050" i="1" dirty="0">
                <a:solidFill>
                  <a:srgbClr val="8A6D1E"/>
                </a:solidFill>
                <a:latin typeface="Calibri" pitchFamily="34" charset="0"/>
                <a:ea typeface="Calibri" pitchFamily="34" charset="-122"/>
                <a:cs typeface="Calibri" pitchFamily="34" charset="-120"/>
              </a:rPr>
              <a:t> = I.</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for “she”: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الإِفْطَارَ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يَتَنَاوَلُ</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أَتَنَاوَلُ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تَتَنَاوَلُ</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AT-A-L01: </a:t>
            </a:r>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means “after that”?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بَعْدَ ذٰلِكَ</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أَوَّلًا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نَادِرًا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AT-A-L01 sequence words.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Minutes PAST the hour → </a:t>
            </a:r>
            <a:pPr algn="l" indent="0" marL="0">
              <a:buNone/>
            </a:pPr>
            <a:r>
              <a:rPr lang="ar-SA" altLang="en-US" sz="1700" b="1" dirty="0">
                <a:solidFill>
                  <a:srgbClr val="1F2A37"/>
                </a:solidFill>
                <a:latin typeface="Amiri" pitchFamily="34" charset="0"/>
                <a:ea typeface="Amiri" pitchFamily="34" charset="-122"/>
                <a:cs typeface="Amiri" pitchFamily="34" charset="-120"/>
              </a:rPr>
              <a:t>وَ</a:t>
            </a:r>
            <a:pPr algn="l" indent="0" marL="0">
              <a:buNone/>
            </a:pPr>
            <a:r>
              <a:rPr lang="en-US" sz="1300" b="1" dirty="0">
                <a:solidFill>
                  <a:srgbClr val="1F2A37"/>
                </a:solidFill>
                <a:latin typeface="Calibri" pitchFamily="34" charset="0"/>
                <a:ea typeface="Calibri" pitchFamily="34" charset="-122"/>
                <a:cs typeface="Calibri" pitchFamily="34" charset="-120"/>
              </a:rPr>
              <a:t>. Minutes TO the next hour → </a:t>
            </a:r>
            <a:pPr algn="l" indent="0" marL="0">
              <a:buNone/>
            </a:pPr>
            <a:r>
              <a:rPr lang="ar-SA" altLang="en-US" sz="1700" b="1" dirty="0">
                <a:solidFill>
                  <a:srgbClr val="1F2A37"/>
                </a:solidFill>
                <a:latin typeface="Amiri" pitchFamily="34" charset="0"/>
                <a:ea typeface="Amiri" pitchFamily="34" charset="-122"/>
                <a:cs typeface="Amiri" pitchFamily="34" charset="-120"/>
              </a:rPr>
              <a:t>إِلَّا</a:t>
            </a:r>
            <a:pPr algn="l" indent="0" marL="0">
              <a:buNone/>
            </a:pPr>
            <a:r>
              <a:rPr lang="en-US" sz="1300" b="1" dirty="0">
                <a:solidFill>
                  <a:srgbClr val="1F2A37"/>
                </a:solidFill>
                <a:latin typeface="Calibri" pitchFamily="34" charset="0"/>
                <a:ea typeface="Calibri" pitchFamily="34" charset="-122"/>
                <a:cs typeface="Calibri" pitchFamily="34" charset="-120"/>
              </a:rPr>
              <a:t> (and name the NEXT hour!).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٧:١٥ السَّابِعَةُ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وَ</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الرُّبْعُ · ٧:٤٥ الثَّامِنَةُ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إِلَّا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الرُّبْعَ</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time to five-minute precision.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وَ</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إِلَّا</a:t>
            </a:r>
            <a:pPr algn="l" indent="0" marL="0">
              <a:buNone/>
            </a:pPr>
            <a:r>
              <a:rPr lang="en-US" sz="1300" dirty="0">
                <a:solidFill>
                  <a:srgbClr val="1F2A37"/>
                </a:solidFill>
                <a:latin typeface="Calibri" pitchFamily="34" charset="0"/>
                <a:ea typeface="Calibri" pitchFamily="34" charset="-122"/>
                <a:cs typeface="Calibri" pitchFamily="34" charset="-120"/>
              </a:rPr>
              <a:t> with the correct hour.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Interpret selected 24-hour times.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Extract start, finish and duration from a timetable.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o’clock, quarter past, half past and quarter to.</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time I wake up.</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tell the time to five minutes with </a:t>
            </a:r>
            <a:pPr algn="l" indent="0" marL="0">
              <a:buNone/>
            </a:pPr>
            <a:r>
              <a:rPr lang="ar-SA" altLang="en-US" sz="1700" b="1" dirty="0">
                <a:solidFill>
                  <a:srgbClr val="C9780A"/>
                </a:solidFill>
                <a:latin typeface="Amiri" pitchFamily="34" charset="0"/>
                <a:ea typeface="Amiri" pitchFamily="34" charset="-122"/>
                <a:cs typeface="Amiri" pitchFamily="34" charset="-120"/>
              </a:rPr>
              <a:t>وَ</a:t>
            </a:r>
            <a:pPr algn="l" indent="0" marL="0">
              <a:buNone/>
            </a:pPr>
            <a:r>
              <a:rPr lang="en-US" sz="1300" b="1" dirty="0">
                <a:solidFill>
                  <a:srgbClr val="C9780A"/>
                </a:solidFill>
                <a:latin typeface="Calibri" pitchFamily="34" charset="0"/>
                <a:ea typeface="Calibri" pitchFamily="34" charset="-122"/>
                <a:cs typeface="Calibri" pitchFamily="34" charset="-120"/>
              </a:rPr>
              <a:t> and </a:t>
            </a:r>
            <a:pPr algn="l" indent="0" marL="0">
              <a:buNone/>
            </a:pPr>
            <a:r>
              <a:rPr lang="ar-SA" altLang="en-US" sz="1700" b="1" dirty="0">
                <a:solidFill>
                  <a:srgbClr val="C9780A"/>
                </a:solidFill>
                <a:latin typeface="Amiri" pitchFamily="34" charset="0"/>
                <a:ea typeface="Amiri" pitchFamily="34" charset="-122"/>
                <a:cs typeface="Amiri" pitchFamily="34" charset="-120"/>
              </a:rPr>
              <a:t>إِلَّا</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when something begins and ends.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read 24-hour times in a timetable.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calculate and state duration.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Minutes past and to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Schedule language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24-hour time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الوَقْتُ</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‎وقت‎ </a:t>
            </a:r>
            <a:pPr indent="0" marL="0">
              <a:buNone/>
            </a:pPr>
            <a:r>
              <a:rPr lang="en-US" sz="950" b="1" dirty="0">
                <a:solidFill>
                  <a:srgbClr val="2E8B57"/>
                </a:solidFill>
                <a:latin typeface="Calibri" pitchFamily="34" charset="0"/>
                <a:ea typeface="Calibri" pitchFamily="34" charset="-122"/>
                <a:cs typeface="Calibri" pitchFamily="34" charset="-120"/>
              </a:rPr>
              <a:t> waqt · time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دَقِيقَةٌ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‎دقیقہ‎ </a:t>
            </a:r>
            <a:pPr indent="0" marL="0">
              <a:buNone/>
            </a:pPr>
            <a:r>
              <a:rPr lang="en-US" sz="950" b="1" dirty="0">
                <a:solidFill>
                  <a:srgbClr val="2E8B57"/>
                </a:solidFill>
                <a:latin typeface="Calibri" pitchFamily="34" charset="0"/>
                <a:ea typeface="Calibri" pitchFamily="34" charset="-122"/>
                <a:cs typeface="Calibri" pitchFamily="34" charset="-120"/>
              </a:rPr>
              <a:t> daqīqa · minute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السَّاعَةُ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‎ساعت‎ </a:t>
            </a:r>
            <a:pPr indent="0" marL="0">
              <a:buNone/>
            </a:pPr>
            <a:r>
              <a:rPr lang="en-US" sz="950" b="1" dirty="0">
                <a:solidFill>
                  <a:srgbClr val="2E8B57"/>
                </a:solidFill>
                <a:latin typeface="Calibri" pitchFamily="34" charset="0"/>
                <a:ea typeface="Calibri" pitchFamily="34" charset="-122"/>
                <a:cs typeface="Calibri" pitchFamily="34" charset="-120"/>
              </a:rPr>
              <a:t> sā‘at · hour, moment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مُدَّةٌ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‎مدت‎ </a:t>
            </a:r>
            <a:pPr indent="0" marL="0">
              <a:buNone/>
            </a:pPr>
            <a:r>
              <a:rPr lang="en-US" sz="950" b="1" dirty="0">
                <a:solidFill>
                  <a:srgbClr val="2E8B57"/>
                </a:solidFill>
                <a:latin typeface="Calibri" pitchFamily="34" charset="0"/>
                <a:ea typeface="Calibri" pitchFamily="34" charset="-122"/>
                <a:cs typeface="Calibri" pitchFamily="34" charset="-120"/>
              </a:rPr>
              <a:t> muddat · period, duration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حَوَالَيْ</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‎تقریباً‎ </a:t>
            </a:r>
            <a:pPr indent="0" marL="0">
              <a:buNone/>
            </a:pPr>
            <a:r>
              <a:rPr lang="en-US" sz="950" b="1" dirty="0">
                <a:solidFill>
                  <a:srgbClr val="2E8B57"/>
                </a:solidFill>
                <a:latin typeface="Calibri" pitchFamily="34" charset="0"/>
                <a:ea typeface="Calibri" pitchFamily="34" charset="-122"/>
                <a:cs typeface="Calibri" pitchFamily="34" charset="-120"/>
              </a:rPr>
              <a:t> taqrīban · approximately (different word!)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Minutes past and to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وَخَمْسُ دَقَائِقَ</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five past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wa-kham-su da-qā-ʾi-qa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وَعَشْرُ دَقَائِقَ</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ten past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wa-ʿash-ru da-qā-ʾi-qa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وَالرُّبْعُ</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quarter past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wālr-rub-ʿu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وَالثُّلُثُ</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twenty past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wālth-thu-lu-thu</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وَالنِّصْفُ</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half past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wāln-niṣ-fu</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Minutes past and to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إِلَّا خَمْسَ دَقَائِقَ</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five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il-lā kham-sa da-qā-ʾi-qa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إِلَّا عَشْرَ دَقَائِقَ</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ten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il-lā ʿash-ra da-qā-ʾi-qa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إِلَّا الرُّبْعَ</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quarter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il-lā ar-rub-ʿa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إِلَّا الثُّلُثَ</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twenty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il-lā ath-thu-lu-tha</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Schedule language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I</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يَبْدَأُ</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begins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yab-da-ʾu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 / it</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يَبْدَأُ</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تَبْدَأُ</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أَبْدَأُ</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I</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يَنْتَهِي</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yan-ta-hī</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 / it</a:t>
            </a:r>
            <a:endParaRPr lang="en-US" sz="700" dirty="0"/>
          </a:p>
        </p:txBody>
      </p:sp>
      <p:sp>
        <p:nvSpPr>
          <p:cNvPr id="44" name="Text 41"/>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يَنْتَهِي</a:t>
            </a:r>
            <a:endParaRPr lang="ar-SA" sz="135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a:t>
            </a:r>
            <a:endParaRPr lang="en-US" sz="700" dirty="0"/>
          </a:p>
        </p:txBody>
      </p:sp>
      <p:sp>
        <p:nvSpPr>
          <p:cNvPr id="47" name="Text 44"/>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تَنْتَهِي</a:t>
            </a:r>
            <a:endParaRPr lang="ar-SA" sz="135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أَنْتَهِي</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54" name="Shape 51"/>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يَسْتَمِرُّ</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continues / lasts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yas-ta-mir-ru</a:t>
            </a:r>
            <a:endParaRPr lang="en-US" sz="1350" dirty="0"/>
          </a:p>
        </p:txBody>
      </p:sp>
      <p:sp>
        <p:nvSpPr>
          <p:cNvPr id="58" name="Shape 55"/>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 / it</a:t>
            </a:r>
            <a:endParaRPr lang="en-US" sz="700" dirty="0"/>
          </a:p>
        </p:txBody>
      </p:sp>
      <p:sp>
        <p:nvSpPr>
          <p:cNvPr id="60" name="Text 57"/>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يَسْتَمِرُّ</a:t>
            </a:r>
            <a:endParaRPr lang="ar-SA" sz="1350" dirty="0"/>
          </a:p>
        </p:txBody>
      </p:sp>
      <p:sp>
        <p:nvSpPr>
          <p:cNvPr id="61" name="Shape 58"/>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a:t>
            </a:r>
            <a:endParaRPr lang="en-US" sz="700" dirty="0"/>
          </a:p>
        </p:txBody>
      </p:sp>
      <p:sp>
        <p:nvSpPr>
          <p:cNvPr id="63" name="Text 60"/>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تَسْتَمِرُّ</a:t>
            </a:r>
            <a:endParaRPr lang="ar-SA" sz="1350" dirty="0"/>
          </a:p>
        </p:txBody>
      </p:sp>
      <p:sp>
        <p:nvSpPr>
          <p:cNvPr id="64" name="Shape 6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8211312"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67" name="Shape 6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8" name="Text 6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69" name="Text 6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المَوْعِدُ</a:t>
            </a:r>
            <a:endParaRPr lang="ar-SA" sz="3000" dirty="0"/>
          </a:p>
        </p:txBody>
      </p:sp>
      <p:sp>
        <p:nvSpPr>
          <p:cNvPr id="70" name="Text 6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appointment / scheduled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al-maw-ʿi-du</a:t>
            </a:r>
            <a:endParaRPr lang="en-US" sz="1350" dirty="0"/>
          </a:p>
        </p:txBody>
      </p:sp>
      <p:sp>
        <p:nvSpPr>
          <p:cNvPr id="71" name="Shape 6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73" name="Text 7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مَوْعِدٌ</a:t>
            </a:r>
            <a:endParaRPr lang="ar-SA" sz="1500" dirty="0"/>
          </a:p>
        </p:txBody>
      </p:sp>
      <p:sp>
        <p:nvSpPr>
          <p:cNvPr id="74" name="Shape 7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6" name="Text 7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مَوَاعِيدُ</a:t>
            </a:r>
            <a:endParaRPr lang="ar-SA" sz="1500" dirty="0"/>
          </a:p>
        </p:txBody>
      </p:sp>
      <p:sp>
        <p:nvSpPr>
          <p:cNvPr id="77" name="Shape 7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389120"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80" name="Text 7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تَمَامِ</a:t>
            </a:r>
            <a:endParaRPr lang="ar-SA" sz="3000" dirty="0"/>
          </a:p>
        </p:txBody>
      </p:sp>
      <p:sp>
        <p:nvSpPr>
          <p:cNvPr id="81" name="Text 7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at exactly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ta-mā-mi</a:t>
            </a:r>
            <a:endParaRPr lang="en-US" sz="1350" dirty="0"/>
          </a:p>
        </p:txBody>
      </p:sp>
      <p:sp>
        <p:nvSpPr>
          <p:cNvPr id="82" name="Text 7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Schedule language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حَوَالَيْ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at about / approximately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ḥa-wā-lay</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السَّاعَةِ ... إِلَى ...</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from ... until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as-sā-ʿa-ti ... i-lā ...</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مُدَّةٌ</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duration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mud-da-tun</a:t>
            </a:r>
            <a:endParaRPr lang="en-US" sz="1350" dirty="0"/>
          </a:p>
        </p:txBody>
      </p:sp>
      <p:sp>
        <p:nvSpPr>
          <p:cNvPr id="34" name="Shape 3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36" name="Text 3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مُدَّةٌ</a:t>
            </a:r>
            <a:endParaRPr lang="ar-SA" sz="1500" dirty="0"/>
          </a:p>
        </p:txBody>
      </p:sp>
      <p:sp>
        <p:nvSpPr>
          <p:cNvPr id="37" name="Shape 3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9" name="Text 3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مُدَدٌ</a:t>
            </a:r>
            <a:endParaRPr lang="ar-SA" sz="150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التَّوْقِيتُ</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timing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at-taw-qī-tu</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24-hour time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السَّاعَةُ الثَّالِثَةَ عَشْرَةَ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13:00</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as-sā-ʿa-tu ath-thā-li-tha-ta ʿash-ra-ta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34" charset="0"/>
                <a:ea typeface="Amiri" pitchFamily="34" charset="-122"/>
                <a:cs typeface="Amiri" pitchFamily="34" charset="-120"/>
              </a:rPr>
              <a:t>السَّاعَةُ الرَّابِعَةَ عَشْرَةَ وَالنِّصْفُ</a:t>
            </a:r>
            <a:endParaRPr lang="ar-SA" sz="255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14:30</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as-sā-ʿa-tu ar-rā-bi-ʿa-ta ʿash-ra-ta wāln-niṣ-fu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السَّاعَةُ السَّادِسَةَ عَشْرَةَ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16:00</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as-sā-ʿa-tu as-sā-di-sa-ta ʿash-ra-ta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السَّاعَةُ الثَّامِنَةَ عَشْرَةَ وَخَمْسَ عَشْرَةَ دَقِيقَةً</a:t>
            </a:r>
            <a:endParaRPr lang="ar-SA" sz="19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18:15</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as-sā-ʿa-tu ath-thā-mi-na-ta ʿash-ra-ta wa-kham-sa ʿash-ra-ta da-qī-qa-tan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صَبَاحًا</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a.m. / in the morning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ṣa-bā-ḥan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مَسَاءً</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p.m. / in the evening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ma-sā-ʾan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THE HOURS ARE ORDINAL NUMBERS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twelve hours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السَّاعَاتُ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2474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a:t>
            </a:r>
            <a:endParaRPr lang="en-US" sz="1100" dirty="0"/>
          </a:p>
        </p:txBody>
      </p:sp>
      <p:sp>
        <p:nvSpPr>
          <p:cNvPr id="17" name="Text 14"/>
          <p:cNvSpPr txBox="1"/>
          <p:nvPr/>
        </p:nvSpPr>
        <p:spPr>
          <a:xfrm>
            <a:off x="6135624"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 hour</a:t>
            </a:r>
            <a:endParaRPr lang="en-US" sz="1100" dirty="0"/>
          </a:p>
        </p:txBody>
      </p:sp>
      <p:sp>
        <p:nvSpPr>
          <p:cNvPr id="18" name="Text 15"/>
          <p:cNvSpPr txBox="1"/>
          <p:nvPr/>
        </p:nvSpPr>
        <p:spPr>
          <a:xfrm>
            <a:off x="485546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a:t>
            </a:r>
            <a:endParaRPr lang="en-US" sz="1100" dirty="0"/>
          </a:p>
        </p:txBody>
      </p:sp>
      <p:sp>
        <p:nvSpPr>
          <p:cNvPr id="19" name="Text 16"/>
          <p:cNvSpPr txBox="1"/>
          <p:nvPr/>
        </p:nvSpPr>
        <p:spPr>
          <a:xfrm>
            <a:off x="53035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 hour</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10543032" y="226771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١:٠٠</a:t>
            </a:r>
            <a:endParaRPr lang="ar-SA" sz="2200" dirty="0"/>
          </a:p>
        </p:txBody>
      </p:sp>
      <p:sp>
        <p:nvSpPr>
          <p:cNvPr id="22" name="Text 19"/>
          <p:cNvSpPr txBox="1"/>
          <p:nvPr/>
        </p:nvSpPr>
        <p:spPr>
          <a:xfrm>
            <a:off x="6153912" y="2267712"/>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الوَاحِدَةُ</a:t>
            </a:r>
            <a:endParaRPr lang="ar-SA" sz="2200" dirty="0"/>
          </a:p>
        </p:txBody>
      </p:sp>
      <p:sp>
        <p:nvSpPr>
          <p:cNvPr id="23" name="Text 20"/>
          <p:cNvSpPr txBox="1"/>
          <p:nvPr/>
        </p:nvSpPr>
        <p:spPr>
          <a:xfrm>
            <a:off x="4873752" y="226771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٧:٠٠</a:t>
            </a:r>
            <a:endParaRPr lang="ar-SA" sz="2200" dirty="0"/>
          </a:p>
        </p:txBody>
      </p:sp>
      <p:sp>
        <p:nvSpPr>
          <p:cNvPr id="24" name="Text 21"/>
          <p:cNvSpPr txBox="1"/>
          <p:nvPr/>
        </p:nvSpPr>
        <p:spPr>
          <a:xfrm>
            <a:off x="548640" y="2267712"/>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السَّابِعَةُ</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543032" y="2881884"/>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٢:٠٠</a:t>
            </a:r>
            <a:endParaRPr lang="ar-SA" sz="2200" dirty="0"/>
          </a:p>
        </p:txBody>
      </p:sp>
      <p:sp>
        <p:nvSpPr>
          <p:cNvPr id="29" name="Text 26"/>
          <p:cNvSpPr txBox="1"/>
          <p:nvPr/>
        </p:nvSpPr>
        <p:spPr>
          <a:xfrm>
            <a:off x="6153912" y="2881884"/>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الثَّانِيَةُ</a:t>
            </a:r>
            <a:endParaRPr lang="ar-SA" sz="2200" dirty="0"/>
          </a:p>
        </p:txBody>
      </p:sp>
      <p:sp>
        <p:nvSpPr>
          <p:cNvPr id="30" name="Text 27"/>
          <p:cNvSpPr txBox="1"/>
          <p:nvPr/>
        </p:nvSpPr>
        <p:spPr>
          <a:xfrm>
            <a:off x="4873752" y="2881884"/>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٨:٠٠</a:t>
            </a:r>
            <a:endParaRPr lang="ar-SA" sz="2200" dirty="0"/>
          </a:p>
        </p:txBody>
      </p:sp>
      <p:sp>
        <p:nvSpPr>
          <p:cNvPr id="31" name="Text 28"/>
          <p:cNvSpPr txBox="1"/>
          <p:nvPr/>
        </p:nvSpPr>
        <p:spPr>
          <a:xfrm>
            <a:off x="548640" y="2881884"/>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الثَّامِنَةُ</a:t>
            </a:r>
            <a:endParaRPr lang="ar-SA" sz="22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10543032" y="3496056"/>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٣:٠٠</a:t>
            </a:r>
            <a:endParaRPr lang="ar-SA" sz="2200" dirty="0"/>
          </a:p>
        </p:txBody>
      </p:sp>
      <p:sp>
        <p:nvSpPr>
          <p:cNvPr id="36" name="Text 33"/>
          <p:cNvSpPr txBox="1"/>
          <p:nvPr/>
        </p:nvSpPr>
        <p:spPr>
          <a:xfrm>
            <a:off x="6153912" y="3496056"/>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الثَّالِثَةُ</a:t>
            </a:r>
            <a:endParaRPr lang="ar-SA" sz="2200" dirty="0"/>
          </a:p>
        </p:txBody>
      </p:sp>
      <p:sp>
        <p:nvSpPr>
          <p:cNvPr id="37" name="Text 34"/>
          <p:cNvSpPr txBox="1"/>
          <p:nvPr/>
        </p:nvSpPr>
        <p:spPr>
          <a:xfrm>
            <a:off x="4873752" y="3496056"/>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٩:٠٠</a:t>
            </a:r>
            <a:endParaRPr lang="ar-SA" sz="2200" dirty="0"/>
          </a:p>
        </p:txBody>
      </p:sp>
      <p:sp>
        <p:nvSpPr>
          <p:cNvPr id="38" name="Text 35"/>
          <p:cNvSpPr txBox="1"/>
          <p:nvPr/>
        </p:nvSpPr>
        <p:spPr>
          <a:xfrm>
            <a:off x="548640" y="3496056"/>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التَّاسِعَةُ</a:t>
            </a:r>
            <a:endParaRPr lang="ar-SA" sz="22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10543032" y="4110228"/>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٤:٠٠</a:t>
            </a:r>
            <a:endParaRPr lang="ar-SA" sz="2200" dirty="0"/>
          </a:p>
        </p:txBody>
      </p:sp>
      <p:sp>
        <p:nvSpPr>
          <p:cNvPr id="43" name="Text 40"/>
          <p:cNvSpPr txBox="1"/>
          <p:nvPr/>
        </p:nvSpPr>
        <p:spPr>
          <a:xfrm>
            <a:off x="6153912" y="4110228"/>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الرَّابِعَةُ</a:t>
            </a:r>
            <a:endParaRPr lang="ar-SA" sz="2200" dirty="0"/>
          </a:p>
        </p:txBody>
      </p:sp>
      <p:sp>
        <p:nvSpPr>
          <p:cNvPr id="44" name="Text 41"/>
          <p:cNvSpPr txBox="1"/>
          <p:nvPr/>
        </p:nvSpPr>
        <p:spPr>
          <a:xfrm>
            <a:off x="4873752" y="4110228"/>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١٠:٠٠</a:t>
            </a:r>
            <a:endParaRPr lang="ar-SA" sz="2200" dirty="0"/>
          </a:p>
        </p:txBody>
      </p:sp>
      <p:sp>
        <p:nvSpPr>
          <p:cNvPr id="45" name="Text 42"/>
          <p:cNvSpPr txBox="1"/>
          <p:nvPr/>
        </p:nvSpPr>
        <p:spPr>
          <a:xfrm>
            <a:off x="548640" y="4110228"/>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العَاشِرَةُ</a:t>
            </a:r>
            <a:endParaRPr lang="ar-SA" sz="22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10543032" y="4724400"/>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٥:٠٠</a:t>
            </a:r>
            <a:endParaRPr lang="ar-SA" sz="2200" dirty="0"/>
          </a:p>
        </p:txBody>
      </p:sp>
      <p:sp>
        <p:nvSpPr>
          <p:cNvPr id="48" name="Text 45"/>
          <p:cNvSpPr txBox="1"/>
          <p:nvPr/>
        </p:nvSpPr>
        <p:spPr>
          <a:xfrm>
            <a:off x="6153912" y="4724400"/>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الخَامِسَةُ</a:t>
            </a:r>
            <a:endParaRPr lang="ar-SA" sz="2200" dirty="0"/>
          </a:p>
        </p:txBody>
      </p:sp>
      <p:sp>
        <p:nvSpPr>
          <p:cNvPr id="49" name="Text 46"/>
          <p:cNvSpPr txBox="1"/>
          <p:nvPr/>
        </p:nvSpPr>
        <p:spPr>
          <a:xfrm>
            <a:off x="4873752" y="4724400"/>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١١:٠٠</a:t>
            </a:r>
            <a:endParaRPr lang="ar-SA" sz="2200" dirty="0"/>
          </a:p>
        </p:txBody>
      </p:sp>
      <p:sp>
        <p:nvSpPr>
          <p:cNvPr id="50" name="Text 47"/>
          <p:cNvSpPr txBox="1"/>
          <p:nvPr/>
        </p:nvSpPr>
        <p:spPr>
          <a:xfrm>
            <a:off x="548640" y="4724400"/>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الحَادِيَةَ عَشْرَةَ</a:t>
            </a:r>
            <a:endParaRPr lang="ar-SA" sz="22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10543032" y="533857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٦:٠٠</a:t>
            </a:r>
            <a:endParaRPr lang="ar-SA" sz="2200" dirty="0"/>
          </a:p>
        </p:txBody>
      </p:sp>
      <p:sp>
        <p:nvSpPr>
          <p:cNvPr id="53" name="Text 50"/>
          <p:cNvSpPr txBox="1"/>
          <p:nvPr/>
        </p:nvSpPr>
        <p:spPr>
          <a:xfrm>
            <a:off x="6153912" y="5338572"/>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السَّادِسَةُ</a:t>
            </a:r>
            <a:endParaRPr lang="ar-SA" sz="2200" dirty="0"/>
          </a:p>
        </p:txBody>
      </p:sp>
      <p:sp>
        <p:nvSpPr>
          <p:cNvPr id="54" name="Text 51"/>
          <p:cNvSpPr txBox="1"/>
          <p:nvPr/>
        </p:nvSpPr>
        <p:spPr>
          <a:xfrm>
            <a:off x="4873752" y="533857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١٢:٠٠</a:t>
            </a:r>
            <a:endParaRPr lang="ar-SA" sz="2200" dirty="0"/>
          </a:p>
        </p:txBody>
      </p:sp>
      <p:sp>
        <p:nvSpPr>
          <p:cNvPr id="55" name="Text 52"/>
          <p:cNvSpPr txBox="1"/>
          <p:nvPr/>
        </p:nvSpPr>
        <p:spPr>
          <a:xfrm>
            <a:off x="548640" y="5338572"/>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الثَّانِيَةَ عَشْرَةَ</a:t>
            </a:r>
            <a:endParaRPr lang="ar-SA" sz="22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Question: </a:t>
            </a:r>
            <a:pPr algn="l" indent="0" marL="0">
              <a:buNone/>
            </a:pPr>
            <a:r>
              <a:rPr lang="ar-SA" altLang="en-US" sz="1500" b="1" dirty="0">
                <a:solidFill>
                  <a:srgbClr val="1B3B6F"/>
                </a:solidFill>
                <a:latin typeface="Amiri" pitchFamily="34" charset="0"/>
                <a:ea typeface="Amiri" pitchFamily="34" charset="-122"/>
                <a:cs typeface="Amiri" pitchFamily="34" charset="-120"/>
              </a:rPr>
              <a:t>كَمِ السَّاعَةُ؟</a:t>
            </a:r>
            <a:pPr algn="l" indent="0" marL="0">
              <a:buNone/>
            </a:pPr>
            <a:r>
              <a:rPr lang="en-US" sz="1150" b="1" dirty="0">
                <a:solidFill>
                  <a:srgbClr val="1B3B6F"/>
                </a:solidFill>
                <a:latin typeface="Calibri" pitchFamily="34" charset="0"/>
                <a:ea typeface="Calibri" pitchFamily="34" charset="-122"/>
                <a:cs typeface="Calibri" pitchFamily="34" charset="-120"/>
              </a:rPr>
              <a:t>   Answer: </a:t>
            </a:r>
            <a:pPr algn="l" indent="0" marL="0">
              <a:buNone/>
            </a:pPr>
            <a:r>
              <a:rPr lang="ar-SA" altLang="en-US" sz="1500" b="1" dirty="0">
                <a:solidFill>
                  <a:srgbClr val="1B3B6F"/>
                </a:solidFill>
                <a:latin typeface="Amiri" pitchFamily="34" charset="0"/>
                <a:ea typeface="Amiri" pitchFamily="34" charset="-122"/>
                <a:cs typeface="Amiri" pitchFamily="34" charset="-120"/>
              </a:rPr>
              <a:t>السَّاعَةُ السَّابِعَةُ</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B3B6F"/>
                </a:solidFill>
                <a:latin typeface="Calibri" pitchFamily="34" charset="0"/>
                <a:ea typeface="Calibri" pitchFamily="34" charset="-122"/>
                <a:cs typeface="Calibri" pitchFamily="34" charset="-120"/>
              </a:rPr>
              <a:t>GRAMMAR FOCUS · PART 2 · A CALCULATION: THE HOUR + OR − THE MINUTES (WEBSITE)</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Past the hour (</a:t>
            </a:r>
            <a:pPr algn="l" indent="0" marL="0">
              <a:buNone/>
            </a:pPr>
            <a:r>
              <a:rPr lang="ar-SA" altLang="en-US" sz="2600" b="1" dirty="0">
                <a:solidFill>
                  <a:srgbClr val="1B3B6F"/>
                </a:solidFill>
                <a:latin typeface="Amiri" pitchFamily="34" charset="0"/>
                <a:ea typeface="Amiri" pitchFamily="34" charset="-122"/>
                <a:cs typeface="Amiri" pitchFamily="34" charset="-120"/>
              </a:rPr>
              <a:t>وَ</a:t>
            </a:r>
            <a:pPr algn="l" indent="0" marL="0">
              <a:buNone/>
            </a:pPr>
            <a:r>
              <a:rPr lang="en-US" sz="2000" b="1" dirty="0">
                <a:solidFill>
                  <a:srgbClr val="1B3B6F"/>
                </a:solidFill>
                <a:latin typeface="Cambria" pitchFamily="34" charset="0"/>
                <a:ea typeface="Cambria" pitchFamily="34" charset="-122"/>
                <a:cs typeface="Cambria" pitchFamily="34" charset="-120"/>
              </a:rPr>
              <a:t>) or to the next hour (</a:t>
            </a:r>
            <a:pPr algn="l" indent="0" marL="0">
              <a:buNone/>
            </a:pPr>
            <a:r>
              <a:rPr lang="ar-SA" altLang="en-US" sz="2600" b="1" dirty="0">
                <a:solidFill>
                  <a:srgbClr val="1B3B6F"/>
                </a:solidFill>
                <a:latin typeface="Amiri" pitchFamily="34" charset="0"/>
                <a:ea typeface="Amiri" pitchFamily="34" charset="-122"/>
                <a:cs typeface="Amiri" pitchFamily="34" charset="-120"/>
              </a:rPr>
              <a:t>إِلَّا</a:t>
            </a:r>
            <a:pPr algn="l" indent="0" marL="0">
              <a:buNone/>
            </a:pPr>
            <a:r>
              <a:rPr lang="en-US" sz="2000" b="1" dirty="0">
                <a:solidFill>
                  <a:srgbClr val="1B3B6F"/>
                </a:solidFill>
                <a:latin typeface="Cambria" pitchFamily="34" charset="0"/>
                <a:ea typeface="Cambria" pitchFamily="34" charset="-122"/>
                <a:cs typeface="Cambria" pitchFamily="34" charset="-120"/>
              </a:rPr>
              <a:t>)?</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 أَمْ إِلَّا؟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41864"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Clock</a:t>
            </a:r>
            <a:endParaRPr lang="en-US" sz="1100" dirty="0"/>
          </a:p>
        </p:txBody>
      </p:sp>
      <p:sp>
        <p:nvSpPr>
          <p:cNvPr id="17" name="Text 14"/>
          <p:cNvSpPr txBox="1"/>
          <p:nvPr/>
        </p:nvSpPr>
        <p:spPr>
          <a:xfrm>
            <a:off x="4672584"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53035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How it works</a:t>
            </a:r>
            <a:endParaRPr lang="en-US" sz="1100" dirty="0"/>
          </a:p>
        </p:txBody>
      </p:sp>
      <p:sp>
        <p:nvSpPr>
          <p:cNvPr id="19" name="Shape 16"/>
          <p:cNvSpPr/>
          <p:nvPr/>
        </p:nvSpPr>
        <p:spPr>
          <a:xfrm>
            <a:off x="457200" y="2267712"/>
            <a:ext cx="11274552" cy="530352"/>
          </a:xfrm>
          <a:prstGeom prst="roundRect">
            <a:avLst>
              <a:gd name="adj" fmla="val 8621"/>
            </a:avLst>
          </a:prstGeom>
          <a:solidFill>
            <a:srgbClr val="FFFFFF"/>
          </a:solidFill>
          <a:ln w="9525">
            <a:solidFill>
              <a:srgbClr val="D8D0BF"/>
            </a:solidFill>
            <a:prstDash val="solid"/>
          </a:ln>
        </p:spPr>
      </p:sp>
      <p:sp>
        <p:nvSpPr>
          <p:cNvPr id="20" name="Text 17"/>
          <p:cNvSpPr txBox="1"/>
          <p:nvPr/>
        </p:nvSpPr>
        <p:spPr>
          <a:xfrm>
            <a:off x="10360152" y="2267712"/>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٧:٠٥</a:t>
            </a:r>
            <a:endParaRPr lang="ar-SA" sz="2200" dirty="0"/>
          </a:p>
        </p:txBody>
      </p:sp>
      <p:sp>
        <p:nvSpPr>
          <p:cNvPr id="21" name="Text 18"/>
          <p:cNvSpPr txBox="1"/>
          <p:nvPr/>
        </p:nvSpPr>
        <p:spPr>
          <a:xfrm>
            <a:off x="4690872" y="2267712"/>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السَّابِعَةُ </a:t>
            </a:r>
            <a:pPr rtl="1" algn="ctr" indent="0" marL="0">
              <a:buNone/>
            </a:pPr>
            <a:r>
              <a:rPr lang="ar-SA" altLang="en-US" sz="2200" b="1" dirty="0">
                <a:solidFill>
                  <a:srgbClr val="0E7C86"/>
                </a:solidFill>
                <a:latin typeface="Amiri" pitchFamily="34" charset="0"/>
                <a:ea typeface="Amiri" pitchFamily="34" charset="-122"/>
                <a:cs typeface="Amiri" pitchFamily="34" charset="-120"/>
              </a:rPr>
              <a:t>وَ</a:t>
            </a:r>
            <a:pPr rtl="1" algn="ctr" indent="0" marL="0">
              <a:buNone/>
            </a:pPr>
            <a:r>
              <a:rPr lang="ar-SA" altLang="en-US" sz="2200" b="1" dirty="0">
                <a:solidFill>
                  <a:srgbClr val="1B3B6F"/>
                </a:solidFill>
                <a:latin typeface="Amiri" pitchFamily="34" charset="0"/>
                <a:ea typeface="Amiri" pitchFamily="34" charset="-122"/>
                <a:cs typeface="Amiri" pitchFamily="34" charset="-120"/>
              </a:rPr>
              <a:t>خَمْسُ دَقَائِقَ</a:t>
            </a:r>
            <a:endParaRPr lang="ar-SA" sz="2200" dirty="0"/>
          </a:p>
        </p:txBody>
      </p:sp>
      <p:sp>
        <p:nvSpPr>
          <p:cNvPr id="22" name="Text 19"/>
          <p:cNvSpPr txBox="1"/>
          <p:nvPr/>
        </p:nvSpPr>
        <p:spPr>
          <a:xfrm>
            <a:off x="566928" y="2267712"/>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 + 5 minutes</a:t>
            </a:r>
            <a:endParaRPr lang="en-US" sz="1100" dirty="0"/>
          </a:p>
        </p:txBody>
      </p:sp>
      <p:sp>
        <p:nvSpPr>
          <p:cNvPr id="23" name="Shape 20"/>
          <p:cNvSpPr/>
          <p:nvPr/>
        </p:nvSpPr>
        <p:spPr>
          <a:xfrm>
            <a:off x="457200" y="2852928"/>
            <a:ext cx="11274552" cy="530352"/>
          </a:xfrm>
          <a:prstGeom prst="roundRect">
            <a:avLst>
              <a:gd name="adj" fmla="val 8621"/>
            </a:avLst>
          </a:prstGeom>
          <a:solidFill>
            <a:srgbClr val="F4F1EA"/>
          </a:solidFill>
          <a:ln w="9525">
            <a:solidFill>
              <a:srgbClr val="D8D0BF"/>
            </a:solidFill>
            <a:prstDash val="solid"/>
          </a:ln>
        </p:spPr>
      </p:sp>
      <p:sp>
        <p:nvSpPr>
          <p:cNvPr id="24" name="Text 21"/>
          <p:cNvSpPr txBox="1"/>
          <p:nvPr/>
        </p:nvSpPr>
        <p:spPr>
          <a:xfrm>
            <a:off x="10360152" y="2852928"/>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٧:١٥</a:t>
            </a:r>
            <a:endParaRPr lang="ar-SA" sz="2200" dirty="0"/>
          </a:p>
        </p:txBody>
      </p:sp>
      <p:sp>
        <p:nvSpPr>
          <p:cNvPr id="25" name="Text 22"/>
          <p:cNvSpPr txBox="1"/>
          <p:nvPr/>
        </p:nvSpPr>
        <p:spPr>
          <a:xfrm>
            <a:off x="4690872" y="2852928"/>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السَّابِعَةُ </a:t>
            </a:r>
            <a:pPr rtl="1" algn="ctr" indent="0" marL="0">
              <a:buNone/>
            </a:pPr>
            <a:r>
              <a:rPr lang="ar-SA" altLang="en-US" sz="2200" b="1" dirty="0">
                <a:solidFill>
                  <a:srgbClr val="0E7C86"/>
                </a:solidFill>
                <a:latin typeface="Amiri" pitchFamily="34" charset="0"/>
                <a:ea typeface="Amiri" pitchFamily="34" charset="-122"/>
                <a:cs typeface="Amiri" pitchFamily="34" charset="-120"/>
              </a:rPr>
              <a:t>وَ</a:t>
            </a:r>
            <a:pPr rtl="1" algn="ctr" indent="0" marL="0">
              <a:buNone/>
            </a:pPr>
            <a:r>
              <a:rPr lang="ar-SA" altLang="en-US" sz="2200" b="1" dirty="0">
                <a:solidFill>
                  <a:srgbClr val="1B3B6F"/>
                </a:solidFill>
                <a:latin typeface="Amiri" pitchFamily="34" charset="0"/>
                <a:ea typeface="Amiri" pitchFamily="34" charset="-122"/>
                <a:cs typeface="Amiri" pitchFamily="34" charset="-120"/>
              </a:rPr>
              <a:t>الرُّبْعُ</a:t>
            </a:r>
            <a:endParaRPr lang="ar-SA" sz="2200" dirty="0"/>
          </a:p>
        </p:txBody>
      </p:sp>
      <p:sp>
        <p:nvSpPr>
          <p:cNvPr id="26" name="Text 23"/>
          <p:cNvSpPr txBox="1"/>
          <p:nvPr/>
        </p:nvSpPr>
        <p:spPr>
          <a:xfrm>
            <a:off x="566928" y="2852928"/>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 + a quarter</a:t>
            </a:r>
            <a:endParaRPr lang="en-US" sz="1100" dirty="0"/>
          </a:p>
        </p:txBody>
      </p:sp>
      <p:sp>
        <p:nvSpPr>
          <p:cNvPr id="27" name="Shape 24"/>
          <p:cNvSpPr/>
          <p:nvPr/>
        </p:nvSpPr>
        <p:spPr>
          <a:xfrm>
            <a:off x="11091672" y="2898648"/>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8986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438144"/>
            <a:ext cx="11274552" cy="530352"/>
          </a:xfrm>
          <a:prstGeom prst="roundRect">
            <a:avLst>
              <a:gd name="adj" fmla="val 8621"/>
            </a:avLst>
          </a:prstGeom>
          <a:solidFill>
            <a:srgbClr val="FFFFFF"/>
          </a:solidFill>
          <a:ln w="9525">
            <a:solidFill>
              <a:srgbClr val="D8D0BF"/>
            </a:solidFill>
            <a:prstDash val="solid"/>
          </a:ln>
        </p:spPr>
      </p:sp>
      <p:sp>
        <p:nvSpPr>
          <p:cNvPr id="30" name="Text 27"/>
          <p:cNvSpPr txBox="1"/>
          <p:nvPr/>
        </p:nvSpPr>
        <p:spPr>
          <a:xfrm>
            <a:off x="10360152" y="3438144"/>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٧:٢٠</a:t>
            </a:r>
            <a:endParaRPr lang="ar-SA" sz="2200" dirty="0"/>
          </a:p>
        </p:txBody>
      </p:sp>
      <p:sp>
        <p:nvSpPr>
          <p:cNvPr id="31" name="Text 28"/>
          <p:cNvSpPr txBox="1"/>
          <p:nvPr/>
        </p:nvSpPr>
        <p:spPr>
          <a:xfrm>
            <a:off x="4690872" y="3438144"/>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السَّابِعَةُ </a:t>
            </a:r>
            <a:pPr rtl="1" algn="ctr" indent="0" marL="0">
              <a:buNone/>
            </a:pPr>
            <a:r>
              <a:rPr lang="ar-SA" altLang="en-US" sz="2200" b="1" dirty="0">
                <a:solidFill>
                  <a:srgbClr val="0E7C86"/>
                </a:solidFill>
                <a:latin typeface="Amiri" pitchFamily="34" charset="0"/>
                <a:ea typeface="Amiri" pitchFamily="34" charset="-122"/>
                <a:cs typeface="Amiri" pitchFamily="34" charset="-120"/>
              </a:rPr>
              <a:t>وَ</a:t>
            </a:r>
            <a:pPr rtl="1" algn="ctr" indent="0" marL="0">
              <a:buNone/>
            </a:pPr>
            <a:r>
              <a:rPr lang="ar-SA" altLang="en-US" sz="2200" b="1" dirty="0">
                <a:solidFill>
                  <a:srgbClr val="1B3B6F"/>
                </a:solidFill>
                <a:latin typeface="Amiri" pitchFamily="34" charset="0"/>
                <a:ea typeface="Amiri" pitchFamily="34" charset="-122"/>
                <a:cs typeface="Amiri" pitchFamily="34" charset="-120"/>
              </a:rPr>
              <a:t>الثُّلُثُ</a:t>
            </a:r>
            <a:endParaRPr lang="ar-SA" sz="2200" dirty="0"/>
          </a:p>
        </p:txBody>
      </p:sp>
      <p:sp>
        <p:nvSpPr>
          <p:cNvPr id="32" name="Text 29"/>
          <p:cNvSpPr txBox="1"/>
          <p:nvPr/>
        </p:nvSpPr>
        <p:spPr>
          <a:xfrm>
            <a:off x="566928" y="3438144"/>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 + a third (20 min)</a:t>
            </a:r>
            <a:endParaRPr lang="en-US" sz="1100" dirty="0"/>
          </a:p>
        </p:txBody>
      </p:sp>
      <p:sp>
        <p:nvSpPr>
          <p:cNvPr id="33" name="Shape 30"/>
          <p:cNvSpPr/>
          <p:nvPr/>
        </p:nvSpPr>
        <p:spPr>
          <a:xfrm>
            <a:off x="457200" y="4023360"/>
            <a:ext cx="11274552" cy="530352"/>
          </a:xfrm>
          <a:prstGeom prst="roundRect">
            <a:avLst>
              <a:gd name="adj" fmla="val 8621"/>
            </a:avLst>
          </a:prstGeom>
          <a:solidFill>
            <a:srgbClr val="F4F1EA"/>
          </a:solidFill>
          <a:ln w="9525">
            <a:solidFill>
              <a:srgbClr val="D8D0BF"/>
            </a:solidFill>
            <a:prstDash val="solid"/>
          </a:ln>
        </p:spPr>
      </p:sp>
      <p:sp>
        <p:nvSpPr>
          <p:cNvPr id="34" name="Text 31"/>
          <p:cNvSpPr txBox="1"/>
          <p:nvPr/>
        </p:nvSpPr>
        <p:spPr>
          <a:xfrm>
            <a:off x="10360152" y="4023360"/>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٧:٣٠</a:t>
            </a:r>
            <a:endParaRPr lang="ar-SA" sz="2200" dirty="0"/>
          </a:p>
        </p:txBody>
      </p:sp>
      <p:sp>
        <p:nvSpPr>
          <p:cNvPr id="35" name="Text 32"/>
          <p:cNvSpPr txBox="1"/>
          <p:nvPr/>
        </p:nvSpPr>
        <p:spPr>
          <a:xfrm>
            <a:off x="4690872" y="4023360"/>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السَّابِعَةُ </a:t>
            </a:r>
            <a:pPr rtl="1" algn="ctr" indent="0" marL="0">
              <a:buNone/>
            </a:pPr>
            <a:r>
              <a:rPr lang="ar-SA" altLang="en-US" sz="2200" b="1" dirty="0">
                <a:solidFill>
                  <a:srgbClr val="0E7C86"/>
                </a:solidFill>
                <a:latin typeface="Amiri" pitchFamily="34" charset="0"/>
                <a:ea typeface="Amiri" pitchFamily="34" charset="-122"/>
                <a:cs typeface="Amiri" pitchFamily="34" charset="-120"/>
              </a:rPr>
              <a:t>وَ</a:t>
            </a:r>
            <a:pPr rtl="1" algn="ctr" indent="0" marL="0">
              <a:buNone/>
            </a:pPr>
            <a:r>
              <a:rPr lang="ar-SA" altLang="en-US" sz="2200" b="1" dirty="0">
                <a:solidFill>
                  <a:srgbClr val="1B3B6F"/>
                </a:solidFill>
                <a:latin typeface="Amiri" pitchFamily="34" charset="0"/>
                <a:ea typeface="Amiri" pitchFamily="34" charset="-122"/>
                <a:cs typeface="Amiri" pitchFamily="34" charset="-120"/>
              </a:rPr>
              <a:t>النِّصْفُ</a:t>
            </a:r>
            <a:endParaRPr lang="ar-SA" sz="2200" dirty="0"/>
          </a:p>
        </p:txBody>
      </p:sp>
      <p:sp>
        <p:nvSpPr>
          <p:cNvPr id="36" name="Text 33"/>
          <p:cNvSpPr txBox="1"/>
          <p:nvPr/>
        </p:nvSpPr>
        <p:spPr>
          <a:xfrm>
            <a:off x="566928" y="4023360"/>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 + a half</a:t>
            </a:r>
            <a:endParaRPr lang="en-US" sz="1100" dirty="0"/>
          </a:p>
        </p:txBody>
      </p:sp>
      <p:sp>
        <p:nvSpPr>
          <p:cNvPr id="37" name="Shape 34"/>
          <p:cNvSpPr/>
          <p:nvPr/>
        </p:nvSpPr>
        <p:spPr>
          <a:xfrm>
            <a:off x="11091672" y="4069080"/>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06908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4608576"/>
            <a:ext cx="11274552" cy="530352"/>
          </a:xfrm>
          <a:prstGeom prst="roundRect">
            <a:avLst>
              <a:gd name="adj" fmla="val 8621"/>
            </a:avLst>
          </a:prstGeom>
          <a:solidFill>
            <a:srgbClr val="FFFFFF"/>
          </a:solidFill>
          <a:ln w="9525">
            <a:solidFill>
              <a:srgbClr val="D8D0BF"/>
            </a:solidFill>
            <a:prstDash val="solid"/>
          </a:ln>
        </p:spPr>
      </p:sp>
      <p:sp>
        <p:nvSpPr>
          <p:cNvPr id="40" name="Text 37"/>
          <p:cNvSpPr txBox="1"/>
          <p:nvPr/>
        </p:nvSpPr>
        <p:spPr>
          <a:xfrm>
            <a:off x="10360152" y="4608576"/>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٧:٤٠</a:t>
            </a:r>
            <a:endParaRPr lang="ar-SA" sz="2200" dirty="0"/>
          </a:p>
        </p:txBody>
      </p:sp>
      <p:sp>
        <p:nvSpPr>
          <p:cNvPr id="41" name="Text 38"/>
          <p:cNvSpPr txBox="1"/>
          <p:nvPr/>
        </p:nvSpPr>
        <p:spPr>
          <a:xfrm>
            <a:off x="4690872" y="4608576"/>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الثَّامِنَةُ</a:t>
            </a:r>
            <a:pPr rtl="1" algn="ctr" indent="0" marL="0">
              <a:buNone/>
            </a:pPr>
            <a:r>
              <a:rPr lang="ar-SA" altLang="en-US" sz="2200" b="1" dirty="0">
                <a:solidFill>
                  <a:srgbClr val="1B3B6F"/>
                </a:solidFill>
                <a:latin typeface="Amiri" pitchFamily="34" charset="0"/>
                <a:ea typeface="Amiri" pitchFamily="34" charset="-122"/>
                <a:cs typeface="Amiri" pitchFamily="34" charset="-120"/>
              </a:rPr>
              <a:t> </a:t>
            </a:r>
            <a:pPr rtl="1" algn="ctr" indent="0" marL="0">
              <a:buNone/>
            </a:pPr>
            <a:r>
              <a:rPr lang="ar-SA" altLang="en-US" sz="2200" b="1" dirty="0">
                <a:solidFill>
                  <a:srgbClr val="0E7C86"/>
                </a:solidFill>
                <a:latin typeface="Amiri" pitchFamily="34" charset="0"/>
                <a:ea typeface="Amiri" pitchFamily="34" charset="-122"/>
                <a:cs typeface="Amiri" pitchFamily="34" charset="-120"/>
              </a:rPr>
              <a:t>إِلَّا</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الثُّلُثَ</a:t>
            </a:r>
            <a:endParaRPr lang="ar-SA" sz="2200" dirty="0"/>
          </a:p>
        </p:txBody>
      </p:sp>
      <p:sp>
        <p:nvSpPr>
          <p:cNvPr id="42" name="Text 39"/>
          <p:cNvSpPr txBox="1"/>
          <p:nvPr/>
        </p:nvSpPr>
        <p:spPr>
          <a:xfrm>
            <a:off x="566928" y="4608576"/>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NEXT hour (8) − a third</a:t>
            </a:r>
            <a:endParaRPr lang="en-US" sz="1100" dirty="0"/>
          </a:p>
        </p:txBody>
      </p:sp>
      <p:sp>
        <p:nvSpPr>
          <p:cNvPr id="43" name="Shape 40"/>
          <p:cNvSpPr/>
          <p:nvPr/>
        </p:nvSpPr>
        <p:spPr>
          <a:xfrm>
            <a:off x="457200" y="5193792"/>
            <a:ext cx="11274552" cy="530352"/>
          </a:xfrm>
          <a:prstGeom prst="roundRect">
            <a:avLst>
              <a:gd name="adj" fmla="val 8621"/>
            </a:avLst>
          </a:prstGeom>
          <a:solidFill>
            <a:srgbClr val="F4F1EA"/>
          </a:solidFill>
          <a:ln w="9525">
            <a:solidFill>
              <a:srgbClr val="D8D0BF"/>
            </a:solidFill>
            <a:prstDash val="solid"/>
          </a:ln>
        </p:spPr>
      </p:sp>
      <p:sp>
        <p:nvSpPr>
          <p:cNvPr id="44" name="Text 41"/>
          <p:cNvSpPr txBox="1"/>
          <p:nvPr/>
        </p:nvSpPr>
        <p:spPr>
          <a:xfrm>
            <a:off x="10360152" y="5193792"/>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٧:٤٥</a:t>
            </a:r>
            <a:endParaRPr lang="ar-SA" sz="2200" dirty="0"/>
          </a:p>
        </p:txBody>
      </p:sp>
      <p:sp>
        <p:nvSpPr>
          <p:cNvPr id="45" name="Text 42"/>
          <p:cNvSpPr txBox="1"/>
          <p:nvPr/>
        </p:nvSpPr>
        <p:spPr>
          <a:xfrm>
            <a:off x="4690872" y="5193792"/>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الثَّامِنَةُ</a:t>
            </a:r>
            <a:pPr rtl="1" algn="ctr" indent="0" marL="0">
              <a:buNone/>
            </a:pPr>
            <a:r>
              <a:rPr lang="ar-SA" altLang="en-US" sz="2200" b="1" dirty="0">
                <a:solidFill>
                  <a:srgbClr val="1B3B6F"/>
                </a:solidFill>
                <a:latin typeface="Amiri" pitchFamily="34" charset="0"/>
                <a:ea typeface="Amiri" pitchFamily="34" charset="-122"/>
                <a:cs typeface="Amiri" pitchFamily="34" charset="-120"/>
              </a:rPr>
              <a:t> </a:t>
            </a:r>
            <a:pPr rtl="1" algn="ctr" indent="0" marL="0">
              <a:buNone/>
            </a:pPr>
            <a:r>
              <a:rPr lang="ar-SA" altLang="en-US" sz="2200" b="1" dirty="0">
                <a:solidFill>
                  <a:srgbClr val="0E7C86"/>
                </a:solidFill>
                <a:latin typeface="Amiri" pitchFamily="34" charset="0"/>
                <a:ea typeface="Amiri" pitchFamily="34" charset="-122"/>
                <a:cs typeface="Amiri" pitchFamily="34" charset="-120"/>
              </a:rPr>
              <a:t>إِلَّا</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الرُّبْعَ</a:t>
            </a:r>
            <a:endParaRPr lang="ar-SA" sz="2200" dirty="0"/>
          </a:p>
        </p:txBody>
      </p:sp>
      <p:sp>
        <p:nvSpPr>
          <p:cNvPr id="46" name="Text 43"/>
          <p:cNvSpPr txBox="1"/>
          <p:nvPr/>
        </p:nvSpPr>
        <p:spPr>
          <a:xfrm>
            <a:off x="566928" y="5193792"/>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NEXT hour (8) − a quarter</a:t>
            </a:r>
            <a:endParaRPr lang="en-US" sz="1100" dirty="0"/>
          </a:p>
        </p:txBody>
      </p:sp>
      <p:sp>
        <p:nvSpPr>
          <p:cNvPr id="47" name="Shape 44"/>
          <p:cNvSpPr/>
          <p:nvPr/>
        </p:nvSpPr>
        <p:spPr>
          <a:xfrm>
            <a:off x="11091672" y="5239512"/>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3951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Shape 46"/>
          <p:cNvSpPr/>
          <p:nvPr/>
        </p:nvSpPr>
        <p:spPr>
          <a:xfrm>
            <a:off x="457200" y="5779008"/>
            <a:ext cx="11274552" cy="530352"/>
          </a:xfrm>
          <a:prstGeom prst="roundRect">
            <a:avLst>
              <a:gd name="adj" fmla="val 8621"/>
            </a:avLst>
          </a:prstGeom>
          <a:solidFill>
            <a:srgbClr val="FFFFFF"/>
          </a:solidFill>
          <a:ln w="9525">
            <a:solidFill>
              <a:srgbClr val="D8D0BF"/>
            </a:solidFill>
            <a:prstDash val="solid"/>
          </a:ln>
        </p:spPr>
      </p:sp>
      <p:sp>
        <p:nvSpPr>
          <p:cNvPr id="50" name="Text 47"/>
          <p:cNvSpPr txBox="1"/>
          <p:nvPr/>
        </p:nvSpPr>
        <p:spPr>
          <a:xfrm>
            <a:off x="10360152" y="5779008"/>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٧:٥٥</a:t>
            </a:r>
            <a:endParaRPr lang="ar-SA" sz="2200" dirty="0"/>
          </a:p>
        </p:txBody>
      </p:sp>
      <p:sp>
        <p:nvSpPr>
          <p:cNvPr id="51" name="Text 48"/>
          <p:cNvSpPr txBox="1"/>
          <p:nvPr/>
        </p:nvSpPr>
        <p:spPr>
          <a:xfrm>
            <a:off x="4690872" y="5779008"/>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الثَّامِنَةُ</a:t>
            </a:r>
            <a:pPr rtl="1" algn="ctr" indent="0" marL="0">
              <a:buNone/>
            </a:pPr>
            <a:r>
              <a:rPr lang="ar-SA" altLang="en-US" sz="2200" b="1" dirty="0">
                <a:solidFill>
                  <a:srgbClr val="1B3B6F"/>
                </a:solidFill>
                <a:latin typeface="Amiri" pitchFamily="34" charset="0"/>
                <a:ea typeface="Amiri" pitchFamily="34" charset="-122"/>
                <a:cs typeface="Amiri" pitchFamily="34" charset="-120"/>
              </a:rPr>
              <a:t> </a:t>
            </a:r>
            <a:pPr rtl="1" algn="ctr" indent="0" marL="0">
              <a:buNone/>
            </a:pPr>
            <a:r>
              <a:rPr lang="ar-SA" altLang="en-US" sz="2200" b="1" dirty="0">
                <a:solidFill>
                  <a:srgbClr val="0E7C86"/>
                </a:solidFill>
                <a:latin typeface="Amiri" pitchFamily="34" charset="0"/>
                <a:ea typeface="Amiri" pitchFamily="34" charset="-122"/>
                <a:cs typeface="Amiri" pitchFamily="34" charset="-120"/>
              </a:rPr>
              <a:t>إِلَّا</a:t>
            </a:r>
            <a:pPr rtl="1" algn="ctr" indent="0" marL="0">
              <a:buNone/>
            </a:pPr>
            <a:r>
              <a:rPr lang="ar-SA" altLang="en-US" sz="2200" b="1" dirty="0">
                <a:solidFill>
                  <a:srgbClr val="1B3B6F"/>
                </a:solidFill>
                <a:latin typeface="Amiri" pitchFamily="34" charset="0"/>
                <a:ea typeface="Amiri" pitchFamily="34" charset="-122"/>
                <a:cs typeface="Amiri" pitchFamily="34" charset="-120"/>
              </a:rPr>
              <a:t> خَمْسَ دَقَائِقَ</a:t>
            </a:r>
            <a:endParaRPr lang="ar-SA" sz="2200" dirty="0"/>
          </a:p>
        </p:txBody>
      </p:sp>
      <p:sp>
        <p:nvSpPr>
          <p:cNvPr id="52" name="Text 49"/>
          <p:cNvSpPr txBox="1"/>
          <p:nvPr/>
        </p:nvSpPr>
        <p:spPr>
          <a:xfrm>
            <a:off x="566928" y="5779008"/>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NEXT hour (8) − 5 minutes</a:t>
            </a:r>
            <a:endParaRPr lang="en-US" sz="110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ea typeface="Calibri" pitchFamily="34" charset="-122"/>
                <a:cs typeface="Calibri" pitchFamily="34" charset="-120"/>
              </a:rPr>
              <a:t>GRAMMAR FOCUS · PART 3 · START, FINISH, DURATION (WEBSITE) · DEVELOP / STRETCH</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Begins, ends, lasts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يَبْدَأُ · يَنْتَهِي · يَسْتَمِرُّ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START · يَبْدَأُ فِي</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يَبْدَأُ</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يَبْدَأُ الدَّرْسُ فِي الثَّامِنَةِ.</a:t>
            </a:r>
            <a:endParaRPr lang="ar-SA" sz="30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lesson begins at eight.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فِي</a:t>
            </a:r>
            <a:pPr algn="l" indent="0" marL="0">
              <a:buNone/>
            </a:pPr>
            <a:r>
              <a:rPr lang="en-US" sz="1100" dirty="0">
                <a:solidFill>
                  <a:srgbClr val="1F2A37"/>
                </a:solidFill>
                <a:latin typeface="Calibri" pitchFamily="34" charset="0"/>
                <a:ea typeface="Calibri" pitchFamily="34" charset="-122"/>
                <a:cs typeface="Calibri" pitchFamily="34" charset="-120"/>
              </a:rPr>
              <a:t> + an exact time.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7830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FINISH · يَنْتَهِي فِي</a:t>
            </a:r>
            <a:endParaRPr lang="en-US" sz="850" dirty="0"/>
          </a:p>
        </p:txBody>
      </p:sp>
      <p:sp>
        <p:nvSpPr>
          <p:cNvPr id="26" name="Text 23"/>
          <p:cNvSpPr txBox="1"/>
          <p:nvPr/>
        </p:nvSpPr>
        <p:spPr>
          <a:xfrm>
            <a:off x="6242304"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يَنْتَهِي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34" charset="0"/>
                <a:ea typeface="Amiri" pitchFamily="34" charset="-122"/>
                <a:cs typeface="Amiri" pitchFamily="34" charset="-120"/>
              </a:rPr>
              <a:t>يَنْتَهِي فِي التَّاسِعَةِ إِلَّا الرُّبْعَ.</a:t>
            </a:r>
            <a:endParaRPr lang="ar-SA" sz="24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ends at quarter to nine.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فِي</a:t>
            </a:r>
            <a:pPr algn="l" indent="0" marL="0">
              <a:buNone/>
            </a:pPr>
            <a:r>
              <a:rPr lang="en-US" sz="1100" dirty="0">
                <a:solidFill>
                  <a:srgbClr val="1F2A37"/>
                </a:solidFill>
                <a:latin typeface="Calibri" pitchFamily="34" charset="0"/>
                <a:ea typeface="Calibri" pitchFamily="34" charset="-122"/>
                <a:cs typeface="Calibri" pitchFamily="34" charset="-120"/>
              </a:rPr>
              <a:t> + an exact time.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2181758"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2181758"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DURATION · يَسْتَمِرُّ مُدَّةَ</a:t>
            </a:r>
            <a:endParaRPr lang="en-US" sz="850" dirty="0"/>
          </a:p>
        </p:txBody>
      </p:sp>
      <p:sp>
        <p:nvSpPr>
          <p:cNvPr id="34" name="Text 31"/>
          <p:cNvSpPr txBox="1"/>
          <p:nvPr/>
        </p:nvSpPr>
        <p:spPr>
          <a:xfrm>
            <a:off x="2821838" y="1874520"/>
            <a:ext cx="1134466"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مُدَّةَ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34" charset="0"/>
                <a:ea typeface="Amiri" pitchFamily="34" charset="-122"/>
                <a:cs typeface="Amiri" pitchFamily="34" charset="-120"/>
              </a:rPr>
              <a:t>يَسْتَمِرُّ مُدَّةَ خَمْسٍ وَأَرْبَعِينَ دَقِيقَةً.</a:t>
            </a:r>
            <a:endParaRPr lang="ar-SA" sz="23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lasts 45 minutes.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How LONG → </a:t>
            </a:r>
            <a:pPr algn="l" indent="0" marL="0">
              <a:buNone/>
            </a:pPr>
            <a:r>
              <a:rPr lang="ar-SA" altLang="en-US" sz="1450" dirty="0">
                <a:solidFill>
                  <a:srgbClr val="1F2A37"/>
                </a:solidFill>
                <a:latin typeface="Amiri" pitchFamily="34" charset="0"/>
                <a:ea typeface="Amiri" pitchFamily="34" charset="-122"/>
                <a:cs typeface="Amiri" pitchFamily="34" charset="-120"/>
              </a:rPr>
              <a:t>مُدَّةَ</a:t>
            </a:r>
            <a:pPr algn="l" indent="0" marL="0">
              <a:buNone/>
            </a:pPr>
            <a:r>
              <a:rPr lang="en-US" sz="1100" dirty="0">
                <a:solidFill>
                  <a:srgbClr val="1F2A37"/>
                </a:solidFill>
                <a:latin typeface="Calibri" pitchFamily="34" charset="0"/>
                <a:ea typeface="Calibri" pitchFamily="34" charset="-122"/>
                <a:cs typeface="Calibri" pitchFamily="34" charset="-120"/>
              </a:rPr>
              <a:t>, not </a:t>
            </a:r>
            <a:pPr algn="l" indent="0" marL="0">
              <a:buNone/>
            </a:pPr>
            <a:r>
              <a:rPr lang="ar-SA" altLang="en-US" sz="1450" dirty="0">
                <a:solidFill>
                  <a:srgbClr val="1F2A37"/>
                </a:solidFill>
                <a:latin typeface="Amiri" pitchFamily="34" charset="0"/>
                <a:ea typeface="Amiri" pitchFamily="34" charset="-122"/>
                <a:cs typeface="Amiri" pitchFamily="34" charset="-120"/>
              </a:rPr>
              <a:t>فِي</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mistake: use </a:t>
            </a:r>
            <a:pPr algn="l" indent="0" marL="0">
              <a:buNone/>
            </a:pPr>
            <a:r>
              <a:rPr lang="ar-SA" altLang="en-US" sz="1500" dirty="0">
                <a:solidFill>
                  <a:srgbClr val="1F2A37"/>
                </a:solidFill>
                <a:latin typeface="Amiri" pitchFamily="34" charset="0"/>
                <a:ea typeface="Amiri" pitchFamily="34" charset="-122"/>
                <a:cs typeface="Amiri" pitchFamily="34" charset="-120"/>
              </a:rPr>
              <a:t>مُدَّةَ</a:t>
            </a:r>
            <a:pPr algn="l" indent="0" marL="0">
              <a:buNone/>
            </a:pPr>
            <a:r>
              <a:rPr lang="en-US" sz="1150" dirty="0">
                <a:solidFill>
                  <a:srgbClr val="1F2A37"/>
                </a:solidFill>
                <a:latin typeface="Calibri" pitchFamily="34" charset="0"/>
                <a:ea typeface="Calibri" pitchFamily="34" charset="-122"/>
                <a:cs typeface="Calibri" pitchFamily="34" charset="-120"/>
              </a:rPr>
              <a:t> for how long something lasts.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يَسْتَمِرُّ مُدَّةَ سَاعَةٍ</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34" charset="0"/>
                <a:ea typeface="Amiri" pitchFamily="34" charset="-122"/>
                <a:cs typeface="Amiri" pitchFamily="34" charset="-120"/>
              </a:rPr>
              <a:t>يَسْتَمِرُّ فِي سَاعَةٍ</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ea typeface="Cambria" pitchFamily="34" charset="-122"/>
                <a:cs typeface="Cambria" pitchFamily="34" charset="-120"/>
              </a:rPr>
              <a:t>Advanced clock time: past, to and 24-hour schedules</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قِرَاءَةُ الوَقْتِ المُتَقَدِّمَةُ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Use </a:t>
            </a:r>
            <a:pPr algn="l" indent="0" marL="0">
              <a:buNone/>
            </a:pPr>
            <a:r>
              <a:rPr lang="ar-SA" altLang="en-US" sz="1650" b="1" dirty="0">
                <a:solidFill>
                  <a:srgbClr val="1B3B6F"/>
                </a:solidFill>
                <a:latin typeface="Amiri" pitchFamily="34" charset="0"/>
                <a:ea typeface="Amiri" pitchFamily="34" charset="-122"/>
                <a:cs typeface="Amiri" pitchFamily="34" charset="-120"/>
              </a:rPr>
              <a:t>وَ</a:t>
            </a:r>
            <a:pPr algn="l" indent="0" marL="0">
              <a:buNone/>
            </a:pPr>
            <a:r>
              <a:rPr lang="en-US" sz="1250" b="1" dirty="0">
                <a:solidFill>
                  <a:srgbClr val="1B3B6F"/>
                </a:solidFill>
                <a:latin typeface="Calibri" pitchFamily="34" charset="0"/>
                <a:ea typeface="Calibri" pitchFamily="34" charset="-122"/>
                <a:cs typeface="Calibri" pitchFamily="34" charset="-120"/>
              </a:rPr>
              <a:t> for minutes after the hour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السَّاعَةُ + العَدَدُ التَّرْتِيبِيُّ + وَ + الدَّقَائِقُ</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٧:٠٥ السَّاعَةُ السَّابِعَةُ وَخَمْسُ دَقَائِقَ.   ·   ٩:١٥ السَّاعَةُ التَّاسِعَةُ وَالرُّبْعُ.   ·   ١١:٣٠ السَّاعَةُ الحَادِيَةَ عَشْرَةَ وَالنِّصْفُ.</a:t>
            </a:r>
            <a:endParaRPr lang="ar-SA" sz="18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Use </a:t>
            </a:r>
            <a:pPr algn="l" indent="0" marL="0">
              <a:buNone/>
            </a:pPr>
            <a:r>
              <a:rPr lang="ar-SA" altLang="en-US" sz="1650" b="1" dirty="0">
                <a:solidFill>
                  <a:srgbClr val="1B3B6F"/>
                </a:solidFill>
                <a:latin typeface="Amiri" pitchFamily="34" charset="0"/>
                <a:ea typeface="Amiri" pitchFamily="34" charset="-122"/>
                <a:cs typeface="Amiri" pitchFamily="34" charset="-120"/>
              </a:rPr>
              <a:t>إِلَّا</a:t>
            </a:r>
            <a:pPr algn="l" indent="0" marL="0">
              <a:buNone/>
            </a:pPr>
            <a:r>
              <a:rPr lang="en-US" sz="1250" b="1" dirty="0">
                <a:solidFill>
                  <a:srgbClr val="1B3B6F"/>
                </a:solidFill>
                <a:latin typeface="Calibri" pitchFamily="34" charset="0"/>
                <a:ea typeface="Calibri" pitchFamily="34" charset="-122"/>
                <a:cs typeface="Calibri" pitchFamily="34" charset="-120"/>
              </a:rPr>
              <a:t> for minutes before the next hour</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السَّاعَةُ + السَّاعَةُ التَّالِيَةُ + إِلَّا + الدَّقَائِقَ</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٢:٤٠ السَّاعَةُ الثَّالِثَةُ إِلَّا الثُّلُثَ.   ·   ٥:٤٥ السَّاعَةُ السَّادِسَةُ إِلَّا الرُّبْعَ.   ·   ٨:٥٥ السَّاعَةُ التَّاسِعَةُ إِلَّا خَمْسَ دَقَائِقَ.</a:t>
            </a:r>
            <a:endParaRPr lang="ar-SA" sz="18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Read formal 24-hour time accurately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١٤:٣٠ ← الرَّابِعَةَ عَشْرَةَ وَالنِّصْفُ</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يَنْطَلِقُ القِطَارُ فِي السَّاعَةِ الرَّابِعَةَ عَشْرَةَ وَالنِّصْفِ.   ·   يَبْدَأُ النَّشَاطُ فِي السَّاعَةِ السَّادِسَةَ عَشْرَةَ.</a:t>
            </a:r>
            <a:endParaRPr lang="ar-SA" sz="18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Distinguish start, finish and duration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يَبْدَأُ فِي... · يَنْتَهِي فِي... · يَسْتَمِرُّ مُدَّةَ...</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يَبْدَأُ الدَّرْسُ فِي الثَّامِنَةِ.   ·   يَنْتَهِي فِي التَّاسِعَةِ إِلَّا الرُّبْعَ.   ·   يَسْتَمِرُّ مُدَّةَ خَمْسٍ وَأَرْبَعِينَ دَقِيقَةً.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7:15?</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السَّابِعَةُ إِلَّا الرُّبْعَ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الثَّامِنَةُ وَالرُّبْعُ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السَّابِعَةُ وَالرُّبْعُ</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3:45?</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إِلَّا الرُّبْعَ</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الثَّالِثَةُ وَالرُّبْعُ</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الثَّالِثَةُ وَالنِّصْفُ</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8:55?</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الثَّامِنَةُ إِلَّا خَمْسًا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التَّاسِعَةُ إِلَّا خَمْسَ دَقَائِقَ</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التَّاسِعَةُ وَخَمْسُ دَقَائِقَ</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“begins”?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يَبْدَأُ</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يَنْتَهِي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يَسْتَمِرُّ</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7:15?</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السَّابِعَةُ إِلَّا الرُّبْعَ</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الثَّامِنَةُ وَالرُّبْعُ</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السَّابِعَةُ وَالرُّبْعُ</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15 minutes after seven uses </a:t>
            </a:r>
            <a:pPr algn="l" indent="0" marL="0">
              <a:buNone/>
            </a:pPr>
            <a:r>
              <a:rPr lang="ar-SA" altLang="en-US" sz="1350" dirty="0">
                <a:solidFill>
                  <a:srgbClr val="8A6D1E"/>
                </a:solidFill>
                <a:latin typeface="Amiri" pitchFamily="34" charset="0"/>
                <a:ea typeface="Amiri" pitchFamily="34" charset="-122"/>
                <a:cs typeface="Amiri" pitchFamily="34" charset="-120"/>
              </a:rPr>
              <a:t>وَالرُّبْعُ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3:45?</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الرَّابِعَةُ إِلَّا الرُّبْعَ</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الثَّالِثَةُ وَالرُّبْعُ</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الثَّالِثَةُ وَالنِّصْفُ</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Move to the next hour: quarter to four.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8:55?</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الثَّامِنَةُ إِلَّا خَمْسًا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التَّاسِعَةُ إِلَّا خَمْسَ دَقَائِقَ</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التَّاسِعَةُ وَخَمْسُ دَقَائِقَ</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is five minutes before nine.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“begins”?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يَبْدَأُ</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يَنْتَهِي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يَسْتَمِرُّ</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يَبْدَأُ</a:t>
            </a:r>
            <a:pPr algn="l" indent="0" marL="0">
              <a:buNone/>
            </a:pPr>
            <a:r>
              <a:rPr lang="en-US" sz="1050" i="1" dirty="0">
                <a:solidFill>
                  <a:srgbClr val="8A6D1E"/>
                </a:solidFill>
                <a:latin typeface="Calibri" pitchFamily="34" charset="0"/>
                <a:ea typeface="Calibri" pitchFamily="34" charset="-122"/>
                <a:cs typeface="Calibri" pitchFamily="34" charset="-120"/>
              </a:rPr>
              <a:t> = begins.</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read my timetable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Start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يَبْدَأُ</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الدَّوَامُ فِي الثَّامِنَةِ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وَ</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خَمْسٍ وَعِشْرِينَ دَقِيقَةً.</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8:25 → 8 + 25 minutes (</a:t>
            </a:r>
            <a:pPr algn="l" indent="0" marL="0">
              <a:buNone/>
            </a:pPr>
            <a:r>
              <a:rPr lang="ar-SA" altLang="en-US" sz="1500" dirty="0">
                <a:solidFill>
                  <a:srgbClr val="1F2A37"/>
                </a:solidFill>
                <a:latin typeface="Amiri" pitchFamily="34" charset="0"/>
                <a:ea typeface="Amiri" pitchFamily="34" charset="-122"/>
                <a:cs typeface="Amiri" pitchFamily="34" charset="-120"/>
              </a:rPr>
              <a:t>وَ</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Finish</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يَنْتَهِي</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فِي الرَّابِعَةِ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إِلَّا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عَشْرَ دَقَائِقَ.</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3:50 → the NEXT hour (4) − 10.</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24-hour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المَوْعِدُ فِي السَّاعَةِ السَّادِسَةَ عَشْرَةَ.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16:00 = 4 p.m. (a timetable).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Duration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يَسْتَمِرُّ</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التَّمْرِينُ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مُدَّةَ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خَمْسٍ وَأَرْبَعِينَ دَقِيقَةً.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How long → </a:t>
            </a:r>
            <a:pPr algn="l" indent="0" marL="0">
              <a:buNone/>
            </a:pPr>
            <a:r>
              <a:rPr lang="ar-SA" altLang="en-US" sz="1500" dirty="0">
                <a:solidFill>
                  <a:srgbClr val="1F2A37"/>
                </a:solidFill>
                <a:latin typeface="Amiri" pitchFamily="34" charset="0"/>
                <a:ea typeface="Amiri" pitchFamily="34" charset="-122"/>
                <a:cs typeface="Amiri" pitchFamily="34" charset="-120"/>
              </a:rPr>
              <a:t>مُدَّةَ</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وَ / إِلَّا</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SCHEDULE VERB</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DURATION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00" b="1" dirty="0">
                <a:solidFill>
                  <a:srgbClr val="1D5FBF"/>
                </a:solidFill>
                <a:latin typeface="Amiri" pitchFamily="34" charset="0"/>
                <a:ea typeface="Amiri" pitchFamily="34" charset="-122"/>
                <a:cs typeface="Amiri" pitchFamily="34" charset="-120"/>
              </a:rPr>
              <a:t>يَبْدَأُ</a:t>
            </a:r>
            <a:pPr rtl="1" algn="r" indent="0" marL="0">
              <a:buNone/>
            </a:pPr>
            <a:r>
              <a:rPr lang="ar-SA" altLang="en-US" sz="1900" b="1" dirty="0">
                <a:solidFill>
                  <a:srgbClr val="1B3B6F"/>
                </a:solidFill>
                <a:latin typeface="Amiri" pitchFamily="34" charset="0"/>
                <a:ea typeface="Amiri" pitchFamily="34" charset="-122"/>
                <a:cs typeface="Amiri" pitchFamily="34" charset="-120"/>
              </a:rPr>
              <a:t> الدَّوَامُ فِي الثَّامِنَةِ </a:t>
            </a:r>
            <a:pPr rtl="1" algn="r" indent="0" marL="0">
              <a:buNone/>
            </a:pPr>
            <a:r>
              <a:rPr lang="ar-SA" altLang="en-US" sz="1900" b="1" dirty="0">
                <a:solidFill>
                  <a:srgbClr val="0E7C86"/>
                </a:solidFill>
                <a:latin typeface="Amiri" pitchFamily="34" charset="0"/>
                <a:ea typeface="Amiri" pitchFamily="34" charset="-122"/>
                <a:cs typeface="Amiri" pitchFamily="34" charset="-120"/>
              </a:rPr>
              <a:t>وَ</a:t>
            </a:r>
            <a:pPr rtl="1" algn="r" indent="0" marL="0">
              <a:buNone/>
            </a:pPr>
            <a:r>
              <a:rPr lang="ar-SA" altLang="en-US" sz="1900" b="1" dirty="0">
                <a:solidFill>
                  <a:srgbClr val="1B3B6F"/>
                </a:solidFill>
                <a:latin typeface="Amiri" pitchFamily="34" charset="0"/>
                <a:ea typeface="Amiri" pitchFamily="34" charset="-122"/>
                <a:cs typeface="Amiri" pitchFamily="34" charset="-120"/>
              </a:rPr>
              <a:t>خَمْسٍ وَعِشْرِينَ دَقِيقَةً، وَ</a:t>
            </a:r>
            <a:pPr rtl="1" algn="r" indent="0" marL="0">
              <a:buNone/>
            </a:pPr>
            <a:r>
              <a:rPr lang="ar-SA" altLang="en-US" sz="1900" b="1" dirty="0">
                <a:solidFill>
                  <a:srgbClr val="1D5FBF"/>
                </a:solidFill>
                <a:latin typeface="Amiri" pitchFamily="34" charset="0"/>
                <a:ea typeface="Amiri" pitchFamily="34" charset="-122"/>
                <a:cs typeface="Amiri" pitchFamily="34" charset="-120"/>
              </a:rPr>
              <a:t>يَنْتَهِي</a:t>
            </a:r>
            <a:pPr rtl="1" algn="r" indent="0" marL="0">
              <a:buNone/>
            </a:pPr>
            <a:r>
              <a:rPr lang="ar-SA" altLang="en-US" sz="1900" b="1" dirty="0">
                <a:solidFill>
                  <a:srgbClr val="1B3B6F"/>
                </a:solidFill>
                <a:latin typeface="Amiri" pitchFamily="34" charset="0"/>
                <a:ea typeface="Amiri" pitchFamily="34" charset="-122"/>
                <a:cs typeface="Amiri" pitchFamily="34" charset="-120"/>
              </a:rPr>
              <a:t> فِي الرَّابِعَةِ </a:t>
            </a:r>
            <a:pPr rtl="1" algn="r" indent="0" marL="0">
              <a:buNone/>
            </a:pPr>
            <a:r>
              <a:rPr lang="ar-SA" altLang="en-US" sz="1900" b="1" dirty="0">
                <a:solidFill>
                  <a:srgbClr val="0E7C86"/>
                </a:solidFill>
                <a:latin typeface="Amiri" pitchFamily="34" charset="0"/>
                <a:ea typeface="Amiri" pitchFamily="34" charset="-122"/>
                <a:cs typeface="Amiri" pitchFamily="34" charset="-120"/>
              </a:rPr>
              <a:t>إِلَّا</a:t>
            </a:r>
            <a:pPr rtl="1" algn="r" indent="0" marL="0">
              <a:buNone/>
            </a:pPr>
            <a:r>
              <a:rPr lang="ar-SA" altLang="en-US" sz="1900" b="1" dirty="0">
                <a:solidFill>
                  <a:srgbClr val="1B3B6F"/>
                </a:solidFill>
                <a:latin typeface="Amiri" pitchFamily="34" charset="0"/>
                <a:ea typeface="Amiri" pitchFamily="34" charset="-122"/>
                <a:cs typeface="Amiri" pitchFamily="34" charset="-120"/>
              </a:rPr>
              <a:t> عَشْرَ دَقَائِقَ. </a:t>
            </a:r>
            <a:pPr rtl="1" algn="r" indent="0" marL="0">
              <a:buNone/>
            </a:pPr>
            <a:r>
              <a:rPr lang="ar-SA" altLang="en-US" sz="1900" b="1" dirty="0">
                <a:solidFill>
                  <a:srgbClr val="1D5FBF"/>
                </a:solidFill>
                <a:latin typeface="Amiri" pitchFamily="34" charset="0"/>
                <a:ea typeface="Amiri" pitchFamily="34" charset="-122"/>
                <a:cs typeface="Amiri" pitchFamily="34" charset="-120"/>
              </a:rPr>
              <a:t>يَسْتَمِرُّ</a:t>
            </a:r>
            <a:pPr rtl="1" algn="r" indent="0" marL="0">
              <a:buNone/>
            </a:pPr>
            <a:r>
              <a:rPr lang="ar-SA" altLang="en-US" sz="1900" b="1" dirty="0">
                <a:solidFill>
                  <a:srgbClr val="1B3B6F"/>
                </a:solidFill>
                <a:latin typeface="Amiri" pitchFamily="34" charset="0"/>
                <a:ea typeface="Amiri" pitchFamily="34" charset="-122"/>
                <a:cs typeface="Amiri" pitchFamily="34" charset="-120"/>
              </a:rPr>
              <a:t> التَّمْرِينُ </a:t>
            </a:r>
            <a:pPr rtl="1" algn="r" indent="0" marL="0">
              <a:buNone/>
            </a:pPr>
            <a:r>
              <a:rPr lang="ar-SA" altLang="en-US" sz="1900" b="1" dirty="0">
                <a:solidFill>
                  <a:srgbClr val="D6336C"/>
                </a:solidFill>
                <a:latin typeface="Amiri" pitchFamily="34" charset="0"/>
                <a:ea typeface="Amiri" pitchFamily="34" charset="-122"/>
                <a:cs typeface="Amiri" pitchFamily="34" charset="-120"/>
              </a:rPr>
              <a:t>مُدَّةَ</a:t>
            </a:r>
            <a:pPr rtl="1" algn="r" indent="0" marL="0">
              <a:buNone/>
            </a:pPr>
            <a:r>
              <a:rPr lang="ar-SA" altLang="en-US" sz="1900" b="1" dirty="0">
                <a:solidFill>
                  <a:srgbClr val="1B3B6F"/>
                </a:solidFill>
                <a:latin typeface="Amiri" pitchFamily="34" charset="0"/>
                <a:ea typeface="Amiri" pitchFamily="34" charset="-122"/>
                <a:cs typeface="Amiri" pitchFamily="34" charset="-120"/>
              </a:rPr>
              <a:t> خَمْسٍ وَأَرْبَعِينَ دَقِيقَةً.</a:t>
            </a:r>
            <a:endParaRPr lang="ar-SA" sz="19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The school day starts at 8:25 and ends at 3:50. Training lasts 45 minutes.</a:t>
            </a:r>
            <a:endParaRPr lang="en-US" sz="13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يَبْدَأُ الدَّوَامُ فِي الثَّامِنَةِ وَخَمْسٍ وَعِشْرِينَ دَقِيقَةً.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school day starts at 8:25.</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Exact minutes after the hour.</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يَنْتَهِي فِي الرَّابِعَةِ إِلَّا عَشْرَ دَقَائِقَ.</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ends at 3:50.</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Name the next hour with إِلَّا.</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المَوْعِدُ فِي السَّاعَةِ السَّادِسَةَ عَشْرَةَ.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appointment is at 16:00.</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Formal 24-hour reading.</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يَسْتَمِرُّ التَّمْرِينُ مُدَّةَ خَمْسٍ وَأَرْبَعِينَ دَقِيقَةً.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Training lasts 45 minutes.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Duration, not finish time.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“CALENDAR CHALLENGE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Match the calendar to the sentence</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التَّقْوِيمِ</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2"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Mon 14 Sept</a:t>
            </a:r>
            <a:endParaRPr lang="en-US" sz="1100" dirty="0"/>
          </a:p>
        </p:txBody>
      </p:sp>
      <p:sp>
        <p:nvSpPr>
          <p:cNvPr id="23" name="Shape 19"/>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0"/>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1"/>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2"/>
          <p:cNvSpPr/>
          <p:nvPr/>
        </p:nvSpPr>
        <p:spPr>
          <a:xfrm>
            <a:off x="5586984" y="2066544"/>
            <a:ext cx="1014984" cy="1014984"/>
          </a:xfrm>
          <a:prstGeom prst="ellipse">
            <a:avLst/>
          </a:prstGeom>
          <a:solidFill>
            <a:srgbClr val="F4F1EA"/>
          </a:solidFill>
          <a:ln w="12700">
            <a:solidFill>
              <a:srgbClr val="F4F1EA"/>
            </a:solidFill>
            <a:prstDash val="solid"/>
          </a:ln>
        </p:spPr>
      </p:sp>
      <p:pic>
        <p:nvPicPr>
          <p:cNvPr id="27"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8"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Thu 1 Oct</a:t>
            </a:r>
            <a:endParaRPr lang="en-US" sz="1100" dirty="0"/>
          </a:p>
        </p:txBody>
      </p:sp>
      <p:sp>
        <p:nvSpPr>
          <p:cNvPr id="29"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3" name="Image 2" descr="preencoded.png">    </p:cNvPr>
          <p:cNvPicPr>
            <a:picLocks noChangeAspect="1"/>
          </p:cNvPicPr>
          <p:nvPr/>
        </p:nvPicPr>
        <p:blipFill>
          <a:blip r:embed="rId3"/>
          <a:stretch>
            <a:fillRect/>
          </a:stretch>
        </p:blipFill>
        <p:spPr>
          <a:xfrm>
            <a:off x="1356360" y="2249424"/>
            <a:ext cx="649224" cy="649224"/>
          </a:xfrm>
          <a:prstGeom prst="rect">
            <a:avLst/>
          </a:prstGeom>
        </p:spPr>
      </p:pic>
      <p:sp>
        <p:nvSpPr>
          <p:cNvPr id="34"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5" name="Image 3" descr="preencoded.png">    </p:cNvPr>
          <p:cNvPicPr>
            <a:picLocks noChangeAspect="1"/>
          </p:cNvPicPr>
          <p:nvPr/>
        </p:nvPicPr>
        <p:blipFill>
          <a:blip r:embed="rId4"/>
          <a:stretch>
            <a:fillRect/>
          </a:stretch>
        </p:blipFill>
        <p:spPr>
          <a:xfrm>
            <a:off x="2545080" y="2249424"/>
            <a:ext cx="649224" cy="649224"/>
          </a:xfrm>
          <a:prstGeom prst="rect">
            <a:avLst/>
          </a:prstGeom>
        </p:spPr>
      </p:pic>
      <p:sp>
        <p:nvSpPr>
          <p:cNvPr id="36"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Sun → Thu</a:t>
            </a:r>
            <a:endParaRPr lang="en-US" sz="1100" dirty="0"/>
          </a:p>
        </p:txBody>
      </p:sp>
      <p:sp>
        <p:nvSpPr>
          <p:cNvPr id="37"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0"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اَلْيَوْمُ الْخَمِيسُ، الأَوَّلُ مِنْ أُكْتُوبَرَ.</a:t>
            </a:r>
            <a:endParaRPr lang="ar-SA" sz="2000" dirty="0"/>
          </a:p>
        </p:txBody>
      </p:sp>
      <p:sp>
        <p:nvSpPr>
          <p:cNvPr id="41"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4"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اَلْأُسْبُوعُ الدِّرَاسِيُّ مِنَ الأَحَدِ إِلَى الْخَمِيسِ.</a:t>
            </a:r>
            <a:endParaRPr lang="ar-SA" sz="2000" dirty="0"/>
          </a:p>
        </p:txBody>
      </p:sp>
      <p:sp>
        <p:nvSpPr>
          <p:cNvPr id="45"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8"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اَلْيَوْمُ الِاثْنَيْنِ، الرَّابِعَ عَشَرَ مِنْ سِبْتَمْبَرَ.</a:t>
            </a:r>
            <a:endParaRPr lang="ar-SA" sz="2000" dirty="0"/>
          </a:p>
        </p:txBody>
      </p:sp>
      <p:sp>
        <p:nvSpPr>
          <p:cNvPr id="49"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0"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1"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التَّقْوِيمِ</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2"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Mon 14 Sept</a:t>
            </a:r>
            <a:endParaRPr lang="en-US" sz="1100" dirty="0"/>
          </a:p>
        </p:txBody>
      </p:sp>
      <p:sp>
        <p:nvSpPr>
          <p:cNvPr id="23" name="Shape 19"/>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20"/>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1"/>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2"/>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اَلْيَوْمُ الِاثْنَيْنِ، الرَّابِعَ عَشَرَ مِنْ سِبْتَمْبَرَ.</a:t>
            </a:r>
            <a:endParaRPr lang="ar-SA" sz="2200" dirty="0"/>
          </a:p>
        </p:txBody>
      </p:sp>
      <p:sp>
        <p:nvSpPr>
          <p:cNvPr id="27" name="Text 23"/>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Today is Monday, the fourteenth of September.</a:t>
            </a:r>
            <a:endParaRPr lang="en-US" sz="1200" dirty="0"/>
          </a:p>
        </p:txBody>
      </p:sp>
      <p:sp>
        <p:nvSpPr>
          <p:cNvPr id="28" name="Shape 24"/>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5"/>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6"/>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7"/>
          <p:cNvSpPr/>
          <p:nvPr/>
        </p:nvSpPr>
        <p:spPr>
          <a:xfrm>
            <a:off x="5586984" y="2066544"/>
            <a:ext cx="1014984" cy="1014984"/>
          </a:xfrm>
          <a:prstGeom prst="ellipse">
            <a:avLst/>
          </a:prstGeom>
          <a:solidFill>
            <a:srgbClr val="F4F1EA"/>
          </a:solidFill>
          <a:ln w="12700">
            <a:solidFill>
              <a:srgbClr val="F4F1EA"/>
            </a:solidFill>
            <a:prstDash val="solid"/>
          </a:ln>
        </p:spPr>
      </p:sp>
      <p:pic>
        <p:nvPicPr>
          <p:cNvPr id="32"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3"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Thu 1 Oct</a:t>
            </a:r>
            <a:endParaRPr lang="en-US" sz="1100" dirty="0"/>
          </a:p>
        </p:txBody>
      </p:sp>
      <p:sp>
        <p:nvSpPr>
          <p:cNvPr id="34"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7"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اَلْيَوْمُ الْخَمِيسُ، الأَوَّلُ مِنْ أُكْتُوبَرَ.</a:t>
            </a:r>
            <a:endParaRPr lang="ar-SA" sz="2200" dirty="0"/>
          </a:p>
        </p:txBody>
      </p:sp>
      <p:sp>
        <p:nvSpPr>
          <p:cNvPr id="38"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Today is Thursday, the first of October.</a:t>
            </a:r>
            <a:endParaRPr lang="en-US" sz="1200" dirty="0"/>
          </a:p>
        </p:txBody>
      </p:sp>
      <p:sp>
        <p:nvSpPr>
          <p:cNvPr id="39"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3" name="Image 2" descr="preencoded.png">    </p:cNvPr>
          <p:cNvPicPr>
            <a:picLocks noChangeAspect="1"/>
          </p:cNvPicPr>
          <p:nvPr/>
        </p:nvPicPr>
        <p:blipFill>
          <a:blip r:embed="rId3"/>
          <a:stretch>
            <a:fillRect/>
          </a:stretch>
        </p:blipFill>
        <p:spPr>
          <a:xfrm>
            <a:off x="1356360" y="2249424"/>
            <a:ext cx="649224" cy="649224"/>
          </a:xfrm>
          <a:prstGeom prst="rect">
            <a:avLst/>
          </a:prstGeom>
        </p:spPr>
      </p:pic>
      <p:sp>
        <p:nvSpPr>
          <p:cNvPr id="44"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5" name="Image 3" descr="preencoded.png">    </p:cNvPr>
          <p:cNvPicPr>
            <a:picLocks noChangeAspect="1"/>
          </p:cNvPicPr>
          <p:nvPr/>
        </p:nvPicPr>
        <p:blipFill>
          <a:blip r:embed="rId4"/>
          <a:stretch>
            <a:fillRect/>
          </a:stretch>
        </p:blipFill>
        <p:spPr>
          <a:xfrm>
            <a:off x="2545080" y="2249424"/>
            <a:ext cx="649224" cy="649224"/>
          </a:xfrm>
          <a:prstGeom prst="rect">
            <a:avLst/>
          </a:prstGeom>
        </p:spPr>
      </p:pic>
      <p:sp>
        <p:nvSpPr>
          <p:cNvPr id="46"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Sun → Thu</a:t>
            </a:r>
            <a:endParaRPr lang="en-US" sz="1100" dirty="0"/>
          </a:p>
        </p:txBody>
      </p:sp>
      <p:sp>
        <p:nvSpPr>
          <p:cNvPr id="47"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0"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اَلْأُسْبُوعُ الدِّرَاسِيُّ مِنَ الأَحَدِ إِلَى الْخَمِيسِ.</a:t>
            </a:r>
            <a:endParaRPr lang="ar-SA" sz="2200" dirty="0"/>
          </a:p>
        </p:txBody>
      </p:sp>
      <p:sp>
        <p:nvSpPr>
          <p:cNvPr id="51"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school week is from Sunday to Thursday.</a:t>
            </a:r>
            <a:endParaRPr lang="en-US" sz="120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GAME “BEAT THE CLOCK” (WHOLE-CLASS VERSION)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Beat the Clock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السَّاعَةَ!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9:15?</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٩:١٥</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التَّاسِعَةُ إِلَّا الرُّبْعَ</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التَّاسِعَةُ وَالرُّبْعُ</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العَاشِرَةُ وَالرُّبْعُ</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6:30?</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٦:٣٠</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السَّابِعَةُ إِلَّا النِّصْفَ</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السَّادِسَةُ وَالرُّبْعُ</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السَّادِسَةُ وَالنِّصْفُ</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11:45?</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١١:٤٥</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الثَّانِيَةَ عَشْرَةَ إِلَّا الرُّبْعَ</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الحَادِيَةَ عَشْرَةَ إِلَّا الرُّبْعَ</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الحَادِيَةَ عَشْرَةَ وَالرُّبْعُ</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4:10?</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٤:١٠</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إِلَّا عَشْرَ دَقَائِقَ</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وَعَشْرُ دَقَائِقَ</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الخَامِسَةُ إِلَّا عَشْرَ دَقَائِقَ</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2:40?</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٢:٤٠</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الثَّالِثَةُ إِلَّا الثُّلُثَ</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الثَّانِيَةُ وَالثُّلُثُ</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الثَّالِثَةُ وَالثُّلُثُ</a:t>
            </a:r>
            <a:endParaRPr lang="ar-SA" sz="20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Minutes 1–30 → same hour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Minutes 31–59 → NEXT hour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إِلَّا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BEAT THE CLOCK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Beat the Clock: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9:15?</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٩:١٥</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التَّاسِعَةُ إِلَّا الرُّبْعَ</a:t>
            </a:r>
            <a:endParaRPr lang="ar-SA" sz="17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التَّاسِعَةُ وَالرُّبْعُ</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العَاشِرَةُ وَالرُّبْعُ</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Nine + a quarter.</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6:30?</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٦:٣٠</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السَّابِعَةُ إِلَّا النِّصْفَ</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السَّادِسَةُ وَالرُّبْعُ</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السَّادِسَةُ وَالنِّصْفُ</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Six + a half.</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11:45?</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١١:٤٥</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الثَّانِيَةَ عَشْرَةَ إِلَّا الرُّبْعَ</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الحَادِيَةَ عَشْرَةَ إِلَّا الرُّبْعَ</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الحَادِيَةَ عَشْرَةَ وَالرُّبْعُ</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NEXT hour (12) − a quarter.</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4:10?</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٤:١٠</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الرَّابِعَةُ إِلَّا عَشْرَ دَقَائِقَ</a:t>
            </a:r>
            <a:endParaRPr lang="ar-SA" sz="1700" dirty="0"/>
          </a:p>
        </p:txBody>
      </p:sp>
      <p:sp>
        <p:nvSpPr>
          <p:cNvPr id="71" name="Shape 6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202936"/>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الرَّابِعَةُ وَعَشْرُ دَقَائِقَ</a:t>
            </a:r>
            <a:endParaRPr lang="ar-SA" sz="170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الخَامِسَةُ إِلَّا عَشْرَ دَقَائِقَ</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Four + ten minutes.</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2:40?</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٢:٤٠</a:t>
            </a:r>
            <a:endParaRPr lang="ar-SA" sz="2200" dirty="0"/>
          </a:p>
        </p:txBody>
      </p:sp>
      <p:sp>
        <p:nvSpPr>
          <p:cNvPr id="84"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7" name="Text 84"/>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الثَّالِثَةُ إِلَّا الثُّلُثَ</a:t>
            </a:r>
            <a:endParaRPr lang="ar-SA" sz="1700" dirty="0"/>
          </a:p>
        </p:txBody>
      </p:sp>
      <p:sp>
        <p:nvSpPr>
          <p:cNvPr id="88"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0"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الثَّانِيَةُ وَالثُّلُثُ</a:t>
            </a:r>
            <a:endParaRPr lang="ar-SA" sz="1700" dirty="0"/>
          </a:p>
        </p:txBody>
      </p:sp>
      <p:sp>
        <p:nvSpPr>
          <p:cNvPr id="91"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الثَّالِثَةُ وَالثُّلُثُ</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NEXT hour (3) − a third (20 min).</a:t>
            </a:r>
            <a:endParaRPr lang="en-US" sz="1050" dirty="0"/>
          </a:p>
        </p:txBody>
      </p:sp>
      <p:sp>
        <p:nvSpPr>
          <p:cNvPr id="95" name="Shape 9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8" name="Text 95"/>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Minutes 1–30 → same hour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Minutes 31–59 → NEXT hour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إِلَّا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Past the hour or to the next hour?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وَخَمْسُ دَقَائِقَ</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وَالرُّبْعُ</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وَالنِّصْفُ</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خَمْسَ دَقَائِقَ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الرُّبْعَ</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الثُّلُثَ</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وَعَشْرُ دَقَائِقَ</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عَشْرَ دَقَائِقَ</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Past the hour (وَ)</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To the next hour (إِلَّا)</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Past the hour (وَ)</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وَخَمْسُ دَقَائِقَ</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وَالرُّبْعُ</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وَالنِّصْفُ</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وَعَشْرُ دَقَائِقَ</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To the next hour (إِلَّا)</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خَمْسَ دَقَائِقَ</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الرُّبْعَ</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الثُّلُثَ</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عَشْرَ دَقَائِقَ</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14:30 form.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الثَّانِيَةُ عَشْرَةَ وَالنِّصْفُ</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وَالنِّصْفُ صَبَاحًا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عَشْرَةَ وَالنِّصْفُ</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يَنْتَهِي الدَّرْسُ ___ التَّاسِعَةِ.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describes duration?</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تَمَامِ الثَّامِنَةِ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مُدَّةَ سَاعَةٍ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حَوَالَيْ الثَّامِنَةِ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2:40?</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الثَّانِيَةُ وَالثُّلُثُ</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الثَّالِثَةُ وَالثُّلُثُ</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الثَّالِثَةُ إِلَّا الثُّلُثَ</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14:30 form.</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الثَّانِيَةُ عَشْرَةَ وَالنِّصْفُ</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الرَّابِعَةُ وَالنِّصْفُ صَبَاحًا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الرَّابِعَةُ عَشْرَةَ وَالنِّصْفُ</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14:30 is the fourteenth hour and a half.</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يَنْتَهِي الدَّرْسُ ___ التَّاسِعَةِ.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 with an exact clock time.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describes duration?</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تَمَامِ الثَّامِنَةِ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مُدَّةَ سَاعَةٍ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حَوَالَيْ الثَّامِنَةِ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مُدَّةَ سَاعَةٍ</a:t>
            </a:r>
            <a:pPr algn="l" indent="0" marL="0">
              <a:buNone/>
            </a:pPr>
            <a:r>
              <a:rPr lang="en-US" sz="1050" i="1" dirty="0">
                <a:solidFill>
                  <a:srgbClr val="8A6D1E"/>
                </a:solidFill>
                <a:latin typeface="Calibri" pitchFamily="34" charset="0"/>
                <a:ea typeface="Calibri" pitchFamily="34" charset="-122"/>
                <a:cs typeface="Calibri" pitchFamily="34" charset="-120"/>
              </a:rPr>
              <a:t> = for a duration of one hour.</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2:40?</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الثَّانِيَةُ وَالثُّلُثُ</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الثَّالِثَةُ وَالثُّلُثُ</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الثَّالِثَةُ إِلَّا الثُّلُثَ</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Twenty minutes remain until three.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٥:٤٥ السَّاعَةُ الخَامِسَةُ إِلَّا الرُّبْعَ.</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At 5:45 which hour do you name with </a:t>
            </a:r>
            <a:pPr algn="l" indent="0" marL="0">
              <a:buNone/>
            </a:pPr>
            <a:r>
              <a:rPr lang="ar-SA" altLang="en-US" sz="1700" dirty="0">
                <a:solidFill>
                  <a:srgbClr val="5A6472"/>
                </a:solidFill>
                <a:latin typeface="Amiri" pitchFamily="34" charset="0"/>
                <a:ea typeface="Amiri" pitchFamily="34" charset="-122"/>
                <a:cs typeface="Amiri" pitchFamily="34" charset="-120"/>
              </a:rPr>
              <a:t>إِلَّا</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٨:١٥ الثَّامِنَةُ إِلَّا الرُّبْعَ.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8:15 is AFTER eight. Which word?</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يَسْتَمِرُّ الدَّرْسُ فِي سَاعَةٍ.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this WHEN or HOW LONG?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٥:٤٥ السَّاعَةُ الخَامِسَةُ إِلَّا الرُّبْعَ.</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٥:٤٥ السَّاعَةُ السَّادِسَةُ إِلَّا الرُّبْعَ.</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With </a:t>
            </a:r>
            <a:pPr algn="l" indent="0" marL="0">
              <a:buNone/>
            </a:pPr>
            <a:r>
              <a:rPr lang="ar-SA" altLang="en-US" sz="1500" b="1" dirty="0">
                <a:solidFill>
                  <a:srgbClr val="1B3B6F"/>
                </a:solidFill>
                <a:latin typeface="Amiri" pitchFamily="34" charset="0"/>
                <a:ea typeface="Amiri" pitchFamily="34" charset="-122"/>
                <a:cs typeface="Amiri" pitchFamily="34" charset="-120"/>
              </a:rPr>
              <a:t>إِلَّا</a:t>
            </a:r>
            <a:pPr algn="l" indent="0" marL="0">
              <a:buNone/>
            </a:pPr>
            <a:r>
              <a:rPr lang="en-US" sz="1150" b="1" dirty="0">
                <a:solidFill>
                  <a:srgbClr val="1B3B6F"/>
                </a:solidFill>
                <a:latin typeface="Calibri" pitchFamily="34" charset="0"/>
                <a:ea typeface="Calibri" pitchFamily="34" charset="-122"/>
                <a:cs typeface="Calibri" pitchFamily="34" charset="-120"/>
              </a:rPr>
              <a:t>, move to the next hour.</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٨:١٥ الثَّامِنَةُ إِلَّا الرُّبْعَ.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٨:١٥ الثَّامِنَةُ وَالرُّبْعُ.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Minutes after the hour use </a:t>
            </a:r>
            <a:pPr algn="l" indent="0" marL="0">
              <a:buNone/>
            </a:pPr>
            <a:r>
              <a:rPr lang="ar-SA" altLang="en-US" sz="1500" b="1" dirty="0">
                <a:solidFill>
                  <a:srgbClr val="1B3B6F"/>
                </a:solidFill>
                <a:latin typeface="Amiri" pitchFamily="34" charset="0"/>
                <a:ea typeface="Amiri" pitchFamily="34" charset="-122"/>
                <a:cs typeface="Amiri" pitchFamily="34" charset="-120"/>
              </a:rPr>
              <a:t>وَ</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يَسْتَمِرُّ الدَّرْسُ فِي سَاعَةٍ.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يَسْتَمِرُّ الدَّرْسُ مُدَّةَ سَاعَةٍ.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t>
            </a:r>
            <a:pPr algn="l" indent="0" marL="0">
              <a:buNone/>
            </a:pPr>
            <a:r>
              <a:rPr lang="ar-SA" altLang="en-US" sz="1500" b="1" dirty="0">
                <a:solidFill>
                  <a:srgbClr val="1B3B6F"/>
                </a:solidFill>
                <a:latin typeface="Amiri" pitchFamily="34" charset="0"/>
                <a:ea typeface="Amiri" pitchFamily="34" charset="-122"/>
                <a:cs typeface="Amiri" pitchFamily="34" charset="-120"/>
              </a:rPr>
              <a:t>مُدَّةَ</a:t>
            </a:r>
            <a:pPr algn="l" indent="0" marL="0">
              <a:buNone/>
            </a:pPr>
            <a:r>
              <a:rPr lang="en-US" sz="1150" b="1" dirty="0">
                <a:solidFill>
                  <a:srgbClr val="1B3B6F"/>
                </a:solidFill>
                <a:latin typeface="Calibri" pitchFamily="34" charset="0"/>
                <a:ea typeface="Calibri" pitchFamily="34" charset="-122"/>
                <a:cs typeface="Calibri" pitchFamily="34" charset="-120"/>
              </a:rPr>
              <a:t> for how long something lasts.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full Wednesday schedule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school day begin?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7:50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8:10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8:50</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first lesson end?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9:15</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9:45</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8:45</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the break?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15 minutes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25 minutes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 minutes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science begin?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9:05</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9:50</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10:05</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training in 12-hour time?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6:30 p.m.</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4:30 p.m.</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8:30 p.m.</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إِلَّا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عِشْرِينَ دَقِيقَةً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وَخَمْسِ دَقَائِقَ</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يَوْمَ الأَرْبِعَاءِ يَبْدَأُ دَوَامِي فِي السَّاعَةِ الثَّامِنَةِ إِلَّا عَشْرَ دَقَائِقَ.</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Wednesday my school day begins at ten to eight.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الحِصَّةُ الأُولَى مِنَ الثَّامِنَةِ إِلَى التَّاسِعَةِ إِلَّا الرُّبْعَ، ثُمَّ عِنْدَنَا اِسْتِرَاحَةٌ تَسْتَمِرُّ عِشْرِينَ دَقِيقَةً.</a:t>
            </a:r>
            <a:endParaRPr lang="ar-SA" sz="16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first lesson is from eight to quarter to nine, then we have a break that lasts twenty minutes.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يَبْدَأُ دَرْسُ العُلُومِ فِي التَّاسِعَةِ وَخَمْسِ دَقَائِقَ، وَيَنْتَهِي فِي العَاشِرَةِ وَخَمْسٍ وَأَرْبَعِينَ دَقِيقَةً.</a:t>
            </a:r>
            <a:endParaRPr lang="ar-SA" sz="17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science lesson begins at five past nine and ends at 10:45.</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بَعْدَ المَدْرَسَةِ أَذْهَبُ إِلَى التَّمْرِينِ فِي السَّاعَةِ السَّادِسَةَ عَشْرَةَ وَالنِّصْفِ،</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school I go to training at 16:30,</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وَأَعُودُ إِلَى البَيْتِ حَوَالَيْ الثَّامِنَةِ مَسَاءً.</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I return home at about eight in the evening.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school day begin?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7:50</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8:10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8:50</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الثَّامِنَةُ إِلَّا عَشْرَ دَقَائِقَ = 7:50.</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first lesson end?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9:15</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9:45</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8:45</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التَّاسِعَةُ إِلَّا الرُّبْعَ = 8:45.</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the break?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15 minutes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25 minutes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20 minutes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تَسْتَمِرُّ عِشْرِينَ دَقِيقَةً.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science begin?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9:05</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9:50</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10:05</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التَّاسِعَةُ وَخَمْسُ دَقَائِقَ.</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training in 12-hour time?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6:30 p.m.</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4:30 p.m.</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8:30 p.m.</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16:30 = 4:30 p.m.</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إِلَّا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عِشْرِينَ دَقِيقَةً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وَخَمْسِ دَقَائِقَ</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Calendar and time bingo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Calendar and time bingo</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Listen for days, dates, months and clock times, mark the matching square, then create two clues of your own using complete Arabic time expressions.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Students draw a 3×3 grid and write 9 items: days, months, times.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Teacher reads 8 time or date expressions aloud (list in the notes).</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Tick a square you hear. Three in a row: type “</a:t>
            </a:r>
            <a:pPr algn="l" indent="0" marL="0">
              <a:buNone/>
            </a:pPr>
            <a:r>
              <a:rPr lang="ar-SA" altLang="en-US" sz="1500" dirty="0">
                <a:solidFill>
                  <a:srgbClr val="1F2A37"/>
                </a:solidFill>
                <a:latin typeface="Amiri" pitchFamily="34" charset="0"/>
                <a:ea typeface="Amiri" pitchFamily="34" charset="-122"/>
                <a:cs typeface="Amiri" pitchFamily="34" charset="-120"/>
              </a:rPr>
              <a:t>بِنْغُو</a:t>
            </a:r>
            <a:pPr algn="l" indent="0" marL="0">
              <a:buNone/>
            </a:pPr>
            <a:r>
              <a:rPr lang="en-US" sz="1150" dirty="0">
                <a:solidFill>
                  <a:srgbClr val="1F2A37"/>
                </a:solidFill>
                <a:latin typeface="Calibri" pitchFamily="34" charset="0"/>
                <a:ea typeface="Calibri" pitchFamily="34" charset="-122"/>
                <a:cs typeface="Calibri" pitchFamily="34" charset="-120"/>
              </a:rPr>
              <a:t>!” in the chat.</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Winner reads the line back. Everyone writes 2 clues of their own.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Grid of days only. Clue: a day + a time — e.g. yawm al-ithnayn, as-sā‘a ath-thāmina.</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Mix days, months and times. Two clues with a full date.</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Clues with minutes past/to and a school-week fact (from … to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يَوْمَ الأَحَدِ</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on Sunday</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فِي شَهْرِ مَايُو</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in May</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السَّاعَةُ الثَّامِنَةُ وَالنِّصْفُ</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half past eight</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مِنَ … إِلَى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from … to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Explain a timetable precisely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تَسْتَيْقِظُ؟ مَتَى تَخْرُجُ مِنَ البَيْتِ؟</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يَبْدَأُ يَوْمُكَ الدِّرَاسِيُّ وَمَتَى يَنْتَهِي؟</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جَدْوَلَكَ فِي يَوْمٍ مُزْدَحِمٍ.</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أَطْوَلُ نَشَاطٍ فِي أُسْبُوعِكَ؟ وَكَمْ يَسْتَمِرُّ؟</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أَسْتَيْقِظُ فِي السَّاعَةِ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يَبْدَأُ … فِي ___ وَيَنْتَهِي فِي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يَسْتَمِرُّ … مُدَّةَ ___ ، وَأُفَضِّلُ … لِأَنَّ ___ .</a:t>
            </a:r>
            <a:endParaRPr lang="ar-SA" sz="1500" dirty="0"/>
          </a:p>
        </p:txBody>
      </p:sp>
      <p:sp>
        <p:nvSpPr>
          <p:cNvPr id="59" name="Shape 56"/>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يَبْدَأُ يَوْمُهُ / يَوْمُهَا فِي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مَتَى يَبْدَأُ التَّمْرِينُ؟</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When does training begin?</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يَبْدَأُ فِي السَّادِسَةِ إِلَّا الرُّبْعَ وَيَسْتَمِرُّ مُدَّةَ سَاعَةٍ وَالنِّصْفِ. أُفَضِّلُ هٰذَا الوَقْتَ لِأَنَّنِي أُنْهِي وَاجِبِي قَبْلَهُ.</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It begins at quarter to six and lasts an hour and a half. I prefer this time because I finish my homework before it.</a:t>
            </a:r>
            <a:endParaRPr lang="en-US" sz="7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times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Read and write quarter past, half past and quarter to times.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Your morning with five times: o’clock, quarter past, half past, quarter to (use the tables).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Interpret a mixed 12-hour and 24-hour timetable.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busy weekday: start and finish times with وَ and إِلَّا.</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Calculate duration and explain a full schedule without relying on digital numerals.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one 24-hour time, duration with مُدَّةَ, an opinion and a comparison.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الحِصَّةُ الأُولَى مِنَ ______ إِلَى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first lesson is from …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تَسْتَمِرُّ الاِسْتِرَاحَةُ ______ دَقِيقَةً.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break lasts … minutes.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التَّمْرِينُ فِي السَّاعَةِ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Training is at 16:30.</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أَعُودُ إِلَى البَيْتِ حَوَالَيْ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return home at about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يَسْتَمِرُّ مُدَّةَ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lasts for an hour.</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أَسْتَيْقِظُ فِي السَّاعَةِ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wake up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أَتَنَاوَلُ الإِفْطَارَ فِي ______ وَالرُّبْعِ.</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breakfast at … past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أَخْرُجُ فِي ______ وَالنِّصْفِ.</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leave the house at half past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يَبْدَأُ الدَّوَامُ فِي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School begins at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يَنْتَهِي الدَّوَامُ فِي ______ إِلَّا الرُّبْعَ.</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School ends at quarter to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السَّادِسَةِ  ·  السَّابِعَةِ  ·  الثَّامِنَةِ  ·  الثَّالِثَةِ  ·  الرَّابِعَةِ  ·  وَالرُّبْعِ  ·  وَالنِّصْفِ  ·  إِلَّا الرُّبْعَ  ·  وَخَمْسِ دَقَائِقَ  ·  يَبْدَأُ  ·  يَنْتَهِي  ·  يَسْتَمِرُّ  ·  مُدَّةَ  ·  حَوَالَيْ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Create a 100–120-word schedule for one busy weekday and explain which part is easiest or most difficult.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at least five exact times.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both </a:t>
            </a:r>
            <a:pPr algn="l" indent="0" marL="0">
              <a:buNone/>
            </a:pPr>
            <a:r>
              <a:rPr lang="ar-SA" altLang="en-US" sz="1550" dirty="0">
                <a:solidFill>
                  <a:srgbClr val="1F2A37"/>
                </a:solidFill>
                <a:latin typeface="Amiri" pitchFamily="34" charset="0"/>
                <a:ea typeface="Amiri" pitchFamily="34" charset="-122"/>
                <a:cs typeface="Amiri" pitchFamily="34" charset="-120"/>
              </a:rPr>
              <a:t>وَ</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إِلَّا</a:t>
            </a:r>
            <a:pPr algn="l" indent="0" marL="0">
              <a:buNone/>
            </a:pPr>
            <a:r>
              <a:rPr lang="en-US" sz="1200" dirty="0">
                <a:solidFill>
                  <a:srgbClr val="1F2A37"/>
                </a:solidFill>
                <a:latin typeface="Calibri" pitchFamily="34" charset="0"/>
                <a:ea typeface="Calibri" pitchFamily="34" charset="-122"/>
                <a:cs typeface="Calibri" pitchFamily="34" charset="-120"/>
              </a:rPr>
              <a:t> correctly.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يَبْدَأُ</a:t>
            </a:r>
            <a:pPr algn="l" indent="0" marL="0">
              <a:buNone/>
            </a:pPr>
            <a:r>
              <a:rPr lang="en-US" sz="1200" dirty="0">
                <a:solidFill>
                  <a:srgbClr val="1F2A37"/>
                </a:solidFill>
                <a:latin typeface="Calibri" pitchFamily="34" charset="0"/>
                <a:ea typeface="Calibri" pitchFamily="34" charset="-122"/>
                <a:cs typeface="Calibri" pitchFamily="34" charset="-120"/>
              </a:rPr>
              <a:t>, </a:t>
            </a:r>
            <a:pPr algn="l" indent="0" marL="0">
              <a:buNone/>
            </a:pPr>
            <a:r>
              <a:rPr lang="ar-SA" altLang="en-US" sz="1550" dirty="0">
                <a:solidFill>
                  <a:srgbClr val="1F2A37"/>
                </a:solidFill>
                <a:latin typeface="Amiri" pitchFamily="34" charset="0"/>
                <a:ea typeface="Amiri" pitchFamily="34" charset="-122"/>
                <a:cs typeface="Amiri" pitchFamily="34" charset="-120"/>
              </a:rPr>
              <a:t>يَنْتَهِي</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يَسْتَمِرُّ</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one 24-hour time.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an opinion with a reason and one comparison.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حِينَ أَسْتَيْقِظُ وَأَسْتَعِدُّ لِلْمَدْرَسَةِ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when I wake up and get ready for school</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تَنْتَهِي الحِصَصُ فِي الثَّالِثَةِ وَالرُّبْعِ</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lessons end at quarter past three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يَسْتَمِرُّ التَّمْرِينُ مُدَّةَ سَاعَةٍ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training lasts an hour</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أَصْعَبُ جُزْءٍ هُوَ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hardest part is …</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اليَوْمَ المُنَظَّمَ عَلَى اليَوْمِ الفَارِغِ</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prefer an organised day to an empty day</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يَبْدَأُ يَوْمِي يَوْمَ الثُّلَاثَاءِ فِي السَّادِسَةِ وَالنِّصْفِ، حِينَ أَسْتَيْقِظُ وَأَسْتَعِدُّ لِلْمَدْرَسَةِ. أَخْرُجُ فِي السَّابِعَةِ إِلَّا عَشْرَ دَقَائِقَ، وَيَبْدَأُ الدَّوَامُ فِي الثَّامِنَةِ. تَنْتَهِي الحِصَصُ فِي الثَّالِثَةِ وَالرُّبْعِ. بَعْدَ ذٰلِكَ أَذْهَبُ إِلَى نَادِي الرِّيَاضَةِ فِي السَّاعَةِ السَّادِسَةَ عَشْرَةَ، وَيَسْتَمِرُّ التَّمْرِينُ مُدَّةَ سَاعَةٍ. أَصْعَبُ جُزْءٍ هُوَ الوَقْتُ بَيْنَ المَدْرَسَةِ وَالتَّمْرِينِ لِأَنَّنِي أَكُونُ مُتْعَبًا، وَلٰكِنَّنِي أُفَضِّلُ اليَوْمَ المُنَظَّمَ عَلَى اليَوْمِ الفَارِغِ.</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My Tuesday begins at half past six, when I wake up and get ready for school. I leave at ten to seven, and school starts at eight. Lessons finish at quarter past three. After that I go to the sports club at 16:00, and training lasts an hour. The hardest part is the time between school and training because I am tired, but I prefer an organised day to an empty one.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وَ and إِلَّا times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24-hour time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يَسْتَمِرُّ مُدَّةَ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opinion +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quarter past, half past and quarter to.</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five exact times in my routine.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half past, I named the NEXT hour with </a:t>
            </a:r>
            <a:pPr algn="l" indent="0" marL="0">
              <a:buNone/>
            </a:pPr>
            <a:r>
              <a:rPr lang="ar-SA" altLang="en-US" sz="1700" dirty="0">
                <a:solidFill>
                  <a:srgbClr val="1F2A37"/>
                </a:solidFill>
                <a:latin typeface="Amiri" pitchFamily="34" charset="0"/>
                <a:ea typeface="Amiri" pitchFamily="34" charset="-122"/>
                <a:cs typeface="Amiri" pitchFamily="34" charset="-120"/>
              </a:rPr>
              <a:t>إِلَّا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begins (</a:t>
            </a:r>
            <a:pPr algn="l" indent="0" marL="0">
              <a:buNone/>
            </a:pPr>
            <a:r>
              <a:rPr lang="ar-SA" altLang="en-US" sz="1700" dirty="0">
                <a:solidFill>
                  <a:srgbClr val="1F2A37"/>
                </a:solidFill>
                <a:latin typeface="Amiri" pitchFamily="34" charset="0"/>
                <a:ea typeface="Amiri" pitchFamily="34" charset="-122"/>
                <a:cs typeface="Amiri" pitchFamily="34" charset="-120"/>
              </a:rPr>
              <a:t>يَبْدَأُ</a:t>
            </a:r>
            <a:pPr algn="l" indent="0" marL="0">
              <a:buNone/>
            </a:pPr>
            <a:r>
              <a:rPr lang="en-US" sz="1300" dirty="0">
                <a:solidFill>
                  <a:srgbClr val="1F2A37"/>
                </a:solidFill>
                <a:latin typeface="Calibri" pitchFamily="34" charset="0"/>
                <a:ea typeface="Calibri" pitchFamily="34" charset="-122"/>
                <a:cs typeface="Calibri" pitchFamily="34" charset="-120"/>
              </a:rPr>
              <a:t>) and ends (</a:t>
            </a:r>
            <a:pPr algn="l" indent="0" marL="0">
              <a:buNone/>
            </a:pPr>
            <a:r>
              <a:rPr lang="ar-SA" altLang="en-US" sz="1700" dirty="0">
                <a:solidFill>
                  <a:srgbClr val="1F2A37"/>
                </a:solidFill>
                <a:latin typeface="Amiri" pitchFamily="34" charset="0"/>
                <a:ea typeface="Amiri" pitchFamily="34" charset="-122"/>
                <a:cs typeface="Amiri" pitchFamily="34" charset="-120"/>
              </a:rPr>
              <a:t>يَنْتَهِي</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24-hour time and duration (</a:t>
            </a:r>
            <a:pPr algn="l" indent="0" marL="0">
              <a:buNone/>
            </a:pPr>
            <a:r>
              <a:rPr lang="ar-SA" altLang="en-US" sz="1700" dirty="0">
                <a:solidFill>
                  <a:srgbClr val="1F2A37"/>
                </a:solidFill>
                <a:latin typeface="Amiri" pitchFamily="34" charset="0"/>
                <a:ea typeface="Amiri" pitchFamily="34" charset="-122"/>
                <a:cs typeface="Amiri" pitchFamily="34" charset="-120"/>
              </a:rPr>
              <a:t>مُدَّةَ</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6:30?</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السَّادِسَةُ وَالنِّصْفُ</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السَّابِعَةُ إِلَّا النِّصْفَ</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السَّادِسَةُ وَالرُّبْعُ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10:50?</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العَاشِرَةُ وَعَشْرُ دَقَائِقَ</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الحَادِيَةَ عَشْرَةَ إِلَّا عَشْرَ دَقَائِقَ</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العَاشِرَةُ إِلَّا عَشْرَ دَقَائِقَ</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duration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يَسْتَمِرُّ مُدَّةَ سَاعَتَيْنِ.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يَبْدَأُ فِي السَّادِسَةِ.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يَنْتَهِي فِي الثَّامِنَةِ.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6:30?</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السَّادِسَةُ وَالنِّصْفُ</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السَّابِعَةُ إِلَّا النِّصْفَ</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السَّادِسَةُ وَالرُّبْعُ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6:30 is half past six.</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10:50?</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العَاشِرَةُ وَعَشْرُ دَقَائِقَ</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الحَادِيَةَ عَشْرَةَ إِلَّا عَشْرَ دَقَائِقَ</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العَاشِرَةُ إِلَّا عَشْرَ دَقَائِقَ</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is ten minutes to eleven.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duration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يَسْتَمِرُّ مُدَّةَ سَاعَتَيْنِ.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يَبْدَأُ فِي السَّادِسَةِ.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يَنْتَهِي فِي الثَّامِنَةِ.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states how long the activity lasts.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Community centre timetable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يُقَدِّمُ مَرْكَزُ النُّورِ أَنْشِطَةً بَعْدَ المَدْرَسَةِ. يَوْمَ الاِثْنَيْنِ تَبْدَأُ دَوْرَةُ الخَطِّ فِي السَّاعَةِ الرَّابِعَةِ وَالنِّصْفِ وَتَسْتَمِرُّ سَاعَةً. يَوْمَ الثُّلَاثَاءِ يَبْدَأُ نَادِي الرِّيَاضَةِ فِي الخَامِسَةِ إِلَّا الرُّبْعَ وَيَنْتَهِي فِي السَّادِسَةِ. أَمَّا نَادِي القِرَاءَةِ فَيُعْقَدُ يَوْمَ الخَمِيسِ مِنَ السَّاعَةِ السَّادِسَةَ عَشْرَةَ إِلَى السَّاعَةِ السَّابِعَةَ عَشْرَةَ وَالنِّصْفِ. يَجِبُ الحُضُورُ قَبْلَ البَدْءِ بِعَشْرِ دَقَائِقَ.</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يُقَدِّمُ</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offers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مَرْكَزٌ</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centre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أَنْشِطَةٌ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activities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دَوْرَةُ الخَطِّ</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calligraphy course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نَادِي الرِّيَاضَةِ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sports club</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نَادِي القِرَاءَةِ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reading club</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يُعْقَدُ</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held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يَجِبُ</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 is necessary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الحُضُورُ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attending, arrival</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قَبْلَ البَدْءِ</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before the start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activity starts at 4:30?</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sport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calligraphy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calligraphy last?</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45 minutes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90 minutes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sport begin?</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4:45</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5:15</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5:45</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day is reading club?</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Monday</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Thursday</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Tuesday</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reading club?</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90 minutes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hours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instruction applies to everyone?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bring food</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leave before the end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arrive ten minutes early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activity starts at 4:30?</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sport</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calligraphy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reading</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دَوْرَةُ الخَطِّ</a:t>
            </a:r>
            <a:pPr algn="l" indent="0" marL="0">
              <a:buNone/>
            </a:pPr>
            <a:r>
              <a:rPr lang="en-US" sz="1050" i="1" dirty="0">
                <a:solidFill>
                  <a:srgbClr val="8A6D1E"/>
                </a:solidFill>
                <a:latin typeface="Calibri" pitchFamily="34" charset="0"/>
                <a:ea typeface="Calibri" pitchFamily="34" charset="-122"/>
                <a:cs typeface="Calibri" pitchFamily="34" charset="-120"/>
              </a:rPr>
              <a:t> starts at 4:30.</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calligraphy last?</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45 minutes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90 minutes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one hour</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تَسْتَمِرُّ سَاعَةً.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sport begin?</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4:45</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5:15</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5:45</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الخَامِسَةُ إِلَّا الرُّبْعَ = 4:45.</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day is reading club?</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Monday</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Thursday</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Tuesday</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يَوْمَ الخَمِيسِ.</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reading club?</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90 minutes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hour</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hours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16:00 to 17:30 = 90 minutes.</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instruction applies to everyone?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bring food</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leave before the end</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arrive ten minutes early</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الحُضُورُ قَبْلَ البَدْءِ بِعَشْرِ دَقَائِقَ.</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Arabic time decoder</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7:15.</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السَّابِعَةُ وَالنِّصْفُ.</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السَّابِعَةُ وَالرُّبْعُ.</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الثَّامِنَةُ إِلَّا الرُّبْعَ.</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10:50.</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السَّاعَةُ الحَادِيَةَ عَشْرَةَ إِلَّا عَشْرَ دَقَائِقَ.</a:t>
            </a:r>
            <a:endParaRPr lang="ar-SA" sz="170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السَّاعَةُ العَاشِرَةُ وَعَشْرُ دَقَائِقَ.</a:t>
            </a:r>
            <a:endParaRPr lang="ar-SA" sz="170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السَّاعَةُ العَاشِرَةُ إِلَّا عَشْرَ دَقَائِقَ.</a:t>
            </a:r>
            <a:endParaRPr lang="ar-SA" sz="170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timetable shows 14:30. Which sentence is accurate?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يَبْدَأُ النَّشَاطُ فِي السَّاعَةِ الرَّابِعَةِ وَالنِّصْفِ صَبَاحًا.</a:t>
            </a:r>
            <a:endParaRPr lang="ar-SA" sz="13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يَنْتَهِي النَّشَاطُ مُدَّةَ الرَّابِعَةَ عَشْرَةَ.</a:t>
            </a:r>
            <a:endParaRPr lang="ar-SA" sz="13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يَبْدَأُ النَّشَاطُ فِي السَّاعَةِ الرَّابِعَةَ عَشْرَةَ وَالنِّصْفِ.</a:t>
            </a:r>
            <a:endParaRPr lang="ar-SA" sz="13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lesson runs from 8:00 to 8:45. Choose the duration sentence.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يَبْدَأُ الدَّرْسُ فِي الثَّامِنَةِ.</a:t>
            </a:r>
            <a:endParaRPr lang="ar-SA" sz="170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يَنْتَهِي الدَّرْسُ فِي الثَّامِنَةِ.</a:t>
            </a:r>
            <a:endParaRPr lang="ar-SA" sz="170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يَسْتَمِرُّ الدَّرْسُ مُدَّةَ خَمْسٍ وَأَرْبَعِينَ دَقِيقَةً.</a:t>
            </a:r>
            <a:endParaRPr lang="ar-SA" sz="170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asks when the lesson finishes?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يَنْتَهِي الدَّرْسُ؟</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مُدَّةُ الدَّرْسِ؟</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يَبْدَأُ الدَّرْسُ؟</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86" name="Text 83"/>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يَنْطَلِقُ القِطَارُ فِي الخَامِسَةِ إِلَّا الرُّبْعَ</a:t>
            </a:r>
            <a:pPr algn="l" indent="0" marL="0">
              <a:buNone/>
            </a:pPr>
            <a:r>
              <a:rPr lang="en-US" sz="1000" b="1" dirty="0">
                <a:solidFill>
                  <a:srgbClr val="1F2A37"/>
                </a:solidFill>
                <a:latin typeface="Calibri" pitchFamily="34" charset="0"/>
                <a:ea typeface="Calibri" pitchFamily="34" charset="-122"/>
                <a:cs typeface="Calibri" pitchFamily="34" charset="-120"/>
              </a:rPr>
              <a:t>. What time does it leave?</a:t>
            </a:r>
            <a:endParaRPr lang="en-US" sz="100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4:15</a:t>
            </a:r>
            <a:endParaRPr lang="en-US" sz="12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4:45</a:t>
            </a:r>
            <a:endParaRPr lang="en-US" sz="12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5:15</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7:15.</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السَّابِعَةُ وَالنِّصْفُ.</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السَّاعَةُ السَّابِعَةُ وَالرُّبْعُ.</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الثَّامِنَةُ إِلَّا الرُّبْعَ.</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 quarter past, keep the current hour and add </a:t>
            </a:r>
            <a:pPr algn="l" indent="0" marL="0">
              <a:buNone/>
            </a:pPr>
            <a:r>
              <a:rPr lang="ar-SA" altLang="en-US" sz="1350" dirty="0">
                <a:solidFill>
                  <a:srgbClr val="8A6D1E"/>
                </a:solidFill>
                <a:latin typeface="Amiri" pitchFamily="34" charset="0"/>
                <a:ea typeface="Amiri" pitchFamily="34" charset="-122"/>
                <a:cs typeface="Amiri" pitchFamily="34" charset="-120"/>
              </a:rPr>
              <a:t>وَالرُّبْعُ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10:50.</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السَّاعَةُ الحَادِيَةَ عَشْرَةَ إِلَّا عَشْرَ دَقَائِقَ.</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العَاشِرَةُ وَعَشْرُ دَقَائِقَ.</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العَاشِرَةُ إِلَّا عَشْرَ دَقَائِقَ.</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half past, name the next hour and subtract the remaining minutes.</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timetable shows 14:30. Which sentence is accurate?</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34" charset="0"/>
                <a:ea typeface="Amiri" pitchFamily="34" charset="-122"/>
                <a:cs typeface="Amiri" pitchFamily="34" charset="-120"/>
              </a:rPr>
              <a:t>يَبْدَأُ النَّشَاطُ فِي السَّاعَةِ الرَّابِعَةِ وَالنِّصْفِ صَبَاحًا.</a:t>
            </a:r>
            <a:endParaRPr lang="ar-SA" sz="135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34" charset="0"/>
                <a:ea typeface="Amiri" pitchFamily="34" charset="-122"/>
                <a:cs typeface="Amiri" pitchFamily="34" charset="-120"/>
              </a:rPr>
              <a:t>يَنْتَهِي النَّشَاطُ مُدَّةَ الرَّابِعَةَ عَشْرَةَ.</a:t>
            </a:r>
            <a:endParaRPr lang="ar-SA" sz="135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يَبْدَأُ النَّشَاطُ فِي السَّاعَةِ الرَّابِعَةَ عَشْرَةَ وَالنِّصْفِ.</a:t>
            </a:r>
            <a:endParaRPr lang="ar-SA" sz="135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24-hour timetable may state the numbered hour directly: </a:t>
            </a:r>
            <a:pPr algn="l" indent="0" marL="0">
              <a:buNone/>
            </a:pPr>
            <a:r>
              <a:rPr lang="ar-SA" altLang="en-US" sz="1350" dirty="0">
                <a:solidFill>
                  <a:srgbClr val="8A6D1E"/>
                </a:solidFill>
                <a:latin typeface="Amiri" pitchFamily="34" charset="0"/>
                <a:ea typeface="Amiri" pitchFamily="34" charset="-122"/>
                <a:cs typeface="Amiri" pitchFamily="34" charset="-120"/>
              </a:rPr>
              <a:t>الرَّابِعَةَ عَشْرَةَ وَالنِّصْفُ</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lesson runs from 8:00 to 8:45. Choose the duration sentence.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يَبْدَأُ الدَّرْسُ فِي الثَّامِنَةِ.</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يَنْتَهِي الدَّرْسُ فِي الثَّامِنَةِ.</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يَسْتَمِرُّ الدَّرْسُ مُدَّةَ خَمْسٍ وَأَرْبَعِينَ دَقِيقَةً.</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Duration is expressed with </a:t>
            </a:r>
            <a:pPr algn="l" indent="0" marL="0">
              <a:buNone/>
            </a:pPr>
            <a:r>
              <a:rPr lang="ar-SA" altLang="en-US" sz="1350" dirty="0">
                <a:solidFill>
                  <a:srgbClr val="8A6D1E"/>
                </a:solidFill>
                <a:latin typeface="Amiri" pitchFamily="34" charset="0"/>
                <a:ea typeface="Amiri" pitchFamily="34" charset="-122"/>
                <a:cs typeface="Amiri" pitchFamily="34" charset="-120"/>
              </a:rPr>
              <a:t>يَسْتَمِرُّ مُدَّةَ</a:t>
            </a:r>
            <a:pPr algn="l" indent="0" marL="0">
              <a:buNone/>
            </a:pPr>
            <a:r>
              <a:rPr lang="en-US" sz="1050" i="1" dirty="0">
                <a:solidFill>
                  <a:srgbClr val="8A6D1E"/>
                </a:solidFill>
                <a:latin typeface="Calibri" pitchFamily="34" charset="0"/>
                <a:ea typeface="Calibri" pitchFamily="34" charset="-122"/>
                <a:cs typeface="Calibri" pitchFamily="34" charset="-120"/>
              </a:rPr>
              <a:t>, not merely the start or finish time.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asks when the lesson finishes?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مَتَى يَنْتَهِي الدَّرْسُ؟</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مُدَّةُ الدَّرْسِ؟</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يَبْدَأُ الدَّرْسُ؟</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يَنْتَهِي</a:t>
            </a:r>
            <a:pPr algn="l" indent="0" marL="0">
              <a:buNone/>
            </a:pPr>
            <a:r>
              <a:rPr lang="en-US" sz="1050" i="1" dirty="0">
                <a:solidFill>
                  <a:srgbClr val="8A6D1E"/>
                </a:solidFill>
                <a:latin typeface="Calibri" pitchFamily="34" charset="0"/>
                <a:ea typeface="Calibri" pitchFamily="34" charset="-122"/>
                <a:cs typeface="Calibri" pitchFamily="34" charset="-120"/>
              </a:rPr>
              <a:t> means “finishes”; </a:t>
            </a:r>
            <a:pPr algn="l" indent="0" marL="0">
              <a:buNone/>
            </a:pPr>
            <a:r>
              <a:rPr lang="ar-SA" altLang="en-US" sz="1350" dirty="0">
                <a:solidFill>
                  <a:srgbClr val="8A6D1E"/>
                </a:solidFill>
                <a:latin typeface="Amiri" pitchFamily="34" charset="0"/>
                <a:ea typeface="Amiri" pitchFamily="34" charset="-122"/>
                <a:cs typeface="Amiri" pitchFamily="34" charset="-120"/>
              </a:rPr>
              <a:t>يَبْدَأُ</a:t>
            </a:r>
            <a:pPr algn="l" indent="0" marL="0">
              <a:buNone/>
            </a:pPr>
            <a:r>
              <a:rPr lang="en-US" sz="1050" i="1" dirty="0">
                <a:solidFill>
                  <a:srgbClr val="8A6D1E"/>
                </a:solidFill>
                <a:latin typeface="Calibri" pitchFamily="34" charset="0"/>
                <a:ea typeface="Calibri" pitchFamily="34" charset="-122"/>
                <a:cs typeface="Calibri" pitchFamily="34" charset="-120"/>
              </a:rPr>
              <a:t> asks for the start and </a:t>
            </a:r>
            <a:pPr algn="l" indent="0" marL="0">
              <a:buNone/>
            </a:pPr>
            <a:r>
              <a:rPr lang="ar-SA" altLang="en-US" sz="1350" dirty="0">
                <a:solidFill>
                  <a:srgbClr val="8A6D1E"/>
                </a:solidFill>
                <a:latin typeface="Amiri" pitchFamily="34" charset="0"/>
                <a:ea typeface="Amiri" pitchFamily="34" charset="-122"/>
                <a:cs typeface="Amiri" pitchFamily="34" charset="-120"/>
              </a:rPr>
              <a:t>مُدَّة</a:t>
            </a:r>
            <a:pPr algn="l" indent="0" marL="0">
              <a:buNone/>
            </a:pPr>
            <a:r>
              <a:rPr lang="en-US" sz="1050" i="1" dirty="0">
                <a:solidFill>
                  <a:srgbClr val="8A6D1E"/>
                </a:solidFill>
                <a:latin typeface="Calibri" pitchFamily="34" charset="0"/>
                <a:ea typeface="Calibri" pitchFamily="34" charset="-122"/>
                <a:cs typeface="Calibri" pitchFamily="34" charset="-120"/>
              </a:rPr>
              <a:t> asks for length.</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95" name="Text 93"/>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يَنْطَلِقُ القِطَارُ فِي الخَامِسَةِ إِلَّا الرُّبْعَ</a:t>
            </a:r>
            <a:pPr algn="l" indent="0" marL="0">
              <a:buNone/>
            </a:pPr>
            <a:r>
              <a:rPr lang="en-US" sz="1000" b="1" dirty="0">
                <a:solidFill>
                  <a:srgbClr val="1F2A37"/>
                </a:solidFill>
                <a:latin typeface="Calibri" pitchFamily="34" charset="0"/>
                <a:ea typeface="Calibri" pitchFamily="34" charset="-122"/>
                <a:cs typeface="Calibri" pitchFamily="34" charset="-120"/>
              </a:rPr>
              <a:t>. What time does it leave?</a:t>
            </a:r>
            <a:endParaRPr lang="en-US" sz="100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4:15</a:t>
            </a:r>
            <a:endParaRPr lang="en-US" sz="125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4:45</a:t>
            </a:r>
            <a:endParaRPr lang="en-US" sz="125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5:15</a:t>
            </a:r>
            <a:endParaRPr lang="en-US" sz="125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الخَامِسَةُ إِلَّا الرُّبْعَ</a:t>
            </a:r>
            <a:pPr algn="l" indent="0" marL="0">
              <a:buNone/>
            </a:pPr>
            <a:r>
              <a:rPr lang="en-US" sz="1050" i="1" dirty="0">
                <a:solidFill>
                  <a:srgbClr val="8A6D1E"/>
                </a:solidFill>
                <a:latin typeface="Calibri" pitchFamily="34" charset="0"/>
                <a:ea typeface="Calibri" pitchFamily="34" charset="-122"/>
                <a:cs typeface="Calibri" pitchFamily="34" charset="-120"/>
              </a:rPr>
              <a:t> means a quarter to five: 4:45.</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Dates and School Week</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Before AT-A-L03: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AT-A-L03 · Frequency, Sequencing and Communication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يَوْمِيًّا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daily</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أُسْبُوعِيًّا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weekly</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نِهَايَةُ الأُسْبُوعِ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weekend</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بَيْنَمَا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whereas, while</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يَوْمٌ مُزْدَحِمٌ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busy day</a:t>
            </a:r>
            <a:pPr indent="0" marL="0">
              <a:buNone/>
            </a:pPr>
            <a:r>
              <a:rPr lang="en-US" sz="1000" i="1" dirty="0">
                <a:solidFill>
                  <a:srgbClr val="5A6472"/>
                </a:solidFill>
                <a:latin typeface="Calibri" pitchFamily="34" charset="0"/>
                <a:ea typeface="Calibri" pitchFamily="34" charset="-122"/>
                <a:cs typeface="Calibri" pitchFamily="34" charset="-120"/>
              </a:rPr>
              <a:t>  pl. أَيَّامٌ مُزْدَحِمَةٌ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is your busiest day of the week, and which is your quietest?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 أَكْثَرُ أَيَّامِكَ اِزْدِحَامًا؟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AT-A-L02: “Beat the Clock” game and the time decoder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your weekday timetable with eight exact times.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 words with 24-hour time and duration.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AT-A-L02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ea typeface="Cambria" pitchFamily="34" charset="-122"/>
                <a:cs typeface="Cambria" pitchFamily="34" charset="-120"/>
              </a:rPr>
              <a:t>AT-A-L03 · Frequency, Sequencing and Communication</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التَّوَاتُرُ وَالتَّرْتِيبُ وَالتَّوَاصُلُ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t>
            </a:r>
            <a:pPr algn="l" indent="0" marL="0">
              <a:buNone/>
            </a:pPr>
            <a:r>
              <a:rPr lang="ar-SA" altLang="en-US" sz="1700" b="1" dirty="0">
                <a:solidFill>
                  <a:srgbClr val="FFFFFF"/>
                </a:solidFill>
                <a:latin typeface="Amiri" pitchFamily="34" charset="0"/>
                <a:ea typeface="Amiri" pitchFamily="34" charset="-122"/>
                <a:cs typeface="Amiri" pitchFamily="34" charset="-120"/>
              </a:rPr>
              <a:t>وَ</a:t>
            </a:r>
            <a:pPr algn="l" indent="0" marL="0">
              <a:buNone/>
            </a:pPr>
            <a:r>
              <a:rPr lang="en-US" sz="1300" b="1" dirty="0">
                <a:solidFill>
                  <a:srgbClr val="FFFFFF"/>
                </a:solidFill>
                <a:latin typeface="Calibri" pitchFamily="34" charset="0"/>
                <a:ea typeface="Calibri" pitchFamily="34" charset="-122"/>
                <a:cs typeface="Calibri" pitchFamily="34" charset="-120"/>
              </a:rPr>
              <a:t> = past · </a:t>
            </a:r>
            <a:pPr algn="l" indent="0" marL="0">
              <a:buNone/>
            </a:pPr>
            <a:r>
              <a:rPr lang="ar-SA" altLang="en-US" sz="1700" b="1" dirty="0">
                <a:solidFill>
                  <a:srgbClr val="FFFFFF"/>
                </a:solidFill>
                <a:latin typeface="Amiri" pitchFamily="34" charset="0"/>
                <a:ea typeface="Amiri" pitchFamily="34" charset="-122"/>
                <a:cs typeface="Amiri" pitchFamily="34" charset="-120"/>
              </a:rPr>
              <a:t>إِلَّا</a:t>
            </a:r>
            <a:pPr algn="l" indent="0" marL="0">
              <a:buNone/>
            </a:pPr>
            <a:r>
              <a:rPr lang="en-US" sz="1300" b="1" dirty="0">
                <a:solidFill>
                  <a:srgbClr val="FFFFFF"/>
                </a:solidFill>
                <a:latin typeface="Calibri" pitchFamily="34" charset="0"/>
                <a:ea typeface="Calibri" pitchFamily="34" charset="-122"/>
                <a:cs typeface="Calibri" pitchFamily="34" charset="-120"/>
              </a:rPr>
              <a:t> = to the NEXT hour.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AT-A-L02 · Calendar, Dates and the School Week</dc:title>
  <dc:subject>PptxGenJS Presentation</dc:subject>
  <dc:creator>Al Madina Online School · Arabic Department</dc:creator>
  <cp:lastModifiedBy>Al Madina Online School · Arabic Department</cp:lastModifiedBy>
  <cp:revision>1</cp:revision>
  <dcterms:created xsi:type="dcterms:W3CDTF">2026-09-27T12:22:03Z</dcterms:created>
  <dcterms:modified xsi:type="dcterms:W3CDTF">2026-09-27T12:22:03Z</dcterms:modified>
</cp:coreProperties>
</file>