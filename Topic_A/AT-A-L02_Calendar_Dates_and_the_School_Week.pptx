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AT-A-L02 — Calendar, Dates and the School Week. Website: Advanced Topics › Topic A (Everyday Activities) › Lesson 2.
The website builds this lesson on the D1-L02 lesson engine, with the Topic focus “Communicate clock times, days, dates, months and the organisation of a school week.” (grammar: Ordinal numbers; clock expressions; prepositions of time; skills: Listening · Reading) and the application challenge “Calendar and time bingo”.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Topic A Daily Routine and Time › AT-A-L02.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“Listen for days, dates, months and clock times, mark the matching square, then create two clues of your own using complete Arabic time expressions.”
Teacher calls (read each twice): يَوْمُ الثُّلَاثَاءِ · شَهْرُ يَنَايِرَ · السَّاعَةُ السَّابِعَةُ وَالرُّبْعُ · يَوْمُ الجُمُعَةِ · شَهْرُ رَمَضَانَ · السَّاعَةُ الثَّالِثَةُ إِلَّا الرُّبْعَ · الأَوَّلُ مِنْ سِبْتَمْبَرَ · يَوْمُ الخَمِيسِ.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AT-A-L01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(AT-A-L03 · Frequency, Sequencing and Communication) will spend class time USING this language, so students prepare it tonight — short, simple, easy to access (school guidance: “Simple, Short, Interesting, Relevant, Easy to access”). The five words come from the website AT-A-L03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Calendar, Dates and the School Week</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التَّقْوِيمُ وَالتَّوَارِيخُ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Communicate clock times, days, dates, months and the organisation of a school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twelve hours, then minutes past (</a:t>
            </a:r>
            <a:pPr algn="ctr" indent="0" marL="0">
              <a:buNone/>
            </a:pPr>
            <a:r>
              <a:rPr lang="ar-SA" altLang="en-US" sz="1550" dirty="0">
                <a:solidFill>
                  <a:srgbClr val="1F2A37"/>
                </a:solidFill>
                <a:latin typeface="Amiri" pitchFamily="2" charset="-78"/>
                <a:ea typeface="Amiri" pitchFamily="2" charset="-78"/>
                <a:cs typeface="Amiri" pitchFamily="2" charset="-78"/>
              </a:rPr>
              <a:t>وَ</a:t>
            </a:r>
            <a:pPr algn="ctr" indent="0" marL="0">
              <a:buNone/>
            </a:pPr>
            <a:r>
              <a:rPr lang="en-US" sz="1200" dirty="0">
                <a:solidFill>
                  <a:srgbClr val="1F2A37"/>
                </a:solidFill>
                <a:latin typeface="Calibri" pitchFamily="34" charset="0"/>
                <a:cs typeface="Amiri" pitchFamily="2" charset="-78"/>
              </a:rPr>
              <a:t>) and to (</a:t>
            </a:r>
            <a:pPr algn="ctr" indent="0" marL="0">
              <a:buNone/>
            </a:pPr>
            <a:r>
              <a:rPr lang="ar-SA" altLang="en-US" sz="1550" dirty="0">
                <a:solidFill>
                  <a:srgbClr val="1F2A37"/>
                </a:solidFill>
                <a:latin typeface="Amiri" pitchFamily="2" charset="-78"/>
                <a:ea typeface="Amiri" pitchFamily="2" charset="-78"/>
                <a:cs typeface="Amiri" pitchFamily="2" charset="-78"/>
              </a:rPr>
              <a:t>إِلَّا</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(AT-A-L01).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(AT-A-L01).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Minutes PAST the hour → </a:t>
            </a:r>
            <a:pPr algn="l" indent="0" marL="0">
              <a:buNone/>
            </a:pPr>
            <a:r>
              <a:rPr lang="ar-SA" altLang="en-US" sz="1700" b="1" dirty="0">
                <a:solidFill>
                  <a:srgbClr val="1F2A37"/>
                </a:solidFill>
                <a:latin typeface="Amiri" pitchFamily="2" charset="-78"/>
                <a:ea typeface="Amiri" pitchFamily="2" charset="-78"/>
                <a:cs typeface="Amiri" pitchFamily="2" charset="-78"/>
              </a:rPr>
              <a:t>وَ</a:t>
            </a:r>
            <a:pPr algn="l" indent="0" marL="0">
              <a:buNone/>
            </a:pPr>
            <a:r>
              <a:rPr lang="en-US" sz="1300" b="1" dirty="0">
                <a:solidFill>
                  <a:srgbClr val="1F2A37"/>
                </a:solidFill>
                <a:latin typeface="Calibri" pitchFamily="34" charset="0"/>
                <a:cs typeface="Amiri" pitchFamily="2" charset="-78"/>
              </a:rPr>
              <a:t>. Minutes TO the next hour → </a:t>
            </a:r>
            <a:pPr algn="l" indent="0" marL="0">
              <a:buNone/>
            </a:pPr>
            <a:r>
              <a:rPr lang="ar-SA" altLang="en-US" sz="1700" b="1" dirty="0">
                <a:solidFill>
                  <a:srgbClr val="1F2A37"/>
                </a:solidFill>
                <a:latin typeface="Amiri" pitchFamily="2" charset="-78"/>
                <a:ea typeface="Amiri" pitchFamily="2" charset="-78"/>
                <a:cs typeface="Amiri" pitchFamily="2" charset="-78"/>
              </a:rPr>
              <a:t>إِلَّا</a:t>
            </a:r>
            <a:pPr algn="l" indent="0" marL="0">
              <a:buNone/>
            </a:pPr>
            <a:r>
              <a:rPr lang="en-US" sz="1300" b="1" dirty="0">
                <a:solidFill>
                  <a:srgbClr val="1F2A37"/>
                </a:solidFill>
                <a:latin typeface="Calibri" pitchFamily="34" charset="0"/>
                <a:cs typeface="Amiri" pitchFamily="2" charset="-78"/>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٧:١٥ السَّابِعَةُ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الرُّبْعُ · ٧:٤٥ الثَّامِنَةُ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the time to five minutes with </a:t>
            </a:r>
            <a:pPr algn="l" indent="0" marL="0">
              <a:buNone/>
            </a:pPr>
            <a:r>
              <a:rPr lang="ar-SA" altLang="en-US" sz="1700" b="1" dirty="0">
                <a:solidFill>
                  <a:srgbClr val="C9780A"/>
                </a:solidFill>
                <a:latin typeface="Amiri" pitchFamily="2" charset="-78"/>
                <a:ea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إِلَّا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‎دقیقہ‎ </a:t>
            </a:r>
            <a:pPr indent="0" marL="0">
              <a:buNone/>
            </a:pPr>
            <a:r>
              <a:rPr lang="en-US" sz="950" b="1" dirty="0">
                <a:solidFill>
                  <a:srgbClr val="2E8B57"/>
                </a:solidFill>
                <a:latin typeface="Calibri" pitchFamily="34" charset="0"/>
                <a:cs typeface="Amiri" pitchFamily="2" charset="-78"/>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‎ساعت‎ </a:t>
            </a:r>
            <a:pPr indent="0" marL="0">
              <a:buNone/>
            </a:pPr>
            <a:r>
              <a:rPr lang="en-US" sz="950" b="1" dirty="0">
                <a:solidFill>
                  <a:srgbClr val="2E8B57"/>
                </a:solidFill>
                <a:latin typeface="Calibri" pitchFamily="34" charset="0"/>
                <a:cs typeface="Amiri" pitchFamily="2" charset="-78"/>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‎تقریباً‎ </a:t>
            </a:r>
            <a:pPr indent="0" marL="0">
              <a:buNone/>
            </a:pPr>
            <a:r>
              <a:rPr lang="en-US" sz="950" b="1" dirty="0">
                <a:solidFill>
                  <a:srgbClr val="2E8B57"/>
                </a:solidFill>
                <a:latin typeface="Calibri" pitchFamily="34" charset="0"/>
                <a:cs typeface="Amiri" pitchFamily="2" charset="-78"/>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past</a:t>
            </a:r>
            <a:endParaRPr lang="en-US" sz="1350" dirty="0"/>
          </a:p>
          <a:p>
            <a:pPr indent="0" marL="0">
              <a:buNone/>
            </a:pPr>
            <a:r>
              <a:rPr lang="en-US" sz="1100" i="1" dirty="0">
                <a:solidFill>
                  <a:srgbClr val="5A6472"/>
                </a:solidFill>
                <a:latin typeface="Calibri" pitchFamily="34" charset="0"/>
                <a:cs typeface="Amiri" pitchFamily="2" charset="-78"/>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past</a:t>
            </a:r>
            <a:endParaRPr lang="en-US" sz="1350" dirty="0"/>
          </a:p>
          <a:p>
            <a:pPr indent="0" marL="0">
              <a:buNone/>
            </a:pPr>
            <a:r>
              <a:rPr lang="en-US" sz="1100" i="1" dirty="0">
                <a:solidFill>
                  <a:srgbClr val="5A6472"/>
                </a:solidFill>
                <a:latin typeface="Calibri" pitchFamily="34" charset="0"/>
                <a:cs typeface="Amiri" pitchFamily="2" charset="-78"/>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to</a:t>
            </a:r>
            <a:endParaRPr lang="en-US" sz="1350" dirty="0"/>
          </a:p>
          <a:p>
            <a:pPr indent="0" marL="0">
              <a:buNone/>
            </a:pPr>
            <a:r>
              <a:rPr lang="en-US" sz="1100" i="1" dirty="0">
                <a:solidFill>
                  <a:srgbClr val="5A6472"/>
                </a:solidFill>
                <a:latin typeface="Calibri" pitchFamily="34" charset="0"/>
                <a:cs typeface="Amiri" pitchFamily="2" charset="-78"/>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to</a:t>
            </a:r>
            <a:endParaRPr lang="en-US" sz="1350" dirty="0"/>
          </a:p>
          <a:p>
            <a:pPr indent="0" marL="0">
              <a:buNone/>
            </a:pPr>
            <a:r>
              <a:rPr lang="en-US" sz="1100" i="1" dirty="0">
                <a:solidFill>
                  <a:srgbClr val="5A6472"/>
                </a:solidFill>
                <a:latin typeface="Calibri" pitchFamily="34" charset="0"/>
                <a:cs typeface="Amiri" pitchFamily="2" charset="-78"/>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a:t>
            </a:r>
            <a:endParaRPr lang="en-US" sz="1350" dirty="0"/>
          </a:p>
          <a:p>
            <a:pPr indent="0" marL="0">
              <a:buNone/>
            </a:pPr>
            <a:r>
              <a:rPr lang="en-US" sz="1100" i="1" dirty="0">
                <a:solidFill>
                  <a:srgbClr val="5A6472"/>
                </a:solidFill>
                <a:latin typeface="Calibri" pitchFamily="34" charset="0"/>
                <a:cs typeface="Amiri" pitchFamily="2" charset="-78"/>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continues /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 scheduled time</a:t>
            </a:r>
            <a:endParaRPr lang="en-US" sz="1350" dirty="0"/>
          </a:p>
          <a:p>
            <a:pPr indent="0" marL="0">
              <a:buNone/>
            </a:pPr>
            <a:r>
              <a:rPr lang="en-US" sz="1100" i="1" dirty="0">
                <a:solidFill>
                  <a:srgbClr val="5A6472"/>
                </a:solidFill>
                <a:latin typeface="Calibri" pitchFamily="34" charset="0"/>
                <a:cs typeface="Amiri" pitchFamily="2" charset="-78"/>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exactly</a:t>
            </a:r>
            <a:endParaRPr lang="en-US" sz="1350" dirty="0"/>
          </a:p>
          <a:p>
            <a:pPr indent="0" marL="0">
              <a:buNone/>
            </a:pPr>
            <a:r>
              <a:rPr lang="en-US" sz="1100" i="1" dirty="0">
                <a:solidFill>
                  <a:srgbClr val="5A6472"/>
                </a:solidFill>
                <a:latin typeface="Calibri" pitchFamily="34" charset="0"/>
                <a:cs typeface="Amiri" pitchFamily="2" charset="-78"/>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about / approximately</a:t>
            </a:r>
            <a:endParaRPr lang="en-US" sz="1350" dirty="0"/>
          </a:p>
          <a:p>
            <a:pPr indent="0" marL="0">
              <a:buNone/>
            </a:pPr>
            <a:r>
              <a:rPr lang="en-US" sz="1100" i="1" dirty="0">
                <a:solidFill>
                  <a:srgbClr val="5A6472"/>
                </a:solidFill>
                <a:latin typeface="Calibri" pitchFamily="34" charset="0"/>
                <a:cs typeface="Amiri" pitchFamily="2" charset="-78"/>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timing</a:t>
            </a:r>
            <a:endParaRPr lang="en-US" sz="1350" dirty="0"/>
          </a:p>
          <a:p>
            <a:pPr indent="0" marL="0">
              <a:buNone/>
            </a:pPr>
            <a:r>
              <a:rPr lang="en-US" sz="1100" i="1" dirty="0">
                <a:solidFill>
                  <a:srgbClr val="5A6472"/>
                </a:solidFill>
                <a:latin typeface="Calibri" pitchFamily="34" charset="0"/>
                <a:cs typeface="Amiri" pitchFamily="2" charset="-78"/>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13:00</a:t>
            </a:r>
            <a:endParaRPr lang="en-US" sz="1350" dirty="0"/>
          </a:p>
          <a:p>
            <a:pPr indent="0" marL="0">
              <a:buNone/>
            </a:pPr>
            <a:r>
              <a:rPr lang="en-US" sz="1100" i="1" dirty="0">
                <a:solidFill>
                  <a:srgbClr val="5A6472"/>
                </a:solidFill>
                <a:latin typeface="Calibri" pitchFamily="34" charset="0"/>
                <a:cs typeface="Amiri" pitchFamily="2" charset="-78"/>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14:30</a:t>
            </a:r>
            <a:endParaRPr lang="en-US" sz="1350" dirty="0"/>
          </a:p>
          <a:p>
            <a:pPr indent="0" marL="0">
              <a:buNone/>
            </a:pPr>
            <a:r>
              <a:rPr lang="en-US" sz="1100" i="1" dirty="0">
                <a:solidFill>
                  <a:srgbClr val="5A6472"/>
                </a:solidFill>
                <a:latin typeface="Calibri" pitchFamily="34" charset="0"/>
                <a:cs typeface="Amiri" pitchFamily="2" charset="-78"/>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16:00</a:t>
            </a:r>
            <a:endParaRPr lang="en-US" sz="1350" dirty="0"/>
          </a:p>
          <a:p>
            <a:pPr indent="0" marL="0">
              <a:buNone/>
            </a:pPr>
            <a:r>
              <a:rPr lang="en-US" sz="1100" i="1" dirty="0">
                <a:solidFill>
                  <a:srgbClr val="5A6472"/>
                </a:solidFill>
                <a:latin typeface="Calibri" pitchFamily="34" charset="0"/>
                <a:cs typeface="Amiri" pitchFamily="2" charset="-78"/>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18:15</a:t>
            </a:r>
            <a:endParaRPr lang="en-US" sz="1350" dirty="0"/>
          </a:p>
          <a:p>
            <a:pPr indent="0" marL="0">
              <a:buNone/>
            </a:pPr>
            <a:r>
              <a:rPr lang="en-US" sz="1100" i="1" dirty="0">
                <a:solidFill>
                  <a:srgbClr val="5A6472"/>
                </a:solidFill>
                <a:latin typeface="Calibri" pitchFamily="34" charset="0"/>
                <a:cs typeface="Amiri" pitchFamily="2" charset="-78"/>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in the morning</a:t>
            </a:r>
            <a:endParaRPr lang="en-US" sz="1350" dirty="0"/>
          </a:p>
          <a:p>
            <a:pPr indent="0" marL="0">
              <a:buNone/>
            </a:pPr>
            <a:r>
              <a:rPr lang="en-US" sz="1100" i="1" dirty="0">
                <a:solidFill>
                  <a:srgbClr val="5A6472"/>
                </a:solidFill>
                <a:latin typeface="Calibri" pitchFamily="34" charset="0"/>
                <a:cs typeface="Amiri" pitchFamily="2" charset="-78"/>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p.m. / in the evening</a:t>
            </a:r>
            <a:endParaRPr lang="en-US" sz="1350" dirty="0"/>
          </a:p>
          <a:p>
            <a:pPr indent="0" marL="0">
              <a:buNone/>
            </a:pPr>
            <a:r>
              <a:rPr lang="en-US" sz="1100" i="1" dirty="0">
                <a:solidFill>
                  <a:srgbClr val="5A6472"/>
                </a:solidFill>
                <a:latin typeface="Calibri" pitchFamily="34" charset="0"/>
                <a:cs typeface="Amiri" pitchFamily="2" charset="-78"/>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Question: </a:t>
            </a:r>
            <a:pPr algn="l" indent="0" marL="0">
              <a:buNone/>
            </a:pPr>
            <a:r>
              <a:rPr lang="ar-SA" altLang="en-US" sz="1500" b="1" dirty="0">
                <a:solidFill>
                  <a:srgbClr val="1B3B6F"/>
                </a:solidFill>
                <a:latin typeface="Amiri" pitchFamily="2" charset="-78"/>
                <a:ea typeface="Amiri" pitchFamily="2" charset="-78"/>
                <a:cs typeface="Amiri" pitchFamily="2" charset="-78"/>
              </a:rPr>
              <a:t>كَمِ السَّاعَةُ؟</a:t>
            </a:r>
            <a:pPr algn="l" indent="0" marL="0">
              <a:buNone/>
            </a:pPr>
            <a:r>
              <a:rPr lang="en-US" sz="1150" b="1" dirty="0">
                <a:solidFill>
                  <a:srgbClr val="1B3B6F"/>
                </a:solidFill>
                <a:latin typeface="Calibri" pitchFamily="34" charset="0"/>
                <a:cs typeface="Amiri" pitchFamily="2" charset="-78"/>
              </a:rPr>
              <a:t>   Answer: </a:t>
            </a:r>
            <a:pPr algn="l" indent="0" marL="0">
              <a:buNone/>
            </a:pPr>
            <a:r>
              <a:rPr lang="ar-SA" altLang="en-US" sz="1500" b="1" dirty="0">
                <a:solidFill>
                  <a:srgbClr val="1B3B6F"/>
                </a:solidFill>
                <a:latin typeface="Amiri" pitchFamily="2" charset="-78"/>
                <a:ea typeface="Amiri" pitchFamily="2" charset="-78"/>
                <a:cs typeface="Amiri" pitchFamily="2" charset="-78"/>
              </a:rPr>
              <a:t>السَّاعَةُ السَّابِعَةُ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Past the hour (</a:t>
            </a:r>
            <a:pPr algn="l" indent="0" marL="0">
              <a:buNone/>
            </a:pPr>
            <a:r>
              <a:rPr lang="ar-SA" altLang="en-US" sz="2600" b="1" dirty="0">
                <a:solidFill>
                  <a:srgbClr val="1B3B6F"/>
                </a:solidFill>
                <a:latin typeface="Amiri" pitchFamily="2" charset="-78"/>
                <a:ea typeface="Amiri" pitchFamily="2" charset="-78"/>
                <a:cs typeface="Amiri" pitchFamily="2" charset="-78"/>
              </a:rPr>
              <a:t>وَ</a:t>
            </a:r>
            <a:pPr algn="l" indent="0" marL="0">
              <a:buNone/>
            </a:pPr>
            <a:r>
              <a:rPr lang="en-US" sz="2000" b="1" dirty="0">
                <a:solidFill>
                  <a:srgbClr val="1B3B6F"/>
                </a:solidFill>
                <a:latin typeface="Cambria" pitchFamily="34" charset="0"/>
                <a:cs typeface="Amiri" pitchFamily="2" charset="-78"/>
              </a:rPr>
              <a:t>) or to the next hour (</a:t>
            </a:r>
            <a:pPr algn="l" indent="0" marL="0">
              <a:buNone/>
            </a:pPr>
            <a:r>
              <a:rPr lang="ar-SA" altLang="en-US" sz="2600" b="1" dirty="0">
                <a:solidFill>
                  <a:srgbClr val="1B3B6F"/>
                </a:solidFill>
                <a:latin typeface="Amiri" pitchFamily="2" charset="-78"/>
                <a:ea typeface="Amiri" pitchFamily="2" charset="-78"/>
                <a:cs typeface="Amiri" pitchFamily="2" charset="-78"/>
              </a:rPr>
              <a:t>إِلَّا</a:t>
            </a:r>
            <a:pPr algn="l" indent="0" marL="0">
              <a:buNone/>
            </a:pPr>
            <a:r>
              <a:rPr lang="en-US" sz="2000" b="1" dirty="0">
                <a:solidFill>
                  <a:srgbClr val="1B3B6F"/>
                </a:solidFill>
                <a:latin typeface="Cambria" pitchFamily="34" charset="0"/>
                <a:cs typeface="Amiri" pitchFamily="2" charset="-78"/>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How LONG → </a:t>
            </a:r>
            <a:pPr algn="l" indent="0" marL="0">
              <a:buNone/>
            </a:pPr>
            <a:r>
              <a:rPr lang="ar-SA" altLang="en-US" sz="1450" dirty="0">
                <a:solidFill>
                  <a:srgbClr val="1F2A37"/>
                </a:solidFill>
                <a:latin typeface="Amiri" pitchFamily="2" charset="-78"/>
                <a:ea typeface="Amiri" pitchFamily="2" charset="-78"/>
                <a:cs typeface="Amiri" pitchFamily="2" charset="-78"/>
              </a:rPr>
              <a:t>مُدَّةَ</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use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15 minutes after seven uses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يَبْدَأُ</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الدَّوَامُ فِي الثَّامِنَةِ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8:25 → 8 + 25 minutes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يَنْتَهِي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الرَّابِعَةِ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يَسْتَمِرُّ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التَّمْرِينُ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مُدَّةَ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long →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ar-SA" sz="800" b="1" spc="100" kern="0" dirty="0">
                <a:solidFill>
                  <a:srgbClr val="FFFFFF"/>
                </a:solidFill>
                <a:latin typeface="Amiri" pitchFamily="2" charset="-78"/>
                <a:ea typeface="Amiri" pitchFamily="2" charset="-78"/>
                <a:cs typeface="Amiri" pitchFamily="2" charset="-78"/>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ea typeface="Amiri" pitchFamily="2" charset="-78"/>
                <a:cs typeface="Amiri" pitchFamily="2" charset="-78"/>
              </a:rPr>
              <a:t>يَبْدَأُ</a:t>
            </a:r>
            <a:pPr rtl="1" algn="r" indent="0" marL="0">
              <a:buNone/>
            </a:pPr>
            <a:r>
              <a:rPr lang="ar-SA" altLang="en-US" sz="1900" b="1" dirty="0">
                <a:solidFill>
                  <a:srgbClr val="1B3B6F"/>
                </a:solidFill>
                <a:latin typeface="Amiri" pitchFamily="2" charset="-78"/>
                <a:ea typeface="Amiri" pitchFamily="2" charset="-78"/>
                <a:cs typeface="Amiri" pitchFamily="2" charset="-78"/>
              </a:rPr>
              <a:t> الدَّوَامُ فِي الثَّامِنَةِ </a:t>
            </a:r>
            <a:pPr rtl="1" algn="r" indent="0" marL="0">
              <a:buNone/>
            </a:pPr>
            <a:r>
              <a:rPr lang="ar-SA" altLang="en-US" sz="1900" b="1" dirty="0">
                <a:solidFill>
                  <a:srgbClr val="0E7C86"/>
                </a:solidFill>
                <a:latin typeface="Amiri" pitchFamily="2" charset="-78"/>
                <a:ea typeface="Amiri" pitchFamily="2" charset="-78"/>
                <a:cs typeface="Amiri" pitchFamily="2" charset="-78"/>
              </a:rPr>
              <a:t>وَ</a:t>
            </a:r>
            <a:pPr rtl="1" algn="r" indent="0" marL="0">
              <a:buNone/>
            </a:pPr>
            <a:r>
              <a:rPr lang="ar-SA" altLang="en-US" sz="1900" b="1" dirty="0">
                <a:solidFill>
                  <a:srgbClr val="1B3B6F"/>
                </a:solidFill>
                <a:latin typeface="Amiri" pitchFamily="2" charset="-78"/>
                <a:ea typeface="Amiri" pitchFamily="2" charset="-78"/>
                <a:cs typeface="Amiri" pitchFamily="2" charset="-78"/>
              </a:rPr>
              <a:t>خَمْسٍ وَعِشْرِينَ دَقِيقَةً، وَ</a:t>
            </a:r>
            <a:pPr rtl="1" algn="r" indent="0" marL="0">
              <a:buNone/>
            </a:pPr>
            <a:r>
              <a:rPr lang="ar-SA" altLang="en-US" sz="1900" b="1" dirty="0">
                <a:solidFill>
                  <a:srgbClr val="1D5FBF"/>
                </a:solidFill>
                <a:latin typeface="Amiri" pitchFamily="2" charset="-78"/>
                <a:ea typeface="Amiri" pitchFamily="2" charset="-78"/>
                <a:cs typeface="Amiri" pitchFamily="2" charset="-78"/>
              </a:rPr>
              <a:t>يَنْتَهِي</a:t>
            </a:r>
            <a:pPr rtl="1" algn="r" indent="0" marL="0">
              <a:buNone/>
            </a:pPr>
            <a:r>
              <a:rPr lang="ar-SA" altLang="en-US" sz="1900" b="1" dirty="0">
                <a:solidFill>
                  <a:srgbClr val="1B3B6F"/>
                </a:solidFill>
                <a:latin typeface="Amiri" pitchFamily="2" charset="-78"/>
                <a:ea typeface="Amiri" pitchFamily="2" charset="-78"/>
                <a:cs typeface="Amiri" pitchFamily="2" charset="-78"/>
              </a:rPr>
              <a:t> فِي الرَّابِعَةِ </a:t>
            </a:r>
            <a:pPr rtl="1" algn="r" indent="0" marL="0">
              <a:buNone/>
            </a:pPr>
            <a:r>
              <a:rPr lang="ar-SA" altLang="en-US" sz="1900" b="1" dirty="0">
                <a:solidFill>
                  <a:srgbClr val="0E7C86"/>
                </a:solidFill>
                <a:latin typeface="Amiri" pitchFamily="2" charset="-78"/>
                <a:ea typeface="Amiri" pitchFamily="2" charset="-78"/>
                <a:cs typeface="Amiri" pitchFamily="2" charset="-78"/>
              </a:rPr>
              <a:t>إِلَّا</a:t>
            </a:r>
            <a:pPr rtl="1" algn="r" indent="0" marL="0">
              <a:buNone/>
            </a:pPr>
            <a:r>
              <a:rPr lang="ar-SA" altLang="en-US" sz="1900" b="1" dirty="0">
                <a:solidFill>
                  <a:srgbClr val="1B3B6F"/>
                </a:solidFill>
                <a:latin typeface="Amiri" pitchFamily="2" charset="-78"/>
                <a:ea typeface="Amiri" pitchFamily="2" charset="-78"/>
                <a:cs typeface="Amiri" pitchFamily="2" charset="-78"/>
              </a:rPr>
              <a:t> عَشْرَ دَقَائِقَ. </a:t>
            </a:r>
            <a:pPr rtl="1" algn="r" indent="0" marL="0">
              <a:buNone/>
            </a:pPr>
            <a:r>
              <a:rPr lang="ar-SA" altLang="en-US" sz="1900" b="1" dirty="0">
                <a:solidFill>
                  <a:srgbClr val="1D5FBF"/>
                </a:solidFill>
                <a:latin typeface="Amiri" pitchFamily="2" charset="-78"/>
                <a:ea typeface="Amiri" pitchFamily="2" charset="-78"/>
                <a:cs typeface="Amiri" pitchFamily="2" charset="-78"/>
              </a:rPr>
              <a:t>يَسْتَمِرُّ</a:t>
            </a:r>
            <a:pPr rtl="1" algn="r" indent="0" marL="0">
              <a:buNone/>
            </a:pPr>
            <a:r>
              <a:rPr lang="ar-SA" altLang="en-US" sz="1900" b="1" dirty="0">
                <a:solidFill>
                  <a:srgbClr val="1B3B6F"/>
                </a:solidFill>
                <a:latin typeface="Amiri" pitchFamily="2" charset="-78"/>
                <a:ea typeface="Amiri" pitchFamily="2" charset="-78"/>
                <a:cs typeface="Amiri" pitchFamily="2" charset="-78"/>
              </a:rPr>
              <a:t> التَّمْرِينُ </a:t>
            </a:r>
            <a:pPr rtl="1" algn="r" indent="0" marL="0">
              <a:buNone/>
            </a:pPr>
            <a:r>
              <a:rPr lang="ar-SA" altLang="en-US" sz="1900" b="1" dirty="0">
                <a:solidFill>
                  <a:srgbClr val="D6336C"/>
                </a:solidFill>
                <a:latin typeface="Amiri" pitchFamily="2" charset="-78"/>
                <a:ea typeface="Amiri" pitchFamily="2" charset="-78"/>
                <a:cs typeface="Amiri" pitchFamily="2" charset="-78"/>
              </a:rPr>
              <a:t>مُدَّةَ</a:t>
            </a:r>
            <a:pPr rtl="1" algn="r" indent="0" marL="0">
              <a:buNone/>
            </a:pPr>
            <a:r>
              <a:rPr lang="ar-SA" altLang="en-US" sz="1900" b="1" dirty="0">
                <a:solidFill>
                  <a:srgbClr val="1B3B6F"/>
                </a:solidFill>
                <a:latin typeface="Amiri" pitchFamily="2" charset="-78"/>
                <a:ea typeface="Amiri" pitchFamily="2" charset="-78"/>
                <a:cs typeface="Amiri" pitchFamily="2" charset="-78"/>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day starts at 8:25.</a:t>
            </a:r>
            <a:endParaRPr lang="en-US" sz="1250" dirty="0"/>
          </a:p>
          <a:p>
            <a:pPr indent="0" marL="0">
              <a:buNone/>
            </a:pPr>
            <a:r>
              <a:rPr lang="en-US" sz="1050" i="1" dirty="0">
                <a:solidFill>
                  <a:srgbClr val="8A6D1E"/>
                </a:solidFill>
                <a:latin typeface="Calibri" pitchFamily="34" charset="0"/>
                <a:cs typeface="Amiri" pitchFamily="2" charset="-78"/>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ends at 3:50.</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appointment is at 16:00.</a:t>
            </a:r>
            <a:endParaRPr lang="en-US" sz="1250" dirty="0"/>
          </a:p>
          <a:p>
            <a:pPr indent="0" marL="0">
              <a:buNone/>
            </a:pPr>
            <a:r>
              <a:rPr lang="en-US" sz="1050" i="1" dirty="0">
                <a:solidFill>
                  <a:srgbClr val="8A6D1E"/>
                </a:solidFill>
                <a:latin typeface="Calibri" pitchFamily="34" charset="0"/>
                <a:cs typeface="Amiri" pitchFamily="2" charset="-78"/>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Training lasts 45 minutes.</a:t>
            </a:r>
            <a:endParaRPr lang="en-US" sz="1250" dirty="0"/>
          </a:p>
          <a:p>
            <a:pPr indent="0" marL="0">
              <a:buNone/>
            </a:pPr>
            <a:r>
              <a:rPr lang="en-US" sz="1050" i="1" dirty="0">
                <a:solidFill>
                  <a:srgbClr val="8A6D1E"/>
                </a:solidFill>
                <a:latin typeface="Calibri" pitchFamily="34" charset="0"/>
                <a:cs typeface="Amiri" pitchFamily="2" charset="-78"/>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“CALENDAR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Match the calendar to the sentence</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Mon 14 Sept</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Thu 1 Oct</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4"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Thu</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الْخَمِيسُ، الأَوَّلُ مِنْ أُكْتُوبَرَ.</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الدِّرَاسِيُّ مِنَ الأَحَدِ إِلَى الْخَمِيسِ.</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الِاثْنَيْنِ، الرَّابِعَ عَشَرَ مِنْ سِبْتَمْبَرَ.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Mon 14 Sept</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اَلْيَوْمُ الِاثْنَيْنِ، الرَّابِعَ عَشَرَ مِنْ سِبْتَمْبَرَ.</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Today is Monday, the fourteenth of September.</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Thu 1 Oct</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اَلْيَوْمُ الْخَمِيسُ، الأَوَّلُ مِنْ أُكْتُوبَرَ.</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Today is Thursday, the first of October.</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4"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Thu</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اَلْأُسْبُوعُ الدِّرَاسِيُّ مِنَ الأَحَدِ إِلَى الْخَمِيسِ.</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school week is from Sunday to Thursday.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مُدَّةَ سَاعَةٍ</a:t>
            </a:r>
            <a:pPr algn="l" indent="0" marL="0">
              <a:buNone/>
            </a:pPr>
            <a:r>
              <a:rPr lang="en-US" sz="1050" i="1" dirty="0">
                <a:solidFill>
                  <a:srgbClr val="8A6D1E"/>
                </a:solidFill>
                <a:latin typeface="Calibri" pitchFamily="34" charset="0"/>
                <a:cs typeface="Amiri" pitchFamily="2" charset="-78"/>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5:45 which hour do you name with </a:t>
            </a:r>
            <a:pPr algn="l" indent="0" marL="0">
              <a:buNone/>
            </a:pPr>
            <a:r>
              <a:rPr lang="ar-SA" altLang="en-US" sz="1700" dirty="0">
                <a:solidFill>
                  <a:srgbClr val="5A6472"/>
                </a:solidFill>
                <a:latin typeface="Amiri" pitchFamily="2" charset="-78"/>
                <a:ea typeface="Amiri" pitchFamily="2" charset="-78"/>
                <a:cs typeface="Amiri" pitchFamily="2" charset="-78"/>
              </a:rPr>
              <a:t>إِلَّا</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ea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Minutes after the hour use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مُدَّةَ</a:t>
            </a:r>
            <a:pPr algn="l" indent="0" marL="0">
              <a:buNone/>
            </a:pPr>
            <a:r>
              <a:rPr lang="en-US" sz="1150" b="1" dirty="0">
                <a:solidFill>
                  <a:srgbClr val="1B3B6F"/>
                </a:solidFill>
                <a:latin typeface="Calibri" pitchFamily="34" charset="0"/>
                <a:cs typeface="Amiri" pitchFamily="2" charset="-78"/>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Calendar and time bingo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Calendar and time bingo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Listen for days, dates, months and clock times, mark the matching square, then create two clues of your own using complete Arabic time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Students draw a 3×3 grid and write 9 items: days, months, times.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8 time or date expressions aloud (list in the notes).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Tick a square you hear. Three in a row: type “BINGO” in the chat.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Winner reads the line back. Everyone writes 2 clues of their own.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Grid of days only. Clue: a day + a time — e.g. yawm al-ithnayn, as-sā‘a ath-thāmina.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days, months and times. Two clues with a full date.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Clues with minutes past/to and a school-week fact (from … to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يَوْمَ الأَحَدِ</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Sunday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شَهْرِ مَايُو</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السَّاعَةُ الثَّامِنَةُ وَالنِّصْفُ</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half past eight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 إِلَى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from …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timetable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مَتَى تَخْرُجُ مِنَ البَيْتِ؟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يَوْمُكَ الدِّرَاسِيُّ وَمَتَى يَنْتَهِي؟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جَدْوَلَكَ فِي يَوْمٍ مُزْدَحِمٍ.</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أَطْوَلُ نَشَاطٍ فِي أُسْبُوعِكَ؟ وَكَمْ يَسْتَمِرُّ؟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أَسْتَيْقِظُ فِي السَّاعَةِ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 فِي ___ وَيَنْتَهِي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يَسْتَمِرُّ … مُدَّةَ ___ ، وَأُفَضِّلُ … لِأَنَّ ___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يَوْمُهُ / يَوْمُهَا فِي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يَبْدَأُ التَّمْرِينُ؟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training begin?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يَبْدَأُ فِي السَّادِسَةِ إِلَّا الرُّبْعَ وَيَسْتَمِرُّ مُدَّةَ سَاعَةٍ وَالنِّصْفِ. أُفَضِّلُ هٰذَا الوَقْتَ لِأَنَّنِي أُنْهِي وَاجِبِي قَبْلَهُ.</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begins at quarter to six and lasts an hour and a half. I prefer this time because I finish my homework before it.</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both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إِلَّا</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يَبْدَأُ</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يَنْتَهِي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يَسْتَمِرُّ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half past, I named the NEXT hour with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begins (</a:t>
            </a:r>
            <a:pPr algn="l" indent="0" marL="0">
              <a:buNone/>
            </a:pPr>
            <a:r>
              <a:rPr lang="ar-SA" altLang="en-US" sz="1700" dirty="0">
                <a:solidFill>
                  <a:srgbClr val="1F2A37"/>
                </a:solidFill>
                <a:latin typeface="Amiri" pitchFamily="2" charset="-78"/>
                <a:ea typeface="Amiri" pitchFamily="2" charset="-78"/>
                <a:cs typeface="Amiri" pitchFamily="2" charset="-78"/>
              </a:rPr>
              <a:t>يَبْدَأُ</a:t>
            </a:r>
            <a:pPr algn="l" indent="0" marL="0">
              <a:buNone/>
            </a:pPr>
            <a:r>
              <a:rPr lang="en-US" sz="1300" dirty="0">
                <a:solidFill>
                  <a:srgbClr val="1F2A37"/>
                </a:solidFill>
                <a:latin typeface="Calibri" pitchFamily="34" charset="0"/>
                <a:cs typeface="Amiri" pitchFamily="2" charset="-78"/>
              </a:rPr>
              <a:t>) and ends (</a:t>
            </a:r>
            <a:pPr algn="l" indent="0" marL="0">
              <a:buNone/>
            </a:pPr>
            <a:r>
              <a:rPr lang="ar-SA" altLang="en-US" sz="1700" dirty="0">
                <a:solidFill>
                  <a:srgbClr val="1F2A37"/>
                </a:solidFill>
                <a:latin typeface="Amiri" pitchFamily="2" charset="-78"/>
                <a:ea typeface="Amiri" pitchFamily="2" charset="-78"/>
                <a:cs typeface="Amiri" pitchFamily="2" charset="-78"/>
              </a:rPr>
              <a:t>يَنْتَهِي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24-hour time and duration (</a:t>
            </a:r>
            <a:pPr algn="l" indent="0" marL="0">
              <a:buNone/>
            </a:pPr>
            <a:r>
              <a:rPr lang="ar-SA" altLang="en-US" sz="1700" dirty="0">
                <a:solidFill>
                  <a:srgbClr val="1F2A37"/>
                </a:solidFill>
                <a:latin typeface="Amiri" pitchFamily="2" charset="-78"/>
                <a:ea typeface="Amiri" pitchFamily="2" charset="-78"/>
                <a:cs typeface="Amiri" pitchFamily="2" charset="-78"/>
              </a:rPr>
              <a:t>مُدَّةَ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دَوْرَةُ الخَطِّ</a:t>
            </a:r>
            <a:pPr algn="l" indent="0" marL="0">
              <a:buNone/>
            </a:pPr>
            <a:r>
              <a:rPr lang="en-US" sz="1050" i="1" dirty="0">
                <a:solidFill>
                  <a:srgbClr val="8A6D1E"/>
                </a:solidFill>
                <a:latin typeface="Calibri" pitchFamily="34" charset="0"/>
                <a:cs typeface="Amiri" pitchFamily="2" charset="-78"/>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quarter past, keep the current hour and add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24-hour timetable may state the numbered hour directly: </a:t>
            </a:r>
            <a:pPr algn="l" indent="0" marL="0">
              <a:buNone/>
            </a:pPr>
            <a:r>
              <a:rPr lang="ar-SA" altLang="en-US" sz="1350" dirty="0">
                <a:solidFill>
                  <a:srgbClr val="8A6D1E"/>
                </a:solidFill>
                <a:latin typeface="Amiri" pitchFamily="2" charset="-78"/>
                <a:ea typeface="Amiri" pitchFamily="2" charset="-78"/>
                <a:cs typeface="Amiri" pitchFamily="2" charset="-78"/>
              </a:rPr>
              <a:t>الرَّابِعَةَ عَشْرَةَ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Duration is expressed with </a:t>
            </a:r>
            <a:pPr algn="l" indent="0" marL="0">
              <a:buNone/>
            </a:pPr>
            <a:r>
              <a:rPr lang="ar-SA" altLang="en-US" sz="1350" dirty="0">
                <a:solidFill>
                  <a:srgbClr val="8A6D1E"/>
                </a:solidFill>
                <a:latin typeface="Amiri" pitchFamily="2" charset="-78"/>
                <a:ea typeface="Amiri" pitchFamily="2" charset="-78"/>
                <a:cs typeface="Amiri" pitchFamily="2" charset="-78"/>
              </a:rPr>
              <a:t>يَسْتَمِرُّ مُدَّةَ</a:t>
            </a:r>
            <a:pPr algn="l" indent="0" marL="0">
              <a:buNone/>
            </a:pPr>
            <a:r>
              <a:rPr lang="en-US" sz="1050" i="1" dirty="0">
                <a:solidFill>
                  <a:srgbClr val="8A6D1E"/>
                </a:solidFill>
                <a:latin typeface="Calibri" pitchFamily="34" charset="0"/>
                <a:cs typeface="Amiri" pitchFamily="2" charset="-78"/>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 means “finishes”; </a:t>
            </a:r>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asks for the start and </a:t>
            </a:r>
            <a:pPr algn="l" indent="0" marL="0">
              <a:buNone/>
            </a:pPr>
            <a:r>
              <a:rPr lang="ar-SA" altLang="en-US" sz="1350" dirty="0">
                <a:solidFill>
                  <a:srgbClr val="8A6D1E"/>
                </a:solidFill>
                <a:latin typeface="Amiri" pitchFamily="2" charset="-78"/>
                <a:ea typeface="Amiri" pitchFamily="2" charset="-78"/>
                <a:cs typeface="Amiri" pitchFamily="2" charset="-78"/>
              </a:rPr>
              <a:t>مُدَّة</a:t>
            </a:r>
            <a:pPr algn="l" indent="0" marL="0">
              <a:buNone/>
            </a:pPr>
            <a:r>
              <a:rPr lang="en-US" sz="1050" i="1" dirty="0">
                <a:solidFill>
                  <a:srgbClr val="8A6D1E"/>
                </a:solidFill>
                <a:latin typeface="Calibri" pitchFamily="34" charset="0"/>
                <a:cs typeface="Amiri" pitchFamily="2" charset="-78"/>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الخَامِسَةُ إِلَّا الرُّبْعَ</a:t>
            </a:r>
            <a:pPr algn="l" indent="0" marL="0">
              <a:buNone/>
            </a:pPr>
            <a:r>
              <a:rPr lang="en-US" sz="1050" i="1" dirty="0">
                <a:solidFill>
                  <a:srgbClr val="8A6D1E"/>
                </a:solidFill>
                <a:latin typeface="Calibri" pitchFamily="34" charset="0"/>
                <a:cs typeface="Amiri" pitchFamily="2" charset="-78"/>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AT-A-L03: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AT-A-L03 · Frequency, Sequencing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busy day</a:t>
            </a:r>
            <a:pPr indent="0" marL="0">
              <a:buNone/>
            </a:pPr>
            <a:r>
              <a:rPr lang="ar-SA" sz="1000" i="1" dirty="0">
                <a:solidFill>
                  <a:srgbClr val="5A6472"/>
                </a:solidFill>
                <a:latin typeface="Calibri" pitchFamily="34" charset="0"/>
                <a:ea typeface="Amiri" pitchFamily="2" charset="-78"/>
                <a:cs typeface="Amiri" pitchFamily="2" charset="-78"/>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AT-A-L03 · Frequency, Sequencing and Communication</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التَّوَاتُرُ وَالتَّرْتِيبُ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وَ</a:t>
            </a:r>
            <a:pPr algn="l" indent="0" marL="0">
              <a:buNone/>
            </a:pPr>
            <a:r>
              <a:rPr lang="en-US" sz="1300" b="1" dirty="0">
                <a:solidFill>
                  <a:srgbClr val="FFFFFF"/>
                </a:solidFill>
                <a:latin typeface="Calibri" pitchFamily="34" charset="0"/>
                <a:cs typeface="Amiri" pitchFamily="2" charset="-78"/>
              </a:rPr>
              <a:t> = past · </a:t>
            </a:r>
            <a:pPr algn="l" indent="0" marL="0">
              <a:buNone/>
            </a:pPr>
            <a:r>
              <a:rPr lang="ar-SA" altLang="en-US" sz="1700" b="1" dirty="0">
                <a:solidFill>
                  <a:srgbClr val="FFFFFF"/>
                </a:solidFill>
                <a:latin typeface="Amiri" pitchFamily="2" charset="-78"/>
                <a:ea typeface="Amiri" pitchFamily="2" charset="-78"/>
                <a:cs typeface="Amiri" pitchFamily="2" charset="-78"/>
              </a:rPr>
              <a:t>إِلَّا</a:t>
            </a:r>
            <a:pPr algn="l" indent="0" marL="0">
              <a:buNone/>
            </a:pPr>
            <a:r>
              <a:rPr lang="en-US" sz="1300" b="1" dirty="0">
                <a:solidFill>
                  <a:srgbClr val="FFFFFF"/>
                </a:solidFill>
                <a:latin typeface="Calibri" pitchFamily="34" charset="0"/>
                <a:cs typeface="Amiri" pitchFamily="2" charset="-78"/>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Calendar, Dates and the School Week</dc:title>
  <dc:subject>PptxGenJS Presentation</dc:subject>
  <dc:creator>Al Madina Online School · Arabic Department</dc:creator>
  <cp:lastModifiedBy>Al Madina Online School · Arabic Department</cp:lastModifiedBy>
  <cp:revision>1</cp:revision>
  <dcterms:created xsi:type="dcterms:W3CDTF">2026-10-11T06:43:40Z</dcterms:created>
  <dcterms:modified xsi:type="dcterms:W3CDTF">2026-10-11T06:43:40Z</dcterms:modified>
</cp:coreProperties>
</file>