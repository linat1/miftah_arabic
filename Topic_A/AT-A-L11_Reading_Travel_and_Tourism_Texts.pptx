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AT-A-L11 — Reading — Travel and Tourism Texts. Website: Advanced Topics › Topic A (Everyday Activities) › Lesson 11.
The website builds this lesson on the P3-L08 lesson engine, with the Topic focus “Read travel and tourism texts, identify details and infer meaning using contextual evidence.” (grammar: Reading inference; vocabulary in context; time frames; skills: Speaking · Writing) and the application challenge “Travel evidence hunt”.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11 (AT-A-L11), lesson engine Pathways › Progression › P3 › AT-A-L11.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reading إِذَا (real) and لَوْ (not real) conditionals as a clue to the writer’s attitude. For this class: Core reads a short teacher-written travel account and hunts for evidence (place, time, transport, opinion, problem); Develop adds the inference question and “if” sentences (إِذَا … سَـ); Stretch reads the website opinion text and names the writer’s attitude from لَوْ.
• Main You Do = reading (Topic A text), then the evidence-hunt challenge, then a short writing task (6 min). The website listening (a talk about conditionals) is FLEX.
• Topic A links: the travel text recycles transport (AT-A-L09), health (AT-A-L07), food (AT-A-L04) and time (AT-A-L02).
• Urdu bridge: سیاح / سیاحت، ہوٹل (English) / فُنْدُقٌ، نقشہ (Persian) / خَرِيطَةٌ، ساحل.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strategy words prepared at home. Questions 3–4 retrieve AT-A-L09 (transport) and AT-A-L10 (distractors). Question 5 previews today’s time-frame check.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answer needs evidence: find the exact Arabic words. Check the time frame: past (safartu), now (usāfiru) or future (sa-usāfiru).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ساحل and سفر are shared. CAREFUL: Urdu uses نقشہ (Persian) for a map and ہوٹل (English) for a hotel — Arabic has خَرِيطَةٌ and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(1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(2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and analysis (website vocabulary (1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verbs and analysis (website vocabulary (2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KEY WORDS — travel nouns from the website AT-A-L11 visual game (السُّيَّاحُ، المَعَالِمُ، الشَّوَاطِئُ، الفَنَادِقُ، الخَرَائِطُ، رِحْلَاتٌ). These are CORE today; the website’s text-type and analysis words (groups 1–3) are FLEX for Stretch. Broken plurals: say singular → plural as a chant (funduq – fanādiq).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“Classify by particle” (إِذَا real · لَوْ hypothetical), “Match the result marker” (إِذَا … سَـ · لَوْ … لَـ) and the website table. Row 1 uses the Petra text so Core meets إِذَا in context.
English: If you visit Petra, you will love it. · If the visits had been organised, it would have been better. · If you book early, you will save. · If you had booked early, you would have saved.
Website common error: reading a لَوْ sentence as a genuine recommendation, or using سَـ after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Topic A page lists “reading inference; vocabulary in context; time frames”. The three moves:
• FIND: the answer is the exact Arabic words (website success criterion: “I locate the exact phrase that proves each answer”).
• INFER: join two clues to reach an idea the text does not say — the website “infer one unstated meaning from context”.
• TIME FRAME: past verbs (سَافَرْتُ، رَكِبْنَا) vs. present / future advice (إِذَا زُرْتَ … سَتُحِبُّهَا · خُذْ). Links to AT-A-L10 distractors (“usually” vs. “today”).
Stretch: website rule “Reading verbs” — يَدُلُّ عَلَى (indicates), يَكْشِفُ عَنْ (reveals).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evidence hunt on the Topic A text before students read it in full: question → key word → scan → check the distractor (AT-A-L10) → answer + evidence. Students copy the four-line answer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FLEX — Develop / Stretch: all 5.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(3 min read + 4 min questions + 2 min answers). Teacher-written A2 travel account for the Topic A evidence hunt (it recycles AT-A-L02 time, AT-A-L04 food, AT-A-L07 health and AT-A-L09 transport). Every question is labelled with the detail type the website challenge names: place, time, transport, opinion, problem — and one INFERENCE.
TIME FRAMES (Topic A grammar): the story is in the past (سَافَرْتُ، وَصَلْنَا، رَكِبْنَا، مَشَيْنَا); the last sentence switches to advice for the future (إِذَا زُرْتَ … سَتُحِبُّهَا · خُذْ …). Ask: which sentence is not about the past?
Core: questions 1–4 with the glossary. Develop: all 6. Stretch: the website opinion text (extension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“Scan a travel text for place, time, transport, opinion and problem details, then infer one unstated meaning from context and justify it.”
Website Topic A challenge “Travel evidence hunt”. Model table: المَكَانُ = الأُرْدُنُّ / البَتْرَاءُ · الزَّمَانُ = فِي الصَّيْفِ المَاضِي، ثَلَاثَ سَاعَاتٍ · النَّقْلُ = بِالطَّائِرَةِ، الحَافِلَةَ · الرَّأْيُ = سَتُحِبُّهَا · المُشْكِلَةُ = الجَوُّ حَارٌّ، نَسِيَ قُبَّعَتَهُ، صُدَاعٌ. Inference ideas: the family is not from Jordan (they flew there); they were tired (a long day walking in the heat); Petra is far from Amman (three hours by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Prompts 1–2 are teacher-made on the Topic A text; prompts 3–4 are the website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model for the STRETCH task (analysing the website opinion text). Core and Develop compare their Petra answers with the reading answer slide instead.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(AT-A-L12 · Topic A Review and Assessment) will spend class time USING this language, so students prepare it tonight — short, simple, easy to access (school guidance: “Simple, Short, Interesting, Relevant, Easy to access”). The five “words” are the five highest-value Topic A structures for the AT-A-L12 review and assessment (one from each key subtopic).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travel and tourism texts, identify details and infer meaning using contextual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Travel words, then “if” (real) and “if only” (not real), then how to find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conditionals, fix the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detail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focus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travel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Usually by bus, but today on foot. How does he go TODAY?</a:t>
            </a:r>
            <a:endParaRPr lang="en-US" sz="9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عَادَةً بِالحَافِلَةِ، وَلٰكِنْ اليَوْمَ مَشْيًا.</a:t>
            </a:r>
            <a:endParaRPr lang="ar-SA" sz="10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in the PAST?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سَأُسَافِرُ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detail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predict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focus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travel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أَذْهَبُ 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Usually by bus, but today on foot. How does he go TODAY?</a:t>
            </a:r>
            <a:endParaRPr lang="en-US" sz="9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عَادَةً بِالحَافِلَةِ، وَلٰكِنْ اليَوْمَ مَشْيًا.</a:t>
            </a:r>
            <a:endParaRPr lang="ar-SA" sz="10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AT-A-L10: the distractor is “usually”.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in the PAST?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سَأُسَافِرُ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frames — needed today.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Every answer needs evidence: find the exact Arabic words. Check the time frame: past (safartu), now (usāfiru) or future (sa-usāfiru).</a:t>
            </a:r>
            <a:endParaRPr lang="en-US" sz="10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سَافَرْتُ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أُسَافِرُ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أُسَافِرُ</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comprehension questions on travel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a conditional as real (</a:t>
            </a:r>
            <a:pPr algn="l" indent="0" marL="0">
              <a:buNone/>
            </a:pPr>
            <a:r>
              <a:rPr lang="ar-SA" altLang="en-US" sz="1700" dirty="0">
                <a:solidFill>
                  <a:srgbClr val="1F2A37"/>
                </a:solidFill>
                <a:latin typeface="Amiri" pitchFamily="2" charset="-78"/>
                <a:ea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or hypothetical (</a:t>
            </a:r>
            <a:pPr algn="l" indent="0" marL="0">
              <a:buNone/>
            </a:pPr>
            <a:r>
              <a:rPr lang="ar-SA" altLang="en-US" sz="1700" dirty="0">
                <a:solidFill>
                  <a:srgbClr val="1F2A37"/>
                </a:solidFill>
                <a:latin typeface="Amiri" pitchFamily="2" charset="-78"/>
                <a:ea typeface="Amiri" pitchFamily="2" charset="-78"/>
                <a:cs typeface="Amiri" pitchFamily="2" charset="-78"/>
              </a:rPr>
              <a:t>لَوْ</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Infer the writer's attitude from the conditional type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correct result marker (</a:t>
            </a:r>
            <a:pPr algn="l" indent="0" marL="0">
              <a:buNone/>
            </a:pPr>
            <a:r>
              <a:rPr lang="ar-SA" altLang="en-US" sz="1700" dirty="0">
                <a:solidFill>
                  <a:srgbClr val="1F2A37"/>
                </a:solidFill>
                <a:latin typeface="Amiri" pitchFamily="2" charset="-78"/>
                <a:ea typeface="Amiri" pitchFamily="2" charset="-78"/>
                <a:cs typeface="Amiri" pitchFamily="2" charset="-78"/>
              </a:rPr>
              <a:t>سَـ / لَـ</a:t>
            </a:r>
            <a:pPr algn="l" indent="0" marL="0">
              <a:buNone/>
            </a:pPr>
            <a:r>
              <a:rPr lang="en-US" sz="1300" dirty="0">
                <a:solidFill>
                  <a:srgbClr val="1F2A37"/>
                </a:solidFill>
                <a:latin typeface="Calibri" pitchFamily="34" charset="0"/>
                <a:cs typeface="Amiri" pitchFamily="2" charset="-78"/>
              </a:rPr>
              <a:t>) in a gap.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place, time and transport in a travel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copy the Arabic evidence for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work out one meaning that is not stated (inference).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real “if” (idhā) from an “if only” (law).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“law” shows about the writer’s attitude.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state the purpose of a text.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reading-analysis words from the website (FLEX, for Stretch) + 6 Topic A travel words (CORE).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سَائِحٌ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‎سیاح‎ </a:t>
            </a:r>
            <a:pPr indent="0" marL="0">
              <a:buNone/>
            </a:pPr>
            <a:r>
              <a:rPr lang="ar-SA" sz="950" b="1" dirty="0">
                <a:solidFill>
                  <a:srgbClr val="2E8B57"/>
                </a:solidFill>
                <a:latin typeface="Calibri" pitchFamily="34" charset="0"/>
                <a:ea typeface="Amiri" pitchFamily="2" charset="-78"/>
                <a:cs typeface="Amiri" pitchFamily="2" charset="-78"/>
              </a:rPr>
              <a:t> sā’iḥ · a tourist (Urdu: سیاحت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‎ساحل‎ </a:t>
            </a:r>
            <a:pPr indent="0" marL="0">
              <a:buNone/>
            </a:pPr>
            <a:r>
              <a:rPr lang="en-US" sz="950" b="1" dirty="0">
                <a:solidFill>
                  <a:srgbClr val="2E8B57"/>
                </a:solidFill>
                <a:latin typeface="Calibri" pitchFamily="34" charset="0"/>
                <a:cs typeface="Amiri" pitchFamily="2" charset="-78"/>
              </a:rPr>
              <a:t> sāḥil · coast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خَرِيطَةٌ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‎نقشہ‎ </a:t>
            </a:r>
            <a:pPr indent="0" marL="0">
              <a:buNone/>
            </a:pPr>
            <a:r>
              <a:rPr lang="en-US" sz="950" b="1" dirty="0">
                <a:solidFill>
                  <a:srgbClr val="2E8B57"/>
                </a:solidFill>
                <a:latin typeface="Calibri" pitchFamily="34" charset="0"/>
                <a:cs typeface="Amiri" pitchFamily="2" charset="-78"/>
              </a:rPr>
              <a:t> kharīṭa · map (not cognate)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فُنْدُقٌ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‎ہوٹل‎ </a:t>
            </a:r>
            <a:pPr indent="0" marL="0">
              <a:buNone/>
            </a:pPr>
            <a:r>
              <a:rPr lang="en-US" sz="950" b="1" dirty="0">
                <a:solidFill>
                  <a:srgbClr val="2E8B57"/>
                </a:solidFill>
                <a:latin typeface="Calibri" pitchFamily="34" charset="0"/>
                <a:cs typeface="Amiri" pitchFamily="2" charset="-78"/>
              </a:rPr>
              <a:t> funduq · hotel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text</a:t>
            </a:r>
            <a:endParaRPr lang="en-US" sz="1350" dirty="0"/>
          </a:p>
          <a:p>
            <a:pPr indent="0" marL="0">
              <a:buNone/>
            </a:pPr>
            <a:r>
              <a:rPr lang="en-US" sz="1100" i="1" dirty="0">
                <a:solidFill>
                  <a:srgbClr val="5A6472"/>
                </a:solidFill>
                <a:latin typeface="Calibri" pitchFamily="34" charset="0"/>
                <a:cs typeface="Amiri" pitchFamily="2" charset="-78"/>
              </a:rPr>
              <a:t>naṣ-ṣun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 سَفَرٍ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 report</a:t>
            </a:r>
            <a:endParaRPr lang="en-US" sz="1350" dirty="0"/>
          </a:p>
          <a:p>
            <a:pPr indent="0" marL="0">
              <a:buNone/>
            </a:pPr>
            <a:r>
              <a:rPr lang="en-US" sz="1100" i="1" dirty="0">
                <a:solidFill>
                  <a:srgbClr val="5A6472"/>
                </a:solidFill>
                <a:latin typeface="Calibri" pitchFamily="34" charset="0"/>
                <a:cs typeface="Amiri" pitchFamily="2" charset="-78"/>
              </a:rPr>
              <a:t>taq-rī-ru sa-fa-rin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فُنْدُقٍ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 review</a:t>
            </a:r>
            <a:endParaRPr lang="en-US" sz="1350" dirty="0"/>
          </a:p>
          <a:p>
            <a:pPr indent="0" marL="0">
              <a:buNone/>
            </a:pPr>
            <a:r>
              <a:rPr lang="en-US" sz="1100" i="1" dirty="0">
                <a:solidFill>
                  <a:srgbClr val="5A6472"/>
                </a:solidFill>
                <a:latin typeface="Calibri" pitchFamily="34" charset="0"/>
                <a:cs typeface="Amiri" pitchFamily="2" charset="-78"/>
              </a:rPr>
              <a:t>mu-rā-ja-ʿa-tu fun-du-qin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سِيَاحِيٌّ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مَنْشُورٌ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brochure</a:t>
            </a:r>
            <a:endParaRPr lang="en-US" sz="1350" dirty="0"/>
          </a:p>
          <a:p>
            <a:pPr indent="0" marL="0">
              <a:buNone/>
            </a:pPr>
            <a:r>
              <a:rPr lang="en-US" sz="1100" i="1" dirty="0">
                <a:solidFill>
                  <a:srgbClr val="5A6472"/>
                </a:solidFill>
                <a:latin typeface="Calibri" pitchFamily="34" charset="0"/>
                <a:cs typeface="Amiri" pitchFamily="2" charset="-78"/>
              </a:rPr>
              <a:t>man-shū-run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مُؤَلِّفُ النَّصِّ</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text's author</a:t>
            </a:r>
            <a:endParaRPr lang="en-US" sz="1350" dirty="0"/>
          </a:p>
          <a:p>
            <a:pPr indent="0" marL="0">
              <a:buNone/>
            </a:pPr>
            <a:r>
              <a:rPr lang="en-US" sz="1100" i="1" dirty="0">
                <a:solidFill>
                  <a:srgbClr val="5A6472"/>
                </a:solidFill>
                <a:latin typeface="Calibri" pitchFamily="34" charset="0"/>
                <a:cs typeface="Amiri" pitchFamily="2" charset="-78"/>
              </a:rPr>
              <a:t>mu-ʾal-li-fu an-naṣ-ṣi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الغَرَضُ مِنَ الكِتَابَةِ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writing</a:t>
            </a:r>
            <a:endParaRPr lang="en-US" sz="1350" dirty="0"/>
          </a:p>
          <a:p>
            <a:pPr indent="0" marL="0">
              <a:buNone/>
            </a:pPr>
            <a:r>
              <a:rPr lang="en-US" sz="1100" i="1" dirty="0">
                <a:solidFill>
                  <a:srgbClr val="5A6472"/>
                </a:solidFill>
                <a:latin typeface="Calibri" pitchFamily="34" charset="0"/>
                <a:cs typeface="Amiri" pitchFamily="2" charset="-78"/>
              </a:rPr>
              <a:t>al-gha-ra-ḍu mi-na al-ki-tā-ba-ti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السِّيَاقُ اللُّغَوِيُّ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linguistic context</a:t>
            </a:r>
            <a:endParaRPr lang="en-US" sz="1350" dirty="0"/>
          </a:p>
          <a:p>
            <a:pPr indent="0" marL="0">
              <a:buNone/>
            </a:pPr>
            <a:r>
              <a:rPr lang="en-US" sz="1100" i="1" dirty="0">
                <a:solidFill>
                  <a:srgbClr val="5A6472"/>
                </a:solidFill>
                <a:latin typeface="Calibri" pitchFamily="34" charset="0"/>
                <a:cs typeface="Amiri" pitchFamily="2" charset="-78"/>
              </a:rPr>
              <a:t>as-si-yā-qu all-lu-gha-wiy-yu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إِذَا.</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لَوْ.</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افْتِرَاضِيٌّ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 الكَاتِبِ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attitude</a:t>
            </a:r>
            <a:endParaRPr lang="en-US" sz="1350" dirty="0"/>
          </a:p>
          <a:p>
            <a:pPr indent="0" marL="0">
              <a:buNone/>
            </a:pPr>
            <a:r>
              <a:rPr lang="en-US" sz="1100" i="1" dirty="0">
                <a:solidFill>
                  <a:srgbClr val="5A6472"/>
                </a:solidFill>
                <a:latin typeface="Calibri" pitchFamily="34" charset="0"/>
                <a:cs typeface="Amiri" pitchFamily="2" charset="-78"/>
              </a:rPr>
              <a:t>maw-qi-fu al-kā-ti-bi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real possibility)</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counterfactual)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result marker</a:t>
            </a:r>
            <a:endParaRPr lang="en-US" sz="1350" dirty="0"/>
          </a:p>
          <a:p>
            <a:pPr indent="0" marL="0">
              <a:buNone/>
            </a:pPr>
            <a:r>
              <a:rPr lang="en-US" sz="1100" i="1" dirty="0">
                <a:solidFill>
                  <a:srgbClr val="5A6472"/>
                </a:solidFill>
                <a:latin typeface="Calibri" pitchFamily="34" charset="0"/>
                <a:cs typeface="Amiri" pitchFamily="2" charset="-78"/>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 ضِمْنِيٌّ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implicit criticism</a:t>
            </a:r>
            <a:endParaRPr lang="en-US" sz="1350" dirty="0"/>
          </a:p>
          <a:p>
            <a:pPr indent="0" marL="0">
              <a:buNone/>
            </a:pPr>
            <a:r>
              <a:rPr lang="en-US" sz="1100" i="1" dirty="0">
                <a:solidFill>
                  <a:srgbClr val="5A6472"/>
                </a:solidFill>
                <a:latin typeface="Calibri" pitchFamily="34" charset="0"/>
                <a:cs typeface="Amiri" pitchFamily="2" charset="-78"/>
              </a:rPr>
              <a:t>naq-dun ḍim-niy-yun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 direct object.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يُمَيِّزُ 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عَلَى.</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يَدُلُّ عَلَى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a:t>
            </a:r>
            <a:endParaRPr lang="en-US" sz="1350" dirty="0"/>
          </a:p>
          <a:p>
            <a:pPr indent="0" marL="0">
              <a:buNone/>
            </a:pPr>
            <a:r>
              <a:rPr lang="en-US" sz="1100" i="1" dirty="0">
                <a:solidFill>
                  <a:srgbClr val="5A6472"/>
                </a:solidFill>
                <a:latin typeface="Calibri" pitchFamily="34" charset="0"/>
                <a:cs typeface="Amiri" pitchFamily="2" charset="-78"/>
              </a:rPr>
              <a:t>ya-dul-lu ʿa-lā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عَنْ.</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يَكْشِفُ عَنْ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reveals</a:t>
            </a:r>
            <a:endParaRPr lang="en-US" sz="1350" dirty="0"/>
          </a:p>
          <a:p>
            <a:pPr indent="0" marL="0">
              <a:buNone/>
            </a:pPr>
            <a:r>
              <a:rPr lang="en-US" sz="1100" i="1" dirty="0">
                <a:solidFill>
                  <a:srgbClr val="5A6472"/>
                </a:solidFill>
                <a:latin typeface="Calibri" pitchFamily="34" charset="0"/>
                <a:cs typeface="Amiri" pitchFamily="2" charset="-78"/>
              </a:rPr>
              <a:t>yak-shi-fu ʿan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يَقْتَرِحُ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suggests</a:t>
            </a:r>
            <a:endParaRPr lang="en-US" sz="1350" dirty="0"/>
          </a:p>
          <a:p>
            <a:pPr indent="0" marL="0">
              <a:buNone/>
            </a:pPr>
            <a:r>
              <a:rPr lang="en-US" sz="1100" i="1" dirty="0">
                <a:solidFill>
                  <a:srgbClr val="5A6472"/>
                </a:solidFill>
                <a:latin typeface="Calibri" pitchFamily="34" charset="0"/>
                <a:cs typeface="Amiri" pitchFamily="2" charset="-78"/>
              </a:rPr>
              <a:t>yaq-ta-ri-ḥu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تَسَلْسُلُ الأَحْدَاثِ</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تَوْصِيَةٌ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reliability</a:t>
            </a:r>
            <a:endParaRPr lang="en-US" sz="1350" dirty="0"/>
          </a:p>
          <a:p>
            <a:pPr indent="0" marL="0">
              <a:buNone/>
            </a:pPr>
            <a:r>
              <a:rPr lang="en-US" sz="1100" i="1" dirty="0">
                <a:solidFill>
                  <a:srgbClr val="5A6472"/>
                </a:solidFill>
                <a:latin typeface="Calibri" pitchFamily="34" charset="0"/>
                <a:cs typeface="Amiri" pitchFamily="2" charset="-78"/>
              </a:rPr>
              <a:t>maw-thū-qiy-ya-tun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TOPIC A · TRAVEL AND TOURISM (WEBSITE VISUAL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holiday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سَائِحٌ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a:t>
            </a:r>
            <a:endParaRPr lang="en-US" sz="1350" dirty="0"/>
          </a:p>
          <a:p>
            <a:pPr indent="0" marL="0">
              <a:buNone/>
            </a:pPr>
            <a:r>
              <a:rPr lang="en-US" sz="1100" i="1" dirty="0">
                <a:solidFill>
                  <a:srgbClr val="5A6472"/>
                </a:solidFill>
                <a:latin typeface="Calibri" pitchFamily="34" charset="0"/>
                <a:cs typeface="Amiri" pitchFamily="2" charset="-78"/>
              </a:rPr>
              <a:t>sā-ʾi-ḥun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سُيَّاحٌ</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سَائِحٌ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فُنْدُقٌ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a:t>
            </a:r>
            <a:endParaRPr lang="en-US" sz="1350" dirty="0"/>
          </a:p>
          <a:p>
            <a:pPr indent="0" marL="0">
              <a:buNone/>
            </a:pPr>
            <a:r>
              <a:rPr lang="en-US" sz="1100" i="1" dirty="0">
                <a:solidFill>
                  <a:srgbClr val="5A6472"/>
                </a:solidFill>
                <a:latin typeface="Calibri" pitchFamily="34" charset="0"/>
                <a:cs typeface="Amiri" pitchFamily="2" charset="-78"/>
              </a:rPr>
              <a:t>fun-du-qun</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فَنَادِقُ</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فُنْدُقٌ</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مَعْلَمٌ</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landmark, a sight</a:t>
            </a:r>
            <a:endParaRPr lang="en-US" sz="1350" dirty="0"/>
          </a:p>
          <a:p>
            <a:pPr indent="0" marL="0">
              <a:buNone/>
            </a:pPr>
            <a:r>
              <a:rPr lang="en-US" sz="1100" i="1" dirty="0">
                <a:solidFill>
                  <a:srgbClr val="5A6472"/>
                </a:solidFill>
                <a:latin typeface="Calibri" pitchFamily="34" charset="0"/>
                <a:cs typeface="Amiri" pitchFamily="2" charset="-78"/>
              </a:rPr>
              <a:t>maʿ-la-mun</a:t>
            </a:r>
            <a:endParaRPr lang="en-US" sz="1350" dirty="0"/>
          </a:p>
        </p:txBody>
      </p:sp>
      <p:sp>
        <p:nvSpPr>
          <p:cNvPr id="57" name="Shape 5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مَعَالِمُ</a:t>
            </a:r>
            <a:endParaRPr lang="ar-SA" sz="1500" dirty="0"/>
          </a:p>
        </p:txBody>
      </p:sp>
      <p:sp>
        <p:nvSpPr>
          <p:cNvPr id="60" name="Shape 5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مَعْلَمٌ</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6" name="Shape 6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شَاطِئٌ</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beach</a:t>
            </a:r>
            <a:endParaRPr lang="en-US" sz="1350" dirty="0"/>
          </a:p>
          <a:p>
            <a:pPr indent="0" marL="0">
              <a:buNone/>
            </a:pPr>
            <a:r>
              <a:rPr lang="en-US" sz="1100" i="1" dirty="0">
                <a:solidFill>
                  <a:srgbClr val="5A6472"/>
                </a:solidFill>
                <a:latin typeface="Calibri" pitchFamily="34" charset="0"/>
                <a:cs typeface="Amiri" pitchFamily="2" charset="-78"/>
              </a:rPr>
              <a:t>shā-ṭi-ʾun</a:t>
            </a:r>
            <a:endParaRPr lang="en-US" sz="1350" dirty="0"/>
          </a:p>
        </p:txBody>
      </p:sp>
      <p:sp>
        <p:nvSpPr>
          <p:cNvPr id="72" name="Shape 69"/>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شَوَاطِئُ</a:t>
            </a:r>
            <a:endParaRPr lang="ar-SA" sz="1500" dirty="0"/>
          </a:p>
        </p:txBody>
      </p:sp>
      <p:sp>
        <p:nvSpPr>
          <p:cNvPr id="75" name="Shape 72"/>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7" name="Text 74"/>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شَاطِئٌ</a:t>
            </a:r>
            <a:endParaRPr lang="ar-SA" sz="1500" dirty="0"/>
          </a:p>
        </p:txBody>
      </p:sp>
      <p:sp>
        <p:nvSpPr>
          <p:cNvPr id="78" name="Shape 7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389120"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81" name="Shape 78"/>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3" name="Shape 8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خَرِيطَةٌ</a:t>
            </a:r>
            <a:endParaRPr lang="ar-SA" sz="3000" dirty="0"/>
          </a:p>
        </p:txBody>
      </p:sp>
      <p:sp>
        <p:nvSpPr>
          <p:cNvPr id="86" name="Text 8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map</a:t>
            </a:r>
            <a:endParaRPr lang="en-US" sz="1350" dirty="0"/>
          </a:p>
          <a:p>
            <a:pPr indent="0" marL="0">
              <a:buNone/>
            </a:pPr>
            <a:r>
              <a:rPr lang="en-US" sz="1100" i="1" dirty="0">
                <a:solidFill>
                  <a:srgbClr val="5A6472"/>
                </a:solidFill>
                <a:latin typeface="Calibri" pitchFamily="34" charset="0"/>
                <a:cs typeface="Amiri" pitchFamily="2" charset="-78"/>
              </a:rPr>
              <a:t>kha-rī-ṭa-tun</a:t>
            </a:r>
            <a:endParaRPr lang="en-US" sz="1350" dirty="0"/>
          </a:p>
        </p:txBody>
      </p:sp>
      <p:sp>
        <p:nvSpPr>
          <p:cNvPr id="87" name="Shape 8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خَرَائِطُ</a:t>
            </a:r>
            <a:endParaRPr lang="ar-SA" sz="1500" dirty="0"/>
          </a:p>
        </p:txBody>
      </p:sp>
      <p:sp>
        <p:nvSpPr>
          <p:cNvPr id="90" name="Shape 8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2" name="Text 8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خَرِيطَةٌ</a:t>
            </a:r>
            <a:endParaRPr lang="ar-SA" sz="15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96" name="Shape 9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8" name="Shape 9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9" name="Text 9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0" name="Text 9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a:t>
            </a:r>
            <a:endParaRPr lang="ar-SA" sz="3000" dirty="0"/>
          </a:p>
        </p:txBody>
      </p:sp>
      <p:sp>
        <p:nvSpPr>
          <p:cNvPr id="101" name="Text 9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trip, a journey</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102" name="Shape 9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4" name="Text 10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رِحْلَاتٌ</a:t>
            </a:r>
            <a:endParaRPr lang="ar-SA" sz="1500" dirty="0"/>
          </a:p>
        </p:txBody>
      </p:sp>
      <p:sp>
        <p:nvSpPr>
          <p:cNvPr id="105" name="Shape 10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6" name="Text 10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7" name="Text 10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رِحْلَةٌ</a:t>
            </a:r>
            <a:endParaRPr lang="ar-SA" sz="150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TWO KINDS OF “IF”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 (real) and if only … (not real)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If …</a:t>
            </a:r>
            <a:endParaRPr lang="en-US" sz="1100" dirty="0"/>
          </a:p>
        </p:txBody>
      </p:sp>
      <p:sp>
        <p:nvSpPr>
          <p:cNvPr id="17" name="Text 14"/>
          <p:cNvSpPr txBox="1"/>
          <p:nvPr/>
        </p:nvSpPr>
        <p:spPr>
          <a:xfrm>
            <a:off x="83301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339242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shows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360152" y="2267712"/>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إِذَا</a:t>
            </a:r>
            <a:endParaRPr lang="ar-SA" sz="2600" dirty="0"/>
          </a:p>
        </p:txBody>
      </p:sp>
      <p:sp>
        <p:nvSpPr>
          <p:cNvPr id="22" name="Text 19"/>
          <p:cNvSpPr txBox="1"/>
          <p:nvPr/>
        </p:nvSpPr>
        <p:spPr>
          <a:xfrm>
            <a:off x="836676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(Type 1)</a:t>
            </a:r>
            <a:endParaRPr lang="en-US" sz="1100" dirty="0"/>
          </a:p>
        </p:txBody>
      </p:sp>
      <p:sp>
        <p:nvSpPr>
          <p:cNvPr id="23" name="Text 20"/>
          <p:cNvSpPr txBox="1"/>
          <p:nvPr/>
        </p:nvSpPr>
        <p:spPr>
          <a:xfrm>
            <a:off x="3410712" y="2267712"/>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إِذَا</a:t>
            </a:r>
            <a:pPr rtl="1" algn="ctr" indent="0" marL="0">
              <a:buNone/>
            </a:pPr>
            <a:r>
              <a:rPr lang="ar-SA" altLang="en-US" sz="2200" b="1" dirty="0">
                <a:solidFill>
                  <a:srgbClr val="1B3B6F"/>
                </a:solidFill>
                <a:latin typeface="Amiri" pitchFamily="2" charset="-78"/>
                <a:ea typeface="Amiri" pitchFamily="2" charset="-78"/>
                <a:cs typeface="Amiri" pitchFamily="2" charset="-78"/>
              </a:rPr>
              <a:t> زُرْتَ البَتْرَاءَ، </a:t>
            </a:r>
            <a:pPr rtl="1" algn="ctr" indent="0" marL="0">
              <a:buNone/>
            </a:pPr>
            <a:r>
              <a:rPr lang="ar-SA" altLang="en-US" sz="2200" b="1" dirty="0">
                <a:solidFill>
                  <a:srgbClr val="1D5FBF"/>
                </a:solidFill>
                <a:latin typeface="Amiri" pitchFamily="2" charset="-78"/>
                <a:ea typeface="Amiri" pitchFamily="2" charset="-78"/>
                <a:cs typeface="Amiri" pitchFamily="2" charset="-78"/>
              </a:rPr>
              <a:t>سَ</a:t>
            </a:r>
            <a:pPr rtl="1" algn="ctr" indent="0" marL="0">
              <a:buNone/>
            </a:pPr>
            <a:r>
              <a:rPr lang="ar-SA" altLang="en-US" sz="2200" b="1" dirty="0">
                <a:solidFill>
                  <a:srgbClr val="1B3B6F"/>
                </a:solidFill>
                <a:latin typeface="Amiri" pitchFamily="2" charset="-78"/>
                <a:ea typeface="Amiri" pitchFamily="2" charset="-78"/>
                <a:cs typeface="Amiri" pitchFamily="2" charset="-78"/>
              </a:rPr>
              <a:t>تُحِبُّهَا.</a:t>
            </a:r>
            <a:endParaRPr lang="ar-SA" sz="220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 it can really happen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360152" y="3054096"/>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لَوْ</a:t>
            </a:r>
            <a:endParaRPr lang="ar-SA" sz="2600" dirty="0"/>
          </a:p>
        </p:txBody>
      </p:sp>
      <p:sp>
        <p:nvSpPr>
          <p:cNvPr id="29" name="Text 26"/>
          <p:cNvSpPr txBox="1"/>
          <p:nvPr/>
        </p:nvSpPr>
        <p:spPr>
          <a:xfrm>
            <a:off x="836676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real (Type 2)</a:t>
            </a:r>
            <a:endParaRPr lang="en-US" sz="1100" dirty="0"/>
          </a:p>
        </p:txBody>
      </p:sp>
      <p:sp>
        <p:nvSpPr>
          <p:cNvPr id="30" name="Text 27"/>
          <p:cNvSpPr txBox="1"/>
          <p:nvPr/>
        </p:nvSpPr>
        <p:spPr>
          <a:xfrm>
            <a:off x="3410712" y="3054096"/>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لَوْ</a:t>
            </a:r>
            <a:pPr rtl="1" algn="ctr" indent="0" marL="0">
              <a:buNone/>
            </a:pPr>
            <a:r>
              <a:rPr lang="ar-SA" altLang="en-US" sz="2200" b="1" dirty="0">
                <a:solidFill>
                  <a:srgbClr val="1B3B6F"/>
                </a:solidFill>
                <a:latin typeface="Amiri" pitchFamily="2" charset="-78"/>
                <a:ea typeface="Amiri" pitchFamily="2" charset="-78"/>
                <a:cs typeface="Amiri" pitchFamily="2" charset="-78"/>
              </a:rPr>
              <a:t> نُظِّمَتِ الزِّيَارَاتُ، </a:t>
            </a:r>
            <a:pPr rtl="1" algn="ctr" indent="0" marL="0">
              <a:buNone/>
            </a:pPr>
            <a:r>
              <a:rPr lang="ar-SA" altLang="en-US" sz="2200" b="1" dirty="0">
                <a:solidFill>
                  <a:srgbClr val="D6336C"/>
                </a:solidFill>
                <a:latin typeface="Amiri" pitchFamily="2" charset="-78"/>
                <a:ea typeface="Amiri" pitchFamily="2" charset="-78"/>
                <a:cs typeface="Amiri" pitchFamily="2" charset="-78"/>
              </a:rPr>
              <a:t>لَ</a:t>
            </a:r>
            <a:pPr rtl="1" algn="ctr" indent="0" marL="0">
              <a:buNone/>
            </a:pPr>
            <a:r>
              <a:rPr lang="ar-SA" altLang="en-US" sz="2200" b="1" dirty="0">
                <a:solidFill>
                  <a:srgbClr val="1B3B6F"/>
                </a:solidFill>
                <a:latin typeface="Amiri" pitchFamily="2" charset="-78"/>
                <a:ea typeface="Amiri" pitchFamily="2" charset="-78"/>
                <a:cs typeface="Amiri" pitchFamily="2" charset="-78"/>
              </a:rPr>
              <a:t>كَانَ أَفْضَلَ.</a:t>
            </a:r>
            <a:endParaRPr lang="ar-SA" sz="2200" dirty="0"/>
          </a:p>
        </p:txBody>
      </p:sp>
      <p:sp>
        <p:nvSpPr>
          <p:cNvPr id="31" name="Text 28"/>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did not happen → criticism</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10360152" y="3840480"/>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سَـ</a:t>
            </a:r>
            <a:endParaRPr lang="ar-SA" sz="2600" dirty="0"/>
          </a:p>
        </p:txBody>
      </p:sp>
      <p:sp>
        <p:nvSpPr>
          <p:cNvPr id="34" name="Text 31"/>
          <p:cNvSpPr txBox="1"/>
          <p:nvPr/>
        </p:nvSpPr>
        <p:spPr>
          <a:xfrm>
            <a:off x="836676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Type 1</a:t>
            </a:r>
            <a:endParaRPr lang="en-US" sz="1100" dirty="0"/>
          </a:p>
        </p:txBody>
      </p:sp>
      <p:sp>
        <p:nvSpPr>
          <p:cNvPr id="35" name="Text 32"/>
          <p:cNvSpPr txBox="1"/>
          <p:nvPr/>
        </p:nvSpPr>
        <p:spPr>
          <a:xfrm>
            <a:off x="3410712" y="3840480"/>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حَجَزْتَ مُبَكِّرًا، </a:t>
            </a:r>
            <a:pPr rtl="1" algn="ctr" indent="0" marL="0">
              <a:buNone/>
            </a:pPr>
            <a:r>
              <a:rPr lang="ar-SA" altLang="en-US" sz="2200" b="1" dirty="0">
                <a:solidFill>
                  <a:srgbClr val="1D5FBF"/>
                </a:solidFill>
                <a:latin typeface="Amiri" pitchFamily="2" charset="-78"/>
                <a:ea typeface="Amiri" pitchFamily="2" charset="-78"/>
                <a:cs typeface="Amiri" pitchFamily="2" charset="-78"/>
              </a:rPr>
              <a:t>سَ</a:t>
            </a:r>
            <a:pPr rtl="1" algn="ctr" indent="0" marL="0">
              <a:buNone/>
            </a:pPr>
            <a:r>
              <a:rPr lang="ar-SA" altLang="en-US" sz="2200" b="1" dirty="0">
                <a:solidFill>
                  <a:srgbClr val="1B3B6F"/>
                </a:solidFill>
                <a:latin typeface="Amiri" pitchFamily="2" charset="-78"/>
                <a:ea typeface="Amiri" pitchFamily="2" charset="-78"/>
                <a:cs typeface="Amiri" pitchFamily="2" charset="-78"/>
              </a:rPr>
              <a:t>تُوَفِّرُ.</a:t>
            </a:r>
            <a:endParaRPr lang="ar-SA" sz="2200" dirty="0"/>
          </a:p>
        </p:txBody>
      </p:sp>
      <p:sp>
        <p:nvSpPr>
          <p:cNvPr id="36" name="Text 33"/>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goes with idhā</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360152" y="4626864"/>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لَـ</a:t>
            </a:r>
            <a:endParaRPr lang="ar-SA" sz="2600" dirty="0"/>
          </a:p>
        </p:txBody>
      </p:sp>
      <p:sp>
        <p:nvSpPr>
          <p:cNvPr id="39" name="Text 36"/>
          <p:cNvSpPr txBox="1"/>
          <p:nvPr/>
        </p:nvSpPr>
        <p:spPr>
          <a:xfrm>
            <a:off x="836676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Type 2</a:t>
            </a:r>
            <a:endParaRPr lang="en-US" sz="1100" dirty="0"/>
          </a:p>
        </p:txBody>
      </p:sp>
      <p:sp>
        <p:nvSpPr>
          <p:cNvPr id="40" name="Text 37"/>
          <p:cNvSpPr txBox="1"/>
          <p:nvPr/>
        </p:nvSpPr>
        <p:spPr>
          <a:xfrm>
            <a:off x="3410712" y="4626864"/>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لَوْ حَجَزْتَ مُبَكِّرًا، </a:t>
            </a:r>
            <a:pPr rtl="1" algn="ctr" indent="0" marL="0">
              <a:buNone/>
            </a:pPr>
            <a:r>
              <a:rPr lang="ar-SA" altLang="en-US" sz="2200" b="1" dirty="0">
                <a:solidFill>
                  <a:srgbClr val="D6336C"/>
                </a:solidFill>
                <a:latin typeface="Amiri" pitchFamily="2" charset="-78"/>
                <a:ea typeface="Amiri" pitchFamily="2" charset="-78"/>
                <a:cs typeface="Amiri" pitchFamily="2" charset="-78"/>
              </a:rPr>
              <a:t>لَ</a:t>
            </a:r>
            <a:pPr rtl="1" algn="ctr" indent="0" marL="0">
              <a:buNone/>
            </a:pPr>
            <a:r>
              <a:rPr lang="ar-SA" altLang="en-US" sz="2200" b="1" dirty="0">
                <a:solidFill>
                  <a:srgbClr val="1B3B6F"/>
                </a:solidFill>
                <a:latin typeface="Amiri" pitchFamily="2" charset="-78"/>
                <a:ea typeface="Amiri" pitchFamily="2" charset="-78"/>
                <a:cs typeface="Amiri" pitchFamily="2" charset="-78"/>
              </a:rPr>
              <a:t>وَفَّرْتَ.</a:t>
            </a:r>
            <a:endParaRPr lang="ar-SA" sz="2200" dirty="0"/>
          </a:p>
        </p:txBody>
      </p:sp>
      <p:sp>
        <p:nvSpPr>
          <p:cNvPr id="41" name="Text 38"/>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goes with law</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idhā = if (real advice). Develop: match sa- with idhā and la- with law. Stretch: law → the writer is criticising.</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READING LIKE A DETECTIVE (TOPIC A: EVIDENCE, INFERENCE, TIME FRAMES)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infer it, date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الدَّلِيلُ · الاِسْتِنْتَاجُ ·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FIND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exact words</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رَكِبْنَا الحَافِلَةَ إِلَى البَتْرَاءِ.</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took the bus to Petra.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Transport? → copy these words.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two clues</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الجَوُّ حَارٌّ + نَسِيَ قُبَّعَتَهُ</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hot weather + forgot his 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 why the headache (not stated).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TIME FRAME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past · advice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سَافَرْتُ … سَتُحِبُّهَا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travelled (past) … you will love it (future)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Story in the past, advice for the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law the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حَجَزْتَ مُبَكِّرًا، لَوَفَّرْتَ.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حَجَزْتَ مُبَكِّرًا، سَتُوَفِّرُ.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(real) · </a:t>
            </a:r>
            <a:pPr algn="l" indent="0" marL="0">
              <a:buNone/>
            </a:pPr>
            <a:r>
              <a:rPr lang="ar-SA" altLang="en-US" sz="1350" dirty="0">
                <a:solidFill>
                  <a:srgbClr val="5A6472"/>
                </a:solidFill>
                <a:latin typeface="Amiri" pitchFamily="2" charset="-78"/>
                <a:ea typeface="Amiri" pitchFamily="2" charset="-78"/>
                <a:cs typeface="Amiri" pitchFamily="2" charset="-78"/>
              </a:rPr>
              <a:t>لَوْ</a:t>
            </a:r>
            <a:pPr algn="l" indent="0" marL="0">
              <a:buNone/>
            </a:pPr>
            <a:r>
              <a:rPr lang="en-US" sz="1050" dirty="0">
                <a:solidFill>
                  <a:srgbClr val="5A6472"/>
                </a:solidFill>
                <a:latin typeface="Calibri" pitchFamily="34" charset="0"/>
                <a:cs typeface="Amiri" pitchFamily="2" charset="-78"/>
              </a:rPr>
              <a:t>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ea typeface="Amiri" pitchFamily="2" charset="-78"/>
                <a:cs typeface="Amiri" pitchFamily="2" charset="-78"/>
              </a:rPr>
              <a:t>إِذَا زُرْتَ الأُرْدُنَّ، لَنْ تَنْدَمَ</a:t>
            </a:r>
            <a:pPr algn="l" indent="0" marL="0">
              <a:buNone/>
            </a:pPr>
            <a:r>
              <a:rPr lang="en-US" sz="2000" b="1" dirty="0">
                <a:solidFill>
                  <a:srgbClr val="1F2A37"/>
                </a:solidFill>
                <a:latin typeface="Calibri" pitchFamily="34" charset="0"/>
                <a:cs typeface="Amiri" pitchFamily="2" charset="-78"/>
              </a:rPr>
              <a:t> → real recommendation   ·   </a:t>
            </a:r>
            <a:pPr algn="l" indent="0" marL="0">
              <a:buNone/>
            </a:pPr>
            <a:r>
              <a:rPr lang="ar-SA" altLang="en-US" sz="2600" b="1" dirty="0">
                <a:solidFill>
                  <a:srgbClr val="1F2A37"/>
                </a:solidFill>
                <a:latin typeface="Amiri" pitchFamily="2" charset="-78"/>
                <a:ea typeface="Amiri" pitchFamily="2" charset="-78"/>
                <a:cs typeface="Amiri" pitchFamily="2" charset="-78"/>
              </a:rPr>
              <a:t>لَوْ نُظِّمَتِ الزِّيَارَاتُ، لَكَانَ أَفْضَلَ</a:t>
            </a:r>
            <a:pPr algn="l" indent="0" marL="0">
              <a:buNone/>
            </a:pPr>
            <a:r>
              <a:rPr lang="en-US" sz="2000" b="1" dirty="0">
                <a:solidFill>
                  <a:srgbClr val="1F2A37"/>
                </a:solidFill>
                <a:latin typeface="Calibri" pitchFamily="34" charset="0"/>
                <a:cs typeface="Amiri" pitchFamily="2" charset="-78"/>
              </a:rPr>
              <a:t> → counterfactual</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ea typeface="Amiri" pitchFamily="2" charset="-78"/>
                <a:cs typeface="Amiri" pitchFamily="2" charset="-78"/>
              </a:rPr>
              <a:t>لَوْ اهْتَمَّتِ الدَّوْلَةُ بِالتُّرَاثِ، لَمَا تَدَهْوَرَ</a:t>
            </a:r>
            <a:pPr algn="l" indent="0" marL="0">
              <a:buNone/>
            </a:pPr>
            <a:r>
              <a:rPr lang="en-US" sz="2000" b="1" dirty="0">
                <a:solidFill>
                  <a:srgbClr val="1F2A37"/>
                </a:solidFill>
                <a:latin typeface="Calibri" pitchFamily="34" charset="0"/>
                <a:cs typeface="Amiri" pitchFamily="2" charset="-78"/>
              </a:rPr>
              <a:t> → the writer finds current care inadequate</a:t>
            </a:r>
            <a:endParaRPr lang="en-US"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إِذَا … سَـ · لَوْ …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يَدُلُّ عَلَى · يَكْشِفُ عَنْ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زُرْتَ الأُرْدُنَّ، 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hunt for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ذَهَبُوا إِلَى البَتْرَاءِ؟</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Transport word? Look for a vehicle.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Scan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رَكِبْنَا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الحَافِلَةَ</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إِلَى البَتْرَاءِ.</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key word is in sentence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 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سَافَرْتُ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بِالطَّائِرَةِ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Plane was to Jordan — not to Petra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بِالحَافِلَةِ — الدَّلِيلُ: رَكِبْنَا الحَافِلَةَ.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السُّؤَالُ: كَيْفَ ذَهَبُوا إِلَى البَتْرَاءِ؟ الجَوَابُ: بِالحَافِلَةِ. الدَّلِيلُ: «رَكِبْنَا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الحَافِلَةَ</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إِلَى البَتْرَاءِ». لَيْسَ بِالطَّائِرَةِ، لِأَنَّ </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الطَّائِرَةَ</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كَانَتْ إِلَى الأُرْدُنِّ.</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Question: how did they get to Petra? Answer: by bus. Evidence: “we took the bus to Petra”. Not by plane, because the plane was to Jordan.</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الأُرْدُنَّ، 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cs typeface="Amiri" pitchFamily="2" charset="-78"/>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cs typeface="Amiri" pitchFamily="2" charset="-78"/>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cs typeface="Amiri" pitchFamily="2" charset="-78"/>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READING — TRAVEL AND TOURISM TEXTS”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Tourism scenes: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landmarks, camera</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sun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suitcase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يُقِيمُ السُّيَّاحُ فِي الفَنَادِقِ.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يَزُورُ السُّيَّاحُ المَعَالِمَ التَّارِيخِيَّةَ.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تَشْتَهِرُ المِنْطَقَةُ بِالشَّوَاطِئِ.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landmarks, camera</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Tourists visit the historic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sun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تَشْتَهِرُ المِنْطَقَةُ بِالشَّوَاطِئِ.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region is famous for its beaches.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suitcase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يُقِيمُ السُّيَّاحُ فِي الفَنَادِقِ.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Tourists stay in hotels.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Real, not real, or a reading term?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real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real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takes which result marker?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takes which result marker?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Indicates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real </a:t>
            </a:r>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result, not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counterfactual </a:t>
            </a:r>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reading conditionals critically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type of conditional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visit is impossible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criticism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sees the visit as a real possibility and recommends 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ea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key advanced reading skill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topic</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decorative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 marker fits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ea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ea typeface="Amiri" pitchFamily="2" charset="-78"/>
                <a:cs typeface="Amiri" pitchFamily="2" charset="-78"/>
              </a:rPr>
              <a:t>لَوْ</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ea typeface="Amiri" pitchFamily="2" charset="-78"/>
                <a:cs typeface="Amiri" pitchFamily="2" charset="-78"/>
              </a:rPr>
              <a:t>لَوْ</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FLEX listening. Core: questions 1 and 5.</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 tourism text, don’t look only at the information, but at the type of “if”.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زُرْتَ الأُرْدُنَّ، لَنْ تَنْدَمَ» — يَرَى الزِّيَارَةَ إِمْكَانًا حَقِيقِيًّا وَيَنْصَحُ بِهَا.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visit Jordan, you won’t regret it” —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«لَوْ نُظِّمَتِ الزِّيَارَاتُ مُبَكِّرًا، لَكَانَتِ المَوَاقِعُ أَفْضَلَ» — يَصِفُ أَمْرًا لَمْ يَحْدُثْ،</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visits had been organised early, the sites would be better” — he describes something that did not happen,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وَيُلَمِّحُ إِلَى نَقْدٍ لِلسِّيَاسَةِ الحَالِيَّةِ.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hints at criticism of the current policy.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Match the marker to the particle: sa- with idhā,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type of conditional</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 only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إِلَى نَوْعِ الشَّرْطِ.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visit is impossible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criticism</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sees the visit as a real possibility and recommends 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يَرَى الزِّيَارَةَ إِمْكَانًا حَقِيقِيًّا وَيَنْصَحُ بِهَا.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policy</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يُلَمِّحُ إِلَى نَقْدٍ لِلسِّيَاسَةِ الحَالِيَّةِ.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ea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key advanced reading skill</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topic</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decorative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أَهَمِّ مَهَارَاتِ القِرَاءَةِ المُتَقَدِّمَةِ.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Any marker fits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ea typeface="Amiri" pitchFamily="2" charset="-78"/>
                <a:cs typeface="Amiri" pitchFamily="2" charset="-78"/>
              </a:rPr>
              <a:t>إِذَا</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لَـ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ea typeface="Amiri" pitchFamily="2" charset="-78"/>
                <a:cs typeface="Amiri" pitchFamily="2" charset="-78"/>
              </a:rPr>
              <a:t>لَوْ</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سَـ</a:t>
            </a:r>
            <a:pPr algn="l" indent="0" marL="0">
              <a:buNone/>
            </a:pPr>
            <a:r>
              <a:rPr lang="en-US" sz="1250" dirty="0">
                <a:solidFill>
                  <a:srgbClr val="9AA1AB"/>
                </a:solidFill>
                <a:latin typeface="Calibri" pitchFamily="34" charset="0"/>
                <a:cs typeface="Amiri" pitchFamily="2" charset="-78"/>
              </a:rPr>
              <a:t> with </a:t>
            </a:r>
            <a:pPr algn="l" indent="0" marL="0">
              <a:buNone/>
            </a:pPr>
            <a:r>
              <a:rPr lang="ar-SA" altLang="en-US" sz="1650" dirty="0">
                <a:solidFill>
                  <a:srgbClr val="9AA1AB"/>
                </a:solidFill>
                <a:latin typeface="Amiri" pitchFamily="2" charset="-78"/>
                <a:ea typeface="Amiri" pitchFamily="2" charset="-78"/>
                <a:cs typeface="Amiri" pitchFamily="2" charset="-78"/>
              </a:rPr>
              <a:t>لَوْ</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طَابِقِ العَلَامَةَ مَعَ الأَدَاةِ: سَـ مَعَ إِذَا، وَلَـ مَعَ لَوْ.</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FLEX listening. Core: questions 1 and 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cs typeface="Amiri" pitchFamily="2" charset="-78"/>
              </a:rPr>
              <a:t>YOU DO · READING · TOPIC A TEXT · READ THE WHOLE TEXT ONCE, THEN HUNT FOR EVIDENCE</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trip to Petra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الصَّيْفِ المَاضِي سَافَرْتُ مَعَ أُسْرَتِي إِلَى الأُرْدُنِّ بِالطَّائِرَةِ. وَصَلْنَا إِلَى عَمَّانَ فِي المَسَاءِ، وَفِي اليَوْمِ التَّالِي رَكِبْنَا الحَافِلَةَ إِلَى البَتْرَاءِ. كَانَتِ الرِّحْلَةُ طَوِيلَةً: ثَلَاثَ سَاعَاتٍ تَقْرِيبًا. مَشَيْنَا فِي المَدِينَةِ القَدِيمَةِ مِنَ الصَّبَاحِ إِلَى العَصْرِ، وَالْتَقَطْنَا صُوَرًا كَثِيرَةً. كَانَ الجَوُّ حَارًّا جِدًّا، وَنَسِيَ أَخِي قُبَّعَتَهُ فِي الفُنْدُقِ، فَأَصَابَهُ صُدَاعٌ. فِي المَسَاءِ أَكَلْنَا طَعَامًا أُرْدُنِّيًّا لَذِيذًا. إِذَا زُرْتَ البَتْرَاءَ، سَتُحِبُّهَا، وَلٰكِنْ خُذْ مَعَكَ مَاءً كَثِيرًا وَقُبَّعَةً!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الصَّيْفِ المَاضِي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summer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سَافَرْتُ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travelled</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وَصَلْنَا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arrived</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اليَوْمِ التَّالِي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next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رَكِبْنَا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rode / took</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تَقْرِيبًا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about</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مَشَيْنَا</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walked</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العَصْرِ</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afternoon</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forgot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قُبَّعَتَهُ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hat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TOPIC A TEXT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PLACE — Which country did the family visit?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Jordan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TRANSPORT — How did they get to Petra?</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plane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TIME — How long was the bus journey?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three hours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one hour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PROBLEM — What happened to the brother?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lost his camera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got a headache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missed the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OPINION — What does the writer think of Petra?</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will love it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boring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far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INFER — Why did the brother get a headache? (not stated)</a:t>
            </a:r>
            <a:endParaRPr lang="en-US" sz="11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ate too much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was slow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very hot and he had no hat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PLACE — Which country did the family visit?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Jordan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سَافَرْتُ … إِلَى الأُرْدُنِّ.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TRANSPORT — How did they get to Petra?</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plane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رَكِبْنَا الحَافِلَةَ إِلَى البَتْرَاءِ.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TIME — How long was the bus journey?</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three hours</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one hour</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سَاعَاتٍ تَقْرِيبًا.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PROBLEM — What happened to the brother?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lost his camera</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got a headache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missed the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فَأَصَابَهُ صُدَاعٌ.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OPINION — What does the writer think of Petra?</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will love it</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boring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far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زُرْتَ البَتْرَاءَ، سَتُحِبُّهَا.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INFER — Why did the brother get a headache? (not stated)</a:t>
            </a:r>
            <a:endParaRPr lang="en-US" sz="11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ate too much</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was slow</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was very hot and he had no hat</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الجَوُّ حَارًّا جِدًّا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نَسِيَ قُبَّعَتَهُ</a:t>
            </a:r>
            <a:pPr algn="l" indent="0" marL="0">
              <a:buNone/>
            </a:pPr>
            <a:r>
              <a:rPr lang="en-US" sz="1050" i="1" dirty="0">
                <a:solidFill>
                  <a:srgbClr val="8A6D1E"/>
                </a:solidFill>
                <a:latin typeface="Calibri" pitchFamily="34" charset="0"/>
                <a:cs typeface="Amiri" pitchFamily="2" charset="-78"/>
              </a:rPr>
              <a:t> — two clues together.</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Travel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Scan a travel text for place, time, transport, opinion and problem details, then infer one unstated meaning from context and justify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take the Petra text and make an evidence table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rows: place · time · transport · opinion · problem (Arabic evidence).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ONE inference: something the text does not say. Justify it with two clues.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pairs share their inference on the mic; the class agrees or challenges.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time and transport rows only — copy the Arabic words.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five rows + one inference with two clues.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Inference + the time frame of the last sentence (advice: idhā … sa-, 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المَكَانُ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place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الزَّمَانُ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time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وَسِيلَةُ النَّقْلِ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transport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الرَّأْيُ · المُشْكِلَةُ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opinion · problem</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analyse a travel text aloud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سَافَرَتِ الأُسْرَةُ؟ كَيْفَ؟</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 فِي الرِّحْلَةِ؟ وَلِمَاذَا حَدَثَتْ؟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نَوْعُ الشَّرْطِ فِي هٰذِهِ الجُمْلَةِ؟ حَقِيقِيٌّ أَمِ افْتِرَاضِيٌّ؟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يَكْشِفُ اخْتِيَارُ لَوْ عَنْ مَوْقِفِ الكَاتِبِ؟</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سَافَرَتْ إِلَى ___ بِـ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أَصَابَهُ صُدَاعٌ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شَرْطٌ ___ لِأَنَّ فِيهِ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يَكْشِفُ اخْتِيَارُ لَوْ عَنْ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نَوْعُ الشَّرْطِ فِي «لَوْ نُظِّمَتِ الزِّيَارَاتُ، لَكَانَ أَفْضَلَ»؟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type of conditional is “law nuẓẓimat az-ziyārāt, la-kāna afḍal”?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شَرْطٌ افْتِرَاضِيٌّ مِنَ النَّوْعِ الثَّانِي؛ فَـ«لَوْ … لَـ» تَصِفُ أَمْرًا لَمْ يَحْدُثْ.</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A hypothetical Type 2 conditional: “law … la-” describes something that did not happen.</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4 questions about the Petra text with evidence.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 in English or Arabic, then copy the Arabic evidence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short trip account like the Petra text.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verbs (safartu, rakibtu, akaltu), place, transport, one problem, one piece of advice with idhā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analyse the website opinion text (extension).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idhā and one law sentence, what law reveals, and the purpose of the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أَقَمْنَا فِي فُنْدُقٍ قَرِيبٍ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stayed in a hotel near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المُشْكِلَةُ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problem was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زُرْتَ ______ ،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 you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 مَعَكَ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 with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يَدُلُّ هٰذَا عَلَى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shows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سَافَرْتُ إِلَى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رَكِبْنَا الحَافِلَةَ / القِطَارَ.</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took the bus / the train.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visited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الجَوُّ حَارًّا / بَارِدًا.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was hot / cold.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الدَّلِيلُ: «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سَافَرْتُ  ·  رَكِبْنَا  ·  زُرْنَا  ·  أَكَلْنَا  ·  فُنْدُقٌ  ·  مَعَالِمُ  ·  شَاطِئٌ  ·  خَرِيطَةٌ  ·  إِذَا … سَـ  ·  لَوْ … لَـ  ·  يَدُلُّ عَلَى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short travel text of your choice. Classify one conditional as real (</a:t>
            </a:r>
            <a:pPr algn="l" indent="0" marL="0">
              <a:buNone/>
            </a:pPr>
            <a:r>
              <a:rPr lang="ar-SA" altLang="en-US" sz="1750" b="1" dirty="0">
                <a:solidFill>
                  <a:srgbClr val="1F2A37"/>
                </a:solidFill>
                <a:latin typeface="Amiri" pitchFamily="2" charset="-78"/>
                <a:ea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and one as hypothetical (</a:t>
            </a:r>
            <a:pPr algn="l" indent="0" marL="0">
              <a:buNone/>
            </a:pPr>
            <a:r>
              <a:rPr lang="ar-SA" altLang="en-US" sz="1750" b="1" dirty="0">
                <a:solidFill>
                  <a:srgbClr val="1F2A37"/>
                </a:solidFill>
                <a:latin typeface="Amiri" pitchFamily="2" charset="-78"/>
                <a:ea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correct reading verb (</a:t>
            </a:r>
            <a:pPr algn="l" indent="0" marL="0">
              <a:buNone/>
            </a:pPr>
            <a:r>
              <a:rPr lang="ar-SA" altLang="en-US" sz="1550" dirty="0">
                <a:solidFill>
                  <a:srgbClr val="1F2A37"/>
                </a:solidFill>
                <a:latin typeface="Amiri" pitchFamily="2" charset="-78"/>
                <a:ea typeface="Amiri" pitchFamily="2" charset="-78"/>
                <a:cs typeface="Amiri" pitchFamily="2" charset="-78"/>
              </a:rPr>
              <a:t>يَدُلُّ عَلَى / يَكْشِفُ عَنْ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السِّيَاحَةُ نِعْمَةٌ وَنِقْمَةٌ فِي آنٍ وَاحِدٍ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tourism is a blessing and a curse at the same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تُلْحِقُ الضَّرَرَ بِالمَوَاقِعِ الهَشَّةِ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damages fragile sites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يَكْشِفُ عَنْ نَقْدٍ ضِمْنِيٍّ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reveals an implicit criticism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سِيَاحَةٌ مُسْتَدَامَةٌ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sustainable tourism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الغَرَضُ مِنَ النَّصِّ إِقْنَاعُ القَارِئِ</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purpose of the text is to persuade the reader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writer’s attitude through the type of conditional. The sentence “if tourists respect the rules, the sites will remain” is a real conditional that the writer recommends and sees as possible. The sentence “if governments had cared early, the sites would not have deteriorated” is a hypothetical Type 2 conditional. Choosing “law” indicates an implicit criticism, because the condition was not met, so the writer finds current policy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conditional (idhā)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hypothetical conditional (law)</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yadullu ‘alā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purpose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answer has the exact Arabic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past verbs for my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joined two clues for an inference.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sa-;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law reveals about the writer.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sustainable-tourism opinion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كَاتِبُ المَقَالِ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article’s writer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نِعْمَةٌ وَنِقْمَةٌ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blessing and a curse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تُسْهِمُ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contributes to</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غَيْرَ أَنَّ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however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المَوَاقِعِ الهَشَّةِ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fragile sites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القَوَاعِدَ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rules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لِلْأَجْيَالِ القَادِمَةِ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future generations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التَّدَهْوُرِ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deterioration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يُوصِي بِـ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recommends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سُلُوكِهِ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behaviour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good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both a blessing and a curse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bad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should stop visiting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do not matter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tourists respect the rules, the sites will remain for future generations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إِذَا احْتَرَمَ السُّيَّاحُ القَوَاعِدَ، سَتَبْقَى المَوَاقِعُ</a:t>
            </a:r>
            <a:endParaRPr lang="ar-SA" sz="1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يُوصِي بِسِيَاحَةٍ مُسْتَدَامَةٍ</a:t>
            </a:r>
            <a:endParaRPr lang="ar-SA" sz="1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to change their behaviour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good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Tourism is both a blessing and a curse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bad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السِّيَاحَةَ نِعْمَةٌ وَنِقْمَةٌ فِي آنٍ وَاحِدٍ.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should stop visiting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 do not matter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tourists respect the rules, the sites will remain for future generations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إِذَا احْتَرَمَ السُّيَّاحُ القَوَاعِدَ، سَتَبْقَى المَوَاقِعُ لِلْأَجْيَالِ القَادِمَةِ.</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إِذَا احْتَرَمَ السُّيَّاحُ القَوَاعِدَ، سَتَبْقَى المَوَاقِعُ</a:t>
            </a:r>
            <a:endParaRPr lang="ar-SA" sz="10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يُوصِي بِسِيَاحَةٍ مُسْتَدَامَةٍ</a:t>
            </a:r>
            <a:endParaRPr lang="ar-SA" sz="10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policies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يَكْشِفُ عَنْ نَقْدٍ ضِمْنِيٍّ لِلسِّيَاسَاتِ الحَالِيَّةِ.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to change their behaviour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الغَرَضُ مِنَ النَّصِّ إِقْنَاعُ القَارِئِ بِتَغْيِيرِ سُلُوكِهِ.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conditional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AT-A-L12: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AT-A-L12 · Topic A Review and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 فِي السَّاعَةِ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wake up at … o’clock</a:t>
            </a:r>
            <a:pPr indent="0" marL="0">
              <a:buNone/>
            </a:pPr>
            <a:r>
              <a:rPr lang="en-US" sz="1000" i="1" dirty="0">
                <a:solidFill>
                  <a:srgbClr val="5A6472"/>
                </a:solidFill>
                <a:latin typeface="Calibri" pitchFamily="34" charset="0"/>
                <a:cs typeface="Amiri" pitchFamily="2" charset="-78"/>
              </a:rPr>
              <a:t>  AT-A-L01–L02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would like …, please</a:t>
            </a:r>
            <a:pPr indent="0" marL="0">
              <a:buNone/>
            </a:pPr>
            <a:r>
              <a:rPr lang="en-US" sz="1000" i="1" dirty="0">
                <a:solidFill>
                  <a:srgbClr val="5A6472"/>
                </a:solidFill>
                <a:latin typeface="Calibri" pitchFamily="34" charset="0"/>
                <a:cs typeface="Amiri" pitchFamily="2" charset="-78"/>
              </a:rPr>
              <a:t>  AT-A-L05</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أَلَمٌ فِي … مُنْذُ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pain in … since …</a:t>
            </a:r>
            <a:pPr indent="0" marL="0">
              <a:buNone/>
            </a:pPr>
            <a:r>
              <a:rPr lang="en-US" sz="1000" i="1" dirty="0">
                <a:solidFill>
                  <a:srgbClr val="5A6472"/>
                </a:solidFill>
                <a:latin typeface="Calibri" pitchFamily="34" charset="0"/>
                <a:cs typeface="Amiri" pitchFamily="2" charset="-78"/>
              </a:rPr>
              <a:t>  AT-A-L07</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تَسْتَرِيحَ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should rest</a:t>
            </a:r>
            <a:pPr indent="0" marL="0">
              <a:buNone/>
            </a:pPr>
            <a:r>
              <a:rPr lang="en-US" sz="1000" i="1" dirty="0">
                <a:solidFill>
                  <a:srgbClr val="5A6472"/>
                </a:solidFill>
                <a:latin typeface="Calibri" pitchFamily="34" charset="0"/>
                <a:cs typeface="Amiri" pitchFamily="2" charset="-78"/>
              </a:rPr>
              <a:t>  AT-A-L08</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بِالحَافِلَةِ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go by bus</a:t>
            </a:r>
            <a:pPr indent="0" marL="0">
              <a:buNone/>
            </a:pPr>
            <a:r>
              <a:rPr lang="en-US" sz="1000" i="1" dirty="0">
                <a:solidFill>
                  <a:srgbClr val="5A6472"/>
                </a:solidFill>
                <a:latin typeface="Calibri" pitchFamily="34" charset="0"/>
                <a:cs typeface="Amiri" pitchFamily="2" charset="-78"/>
              </a:rPr>
              <a:t>  AT-A-L09</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Topic A: which TWO subtopics do you find hardest? Write one correct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أَصْعَبُ مَوْضُوعٍ فِي المِحْوَرِ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Topic A structures on this slide and write one sentence with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AT-A-L11: the picture game and the sorter; write a 6-sentence trip account.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analysing the opinion text (idhā / law).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AT-A-L12 · Topic A Review and Assessment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الْمَوْضُوعِ أ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Topic A structures — one from each subtopic.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AT-A-L11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2026-10-11T06:43:46Z</dcterms:created>
  <dcterms:modified xsi:type="dcterms:W3CDTF">2026-10-11T06:43:46Z</dcterms:modified>
</cp:coreProperties>
</file>