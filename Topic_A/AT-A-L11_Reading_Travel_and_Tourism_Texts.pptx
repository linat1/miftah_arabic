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A · AT-A-L11 — Reading — Travel and Tourism Texts. Website: Advanced Topics › Topic A (Everyday Activities) › Lesson 11.
The website builds this lesson on the P3-L08 lesson engine, with the Topic focus “Read travel and tourism texts, identify details and infer meaning using contextual evidence.” (grammar: Reading inference; vocabulary in context; time frames; skills: Speaking · Writing) and the application challenge “Travel evidence hunt”.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A › Lesson 11 (AT-A-L11), lesson engine Pathways › Progression › P3 › AT-A-L11. The website lesson “Reading — Travel and Tourism Texts”: vocabulary, grammar rules and quiz, patterns, common mistakes, sorter, listening, reading, speaking prompts and model, writing task and model, differentiation, final check and the lesson mission. Picture match: website visual game “Reading — Travel and Tourism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 website engine is a Progression (B1+) lesson: reading إِذَا (real) and لَوْ (not real) conditionals as a clue to the writer’s attitude. For this class: Core reads a short teacher-written travel account and hunts for evidence (place, time, transport, opinion, problem); Develop adds the inference question and “if” sentences (إِذَا … سَـ); Stretch reads the website opinion text and names the writer’s attitude from لَوْ.
• Main You Do = reading (Topic A text), then the evidence-hunt challenge, then a short writing task (6 min). The website listening (a talk about conditionals) is FLEX.
• Topic A links: the travel text recycles transport (AT-A-L09), health (AT-A-L07), food (AT-A-L04) and time (AT-A-L02).
• Urdu bridge: سیاح / سیاحت، ہوٹل (English) / فُنْدُقٌ، نقشہ (Persian) / خَرِيطَةٌ، ساحل.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strategy words prepared at home. Questions 3–4 retrieve AT-A-L09 (transport) and AT-A-L10 (distractors). Question 5 previews today’s time-frame check.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answer needs evidence: find the exact Arabic words. Check the time frame: past (safartu), now (usāfiru) or future (sa-usāfiru).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سیاح، ساحل and سفر are shared. CAREFUL: Urdu uses نقشہ (Persian) for a map and ہوٹل (English) for a hotel — Arabic has خَرِيطَةٌ and فُنْدُقٌ.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Text types (website vocabulary (1 of 2)). Hear → Say → See → Use. Transliteration is printed for Core students (cover it for Develop/Stretch).
FLEX: teach if time allows; otherwise these are on the website vocabulary tab for homework.
FLEX (Stretch): text types — useful for R4 “purpose”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Text types (website vocabulary (2 of 2)). Hear → Say → See → Use. Transliteration is printed for Core students (cover it for Develop/Stretch).
FLEX: teach if time allows; otherwise these are on the website vocabulary tab for homework.
FLEX (Stretch): text types — useful for R4 “purpose”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Conditional-type reading (website vocabulary (1 of 2)). Hear → Say → See → Use. Transliteration is printed for Core students (cover it for Develop/Stretch).
FLEX: teach if time allows; otherwise these are on the website vocabulary tab for homework.
FLEX (Stretch): conditional reading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Conditional-type reading (website vocabulary (2 of 2)). Hear → Say → See → Use. Transliteration is printed for Core students (cover it for Develop/Stretch).
FLEX: teach if time allows; otherwise these are on the website vocabulary tab for homework.
FLEX (Stretch): conditional reading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verbs and analysis (website vocabulary (1 of 2)). Hear → Say → See → Use. Transliteration is printed for Core students (cover it for Develop/Stretch).
FLEX: teach if time allows; otherwise these are on the website vocabulary tab for homework.
FLEX (Stretch): reading verbs — يَدُلُّ عَلَى، يَكْشِفُ عَنْ.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verbs and analysis (website vocabulary (2 of 2)). Hear → Say → See → Use. Transliteration is printed for Core students (cover it for Develop/Stretch).
FLEX: teach if time allows; otherwise these are on the website vocabulary tab for homework.
FLEX (Stretch): reading verbs — يَدُلُّ عَلَى، يَكْشِفُ عَنْ.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KEY WORDS — travel nouns from the website AT-A-L11 visual game (السُّيَّاحُ، المَعَالِمُ، الشَّوَاطِئُ، الفَنَادِقُ، الخَرَائِطُ، رِحْلَاتٌ). These are CORE today; the website’s text-type and analysis words (groups 1–3) are FLEX for Stretch. Broken plurals: say singular → plural as a chant (funduq – fanādiq).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“Classify by particle” (إِذَا real · لَوْ hypothetical), “Match the result marker” (إِذَا … سَـ · لَوْ … لَـ) and the website table. Row 1 uses the Petra text so Core meets إِذَا in context.
English: If you visit Petra, you will love it. · If the visits had been organised, it would have been better. · If you book early, you will save. · If you had booked early, you would have saved.
Website common error: reading a لَوْ sentence as a genuine recommendation, or using سَـ after لَوْ.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Topic A page lists “reading inference; vocabulary in context; time frames”. The three moves:
• FIND: the answer is the exact Arabic words (website success criterion: “I locate the exact phrase that proves each answer”).
• INFER: join two clues to reach an idea the text does not say — the website “infer one unstated meaning from context”.
• TIME FRAME: past verbs (سَافَرْتُ، رَكِبْنَا) vs. present / future advice (إِذَا زُرْتَ … سَتُحِبُّهَا · خُذْ). Links to AT-A-L10 distractors (“usually” vs. “today”).
Stretch: website rule “Reading verbs” — يَدُلُّ عَلَى (indicates), يَكْشِفُ عَنْ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reading toolkit: classify conditionals by particle, read the writer's attitude from the type, and match result markers in a gap.”
• Classify by particle: The particle fixes whether the case is real or counterfactual.
• Read the attitude (R3): A counterfactual implies the condition was not met, hinting at criticism.
• Match the result marker: The gap's marker must fit the conditional type.
• Reading verbs: Use precise verbs to state what the text shows.
Website common error: Reading a لَوْ counterfactual as a genuine recommendation, or choosing a سَـ result in a لَوْ clause. Match the particle to the result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model the evidence hunt on the Topic A text before students read it in full: question → key word → scan → check the distractor (AT-A-L10) → answer + evidence. Students copy the four-line answer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Reading — Travel and Tourism Texts”)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find the plural in each sentence (السُّيَّاحُ، المَعَالِمُ، الشَّوَاطِئُ، الفَنَادِقُ). Other cards for homework: يَسْتَخْدِمُ الزُّوَّارُ الخَرَائِطَ، يُجَرِّبُ السَّائِحُ الطَّعَامَ المَحَلِّيَّ.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Reading — Travel and Tourism Texts”)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find the plural in each sentence (السُّيَّاحُ، المَعَالِمُ، الشَّوَاطِئُ، الفَنَادِقُ). Other cards for homework: يَسْتَخْدِمُ الزُّوَّارُ الخَرَائِطَ، يُجَرِّبُ السَّائِحُ الطَّعَامَ المَحَلِّيَّ.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 website sorter has no title on the page; the title here is teacher-written. Core: sort by the first word only (إِذَا or لَوْ).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 website sorter has no title on the page; the title here is teacher-written. Core: sort by the first word only (إِذَا or لَوْ).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FLEX — Develop / Stretch: all 5.
Listen 1: just listen. Listen 2: note answers. Then chat the letters.
Support: after the second listening, show the read-along slide (Arabic + English, line by line) for Core students.
SCRIPT (read aloud):
عِنْدَمَا تَقْرَأُ نَصًّا سِيَاحِيًّا، لَا تَنْظُرْ إِلَى المَعْلُومَةِ فَقَطْ، بَلْ إِلَى نَوْعِ الشَّرْطِ. فَحِينَ يَكْتُبُ الكَاتِبُ «إِذَا زُرْتَ الأُرْدُنَّ، لَنْ تَنْدَمَ»، فَهُوَ يَرَى الزِّيَارَةَ إِمْكَانًا حَقِيقِيًّا وَيَنْصَحُ بِهَا. أَمَّا حِينَ يَكْتُبُ «لَوْ نُظِّمَتِ الزِّيَارَاتُ مُبَكِّرًا، لَكَانَتِ المَوَاقِعُ أَفْضَلَ»، فَهُوَ يَصِفُ أَمْرًا لَمْ يَحْدُثْ، وَيُلَمِّحُ إِلَى نَقْدٍ لِلسِّيَاسَةِ الحَالِيَّةِ. هٰذَا التَّمْيِيزُ بَيْنَ إِذَا الحَقِيقِيَّةِ وَلَوِ الافْتِرَاضِيَّةِ مِنْ أَهَمِّ مَهَارَاتِ القِرَاءَةِ المُتَقَدِّمَةِ. وَفِي أَسْئِلَةِ مِلْءِ الفَرَاغِ، طَابِقِ العَلَامَةَ مَعَ الأَدَاةِ: سَـ مَعَ إِذَا، وَلَـ مَعَ لَوْ.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(3 min read + 4 min questions + 2 min answers). Teacher-written A2 travel account for the Topic A evidence hunt (it recycles AT-A-L02 time, AT-A-L04 food, AT-A-L07 health and AT-A-L09 transport). Every question is labelled with the detail type the website challenge names: place, time, transport, opinion, problem — and one INFERENCE.
TIME FRAMES (Topic A grammar): the story is in the past (سَافَرْتُ، وَصَلْنَا، رَكِبْنَا، مَشَيْنَا); the last sentence switches to advice for the future (إِذَا زُرْتَ … سَتُحِبُّهَا · خُذْ …). Ask: which sentence is not about the past?
Core: questions 1–4 with the glossary. Develop: all 6. Stretch: the website opinion text (extension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APPLICATION CHALLENGE (3 min — it takes the speaking-rehearsal slot; the website speaking slide after it is FLEX) — from the website Topic page: “Scan a travel text for place, time, transport, opinion and problem details, then infer one unstated meaning from context and justify it.”
Website Topic A challenge “Travel evidence hunt”. Model table: المَكَانُ = الأُرْدُنُّ / البَتْرَاءُ · الزَّمَانُ = فِي الصَّيْفِ المَاضِي، ثَلَاثَ سَاعَاتٍ · النَّقْلُ = بِالطَّائِرَةِ، الحَافِلَةَ · الرَّأْيُ = سَتُحِبُّهَا · المُشْكِلَةُ = الجَوُّ حَارٌّ، نَسِيَ قُبَّعَتَهُ، صُدَاعٌ. Inference ideas: the family is not from Jordan (they flew there); they were tired (a long day walking in the heat); Petra is far from Amman (three hours by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A challenge before this slide is the main speaking task; use these website prompts if time allows or as homework rehearsal.
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يَكْشِفُ ذٰلِكَ؟ (Attitude)
B: يَكْشِفُ عَنْ نَقْدٍ ضِمْنِيٍّ لِلسِّيَاسَةِ الحَالِيَّةِ، لِأَنَّ الشَّرْطَ لَمْ يَتَحَقَّقْ. (Infers the critical stance)
Prompts 1–2 are teacher-made on the Topic A text; prompts 3–4 are the website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Classify six conditionals as real (إِذَا) or hypothetical (لَوْ). · Develop — For two, match the correct result marker (سَـ / لَـ). · Stretch — Write an R3 answer inferring the writer's attitude from a Type 2 conditional.
Website writing task (Stretch): Write eighty to ninety words analysing a short travel text of your choice. Classify one conditional as real (إِذَا) and one as hypothetical (لَوْ), explain what the Type 2 reveals about the writer's attitude, and state the purpose of the text.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This is the website model for the STRETCH task (analysing the website opinion text). Core and Develop compare their Petra answers with the reading answer slide instead.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(AT-A-L12 · Topic A Review and Assessment) will spend class time USING this language, so students prepare it tonight — short, simple, easy to access (school guidance: “Simple, Short, Interesting, Relevant, Easy to access”). The five “words” are the five highest-value Topic A structures for the AT-A-L12 review and assessment (one from each key subtopic).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cs typeface="Amiri" pitchFamily="2" charset="-78"/>
              </a:rPr>
              <a:t>Reading — Travel and Tourism Texts</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الْقِرَاءَةُ: نُصُوصُ السَّفَرِ وَالسِّيَاحَةِ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travel and tourism texts, identify details and infer meaning using contextual evidence.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AT-A-L11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Travel words, then “if” (real) and “if only” (not real), then how to find evidence.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conditionals, fix the sentences.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key word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distractor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detail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أَتَوَقَّعُ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predict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focus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travel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by train.”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عَلَى القِطَارِ.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مَشْيًا القِطَارَ.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بِالقِطَارِ.</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Usually by bus, but today on foot. How does he go TODAY?</a:t>
            </a:r>
            <a:endParaRPr lang="en-US" sz="95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عَادَةً بِالحَافِلَةِ، وَلٰكِنْ اليَوْمَ مَشْيًا.</a:t>
            </a:r>
            <a:endParaRPr lang="ar-SA" sz="10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train</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in the PAST?</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أُسَافِرُ</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سَأُسَافِرُ</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key word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distractor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detail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أَتَوَقَّعُ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predict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focus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travel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by train.”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عَلَى القِطَارِ.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مَشْيًا القِطَارَ.</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أَذْهَبُ بِالقِطَارِ.</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AT-A-L09: bi- with vehicles.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Usually by bus, but today on foot. How does he go TODAY?</a:t>
            </a:r>
            <a:endParaRPr lang="en-US" sz="95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عَادَةً بِالحَافِلَةِ، وَلٰكِنْ اليَوْمَ مَشْيًا.</a:t>
            </a:r>
            <a:endParaRPr lang="ar-SA" sz="10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bus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train</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foot</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AT-A-L10: the distractor is “usually”.</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in the PAST?</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سَافَرْتُ</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أُسَافِرُ</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سَأُسَافِرُ</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Time frames — needed today.</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050" b="1" dirty="0">
                <a:solidFill>
                  <a:srgbClr val="1F2A37"/>
                </a:solidFill>
                <a:latin typeface="Calibri" pitchFamily="34" charset="0"/>
                <a:cs typeface="Amiri" pitchFamily="2" charset="-78"/>
              </a:rPr>
              <a:t>Every answer needs evidence: find the exact Arabic words. Check the time frame: past (safartu), now (usāfiru) or future (sa-usāfiru).</a:t>
            </a:r>
            <a:endParaRPr lang="en-US" sz="105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سَافَرْتُ</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أُسَافِرُ</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سَ</a:t>
            </a:r>
            <a:pPr rtl="1" algn="ctr" indent="0" marL="0">
              <a:buNone/>
            </a:pPr>
            <a:r>
              <a:rPr lang="ar-SA" altLang="en-US" sz="2400" b="1" dirty="0">
                <a:solidFill>
                  <a:srgbClr val="1B3B6F"/>
                </a:solidFill>
                <a:latin typeface="Amiri" pitchFamily="2" charset="-78"/>
                <a:ea typeface="Amiri" pitchFamily="2" charset="-78"/>
                <a:cs typeface="Amiri" pitchFamily="2" charset="-78"/>
              </a:rPr>
              <a:t>أُسَافِرُ</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R1–R4 comprehension questions on travel texts.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Classify a conditional as real (</a:t>
            </a:r>
            <a:pPr algn="l" indent="0" marL="0">
              <a:buNone/>
            </a:pPr>
            <a:r>
              <a:rPr lang="ar-SA" altLang="en-US" sz="1700" dirty="0">
                <a:solidFill>
                  <a:srgbClr val="1F2A37"/>
                </a:solidFill>
                <a:latin typeface="Amiri" pitchFamily="2" charset="-78"/>
                <a:ea typeface="Amiri" pitchFamily="2" charset="-78"/>
                <a:cs typeface="Amiri" pitchFamily="2" charset="-78"/>
              </a:rPr>
              <a:t>إِذَا</a:t>
            </a:r>
            <a:pPr algn="l" indent="0" marL="0">
              <a:buNone/>
            </a:pPr>
            <a:r>
              <a:rPr lang="en-US" sz="1300" dirty="0">
                <a:solidFill>
                  <a:srgbClr val="1F2A37"/>
                </a:solidFill>
                <a:latin typeface="Calibri" pitchFamily="34" charset="0"/>
                <a:cs typeface="Amiri" pitchFamily="2" charset="-78"/>
              </a:rPr>
              <a:t>) or hypothetical (</a:t>
            </a:r>
            <a:pPr algn="l" indent="0" marL="0">
              <a:buNone/>
            </a:pPr>
            <a:r>
              <a:rPr lang="ar-SA" altLang="en-US" sz="1700" dirty="0">
                <a:solidFill>
                  <a:srgbClr val="1F2A37"/>
                </a:solidFill>
                <a:latin typeface="Amiri" pitchFamily="2" charset="-78"/>
                <a:ea typeface="Amiri" pitchFamily="2" charset="-78"/>
                <a:cs typeface="Amiri" pitchFamily="2" charset="-78"/>
              </a:rPr>
              <a:t>لَوْ</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Infer the writer's attitude from the conditional type (R3).</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correct result marker (</a:t>
            </a:r>
            <a:pPr algn="l" indent="0" marL="0">
              <a:buNone/>
            </a:pPr>
            <a:r>
              <a:rPr lang="ar-SA" altLang="en-US" sz="1700" dirty="0">
                <a:solidFill>
                  <a:srgbClr val="1F2A37"/>
                </a:solidFill>
                <a:latin typeface="Amiri" pitchFamily="2" charset="-78"/>
                <a:ea typeface="Amiri" pitchFamily="2" charset="-78"/>
                <a:cs typeface="Amiri" pitchFamily="2" charset="-78"/>
              </a:rPr>
              <a:t>سَـ / لَـ</a:t>
            </a:r>
            <a:pPr algn="l" indent="0" marL="0">
              <a:buNone/>
            </a:pPr>
            <a:r>
              <a:rPr lang="en-US" sz="1300" dirty="0">
                <a:solidFill>
                  <a:srgbClr val="1F2A37"/>
                </a:solidFill>
                <a:latin typeface="Calibri" pitchFamily="34" charset="0"/>
                <a:cs typeface="Amiri" pitchFamily="2" charset="-78"/>
              </a:rPr>
              <a:t>) in a gap.</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place, time and transport in a travel text.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copy the Arabic evidence for my answer.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work out one meaning that is not stated (inference).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a real “if” (idhā) from an “if only” (law).</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what “law” shows about the writer’s attitude.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state the purpose of a text.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reading-analysis words from the website (FLEX, for Stretch) + 6 Topic A travel words (CORE).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Text types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Conditional-type reading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Reading verbs and analysis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سَائِحٌ</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‎سیاح‎ </a:t>
            </a:r>
            <a:pPr indent="0" marL="0">
              <a:buNone/>
            </a:pPr>
            <a:r>
              <a:rPr lang="ar-SA" sz="950" b="1" dirty="0">
                <a:solidFill>
                  <a:srgbClr val="2E8B57"/>
                </a:solidFill>
                <a:latin typeface="Calibri" pitchFamily="34" charset="0"/>
                <a:ea typeface="Amiri" pitchFamily="2" charset="-78"/>
                <a:cs typeface="Amiri" pitchFamily="2" charset="-78"/>
              </a:rPr>
              <a:t> sā’iḥ · a tourist (Urdu: سیاحت = tourism)</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سَاحِلٌ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‎ساحل‎ </a:t>
            </a:r>
            <a:pPr indent="0" marL="0">
              <a:buNone/>
            </a:pPr>
            <a:r>
              <a:rPr lang="en-US" sz="950" b="1" dirty="0">
                <a:solidFill>
                  <a:srgbClr val="2E8B57"/>
                </a:solidFill>
                <a:latin typeface="Calibri" pitchFamily="34" charset="0"/>
                <a:cs typeface="Amiri" pitchFamily="2" charset="-78"/>
              </a:rPr>
              <a:t> sāḥil · coast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سَفَرٌ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‎سفر‎ </a:t>
            </a:r>
            <a:pPr indent="0" marL="0">
              <a:buNone/>
            </a:pPr>
            <a:r>
              <a:rPr lang="en-US" sz="950" b="1" dirty="0">
                <a:solidFill>
                  <a:srgbClr val="2E8B57"/>
                </a:solidFill>
                <a:latin typeface="Calibri" pitchFamily="34" charset="0"/>
                <a:cs typeface="Amiri" pitchFamily="2" charset="-78"/>
              </a:rPr>
              <a:t> safar · travel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خَرِيطَةٌ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‎نقشہ‎ </a:t>
            </a:r>
            <a:pPr indent="0" marL="0">
              <a:buNone/>
            </a:pPr>
            <a:r>
              <a:rPr lang="en-US" sz="950" b="1" dirty="0">
                <a:solidFill>
                  <a:srgbClr val="2E8B57"/>
                </a:solidFill>
                <a:latin typeface="Calibri" pitchFamily="34" charset="0"/>
                <a:cs typeface="Amiri" pitchFamily="2" charset="-78"/>
              </a:rPr>
              <a:t> kharīṭa · map (not cognate)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فُنْدُقٌ</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‎ہوٹل‎ </a:t>
            </a:r>
            <a:pPr indent="0" marL="0">
              <a:buNone/>
            </a:pPr>
            <a:r>
              <a:rPr lang="en-US" sz="950" b="1" dirty="0">
                <a:solidFill>
                  <a:srgbClr val="2E8B57"/>
                </a:solidFill>
                <a:latin typeface="Calibri" pitchFamily="34" charset="0"/>
                <a:cs typeface="Amiri" pitchFamily="2" charset="-78"/>
              </a:rPr>
              <a:t> funduq · hotel (not cognate)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نَصٌّ سِيَاحِيٌّ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tourism text</a:t>
            </a:r>
            <a:endParaRPr lang="en-US" sz="1350" dirty="0"/>
          </a:p>
          <a:p>
            <a:pPr indent="0" marL="0">
              <a:buNone/>
            </a:pPr>
            <a:r>
              <a:rPr lang="en-US" sz="1100" i="1" dirty="0">
                <a:solidFill>
                  <a:srgbClr val="5A6472"/>
                </a:solidFill>
                <a:latin typeface="Calibri" pitchFamily="34" charset="0"/>
                <a:cs typeface="Amiri" pitchFamily="2" charset="-78"/>
              </a:rPr>
              <a:t>naṣ-ṣun si-yā-ḥiy-yun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 سَفَرٍ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travel report</a:t>
            </a:r>
            <a:endParaRPr lang="en-US" sz="1350" dirty="0"/>
          </a:p>
          <a:p>
            <a:pPr indent="0" marL="0">
              <a:buNone/>
            </a:pPr>
            <a:r>
              <a:rPr lang="en-US" sz="1100" i="1" dirty="0">
                <a:solidFill>
                  <a:srgbClr val="5A6472"/>
                </a:solidFill>
                <a:latin typeface="Calibri" pitchFamily="34" charset="0"/>
                <a:cs typeface="Amiri" pitchFamily="2" charset="-78"/>
              </a:rPr>
              <a:t>taq-rī-ru sa-fa-rin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فُنْدُقٍ</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hotel review</a:t>
            </a:r>
            <a:endParaRPr lang="en-US" sz="1350" dirty="0"/>
          </a:p>
          <a:p>
            <a:pPr indent="0" marL="0">
              <a:buNone/>
            </a:pPr>
            <a:r>
              <a:rPr lang="en-US" sz="1100" i="1" dirty="0">
                <a:solidFill>
                  <a:srgbClr val="5A6472"/>
                </a:solidFill>
                <a:latin typeface="Calibri" pitchFamily="34" charset="0"/>
                <a:cs typeface="Amiri" pitchFamily="2" charset="-78"/>
              </a:rPr>
              <a:t>mu-rā-ja-ʿa-tu fun-du-qin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 سِيَاحِيٌّ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tourist guide</a:t>
            </a:r>
            <a:endParaRPr lang="en-US" sz="1350" dirty="0"/>
          </a:p>
          <a:p>
            <a:pPr indent="0" marL="0">
              <a:buNone/>
            </a:pPr>
            <a:r>
              <a:rPr lang="en-US" sz="1100" i="1" dirty="0">
                <a:solidFill>
                  <a:srgbClr val="5A6472"/>
                </a:solidFill>
                <a:latin typeface="Calibri" pitchFamily="34" charset="0"/>
                <a:cs typeface="Amiri" pitchFamily="2" charset="-78"/>
              </a:rPr>
              <a:t>da-lī-lun si-yā-ḥiy-yun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مَنْشُورٌ سِيَاحِيٌّ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tourism brochure</a:t>
            </a:r>
            <a:endParaRPr lang="en-US" sz="1350" dirty="0"/>
          </a:p>
          <a:p>
            <a:pPr indent="0" marL="0">
              <a:buNone/>
            </a:pPr>
            <a:r>
              <a:rPr lang="en-US" sz="1100" i="1" dirty="0">
                <a:solidFill>
                  <a:srgbClr val="5A6472"/>
                </a:solidFill>
                <a:latin typeface="Calibri" pitchFamily="34" charset="0"/>
                <a:cs typeface="Amiri" pitchFamily="2" charset="-78"/>
              </a:rPr>
              <a:t>man-shū-run si-yā-ḥiy-yun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مُؤَلِّفُ النَّصِّ</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text's author</a:t>
            </a:r>
            <a:endParaRPr lang="en-US" sz="1350" dirty="0"/>
          </a:p>
          <a:p>
            <a:pPr indent="0" marL="0">
              <a:buNone/>
            </a:pPr>
            <a:r>
              <a:rPr lang="en-US" sz="1100" i="1" dirty="0">
                <a:solidFill>
                  <a:srgbClr val="5A6472"/>
                </a:solidFill>
                <a:latin typeface="Calibri" pitchFamily="34" charset="0"/>
                <a:cs typeface="Amiri" pitchFamily="2" charset="-78"/>
              </a:rPr>
              <a:t>mu-ʾal-li-fu an-naṣ-ṣi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الغَرَضُ مِنَ الكِتَابَةِ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purpose of the writing</a:t>
            </a:r>
            <a:endParaRPr lang="en-US" sz="1350" dirty="0"/>
          </a:p>
          <a:p>
            <a:pPr indent="0" marL="0">
              <a:buNone/>
            </a:pPr>
            <a:r>
              <a:rPr lang="en-US" sz="1100" i="1" dirty="0">
                <a:solidFill>
                  <a:srgbClr val="5A6472"/>
                </a:solidFill>
                <a:latin typeface="Calibri" pitchFamily="34" charset="0"/>
                <a:cs typeface="Amiri" pitchFamily="2" charset="-78"/>
              </a:rPr>
              <a:t>al-gha-ra-ḍu mi-na al-ki-tā-ba-ti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السِّيَاقُ اللُّغَوِيُّ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linguistic context</a:t>
            </a:r>
            <a:endParaRPr lang="en-US" sz="1350" dirty="0"/>
          </a:p>
          <a:p>
            <a:pPr indent="0" marL="0">
              <a:buNone/>
            </a:pPr>
            <a:r>
              <a:rPr lang="en-US" sz="1100" i="1" dirty="0">
                <a:solidFill>
                  <a:srgbClr val="5A6472"/>
                </a:solidFill>
                <a:latin typeface="Calibri" pitchFamily="34" charset="0"/>
                <a:cs typeface="Amiri" pitchFamily="2" charset="-78"/>
              </a:rPr>
              <a:t>as-si-yā-qu all-lu-gha-wiy-yu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Conditional-type reading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إِذَا.</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حَقِيقِيٌّ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real conditional</a:t>
            </a:r>
            <a:endParaRPr lang="en-US" sz="1350" dirty="0"/>
          </a:p>
          <a:p>
            <a:pPr indent="0" marL="0">
              <a:buNone/>
            </a:pPr>
            <a:r>
              <a:rPr lang="en-US" sz="1100" i="1" dirty="0">
                <a:solidFill>
                  <a:srgbClr val="5A6472"/>
                </a:solidFill>
                <a:latin typeface="Calibri" pitchFamily="34" charset="0"/>
                <a:cs typeface="Amiri" pitchFamily="2" charset="-78"/>
              </a:rPr>
              <a:t>shar-ṭun ḥa-qī-qiy-yun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لَوْ.</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افْتِرَاضِيٌّ</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hypothetical conditional</a:t>
            </a:r>
            <a:endParaRPr lang="en-US" sz="1350" dirty="0"/>
          </a:p>
          <a:p>
            <a:pPr indent="0" marL="0">
              <a:buNone/>
            </a:pPr>
            <a:r>
              <a:rPr lang="en-US" sz="1100" i="1" dirty="0">
                <a:solidFill>
                  <a:srgbClr val="5A6472"/>
                </a:solidFill>
                <a:latin typeface="Calibri" pitchFamily="34" charset="0"/>
                <a:cs typeface="Amiri" pitchFamily="2" charset="-78"/>
              </a:rPr>
              <a:t>shar-ṭun af-ti-rā-ḍiy-yun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مَوْقِفُ الكَاتِبِ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writer's attitude</a:t>
            </a:r>
            <a:endParaRPr lang="en-US" sz="1350" dirty="0"/>
          </a:p>
          <a:p>
            <a:pPr indent="0" marL="0">
              <a:buNone/>
            </a:pPr>
            <a:r>
              <a:rPr lang="en-US" sz="1100" i="1" dirty="0">
                <a:solidFill>
                  <a:srgbClr val="5A6472"/>
                </a:solidFill>
                <a:latin typeface="Calibri" pitchFamily="34" charset="0"/>
                <a:cs typeface="Amiri" pitchFamily="2" charset="-78"/>
              </a:rPr>
              <a:t>maw-qi-fu al-kā-ti-bi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(signals a real possibility)</a:t>
            </a:r>
            <a:endParaRPr lang="en-US" sz="1350" dirty="0"/>
          </a:p>
          <a:p>
            <a:pPr indent="0" marL="0">
              <a:buNone/>
            </a:pPr>
            <a:r>
              <a:rPr lang="en-US" sz="1100" i="1" dirty="0">
                <a:solidFill>
                  <a:srgbClr val="5A6472"/>
                </a:solidFill>
                <a:latin typeface="Calibri" pitchFamily="34" charset="0"/>
                <a:cs typeface="Amiri" pitchFamily="2" charset="-78"/>
              </a:rPr>
              <a:t>i-dhā</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Conditional-type reading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(signals a counterfactual)</a:t>
            </a:r>
            <a:endParaRPr lang="en-US" sz="1350" dirty="0"/>
          </a:p>
          <a:p>
            <a:pPr indent="0" marL="0">
              <a:buNone/>
            </a:pPr>
            <a:r>
              <a:rPr lang="en-US" sz="1100" i="1" dirty="0">
                <a:solidFill>
                  <a:srgbClr val="5A6472"/>
                </a:solidFill>
                <a:latin typeface="Calibri" pitchFamily="34" charset="0"/>
                <a:cs typeface="Amiri" pitchFamily="2" charset="-78"/>
              </a:rPr>
              <a:t>law</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1 result marker</a:t>
            </a:r>
            <a:endParaRPr lang="en-US" sz="1350" dirty="0"/>
          </a:p>
          <a:p>
            <a:pPr indent="0" marL="0">
              <a:buNone/>
            </a:pPr>
            <a:r>
              <a:rPr lang="en-US" sz="1100" i="1" dirty="0">
                <a:solidFill>
                  <a:srgbClr val="5A6472"/>
                </a:solidFill>
                <a:latin typeface="Calibri" pitchFamily="34" charset="0"/>
                <a:cs typeface="Amiri" pitchFamily="2" charset="-78"/>
              </a:rPr>
              <a:t>sa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لَـ</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2 result marker</a:t>
            </a:r>
            <a:endParaRPr lang="en-US" sz="1350" dirty="0"/>
          </a:p>
          <a:p>
            <a:pPr indent="0" marL="0">
              <a:buNone/>
            </a:pPr>
            <a:r>
              <a:rPr lang="en-US" sz="1100" i="1" dirty="0">
                <a:solidFill>
                  <a:srgbClr val="5A6472"/>
                </a:solidFill>
                <a:latin typeface="Calibri" pitchFamily="34" charset="0"/>
                <a:cs typeface="Amiri" pitchFamily="2" charset="-78"/>
              </a:rPr>
              <a:t>la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نَقْدٌ ضِمْنِيٌّ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implicit criticism</a:t>
            </a:r>
            <a:endParaRPr lang="en-US" sz="1350" dirty="0"/>
          </a:p>
          <a:p>
            <a:pPr indent="0" marL="0">
              <a:buNone/>
            </a:pPr>
            <a:r>
              <a:rPr lang="en-US" sz="1100" i="1" dirty="0">
                <a:solidFill>
                  <a:srgbClr val="5A6472"/>
                </a:solidFill>
                <a:latin typeface="Calibri" pitchFamily="34" charset="0"/>
                <a:cs typeface="Amiri" pitchFamily="2" charset="-78"/>
              </a:rPr>
              <a:t>naq-dun ḍim-niy-yun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verbs and analysis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64226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X; direct object.</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يَسْتَنْتِجُ</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infers</a:t>
            </a:r>
            <a:endParaRPr lang="en-US" sz="1350" dirty="0"/>
          </a:p>
          <a:p>
            <a:pPr indent="0" marL="0">
              <a:buNone/>
            </a:pPr>
            <a:r>
              <a:rPr lang="en-US" sz="1100" i="1" dirty="0">
                <a:solidFill>
                  <a:srgbClr val="5A6472"/>
                </a:solidFill>
                <a:latin typeface="Calibri" pitchFamily="34" charset="0"/>
                <a:cs typeface="Amiri" pitchFamily="2" charset="-78"/>
              </a:rPr>
              <a:t>yas-tan-ti-ju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يُمَيِّزُ بَيْنَ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distinguishes between</a:t>
            </a:r>
            <a:endParaRPr lang="en-US" sz="1350" dirty="0"/>
          </a:p>
          <a:p>
            <a:pPr indent="0" marL="0">
              <a:buNone/>
            </a:pPr>
            <a:r>
              <a:rPr lang="en-US" sz="1100" i="1" dirty="0">
                <a:solidFill>
                  <a:srgbClr val="5A6472"/>
                </a:solidFill>
                <a:latin typeface="Calibri" pitchFamily="34" charset="0"/>
                <a:cs typeface="Amiri" pitchFamily="2" charset="-78"/>
              </a:rPr>
              <a:t>yu-may-yi-zu bay-na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عَلَى.</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يَدُلُّ عَلَى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indicates</a:t>
            </a:r>
            <a:endParaRPr lang="en-US" sz="1350" dirty="0"/>
          </a:p>
          <a:p>
            <a:pPr indent="0" marL="0">
              <a:buNone/>
            </a:pPr>
            <a:r>
              <a:rPr lang="en-US" sz="1100" i="1" dirty="0">
                <a:solidFill>
                  <a:srgbClr val="5A6472"/>
                </a:solidFill>
                <a:latin typeface="Calibri" pitchFamily="34" charset="0"/>
                <a:cs typeface="Amiri" pitchFamily="2" charset="-78"/>
              </a:rPr>
              <a:t>ya-dul-lu ʿa-lā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9" name="Shape 36"/>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عَنْ.</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يَكْشِفُ عَنْ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reveals</a:t>
            </a:r>
            <a:endParaRPr lang="en-US" sz="1350" dirty="0"/>
          </a:p>
          <a:p>
            <a:pPr indent="0" marL="0">
              <a:buNone/>
            </a:pPr>
            <a:r>
              <a:rPr lang="en-US" sz="1100" i="1" dirty="0">
                <a:solidFill>
                  <a:srgbClr val="5A6472"/>
                </a:solidFill>
                <a:latin typeface="Calibri" pitchFamily="34" charset="0"/>
                <a:cs typeface="Amiri" pitchFamily="2" charset="-78"/>
              </a:rPr>
              <a:t>yak-shi-fu ʿan</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verbs and analysis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يَقْتَرِحُ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suggests</a:t>
            </a:r>
            <a:endParaRPr lang="en-US" sz="1350" dirty="0"/>
          </a:p>
          <a:p>
            <a:pPr indent="0" marL="0">
              <a:buNone/>
            </a:pPr>
            <a:r>
              <a:rPr lang="en-US" sz="1100" i="1" dirty="0">
                <a:solidFill>
                  <a:srgbClr val="5A6472"/>
                </a:solidFill>
                <a:latin typeface="Calibri" pitchFamily="34" charset="0"/>
                <a:cs typeface="Amiri" pitchFamily="2" charset="-78"/>
              </a:rPr>
              <a:t>yaq-ta-ri-ḥu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VIII; direct object.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تَسَلْسُلُ الأَحْدَاثِ</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sequence of events</a:t>
            </a:r>
            <a:endParaRPr lang="en-US" sz="1350" dirty="0"/>
          </a:p>
          <a:p>
            <a:pPr indent="0" marL="0">
              <a:buNone/>
            </a:pPr>
            <a:r>
              <a:rPr lang="en-US" sz="1100" i="1" dirty="0">
                <a:solidFill>
                  <a:srgbClr val="5A6472"/>
                </a:solidFill>
                <a:latin typeface="Calibri" pitchFamily="34" charset="0"/>
                <a:cs typeface="Amiri" pitchFamily="2" charset="-78"/>
              </a:rPr>
              <a:t>ta-sal-su-lu al-aḥ-dā-thi</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1" name="Text 2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تَوْصِيَةٌ</a:t>
            </a:r>
            <a:endParaRPr lang="ar-SA" sz="3000" dirty="0"/>
          </a:p>
        </p:txBody>
      </p:sp>
      <p:sp>
        <p:nvSpPr>
          <p:cNvPr id="32" name="Text 2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recommendation</a:t>
            </a:r>
            <a:endParaRPr lang="en-US" sz="1350" dirty="0"/>
          </a:p>
          <a:p>
            <a:pPr indent="0" marL="0">
              <a:buNone/>
            </a:pPr>
            <a:r>
              <a:rPr lang="en-US" sz="1100" i="1" dirty="0">
                <a:solidFill>
                  <a:srgbClr val="5A6472"/>
                </a:solidFill>
                <a:latin typeface="Calibri" pitchFamily="34" charset="0"/>
                <a:cs typeface="Amiri" pitchFamily="2" charset="-78"/>
              </a:rPr>
              <a:t>taw-ṣi-ya-tun</a:t>
            </a:r>
            <a:endParaRPr lang="en-US" sz="1350" dirty="0"/>
          </a:p>
        </p:txBody>
      </p:sp>
      <p:sp>
        <p:nvSpPr>
          <p:cNvPr id="33" name="Shape 3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8211312" y="4261104"/>
            <a:ext cx="310896" cy="310896"/>
          </a:xfrm>
          <a:prstGeom prst="ellipse">
            <a:avLst/>
          </a:prstGeom>
          <a:solidFill>
            <a:srgbClr val="F4F1EA"/>
          </a:solidFill>
          <a:ln w="12700">
            <a:solidFill>
              <a:srgbClr val="F4F1EA"/>
            </a:solidFill>
            <a:prstDash val="solid"/>
          </a:ln>
        </p:spPr>
      </p:sp>
      <p:sp>
        <p:nvSpPr>
          <p:cNvPr id="35" name="Text 3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مَوْثُوقِيَّةٌ</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reliability</a:t>
            </a:r>
            <a:endParaRPr lang="en-US" sz="1350" dirty="0"/>
          </a:p>
          <a:p>
            <a:pPr indent="0" marL="0">
              <a:buNone/>
            </a:pPr>
            <a:r>
              <a:rPr lang="en-US" sz="1100" i="1" dirty="0">
                <a:solidFill>
                  <a:srgbClr val="5A6472"/>
                </a:solidFill>
                <a:latin typeface="Calibri" pitchFamily="34" charset="0"/>
                <a:cs typeface="Amiri" pitchFamily="2" charset="-78"/>
              </a:rPr>
              <a:t>maw-thū-qiy-ya-tun</a:t>
            </a:r>
            <a:endParaRPr lang="en-US" sz="13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TOPIC A · TRAVEL AND TOURISM (WEBSITE VISUAL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 holiday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العُطْلَةِ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سَائِحٌ</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tourist</a:t>
            </a:r>
            <a:endParaRPr lang="en-US" sz="1350" dirty="0"/>
          </a:p>
          <a:p>
            <a:pPr indent="0" marL="0">
              <a:buNone/>
            </a:pPr>
            <a:r>
              <a:rPr lang="en-US" sz="1100" i="1" dirty="0">
                <a:solidFill>
                  <a:srgbClr val="5A6472"/>
                </a:solidFill>
                <a:latin typeface="Calibri" pitchFamily="34" charset="0"/>
                <a:cs typeface="Amiri" pitchFamily="2" charset="-78"/>
              </a:rPr>
              <a:t>sā-ʾi-ḥun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سُيَّاحٌ</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سَائِحَةٌ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سَائِحٌ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فُنْدُقٌ</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hotel</a:t>
            </a:r>
            <a:endParaRPr lang="en-US" sz="1350" dirty="0"/>
          </a:p>
          <a:p>
            <a:pPr indent="0" marL="0">
              <a:buNone/>
            </a:pPr>
            <a:r>
              <a:rPr lang="en-US" sz="1100" i="1" dirty="0">
                <a:solidFill>
                  <a:srgbClr val="5A6472"/>
                </a:solidFill>
                <a:latin typeface="Calibri" pitchFamily="34" charset="0"/>
                <a:cs typeface="Amiri" pitchFamily="2" charset="-78"/>
              </a:rPr>
              <a:t>fun-du-qun</a:t>
            </a:r>
            <a:endParaRPr lang="en-US" sz="1350" dirty="0"/>
          </a:p>
        </p:txBody>
      </p:sp>
      <p:sp>
        <p:nvSpPr>
          <p:cNvPr id="42" name="Shape 39"/>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فَنَادِقُ</a:t>
            </a:r>
            <a:endParaRPr lang="ar-SA" sz="1500" dirty="0"/>
          </a:p>
        </p:txBody>
      </p:sp>
      <p:sp>
        <p:nvSpPr>
          <p:cNvPr id="45" name="Shape 42"/>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7" name="Text 44"/>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فُنْدُقٌ</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51" name="Shape 48"/>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مَعْلَمٌ</a:t>
            </a:r>
            <a:endParaRPr lang="ar-SA" sz="3000" dirty="0"/>
          </a:p>
        </p:txBody>
      </p:sp>
      <p:sp>
        <p:nvSpPr>
          <p:cNvPr id="56" name="Text 5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landmark, a sight</a:t>
            </a:r>
            <a:endParaRPr lang="en-US" sz="1350" dirty="0"/>
          </a:p>
          <a:p>
            <a:pPr indent="0" marL="0">
              <a:buNone/>
            </a:pPr>
            <a:r>
              <a:rPr lang="en-US" sz="1100" i="1" dirty="0">
                <a:solidFill>
                  <a:srgbClr val="5A6472"/>
                </a:solidFill>
                <a:latin typeface="Calibri" pitchFamily="34" charset="0"/>
                <a:cs typeface="Amiri" pitchFamily="2" charset="-78"/>
              </a:rPr>
              <a:t>maʿ-la-mun</a:t>
            </a:r>
            <a:endParaRPr lang="en-US" sz="1350" dirty="0"/>
          </a:p>
        </p:txBody>
      </p:sp>
      <p:sp>
        <p:nvSpPr>
          <p:cNvPr id="57" name="Shape 5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مَعَالِمُ</a:t>
            </a:r>
            <a:endParaRPr lang="ar-SA" sz="1500" dirty="0"/>
          </a:p>
        </p:txBody>
      </p:sp>
      <p:sp>
        <p:nvSpPr>
          <p:cNvPr id="60" name="Shape 5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مَعْلَمٌ</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66" name="Shape 6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Shape 6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شَاطِئٌ</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beach</a:t>
            </a:r>
            <a:endParaRPr lang="en-US" sz="1350" dirty="0"/>
          </a:p>
          <a:p>
            <a:pPr indent="0" marL="0">
              <a:buNone/>
            </a:pPr>
            <a:r>
              <a:rPr lang="en-US" sz="1100" i="1" dirty="0">
                <a:solidFill>
                  <a:srgbClr val="5A6472"/>
                </a:solidFill>
                <a:latin typeface="Calibri" pitchFamily="34" charset="0"/>
                <a:cs typeface="Amiri" pitchFamily="2" charset="-78"/>
              </a:rPr>
              <a:t>shā-ṭi-ʾun</a:t>
            </a:r>
            <a:endParaRPr lang="en-US" sz="1350" dirty="0"/>
          </a:p>
        </p:txBody>
      </p:sp>
      <p:sp>
        <p:nvSpPr>
          <p:cNvPr id="72" name="Shape 69"/>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شَوَاطِئُ</a:t>
            </a:r>
            <a:endParaRPr lang="ar-SA" sz="1500" dirty="0"/>
          </a:p>
        </p:txBody>
      </p:sp>
      <p:sp>
        <p:nvSpPr>
          <p:cNvPr id="75" name="Shape 72"/>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7" name="Text 74"/>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شَاطِئٌ</a:t>
            </a:r>
            <a:endParaRPr lang="ar-SA" sz="1500" dirty="0"/>
          </a:p>
        </p:txBody>
      </p:sp>
      <p:sp>
        <p:nvSpPr>
          <p:cNvPr id="78" name="Shape 7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4389120"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81" name="Shape 78"/>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3" name="Shape 8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5" name="Text 8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خَرِيطَةٌ</a:t>
            </a:r>
            <a:endParaRPr lang="ar-SA" sz="3000" dirty="0"/>
          </a:p>
        </p:txBody>
      </p:sp>
      <p:sp>
        <p:nvSpPr>
          <p:cNvPr id="86" name="Text 8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map</a:t>
            </a:r>
            <a:endParaRPr lang="en-US" sz="1350" dirty="0"/>
          </a:p>
          <a:p>
            <a:pPr indent="0" marL="0">
              <a:buNone/>
            </a:pPr>
            <a:r>
              <a:rPr lang="en-US" sz="1100" i="1" dirty="0">
                <a:solidFill>
                  <a:srgbClr val="5A6472"/>
                </a:solidFill>
                <a:latin typeface="Calibri" pitchFamily="34" charset="0"/>
                <a:cs typeface="Amiri" pitchFamily="2" charset="-78"/>
              </a:rPr>
              <a:t>kha-rī-ṭa-tun</a:t>
            </a:r>
            <a:endParaRPr lang="en-US" sz="1350" dirty="0"/>
          </a:p>
        </p:txBody>
      </p:sp>
      <p:sp>
        <p:nvSpPr>
          <p:cNvPr id="87" name="Shape 84"/>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9" name="Text 86"/>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خَرَائِطُ</a:t>
            </a:r>
            <a:endParaRPr lang="ar-SA" sz="1500" dirty="0"/>
          </a:p>
        </p:txBody>
      </p:sp>
      <p:sp>
        <p:nvSpPr>
          <p:cNvPr id="90" name="Shape 87"/>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2" name="Text 89"/>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خَرِيطَةٌ</a:t>
            </a:r>
            <a:endParaRPr lang="ar-SA" sz="1500" dirty="0"/>
          </a:p>
        </p:txBody>
      </p:sp>
      <p:sp>
        <p:nvSpPr>
          <p:cNvPr id="93" name="Shape 9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566928" y="4261104"/>
            <a:ext cx="310896" cy="310896"/>
          </a:xfrm>
          <a:prstGeom prst="ellipse">
            <a:avLst/>
          </a:prstGeom>
          <a:solidFill>
            <a:srgbClr val="F4F1EA"/>
          </a:solidFill>
          <a:ln w="12700">
            <a:solidFill>
              <a:srgbClr val="F4F1EA"/>
            </a:solidFill>
            <a:prstDash val="solid"/>
          </a:ln>
        </p:spPr>
      </p:sp>
      <p:sp>
        <p:nvSpPr>
          <p:cNvPr id="95" name="Text 9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96" name="Shape 93"/>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7" name="Text 94"/>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98" name="Shape 9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9" name="Text 9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00" name="Text 9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a:t>
            </a:r>
            <a:endParaRPr lang="ar-SA" sz="3000" dirty="0"/>
          </a:p>
        </p:txBody>
      </p:sp>
      <p:sp>
        <p:nvSpPr>
          <p:cNvPr id="101" name="Text 9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trip, a journey</a:t>
            </a:r>
            <a:endParaRPr lang="en-US" sz="1350" dirty="0"/>
          </a:p>
          <a:p>
            <a:pPr indent="0" marL="0">
              <a:buNone/>
            </a:pPr>
            <a:r>
              <a:rPr lang="en-US" sz="1100" i="1" dirty="0">
                <a:solidFill>
                  <a:srgbClr val="5A6472"/>
                </a:solidFill>
                <a:latin typeface="Calibri" pitchFamily="34" charset="0"/>
                <a:cs typeface="Amiri" pitchFamily="2" charset="-78"/>
              </a:rPr>
              <a:t>riḥ-la-tun</a:t>
            </a:r>
            <a:endParaRPr lang="en-US" sz="1350" dirty="0"/>
          </a:p>
        </p:txBody>
      </p:sp>
      <p:sp>
        <p:nvSpPr>
          <p:cNvPr id="102" name="Shape 99"/>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4" name="Text 101"/>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رِحْلَاتٌ</a:t>
            </a:r>
            <a:endParaRPr lang="ar-SA" sz="1500" dirty="0"/>
          </a:p>
        </p:txBody>
      </p:sp>
      <p:sp>
        <p:nvSpPr>
          <p:cNvPr id="105" name="Shape 102"/>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6" name="Text 103"/>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7" name="Text 104"/>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رِحْلَةٌ</a:t>
            </a:r>
            <a:endParaRPr lang="ar-SA" sz="150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TWO KINDS OF “IF”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If … (real) and if only … (not real)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 لَوْ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4186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If …</a:t>
            </a:r>
            <a:endParaRPr lang="en-US" sz="1100" dirty="0"/>
          </a:p>
        </p:txBody>
      </p:sp>
      <p:sp>
        <p:nvSpPr>
          <p:cNvPr id="17" name="Text 14"/>
          <p:cNvSpPr txBox="1"/>
          <p:nvPr/>
        </p:nvSpPr>
        <p:spPr>
          <a:xfrm>
            <a:off x="833018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8" name="Text 15"/>
          <p:cNvSpPr txBox="1"/>
          <p:nvPr/>
        </p:nvSpPr>
        <p:spPr>
          <a:xfrm>
            <a:off x="3392424"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shows</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360152" y="2267712"/>
            <a:ext cx="1280160" cy="731520"/>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إِذَا</a:t>
            </a:r>
            <a:endParaRPr lang="ar-SA" sz="2600" dirty="0"/>
          </a:p>
        </p:txBody>
      </p:sp>
      <p:sp>
        <p:nvSpPr>
          <p:cNvPr id="22" name="Text 19"/>
          <p:cNvSpPr txBox="1"/>
          <p:nvPr/>
        </p:nvSpPr>
        <p:spPr>
          <a:xfrm>
            <a:off x="836676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(Type 1)</a:t>
            </a:r>
            <a:endParaRPr lang="en-US" sz="1100" dirty="0"/>
          </a:p>
        </p:txBody>
      </p:sp>
      <p:sp>
        <p:nvSpPr>
          <p:cNvPr id="23" name="Text 20"/>
          <p:cNvSpPr txBox="1"/>
          <p:nvPr/>
        </p:nvSpPr>
        <p:spPr>
          <a:xfrm>
            <a:off x="3410712" y="2267712"/>
            <a:ext cx="475488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إِذَا</a:t>
            </a:r>
            <a:pPr rtl="1" algn="ctr" indent="0" marL="0">
              <a:buNone/>
            </a:pPr>
            <a:r>
              <a:rPr lang="ar-SA" altLang="en-US" sz="2200" b="1" dirty="0">
                <a:solidFill>
                  <a:srgbClr val="1B3B6F"/>
                </a:solidFill>
                <a:latin typeface="Amiri" pitchFamily="2" charset="-78"/>
                <a:ea typeface="Amiri" pitchFamily="2" charset="-78"/>
                <a:cs typeface="Amiri" pitchFamily="2" charset="-78"/>
              </a:rPr>
              <a:t> زُرْتَ البَتْرَاءَ، </a:t>
            </a:r>
            <a:pPr rtl="1" algn="ctr" indent="0" marL="0">
              <a:buNone/>
            </a:pPr>
            <a:r>
              <a:rPr lang="ar-SA" altLang="en-US" sz="2200" b="1" dirty="0">
                <a:solidFill>
                  <a:srgbClr val="1D5FBF"/>
                </a:solidFill>
                <a:latin typeface="Amiri" pitchFamily="2" charset="-78"/>
                <a:ea typeface="Amiri" pitchFamily="2" charset="-78"/>
                <a:cs typeface="Amiri" pitchFamily="2" charset="-78"/>
              </a:rPr>
              <a:t>سَ</a:t>
            </a:r>
            <a:pPr rtl="1" algn="ctr" indent="0" marL="0">
              <a:buNone/>
            </a:pPr>
            <a:r>
              <a:rPr lang="ar-SA" altLang="en-US" sz="2200" b="1" dirty="0">
                <a:solidFill>
                  <a:srgbClr val="1B3B6F"/>
                </a:solidFill>
                <a:latin typeface="Amiri" pitchFamily="2" charset="-78"/>
                <a:ea typeface="Amiri" pitchFamily="2" charset="-78"/>
                <a:cs typeface="Amiri" pitchFamily="2" charset="-78"/>
              </a:rPr>
              <a:t>تُحِبُّهَا.</a:t>
            </a:r>
            <a:endParaRPr lang="ar-SA" sz="2200" dirty="0"/>
          </a:p>
        </p:txBody>
      </p:sp>
      <p:sp>
        <p:nvSpPr>
          <p:cNvPr id="24" name="Text 21"/>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advice: it can really happen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360152" y="3054096"/>
            <a:ext cx="1280160" cy="731520"/>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لَوْ</a:t>
            </a:r>
            <a:endParaRPr lang="ar-SA" sz="2600" dirty="0"/>
          </a:p>
        </p:txBody>
      </p:sp>
      <p:sp>
        <p:nvSpPr>
          <p:cNvPr id="29" name="Text 26"/>
          <p:cNvSpPr txBox="1"/>
          <p:nvPr/>
        </p:nvSpPr>
        <p:spPr>
          <a:xfrm>
            <a:off x="836676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real (Type 2)</a:t>
            </a:r>
            <a:endParaRPr lang="en-US" sz="1100" dirty="0"/>
          </a:p>
        </p:txBody>
      </p:sp>
      <p:sp>
        <p:nvSpPr>
          <p:cNvPr id="30" name="Text 27"/>
          <p:cNvSpPr txBox="1"/>
          <p:nvPr/>
        </p:nvSpPr>
        <p:spPr>
          <a:xfrm>
            <a:off x="3410712" y="3054096"/>
            <a:ext cx="475488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لَوْ</a:t>
            </a:r>
            <a:pPr rtl="1" algn="ctr" indent="0" marL="0">
              <a:buNone/>
            </a:pPr>
            <a:r>
              <a:rPr lang="ar-SA" altLang="en-US" sz="2200" b="1" dirty="0">
                <a:solidFill>
                  <a:srgbClr val="1B3B6F"/>
                </a:solidFill>
                <a:latin typeface="Amiri" pitchFamily="2" charset="-78"/>
                <a:ea typeface="Amiri" pitchFamily="2" charset="-78"/>
                <a:cs typeface="Amiri" pitchFamily="2" charset="-78"/>
              </a:rPr>
              <a:t> نُظِّمَتِ الزِّيَارَاتُ، </a:t>
            </a:r>
            <a:pPr rtl="1" algn="ctr" indent="0" marL="0">
              <a:buNone/>
            </a:pPr>
            <a:r>
              <a:rPr lang="ar-SA" altLang="en-US" sz="2200" b="1" dirty="0">
                <a:solidFill>
                  <a:srgbClr val="D6336C"/>
                </a:solidFill>
                <a:latin typeface="Amiri" pitchFamily="2" charset="-78"/>
                <a:ea typeface="Amiri" pitchFamily="2" charset="-78"/>
                <a:cs typeface="Amiri" pitchFamily="2" charset="-78"/>
              </a:rPr>
              <a:t>لَ</a:t>
            </a:r>
            <a:pPr rtl="1" algn="ctr" indent="0" marL="0">
              <a:buNone/>
            </a:pPr>
            <a:r>
              <a:rPr lang="ar-SA" altLang="en-US" sz="2200" b="1" dirty="0">
                <a:solidFill>
                  <a:srgbClr val="1B3B6F"/>
                </a:solidFill>
                <a:latin typeface="Amiri" pitchFamily="2" charset="-78"/>
                <a:ea typeface="Amiri" pitchFamily="2" charset="-78"/>
                <a:cs typeface="Amiri" pitchFamily="2" charset="-78"/>
              </a:rPr>
              <a:t>كَانَ أَفْضَلَ.</a:t>
            </a:r>
            <a:endParaRPr lang="ar-SA" sz="2200" dirty="0"/>
          </a:p>
        </p:txBody>
      </p:sp>
      <p:sp>
        <p:nvSpPr>
          <p:cNvPr id="31" name="Text 28"/>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did not happen → criticism</a:t>
            </a:r>
            <a:endParaRPr lang="en-US" sz="11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10360152" y="3840480"/>
            <a:ext cx="1280160" cy="731520"/>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سَـ</a:t>
            </a:r>
            <a:endParaRPr lang="ar-SA" sz="2600" dirty="0"/>
          </a:p>
        </p:txBody>
      </p:sp>
      <p:sp>
        <p:nvSpPr>
          <p:cNvPr id="34" name="Text 31"/>
          <p:cNvSpPr txBox="1"/>
          <p:nvPr/>
        </p:nvSpPr>
        <p:spPr>
          <a:xfrm>
            <a:off x="836676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 Type 1</a:t>
            </a:r>
            <a:endParaRPr lang="en-US" sz="1100" dirty="0"/>
          </a:p>
        </p:txBody>
      </p:sp>
      <p:sp>
        <p:nvSpPr>
          <p:cNvPr id="35" name="Text 32"/>
          <p:cNvSpPr txBox="1"/>
          <p:nvPr/>
        </p:nvSpPr>
        <p:spPr>
          <a:xfrm>
            <a:off x="3410712" y="3840480"/>
            <a:ext cx="4754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إِذَا حَجَزْتَ مُبَكِّرًا، </a:t>
            </a:r>
            <a:pPr rtl="1" algn="ctr" indent="0" marL="0">
              <a:buNone/>
            </a:pPr>
            <a:r>
              <a:rPr lang="ar-SA" altLang="en-US" sz="2200" b="1" dirty="0">
                <a:solidFill>
                  <a:srgbClr val="1D5FBF"/>
                </a:solidFill>
                <a:latin typeface="Amiri" pitchFamily="2" charset="-78"/>
                <a:ea typeface="Amiri" pitchFamily="2" charset="-78"/>
                <a:cs typeface="Amiri" pitchFamily="2" charset="-78"/>
              </a:rPr>
              <a:t>سَ</a:t>
            </a:r>
            <a:pPr rtl="1" algn="ctr" indent="0" marL="0">
              <a:buNone/>
            </a:pPr>
            <a:r>
              <a:rPr lang="ar-SA" altLang="en-US" sz="2200" b="1" dirty="0">
                <a:solidFill>
                  <a:srgbClr val="1B3B6F"/>
                </a:solidFill>
                <a:latin typeface="Amiri" pitchFamily="2" charset="-78"/>
                <a:ea typeface="Amiri" pitchFamily="2" charset="-78"/>
                <a:cs typeface="Amiri" pitchFamily="2" charset="-78"/>
              </a:rPr>
              <a:t>تُوَفِّرُ.</a:t>
            </a:r>
            <a:endParaRPr lang="ar-SA" sz="2200" dirty="0"/>
          </a:p>
        </p:txBody>
      </p:sp>
      <p:sp>
        <p:nvSpPr>
          <p:cNvPr id="36" name="Text 33"/>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goes with idhā</a:t>
            </a:r>
            <a:endParaRPr lang="en-US" sz="110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360152" y="4626864"/>
            <a:ext cx="1280160" cy="731520"/>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لَـ</a:t>
            </a:r>
            <a:endParaRPr lang="ar-SA" sz="2600" dirty="0"/>
          </a:p>
        </p:txBody>
      </p:sp>
      <p:sp>
        <p:nvSpPr>
          <p:cNvPr id="39" name="Text 36"/>
          <p:cNvSpPr txBox="1"/>
          <p:nvPr/>
        </p:nvSpPr>
        <p:spPr>
          <a:xfrm>
            <a:off x="836676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 Type 2</a:t>
            </a:r>
            <a:endParaRPr lang="en-US" sz="1100" dirty="0"/>
          </a:p>
        </p:txBody>
      </p:sp>
      <p:sp>
        <p:nvSpPr>
          <p:cNvPr id="40" name="Text 37"/>
          <p:cNvSpPr txBox="1"/>
          <p:nvPr/>
        </p:nvSpPr>
        <p:spPr>
          <a:xfrm>
            <a:off x="3410712" y="4626864"/>
            <a:ext cx="4754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لَوْ حَجَزْتَ مُبَكِّرًا، </a:t>
            </a:r>
            <a:pPr rtl="1" algn="ctr" indent="0" marL="0">
              <a:buNone/>
            </a:pPr>
            <a:r>
              <a:rPr lang="ar-SA" altLang="en-US" sz="2200" b="1" dirty="0">
                <a:solidFill>
                  <a:srgbClr val="D6336C"/>
                </a:solidFill>
                <a:latin typeface="Amiri" pitchFamily="2" charset="-78"/>
                <a:ea typeface="Amiri" pitchFamily="2" charset="-78"/>
                <a:cs typeface="Amiri" pitchFamily="2" charset="-78"/>
              </a:rPr>
              <a:t>لَ</a:t>
            </a:r>
            <a:pPr rtl="1" algn="ctr" indent="0" marL="0">
              <a:buNone/>
            </a:pPr>
            <a:r>
              <a:rPr lang="ar-SA" altLang="en-US" sz="2200" b="1" dirty="0">
                <a:solidFill>
                  <a:srgbClr val="1B3B6F"/>
                </a:solidFill>
                <a:latin typeface="Amiri" pitchFamily="2" charset="-78"/>
                <a:ea typeface="Amiri" pitchFamily="2" charset="-78"/>
                <a:cs typeface="Amiri" pitchFamily="2" charset="-78"/>
              </a:rPr>
              <a:t>وَفَّرْتَ.</a:t>
            </a:r>
            <a:endParaRPr lang="ar-SA" sz="2200" dirty="0"/>
          </a:p>
        </p:txBody>
      </p:sp>
      <p:sp>
        <p:nvSpPr>
          <p:cNvPr id="41" name="Text 38"/>
          <p:cNvSpPr txBox="1"/>
          <p:nvPr/>
        </p:nvSpPr>
        <p:spPr>
          <a:xfrm>
            <a:off x="56692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goes with law</a:t>
            </a:r>
            <a:endParaRPr lang="en-US" sz="1100" dirty="0"/>
          </a:p>
        </p:txBody>
      </p:sp>
      <p:sp>
        <p:nvSpPr>
          <p:cNvPr id="42" name="Text 3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Core: idhā = if (real advice). Develop: match sa- with idhā and la- with law. Stretch: law → the writer is criticising.</a:t>
            </a:r>
            <a:endParaRPr lang="en-US" sz="11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READING LIKE A DETECTIVE (TOPIC A: EVIDENCE, INFERENCE, TIME FRAMES)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it, infer it, date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الدَّلِيلُ · الاِسْتِنْتَاجُ ·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FIND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exact words</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رَكِبْنَا الحَافِلَةَ إِلَى البَتْرَاءِ.</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took the bus to Petra.</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Transport? → copy these words.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INFER · DEVELOP</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two clues</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الجَوُّ حَارٌّ + نَسِيَ قُبَّعَتَهُ</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hot weather + forgot his hat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 why the headache (not stated).</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TIME FRAME · DEVELOP</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past · advice</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سَافَرْتُ … سَتُحِبُّهَا</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travelled (past) … you will love it (future)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Story in the past, advice for the future.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after law the result takes la-, not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لَوْ حَجَزْتَ مُبَكِّرًا، لَوَفَّرْتَ.</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لَوْ حَجَزْتَ مُبَكِّرًا، سَتُوَفِّرُ.</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conditionals for attitude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قِرَاءَةُ الشَّرْطِ لِفَهْمِ المَوْقِفِ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Classify by particle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dirty="0">
                <a:solidFill>
                  <a:srgbClr val="5A6472"/>
                </a:solidFill>
                <a:latin typeface="Calibri" pitchFamily="34" charset="0"/>
                <a:cs typeface="Amiri" pitchFamily="2" charset="-78"/>
              </a:rPr>
              <a:t> (real) · </a:t>
            </a:r>
            <a:pPr algn="l" indent="0" marL="0">
              <a:buNone/>
            </a:pPr>
            <a:r>
              <a:rPr lang="ar-SA" altLang="en-US" sz="1350" dirty="0">
                <a:solidFill>
                  <a:srgbClr val="5A6472"/>
                </a:solidFill>
                <a:latin typeface="Amiri" pitchFamily="2" charset="-78"/>
                <a:ea typeface="Amiri" pitchFamily="2" charset="-78"/>
                <a:cs typeface="Amiri" pitchFamily="2" charset="-78"/>
              </a:rPr>
              <a:t>لَوْ</a:t>
            </a:r>
            <a:pPr algn="l" indent="0" marL="0">
              <a:buNone/>
            </a:pPr>
            <a:r>
              <a:rPr lang="en-US" sz="1050" dirty="0">
                <a:solidFill>
                  <a:srgbClr val="5A6472"/>
                </a:solidFill>
                <a:latin typeface="Calibri" pitchFamily="34" charset="0"/>
                <a:cs typeface="Amiri" pitchFamily="2" charset="-78"/>
              </a:rPr>
              <a:t> (hypothetical)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algn="l" indent="0" marL="0">
              <a:buNone/>
            </a:pPr>
            <a:r>
              <a:rPr lang="ar-SA" altLang="en-US" sz="2600" b="1" dirty="0">
                <a:solidFill>
                  <a:srgbClr val="1F2A37"/>
                </a:solidFill>
                <a:latin typeface="Amiri" pitchFamily="2" charset="-78"/>
                <a:ea typeface="Amiri" pitchFamily="2" charset="-78"/>
                <a:cs typeface="Amiri" pitchFamily="2" charset="-78"/>
              </a:rPr>
              <a:t>إِذَا زُرْتَ الأُرْدُنَّ، لَنْ تَنْدَمَ</a:t>
            </a:r>
            <a:pPr algn="l" indent="0" marL="0">
              <a:buNone/>
            </a:pPr>
            <a:r>
              <a:rPr lang="en-US" sz="2000" b="1" dirty="0">
                <a:solidFill>
                  <a:srgbClr val="1F2A37"/>
                </a:solidFill>
                <a:latin typeface="Calibri" pitchFamily="34" charset="0"/>
                <a:cs typeface="Amiri" pitchFamily="2" charset="-78"/>
              </a:rPr>
              <a:t> → real recommendation   ·   </a:t>
            </a:r>
            <a:pPr algn="l" indent="0" marL="0">
              <a:buNone/>
            </a:pPr>
            <a:r>
              <a:rPr lang="ar-SA" altLang="en-US" sz="2600" b="1" dirty="0">
                <a:solidFill>
                  <a:srgbClr val="1F2A37"/>
                </a:solidFill>
                <a:latin typeface="Amiri" pitchFamily="2" charset="-78"/>
                <a:ea typeface="Amiri" pitchFamily="2" charset="-78"/>
                <a:cs typeface="Amiri" pitchFamily="2" charset="-78"/>
              </a:rPr>
              <a:t>لَوْ نُظِّمَتِ الزِّيَارَاتُ، لَكَانَ أَفْضَلَ</a:t>
            </a:r>
            <a:pPr algn="l" indent="0" marL="0">
              <a:buNone/>
            </a:pPr>
            <a:r>
              <a:rPr lang="en-US" sz="2000" b="1" dirty="0">
                <a:solidFill>
                  <a:srgbClr val="1F2A37"/>
                </a:solidFill>
                <a:latin typeface="Calibri" pitchFamily="34" charset="0"/>
                <a:cs typeface="Amiri" pitchFamily="2" charset="-78"/>
              </a:rPr>
              <a:t> → counterfactual</a:t>
            </a:r>
            <a:endParaRPr lang="en-US"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Read the attitude (R3)</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Type 2 → implicit criticism</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algn="l" indent="0" marL="0">
              <a:buNone/>
            </a:pPr>
            <a:r>
              <a:rPr lang="ar-SA" altLang="en-US" sz="2600" b="1" dirty="0">
                <a:solidFill>
                  <a:srgbClr val="1F2A37"/>
                </a:solidFill>
                <a:latin typeface="Amiri" pitchFamily="2" charset="-78"/>
                <a:ea typeface="Amiri" pitchFamily="2" charset="-78"/>
                <a:cs typeface="Amiri" pitchFamily="2" charset="-78"/>
              </a:rPr>
              <a:t>لَوْ اهْتَمَّتِ الدَّوْلَةُ بِالتُّرَاثِ، لَمَا تَدَهْوَرَ</a:t>
            </a:r>
            <a:pPr algn="l" indent="0" marL="0">
              <a:buNone/>
            </a:pPr>
            <a:r>
              <a:rPr lang="en-US" sz="2000" b="1" dirty="0">
                <a:solidFill>
                  <a:srgbClr val="1F2A37"/>
                </a:solidFill>
                <a:latin typeface="Calibri" pitchFamily="34" charset="0"/>
                <a:cs typeface="Amiri" pitchFamily="2" charset="-78"/>
              </a:rPr>
              <a:t> → the writer finds current care inadequate</a:t>
            </a:r>
            <a:endParaRPr lang="en-US"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Match the result marker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إِذَا … سَـ · لَوْ … لَـ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حَجَزْتَ مُبَكِّرًا، سَتُوَفِّرُ   ·   لَوْ حَجَزْتَ مُبَكِّرًا، لَوَفَّرْتَ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Reading verbs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يَدُلُّ عَلَى · يَكْشِفُ عَنْ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يَدُلُّ اخْتِيَارُ لَوْ عَلَى نَقْدٍ ضِمْنِيٍّ   ·   يَكْشِفُ النَّصُّ عَنْ مَوْقِفٍ نَاقِدٍ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real (Type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زُرْتَ الأُرْدُنَّ، لَمَا نَدِمْتَ.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نُظِّمَتِ الزِّيَارَاتُ، لَكَانَ أَفْضَلَ.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الأُرْدُنَّ، لَنْ تَنْدَمَ.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hypothetical (Type 2)?</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زَارَ المُسَافِرُونَ بِأَعْدَادٍ أَقَلَّ، لَكَانَتِ الحَالَةُ أَفْضَلَ.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الأُرْدُنَّ، سَتَسْتَمْتِعُ.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حَجَزْتَ مُبَكِّرًا، سَتُوَفِّرُ.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 in a real conditional:</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حَجَزْتَ مُبَكِّرًا، ___ المَالَ.</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وَفَّرْتَ</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 in a counterfactual:</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مُبَكِّرًا، ___ المَالَ.</a:t>
            </a:r>
            <a:endParaRPr lang="ar-SA" sz="15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تُوَفِّرُ</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real (Type 1)?</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زُرْتَ الأُرْدُنَّ، لَمَا نَدِمْتَ.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نُظِّمَتِ الزِّيَارَاتُ، لَكَانَ أَفْضَلَ.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زُرْتَ الأُرْدُنَّ، لَنْ تَنْدَمَ.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marks a real possibility, here a recommendation.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hypothetical (Type 2)?</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زَارَ المُسَافِرُونَ بِأَعْدَادٍ أَقَلَّ، لَكَانَتِ الحَالَةُ أَفْضَلَ.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زُرْتَ الأُرْدُنَّ، سَتَسْتَمْتِعُ.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حَجَزْتَ مُبَكِّرًا، سَتُوَفِّرُ.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marks a counterfactual.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 in a real conditional:</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حَجَزْتَ مُبَكِّرًا، ___ المَالَ.</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لَوَفَّرْتَ</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سَتُوَفِّرُ</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وَفَّرْتَ</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 in a counterfactual:</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مُبَكِّرًا، ___ المَالَ.</a:t>
            </a:r>
            <a:endParaRPr lang="ar-SA" sz="15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لَوَفَّرْتَ</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سَتُوَفِّرُ</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تُوَفِّرُ</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hunt for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كَيْفَ ذَهَبُوا إِلَى البَتْرَاءِ؟</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Transport word? Look for a vehicle.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Scan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رَكِبْنَا </a:t>
            </a:r>
            <a:pPr rtl="1" algn="ctr" indent="0" marL="0">
              <a:lnSpc>
                <a:spcPct val="120000"/>
              </a:lnSpc>
              <a:buNone/>
            </a:pPr>
            <a:r>
              <a:rPr lang="ar-SA" altLang="en-US" sz="1850" b="1" dirty="0">
                <a:solidFill>
                  <a:srgbClr val="0E7C86"/>
                </a:solidFill>
                <a:latin typeface="Amiri" pitchFamily="2" charset="-78"/>
                <a:ea typeface="Amiri" pitchFamily="2" charset="-78"/>
                <a:cs typeface="Amiri" pitchFamily="2" charset="-78"/>
              </a:rPr>
              <a:t>الحَافِلَةَ</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إِلَى البَتْرَاءِ.</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key word is in sentence 2.</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Check time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سَافَرْتُ</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1D5FBF"/>
                </a:solidFill>
                <a:latin typeface="Amiri" pitchFamily="2" charset="-78"/>
                <a:ea typeface="Amiri" pitchFamily="2" charset="-78"/>
                <a:cs typeface="Amiri" pitchFamily="2" charset="-78"/>
              </a:rPr>
              <a:t>بِالطَّائِرَةِ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Plane was to Jordan — not to Petra (distractor).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Answer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بِالحَافِلَةِ — الدَّلِيلُ: رَكِبْنَا الحَافِلَةَ.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 evidence.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DISTRACTOR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السُّؤَالُ: كَيْفَ ذَهَبُوا إِلَى البَتْرَاءِ؟ الجَوَابُ: بِالحَافِلَةِ. الدَّلِيلُ: «رَكِبْنَا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الحَافِلَةَ</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إِلَى البَتْرَاءِ». لَيْسَ بِالطَّائِرَةِ، لِأَنَّ </a:t>
            </a:r>
            <a:pPr rtl="1" algn="r" indent="0" marL="0">
              <a:lnSpc>
                <a:spcPct val="120000"/>
              </a:lnSpc>
              <a:buNone/>
            </a:pPr>
            <a:r>
              <a:rPr lang="ar-SA" altLang="en-US" sz="1650" b="1" dirty="0">
                <a:solidFill>
                  <a:srgbClr val="1D5FBF"/>
                </a:solidFill>
                <a:latin typeface="Amiri" pitchFamily="2" charset="-78"/>
                <a:ea typeface="Amiri" pitchFamily="2" charset="-78"/>
                <a:cs typeface="Amiri" pitchFamily="2" charset="-78"/>
              </a:rPr>
              <a:t>الطَّائِرَةَ</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كَانَتْ إِلَى الأُرْدُنِّ.</a:t>
            </a:r>
            <a:endParaRPr lang="ar-SA" sz="16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50" i="1" dirty="0">
                <a:solidFill>
                  <a:srgbClr val="5A6472"/>
                </a:solidFill>
                <a:latin typeface="Calibri" pitchFamily="34" charset="0"/>
                <a:cs typeface="Amiri" pitchFamily="2" charset="-78"/>
              </a:rPr>
              <a:t>Question: how did they get to Petra? Answer: by bus. Evidence: “we took the bus to Petra”. Not by plane, because the plane was to Jordan.</a:t>
            </a:r>
            <a:endParaRPr lang="en-US" sz="12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زُرْتَ الأُرْدُنَّ، لَنْ تَنْدَمَ</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endParaRPr lang="en-US" sz="1250" dirty="0"/>
          </a:p>
          <a:p>
            <a:pPr indent="0" marL="0">
              <a:buNone/>
            </a:pPr>
            <a:r>
              <a:rPr lang="en-US" sz="1050" i="1" dirty="0">
                <a:solidFill>
                  <a:srgbClr val="8A6D1E"/>
                </a:solidFill>
                <a:latin typeface="Calibri" pitchFamily="34" charset="0"/>
                <a:cs typeface="Amiri" pitchFamily="2" charset="-78"/>
              </a:rPr>
              <a:t>Type 1: a real recommendation.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اهْتَمَّتِ الدَّوْلَةُ بِالتُّرَاثِ، لَمَا تَدَهْوَرَ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endParaRPr lang="en-US" sz="1250" dirty="0"/>
          </a:p>
          <a:p>
            <a:pPr indent="0" marL="0">
              <a:buNone/>
            </a:pPr>
            <a:r>
              <a:rPr lang="en-US" sz="1050" i="1" dirty="0">
                <a:solidFill>
                  <a:srgbClr val="8A6D1E"/>
                </a:solidFill>
                <a:latin typeface="Calibri" pitchFamily="34" charset="0"/>
                <a:cs typeface="Amiri" pitchFamily="2" charset="-78"/>
              </a:rPr>
              <a:t>Type 2: implicit criticism.</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يَدُلُّ اخْتِيَارُ «لَوْ» عَلَى مَوْقِفٍ نَاقِدٍ</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endParaRPr lang="en-US" sz="1250" dirty="0"/>
          </a:p>
          <a:p>
            <a:pPr indent="0" marL="0">
              <a:buNone/>
            </a:pPr>
            <a:r>
              <a:rPr lang="en-US" sz="1050" i="1" dirty="0">
                <a:solidFill>
                  <a:srgbClr val="8A6D1E"/>
                </a:solidFill>
                <a:latin typeface="Calibri" pitchFamily="34" charset="0"/>
                <a:cs typeface="Amiri" pitchFamily="2" charset="-78"/>
              </a:rPr>
              <a:t>Naming the R3 inference.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READING — TRAVEL AND TOURISM TEXTS”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Tourism scenes: match the picture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السِّيَاحَةُ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landmarks, camera</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beach, sun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hotel, suitcase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يُقِيمُ السُّيَّاحُ فِي الفَنَادِقِ.</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يَزُورُ السُّيَّاحُ المَعَالِمَ التَّارِيخِيَّةَ.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تَشْتَهِرُ المِنْطَقَةُ بِالشَّوَاطِئِ.</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السِّيَاحَةُ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landmarks, camera</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يَزُورُ السُّيَّاحُ المَعَالِمَ التَّارِيخِيَّةَ.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Tourists visit the historic landmarks.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beach, sun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تَشْتَهِرُ المِنْطَقَةُ بِالشَّوَاطِئِ.</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region is famous for its beaches.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hotel, suitcase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يُقِيمُ السُّيَّاحُ فِي الفَنَادِقِ.</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Tourists stay in hotels.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51</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Real, not real, or a reading term?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الأُرْدُنَّ، سَتَسْتَمْتِعُ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حَجَزْتَ مُبَكِّرًا، سَتُوَفِّرُ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إِذَا احْتَرَمْتَ العَادَاتِ، سَتُقَابَلُ بِتَرْحِيبٍ</a:t>
            </a:r>
            <a:endParaRPr lang="ar-SA" sz="15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نُظِّمَتِ الزِّيَارَاتُ، لَكَانَ أَفْضَلَ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اهْتَمَّتِ الدَّوْلَةُ، لَمَا تَدَهْوَرَ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لَوْ زَارُوا بِأَعْدَادٍ أَقَلَّ، لَكَانَتِ الحَالَةُ أَفْضَلَ</a:t>
            </a:r>
            <a:endParaRPr lang="ar-SA" sz="13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مَوْقِفُ الكَاتِبِ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نَقْدٌ ضِمْنِيٌّ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الغَرَضُ مِنَ الكِتَابَةِ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(idhā … sa-)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Not real (law … la-)</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Reading terms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51</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(idhā … sa-)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الأُرْدُنَّ، سَتَسْتَمْتِعُ</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حَجَزْتَ مُبَكِّرًا، سَتُوَفِّرُ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احْتَرَمْتَ العَادَاتِ، سَتُقَابَلُ بِتَرْحِيبٍ</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Not real (law … la-)</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نُظِّمَتِ الزِّيَارَاتُ، لَكَانَ أَفْضَلَ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اهْتَمَّتِ الدَّوْلَةُ، لَمَا تَدَهْوَرَ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لَوْ زَارُوا بِأَعْدَادٍ أَقَلَّ، لَكَانَتِ الحَالَةُ أَفْضَلَ</a:t>
            </a:r>
            <a:endParaRPr lang="ar-SA" sz="165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Reading terms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مَوْقِفُ الكَاتِبِ</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نَقْدٌ ضِمْنِيٌّ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الغَرَضُ مِنَ الكِتَابَةِ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often reveal (R3)?</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 the case is real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 that the condition was not met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ea typeface="Amiri" pitchFamily="2" charset="-78"/>
                <a:cs typeface="Amiri" pitchFamily="2" charset="-78"/>
              </a:rPr>
              <a:t>لَوِ اهْتَمَّتِ الدَّوْلَةُ بِالتُّرَاثِ، لَمَا تَدَهْوَرَ</a:t>
            </a:r>
            <a:pPr algn="l" indent="0" marL="0">
              <a:buNone/>
            </a:pPr>
            <a:r>
              <a:rPr lang="en-US" sz="1250" b="1" dirty="0">
                <a:solidFill>
                  <a:srgbClr val="1B3B6F"/>
                </a:solidFill>
                <a:latin typeface="Calibri" pitchFamily="34" charset="0"/>
                <a:cs typeface="Amiri" pitchFamily="2" charset="-78"/>
              </a:rPr>
              <a:t>» reveals that the writer thinks current care is …</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excellent</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inadequate</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irrelevant</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يَدُلُّ اخْتِيَارُ «لَوْ» ___ نَقْدٍ ضِمْنِيٍّ.</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R3 answer about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sentence?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fact about the past.</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simple recommendation.</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Type 2 conditional, so the writer implies the condition was not met and criticises current practice.</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51</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often reveal (R3)?</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 the case is real</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 that the condition was not met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implies the condition did not hold — often an implicit critique.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ea typeface="Amiri" pitchFamily="2" charset="-78"/>
                <a:cs typeface="Amiri" pitchFamily="2" charset="-78"/>
              </a:rPr>
              <a:t>لَوِ اهْتَمَّتِ الدَّوْلَةُ بِالتُّرَاثِ، لَمَا تَدَهْوَرَ</a:t>
            </a:r>
            <a:pPr algn="l" indent="0" marL="0">
              <a:buNone/>
            </a:pPr>
            <a:r>
              <a:rPr lang="en-US" sz="1250" b="1" dirty="0">
                <a:solidFill>
                  <a:srgbClr val="1B3B6F"/>
                </a:solidFill>
                <a:latin typeface="Calibri" pitchFamily="34" charset="0"/>
                <a:cs typeface="Amiri" pitchFamily="2" charset="-78"/>
              </a:rPr>
              <a:t>» reveals that the writer thinks current care is …</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excellent</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inadequate</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irrelevant</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counterfactual implies the care was not adequate.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يَدُلُّ اخْتِيَارُ «لَوْ» ___ نَقْدٍ ضِمْنِيٍّ.</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يَدُلُّ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R3 answer about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sentence?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fact about the past.</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simple recommendation.</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a Type 2 conditional, so the writer implies the condition was not met and criticises current practice.</a:t>
            </a:r>
            <a:endParaRPr lang="en-US" sz="11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R3 requires naming the type and inferring the critical attitude.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51</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حَجَزْتَ مُبَكِّرًا، لَوَفَّرْتَ المَالَ.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Idhā takes which result marker?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حَجَزْتَ مُبَكِّرًا، سَتُوَفِّرُ المَالَ.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takes which result marker?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يَدُلُّ اخْتِيَارُ لَوْ بِنَقْدٍ ضِمْنِيٍّ.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Indicates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51</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حَجَزْتَ مُبَكِّرًا، لَوَفَّرْتَ المَالَ.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حَجَزْتَ مُبَكِّرًا، سَتُوَفِّرُ المَالَ.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real </a:t>
            </a:r>
            <a:pPr algn="l" indent="0" marL="0">
              <a:buNone/>
            </a:pPr>
            <a:r>
              <a:rPr lang="ar-SA" altLang="en-US" sz="1500" b="1" dirty="0">
                <a:solidFill>
                  <a:srgbClr val="1B3B6F"/>
                </a:solidFill>
                <a:latin typeface="Amiri" pitchFamily="2" charset="-78"/>
                <a:ea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 conditional takes a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 result, not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حَجَزْتَ مُبَكِّرًا، سَتُوَفِّرُ المَالَ.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حَجَزْتَ مُبَكِّرًا، لَوَفَّرْتَ المَالَ.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counterfactual </a:t>
            </a:r>
            <a:pPr algn="l" indent="0" marL="0">
              <a:buNone/>
            </a:pPr>
            <a:r>
              <a:rPr lang="ar-SA" altLang="en-US" sz="1500" b="1" dirty="0">
                <a:solidFill>
                  <a:srgbClr val="1B3B6F"/>
                </a:solidFill>
                <a:latin typeface="Amiri" pitchFamily="2" charset="-78"/>
                <a:ea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conditional takes a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result.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يَدُلُّ اخْتِيَارُ لَوْ بِنَقْدٍ ضِمْنِيٍّ.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يَدُلُّ اخْتِيَارُ لَوْ عَلَى نَقْدٍ ضِمْنِيٍّ.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يَدُلُّ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51</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Listening: reading conditionals critically</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look at besides the information?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type of conditional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length only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title only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إِذَا زُرْتَ الأُرْدُنَّ، لَنْ تَنْدَمَ</a:t>
            </a:r>
            <a:pPr algn="l" indent="0" marL="0">
              <a:buNone/>
            </a:pPr>
            <a:r>
              <a:rPr lang="en-US" sz="1250" b="1" dirty="0">
                <a:solidFill>
                  <a:srgbClr val="1B3B6F"/>
                </a:solidFill>
                <a:latin typeface="Calibri" pitchFamily="34" charset="0"/>
                <a:cs typeface="Amiri" pitchFamily="2" charset="-78"/>
              </a:rPr>
              <a:t>» convey?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visit is impossible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criticism</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sees the visit as a real possibility and recommends it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counterfactual hint at here?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Praise for current policy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 of current policy</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t>
            </a:r>
            <a:pPr algn="l" indent="0" marL="0">
              <a:buNone/>
            </a:pPr>
            <a:r>
              <a:rPr lang="ar-SA" altLang="en-US" sz="1650" b="1" dirty="0">
                <a:solidFill>
                  <a:srgbClr val="1B3B6F"/>
                </a:solidFill>
                <a:latin typeface="Amiri" pitchFamily="2" charset="-78"/>
                <a:ea typeface="Amiri" pitchFamily="2" charset="-78"/>
                <a:cs typeface="Amiri" pitchFamily="2" charset="-78"/>
              </a:rPr>
              <a:t>إِذَا/لَوْ</a:t>
            </a:r>
            <a:pPr algn="l" indent="0" marL="0">
              <a:buNone/>
            </a:pPr>
            <a:r>
              <a:rPr lang="en-US" sz="1250" b="1" dirty="0">
                <a:solidFill>
                  <a:srgbClr val="1B3B6F"/>
                </a:solidFill>
                <a:latin typeface="Calibri" pitchFamily="34" charset="0"/>
                <a:cs typeface="Amiri" pitchFamily="2" charset="-78"/>
              </a:rPr>
              <a:t> distinction important?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key advanced reading skill</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changes the topic</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decorative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gap-fill, how do you match the result marker?</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Any marker fits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سَـ</a:t>
            </a:r>
            <a:pPr algn="l" indent="0" marL="0">
              <a:buNone/>
            </a:pPr>
            <a:r>
              <a:rPr lang="en-US" sz="1250" dirty="0">
                <a:solidFill>
                  <a:srgbClr val="1F2A37"/>
                </a:solidFill>
                <a:latin typeface="Calibri" pitchFamily="34" charset="0"/>
                <a:cs typeface="Amiri" pitchFamily="2" charset="-78"/>
              </a:rPr>
              <a:t> with </a:t>
            </a:r>
            <a:pPr algn="l" indent="0" marL="0">
              <a:buNone/>
            </a:pPr>
            <a:r>
              <a:rPr lang="ar-SA" altLang="en-US" sz="1650" dirty="0">
                <a:solidFill>
                  <a:srgbClr val="1F2A37"/>
                </a:solidFill>
                <a:latin typeface="Amiri" pitchFamily="2" charset="-78"/>
                <a:ea typeface="Amiri" pitchFamily="2" charset="-78"/>
                <a:cs typeface="Amiri" pitchFamily="2" charset="-78"/>
              </a:rPr>
              <a:t>إِذَا</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لَـ</a:t>
            </a:r>
            <a:pPr algn="l" indent="0" marL="0">
              <a:buNone/>
            </a:pPr>
            <a:r>
              <a:rPr lang="en-US" sz="1250" dirty="0">
                <a:solidFill>
                  <a:srgbClr val="1F2A37"/>
                </a:solidFill>
                <a:latin typeface="Calibri" pitchFamily="34" charset="0"/>
                <a:cs typeface="Amiri" pitchFamily="2" charset="-78"/>
              </a:rPr>
              <a:t> with </a:t>
            </a:r>
            <a:pPr algn="l" indent="0" marL="0">
              <a:buNone/>
            </a:pPr>
            <a:r>
              <a:rPr lang="ar-SA" altLang="en-US" sz="1650" dirty="0">
                <a:solidFill>
                  <a:srgbClr val="1F2A37"/>
                </a:solidFill>
                <a:latin typeface="Amiri" pitchFamily="2" charset="-78"/>
                <a:ea typeface="Amiri" pitchFamily="2" charset="-78"/>
                <a:cs typeface="Amiri" pitchFamily="2" charset="-78"/>
              </a:rPr>
              <a:t>لَوْ</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سَـ</a:t>
            </a:r>
            <a:pPr algn="l" indent="0" marL="0">
              <a:buNone/>
            </a:pPr>
            <a:r>
              <a:rPr lang="en-US" sz="1250" dirty="0">
                <a:solidFill>
                  <a:srgbClr val="1F2A37"/>
                </a:solidFill>
                <a:latin typeface="Calibri" pitchFamily="34" charset="0"/>
                <a:cs typeface="Amiri" pitchFamily="2" charset="-78"/>
              </a:rPr>
              <a:t> with </a:t>
            </a:r>
            <a:pPr algn="l" indent="0" marL="0">
              <a:buNone/>
            </a:pPr>
            <a:r>
              <a:rPr lang="ar-SA" altLang="en-US" sz="1650" dirty="0">
                <a:solidFill>
                  <a:srgbClr val="1F2A37"/>
                </a:solidFill>
                <a:latin typeface="Amiri" pitchFamily="2" charset="-78"/>
                <a:ea typeface="Amiri" pitchFamily="2" charset="-78"/>
                <a:cs typeface="Amiri" pitchFamily="2" charset="-78"/>
              </a:rPr>
              <a:t>لَوْ</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FLEX listening. Core: questions 1 and 5.</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51</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عِنْدَمَا تَقْرَأُ نَصًّا سِيَاحِيًّا، لَا تَنْظُرْ إِلَى المَعْلُومَةِ فَقَطْ، بَلْ إِلَى نَوْعِ الشَّرْطِ.</a:t>
            </a:r>
            <a:endParaRPr lang="ar-SA" sz="19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you read a tourism text, don’t look only at the information, but at the type of “if”.</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زُرْتَ الأُرْدُنَّ، لَنْ تَنْدَمَ» — يَرَى الزِّيَارَةَ إِمْكَانًا حَقِيقِيًّا وَيَنْصَحُ بِهَا.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you visit Jordan, you won’t regret it” — he sees the visit as a real possibility and recommends it.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«لَوْ نُظِّمَتِ الزِّيَارَاتُ مُبَكِّرًا، لَكَانَتِ المَوَاقِعُ أَفْضَلَ» — يَصِفُ أَمْرًا لَمْ يَحْدُثْ،</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 visits had been organised early, the sites would be better” — he describes something that did not happen,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وَيُلَمِّحُ إِلَى نَقْدٍ لِلسِّيَاسَةِ الحَالِيَّةِ.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hints at criticism of the current policy.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طَابِقِ العَلَامَةَ مَعَ الأَدَاةِ: سَـ مَعَ إِذَا، وَلَـ مَعَ لَوْ.</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Match the marker to the particle: sa- with idhā, la- with law.</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look at besides the information?</a:t>
            </a:r>
            <a:endParaRPr lang="en-US" sz="1250" dirty="0"/>
          </a:p>
        </p:txBody>
      </p:sp>
      <p:sp>
        <p:nvSpPr>
          <p:cNvPr id="21" name="Shape 18"/>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2" name="Shape 19"/>
          <p:cNvSpPr/>
          <p:nvPr/>
        </p:nvSpPr>
        <p:spPr>
          <a:xfrm>
            <a:off x="640080" y="2490216"/>
            <a:ext cx="256032" cy="256032"/>
          </a:xfrm>
          <a:prstGeom prst="ellipse">
            <a:avLst/>
          </a:prstGeom>
          <a:solidFill>
            <a:srgbClr val="2E8B57"/>
          </a:solidFill>
          <a:ln w="12700">
            <a:solidFill>
              <a:srgbClr val="2E8B57"/>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type of conditional</a:t>
            </a:r>
            <a:endParaRPr lang="en-US" sz="125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length only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title only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بَلْ إِلَى نَوْعِ الشَّرْطِ.</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إِذَا زُرْتَ الأُرْدُنَّ، لَنْ تَنْدَمَ</a:t>
            </a:r>
            <a:pPr algn="l" indent="0" marL="0">
              <a:buNone/>
            </a:pPr>
            <a:r>
              <a:rPr lang="en-US" sz="1250" b="1" dirty="0">
                <a:solidFill>
                  <a:srgbClr val="1B3B6F"/>
                </a:solidFill>
                <a:latin typeface="Calibri" pitchFamily="34" charset="0"/>
                <a:cs typeface="Amiri" pitchFamily="2" charset="-78"/>
              </a:rPr>
              <a:t>» convey?</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visit is impossible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criticism</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writer sees the visit as a real possibility and recommends it</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يَرَى الزِّيَارَةَ إِمْكَانًا حَقِيقِيًّا وَيَنْصَحُ بِهَا.</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counterfactual hint at here?</a:t>
            </a:r>
            <a:endParaRPr lang="en-US" sz="125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Praise for current policy</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7"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 of current policy</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يُلَمِّحُ إِلَى نَقْدٍ لِلسِّيَاسَةِ الحَالِيَّةِ.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t>
            </a:r>
            <a:pPr algn="l" indent="0" marL="0">
              <a:buNone/>
            </a:pPr>
            <a:r>
              <a:rPr lang="ar-SA" altLang="en-US" sz="1650" b="1" dirty="0">
                <a:solidFill>
                  <a:srgbClr val="1B3B6F"/>
                </a:solidFill>
                <a:latin typeface="Amiri" pitchFamily="2" charset="-78"/>
                <a:ea typeface="Amiri" pitchFamily="2" charset="-78"/>
                <a:cs typeface="Amiri" pitchFamily="2" charset="-78"/>
              </a:rPr>
              <a:t>إِذَا/لَوْ</a:t>
            </a:r>
            <a:pPr algn="l" indent="0" marL="0">
              <a:buNone/>
            </a:pPr>
            <a:r>
              <a:rPr lang="en-US" sz="1250" b="1" dirty="0">
                <a:solidFill>
                  <a:srgbClr val="1B3B6F"/>
                </a:solidFill>
                <a:latin typeface="Calibri" pitchFamily="34" charset="0"/>
                <a:cs typeface="Amiri" pitchFamily="2" charset="-78"/>
              </a:rPr>
              <a:t> distinction important?</a:t>
            </a:r>
            <a:endParaRPr lang="en-US" sz="1250" dirty="0"/>
          </a:p>
        </p:txBody>
      </p:sp>
      <p:sp>
        <p:nvSpPr>
          <p:cNvPr id="66" name="Shape 63"/>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40080"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a key advanced reading skill</a:t>
            </a:r>
            <a:endParaRPr lang="en-US" sz="125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changes the topic</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decorative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أَهَمِّ مَهَارَاتِ القِرَاءَةِ المُتَقَدِّمَةِ.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gap-fill, how do you match the result marker?</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Any marker fits</a:t>
            </a:r>
            <a:endParaRPr lang="en-US" sz="125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سَـ</a:t>
            </a:r>
            <a:pPr algn="l" indent="0" marL="0">
              <a:buNone/>
            </a:pPr>
            <a:r>
              <a:rPr lang="en-US" sz="1250" b="1" dirty="0">
                <a:solidFill>
                  <a:srgbClr val="1F2A37"/>
                </a:solidFill>
                <a:latin typeface="Calibri" pitchFamily="34" charset="0"/>
                <a:cs typeface="Amiri" pitchFamily="2" charset="-78"/>
              </a:rPr>
              <a:t> with </a:t>
            </a:r>
            <a:pPr algn="l" indent="0" marL="0">
              <a:buNone/>
            </a:pPr>
            <a:r>
              <a:rPr lang="ar-SA" altLang="en-US" sz="1650" b="1" dirty="0">
                <a:solidFill>
                  <a:srgbClr val="1F2A37"/>
                </a:solidFill>
                <a:latin typeface="Amiri" pitchFamily="2" charset="-78"/>
                <a:ea typeface="Amiri" pitchFamily="2" charset="-78"/>
                <a:cs typeface="Amiri" pitchFamily="2" charset="-78"/>
              </a:rPr>
              <a:t>إِذَا</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لَـ</a:t>
            </a:r>
            <a:pPr algn="l" indent="0" marL="0">
              <a:buNone/>
            </a:pPr>
            <a:r>
              <a:rPr lang="en-US" sz="1250" b="1" dirty="0">
                <a:solidFill>
                  <a:srgbClr val="1F2A37"/>
                </a:solidFill>
                <a:latin typeface="Calibri" pitchFamily="34" charset="0"/>
                <a:cs typeface="Amiri" pitchFamily="2" charset="-78"/>
              </a:rPr>
              <a:t> with </a:t>
            </a:r>
            <a:pPr algn="l" indent="0" marL="0">
              <a:buNone/>
            </a:pPr>
            <a:r>
              <a:rPr lang="ar-SA" altLang="en-US" sz="1650" b="1" dirty="0">
                <a:solidFill>
                  <a:srgbClr val="1F2A37"/>
                </a:solidFill>
                <a:latin typeface="Amiri" pitchFamily="2" charset="-78"/>
                <a:ea typeface="Amiri" pitchFamily="2" charset="-78"/>
                <a:cs typeface="Amiri" pitchFamily="2" charset="-78"/>
              </a:rPr>
              <a:t>لَوْ</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سَـ</a:t>
            </a:r>
            <a:pPr algn="l" indent="0" marL="0">
              <a:buNone/>
            </a:pPr>
            <a:r>
              <a:rPr lang="en-US" sz="1250" dirty="0">
                <a:solidFill>
                  <a:srgbClr val="9AA1AB"/>
                </a:solidFill>
                <a:latin typeface="Calibri" pitchFamily="34" charset="0"/>
                <a:cs typeface="Amiri" pitchFamily="2" charset="-78"/>
              </a:rPr>
              <a:t> with </a:t>
            </a:r>
            <a:pPr algn="l" indent="0" marL="0">
              <a:buNone/>
            </a:pPr>
            <a:r>
              <a:rPr lang="ar-SA" altLang="en-US" sz="1650" dirty="0">
                <a:solidFill>
                  <a:srgbClr val="9AA1AB"/>
                </a:solidFill>
                <a:latin typeface="Amiri" pitchFamily="2" charset="-78"/>
                <a:ea typeface="Amiri" pitchFamily="2" charset="-78"/>
                <a:cs typeface="Amiri" pitchFamily="2" charset="-78"/>
              </a:rPr>
              <a:t>لَوْ</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طَابِقِ العَلَامَةَ مَعَ الأَدَاةِ: سَـ مَعَ إِذَا، وَلَـ مَعَ لَوْ.</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FLEX listening. Core: questions 1 and 5.</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E6B52"/>
                </a:solidFill>
                <a:latin typeface="Calibri" pitchFamily="34" charset="0"/>
                <a:cs typeface="Amiri" pitchFamily="2" charset="-78"/>
              </a:rPr>
              <a:t>YOU DO · READING · TOPIC A TEXT · READ THE WHOLE TEXT ONCE, THEN HUNT FOR EVIDENCE</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trip to Petra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سَافَرْتُ مَعَ أُسْرَتِي إِلَى الأُرْدُنِّ بِالطَّائِرَةِ. وَصَلْنَا إِلَى عَمَّانَ فِي المَسَاءِ، وَفِي اليَوْمِ التَّالِي رَكِبْنَا الحَافِلَةَ إِلَى البَتْرَاءِ. كَانَتِ الرِّحْلَةُ طَوِيلَةً: ثَلَاثَ سَاعَاتٍ تَقْرِيبًا. مَشَيْنَا فِي المَدِينَةِ القَدِيمَةِ مِنَ الصَّبَاحِ إِلَى العَصْرِ، وَالْتَقَطْنَا صُوَرًا كَثِيرَةً. كَانَ الجَوُّ حَارًّا جِدًّا، وَنَسِيَ أَخِي قُبَّعَتَهُ فِي الفُنْدُقِ، فَأَصَابَهُ صُدَاعٌ. فِي المَسَاءِ أَكَلْنَا طَعَامًا أُرْدُنِّيًّا لَذِيذًا. إِذَا زُرْتَ البَتْرَاءَ، سَتُحِبُّهَا، وَلٰكِنْ خُذْ مَعَكَ مَاءً كَثِيرًا وَقُبَّعَةً!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الصَّيْفِ المَاضِي</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last summer</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سَافَرْتُ</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travelled</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وَصَلْنَا</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arrived</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اليَوْمِ التَّالِي</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next day</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رَكِبْنَا</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rode / took</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تَقْرِيبًا</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about</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مَشَيْنَا</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walked</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العَصْرِ</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afternoon</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نَسِيَ</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forgot</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قُبَّعَتَهُ</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hat</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51</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TOPIC A TEXT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PLACE — Which country did the family visit?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Egypt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Jordan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Oman</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TRANSPORT — How did they get to Petra?</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plane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TIME — How long was the bus journey?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three hours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one hour</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day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PROBLEM — What happened to the brother?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lost his camera</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got a headache</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missed the bus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OPINION — What does the writer think of Petra?</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will love it</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boring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far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INFER — Why did the brother get a headache? (not stated)</a:t>
            </a:r>
            <a:endParaRPr lang="en-US" sz="11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ate too much</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was slow</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very hot and he had no hat</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51</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PLACE — Which country did the family visit?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Egypt</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Jordan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Oman</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سَافَرْتُ … إِلَى الأُرْدُنِّ.</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TRANSPORT — How did they get to Petra?</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plane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رَكِبْنَا الحَافِلَةَ إِلَى البَتْرَاءِ.</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TIME — How long was the bus journey?</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three hours</a:t>
            </a:r>
            <a:endParaRPr lang="en-US" sz="12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one hour</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day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ثَلَاثَ سَاعَاتٍ تَقْرِيبًا.</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PROBLEM — What happened to the brother?</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lost his camera</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got a headache</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missed the bus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فَأَصَابَهُ صُدَاعٌ.</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OPINION — What does the writer think of Petra?</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will love it</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boring</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far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زُرْتَ البَتْرَاءَ، سَتُحِبُّهَا.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INFER — Why did the brother get a headache? (not stated)</a:t>
            </a:r>
            <a:endParaRPr lang="en-US" sz="11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ate too much</a:t>
            </a:r>
            <a:endParaRPr lang="en-US" sz="12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was slow</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was very hot and he had no hat</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الجَوُّ حَارًّا جِدًّا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نَسِيَ قُبَّعَتَهُ</a:t>
            </a:r>
            <a:pPr algn="l" indent="0" marL="0">
              <a:buNone/>
            </a:pPr>
            <a:r>
              <a:rPr lang="en-US" sz="1050" i="1" dirty="0">
                <a:solidFill>
                  <a:srgbClr val="8A6D1E"/>
                </a:solidFill>
                <a:latin typeface="Calibri" pitchFamily="34" charset="0"/>
                <a:cs typeface="Amiri" pitchFamily="2" charset="-78"/>
              </a:rPr>
              <a:t> — two clues together.</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51</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evidence hunt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Travel evidence hunt</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Scan a travel text for place, time, transport, opinion and problem details, then infer one unstated meaning from context and justify it.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take the Petra text and make an evidence table in the chat.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rows: place · time · transport · opinion · problem (Arabic evidence).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ONE inference: something the text does not say. Justify it with two clues.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pairs share their inference on the mic; the class agrees or challenges.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Place, time and transport rows only — copy the Arabic words.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five rows + one inference with two clues.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Inference + the time frame of the last sentence (advice: idhā … sa-, khudh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المَكَانُ</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place</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الزَّمَانُ</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time</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وَسِيلَةُ النَّقْلِ</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transport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الرَّأْيُ · المُشْكِلَةُ</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opinion · problem</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analyse a travel text aloud</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سَافَرَتِ الأُسْرَةُ؟ كَيْفَ؟</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المُشْكِلَةُ فِي الرِّحْلَةِ؟ وَلِمَاذَا حَدَثَتْ؟</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نَوْعُ الشَّرْطِ فِي هٰذِهِ الجُمْلَةِ؟ حَقِيقِيٌّ أَمِ افْتِرَاضِيٌّ؟</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يَكْشِفُ اخْتِيَارُ لَوْ عَنْ مَوْقِفِ الكَاتِبِ؟</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سَافَرَتْ إِلَى ___ بِـ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أَصَابَهُ صُدَاعٌ لِأَنَّ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هٰذَا شَرْطٌ ___ لِأَنَّ فِيهِ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يَكْشِفُ اخْتِيَارُ لَوْ عَنْ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نَوْعُ الشَّرْطِ فِي «لَوْ نُظِّمَتِ الزِّيَارَاتُ، لَكَانَ أَفْضَلَ»؟</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type of conditional is “law nuẓẓimat az-ziyārāt, la-kāna afḍal”?</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شَرْطٌ افْتِرَاضِيٌّ مِنَ النَّوْعِ الثَّانِي؛ فَـ«لَوْ … لَـ» تَصِفُ أَمْرًا لَمْ يَحْدُثْ.</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A hypothetical Type 2 conditional: “law … la-” describes something that did not happen.</a:t>
            </a:r>
            <a:endParaRPr lang="en-US" sz="7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51</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6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4 questions about the Petra text with evidence.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Answer in English or Arabic, then copy the Arabic evidence 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short trip account like the Petra text.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Past verbs (safartu, rakibtu, akaltu), place, transport, one problem, one piece of advice with idhā … sa-.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analyse the website opinion text (extension).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idhā and one law sentence, what law reveals, and the purpose of the text.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51</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أَقَمْنَا فِي فُنْدُقٍ قَرِيبٍ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stayed in a hotel near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المُشْكِلَةُ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problem was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زُرْتَ ______ ، سَـ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visit …, you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خُذْ مَعَكَ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Take … with you!</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يَدُلُّ هٰذَا عَلَى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shows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 سَافَرْتُ إِلَى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summer I travelled to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رَكِبْنَا الحَافِلَةَ / القِطَارَ.</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took the bus / the train.</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زُرْنَا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visited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الجَوُّ حَارًّا / بَارِدًا.</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weather was hot / cold.</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الدَّلِيلُ: «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evidence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سَافَرْتُ  ·  رَكِبْنَا  ·  زُرْنَا  ·  أَكَلْنَا  ·  فُنْدُقٌ  ·  مَعَالِمُ  ·  شَاطِئٌ  ·  خَرِيطَةٌ  ·  إِذَا … سَـ  ·  لَوْ … لَـ  ·  يَدُلُّ عَلَى  ·  الدَّلِيلُ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51</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analysing a short travel text of your choice. Classify one conditional as real (</a:t>
            </a:r>
            <a:pPr algn="l" indent="0" marL="0">
              <a:buNone/>
            </a:pPr>
            <a:r>
              <a:rPr lang="ar-SA" altLang="en-US" sz="1750" b="1" dirty="0">
                <a:solidFill>
                  <a:srgbClr val="1F2A37"/>
                </a:solidFill>
                <a:latin typeface="Amiri" pitchFamily="2" charset="-78"/>
                <a:ea typeface="Amiri" pitchFamily="2" charset="-78"/>
                <a:cs typeface="Amiri" pitchFamily="2" charset="-78"/>
              </a:rPr>
              <a:t>إِذَا</a:t>
            </a:r>
            <a:pPr algn="l" indent="0" marL="0">
              <a:buNone/>
            </a:pPr>
            <a:r>
              <a:rPr lang="en-US" sz="1350" b="1" dirty="0">
                <a:solidFill>
                  <a:srgbClr val="1F2A37"/>
                </a:solidFill>
                <a:latin typeface="Calibri" pitchFamily="34" charset="0"/>
                <a:cs typeface="Amiri" pitchFamily="2" charset="-78"/>
              </a:rPr>
              <a:t>) and one as hypothetical (</a:t>
            </a:r>
            <a:pPr algn="l" indent="0" marL="0">
              <a:buNone/>
            </a:pPr>
            <a:r>
              <a:rPr lang="ar-SA" altLang="en-US" sz="1750" b="1" dirty="0">
                <a:solidFill>
                  <a:srgbClr val="1F2A37"/>
                </a:solidFill>
                <a:latin typeface="Amiri" pitchFamily="2" charset="-78"/>
                <a:ea typeface="Amiri" pitchFamily="2" charset="-78"/>
                <a:cs typeface="Amiri" pitchFamily="2" charset="-78"/>
              </a:rPr>
              <a:t>لَوْ</a:t>
            </a:r>
            <a:pPr algn="l" indent="0" marL="0">
              <a:buNone/>
            </a:pPr>
            <a:r>
              <a:rPr lang="en-US" sz="1350" b="1" dirty="0">
                <a:solidFill>
                  <a:srgbClr val="1F2A37"/>
                </a:solidFill>
                <a:latin typeface="Calibri" pitchFamily="34" charset="0"/>
                <a:cs typeface="Amiri" pitchFamily="2" charset="-78"/>
              </a:rPr>
              <a:t>), explain what the Type 2 reveals about the writer's attitude, and state the purpose of the text.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conditional named as Type 1 (real) and one as Type 2 (hypothetical).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explanation of the implicit criticism a Type 2 reveals.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correct reading verb (</a:t>
            </a:r>
            <a:pPr algn="l" indent="0" marL="0">
              <a:buNone/>
            </a:pPr>
            <a:r>
              <a:rPr lang="ar-SA" altLang="en-US" sz="1550" dirty="0">
                <a:solidFill>
                  <a:srgbClr val="1F2A37"/>
                </a:solidFill>
                <a:latin typeface="Amiri" pitchFamily="2" charset="-78"/>
                <a:ea typeface="Amiri" pitchFamily="2" charset="-78"/>
                <a:cs typeface="Amiri" pitchFamily="2" charset="-78"/>
              </a:rPr>
              <a:t>يَدُلُّ عَلَى / يَكْشِفُ عَنْ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statement of the text's purpose.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السِّيَاحَةُ نِعْمَةٌ وَنِقْمَةٌ فِي آنٍ وَاحِدٍ</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tourism is a blessing and a curse at the same time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تُلْحِقُ الضَّرَرَ بِالمَوَاقِعِ الهَشَّةِ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damages fragile sites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يَكْشِفُ عَنْ نَقْدٍ ضِمْنِيٍّ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reveals an implicit criticism</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سِيَاحَةٌ مُسْتَدَامَةٌ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sustainable tourism</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الغَرَضُ مِنَ النَّصِّ إِقْنَاعُ القَارِئِ</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purpose of the text is to persuade the reader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51</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يَكْشِفُ النَّصُّ عَنْ مَوْقِفِ كَاتِبِهِ مِنْ خِلَالِ نَوْعِ الشَّرْطِ. فَجُمْلَةُ «إِذَا احْتَرَمَ السُّيَّاحُ القَوَاعِدَ، سَتَبْقَى المَوَاقِعُ» شَرْطٌ حَقِيقِيٌّ يَنْصَحُ بِهِ الكَاتِبُ وَيَرَاهُ مُمْكِنًا. أَمَّا جُمْلَةُ «لَوِ اهْتَمَّتِ الحُكُومَاتُ مُبَكِّرًا، لَمَا تَدَهْوَرَتِ المَوَاقِعُ» فَشَرْطٌ افْتِرَاضِيٌّ مِنَ النَّوْعِ الثَّانِي. وَيَدُلُّ اخْتِيَارُ «لَوْ» عَلَى نَقْدٍ ضِمْنِيٍّ، لِأَنَّ الشَّرْطَ لَمْ يَتَحَقَّقْ، فَالكَاتِبُ يَرَى السِّيَاسَةَ الحَالِيَّةَ غَيْرَ كَافِيَةٍ. وَالغَرَضُ مِنَ النَّصِّ إِقْنَاعُ القَارِئِ بِأَنَّ التَّنْظِيمَ ضَرُورِيٌّ. لِذٰلِكَ أَقْرَأُ النَّصَّ بِوَعْيٍ بِنَوْعِ الشَّرْطِ وَمَوْقِفِ الكَاتِبِ.</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text reveals its writer’s attitude through the type of conditional. The sentence “if tourists respect the rules, the sites will remain” is a real conditional that the writer recommends and sees as possible. The sentence “if governments had cared early, the sites would not have deteriorated” is a hypothetical Type 2 conditional. Choosing “law” indicates an implicit criticism, because the condition was not met, so the writer finds current policy inadequate. The purpose of the text is to persuade the reader that regulation is necessary. So I read the text aware of the conditional type and the writer’s attitude.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real conditional (idhā)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hypothetical conditional (law)</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yadullu ‘alā</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purpose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answer has the exact Arabic evidence.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past verbs for my trip.</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joined two clues for an inference.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idhā → sa-; law → 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what law reveals about the writer.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51</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hypothetical (Type 2)?</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نُظِّمَتِ الزِّيَارَاتُ، لَكَانَ أَفْضَلَ.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الأُرْدُنَّ، سَتَسْتَمْتِعُ.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حَجَزْتَ مُبَكِّرًا، سَتُوَفِّرُ.</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real conditional: </a:t>
            </a:r>
            <a:pPr algn="l" indent="0" marL="0">
              <a:buNone/>
            </a:pPr>
            <a:r>
              <a:rPr lang="ar-SA" altLang="en-US" sz="1650" b="1" dirty="0">
                <a:solidFill>
                  <a:srgbClr val="1B3B6F"/>
                </a:solidFill>
                <a:latin typeface="Amiri" pitchFamily="2" charset="-78"/>
                <a:ea typeface="Amiri" pitchFamily="2" charset="-78"/>
                <a:cs typeface="Amiri" pitchFamily="2" charset="-78"/>
              </a:rPr>
              <a:t>إِذَا احْتَرَمْتَ العَادَاتِ،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بِتَرْحِيبٍ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لَقُوبِلْتَ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سَتُقَابَلُ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تُقَابَلُ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often reveal about the writer?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 that the condition was not met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 the case is real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51</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hypothetical (Type 2)?</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لَوْ نُظِّمَتِ الزِّيَارَاتُ، لَكَانَ أَفْضَلَ.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زُرْتَ الأُرْدُنَّ، سَتَسْتَمْتِعُ.</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حَجَزْتَ مُبَكِّرًا، سَتُوَفِّرُ.</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marks a counterfactual.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real conditional: </a:t>
            </a:r>
            <a:pPr algn="l" indent="0" marL="0">
              <a:buNone/>
            </a:pPr>
            <a:r>
              <a:rPr lang="ar-SA" altLang="en-US" sz="1650" b="1" dirty="0">
                <a:solidFill>
                  <a:srgbClr val="1B3B6F"/>
                </a:solidFill>
                <a:latin typeface="Amiri" pitchFamily="2" charset="-78"/>
                <a:ea typeface="Amiri" pitchFamily="2" charset="-78"/>
                <a:cs typeface="Amiri" pitchFamily="2" charset="-78"/>
              </a:rPr>
              <a:t>إِذَا احْتَرَمْتَ العَادَاتِ،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بِتَرْحِيبٍ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لَقُوبِلْتَ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سَتُقَابَلُ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تُقَابَلُ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often reveal about the writer?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 that the condition was not met</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 the case is real</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implies the condition did not hold.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51</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a sustainable-tourism opinion</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يَرَى كَاتِبُ المَقَالِ أَنَّ السِّيَاحَةَ نِعْمَةٌ وَنِقْمَةٌ فِي آنٍ وَاحِدٍ. فَهِيَ تُسْهِمُ فِي الاِقْتِصَادِ، غَيْرَ أَنَّهَا قَدْ تُلْحِقُ الضَّرَرَ بِالمَوَاقِعِ الهَشَّةِ. يَقُولُ الكَاتِبُ: «إِذَا احْتَرَمَ السُّيَّاحُ القَوَاعِدَ، سَتَبْقَى المَوَاقِعُ لِلْأَجْيَالِ القَادِمَةِ.» ثُمَّ يُضِيفُ: «لَوِ اهْتَمَّتِ الحُكُومَاتُ بِالتَّنْظِيمِ مُنْذُ البِدَايَةِ، لَمَا وَصَلَتْ كَثِيرٌ مِنَ المَوَاقِعِ إِلَى هٰذَا التَّدَهْوُرِ.» إِنَّ اخْتِيَارَهُ لِلشَّرْطِ الافْتِرَاضِيِّ فِي الجُمْلَةِ الثَّانِيَةِ يَكْشِفُ عَنْ نَقْدٍ ضِمْنِيٍّ لِلسِّيَاسَاتِ الحَالِيَّةِ. وَفِي الخِتَامِ، يُوصِي بِسِيَاحَةٍ مُسْتَدَامَةٍ تُوَازِنُ بَيْنَ الفَائِدَةِ وَالحِمَايَةِ. الغَرَضُ مِنَ النَّصِّ إِقْنَاعُ القَارِئِ بِتَغْيِيرِ سُلُوكِهِ.</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كَاتِبُ المَقَالِ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article’s writer</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نِعْمَةٌ وَنِقْمَةٌ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blessing and a curse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تُسْهِمُ فِي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contributes to</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غَيْرَ أَنَّ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however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المَوَاقِعِ الهَشَّةِ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fragile sites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القَوَاعِدَ</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rules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لِلْأَجْيَالِ القَادِمَةِ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future generations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التَّدَهْوُرِ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deterioration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يُوصِي بِـ</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recommends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سُلُوكِهِ</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behaviour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51</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writer's main view?</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purely good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both a blessing and a curse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purely bad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What real recommendation does the writer make (Type 1)?</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Tourists should stop visiting</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Rules do not matter</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tourists respect the rules, the sites will remain for future generations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Identify the Type 2 conditional.</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لَوِ اهْتَمَّتِ الحُكُومَاتُ بِالتَّنْظِيمِ مُنْذُ البِدَايَةِ، لَمَا وَصَلَتْ … إِلَى هٰذَا التَّدَهْوُرِ</a:t>
            </a:r>
            <a:endParaRPr lang="ar-SA" sz="1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إِذَا احْتَرَمَ السُّيَّاحُ القَوَاعِدَ، سَتَبْقَى المَوَاقِعُ</a:t>
            </a:r>
            <a:endParaRPr lang="ar-SA" sz="1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يُوصِي بِسِيَاحَةٍ مُسْتَدَامَةٍ</a:t>
            </a:r>
            <a:endParaRPr lang="ar-SA" sz="1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the Type 2 choice reveal about the writer's attitude?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Praise for current policies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 of current policies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Indifference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 What is the purpose of the text?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persuade the reader to change their behaviour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report the news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entertain only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51</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writer's main view?</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Tourism is purely good</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Tourism is both a blessing and a curse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Tourism is purely bad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السِّيَاحَةَ نِعْمَةٌ وَنِقْمَةٌ فِي آنٍ وَاحِدٍ.</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What real recommendation does the writer make (Type 1)?</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Tourists should stop visiting</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Rules do not matter</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tourists respect the rules, the sites will remain for future generations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إِذَا احْتَرَمَ السُّيَّاحُ القَوَاعِدَ، سَتَبْقَى المَوَاقِعُ لِلْأَجْيَالِ القَادِمَةِ.</a:t>
            </a:r>
            <a:endParaRPr lang="ar-SA" sz="11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Identify the Type 2 conditional.</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لَوِ اهْتَمَّتِ الحُكُومَاتُ بِالتَّنْظِيمِ مُنْذُ البِدَايَةِ، لَمَا وَصَلَتْ … إِلَى هٰذَا التَّدَهْوُرِ</a:t>
            </a:r>
            <a:endParaRPr lang="ar-SA" sz="10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إِذَا احْتَرَمَ السُّيَّاحُ القَوَاعِدَ، سَتَبْقَى المَوَاقِعُ</a:t>
            </a:r>
            <a:endParaRPr lang="ar-SA" sz="10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يُوصِي بِسِيَاحَةٍ مُسْتَدَامَةٍ</a:t>
            </a:r>
            <a:endParaRPr lang="ar-SA" sz="10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Type 2 conditional.</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the Type 2 choice reveal about the writer's attitude?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Praise for current policies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 of current policies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Indifference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يَكْشِفُ عَنْ نَقْدٍ ضِمْنِيٍّ لِلسِّيَاسَاتِ الحَالِيَّةِ.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 What is the purpose of the text?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persuade the reader to change their behaviour</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report the news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entertain only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الغَرَضُ مِنَ النَّصِّ إِقْنَاعُ القَارِئِ بِتَغْيِيرِ سُلُوكِهِ.</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51</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Critical Reading Mission — Type, Marker and Attitude</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إِذَا زُرْتَ الأُرْدُنَّ، سَتَسْتَمْتِعُ</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2 (hypothetical)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1 (real)</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لَوْ نُظِّمَتِ الزِّيَارَاتُ، لَكَانَ أَفْضَلَ</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2 (hypothetical)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1 (real)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real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conditional takes …</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counterfactual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conditional takes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a:t>
            </a:r>
            <a:endParaRPr lang="en-US" sz="1200" dirty="0"/>
          </a:p>
        </p:txBody>
      </p:sp>
      <p:sp>
        <p:nvSpPr>
          <p:cNvPr id="73" name="Text 7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إِذَا حَجَزْتَ مُبَكِّرًا، ___ المَالَ.</a:t>
            </a:r>
            <a:endParaRPr lang="ar-SA" sz="11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وَفَّرْتَ</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a:t>
            </a:r>
            <a:endParaRPr lang="en-US" sz="1200" dirty="0"/>
          </a:p>
        </p:txBody>
      </p:sp>
      <p:sp>
        <p:nvSpPr>
          <p:cNvPr id="87" name="Text 8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حَجَزْتَ مُبَكِّرًا، ___ المَالَ.</a:t>
            </a:r>
            <a:endParaRPr lang="ar-SA" sz="120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تُوَفِّرُ</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51</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إِذَا زُرْتَ الأُرْدُنَّ، سَتَسْتَمْتِعُ</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Type 2 (hypothetical)</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Type 1 (real)</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real.</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لَوْ نُظِّمَتِ الزِّيَارَاتُ، لَكَانَ أَفْضَلَ</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Type 2 (hypothetical)</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Type 1 (real)</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hypothetical.</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real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conditional takes …</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pairs with 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counterfactual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conditional takes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pairs with 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a:t>
            </a:r>
            <a:endParaRPr lang="en-US" sz="1200" dirty="0"/>
          </a:p>
        </p:txBody>
      </p:sp>
      <p:sp>
        <p:nvSpPr>
          <p:cNvPr id="80" name="Text 7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إِذَا حَجَزْتَ مُبَكِّرًا، ___ المَالَ.</a:t>
            </a:r>
            <a:endParaRPr lang="ar-SA" sz="11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سَتُوَفِّرُ</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لَوَفَّرْتَ</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وَفَّرْتَ</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conditional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a:t>
            </a:r>
            <a:endParaRPr lang="en-US" sz="1200" dirty="0"/>
          </a:p>
        </p:txBody>
      </p:sp>
      <p:sp>
        <p:nvSpPr>
          <p:cNvPr id="96" name="Text 9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حَجَزْتَ مُبَكِّرًا، ___ المَالَ.</a:t>
            </a:r>
            <a:endParaRPr lang="ar-SA" sz="120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سَتُوَفِّرُ</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لَوَفَّرْتَ</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تُوَفِّرُ</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takes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51</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Travel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AT-A-L12: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AT-A-L12 · Topic A Review and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أَسْتَيْقِظُ فِي السَّاعَةِ …</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wake up at … o’clock</a:t>
            </a:r>
            <a:pPr indent="0" marL="0">
              <a:buNone/>
            </a:pPr>
            <a:r>
              <a:rPr lang="en-US" sz="1000" i="1" dirty="0">
                <a:solidFill>
                  <a:srgbClr val="5A6472"/>
                </a:solidFill>
                <a:latin typeface="Calibri" pitchFamily="34" charset="0"/>
                <a:cs typeface="Amiri" pitchFamily="2" charset="-78"/>
              </a:rPr>
              <a:t>  AT-A-L01–L02</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أُرِيدُ … مِنْ فَضْلِكَ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would like …, please</a:t>
            </a:r>
            <a:pPr indent="0" marL="0">
              <a:buNone/>
            </a:pPr>
            <a:r>
              <a:rPr lang="en-US" sz="1000" i="1" dirty="0">
                <a:solidFill>
                  <a:srgbClr val="5A6472"/>
                </a:solidFill>
                <a:latin typeface="Calibri" pitchFamily="34" charset="0"/>
                <a:cs typeface="Amiri" pitchFamily="2" charset="-78"/>
              </a:rPr>
              <a:t>  AT-A-L05</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عِنْدِي أَلَمٌ فِي … مُنْذُ …</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have pain in … since …</a:t>
            </a:r>
            <a:pPr indent="0" marL="0">
              <a:buNone/>
            </a:pPr>
            <a:r>
              <a:rPr lang="en-US" sz="1000" i="1" dirty="0">
                <a:solidFill>
                  <a:srgbClr val="5A6472"/>
                </a:solidFill>
                <a:latin typeface="Calibri" pitchFamily="34" charset="0"/>
                <a:cs typeface="Amiri" pitchFamily="2" charset="-78"/>
              </a:rPr>
              <a:t>  AT-A-L07</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تَسْتَرِيحَ</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 should rest</a:t>
            </a:r>
            <a:pPr indent="0" marL="0">
              <a:buNone/>
            </a:pPr>
            <a:r>
              <a:rPr lang="en-US" sz="1000" i="1" dirty="0">
                <a:solidFill>
                  <a:srgbClr val="5A6472"/>
                </a:solidFill>
                <a:latin typeface="Calibri" pitchFamily="34" charset="0"/>
                <a:cs typeface="Amiri" pitchFamily="2" charset="-78"/>
              </a:rPr>
              <a:t>  AT-A-L08</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بِالحَافِلَةِ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go by bus</a:t>
            </a:r>
            <a:pPr indent="0" marL="0">
              <a:buNone/>
            </a:pPr>
            <a:r>
              <a:rPr lang="en-US" sz="1000" i="1" dirty="0">
                <a:solidFill>
                  <a:srgbClr val="5A6472"/>
                </a:solidFill>
                <a:latin typeface="Calibri" pitchFamily="34" charset="0"/>
                <a:cs typeface="Amiri" pitchFamily="2" charset="-78"/>
              </a:rPr>
              <a:t>  AT-A-L09</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Revise Topic A: which TWO subtopics do you find hardest? Write one correct sentence for each.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أَصْعَبُ مَوْضُوعٍ فِي المِحْوَرِ أ؟</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five Topic A structures on this slide and write one sentence with each.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AT-A-L11: the picture game and the sorter; write a 6-sentence trip account.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analysing the opinion text (idhā / law).</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50 / 51</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AT-A-L12 · Topic A Review and Assessment</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مُرَاجَعَةُ الْمَوْضُوعِ أ وَالتَّقْيِيمُ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Topic A structures — one from each subtopic.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AT-A-L11 · Reading — Travel and Tourism Texts</dc:title>
  <dc:subject>PptxGenJS Presentation</dc:subject>
  <dc:creator>Al Madina Online School · Arabic Department</dc:creator>
  <cp:lastModifiedBy>Al Madina Online School · Arabic Department</cp:lastModifiedBy>
  <cp:revision>1</cp:revision>
  <dcterms:created xsi:type="dcterms:W3CDTF">2026-10-11T06:43:46Z</dcterms:created>
  <dcterms:modified xsi:type="dcterms:W3CDTF">2026-10-11T06:43:46Z</dcterms:modified>
</cp:coreProperties>
</file>