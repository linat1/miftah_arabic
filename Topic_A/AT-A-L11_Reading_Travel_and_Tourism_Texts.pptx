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AT-A-L11 — Reading — Travel and Tourism Texts. Website: Advanced Topics › Topic A (Everyday Activities) › Lesson 11.
The website builds this lesson on the P3-L08 lesson engine, with the Topic focus “Read travel and tourism texts, identify details and infer meaning using contextual evidence.” (grammar: Reading inference; vocabulary in context; time frames; skills: Speaking · Writing) and the application challenge “Travel evidence hunt”.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11 (AT-A-L11), lesson engine Pathways › Progression › P3 › AT-A-L11. The website lesson “Reading — Travel and Tourism Texts”: vocabulary, grammar rules and quiz, patterns, common mistakes, sorter, listening, reading, speaking prompts and model, writing task and model, differentiation, final check and the lesson mission. Picture match: website visual game “Reading — Travel and Tourism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reading إِذَا (real) and لَوْ (not real) conditionals as a clue to the writer’s attitude. For this class: Core reads a short teacher-written travel account and hunts for evidence (place, time, transport, opinion, problem); Develop adds the inference question and “if” sentences (إِذَا … سَـ); Stretch reads the website opinion text and names the writer’s attitude from لَوْ.
• Main You Do = reading (Topic A text), then the evidence-hunt challenge, then a short writing task (6 min). The website listening (a talk about conditionals) is FLEX.
• Topic A links: the travel text recycles transport (AT-A-L09), health (AT-A-L07), food (AT-A-L04) and time (AT-A-L02).
• Urdu bridge: سیاح / سیاحت، ہوٹل (English) / فُنْدُقٌ، نقشہ (Persian) / خَرِيطَةٌ، ساحل.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strategy words prepared at home. Questions 3–4 retrieve AT-A-L09 (transport) and AT-A-L10 (distractors). Question 5 previews today’s time-frame check.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answer needs evidence: find the exact Arabic words. Check the time frame: past (safartu), now (usāfiru) or future (sa-usāfiru).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ساحل and سفر are shared. CAREFUL: Urdu uses نقشہ (Persian) for a map and ہوٹل (English) for a hotel — Arabic has خَرِيطَةٌ and فُنْدُقٌ.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FLEX: teach if time allows; otherwise these are on the website vocabulary tab for homework.
FLEX (Stretch): text types — useful for R4 “purpose”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(1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Conditional-type reading (website vocabulary (2 of 2)). Hear → Say → See → Use. Transliteration is printed for Core students (cover it for Develop/Stretch).
FLEX: teach if time allows; otherwise these are on the website vocabulary tab for homework.
FLEX (Stretch): conditional reading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(1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verbs and analysis (website vocabulary (2 of 2)). Hear → Say → See → Use. Transliteration is printed for Core students (cover it for Develop/Stretch).
FLEX: teach if time allows; otherwise these are on the website vocabulary tab for homework.
FLEX (Stretch): reading verbs — يَدُلُّ عَلَى، يَكْشِفُ عَنْ.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KEY WORDS — travel nouns from the website AT-A-L11 visual game (السُّيَّاحُ، المَعَالِمُ، الشَّوَاطِئُ، الفَنَادِقُ، الخَرَائِطُ، رِحْلَاتٌ). These are CORE today; the website’s text-type and analysis words (groups 1–3) are FLEX for Stretch. Broken plurals: say singular → plural as a chant (funduq – fanādiq).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“Classify by particle” (إِذَا real · لَوْ hypothetical), “Match the result marker” (إِذَا … سَـ · لَوْ … لَـ) and the website table. Row 1 uses the Petra text so Core meets إِذَا in context.
English: If you visit Petra, you will love it. · If the visits had been organised, it would have been better. · If you book early, you will save. · If you had booked early, you would have saved.
Website common error: reading a لَوْ sentence as a genuine recommendation, or using سَـ after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Topic A page lists “reading inference; vocabulary in context; time frames”. The three moves:
• FIND: the answer is the exact Arabic words (website success criterion: “I locate the exact phrase that proves each answer”).
• INFER: join two clues to reach an idea the text does not say — the website “infer one unstated meaning from context”.
• TIME FRAME: past verbs (سَافَرْتُ، رَكِبْنَا) vs. present / future advice (إِذَا زُرْتَ … سَتُحِبُّهَا · خُذْ). Links to AT-A-L10 distractors (“usually” vs. “today”).
Stretch: website rule “Reading verbs” — يَدُلُّ عَلَى (indicates), يَكْشِفُ عَنْ (reveals).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reading toolkit: classify conditionals by particle, read the writer's attitude from the type, and match result markers in a gap.”
• Classify by particle: The particle fixes whether the case is real or counterfactual.
• Read the attitude (R3): A counterfactual implies the condition was not met, hinting at criticism.
• Match the result marker: The gap's marker must fit the conditional type.
• Reading verbs: Use precise verbs to state what the text shows.
Website common error: Reading a لَوْ counterfactual as a genuine recommendation, or choosing a سَـ result in a لَوْ clause. Match the particle to the result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evidence hunt on the Topic A text before students read it in full: question → key word → scan → check the distractor (AT-A-L10) → answer + evidence. Students copy the four-line answer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 Travel and Tourism Texts”)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plural in each sentence (السُّيَّاحُ، المَعَالِمُ، الشَّوَاطِئُ، الفَنَادِقُ). Other cards for homework: يَسْتَخْدِمُ الزُّوَّارُ الخَرَائِطَ، يُجَرِّبُ السَّائِحُ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on the page; the title here is teacher-written. Core: sort by the first word only (إِذَا or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FLEX — Develop / Stretch: all 5.
Listen 1: just listen. Listen 2: note answers. Then chat the letters.
Support: after the second listening, show the read-along slide (Arabic + English, line by line) for Core students.
SCRIPT (read aloud):
عِنْدَمَا تَقْرَأُ نَصًّا سِيَاحِيًّا، لَا تَنْظُرْ إِلَى المَعْلُومَةِ فَقَطْ، بَلْ إِلَى نَوْعِ الشَّرْطِ. فَحِينَ يَكْتُبُ الكَاتِبُ «إِذَا زُرْتَ الأُرْدُنَّ، لَنْ تَنْدَمَ»، فَهُوَ يَرَى الزِّيَارَةَ إِمْكَانًا حَقِيقِيًّا وَيَنْصَحُ بِهَا. أَمَّا حِينَ يَكْتُبُ «لَوْ نُظِّمَتِ الزِّيَارَاتُ مُبَكِّرًا، لَكَانَتِ المَوَاقِعُ أَفْضَلَ»، فَهُوَ يَصِفُ أَمْرًا لَمْ يَحْدُثْ، وَيُلَمِّحُ إِلَى نَقْدٍ لِلسِّيَاسَةِ الحَالِيَّةِ. هٰذَا التَّمْيِيزُ بَيْنَ إِذَا الحَقِيقِيَّةِ وَلَوِ الافْتِرَاضِيَّةِ مِنْ أَهَمِّ مَهَارَاتِ القِرَاءَةِ المُتَقَدِّمَةِ. وَفِي أَسْئِلَةِ مِلْءِ الفَرَاغِ، طَابِقِ العَلَامَةَ مَعَ الأَدَاةِ: سَـ مَعَ إِذَا، وَلَـ مَعَ لَوْ.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(3 min read + 4 min questions + 2 min answers). Teacher-written A2 travel account for the Topic A evidence hunt (it recycles AT-A-L02 time, AT-A-L04 food, AT-A-L07 health and AT-A-L09 transport). Every question is labelled with the detail type the website challenge names: place, time, transport, opinion, problem — and one INFERENCE.
TIME FRAMES (Topic A grammar): the story is in the past (سَافَرْتُ، وَصَلْنَا، رَكِبْنَا، مَشَيْنَا); the last sentence switches to advice for the future (إِذَا زُرْتَ … سَتُحِبُّهَا · خُذْ …). Ask: which sentence is not about the past?
Core: questions 1–4 with the glossary. Develop: all 6. Stretch: the website opinion text (extension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“Scan a travel text for place, time, transport, opinion and problem details, then infer one unstated meaning from context and justify it.”
Website Topic A challenge “Travel evidence hunt”. Model table: المَكَانُ = الأُرْدُنُّ / البَتْرَاءُ · الزَّمَانُ = فِي الصَّيْفِ المَاضِي، ثَلَاثَ سَاعَاتٍ · النَّقْلُ = بِالطَّائِرَةِ، الحَافِلَةَ · الرَّأْيُ = سَتُحِبُّهَا · المُشْكِلَةُ = الجَوُّ حَارٌّ، نَسِيَ قُبَّعَتَهُ، صُدَاعٌ. Inference ideas: the family is not from Jordan (they flew there); they were tired (a long day walking in the heat); Petra is far from Amman (three hours by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يَكْشِفُ ذٰلِكَ؟ (Attitude)
B: يَكْشِفُ عَنْ نَقْدٍ ضِمْنِيٍّ لِلسِّيَاسَةِ الحَالِيَّةِ، لِأَنَّ الشَّرْطَ لَمْ يَتَحَقَّقْ. (Infers the critical stance)
Prompts 1–2 are teacher-made on the Topic A text; prompts 3–4 are the website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conditionals as real (إِذَا) or hypothetical (لَوْ). · Develop — For two, match the correct result marker (سَـ / لَـ). · Stretch — Write an R3 answer inferring the writer's attitude from a Type 2 conditional.
Website writing task (Stretch): Write eighty to ninety words analysing a short travel text of your choice. Classify one conditional as real (إِذَا) and one as hypothetical (لَوْ), explain what the Type 2 reveals about the writer's attitude, and state the purpose of the text.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for the STRETCH task (analysing the website opinion text). Core and Develop compare their Petra answers with the reading answer slide instead.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(AT-A-L12 · Topic A Review and Assessment) will spend class time USING this language, so students prepare it tonight — short, simple, easy to access (school guidance: “Simple, Short, Interesting, Relevant, Easy to access”). The five “words” are the five highest-value Topic A structures for the AT-A-L12 review and assessment (one from each key subtopic).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Reading — Travel and Tourism Texts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نُصُوصُ السَّفَرِ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travel and tourism texts, identify details and infer meaning using contextual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AT-A-L11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Travel words, then “if” (real) and “if only” (not real), then how to find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conditionals, fix the sentences.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detail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travel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Usually by bus, but today on foot. How does he go TODAY?</a:t>
            </a:r>
            <a:endParaRPr lang="en-US" sz="9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عَادَةً بِالحَافِلَةِ، وَلٰكِنْ اليَوْمَ مَشْيًا.</a:t>
            </a:r>
            <a:endParaRPr lang="ar-SA" sz="10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in the PAST?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detail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travel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Usually by bus, but today on foot. How does he go TODAY?</a:t>
            </a:r>
            <a:endParaRPr lang="en-US" sz="9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عَادَةً بِالحَافِلَةِ، وَلٰكِنْ اليَوْمَ مَشْيًا.</a:t>
            </a:r>
            <a:endParaRPr lang="ar-SA" sz="10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foot</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AT-A-L10: the distractor is “usually”.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in the PAST?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سَافَرْتُ</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سَأُسَافِرُ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frames — needed today.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Every answer needs evidence: find the exact Arabic words. Check the time frame: past (safartu), now (usāfiru) or future (sa-usāfiru).</a:t>
            </a:r>
            <a:endParaRPr lang="en-US" sz="10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سَافَرْتُ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أُسَافِرُ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أُسَافِرُ</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comprehension questions on travel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a conditional as real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or hypothetical (</a:t>
            </a:r>
            <a:pPr algn="l" indent="0" marL="0">
              <a:buNone/>
            </a:pPr>
            <a:r>
              <a:rPr lang="ar-SA" altLang="en-US" sz="1700" dirty="0">
                <a:solidFill>
                  <a:srgbClr val="1F2A37"/>
                </a:solidFill>
                <a:latin typeface="Amiri" pitchFamily="34" charset="0"/>
                <a:ea typeface="Amiri" pitchFamily="34" charset="-122"/>
                <a:cs typeface="Amiri" pitchFamily="34" charset="-120"/>
              </a:rPr>
              <a:t>لَوْ</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Infer the writer's attitude from the conditional type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correct result marker (</a:t>
            </a:r>
            <a:pPr algn="l" indent="0" marL="0">
              <a:buNone/>
            </a:pPr>
            <a:r>
              <a:rPr lang="ar-SA" altLang="en-US" sz="1700" dirty="0">
                <a:solidFill>
                  <a:srgbClr val="1F2A37"/>
                </a:solidFill>
                <a:latin typeface="Amiri" pitchFamily="34" charset="0"/>
                <a:ea typeface="Amiri" pitchFamily="34" charset="-122"/>
                <a:cs typeface="Amiri" pitchFamily="34" charset="-120"/>
              </a:rPr>
              <a:t>سَـ / لَـ</a:t>
            </a:r>
            <a:pPr algn="l" indent="0" marL="0">
              <a:buNone/>
            </a:pPr>
            <a:r>
              <a:rPr lang="en-US" sz="1300" dirty="0">
                <a:solidFill>
                  <a:srgbClr val="1F2A37"/>
                </a:solidFill>
                <a:latin typeface="Calibri" pitchFamily="34" charset="0"/>
                <a:ea typeface="Calibri" pitchFamily="34" charset="-122"/>
                <a:cs typeface="Calibri" pitchFamily="34" charset="-120"/>
              </a:rPr>
              <a:t>) in a gap.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place, time and transport in a travel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copy the Arabic evidence for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work out one meaning that is not stated (inference).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real “if” (idhā) from an “if only” (law).</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“law” shows about the writer’s attitude.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state the purpose of a text.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reading-analysis words from the website (FLEX, for Stretch) + 6 Topic A travel words (CORE).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Conditional-type reading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verbs and analysis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سَائِحٌ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‎سیاح‎ </a:t>
            </a:r>
            <a:pPr indent="0" marL="0">
              <a:buNone/>
            </a:pPr>
            <a:r>
              <a:rPr lang="en-US" sz="950" b="1" dirty="0">
                <a:solidFill>
                  <a:srgbClr val="2E8B57"/>
                </a:solidFill>
                <a:latin typeface="Calibri" pitchFamily="34" charset="0"/>
                <a:ea typeface="Calibri" pitchFamily="34" charset="-122"/>
                <a:cs typeface="Calibri" pitchFamily="34" charset="-120"/>
              </a:rPr>
              <a:t> sā’iḥ · a tourist (Urdu: سیاحت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سَاحِلٌ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‎ساحل‎ </a:t>
            </a:r>
            <a:pPr indent="0" marL="0">
              <a:buNone/>
            </a:pPr>
            <a:r>
              <a:rPr lang="en-US" sz="950" b="1" dirty="0">
                <a:solidFill>
                  <a:srgbClr val="2E8B57"/>
                </a:solidFill>
                <a:latin typeface="Calibri" pitchFamily="34" charset="0"/>
                <a:ea typeface="Calibri" pitchFamily="34" charset="-122"/>
                <a:cs typeface="Calibri" pitchFamily="34" charset="-120"/>
              </a:rPr>
              <a:t> sāḥil · coast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خَرِيطَةٌ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‎نقشہ‎ </a:t>
            </a:r>
            <a:pPr indent="0" marL="0">
              <a:buNone/>
            </a:pPr>
            <a:r>
              <a:rPr lang="en-US" sz="950" b="1" dirty="0">
                <a:solidFill>
                  <a:srgbClr val="2E8B57"/>
                </a:solidFill>
                <a:latin typeface="Calibri" pitchFamily="34" charset="0"/>
                <a:ea typeface="Calibri" pitchFamily="34" charset="-122"/>
                <a:cs typeface="Calibri" pitchFamily="34" charset="-120"/>
              </a:rPr>
              <a:t> kharīṭa · map (not cognate)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فُنْدُقٌ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‎ہوٹل‎ </a:t>
            </a:r>
            <a:pPr indent="0" marL="0">
              <a:buNone/>
            </a:pPr>
            <a:r>
              <a:rPr lang="en-US" sz="950" b="1" dirty="0">
                <a:solidFill>
                  <a:srgbClr val="2E8B57"/>
                </a:solidFill>
                <a:latin typeface="Calibri" pitchFamily="34" charset="0"/>
                <a:ea typeface="Calibri" pitchFamily="34" charset="-122"/>
                <a:cs typeface="Calibri" pitchFamily="34" charset="-120"/>
              </a:rPr>
              <a:t> funduq · hotel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سَفَرٍ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travel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 sa-fa-rin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فُنْدُقٍ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 fun-du-qin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سِيَاحِيٌّ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guide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si-yā-ḥiy-yun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types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مَنْشُورٌ سِيَاحِيٌّ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brochure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man-shū-run si-yā-ḥiy-yun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مُؤَلِّفُ النَّصِّ</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text's author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mu-ʾal-li-fu an-naṣ-ṣi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الغَرَضُ مِنَ الكِتَابَةِ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purpose of the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al-gha-ra-ḍu mi-na al-ki-tā-ba-ti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السِّيَاقُ اللُّغَوِيُّ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linguistic 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as-si-yā-qu all-lu-gha-wiy-yu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إِذَا.</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حَقِيقِيٌّ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ḥa-qī-qiy-yun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لَوْ.</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افْتِرَاضِيٌّ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af-ti-rā-ḍiy-yun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مَوْقِفُ الكَاتِبِ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writer's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maw-qi-fu al-kā-ti-bi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real possibility)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Conditional-type reading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(signals a counterfactual)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نَقْدٌ ضِمْنِيٌّ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implicit criticism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naq-dun ḍim-niy-yun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 direct object.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يُمَيِّزُ 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distinguishes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yu-may-yi-zu bay-na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عَلَى.</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يَدُلُّ عَلَى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ya-dul-lu ʿa-lā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عَنْ.</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يَكْشِفُ عَنْ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reveals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yak-shi-fu ʿan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verbs and analysis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يَقْتَرِحُ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suggests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yaq-ta-ri-ḥu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تَسَلْسُلُ الأَحْدَاثِ</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sequence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ta-sal-su-lu al-aḥ-dā-thi</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تَوْصِيَةٌ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recommendation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taw-ṣi-ya-tun</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maw-thū-qiy-ya-tun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TOPIC A · TRAVEL AND TOURISM (WEBSITE VISUAL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 holiday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سَائِحٌ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sā-ʾi-ḥun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سَائِحٌ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fun-du-qun</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فُنْدُقٌ</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مَعْلَمٌ</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landmark, a sight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maʿ-la-mun</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مَعَالِمُ</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مَعْلَمٌ</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شَاطِئٌ</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shā-ṭi-ʾun</a:t>
            </a:r>
            <a:endParaRPr lang="en-US" sz="1350" dirty="0"/>
          </a:p>
        </p:txBody>
      </p:sp>
      <p:sp>
        <p:nvSpPr>
          <p:cNvPr id="72" name="Shape 69"/>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شَوَاطِئُ</a:t>
            </a:r>
            <a:endParaRPr lang="ar-SA" sz="1500" dirty="0"/>
          </a:p>
        </p:txBody>
      </p:sp>
      <p:sp>
        <p:nvSpPr>
          <p:cNvPr id="75" name="Shape 72"/>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7" name="Text 74"/>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شَاطِئٌ</a:t>
            </a:r>
            <a:endParaRPr lang="ar-SA" sz="1500" dirty="0"/>
          </a:p>
        </p:txBody>
      </p:sp>
      <p:sp>
        <p:nvSpPr>
          <p:cNvPr id="78" name="Shape 7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389120"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81" name="Shape 78"/>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3" name="Shape 8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a:t>
            </a:r>
            <a:endParaRPr lang="ar-SA" sz="3000" dirty="0"/>
          </a:p>
        </p:txBody>
      </p:sp>
      <p:sp>
        <p:nvSpPr>
          <p:cNvPr id="86" name="Text 8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a:t>
            </a:r>
            <a:endParaRPr lang="en-US" sz="1350" dirty="0"/>
          </a:p>
        </p:txBody>
      </p:sp>
      <p:sp>
        <p:nvSpPr>
          <p:cNvPr id="87" name="Shape 84"/>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a:t>
            </a:r>
            <a:endParaRPr lang="ar-SA" sz="1500" dirty="0"/>
          </a:p>
        </p:txBody>
      </p:sp>
      <p:sp>
        <p:nvSpPr>
          <p:cNvPr id="90" name="Shape 87"/>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2" name="Text 89"/>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خَرِيطَةٌ</a:t>
            </a:r>
            <a:endParaRPr lang="ar-SA" sz="15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96" name="Shape 9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8" name="Shape 9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9" name="Text 9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0" name="Text 9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101" name="Text 9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trip, a journey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102" name="Shape 99"/>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رِحْلَاتٌ</a:t>
            </a:r>
            <a:endParaRPr lang="ar-SA" sz="1500" dirty="0"/>
          </a:p>
        </p:txBody>
      </p:sp>
      <p:sp>
        <p:nvSpPr>
          <p:cNvPr id="105" name="Shape 102"/>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7" name="Text 104"/>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رِحْلَةٌ</a:t>
            </a:r>
            <a:endParaRPr lang="ar-SA" sz="150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TWO KINDS OF “IF”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If … (real) and if only … (not real)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If …</a:t>
            </a:r>
            <a:endParaRPr lang="en-US" sz="1100" dirty="0"/>
          </a:p>
        </p:txBody>
      </p:sp>
      <p:sp>
        <p:nvSpPr>
          <p:cNvPr id="17" name="Text 14"/>
          <p:cNvSpPr txBox="1"/>
          <p:nvPr/>
        </p:nvSpPr>
        <p:spPr>
          <a:xfrm>
            <a:off x="83301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8" name="Text 15"/>
          <p:cNvSpPr txBox="1"/>
          <p:nvPr/>
        </p:nvSpPr>
        <p:spPr>
          <a:xfrm>
            <a:off x="339242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shows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360152" y="2267712"/>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إِذَا</a:t>
            </a:r>
            <a:endParaRPr lang="ar-SA" sz="2600" dirty="0"/>
          </a:p>
        </p:txBody>
      </p:sp>
      <p:sp>
        <p:nvSpPr>
          <p:cNvPr id="22" name="Text 19"/>
          <p:cNvSpPr txBox="1"/>
          <p:nvPr/>
        </p:nvSpPr>
        <p:spPr>
          <a:xfrm>
            <a:off x="836676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(Type 1)</a:t>
            </a:r>
            <a:endParaRPr lang="en-US" sz="1100" dirty="0"/>
          </a:p>
        </p:txBody>
      </p:sp>
      <p:sp>
        <p:nvSpPr>
          <p:cNvPr id="23" name="Text 20"/>
          <p:cNvSpPr txBox="1"/>
          <p:nvPr/>
        </p:nvSpPr>
        <p:spPr>
          <a:xfrm>
            <a:off x="3410712"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إِذَا</a:t>
            </a:r>
            <a:pPr rtl="1" algn="ctr" indent="0" marL="0">
              <a:buNone/>
            </a:pPr>
            <a:r>
              <a:rPr lang="ar-SA" altLang="en-US" sz="2200" b="1" dirty="0">
                <a:solidFill>
                  <a:srgbClr val="1B3B6F"/>
                </a:solidFill>
                <a:latin typeface="Amiri" pitchFamily="34" charset="0"/>
                <a:ea typeface="Amiri" pitchFamily="34" charset="-122"/>
                <a:cs typeface="Amiri" pitchFamily="34" charset="-120"/>
              </a:rPr>
              <a:t> زُرْتَ البَتْرَاءَ، </a:t>
            </a:r>
            <a:pPr rtl="1" algn="ctr" indent="0" marL="0">
              <a:buNone/>
            </a:pPr>
            <a:r>
              <a:rPr lang="ar-SA" altLang="en-US" sz="2200" b="1" dirty="0">
                <a:solidFill>
                  <a:srgbClr val="1D5FBF"/>
                </a:solidFill>
                <a:latin typeface="Amiri" pitchFamily="34" charset="0"/>
                <a:ea typeface="Amiri" pitchFamily="34" charset="-122"/>
                <a:cs typeface="Amiri" pitchFamily="34" charset="-120"/>
              </a:rPr>
              <a:t>سَ</a:t>
            </a:r>
            <a:pPr rtl="1" algn="ctr" indent="0" marL="0">
              <a:buNone/>
            </a:pPr>
            <a:r>
              <a:rPr lang="ar-SA" altLang="en-US" sz="2200" b="1" dirty="0">
                <a:solidFill>
                  <a:srgbClr val="1B3B6F"/>
                </a:solidFill>
                <a:latin typeface="Amiri" pitchFamily="34" charset="0"/>
                <a:ea typeface="Amiri" pitchFamily="34" charset="-122"/>
                <a:cs typeface="Amiri" pitchFamily="34" charset="-120"/>
              </a:rPr>
              <a:t>تُحِبُّهَا.</a:t>
            </a:r>
            <a:endParaRPr lang="ar-SA" sz="220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advice: it can really happen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360152" y="3054096"/>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لَوْ</a:t>
            </a:r>
            <a:endParaRPr lang="ar-SA" sz="2600" dirty="0"/>
          </a:p>
        </p:txBody>
      </p:sp>
      <p:sp>
        <p:nvSpPr>
          <p:cNvPr id="29" name="Text 26"/>
          <p:cNvSpPr txBox="1"/>
          <p:nvPr/>
        </p:nvSpPr>
        <p:spPr>
          <a:xfrm>
            <a:off x="836676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real (Type 2)</a:t>
            </a:r>
            <a:endParaRPr lang="en-US" sz="1100" dirty="0"/>
          </a:p>
        </p:txBody>
      </p:sp>
      <p:sp>
        <p:nvSpPr>
          <p:cNvPr id="30" name="Text 27"/>
          <p:cNvSpPr txBox="1"/>
          <p:nvPr/>
        </p:nvSpPr>
        <p:spPr>
          <a:xfrm>
            <a:off x="3410712"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لَوْ</a:t>
            </a:r>
            <a:pPr rtl="1" algn="ctr" indent="0" marL="0">
              <a:buNone/>
            </a:pPr>
            <a:r>
              <a:rPr lang="ar-SA" altLang="en-US" sz="2200" b="1" dirty="0">
                <a:solidFill>
                  <a:srgbClr val="1B3B6F"/>
                </a:solidFill>
                <a:latin typeface="Amiri" pitchFamily="34" charset="0"/>
                <a:ea typeface="Amiri" pitchFamily="34" charset="-122"/>
                <a:cs typeface="Amiri" pitchFamily="34" charset="-120"/>
              </a:rPr>
              <a:t> نُظِّمَتِ الزِّيَارَاتُ، </a:t>
            </a:r>
            <a:pPr rtl="1" algn="ctr" indent="0" marL="0">
              <a:buNone/>
            </a:pPr>
            <a:r>
              <a:rPr lang="ar-SA" altLang="en-US" sz="2200" b="1" dirty="0">
                <a:solidFill>
                  <a:srgbClr val="D6336C"/>
                </a:solidFill>
                <a:latin typeface="Amiri" pitchFamily="34" charset="0"/>
                <a:ea typeface="Amiri" pitchFamily="34" charset="-122"/>
                <a:cs typeface="Amiri" pitchFamily="34" charset="-120"/>
              </a:rPr>
              <a:t>لَ</a:t>
            </a:r>
            <a:pPr rtl="1" algn="ctr" indent="0" marL="0">
              <a:buNone/>
            </a:pPr>
            <a:r>
              <a:rPr lang="ar-SA" altLang="en-US" sz="2200" b="1" dirty="0">
                <a:solidFill>
                  <a:srgbClr val="1B3B6F"/>
                </a:solidFill>
                <a:latin typeface="Amiri" pitchFamily="34" charset="0"/>
                <a:ea typeface="Amiri" pitchFamily="34" charset="-122"/>
                <a:cs typeface="Amiri" pitchFamily="34" charset="-120"/>
              </a:rPr>
              <a:t>كَانَ أَفْضَلَ.</a:t>
            </a:r>
            <a:endParaRPr lang="ar-SA" sz="2200" dirty="0"/>
          </a:p>
        </p:txBody>
      </p:sp>
      <p:sp>
        <p:nvSpPr>
          <p:cNvPr id="31" name="Text 28"/>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did not happen → criticism</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10360152" y="3840480"/>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سَـ</a:t>
            </a:r>
            <a:endParaRPr lang="ar-SA" sz="2600" dirty="0"/>
          </a:p>
        </p:txBody>
      </p:sp>
      <p:sp>
        <p:nvSpPr>
          <p:cNvPr id="34" name="Text 31"/>
          <p:cNvSpPr txBox="1"/>
          <p:nvPr/>
        </p:nvSpPr>
        <p:spPr>
          <a:xfrm>
            <a:off x="836676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Type 1</a:t>
            </a:r>
            <a:endParaRPr lang="en-US" sz="1100" dirty="0"/>
          </a:p>
        </p:txBody>
      </p:sp>
      <p:sp>
        <p:nvSpPr>
          <p:cNvPr id="35" name="Text 32"/>
          <p:cNvSpPr txBox="1"/>
          <p:nvPr/>
        </p:nvSpPr>
        <p:spPr>
          <a:xfrm>
            <a:off x="3410712"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حَجَزْتَ مُبَكِّرًا، </a:t>
            </a:r>
            <a:pPr rtl="1" algn="ctr" indent="0" marL="0">
              <a:buNone/>
            </a:pPr>
            <a:r>
              <a:rPr lang="ar-SA" altLang="en-US" sz="2200" b="1" dirty="0">
                <a:solidFill>
                  <a:srgbClr val="1D5FBF"/>
                </a:solidFill>
                <a:latin typeface="Amiri" pitchFamily="34" charset="0"/>
                <a:ea typeface="Amiri" pitchFamily="34" charset="-122"/>
                <a:cs typeface="Amiri" pitchFamily="34" charset="-120"/>
              </a:rPr>
              <a:t>سَ</a:t>
            </a:r>
            <a:pPr rtl="1" algn="ctr" indent="0" marL="0">
              <a:buNone/>
            </a:pPr>
            <a:r>
              <a:rPr lang="ar-SA" altLang="en-US" sz="2200" b="1" dirty="0">
                <a:solidFill>
                  <a:srgbClr val="1B3B6F"/>
                </a:solidFill>
                <a:latin typeface="Amiri" pitchFamily="34" charset="0"/>
                <a:ea typeface="Amiri" pitchFamily="34" charset="-122"/>
                <a:cs typeface="Amiri" pitchFamily="34" charset="-120"/>
              </a:rPr>
              <a:t>تُوَفِّرُ.</a:t>
            </a:r>
            <a:endParaRPr lang="ar-SA" sz="2200" dirty="0"/>
          </a:p>
        </p:txBody>
      </p:sp>
      <p:sp>
        <p:nvSpPr>
          <p:cNvPr id="36" name="Text 33"/>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goes with idhā</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360152" y="4626864"/>
            <a:ext cx="12801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لَـ</a:t>
            </a:r>
            <a:endParaRPr lang="ar-SA" sz="2600" dirty="0"/>
          </a:p>
        </p:txBody>
      </p:sp>
      <p:sp>
        <p:nvSpPr>
          <p:cNvPr id="39" name="Text 36"/>
          <p:cNvSpPr txBox="1"/>
          <p:nvPr/>
        </p:nvSpPr>
        <p:spPr>
          <a:xfrm>
            <a:off x="836676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 Type 2</a:t>
            </a:r>
            <a:endParaRPr lang="en-US" sz="1100" dirty="0"/>
          </a:p>
        </p:txBody>
      </p:sp>
      <p:sp>
        <p:nvSpPr>
          <p:cNvPr id="40" name="Text 37"/>
          <p:cNvSpPr txBox="1"/>
          <p:nvPr/>
        </p:nvSpPr>
        <p:spPr>
          <a:xfrm>
            <a:off x="3410712"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حَجَزْتَ مُبَكِّرًا، </a:t>
            </a:r>
            <a:pPr rtl="1" algn="ctr" indent="0" marL="0">
              <a:buNone/>
            </a:pPr>
            <a:r>
              <a:rPr lang="ar-SA" altLang="en-US" sz="2200" b="1" dirty="0">
                <a:solidFill>
                  <a:srgbClr val="D6336C"/>
                </a:solidFill>
                <a:latin typeface="Amiri" pitchFamily="34" charset="0"/>
                <a:ea typeface="Amiri" pitchFamily="34" charset="-122"/>
                <a:cs typeface="Amiri" pitchFamily="34" charset="-120"/>
              </a:rPr>
              <a:t>لَ</a:t>
            </a:r>
            <a:pPr rtl="1" algn="ctr" indent="0" marL="0">
              <a:buNone/>
            </a:pPr>
            <a:r>
              <a:rPr lang="ar-SA" altLang="en-US" sz="2200" b="1" dirty="0">
                <a:solidFill>
                  <a:srgbClr val="1B3B6F"/>
                </a:solidFill>
                <a:latin typeface="Amiri" pitchFamily="34" charset="0"/>
                <a:ea typeface="Amiri" pitchFamily="34" charset="-122"/>
                <a:cs typeface="Amiri" pitchFamily="34" charset="-120"/>
              </a:rPr>
              <a:t>وَفَّرْتَ.</a:t>
            </a:r>
            <a:endParaRPr lang="ar-SA" sz="2200" dirty="0"/>
          </a:p>
        </p:txBody>
      </p:sp>
      <p:sp>
        <p:nvSpPr>
          <p:cNvPr id="41" name="Text 38"/>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goes with law</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idhā = if (real advice). Develop: match sa- with idhā and la- with law. Stretch: law → the writer is criticising.</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READING LIKE A DETECTIVE (TOPIC A: EVIDENCE, INFERENCE, TIME FRAMES)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infer it, date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الدَّلِيلُ · الاِسْتِنْتَاجُ ·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FIND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exact words</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رَكِبْنَا الحَافِلَةَ إِلَى البَتْرَاءِ.</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took the bus to Petra.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Transport? → copy these words.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two clues</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الجَوُّ حَارٌّ + نَسِيَ قُبَّعَتَهُ</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hot weather + forgot his hat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why the headache (not stated).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TIME FRAME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past · advice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سَافَرْتُ … سَتُحِبُّهَا</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(past) … you will love it (future)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Story in the past, advice for the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law the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حَجَزْتَ مُبَكِّرًا، لَوَفَّرْتَ.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حَجَزْتَ مُبَكِّرًا، سَتُوَفِّرُ.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conditionals for attitude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الشَّرْطِ لِفَهْمِ المَوْقِفِ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Classify by particle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(real) · </a:t>
            </a:r>
            <a:pPr algn="l" indent="0" marL="0">
              <a:buNone/>
            </a:pPr>
            <a:r>
              <a:rPr lang="ar-SA" altLang="en-US" sz="1350" dirty="0">
                <a:solidFill>
                  <a:srgbClr val="5A6472"/>
                </a:solidFill>
                <a:latin typeface="Amiri" pitchFamily="34" charset="0"/>
                <a:ea typeface="Amiri" pitchFamily="34" charset="-122"/>
                <a:cs typeface="Amiri" pitchFamily="34" charset="-120"/>
              </a:rPr>
              <a:t>لَوْ</a:t>
            </a:r>
            <a:pPr algn="l" indent="0" marL="0">
              <a:buNone/>
            </a:pPr>
            <a:r>
              <a:rPr lang="en-US" sz="1050" dirty="0">
                <a:solidFill>
                  <a:srgbClr val="5A6472"/>
                </a:solidFill>
                <a:latin typeface="Calibri" pitchFamily="34" charset="0"/>
                <a:ea typeface="Calibri" pitchFamily="34" charset="-122"/>
                <a:cs typeface="Calibri" pitchFamily="34" charset="-120"/>
              </a:rPr>
              <a:t>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إِذَا زُرْتَ الأُرْدُنَّ، لَنْ تَنْدَمَ</a:t>
            </a:r>
            <a:pPr algn="l" indent="0" marL="0">
              <a:buNone/>
            </a:pPr>
            <a:r>
              <a:rPr lang="en-US" sz="2000" b="1" dirty="0">
                <a:solidFill>
                  <a:srgbClr val="1F2A37"/>
                </a:solidFill>
                <a:latin typeface="Calibri" pitchFamily="34" charset="0"/>
                <a:ea typeface="Calibri" pitchFamily="34" charset="-122"/>
                <a:cs typeface="Calibri" pitchFamily="34" charset="-120"/>
              </a:rPr>
              <a:t> → real recommendation   ·   </a:t>
            </a:r>
            <a:pPr algn="l" indent="0" marL="0">
              <a:buNone/>
            </a:pPr>
            <a:r>
              <a:rPr lang="ar-SA" altLang="en-US" sz="2600" b="1" dirty="0">
                <a:solidFill>
                  <a:srgbClr val="1F2A37"/>
                </a:solidFill>
                <a:latin typeface="Amiri" pitchFamily="34" charset="0"/>
                <a:ea typeface="Amiri" pitchFamily="34" charset="-122"/>
                <a:cs typeface="Amiri" pitchFamily="34" charset="-120"/>
              </a:rPr>
              <a:t>لَوْ نُظِّمَتِ الزِّيَارَاتُ، لَكَانَ أَفْضَلَ</a:t>
            </a:r>
            <a:pPr algn="l" indent="0" marL="0">
              <a:buNone/>
            </a:pPr>
            <a:r>
              <a:rPr lang="en-US" sz="2000" b="1" dirty="0">
                <a:solidFill>
                  <a:srgbClr val="1F2A37"/>
                </a:solidFill>
                <a:latin typeface="Calibri" pitchFamily="34" charset="0"/>
                <a:ea typeface="Calibri" pitchFamily="34" charset="-122"/>
                <a:cs typeface="Calibri" pitchFamily="34" charset="-120"/>
              </a:rPr>
              <a:t> → counterfactual</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Read the attitude (R3)</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Type 2 → implicit criticism</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لَوْ اهْتَمَّتِ الدَّوْلَةُ بِالتُّرَاثِ، لَمَا تَدَهْوَرَ</a:t>
            </a:r>
            <a:pPr algn="l" indent="0" marL="0">
              <a:buNone/>
            </a:pPr>
            <a:r>
              <a:rPr lang="en-US" sz="2000" b="1" dirty="0">
                <a:solidFill>
                  <a:srgbClr val="1F2A37"/>
                </a:solidFill>
                <a:latin typeface="Calibri" pitchFamily="34" charset="0"/>
                <a:ea typeface="Calibri" pitchFamily="34" charset="-122"/>
                <a:cs typeface="Calibri" pitchFamily="34" charset="-120"/>
              </a:rPr>
              <a:t> → the writer finds current care inadequate</a:t>
            </a:r>
            <a:endParaRPr lang="en-US"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 سَـ · لَوْ …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سَتُوَفِّرُ   ·   لَوْ حَجَزْتَ مُبَكِّرًا، لَوَفَّرْتَ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Reading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يَدُلُّ عَلَى · يَكْشِفُ عَنْ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يَدُلُّ اخْتِيَارُ لَوْ عَلَى نَقْدٍ ضِمْنِيٍّ   ·   يَكْشِفُ النَّصُّ عَنْ مَوْقِفٍ نَاقِدٍ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زُرْتَ الأُرْدُنَّ، لَمَا نَدِمْتَ.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لَنْ تَنْدَمَ.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real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زُرْتَ الأُرْدُنَّ، لَمَا نَدِمْتَ.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نُظِّمَتِ الزِّيَارَاتُ، لَكَانَ أَفْضَلَ.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زُرْتَ الأُرْدُنَّ، لَنْ تَنْدَمَ.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marks a real possibility, here a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زَارَ المُسَافِرُونَ بِأَعْدَادٍ أَقَلَّ، لَكَانَتِ الحَالَةُ أَفْضَلَ.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زُرْتَ الأُرْدُنَّ، سَتَسْتَمْتِعُ.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حَجَزْتَ مُبَكِّرًا، سَتُوَفِّرُ.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real conditional:</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حَجَزْتَ مُبَكِّرًا، ___ المَالَ.</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gap in a counterfactual:</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مُبَكِّرًا، ___ المَالَ.</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hunt for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كَيْفَ ذَهَبُوا إِلَى البَتْرَاءِ؟</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Transport word? Look for a vehicle.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Scan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رَكِبْنَا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الحَافِلَةَ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إِلَى البَتْرَاءِ.</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key word is in sentence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 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سَافَرْتُ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بِالطَّائِرَةِ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Plane was to Jordan — not to Petra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بِالحَافِلَةِ — الدَّلِيلُ: رَكِبْنَا الحَافِلَةَ.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السُّؤَالُ: كَيْفَ ذَهَبُوا إِلَى البَتْرَاءِ؟ الجَوَابُ: بِالحَافِلَةِ. الدَّلِيلُ: «رَكِبْنَا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الحَافِلَةَ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إِلَى البَتْرَاءِ». لَيْسَ بِالطَّائِرَةِ، لِأَنَّ </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الطَّائِرَةَ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كَانَتْ إِلَى الأُرْدُنِّ.</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Question: how did they get to Petra? Answer: by bus. Evidence: “we took the bus to Petra”. Not by plane, because the plane was to Jordan.</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الأُرْدُنَّ، لَنْ تَنْدَمَ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a real recommendation.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اهْتَمَّتِ الدَّوْلَةُ بِالتُّرَاثِ، لَمَا تَدَهْوَرَ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implicit criticism.</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يَدُلُّ اخْتِيَارُ «لَوْ» عَلَى مَوْقِفٍ نَاقِدٍ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Naming the R3 inference.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READING — TRAVEL AND TOURISM TEXTS”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Tourism scenes: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landmarks, camera</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sun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suitcase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يُقِيمُ السُّيَّاحُ فِي الفَنَادِقِ.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يَزُورُ السُّيَّاحُ المَعَالِمَ التَّارِيخِيَّةَ.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تَشْتَهِرُ المِنْطَقَةُ بِالشَّوَاطِئِ.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landmarks, camera</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Tourists visit the historic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sun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تَشْتَهِرُ المِنْطَقَةُ بِالشَّوَاطِئِ.</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region is famous for its beaches.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suitcase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يُقِيمُ السُّيَّاحُ فِي الفَنَادِقِ.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Tourists stay in hotels.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Real, not real, or a reading term?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5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real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terms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زُرْتَ الأُرْدُنَّ، سَتَسْتَمْتِعُ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سَتُوَفِّرُ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احْتَرَمْتَ العَادَاتِ، سَتُقَابَلُ بِتَرْحِيبٍ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real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نُظِّمَتِ الزِّيَارَاتُ، لَكَانَ أَفْضَلَ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اهْتَمَّتِ الدَّوْلَةُ، لَمَا تَدَهْوَرَ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لَوْ زَارُوا بِأَعْدَادٍ أَقَلَّ، لَكَانَتِ الحَالَةُ أَفْضَلَ</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terms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مَوْقِفُ الكَاتِبِ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نَقْدٌ ضِمْنِيٌّ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الغَرَضُ مِنَ الكِتَابَةِ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excellent</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irrelevant</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fact about the past.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simple recommendation.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(R3)?</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 — often an implicit critique.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لَوِ اهْتَمَّتِ الدَّوْلَةُ بِالتُّرَاثِ، لَمَا تَدَهْوَرَ</a:t>
            </a:r>
            <a:pPr algn="l" indent="0" marL="0">
              <a:buNone/>
            </a:pPr>
            <a:r>
              <a:rPr lang="en-US" sz="1250" b="1" dirty="0">
                <a:solidFill>
                  <a:srgbClr val="1B3B6F"/>
                </a:solidFill>
                <a:latin typeface="Calibri" pitchFamily="34" charset="0"/>
                <a:ea typeface="Calibri" pitchFamily="34" charset="-122"/>
                <a:cs typeface="Calibri" pitchFamily="34" charset="-120"/>
              </a:rPr>
              <a:t>» reveals that the writer thinks current care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excellent</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inadequate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irrelevant</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counterfactual implies the care was not adequate.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يَدُلُّ اخْتِيَارُ «لَوْ» ___ نَقْدٍ ضِمْنِيٍّ.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R3 answer about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fact about the past.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simple recommendation.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Type 2 conditional, so the writer implies the condition was not met and criticises current practice.</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R3 requires naming the type and inferring the critical attitude.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حَجَزْتَ مُبَكِّرًا، لَوَفَّرْتَ المَالَ.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takes which result marker?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مُبَكِّرًا، سَتُوَفِّرُ المَالَ.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takes which result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يَدُلُّ اخْتِيَارُ لَوْ بِنَقْدٍ ضِمْنِيٍّ.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Indicates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حَجَزْتَ مُبَكِّرًا، لَوَفَّرْتَ المَالَ.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سَتُوَفِّرُ المَالَ.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real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result, not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مُبَكِّرًا، سَتُوَفِّرُ المَالَ.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مُبَكِّرًا، لَوَفَّرْتَ المَالَ.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counterfactual </a:t>
            </a:r>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result.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يَدُلُّ اخْتِيَارُ لَوْ بِنَقْدٍ ضِمْنِيٍّ.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يَدُلُّ اخْتِيَارُ لَوْ عَلَى نَقْدٍ ضِمْنِيٍّ.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يَدُلُّ</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reading conditionals critically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length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visit is impossible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criticism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changes the topic</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decorative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Any marker fits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with </a:t>
            </a:r>
            <a:pPr algn="l" indent="0" marL="0">
              <a:buNone/>
            </a:pPr>
            <a:r>
              <a:rPr lang="ar-SA" altLang="en-US" sz="1650" dirty="0">
                <a:solidFill>
                  <a:srgbClr val="1F2A37"/>
                </a:solidFill>
                <a:latin typeface="Amiri" pitchFamily="34" charset="0"/>
                <a:ea typeface="Amiri" pitchFamily="34" charset="-122"/>
                <a:cs typeface="Amiri" pitchFamily="34" charset="-120"/>
              </a:rPr>
              <a:t>لَوْ</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FLEX listening. Core: questions 1 and 5.</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تَقْرَأُ نَصًّا سِيَاحِيًّا، لَا تَنْظُرْ إِلَى المَعْلُومَةِ فَقَطْ، بَلْ إِلَى نَوْعِ الشَّرْطِ.</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you read a tourism text, don’t look only at the information, but at the type of “if”.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زُرْتَ الأُرْدُنَّ، لَنْ تَنْدَمَ» — يَرَى الزِّيَارَةَ إِمْكَانًا حَقِيقِيًّا وَيَنْصَحُ بِهَا.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visit Jordan, you won’t regret it” — he sees the visit as a real possibility and recommends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 نُظِّمَتِ الزِّيَارَاتُ مُبَكِّرًا، لَكَانَتِ المَوَاقِعُ أَفْضَلَ» — يَصِفُ أَمْرًا لَمْ يَحْدُثْ،</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visits had been organised early, the sites would be better” — he describes something that did not happen,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وَيُلَمِّحُ إِلَى نَقْدٍ لِلسِّيَاسَةِ الحَالِيَّةِ.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hints at criticism of the current policy.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طَابِقِ العَلَامَةَ مَعَ الأَدَاةِ: سَـ مَعَ إِذَا، وَلَـ مَعَ لَوْ.</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Match the marker to the particle: sa- with idhā, la-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look at besides the information?</a:t>
            </a:r>
            <a:endParaRPr lang="en-US" sz="1250" dirty="0"/>
          </a:p>
        </p:txBody>
      </p:sp>
      <p:sp>
        <p:nvSpPr>
          <p:cNvPr id="21" name="Shape 18"/>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2" name="Shape 19"/>
          <p:cNvSpPr/>
          <p:nvPr/>
        </p:nvSpPr>
        <p:spPr>
          <a:xfrm>
            <a:off x="640080" y="2490216"/>
            <a:ext cx="256032" cy="256032"/>
          </a:xfrm>
          <a:prstGeom prst="ellipse">
            <a:avLst/>
          </a:prstGeom>
          <a:solidFill>
            <a:srgbClr val="2E8B57"/>
          </a:solidFill>
          <a:ln w="12700">
            <a:solidFill>
              <a:srgbClr val="2E8B57"/>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type of conditional</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length only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إِلَى نَوْعِ الشَّرْطِ.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لَنْ تَنْدَمَ</a:t>
            </a:r>
            <a:pPr algn="l" indent="0" marL="0">
              <a:buNone/>
            </a:pPr>
            <a:r>
              <a:rPr lang="en-US" sz="1250" b="1" dirty="0">
                <a:solidFill>
                  <a:srgbClr val="1B3B6F"/>
                </a:solidFill>
                <a:latin typeface="Calibri" pitchFamily="34" charset="0"/>
                <a:ea typeface="Calibri" pitchFamily="34" charset="-122"/>
                <a:cs typeface="Calibri" pitchFamily="34" charset="-120"/>
              </a:rPr>
              <a:t>» convey?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visit is impossible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criticism</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sees the visit as a real possibility and recommends 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يَرَى الزِّيَارَةَ إِمْكَانًا حَقِيقِيًّا وَيَنْصَحُ بِهَا.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counterfactual hint at here?</a:t>
            </a:r>
            <a:endParaRPr lang="en-US" sz="12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policy</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يُلَمِّحُ إِلَى نَقْدٍ لِلسِّيَاسَةِ الحَالِيَّةِ.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t>
            </a:r>
            <a:pPr algn="l" indent="0" marL="0">
              <a:buNone/>
            </a:pPr>
            <a:r>
              <a:rPr lang="ar-SA" altLang="en-US" sz="1650" b="1" dirty="0">
                <a:solidFill>
                  <a:srgbClr val="1B3B6F"/>
                </a:solidFill>
                <a:latin typeface="Amiri" pitchFamily="34" charset="0"/>
                <a:ea typeface="Amiri" pitchFamily="34" charset="-122"/>
                <a:cs typeface="Amiri" pitchFamily="34" charset="-120"/>
              </a:rPr>
              <a:t>إِذَا/لَوْ</a:t>
            </a:r>
            <a:pPr algn="l" indent="0" marL="0">
              <a:buNone/>
            </a:pPr>
            <a:r>
              <a:rPr lang="en-US" sz="1250" b="1" dirty="0">
                <a:solidFill>
                  <a:srgbClr val="1B3B6F"/>
                </a:solidFill>
                <a:latin typeface="Calibri" pitchFamily="34" charset="0"/>
                <a:ea typeface="Calibri" pitchFamily="34" charset="-122"/>
                <a:cs typeface="Calibri" pitchFamily="34" charset="-120"/>
              </a:rPr>
              <a:t> distinction important?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a key advanced reading skill</a:t>
            </a:r>
            <a:endParaRPr lang="en-US" sz="125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changes the topic</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decorative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أَهَمِّ مَهَارَاتِ القِرَاءَةِ المُتَقَدِّمَةِ.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gap-fill, how do you match the result marker?</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Any marker fits</a:t>
            </a:r>
            <a:endParaRPr lang="en-US" sz="12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سَـ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إِذَا</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لَـ</a:t>
            </a:r>
            <a:pPr algn="l" indent="0" marL="0">
              <a:buNone/>
            </a:pPr>
            <a:r>
              <a:rPr lang="en-US" sz="1250" b="1" dirty="0">
                <a:solidFill>
                  <a:srgbClr val="1F2A37"/>
                </a:solidFill>
                <a:latin typeface="Calibri" pitchFamily="34" charset="0"/>
                <a:ea typeface="Calibri" pitchFamily="34" charset="-122"/>
                <a:cs typeface="Calibri" pitchFamily="34" charset="-120"/>
              </a:rPr>
              <a:t> with </a:t>
            </a:r>
            <a:pPr algn="l" indent="0" marL="0">
              <a:buNone/>
            </a:pPr>
            <a:r>
              <a:rPr lang="ar-SA" altLang="en-US" sz="1650" b="1" dirty="0">
                <a:solidFill>
                  <a:srgbClr val="1F2A37"/>
                </a:solidFill>
                <a:latin typeface="Amiri" pitchFamily="34" charset="0"/>
                <a:ea typeface="Amiri" pitchFamily="34" charset="-122"/>
                <a:cs typeface="Amiri" pitchFamily="34" charset="-120"/>
              </a:rPr>
              <a:t>لَوْ</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سَـ</a:t>
            </a:r>
            <a:pPr algn="l" indent="0" marL="0">
              <a:buNone/>
            </a:pPr>
            <a:r>
              <a:rPr lang="en-US" sz="1250" dirty="0">
                <a:solidFill>
                  <a:srgbClr val="9AA1AB"/>
                </a:solidFill>
                <a:latin typeface="Calibri" pitchFamily="34" charset="0"/>
                <a:ea typeface="Calibri" pitchFamily="34" charset="-122"/>
                <a:cs typeface="Calibri" pitchFamily="34" charset="-120"/>
              </a:rPr>
              <a:t> with </a:t>
            </a:r>
            <a:pPr algn="l" indent="0" marL="0">
              <a:buNone/>
            </a:pPr>
            <a:r>
              <a:rPr lang="ar-SA" altLang="en-US" sz="1650" dirty="0">
                <a:solidFill>
                  <a:srgbClr val="9AA1AB"/>
                </a:solidFill>
                <a:latin typeface="Amiri" pitchFamily="34" charset="0"/>
                <a:ea typeface="Amiri" pitchFamily="34" charset="-122"/>
                <a:cs typeface="Amiri" pitchFamily="34" charset="-120"/>
              </a:rPr>
              <a:t>لَوْ</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طَابِقِ العَلَامَةَ مَعَ الأَدَاةِ: سَـ مَعَ إِذَا، وَلَـ مَعَ لَوْ.</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FLEX listening. Core: questions 1 and 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E6B52"/>
                </a:solidFill>
                <a:latin typeface="Calibri" pitchFamily="34" charset="0"/>
                <a:ea typeface="Calibri" pitchFamily="34" charset="-122"/>
                <a:cs typeface="Calibri" pitchFamily="34" charset="-120"/>
              </a:rPr>
              <a:t>YOU DO · READING · TOPIC A TEXT · READ THE WHOLE TEXT ONCE, THEN HUNT FOR EVIDENCE</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trip to Petra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الصَّيْفِ المَاضِي سَافَرْتُ مَعَ أُسْرَتِي إِلَى الأُرْدُنِّ بِالطَّائِرَةِ. وَصَلْنَا إِلَى عَمَّانَ فِي المَسَاءِ، وَفِي اليَوْمِ التَّالِي رَكِبْنَا الحَافِلَةَ إِلَى البَتْرَاءِ. كَانَتِ الرِّحْلَةُ طَوِيلَةً: ثَلَاثَ سَاعَاتٍ تَقْرِيبًا. مَشَيْنَا فِي المَدِينَةِ القَدِيمَةِ مِنَ الصَّبَاحِ إِلَى العَصْرِ، وَالْتَقَطْنَا صُوَرًا كَثِيرَةً. كَانَ الجَوُّ حَارًّا جِدًّا، وَنَسِيَ أَخِي قُبَّعَتَهُ فِي الفُنْدُقِ، فَأَصَابَهُ صُدَاعٌ. فِي المَسَاءِ أَكَلْنَا طَعَامًا أُرْدُنِّيًّا لَذِيذًا. إِذَا زُرْتَ البَتْرَاءَ، سَتُحِبُّهَا، وَلٰكِنْ خُذْ مَعَكَ مَاءً كَثِيرًا وَقُبَّعَةً!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الصَّيْفِ المَاضِي</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summer</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travelled</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وَصَلْنَا</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arrived</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اليَوْمِ التَّالِي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next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رَكِبْنَا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rode / took</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تَقْرِيبًا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about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مَشَيْنَا</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walked</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العَصْرِ</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afternoon</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forgot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قُبَّعَتَهُ</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hat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TOPIC A TEXT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PLACE — Which country did the family visit?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Jordan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TRANSPORT — How did they get to Petra?</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plane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TIME — How long was the bus journey?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three hours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one hour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PROBLEM — What happened to the brother?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lost his camera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got a headache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missed the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OPINION — What does the writer think of Petra?</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will love it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boring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too far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INFER — Why did the brother get a headache? (not stated)</a:t>
            </a:r>
            <a:endParaRPr lang="en-US" sz="11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ate too much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was slow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very hot and he had no hat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PLACE — Which country did the family visit?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Jordan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سَافَرْتُ … إِلَى الأُرْدُنِّ.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TRANSPORT — How did they get to Petra?</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plane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رَكِبْنَا الحَافِلَةَ إِلَى البَتْرَاءِ.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TIME — How long was the bus journey?</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three hours</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one hour</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سَاعَاتٍ تَقْرِيبًا.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PROBLEM — What happened to the brother?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lost his camera</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got a headache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missed the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فَأَصَابَهُ صُدَاعٌ.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OPINION — What does the writer think of Petra?</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will love it</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boring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too far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زُرْتَ البَتْرَاءَ، سَتُحِبُّهَا.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INFER — Why did the brother get a headache? (not stated)</a:t>
            </a:r>
            <a:endParaRPr lang="en-US" sz="11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ate too much</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was slow</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was very hot and he had no hat</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الجَوُّ حَارًّا جِدًّا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نَسِيَ قُبَّعَتَهُ</a:t>
            </a:r>
            <a:pPr algn="l" indent="0" marL="0">
              <a:buNone/>
            </a:pPr>
            <a:r>
              <a:rPr lang="en-US" sz="1050" i="1" dirty="0">
                <a:solidFill>
                  <a:srgbClr val="8A6D1E"/>
                </a:solidFill>
                <a:latin typeface="Calibri" pitchFamily="34" charset="0"/>
                <a:ea typeface="Calibri" pitchFamily="34" charset="-122"/>
                <a:cs typeface="Calibri" pitchFamily="34" charset="-120"/>
              </a:rPr>
              <a:t> — two clues together.</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evidence hunt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Travel evidence hunt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Scan a travel text for place, time, transport, opinion and problem details, then infer one unstated meaning from context and justify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take the Petra text and make an evidence table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rows: place · time · transport · opinion · problem (Arabic evidence).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ONE inference: something the text does not say. Justify it with two clues.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pairs share their inference on the mic; the class agrees or challenges.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time and transport rows only — copy the Arabic words.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 five rows + one inference with two clues.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Inference + the time frame of the last sentence (advice: idhā … sa-, khudh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المَكَانُ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place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الزَّمَانُ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time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وَسِيلَةُ النَّقْلِ</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transport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الرَّأْيُ · المُشْكِلَةُ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opinion · problem</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analyse a travel text aloud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سَافَرَتِ الأُسْرَةُ؟ كَيْفَ؟</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فِي الرِّحْلَةِ؟ وَلِمَاذَا حَدَثَتْ؟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نَوْعُ الشَّرْطِ فِي هٰذِهِ الجُمْلَةِ؟ حَقِيقِيٌّ أَمِ افْتِرَاضِيٌّ؟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يَكْشِفُ اخْتِيَارُ لَوْ عَنْ مَوْقِفِ الكَاتِبِ؟</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سَافَرَتْ إِلَى ___ بِـ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أَصَابَهُ صُدَاعٌ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شَرْطٌ ___ لِأَنَّ فِيهِ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يَكْشِفُ اخْتِيَارُ لَوْ عَنْ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نَوْعُ الشَّرْطِ فِي «لَوْ نُظِّمَتِ الزِّيَارَاتُ، لَكَانَ أَفْضَلَ»؟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type of conditional is “law nuẓẓimat az-ziyārāt, la-kāna afḍal”?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شَرْطٌ افْتِرَاضِيٌّ مِنَ النَّوْعِ الثَّانِي؛ فَـ«لَوْ … لَـ» تَصِفُ أَمْرًا لَمْ يَحْدُثْ.</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A hypothetical Type 2 conditional: “law … la-” describes something that did not happen.</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4 questions about the Petra text with evidence.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 in English or Arabic, then copy the Arabic evidence 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short trip account like the Petra text.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verbs (safartu, rakibtu, akaltu), place, transport, one problem, one piece of advice with idhā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the website opinion text (extension).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idhā and one law sentence, what law reveals, and the purpose of the text.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أَقَمْنَا فِي فُنْدُقٍ قَرِيبٍ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stayed in a hotel near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المُشْكِلَةُ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problem was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زُرْتَ ______ ،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visit …, you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مَعَكَ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 with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يَدُلُّ هٰذَا عَلَى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shows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سَافَرْتُ إِلَى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travelled to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رَكِبْنَا الحَافِلَةَ / القِطَارَ.</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took the bus / the train.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visited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الجَوُّ حَارًّا / بَارِدًا.</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was hot / cold.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  ·  رَكِبْنَا  ·  زُرْنَا  ·  أَكَلْنَا  ·  فُنْدُقٌ  ·  مَعَالِمُ  ·  شَاطِئٌ  ·  خَرِيطَةٌ  ·  إِذَا … سَـ  ·  لَوْ … لَـ  ·  يَدُلُّ عَلَى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short travel text of your choice. Classify one conditional as real (</a:t>
            </a:r>
            <a:pPr algn="l" indent="0" marL="0">
              <a:buNone/>
            </a:pPr>
            <a:r>
              <a:rPr lang="ar-SA" altLang="en-US" sz="1750" b="1" dirty="0">
                <a:solidFill>
                  <a:srgbClr val="1F2A37"/>
                </a:solidFill>
                <a:latin typeface="Amiri" pitchFamily="34" charset="0"/>
                <a:ea typeface="Amiri" pitchFamily="34" charset="-122"/>
                <a:cs typeface="Amiri" pitchFamily="34" charset="-120"/>
              </a:rPr>
              <a:t>إِذَا</a:t>
            </a:r>
            <a:pPr algn="l" indent="0" marL="0">
              <a:buNone/>
            </a:pPr>
            <a:r>
              <a:rPr lang="en-US" sz="1350" b="1" dirty="0">
                <a:solidFill>
                  <a:srgbClr val="1F2A37"/>
                </a:solidFill>
                <a:latin typeface="Calibri" pitchFamily="34" charset="0"/>
                <a:ea typeface="Calibri" pitchFamily="34" charset="-122"/>
                <a:cs typeface="Calibri" pitchFamily="34" charset="-120"/>
              </a:rPr>
              <a:t>) and one as hypothetical (</a:t>
            </a:r>
            <a:pPr algn="l" indent="0" marL="0">
              <a:buNone/>
            </a:pPr>
            <a:r>
              <a:rPr lang="ar-SA" altLang="en-US" sz="1750" b="1" dirty="0">
                <a:solidFill>
                  <a:srgbClr val="1F2A37"/>
                </a:solidFill>
                <a:latin typeface="Amiri" pitchFamily="34" charset="0"/>
                <a:ea typeface="Amiri" pitchFamily="34" charset="-122"/>
                <a:cs typeface="Amiri" pitchFamily="34" charset="-120"/>
              </a:rPr>
              <a:t>لَوْ</a:t>
            </a:r>
            <a:pPr algn="l" indent="0" marL="0">
              <a:buNone/>
            </a:pPr>
            <a:r>
              <a:rPr lang="en-US" sz="1350" b="1" dirty="0">
                <a:solidFill>
                  <a:srgbClr val="1F2A37"/>
                </a:solidFill>
                <a:latin typeface="Calibri" pitchFamily="34" charset="0"/>
                <a:ea typeface="Calibri" pitchFamily="34" charset="-122"/>
                <a:cs typeface="Calibri" pitchFamily="34" charset="-120"/>
              </a:rPr>
              <a:t>), explain what the Type 2 reveals about the writer's attitude, and state the purpose of the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conditional named as Type 1 (real) and one as Type 2 (hypothetical).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explanation of the implicit criticism a Type 2 reveals.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correct reading verb (</a:t>
            </a:r>
            <a:pPr algn="l" indent="0" marL="0">
              <a:buNone/>
            </a:pPr>
            <a:r>
              <a:rPr lang="ar-SA" altLang="en-US" sz="1550" dirty="0">
                <a:solidFill>
                  <a:srgbClr val="1F2A37"/>
                </a:solidFill>
                <a:latin typeface="Amiri" pitchFamily="34" charset="0"/>
                <a:ea typeface="Amiri" pitchFamily="34" charset="-122"/>
                <a:cs typeface="Amiri" pitchFamily="34" charset="-120"/>
              </a:rPr>
              <a:t>يَدُلُّ عَلَى / يَكْشِفُ عَنْ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statement of the text's purpose.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السِّيَاحَةُ نِعْمَةٌ وَنِقْمَةٌ فِي آنٍ وَاحِدٍ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tourism is a blessing and a curse at the same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تُلْحِقُ الضَّرَرَ بِالمَوَاقِعِ الهَشَّةِ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damages fragile sites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يَكْشِفُ عَنْ نَقْدٍ ضِمْنِيٍّ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reveals an implicit criticism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سِيَاحَةٌ مُسْتَدَامَةٌ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sustainable tourism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الغَرَضُ مِنَ النَّصِّ إِقْنَاعُ القَارِئِ</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purpose of the text is to persuade the reader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يَكْشِفُ النَّصُّ عَنْ مَوْقِفِ كَاتِبِهِ مِنْ خِلَالِ نَوْعِ الشَّرْطِ. فَجُمْلَةُ «إِذَا احْتَرَمَ السُّيَّاحُ القَوَاعِدَ، سَتَبْقَى المَوَاقِعُ» شَرْطٌ حَقِيقِيٌّ يَنْصَحُ بِهِ الكَاتِبُ وَيَرَاهُ مُمْكِنًا. أَمَّا جُمْلَةُ «لَوِ اهْتَمَّتِ الحُكُومَاتُ مُبَكِّرًا، لَمَا تَدَهْوَرَتِ المَوَاقِعُ» فَشَرْطٌ افْتِرَاضِيٌّ مِنَ النَّوْعِ الثَّانِي. وَيَدُلُّ اخْتِيَارُ «لَوْ» عَلَى نَقْدٍ ضِمْنِيٍّ، لِأَنَّ الشَّرْطَ لَمْ يَتَحَقَّقْ، فَالكَاتِبُ يَرَى السِّيَاسَةَ الحَالِيَّةَ غَيْرَ كَافِيَةٍ. وَالغَرَضُ مِنَ النَّصِّ إِقْنَاعُ القَارِئِ بِأَنَّ التَّنْظِيمَ ضَرُورِيٌّ. لِذٰلِكَ أَقْرَأُ النَّصَّ بِوَعْيٍ بِنَوْعِ الشَّرْطِ وَمَوْقِفِ الكَاتِبِ.</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text reveals its writer’s attitude through the type of conditional. The sentence “if tourists respect the rules, the sites will remain” is a real conditional that the writer recommends and sees as possible. The sentence “if governments had cared early, the sites would not have deteriorated” is a hypothetical Type 2 conditional. Choosing “law” indicates an implicit criticism, because the condition was not met, so the writer finds current policy inadequate. The purpose of the text is to persuade the reader that regulation is necessary. So I read the text aware of the conditional type and the writer’s attitude.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real conditional (idhā)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hypothetical conditional (law)</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yadullu ‘alā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purpose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answer has the exact Arabic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past verbs for my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two clues for an inference.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sa-;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law reveals about the writer.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زُرْتَ الأُرْدُنَّ، سَتَسْتَمْتِعُ.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حَجَزْتَ مُبَكِّرًا، سَتُوَفِّرُ.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لَقُوبِلْتَ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سَتُقَابَلُ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تُقَابَلُ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 the case is real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conditional is hypothetical (Type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نُظِّمَتِ الزِّيَارَاتُ، لَكَانَ 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زُرْتَ الأُرْدُنَّ، سَتَسْتَمْتِعُ.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حَجَزْتَ مُبَكِّرًا، سَتُوَفِّرُ.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real conditional: </a:t>
            </a:r>
            <a:pPr algn="l" indent="0" marL="0">
              <a:buNone/>
            </a:pPr>
            <a:r>
              <a:rPr lang="ar-SA" altLang="en-US" sz="1650" b="1" dirty="0">
                <a:solidFill>
                  <a:srgbClr val="1B3B6F"/>
                </a:solidFill>
                <a:latin typeface="Amiri" pitchFamily="34" charset="0"/>
                <a:ea typeface="Amiri" pitchFamily="34" charset="-122"/>
                <a:cs typeface="Amiri" pitchFamily="34" charset="-120"/>
              </a:rPr>
              <a:t>إِذَا احْتَرَمْتَ العَادَاتِ،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بِتَرْحِيبٍ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لَقُوبِلْتَ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سَتُقَابَلُ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تُقَابَلُ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often reveal about the writer?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that the condition was not met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 the case is real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implies the condition did not hold.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 sustainable-tourism opinion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يَرَى كَاتِبُ المَقَالِ أَنَّ السِّيَاحَةَ نِعْمَةٌ وَنِقْمَةٌ فِي آنٍ وَاحِدٍ. فَهِيَ تُسْهِمُ فِي الاِقْتِصَادِ، غَيْرَ أَنَّهَا قَدْ تُلْحِقُ الضَّرَرَ بِالمَوَاقِعِ الهَشَّةِ. يَقُولُ الكَاتِبُ: «إِذَا احْتَرَمَ السُّيَّاحُ القَوَاعِدَ، سَتَبْقَى المَوَاقِعُ لِلْأَجْيَالِ القَادِمَةِ.» ثُمَّ يُضِيفُ: «لَوِ اهْتَمَّتِ الحُكُومَاتُ بِالتَّنْظِيمِ مُنْذُ البِدَايَةِ، لَمَا وَصَلَتْ كَثِيرٌ مِنَ المَوَاقِعِ إِلَى هٰذَا التَّدَهْوُرِ.» إِنَّ اخْتِيَارَهُ لِلشَّرْطِ الافْتِرَاضِيِّ فِي الجُمْلَةِ الثَّانِيَةِ يَكْشِفُ عَنْ نَقْدٍ ضِمْنِيٍّ لِلسِّيَاسَاتِ الحَالِيَّةِ. وَفِي الخِتَامِ، يُوصِي بِسِيَاحَةٍ مُسْتَدَامَةٍ تُوَازِنُ بَيْنَ الفَائِدَةِ وَالحِمَايَةِ. الغَرَضُ مِنَ النَّصِّ إِقْنَاعُ القَارِئِ بِتَغْيِيرِ سُلُوكِهِ.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كَاتِبُ المَقَالِ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article’s writer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نِعْمَةٌ وَنِقْمَةٌ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blessing and a curse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تُسْهِمُ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contributes to</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غَيْرَ أَنَّ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however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المَوَاقِعِ الهَشَّةِ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fragile sites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القَوَاعِدَ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rules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لِلْأَجْيَالِ القَادِمَةِ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future generations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التَّدَهْوُرِ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deterioration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يُوصِي بِـ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recommends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سُلُوكِهِ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his behaviour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good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Tourism is purely bad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Tourists should stop visiting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Rules do not matter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يُوصِي بِسِيَاحَةٍ مُسْتَدَامَةٍ</a:t>
            </a:r>
            <a:endParaRPr lang="ar-SA" sz="1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Praise for current policies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persuade the reader to change their behaviour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report the news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entertain only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good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Tourism is both a blessing and a curse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Tourism is purely bad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السِّيَاحَةَ نِعْمَةٌ وَنِقْمَةٌ فِي آنٍ وَاحِدٍ.</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real recommendation does the writer make (Type 1)?</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Tourists should stop visiting</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Rules do not matter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tourists respect the rules, the sites will remain for future generations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احْتَرَمَ السُّيَّاحُ القَوَاعِدَ، سَتَبْقَى المَوَاقِعُ لِلْأَجْيَالِ القَادِمَةِ.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the Type 2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لَوِ اهْتَمَّتِ الحُكُومَاتُ بِالتَّنْظِيمِ مُنْذُ البِدَايَةِ، لَمَا وَصَلَتْ … إِلَى هٰذَا التَّدَهْوُرِ</a:t>
            </a:r>
            <a:endParaRPr lang="ar-SA" sz="10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إِذَا احْتَرَمَ السُّيَّاحُ القَوَاعِدَ، سَتَبْقَى المَوَاقِعُ</a:t>
            </a:r>
            <a:endParaRPr lang="ar-SA" sz="10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يُوصِي بِسِيَاحَةٍ مُسْتَدَامَةٍ</a:t>
            </a:r>
            <a:endParaRPr lang="ar-SA" sz="10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the Type 2 choice reveal about the writer's attitude?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Praise for current policies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Implicit criticism of current policies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يَكْشِفُ عَنْ نَقْدٍ ضِمْنِيٍّ لِلسِّيَاسَاتِ الحَالِيَّةِ.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What is the purpose of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persuade the reader to change their behaviour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report the news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entertain only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الغَرَضُ مِنَ النَّصِّ إِقْنَاعُ القَارِئِ بِتَغْيِيرِ سُلُوكِهِ.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Critical Reading Mission — Type, Marker and Attitude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سَتُوَفِّرُ</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زُرْتَ الأُرْدُنَّ، سَتَسْتَمْتِعُ</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2 (hypothetical)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1 (real)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real.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نُظِّمَتِ الزِّيَارَاتُ،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Type 2 (hypothetical)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Type 1 (real)</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hypothetical.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real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counterfactual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takes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pairs with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إِذَا حَجَزْتَ مُبَكِّرًا، ___ المَالَ.</a:t>
            </a:r>
            <a:endParaRPr lang="ar-SA" sz="11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سَتُوَفِّرُ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لَوَفَّرْتَ</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conditional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حَجَزْتَ مُبَكِّرًا، ___ المَالَ.</a:t>
            </a:r>
            <a:endParaRPr lang="ar-SA" sz="12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سَتُوَفِّرُ</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counterfactual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AT-A-L11 · Travel Reading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AT-A-L12 · Topic A Review and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فِي السَّاعَةِ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wake up at … o’clock</a:t>
            </a:r>
            <a:pPr indent="0" marL="0">
              <a:buNone/>
            </a:pPr>
            <a:r>
              <a:rPr lang="en-US" sz="1000" i="1" dirty="0">
                <a:solidFill>
                  <a:srgbClr val="5A6472"/>
                </a:solidFill>
                <a:latin typeface="Calibri" pitchFamily="34" charset="0"/>
                <a:ea typeface="Calibri" pitchFamily="34" charset="-122"/>
                <a:cs typeface="Calibri" pitchFamily="34" charset="-120"/>
              </a:rPr>
              <a:t>  AT-A-L01–L02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would like …, please</a:t>
            </a:r>
            <a:pPr indent="0" marL="0">
              <a:buNone/>
            </a:pPr>
            <a:r>
              <a:rPr lang="en-US" sz="1000" i="1" dirty="0">
                <a:solidFill>
                  <a:srgbClr val="5A6472"/>
                </a:solidFill>
                <a:latin typeface="Calibri" pitchFamily="34" charset="0"/>
                <a:ea typeface="Calibri" pitchFamily="34" charset="-122"/>
                <a:cs typeface="Calibri" pitchFamily="34" charset="-120"/>
              </a:rPr>
              <a:t>  AT-A-L05</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أَلَمٌ فِي … مُنْذُ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have pain in … since …</a:t>
            </a:r>
            <a:pPr indent="0" marL="0">
              <a:buNone/>
            </a:pPr>
            <a:r>
              <a:rPr lang="en-US" sz="1000" i="1" dirty="0">
                <a:solidFill>
                  <a:srgbClr val="5A6472"/>
                </a:solidFill>
                <a:latin typeface="Calibri" pitchFamily="34" charset="0"/>
                <a:ea typeface="Calibri" pitchFamily="34" charset="-122"/>
                <a:cs typeface="Calibri" pitchFamily="34" charset="-120"/>
              </a:rPr>
              <a:t>  AT-A-L07</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تَسْتَرِيحَ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should rest</a:t>
            </a:r>
            <a:pPr indent="0" marL="0">
              <a:buNone/>
            </a:pPr>
            <a:r>
              <a:rPr lang="en-US" sz="1000" i="1" dirty="0">
                <a:solidFill>
                  <a:srgbClr val="5A6472"/>
                </a:solidFill>
                <a:latin typeface="Calibri" pitchFamily="34" charset="0"/>
                <a:ea typeface="Calibri" pitchFamily="34" charset="-122"/>
                <a:cs typeface="Calibri" pitchFamily="34" charset="-120"/>
              </a:rPr>
              <a:t>  AT-A-L08</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go by bus</a:t>
            </a:r>
            <a:pPr indent="0" marL="0">
              <a:buNone/>
            </a:pPr>
            <a:r>
              <a:rPr lang="en-US" sz="1000" i="1" dirty="0">
                <a:solidFill>
                  <a:srgbClr val="5A6472"/>
                </a:solidFill>
                <a:latin typeface="Calibri" pitchFamily="34" charset="0"/>
                <a:ea typeface="Calibri" pitchFamily="34" charset="-122"/>
                <a:cs typeface="Calibri" pitchFamily="34" charset="-120"/>
              </a:rPr>
              <a:t>  AT-A-L09</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Topic A: which TWO subtopics do you find hardest? Write one correct sentence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أَصْعَبُ مَوْضُوعٍ فِي المِحْوَرِ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Topic A structures on this slide and write one sentence with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AT-A-L11: the picture game and the sorter; write a 6-sentence trip account.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the opinion text (idhā / law).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AT-A-L12 · Topic A Review and Assessment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الْمَوْضُوعِ أ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Topic A structures — one from each subtopic.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AT-A-L11 · Reading — Travel and Tourism Texts</dc:title>
  <dc:subject>PptxGenJS Presentation</dc:subject>
  <dc:creator>Al Madina Online School · Arabic Department</dc:creator>
  <cp:lastModifiedBy>Al Madina Online School · Arabic Department</cp:lastModifiedBy>
  <cp:revision>1</cp:revision>
  <dcterms:created xsi:type="dcterms:W3CDTF">2026-09-27T12:42:15Z</dcterms:created>
  <dcterms:modified xsi:type="dcterms:W3CDTF">2026-09-27T12:42:15Z</dcterms:modified>
</cp:coreProperties>
</file>