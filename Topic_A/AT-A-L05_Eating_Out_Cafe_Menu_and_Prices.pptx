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A · AT-A-L05 — Eating Out — Café, Menu and Prices. Website: Advanced Topics › Topic A (Everyday Activities) › Lesson 5.
The website builds this lesson on the F5-L05 lesson engine, with the Topic focus “Read a menu, ask about prices and order food politely in a café or restaurant.” (grammar: Requests; imperatives; attached pronouns; numbers; skills: Listening · Speaking) and the application challenge “Menu budget challenge”.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A › Lesson 5 (AT-A-L05), lesson engine Pathways › Foundation › F5 › AT-A-L05. The website lesson “Ordering Food Politely”: vocabulary, grammar rules and quiz, patterns, common mistakes, sorter, listening, reading, speaking prompts and model, writing task and model, differentiation, final check and the lesson mission. Picture match: website visual game “Ordering Food Politely”.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transactional lesson: success = the order works. Core: 4-turn exchange with cards (greeting → أُرِيدُ … مِنْ فَضْلِكَ → answer one question → الحِسَابُ). Develop: 6 turns with هَلْ عِنْدَكُمْ …؟ and كَمْ سِعْرُ …؟. Stretch: an unavailable item, an alternative and a change or special request (the Topic A “menu budget” challenge).
• The ending of “please” changes with the listener — the attached pronoun ـكَ (man) / ـكِ (woman) / ـكُمْ (the café). This is the Topic A grammar point “attached pronouns”.
• The item after أُرِيدُ takes -an (accusative): أُرِيدُ شَايًا، سَلَطَةً — Develop/Stretch notice it; Core can copy it from the cards.
• Link to AT-A-L04: all the food words come back; the five restaurant words were prepared at home.
• Urdu bridge: طلب (demand, order), حساب (account, bill), فضل (grace, kindness), شکریہ ← شُكْرًا, میز is not Arabic (table = طَاوِلَةٌ).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restaurant words prepared at home at the end of AT-A-L04. Questions 3–5 retrieve AT-A-L04 (negative, asking a girl, food or drink).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Please changes with the listener: to a man -ka, to a woman -ki, to everyone -kum.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طلب، حساب، فضل and شکریہ are all Arabic words students use in Urdu. مِنْ فَضْلِكَ is literally “from your kindness” — that helps students remember why the ending changes (YOUR kindness: -ka / -ki). CAREFUL: Urdu میز is Persian — the Arabic is طَاوِلَةٌ.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Polite requests (website vocabulary (1 of 2)). Hear → Say → See → Use. Transliteration is printed for Core students (cover it for Develop/Stretch).
Every “you” phrase has three forms: to a man, to a woman, to a group (-ka / -ki / -kum). The café is addressed as a group: هَلْ عِنْدَكُمْ؟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Polite requests (website vocabulary (2 of 2)). Hear → Say → See → Use. Transliteration is printed for Core students (cover it for Develop/Stretch).
Every “you” phrase has three forms: to a man, to a woman, to a group (-ka / -ki / -kum). The café is addressed as a group: هَلْ عِنْدَكُمْ؟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Restaurant language (website vocabulary (1 of 2)). Hear → Say → See → Use. Transliteration is printed for Core students (cover it for Develop/Stretch).
FLEX: teach if time allows; otherwise these are on the website vocabulary tab for homework.
FLEX: prepared at home — check with a 30-second chant. Note the plurals: نَادِلٌ → نُدُلٌ، زَبُونٌ → زَبَائِنُ.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Restaurant language (website vocabulary (2 of 2)). Hear → Say → See → Use. Transliteration is printed for Core students (cover it for Develop/Stretch).
FLEX: teach if time allows; otherwise these are on the website vocabulary tab for homework.
FLEX: prepared at home — check with a 30-second chant. Note the plurals: نَادِلٌ → نُدُلٌ، زَبُونٌ → زَبَائِنُ.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Useful questions (website vocabulary). Hear → Say → See → Use. Transliteration is printed for Core students (cover it for Develop/Stretch).
Questions the waiter asks and questions the customer asks — sort them aloud: who says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“Order an item politely” (مِنْ فَضْلِكَ to a man, مِنْ فَضْلِكِ to a woman) and the website table (please / I would like / the bill to a man and a woman). The group column is teacher-added: the Topic A page lists “attached pronouns” for this lesson, and هَلْ عِنْدَكُمْ is the website’s availability question.
Website common error: do not use a bare command (أَعْطِنِي) — use أُرِيدُ … مِنْ فَضْلِكَ / كِ.
Quick-fire: show a picture of a waiter or a waitress; students say the right “please”.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“Ask whether something is available” (هَلْ عِنْدَكُمْ…؟), “Ask the price” (كَمْ سِعْرُ…؟ / كَمْ ثَمَنُ…؟ — an iḍāfa: the price of the item) and “Close the exchange” (الحِسَابُ، مِنْ فَضْلِكَ · شُكْرًا).
أَمْ = “or” in a choice question: صَغِيرٌ أَمْ كَبِيرٌ؟ (website quiz). Stretch: a special request with بِدُونِ (without) — بِدُونِ سُكَّرٍ، مِنْ فَضْلِكَ (website game card: بِدُونِ مُكَسَّرَاتٍ).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a complete transactional frame: make a polite request, distinguish the form addressed to a man or woman, and ask the price accurately.”
• Order an item politely: The requested item follows أُرِيدُ. Use مِنْ فَضْلِكَ to a man and مِنْ فَضْلِكِ to a woman.
• Ask whether something is available: This polite business form asks whether the café or restaurant has an item.
• Ask the price: Use an idāfa phrase: “the price of the item”.
• Close the exchange: A complete transaction includes a polite closing.
Website common error: Do not use a bare command such as أَعْطِنِي when practising a polite restaurant exchange. Use أُرِيدُ... مِنْ فَضْلِكَ/كِ.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6,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and listening lines built into one customer turn sequence. Think aloud: “who am I talking to — a waiter or a waitress? then -ka or -ki”. Then re-say it to a waitress (-ti, -ki)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Ordering Food Politely”)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card is to a woman — how do you know? (the -ki in فَضْلِكِ). Other cards for homework: مَاذَا تُوصِي؟ (what do you recommend?), بِدُونِ مُكَسَّرَاتٍ (without nuts), كَانَ الطَّعَامُ لَذِيذًا.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Ordering Food Politely”)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card is to a woman — how do you know? (the -ki in فَضْلِكِ). Other cards for homework: مَاذَا تُوصِي؟ (what do you recommend?), بِدُونِ مُكَسَّرَاتٍ (without nuts), كَانَ الطَّعَامُ لَذِيذًا.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line by its place in the restaurant exchange.
Then put the six lines in order as one dialogue and read it with a partner on the mic (A = customer, B = waiter).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line by its place in the restaurant exchange.
Then put the six lines in order as one dialogue and read it with a partner on the mic (A = customer, B = waiter).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5,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 / Stretch: all 4.
Listen 1: just listen. Listen 2: note answers. Then chat the letters.
Support: after the second listening, show the read-along slide (Arabic + English, line by line) for Core students.
SCRIPT (read aloud):
النَّادِلُ: مَسَاءُ الخَيْرِ. مَاذَا تُرِيدِينَ؟ الزَّبُونَةُ: أُرِيدُ سَلَطَةً وَسَانْدَوِيتْشَ جُبْنٍ، مِنْ فَضْلِكَ. النَّادِلُ: هَلْ تُرِيدِينَ شَيْئًا لِلشُّرْبِ؟ الزَّبُونَةُ: نَعَمْ، عَصِيرَ بُرْتُقَالٍ. النَّادِلُ: عَصِيرٌ صَغِيرٌ أَمْ كَبِيرٌ؟ الزَّبُونَةُ: صَغِيرٌ، شُكْرًا.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APPLICATION CHALLENGE (3 min — it takes the speaking-rehearsal slot; the website speaking slide after it is FLEX) — from the website Topic page: “Choose a complete meal within a fixed budget, ask about prices and quantities, then role-play a polite order including one change or special request.”
Teacher-made menu for the website budget challenge. Prices in Arabic for Stretch: ثَلَاثَةُ جُنَيْهَاتٍ (£3), سِتَّةُ جُنَيْهَاتٍ (£6), عَشَرَةُ جُنَيْهَاتٍ (£10). Core may say the price in English — the goal is the polite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A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النَّادِلُ: هَلْ تُرِيدِينَ شَيْئًا لِلشُّرْبِ؟ (Would you like something to drink?)
الزَّبُونَةُ: نَعَمْ، مَاءً عَادِيًّا، ثُمَّ الحِسَابَ مِنْ فَضْلِكَ. (Yes, still water, then the bill please.)
The website prompts are in English (role-play steps); the Arabic lines here are the key phrase for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a menu and sentence cards to complete a four-turn exchange. · Develop — Perform a six-turn role play with one unexpected clarification question. · Stretch — Handle an unavailable item, request an alternative and query the bill without returning to the model.
Website writing task (Stretch): Write an 8-line café dialogue between a waiter and a customer. The customer must order food, choose a drink, answer one clarification and ask for the bill.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مَرْحَبًا · أُرِيدُ حَسَاءً وَسَانْدَوِيتْشًا، مِنْ فَضْلِكَ · صَغِيرًا أَمْ كَبِيرًا؟ · الحِسَابُ مِنْ فَضْلِكَ. Stretch: make the waiter a woman (نَادِلَةٌ) — which words change? (تُرِيدِينَ is not needed; the customer says فَضْلِكِ).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(AT-A-L06 · Healthy Eating and Lifestyle Choices) will spend class time USING this language, so students prepare it tonight — short, simple, easy to access (school guidance: “Simple, Short, Interesting, Relevant, Easy to access”). Four words come from the website AT-A-L06 vocabulary (the AT-A-L06 lesson engine); صِحِّيٌّ is from the website F5 food lessons.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50" b="1" dirty="0">
                <a:solidFill>
                  <a:srgbClr val="FFFFFF"/>
                </a:solidFill>
                <a:latin typeface="Cambria" pitchFamily="34" charset="0"/>
                <a:cs typeface="Amiri" pitchFamily="2" charset="-78"/>
              </a:rPr>
              <a:t>Eating Out — Café, Menu and Prices</a:t>
            </a:r>
            <a:endParaRPr lang="en-US" sz="31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900" b="1" dirty="0">
                <a:solidFill>
                  <a:srgbClr val="D4AF37"/>
                </a:solidFill>
                <a:latin typeface="Amiri" pitchFamily="2" charset="-78"/>
                <a:ea typeface="Amiri" pitchFamily="2" charset="-78"/>
                <a:cs typeface="Amiri" pitchFamily="2" charset="-78"/>
              </a:rPr>
              <a:t>تَنَاوُلُ الطَّعَامِ خَارِجَ الْبَيْتِ: الْمَقْهَى وَقَائِمَةُ الطَّعَامِ وَالْأَسْعَارُ</a:t>
            </a:r>
            <a:endParaRPr lang="ar-SA" sz="29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 menu, ask about prices and order food politely in a café or restaurant.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AT-A-L05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Polite requests, “please” to a man / woman, price questions.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build the transaction,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menu</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bill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نَادِلٌ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don’t like coffee.”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القَهْوَةَ أُحِبُّ.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لَا القَهْوَةَ.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أُحِبُّ القَهْوَةَ.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“Do you like salad?”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 السَّلَطَةَ؟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يُحِبُّ السَّلَطَةَ؟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تُحِبِّينَ السَّلَطَةَ؟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drink?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عَصِيرٌ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أَرُزٌّ</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دَجَاجٌ</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menu</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bill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نَادِلٌ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waiter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customer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don’t like coffee.”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القَهْوَةَ أُحِبُّ.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لَا القَهْوَةَ.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أُحِبُّ القَهْوَةَ.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AT-A-L04: negative.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“Do you like salad?”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تُحِبُّ السَّلَطَةَ؟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يُحِبُّ السَّلَطَةَ؟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تُحِبِّينَ السَّلَطَةَ؟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AT-A-L04: girl → -īna.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drink?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عَصِيرٌ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أَرُزٌّ</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دَجَاجٌ</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AT-A-L04 vocabulary.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Please changes with the listener: to a man -ka, to a woman -ki, to everyone -kum.</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مِنْ فَضْلِ</a:t>
            </a:r>
            <a:pPr rtl="1" algn="ctr" indent="0" marL="0">
              <a:lnSpc>
                <a:spcPct val="120000"/>
              </a:lnSpc>
              <a:buNone/>
            </a:pPr>
            <a:r>
              <a:rPr lang="ar-SA" altLang="en-US" sz="2050" b="1" dirty="0">
                <a:solidFill>
                  <a:srgbClr val="1D5FBF"/>
                </a:solidFill>
                <a:latin typeface="Amiri" pitchFamily="2" charset="-78"/>
                <a:ea typeface="Amiri" pitchFamily="2" charset="-78"/>
                <a:cs typeface="Amiri" pitchFamily="2" charset="-78"/>
              </a:rPr>
              <a:t>كَ</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  مِنْ فَضْلِ</a:t>
            </a:r>
            <a:pPr rtl="1" algn="ctr" indent="0" marL="0">
              <a:lnSpc>
                <a:spcPct val="120000"/>
              </a:lnSpc>
              <a:buNone/>
            </a:pPr>
            <a:r>
              <a:rPr lang="ar-SA" altLang="en-US" sz="2050" b="1" dirty="0">
                <a:solidFill>
                  <a:srgbClr val="D6336C"/>
                </a:solidFill>
                <a:latin typeface="Amiri" pitchFamily="2" charset="-78"/>
                <a:ea typeface="Amiri" pitchFamily="2" charset="-78"/>
                <a:cs typeface="Amiri" pitchFamily="2" charset="-78"/>
              </a:rPr>
              <a:t>كِ</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  هَلْ عِنْدَ</a:t>
            </a:r>
            <a:pPr rtl="1" algn="ctr" indent="0" marL="0">
              <a:lnSpc>
                <a:spcPct val="120000"/>
              </a:lnSpc>
              <a:buNone/>
            </a:pPr>
            <a:r>
              <a:rPr lang="ar-SA" altLang="en-US" sz="2050" b="1" dirty="0">
                <a:solidFill>
                  <a:srgbClr val="0E7C86"/>
                </a:solidFill>
                <a:latin typeface="Amiri" pitchFamily="2" charset="-78"/>
                <a:ea typeface="Amiri" pitchFamily="2" charset="-78"/>
                <a:cs typeface="Amiri" pitchFamily="2" charset="-78"/>
              </a:rPr>
              <a:t>كُمْ</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polite request language in a food-ordering exchange.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whether an item is available and request alternatives.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common waiter/customer questions.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complete six-line restaurant dialogue.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order two items politely.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for the bill.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if an item is available and its price.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a waiter’s question (small or large?).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handle an unavailable item and ask for an alternative.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order a full meal within a budget.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21 café words from the website in 3 groups. Restaurant nouns (group 2) were prepared at home — quick check only. Core: polite requests and useful questions.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Polite requests · 7</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Restaurant language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Useful questions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طَلَبٌ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‎طلب‎ </a:t>
            </a:r>
            <a:pPr indent="0" marL="0">
              <a:buNone/>
            </a:pPr>
            <a:r>
              <a:rPr lang="en-US" sz="950" b="1" dirty="0">
                <a:solidFill>
                  <a:srgbClr val="2E8B57"/>
                </a:solidFill>
                <a:latin typeface="Calibri" pitchFamily="34" charset="0"/>
                <a:cs typeface="Amiri" pitchFamily="2" charset="-78"/>
              </a:rPr>
              <a:t> ṭalab · an order, a request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الحِسَابُ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‎حساب‎ </a:t>
            </a:r>
            <a:pPr indent="0" marL="0">
              <a:buNone/>
            </a:pPr>
            <a:r>
              <a:rPr lang="en-US" sz="950" b="1" dirty="0">
                <a:solidFill>
                  <a:srgbClr val="2E8B57"/>
                </a:solidFill>
                <a:latin typeface="Calibri" pitchFamily="34" charset="0"/>
                <a:cs typeface="Amiri" pitchFamily="2" charset="-78"/>
              </a:rPr>
              <a:t> ḥisāb · the bill (Urdu: account)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مِنْ فَضْلِكَ</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‎فضل‎ </a:t>
            </a:r>
            <a:pPr indent="0" marL="0">
              <a:buNone/>
            </a:pPr>
            <a:r>
              <a:rPr lang="en-US" sz="950" b="1" dirty="0">
                <a:solidFill>
                  <a:srgbClr val="2E8B57"/>
                </a:solidFill>
                <a:latin typeface="Calibri" pitchFamily="34" charset="0"/>
                <a:cs typeface="Amiri" pitchFamily="2" charset="-78"/>
              </a:rPr>
              <a:t> faḍl · kindness → please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شُكْرًا</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‎شکریہ‎ </a:t>
            </a:r>
            <a:pPr indent="0" marL="0">
              <a:buNone/>
            </a:pPr>
            <a:r>
              <a:rPr lang="en-US" sz="950" b="1" dirty="0">
                <a:solidFill>
                  <a:srgbClr val="2E8B57"/>
                </a:solidFill>
                <a:latin typeface="Calibri" pitchFamily="34" charset="0"/>
                <a:cs typeface="Amiri" pitchFamily="2" charset="-78"/>
              </a:rPr>
              <a:t> shukran · thank you</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طَاوِلَةٌ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‎میز‎ </a:t>
            </a:r>
            <a:pPr indent="0" marL="0">
              <a:buNone/>
            </a:pPr>
            <a:r>
              <a:rPr lang="en-US" sz="950" b="1" dirty="0">
                <a:solidFill>
                  <a:srgbClr val="2E8B57"/>
                </a:solidFill>
                <a:latin typeface="Calibri" pitchFamily="34" charset="0"/>
                <a:cs typeface="Amiri" pitchFamily="2" charset="-78"/>
              </a:rPr>
              <a:t> ṭāwila · table (not cognate)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Polite requests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مِنْ فَضْلِكِ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(m/f)</a:t>
            </a:r>
            <a:endParaRPr lang="en-US" sz="1350" dirty="0"/>
          </a:p>
          <a:p>
            <a:pPr indent="0" marL="0">
              <a:buNone/>
            </a:pPr>
            <a:r>
              <a:rPr lang="en-US" sz="1100" i="1" dirty="0">
                <a:solidFill>
                  <a:srgbClr val="5A6472"/>
                </a:solidFill>
                <a:latin typeface="Calibri" pitchFamily="34" charset="0"/>
                <a:cs typeface="Amiri" pitchFamily="2" charset="-78"/>
              </a:rPr>
              <a:t>min faḍ-li-ka / min faḍ-li-ki</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فَضْلِكُمْ</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would like ...</a:t>
            </a:r>
            <a:endParaRPr lang="en-US" sz="1350" dirty="0"/>
          </a:p>
          <a:p>
            <a:pPr indent="0" marL="0">
              <a:buNone/>
            </a:pPr>
            <a:r>
              <a:rPr lang="en-US" sz="1100" i="1" dirty="0">
                <a:solidFill>
                  <a:srgbClr val="5A6472"/>
                </a:solidFill>
                <a:latin typeface="Calibri" pitchFamily="34" charset="0"/>
                <a:cs typeface="Amiri" pitchFamily="2" charset="-78"/>
              </a:rPr>
              <a:t>u-rī-du ...</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أَطْلُبُ ...</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order / request ...</a:t>
            </a:r>
            <a:endParaRPr lang="en-US" sz="1350" dirty="0"/>
          </a:p>
          <a:p>
            <a:pPr indent="0" marL="0">
              <a:buNone/>
            </a:pPr>
            <a:r>
              <a:rPr lang="en-US" sz="1100" i="1" dirty="0">
                <a:solidFill>
                  <a:srgbClr val="5A6472"/>
                </a:solidFill>
                <a:latin typeface="Calibri" pitchFamily="34" charset="0"/>
                <a:cs typeface="Amiri" pitchFamily="2" charset="-78"/>
              </a:rPr>
              <a:t>aṭ-lu-bu ...</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يَطْلُبُ / تَطْلُبُ</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he/she orders or requests</a:t>
            </a:r>
            <a:endParaRPr lang="en-US" sz="1350" dirty="0"/>
          </a:p>
          <a:p>
            <a:pPr indent="0" marL="0">
              <a:buNone/>
            </a:pPr>
            <a:r>
              <a:rPr lang="en-US" sz="1100" i="1" dirty="0">
                <a:solidFill>
                  <a:srgbClr val="5A6472"/>
                </a:solidFill>
                <a:latin typeface="Calibri" pitchFamily="34" charset="0"/>
                <a:cs typeface="Amiri" pitchFamily="2" charset="-78"/>
              </a:rPr>
              <a:t>yaṭ-lu-bu / taṭ-lu-bu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Polite requests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يُمْكِنُنِي أَنْ أَطْلُبَ ...؟</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may I order ...?</a:t>
            </a:r>
            <a:endParaRPr lang="en-US" sz="1350" dirty="0"/>
          </a:p>
          <a:p>
            <a:pPr indent="0" marL="0">
              <a:buNone/>
            </a:pPr>
            <a:r>
              <a:rPr lang="en-US" sz="1100" i="1" dirty="0">
                <a:solidFill>
                  <a:srgbClr val="5A6472"/>
                </a:solidFill>
                <a:latin typeface="Calibri" pitchFamily="34" charset="0"/>
                <a:cs typeface="Amiri" pitchFamily="2" charset="-78"/>
              </a:rPr>
              <a:t>hal yum-ki-nu-nī an aṭ-lu-ba ...?</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 سَمَحْتَ / لَوْ سَمَحْتِ</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excuse me / if you please</a:t>
            </a:r>
            <a:endParaRPr lang="en-US" sz="1350" dirty="0"/>
          </a:p>
          <a:p>
            <a:pPr indent="0" marL="0">
              <a:buNone/>
            </a:pPr>
            <a:r>
              <a:rPr lang="en-US" sz="1100" i="1" dirty="0">
                <a:solidFill>
                  <a:srgbClr val="5A6472"/>
                </a:solidFill>
                <a:latin typeface="Calibri" pitchFamily="34" charset="0"/>
                <a:cs typeface="Amiri" pitchFamily="2" charset="-78"/>
              </a:rPr>
              <a:t>law sa-maḥ-ta / law sa-maḥ-ti</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1" name="Text 28"/>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لَوْ سَمَحْتُمْ</a:t>
            </a:r>
            <a:endParaRPr lang="ar-SA" sz="135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34" name="Text 31"/>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لَوْ سَمَحْتِ</a:t>
            </a:r>
            <a:endParaRPr lang="ar-SA" sz="135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37" name="Text 34"/>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لَوْ سَمَحْتَ</a:t>
            </a:r>
            <a:endParaRPr lang="ar-SA"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a:t>
            </a:r>
            <a:endParaRPr lang="en-US" sz="1350" dirty="0"/>
          </a:p>
          <a:p>
            <a:pPr indent="0" marL="0">
              <a:buNone/>
            </a:pPr>
            <a:r>
              <a:rPr lang="en-US" sz="1100" i="1" dirty="0">
                <a:solidFill>
                  <a:srgbClr val="5A6472"/>
                </a:solidFill>
                <a:latin typeface="Calibri" pitchFamily="34" charset="0"/>
                <a:cs typeface="Amiri" pitchFamily="2" charset="-78"/>
              </a:rPr>
              <a:t>shuk-ran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language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maṭ-ʿa-mun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مَطَاعِمُ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مَطْعَمٌ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مَقْهًى</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café</a:t>
            </a:r>
            <a:endParaRPr lang="en-US" sz="1350" dirty="0"/>
          </a:p>
          <a:p>
            <a:pPr indent="0" marL="0">
              <a:buNone/>
            </a:pPr>
            <a:r>
              <a:rPr lang="en-US" sz="1100" i="1" dirty="0">
                <a:solidFill>
                  <a:srgbClr val="5A6472"/>
                </a:solidFill>
                <a:latin typeface="Calibri" pitchFamily="34" charset="0"/>
                <a:cs typeface="Amiri" pitchFamily="2" charset="-78"/>
              </a:rPr>
              <a:t>maq-han</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مَقَاهٍ</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مَقْهًى</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6" name="Shape 43"/>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نَادِلٌ / نَادِلَةٌ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waiter / waitress</a:t>
            </a:r>
            <a:endParaRPr lang="en-US" sz="1350" dirty="0"/>
          </a:p>
          <a:p>
            <a:pPr indent="0" marL="0">
              <a:buNone/>
            </a:pPr>
            <a:r>
              <a:rPr lang="en-US" sz="1100" i="1" dirty="0">
                <a:solidFill>
                  <a:srgbClr val="5A6472"/>
                </a:solidFill>
                <a:latin typeface="Calibri" pitchFamily="34" charset="0"/>
                <a:cs typeface="Amiri" pitchFamily="2" charset="-78"/>
              </a:rPr>
              <a:t>nā-di-lun / nā-di-la-tun</a:t>
            </a:r>
            <a:endParaRPr lang="en-US" sz="1350" dirty="0"/>
          </a:p>
        </p:txBody>
      </p:sp>
      <p:sp>
        <p:nvSpPr>
          <p:cNvPr id="50" name="Shape 4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نُدُلٌ</a:t>
            </a:r>
            <a:endParaRPr lang="ar-SA" sz="1500" dirty="0"/>
          </a:p>
        </p:txBody>
      </p:sp>
      <p:sp>
        <p:nvSpPr>
          <p:cNvPr id="53" name="Shape 5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5" name="Text 5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نَادِلَةٌ</a:t>
            </a:r>
            <a:endParaRPr lang="ar-SA" sz="1500" dirty="0"/>
          </a:p>
        </p:txBody>
      </p:sp>
      <p:sp>
        <p:nvSpPr>
          <p:cNvPr id="56" name="Shape 5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8" name="Text 5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a:t>
            </a:r>
            <a:endParaRPr lang="ar-SA" sz="1500" dirty="0"/>
          </a:p>
        </p:txBody>
      </p:sp>
      <p:sp>
        <p:nvSpPr>
          <p:cNvPr id="59" name="Shape 5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8211312"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4" name="Text 6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زَبُونٌ / زَبُونَةٌ</a:t>
            </a:r>
            <a:endParaRPr lang="ar-SA" sz="3000" dirty="0"/>
          </a:p>
        </p:txBody>
      </p:sp>
      <p:sp>
        <p:nvSpPr>
          <p:cNvPr id="65" name="Text 6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customer</a:t>
            </a:r>
            <a:endParaRPr lang="en-US" sz="1350" dirty="0"/>
          </a:p>
          <a:p>
            <a:pPr indent="0" marL="0">
              <a:buNone/>
            </a:pPr>
            <a:r>
              <a:rPr lang="en-US" sz="1100" i="1" dirty="0">
                <a:solidFill>
                  <a:srgbClr val="5A6472"/>
                </a:solidFill>
                <a:latin typeface="Calibri" pitchFamily="34" charset="0"/>
                <a:cs typeface="Amiri" pitchFamily="2" charset="-78"/>
              </a:rPr>
              <a:t>za-bū-nun / za-bū-na-tun</a:t>
            </a:r>
            <a:endParaRPr lang="en-US" sz="1350" dirty="0"/>
          </a:p>
        </p:txBody>
      </p:sp>
      <p:sp>
        <p:nvSpPr>
          <p:cNvPr id="66" name="Shape 6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زَبَائِنُ</a:t>
            </a:r>
            <a:endParaRPr lang="ar-SA" sz="1500" dirty="0"/>
          </a:p>
        </p:txBody>
      </p:sp>
      <p:sp>
        <p:nvSpPr>
          <p:cNvPr id="69" name="Shape 6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زَبُونَةٌ</a:t>
            </a:r>
            <a:endParaRPr lang="ar-SA" sz="1500" dirty="0"/>
          </a:p>
        </p:txBody>
      </p:sp>
      <p:sp>
        <p:nvSpPr>
          <p:cNvPr id="72" name="Shape 6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قَائِمَةُ الطَّعَامِ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menu</a:t>
            </a:r>
            <a:endParaRPr lang="en-US" sz="1350" dirty="0"/>
          </a:p>
          <a:p>
            <a:pPr indent="0" marL="0">
              <a:buNone/>
            </a:pPr>
            <a:r>
              <a:rPr lang="en-US" sz="1100" i="1" dirty="0">
                <a:solidFill>
                  <a:srgbClr val="5A6472"/>
                </a:solidFill>
                <a:latin typeface="Calibri" pitchFamily="34" charset="0"/>
                <a:cs typeface="Amiri" pitchFamily="2" charset="-78"/>
              </a:rPr>
              <a:t>qā-ʾi-ma-tu aṭ-ṭa-ʿā-mi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طَاوِلَةٌ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a:t>
            </a:r>
            <a:endParaRPr lang="en-US" sz="1350" dirty="0"/>
          </a:p>
          <a:p>
            <a:pPr indent="0" marL="0">
              <a:buNone/>
            </a:pPr>
            <a:r>
              <a:rPr lang="en-US" sz="1100" i="1" dirty="0">
                <a:solidFill>
                  <a:srgbClr val="5A6472"/>
                </a:solidFill>
                <a:latin typeface="Calibri" pitchFamily="34" charset="0"/>
                <a:cs typeface="Amiri" pitchFamily="2" charset="-78"/>
              </a:rPr>
              <a:t>ṭā-wi-la-tun</a:t>
            </a:r>
            <a:endParaRPr lang="en-US" sz="1350" dirty="0"/>
          </a:p>
        </p:txBody>
      </p:sp>
      <p:sp>
        <p:nvSpPr>
          <p:cNvPr id="29" name="Shape 2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طَاوِلَاتٌ</a:t>
            </a:r>
            <a:endParaRPr lang="ar-SA" sz="1500" dirty="0"/>
          </a:p>
        </p:txBody>
      </p:sp>
      <p:sp>
        <p:nvSpPr>
          <p:cNvPr id="32" name="Shape 2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4" name="Text 3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طَاوِلَةٌ</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order</a:t>
            </a:r>
            <a:endParaRPr lang="en-US" sz="1350" dirty="0"/>
          </a:p>
          <a:p>
            <a:pPr indent="0" marL="0">
              <a:buNone/>
            </a:pPr>
            <a:r>
              <a:rPr lang="en-US" sz="1100" i="1" dirty="0">
                <a:solidFill>
                  <a:srgbClr val="5A6472"/>
                </a:solidFill>
                <a:latin typeface="Calibri" pitchFamily="34" charset="0"/>
                <a:cs typeface="Amiri" pitchFamily="2" charset="-78"/>
              </a:rPr>
              <a:t>ṭa-la-bun</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طَلَبَاتٌ</a:t>
            </a:r>
            <a:endParaRPr lang="ar-SA" sz="150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7" name="Text 4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طَلَبٌ</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الحِسَابُ</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bill</a:t>
            </a:r>
            <a:endParaRPr lang="en-US" sz="1350" dirty="0"/>
          </a:p>
          <a:p>
            <a:pPr indent="0" marL="0">
              <a:buNone/>
            </a:pPr>
            <a:r>
              <a:rPr lang="en-US" sz="1100" i="1" dirty="0">
                <a:solidFill>
                  <a:srgbClr val="5A6472"/>
                </a:solidFill>
                <a:latin typeface="Calibri" pitchFamily="34" charset="0"/>
                <a:cs typeface="Amiri" pitchFamily="2" charset="-78"/>
              </a:rPr>
              <a:t>al-ḥi-sā-bu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Useful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عِنْدَكُمْ ...؟</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have ...?</a:t>
            </a:r>
            <a:endParaRPr lang="en-US" sz="1350" dirty="0"/>
          </a:p>
          <a:p>
            <a:pPr indent="0" marL="0">
              <a:buNone/>
            </a:pPr>
            <a:r>
              <a:rPr lang="en-US" sz="1100" i="1" dirty="0">
                <a:solidFill>
                  <a:srgbClr val="5A6472"/>
                </a:solidFill>
                <a:latin typeface="Calibri" pitchFamily="34" charset="0"/>
                <a:cs typeface="Amiri" pitchFamily="2" charset="-78"/>
              </a:rPr>
              <a:t>hal ʿin-da-kum ...?</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Shape 22"/>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تُرِيدُ؟ / تُرِيدِينَ؟</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would you like?</a:t>
            </a:r>
            <a:endParaRPr lang="en-US" sz="1350" dirty="0"/>
          </a:p>
          <a:p>
            <a:pPr indent="0" marL="0">
              <a:buNone/>
            </a:pPr>
            <a:r>
              <a:rPr lang="en-US" sz="1100" i="1" dirty="0">
                <a:solidFill>
                  <a:srgbClr val="5A6472"/>
                </a:solidFill>
                <a:latin typeface="Calibri" pitchFamily="34" charset="0"/>
                <a:cs typeface="Amiri" pitchFamily="2" charset="-78"/>
              </a:rPr>
              <a:t>mā-dhā tu-rī-du? / tu-rī-dī-na?</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3" name="Text 30"/>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تُرِيدُونَ؟</a:t>
            </a:r>
            <a:endParaRPr lang="ar-SA" sz="135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36" name="Text 33"/>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تُرِيدِينَ؟</a:t>
            </a:r>
            <a:endParaRPr lang="ar-SA" sz="135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39" name="Text 36"/>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تُرِيدُ؟</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تُرِيدُ شَيْئًا آخَرَ؟</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would you like anything else?</a:t>
            </a:r>
            <a:endParaRPr lang="en-US" sz="1350" dirty="0"/>
          </a:p>
          <a:p>
            <a:pPr indent="0" marL="0">
              <a:buNone/>
            </a:pPr>
            <a:r>
              <a:rPr lang="en-US" sz="1100" i="1" dirty="0">
                <a:solidFill>
                  <a:srgbClr val="5A6472"/>
                </a:solidFill>
                <a:latin typeface="Calibri" pitchFamily="34" charset="0"/>
                <a:cs typeface="Amiri" pitchFamily="2" charset="-78"/>
              </a:rPr>
              <a:t>hal tu-rī-du shay-ʾan ā-kha-ra?</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السِّعْرُ؟</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a:t>
            </a:r>
            <a:endParaRPr lang="en-US" sz="1350" dirty="0"/>
          </a:p>
          <a:p>
            <a:pPr indent="0" marL="0">
              <a:buNone/>
            </a:pPr>
            <a:r>
              <a:rPr lang="en-US" sz="1100" i="1" dirty="0">
                <a:solidFill>
                  <a:srgbClr val="5A6472"/>
                </a:solidFill>
                <a:latin typeface="Calibri" pitchFamily="34" charset="0"/>
                <a:cs typeface="Amiri" pitchFamily="2" charset="-78"/>
              </a:rPr>
              <a:t>ka-mi as-siʿ-ru?</a:t>
            </a:r>
            <a:endParaRPr lang="en-US" sz="135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مَاءٌ عَادِيٌّ أَمْ غَازِيٌّ؟</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still or sparkling water?</a:t>
            </a:r>
            <a:endParaRPr lang="en-US" sz="1350" dirty="0"/>
          </a:p>
          <a:p>
            <a:pPr indent="0" marL="0">
              <a:buNone/>
            </a:pPr>
            <a:r>
              <a:rPr lang="en-US" sz="1100" i="1" dirty="0">
                <a:solidFill>
                  <a:srgbClr val="5A6472"/>
                </a:solidFill>
                <a:latin typeface="Calibri" pitchFamily="34" charset="0"/>
                <a:cs typeface="Amiri" pitchFamily="2" charset="-78"/>
              </a:rPr>
              <a:t>mā-ʾun ʿā-diy-yun am ghā-ziy-yun?</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الحِسَابُ مِنْ فَضْلِكَ</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bill, please</a:t>
            </a:r>
            <a:endParaRPr lang="en-US" sz="1350" dirty="0"/>
          </a:p>
          <a:p>
            <a:pPr indent="0" marL="0">
              <a:buNone/>
            </a:pPr>
            <a:r>
              <a:rPr lang="en-US" sz="1100" i="1" dirty="0">
                <a:solidFill>
                  <a:srgbClr val="5A6472"/>
                </a:solidFill>
                <a:latin typeface="Calibri" pitchFamily="34" charset="0"/>
                <a:cs typeface="Amiri" pitchFamily="2" charset="-78"/>
              </a:rPr>
              <a:t>al-ḥi-sā-bu min faḍ-li-ka</a:t>
            </a:r>
            <a:endParaRPr lang="en-US" sz="13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ENDING CHANGES WITH THE LISTENER (WEBSITE TABLE + TOPIC A ATTACHED PRONOUNS)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 a man, a woman, a group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ـكَ · ـكِ · ـكُمْ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70264"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man</a:t>
            </a:r>
            <a:endParaRPr lang="en-US" sz="1100" dirty="0"/>
          </a:p>
        </p:txBody>
      </p:sp>
      <p:sp>
        <p:nvSpPr>
          <p:cNvPr id="17" name="Text 14"/>
          <p:cNvSpPr txBox="1"/>
          <p:nvPr/>
        </p:nvSpPr>
        <p:spPr>
          <a:xfrm>
            <a:off x="6135624"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woman</a:t>
            </a:r>
            <a:endParaRPr lang="en-US" sz="1100" dirty="0"/>
          </a:p>
        </p:txBody>
      </p:sp>
      <p:sp>
        <p:nvSpPr>
          <p:cNvPr id="18" name="Text 15"/>
          <p:cNvSpPr txBox="1"/>
          <p:nvPr/>
        </p:nvSpPr>
        <p:spPr>
          <a:xfrm>
            <a:off x="311810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group / a café</a:t>
            </a:r>
            <a:endParaRPr lang="en-US" sz="1100" dirty="0"/>
          </a:p>
        </p:txBody>
      </p:sp>
      <p:sp>
        <p:nvSpPr>
          <p:cNvPr id="19" name="Text 16"/>
          <p:cNvSpPr txBox="1"/>
          <p:nvPr/>
        </p:nvSpPr>
        <p:spPr>
          <a:xfrm>
            <a:off x="5303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988552" y="2267712"/>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فَضْلِ</a:t>
            </a:r>
            <a:pPr rtl="1" algn="ctr" indent="0" marL="0">
              <a:buNone/>
            </a:pPr>
            <a:r>
              <a:rPr lang="ar-SA" altLang="en-US" sz="2400" b="1" dirty="0">
                <a:solidFill>
                  <a:srgbClr val="1D5FBF"/>
                </a:solidFill>
                <a:latin typeface="Amiri" pitchFamily="2" charset="-78"/>
                <a:ea typeface="Amiri" pitchFamily="2" charset="-78"/>
                <a:cs typeface="Amiri" pitchFamily="2" charset="-78"/>
              </a:rPr>
              <a:t>كَ</a:t>
            </a:r>
            <a:endParaRPr lang="ar-SA" sz="2400" dirty="0"/>
          </a:p>
        </p:txBody>
      </p:sp>
      <p:sp>
        <p:nvSpPr>
          <p:cNvPr id="22" name="Text 19"/>
          <p:cNvSpPr txBox="1"/>
          <p:nvPr/>
        </p:nvSpPr>
        <p:spPr>
          <a:xfrm>
            <a:off x="6153912" y="2267712"/>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فَضْلِ</a:t>
            </a:r>
            <a:pPr rtl="1" algn="ctr" indent="0" marL="0">
              <a:buNone/>
            </a:pPr>
            <a:r>
              <a:rPr lang="ar-SA" altLang="en-US" sz="2400" b="1" dirty="0">
                <a:solidFill>
                  <a:srgbClr val="D6336C"/>
                </a:solidFill>
                <a:latin typeface="Amiri" pitchFamily="2" charset="-78"/>
                <a:ea typeface="Amiri" pitchFamily="2" charset="-78"/>
                <a:cs typeface="Amiri" pitchFamily="2" charset="-78"/>
              </a:rPr>
              <a:t>كِ</a:t>
            </a:r>
            <a:endParaRPr lang="ar-SA" sz="2400" dirty="0"/>
          </a:p>
        </p:txBody>
      </p:sp>
      <p:sp>
        <p:nvSpPr>
          <p:cNvPr id="23" name="Text 20"/>
          <p:cNvSpPr txBox="1"/>
          <p:nvPr/>
        </p:nvSpPr>
        <p:spPr>
          <a:xfrm>
            <a:off x="3136392" y="2267712"/>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فَضْلِ</a:t>
            </a:r>
            <a:pPr rtl="1" algn="ctr" indent="0" marL="0">
              <a:buNone/>
            </a:pPr>
            <a:r>
              <a:rPr lang="ar-SA" altLang="en-US" sz="2400" b="1" dirty="0">
                <a:solidFill>
                  <a:srgbClr val="0E7C86"/>
                </a:solidFill>
                <a:latin typeface="Amiri" pitchFamily="2" charset="-78"/>
                <a:ea typeface="Amiri" pitchFamily="2" charset="-78"/>
                <a:cs typeface="Amiri" pitchFamily="2" charset="-78"/>
              </a:rPr>
              <a:t>كُمْ</a:t>
            </a:r>
            <a:endParaRPr lang="ar-SA" sz="2400" dirty="0"/>
          </a:p>
        </p:txBody>
      </p:sp>
      <p:sp>
        <p:nvSpPr>
          <p:cNvPr id="24" name="Text 21"/>
          <p:cNvSpPr txBox="1"/>
          <p:nvPr/>
        </p:nvSpPr>
        <p:spPr>
          <a:xfrm>
            <a:off x="566928" y="2267712"/>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988552" y="3054096"/>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لَوْ سَمَحْ</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endParaRPr lang="ar-SA" sz="2400" dirty="0"/>
          </a:p>
        </p:txBody>
      </p:sp>
      <p:sp>
        <p:nvSpPr>
          <p:cNvPr id="29" name="Text 26"/>
          <p:cNvSpPr txBox="1"/>
          <p:nvPr/>
        </p:nvSpPr>
        <p:spPr>
          <a:xfrm>
            <a:off x="6153912" y="3054096"/>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لَوْ سَمَحْ</a:t>
            </a:r>
            <a:pPr rtl="1" algn="ctr" indent="0" marL="0">
              <a:buNone/>
            </a:pPr>
            <a:r>
              <a:rPr lang="ar-SA" altLang="en-US" sz="2400" b="1" dirty="0">
                <a:solidFill>
                  <a:srgbClr val="D6336C"/>
                </a:solidFill>
                <a:latin typeface="Amiri" pitchFamily="2" charset="-78"/>
                <a:ea typeface="Amiri" pitchFamily="2" charset="-78"/>
                <a:cs typeface="Amiri" pitchFamily="2" charset="-78"/>
              </a:rPr>
              <a:t>تِ</a:t>
            </a:r>
            <a:endParaRPr lang="ar-SA" sz="2400" dirty="0"/>
          </a:p>
        </p:txBody>
      </p:sp>
      <p:sp>
        <p:nvSpPr>
          <p:cNvPr id="30" name="Text 27"/>
          <p:cNvSpPr txBox="1"/>
          <p:nvPr/>
        </p:nvSpPr>
        <p:spPr>
          <a:xfrm>
            <a:off x="3136392" y="3054096"/>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لَوْ سَمَحْ</a:t>
            </a:r>
            <a:pPr rtl="1" algn="ctr" indent="0" marL="0">
              <a:buNone/>
            </a:pPr>
            <a:r>
              <a:rPr lang="ar-SA" altLang="en-US" sz="2400" b="1" dirty="0">
                <a:solidFill>
                  <a:srgbClr val="0E7C86"/>
                </a:solidFill>
                <a:latin typeface="Amiri" pitchFamily="2" charset="-78"/>
                <a:ea typeface="Amiri" pitchFamily="2" charset="-78"/>
                <a:cs typeface="Amiri" pitchFamily="2" charset="-78"/>
              </a:rPr>
              <a:t>تُمْ</a:t>
            </a:r>
            <a:endParaRPr lang="ar-SA" sz="2400" dirty="0"/>
          </a:p>
        </p:txBody>
      </p:sp>
      <p:sp>
        <p:nvSpPr>
          <p:cNvPr id="31" name="Text 28"/>
          <p:cNvSpPr txBox="1"/>
          <p:nvPr/>
        </p:nvSpPr>
        <p:spPr>
          <a:xfrm>
            <a:off x="566928" y="3054096"/>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988552" y="3840480"/>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مَاذَا تُرِيدُ؟</a:t>
            </a:r>
            <a:endParaRPr lang="ar-SA" sz="2400" dirty="0"/>
          </a:p>
        </p:txBody>
      </p:sp>
      <p:sp>
        <p:nvSpPr>
          <p:cNvPr id="36" name="Text 33"/>
          <p:cNvSpPr txBox="1"/>
          <p:nvPr/>
        </p:nvSpPr>
        <p:spPr>
          <a:xfrm>
            <a:off x="6153912" y="3840480"/>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مَاذَا تُرِيدِ</a:t>
            </a:r>
            <a:pPr rtl="1" algn="ctr" indent="0" marL="0">
              <a:buNone/>
            </a:pPr>
            <a:r>
              <a:rPr lang="ar-SA" altLang="en-US" sz="2400" b="1" dirty="0">
                <a:solidFill>
                  <a:srgbClr val="D6336C"/>
                </a:solidFill>
                <a:latin typeface="Amiri" pitchFamily="2" charset="-78"/>
                <a:ea typeface="Amiri" pitchFamily="2" charset="-78"/>
                <a:cs typeface="Amiri" pitchFamily="2" charset="-78"/>
              </a:rPr>
              <a:t>ينَ</a:t>
            </a:r>
            <a:pPr rtl="1" algn="ctr" indent="0" marL="0">
              <a:buNone/>
            </a:pPr>
            <a:r>
              <a:rPr lang="ar-SA" altLang="en-US" sz="2400" b="1" dirty="0">
                <a:solidFill>
                  <a:srgbClr val="1B3B6F"/>
                </a:solidFill>
                <a:latin typeface="Amiri" pitchFamily="2" charset="-78"/>
                <a:ea typeface="Amiri" pitchFamily="2" charset="-78"/>
                <a:cs typeface="Amiri" pitchFamily="2" charset="-78"/>
              </a:rPr>
              <a:t>؟</a:t>
            </a:r>
            <a:endParaRPr lang="ar-SA" sz="2400" dirty="0"/>
          </a:p>
        </p:txBody>
      </p:sp>
      <p:sp>
        <p:nvSpPr>
          <p:cNvPr id="37" name="Text 34"/>
          <p:cNvSpPr txBox="1"/>
          <p:nvPr/>
        </p:nvSpPr>
        <p:spPr>
          <a:xfrm>
            <a:off x="3136392" y="3840480"/>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مَاذَا تُرِيدُ</a:t>
            </a:r>
            <a:pPr rtl="1" algn="ctr" indent="0" marL="0">
              <a:buNone/>
            </a:pPr>
            <a:r>
              <a:rPr lang="ar-SA" altLang="en-US" sz="2400" b="1" dirty="0">
                <a:solidFill>
                  <a:srgbClr val="0E7C86"/>
                </a:solidFill>
                <a:latin typeface="Amiri" pitchFamily="2" charset="-78"/>
                <a:ea typeface="Amiri" pitchFamily="2" charset="-78"/>
                <a:cs typeface="Amiri" pitchFamily="2" charset="-78"/>
              </a:rPr>
              <a:t>ونَ</a:t>
            </a:r>
            <a:pPr rtl="1" algn="ctr" indent="0" marL="0">
              <a:buNone/>
            </a:pPr>
            <a:r>
              <a:rPr lang="ar-SA" altLang="en-US" sz="2400" b="1" dirty="0">
                <a:solidFill>
                  <a:srgbClr val="1B3B6F"/>
                </a:solidFill>
                <a:latin typeface="Amiri" pitchFamily="2" charset="-78"/>
                <a:ea typeface="Amiri" pitchFamily="2" charset="-78"/>
                <a:cs typeface="Amiri" pitchFamily="2" charset="-78"/>
              </a:rPr>
              <a:t>؟</a:t>
            </a:r>
            <a:endParaRPr lang="ar-SA" sz="2400" dirty="0"/>
          </a:p>
        </p:txBody>
      </p:sp>
      <p:sp>
        <p:nvSpPr>
          <p:cNvPr id="38" name="Text 35"/>
          <p:cNvSpPr txBox="1"/>
          <p:nvPr/>
        </p:nvSpPr>
        <p:spPr>
          <a:xfrm>
            <a:off x="566928" y="3840480"/>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would you like?</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988552" y="4626864"/>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هَلْ عِنْدَ</a:t>
            </a:r>
            <a:pPr rtl="1" algn="ctr" indent="0" marL="0">
              <a:buNone/>
            </a:pPr>
            <a:r>
              <a:rPr lang="ar-SA" altLang="en-US" sz="2400" b="1" dirty="0">
                <a:solidFill>
                  <a:srgbClr val="1D5FBF"/>
                </a:solidFill>
                <a:latin typeface="Amiri" pitchFamily="2" charset="-78"/>
                <a:ea typeface="Amiri" pitchFamily="2" charset="-78"/>
                <a:cs typeface="Amiri" pitchFamily="2" charset="-78"/>
              </a:rPr>
              <a:t>كَ</a:t>
            </a:r>
            <a:pPr rtl="1" algn="ctr" indent="0" marL="0">
              <a:buNone/>
            </a:pPr>
            <a:r>
              <a:rPr lang="ar-SA" altLang="en-US" sz="2400" b="1" dirty="0">
                <a:solidFill>
                  <a:srgbClr val="1B3B6F"/>
                </a:solidFill>
                <a:latin typeface="Amiri" pitchFamily="2" charset="-78"/>
                <a:ea typeface="Amiri" pitchFamily="2" charset="-78"/>
                <a:cs typeface="Amiri" pitchFamily="2" charset="-78"/>
              </a:rPr>
              <a:t> …؟</a:t>
            </a:r>
            <a:endParaRPr lang="ar-SA" sz="2400" dirty="0"/>
          </a:p>
        </p:txBody>
      </p:sp>
      <p:sp>
        <p:nvSpPr>
          <p:cNvPr id="41" name="Text 38"/>
          <p:cNvSpPr txBox="1"/>
          <p:nvPr/>
        </p:nvSpPr>
        <p:spPr>
          <a:xfrm>
            <a:off x="6153912" y="4626864"/>
            <a:ext cx="26517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هَلْ عِنْدَ</a:t>
            </a:r>
            <a:pPr rtl="1" algn="ctr" indent="0" marL="0">
              <a:buNone/>
            </a:pPr>
            <a:r>
              <a:rPr lang="ar-SA" altLang="en-US" sz="2400" b="1" dirty="0">
                <a:solidFill>
                  <a:srgbClr val="D6336C"/>
                </a:solidFill>
                <a:latin typeface="Amiri" pitchFamily="2" charset="-78"/>
                <a:ea typeface="Amiri" pitchFamily="2" charset="-78"/>
                <a:cs typeface="Amiri" pitchFamily="2" charset="-78"/>
              </a:rPr>
              <a:t>كِ</a:t>
            </a:r>
            <a:pPr rtl="1" algn="ctr" indent="0" marL="0">
              <a:buNone/>
            </a:pPr>
            <a:r>
              <a:rPr lang="ar-SA" altLang="en-US" sz="2400" b="1" dirty="0">
                <a:solidFill>
                  <a:srgbClr val="1B3B6F"/>
                </a:solidFill>
                <a:latin typeface="Amiri" pitchFamily="2" charset="-78"/>
                <a:ea typeface="Amiri" pitchFamily="2" charset="-78"/>
                <a:cs typeface="Amiri" pitchFamily="2" charset="-78"/>
              </a:rPr>
              <a:t> …؟</a:t>
            </a:r>
            <a:endParaRPr lang="ar-SA" sz="2400" dirty="0"/>
          </a:p>
        </p:txBody>
      </p:sp>
      <p:sp>
        <p:nvSpPr>
          <p:cNvPr id="42" name="Text 39"/>
          <p:cNvSpPr txBox="1"/>
          <p:nvPr/>
        </p:nvSpPr>
        <p:spPr>
          <a:xfrm>
            <a:off x="3136392" y="4626864"/>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هَلْ عِنْدَ</a:t>
            </a:r>
            <a:pPr rtl="1" algn="ctr" indent="0" marL="0">
              <a:buNone/>
            </a:pPr>
            <a:r>
              <a:rPr lang="ar-SA" altLang="en-US" sz="2400" b="1" dirty="0">
                <a:solidFill>
                  <a:srgbClr val="0E7C86"/>
                </a:solidFill>
                <a:latin typeface="Amiri" pitchFamily="2" charset="-78"/>
                <a:ea typeface="Amiri" pitchFamily="2" charset="-78"/>
                <a:cs typeface="Amiri" pitchFamily="2" charset="-78"/>
              </a:rPr>
              <a:t>كُمْ</a:t>
            </a:r>
            <a:pPr rtl="1" algn="ctr" indent="0" marL="0">
              <a:buNone/>
            </a:pPr>
            <a:r>
              <a:rPr lang="ar-SA" altLang="en-US" sz="2400" b="1" dirty="0">
                <a:solidFill>
                  <a:srgbClr val="1B3B6F"/>
                </a:solidFill>
                <a:latin typeface="Amiri" pitchFamily="2" charset="-78"/>
                <a:ea typeface="Amiri" pitchFamily="2" charset="-78"/>
                <a:cs typeface="Amiri" pitchFamily="2" charset="-78"/>
              </a:rPr>
              <a:t> …؟</a:t>
            </a:r>
            <a:endParaRPr lang="ar-SA" sz="2400" dirty="0"/>
          </a:p>
        </p:txBody>
      </p:sp>
      <p:sp>
        <p:nvSpPr>
          <p:cNvPr id="43" name="Text 40"/>
          <p:cNvSpPr txBox="1"/>
          <p:nvPr/>
        </p:nvSpPr>
        <p:spPr>
          <a:xfrm>
            <a:off x="566928" y="4626864"/>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Listen for the last sound: -ka = a man, -ki = a woman, -kum = the café or a group.</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ORDER, CHECK, PAY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Three questions that make the order work</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أُرِيدُ · هَلْ عِنْدَكُمْ؟ · كَمْ سِعْرُ؟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ORDER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أُرِيدُ</a:t>
            </a:r>
            <a:pPr algn="l" indent="0" marL="0">
              <a:buNone/>
            </a:pPr>
            <a:r>
              <a:rPr lang="en-US" sz="1600" b="1" dirty="0">
                <a:solidFill>
                  <a:srgbClr val="8A6D1E"/>
                </a:solidFill>
                <a:latin typeface="Calibri" pitchFamily="34" charset="0"/>
                <a:cs typeface="Amiri" pitchFamily="2" charset="-78"/>
              </a:rPr>
              <a:t> + item</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أُرِيدُ شَايًا، مِنْ فَضْلِكَ.</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would like tea, please.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item ends in -an.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AVAILABLE?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عِنْدَكُمْ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هَلْ عِنْدَكُمْ طَعَامٌ نَبَاتِيٌّ؟</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 you have vegetarian food?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Ask the café: -kum.</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PRICE · DEVELOP</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كَمْ سِعْرُ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كَمْ سِعْرُ الحَسَاءِ؟</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much is the soup?</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price OF the soup (iḍāfa).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the item after “I would like” ends in -an.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أُرِيدُ سَلَطَةً، مِنْ فَضْلِكَ.</a:t>
            </a:r>
            <a:endParaRPr lang="ar-SA" sz="17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أُرِيدُ مِنْ فَضْلِكَ سَلَطَةٌ.</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الطَّلَبُ المُهَذَّبُ وَالسُّؤَالُ عَنِ السِّعْرِ</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Order an item politely</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أُرِيدُ + شَيْئًا، مِنْ فَضْلِكَ / مِنْ فَضْلِكِ</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أُرِيدُ شَايًا، مِنْ فَضْلِكَ.   ·   أُرِيدُ سَلَطَةً، مِنْ فَضْلِكِ.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Ask whether something is available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هَلْ عِنْدَكُمْ...؟</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هَلْ عِنْدَكُمْ طَعَامٌ نَبَاتِيٌّ؟   ·   هَلْ عِنْدَكُمْ عَصِيرُ البُرْتُقَالِ؟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Ask the price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سِعْرُ...؟ / كَمْ ثَمَنُ...؟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كَمْ سِعْرُ الحَسَاءِ؟   ·   كَمْ ثَمَنُ الوَجْبَةِ؟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Close the exchange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الحِسَابُ، مِنْ فَضْلِكَ. · شُكْرًا.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الحِسَابُ، مِنْ فَضْلِكَ.   ·   شُكْرًا جَزِيلًا.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polite order.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أَعْطِنِي حَسَاءً.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حَسَاءً، مِنْ فَضْلِكَ.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of “please” addresses a female?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فَضْلِهِ</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would you like?”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تُرِيدِينَ؟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أُرِيدُ؟</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price question.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سِعْرُ الوَجْبَةِ؟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الوَجْبَةُ سِعْرٌ؟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سِعْرُ الوَجْبَةِ؟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polite order.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حَسَاءٌ.</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أَعْطِنِي حَسَاءً.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حَسَاءً، مِنْ فَضْلِكَ.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request is complete and includes politeness.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of “please” addresses a female?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فَضْلِكِ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فَضْلِهِ</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kasrah marks the female addressee form.</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would you like?”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تُرِيدُ؟</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تُرِيدِينَ؟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أُرِيدُ؟</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listener form ends in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price question.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سِعْرُ الوَجْبَةِ؟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الوَجْبَةُ سِعْرٌ؟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سِعْرُ الوَجْبَةِ؟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كَمْ سِعْرُ</a:t>
            </a:r>
            <a:pPr algn="l" indent="0" marL="0">
              <a:buNone/>
            </a:pPr>
            <a:r>
              <a:rPr lang="en-US" sz="1050" i="1" dirty="0">
                <a:solidFill>
                  <a:srgbClr val="8A6D1E"/>
                </a:solidFill>
                <a:latin typeface="Calibri" pitchFamily="34" charset="0"/>
                <a:cs typeface="Amiri" pitchFamily="2" charset="-78"/>
              </a:rPr>
              <a:t> + the item in an idāfa phrase.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order in a café</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Attention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لَوْ سَمَحْ</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 هَلْ عِنْدَ</a:t>
            </a:r>
            <a:pPr rtl="1" algn="ctr" indent="0" marL="0">
              <a:buNone/>
            </a:pPr>
            <a:r>
              <a:rPr lang="ar-SA" altLang="en-US" sz="2100" b="1" dirty="0">
                <a:solidFill>
                  <a:srgbClr val="0E7C86"/>
                </a:solidFill>
                <a:latin typeface="Amiri" pitchFamily="2" charset="-78"/>
                <a:ea typeface="Amiri" pitchFamily="2" charset="-78"/>
                <a:cs typeface="Amiri" pitchFamily="2" charset="-78"/>
              </a:rPr>
              <a:t>كُمْ</a:t>
            </a:r>
            <a:pPr rtl="1" algn="ctr" indent="0" marL="0">
              <a:buNone/>
            </a:pPr>
            <a:r>
              <a:rPr lang="ar-SA" altLang="en-US" sz="2100" b="1" dirty="0">
                <a:solidFill>
                  <a:srgbClr val="1B3B6F"/>
                </a:solidFill>
                <a:latin typeface="Amiri" pitchFamily="2" charset="-78"/>
                <a:ea typeface="Amiri" pitchFamily="2" charset="-78"/>
                <a:cs typeface="Amiri" pitchFamily="2" charset="-78"/>
              </a:rPr>
              <a:t> حَسَاءٌ؟</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Waiter = man → -ta. Café → -kum.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Order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أُرِيدُ حَسَاءَ العَدَسِ وَسَلَطَةً، مِنْ فَضْلِ</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كَ</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Items end in -an.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صَغِيرٌ، شُكْرًا.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Small or large? One word + thanks.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كَمْ سِعْرُ الوَجْبَةِ؟ الحِسَابُ، مِنْ فَضْلِ</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كَ</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Price, then the bill.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 A MAN</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 A WOMAN</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 THE CAFÉ</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مَسَاءُ الخَيْرِ. لَوْ سَمَحْ</a:t>
            </a:r>
            <a:pPr rtl="1" algn="r" indent="0" marL="0">
              <a:lnSpc>
                <a:spcPct val="120000"/>
              </a:lnSpc>
              <a:buNone/>
            </a:pPr>
            <a:r>
              <a:rPr lang="ar-SA" altLang="en-US" sz="1600" b="1" dirty="0">
                <a:solidFill>
                  <a:srgbClr val="1D5FBF"/>
                </a:solidFill>
                <a:latin typeface="Amiri" pitchFamily="2" charset="-78"/>
                <a:ea typeface="Amiri" pitchFamily="2" charset="-78"/>
                <a:cs typeface="Amiri" pitchFamily="2" charset="-78"/>
              </a:rPr>
              <a:t>تَ</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هَلْ عِنْدَ</a:t>
            </a:r>
            <a:pPr rtl="1" algn="r" indent="0" marL="0">
              <a:lnSpc>
                <a:spcPct val="120000"/>
              </a:lnSpc>
              <a:buNone/>
            </a:pPr>
            <a:r>
              <a:rPr lang="ar-SA" altLang="en-US" sz="1600" b="1" dirty="0">
                <a:solidFill>
                  <a:srgbClr val="0E7C86"/>
                </a:solidFill>
                <a:latin typeface="Amiri" pitchFamily="2" charset="-78"/>
                <a:ea typeface="Amiri" pitchFamily="2" charset="-78"/>
                <a:cs typeface="Amiri" pitchFamily="2" charset="-78"/>
              </a:rPr>
              <a:t>كُمْ</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حَسَاءٌ؟ أُرِيدُ حَسَاءَ العَدَسِ وَسَلَطَةً، مِنْ فَضْلِ</a:t>
            </a:r>
            <a:pPr rtl="1" algn="r" indent="0" marL="0">
              <a:lnSpc>
                <a:spcPct val="120000"/>
              </a:lnSpc>
              <a:buNone/>
            </a:pPr>
            <a:r>
              <a:rPr lang="ar-SA" altLang="en-US" sz="1600" b="1" dirty="0">
                <a:solidFill>
                  <a:srgbClr val="1D5FBF"/>
                </a:solidFill>
                <a:latin typeface="Amiri" pitchFamily="2" charset="-78"/>
                <a:ea typeface="Amiri" pitchFamily="2" charset="-78"/>
                <a:cs typeface="Amiri" pitchFamily="2" charset="-78"/>
              </a:rPr>
              <a:t>كَ</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وَعَصِيرَ بُرْتُقَالٍ صَغِيرًا. كَمْ سِعْرُ الوَجْبَةِ؟ الحِسَابُ، مِنْ فَضْلِ</a:t>
            </a:r>
            <a:pPr rtl="1" algn="r" indent="0" marL="0">
              <a:lnSpc>
                <a:spcPct val="120000"/>
              </a:lnSpc>
              <a:buNone/>
            </a:pPr>
            <a:r>
              <a:rPr lang="ar-SA" altLang="en-US" sz="1600" b="1" dirty="0">
                <a:solidFill>
                  <a:srgbClr val="1D5FBF"/>
                </a:solidFill>
                <a:latin typeface="Amiri" pitchFamily="2" charset="-78"/>
                <a:ea typeface="Amiri" pitchFamily="2" charset="-78"/>
                <a:cs typeface="Amiri" pitchFamily="2" charset="-78"/>
              </a:rPr>
              <a:t>كَ</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شُكْرًا جَزِيلًا.</a:t>
            </a:r>
            <a:endParaRPr lang="ar-SA" sz="16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Good evening. Excuse me, do you have soup? I would like lentil soup and a salad, please. And a small orange juice. How much is the meal? The bill, please. Thank you very much.</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حَسَاءَ العَدَسِ وَسَلَطَةً، مِنْ فَضْلِكَ.</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lentil soup and a salad, please.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أُرِيدُ + item and finish with politeness.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عِنْدَكُمْ طَعَامٌ نَبَاتِيٌّ؟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 you have vegetarian food?</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هَلْ عِنْدَكُمْ checks availability.</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مَاءٌ عَادِيٌّ، مِنْ فَضْلِكِ.</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Still water, please.</a:t>
            </a:r>
            <a:endParaRPr lang="en-US" sz="1250" dirty="0"/>
          </a:p>
          <a:p>
            <a:pPr indent="0" marL="0">
              <a:buNone/>
            </a:pPr>
            <a:r>
              <a:rPr lang="en-US" sz="1050" i="1" dirty="0">
                <a:solidFill>
                  <a:srgbClr val="8A6D1E"/>
                </a:solidFill>
                <a:latin typeface="Calibri" pitchFamily="34" charset="0"/>
                <a:cs typeface="Amiri" pitchFamily="2" charset="-78"/>
              </a:rPr>
              <a:t>Short transactional replies can still be complete and polite.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الحِسَابُ، لَوْ سَمَحْتَ.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bill, please.</a:t>
            </a:r>
            <a:endParaRPr lang="en-US" sz="1250" dirty="0"/>
          </a:p>
          <a:p>
            <a:pPr indent="0" marL="0">
              <a:buNone/>
            </a:pPr>
            <a:r>
              <a:rPr lang="en-US" sz="1050" i="1" dirty="0">
                <a:solidFill>
                  <a:srgbClr val="8A6D1E"/>
                </a:solidFill>
                <a:latin typeface="Calibri" pitchFamily="34" charset="0"/>
                <a:cs typeface="Amiri" pitchFamily="2" charset="-78"/>
              </a:rPr>
              <a:t>Use a polite attention phrase to close the transaction.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PICTURE MATCH · WEBSITE GAME “VISUAL GAME — ORDERING FOOD POLITELY”</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says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فِي المَقْهَى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to a waiter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juice · to a waitress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card · a question</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 الحِسَابُ؟</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أُرِيدُ قَهْوَةً، مِنْ فَضْلِكَ.</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أُرِيدُ عَصِيرًا، مِنْ فَضْلِكِ.</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فِي المَقْهَى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to a waiter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قَهْوَةً، مِنْ فَضْلِكَ.</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would like coffee, please (to a man).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juice · to a waitress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عَصِيرًا، مِنْ فَضْلِكِ.</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would like juice, please (to a woman).</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card · a question</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كَمِ الحِسَابُ؟</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How much is the bill?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transaction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السَّلَامُ عَلَيْكُمْ. هَلْ هٰذِهِ الطَّاوِلَةُ شَاغِرَةٌ؟</a:t>
            </a:r>
            <a:endParaRPr lang="ar-SA" sz="14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حَسَاءً وَخُبْزًا، مِنْ فَضْلِكَ.</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عِنْدَكُمْ عَصِيرُ تُفَّاحٍ؟</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الحِسَابُ، لَوْ سَمَحْتِ.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الخَيْرِ.</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Opening</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Ordering</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Closing</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Opening</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السَّلَامُ عَلَيْكُمْ. هَلْ هٰذِهِ الطَّاوِلَةُ شَاغِرَةٌ؟</a:t>
            </a:r>
            <a:endParaRPr lang="ar-SA" sz="175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الخَيْرِ.</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Ordering</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حَسَاءً وَخُبْزًا، مِنْ فَضْلِكَ.</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عِنْدَكُمْ عَصِيرُ تُفَّاحٍ؟</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Closing</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الحِسَابُ، لَوْ سَمَحْتِ.</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5,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whether vegetarian food is available.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الطَّعَامُ النَّبَاتِيُّ؟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النَّبَاتِيَّ؟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عِنْدَكُمْ طَعَامٌ نَبَاتِيٌّ؟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أَمْ</a:t>
            </a:r>
            <a:pPr algn="l" indent="0" marL="0">
              <a:buNone/>
            </a:pPr>
            <a:r>
              <a:rPr lang="en-US" sz="1250" b="1" dirty="0">
                <a:solidFill>
                  <a:srgbClr val="1B3B6F"/>
                </a:solidFill>
                <a:latin typeface="Calibri" pitchFamily="34" charset="0"/>
                <a:cs typeface="Amiri" pitchFamily="2" charset="-78"/>
              </a:rPr>
              <a:t> do in a question?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gives a reason</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joins alternatives</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makes a negative</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polite request for the bill.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الحِسَابُ؟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الحِسَابُ، لَوْ سَمَحْتَ.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مَاءٌ؟</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polite request to a woman?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مَاءً، مِنْ فَضْلِكَ.</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أَعْطِنِي مَاءً.</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مَاءً، مِنْ فَضْلِكِ.</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whether vegetarian food is available.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الطَّعَامُ النَّبَاتِيُّ؟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النَّبَاتِيَّ؟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عِنْدَكُمْ طَعَامٌ نَبَاتِيٌّ؟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عِنْدَكُمْ</a:t>
            </a:r>
            <a:pPr algn="l" indent="0" marL="0">
              <a:buNone/>
            </a:pPr>
            <a:r>
              <a:rPr lang="en-US" sz="1050" i="1" dirty="0">
                <a:solidFill>
                  <a:srgbClr val="8A6D1E"/>
                </a:solidFill>
                <a:latin typeface="Calibri" pitchFamily="34" charset="0"/>
                <a:cs typeface="Amiri" pitchFamily="2" charset="-78"/>
              </a:rPr>
              <a:t> asks about availability.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أَمْ</a:t>
            </a:r>
            <a:pPr algn="l" indent="0" marL="0">
              <a:buNone/>
            </a:pPr>
            <a:r>
              <a:rPr lang="en-US" sz="1250" b="1" dirty="0">
                <a:solidFill>
                  <a:srgbClr val="1B3B6F"/>
                </a:solidFill>
                <a:latin typeface="Calibri" pitchFamily="34" charset="0"/>
                <a:cs typeface="Amiri" pitchFamily="2" charset="-78"/>
              </a:rPr>
              <a:t> do in a question?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gives a reason</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joins alternatives</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makes a negative</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a:t>
            </a:r>
            <a:pPr algn="l" indent="0" marL="0">
              <a:buNone/>
            </a:pPr>
            <a:r>
              <a:rPr lang="en-US" sz="1050" i="1" dirty="0">
                <a:solidFill>
                  <a:srgbClr val="8A6D1E"/>
                </a:solidFill>
                <a:latin typeface="Calibri" pitchFamily="34" charset="0"/>
                <a:cs typeface="Amiri" pitchFamily="2" charset="-78"/>
              </a:rPr>
              <a:t> means “or” between alternatives.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polite request for the bill.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الحِسَابُ؟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الحِسَابُ، لَوْ سَمَحْتَ.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مَاءٌ؟</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the conventional polite request.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polite request to a woman?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مَاءً، مِنْ فَضْلِكَ.</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أَعْطِنِي مَاءً.</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مَاءً، مِنْ فَضْلِكِ.</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مِنْ فَضْلِكِ</a:t>
            </a:r>
            <a:pPr algn="l" indent="0" marL="0">
              <a:buNone/>
            </a:pPr>
            <a:r>
              <a:rPr lang="en-US" sz="1050" i="1" dirty="0">
                <a:solidFill>
                  <a:srgbClr val="8A6D1E"/>
                </a:solidFill>
                <a:latin typeface="Calibri" pitchFamily="34" charset="0"/>
                <a:cs typeface="Amiri" pitchFamily="2" charset="-78"/>
              </a:rPr>
              <a:t> for a female addressee.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أَعْطِنِي شَايًا.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bare command polite?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مِنْ فَضْلِكَ سَلَطَةٌ.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item after “I would like” ends in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عِنْدَكَ طَعَامٌ نَبَاتِيٌّ؟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Asking a café or restaurant: -ka or -kum?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أَعْطِنِي شَايًا.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شَايًا، مِنْ فَضْلِكَ.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corrected form is more suitable for a polite restaurant exchange.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مِنْ فَضْلِكَ سَلَطَةٌ.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سَلَطَةً، مِنْ فَضْلِكَ.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requested item is the direct object and should be accusative.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عِنْدَكَ طَعَامٌ نَبَاتِيٌّ؟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عِنْدَكُمْ طَعَامٌ نَبَاتِيٌّ؟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عِنْدَكُمْ</a:t>
            </a:r>
            <a:pPr algn="l" indent="0" marL="0">
              <a:buNone/>
            </a:pPr>
            <a:r>
              <a:rPr lang="en-US" sz="1150" b="1" dirty="0">
                <a:solidFill>
                  <a:srgbClr val="1B3B6F"/>
                </a:solidFill>
                <a:latin typeface="Calibri" pitchFamily="34" charset="0"/>
                <a:cs typeface="Amiri" pitchFamily="2" charset="-78"/>
              </a:rPr>
              <a:t> is a conventional way to ask a business whether it has something.</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Café Miftah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food is ordered?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salad and a cheese sandwich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soup and bread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 and chicken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drink is requested?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 juice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 juice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clarification does the waiter ask?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 or cold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still or sparkling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or large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size is chosen?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medium</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and 2.</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سَلَطَةً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عَصِيرَ بُرْتُقَالٍ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صَغِيرٌ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النَّادِلُ: مَسَاءُ الخَيْرِ. مَاذَا تُرِيدِينَ؟</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Waiter: Good evening. What would you (f.) like?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أُرِيدُ سَلَطَةً وَسَانْدَوِيتْشَ جُبْنٍ، مِنْ فَضْلِكَ.</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I would like a salad and a cheese sandwich, please.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النَّادِلُ: هَلْ تُرِيدِينَ شَيْئًا لِلشُّرْبِ؟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Waiter: Would you like something to drink?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نَعَمْ، عَصِيرَ بُرْتُقَالٍ.</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Yes, orange juice.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النَّادِلُ: عَصِيرٌ صَغِيرٌ أَمْ كَبِيرٌ؟ الزَّبُونَةُ: صَغِيرٌ، شُكْرًا.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Waiter: A small or a large juice? Customer: Small, thanks.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food is ordered?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salad and a cheese sandwich</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soup and bread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rice and chicken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سَلَطَةً وَسَانْدَوِيتْشَ جُبْنٍ.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drink is requested?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apple juice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orange juice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عَصِيرَ بُرْتُقَالٍ.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clarification does the waiter ask?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hot or cold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still or sparkling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or large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صَغِيرٌ أَمْ كَبِيرٌ؟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size is chosen?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medium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صَغِيرٌ.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and 2.</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سَلَطَةً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عَصِيرَ بُرْتُقَالٍ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صَغِيرٌ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budget challenge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Menu budget challenge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a complete meal within a fixed budget, ask about prices and quantities, then role-play a polite order including one change or special request.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Budget: £10 per person. The menu is on the right.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choose a full meal (food + drink) and add up the price.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Role-play on the mic: ask one price, order, make one change or special request.</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class checks: under budget? polite? right “please”?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2 items under £10. Order with “urīdu …, min faḍlika” and ask for the bill.</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Ask “kam si‘ru …?” before ordering, then order a full meal with a drink.</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fish is not available: ask for an alternative and add “without …” — stay under budget.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حَسَاءُ العَدَسِ</a:t>
            </a:r>
            <a:endParaRPr lang="ar-SA" sz="1050" dirty="0"/>
          </a:p>
        </p:txBody>
      </p:sp>
      <p:sp>
        <p:nvSpPr>
          <p:cNvPr id="48" name="Text 45"/>
          <p:cNvSpPr txBox="1"/>
          <p:nvPr/>
        </p:nvSpPr>
        <p:spPr>
          <a:xfrm>
            <a:off x="6492240" y="5138928"/>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lentil soup · £3</a:t>
            </a:r>
            <a:endParaRPr lang="en-US" sz="1000" dirty="0"/>
          </a:p>
        </p:txBody>
      </p:sp>
      <p:sp>
        <p:nvSpPr>
          <p:cNvPr id="49" name="Text 46"/>
          <p:cNvSpPr txBox="1"/>
          <p:nvPr/>
        </p:nvSpPr>
        <p:spPr>
          <a:xfrm>
            <a:off x="8732520" y="5365699"/>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دَجَاجٌ مَعَ أَرُزٍّ</a:t>
            </a:r>
            <a:endParaRPr lang="ar-SA" sz="1050" dirty="0"/>
          </a:p>
        </p:txBody>
      </p:sp>
      <p:sp>
        <p:nvSpPr>
          <p:cNvPr id="50" name="Text 47"/>
          <p:cNvSpPr txBox="1"/>
          <p:nvPr/>
        </p:nvSpPr>
        <p:spPr>
          <a:xfrm>
            <a:off x="6492240" y="5365699"/>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chicken with rice · £6</a:t>
            </a:r>
            <a:endParaRPr lang="en-US" sz="1000" dirty="0"/>
          </a:p>
        </p:txBody>
      </p:sp>
      <p:sp>
        <p:nvSpPr>
          <p:cNvPr id="51" name="Text 48"/>
          <p:cNvSpPr txBox="1"/>
          <p:nvPr/>
        </p:nvSpPr>
        <p:spPr>
          <a:xfrm>
            <a:off x="8732520" y="5592470"/>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سَمَكٌ مَعَ سَلَطَةٍ</a:t>
            </a:r>
            <a:endParaRPr lang="ar-SA" sz="1050" dirty="0"/>
          </a:p>
        </p:txBody>
      </p:sp>
      <p:sp>
        <p:nvSpPr>
          <p:cNvPr id="52" name="Text 49"/>
          <p:cNvSpPr txBox="1"/>
          <p:nvPr/>
        </p:nvSpPr>
        <p:spPr>
          <a:xfrm>
            <a:off x="6492240" y="5592470"/>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fish with salad · £7</a:t>
            </a:r>
            <a:endParaRPr lang="en-US" sz="1000" dirty="0"/>
          </a:p>
        </p:txBody>
      </p:sp>
      <p:sp>
        <p:nvSpPr>
          <p:cNvPr id="53" name="Text 50"/>
          <p:cNvSpPr txBox="1"/>
          <p:nvPr/>
        </p:nvSpPr>
        <p:spPr>
          <a:xfrm>
            <a:off x="8732520" y="5819242"/>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سَانْدَوِيتْشُ جُبْنٍ</a:t>
            </a:r>
            <a:endParaRPr lang="ar-SA" sz="1050" dirty="0"/>
          </a:p>
        </p:txBody>
      </p:sp>
      <p:sp>
        <p:nvSpPr>
          <p:cNvPr id="54" name="Text 51"/>
          <p:cNvSpPr txBox="1"/>
          <p:nvPr/>
        </p:nvSpPr>
        <p:spPr>
          <a:xfrm>
            <a:off x="6492240" y="5819242"/>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cheese sandwich · £4</a:t>
            </a:r>
            <a:endParaRPr lang="en-US" sz="1000" dirty="0"/>
          </a:p>
        </p:txBody>
      </p:sp>
      <p:sp>
        <p:nvSpPr>
          <p:cNvPr id="55" name="Text 52"/>
          <p:cNvSpPr txBox="1"/>
          <p:nvPr/>
        </p:nvSpPr>
        <p:spPr>
          <a:xfrm>
            <a:off x="8732520" y="6046013"/>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عَصِيرٌ / شَايٌ</a:t>
            </a:r>
            <a:endParaRPr lang="ar-SA" sz="1050" dirty="0"/>
          </a:p>
        </p:txBody>
      </p:sp>
      <p:sp>
        <p:nvSpPr>
          <p:cNvPr id="56" name="Text 53"/>
          <p:cNvSpPr txBox="1"/>
          <p:nvPr/>
        </p:nvSpPr>
        <p:spPr>
          <a:xfrm>
            <a:off x="6492240" y="6046013"/>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juice £2 · tea £1</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role play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 ، مِنْ فَضْلِكَ.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طَعَامٌ نَبَاتِيٌّ؟</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صَغِيرٌ أَمْ كَبِيرٌ؟</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الحِسَابُ، لَوْ سَمَحْتَ.</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أُرِيدُ ___ وَ ___ ، مِنْ فَضْلِكَ.</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هَلْ عِنْدَكُمْ ___ ؟ كَمْ سِعْرُ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 شُكْرًا. / ___ ، مِنْ فَضْلِكِ.</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الحِسَابُ مِنْ فَضْلِكَ. كَانَ الطَّعَامُ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النَّادِلُ</a:t>
            </a:r>
            <a:endParaRPr lang="ar-SA"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مَسَاءُ الخَيْرِ. مَاذَا تُرِيدِينَ؟</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Good evening. What would you (f.) like?</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الزَّبُونَةُ</a:t>
            </a:r>
            <a:endParaRPr lang="ar-SA"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أُرِيدُ حَسَاءَ العَدَسِ وَسَلَطَةً، مِنْ فَضْلِكَ.</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would like lentil soup and a salad, please.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four-line café exchange with the sentence cards.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Greeting → order two items with please → answer “small or large?” → the bill.</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an 8-line dialogue between a waiter and a customer.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Order food and a drink, answer one clarification, ask one price, ask for the bill.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Stretch: an item is not available.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Ask for an alternative, add a special request (without …), check the bill against your budget.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سَمَحْتَ، هَلْ عِنْدَكُمْ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Excuse me, do you have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سِعْرُ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is the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يُمْكِنُنِي أَنْ أَطْلُبَ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May I order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بِدُونِ ______ ، مِنْ فَضْلِكِ.</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Without …, please.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تُرِيدُ شَيْئًا آخَرَ؟</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Would you like anything else?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مَسَاءُ الخَيْرِ.</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 evening.</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______ ، مِنْ فَضْلِكَ.</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 please.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صَغِيرٌ، شُكْرًا.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Small, thank you.</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الحِسَابُ، مِنْ فَضْلِكَ.</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bill, please.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فَضْلِكَ  ·  مِنْ فَضْلِكِ  ·  أُرِيدُ  ·  هَلْ عِنْدَكُمْ  ·  كَمْ سِعْرُ  ·  الحِسَابُ  ·  شَايًا  ·  قَهْوَةً  ·  عَصِيرًا  ·  سَلَطَةً  ·  حَسَاءً  ·  صَغِيرٌ / كَبِيرٌ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8-line café dialogue between a waiter and a customer. The customer must order food, choose a drink, answer one clarification and ask for the bill.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 greeting and a polite closing.</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ea typeface="Amiri" pitchFamily="2" charset="-78"/>
                <a:cs typeface="Amiri" pitchFamily="2" charset="-78"/>
              </a:rPr>
              <a:t>أُرِيدُ</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هَلْ يُمْكِنُنِي أَنْ أَطْلُبَ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one question from the waiter.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مِنْ فَضْلِكَ / مِنْ فَضْلِكِ</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سَمَكٌ اليَوْمَ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no fish today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إِذَنْ، أُرِيدُ الدَّجَاجَ بَدَلًا مِنْهُ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 I would like chicken instead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بِدُونِ سُكَّرٍ، مِنْ فَضْلِكَ</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without sugar, please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تُوصِي؟</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what do you recommend?</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الطَّعَامُ لَذِيذًا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food was delicious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مَرْحَبًا. مَاذَا تُرِيدُ؟</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أُرِيدُ حَسَاءً وَسَانْدَوِيتْشًا، مِنْ فَضْلِكَ.</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هَلْ تُرِيدُ شَيْئًا لِلشُّرْبِ؟</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نَعَمْ، عَصِيرَ تُفَّاحٍ.</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صَغِيرًا أَمْ كَبِيرًا؟</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صَغِيرًا، شُكْرًا.</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شَيْءٌ آخَرُ؟</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لَا، الحِسَابُ مِنْ فَضْلِكَ.</a:t>
            </a:r>
            <a:endParaRPr lang="ar-SA" sz="1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Waiter: Hello. What would you like? · Customer: I would like soup and a sandwich, please. · Waiter: Would you like something to drink? · Customer: Yes, apple juice. · Waiter: Small or large? · Customer: Small, thank you. · Waiter: Anything else? · Customer: No, the bill please.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order with please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choice question with “or”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bill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request has please (-ka or -ki).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order ends with the bill and thanks.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“do you have …?” with -kum.</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a price: kam si‘ru …?</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handled a missing item or a special request.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menu</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table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طَعَامٌ نَبَاتِيٌّ؟</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مَعَكُمْ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عِنْدَكُمْ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فِيكُمْ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what a female wants?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يُرِيدُ؟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bill</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menu</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table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الحِسَابُ</a:t>
            </a:r>
            <a:pPr algn="l" indent="0" marL="0">
              <a:buNone/>
            </a:pPr>
            <a:r>
              <a:rPr lang="en-US" sz="1050" i="1" dirty="0">
                <a:solidFill>
                  <a:srgbClr val="8A6D1E"/>
                </a:solidFill>
                <a:latin typeface="Calibri" pitchFamily="34" charset="0"/>
                <a:cs typeface="Amiri" pitchFamily="2" charset="-78"/>
              </a:rPr>
              <a:t> is the bill.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طَعَامٌ نَبَاتِيٌّ؟</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مَعَكُمْ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عِنْدَكُمْ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فِيكُمْ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عِنْدَكُمْ</a:t>
            </a:r>
            <a:pPr algn="l" indent="0" marL="0">
              <a:buNone/>
            </a:pPr>
            <a:r>
              <a:rPr lang="en-US" sz="1050" i="1" dirty="0">
                <a:solidFill>
                  <a:srgbClr val="8A6D1E"/>
                </a:solidFill>
                <a:latin typeface="Calibri" pitchFamily="34" charset="0"/>
                <a:cs typeface="Amiri" pitchFamily="2" charset="-78"/>
              </a:rPr>
              <a:t> asks whether the restaurant has it.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what a female wants?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مَاذَا تُرِيدِينَ؟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مَاذَا تُرِيدُ؟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مَاذَا يُرِيدُ؟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Female addressee: </a:t>
            </a:r>
            <a:pPr algn="l" indent="0" marL="0">
              <a:buNone/>
            </a:pPr>
            <a:r>
              <a:rPr lang="ar-SA" altLang="en-US" sz="1350" dirty="0">
                <a:solidFill>
                  <a:srgbClr val="8A6D1E"/>
                </a:solidFill>
                <a:latin typeface="Amiri" pitchFamily="2" charset="-78"/>
                <a:ea typeface="Amiri" pitchFamily="2" charset="-78"/>
                <a:cs typeface="Amiri" pitchFamily="2" charset="-78"/>
              </a:rPr>
              <a:t>تُرِيدِينَ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notice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بِكُمْ فِي مَقْهَى الزَّهْرَاءِ. نُقَدِّمُ الفُطُورَ مِنَ السَّاعَةِ السَّابِعَةِ إِلَى الحَادِيَةَ عَشْرَةَ. عِنْدَنَا خُبْزٌ وَجُبْنٌ وَبَيْضٌ، وَنُقَدِّمُ أَيْضًا حَسَاءَ العَدَسِ وَسَلَطَةً نَبَاتِيَّةً. لَا يُوجَدُ سَمَكٌ اليَوْمَ. المَشْرُوبَاتُ: شَايٌ، قَهْوَةٌ، حَلِيبٌ، مَاءٌ وَعَصِيرٌ. اُطْلُبُوا عِنْدَ الطَّاوِلَةِ، وَادْفَعُوا عِنْدَ البَابِ.</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مَرْحَبًا بِكُمْ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welcome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نُقَدِّمُ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serve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الفُطُورَ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breakfast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 إِلَى …</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from … to …</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نَبَاتِيَّةً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vegetarian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يُوجَدُ</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there is no</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المَشْرُوبَاتُ</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drinks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اُطْلُبُوا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order! (to all)</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عِنْدَ الطَّاوِلَةِ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the table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وَادْفَعُوا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pay (to all)</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breakfast served?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8–12</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7–11</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7–10</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vegetarian dish is mentioned?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soup</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 sandwich</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vegetarian salad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unavailable today?</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eggs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order?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door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table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online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pay?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door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table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breakfast served?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8–12</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7–11</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7–10</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السَّاعَةِ السَّابِعَةِ إِلَى الحَادِيَةَ عَشْرَةَ.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vegetarian dish is mentioned?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soup</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chicken sandwich</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vegetarian salad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سَلَطَةً نَبَاتِيَّةً.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unavailable today?</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fish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eggs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يُوجَدُ سَمَكٌ اليَوْمَ.</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order?</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door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table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online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اُطْلُبُوا عِنْدَ الطَّاوِلَةِ.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pay?</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door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table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kitchen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وَادْفَعُوا عِنْدَ البَابِ.</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Eating Out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AT-A-L06: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AT-A-L06 · Healthy Eating and Lifestyle Choices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صِحِّيٌّ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healthy</a:t>
            </a:r>
            <a:pPr indent="0" marL="0">
              <a:buNone/>
            </a:pPr>
            <a:r>
              <a:rPr lang="ar-SA" sz="1000" i="1" dirty="0">
                <a:solidFill>
                  <a:srgbClr val="5A6472"/>
                </a:solidFill>
                <a:latin typeface="Calibri" pitchFamily="34" charset="0"/>
                <a:ea typeface="Amiri" pitchFamily="2" charset="-78"/>
                <a:cs typeface="Amiri" pitchFamily="2" charset="-78"/>
              </a:rPr>
              <a:t>  f. صِحِّيَّةٌ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بُرُوتِينٌ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protein</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فِيتَامِينَاتٌ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vitamins</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أَلْيَافٌ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fibre</a:t>
            </a:r>
            <a:pPr indent="0" marL="0">
              <a:buNone/>
            </a:pPr>
            <a:r>
              <a:rPr lang="ar-SA" sz="1000" i="1" dirty="0">
                <a:solidFill>
                  <a:srgbClr val="5A6472"/>
                </a:solidFill>
                <a:latin typeface="Calibri" pitchFamily="34" charset="0"/>
                <a:ea typeface="Amiri" pitchFamily="2" charset="-78"/>
                <a:cs typeface="Amiri" pitchFamily="2" charset="-78"/>
              </a:rPr>
              <a:t>  sing. لِيفٌ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مُتَوَازِنٌ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balanced</a:t>
            </a:r>
            <a:pPr indent="0" marL="0">
              <a:buNone/>
            </a:pPr>
            <a:r>
              <a:rPr lang="ar-SA" sz="1000" i="1" dirty="0">
                <a:solidFill>
                  <a:srgbClr val="5A6472"/>
                </a:solidFill>
                <a:latin typeface="Calibri" pitchFamily="34" charset="0"/>
                <a:ea typeface="Amiri" pitchFamily="2" charset="-78"/>
                <a:cs typeface="Amiri" pitchFamily="2" charset="-78"/>
              </a:rPr>
              <a:t>  f. مُتَوَازِنَةٌ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one healthy food and one unhealthy food you ate this week.</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الطَّعَامُ الصِّحِّيُّ؟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AT-A-L05: picture game and useful questions — practise a 4-line order aloud.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8-line café dialogue.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café dialogue in which an item is missing, with an alternative and a special request.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AT-A-L06 · Healthy Eating and Lifestyle Choices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الْأَكْلُ الصِّحِّيُّ وَاخْتِيَارَاتُ نَمَطِ الْحَيَاةِ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healthy-eating words + one healthy food.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AT-A-L05 · Eating Out — Café, Menu and Prices</dc:title>
  <dc:subject>PptxGenJS Presentation</dc:subject>
  <dc:creator>Al Madina Online School · Arabic Department</dc:creator>
  <cp:lastModifiedBy>Al Madina Online School · Arabic Department</cp:lastModifiedBy>
  <cp:revision>1</cp:revision>
  <dcterms:created xsi:type="dcterms:W3CDTF">2026-10-11T06:43:42Z</dcterms:created>
  <dcterms:modified xsi:type="dcterms:W3CDTF">2026-10-11T06:43:42Z</dcterms:modified>
</cp:coreProperties>
</file>