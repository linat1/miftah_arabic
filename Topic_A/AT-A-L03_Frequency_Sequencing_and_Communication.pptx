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AT-A-L03 — Frequency, Sequencing and Communication. Website: Advanced Topics › Topic A (Everyday Activities) › Lesson 3.
The website builds this lesson on the D1-L03 lesson engine, with the Topic focus “Explain how often things happen, connect events and communicate about your day or week.” (grammar: Adverbs; connectors; before/after; عندما; skills: All four skills) and the application challenge “Frequency ladder”.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AT-A-L01.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AT-A-L02 (time, schedule verbs) and AT-A-L01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“Rank activities from never to always, justify two choices and combine them with before, after and when to build a connected mini-routine.”
Run it in pairs on the mic or in breakout rooms; Core students use the useful-language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(AT-A-L04 · Food and Drink — Meals and Preferences) will spend class time USING this language, so students prepare it tonight — short, simple, easy to access (school guidance: “Simple, Short, Interesting, Relevant, Easy to access”). The five words come from the website F5-L01 vocabulary (the AT-A-L04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Frequency, Sequencing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التَّوَاتُرُ وَالتَّرْتِيبُ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how often things happen, connect events and communicate about your day or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AT-A-L03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my brother → he →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Frequency words say HOW OFTEN.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أَتَمَرَّنُ يَوْمِيًّا،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days with </a:t>
            </a:r>
            <a:pPr algn="l" indent="0" marL="0">
              <a:buNone/>
            </a:pPr>
            <a:r>
              <a:rPr lang="ar-SA" altLang="en-US" sz="1700" b="1" dirty="0">
                <a:solidFill>
                  <a:srgbClr val="B83227"/>
                </a:solidFill>
                <a:latin typeface="Amiri" pitchFamily="34" charset="0"/>
                <a:ea typeface="Amiri" pitchFamily="34" charset="-122"/>
                <a:cs typeface="Amiri" pitchFamily="34" charset="-120"/>
              </a:rPr>
              <a:t>أَكْثَرُ / أَقَلُّ … مِنْ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‎عادتاً‎ </a:t>
            </a:r>
            <a:pPr indent="0" marL="0">
              <a:buNone/>
            </a:pPr>
            <a:r>
              <a:rPr lang="en-US" sz="950" b="1" dirty="0">
                <a:solidFill>
                  <a:srgbClr val="2E8B57"/>
                </a:solidFill>
                <a:latin typeface="Calibri" pitchFamily="34" charset="0"/>
                <a:ea typeface="Calibri" pitchFamily="34" charset="-122"/>
                <a:cs typeface="Calibri" pitchFamily="34" charset="-120"/>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‎دائماً‎ </a:t>
            </a:r>
            <a:pPr indent="0" marL="0">
              <a:buNone/>
            </a:pPr>
            <a:r>
              <a:rPr lang="en-US" sz="950" b="1" dirty="0">
                <a:solidFill>
                  <a:srgbClr val="2E8B57"/>
                </a:solidFill>
                <a:latin typeface="Calibri" pitchFamily="34" charset="0"/>
                <a:ea typeface="Calibri" pitchFamily="34" charset="-122"/>
                <a:cs typeface="Calibri" pitchFamily="34" charset="-120"/>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 </a:t>
            </a:r>
            <a:pPr indent="0" marL="0">
              <a:buNone/>
            </a:pPr>
            <a:r>
              <a:rPr lang="en-US" sz="950" b="1" dirty="0">
                <a:solidFill>
                  <a:srgbClr val="2E8B57"/>
                </a:solidFill>
                <a:latin typeface="Calibri" pitchFamily="34" charset="0"/>
                <a:ea typeface="Calibri" pitchFamily="34" charset="-122"/>
                <a:cs typeface="Calibri" pitchFamily="34" charset="-120"/>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‎معظم‎ </a:t>
            </a:r>
            <a:pPr indent="0" marL="0">
              <a:buNone/>
            </a:pPr>
            <a:r>
              <a:rPr lang="en-US" sz="950" b="1" dirty="0">
                <a:solidFill>
                  <a:srgbClr val="2E8B57"/>
                </a:solidFill>
                <a:latin typeface="Calibri" pitchFamily="34" charset="0"/>
                <a:ea typeface="Calibri" pitchFamily="34" charset="-122"/>
                <a:cs typeface="Calibri" pitchFamily="34" charset="-120"/>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days of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extra lesson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fixed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contrary / conversely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busy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most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لَا</a:t>
            </a:r>
            <a:pPr rtl="1" algn="ctr" indent="0" marL="0">
              <a:buNone/>
            </a:pPr>
            <a:r>
              <a:rPr lang="ar-SA" altLang="en-US" sz="1950" b="1" dirty="0">
                <a:solidFill>
                  <a:srgbClr val="1B3B6F"/>
                </a:solidFill>
                <a:latin typeface="Amiri" pitchFamily="34" charset="0"/>
                <a:ea typeface="Amiri" pitchFamily="34" charset="-122"/>
                <a:cs typeface="Amiri" pitchFamily="34" charset="-120"/>
              </a:rPr>
              <a:t> أَتَأَخَّرُ </a:t>
            </a:r>
            <a:pPr rtl="1" algn="ctr" indent="0" marL="0">
              <a:buNone/>
            </a:pPr>
            <a:r>
              <a:rPr lang="ar-SA" altLang="en-US" sz="1950" b="1" dirty="0">
                <a:solidFill>
                  <a:srgbClr val="0E7C86"/>
                </a:solidFill>
                <a:latin typeface="Amiri" pitchFamily="34" charset="0"/>
                <a:ea typeface="Amiri" pitchFamily="34" charset="-122"/>
                <a:cs typeface="Amiri" pitchFamily="34" charset="-120"/>
              </a:rPr>
              <a:t>أَبَدًا</a:t>
            </a:r>
            <a:pPr rtl="1" algn="ctr" indent="0" marL="0">
              <a:buNone/>
            </a:pPr>
            <a:r>
              <a:rPr lang="ar-SA" altLang="en-US" sz="1950" b="1" dirty="0">
                <a:solidFill>
                  <a:srgbClr val="1B3B6F"/>
                </a:solidFill>
                <a:latin typeface="Amiri" pitchFamily="34" charset="0"/>
                <a:ea typeface="Amiri" pitchFamily="34" charset="-122"/>
                <a:cs typeface="Amiri" pitchFamily="34" charset="-120"/>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t>
            </a:r>
            <a:pPr algn="l" indent="0" marL="0">
              <a:buNone/>
            </a:pPr>
            <a:r>
              <a:rPr lang="ar-SA" altLang="en-US" sz="1500" b="1" dirty="0">
                <a:solidFill>
                  <a:srgbClr val="1B3B6F"/>
                </a:solidFill>
                <a:latin typeface="Amiri" pitchFamily="34" charset="0"/>
                <a:ea typeface="Amiri" pitchFamily="34" charset="-122"/>
                <a:cs typeface="Amiri" pitchFamily="34" charset="-120"/>
              </a:rPr>
              <a:t>مَرَّةً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ثَلَاثَ مَرَّاتٍ فِي الأُسْبُوعِ</a:t>
            </a:r>
            <a:pPr algn="l" indent="0" marL="0">
              <a:buNone/>
            </a:pPr>
            <a:r>
              <a:rPr lang="en-US" sz="1150" b="1" dirty="0">
                <a:solidFill>
                  <a:srgbClr val="1B3B6F"/>
                </a:solidFill>
                <a:latin typeface="Calibri" pitchFamily="34" charset="0"/>
                <a:ea typeface="Calibri" pitchFamily="34" charset="-122"/>
                <a:cs typeface="Calibri" pitchFamily="34" charset="-120"/>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 </a:t>
            </a:r>
            <a:pPr algn="l" indent="0" marL="0">
              <a:buNone/>
            </a:pPr>
            <a:r>
              <a:rPr lang="ar-SA" altLang="en-US" sz="1450" dirty="0">
                <a:solidFill>
                  <a:srgbClr val="1F2A37"/>
                </a:solidFill>
                <a:latin typeface="Amiri" pitchFamily="34" charset="0"/>
                <a:ea typeface="Amiri" pitchFamily="34" charset="-122"/>
                <a:cs typeface="Amiri" pitchFamily="34" charset="-120"/>
              </a:rPr>
              <a:t>فَـ</a:t>
            </a:r>
            <a:pPr algn="l" indent="0" marL="0">
              <a:buNone/>
            </a:pPr>
            <a:r>
              <a:rPr lang="en-US" sz="1100" dirty="0">
                <a:solidFill>
                  <a:srgbClr val="1F2A37"/>
                </a:solidFill>
                <a:latin typeface="Calibri" pitchFamily="34" charset="0"/>
                <a:ea typeface="Calibri" pitchFamily="34" charset="-122"/>
                <a:cs typeface="Calibri" pitchFamily="34" charset="-120"/>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more / less + noun +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a:t>
            </a:r>
            <a:pPr algn="l" indent="0" marL="0">
              <a:buNone/>
            </a:pPr>
            <a:r>
              <a:rPr lang="ar-SA" altLang="en-US" sz="1500" dirty="0">
                <a:solidFill>
                  <a:srgbClr val="1F2A37"/>
                </a:solidFill>
                <a:latin typeface="Amiri" pitchFamily="34" charset="0"/>
                <a:ea typeface="Amiri" pitchFamily="34" charset="-122"/>
                <a:cs typeface="Amiri" pitchFamily="34" charset="-120"/>
              </a:rPr>
              <a:t>بَيْنَمَا</a:t>
            </a:r>
            <a:pPr algn="l" indent="0" marL="0">
              <a:buNone/>
            </a:pPr>
            <a:r>
              <a:rPr lang="en-US" sz="1150" dirty="0">
                <a:solidFill>
                  <a:srgbClr val="1F2A37"/>
                </a:solidFill>
                <a:latin typeface="Calibri" pitchFamily="34" charset="0"/>
                <a:ea typeface="Calibri" pitchFamily="34" charset="-122"/>
                <a:cs typeface="Calibri" pitchFamily="34" charset="-120"/>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فَـ</a:t>
            </a:r>
            <a:pPr algn="l" indent="0" marL="0">
              <a:buNone/>
            </a:pPr>
            <a:r>
              <a:rPr lang="en-US" sz="1250" b="1" dirty="0">
                <a:solidFill>
                  <a:srgbClr val="1B3B6F"/>
                </a:solidFill>
                <a:latin typeface="Calibri" pitchFamily="34" charset="0"/>
                <a:ea typeface="Calibri" pitchFamily="34" charset="-122"/>
                <a:cs typeface="Calibri" pitchFamily="34" charset="-120"/>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تَقْرَأُ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يَوْمِيًّا</a:t>
            </a:r>
            <a:pPr algn="l" indent="0" marL="0">
              <a:buNone/>
            </a:pPr>
            <a:r>
              <a:rPr lang="en-US" sz="1050" i="1" dirty="0">
                <a:solidFill>
                  <a:srgbClr val="8A6D1E"/>
                </a:solidFill>
                <a:latin typeface="Calibri" pitchFamily="34" charset="0"/>
                <a:ea typeface="Calibri" pitchFamily="34" charset="-122"/>
                <a:cs typeface="Calibri" pitchFamily="34" charset="-120"/>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use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أُرَاجِعُ دُرُوسِي </a:t>
            </a:r>
            <a:pPr rtl="1" algn="ctr" indent="0" marL="0">
              <a:buNone/>
            </a:pPr>
            <a:r>
              <a:rPr lang="ar-SA" altLang="en-US" sz="2700" b="1" dirty="0">
                <a:solidFill>
                  <a:srgbClr val="0E7C86"/>
                </a:solidFill>
                <a:latin typeface="Amiri" pitchFamily="34" charset="0"/>
                <a:ea typeface="Amiri" pitchFamily="34" charset="-122"/>
                <a:cs typeface="Amiri" pitchFamily="34" charset="-120"/>
              </a:rPr>
              <a:t>يَوْمِيًّا</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أَتَمَرَّنُ مَرَّتَيْنِ،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clause: </a:t>
            </a:r>
            <a:pPr algn="l" indent="0" marL="0">
              <a:buNone/>
            </a:pPr>
            <a:r>
              <a:rPr lang="ar-SA" altLang="en-US" sz="1500" dirty="0">
                <a:solidFill>
                  <a:srgbClr val="1F2A37"/>
                </a:solidFill>
                <a:latin typeface="Amiri" pitchFamily="34" charset="0"/>
                <a:ea typeface="Amiri" pitchFamily="34" charset="-122"/>
                <a:cs typeface="Amiri" pitchFamily="34" charset="-120"/>
              </a:rPr>
              <a:t>أُخْتِي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الاِثْنَيْنُ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اِنْشِغَالًا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busier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أَتَأَخَّرُ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أَبَدًا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before the verb,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أُرَاجِعُ دُرُوسِي </a:t>
            </a:r>
            <a:pPr rtl="1" algn="r" indent="0" marL="0">
              <a:buNone/>
            </a:pPr>
            <a:r>
              <a:rPr lang="ar-SA" altLang="en-US" sz="1700" b="1" dirty="0">
                <a:solidFill>
                  <a:srgbClr val="0E7C86"/>
                </a:solidFill>
                <a:latin typeface="Amiri" pitchFamily="34" charset="0"/>
                <a:ea typeface="Amiri" pitchFamily="34" charset="-122"/>
                <a:cs typeface="Amiri" pitchFamily="34" charset="-120"/>
              </a:rPr>
              <a:t>يَوْمِيًّا</a:t>
            </a:r>
            <a:pPr rtl="1" algn="r" indent="0" marL="0">
              <a:buNone/>
            </a:pPr>
            <a:r>
              <a:rPr lang="ar-SA" altLang="en-US" sz="1700" b="1" dirty="0">
                <a:solidFill>
                  <a:srgbClr val="1B3B6F"/>
                </a:solidFill>
                <a:latin typeface="Amiri" pitchFamily="34" charset="0"/>
                <a:ea typeface="Amiri" pitchFamily="34" charset="-122"/>
                <a:cs typeface="Amiri" pitchFamily="34" charset="-120"/>
              </a:rPr>
              <a:t>، وَأَتَمَرَّنُ مَرَّتَيْنِ فِي الأُسْبُوعِ، </a:t>
            </a:r>
            <a:pPr rtl="1" algn="r" indent="0" marL="0">
              <a:buNone/>
            </a:pPr>
            <a:r>
              <a:rPr lang="ar-SA" altLang="en-US" sz="1700" b="1" dirty="0">
                <a:solidFill>
                  <a:srgbClr val="0E7C86"/>
                </a:solidFill>
                <a:latin typeface="Amiri" pitchFamily="34" charset="0"/>
                <a:ea typeface="Amiri" pitchFamily="34" charset="-122"/>
                <a:cs typeface="Amiri" pitchFamily="34" charset="-120"/>
              </a:rPr>
              <a:t>بَيْنَمَا</a:t>
            </a:r>
            <a:pPr rtl="1" algn="r" indent="0" marL="0">
              <a:buNone/>
            </a:pPr>
            <a:r>
              <a:rPr lang="ar-SA" altLang="en-US" sz="1700" b="1" dirty="0">
                <a:solidFill>
                  <a:srgbClr val="1B3B6F"/>
                </a:solidFill>
                <a:latin typeface="Amiri" pitchFamily="34" charset="0"/>
                <a:ea typeface="Amiri" pitchFamily="34" charset="-122"/>
                <a:cs typeface="Amiri" pitchFamily="34" charset="-120"/>
              </a:rPr>
              <a:t> </a:t>
            </a:r>
            <a:pPr rtl="1" algn="r" indent="0" marL="0">
              <a:buNone/>
            </a:pPr>
            <a:r>
              <a:rPr lang="ar-SA" altLang="en-US" sz="1700" b="1" dirty="0">
                <a:solidFill>
                  <a:srgbClr val="D6336C"/>
                </a:solidFill>
                <a:latin typeface="Amiri" pitchFamily="34" charset="0"/>
                <a:ea typeface="Amiri" pitchFamily="34" charset="-122"/>
                <a:cs typeface="Amiri" pitchFamily="34" charset="-120"/>
              </a:rPr>
              <a:t>تَ</a:t>
            </a:r>
            <a:pPr rtl="1" algn="r" indent="0" marL="0">
              <a:buNone/>
            </a:pPr>
            <a:r>
              <a:rPr lang="ar-SA" altLang="en-US" sz="1700" b="1" dirty="0">
                <a:solidFill>
                  <a:srgbClr val="1B3B6F"/>
                </a:solidFill>
                <a:latin typeface="Amiri" pitchFamily="34" charset="0"/>
                <a:ea typeface="Amiri" pitchFamily="34" charset="-122"/>
                <a:cs typeface="Amiri" pitchFamily="34" charset="-120"/>
              </a:rPr>
              <a:t>تَمَرَّنُ أُخْتِي يَوْمِيًّا. الاِثْنَيْنُ </a:t>
            </a:r>
            <a:pPr rtl="1" algn="r" indent="0" marL="0">
              <a:buNone/>
            </a:pPr>
            <a:r>
              <a:rPr lang="ar-SA" altLang="en-US" sz="1700" b="1" dirty="0">
                <a:solidFill>
                  <a:srgbClr val="1D5FBF"/>
                </a:solidFill>
                <a:latin typeface="Amiri" pitchFamily="34" charset="0"/>
                <a:ea typeface="Amiri" pitchFamily="34" charset="-122"/>
                <a:cs typeface="Amiri" pitchFamily="34" charset="-120"/>
              </a:rPr>
              <a:t>أَكْثَرُ</a:t>
            </a:r>
            <a:pPr rtl="1" algn="r" indent="0" marL="0">
              <a:buNone/>
            </a:pPr>
            <a:r>
              <a:rPr lang="ar-SA" altLang="en-US" sz="1700" b="1" dirty="0">
                <a:solidFill>
                  <a:srgbClr val="1B3B6F"/>
                </a:solidFill>
                <a:latin typeface="Amiri" pitchFamily="34" charset="0"/>
                <a:ea typeface="Amiri" pitchFamily="34" charset="-122"/>
                <a:cs typeface="Amiri" pitchFamily="34" charset="-120"/>
              </a:rPr>
              <a:t> اِنْشِغَالًا </a:t>
            </a:r>
            <a:pPr rtl="1" algn="r" indent="0" marL="0">
              <a:buNone/>
            </a:pPr>
            <a:r>
              <a:rPr lang="ar-SA" altLang="en-US" sz="1700" b="1" dirty="0">
                <a:solidFill>
                  <a:srgbClr val="1D5FBF"/>
                </a:solidFill>
                <a:latin typeface="Amiri" pitchFamily="34" charset="0"/>
                <a:ea typeface="Amiri" pitchFamily="34" charset="-122"/>
                <a:cs typeface="Amiri" pitchFamily="34" charset="-120"/>
              </a:rPr>
              <a:t>مِنَ</a:t>
            </a:r>
            <a:pPr rtl="1" algn="r" indent="0" marL="0">
              <a:buNone/>
            </a:pPr>
            <a:r>
              <a:rPr lang="ar-SA" altLang="en-US" sz="1700" b="1" dirty="0">
                <a:solidFill>
                  <a:srgbClr val="1B3B6F"/>
                </a:solidFill>
                <a:latin typeface="Amiri" pitchFamily="34" charset="0"/>
                <a:ea typeface="Amiri" pitchFamily="34" charset="-122"/>
                <a:cs typeface="Amiri" pitchFamily="34" charset="-120"/>
              </a:rPr>
              <a:t> السَّبْتِ. </a:t>
            </a:r>
            <a:pPr rtl="1" algn="r" indent="0" marL="0">
              <a:buNone/>
            </a:pPr>
            <a:r>
              <a:rPr lang="ar-SA" altLang="en-US" sz="1700" b="1" dirty="0">
                <a:solidFill>
                  <a:srgbClr val="0E7C86"/>
                </a:solidFill>
                <a:latin typeface="Amiri" pitchFamily="34" charset="0"/>
                <a:ea typeface="Amiri" pitchFamily="34" charset="-122"/>
                <a:cs typeface="Amiri" pitchFamily="34" charset="-120"/>
              </a:rPr>
              <a:t>لَا</a:t>
            </a:r>
            <a:pPr rtl="1" algn="r" indent="0" marL="0">
              <a:buNone/>
            </a:pPr>
            <a:r>
              <a:rPr lang="ar-SA" altLang="en-US" sz="1700" b="1" dirty="0">
                <a:solidFill>
                  <a:srgbClr val="1B3B6F"/>
                </a:solidFill>
                <a:latin typeface="Amiri" pitchFamily="34" charset="0"/>
                <a:ea typeface="Amiri" pitchFamily="34" charset="-122"/>
                <a:cs typeface="Amiri" pitchFamily="34" charset="-120"/>
              </a:rPr>
              <a:t> أَتَأَخَّرُ </a:t>
            </a:r>
            <a:pPr rtl="1" algn="r" indent="0" marL="0">
              <a:buNone/>
            </a:pPr>
            <a:r>
              <a:rPr lang="ar-SA" altLang="en-US" sz="1700" b="1" dirty="0">
                <a:solidFill>
                  <a:srgbClr val="0E7C86"/>
                </a:solidFill>
                <a:latin typeface="Amiri" pitchFamily="34" charset="0"/>
                <a:ea typeface="Amiri" pitchFamily="34" charset="-122"/>
                <a:cs typeface="Amiri" pitchFamily="34" charset="-120"/>
              </a:rPr>
              <a:t>أَبَدًا</a:t>
            </a:r>
            <a:pPr rtl="1" algn="r" indent="0" marL="0">
              <a:buNone/>
            </a:pPr>
            <a:r>
              <a:rPr lang="ar-SA" altLang="en-US" sz="1700" b="1" dirty="0">
                <a:solidFill>
                  <a:srgbClr val="1B3B6F"/>
                </a:solidFill>
                <a:latin typeface="Amiri" pitchFamily="34" charset="0"/>
                <a:ea typeface="Amiri" pitchFamily="34" charset="-122"/>
                <a:cs typeface="Amiri" pitchFamily="34" charset="-120"/>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Tuesday, whereas my brother trains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it is a rest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never late for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Wednesday is busier than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topic is resumed by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topic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human masculine plural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مُعْظَمِ الأَيَّامِ</a:t>
            </a:r>
            <a:pPr algn="l" indent="0" marL="0">
              <a:buNone/>
            </a:pPr>
            <a:r>
              <a:rPr lang="en-US" sz="1050" i="1" dirty="0">
                <a:solidFill>
                  <a:srgbClr val="8A6D1E"/>
                </a:solidFill>
                <a:latin typeface="Calibri" pitchFamily="34" charset="0"/>
                <a:ea typeface="Calibri" pitchFamily="34" charset="-122"/>
                <a:cs typeface="Calibri" pitchFamily="34" charset="-120"/>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t>
            </a:r>
            <a:pPr algn="l" indent="0" marL="0">
              <a:buNone/>
            </a:pPr>
            <a:r>
              <a:rPr lang="ar-SA" altLang="en-US" sz="1700" dirty="0">
                <a:solidFill>
                  <a:srgbClr val="5A6472"/>
                </a:solidFill>
                <a:latin typeface="Amiri" pitchFamily="34" charset="0"/>
                <a:ea typeface="Amiri" pitchFamily="34" charset="-122"/>
                <a:cs typeface="Amiri" pitchFamily="34" charset="-120"/>
              </a:rPr>
              <a:t>أَمَّا</a:t>
            </a:r>
            <a:pPr algn="l" indent="0" marL="0">
              <a:buNone/>
            </a:pPr>
            <a:r>
              <a:rPr lang="en-US" sz="1300" i="1" dirty="0">
                <a:solidFill>
                  <a:srgbClr val="5A6472"/>
                </a:solidFill>
                <a:latin typeface="Calibri" pitchFamily="34" charset="0"/>
                <a:ea typeface="Calibri" pitchFamily="34" charset="-122"/>
                <a:cs typeface="Calibri" pitchFamily="34" charset="-120"/>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Comparatives take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Frequency ladder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Rank activities from never to always, justify two choices and combine them with before, after and when to build a connected mini-routine.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Ladder on screen: </a:t>
            </a:r>
            <a:pPr algn="l" indent="0" marL="0">
              <a:buNone/>
            </a:pPr>
            <a:r>
              <a:rPr lang="ar-SA" altLang="en-US" sz="1500" dirty="0">
                <a:solidFill>
                  <a:srgbClr val="1F2A37"/>
                </a:solidFill>
                <a:latin typeface="Amiri" pitchFamily="34" charset="0"/>
                <a:ea typeface="Amiri" pitchFamily="34" charset="-122"/>
                <a:cs typeface="Amiri" pitchFamily="34" charset="-120"/>
              </a:rPr>
              <a:t>دَائِمًا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غَالِبًا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أَحْيَانًا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نَادِرًا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places 4 activities on the ladder (type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two choices: “… because …” (li’anna).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Join two with qabla, ba‘da or ‘indamā into a mini-routine; two students read aloud.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3 activities on the ladder and say one sentence: “I always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activities, two reasons with li’anna, one sentence with qabla or ba‘da.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5-sentence mini-routine using ‘indamā and a negative: lā … abadan.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دَائِمًا</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always</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أَحْيَانًا</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sometimes</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لَا … أَبَدًا</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never</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قَبْلَ / بَعْدَ</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before / after</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عِنْدَمَا</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when</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Compare your school week and weekend</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يَوْمِيًّا؟ وَمَاذَا لَا تَفْعَلُ أَبَدًا؟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أَكْثَرُ يَوْمٍ اِنْشِغَالًا فِي أُسْبُوعِكَ؟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يَوْمَيْنِ فِي جَدْوَلِكَ.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جَدْوَلًا مُزْدَحِمًا أَمْ هَادِئًا؟ عَلِّلْ وَأَعْطِ مِثَالًا.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يَوْمِيًّا، وَلَا ___ أَبَدًا.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بَيْنَمَا ___ أَخِي / أُخْتِي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___ فَـ ___ ؛ … أَكْثَرُ اِنْشِغَالًا مِنْ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يَتَمَرَّنُ / تَتَمَرَّنُ ___ مَرَّاتٍ فِي الأُسْبُوعِ.</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الاِثْنَيْنِ وَالسَّبْتِ.</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Monday and Saturday.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الاِثْنَيْنُ أَكْثَرُ اِنْشِغَالًا مِنَ السَّبْتِ؛ فَأَنَا أَدْرُسُ وَأَتَمَرَّنُ، بَيْنَمَا أَسْتَرِيحُ وَأَزُورُ أُسْرَتِي يَوْمَ السَّبْتِ.</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Monday is busier than Saturday; I study and train, whereas I rest and visit my family on Saturday.</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days using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two days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أَقَلُّ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“never” with </a:t>
            </a:r>
            <a:pPr algn="l" indent="0" marL="0">
              <a:buNone/>
            </a:pPr>
            <a:r>
              <a:rPr lang="ar-SA" altLang="en-US" sz="1700" dirty="0">
                <a:solidFill>
                  <a:srgbClr val="1F2A37"/>
                </a:solidFill>
                <a:latin typeface="Amiri" pitchFamily="34" charset="0"/>
                <a:ea typeface="Amiri" pitchFamily="34" charset="-122"/>
                <a:cs typeface="Amiri" pitchFamily="34" charset="-120"/>
              </a:rPr>
              <a:t>لَا … أَبَدًا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أَمَّا … فَـ</a:t>
            </a:r>
            <a:pPr algn="l" indent="0" marL="0">
              <a:buNone/>
            </a:pPr>
            <a:r>
              <a:rPr lang="en-US" sz="1300" dirty="0">
                <a:solidFill>
                  <a:srgbClr val="1F2A37"/>
                </a:solidFill>
                <a:latin typeface="Calibri" pitchFamily="34" charset="0"/>
                <a:ea typeface="Calibri" pitchFamily="34" charset="-122"/>
                <a:cs typeface="Calibri" pitchFamily="34" charset="-120"/>
              </a:rPr>
              <a:t> and a comparative with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أُسْبُوعِيًّا</a:t>
            </a:r>
            <a:pPr algn="l" indent="0" marL="0">
              <a:buNone/>
            </a:pPr>
            <a:r>
              <a:rPr lang="en-US" sz="1050" i="1" dirty="0">
                <a:solidFill>
                  <a:srgbClr val="8A6D1E"/>
                </a:solidFill>
                <a:latin typeface="Calibri" pitchFamily="34" charset="0"/>
                <a:ea typeface="Calibri" pitchFamily="34" charset="-122"/>
                <a:cs typeface="Calibri" pitchFamily="34" charset="-120"/>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frequency frame is </a:t>
            </a:r>
            <a:pPr algn="l"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“Never” requires the negative frame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تَذْهَبُ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comment: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comparison frame is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adjective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AT-A-L04: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AT-A-L04 · Food and Drink — Meals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خُبْزٌ</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bread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دَجَاجٌ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chicken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عَصِيرٌ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juice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two things you eat and one thing you drink every day,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تَأْكُلُ كُلَّ 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food and drink words with their pictures (website F5-L01 vocabulary tab).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4 sentences: what you eat and drink, and how often (always, sometimes, never).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a family meal using frequency words and before / after.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AT-A-L04 · Food and Drink — Meals and Preferences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الطَّعَامُ وَالشَّرَابُ وَالْوَجَبَاتُ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food and drink words + one frequency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AT-A-L03 · Frequency, Sequencing and Communication</dc:title>
  <dc:subject>PptxGenJS Presentation</dc:subject>
  <dc:creator>Al Madina Online School · Arabic Department</dc:creator>
  <cp:lastModifiedBy>Al Madina Online School · Arabic Department</cp:lastModifiedBy>
  <cp:revision>1</cp:revision>
  <dcterms:created xsi:type="dcterms:W3CDTF">2026-09-27T12:43:32Z</dcterms:created>
  <dcterms:modified xsi:type="dcterms:W3CDTF">2026-09-27T12:43:32Z</dcterms:modified>
</cp:coreProperties>
</file>