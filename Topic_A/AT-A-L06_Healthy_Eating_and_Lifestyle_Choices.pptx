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the website AT-A-L06 model patterns have no English translation and the sorter has no title or instruction, so the deck adds teacher-written translations, a title and an instruction (the Arabic and the categories are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يَحْتَوِي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غَنِيٌّ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يَفْتَقِرُ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a:t>
            </a:r>
            <a:pPr indent="0" marL="0">
              <a:buNone/>
            </a:pPr>
            <a:r>
              <a:rPr lang="en-US" sz="950" b="1" dirty="0">
                <a:solidFill>
                  <a:srgbClr val="2E8B57"/>
                </a:solidFill>
                <a:latin typeface="Calibri" pitchFamily="34" charset="0"/>
                <a:ea typeface="Calibri" pitchFamily="34" charset="-122"/>
                <a:cs typeface="Calibri" pitchFamily="34" charset="-120"/>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‎پروٹین‎ </a:t>
            </a:r>
            <a:pPr indent="0" marL="0">
              <a:buNone/>
            </a:pPr>
            <a:r>
              <a:rPr lang="en-US" sz="950" b="1" dirty="0">
                <a:solidFill>
                  <a:srgbClr val="2E8B57"/>
                </a:solidFill>
                <a:latin typeface="Calibri" pitchFamily="34" charset="0"/>
                <a:ea typeface="Calibri" pitchFamily="34" charset="-122"/>
                <a:cs typeface="Calibri" pitchFamily="34" charset="-120"/>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a:t>
            </a:r>
            <a:pPr algn="l" indent="0" marL="0">
              <a:buNone/>
            </a:pPr>
            <a:r>
              <a:rPr lang="ar-SA" altLang="en-US" sz="1300" dirty="0">
                <a:solidFill>
                  <a:srgbClr val="8A6D1E"/>
                </a:solidFill>
                <a:latin typeface="Amiri" pitchFamily="34" charset="0"/>
                <a:ea typeface="Amiri" pitchFamily="34" charset="-122"/>
                <a:cs typeface="Amiri" pitchFamily="34" charset="-120"/>
              </a:rPr>
              <a:t>زَادَ / يَزِيدُ</a:t>
            </a:r>
            <a:pPr algn="l" indent="0" marL="0">
              <a:buNone/>
            </a:pPr>
            <a:r>
              <a:rPr lang="en-US" sz="1000" i="1" dirty="0">
                <a:solidFill>
                  <a:srgbClr val="8A6D1E"/>
                </a:solidFill>
                <a:latin typeface="Calibri" pitchFamily="34" charset="0"/>
                <a:ea typeface="Calibri" pitchFamily="34" charset="-122"/>
                <a:cs typeface="Calibri" pitchFamily="34" charset="-120"/>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الحَدِيدِ.</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يَحْتَوِي عَلَى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غَنِيٌّ بِـ</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غَنِيٌّ بِـ</a:t>
            </a:r>
            <a:pPr algn="l" indent="0" marL="0">
              <a:buNone/>
            </a:pPr>
            <a:r>
              <a:rPr lang="en-US" sz="1050" dirty="0">
                <a:solidFill>
                  <a:srgbClr val="5A6472"/>
                </a:solidFill>
                <a:latin typeface="Calibri" pitchFamily="34" charset="0"/>
                <a:ea typeface="Calibri" pitchFamily="34" charset="-122"/>
                <a:cs typeface="Calibri" pitchFamily="34" charset="-120"/>
              </a:rPr>
              <a:t> + genitive · </a:t>
            </a:r>
            <a:pPr algn="l" indent="0" marL="0">
              <a:buNone/>
            </a:pPr>
            <a:r>
              <a:rPr lang="ar-SA" altLang="en-US" sz="1350" dirty="0">
                <a:solidFill>
                  <a:srgbClr val="5A6472"/>
                </a:solidFill>
                <a:latin typeface="Amiri" pitchFamily="34" charset="0"/>
                <a:ea typeface="Amiri" pitchFamily="34" charset="-122"/>
                <a:cs typeface="Amiri" pitchFamily="34" charset="-120"/>
              </a:rPr>
              <a:t>يَفْتَقِرُ إِلَى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يُوصَى بِـ</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تَحْتَوِي الوَجْبَةُ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السَّلَطَةُ غَنِيَّةٌ </a:t>
            </a:r>
            <a:pPr rtl="1" algn="ctr" indent="0" marL="0">
              <a:buNone/>
            </a:pPr>
            <a:r>
              <a:rPr lang="ar-SA" altLang="en-US" sz="2300" b="1" dirty="0">
                <a:solidFill>
                  <a:srgbClr val="0E7C86"/>
                </a:solidFill>
                <a:latin typeface="Amiri" pitchFamily="34" charset="0"/>
                <a:ea typeface="Amiri" pitchFamily="34" charset="-122"/>
                <a:cs typeface="Amiri" pitchFamily="34" charset="-120"/>
              </a:rPr>
              <a:t>بِـ</a:t>
            </a:r>
            <a:pPr rtl="1" algn="ctr" indent="0" marL="0">
              <a:buNone/>
            </a:pPr>
            <a:r>
              <a:rPr lang="ar-SA" altLang="en-US" sz="2300" b="1" dirty="0">
                <a:solidFill>
                  <a:srgbClr val="1B3B6F"/>
                </a:solidFill>
                <a:latin typeface="Amiri" pitchFamily="34" charset="0"/>
                <a:ea typeface="Amiri" pitchFamily="34" charset="-122"/>
                <a:cs typeface="Amiri" pitchFamily="34" charset="-120"/>
              </a:rPr>
              <a:t>الأَلْيَافِ.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تَفْتَقِرُ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الفَاكِهَةِ، فَ</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يُوصَى بِـ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إِضَافَةِ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أَرُزًّا وَدَجَاجًا وَسَلَطَةً. تَحْتَوِي الوَجْبَةُ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وَكَرْبُوهِيدْرَاتٍ، وَالسَّلَطَةُ غَنِيَّةٌ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الأَلْيَافِ وَالفِيتَامِينَاتِ. وَلٰكِنَّهَا تَفْتَقِرُ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الفَاكِهَةِ، لِذٰلِكَ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يُوصَى 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إِضَافَةِ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contains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Vegetables and fruit are rich in vitamins.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 daily.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head</a:t>
            </a:r>
            <a:pPr indent="0" marL="0">
              <a:buNone/>
            </a:pPr>
            <a:r>
              <a:rPr lang="en-US" sz="1000" i="1" dirty="0">
                <a:solidFill>
                  <a:srgbClr val="5A6472"/>
                </a:solidFill>
                <a:latin typeface="Calibri" pitchFamily="34" charset="0"/>
                <a:ea typeface="Calibri" pitchFamily="34" charset="-122"/>
                <a:cs typeface="Calibri" pitchFamily="34" charset="-120"/>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eye</a:t>
            </a:r>
            <a:pPr indent="0" marL="0">
              <a:buNone/>
            </a:pPr>
            <a:r>
              <a:rPr lang="en-US" sz="1000" i="1" dirty="0">
                <a:solidFill>
                  <a:srgbClr val="5A6472"/>
                </a:solidFill>
                <a:latin typeface="Calibri" pitchFamily="34" charset="0"/>
                <a:ea typeface="Calibri" pitchFamily="34" charset="-122"/>
                <a:cs typeface="Calibri" pitchFamily="34" charset="-120"/>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a:t>
            </a:r>
            <a:pPr indent="0" marL="0">
              <a:buNone/>
            </a:pPr>
            <a:r>
              <a:rPr lang="en-US" sz="1000" i="1" dirty="0">
                <a:solidFill>
                  <a:srgbClr val="5A6472"/>
                </a:solidFill>
                <a:latin typeface="Calibri" pitchFamily="34" charset="0"/>
                <a:ea typeface="Calibri" pitchFamily="34" charset="-122"/>
                <a:cs typeface="Calibri" pitchFamily="34" charset="-120"/>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leg</a:t>
            </a:r>
            <a:pPr indent="0" marL="0">
              <a:buNone/>
            </a:pPr>
            <a:r>
              <a:rPr lang="en-US" sz="1000" i="1" dirty="0">
                <a:solidFill>
                  <a:srgbClr val="5A6472"/>
                </a:solidFill>
                <a:latin typeface="Calibri" pitchFamily="34" charset="0"/>
                <a:ea typeface="Calibri" pitchFamily="34" charset="-122"/>
                <a:cs typeface="Calibri" pitchFamily="34" charset="-120"/>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2026-09-27T12:56:46Z</dcterms:created>
  <dcterms:modified xsi:type="dcterms:W3CDTF">2026-09-27T12:56:46Z</dcterms:modified>
</cp:coreProperties>
</file>