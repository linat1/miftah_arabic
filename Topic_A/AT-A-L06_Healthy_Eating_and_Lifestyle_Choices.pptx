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AT-A-L06 — Healthy Eating and Lifestyle Choices. Website: Advanced Topics › Topic A (Everyday Activities) › Lesson 6.
The website builds this lesson on the P1-L01 lesson engine, with the Topic focus “Discuss nutrition, balanced habits, physical activity, sleep and practical lifestyle advice.” (grammar: Nutrition vocabulary; modal advice; reasons and healthy habits; skills: Reading · Speaking · Writing) and the application challenge “Healthy-choice sort”.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6 (AT-A-L06), lesson engine Pathways › Progression › P1 › AT-A-L06.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 engine is a Progression (B1+) lesson in academic register. For this class: Core = “X is healthy / not healthy because it is rich in … / it contains …” with 6 nutrient words; Develop = all three content structures with the right preposition (يَحْتَوِي عَلَى · غَنِيٌّ بِـ · يَفْتَقِرُ إِلَى); Stretch = the impersonal advice يُوصَى بِـ / يُنْصَحُ بِـ and an effect (يُقَلِّلُ مِنْ).
• The Topic A challenge (healthy-choice sort) is accessible to everyone and is where Core students give practical advice.
• Agreement: plurals of THINGS take a feminine singular adjective (دُهُونٌ مُشْبَعَةٌ) — the same rule students met with food adjectives in AT-A-L04.
• Links: AT-A-L04 food words and AT-A-L05 menu items are the examples. Sensitivity: talk about foods and habits, never about bodies or weight.
• Urdu bridge: غذا، صحت، متوازن، معدنیات، پروٹین / وٹامن (English loans in both languages).
• TEACHER-WRITTEN ITEMS: on the website this lesson’s patterns, sorter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nutrition words prepared at home at the end of AT-A-L05. Questions 3–5 retrieve AT-A-L05 (polite request, price) and AT-A-L04 (feminine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describing word has its own little word after it: contains → ‘alā · rich → bi- · lacks →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غذا، صحت، متوازن and معدنیات come from the same Arabic roots. پروٹین / وٹامن are English loans in both languages — easy wins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(1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(2 of 2)). Hear → Say → See → Use. Transliteration is printed for Core students (cover it for Develop/Stretch).
Nutrient plurals are plurals of THINGS: the adjective is feminine singular — دُهُونٌ مُشْبَعَةٌ، سُعْرَاتٌ حَرَارِيَّةٌ.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(1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(2 of 2)). Hear → Say → See → Use. Transliteration is printed for Core students (cover it for Develop/Stretch).
Learn each describing word WITH its preposition: يَحْتَوِي عَلَى، غَنِيٌّ بِـ، يَفْتَقِرُ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FLEX (Stretch): academic verbs for advice and effects — يُوصَى بِـ is passive: “it is recommended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“يَحْتَوِي عَلَى” and “غَنِيٌّ بِـ and يَفْتَقِرُ إِلَى” and the website structure/preposition table.
Website common error: swapping the prepositions (يَحْتَوِي الحَلِيبُ بِالكَالْسْيُومِ ✗ → عَلَى الكَالْسْيُومِ ✓).
Core: rows 1–2 only (rich in, contains). The noun after the preposition is genitive (-in)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“Non-human plural agreement” (دُهُون، أَلْيَاف، مَعَادِن، سُعْرَات + feminine singular adjective) and “The impersonal recommendation” (يُوصَى بِـ + verbal noun: يُوصَى بِتَنَاوُلِ الخُضَرِ يَوْمِيًّا · يُنْصَحُ بِتَقْلِيلِ المِلْحِ).
The Core card (صِحِّيٌّ / صِحِّيَّةٌ + لِأَنَّهُ / لِأَنَّهَا) is teacher-added so every student has a complete sentence. Topic A grammar for this lesson: “modal advice; reasons and healthy habits” — Develop can also use يَجِبُ أَنْ (website game: يَجِبُ أَنْ نَأْكُلَ خُضْرَوَاتٍ).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content structures, one passive of recommendation, and the agreement rule that governs every nutrient plural in the lesson.”
• يَحْتَوِي عَلَى: Form VIII with a fixed preposition. The noun after it is genitive.
• غَنِيٌّ بِـ and يَفْتَقِرُ إِلَى: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model and writing model (a meal of rice, chicken and salad) simplified to four steps. Think aloud: “which structure? which little word after it? is the subject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find the word “rich in” (غَنِيَّةٌ بِـ) — which card? Other cards for homework: يَجِبُ أَنْ نَأْكُلَ خُضْرَوَاتٍ وَفَوَاكِهَ كَثِيرَةً، التَّوَازُنُ فِي الغِذَاءِ مُهِمٌّ، يَنْبَغِي تَقْلِيلُ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word by the preposition that always follows it.
The sorter categories are the website’s; the title and instruction are teacher-written (missing on the website page). Then: make one sentence with a word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2 and 4. Develop / Stretch: all 5.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“Sort habits into helpful, unhelpful or depends. Give a reason for each decision and turn three statements into practical health advice.”
Habits 5–6 for the chat: المَشْيُ إِلَى المَدْرَسَةِ (walking to school), العَصِيرُ مَعَ الإِفْطَارِ (juice with breakfast). Suggested answers: water H · sleep H · fizzy drinks every day U · walking to school H · fast food D (sometimes is fine; every day is not) · juice D (rich in vitamins but contains sugar). Accept any justified answer. Advice models: يَجِبُ أَنْ نَشْرَبَ مَاءً كَافِيًا · يُوصَى بِتَقْلِيلِ المَشْرُوبَاتِ الغَازِيَّةِ · يُنْصَحُ بِالمَشْيِ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1–3; the Core prompt is teacher-made. Website model continues: A: وَإِلَى مَاذَا تَفْتَقِرُ؟ B: تَفْتَقِرُ إِلَى الخُضَرِ، وَلِذٰلِكَ يُوصَى بِإِضَافَةِ 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تَحْتَوِي … عَلَى بُرُوتِينٍ · غَنِيَّةٌ بِالأَلْيَافِ · تَفْتَقِرُ إِلَى الفَوَاكِهِ · يُوصَى بِإِضَافَةِ … Core: find just the first two.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(AT-A-L07 · Body Parts and Health Problems) will spend class time USING this language, so students prepare it tonight — short, simple, easy to access (school guidance: “Simple, Short, Interesting, Relevant, Easy to access”). The five words come from the website AT-A-L07 vocabulary (the AT-A-L07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ea typeface="Cambria" pitchFamily="34" charset="-122"/>
                <a:cs typeface="Cambria" pitchFamily="34" charset="-120"/>
              </a:rPr>
              <a:t>Healthy Eating and Lifestyle Choices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الْأَكْلُ الصِّحِّيُّ وَاخْتِيَارَاتُ نَمَطِ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nutrition, balanced habits, physical activity, sleep and practical lifestyle advice.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AT-A-L06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Nutrients, then contains / rich in / lacks, then advice.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prepositions,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مُتَوَازِنٌ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processed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order (to a woman).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مَاءً.</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الحَسَاءِ؟</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فَضْلُكَ</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coffee is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القَهْوَةُ مُرُّونَ.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vitamins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مُتَوَازِنٌ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balanced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healthy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processed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order (to a woman).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مَاءً، مِنْ فَضْلِكَ.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مَاءً.</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مَاءً، مِنْ فَضْلِكِ.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-ki to a woman.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الحَسَاءِ؟</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فَضْلُكَ</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سِعْرُ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price question.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coffee is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القَهْوَةُ مُرَّةٌ.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القَهْوَةُ مُرُّونَ.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feminine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describing word has its own little word after it: contains → ‘alā · rich → bi- · lacks → ilā.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يَحْتَوِي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غَنِيٌّ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يَفْتَقِرُ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nutritional content using </a:t>
            </a:r>
            <a:pPr algn="l" indent="0" marL="0">
              <a:buNone/>
            </a:pPr>
            <a:r>
              <a:rPr lang="ar-SA" altLang="en-US" sz="1700" dirty="0">
                <a:solidFill>
                  <a:srgbClr val="1F2A37"/>
                </a:solidFill>
                <a:latin typeface="Amiri" pitchFamily="34" charset="0"/>
                <a:ea typeface="Amiri" pitchFamily="34" charset="-122"/>
                <a:cs typeface="Amiri" pitchFamily="34" charset="-120"/>
              </a:rPr>
              <a:t>يَحْتَوِي عَلَى، غَنِيٌّ بِـ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يَفْتَقِرُ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passive </a:t>
            </a:r>
            <a:pPr algn="l" indent="0" marL="0">
              <a:buNone/>
            </a:pPr>
            <a:r>
              <a:rPr lang="ar-SA" altLang="en-US" sz="1700" dirty="0">
                <a:solidFill>
                  <a:srgbClr val="1F2A37"/>
                </a:solidFill>
                <a:latin typeface="Amiri" pitchFamily="34" charset="0"/>
                <a:ea typeface="Amiri" pitchFamily="34" charset="-122"/>
                <a:cs typeface="Amiri" pitchFamily="34" charset="-120"/>
              </a:rPr>
              <a:t>يُوصَى بِـ</a:t>
            </a:r>
            <a:pPr algn="l" indent="0" marL="0">
              <a:buNone/>
            </a:pPr>
            <a:r>
              <a:rPr lang="en-US" sz="1300" dirty="0">
                <a:solidFill>
                  <a:srgbClr val="1F2A37"/>
                </a:solidFill>
                <a:latin typeface="Calibri" pitchFamily="34" charset="0"/>
                <a:ea typeface="Calibri" pitchFamily="34" charset="-122"/>
                <a:cs typeface="Calibri" pitchFamily="34" charset="-120"/>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 food is healthy because it is rich in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contains / rich in / lacks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a plural of things agree (duhūn mushba‘a).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impersonal advice: yūṣā bi-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analyse a whole meal and its effect.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nutrition words from the website in 3 groups. Core: 6 nutrient words + healthy / balanced. Academic verbs (group 3) are FLEX for Stretch.</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‎غذا‎ </a:t>
            </a:r>
            <a:pPr indent="0" marL="0">
              <a:buNone/>
            </a:pPr>
            <a:r>
              <a:rPr lang="en-US" sz="950" b="1" dirty="0">
                <a:solidFill>
                  <a:srgbClr val="2E8B57"/>
                </a:solidFill>
                <a:latin typeface="Calibri" pitchFamily="34" charset="0"/>
                <a:ea typeface="Calibri" pitchFamily="34" charset="-122"/>
                <a:cs typeface="Calibri" pitchFamily="34" charset="-120"/>
              </a:rPr>
              <a:t> ghidhā’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ṣiḥḥī · healthy (Urdu: health)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‎متوازن‎ </a:t>
            </a:r>
            <a:pPr indent="0" marL="0">
              <a:buNone/>
            </a:pPr>
            <a:r>
              <a:rPr lang="en-US" sz="950" b="1" dirty="0">
                <a:solidFill>
                  <a:srgbClr val="2E8B57"/>
                </a:solidFill>
                <a:latin typeface="Calibri" pitchFamily="34" charset="0"/>
                <a:ea typeface="Calibri" pitchFamily="34" charset="-122"/>
                <a:cs typeface="Calibri" pitchFamily="34" charset="-120"/>
              </a:rPr>
              <a:t> mutawāzin · balanced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مَعَادِنُ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‎معدنیات‎ </a:t>
            </a:r>
            <a:pPr indent="0" marL="0">
              <a:buNone/>
            </a:pPr>
            <a:r>
              <a:rPr lang="en-US" sz="950" b="1" dirty="0">
                <a:solidFill>
                  <a:srgbClr val="2E8B57"/>
                </a:solidFill>
                <a:latin typeface="Calibri" pitchFamily="34" charset="0"/>
                <a:ea typeface="Calibri" pitchFamily="34" charset="-122"/>
                <a:cs typeface="Calibri" pitchFamily="34" charset="-120"/>
              </a:rPr>
              <a:t> ma‘ādin · minerals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بُرُوتِينٌ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‎پروٹین‎ </a:t>
            </a:r>
            <a:pPr indent="0" marL="0">
              <a:buNone/>
            </a:pPr>
            <a:r>
              <a:rPr lang="en-US" sz="950" b="1" dirty="0">
                <a:solidFill>
                  <a:srgbClr val="2E8B57"/>
                </a:solidFill>
                <a:latin typeface="Calibri" pitchFamily="34" charset="0"/>
                <a:ea typeface="Calibri" pitchFamily="34" charset="-122"/>
                <a:cs typeface="Calibri" pitchFamily="34" charset="-120"/>
              </a:rPr>
              <a:t> brūtīn · protein (loanword)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carbohydrates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44" name="Text 41"/>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دُهْنٌ</a:t>
            </a:r>
            <a:endParaRPr lang="ar-SA" sz="135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دُهُونٌ</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مُشْبَعَةٌ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mush-ba-ʿa-tun</a:t>
            </a:r>
            <a:endParaRPr lang="en-US" sz="1350" dirty="0"/>
          </a:p>
        </p:txBody>
      </p:sp>
      <p:sp>
        <p:nvSpPr>
          <p:cNvPr id="53" name="Text 5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0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غَيْرُ مُشْبَعَةٍ</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ghay-ru mush-ba-ʿa-tin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a:t>
            </a:r>
            <a:pPr algn="l" indent="0" marL="0">
              <a:buNone/>
            </a:pPr>
            <a:r>
              <a:rPr lang="en-US" sz="1000" i="1" dirty="0">
                <a:solidFill>
                  <a:srgbClr val="8A6D1E"/>
                </a:solidFill>
                <a:latin typeface="Calibri" pitchFamily="34" charset="0"/>
                <a:ea typeface="Calibri" pitchFamily="34" charset="-122"/>
                <a:cs typeface="Calibri" pitchFamily="34" charset="-120"/>
              </a:rPr>
              <a:t> is followed by a genitive.</a:t>
            </a:r>
            <a:endParaRPr lang="en-US" sz="10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fibre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al-yā-fun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لِيفٌ</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أَلْيَافٌ</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3" name="Shape 3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فِيتَامِينَاتٌ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vitamins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fī-tā-mī-nā-tun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فِيتَامِينٌ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فِيتَامِينَاتٌ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8" name="Shape 45"/>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sing.</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مَعَادِنُ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minerals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ma-ʿā-di-nu</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sing.</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مَعْدِنٌ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مَعَادِنُ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سُعْرَاتٌ حَرَارِيَّةٌ</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suʿ-rā-tun ḥa-rā-riy-ya-tun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طَاقَةٍ</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energy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ṭā-qa-tin</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يَحْتَوِي عَلَى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yaḥ-ta-wī ʿa-lā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fixed with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6" name="Shape 2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32" name="Shape 2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34" name="Text 3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غَنِيَّةٌ بِـ</a:t>
            </a:r>
            <a:endParaRPr lang="ar-SA" sz="1350" dirty="0"/>
          </a:p>
        </p:txBody>
      </p:sp>
      <p:sp>
        <p:nvSpPr>
          <p:cNvPr id="35" name="Shape 3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7" name="Text 3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غَنِيَّةٌ بِـ</a:t>
            </a:r>
            <a:endParaRPr lang="ar-SA" sz="1500" dirty="0"/>
          </a:p>
        </p:txBody>
      </p:sp>
      <p:sp>
        <p:nvSpPr>
          <p:cNvPr id="38" name="Shape 3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0" name="Text 3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 بِـ</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يَفْتَقِرُ إِلَى</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yaf-ta-qi-ru i-lā</a:t>
            </a:r>
            <a:endParaRPr lang="en-US" sz="1350" dirty="0"/>
          </a:p>
        </p:txBody>
      </p:sp>
      <p:sp>
        <p:nvSpPr>
          <p:cNvPr id="46" name="Text 4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 fixed with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مُتَوَازِنٌ / مُتَوَازِنَةٌ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mu-ta-wā-zi-nun / mu-ta-wā-zi-na-tun</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مُتَوَازِنُونَ</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مُتَوَازِنَةٌ</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مُتَوَازِنٌ</a:t>
            </a:r>
            <a:endParaRPr lang="ar-SA" sz="15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8" name="Shape 6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مُعَالَجٌ / مُعَالَجَةٌ</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processed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mu-ʿā-la-jun / mu-ʿā-la-ja-tun</a:t>
            </a:r>
            <a:endParaRPr lang="en-US" sz="1350" dirty="0"/>
          </a:p>
        </p:txBody>
      </p:sp>
      <p:sp>
        <p:nvSpPr>
          <p:cNvPr id="72" name="Shape 6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74" name="Text 7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مُعَالَجَةٌ</a:t>
            </a:r>
            <a:endParaRPr lang="ar-SA" sz="1350" dirty="0"/>
          </a:p>
        </p:txBody>
      </p:sp>
      <p:sp>
        <p:nvSpPr>
          <p:cNvPr id="75" name="Shape 7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مُعَالَجَةٌ</a:t>
            </a:r>
            <a:endParaRPr lang="ar-SA" sz="1500" dirty="0"/>
          </a:p>
        </p:txBody>
      </p:sp>
      <p:sp>
        <p:nvSpPr>
          <p:cNvPr id="78" name="Shape 7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عُضْوِيٌّ / عُضْوِيَّةٌ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ʿuḍ-wiy-yun / ʿuḍ-wiy-ya-tun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عُضْوِيَّةٌ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غِذَائِيٌّ مُتَوَازِنٌ</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balanced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ni-ẓā-mun ghi-dhā-ʾiy-yun mu-ta-wā-zi-nun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9" name="Shape 36"/>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يَوْمِيَّةٌ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daily portion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yaw-miy-ya-tun</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الهَرَمُ الغِذَائِيُّ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food pyramid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al-ha-ra-mu al-ghi-dhā-ʾiy-yu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يُوصَى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recommended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yū-ṣā bi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no doer is named.</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يَسْتَهْلِكُ</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yas-tah-li-ku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X with a direct object.</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a:t>
            </a:r>
            <a:endParaRPr lang="en-US" sz="1350" dirty="0"/>
          </a:p>
        </p:txBody>
      </p:sp>
      <p:sp>
        <p:nvSpPr>
          <p:cNvPr id="40" name="Text 3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 </a:t>
            </a:r>
            <a:pPr algn="l" indent="0" marL="0">
              <a:buNone/>
            </a:pPr>
            <a:r>
              <a:rPr lang="ar-SA" altLang="en-US" sz="1300" dirty="0">
                <a:solidFill>
                  <a:srgbClr val="8A6D1E"/>
                </a:solidFill>
                <a:latin typeface="Amiri" pitchFamily="34" charset="0"/>
                <a:ea typeface="Amiri" pitchFamily="34" charset="-122"/>
                <a:cs typeface="Amiri" pitchFamily="34" charset="-120"/>
              </a:rPr>
              <a:t>زَادَ / يَزِيدُ</a:t>
            </a:r>
            <a:pPr algn="l" indent="0" marL="0">
              <a:buNone/>
            </a:pPr>
            <a:r>
              <a:rPr lang="en-US" sz="1000" i="1" dirty="0">
                <a:solidFill>
                  <a:srgbClr val="8A6D1E"/>
                </a:solidFill>
                <a:latin typeface="Calibri" pitchFamily="34" charset="0"/>
                <a:ea typeface="Calibri" pitchFamily="34" charset="-122"/>
                <a:cs typeface="Calibri" pitchFamily="34" charset="-120"/>
              </a:rPr>
              <a:t>, hollow.</a:t>
            </a:r>
            <a:endParaRPr lang="en-US" sz="10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yu-sab-bi-bu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with a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6" name="Shape 2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يُنْصَحُ بِـ</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advised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yun-ṣa-ḥu bi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8" name="Shape 35"/>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التَّغْذِيَةُ</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nutrition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at-tagh-dhi-ya-tu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WAYS TO DESCRIBE CONTENT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769010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Preposition</a:t>
            </a:r>
            <a:endParaRPr lang="en-US" sz="1100" dirty="0"/>
          </a:p>
        </p:txBody>
      </p:sp>
      <p:sp>
        <p:nvSpPr>
          <p:cNvPr id="18" name="Text 15"/>
          <p:cNvSpPr txBox="1"/>
          <p:nvPr/>
        </p:nvSpPr>
        <p:spPr>
          <a:xfrm>
            <a:off x="31181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غَنِيٌّ / غَنِيَّةٌ</a:t>
            </a:r>
            <a:endParaRPr lang="ar-SA" sz="2400" dirty="0"/>
          </a:p>
        </p:txBody>
      </p:sp>
      <p:sp>
        <p:nvSpPr>
          <p:cNvPr id="22" name="Text 19"/>
          <p:cNvSpPr txBox="1"/>
          <p:nvPr/>
        </p:nvSpPr>
        <p:spPr>
          <a:xfrm>
            <a:off x="7708392" y="2267712"/>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بِـ</a:t>
            </a:r>
            <a:endParaRPr lang="ar-SA" sz="2400" dirty="0"/>
          </a:p>
        </p:txBody>
      </p:sp>
      <p:sp>
        <p:nvSpPr>
          <p:cNvPr id="23" name="Text 20"/>
          <p:cNvSpPr txBox="1"/>
          <p:nvPr/>
        </p:nvSpPr>
        <p:spPr>
          <a:xfrm>
            <a:off x="3136392" y="2267712"/>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التَّمْرُ 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بِـ</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الحَدِيدِ.</a:t>
            </a:r>
            <a:endParaRPr lang="ar-SA" sz="22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rich in — dates are rich in iron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يَحْتَوِي / تَحْتَوِي</a:t>
            </a:r>
            <a:endParaRPr lang="ar-SA" sz="2400" dirty="0"/>
          </a:p>
        </p:txBody>
      </p:sp>
      <p:sp>
        <p:nvSpPr>
          <p:cNvPr id="29" name="Text 26"/>
          <p:cNvSpPr txBox="1"/>
          <p:nvPr/>
        </p:nvSpPr>
        <p:spPr>
          <a:xfrm>
            <a:off x="7708392" y="3054096"/>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30" name="Text 27"/>
          <p:cNvSpPr txBox="1"/>
          <p:nvPr/>
        </p:nvSpPr>
        <p:spPr>
          <a:xfrm>
            <a:off x="3136392" y="3054096"/>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يَحْتَوِي السَّمَكُ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بُرُوتِينٍ.</a:t>
            </a:r>
            <a:endParaRPr lang="ar-SA" sz="22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 — fish contains protein</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يَفْتَقِرُ / تَفْتَقِرُ</a:t>
            </a:r>
            <a:endParaRPr lang="ar-SA" sz="2400" dirty="0"/>
          </a:p>
        </p:txBody>
      </p:sp>
      <p:sp>
        <p:nvSpPr>
          <p:cNvPr id="36" name="Text 33"/>
          <p:cNvSpPr txBox="1"/>
          <p:nvPr/>
        </p:nvSpPr>
        <p:spPr>
          <a:xfrm>
            <a:off x="7708392" y="3840480"/>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إِلَى</a:t>
            </a:r>
            <a:endParaRPr lang="ar-SA" sz="2400" dirty="0"/>
          </a:p>
        </p:txBody>
      </p:sp>
      <p:sp>
        <p:nvSpPr>
          <p:cNvPr id="37" name="Text 34"/>
          <p:cNvSpPr txBox="1"/>
          <p:nvPr/>
        </p:nvSpPr>
        <p:spPr>
          <a:xfrm>
            <a:off x="3136392" y="3840480"/>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الطَّعَامُ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 — the food lacks fibre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يُقَلِّلُ</a:t>
            </a:r>
            <a:endParaRPr lang="ar-SA" sz="2400" dirty="0"/>
          </a:p>
        </p:txBody>
      </p:sp>
      <p:sp>
        <p:nvSpPr>
          <p:cNvPr id="41" name="Text 38"/>
          <p:cNvSpPr txBox="1"/>
          <p:nvPr/>
        </p:nvSpPr>
        <p:spPr>
          <a:xfrm>
            <a:off x="7708392" y="4626864"/>
            <a:ext cx="15544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مِنْ</a:t>
            </a:r>
            <a:endParaRPr lang="ar-SA" sz="2400" dirty="0"/>
          </a:p>
        </p:txBody>
      </p:sp>
      <p:sp>
        <p:nvSpPr>
          <p:cNvPr id="42" name="Text 39"/>
          <p:cNvSpPr txBox="1"/>
          <p:nvPr/>
        </p:nvSpPr>
        <p:spPr>
          <a:xfrm>
            <a:off x="3136392" y="4626864"/>
            <a:ext cx="43891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يُقَلِّلُ </a:t>
            </a:r>
            <a:pPr rtl="1" algn="ctr" indent="0" marL="0">
              <a:buNone/>
            </a:pPr>
            <a:r>
              <a:rPr lang="ar-SA" altLang="en-US" sz="2200" b="1" dirty="0">
                <a:solidFill>
                  <a:srgbClr val="0E7C86"/>
                </a:solidFill>
                <a:latin typeface="Amiri" pitchFamily="34" charset="0"/>
                <a:ea typeface="Amiri" pitchFamily="34" charset="-122"/>
                <a:cs typeface="Amiri" pitchFamily="34" charset="-120"/>
              </a:rPr>
              <a:t>مِنَ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الخَطَرِ.</a:t>
            </a:r>
            <a:endParaRPr lang="ar-SA" sz="22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reduces — it reduces the risk</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food → feminine verb or adjective: as-salaṭa ghaniyya bi- … · taḥtawī ‘alā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2 · AGREEMENT AND ADVICE (WEBSITE RULES) · DEVELOP / STRETCH</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Plurals of things,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دُهُونٌ مُشْبَعَةٌ · يُوصَى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HEALTHY?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صِحِّيٌّ / صِحِّيَّةٌ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السَّلَطَةُ صِحِّيَّةٌ لِأَنَّهَا غَنِيَّةٌ بِالفِيتَامِينَاتِ.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Salad is healthy because it is rich in vitamins.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Salad is feminine → -iyya.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THINGS PL.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things → f. sing.</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دُهُونٌ مُشْبَعَةٌ · مَعَادِنُ مُهِمَّةٌ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saturated fats · important minerals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-ūna: that is for people.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ADVICE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يُوصَى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يُوصَى بِتَقْلِيلِ السُّكَّرِ.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recommended to reduce sugar.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doer named: passive.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 plural of things is not human.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دُهُونٌ مُشْبَعُونَ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وَصْفُ المُحْتَوَى الغِذَائِيِّ بِأُسْلُوبٍ عِلْمِيٍّ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عَلَى</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يَحْتَوِي عَلَى</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غَنِيٌّ بِـ</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يَفْتَقِرُ إِلَى</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غَنِيٌّ بِـ</a:t>
            </a:r>
            <a:pPr algn="l" indent="0" marL="0">
              <a:buNone/>
            </a:pPr>
            <a:r>
              <a:rPr lang="en-US" sz="1050" dirty="0">
                <a:solidFill>
                  <a:srgbClr val="5A6472"/>
                </a:solidFill>
                <a:latin typeface="Calibri" pitchFamily="34" charset="0"/>
                <a:ea typeface="Calibri" pitchFamily="34" charset="-122"/>
                <a:cs typeface="Calibri" pitchFamily="34" charset="-120"/>
              </a:rPr>
              <a:t> + genitive · </a:t>
            </a:r>
            <a:pPr algn="l" indent="0" marL="0">
              <a:buNone/>
            </a:pPr>
            <a:r>
              <a:rPr lang="ar-SA" altLang="en-US" sz="1350" dirty="0">
                <a:solidFill>
                  <a:srgbClr val="5A6472"/>
                </a:solidFill>
                <a:latin typeface="Amiri" pitchFamily="34" charset="0"/>
                <a:ea typeface="Amiri" pitchFamily="34" charset="-122"/>
                <a:cs typeface="Amiri" pitchFamily="34" charset="-120"/>
              </a:rPr>
              <a:t>يَفْتَقِرُ إِلَى</a:t>
            </a:r>
            <a:pPr algn="l" indent="0" marL="0">
              <a:buNone/>
            </a:pPr>
            <a:r>
              <a:rPr lang="en-US" sz="1050" dirty="0">
                <a:solidFill>
                  <a:srgbClr val="5A6472"/>
                </a:solidFill>
                <a:latin typeface="Calibri" pitchFamily="34" charset="0"/>
                <a:ea typeface="Calibri" pitchFamily="34" charset="-122"/>
                <a:cs typeface="Calibri" pitchFamily="34" charset="-120"/>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يُوصَى بِـ</a:t>
            </a:r>
            <a:pPr algn="l" indent="0" marL="0">
              <a:buNone/>
            </a:pPr>
            <a:r>
              <a:rPr lang="en-US" sz="1050" dirty="0">
                <a:solidFill>
                  <a:srgbClr val="5A6472"/>
                </a:solidFill>
                <a:latin typeface="Calibri" pitchFamily="34" charset="0"/>
                <a:ea typeface="Calibri" pitchFamily="34" charset="-122"/>
                <a:cs typeface="Calibri" pitchFamily="34" charset="-120"/>
              </a:rPr>
              <a:t>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meal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وَجْبَتِي: أَرُزٌّ وَدَجَاجٌ وَسَلَطَةٌ.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AT-A-L04 food words.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Contains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تَحْتَوِي الوَجْبَةُ </a:t>
            </a:r>
            <a:pPr rtl="1" algn="ctr" indent="0" marL="0">
              <a:lnSpc>
                <a:spcPct val="120000"/>
              </a:lnSpc>
              <a:buNone/>
            </a:pPr>
            <a:r>
              <a:rPr lang="ar-SA" altLang="en-US" sz="20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بُرُوتِينٍ.</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Meal is f. → taḥtawī.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Rich 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السَّلَطَةُ غَنِيَّةٌ </a:t>
            </a:r>
            <a:pPr rtl="1" algn="ctr" indent="0" marL="0">
              <a:buNone/>
            </a:pPr>
            <a:r>
              <a:rPr lang="ar-SA" altLang="en-US" sz="2300" b="1" dirty="0">
                <a:solidFill>
                  <a:srgbClr val="0E7C86"/>
                </a:solidFill>
                <a:latin typeface="Amiri" pitchFamily="34" charset="0"/>
                <a:ea typeface="Amiri" pitchFamily="34" charset="-122"/>
                <a:cs typeface="Amiri" pitchFamily="34" charset="-120"/>
              </a:rPr>
              <a:t>بِـ</a:t>
            </a:r>
            <a:pPr rtl="1" algn="ctr" indent="0" marL="0">
              <a:buNone/>
            </a:pPr>
            <a:r>
              <a:rPr lang="ar-SA" altLang="en-US" sz="2300" b="1" dirty="0">
                <a:solidFill>
                  <a:srgbClr val="1B3B6F"/>
                </a:solidFill>
                <a:latin typeface="Amiri" pitchFamily="34" charset="0"/>
                <a:ea typeface="Amiri" pitchFamily="34" charset="-122"/>
                <a:cs typeface="Amiri" pitchFamily="34" charset="-120"/>
              </a:rPr>
              <a:t>الأَلْيَافِ.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Salad f. → ghaniyya.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Lacks + advice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تَفْتَقِرُ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الفَاكِهَةِ، فَ</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يُوصَى بِـ</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إِضَافَةِ تُفَّاحَةٍ.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Gap → advice.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تَنَاوَلْتُ أَرُزًّا وَدَجَاجًا وَسَلَطَةً. تَحْتَوِي الوَجْبَةُ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بُرُوتِينٍ وَكَرْبُوهِيدْرَاتٍ، وَالسَّلَطَةُ غَنِيَّةٌ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الأَلْيَافِ وَالفِيتَامِينَاتِ. وَلٰكِنَّهَا تَفْتَقِرُ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الفَاكِهَةِ، لِذٰلِكَ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يُوصَى بِـ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إِضَافَةِ تُفَّاحَةٍ.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ate rice, chicken and salad. The meal contains protein and carbohydrates, and the salad is rich in fibre and vitamins. But it lacks fruit, so it is recommended to add an apple.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يَحْتَوِي السَّمَكُ عَلَى بُرُوتِينٍ.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Fish contains protein.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contains + ‘alā</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الخُضَرُ وَالفَوَاكِهُ غَنِيَّةٌ بِالفِيتَامِينَاتِ.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Vegetables and fruit are rich in vitamins.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rich + bi-</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saturated fats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of things → feminine singular adjective.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يُوصَى بِتَنَاوُلِ الخُضَرِ يَوْمِيًّا.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recommended to eat vegetables daily.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Advice without naming who gives 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Healthy or not?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apple, water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cake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water,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الوَجْبَةُ غَنِيَّةٌ بِالسُّكَّرِ وَالدُّهُونِ.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شُرْبُ مَاءٍ كَافٍ.</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وَجْبَةٌ صِحِّيَّةٌ وَمُتَوَازِنَةٌ.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apple, water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وَجْبَةٌ صِحِّيَّةٌ وَمُتَوَازِنَةٌ.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healthy, balanced meal.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cake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هٰذِهِ الوَجْبَةُ غَنِيَّةٌ بِالسُّكَّرِ وَالدُّهُونِ.</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meal is rich in sugar and fat.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water,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شُرْبُ مَاءٍ كَافٍ.</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drink enough water.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little word follows?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أَوْ مِنْ</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أَوْ مِنْ</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t>
            </a:r>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plurals take feminine singular adjectives, and </a:t>
            </a:r>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Contains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Fats are things: which adjective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Lacks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يَحْتَوِي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يَفْتَقِرُ</a:t>
            </a:r>
            <a:pPr algn="l" indent="0" marL="0">
              <a:buNone/>
            </a:pPr>
            <a:r>
              <a:rPr lang="en-US" sz="1150" b="1" dirty="0">
                <a:solidFill>
                  <a:srgbClr val="1B3B6F"/>
                </a:solidFill>
                <a:latin typeface="Calibri" pitchFamily="34" charset="0"/>
                <a:ea typeface="Calibri" pitchFamily="34" charset="-122"/>
                <a:cs typeface="Calibri" pitchFamily="34" charset="-120"/>
              </a:rPr>
              <a:t> needs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غَنِيَّةٌ بِالفِيتَامِينَاتِ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 حِصَصٍ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processed foods, they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غَنِيَّةٌ بِالفِيتَامِينَاتِ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 حِصَصٍ</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Healthy-choice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Healthy-choice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habits into helpful, unhelpful or depends. Give a reason for each decision and turn three statements into practical health advice.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shows the 4 habits on the right, then types 2 more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Everyone types H (helpful), U (unhelpful) or D (depends) in the chat.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students justify one choice each with “because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Turn three habits into advice: yajibu an … / yūṣā bi-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all six. Say one: “… ṣiḥḥī li’annahu …” (… is healthy because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two decisions with contains / rich in, and give one piece of advice.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a “depends” habit and give advice with yūṣā bi- plus an effect.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شُرْبُ المَاءِ الكَافِي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drinking enough water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النَّوْمُ ثَمَانِيَ سَاعَاتٍ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sleeping eight hours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المَشْرُوبَاتُ الغَازِيَّةُ كُلَّ يَوْمٍ</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fizzy drinks every 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الوَجَبَاتُ السَّرِيعَةُ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fast food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meal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وَجْبَتُكَ صِحِّيَّةٌ؟ 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وَجْبَةً تَنَاوَلْتَهَا. عَلَى مَاذَا تَحْتَوِي؟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هِيَ غَنِيَّةٌ؟ وَإِلَى مَاذَا تَفْتَقِرُ؟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تُوصِي لِتَحْسِينِهَا؟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نَعَمْ، وَجْبَتِي صِحِّيَّةٌ لِأَنَّهَا غَنِيَّةٌ بِـ ___ .</a:t>
            </a:r>
            <a:endParaRPr lang="ar-SA" sz="15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تَحْتَوِي عَلَى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غَنِيَّةٌ بِـ ___ ، وَلٰكِنَّهَا تَفْتَقِرُ إِلَى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يُوصَى بِـ ___ لِأَنَّ ذٰلِكَ يُقَلِّلُ مِنْ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وَجْبَةً تَنَاوَلْتَهَا. عَلَى مَاذَا تَحْتَوِي؟</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meal you ate. What does it contain?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تَحْتَوِي عَلَى بُرُوتِينٍ وَكَرْبُوهِيدْرَاتٍ، وَهِيَ غَنِيَّةٌ بِالأَلْيَافِ.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contains protein and carbohydrates, and it is rich in fibre.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healthy foods + “rich in …”, one unhealthy food + “contains …”, one piece of advice (yajibu an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Develop: 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Analyse your lunch: contains / rich in / lacks + one agreeing plural (duhūn mushba‘a).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analyse a meal in academic register.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All three structures, an impersonal recommendation (yūṣā bi-) and an effect (yuqallilu min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تَحْتَوِي الوَجْبَةُ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meal contains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غَنِيَّةٌ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rich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وَلٰكِنَّهَا تَفْتَقِرُ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it lacks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تَحْتَوِي الأَطْعِمَةُ المُعَالَجَةُ عَلَى دُهُونٍ مُشْبَعَةٍ.</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Processed foods contain saturated fats.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recommended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صِحِّيٌّ. / ______ صِحِّيَّةٌ.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healthy.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غَنِيٌّ بِالفِيتَامِينَاتِ.</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rich in vitamins.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يَحْتَوِي ______ عَلَى بُرُوتِينٍ.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contains protein.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لَيْسَ صِحِّيًّا لِأَنَّهُ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not healthy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نَأْكُلَ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eat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بُرُوتِينٌ  ·  كَرْبُوهِيدْرَاتٌ  ·  دُهُونٌ  ·  أَلْيَافٌ  ·  فِيتَامِينَاتٌ  ·  مَعَادِنُ  ·  صِحِّيٌّ / صِحِّيَّةٌ  ·  غَنِيٌّ بِـ  ·  يَحْتَوِي عَلَى  ·  يَفْتَقِرُ إِلَى  ·  مُتَوَازِنٌ  ·  يُوصَى بِـ</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impersonal recommendation with </a:t>
            </a:r>
            <a:pPr algn="l" indent="0" marL="0">
              <a:buNone/>
            </a:pPr>
            <a:r>
              <a:rPr lang="ar-SA" altLang="en-US" sz="1550" dirty="0">
                <a:solidFill>
                  <a:srgbClr val="1F2A37"/>
                </a:solidFill>
                <a:latin typeface="Amiri" pitchFamily="34" charset="0"/>
                <a:ea typeface="Amiri" pitchFamily="34" charset="-122"/>
                <a:cs typeface="Amiri" pitchFamily="34" charset="-120"/>
              </a:rPr>
              <a:t>يُوصَى بِـ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يُنْصَحُ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statement of effect using </a:t>
            </a:r>
            <a:pPr algn="l" indent="0" marL="0">
              <a:buNone/>
            </a:pPr>
            <a:r>
              <a:rPr lang="ar-SA" altLang="en-US" sz="1550" dirty="0">
                <a:solidFill>
                  <a:srgbClr val="1F2A37"/>
                </a:solidFill>
                <a:latin typeface="Amiri" pitchFamily="34" charset="0"/>
                <a:ea typeface="Amiri" pitchFamily="34" charset="-122"/>
                <a:cs typeface="Amiri" pitchFamily="34" charset="-120"/>
              </a:rPr>
              <a:t>يُقَلِّلُ مِنْ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يَزِيدُ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بِإِضَافَةِ حِصَّةٍ مِنَ الفَاكِهَةِ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recommended to add a portion of fruit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مِلْحٌ أَكْثَرُ مِمَّا يَنْبَغِي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salt than it should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يُقَلِّلُ مِنْ خَطَرِ ارْتِفَاعِ ضَغْطِ الدَّمِ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reduces the risk of high blood pressure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يَزِيدُ مِنَ القِيمَةِ الغِذَائِيَّةِ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increases the nutritional value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goal is not perfection but a lasting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Yesterday I ate a simple meal of rice, chicken and salad. This meal contains high-quality protein and complex carbohydrates, and it is rich in fibre and some minerals. But it lacks fruit, and it contains more salt than it should. It is recommended to add a portion of fruit and to reduce salt, because that reduces the risk of high blood pressure and increases the nutritional value. The goal is not perfection, but a lasting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“contains” with ‘alā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“rich in” with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“lacks” with ilā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impersonal recommendation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why a food is healthy (rich in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food → feminine adjective (ṣiḥḥiyya).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structure has its own preposition.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Plurals of things →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yūṣā bi- and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deprivation, going without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build muscles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مَصْدَرًا لِلطَّاقَةِ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a source of energy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لِوَظَائِفَ حَيَوِيَّةٍ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vital functions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القِيمَةِ الغِذَائِيَّةِ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nutritional value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المُلْصَقَاتِ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labels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الشِّرَاءِ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buying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عَادَاتٌ 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lasting habits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أَلْيَافٌ</a:t>
            </a:r>
            <a:pPr algn="l" indent="0" marL="0">
              <a:buNone/>
            </a:pPr>
            <a:r>
              <a:rPr lang="en-US" sz="1050" i="1" dirty="0">
                <a:solidFill>
                  <a:srgbClr val="8A6D1E"/>
                </a:solidFill>
                <a:latin typeface="Calibri" pitchFamily="34" charset="0"/>
                <a:ea typeface="Calibri" pitchFamily="34" charset="-122"/>
                <a:cs typeface="Calibri" pitchFamily="34" charset="-120"/>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مُشْبَعَة</a:t>
            </a:r>
            <a:pPr algn="l" indent="0" marL="0">
              <a:buNone/>
            </a:pPr>
            <a:r>
              <a:rPr lang="en-US" sz="1050" i="1" dirty="0">
                <a:solidFill>
                  <a:srgbClr val="8A6D1E"/>
                </a:solidFill>
                <a:latin typeface="Calibri" pitchFamily="34" charset="0"/>
                <a:ea typeface="Calibri" pitchFamily="34" charset="-122"/>
                <a:cs typeface="Calibri" pitchFamily="34" charset="-120"/>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AT-A-L06 · Healthy Eating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AT-A-L07: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AT-A-L07 · Body Parts and Health Problems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head</a:t>
            </a:r>
            <a:pPr indent="0" marL="0">
              <a:buNone/>
            </a:pPr>
            <a:r>
              <a:rPr lang="en-US" sz="1000" i="1" dirty="0">
                <a:solidFill>
                  <a:srgbClr val="5A6472"/>
                </a:solidFill>
                <a:latin typeface="Calibri" pitchFamily="34" charset="0"/>
                <a:ea typeface="Calibri" pitchFamily="34" charset="-122"/>
                <a:cs typeface="Calibri" pitchFamily="34" charset="-120"/>
              </a:rPr>
              <a:t>  pl. رُؤُوسٌ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eye</a:t>
            </a:r>
            <a:pPr indent="0" marL="0">
              <a:buNone/>
            </a:pPr>
            <a:r>
              <a:rPr lang="en-US" sz="1000" i="1" dirty="0">
                <a:solidFill>
                  <a:srgbClr val="5A6472"/>
                </a:solidFill>
                <a:latin typeface="Calibri" pitchFamily="34" charset="0"/>
                <a:ea typeface="Calibri" pitchFamily="34" charset="-122"/>
                <a:cs typeface="Calibri" pitchFamily="34" charset="-120"/>
              </a:rPr>
              <a:t>  two: عَيْنَانِ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hand</a:t>
            </a:r>
            <a:pPr indent="0" marL="0">
              <a:buNone/>
            </a:pPr>
            <a:r>
              <a:rPr lang="en-US" sz="1000" i="1" dirty="0">
                <a:solidFill>
                  <a:srgbClr val="5A6472"/>
                </a:solidFill>
                <a:latin typeface="Calibri" pitchFamily="34" charset="0"/>
                <a:ea typeface="Calibri" pitchFamily="34" charset="-122"/>
                <a:cs typeface="Calibri" pitchFamily="34" charset="-120"/>
              </a:rPr>
              <a:t>  two: يَدَانِ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رِجْلٌ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leg</a:t>
            </a:r>
            <a:pPr indent="0" marL="0">
              <a:buNone/>
            </a:pPr>
            <a:r>
              <a:rPr lang="en-US" sz="1000" i="1" dirty="0">
                <a:solidFill>
                  <a:srgbClr val="5A6472"/>
                </a:solidFill>
                <a:latin typeface="Calibri" pitchFamily="34" charset="0"/>
                <a:ea typeface="Calibri" pitchFamily="34" charset="-122"/>
                <a:cs typeface="Calibri" pitchFamily="34" charset="-120"/>
              </a:rPr>
              <a:t>  two: رِجْلَانِ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stomach</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Point to and name three parts of your body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هٰذَا؟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AT-A-L06: vocabulary tab — learn 6 nutrients; write 3 “rich in”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Analyse your lunch in 6 sentences with contains / rich in / lacks.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analysing a meal in academic register.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AT-A-L07 · Body Parts and Health Problems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أَجْزَاءُ الْجِسْمِ وَالْمُشْكِلَاتُ الصِّحِّيَّةُ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body words — and the “two” form (‘aynāni).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Healthy Eating and Lifestyle Choices</dc:title>
  <dc:subject>PptxGenJS Presentation</dc:subject>
  <dc:creator>Al Madina Online School · Arabic Department</dc:creator>
  <cp:lastModifiedBy>Al Madina Online School · Arabic Department</cp:lastModifiedBy>
  <cp:revision>1</cp:revision>
  <dcterms:created xsi:type="dcterms:W3CDTF">2026-09-27T12:43:33Z</dcterms:created>
  <dcterms:modified xsi:type="dcterms:W3CDTF">2026-09-27T12:43:33Z</dcterms:modified>
</cp:coreProperties>
</file>