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A · AT-A-L06 — Healthy Eating and Lifestyle Choices. Website: Advanced Topics › Topic A (Everyday Activities) › Lesson 6.
The website builds this lesson on the P1-L01 lesson engine, with the Topic focus “Discuss nutrition, balanced habits, physical activity, sleep and practical lifestyle advice.” (grammar: Nutrition vocabulary; modal advice; reasons and healthy habits; skills: Reading · Speaking · Writing) and the application challenge “Healthy-choice sort”.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A › Lesson 6 (AT-A-L06), lesson engine Pathways › Progression › P1 › AT-A-L06. The website lesson “Diet and Nutrition — Reviewing and Extending Food Vocabulary”: vocabulary, grammar rules and quiz, patterns, common mistakes, sorter, listening, reading, speaking prompts and model, writing task and model, differentiation, final check and the lesson mission. Picture match: website visual game “Diet and Nutrition — Reviewing and Extending Food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website engine is a Progression (B1+) lesson in academic register. For this class: Core = “X is healthy / not healthy because it is rich in … / it contains …” with 6 nutrient words; Develop = all three content structures with the right preposition (يَحْتَوِي عَلَى · غَنِيٌّ بِـ · يَفْتَقِرُ إِلَى); Stretch = the impersonal advice يُوصَى بِـ / يُنْصَحُ بِـ and an effect (يُقَلِّلُ مِنْ).
• The Topic A challenge (healthy-choice sort) is accessible to everyone and is where Core students give practical advice.
• Agreement: plurals of THINGS take a feminine singular adjective (دُهُونٌ مُشْبَعَةٌ) — the same rule students met with food adjectives in AT-A-L04.
• Links: AT-A-L04 food words and AT-A-L05 menu items are the examples. Sensitivity: talk about foods and habits, never about bodies or weight.
• Urdu bridge: غذا، صحت، متوازن، معدنیات، پروٹین / وٹامن (English loans in both languages).
• TEACHER-WRITTEN ITEMS: the website AT-A-L06 model patterns have no English translation and the sorter has no title or instruction, so the deck adds teacher-written translations, a title and an instruction (the Arabic and the categories are the website’s).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nutrition words prepared at home at the end of AT-A-L05. Questions 3–5 retrieve AT-A-L05 (polite request, price) and AT-A-L04 (feminine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describing word has its own little word after it: contains → ‘alā · rich → bi- · lacks → ilā.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غذا، صحت، متوازن and معدنیات come from the same Arabic roots. پروٹین / وٹامن are English loans in both languages — easy wins for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Nutrients (website vocabulary (1 of 2)). Hear → Say → See → Use. Transliteration is printed for Core students (cover it for Develop/Stretch).
Nutrient plurals are plurals of THINGS: the adjective is feminine singular — دُهُونٌ مُشْبَعَةٌ، سُعْرَاتٌ حَرَارِيَّةٌ.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Nutrients (website vocabulary (2 of 2)). Hear → Say → See → Use. Transliteration is printed for Core students (cover it for Develop/Stretch).
Nutrient plurals are plurals of THINGS: the adjective is feminine singular — دُهُونٌ مُشْبَعَةٌ، سُعْرَاتٌ حَرَارِيَّةٌ.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content (website vocabulary (1 of 2)). Hear → Say → See → Use. Transliteration is printed for Core students (cover it for Develop/Stretch).
Learn each describing word WITH its preposition: يَحْتَوِي عَلَى، غَنِيٌّ بِـ، يَفْتَقِرُ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content (website vocabulary (2 of 2)). Hear → Say → See → Use. Transliteration is printed for Core students (cover it for Develop/Stretch).
Learn each describing word WITH its preposition: يَحْتَوِي عَلَى، غَنِيٌّ بِـ، يَفْتَقِرُ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Academic verbs (website vocabulary (1 of 2)). Hear → Say → See → Use. Transliteration is printed for Core students (cover it for Develop/Stretch).
FLEX: teach if time allows; otherwise these are on the website vocabulary tab for homework.
FLEX (Stretch): academic verbs for advice and effects — يُوصَى بِـ is passive: “it is recommended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Academic verbs (website vocabulary (2 of 2)). Hear → Say → See → Use. Transliteration is printed for Core students (cover it for Develop/Stretch).
FLEX: teach if time allows; otherwise these are on the website vocabulary tab for homework.
FLEX (Stretch): academic verbs for advice and effects — يُوصَى بِـ is passive: “it is recommended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“يَحْتَوِي عَلَى” and “غَنِيٌّ بِـ and يَفْتَقِرُ إِلَى” and the website structure/preposition table.
Website common error: swapping the prepositions (يَحْتَوِي الحَلِيبُ بِالكَالْسْيُومِ ✗ → عَلَى الكَالْسْيُومِ ✓).
Core: rows 1–2 only (rich in, contains). The noun after the preposition is genitive (-in)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“Non-human plural agreement” (دُهُون، أَلْيَاف، مَعَادِن، سُعْرَات + feminine singular adjective) and “The impersonal recommendation” (يُوصَى بِـ + verbal noun: يُوصَى بِتَنَاوُلِ الخُضَرِ يَوْمِيًّا · يُنْصَحُ بِتَقْلِيلِ المِلْحِ).
The Core card (صِحِّيٌّ / صِحِّيَّةٌ + لِأَنَّهُ / لِأَنَّهَا) is teacher-added so every student has a complete sentence. Topic A grammar for this lesson: “modal advice; reasons and healthy habits” — Develop can also use يَجِبُ أَنْ (website game: يَجِبُ أَنْ نَأْكُلَ خُضْرَوَاتٍ).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content structures, one passive of recommendation, and the agreement rule that governs every nutrient plural in the lesson.”
• يَحْتَوِي عَلَى: Form VIII with a fixed preposition. The noun after it is genitive.
• غَنِيٌّ بِـ and يَفْتَقِرُ إِلَى: غَنِيٌّ agrees with the noun it describes; يَفْتَقِرُ is a verb and takes إِلَى.
• Non-human plural agreement: دُهُون، أَلْيَاف، مَعَادِن and سُعْرَات all take a feminine singular adjective.
• The impersonal recommendation: A passive that gives advice without naming who gives it — standard in health writing.
Website common error: Swapping the three content prepositions, or making a nutrient plural agree as if it were human. دُهُونٌ مُشْبَعَةٌ, never مُشْبَعُونَ.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speaking model and writing model (a meal of rice, chicken and salad) simplified to four steps. Think aloud: “which structure? which little word after it? is the subject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Diet and Nutrition — Reviewing and Extending Food Vocabulary”)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find the word “rich in” (غَنِيَّةٌ بِـ) — which card? Other cards for homework: يَجِبُ أَنْ نَأْكُلَ خُضْرَوَاتٍ وَفَوَاكِهَ كَثِيرَةً، التَّوَازُنُ فِي الغِذَاءِ مُهِمٌّ، يَنْبَغِي تَقْلِيلُ السُّكَّرِ.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Diet and Nutrition — Reviewing and Extending Food Vocabulary”)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find the word “rich in” (غَنِيَّةٌ بِـ) — which card? Other cards for homework: يَجِبُ أَنْ نَأْكُلَ خُضْرَوَاتٍ وَفَوَاكِهَ كَثِيرَةً، التَّوَازُنُ فِي الغِذَاءِ مُهِمٌّ، يَنْبَغِي تَقْلِيلُ السُّكَّرِ.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word by the preposition that always follows it.
The sorter categories are the website’s; the title and instruction are teacher-written (missing on the website page). Then: make one sentence with a word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word by the preposition that always follows it.
The sorter categories are the website’s; the title and instruction are teacher-written (missing on the website page). Then: make one sentence with a word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2 and 4. Develop / Stretch: all 5.
Listen 1: just listen. Listen 2: note answers. Then chat the letters.
Support: after the second listening, show the read-along slide (Arabic + English, line by line) for Core students.
SCRIPT (read aloud):
النِّظَامُ الغِذَائِيُّ المُتَوَازِنُ يَحْتَوِي عَلَى بُرُوتِينٍ وَكَرْبُوهِيدْرَاتٍ وَدُهُونٍ غَيْرِ مُشْبَعَةٍ. الخُضَرُ وَالفَوَاكِهُ غَنِيَّةٌ بِالفِيتَامِينَاتِ وَالمَعَادِنِ، وَتَحْتَوِي عَلَى أَلْيَافٍ تُسَاعِدُ الهَضْمَ. أَمَّا الأَطْعِمَةُ المُعَالَجَةُ فَتَحْتَوِي عَادَةً عَلَى دُهُونٍ مُشْبَعَةٍ وَمِلْحٍ كَثِيرٍ، وَتَفْتَقِرُ إِلَى الأَلْيَافِ. يُوصَى بِتَنَاوُلِ خَمْسِ حِصَصٍ مِنَ الخُضَرِ وَالفَوَاكِهِ يَوْمِيًّا، وَيُنْصَحُ بِتَقْلِيلِ السُّكَّرِ. وَيُقَلِّلُ هٰذَا مِنْ خَطَرِ أَمْرَاضِ القَلْبِ، وَيَزِيدُ مِنَ الطَّاقَةِ اليَوْمِيَّةِ.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 APPLICATION CHALLENGE (3 min — it takes the speaking-rehearsal slot; the website speaking slide after it is FLEX) — from the website Topic page: “Sort habits into helpful, unhelpful or depends. Give a reason for each decision and turn three statements into practical health advice.”
Habits 5–6 for the chat: المَشْيُ إِلَى المَدْرَسَةِ (walking to school), العَصِيرُ مَعَ الإِفْطَارِ (juice with breakfast). Suggested answers: water H · sleep H · fizzy drinks every day U · walking to school H · fast food D (sometimes is fine; every day is not) · juice D (rich in vitamins but contains sugar). Accept any justified answer. Advice models: يَجِبُ أَنْ نَشْرَبَ مَاءً كَافِيًا · يُوصَى بِتَقْلِيلِ المَشْرُوبَاتِ الغَازِيَّةِ · يُنْصَحُ بِالمَشْيِ كُلَّ 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A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وَإِلَى مَاذَا تَفْتَقِرُ؟ (Third structure)
B: تَفْتَقِرُ إِلَى الخُضَرِ، وَلِذٰلِكَ يُوصَى بِإِضَافَةِ سَلَطَةٍ لِتَحْسِينِ التَّوَازُنِ. (Gap plus impersonal recommendation)
Website prompts 1–3; the Core prompt is teacher-made. Website model continues: A: وَإِلَى مَاذَا تَفْتَقِرُ؟ B: تَفْتَقِرُ إِلَى الخُضَرِ، وَلِذٰلِكَ يُوصَى بِإِضَافَةِ سَلَطَةٍ.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sentences naming nutrients with accurate agreement. · Develop — Add the three content structures with their correct prepositions. · Stretch — Add an impersonal recommendation and a statement of effect, keeping academic register throughout.
Website writing task (Stretch): Write eighty to ninety words analysing a meal in academic register. Say what it contains, what it is rich in, what it lacks, and what you would recommend, using the impersonal passive at least once.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تَحْتَوِي … عَلَى بُرُوتِينٍ · غَنِيَّةٌ بِالأَلْيَافِ · تَفْتَقِرُ إِلَى الفَوَاكِهِ · يُوصَى بِإِضَافَةِ … Core: find just the first two.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(AT-A-L07 · Body Parts and Health Problems) will spend class time USING this language, so students prepare it tonight — short, simple, easy to access (school guidance: “Simple, Short, Interesting, Relevant, Easy to access”). The five words come from the website AT-A-L07 vocabulary (the AT-A-L07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Healthy Eating and Lifestyle Choices</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الْأَكْلُ الصِّحِّيُّ وَاخْتِيَارَاتُ نَمَطِ الْحَيَاةِ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Discuss nutrition, balanced habits, physical activity, sleep and practical lifestyle advice.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AT-A-L06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Nutrients, then contains / rich in / lacks, then advice.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prepositions,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أَلْيَافٌ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fibre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vitamins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مُتَوَازِنٌ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healthy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processed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polite order (to a woman).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مَاءً، مِنْ فَضْلِكَ.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أَعْطِنِي مَاءً.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مَاءً، مِنْ فَضْلِكِ.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كَمْ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الحَسَاءِ؟</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عِنْدَكُمْ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فَضْلُكَ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coffee is bitter.”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القَهْوَةُ مُرَّةٌ.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القَهْوَةُ مُرٌّ.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القَهْوَةُ مُرُّونَ.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أَلْيَافٌ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fibre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vitamins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مُتَوَازِنٌ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balanced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healthy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processed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polite order (to a woman).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أُرِيدُ مَاءً، مِنْ فَضْلِكَ.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أَعْطِنِي مَاءً.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أُرِيدُ مَاءً، مِنْ فَضْلِكِ.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AT-A-L05: -ki to a woman.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كَمْ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الحَسَاءِ؟</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عِنْدَكُمْ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فَضْلُكَ</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سِعْرُ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AT-A-L05: price question.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coffee is bitter.”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القَهْوَةُ مُرَّةٌ.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القَهْوَةُ مُرٌّ.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القَهْوَةُ مُرُّونَ.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AT-A-L04: feminine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describing word has its own little word after it: contains → ‘alā · rich → bi- · lacks → ilā.</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يَحْتَوِي </a:t>
            </a:r>
            <a:pPr rtl="1" algn="ctr" indent="0" marL="0">
              <a:lnSpc>
                <a:spcPct val="120000"/>
              </a:lnSpc>
              <a:buNone/>
            </a:pPr>
            <a:r>
              <a:rPr lang="ar-SA" altLang="en-US" sz="2200" b="1" dirty="0">
                <a:solidFill>
                  <a:srgbClr val="0E7C86"/>
                </a:solidFill>
                <a:latin typeface="Amiri" pitchFamily="2" charset="-78"/>
                <a:cs typeface="Amiri" pitchFamily="2" charset="-78"/>
              </a:rPr>
              <a:t>عَلَى</a:t>
            </a:r>
            <a:pPr rtl="1" algn="ctr" indent="0" marL="0">
              <a:lnSpc>
                <a:spcPct val="120000"/>
              </a:lnSpc>
              <a:buNone/>
            </a:pPr>
            <a:r>
              <a:rPr lang="ar-SA" altLang="en-US" sz="2200" b="1" dirty="0">
                <a:solidFill>
                  <a:srgbClr val="1B3B6F"/>
                </a:solidFill>
                <a:latin typeface="Amiri" pitchFamily="2" charset="-78"/>
                <a:cs typeface="Amiri" pitchFamily="2" charset="-78"/>
              </a:rPr>
              <a:t>  ·  غَنِيٌّ </a:t>
            </a:r>
            <a:pPr rtl="1" algn="ctr" indent="0" marL="0">
              <a:lnSpc>
                <a:spcPct val="120000"/>
              </a:lnSpc>
              <a:buNone/>
            </a:pPr>
            <a:r>
              <a:rPr lang="ar-SA" altLang="en-US" sz="2200" b="1" dirty="0">
                <a:solidFill>
                  <a:srgbClr val="0E7C86"/>
                </a:solidFill>
                <a:latin typeface="Amiri" pitchFamily="2" charset="-78"/>
                <a:cs typeface="Amiri" pitchFamily="2" charset="-78"/>
              </a:rPr>
              <a:t>بِـ</a:t>
            </a:r>
            <a:pPr rtl="1" algn="ctr" indent="0" marL="0">
              <a:lnSpc>
                <a:spcPct val="120000"/>
              </a:lnSpc>
              <a:buNone/>
            </a:pPr>
            <a:r>
              <a:rPr lang="ar-SA" altLang="en-US" sz="2200" b="1" dirty="0">
                <a:solidFill>
                  <a:srgbClr val="1B3B6F"/>
                </a:solidFill>
                <a:latin typeface="Amiri" pitchFamily="2" charset="-78"/>
                <a:cs typeface="Amiri" pitchFamily="2" charset="-78"/>
              </a:rPr>
              <a:t>  ·  يَفْتَقِرُ </a:t>
            </a:r>
            <a:pPr rtl="1" algn="ctr" indent="0" marL="0">
              <a:lnSpc>
                <a:spcPct val="120000"/>
              </a:lnSpc>
              <a:buNone/>
            </a:pPr>
            <a:r>
              <a:rPr lang="ar-SA" altLang="en-US" sz="2200" b="1" dirty="0">
                <a:solidFill>
                  <a:srgbClr val="0E7C86"/>
                </a:solidFill>
                <a:latin typeface="Amiri" pitchFamily="2" charset="-78"/>
                <a:cs typeface="Amiri" pitchFamily="2" charset="-78"/>
              </a:rPr>
              <a:t>إِلَى</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nutritional content using </a:t>
            </a:r>
            <a:pPr algn="l" indent="0" marL="0">
              <a:buNone/>
            </a:pPr>
            <a:r>
              <a:rPr lang="ar-SA" altLang="en-US" sz="1700" dirty="0">
                <a:solidFill>
                  <a:srgbClr val="1F2A37"/>
                </a:solidFill>
                <a:latin typeface="Amiri" pitchFamily="2" charset="-78"/>
                <a:cs typeface="Amiri" pitchFamily="2" charset="-78"/>
              </a:rPr>
              <a:t>يَحْتَوِي عَلَى، غَنِيٌّ بِـ</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يَفْتَقِرُ إِلَى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main nutrient groups in Arabic with accurate agreement.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passive </a:t>
            </a:r>
            <a:pPr algn="l" indent="0" marL="0">
              <a:buNone/>
            </a:pPr>
            <a:r>
              <a:rPr lang="ar-SA" altLang="en-US" sz="1700" dirty="0">
                <a:solidFill>
                  <a:srgbClr val="1F2A37"/>
                </a:solidFill>
                <a:latin typeface="Amiri" pitchFamily="2" charset="-78"/>
                <a:cs typeface="Amiri" pitchFamily="2" charset="-78"/>
              </a:rPr>
              <a:t>يُوصَى بِـ</a:t>
            </a:r>
            <a:pPr algn="l" indent="0" marL="0">
              <a:buNone/>
            </a:pPr>
            <a:r>
              <a:rPr lang="en-US" sz="1300" dirty="0">
                <a:solidFill>
                  <a:srgbClr val="1F2A37"/>
                </a:solidFill>
                <a:latin typeface="Calibri" pitchFamily="34" charset="0"/>
                <a:cs typeface="Amiri" pitchFamily="2" charset="-78"/>
              </a:rPr>
              <a:t> to state a recommendation impersonally.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nutritional analysis of a meal in academic register.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6 nutrients.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 food is healthy because it is rich in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contains / rich in / lacks with the right preposition.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 plural of things agree (duhūn mushba‘a).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impersonal advice: yūṣā bi-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analyse a whole meal and its effect.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nutrition words from the website in 3 groups. Core: 6 nutrient words + healthy / balanced. Academic verbs (group 3) are FLEX for Stretch.</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Nutrients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Describing content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Academic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غِذَاءٌ</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‎غذا‎ </a:t>
            </a:r>
            <a:pPr indent="0" marL="0">
              <a:buNone/>
            </a:pPr>
            <a:r>
              <a:rPr lang="en-US" sz="950" b="1" dirty="0">
                <a:solidFill>
                  <a:srgbClr val="2E8B57"/>
                </a:solidFill>
                <a:latin typeface="Calibri" pitchFamily="34" charset="0"/>
                <a:cs typeface="Amiri" pitchFamily="2" charset="-78"/>
              </a:rPr>
              <a:t> ghidhā’ · food, nourishment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صِحِّيٌّ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‎صحت‎ </a:t>
            </a:r>
            <a:pPr indent="0" marL="0">
              <a:buNone/>
            </a:pPr>
            <a:r>
              <a:rPr lang="en-US" sz="950" b="1" dirty="0">
                <a:solidFill>
                  <a:srgbClr val="2E8B57"/>
                </a:solidFill>
                <a:latin typeface="Calibri" pitchFamily="34" charset="0"/>
                <a:cs typeface="Amiri" pitchFamily="2" charset="-78"/>
              </a:rPr>
              <a:t> ṣiḥḥī · healthy (Urdu: health)</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مُتَوَازِنٌ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‎متوازن‎ </a:t>
            </a:r>
            <a:pPr indent="0" marL="0">
              <a:buNone/>
            </a:pPr>
            <a:r>
              <a:rPr lang="en-US" sz="950" b="1" dirty="0">
                <a:solidFill>
                  <a:srgbClr val="2E8B57"/>
                </a:solidFill>
                <a:latin typeface="Calibri" pitchFamily="34" charset="0"/>
                <a:cs typeface="Amiri" pitchFamily="2" charset="-78"/>
              </a:rPr>
              <a:t> mutawāzin · balanced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مَعَادِنُ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‎معدنیات‎ </a:t>
            </a:r>
            <a:pPr indent="0" marL="0">
              <a:buNone/>
            </a:pPr>
            <a:r>
              <a:rPr lang="en-US" sz="950" b="1" dirty="0">
                <a:solidFill>
                  <a:srgbClr val="2E8B57"/>
                </a:solidFill>
                <a:latin typeface="Calibri" pitchFamily="34" charset="0"/>
                <a:cs typeface="Amiri" pitchFamily="2" charset="-78"/>
              </a:rPr>
              <a:t> ma‘ādin · minerals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بُرُوتِينٌ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‎پروٹین‎ </a:t>
            </a:r>
            <a:pPr indent="0" marL="0">
              <a:buNone/>
            </a:pPr>
            <a:r>
              <a:rPr lang="en-US" sz="950" b="1" dirty="0">
                <a:solidFill>
                  <a:srgbClr val="2E8B57"/>
                </a:solidFill>
                <a:latin typeface="Calibri" pitchFamily="34" charset="0"/>
                <a:cs typeface="Amiri" pitchFamily="2" charset="-78"/>
              </a:rPr>
              <a:t> brūtīn · protein (loanword)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Nutrients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بُرُوتِينٌ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protein</a:t>
            </a:r>
            <a:endParaRPr lang="en-US" sz="1350" dirty="0"/>
          </a:p>
          <a:p>
            <a:pPr indent="0" marL="0">
              <a:buNone/>
            </a:pPr>
            <a:r>
              <a:rPr lang="en-US" sz="1100" i="1" dirty="0">
                <a:solidFill>
                  <a:srgbClr val="5A6472"/>
                </a:solidFill>
                <a:latin typeface="Calibri" pitchFamily="34" charset="0"/>
                <a:cs typeface="Amiri" pitchFamily="2" charset="-78"/>
              </a:rPr>
              <a:t>bu-rū-tī-nun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 in form.</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كَرْبُوهِيدْرَاتٌ</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carbohydrates</a:t>
            </a:r>
            <a:endParaRPr lang="en-US" sz="1350" dirty="0"/>
          </a:p>
          <a:p>
            <a:pPr indent="0" marL="0">
              <a:buNone/>
            </a:pPr>
            <a:r>
              <a:rPr lang="en-US" sz="1100" i="1" dirty="0">
                <a:solidFill>
                  <a:srgbClr val="5A6472"/>
                </a:solidFill>
                <a:latin typeface="Calibri" pitchFamily="34" charset="0"/>
                <a:cs typeface="Amiri" pitchFamily="2" charset="-78"/>
              </a:rPr>
              <a:t>kar-bū-hīd-rā-tun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sing.</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دُهُونٌ</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fats</a:t>
            </a:r>
            <a:endParaRPr lang="en-US" sz="1350" dirty="0"/>
          </a:p>
          <a:p>
            <a:pPr indent="0" marL="0">
              <a:buNone/>
            </a:pPr>
            <a:r>
              <a:rPr lang="en-US" sz="1100" i="1" dirty="0">
                <a:solidFill>
                  <a:srgbClr val="5A6472"/>
                </a:solidFill>
                <a:latin typeface="Calibri" pitchFamily="34" charset="0"/>
                <a:cs typeface="Amiri" pitchFamily="2" charset="-78"/>
              </a:rPr>
              <a:t>du-hū-nun</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sing.</a:t>
            </a:r>
            <a:endParaRPr lang="en-US" sz="700" dirty="0"/>
          </a:p>
        </p:txBody>
      </p:sp>
      <p:sp>
        <p:nvSpPr>
          <p:cNvPr id="44" name="Text 4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دُهْنٌ</a:t>
            </a:r>
            <a:endParaRPr lang="ar-SA" sz="135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دُهُونٌ</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دُهُونٌ مُشْبَعَةٌ</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saturated fats</a:t>
            </a:r>
            <a:endParaRPr lang="en-US" sz="1350" dirty="0"/>
          </a:p>
          <a:p>
            <a:pPr indent="0" marL="0">
              <a:buNone/>
            </a:pPr>
            <a:r>
              <a:rPr lang="en-US" sz="1100" i="1" dirty="0">
                <a:solidFill>
                  <a:srgbClr val="5A6472"/>
                </a:solidFill>
                <a:latin typeface="Calibri" pitchFamily="34" charset="0"/>
                <a:cs typeface="Amiri" pitchFamily="2" charset="-78"/>
              </a:rPr>
              <a:t>du-hū-nun mush-ba-ʿa-tun</a:t>
            </a:r>
            <a:endParaRPr lang="en-US" sz="1350" dirty="0"/>
          </a:p>
        </p:txBody>
      </p:sp>
      <p:sp>
        <p:nvSpPr>
          <p:cNvPr id="53" name="Text 50"/>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non-human plural takes a feminine singular adjective.</a:t>
            </a:r>
            <a:endParaRPr lang="en-US" sz="10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دُهُونٌ غَيْرُ مُشْبَعَةٍ</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unsaturated fats</a:t>
            </a:r>
            <a:endParaRPr lang="en-US" sz="1350" dirty="0"/>
          </a:p>
          <a:p>
            <a:pPr indent="0" marL="0">
              <a:buNone/>
            </a:pPr>
            <a:r>
              <a:rPr lang="en-US" sz="1100" i="1" dirty="0">
                <a:solidFill>
                  <a:srgbClr val="5A6472"/>
                </a:solidFill>
                <a:latin typeface="Calibri" pitchFamily="34" charset="0"/>
                <a:cs typeface="Amiri" pitchFamily="2" charset="-78"/>
              </a:rPr>
              <a:t>du-hū-nun ghay-ru mush-ba-ʿa-tin</a:t>
            </a:r>
            <a:endParaRPr lang="en-US" sz="1350" dirty="0"/>
          </a:p>
        </p:txBody>
      </p:sp>
      <p:sp>
        <p:nvSpPr>
          <p:cNvPr id="59" name="Text 5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غَيْرُ</a:t>
            </a:r>
            <a:pPr algn="l" indent="0" marL="0">
              <a:buNone/>
            </a:pPr>
            <a:r>
              <a:rPr lang="en-US" sz="1000" i="1" dirty="0">
                <a:solidFill>
                  <a:srgbClr val="8A6D1E"/>
                </a:solidFill>
                <a:latin typeface="Calibri" pitchFamily="34" charset="0"/>
                <a:cs typeface="Amiri" pitchFamily="2" charset="-78"/>
              </a:rPr>
              <a:t> is followed by a genitive.</a:t>
            </a:r>
            <a:endParaRPr lang="en-US" sz="10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Nutrients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sing.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أَلْيَافٌ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fibre</a:t>
            </a:r>
            <a:endParaRPr lang="en-US" sz="1350" dirty="0"/>
          </a:p>
          <a:p>
            <a:pPr indent="0" marL="0">
              <a:buNone/>
            </a:pPr>
            <a:r>
              <a:rPr lang="en-US" sz="1100" i="1" dirty="0">
                <a:solidFill>
                  <a:srgbClr val="5A6472"/>
                </a:solidFill>
                <a:latin typeface="Calibri" pitchFamily="34" charset="0"/>
                <a:cs typeface="Amiri" pitchFamily="2" charset="-78"/>
              </a:rPr>
              <a:t>al-yā-fun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sing.</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لِيفٌ</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أَلْيَافٌ</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3" name="Shape 3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sing.</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فِيتَامِينَاتٌ</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vitamins</a:t>
            </a:r>
            <a:endParaRPr lang="en-US" sz="1350" dirty="0"/>
          </a:p>
          <a:p>
            <a:pPr indent="0" marL="0">
              <a:buNone/>
            </a:pPr>
            <a:r>
              <a:rPr lang="en-US" sz="1100" i="1" dirty="0">
                <a:solidFill>
                  <a:srgbClr val="5A6472"/>
                </a:solidFill>
                <a:latin typeface="Calibri" pitchFamily="34" charset="0"/>
                <a:cs typeface="Amiri" pitchFamily="2" charset="-78"/>
              </a:rPr>
              <a:t>fī-tā-mī-nā-tun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sing.</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فِيتَامِينٌ</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فِيتَامِينَاتٌ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sing.</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مَعَادِنُ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minerals</a:t>
            </a:r>
            <a:endParaRPr lang="en-US" sz="1350" dirty="0"/>
          </a:p>
          <a:p>
            <a:pPr indent="0" marL="0">
              <a:buNone/>
            </a:pPr>
            <a:r>
              <a:rPr lang="en-US" sz="1100" i="1" dirty="0">
                <a:solidFill>
                  <a:srgbClr val="5A6472"/>
                </a:solidFill>
                <a:latin typeface="Calibri" pitchFamily="34" charset="0"/>
                <a:cs typeface="Amiri" pitchFamily="2" charset="-78"/>
              </a:rPr>
              <a:t>ma-ʿā-di-nu</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sing.</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مَعْدِنٌ</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مَعَادِنُ</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سُعْرَاتٌ حَرَارِيَّةٌ</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calories</a:t>
            </a:r>
            <a:endParaRPr lang="en-US" sz="1350" dirty="0"/>
          </a:p>
          <a:p>
            <a:pPr indent="0" marL="0">
              <a:buNone/>
            </a:pPr>
            <a:r>
              <a:rPr lang="en-US" sz="1100" i="1" dirty="0">
                <a:solidFill>
                  <a:srgbClr val="5A6472"/>
                </a:solidFill>
                <a:latin typeface="Calibri" pitchFamily="34" charset="0"/>
                <a:cs typeface="Amiri" pitchFamily="2" charset="-78"/>
              </a:rPr>
              <a:t>suʿ-rā-tun ḥa-rā-riy-ya-tun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8" name="Shape 6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مَصْدَرُ طَاقَةٍ</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energy source</a:t>
            </a:r>
            <a:endParaRPr lang="en-US" sz="1350" dirty="0"/>
          </a:p>
          <a:p>
            <a:pPr indent="0" marL="0">
              <a:buNone/>
            </a:pPr>
            <a:r>
              <a:rPr lang="en-US" sz="1100" i="1" dirty="0">
                <a:solidFill>
                  <a:srgbClr val="5A6472"/>
                </a:solidFill>
                <a:latin typeface="Calibri" pitchFamily="34" charset="0"/>
                <a:cs typeface="Amiri" pitchFamily="2" charset="-78"/>
              </a:rPr>
              <a:t>maṣ-da-ru ṭā-qa-tin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content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يَحْتَوِي عَلَى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contains</a:t>
            </a:r>
            <a:endParaRPr lang="en-US" sz="1350" dirty="0"/>
          </a:p>
          <a:p>
            <a:pPr indent="0" marL="0">
              <a:buNone/>
            </a:pPr>
            <a:r>
              <a:rPr lang="en-US" sz="1100" i="1" dirty="0">
                <a:solidFill>
                  <a:srgbClr val="5A6472"/>
                </a:solidFill>
                <a:latin typeface="Calibri" pitchFamily="34" charset="0"/>
                <a:cs typeface="Amiri" pitchFamily="2" charset="-78"/>
              </a:rPr>
              <a:t>yaḥ-ta-wī ʿa-lā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VIII, fixed with </a:t>
            </a:r>
            <a:pPr algn="l" indent="0" marL="0">
              <a:buNone/>
            </a:pPr>
            <a:r>
              <a:rPr lang="ar-SA" altLang="en-US" sz="1300" dirty="0">
                <a:solidFill>
                  <a:srgbClr val="8A6D1E"/>
                </a:solidFill>
                <a:latin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6" name="Shape 2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غَنِيٌّ بِـ</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rich in</a:t>
            </a:r>
            <a:endParaRPr lang="en-US" sz="1350" dirty="0"/>
          </a:p>
          <a:p>
            <a:pPr indent="0" marL="0">
              <a:buNone/>
            </a:pPr>
            <a:r>
              <a:rPr lang="en-US" sz="1100" i="1" dirty="0">
                <a:solidFill>
                  <a:srgbClr val="5A6472"/>
                </a:solidFill>
                <a:latin typeface="Calibri" pitchFamily="34" charset="0"/>
                <a:cs typeface="Amiri" pitchFamily="2" charset="-78"/>
              </a:rPr>
              <a:t>gha-niy-yun bi</a:t>
            </a:r>
            <a:endParaRPr lang="en-US" sz="1350" dirty="0"/>
          </a:p>
        </p:txBody>
      </p:sp>
      <p:sp>
        <p:nvSpPr>
          <p:cNvPr id="32" name="Shape 2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34" name="Text 3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غَنِيَّةٌ بِـ</a:t>
            </a:r>
            <a:endParaRPr lang="ar-SA" sz="1350" dirty="0"/>
          </a:p>
        </p:txBody>
      </p:sp>
      <p:sp>
        <p:nvSpPr>
          <p:cNvPr id="35" name="Shape 3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7" name="Text 3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غَنِيَّةٌ بِـ</a:t>
            </a:r>
            <a:endParaRPr lang="ar-SA" sz="1500" dirty="0"/>
          </a:p>
        </p:txBody>
      </p:sp>
      <p:sp>
        <p:nvSpPr>
          <p:cNvPr id="38" name="Shape 3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0" name="Text 3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غَنِيٌّ بِـ</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يَفْتَقِرُ إِلَى</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lacks</a:t>
            </a:r>
            <a:endParaRPr lang="en-US" sz="1350" dirty="0"/>
          </a:p>
          <a:p>
            <a:pPr indent="0" marL="0">
              <a:buNone/>
            </a:pPr>
            <a:r>
              <a:rPr lang="en-US" sz="1100" i="1" dirty="0">
                <a:solidFill>
                  <a:srgbClr val="5A6472"/>
                </a:solidFill>
                <a:latin typeface="Calibri" pitchFamily="34" charset="0"/>
                <a:cs typeface="Amiri" pitchFamily="2" charset="-78"/>
              </a:rPr>
              <a:t>yaf-ta-qi-ru i-lā</a:t>
            </a:r>
            <a:endParaRPr lang="en-US" sz="1350" dirty="0"/>
          </a:p>
        </p:txBody>
      </p:sp>
      <p:sp>
        <p:nvSpPr>
          <p:cNvPr id="46" name="Text 4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VIII, fixed with </a:t>
            </a:r>
            <a:pPr algn="l" indent="0" marL="0">
              <a:buNone/>
            </a:pPr>
            <a:r>
              <a:rPr lang="ar-SA" altLang="en-US" sz="1300" dirty="0">
                <a:solidFill>
                  <a:srgbClr val="8A6D1E"/>
                </a:solidFill>
                <a:latin typeface="Amiri" pitchFamily="2" charset="-78"/>
                <a:cs typeface="Amiri" pitchFamily="2" charset="-78"/>
              </a:rPr>
              <a:t>إِلَى</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0" name="Shape 4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مُتَوَازِنٌ / مُتَوَازِنَةٌ</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balanced</a:t>
            </a:r>
            <a:endParaRPr lang="en-US" sz="1350" dirty="0"/>
          </a:p>
          <a:p>
            <a:pPr indent="0" marL="0">
              <a:buNone/>
            </a:pPr>
            <a:r>
              <a:rPr lang="en-US" sz="1100" i="1" dirty="0">
                <a:solidFill>
                  <a:srgbClr val="5A6472"/>
                </a:solidFill>
                <a:latin typeface="Calibri" pitchFamily="34" charset="0"/>
                <a:cs typeface="Amiri" pitchFamily="2" charset="-78"/>
              </a:rPr>
              <a:t>mu-ta-wā-zi-nun / mu-ta-wā-zi-na-tun</a:t>
            </a:r>
            <a:endParaRPr lang="en-US" sz="1350" dirty="0"/>
          </a:p>
        </p:txBody>
      </p:sp>
      <p:sp>
        <p:nvSpPr>
          <p:cNvPr id="56" name="Shape 5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مُتَوَازِنُونَ</a:t>
            </a:r>
            <a:endParaRPr lang="ar-SA" sz="1500" dirty="0"/>
          </a:p>
        </p:txBody>
      </p:sp>
      <p:sp>
        <p:nvSpPr>
          <p:cNvPr id="59" name="Shape 5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مُتَوَازِنَةٌ</a:t>
            </a:r>
            <a:endParaRPr lang="ar-SA" sz="1500" dirty="0"/>
          </a:p>
        </p:txBody>
      </p:sp>
      <p:sp>
        <p:nvSpPr>
          <p:cNvPr id="62" name="Shape 5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مُتَوَازِنٌ</a:t>
            </a:r>
            <a:endParaRPr lang="ar-SA" sz="150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68" name="Shape 6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مُعَالَجٌ / مُعَالَجَةٌ</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processed</a:t>
            </a:r>
            <a:endParaRPr lang="en-US" sz="1350" dirty="0"/>
          </a:p>
          <a:p>
            <a:pPr indent="0" marL="0">
              <a:buNone/>
            </a:pPr>
            <a:r>
              <a:rPr lang="en-US" sz="1100" i="1" dirty="0">
                <a:solidFill>
                  <a:srgbClr val="5A6472"/>
                </a:solidFill>
                <a:latin typeface="Calibri" pitchFamily="34" charset="0"/>
                <a:cs typeface="Amiri" pitchFamily="2" charset="-78"/>
              </a:rPr>
              <a:t>mu-ʿā-la-jun / mu-ʿā-la-ja-tun</a:t>
            </a:r>
            <a:endParaRPr lang="en-US" sz="1350" dirty="0"/>
          </a:p>
        </p:txBody>
      </p:sp>
      <p:sp>
        <p:nvSpPr>
          <p:cNvPr id="72" name="Shape 6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74" name="Text 71"/>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مُعَالَجَةٌ</a:t>
            </a:r>
            <a:endParaRPr lang="ar-SA" sz="1350" dirty="0"/>
          </a:p>
        </p:txBody>
      </p:sp>
      <p:sp>
        <p:nvSpPr>
          <p:cNvPr id="75" name="Shape 7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مُعَالَجَةٌ</a:t>
            </a:r>
            <a:endParaRPr lang="ar-SA" sz="1500" dirty="0"/>
          </a:p>
        </p:txBody>
      </p:sp>
      <p:sp>
        <p:nvSpPr>
          <p:cNvPr id="78" name="Shape 7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مُعَالَجٌ</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content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عُضْوِيٌّ / عُضْوِيَّةٌ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organic</a:t>
            </a:r>
            <a:endParaRPr lang="en-US" sz="1350" dirty="0"/>
          </a:p>
          <a:p>
            <a:pPr indent="0" marL="0">
              <a:buNone/>
            </a:pPr>
            <a:r>
              <a:rPr lang="en-US" sz="1100" i="1" dirty="0">
                <a:solidFill>
                  <a:srgbClr val="5A6472"/>
                </a:solidFill>
                <a:latin typeface="Calibri" pitchFamily="34" charset="0"/>
                <a:cs typeface="Amiri" pitchFamily="2" charset="-78"/>
              </a:rPr>
              <a:t>ʿuḍ-wiy-yun / ʿuḍ-wiy-ya-tun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عُضْوِيَّةٌ</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عُضْوِيَّةٌ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عُضْوِيٌّ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نِظَامٌ غِذَائِيٌّ مُتَوَازِنٌ</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balanced diet</a:t>
            </a:r>
            <a:endParaRPr lang="en-US" sz="1350" dirty="0"/>
          </a:p>
          <a:p>
            <a:pPr indent="0" marL="0">
              <a:buNone/>
            </a:pPr>
            <a:r>
              <a:rPr lang="en-US" sz="1100" i="1" dirty="0">
                <a:solidFill>
                  <a:srgbClr val="5A6472"/>
                </a:solidFill>
                <a:latin typeface="Calibri" pitchFamily="34" charset="0"/>
                <a:cs typeface="Amiri" pitchFamily="2" charset="-78"/>
              </a:rPr>
              <a:t>ni-ẓā-mun ghi-dhā-ʾiy-yun mu-ta-wā-zi-nun</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9" name="Shape 36"/>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حِصَّةٌ يَوْمِيَّةٌ</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daily portion</a:t>
            </a:r>
            <a:endParaRPr lang="en-US" sz="1350" dirty="0"/>
          </a:p>
          <a:p>
            <a:pPr indent="0" marL="0">
              <a:buNone/>
            </a:pPr>
            <a:r>
              <a:rPr lang="en-US" sz="1100" i="1" dirty="0">
                <a:solidFill>
                  <a:srgbClr val="5A6472"/>
                </a:solidFill>
                <a:latin typeface="Calibri" pitchFamily="34" charset="0"/>
                <a:cs typeface="Amiri" pitchFamily="2" charset="-78"/>
              </a:rPr>
              <a:t>ḥiṣ-ṣa-tun yaw-miy-ya-tun</a:t>
            </a:r>
            <a:endParaRPr lang="en-US"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الهَرَمُ الغِذَائِيُّ</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food pyramid</a:t>
            </a:r>
            <a:endParaRPr lang="en-US" sz="1350" dirty="0"/>
          </a:p>
          <a:p>
            <a:pPr indent="0" marL="0">
              <a:buNone/>
            </a:pPr>
            <a:r>
              <a:rPr lang="en-US" sz="1100" i="1" dirty="0">
                <a:solidFill>
                  <a:srgbClr val="5A6472"/>
                </a:solidFill>
                <a:latin typeface="Calibri" pitchFamily="34" charset="0"/>
                <a:cs typeface="Amiri" pitchFamily="2" charset="-78"/>
              </a:rPr>
              <a:t>al-ha-ra-mu al-ghi-dhā-ʾiy-yu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يُوصَى بِـ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recommended to</a:t>
            </a:r>
            <a:endParaRPr lang="en-US" sz="1350" dirty="0"/>
          </a:p>
          <a:p>
            <a:pPr indent="0" marL="0">
              <a:buNone/>
            </a:pPr>
            <a:r>
              <a:rPr lang="en-US" sz="1100" i="1" dirty="0">
                <a:solidFill>
                  <a:srgbClr val="5A6472"/>
                </a:solidFill>
                <a:latin typeface="Calibri" pitchFamily="34" charset="0"/>
                <a:cs typeface="Amiri" pitchFamily="2" charset="-78"/>
              </a:rPr>
              <a:t>yū-ṣā bi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no doer is named.</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يَسْتَهْلِكُ</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consumes</a:t>
            </a:r>
            <a:endParaRPr lang="en-US" sz="1350" dirty="0"/>
          </a:p>
          <a:p>
            <a:pPr indent="0" marL="0">
              <a:buNone/>
            </a:pPr>
            <a:r>
              <a:rPr lang="en-US" sz="1100" i="1" dirty="0">
                <a:solidFill>
                  <a:srgbClr val="5A6472"/>
                </a:solidFill>
                <a:latin typeface="Calibri" pitchFamily="34" charset="0"/>
                <a:cs typeface="Amiri" pitchFamily="2" charset="-78"/>
              </a:rPr>
              <a:t>yas-tah-li-ku</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X with a direct object.</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يُقَلِّلُ مِنْ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a:t>
            </a:r>
            <a:endParaRPr lang="en-US" sz="1350" dirty="0"/>
          </a:p>
          <a:p>
            <a:pPr indent="0" marL="0">
              <a:buNone/>
            </a:pPr>
            <a:r>
              <a:rPr lang="en-US" sz="1100" i="1" dirty="0">
                <a:solidFill>
                  <a:srgbClr val="5A6472"/>
                </a:solidFill>
                <a:latin typeface="Calibri" pitchFamily="34" charset="0"/>
                <a:cs typeface="Amiri" pitchFamily="2" charset="-78"/>
              </a:rPr>
              <a:t>yu-qal-li-lu min</a:t>
            </a:r>
            <a:endParaRPr lang="en-US" sz="1350" dirty="0"/>
          </a:p>
        </p:txBody>
      </p:sp>
      <p:sp>
        <p:nvSpPr>
          <p:cNvPr id="34" name="Text 3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fixed with </a:t>
            </a:r>
            <a:pPr algn="l" indent="0" marL="0">
              <a:buNone/>
            </a:pPr>
            <a:r>
              <a:rPr lang="ar-SA" altLang="en-US" sz="1300" dirty="0">
                <a:solidFill>
                  <a:srgbClr val="8A6D1E"/>
                </a:solidFill>
                <a:latin typeface="Amiri" pitchFamily="2" charset="-78"/>
                <a:cs typeface="Amiri" pitchFamily="2" charset="-78"/>
              </a:rPr>
              <a:t>مِنْ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يَزِيدُ مِنْ</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increases</a:t>
            </a:r>
            <a:endParaRPr lang="en-US" sz="1350" dirty="0"/>
          </a:p>
          <a:p>
            <a:pPr indent="0" marL="0">
              <a:buNone/>
            </a:pPr>
            <a:r>
              <a:rPr lang="en-US" sz="1100" i="1" dirty="0">
                <a:solidFill>
                  <a:srgbClr val="5A6472"/>
                </a:solidFill>
                <a:latin typeface="Calibri" pitchFamily="34" charset="0"/>
                <a:cs typeface="Amiri" pitchFamily="2" charset="-78"/>
              </a:rPr>
              <a:t>ya-zī-du min</a:t>
            </a:r>
            <a:endParaRPr lang="en-US" sz="1350" dirty="0"/>
          </a:p>
        </p:txBody>
      </p:sp>
      <p:sp>
        <p:nvSpPr>
          <p:cNvPr id="40" name="Text 3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 </a:t>
            </a:r>
            <a:pPr algn="l" indent="0" marL="0">
              <a:buNone/>
            </a:pPr>
            <a:r>
              <a:rPr lang="ar-SA" altLang="en-US" sz="1300" dirty="0">
                <a:solidFill>
                  <a:srgbClr val="8A6D1E"/>
                </a:solidFill>
                <a:latin typeface="Amiri" pitchFamily="2" charset="-78"/>
                <a:cs typeface="Amiri" pitchFamily="2" charset="-78"/>
              </a:rPr>
              <a:t>زَادَ / يَزِيدُ</a:t>
            </a:r>
            <a:pPr algn="l" indent="0" marL="0">
              <a:buNone/>
            </a:pPr>
            <a:r>
              <a:rPr lang="en-US" sz="1000" i="1" dirty="0">
                <a:solidFill>
                  <a:srgbClr val="8A6D1E"/>
                </a:solidFill>
                <a:latin typeface="Calibri" pitchFamily="34" charset="0"/>
                <a:cs typeface="Amiri" pitchFamily="2" charset="-78"/>
              </a:rPr>
              <a:t>, hollow.</a:t>
            </a:r>
            <a:endParaRPr lang="en-US" sz="10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يُسَبِّبُ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causes</a:t>
            </a:r>
            <a:endParaRPr lang="en-US" sz="1350" dirty="0"/>
          </a:p>
          <a:p>
            <a:pPr indent="0" marL="0">
              <a:buNone/>
            </a:pPr>
            <a:r>
              <a:rPr lang="en-US" sz="1100" i="1" dirty="0">
                <a:solidFill>
                  <a:srgbClr val="5A6472"/>
                </a:solidFill>
                <a:latin typeface="Calibri" pitchFamily="34" charset="0"/>
                <a:cs typeface="Amiri" pitchFamily="2" charset="-78"/>
              </a:rPr>
              <a:t>yu-sab-bi-bu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with a direct object.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6" name="Shape 23"/>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with إِلَى.</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يُؤَدِّي إِلَى</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يُنْصَحُ بِـ</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advised to</a:t>
            </a:r>
            <a:endParaRPr lang="en-US" sz="1350" dirty="0"/>
          </a:p>
          <a:p>
            <a:pPr indent="0" marL="0">
              <a:buNone/>
            </a:pPr>
            <a:r>
              <a:rPr lang="en-US" sz="1100" i="1" dirty="0">
                <a:solidFill>
                  <a:srgbClr val="5A6472"/>
                </a:solidFill>
                <a:latin typeface="Calibri" pitchFamily="34" charset="0"/>
                <a:cs typeface="Amiri" pitchFamily="2" charset="-78"/>
              </a:rPr>
              <a:t>yun-ṣa-ḥu bi</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8" name="Shape 3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التَّغْذِيَةُ</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nutrition</a:t>
            </a:r>
            <a:endParaRPr lang="en-US" sz="1350" dirty="0"/>
          </a:p>
          <a:p>
            <a:pPr indent="0" marL="0">
              <a:buNone/>
            </a:pPr>
            <a:r>
              <a:rPr lang="en-US" sz="1100" i="1" dirty="0">
                <a:solidFill>
                  <a:srgbClr val="5A6472"/>
                </a:solidFill>
                <a:latin typeface="Calibri" pitchFamily="34" charset="0"/>
                <a:cs typeface="Amiri" pitchFamily="2" charset="-78"/>
              </a:rPr>
              <a:t>at-tagh-dhi-ya-tu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WAYS TO DESCRIBE CONTENT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Contains · rich in · lacks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يَحْتَوِي · غَنِيٌّ · يَفْتَقِرُ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769010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Preposition</a:t>
            </a:r>
            <a:endParaRPr lang="en-US" sz="1100" dirty="0"/>
          </a:p>
        </p:txBody>
      </p:sp>
      <p:sp>
        <p:nvSpPr>
          <p:cNvPr id="18" name="Text 15"/>
          <p:cNvSpPr txBox="1"/>
          <p:nvPr/>
        </p:nvSpPr>
        <p:spPr>
          <a:xfrm>
            <a:off x="3118104"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غَنِيٌّ / غَنِيَّةٌ</a:t>
            </a:r>
            <a:endParaRPr lang="ar-SA" sz="2400" dirty="0"/>
          </a:p>
        </p:txBody>
      </p:sp>
      <p:sp>
        <p:nvSpPr>
          <p:cNvPr id="22" name="Text 19"/>
          <p:cNvSpPr txBox="1"/>
          <p:nvPr/>
        </p:nvSpPr>
        <p:spPr>
          <a:xfrm>
            <a:off x="7708392" y="2267712"/>
            <a:ext cx="15544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بِـ</a:t>
            </a:r>
            <a:endParaRPr lang="ar-SA" sz="2400" dirty="0"/>
          </a:p>
        </p:txBody>
      </p:sp>
      <p:sp>
        <p:nvSpPr>
          <p:cNvPr id="23" name="Text 20"/>
          <p:cNvSpPr txBox="1"/>
          <p:nvPr/>
        </p:nvSpPr>
        <p:spPr>
          <a:xfrm>
            <a:off x="3136392" y="2267712"/>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التَّمْرُ غَنِيٌّ </a:t>
            </a:r>
            <a:pPr rtl="1" algn="ctr" indent="0" marL="0">
              <a:buNone/>
            </a:pPr>
            <a:r>
              <a:rPr lang="ar-SA" altLang="en-US" sz="2200" b="1" dirty="0">
                <a:solidFill>
                  <a:srgbClr val="0E7C86"/>
                </a:solidFill>
                <a:latin typeface="Amiri" pitchFamily="2" charset="-78"/>
                <a:cs typeface="Amiri" pitchFamily="2" charset="-78"/>
              </a:rPr>
              <a:t>بِالحَدِيدِ</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4" name="Text 21"/>
          <p:cNvSpPr txBox="1"/>
          <p:nvPr/>
        </p:nvSpPr>
        <p:spPr>
          <a:xfrm>
            <a:off x="566928" y="2267712"/>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rich in — dates are rich in iron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يَحْتَوِي / تَحْتَوِي</a:t>
            </a:r>
            <a:endParaRPr lang="ar-SA" sz="2400" dirty="0"/>
          </a:p>
        </p:txBody>
      </p:sp>
      <p:sp>
        <p:nvSpPr>
          <p:cNvPr id="29" name="Text 26"/>
          <p:cNvSpPr txBox="1"/>
          <p:nvPr/>
        </p:nvSpPr>
        <p:spPr>
          <a:xfrm>
            <a:off x="7708392" y="3054096"/>
            <a:ext cx="15544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عَلَى</a:t>
            </a:r>
            <a:endParaRPr lang="ar-SA" sz="2400" dirty="0"/>
          </a:p>
        </p:txBody>
      </p:sp>
      <p:sp>
        <p:nvSpPr>
          <p:cNvPr id="30" name="Text 27"/>
          <p:cNvSpPr txBox="1"/>
          <p:nvPr/>
        </p:nvSpPr>
        <p:spPr>
          <a:xfrm>
            <a:off x="3136392" y="3054096"/>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يَحْتَوِي السَّمَكُ </a:t>
            </a:r>
            <a:pPr rtl="1" algn="ctr" indent="0" marL="0">
              <a:buNone/>
            </a:pPr>
            <a:r>
              <a:rPr lang="ar-SA" altLang="en-US" sz="2200" b="1" dirty="0">
                <a:solidFill>
                  <a:srgbClr val="0E7C86"/>
                </a:solidFill>
                <a:latin typeface="Amiri" pitchFamily="2" charset="-78"/>
                <a:cs typeface="Amiri" pitchFamily="2" charset="-78"/>
              </a:rPr>
              <a:t>عَلَى</a:t>
            </a:r>
            <a:pPr rtl="1" algn="ctr" indent="0" marL="0">
              <a:buNone/>
            </a:pPr>
            <a:r>
              <a:rPr lang="ar-SA" altLang="en-US" sz="2200" b="1" dirty="0">
                <a:solidFill>
                  <a:srgbClr val="1B3B6F"/>
                </a:solidFill>
                <a:latin typeface="Amiri" pitchFamily="2" charset="-78"/>
                <a:cs typeface="Amiri" pitchFamily="2" charset="-78"/>
              </a:rPr>
              <a:t> بُرُوتِينٍ.</a:t>
            </a:r>
            <a:endParaRPr lang="ar-SA" sz="2200" dirty="0"/>
          </a:p>
        </p:txBody>
      </p:sp>
      <p:sp>
        <p:nvSpPr>
          <p:cNvPr id="31" name="Text 28"/>
          <p:cNvSpPr txBox="1"/>
          <p:nvPr/>
        </p:nvSpPr>
        <p:spPr>
          <a:xfrm>
            <a:off x="566928" y="3054096"/>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contains — fish contains protein</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يَفْتَقِرُ / تَفْتَقِرُ</a:t>
            </a:r>
            <a:endParaRPr lang="ar-SA" sz="2400" dirty="0"/>
          </a:p>
        </p:txBody>
      </p:sp>
      <p:sp>
        <p:nvSpPr>
          <p:cNvPr id="36" name="Text 33"/>
          <p:cNvSpPr txBox="1"/>
          <p:nvPr/>
        </p:nvSpPr>
        <p:spPr>
          <a:xfrm>
            <a:off x="7708392" y="3840480"/>
            <a:ext cx="15544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إِلَى</a:t>
            </a:r>
            <a:endParaRPr lang="ar-SA" sz="2400" dirty="0"/>
          </a:p>
        </p:txBody>
      </p:sp>
      <p:sp>
        <p:nvSpPr>
          <p:cNvPr id="37" name="Text 34"/>
          <p:cNvSpPr txBox="1"/>
          <p:nvPr/>
        </p:nvSpPr>
        <p:spPr>
          <a:xfrm>
            <a:off x="3136392" y="3840480"/>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يَفْتَقِرُ الطَّعَامُ </a:t>
            </a:r>
            <a:pPr rtl="1" algn="ctr" indent="0" marL="0">
              <a:buNone/>
            </a:pPr>
            <a:r>
              <a:rPr lang="ar-SA" altLang="en-US" sz="2200" b="1" dirty="0">
                <a:solidFill>
                  <a:srgbClr val="0E7C86"/>
                </a:solidFill>
                <a:latin typeface="Amiri" pitchFamily="2" charset="-78"/>
                <a:cs typeface="Amiri" pitchFamily="2" charset="-78"/>
              </a:rPr>
              <a:t>إِلَى</a:t>
            </a:r>
            <a:pPr rtl="1" algn="ctr" indent="0" marL="0">
              <a:buNone/>
            </a:pPr>
            <a:r>
              <a:rPr lang="ar-SA" altLang="en-US" sz="2200" b="1" dirty="0">
                <a:solidFill>
                  <a:srgbClr val="1B3B6F"/>
                </a:solidFill>
                <a:latin typeface="Amiri" pitchFamily="2" charset="-78"/>
                <a:cs typeface="Amiri" pitchFamily="2" charset="-78"/>
              </a:rPr>
              <a:t> الأَلْيَافِ.</a:t>
            </a:r>
            <a:endParaRPr lang="ar-SA" sz="2200" dirty="0"/>
          </a:p>
        </p:txBody>
      </p:sp>
      <p:sp>
        <p:nvSpPr>
          <p:cNvPr id="38" name="Text 35"/>
          <p:cNvSpPr txBox="1"/>
          <p:nvPr/>
        </p:nvSpPr>
        <p:spPr>
          <a:xfrm>
            <a:off x="566928" y="3840480"/>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lacks — the food lacks fibre</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يُقَلِّلُ</a:t>
            </a:r>
            <a:endParaRPr lang="ar-SA" sz="2400" dirty="0"/>
          </a:p>
        </p:txBody>
      </p:sp>
      <p:sp>
        <p:nvSpPr>
          <p:cNvPr id="41" name="Text 38"/>
          <p:cNvSpPr txBox="1"/>
          <p:nvPr/>
        </p:nvSpPr>
        <p:spPr>
          <a:xfrm>
            <a:off x="7708392" y="4626864"/>
            <a:ext cx="15544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مِنْ</a:t>
            </a:r>
            <a:endParaRPr lang="ar-SA" sz="2400" dirty="0"/>
          </a:p>
        </p:txBody>
      </p:sp>
      <p:sp>
        <p:nvSpPr>
          <p:cNvPr id="42" name="Text 39"/>
          <p:cNvSpPr txBox="1"/>
          <p:nvPr/>
        </p:nvSpPr>
        <p:spPr>
          <a:xfrm>
            <a:off x="3136392" y="4626864"/>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يُقَلِّلُ </a:t>
            </a:r>
            <a:pPr rtl="1" algn="ctr" indent="0" marL="0">
              <a:buNone/>
            </a:pPr>
            <a:r>
              <a:rPr lang="ar-SA" altLang="en-US" sz="2200" b="1" dirty="0">
                <a:solidFill>
                  <a:srgbClr val="0E7C86"/>
                </a:solidFill>
                <a:latin typeface="Amiri" pitchFamily="2" charset="-78"/>
                <a:cs typeface="Amiri" pitchFamily="2" charset="-78"/>
              </a:rPr>
              <a:t>مِنَ</a:t>
            </a:r>
            <a:pPr rtl="1" algn="ctr" indent="0" marL="0">
              <a:buNone/>
            </a:pPr>
            <a:r>
              <a:rPr lang="ar-SA" altLang="en-US" sz="2200" b="1" dirty="0">
                <a:solidFill>
                  <a:srgbClr val="1B3B6F"/>
                </a:solidFill>
                <a:latin typeface="Amiri" pitchFamily="2" charset="-78"/>
                <a:cs typeface="Amiri" pitchFamily="2" charset="-78"/>
              </a:rPr>
              <a:t> الخَطَرِ.</a:t>
            </a:r>
            <a:endParaRPr lang="ar-SA" sz="2200" dirty="0"/>
          </a:p>
        </p:txBody>
      </p:sp>
      <p:sp>
        <p:nvSpPr>
          <p:cNvPr id="43" name="Text 40"/>
          <p:cNvSpPr txBox="1"/>
          <p:nvPr/>
        </p:nvSpPr>
        <p:spPr>
          <a:xfrm>
            <a:off x="566928" y="4626864"/>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reduces — it reduces the risk</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food → feminine verb or adjective: as-salaṭa ghaniyya bi- … · taḥtawī ‘alā …</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FOCUS · PART 2 · AGREEMENT AND ADVICE (WEBSITE RULES) · DEVELOP / STRETCH</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Plurals of things, and advice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دُهُونٌ مُشْبَعَةٌ · يُوصَى بِـ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HEALTHY?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صِحِّيٌّ / صِحِّيَّةٌ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السَّلَطَةُ صِحِّيَّةٌ لِأَنَّهَا غَنِيَّةٌ بِالفِيتَامِينَاتِ.</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Salad is healthy because it is rich in vitamins.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Salad is feminine → -iyya.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THINGS PL.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things → f. sing.</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دُهُونٌ مُشْبَعَةٌ · مَعَادِنُ مُهِمَّةٌ</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saturated fats · important minerals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-ūna: that is for people.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ADVICE · STRETCH</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يُوصَى بِـ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يُوصَى بِتَقْلِيلِ السُّكَّرِ.</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recommended to reduce sugar.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doer named: passive.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 plural of things is not human.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دُهُونٌ مُشْبَعَةٌ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دُهُونٌ مُشْبَعُونَ</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Describing nutritional content formally</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cs typeface="Amiri" pitchFamily="2" charset="-78"/>
              </a:rPr>
              <a:t>وَصْفُ المُحْتَوَى الغِذَائِيِّ بِأُسْلُوبٍ عِلْمِيٍّ</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cs typeface="Amiri" pitchFamily="2" charset="-78"/>
              </a:rPr>
              <a:t>يَحْتَوِي عَلَى</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يَحْتَوِي عَلَى</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يَحْتَوِي السَّمَكُ عَلَى بُرُوتِينٍ عَالِي الجَوْدَةِ   ·   تَحْتَوِي الخُضَرُ عَلَى أَلْيَافٍ كَثِيرَةٍ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cs typeface="Amiri" pitchFamily="2" charset="-78"/>
              </a:rPr>
              <a:t>غَنِيٌّ بِـ</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cs typeface="Amiri" pitchFamily="2" charset="-78"/>
              </a:rPr>
              <a:t>يَفْتَقِرُ إِلَى</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غَنِيٌّ بِـ</a:t>
            </a:r>
            <a:pPr algn="l" indent="0" marL="0">
              <a:buNone/>
            </a:pPr>
            <a:r>
              <a:rPr lang="en-US" sz="1050" dirty="0">
                <a:solidFill>
                  <a:srgbClr val="5A6472"/>
                </a:solidFill>
                <a:latin typeface="Calibri" pitchFamily="34" charset="0"/>
                <a:cs typeface="Amiri" pitchFamily="2" charset="-78"/>
              </a:rPr>
              <a:t> + genitive · </a:t>
            </a:r>
            <a:pPr algn="l" indent="0" marL="0">
              <a:buNone/>
            </a:pPr>
            <a:r>
              <a:rPr lang="ar-SA" altLang="en-US" sz="1350" dirty="0">
                <a:solidFill>
                  <a:srgbClr val="5A6472"/>
                </a:solidFill>
                <a:latin typeface="Amiri" pitchFamily="2" charset="-78"/>
                <a:cs typeface="Amiri" pitchFamily="2" charset="-78"/>
              </a:rPr>
              <a:t>يَفْتَقِرُ إِلَى</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التَّمْرُ غَنِيٌّ بِالحَدِيدِ   ·   يَفْتَقِرُ هٰذَا الطَّعَامُ إِلَى الأَلْيَافِ</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Non-human plural agreement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plural of things + feminine singular adjective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دُهُونٌ مُشْبَعَةٌ   ·   سُعْرَاتٌ حَرَارِيَّةٌ عَالِيَةٌ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The impersonal recommendation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يُوصَى بِـ</a:t>
            </a:r>
            <a:pPr algn="l" indent="0" marL="0">
              <a:buNone/>
            </a:pPr>
            <a:r>
              <a:rPr lang="en-US" sz="1050" dirty="0">
                <a:solidFill>
                  <a:srgbClr val="5A6472"/>
                </a:solidFill>
                <a:latin typeface="Calibri" pitchFamily="34" charset="0"/>
                <a:cs typeface="Amiri" pitchFamily="2" charset="-78"/>
              </a:rPr>
              <a:t> + genitive verbal noun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يُوصَى بِتَنَاوُلِ الخُضَرِ يَوْمِيًّا   ·   يُنْصَحُ بِتَقْلِيلِ المِلْحِ</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يَحْتَوِي الحَلِيبُ ___ الكَالْسْيُومِ.</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التَّمْرُ غَنِيٌّ ___ الحَدِيدِ.</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يَفْتَقِرُ هٰذَا الطَّعَامُ ___ الأَلْيَافِ.</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مُشْبَعُونَ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يَحْتَوِي الحَلِيبُ ___ الكَالْسْيُومِ.</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التَّمْرُ غَنِيٌّ ___ الحَدِيدِ.</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يَفْتَقِرُ هٰذَا الطَّعَامُ ___ الأَلْيَافِ.</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يَفْتَقِرُ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دُهُونٌ مُشْبَعَةٌ</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 مُشْبَعُونَ</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 مُشْبَعٌ</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plural of things takes a feminine singular adjective.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analyse a meal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meal</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وَجْبَتِي: أَرُزٌّ وَدَجَاجٌ وَسَلَطَةٌ.</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AT-A-L04 food words.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Contains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تَحْتَوِي الوَجْبَةُ </a:t>
            </a:r>
            <a:pPr rtl="1" algn="ctr" indent="0" marL="0">
              <a:lnSpc>
                <a:spcPct val="120000"/>
              </a:lnSpc>
              <a:buNone/>
            </a:pPr>
            <a:r>
              <a:rPr lang="ar-SA" altLang="en-US" sz="2000" b="1" dirty="0">
                <a:solidFill>
                  <a:srgbClr val="0E7C86"/>
                </a:solidFill>
                <a:latin typeface="Amiri" pitchFamily="2" charset="-78"/>
                <a:cs typeface="Amiri" pitchFamily="2" charset="-78"/>
              </a:rPr>
              <a:t>عَلَى</a:t>
            </a:r>
            <a:pPr rtl="1" algn="ctr" indent="0" marL="0">
              <a:lnSpc>
                <a:spcPct val="120000"/>
              </a:lnSpc>
              <a:buNone/>
            </a:pPr>
            <a:r>
              <a:rPr lang="ar-SA" altLang="en-US" sz="2000" b="1" dirty="0">
                <a:solidFill>
                  <a:srgbClr val="1B3B6F"/>
                </a:solidFill>
                <a:latin typeface="Amiri" pitchFamily="2" charset="-78"/>
                <a:cs typeface="Amiri" pitchFamily="2" charset="-78"/>
              </a:rPr>
              <a:t> بُرُوتِينٍ.</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Meal is f. → taḥtawī.</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Rich in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السَّلَطَةُ غَنِيَّةٌ </a:t>
            </a:r>
            <a:pPr rtl="1" algn="ctr" indent="0" marL="0">
              <a:buNone/>
            </a:pPr>
            <a:r>
              <a:rPr lang="ar-SA" altLang="en-US" sz="2300" b="1" dirty="0">
                <a:solidFill>
                  <a:srgbClr val="0E7C86"/>
                </a:solidFill>
                <a:latin typeface="Amiri" pitchFamily="2" charset="-78"/>
                <a:cs typeface="Amiri" pitchFamily="2" charset="-78"/>
              </a:rPr>
              <a:t>بِالأَلْيَافِ</a:t>
            </a:r>
            <a:pPr rtl="1" algn="ctr" indent="0" marL="0">
              <a:buNone/>
            </a:pPr>
            <a:r>
              <a:rPr lang="ar-SA" altLang="en-US" sz="2300" b="1" dirty="0">
                <a:solidFill>
                  <a:srgbClr val="1B3B6F"/>
                </a:solidFill>
                <a:latin typeface="Amiri" pitchFamily="2" charset="-78"/>
                <a:cs typeface="Amiri" pitchFamily="2" charset="-78"/>
              </a:rPr>
              <a:t>.</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Salad f. → ghaniyya.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Lacks + advice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تَفْتَقِرُ </a:t>
            </a:r>
            <a:pPr rtl="1" algn="ctr" indent="0" marL="0">
              <a:lnSpc>
                <a:spcPct val="120000"/>
              </a:lnSpc>
              <a:buNone/>
            </a:pPr>
            <a:r>
              <a:rPr lang="ar-SA" altLang="en-US" sz="1750" b="1" dirty="0">
                <a:solidFill>
                  <a:srgbClr val="0E7C86"/>
                </a:solidFill>
                <a:latin typeface="Amiri" pitchFamily="2" charset="-78"/>
                <a:cs typeface="Amiri" pitchFamily="2" charset="-78"/>
              </a:rPr>
              <a:t>إِلَى</a:t>
            </a:r>
            <a:pPr rtl="1" algn="ctr" indent="0" marL="0">
              <a:lnSpc>
                <a:spcPct val="120000"/>
              </a:lnSpc>
              <a:buNone/>
            </a:pPr>
            <a:r>
              <a:rPr lang="ar-SA" altLang="en-US" sz="1750" b="1" dirty="0">
                <a:solidFill>
                  <a:srgbClr val="1B3B6F"/>
                </a:solidFill>
                <a:latin typeface="Amiri" pitchFamily="2" charset="-78"/>
                <a:cs typeface="Amiri" pitchFamily="2" charset="-78"/>
              </a:rPr>
              <a:t> الفَاكِهَةِ، </a:t>
            </a:r>
            <a:pPr rtl="1" algn="ctr" indent="0" marL="0">
              <a:lnSpc>
                <a:spcPct val="120000"/>
              </a:lnSpc>
              <a:buNone/>
            </a:pPr>
            <a:r>
              <a:rPr lang="ar-SA" altLang="en-US" sz="1750" b="1" dirty="0">
                <a:solidFill>
                  <a:srgbClr val="C77700"/>
                </a:solidFill>
                <a:latin typeface="Amiri" pitchFamily="2" charset="-78"/>
                <a:cs typeface="Amiri" pitchFamily="2" charset="-78"/>
              </a:rPr>
              <a:t>فَيُوصَى بِإِضَافَةِ</a:t>
            </a:r>
            <a:pPr rtl="1" algn="ctr" indent="0" marL="0">
              <a:lnSpc>
                <a:spcPct val="120000"/>
              </a:lnSpc>
              <a:buNone/>
            </a:pPr>
            <a:r>
              <a:rPr lang="ar-SA" altLang="en-US" sz="1750" b="1" dirty="0">
                <a:solidFill>
                  <a:srgbClr val="1B3B6F"/>
                </a:solidFill>
                <a:latin typeface="Amiri" pitchFamily="2" charset="-78"/>
                <a:cs typeface="Amiri" pitchFamily="2" charset="-78"/>
              </a:rPr>
              <a:t> تُفَّاحَةٍ.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Gap → advice.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a:t>
            </a:r>
            <a:endParaRPr lang="en-US" sz="800" dirty="0"/>
          </a:p>
        </p:txBody>
      </p:sp>
      <p:sp>
        <p:nvSpPr>
          <p:cNvPr id="47" name="Shape 43"/>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ADVICE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تَنَاوَلْتُ أَرُزًّا وَدَجَاجًا وَسَلَطَةً. تَحْتَوِي الوَجْبَةُ </a:t>
            </a:r>
            <a:pPr rtl="1" algn="r" indent="0" marL="0">
              <a:lnSpc>
                <a:spcPct val="120000"/>
              </a:lnSpc>
              <a:buNone/>
            </a:pPr>
            <a:r>
              <a:rPr lang="ar-SA" altLang="en-US" sz="1400" b="1" dirty="0">
                <a:solidFill>
                  <a:srgbClr val="0E7C86"/>
                </a:solidFill>
                <a:latin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cs typeface="Amiri" pitchFamily="2" charset="-78"/>
              </a:rPr>
              <a:t> بُرُوتِينٍ وَكَرْبُوهِيدْرَاتٍ، وَالسَّلَطَةُ غَنِيَّةٌ </a:t>
            </a:r>
            <a:pPr rtl="1" algn="r" indent="0" marL="0">
              <a:lnSpc>
                <a:spcPct val="120000"/>
              </a:lnSpc>
              <a:buNone/>
            </a:pPr>
            <a:r>
              <a:rPr lang="ar-SA" altLang="en-US" sz="1400" b="1" dirty="0">
                <a:solidFill>
                  <a:srgbClr val="0E7C86"/>
                </a:solidFill>
                <a:latin typeface="Amiri" pitchFamily="2" charset="-78"/>
                <a:cs typeface="Amiri" pitchFamily="2" charset="-78"/>
              </a:rPr>
              <a:t>بِالأَلْيَافِ</a:t>
            </a:r>
            <a:pPr rtl="1" algn="r" indent="0" marL="0">
              <a:lnSpc>
                <a:spcPct val="120000"/>
              </a:lnSpc>
              <a:buNone/>
            </a:pPr>
            <a:r>
              <a:rPr lang="ar-SA" altLang="en-US" sz="1400" b="1" dirty="0">
                <a:solidFill>
                  <a:srgbClr val="1B3B6F"/>
                </a:solidFill>
                <a:latin typeface="Amiri" pitchFamily="2" charset="-78"/>
                <a:cs typeface="Amiri" pitchFamily="2" charset="-78"/>
              </a:rPr>
              <a:t> وَالفِيتَامِينَاتِ. وَلٰكِنَّهَا تَفْتَقِرُ </a:t>
            </a:r>
            <a:pPr rtl="1" algn="r" indent="0" marL="0">
              <a:lnSpc>
                <a:spcPct val="120000"/>
              </a:lnSpc>
              <a:buNone/>
            </a:pPr>
            <a:r>
              <a:rPr lang="ar-SA" altLang="en-US" sz="1400" b="1" dirty="0">
                <a:solidFill>
                  <a:srgbClr val="0E7C86"/>
                </a:solidFill>
                <a:latin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cs typeface="Amiri" pitchFamily="2" charset="-78"/>
              </a:rPr>
              <a:t> الفَاكِهَةِ، لِذٰلِكَ </a:t>
            </a:r>
            <a:pPr rtl="1" algn="r" indent="0" marL="0">
              <a:lnSpc>
                <a:spcPct val="120000"/>
              </a:lnSpc>
              <a:buNone/>
            </a:pPr>
            <a:r>
              <a:rPr lang="ar-SA" altLang="en-US" sz="1400" b="1" dirty="0">
                <a:solidFill>
                  <a:srgbClr val="C77700"/>
                </a:solidFill>
                <a:latin typeface="Amiri" pitchFamily="2" charset="-78"/>
                <a:cs typeface="Amiri" pitchFamily="2" charset="-78"/>
              </a:rPr>
              <a:t>يُوصَى بِإِضَافَةِ</a:t>
            </a:r>
            <a:pPr rtl="1" algn="r" indent="0" marL="0">
              <a:lnSpc>
                <a:spcPct val="120000"/>
              </a:lnSpc>
              <a:buNone/>
            </a:pPr>
            <a:r>
              <a:rPr lang="ar-SA" altLang="en-US" sz="1400" b="1" dirty="0">
                <a:solidFill>
                  <a:srgbClr val="1B3B6F"/>
                </a:solidFill>
                <a:latin typeface="Amiri" pitchFamily="2" charset="-78"/>
                <a:cs typeface="Amiri" pitchFamily="2" charset="-78"/>
              </a:rPr>
              <a:t> تُفَّاحَةٍ.</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ate rice, chicken and salad. The meal contains protein and carbohydrates, and the salad is rich in fibre and vitamins. But it lacks fruit, so it is recommended to add an apple.</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يَحْتَوِي السَّمَكُ عَلَى بُرُوتِينٍ.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Fish contains protein.</a:t>
            </a:r>
            <a:endParaRPr lang="en-US" sz="1250" dirty="0"/>
          </a:p>
          <a:p>
            <a:pPr indent="0" marL="0">
              <a:buNone/>
            </a:pPr>
            <a:r>
              <a:rPr lang="en-US" sz="1050" i="1" dirty="0">
                <a:solidFill>
                  <a:srgbClr val="8A6D1E"/>
                </a:solidFill>
                <a:latin typeface="Calibri" pitchFamily="34" charset="0"/>
                <a:cs typeface="Amiri" pitchFamily="2" charset="-78"/>
              </a:rPr>
              <a:t>contains + ‘alā</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الخُضَرُ وَالفَوَاكِهُ غَنِيَّةٌ بِالفِيتَامِينَاتِ.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Vegetables and fruit are rich in vitamins.</a:t>
            </a:r>
            <a:endParaRPr lang="en-US" sz="1250" dirty="0"/>
          </a:p>
          <a:p>
            <a:pPr indent="0" marL="0">
              <a:buNone/>
            </a:pPr>
            <a:r>
              <a:rPr lang="en-US" sz="1050" i="1" dirty="0">
                <a:solidFill>
                  <a:srgbClr val="8A6D1E"/>
                </a:solidFill>
                <a:latin typeface="Calibri" pitchFamily="34" charset="0"/>
                <a:cs typeface="Amiri" pitchFamily="2" charset="-78"/>
              </a:rPr>
              <a:t>rich + bi-</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دُهُونٌ مُشْبَعَةٌ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saturated fats</a:t>
            </a:r>
            <a:endParaRPr lang="en-US" sz="1250" dirty="0"/>
          </a:p>
          <a:p>
            <a:pPr indent="0" marL="0">
              <a:buNone/>
            </a:pPr>
            <a:r>
              <a:rPr lang="en-US" sz="1050" i="1" dirty="0">
                <a:solidFill>
                  <a:srgbClr val="8A6D1E"/>
                </a:solidFill>
                <a:latin typeface="Calibri" pitchFamily="34" charset="0"/>
                <a:cs typeface="Amiri" pitchFamily="2" charset="-78"/>
              </a:rPr>
              <a:t>Plural of things → feminine singular adjective.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يُوصَى بِتَنَاوُلِ الخُضَرِ يَوْمِيًّا.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recommended to eat vegetables daily.</a:t>
            </a:r>
            <a:endParaRPr lang="en-US" sz="1250" dirty="0"/>
          </a:p>
          <a:p>
            <a:pPr indent="0" marL="0">
              <a:buNone/>
            </a:pPr>
            <a:r>
              <a:rPr lang="en-US" sz="1050" i="1" dirty="0">
                <a:solidFill>
                  <a:srgbClr val="8A6D1E"/>
                </a:solidFill>
                <a:latin typeface="Calibri" pitchFamily="34" charset="0"/>
                <a:cs typeface="Amiri" pitchFamily="2" charset="-78"/>
              </a:rPr>
              <a:t>Advice without naming who gives it.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DIET AND NUTRITION — REVIEWING AND EXTENDING FOOD VOCABULARY”</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Healthy or not? Match the picture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وَجْبَةٌ 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apple, water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burger, cake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water, water, water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الوَجْبَةُ غَنِيَّةٌ بِالسُّكَّرِ وَالدُّهُونِ.</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المُهِمِّ شُرْبُ مَاءٍ كَافٍ.</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وَجْبَةٌ صِحِّيَّةٌ وَمُتَوَازِنَةٌ.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وَجْبَةٌ 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apple, water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وَجْبَةٌ صِحِّيَّةٌ وَمُتَوَازِنَةٌ.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healthy, balanced meal.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burger, cake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هٰذِهِ الوَجْبَةُ غَنِيَّةٌ بِالسُّكَّرِ وَالدُّهُونِ.</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meal is rich in sugar and fat.</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water, water, water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المُهِمِّ شُرْبُ مَاءٍ كَافٍ.</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important to drink enough water.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little word follows?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يَحْتَوِي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يُحَافِظُ</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غَنِيٌّ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يُوصَى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يُنْصَحُ</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يَفْتَقِرُ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يُؤَدِّي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يُقَلِّلُ</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عَلَى</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بِـ</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إِلَى أَوْ مِنْ</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عَلَى</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يَحْتَوِي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يُحَافِظُ</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بِـ</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غَنِيٌّ</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يُوصَى</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يُنْصَحُ</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إِلَى أَوْ مِنْ</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يَفْتَقِرُ</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يُؤَدِّي</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يُقَلِّلُ</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impersonal recommendation.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تَنَاوُلَ الخُضَرِ يَوْمِيًّا.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يُوصِي بِتَنَاوُلِ الخُضَرِ يَوْمِيًّا.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بِتَنَاوُلِ الخُضَرِ يَوْمِيًّا.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يُقَلِّلُ النَّشَاطُ البَدَنِيُّ ___ خَطَرِ الأَمْرَاضِ.</a:t>
            </a:r>
            <a:endParaRPr lang="ar-SA" sz="14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 of a processed food.</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أَطْعِمَةٌ مُعَالَجُونَ يَحْتَوُونَ عَلَى دُهُونٍ مُشْبَعِينَ.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أَطْعِمَةٌ مُعَالَجَةٌ تَحْتَوِي عَلَى دُهُونٍ مُشْبَعَةٍ.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أَطْعِمَةٌ مُعَالَجَةٌ تَحْتَوِي بِدُهُونٍ مُشْبَعَةٍ.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written in academic register?</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الأَكْلُ الجَيِّدُ حِلْوٌ وَمُفِيدٌ.</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الطَّعَامَ كَثِيرًا جِدًّا.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بِنِظَامٍ غِذَائِيٍّ مُتَوَازِنٍ يَحْتَوِي عَلَى أَلْيَافٍ وَمَعَادِنَ.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impersonal recommendation.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يُوصَى تَنَاوُلَ الخُضَرِ يَوْمِيًّا.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يُوصِي بِتَنَاوُلِ الخُضَرِ يَوْمِيًّا.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بِتَنَاوُلِ الخُضَرِ يَوْمِيًّا.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a:t>
            </a:r>
            <a:pPr algn="l" indent="0" marL="0">
              <a:buNone/>
            </a:pPr>
            <a:r>
              <a:rPr lang="ar-SA" altLang="en-US" sz="1350" dirty="0">
                <a:solidFill>
                  <a:srgbClr val="8A6D1E"/>
                </a:solidFill>
                <a:latin typeface="Amiri" pitchFamily="2" charset="-78"/>
                <a:cs typeface="Amiri" pitchFamily="2" charset="-78"/>
              </a:rPr>
              <a:t>يُوصَى</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genitive verbal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يُقَلِّلُ النَّشَاطُ البَدَنِيُّ ___ خَطَرِ الأَمْرَاضِ.</a:t>
            </a:r>
            <a:endParaRPr lang="ar-SA" sz="14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يُقَلِّلُ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 of a processed food.</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أَطْعِمَةٌ مُعَالَجُونَ يَحْتَوُونَ عَلَى دُهُونٍ مُشْبَعِينَ.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أَطْعِمَةٌ مُعَالَجَةٌ تَحْتَوِي عَلَى دُهُونٍ مُشْبَعَةٍ.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أَطْعِمَةٌ مُعَالَجَةٌ تَحْتَوِي بِدُهُونٍ مُشْبَعَةٍ.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plurals take feminine singular adjectives, and </a:t>
            </a:r>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written in academic register?</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الأَكْلُ الجَيِّدُ حِلْوٌ وَمُفِيدٌ.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الطَّعَامَ كَثِيرًا جِدًّا.</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بِنِظَامٍ غِذَائِيٍّ مُتَوَازِنٍ يَحْتَوِي عَلَى أَلْيَافٍ وَمَعَادِنَ.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academic version uses the impersonal passive and precise nutrient vocabulary.</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يَحْتَوِي الحَلِيبُ بِالكَالْسْيُومِ.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Contains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دُهُونٌ مُشْبَعُونَ.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Fats are things: which adjective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يَفْتَقِرُ الطَّعَامُ الأَلْيَافَ.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Lacks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يَحْتَوِي الحَلِيبُ بِالكَالْسْيُومِ.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يَحْتَوِي الحَلِيبُ عَلَى الكَالْسْيُومِ.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يَحْتَوِي</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دُهُونٌ مُشْبَعُونَ.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دُهُونٌ مُشْبَعَةٌ.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non-human plural takes a feminine singular adjective.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يَفْتَقِرُ الطَّعَامُ الأَلْيَافَ.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يَفْتَقِرُ الطَّعَامُ إِلَى الأَلْيَافِ.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يَفْتَقِرُ</a:t>
            </a:r>
            <a:pPr algn="l" indent="0" marL="0">
              <a:buNone/>
            </a:pPr>
            <a:r>
              <a:rPr lang="en-US" sz="1150" b="1" dirty="0">
                <a:solidFill>
                  <a:srgbClr val="1B3B6F"/>
                </a:solidFill>
                <a:latin typeface="Calibri" pitchFamily="34" charset="0"/>
                <a:cs typeface="Amiri" pitchFamily="2" charset="-78"/>
              </a:rPr>
              <a:t> needs </a:t>
            </a:r>
            <a:pPr algn="l" indent="0" marL="0">
              <a:buNone/>
            </a:pPr>
            <a:r>
              <a:rPr lang="ar-SA" altLang="en-US" sz="1500" b="1" dirty="0">
                <a:solidFill>
                  <a:srgbClr val="1B3B6F"/>
                </a:solidFill>
                <a:latin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Listening: a nutritionist explains a balanced plate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contain?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Protein, carbohydrates and unsaturated fats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protein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vegetables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vegetables and fruit rich 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Saturated fats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Vitamins and minerals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Calories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Fibre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portions are recommended daily?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this reduce?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cost of food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risk of heart disease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time spent cooking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غَنِيَّةٌ بِالفِيتَامِينَاتِ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خَمْسِ حِصَصٍ</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النِّظَامُ الغِذَائِيُّ المُتَوَازِنُ يَحْتَوِي عَلَى بُرُوتِينٍ وَكَرْبُوهِيدْرَاتٍ وَدُهُونٍ غَيْرِ مُشْبَعَةٍ.</a:t>
            </a:r>
            <a:endParaRPr lang="ar-SA" sz="19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balanced diet contains protein, carbohydrates and unsaturated fats.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الخُضَرُ وَالفَوَاكِهُ غَنِيَّةٌ بِالفِيتَامِينَاتِ وَالمَعَادِنِ، وَتَحْتَوِي عَلَى أَلْيَافٍ تُسَاعِدُ الهَضْمَ.</a:t>
            </a:r>
            <a:endParaRPr lang="ar-SA" sz="18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Vegetables and fruit are rich in vitamins and minerals, and contain fibre that helps digestion.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أَمَّا الأَطْعِمَةُ المُعَالَجَةُ فَتَحْتَوِي عَادَةً عَلَى دُهُونٍ مُشْبَعَةٍ وَمِلْحٍ كَثِيرٍ، وَتَفْتَقِرُ إِلَى الأَلْيَافِ.</a:t>
            </a:r>
            <a:endParaRPr lang="ar-SA" sz="16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processed foods, they usually contain saturated fats and a lot of salt, and lack fibre.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يُوصَى بِتَنَاوُلِ خَمْسِ حِصَصٍ مِنَ الخُضَرِ وَالفَوَاكِهِ يَوْمِيًّا، وَيُنْصَحُ بِتَقْلِيلِ السُّكَّرِ.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recommended to eat five portions of vegetables and fruit daily, and it is advised to reduce sugar.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وَيُقَلِّلُ هٰذَا مِنْ خَطَرِ أَمْرَاضِ القَلْبِ، وَيَزِيدُ مِنَ الطَّاقَةِ اليَوْمِيَّةِ.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reduces the risk of heart disease and increases daily energy.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contain?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Protein, carbohydrates and unsaturated fats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protein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vegetables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يَحْتَوِي عَلَى بُرُوتِينٍ وَكَرْبُوهِيدْرَاتٍ وَدُهُونٍ غَيْرِ مُشْبَعَةٍ.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vegetables and fruit rich in?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Saturated fats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Vitamins and minerals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غَنِيَّةٌ بِالفِيتَامِينَاتِ وَالمَعَادِنِ.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Calories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Fibre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وَتَفْتَقِرُ إِلَى الأَلْيَافِ.</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portions are recommended daily?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يُوصَى بِتَنَاوُلِ خَمْسِ حِصَصٍ … يَوْمِيًّا.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this reduce?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cost of food</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risk of heart disease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time spent cooking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وَيُقَلِّلُ هٰذَا مِنْ خَطَرِ أَمْرَاضِ القَلْبِ.</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غَنِيَّةٌ بِالفِيتَامِينَاتِ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خَمْسِ حِصَصٍ</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Healthy-choice sort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Healthy-choice sort</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Sort habits into helpful, unhelpful or depends. Give a reason for each decision and turn three statements into practical health advice.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shows the 4 habits on the right, then types 2 more in the chat.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Everyone types H (helpful), U (unhelpful) or D (depends) in the chat.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students justify one choice each with “because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Turn three habits into advice: yajibu an … / yūṣā bi- …</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Sort all six. Say one: “… ṣiḥḥī li’annahu …” (… is healthy because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Justify two decisions with contains / rich in, and give one piece of advice.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Explain a “depends” habit and give advice with yūṣā bi- plus an effect.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شُرْبُ المَاءِ الكَافِي</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drinking enough water</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النَّوْمُ ثَمَانِيَ سَاعَاتٍ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sleeping eight hours</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المَشْرُوبَاتُ الغَازِيَّةُ كُلَّ يَوْمٍ</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fizzy drinks every day</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الوَجَبَاتُ السَّرِيعَةُ</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fast food</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analyse a meal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وَجْبَتُكَ صِحِّيَّةٌ؟ لِمَاذَا؟</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وَجْبَةً تَنَاوَلْتَهَا. عَلَى مَاذَا تَحْتَوِي؟</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بِمَاذَا هِيَ غَنِيَّةٌ؟ وَإِلَى مَاذَا تَفْتَقِرُ؟</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بِمَاذَا تُوصِي لِتَحْسِينِهَا؟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cs typeface="Amiri" pitchFamily="2" charset="-78"/>
              </a:rPr>
              <a:t>نَعَمْ، وَجْبَتِي صِحِّيَّةٌ لِأَنَّهَا غَنِيَّةٌ بِـ ___ .</a:t>
            </a:r>
            <a:endParaRPr lang="ar-SA" sz="155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تَحْتَوِي عَلَى ___ وَ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هِيَ غَنِيَّةٌ بِـ ___ ، وَلٰكِنَّهَا تَفْتَقِرُ إِلَى ___ .</a:t>
            </a:r>
            <a:endParaRPr lang="ar-SA" sz="14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يُوصَى بِـ ___ لِأَنَّ ذٰلِكَ يُقَلِّلُ مِنْ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وَجْبَةً تَنَاوَلْتَهَا. عَلَى مَاذَا تَحْتَوِي؟</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meal you ate. What does it contain?</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تَحْتَوِي عَلَى بُرُوتِينٍ وَكَرْبُوهِيدْرَاتٍ، وَهِيَ غَنِيَّةٌ بِالأَلْيَافِ.</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contains protein and carbohydrates, and it is rich in fibre.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Core: five sentences naming nutrients with accurate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healthy foods + “rich in …”, one unhealthy food + “contains …”, one piece of advice (yajibu an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Develop: add the three content structures with their correct prepositions.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Analyse your lunch: contains / rich in / lacks + one agreeing plural (duhūn mushba‘a).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analyse a meal in academic register.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All three structures, an impersonal recommendation (yūṣā bi-) and an effect (yuqallilu min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تَحْتَوِي الوَجْبَةُ عَلَى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meal contains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غَنِيَّةٌ بِـ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rich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وَلٰكِنَّهَا تَفْتَقِرُ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it lacks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تَحْتَوِي الأَطْعِمَةُ المُعَالَجَةُ عَلَى دُهُونٍ مُشْبَعَةٍ.</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Processed foods contain saturated fats.</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يُوصَى بِـ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recommended to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صِحِّيٌّ. / ______ صِحِّيَّةٌ.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healthy.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غَنِيٌّ بِالفِيتَامِينَاتِ.</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rich in vitamins.</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يَحْتَوِي ______ عَلَى بُرُوتِينٍ.</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contains protein.</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لَيْسَ صِحِّيًّا لِأَنَّهُ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not healthy because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أَنْ نَأْكُلَ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eat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بُرُوتِينٌ  ·  كَرْبُوهِيدْرَاتٌ  ·  دُهُونٌ  ·  أَلْيَافٌ  ·  فِيتَامِينَاتٌ  ·  مَعَادِنُ  ·  صِحِّيٌّ / صِحِّيَّةٌ  ·  غَنِيٌّ بِـ  ·  يَحْتَوِي عَلَى  ·  يَفْتَقِرُ إِلَى  ·  مُتَوَازِنٌ  ·  يُوصَى بِـ</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analysing a meal in academic register. Say what it contains, what it is rich in, what it lacks, and what you would recommend, using the impersonal passive at least once.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content structures with their correct prepositions.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nutrient plurals with feminine singular adjectives.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impersonal recommendation with </a:t>
            </a:r>
            <a:pPr algn="l" indent="0" marL="0">
              <a:buNone/>
            </a:pPr>
            <a:r>
              <a:rPr lang="ar-SA" altLang="en-US" sz="1550" dirty="0">
                <a:solidFill>
                  <a:srgbClr val="1F2A37"/>
                </a:solidFill>
                <a:latin typeface="Amiri" pitchFamily="2" charset="-78"/>
                <a:cs typeface="Amiri" pitchFamily="2" charset="-78"/>
              </a:rPr>
              <a:t>يُوصَى بِـ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يُنْصَحُ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statement of effect using </a:t>
            </a:r>
            <a:pPr algn="l" indent="0" marL="0">
              <a:buNone/>
            </a:pPr>
            <a:r>
              <a:rPr lang="ar-SA" altLang="en-US" sz="1550" dirty="0">
                <a:solidFill>
                  <a:srgbClr val="1F2A37"/>
                </a:solidFill>
                <a:latin typeface="Amiri" pitchFamily="2" charset="-78"/>
                <a:cs typeface="Amiri" pitchFamily="2" charset="-78"/>
              </a:rPr>
              <a:t>يُقَلِّلُ مِنْ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يَزِيدُ مِنْ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يُوصَى بِإِضَافَةِ حِصَّةٍ مِنَ الفَاكِهَةِ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recommended to add a portion of fruit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مِلْحٌ أَكْثَرُ مِمَّا يَنْبَغِي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salt than it should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يُقَلِّلُ مِنْ خَطَرِ ارْتِفَاعِ ضَغْطِ الدَّمِ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reduces the risk of high blood pressure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يَزِيدُ مِنَ القِيمَةِ الغِذَائِيَّةِ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increases the nutritional value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 الهَدَفُ الكَمَالَ، بَلْ عَادَةٌ مُسْتَدَامَةٌ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goal is not perfection but a lasting habit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تَنَاوَلْتُ أَمْسِ وَجْبَةً بَسِيطَةً مِنَ الأَرُزِّ وَالدَّجَاجِ وَالسَّلَطَةِ. تَحْتَوِي هٰذِهِ الوَجْبَةُ عَلَى بُرُوتِينٍ عَالِي الجَوْدَةِ وَكَرْبُوهِيدْرَاتٍ مُعَقَّدَةٍ، وَهِيَ غَنِيَّةٌ بِالأَلْيَافِ وَبَعْضِ المَعَادِنِ. وَلٰكِنَّهَا تَفْتَقِرُ إِلَى الفَوَاكِهِ، وَتَحْتَوِي عَلَى مِلْحٍ أَكْثَرَ مِمَّا يَنْبَغِي. يُوصَى بِإِضَافَةِ حِصَّةٍ مِنَ الفَاكِهَةِ وَبِتَقْلِيلِ المِلْحِ، لِأَنَّ ذٰلِكَ يُقَلِّلُ مِنْ خَطَرِ ارْتِفَاعِ ضَغْطِ الدَّمِ وَيَزِيدُ مِنَ القِيمَةِ الغِذَائِيَّةِ. وَلَيْسَ الهَدَفُ الكَمَالَ، بَلْ عَادَةٌ مُسْتَدَامَةٌ.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Yesterday I ate a simple meal of rice, chicken and salad. This meal contains high-quality protein and complex carbohydrates, and it is rich in fibre and some minerals. But it lacks fruit, and it contains more salt than it should. It is recommended to add a portion of fruit and to reduce salt, because that reduces the risk of high blood pressure and increases the nutritional value. The goal is not perfection, but a lasting habit.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“contains” with ‘alā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“rich in” with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“lacks” with ilā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impersonal recommendation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why a food is healthy (rich in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food → feminine adjective (ṣiḥḥiyya).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structure has its own preposition.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Plurals of things → feminine singular adjective.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yūṣā bi- and an effect.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تَحْتَوِي الخُضَرُ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أَلْيَافٍ كَثِيرَةٍ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سُعْرَاتٌ حَرَارِيُّونَ عَالُونَ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سُعْرَاتٌ حَرَارِيَّةٌ عَالِيَةٌ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سُعْرَاتٌ حَرَارِيٌّ عَالٍ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تَقْلِيلِ السُّكَّرِ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تَحْتَوِي الخُضَرُ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أَلْيَافٍ كَثِيرَةٍ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سُعْرَاتٌ حَرَارِيُّونَ عَالُونَ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سُعْرَاتٌ حَرَارِيَّةٌ عَالِيَةٌ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سُعْرَاتٌ حَرَارِيٌّ عَالٍ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takes feminine singular adjectives.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تَقْلِيلِ السُّكَّرِ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بِـ</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يُوصَى</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genitive verbal noun.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what makes a diet balanced</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يَعْتَمِدُ النِّظَامُ الغِذَائِيُّ المُتَوَازِنُ عَلَى التَّنَوُّعِ لَا عَلَى الحِرْمَانِ. فَالجِسْمُ يَحْتَاجُ إِلَى البُرُوتِينِ لِبِنَاءِ العَضَلَاتِ، وَإِلَى الكَرْبُوهِيدْرَاتِ مَصْدَرًا لِلطَّاقَةِ، وَإِلَى الدُّهُونِ غَيْرِ المُشْبَعَةِ لِوَظَائِفَ حَيَوِيَّةٍ. وَالخُضَرُ وَالفَوَاكِهُ غَنِيَّةٌ بِالفِيتَامِينَاتِ وَالمَعَادِنِ وَالأَلْيَافِ. أَمَّا الأَطْعِمَةُ المُعَالَجَةُ فَتَحْتَوِي عَلَى سُعْرَاتٍ حَرَارِيَّةٍ عَالِيَةٍ وَتَفْتَقِرُ إِلَى القِيمَةِ الغِذَائِيَّةِ. وَيُوصَى بِقِرَاءَةِ المُلْصَقَاتِ قَبْلَ الشِّرَاءِ، لِأَنَّ ذٰلِكَ يُسَاعِدُ عَلَى اخْتِيَارٍ أَفْضَلَ. وَلَيْسَ الهَدَفُ نِظَامًا مِثَالِيًّا، بَلْ عَادَاتٌ مُسْتَدَامَةٌ يُمْكِنُ الاسْتِمْرَارُ عَلَيْهَا.</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يَعْتَمِدُ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depends on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التَّنَوُّعِ</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variety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الحِرْمَانِ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deprivation, going without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لِبِنَاءِ العَضَلَاتِ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build muscles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مَصْدَرًا لِلطَّاقَةِ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 a source of energy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لِوَظَائِفَ حَيَوِيَّةٍ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vital functions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القِيمَةِ الغِذَائِيَّةِ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nutritional value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المُلْصَقَاتِ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labels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قَبْلَ الشِّرَاءِ</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buying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عَادَاتٌ مُسْتَدَامَةٌ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lasting habits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depend 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Deprivation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Variety, not deprivation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food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body need protein?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energy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hydration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build muscle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Nutritional value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Calories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before buying?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Asking a doctor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the labels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Cooking at home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goal?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Sustainable habits rather than a perfect diet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perfect diet</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Losing weight quickly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depend 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Deprivation</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Variety, not deprivation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Expensive food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يَعْتَمِدُ … عَلَى التَّنَوُّعِ لَا عَلَى الحِرْمَانِ.</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body need protein?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energy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hydration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build muscle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يَحْتَاجُ إِلَى البُرُوتِينِ لِبِنَاءِ العَضَلَاتِ.</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Nutritional value</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Calories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وَتَفْتَقِرُ إِلَى القِيمَةِ الغِذَائِيَّةِ.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before buying?</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Asking a doctor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 the labels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Cooking at home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وَيُوصَى بِقِرَاءَةِ المُلْصَقَاتِ قَبْلَ الشِّرَاءِ.</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goal?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Sustainable habits rather than a perfect diet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perfect diet</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Losing weight quickly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وَلَيْسَ الهَدَفُ نِظَامًا مِثَالِيًّا، بَلْ عَادَاتٌ مُسْتَدَامَةٌ.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Nutrition Mission — Prepositions, Agreement and Register</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يَحْتَوِي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“fibre”?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مَعَادِنُ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أَلْيَافٌ</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“saturated fats”?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غَيْرُ مُشْبَعَةٍ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أَلْيَافٌ طَبِيعِيَّةٌ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cs typeface="Amiri" pitchFamily="2" charset="-78"/>
              </a:rPr>
              <a:t>مَعَادِنُ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مُهِمُّونَ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مُهِمَّةٌ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مُهِمٌّ</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يَحْتَوِي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يَفْتَقِرُ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“fibre”?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مَعَادِنُ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أَلْيَافٌ</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أَلْيَافٌ</a:t>
            </a:r>
            <a:pPr algn="l" indent="0" marL="0">
              <a:buNone/>
            </a:pPr>
            <a:r>
              <a:rPr lang="en-US" sz="1050" i="1" dirty="0">
                <a:solidFill>
                  <a:srgbClr val="8A6D1E"/>
                </a:solidFill>
                <a:latin typeface="Calibri" pitchFamily="34" charset="0"/>
                <a:cs typeface="Amiri" pitchFamily="2" charset="-78"/>
              </a:rPr>
              <a:t> is fibre.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“saturated fats”?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دُهُونٌ مُشْبَعَةٌ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 غَيْرُ مُشْبَعَةٍ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أَلْيَافٌ طَبِيعِيَّةٌ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مُشْبَعَة</a:t>
            </a:r>
            <a:pPr algn="l" indent="0" marL="0">
              <a:buNone/>
            </a:pPr>
            <a:r>
              <a:rPr lang="en-US" sz="1050" i="1" dirty="0">
                <a:solidFill>
                  <a:srgbClr val="8A6D1E"/>
                </a:solidFill>
                <a:latin typeface="Calibri" pitchFamily="34" charset="0"/>
                <a:cs typeface="Amiri" pitchFamily="2" charset="-78"/>
              </a:rPr>
              <a:t> means saturated.</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cs typeface="Amiri" pitchFamily="2" charset="-78"/>
              </a:rPr>
              <a:t>مَعَادِنُ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مُهِمُّونَ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مُهِمَّةٌ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مُهِمٌّ</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takes a feminine singular adjective.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Healthy Eating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AT-A-L07: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AT-A-L07 · Body Parts and Health Problems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رَأْسٌ</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head</a:t>
            </a:r>
            <a:pPr indent="0" marL="0">
              <a:buNone/>
            </a:pPr>
            <a:r>
              <a:rPr lang="en-US" sz="1000" i="1" dirty="0">
                <a:solidFill>
                  <a:srgbClr val="5A6472"/>
                </a:solidFill>
                <a:latin typeface="Calibri" pitchFamily="34" charset="0"/>
                <a:cs typeface="Amiri" pitchFamily="2" charset="-78"/>
              </a:rPr>
              <a:t>  pl. رُؤُوسٌ</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عَيْنٌ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eye</a:t>
            </a:r>
            <a:pPr indent="0" marL="0">
              <a:buNone/>
            </a:pPr>
            <a:r>
              <a:rPr lang="en-US" sz="1000" i="1" dirty="0">
                <a:solidFill>
                  <a:srgbClr val="5A6472"/>
                </a:solidFill>
                <a:latin typeface="Calibri" pitchFamily="34" charset="0"/>
                <a:cs typeface="Amiri" pitchFamily="2" charset="-78"/>
              </a:rPr>
              <a:t>  two: عَيْنَانِ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hand</a:t>
            </a:r>
            <a:pPr indent="0" marL="0">
              <a:buNone/>
            </a:pPr>
            <a:r>
              <a:rPr lang="en-US" sz="1000" i="1" dirty="0">
                <a:solidFill>
                  <a:srgbClr val="5A6472"/>
                </a:solidFill>
                <a:latin typeface="Calibri" pitchFamily="34" charset="0"/>
                <a:cs typeface="Amiri" pitchFamily="2" charset="-78"/>
              </a:rPr>
              <a:t>  two: يَدَانِ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رِجْلٌ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leg</a:t>
            </a:r>
            <a:pPr indent="0" marL="0">
              <a:buNone/>
            </a:pPr>
            <a:r>
              <a:rPr lang="en-US" sz="1000" i="1" dirty="0">
                <a:solidFill>
                  <a:srgbClr val="5A6472"/>
                </a:solidFill>
                <a:latin typeface="Calibri" pitchFamily="34" charset="0"/>
                <a:cs typeface="Amiri" pitchFamily="2" charset="-78"/>
              </a:rPr>
              <a:t>  two: رِجْلَانِ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stomach</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Point to and name three parts of your body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 هٰذَا؟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AT-A-L06: vocabulary tab — learn 6 nutrients; write 3 “rich in”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Analyse your lunch in 6 sentences with contains / rich in / lacks.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analysing a meal in academic register.</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AT-A-L07 · Body Parts and Health Problems</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أَجْزَاءُ الْجِسْمِ وَالْمُشْكِلَاتُ الصِّحِّيَّةُ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body words — and the “two” form (‘aynāni).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AT-A-L06 · Healthy Eating and Lifestyle Choices</dc:title>
  <dc:subject>PptxGenJS Presentation</dc:subject>
  <dc:creator>Al Madina Online School · Arabic Department</dc:creator>
  <cp:lastModifiedBy>Al Madina Online School · Arabic Department</cp:lastModifiedBy>
  <cp:revision>1</cp:revision>
  <dcterms:created xsi:type="dcterms:W3CDTF">2026-10-11T06:43:43Z</dcterms:created>
  <dcterms:modified xsi:type="dcterms:W3CDTF">2026-10-11T06:43:43Z</dcterms:modified>
</cp:coreProperties>
</file>