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notesMasterIdLst>
    <p:notesMasterId r:id="rId49"/>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notesMaster" Target="notesMasters/notesMaster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ADVANCED TOPIC A · AT-A-L06 — Healthy Eating and Lifestyle Choices. Website: Advanced Topics › Topic A (Everyday Activities) › Lesson 6.
The website builds this lesson on the P1-L01 lesson engine, with the Topic focus “Discuss nutrition, balanced habits, physical activity, sleep and practical lifestyle advice.” (grammar: Nutrition vocabulary; modal advice; reasons and healthy habits; skills: Reading · Speaking · Writing) and the application challenge “Healthy-choice sort”. This deck follows the same engine, re-sequenced for Topic A: lesson references now point to Topic A codes (lessons outside Topic A keep their website code), and the challenge is added before the speaking task.
No year group: Topic lessons are taught to any class following the Advanced Topics route.
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Advanced Topics › Topic A › Lesson 6 (AT-A-L06), lesson engine Pathways › Progression › P1 › AT-A-L06. The website lesson “Diet and Nutrition — Reviewing and Extending Food Vocabulary”: vocabulary, grammar rules and quiz, patterns, common mistakes, sorter, listening, reading, speaking prompts and model, writing task and model, differentiation, final check and the lesson mission. Picture match: website visual game “Diet and Nutrition — Reviewing and Extending Food Vocabulary”.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The website engine is a Progression (B1+) lesson in academic register. For this class: Core = “X is healthy / not healthy because it is rich in … / it contains …” with 6 nutrient words; Develop = all three content structures with the right preposition (يَحْتَوِي عَلَى · غَنِيٌّ بِـ · يَفْتَقِرُ إِلَى); Stretch = the impersonal advice يُوصَى بِـ / يُنْصَحُ بِـ and an effect (يُقَلِّلُ مِنْ).
• The Topic A challenge (healthy-choice sort) is accessible to everyone and is where Core students give practical advice.
• Agreement: plurals of THINGS take a feminine singular adjective (دُهُونٌ مُشْبَعَةٌ) — the same rule students met with food adjectives in AT-A-L04.
• Links: AT-A-L04 food words and AT-A-L05 menu items are the examples. Sensitivity: talk about foods and habits, never about bodies or weight.
• Urdu bridge: غذا، صحت، متوازن، معدنیات، پروٹین / وٹامن (English loans in both languages).
• TEACHER-WRITTEN ITEMS: the website AT-A-L06 model patterns have no English translation and the sorter has no title or instruction, so the deck adds teacher-written translations, a title and an instruction (the Arabic and the categories are the website’s).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nutrition words prepared at home at the end of AT-A-L05. Questions 3–5 retrieve AT-A-L05 (polite request, price) and AT-A-L04 (feminine agreement).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Each describing word has its own little word after it: contains → ‘alā · rich → bi- · lacks → ilā.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غذا، صحت، متوازن and معدنیات come from the same Arabic roots. پروٹین / وٹامن are English loans in both languages — easy wins for 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Nutrients (website vocabulary (1 of 2)). Hear → Say → See → Use. Transliteration is printed for Core students (cover it for Develop/Stretch).
Nutrient plurals are plurals of THINGS: the adjective is feminine singular — دُهُونٌ مُشْبَعَةٌ، سُعْرَاتٌ حَرَارِيَّةٌ.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Nutrients (website vocabulary (2 of 2)). Hear → Say → See → Use. Transliteration is printed for Core students (cover it for Develop/Stretch).
Nutrient plurals are plurals of THINGS: the adjective is feminine singular — دُهُونٌ مُشْبَعَةٌ، سُعْرَاتٌ حَرَارِيَّةٌ.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Describing content (website vocabulary (1 of 2)). Hear → Say → See → Use. Transliteration is printed for Core students (cover it for Develop/Stretch).
Learn each describing word WITH its preposition: يَحْتَوِي عَلَى، غَنِيٌّ بِـ، يَفْتَقِرُ إِلَى.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Describing content (website vocabulary (2 of 2)). Hear → Say → See → Use. Transliteration is printed for Core students (cover it for Develop/Stretch).
Learn each describing word WITH its preposition: يَحْتَوِي عَلَى، غَنِيٌّ بِـ، يَفْتَقِرُ إِلَى.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Academic verbs (website vocabulary (1 of 2)). Hear → Say → See → Use. Transliteration is printed for Core students (cover it for Develop/Stretch).
FLEX: teach if time allows; otherwise these are on the website vocabulary tab for homework.
FLEX (Stretch): academic verbs for advice and effects — يُوصَى بِـ is passive: “it is recommended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Academic verbs (website vocabulary (2 of 2)). Hear → Say → See → Use. Transliteration is printed for Core students (cover it for Develop/Stretch).
FLEX: teach if time allows; otherwise these are on the website vocabulary tab for homework.
FLEX (Stretch): academic verbs for advice and effects — يُوصَى بِـ is passive: “it is recommended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website rules “يَحْتَوِي عَلَى” and “غَنِيٌّ بِـ and يَفْتَقِرُ إِلَى” and the website structure/preposition table.
Website common error: swapping the prepositions (يَحْتَوِي الحَلِيبُ بِالكَالْسْيُومِ ✗ → عَلَى الكَالْسْيُومِ ✓).
Core: rows 1–2 only (rich in, contains). The noun after the preposition is genitive (-in) — Stretch.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website rules “Non-human plural agreement” (دُهُون، أَلْيَاف، مَعَادِن، سُعْرَات + feminine singular adjective) and “The impersonal recommendation” (يُوصَى بِـ + verbal noun: يُوصَى بِتَنَاوُلِ الخُضَرِ يَوْمِيًّا · يُنْصَحُ بِتَقْلِيلِ المِلْحِ).
The Core card (صِحِّيٌّ / صِحِّيَّةٌ + لِأَنَّهُ / لِأَنَّهَا) is teacher-added so every student has a complete sentence. Topic A grammar for this lesson: “modal advice; reasons and healthy habits” — Develop can also use يَجِبُ أَنْ (website game: يَجِبُ أَنْ نَأْكُلَ خُضْرَوَاتٍ).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WEBSITE GRAMMAR RULES AND EXAMPLES (FLEX — revision or homework). Website overview: “Three content structures, one passive of recommendation, and the agreement rule that governs every nutrient plural in the lesson.”
• يَحْتَوِي عَلَى: Form VIII with a fixed preposition. The noun after it is genitive.
• غَنِيٌّ بِـ and يَفْتَقِرُ إِلَى: غَنِيٌّ agrees with the noun it describes; يَفْتَقِرُ is a verb and takes إِلَى.
• Non-human plural agreement: دُهُون، أَلْيَاف، مَعَادِن and سُعْرَات all take a feminine singular adjective.
• The impersonal recommendation: A passive that gives advice without naming who gives it — standard in health writing.
Website common error: Swapping the three content prepositions, or making a nutrient plural agree as if it were human. دُهُونٌ مُشْبَعَةٌ, never مُشْبَعُونَ.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website speaking model and writing model (a meal of rice, chicken and salad) simplified to four steps. Think aloud: “which structure? which little word after it? is the subject feminine?”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Diet and Nutrition — Reviewing and Extending Food Vocabulary”)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Ask: find the word “rich in” (غَنِيَّةٌ بِـ) — which card? Other cards for homework: يَجِبُ أَنْ نَأْكُلَ خُضْرَوَاتٍ وَفَوَاكِهَ كَثِيرَةً، التَّوَازُنُ فِي الغِذَاءِ مُهِمٌّ، يَنْبَغِي تَقْلِيلُ السُّكَّرِ.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Diet and Nutrition — Reviewing and Extending Food Vocabulary”)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Ask: find the word “rich in” (غَنِيَّةٌ بِـ) — which card? Other cards for homework: يَجِبُ أَنْ نَأْكُلَ خُضْرَوَاتٍ وَفَوَاكِهَ كَثِيرَةً، التَّوَازُنُ فِي الغِذَاءِ مُهِمٌّ، يَنْبَغِي تَقْلِيلُ السُّكَّرِ.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word by the preposition that always follows it.
The sorter categories are the website’s; the title and instruction are teacher-written (missing on the website page). Then: make one sentence with a word from each column.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word by the preposition that always follows it.
The sorter categories are the website’s; the title and instruction are teacher-written (missing on the website page). Then: make one sentence with a word from each column.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2 and 4. Develop / Stretch: all 5.
Listen 1: just listen. Listen 2: note answers. Then chat the letters.
Support: after the second listening, show the read-along slide (Arabic + English, line by line) for Core students.
SCRIPT (read aloud):
النِّظَامُ الغِذَائِيُّ المُتَوَازِنُ يَحْتَوِي عَلَى بُرُوتِينٍ وَكَرْبُوهِيدْرَاتٍ وَدُهُونٍ غَيْرِ مُشْبَعَةٍ. الخُضَرُ وَالفَوَاكِهُ غَنِيَّةٌ بِالفِيتَامِينَاتِ وَالمَعَادِنِ، وَتَحْتَوِي عَلَى أَلْيَافٍ تُسَاعِدُ الهَضْمَ. أَمَّا الأَطْعِمَةُ المُعَالَجَةُ فَتَحْتَوِي عَادَةً عَلَى دُهُونٍ مُشْبَعَةٍ وَمِلْحٍ كَثِيرٍ، وَتَفْتَقِرُ إِلَى الأَلْيَافِ. يُوصَى بِتَنَاوُلِ خَمْسِ حِصَصٍ مِنَ الخُضَرِ وَالفَوَاكِهِ يَوْمِيًّا، وَيُنْصَحُ بِتَقْلِيلِ السُّكَّرِ. وَيُقَلِّلُ هٰذَا مِنْ خَطَرِ أَمْرَاضِ القَلْبِ، وَيَزِيدُ مِنَ الطَّاقَةِ اليَوْمِيَّةِ.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TOPIC A APPLICATION CHALLENGE (3 min — it takes the speaking-rehearsal slot; the website speaking slide after it is FLEX) — from the website Topic page: “Sort habits into helpful, unhelpful or depends. Give a reason for each decision and turn three statements into practical health advice.”
Habits 5–6 for the chat: المَشْيُ إِلَى المَدْرَسَةِ (walking to school), العَصِيرُ مَعَ الإِفْطَارِ (juice with breakfast). Suggested answers: water H · sleep H · fizzy drinks every day U · walking to school H · fast food D (sometimes is fine; every day is not) · juice D (rich in vitamins but contains sugar). Accept any justified answer. Advice models: يَجِبُ أَنْ نَشْرَبَ مَاءً كَافِيًا · يُوصَى بِتَقْلِيلِ المَشْرُوبَاتِ الغَازِيَّةِ · يُنْصَحُ بِالمَشْيِ كُلَّ يَوْمٍ.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FLEX — the Topic A challenge before this slide is the main speaking task; use these website prompts if time allows or as homework rehearsal.
SPEAKING REHEARSAL (3 min) — website speaking prompts (the Core prompt is teacher-made).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وَإِلَى مَاذَا تَفْتَقِرُ؟ (Third structure)
B: تَفْتَقِرُ إِلَى الخُضَرِ، وَلِذٰلِكَ يُوصَى بِإِضَافَةِ سَلَطَةٍ لِتَحْسِينِ التَّوَازُنِ. (Gap plus impersonal recommendation)
Website prompts 1–3; the Core prompt is teacher-made. Website model continues: A: وَإِلَى مَاذَا تَفْتَقِرُ؟ B: تَفْتَقِرُ إِلَى الخُضَرِ، وَلِذٰلِكَ يُوصَى بِإِضَافَةِ سَلَطَةٍ.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Write five sentences naming nutrients with accurate agreement. · Develop — Add the three content structures with their correct prepositions. · Stretch — Add an impersonal recommendation and a statement of effect, keeping academic register throughout.
Website writing task (Stretch): Write eighty to ninety words analysing a meal in academic register. Say what it contains, what it is rich in, what it lacks, and what you would recommend, using the impersonal passive at least once.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Evidence: تَحْتَوِي … عَلَى بُرُوتِينٍ · غَنِيَّةٌ بِالأَلْيَافِ · تَفْتَقِرُ إِلَى الفَوَاكِهِ · يُوصَى بِإِضَافَةِ … Core: find just the first two.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(AT-A-L07 · Body Parts and Health Problems) will spend class time USING this language, so students prepare it tonight — short, simple, easy to access (school guidance: “Simple, Short, Interesting, Relevant, Easy to access”). The five words come from the website AT-A-L07 vocabulary (the AT-A-L07 lesson engine).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1.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A  ·  AT-A-L06</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AT-A-L06</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000" b="1" dirty="0">
                <a:solidFill>
                  <a:srgbClr val="FFFFFF"/>
                </a:solidFill>
                <a:latin typeface="Cambria" pitchFamily="34" charset="0"/>
                <a:cs typeface="Amiri" pitchFamily="2" charset="-78"/>
              </a:rPr>
              <a:t>Healthy Eating and Lifestyle Choices</a:t>
            </a:r>
            <a:endParaRPr lang="en-US" sz="3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الْأَكْلُ الصِّحِّيُّ وَاخْتِيَارَاتُ نَمَطِ الْحَيَاةِ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Discuss nutrition, balanced habits, physical activity, sleep and practical lifestyle advice.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AT-A-L06 · Advanced Topic A · Everyday Activities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A · A1+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A › AT-A-L06</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AT-A-L06 · Healthy Eating</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AT-A-L06</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47</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AT-A-L06 · Healthy Eating</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AT-A-L06</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Nutrients, then contains / rich in / lacks, then advice.</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Picture match, sort the prepositions, fix and listen.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AT-A-L07.</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47</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AT-A-L06 · Healthy Eating</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أَلْيَافٌ</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fats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fibre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vitamins</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مُتَوَازِنٌ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balanced</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healthy</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processed</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polite order (to a woman).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أُرِيدُ مَاءً، مِنْ فَضْلِكَ.</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أَعْطِنِي مَاءً.</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أُرِيدُ مَاءً، مِنْ فَضْلِكِ.</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كَمْ</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الحَسَاءِ؟</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عِنْدَكُمْ</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فَضْلُكَ</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سِعْرُ</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coffee is bitter.”</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القَهْوَةُ مُرَّةٌ.</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القَهْوَةُ مُرٌّ.</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القَهْوَةُ مُرُّونَ.</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47</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AT-A-L06 · Healthy Eating</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أَلْيَافٌ</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fats</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fibre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vitamins</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(AT-A-L05).</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مُتَوَازِنٌ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balanced</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healthy</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processed</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(AT-A-L05).</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polite order (to a woman).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أُرِيدُ مَاءً، مِنْ فَضْلِكَ.</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أَعْطِنِي مَاءً.</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أُرِيدُ مَاءً، مِنْ فَضْلِكِ.</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AT-A-L05: -ki to a woman.</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كَمْ</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الحَسَاءِ؟</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عِنْدَكُمْ</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فَضْلُكَ</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سِعْرُ</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AT-A-L05: price question.</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coffee is bitter.”</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القَهْوَةُ مُرَّةٌ.</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القَهْوَةُ مُرٌّ.</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القَهْوَةُ مُرُّونَ.</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AT-A-L04: feminine agreement.</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Each describing word has its own little word after it: contains → ‘alā · rich → bi- · lacks → ilā.</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ea typeface="Amiri" pitchFamily="2" charset="-78"/>
                <a:cs typeface="Amiri" pitchFamily="2" charset="-78"/>
              </a:rPr>
              <a:t>يَحْتَوِي </a:t>
            </a:r>
            <a:pPr rtl="1" algn="ctr" indent="0" marL="0">
              <a:lnSpc>
                <a:spcPct val="120000"/>
              </a:lnSpc>
              <a:buNone/>
            </a:pPr>
            <a:r>
              <a:rPr lang="ar-SA" altLang="en-US" sz="2200" b="1" dirty="0">
                <a:solidFill>
                  <a:srgbClr val="0E7C86"/>
                </a:solidFill>
                <a:latin typeface="Amiri" pitchFamily="2" charset="-78"/>
                <a:ea typeface="Amiri" pitchFamily="2" charset="-78"/>
                <a:cs typeface="Amiri" pitchFamily="2" charset="-78"/>
              </a:rPr>
              <a:t>عَلَى</a:t>
            </a:r>
            <a:pPr rtl="1" algn="ctr" indent="0" marL="0">
              <a:lnSpc>
                <a:spcPct val="120000"/>
              </a:lnSpc>
              <a:buNone/>
            </a:pPr>
            <a:r>
              <a:rPr lang="ar-SA" altLang="en-US" sz="2200" b="1" dirty="0">
                <a:solidFill>
                  <a:srgbClr val="1B3B6F"/>
                </a:solidFill>
                <a:latin typeface="Amiri" pitchFamily="2" charset="-78"/>
                <a:ea typeface="Amiri" pitchFamily="2" charset="-78"/>
                <a:cs typeface="Amiri" pitchFamily="2" charset="-78"/>
              </a:rPr>
              <a:t>  ·  غَنِيٌّ </a:t>
            </a:r>
            <a:pPr rtl="1" algn="ctr" indent="0" marL="0">
              <a:lnSpc>
                <a:spcPct val="120000"/>
              </a:lnSpc>
              <a:buNone/>
            </a:pPr>
            <a:r>
              <a:rPr lang="ar-SA" altLang="en-US" sz="2200" b="1" dirty="0">
                <a:solidFill>
                  <a:srgbClr val="0E7C86"/>
                </a:solidFill>
                <a:latin typeface="Amiri" pitchFamily="2" charset="-78"/>
                <a:ea typeface="Amiri" pitchFamily="2" charset="-78"/>
                <a:cs typeface="Amiri" pitchFamily="2" charset="-78"/>
              </a:rPr>
              <a:t>بِـ</a:t>
            </a:r>
            <a:pPr rtl="1" algn="ctr" indent="0" marL="0">
              <a:lnSpc>
                <a:spcPct val="120000"/>
              </a:lnSpc>
              <a:buNone/>
            </a:pPr>
            <a:r>
              <a:rPr lang="ar-SA" altLang="en-US" sz="2200" b="1" dirty="0">
                <a:solidFill>
                  <a:srgbClr val="1B3B6F"/>
                </a:solidFill>
                <a:latin typeface="Amiri" pitchFamily="2" charset="-78"/>
                <a:ea typeface="Amiri" pitchFamily="2" charset="-78"/>
                <a:cs typeface="Amiri" pitchFamily="2" charset="-78"/>
              </a:rPr>
              <a:t>  ·  يَفْتَقِرُ </a:t>
            </a:r>
            <a:pPr rtl="1" algn="ctr" indent="0" marL="0">
              <a:lnSpc>
                <a:spcPct val="120000"/>
              </a:lnSpc>
              <a:buNone/>
            </a:pPr>
            <a:r>
              <a:rPr lang="ar-SA" altLang="en-US" sz="2200" b="1" dirty="0">
                <a:solidFill>
                  <a:srgbClr val="0E7C86"/>
                </a:solidFill>
                <a:latin typeface="Amiri" pitchFamily="2" charset="-78"/>
                <a:ea typeface="Amiri" pitchFamily="2" charset="-78"/>
                <a:cs typeface="Amiri" pitchFamily="2" charset="-78"/>
              </a:rPr>
              <a:t>إِلَى</a:t>
            </a:r>
            <a:endParaRPr lang="ar-SA" sz="22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47</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AT-A-L06 · Healthy Eating</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AT-A-L06</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Describe nutritional content using </a:t>
            </a:r>
            <a:pPr algn="l" indent="0" marL="0">
              <a:buNone/>
            </a:pPr>
            <a:r>
              <a:rPr lang="ar-SA" altLang="en-US" sz="1700" dirty="0">
                <a:solidFill>
                  <a:srgbClr val="1F2A37"/>
                </a:solidFill>
                <a:latin typeface="Amiri" pitchFamily="2" charset="-78"/>
                <a:ea typeface="Amiri" pitchFamily="2" charset="-78"/>
                <a:cs typeface="Amiri" pitchFamily="2" charset="-78"/>
              </a:rPr>
              <a:t>يَحْتَوِي عَلَى، غَنِيٌّ بِـ</a:t>
            </a:r>
            <a:pPr algn="l" indent="0" marL="0">
              <a:buNone/>
            </a:pPr>
            <a:r>
              <a:rPr lang="en-US" sz="1300" dirty="0">
                <a:solidFill>
                  <a:srgbClr val="1F2A37"/>
                </a:solidFill>
                <a:latin typeface="Calibri" pitchFamily="34" charset="0"/>
                <a:cs typeface="Amiri" pitchFamily="2" charset="-78"/>
              </a:rPr>
              <a:t> and </a:t>
            </a:r>
            <a:pPr algn="l" indent="0" marL="0">
              <a:buNone/>
            </a:pPr>
            <a:r>
              <a:rPr lang="ar-SA" altLang="en-US" sz="1700" dirty="0">
                <a:solidFill>
                  <a:srgbClr val="1F2A37"/>
                </a:solidFill>
                <a:latin typeface="Amiri" pitchFamily="2" charset="-78"/>
                <a:ea typeface="Amiri" pitchFamily="2" charset="-78"/>
                <a:cs typeface="Amiri" pitchFamily="2" charset="-78"/>
              </a:rPr>
              <a:t>يَفْتَقِرُ إِلَى</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Name the main nutrient groups in Arabic with accurate agreement.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the passive </a:t>
            </a:r>
            <a:pPr algn="l" indent="0" marL="0">
              <a:buNone/>
            </a:pPr>
            <a:r>
              <a:rPr lang="ar-SA" altLang="en-US" sz="1700" dirty="0">
                <a:solidFill>
                  <a:srgbClr val="1F2A37"/>
                </a:solidFill>
                <a:latin typeface="Amiri" pitchFamily="2" charset="-78"/>
                <a:ea typeface="Amiri" pitchFamily="2" charset="-78"/>
                <a:cs typeface="Amiri" pitchFamily="2" charset="-78"/>
              </a:rPr>
              <a:t>يُوصَى بِـ</a:t>
            </a:r>
            <a:pPr algn="l" indent="0" marL="0">
              <a:buNone/>
            </a:pPr>
            <a:r>
              <a:rPr lang="en-US" sz="1300" dirty="0">
                <a:solidFill>
                  <a:srgbClr val="1F2A37"/>
                </a:solidFill>
                <a:latin typeface="Calibri" pitchFamily="34" charset="0"/>
                <a:cs typeface="Amiri" pitchFamily="2" charset="-78"/>
              </a:rPr>
              <a:t> to state a recommendation impersonally.</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Write a nutritional analysis of a meal in academic register.</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name 6 nutrients.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say a food is healthy because it is rich in …</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use contains / rich in / lacks with the right preposition.</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make a plural of things agree (duhūn mushba‘a).</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give impersonal advice: yūṣā bi- …</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analyse a whole meal and its effect.</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47</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27 nutrition words from the website in 3 groups. Core: 6 nutrient words + healthy / balanced. Academic verbs (group 3) are FLEX for Stretch.</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Nutrients · 10</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Describing content · 9</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Academic verbs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غِذَاءٌ</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‎غذا‎ </a:t>
            </a:r>
            <a:pPr indent="0" marL="0">
              <a:buNone/>
            </a:pPr>
            <a:r>
              <a:rPr lang="en-US" sz="950" b="1" dirty="0">
                <a:solidFill>
                  <a:srgbClr val="2E8B57"/>
                </a:solidFill>
                <a:latin typeface="Calibri" pitchFamily="34" charset="0"/>
                <a:cs typeface="Amiri" pitchFamily="2" charset="-78"/>
              </a:rPr>
              <a:t> ghidhā’ · food, nourishment</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صِحِّيٌّ</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‎صحت‎ </a:t>
            </a:r>
            <a:pPr indent="0" marL="0">
              <a:buNone/>
            </a:pPr>
            <a:r>
              <a:rPr lang="en-US" sz="950" b="1" dirty="0">
                <a:solidFill>
                  <a:srgbClr val="2E8B57"/>
                </a:solidFill>
                <a:latin typeface="Calibri" pitchFamily="34" charset="0"/>
                <a:cs typeface="Amiri" pitchFamily="2" charset="-78"/>
              </a:rPr>
              <a:t> ṣiḥḥī · healthy (Urdu: health)</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مُتَوَازِنٌ</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‎متوازن‎ </a:t>
            </a:r>
            <a:pPr indent="0" marL="0">
              <a:buNone/>
            </a:pPr>
            <a:r>
              <a:rPr lang="en-US" sz="950" b="1" dirty="0">
                <a:solidFill>
                  <a:srgbClr val="2E8B57"/>
                </a:solidFill>
                <a:latin typeface="Calibri" pitchFamily="34" charset="0"/>
                <a:cs typeface="Amiri" pitchFamily="2" charset="-78"/>
              </a:rPr>
              <a:t> mutawāzin · balanced</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مَعَادِنُ</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‎معدنیات‎ </a:t>
            </a:r>
            <a:pPr indent="0" marL="0">
              <a:buNone/>
            </a:pPr>
            <a:r>
              <a:rPr lang="en-US" sz="950" b="1" dirty="0">
                <a:solidFill>
                  <a:srgbClr val="2E8B57"/>
                </a:solidFill>
                <a:latin typeface="Calibri" pitchFamily="34" charset="0"/>
                <a:cs typeface="Amiri" pitchFamily="2" charset="-78"/>
              </a:rPr>
              <a:t> ma‘ādin · minerals</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بُرُوتِينٌ</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‎پروٹین‎ </a:t>
            </a:r>
            <a:pPr indent="0" marL="0">
              <a:buNone/>
            </a:pPr>
            <a:r>
              <a:rPr lang="en-US" sz="950" b="1" dirty="0">
                <a:solidFill>
                  <a:srgbClr val="2E8B57"/>
                </a:solidFill>
                <a:latin typeface="Calibri" pitchFamily="34" charset="0"/>
                <a:cs typeface="Amiri" pitchFamily="2" charset="-78"/>
              </a:rPr>
              <a:t> brūtīn · protein (loanword)</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AT-A-L06 · Healthy Eating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Nutrients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Masculine.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بُرُوتِينٌ</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protein</a:t>
            </a:r>
            <a:endParaRPr lang="en-US" sz="1350" dirty="0"/>
          </a:p>
          <a:p>
            <a:pPr indent="0" marL="0">
              <a:buNone/>
            </a:pPr>
            <a:r>
              <a:rPr lang="en-US" sz="1100" i="1" dirty="0">
                <a:solidFill>
                  <a:srgbClr val="5A6472"/>
                </a:solidFill>
                <a:latin typeface="Calibri" pitchFamily="34" charset="0"/>
                <a:cs typeface="Amiri" pitchFamily="2" charset="-78"/>
              </a:rPr>
              <a:t>bu-rū-tī-nun</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7" name="Shape 24"/>
          <p:cNvSpPr/>
          <p:nvPr/>
        </p:nvSpPr>
        <p:spPr>
          <a:xfrm>
            <a:off x="4782312" y="1938528"/>
            <a:ext cx="1207008" cy="256032"/>
          </a:xfrm>
          <a:prstGeom prst="roundRect">
            <a:avLst>
              <a:gd name="adj" fmla="val 50000"/>
            </a:avLst>
          </a:prstGeom>
          <a:solidFill>
            <a:srgbClr val="EFE7D2"/>
          </a:solidFill>
          <a:ln w="12700">
            <a:solidFill>
              <a:srgbClr val="EFE7D2"/>
            </a:solidFill>
            <a:prstDash val="solid"/>
          </a:ln>
        </p:spPr>
      </p:sp>
      <p:sp>
        <p:nvSpPr>
          <p:cNvPr id="28" name="Text 25"/>
          <p:cNvSpPr txBox="1"/>
          <p:nvPr/>
        </p:nvSpPr>
        <p:spPr>
          <a:xfrm>
            <a:off x="4782312" y="1938528"/>
            <a:ext cx="120700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Plural in form.</a:t>
            </a:r>
            <a:endParaRPr lang="en-US" sz="800" dirty="0"/>
          </a:p>
        </p:txBody>
      </p:sp>
      <p:sp>
        <p:nvSpPr>
          <p:cNvPr id="29" name="Shape 26"/>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1" name="Text 28"/>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كَرْبُوهِيدْرَاتٌ</a:t>
            </a:r>
            <a:endParaRPr lang="ar-SA" sz="3000" dirty="0"/>
          </a:p>
        </p:txBody>
      </p:sp>
      <p:sp>
        <p:nvSpPr>
          <p:cNvPr id="32" name="Text 29"/>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carbohydrates</a:t>
            </a:r>
            <a:endParaRPr lang="en-US" sz="1350" dirty="0"/>
          </a:p>
          <a:p>
            <a:pPr indent="0" marL="0">
              <a:buNone/>
            </a:pPr>
            <a:r>
              <a:rPr lang="en-US" sz="1100" i="1" dirty="0">
                <a:solidFill>
                  <a:srgbClr val="5A6472"/>
                </a:solidFill>
                <a:latin typeface="Calibri" pitchFamily="34" charset="0"/>
                <a:cs typeface="Amiri" pitchFamily="2" charset="-78"/>
              </a:rPr>
              <a:t>kar-bū-hīd-rā-tun</a:t>
            </a:r>
            <a:endParaRPr lang="en-US" sz="1350" dirty="0"/>
          </a:p>
        </p:txBody>
      </p:sp>
      <p:sp>
        <p:nvSpPr>
          <p:cNvPr id="33" name="Shape 3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566928"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6" name="Shape 33"/>
          <p:cNvSpPr/>
          <p:nvPr/>
        </p:nvSpPr>
        <p:spPr>
          <a:xfrm>
            <a:off x="960120" y="1938528"/>
            <a:ext cx="958291"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960120"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pl. · sing.</a:t>
            </a:r>
            <a:endParaRPr lang="en-US" sz="800" dirty="0"/>
          </a:p>
        </p:txBody>
      </p:sp>
      <p:sp>
        <p:nvSpPr>
          <p:cNvPr id="38" name="Shape 35"/>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0" name="Text 37"/>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دُهُونٌ</a:t>
            </a:r>
            <a:endParaRPr lang="ar-SA" sz="3000" dirty="0"/>
          </a:p>
        </p:txBody>
      </p:sp>
      <p:sp>
        <p:nvSpPr>
          <p:cNvPr id="41" name="Text 38"/>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fats</a:t>
            </a:r>
            <a:endParaRPr lang="en-US" sz="1350" dirty="0"/>
          </a:p>
          <a:p>
            <a:pPr indent="0" marL="0">
              <a:buNone/>
            </a:pPr>
            <a:r>
              <a:rPr lang="en-US" sz="1100" i="1" dirty="0">
                <a:solidFill>
                  <a:srgbClr val="5A6472"/>
                </a:solidFill>
                <a:latin typeface="Calibri" pitchFamily="34" charset="0"/>
                <a:cs typeface="Amiri" pitchFamily="2" charset="-78"/>
              </a:rPr>
              <a:t>du-hū-nun</a:t>
            </a:r>
            <a:endParaRPr lang="en-US" sz="1350" dirty="0"/>
          </a:p>
        </p:txBody>
      </p:sp>
      <p:sp>
        <p:nvSpPr>
          <p:cNvPr id="42" name="Shape 39"/>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sing.</a:t>
            </a:r>
            <a:endParaRPr lang="en-US" sz="700" dirty="0"/>
          </a:p>
        </p:txBody>
      </p:sp>
      <p:sp>
        <p:nvSpPr>
          <p:cNvPr id="44" name="Text 41"/>
          <p:cNvSpPr txBox="1"/>
          <p:nvPr/>
        </p:nvSpPr>
        <p:spPr>
          <a:xfrm>
            <a:off x="2368296"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دُهْنٌ</a:t>
            </a:r>
            <a:endParaRPr lang="ar-SA" sz="1350" dirty="0"/>
          </a:p>
        </p:txBody>
      </p:sp>
      <p:sp>
        <p:nvSpPr>
          <p:cNvPr id="45" name="Shape 42"/>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7" name="Text 44"/>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دُهُونٌ</a:t>
            </a:r>
            <a:endParaRPr lang="ar-SA" sz="1500" dirty="0"/>
          </a:p>
        </p:txBody>
      </p:sp>
      <p:sp>
        <p:nvSpPr>
          <p:cNvPr id="48" name="Shape 4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8211312" y="4261104"/>
            <a:ext cx="310896" cy="310896"/>
          </a:xfrm>
          <a:prstGeom prst="ellipse">
            <a:avLst/>
          </a:prstGeom>
          <a:solidFill>
            <a:srgbClr val="F4F1EA"/>
          </a:solidFill>
          <a:ln w="12700">
            <a:solidFill>
              <a:srgbClr val="F4F1EA"/>
            </a:solidFill>
            <a:prstDash val="solid"/>
          </a:ln>
        </p:spPr>
      </p:sp>
      <p:sp>
        <p:nvSpPr>
          <p:cNvPr id="50" name="Text 4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51" name="Text 4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دُهُونٌ مُشْبَعَةٌ</a:t>
            </a:r>
            <a:endParaRPr lang="ar-SA" sz="3000" dirty="0"/>
          </a:p>
        </p:txBody>
      </p:sp>
      <p:sp>
        <p:nvSpPr>
          <p:cNvPr id="52" name="Text 4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saturated fats</a:t>
            </a:r>
            <a:endParaRPr lang="en-US" sz="1350" dirty="0"/>
          </a:p>
          <a:p>
            <a:pPr indent="0" marL="0">
              <a:buNone/>
            </a:pPr>
            <a:r>
              <a:rPr lang="en-US" sz="1100" i="1" dirty="0">
                <a:solidFill>
                  <a:srgbClr val="5A6472"/>
                </a:solidFill>
                <a:latin typeface="Calibri" pitchFamily="34" charset="0"/>
                <a:cs typeface="Amiri" pitchFamily="2" charset="-78"/>
              </a:rPr>
              <a:t>du-hū-nun mush-ba-ʿa-tun</a:t>
            </a:r>
            <a:endParaRPr lang="en-US" sz="1350" dirty="0"/>
          </a:p>
        </p:txBody>
      </p:sp>
      <p:sp>
        <p:nvSpPr>
          <p:cNvPr id="53" name="Text 50"/>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A non-human plural takes a feminine singular adjective.</a:t>
            </a:r>
            <a:endParaRPr lang="en-US" sz="1000" dirty="0"/>
          </a:p>
        </p:txBody>
      </p:sp>
      <p:sp>
        <p:nvSpPr>
          <p:cNvPr id="54" name="Shape 51"/>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4389120" y="4261104"/>
            <a:ext cx="310896" cy="310896"/>
          </a:xfrm>
          <a:prstGeom prst="ellipse">
            <a:avLst/>
          </a:prstGeom>
          <a:solidFill>
            <a:srgbClr val="F4F1EA"/>
          </a:solidFill>
          <a:ln w="12700">
            <a:solidFill>
              <a:srgbClr val="F4F1EA"/>
            </a:solidFill>
            <a:prstDash val="solid"/>
          </a:ln>
        </p:spPr>
      </p:sp>
      <p:sp>
        <p:nvSpPr>
          <p:cNvPr id="56" name="Text 53"/>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7" name="Text 54"/>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دُهُونٌ غَيْرُ مُشْبَعَةٍ</a:t>
            </a:r>
            <a:endParaRPr lang="ar-SA" sz="3000" dirty="0"/>
          </a:p>
        </p:txBody>
      </p:sp>
      <p:sp>
        <p:nvSpPr>
          <p:cNvPr id="58" name="Text 55"/>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unsaturated fats</a:t>
            </a:r>
            <a:endParaRPr lang="en-US" sz="1350" dirty="0"/>
          </a:p>
          <a:p>
            <a:pPr indent="0" marL="0">
              <a:buNone/>
            </a:pPr>
            <a:r>
              <a:rPr lang="en-US" sz="1100" i="1" dirty="0">
                <a:solidFill>
                  <a:srgbClr val="5A6472"/>
                </a:solidFill>
                <a:latin typeface="Calibri" pitchFamily="34" charset="0"/>
                <a:cs typeface="Amiri" pitchFamily="2" charset="-78"/>
              </a:rPr>
              <a:t>du-hū-nun ghay-ru mush-ba-ʿa-tin</a:t>
            </a:r>
            <a:endParaRPr lang="en-US" sz="1350" dirty="0"/>
          </a:p>
        </p:txBody>
      </p:sp>
      <p:sp>
        <p:nvSpPr>
          <p:cNvPr id="59" name="Text 56"/>
          <p:cNvSpPr txBox="1"/>
          <p:nvPr/>
        </p:nvSpPr>
        <p:spPr>
          <a:xfrm>
            <a:off x="4416552" y="5961888"/>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2" charset="-78"/>
                <a:ea typeface="Amiri" pitchFamily="2" charset="-78"/>
                <a:cs typeface="Amiri" pitchFamily="2" charset="-78"/>
              </a:rPr>
              <a:t>غَيْرُ</a:t>
            </a:r>
            <a:pPr algn="l" indent="0" marL="0">
              <a:buNone/>
            </a:pPr>
            <a:r>
              <a:rPr lang="en-US" sz="1000" i="1" dirty="0">
                <a:solidFill>
                  <a:srgbClr val="8A6D1E"/>
                </a:solidFill>
                <a:latin typeface="Calibri" pitchFamily="34" charset="0"/>
                <a:cs typeface="Amiri" pitchFamily="2" charset="-78"/>
              </a:rPr>
              <a:t> is followed by a genitive.</a:t>
            </a:r>
            <a:endParaRPr lang="en-US" sz="1000" dirty="0"/>
          </a:p>
        </p:txBody>
      </p:sp>
      <p:sp>
        <p:nvSpPr>
          <p:cNvPr id="60" name="Text 5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47</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AT-A-L06 · Healthy Eating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Nutrients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18" name="Shape 15"/>
          <p:cNvSpPr/>
          <p:nvPr/>
        </p:nvSpPr>
        <p:spPr>
          <a:xfrm>
            <a:off x="8604504" y="1938528"/>
            <a:ext cx="958291"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pl. · sing.</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أَلْيَافٌ</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fibre</a:t>
            </a:r>
            <a:endParaRPr lang="en-US" sz="1350" dirty="0"/>
          </a:p>
          <a:p>
            <a:pPr indent="0" marL="0">
              <a:buNone/>
            </a:pPr>
            <a:r>
              <a:rPr lang="en-US" sz="1100" i="1" dirty="0">
                <a:solidFill>
                  <a:srgbClr val="5A6472"/>
                </a:solidFill>
                <a:latin typeface="Calibri" pitchFamily="34" charset="0"/>
                <a:cs typeface="Amiri" pitchFamily="2" charset="-78"/>
              </a:rPr>
              <a:t>al-yā-fun</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sing.</a:t>
            </a:r>
            <a:endParaRPr lang="en-US" sz="700" dirty="0"/>
          </a:p>
        </p:txBody>
      </p:sp>
      <p:sp>
        <p:nvSpPr>
          <p:cNvPr id="26" name="Text 23"/>
          <p:cNvSpPr txBox="1"/>
          <p:nvPr/>
        </p:nvSpPr>
        <p:spPr>
          <a:xfrm>
            <a:off x="100126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لِيفٌ</a:t>
            </a:r>
            <a:endParaRPr lang="ar-SA" sz="135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أَلْيَافٌ</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33" name="Shape 30"/>
          <p:cNvSpPr/>
          <p:nvPr/>
        </p:nvSpPr>
        <p:spPr>
          <a:xfrm>
            <a:off x="4782312" y="1938528"/>
            <a:ext cx="958291"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pl. · sing.</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فِيتَامِينَاتٌ</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vitamins</a:t>
            </a:r>
            <a:endParaRPr lang="en-US" sz="1350" dirty="0"/>
          </a:p>
          <a:p>
            <a:pPr indent="0" marL="0">
              <a:buNone/>
            </a:pPr>
            <a:r>
              <a:rPr lang="en-US" sz="1100" i="1" dirty="0">
                <a:solidFill>
                  <a:srgbClr val="5A6472"/>
                </a:solidFill>
                <a:latin typeface="Calibri" pitchFamily="34" charset="0"/>
                <a:cs typeface="Amiri" pitchFamily="2" charset="-78"/>
              </a:rPr>
              <a:t>fī-tā-mī-nā-tun</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sing.</a:t>
            </a:r>
            <a:endParaRPr lang="en-US" sz="700" dirty="0"/>
          </a:p>
        </p:txBody>
      </p:sp>
      <p:sp>
        <p:nvSpPr>
          <p:cNvPr id="41" name="Text 38"/>
          <p:cNvSpPr txBox="1"/>
          <p:nvPr/>
        </p:nvSpPr>
        <p:spPr>
          <a:xfrm>
            <a:off x="6190488"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فِيتَامِينٌ</a:t>
            </a:r>
            <a:endParaRPr lang="ar-SA" sz="135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4" name="Text 4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فِيتَامِينَاتٌ</a:t>
            </a:r>
            <a:endParaRPr lang="ar-SA" sz="150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48" name="Shape 45"/>
          <p:cNvSpPr/>
          <p:nvPr/>
        </p:nvSpPr>
        <p:spPr>
          <a:xfrm>
            <a:off x="960120" y="1938528"/>
            <a:ext cx="958291"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pl. · sing.</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مَعَادِنُ</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minerals</a:t>
            </a:r>
            <a:endParaRPr lang="en-US" sz="1350" dirty="0"/>
          </a:p>
          <a:p>
            <a:pPr indent="0" marL="0">
              <a:buNone/>
            </a:pPr>
            <a:r>
              <a:rPr lang="en-US" sz="1100" i="1" dirty="0">
                <a:solidFill>
                  <a:srgbClr val="5A6472"/>
                </a:solidFill>
                <a:latin typeface="Calibri" pitchFamily="34" charset="0"/>
                <a:cs typeface="Amiri" pitchFamily="2" charset="-78"/>
              </a:rPr>
              <a:t>ma-ʿā-di-nu</a:t>
            </a:r>
            <a:endParaRPr lang="en-US" sz="1350" dirty="0"/>
          </a:p>
        </p:txBody>
      </p:sp>
      <p:sp>
        <p:nvSpPr>
          <p:cNvPr id="54" name="Shape 5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sing.</a:t>
            </a:r>
            <a:endParaRPr lang="en-US" sz="700" dirty="0"/>
          </a:p>
        </p:txBody>
      </p:sp>
      <p:sp>
        <p:nvSpPr>
          <p:cNvPr id="56" name="Text 53"/>
          <p:cNvSpPr txBox="1"/>
          <p:nvPr/>
        </p:nvSpPr>
        <p:spPr>
          <a:xfrm>
            <a:off x="2368296"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مَعْدِنٌ</a:t>
            </a:r>
            <a:endParaRPr lang="ar-SA" sz="1350" dirty="0"/>
          </a:p>
        </p:txBody>
      </p:sp>
      <p:sp>
        <p:nvSpPr>
          <p:cNvPr id="57" name="Shape 5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9" name="Text 56"/>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مَعَادِنُ</a:t>
            </a:r>
            <a:endParaRPr lang="ar-SA" sz="1500" dirty="0"/>
          </a:p>
        </p:txBody>
      </p:sp>
      <p:sp>
        <p:nvSpPr>
          <p:cNvPr id="60" name="Shape 5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8211312" y="4261104"/>
            <a:ext cx="310896" cy="310896"/>
          </a:xfrm>
          <a:prstGeom prst="ellipse">
            <a:avLst/>
          </a:prstGeom>
          <a:solidFill>
            <a:srgbClr val="F4F1EA"/>
          </a:solidFill>
          <a:ln w="12700">
            <a:solidFill>
              <a:srgbClr val="F4F1EA"/>
            </a:solidFill>
            <a:prstDash val="solid"/>
          </a:ln>
        </p:spPr>
      </p:sp>
      <p:sp>
        <p:nvSpPr>
          <p:cNvPr id="62" name="Text 5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63" name="Text 6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سُعْرَاتٌ حَرَارِيَّةٌ</a:t>
            </a:r>
            <a:endParaRPr lang="ar-SA" sz="3000" dirty="0"/>
          </a:p>
        </p:txBody>
      </p:sp>
      <p:sp>
        <p:nvSpPr>
          <p:cNvPr id="64" name="Text 6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calories</a:t>
            </a:r>
            <a:endParaRPr lang="en-US" sz="1350" dirty="0"/>
          </a:p>
          <a:p>
            <a:pPr indent="0" marL="0">
              <a:buNone/>
            </a:pPr>
            <a:r>
              <a:rPr lang="en-US" sz="1100" i="1" dirty="0">
                <a:solidFill>
                  <a:srgbClr val="5A6472"/>
                </a:solidFill>
                <a:latin typeface="Calibri" pitchFamily="34" charset="0"/>
                <a:cs typeface="Amiri" pitchFamily="2" charset="-78"/>
              </a:rPr>
              <a:t>suʿ-rā-tun ḥa-rā-riy-ya-tun</a:t>
            </a:r>
            <a:endParaRPr lang="en-US" sz="1350" dirty="0"/>
          </a:p>
        </p:txBody>
      </p:sp>
      <p:sp>
        <p:nvSpPr>
          <p:cNvPr id="65" name="Shape 6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4389120" y="4261104"/>
            <a:ext cx="310896" cy="310896"/>
          </a:xfrm>
          <a:prstGeom prst="ellipse">
            <a:avLst/>
          </a:prstGeom>
          <a:solidFill>
            <a:srgbClr val="F4F1EA"/>
          </a:solidFill>
          <a:ln w="12700">
            <a:solidFill>
              <a:srgbClr val="F4F1EA"/>
            </a:solidFill>
            <a:prstDash val="solid"/>
          </a:ln>
        </p:spPr>
      </p:sp>
      <p:sp>
        <p:nvSpPr>
          <p:cNvPr id="67" name="Text 6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68" name="Shape 65"/>
          <p:cNvSpPr/>
          <p:nvPr/>
        </p:nvSpPr>
        <p:spPr>
          <a:xfrm>
            <a:off x="4782312" y="4279392"/>
            <a:ext cx="833933" cy="256032"/>
          </a:xfrm>
          <a:prstGeom prst="roundRect">
            <a:avLst>
              <a:gd name="adj" fmla="val 50000"/>
            </a:avLst>
          </a:prstGeom>
          <a:solidFill>
            <a:srgbClr val="EFE7D2"/>
          </a:solidFill>
          <a:ln w="12700">
            <a:solidFill>
              <a:srgbClr val="EFE7D2"/>
            </a:solidFill>
            <a:prstDash val="solid"/>
          </a:ln>
        </p:spPr>
      </p:sp>
      <p:sp>
        <p:nvSpPr>
          <p:cNvPr id="69" name="Text 66"/>
          <p:cNvSpPr txBox="1"/>
          <p:nvPr/>
        </p:nvSpPr>
        <p:spPr>
          <a:xfrm>
            <a:off x="4782312"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An iḍāfa.</a:t>
            </a:r>
            <a:endParaRPr lang="en-US" sz="800" dirty="0"/>
          </a:p>
        </p:txBody>
      </p:sp>
      <p:sp>
        <p:nvSpPr>
          <p:cNvPr id="70" name="Text 6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مَصْدَرُ طَاقَةٍ</a:t>
            </a:r>
            <a:endParaRPr lang="ar-SA" sz="3000" dirty="0"/>
          </a:p>
        </p:txBody>
      </p:sp>
      <p:sp>
        <p:nvSpPr>
          <p:cNvPr id="71" name="Text 6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an energy source</a:t>
            </a:r>
            <a:endParaRPr lang="en-US" sz="1350" dirty="0"/>
          </a:p>
          <a:p>
            <a:pPr indent="0" marL="0">
              <a:buNone/>
            </a:pPr>
            <a:r>
              <a:rPr lang="en-US" sz="1100" i="1" dirty="0">
                <a:solidFill>
                  <a:srgbClr val="5A6472"/>
                </a:solidFill>
                <a:latin typeface="Calibri" pitchFamily="34" charset="0"/>
                <a:cs typeface="Amiri" pitchFamily="2" charset="-78"/>
              </a:rPr>
              <a:t>maṣ-da-ru ṭā-qa-tin</a:t>
            </a:r>
            <a:endParaRPr lang="en-US" sz="1350" dirty="0"/>
          </a:p>
        </p:txBody>
      </p:sp>
      <p:sp>
        <p:nvSpPr>
          <p:cNvPr id="72" name="Text 6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47</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AT-A-L06 · Healthy Eating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Describing content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يَحْتَوِي عَلَى</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contains</a:t>
            </a:r>
            <a:endParaRPr lang="en-US" sz="1350" dirty="0"/>
          </a:p>
          <a:p>
            <a:pPr indent="0" marL="0">
              <a:buNone/>
            </a:pPr>
            <a:r>
              <a:rPr lang="en-US" sz="1100" i="1" dirty="0">
                <a:solidFill>
                  <a:srgbClr val="5A6472"/>
                </a:solidFill>
                <a:latin typeface="Calibri" pitchFamily="34" charset="0"/>
                <a:cs typeface="Amiri" pitchFamily="2" charset="-78"/>
              </a:rPr>
              <a:t>yaḥ-ta-wī ʿa-lā</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Form VIII, fixed with </a:t>
            </a:r>
            <a:pPr algn="l" indent="0" marL="0">
              <a:buNone/>
            </a:pPr>
            <a:r>
              <a:rPr lang="ar-SA" altLang="en-US" sz="1300" dirty="0">
                <a:solidFill>
                  <a:srgbClr val="8A6D1E"/>
                </a:solidFill>
                <a:latin typeface="Amiri" pitchFamily="2" charset="-78"/>
                <a:ea typeface="Amiri" pitchFamily="2" charset="-78"/>
                <a:cs typeface="Amiri" pitchFamily="2" charset="-78"/>
              </a:rPr>
              <a:t>عَلَى</a:t>
            </a:r>
            <a:pPr algn="l" indent="0" marL="0">
              <a:buNone/>
            </a:pPr>
            <a:r>
              <a:rPr lang="en-US" sz="1000" i="1" dirty="0">
                <a:solidFill>
                  <a:srgbClr val="8A6D1E"/>
                </a:solidFill>
                <a:latin typeface="Calibri" pitchFamily="34" charset="0"/>
                <a:cs typeface="Amiri" pitchFamily="2" charset="-78"/>
              </a:rPr>
              <a:t>.</a:t>
            </a:r>
            <a:endParaRPr lang="en-US" sz="10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26" name="Shape 23"/>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27" name="Text 24"/>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28" name="Shape 2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0" name="Text 2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غَنِيٌّ بِـ</a:t>
            </a:r>
            <a:endParaRPr lang="ar-SA" sz="3000" dirty="0"/>
          </a:p>
        </p:txBody>
      </p:sp>
      <p:sp>
        <p:nvSpPr>
          <p:cNvPr id="31" name="Text 2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rich in</a:t>
            </a:r>
            <a:endParaRPr lang="en-US" sz="1350" dirty="0"/>
          </a:p>
          <a:p>
            <a:pPr indent="0" marL="0">
              <a:buNone/>
            </a:pPr>
            <a:r>
              <a:rPr lang="en-US" sz="1100" i="1" dirty="0">
                <a:solidFill>
                  <a:srgbClr val="5A6472"/>
                </a:solidFill>
                <a:latin typeface="Calibri" pitchFamily="34" charset="0"/>
                <a:cs typeface="Amiri" pitchFamily="2" charset="-78"/>
              </a:rPr>
              <a:t>gha-niy-yun bi</a:t>
            </a:r>
            <a:endParaRPr lang="en-US" sz="1350" dirty="0"/>
          </a:p>
        </p:txBody>
      </p:sp>
      <p:sp>
        <p:nvSpPr>
          <p:cNvPr id="32" name="Shape 29"/>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33" name="Text 30"/>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things pl.</a:t>
            </a:r>
            <a:endParaRPr lang="en-US" sz="700" dirty="0"/>
          </a:p>
        </p:txBody>
      </p:sp>
      <p:sp>
        <p:nvSpPr>
          <p:cNvPr id="34" name="Text 31"/>
          <p:cNvSpPr txBox="1"/>
          <p:nvPr/>
        </p:nvSpPr>
        <p:spPr>
          <a:xfrm>
            <a:off x="6766560"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غَنِيَّةٌ بِـ</a:t>
            </a:r>
            <a:endParaRPr lang="ar-SA" sz="1350" dirty="0"/>
          </a:p>
        </p:txBody>
      </p:sp>
      <p:sp>
        <p:nvSpPr>
          <p:cNvPr id="35" name="Shape 32"/>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36" name="Text 33"/>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37" name="Text 34"/>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غَنِيَّةٌ بِـ</a:t>
            </a:r>
            <a:endParaRPr lang="ar-SA" sz="1500" dirty="0"/>
          </a:p>
        </p:txBody>
      </p:sp>
      <p:sp>
        <p:nvSpPr>
          <p:cNvPr id="38" name="Shape 35"/>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39" name="Text 36"/>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40" name="Text 37"/>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غَنِيٌّ بِـ</a:t>
            </a:r>
            <a:endParaRPr lang="ar-SA" sz="1500" dirty="0"/>
          </a:p>
        </p:txBody>
      </p:sp>
      <p:sp>
        <p:nvSpPr>
          <p:cNvPr id="41" name="Shape 3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66928" y="1920240"/>
            <a:ext cx="310896" cy="310896"/>
          </a:xfrm>
          <a:prstGeom prst="ellipse">
            <a:avLst/>
          </a:prstGeom>
          <a:solidFill>
            <a:srgbClr val="F4F1EA"/>
          </a:solidFill>
          <a:ln w="12700">
            <a:solidFill>
              <a:srgbClr val="F4F1EA"/>
            </a:solidFill>
            <a:prstDash val="solid"/>
          </a:ln>
        </p:spPr>
      </p:sp>
      <p:sp>
        <p:nvSpPr>
          <p:cNvPr id="43" name="Text 4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44" name="Text 4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يَفْتَقِرُ إِلَى</a:t>
            </a:r>
            <a:endParaRPr lang="ar-SA" sz="3000" dirty="0"/>
          </a:p>
        </p:txBody>
      </p:sp>
      <p:sp>
        <p:nvSpPr>
          <p:cNvPr id="45" name="Text 4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lacks</a:t>
            </a:r>
            <a:endParaRPr lang="en-US" sz="1350" dirty="0"/>
          </a:p>
          <a:p>
            <a:pPr indent="0" marL="0">
              <a:buNone/>
            </a:pPr>
            <a:r>
              <a:rPr lang="en-US" sz="1100" i="1" dirty="0">
                <a:solidFill>
                  <a:srgbClr val="5A6472"/>
                </a:solidFill>
                <a:latin typeface="Calibri" pitchFamily="34" charset="0"/>
                <a:cs typeface="Amiri" pitchFamily="2" charset="-78"/>
              </a:rPr>
              <a:t>yaf-ta-qi-ru i-lā</a:t>
            </a:r>
            <a:endParaRPr lang="en-US" sz="1350" dirty="0"/>
          </a:p>
        </p:txBody>
      </p:sp>
      <p:sp>
        <p:nvSpPr>
          <p:cNvPr id="46" name="Text 43"/>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Form VIII, fixed with </a:t>
            </a:r>
            <a:pPr algn="l" indent="0" marL="0">
              <a:buNone/>
            </a:pPr>
            <a:r>
              <a:rPr lang="ar-SA" altLang="en-US" sz="1300" dirty="0">
                <a:solidFill>
                  <a:srgbClr val="8A6D1E"/>
                </a:solidFill>
                <a:latin typeface="Amiri" pitchFamily="2" charset="-78"/>
                <a:ea typeface="Amiri" pitchFamily="2" charset="-78"/>
                <a:cs typeface="Amiri" pitchFamily="2" charset="-78"/>
              </a:rPr>
              <a:t>إِلَى</a:t>
            </a:r>
            <a:pPr algn="l" indent="0" marL="0">
              <a:buNone/>
            </a:pPr>
            <a:r>
              <a:rPr lang="en-US" sz="1000" i="1" dirty="0">
                <a:solidFill>
                  <a:srgbClr val="8A6D1E"/>
                </a:solidFill>
                <a:latin typeface="Calibri" pitchFamily="34" charset="0"/>
                <a:cs typeface="Amiri" pitchFamily="2" charset="-78"/>
              </a:rPr>
              <a:t>.</a:t>
            </a:r>
            <a:endParaRPr lang="en-US" sz="1000" dirty="0"/>
          </a:p>
        </p:txBody>
      </p:sp>
      <p:sp>
        <p:nvSpPr>
          <p:cNvPr id="47" name="Shape 4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11312"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50" name="Shape 47"/>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51" name="Text 48"/>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52" name="Shape 4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3" name="Text 5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4" name="Text 51"/>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مُتَوَازِنٌ / مُتَوَازِنَةٌ</a:t>
            </a:r>
            <a:endParaRPr lang="ar-SA" sz="3000" dirty="0"/>
          </a:p>
        </p:txBody>
      </p:sp>
      <p:sp>
        <p:nvSpPr>
          <p:cNvPr id="55" name="Text 52"/>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balanced</a:t>
            </a:r>
            <a:endParaRPr lang="en-US" sz="1350" dirty="0"/>
          </a:p>
          <a:p>
            <a:pPr indent="0" marL="0">
              <a:buNone/>
            </a:pPr>
            <a:r>
              <a:rPr lang="en-US" sz="1100" i="1" dirty="0">
                <a:solidFill>
                  <a:srgbClr val="5A6472"/>
                </a:solidFill>
                <a:latin typeface="Calibri" pitchFamily="34" charset="0"/>
                <a:cs typeface="Amiri" pitchFamily="2" charset="-78"/>
              </a:rPr>
              <a:t>mu-ta-wā-zi-nun / mu-ta-wā-zi-na-tun</a:t>
            </a:r>
            <a:endParaRPr lang="en-US" sz="1350" dirty="0"/>
          </a:p>
        </p:txBody>
      </p:sp>
      <p:sp>
        <p:nvSpPr>
          <p:cNvPr id="56" name="Shape 53"/>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8" name="Text 55"/>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مُتَوَازِنُونَ</a:t>
            </a:r>
            <a:endParaRPr lang="ar-SA" sz="1500" dirty="0"/>
          </a:p>
        </p:txBody>
      </p:sp>
      <p:sp>
        <p:nvSpPr>
          <p:cNvPr id="59" name="Shape 56"/>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61" name="Text 58"/>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مُتَوَازِنَةٌ</a:t>
            </a:r>
            <a:endParaRPr lang="ar-SA" sz="1500" dirty="0"/>
          </a:p>
        </p:txBody>
      </p:sp>
      <p:sp>
        <p:nvSpPr>
          <p:cNvPr id="62" name="Shape 59"/>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63" name="Text 60"/>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64" name="Text 61"/>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مُتَوَازِنٌ</a:t>
            </a:r>
            <a:endParaRPr lang="ar-SA" sz="1500" dirty="0"/>
          </a:p>
        </p:txBody>
      </p:sp>
      <p:sp>
        <p:nvSpPr>
          <p:cNvPr id="65" name="Shape 6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4389120" y="4261104"/>
            <a:ext cx="310896" cy="310896"/>
          </a:xfrm>
          <a:prstGeom prst="ellipse">
            <a:avLst/>
          </a:prstGeom>
          <a:solidFill>
            <a:srgbClr val="F4F1EA"/>
          </a:solidFill>
          <a:ln w="12700">
            <a:solidFill>
              <a:srgbClr val="F4F1EA"/>
            </a:solidFill>
            <a:prstDash val="solid"/>
          </a:ln>
        </p:spPr>
      </p:sp>
      <p:sp>
        <p:nvSpPr>
          <p:cNvPr id="67" name="Text 6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68" name="Shape 65"/>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69" name="Text 66"/>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70" name="Text 67"/>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مُعَالَجٌ / مُعَالَجَةٌ</a:t>
            </a:r>
            <a:endParaRPr lang="ar-SA" sz="3000" dirty="0"/>
          </a:p>
        </p:txBody>
      </p:sp>
      <p:sp>
        <p:nvSpPr>
          <p:cNvPr id="71" name="Text 68"/>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processed</a:t>
            </a:r>
            <a:endParaRPr lang="en-US" sz="1350" dirty="0"/>
          </a:p>
          <a:p>
            <a:pPr indent="0" marL="0">
              <a:buNone/>
            </a:pPr>
            <a:r>
              <a:rPr lang="en-US" sz="1100" i="1" dirty="0">
                <a:solidFill>
                  <a:srgbClr val="5A6472"/>
                </a:solidFill>
                <a:latin typeface="Calibri" pitchFamily="34" charset="0"/>
                <a:cs typeface="Amiri" pitchFamily="2" charset="-78"/>
              </a:rPr>
              <a:t>mu-ʿā-la-jun / mu-ʿā-la-ja-tun</a:t>
            </a:r>
            <a:endParaRPr lang="en-US" sz="1350" dirty="0"/>
          </a:p>
        </p:txBody>
      </p:sp>
      <p:sp>
        <p:nvSpPr>
          <p:cNvPr id="72" name="Shape 69"/>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things pl.</a:t>
            </a:r>
            <a:endParaRPr lang="en-US" sz="700" dirty="0"/>
          </a:p>
        </p:txBody>
      </p:sp>
      <p:sp>
        <p:nvSpPr>
          <p:cNvPr id="74" name="Text 71"/>
          <p:cNvSpPr txBox="1"/>
          <p:nvPr/>
        </p:nvSpPr>
        <p:spPr>
          <a:xfrm>
            <a:off x="6766560"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مُعَالَجَةٌ</a:t>
            </a:r>
            <a:endParaRPr lang="ar-SA" sz="1350" dirty="0"/>
          </a:p>
        </p:txBody>
      </p:sp>
      <p:sp>
        <p:nvSpPr>
          <p:cNvPr id="75" name="Shape 72"/>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76" name="Text 73"/>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77" name="Text 74"/>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مُعَالَجَةٌ</a:t>
            </a:r>
            <a:endParaRPr lang="ar-SA" sz="1500" dirty="0"/>
          </a:p>
        </p:txBody>
      </p:sp>
      <p:sp>
        <p:nvSpPr>
          <p:cNvPr id="78" name="Shape 75"/>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80" name="Text 77"/>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مُعَالَجٌ</a:t>
            </a:r>
            <a:endParaRPr lang="ar-SA" sz="1500" dirty="0"/>
          </a:p>
        </p:txBody>
      </p:sp>
      <p:sp>
        <p:nvSpPr>
          <p:cNvPr id="81" name="Text 7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47</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AT-A-L06 · Healthy Eating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Describing content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20" name="Text 17"/>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عُضْوِيٌّ / عُضْوِيَّةٌ</a:t>
            </a:r>
            <a:endParaRPr lang="ar-SA" sz="3000" dirty="0"/>
          </a:p>
        </p:txBody>
      </p:sp>
      <p:sp>
        <p:nvSpPr>
          <p:cNvPr id="21" name="Text 18"/>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organic</a:t>
            </a:r>
            <a:endParaRPr lang="en-US" sz="1350" dirty="0"/>
          </a:p>
          <a:p>
            <a:pPr indent="0" marL="0">
              <a:buNone/>
            </a:pPr>
            <a:r>
              <a:rPr lang="en-US" sz="1100" i="1" dirty="0">
                <a:solidFill>
                  <a:srgbClr val="5A6472"/>
                </a:solidFill>
                <a:latin typeface="Calibri" pitchFamily="34" charset="0"/>
                <a:cs typeface="Amiri" pitchFamily="2" charset="-78"/>
              </a:rPr>
              <a:t>ʿuḍ-wiy-yun / ʿuḍ-wiy-ya-tun</a:t>
            </a:r>
            <a:endParaRPr lang="en-US" sz="1350" dirty="0"/>
          </a:p>
        </p:txBody>
      </p:sp>
      <p:sp>
        <p:nvSpPr>
          <p:cNvPr id="22" name="Shape 19"/>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3" name="Text 20"/>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things pl.</a:t>
            </a:r>
            <a:endParaRPr lang="en-US" sz="700" dirty="0"/>
          </a:p>
        </p:txBody>
      </p:sp>
      <p:sp>
        <p:nvSpPr>
          <p:cNvPr id="24" name="Text 21"/>
          <p:cNvSpPr txBox="1"/>
          <p:nvPr/>
        </p:nvSpPr>
        <p:spPr>
          <a:xfrm>
            <a:off x="10588752"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عُضْوِيَّةٌ</a:t>
            </a:r>
            <a:endParaRPr lang="ar-SA" sz="1350" dirty="0"/>
          </a:p>
        </p:txBody>
      </p:sp>
      <p:sp>
        <p:nvSpPr>
          <p:cNvPr id="25" name="Shape 22"/>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6" name="Text 23"/>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7" name="Text 24"/>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عُضْوِيَّةٌ</a:t>
            </a:r>
            <a:endParaRPr lang="ar-SA" sz="1500" dirty="0"/>
          </a:p>
        </p:txBody>
      </p:sp>
      <p:sp>
        <p:nvSpPr>
          <p:cNvPr id="28" name="Shape 25"/>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29" name="Text 26"/>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30" name="Text 27"/>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عُضْوِيٌّ</a:t>
            </a:r>
            <a:endParaRPr lang="ar-SA" sz="1500" dirty="0"/>
          </a:p>
        </p:txBody>
      </p:sp>
      <p:sp>
        <p:nvSpPr>
          <p:cNvPr id="31" name="Shape 28"/>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389120"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34" name="Text 31"/>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نِظَامٌ غِذَائِيٌّ مُتَوَازِنٌ</a:t>
            </a:r>
            <a:endParaRPr lang="ar-SA" sz="3000" dirty="0"/>
          </a:p>
        </p:txBody>
      </p:sp>
      <p:sp>
        <p:nvSpPr>
          <p:cNvPr id="35" name="Text 32"/>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balanced diet</a:t>
            </a:r>
            <a:endParaRPr lang="en-US" sz="1350" dirty="0"/>
          </a:p>
          <a:p>
            <a:pPr indent="0" marL="0">
              <a:buNone/>
            </a:pPr>
            <a:r>
              <a:rPr lang="en-US" sz="1100" i="1" dirty="0">
                <a:solidFill>
                  <a:srgbClr val="5A6472"/>
                </a:solidFill>
                <a:latin typeface="Calibri" pitchFamily="34" charset="0"/>
                <a:cs typeface="Amiri" pitchFamily="2" charset="-78"/>
              </a:rPr>
              <a:t>ni-ẓā-mun ghi-dhā-ʾiy-yun mu-ta-wā-zi-nun</a:t>
            </a:r>
            <a:endParaRPr lang="en-US" sz="1350" dirty="0"/>
          </a:p>
        </p:txBody>
      </p:sp>
      <p:sp>
        <p:nvSpPr>
          <p:cNvPr id="36" name="Shape 33"/>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566928" y="1920240"/>
            <a:ext cx="310896" cy="310896"/>
          </a:xfrm>
          <a:prstGeom prst="ellipse">
            <a:avLst/>
          </a:prstGeom>
          <a:solidFill>
            <a:srgbClr val="F4F1EA"/>
          </a:solidFill>
          <a:ln w="12700">
            <a:solidFill>
              <a:srgbClr val="F4F1EA"/>
            </a:solidFill>
            <a:prstDash val="solid"/>
          </a:ln>
        </p:spPr>
      </p:sp>
      <p:sp>
        <p:nvSpPr>
          <p:cNvPr id="38" name="Text 35"/>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39" name="Shape 36"/>
          <p:cNvSpPr/>
          <p:nvPr/>
        </p:nvSpPr>
        <p:spPr>
          <a:xfrm>
            <a:off x="960120" y="1938528"/>
            <a:ext cx="833933" cy="256032"/>
          </a:xfrm>
          <a:prstGeom prst="roundRect">
            <a:avLst>
              <a:gd name="adj" fmla="val 50000"/>
            </a:avLst>
          </a:prstGeom>
          <a:solidFill>
            <a:srgbClr val="EFE7D2"/>
          </a:solidFill>
          <a:ln w="12700">
            <a:solidFill>
              <a:srgbClr val="EFE7D2"/>
            </a:solidFill>
            <a:prstDash val="solid"/>
          </a:ln>
        </p:spPr>
      </p:sp>
      <p:sp>
        <p:nvSpPr>
          <p:cNvPr id="40" name="Text 37"/>
          <p:cNvSpPr txBox="1"/>
          <p:nvPr/>
        </p:nvSpPr>
        <p:spPr>
          <a:xfrm>
            <a:off x="960120"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Feminine.</a:t>
            </a:r>
            <a:endParaRPr lang="en-US" sz="800" dirty="0"/>
          </a:p>
        </p:txBody>
      </p:sp>
      <p:sp>
        <p:nvSpPr>
          <p:cNvPr id="41" name="Text 38"/>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حِصَّةٌ يَوْمِيَّةٌ</a:t>
            </a:r>
            <a:endParaRPr lang="ar-SA" sz="3000" dirty="0"/>
          </a:p>
        </p:txBody>
      </p:sp>
      <p:sp>
        <p:nvSpPr>
          <p:cNvPr id="42" name="Text 39"/>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daily portion</a:t>
            </a:r>
            <a:endParaRPr lang="en-US" sz="1350" dirty="0"/>
          </a:p>
          <a:p>
            <a:pPr indent="0" marL="0">
              <a:buNone/>
            </a:pPr>
            <a:r>
              <a:rPr lang="en-US" sz="1100" i="1" dirty="0">
                <a:solidFill>
                  <a:srgbClr val="5A6472"/>
                </a:solidFill>
                <a:latin typeface="Calibri" pitchFamily="34" charset="0"/>
                <a:cs typeface="Amiri" pitchFamily="2" charset="-78"/>
              </a:rPr>
              <a:t>ḥiṣ-ṣa-tun yaw-miy-ya-tun</a:t>
            </a:r>
            <a:endParaRPr lang="en-US" sz="1350" dirty="0"/>
          </a:p>
        </p:txBody>
      </p:sp>
      <p:sp>
        <p:nvSpPr>
          <p:cNvPr id="43" name="Shape 40"/>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11312" y="4261104"/>
            <a:ext cx="310896" cy="310896"/>
          </a:xfrm>
          <a:prstGeom prst="ellipse">
            <a:avLst/>
          </a:prstGeom>
          <a:solidFill>
            <a:srgbClr val="F4F1EA"/>
          </a:solidFill>
          <a:ln w="12700">
            <a:solidFill>
              <a:srgbClr val="F4F1EA"/>
            </a:solidFill>
            <a:prstDash val="solid"/>
          </a:ln>
        </p:spPr>
      </p:sp>
      <p:sp>
        <p:nvSpPr>
          <p:cNvPr id="45" name="Text 42"/>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46" name="Text 43"/>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الهَرَمُ الغِذَائِيُّ</a:t>
            </a:r>
            <a:endParaRPr lang="ar-SA" sz="3000" dirty="0"/>
          </a:p>
        </p:txBody>
      </p:sp>
      <p:sp>
        <p:nvSpPr>
          <p:cNvPr id="47" name="Text 44"/>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food pyramid</a:t>
            </a:r>
            <a:endParaRPr lang="en-US" sz="1350" dirty="0"/>
          </a:p>
          <a:p>
            <a:pPr indent="0" marL="0">
              <a:buNone/>
            </a:pPr>
            <a:r>
              <a:rPr lang="en-US" sz="1100" i="1" dirty="0">
                <a:solidFill>
                  <a:srgbClr val="5A6472"/>
                </a:solidFill>
                <a:latin typeface="Calibri" pitchFamily="34" charset="0"/>
                <a:cs typeface="Amiri" pitchFamily="2" charset="-78"/>
              </a:rPr>
              <a:t>al-ha-ra-mu al-ghi-dhā-ʾiy-yu</a:t>
            </a:r>
            <a:endParaRPr lang="en-US" sz="13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47</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AT-A-L06 · Healthy Eating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Academic verbs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AT-A-L06</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يُوصَى بِـ</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it is recommended to</a:t>
            </a:r>
            <a:endParaRPr lang="en-US" sz="1350" dirty="0"/>
          </a:p>
          <a:p>
            <a:pPr indent="0" marL="0">
              <a:buNone/>
            </a:pPr>
            <a:r>
              <a:rPr lang="en-US" sz="1100" i="1" dirty="0">
                <a:solidFill>
                  <a:srgbClr val="5A6472"/>
                </a:solidFill>
                <a:latin typeface="Calibri" pitchFamily="34" charset="0"/>
                <a:cs typeface="Amiri" pitchFamily="2" charset="-78"/>
              </a:rPr>
              <a:t>yū-ṣā bi</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A passive; no doer is named.</a:t>
            </a:r>
            <a:endParaRPr lang="en-US" sz="10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26" name="Text 23"/>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يَسْتَهْلِكُ</a:t>
            </a:r>
            <a:endParaRPr lang="ar-SA" sz="3000" dirty="0"/>
          </a:p>
        </p:txBody>
      </p:sp>
      <p:sp>
        <p:nvSpPr>
          <p:cNvPr id="27" name="Text 24"/>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consumes</a:t>
            </a:r>
            <a:endParaRPr lang="en-US" sz="1350" dirty="0"/>
          </a:p>
          <a:p>
            <a:pPr indent="0" marL="0">
              <a:buNone/>
            </a:pPr>
            <a:r>
              <a:rPr lang="en-US" sz="1100" i="1" dirty="0">
                <a:solidFill>
                  <a:srgbClr val="5A6472"/>
                </a:solidFill>
                <a:latin typeface="Calibri" pitchFamily="34" charset="0"/>
                <a:cs typeface="Amiri" pitchFamily="2" charset="-78"/>
              </a:rPr>
              <a:t>yas-tah-li-ku</a:t>
            </a:r>
            <a:endParaRPr lang="en-US" sz="1350" dirty="0"/>
          </a:p>
        </p:txBody>
      </p:sp>
      <p:sp>
        <p:nvSpPr>
          <p:cNvPr id="28" name="Text 25"/>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Form X with a direct object.</a:t>
            </a:r>
            <a:endParaRPr lang="en-US" sz="100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يُقَلِّلُ مِنْ</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reduces</a:t>
            </a:r>
            <a:endParaRPr lang="en-US" sz="1350" dirty="0"/>
          </a:p>
          <a:p>
            <a:pPr indent="0" marL="0">
              <a:buNone/>
            </a:pPr>
            <a:r>
              <a:rPr lang="en-US" sz="1100" i="1" dirty="0">
                <a:solidFill>
                  <a:srgbClr val="5A6472"/>
                </a:solidFill>
                <a:latin typeface="Calibri" pitchFamily="34" charset="0"/>
                <a:cs typeface="Amiri" pitchFamily="2" charset="-78"/>
              </a:rPr>
              <a:t>yu-qal-li-lu min</a:t>
            </a:r>
            <a:endParaRPr lang="en-US" sz="1350" dirty="0"/>
          </a:p>
        </p:txBody>
      </p:sp>
      <p:sp>
        <p:nvSpPr>
          <p:cNvPr id="34" name="Text 31"/>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Form II, fixed with </a:t>
            </a:r>
            <a:pPr algn="l" indent="0" marL="0">
              <a:buNone/>
            </a:pPr>
            <a:r>
              <a:rPr lang="ar-SA" altLang="en-US" sz="1300" dirty="0">
                <a:solidFill>
                  <a:srgbClr val="8A6D1E"/>
                </a:solidFill>
                <a:latin typeface="Amiri" pitchFamily="2" charset="-78"/>
                <a:ea typeface="Amiri" pitchFamily="2" charset="-78"/>
                <a:cs typeface="Amiri" pitchFamily="2" charset="-78"/>
              </a:rPr>
              <a:t>مِنْ</a:t>
            </a:r>
            <a:pPr algn="l" indent="0" marL="0">
              <a:buNone/>
            </a:pPr>
            <a:r>
              <a:rPr lang="en-US" sz="1000" i="1" dirty="0">
                <a:solidFill>
                  <a:srgbClr val="8A6D1E"/>
                </a:solidFill>
                <a:latin typeface="Calibri" pitchFamily="34" charset="0"/>
                <a:cs typeface="Amiri" pitchFamily="2" charset="-78"/>
              </a:rPr>
              <a:t>.</a:t>
            </a:r>
            <a:endParaRPr lang="en-US" sz="1000" dirty="0"/>
          </a:p>
        </p:txBody>
      </p:sp>
      <p:sp>
        <p:nvSpPr>
          <p:cNvPr id="35" name="Shape 3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8211312" y="4261104"/>
            <a:ext cx="310896" cy="310896"/>
          </a:xfrm>
          <a:prstGeom prst="ellipse">
            <a:avLst/>
          </a:prstGeom>
          <a:solidFill>
            <a:srgbClr val="F4F1EA"/>
          </a:solidFill>
          <a:ln w="12700">
            <a:solidFill>
              <a:srgbClr val="F4F1EA"/>
            </a:solidFill>
            <a:prstDash val="solid"/>
          </a:ln>
        </p:spPr>
      </p:sp>
      <p:sp>
        <p:nvSpPr>
          <p:cNvPr id="37" name="Text 3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38" name="Text 35"/>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يَزِيدُ مِنْ</a:t>
            </a:r>
            <a:endParaRPr lang="ar-SA" sz="3000" dirty="0"/>
          </a:p>
        </p:txBody>
      </p:sp>
      <p:sp>
        <p:nvSpPr>
          <p:cNvPr id="39" name="Text 36"/>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increases</a:t>
            </a:r>
            <a:endParaRPr lang="en-US" sz="1350" dirty="0"/>
          </a:p>
          <a:p>
            <a:pPr indent="0" marL="0">
              <a:buNone/>
            </a:pPr>
            <a:r>
              <a:rPr lang="en-US" sz="1100" i="1" dirty="0">
                <a:solidFill>
                  <a:srgbClr val="5A6472"/>
                </a:solidFill>
                <a:latin typeface="Calibri" pitchFamily="34" charset="0"/>
                <a:cs typeface="Amiri" pitchFamily="2" charset="-78"/>
              </a:rPr>
              <a:t>ya-zī-du min</a:t>
            </a:r>
            <a:endParaRPr lang="en-US" sz="1350" dirty="0"/>
          </a:p>
        </p:txBody>
      </p:sp>
      <p:sp>
        <p:nvSpPr>
          <p:cNvPr id="40" name="Text 37"/>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Form I: </a:t>
            </a:r>
            <a:pPr algn="l" indent="0" marL="0">
              <a:buNone/>
            </a:pPr>
            <a:r>
              <a:rPr lang="ar-SA" altLang="en-US" sz="1300" dirty="0">
                <a:solidFill>
                  <a:srgbClr val="8A6D1E"/>
                </a:solidFill>
                <a:latin typeface="Amiri" pitchFamily="2" charset="-78"/>
                <a:ea typeface="Amiri" pitchFamily="2" charset="-78"/>
                <a:cs typeface="Amiri" pitchFamily="2" charset="-78"/>
              </a:rPr>
              <a:t>زَادَ / يَزِيدُ</a:t>
            </a:r>
            <a:pPr algn="l" indent="0" marL="0">
              <a:buNone/>
            </a:pPr>
            <a:r>
              <a:rPr lang="en-US" sz="1000" i="1" dirty="0">
                <a:solidFill>
                  <a:srgbClr val="8A6D1E"/>
                </a:solidFill>
                <a:latin typeface="Calibri" pitchFamily="34" charset="0"/>
                <a:cs typeface="Amiri" pitchFamily="2" charset="-78"/>
              </a:rPr>
              <a:t>, hollow.</a:t>
            </a:r>
            <a:endParaRPr lang="en-US" sz="100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47</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AT-A-L06 · Healthy Eating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Academic verbs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AT-A-L06</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يُسَبِّبُ</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causes</a:t>
            </a:r>
            <a:endParaRPr lang="en-US" sz="1350" dirty="0"/>
          </a:p>
          <a:p>
            <a:pPr indent="0" marL="0">
              <a:buNone/>
            </a:pPr>
            <a:r>
              <a:rPr lang="en-US" sz="1100" i="1" dirty="0">
                <a:solidFill>
                  <a:srgbClr val="5A6472"/>
                </a:solidFill>
                <a:latin typeface="Calibri" pitchFamily="34" charset="0"/>
                <a:cs typeface="Amiri" pitchFamily="2" charset="-78"/>
              </a:rPr>
              <a:t>yu-sab-bi-bu</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Form II with a direct object.</a:t>
            </a:r>
            <a:endParaRPr lang="en-US" sz="10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25</a:t>
            </a:r>
            <a:endParaRPr lang="en-US" sz="1000" dirty="0"/>
          </a:p>
        </p:txBody>
      </p:sp>
      <p:sp>
        <p:nvSpPr>
          <p:cNvPr id="26" name="Shape 23"/>
          <p:cNvSpPr/>
          <p:nvPr/>
        </p:nvSpPr>
        <p:spPr>
          <a:xfrm>
            <a:off x="4782312" y="1938528"/>
            <a:ext cx="1331366" cy="256032"/>
          </a:xfrm>
          <a:prstGeom prst="roundRect">
            <a:avLst>
              <a:gd name="adj" fmla="val 50000"/>
            </a:avLst>
          </a:prstGeom>
          <a:solidFill>
            <a:srgbClr val="EFE7D2"/>
          </a:solidFill>
          <a:ln w="12700">
            <a:solidFill>
              <a:srgbClr val="EFE7D2"/>
            </a:solidFill>
            <a:prstDash val="solid"/>
          </a:ln>
        </p:spPr>
      </p:sp>
      <p:sp>
        <p:nvSpPr>
          <p:cNvPr id="27" name="Text 24"/>
          <p:cNvSpPr txBox="1"/>
          <p:nvPr/>
        </p:nvSpPr>
        <p:spPr>
          <a:xfrm>
            <a:off x="4782312" y="1938528"/>
            <a:ext cx="1331366" cy="256032"/>
          </a:xfrm>
          <a:prstGeom prst="rect">
            <a:avLst/>
          </a:prstGeom>
          <a:noFill/>
          <a:ln/>
        </p:spPr>
        <p:txBody>
          <a:bodyPr wrap="square" lIns="0" tIns="0" rIns="0" bIns="0" rtlCol="0" anchor="ctr"/>
          <a:lstStyle/>
          <a:p>
            <a:pPr algn="ctr" indent="0" marL="0">
              <a:buNone/>
            </a:pPr>
            <a:r>
              <a:rPr lang="ar-SA" sz="800" b="1" dirty="0">
                <a:solidFill>
                  <a:srgbClr val="8A6D1E"/>
                </a:solidFill>
                <a:latin typeface="Calibri" pitchFamily="34" charset="0"/>
                <a:ea typeface="Amiri" pitchFamily="2" charset="-78"/>
                <a:cs typeface="Amiri" pitchFamily="2" charset="-78"/>
              </a:rPr>
              <a:t>Fixed with إِلَى.</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يُؤَدِّي إِلَى</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leads to</a:t>
            </a:r>
            <a:endParaRPr lang="en-US" sz="1350" dirty="0"/>
          </a:p>
          <a:p>
            <a:pPr indent="0" marL="0">
              <a:buNone/>
            </a:pPr>
            <a:r>
              <a:rPr lang="en-US" sz="1100" i="1" dirty="0">
                <a:solidFill>
                  <a:srgbClr val="5A6472"/>
                </a:solidFill>
                <a:latin typeface="Calibri" pitchFamily="34" charset="0"/>
                <a:cs typeface="Amiri" pitchFamily="2" charset="-78"/>
              </a:rPr>
              <a:t>yu-ʾad-dī i-lā</a:t>
            </a:r>
            <a:endParaRPr lang="en-US" sz="1350" dirty="0"/>
          </a:p>
        </p:txBody>
      </p:sp>
      <p:sp>
        <p:nvSpPr>
          <p:cNvPr id="30" name="Shape 27"/>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566928"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26</a:t>
            </a:r>
            <a:endParaRPr lang="en-US" sz="1000" dirty="0"/>
          </a:p>
        </p:txBody>
      </p:sp>
      <p:sp>
        <p:nvSpPr>
          <p:cNvPr id="33" name="Text 30"/>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يُنْصَحُ بِـ</a:t>
            </a:r>
            <a:endParaRPr lang="ar-SA" sz="3000" dirty="0"/>
          </a:p>
        </p:txBody>
      </p:sp>
      <p:sp>
        <p:nvSpPr>
          <p:cNvPr id="34" name="Text 31"/>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it is advised to</a:t>
            </a:r>
            <a:endParaRPr lang="en-US" sz="1350" dirty="0"/>
          </a:p>
          <a:p>
            <a:pPr indent="0" marL="0">
              <a:buNone/>
            </a:pPr>
            <a:r>
              <a:rPr lang="en-US" sz="1100" i="1" dirty="0">
                <a:solidFill>
                  <a:srgbClr val="5A6472"/>
                </a:solidFill>
                <a:latin typeface="Calibri" pitchFamily="34" charset="0"/>
                <a:cs typeface="Amiri" pitchFamily="2" charset="-78"/>
              </a:rPr>
              <a:t>yun-ṣa-ḥu bi</a:t>
            </a:r>
            <a:endParaRPr lang="en-US" sz="1350" dirty="0"/>
          </a:p>
        </p:txBody>
      </p:sp>
      <p:sp>
        <p:nvSpPr>
          <p:cNvPr id="35" name="Shape 3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8211312" y="4261104"/>
            <a:ext cx="310896" cy="310896"/>
          </a:xfrm>
          <a:prstGeom prst="ellipse">
            <a:avLst/>
          </a:prstGeom>
          <a:solidFill>
            <a:srgbClr val="F4F1EA"/>
          </a:solidFill>
          <a:ln w="12700">
            <a:solidFill>
              <a:srgbClr val="F4F1EA"/>
            </a:solidFill>
            <a:prstDash val="solid"/>
          </a:ln>
        </p:spPr>
      </p:sp>
      <p:sp>
        <p:nvSpPr>
          <p:cNvPr id="37" name="Text 3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27</a:t>
            </a:r>
            <a:endParaRPr lang="en-US" sz="1000" dirty="0"/>
          </a:p>
        </p:txBody>
      </p:sp>
      <p:sp>
        <p:nvSpPr>
          <p:cNvPr id="38" name="Shape 35"/>
          <p:cNvSpPr/>
          <p:nvPr/>
        </p:nvSpPr>
        <p:spPr>
          <a:xfrm>
            <a:off x="8604504" y="4279392"/>
            <a:ext cx="833933" cy="256032"/>
          </a:xfrm>
          <a:prstGeom prst="roundRect">
            <a:avLst>
              <a:gd name="adj" fmla="val 50000"/>
            </a:avLst>
          </a:prstGeom>
          <a:solidFill>
            <a:srgbClr val="EFE7D2"/>
          </a:solidFill>
          <a:ln w="12700">
            <a:solidFill>
              <a:srgbClr val="EFE7D2"/>
            </a:solidFill>
            <a:prstDash val="solid"/>
          </a:ln>
        </p:spPr>
      </p:sp>
      <p:sp>
        <p:nvSpPr>
          <p:cNvPr id="39" name="Text 36"/>
          <p:cNvSpPr txBox="1"/>
          <p:nvPr/>
        </p:nvSpPr>
        <p:spPr>
          <a:xfrm>
            <a:off x="8604504"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Feminine.</a:t>
            </a:r>
            <a:endParaRPr lang="en-US" sz="800" dirty="0"/>
          </a:p>
        </p:txBody>
      </p:sp>
      <p:sp>
        <p:nvSpPr>
          <p:cNvPr id="40" name="Text 37"/>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التَّغْذِيَةُ</a:t>
            </a:r>
            <a:endParaRPr lang="ar-SA" sz="3000" dirty="0"/>
          </a:p>
        </p:txBody>
      </p:sp>
      <p:sp>
        <p:nvSpPr>
          <p:cNvPr id="41" name="Text 38"/>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nutrition</a:t>
            </a:r>
            <a:endParaRPr lang="en-US" sz="1350" dirty="0"/>
          </a:p>
          <a:p>
            <a:pPr indent="0" marL="0">
              <a:buNone/>
            </a:pPr>
            <a:r>
              <a:rPr lang="en-US" sz="1100" i="1" dirty="0">
                <a:solidFill>
                  <a:srgbClr val="5A6472"/>
                </a:solidFill>
                <a:latin typeface="Calibri" pitchFamily="34" charset="0"/>
                <a:cs typeface="Amiri" pitchFamily="2" charset="-78"/>
              </a:rPr>
              <a:t>at-tagh-dhi-ya-tu</a:t>
            </a:r>
            <a:endParaRPr lang="en-US" sz="13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47</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AT-A-L06 · Healthy Eating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FOCUS · PART 1 · THREE WAYS TO DESCRIBE CONTENT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Contains · rich in · lacks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يَحْتَوِي · غَنِيٌّ · يَفْتَقِرُ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427464"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Structure</a:t>
            </a:r>
            <a:endParaRPr lang="en-US" sz="1100" dirty="0"/>
          </a:p>
        </p:txBody>
      </p:sp>
      <p:sp>
        <p:nvSpPr>
          <p:cNvPr id="17" name="Text 14"/>
          <p:cNvSpPr txBox="1"/>
          <p:nvPr/>
        </p:nvSpPr>
        <p:spPr>
          <a:xfrm>
            <a:off x="7690104" y="1810512"/>
            <a:ext cx="1591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Preposition</a:t>
            </a:r>
            <a:endParaRPr lang="en-US" sz="1100" dirty="0"/>
          </a:p>
        </p:txBody>
      </p:sp>
      <p:sp>
        <p:nvSpPr>
          <p:cNvPr id="18" name="Text 15"/>
          <p:cNvSpPr txBox="1"/>
          <p:nvPr/>
        </p:nvSpPr>
        <p:spPr>
          <a:xfrm>
            <a:off x="3118104"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a:t>
            </a:r>
            <a:endParaRPr lang="en-US" sz="1100" dirty="0"/>
          </a:p>
        </p:txBody>
      </p:sp>
      <p:sp>
        <p:nvSpPr>
          <p:cNvPr id="19" name="Text 16"/>
          <p:cNvSpPr txBox="1"/>
          <p:nvPr/>
        </p:nvSpPr>
        <p:spPr>
          <a:xfrm>
            <a:off x="530352" y="1810512"/>
            <a:ext cx="24414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9445752" y="2267712"/>
            <a:ext cx="219456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غَنِيٌّ / غَنِيَّةٌ</a:t>
            </a:r>
            <a:endParaRPr lang="ar-SA" sz="2400" dirty="0"/>
          </a:p>
        </p:txBody>
      </p:sp>
      <p:sp>
        <p:nvSpPr>
          <p:cNvPr id="22" name="Text 19"/>
          <p:cNvSpPr txBox="1"/>
          <p:nvPr/>
        </p:nvSpPr>
        <p:spPr>
          <a:xfrm>
            <a:off x="7708392" y="2267712"/>
            <a:ext cx="1554480" cy="731520"/>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ea typeface="Amiri" pitchFamily="2" charset="-78"/>
                <a:cs typeface="Amiri" pitchFamily="2" charset="-78"/>
              </a:rPr>
              <a:t>بِـ</a:t>
            </a:r>
            <a:endParaRPr lang="ar-SA" sz="2400" dirty="0"/>
          </a:p>
        </p:txBody>
      </p:sp>
      <p:sp>
        <p:nvSpPr>
          <p:cNvPr id="23" name="Text 20"/>
          <p:cNvSpPr txBox="1"/>
          <p:nvPr/>
        </p:nvSpPr>
        <p:spPr>
          <a:xfrm>
            <a:off x="3136392" y="2267712"/>
            <a:ext cx="438912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التَّمْرُ غَنِيٌّ </a:t>
            </a:r>
            <a:pPr rtl="1" algn="ctr" indent="0" marL="0">
              <a:buNone/>
            </a:pPr>
            <a:r>
              <a:rPr lang="ar-SA" altLang="en-US" sz="2200" b="1" dirty="0">
                <a:solidFill>
                  <a:srgbClr val="0E7C86"/>
                </a:solidFill>
                <a:latin typeface="Amiri" pitchFamily="2" charset="-78"/>
                <a:ea typeface="Amiri" pitchFamily="2" charset="-78"/>
                <a:cs typeface="Amiri" pitchFamily="2" charset="-78"/>
              </a:rPr>
              <a:t>بِالحَدِيدِ</a:t>
            </a:r>
            <a:pPr rtl="1" algn="ctr" indent="0" marL="0">
              <a:buNone/>
            </a:pPr>
            <a:r>
              <a:rPr lang="ar-SA" altLang="en-US" sz="2200" b="1" dirty="0">
                <a:solidFill>
                  <a:srgbClr val="1B3B6F"/>
                </a:solidFill>
                <a:latin typeface="Amiri" pitchFamily="2" charset="-78"/>
                <a:cs typeface="Amiri" pitchFamily="2" charset="-78"/>
              </a:rPr>
              <a:t>.</a:t>
            </a:r>
            <a:endParaRPr lang="ar-SA" sz="2200" dirty="0"/>
          </a:p>
        </p:txBody>
      </p:sp>
      <p:sp>
        <p:nvSpPr>
          <p:cNvPr id="24" name="Text 21"/>
          <p:cNvSpPr txBox="1"/>
          <p:nvPr/>
        </p:nvSpPr>
        <p:spPr>
          <a:xfrm>
            <a:off x="566928" y="2267712"/>
            <a:ext cx="24048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rich in — dates are rich in iron</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9445752" y="3054096"/>
            <a:ext cx="219456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يَحْتَوِي / تَحْتَوِي</a:t>
            </a:r>
            <a:endParaRPr lang="ar-SA" sz="2400" dirty="0"/>
          </a:p>
        </p:txBody>
      </p:sp>
      <p:sp>
        <p:nvSpPr>
          <p:cNvPr id="29" name="Text 26"/>
          <p:cNvSpPr txBox="1"/>
          <p:nvPr/>
        </p:nvSpPr>
        <p:spPr>
          <a:xfrm>
            <a:off x="7708392" y="3054096"/>
            <a:ext cx="1554480" cy="731520"/>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ea typeface="Amiri" pitchFamily="2" charset="-78"/>
                <a:cs typeface="Amiri" pitchFamily="2" charset="-78"/>
              </a:rPr>
              <a:t>عَلَى</a:t>
            </a:r>
            <a:endParaRPr lang="ar-SA" sz="2400" dirty="0"/>
          </a:p>
        </p:txBody>
      </p:sp>
      <p:sp>
        <p:nvSpPr>
          <p:cNvPr id="30" name="Text 27"/>
          <p:cNvSpPr txBox="1"/>
          <p:nvPr/>
        </p:nvSpPr>
        <p:spPr>
          <a:xfrm>
            <a:off x="3136392" y="3054096"/>
            <a:ext cx="438912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يَحْتَوِي السَّمَكُ </a:t>
            </a:r>
            <a:pPr rtl="1" algn="ctr" indent="0" marL="0">
              <a:buNone/>
            </a:pPr>
            <a:r>
              <a:rPr lang="ar-SA" altLang="en-US" sz="2200" b="1" dirty="0">
                <a:solidFill>
                  <a:srgbClr val="0E7C86"/>
                </a:solidFill>
                <a:latin typeface="Amiri" pitchFamily="2" charset="-78"/>
                <a:ea typeface="Amiri" pitchFamily="2" charset="-78"/>
                <a:cs typeface="Amiri" pitchFamily="2" charset="-78"/>
              </a:rPr>
              <a:t>عَلَى</a:t>
            </a:r>
            <a:pPr rtl="1" algn="ctr" indent="0" marL="0">
              <a:buNone/>
            </a:pPr>
            <a:r>
              <a:rPr lang="ar-SA" altLang="en-US" sz="2200" b="1" dirty="0">
                <a:solidFill>
                  <a:srgbClr val="1B3B6F"/>
                </a:solidFill>
                <a:latin typeface="Amiri" pitchFamily="2" charset="-78"/>
                <a:ea typeface="Amiri" pitchFamily="2" charset="-78"/>
                <a:cs typeface="Amiri" pitchFamily="2" charset="-78"/>
              </a:rPr>
              <a:t> بُرُوتِينٍ.</a:t>
            </a:r>
            <a:endParaRPr lang="ar-SA" sz="2200" dirty="0"/>
          </a:p>
        </p:txBody>
      </p:sp>
      <p:sp>
        <p:nvSpPr>
          <p:cNvPr id="31" name="Text 28"/>
          <p:cNvSpPr txBox="1"/>
          <p:nvPr/>
        </p:nvSpPr>
        <p:spPr>
          <a:xfrm>
            <a:off x="566928" y="3054096"/>
            <a:ext cx="24048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contains — fish contains protein</a:t>
            </a:r>
            <a:endParaRPr lang="en-US" sz="1100" dirty="0"/>
          </a:p>
        </p:txBody>
      </p:sp>
      <p:sp>
        <p:nvSpPr>
          <p:cNvPr id="32" name="Shape 29"/>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5" name="Text 32"/>
          <p:cNvSpPr txBox="1"/>
          <p:nvPr/>
        </p:nvSpPr>
        <p:spPr>
          <a:xfrm>
            <a:off x="9445752" y="3840480"/>
            <a:ext cx="219456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يَفْتَقِرُ / تَفْتَقِرُ</a:t>
            </a:r>
            <a:endParaRPr lang="ar-SA" sz="2400" dirty="0"/>
          </a:p>
        </p:txBody>
      </p:sp>
      <p:sp>
        <p:nvSpPr>
          <p:cNvPr id="36" name="Text 33"/>
          <p:cNvSpPr txBox="1"/>
          <p:nvPr/>
        </p:nvSpPr>
        <p:spPr>
          <a:xfrm>
            <a:off x="7708392" y="3840480"/>
            <a:ext cx="1554480" cy="731520"/>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ea typeface="Amiri" pitchFamily="2" charset="-78"/>
                <a:cs typeface="Amiri" pitchFamily="2" charset="-78"/>
              </a:rPr>
              <a:t>إِلَى</a:t>
            </a:r>
            <a:endParaRPr lang="ar-SA" sz="2400" dirty="0"/>
          </a:p>
        </p:txBody>
      </p:sp>
      <p:sp>
        <p:nvSpPr>
          <p:cNvPr id="37" name="Text 34"/>
          <p:cNvSpPr txBox="1"/>
          <p:nvPr/>
        </p:nvSpPr>
        <p:spPr>
          <a:xfrm>
            <a:off x="3136392" y="3840480"/>
            <a:ext cx="438912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يَفْتَقِرُ الطَّعَامُ </a:t>
            </a:r>
            <a:pPr rtl="1" algn="ctr" indent="0" marL="0">
              <a:buNone/>
            </a:pPr>
            <a:r>
              <a:rPr lang="ar-SA" altLang="en-US" sz="2200" b="1" dirty="0">
                <a:solidFill>
                  <a:srgbClr val="0E7C86"/>
                </a:solidFill>
                <a:latin typeface="Amiri" pitchFamily="2" charset="-78"/>
                <a:ea typeface="Amiri" pitchFamily="2" charset="-78"/>
                <a:cs typeface="Amiri" pitchFamily="2" charset="-78"/>
              </a:rPr>
              <a:t>إِلَى</a:t>
            </a:r>
            <a:pPr rtl="1" algn="ctr" indent="0" marL="0">
              <a:buNone/>
            </a:pPr>
            <a:r>
              <a:rPr lang="ar-SA" altLang="en-US" sz="2200" b="1" dirty="0">
                <a:solidFill>
                  <a:srgbClr val="1B3B6F"/>
                </a:solidFill>
                <a:latin typeface="Amiri" pitchFamily="2" charset="-78"/>
                <a:ea typeface="Amiri" pitchFamily="2" charset="-78"/>
                <a:cs typeface="Amiri" pitchFamily="2" charset="-78"/>
              </a:rPr>
              <a:t> الأَلْيَافِ.</a:t>
            </a:r>
            <a:endParaRPr lang="ar-SA" sz="2200" dirty="0"/>
          </a:p>
        </p:txBody>
      </p:sp>
      <p:sp>
        <p:nvSpPr>
          <p:cNvPr id="38" name="Text 35"/>
          <p:cNvSpPr txBox="1"/>
          <p:nvPr/>
        </p:nvSpPr>
        <p:spPr>
          <a:xfrm>
            <a:off x="566928" y="3840480"/>
            <a:ext cx="24048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lacks — the food lacks fibre</a:t>
            </a:r>
            <a:endParaRPr lang="en-US" sz="1100" dirty="0"/>
          </a:p>
        </p:txBody>
      </p:sp>
      <p:sp>
        <p:nvSpPr>
          <p:cNvPr id="39" name="Shape 36"/>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0" name="Text 37"/>
          <p:cNvSpPr txBox="1"/>
          <p:nvPr/>
        </p:nvSpPr>
        <p:spPr>
          <a:xfrm>
            <a:off x="9445752" y="4626864"/>
            <a:ext cx="219456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يُقَلِّلُ</a:t>
            </a:r>
            <a:endParaRPr lang="ar-SA" sz="2400" dirty="0"/>
          </a:p>
        </p:txBody>
      </p:sp>
      <p:sp>
        <p:nvSpPr>
          <p:cNvPr id="41" name="Text 38"/>
          <p:cNvSpPr txBox="1"/>
          <p:nvPr/>
        </p:nvSpPr>
        <p:spPr>
          <a:xfrm>
            <a:off x="7708392" y="4626864"/>
            <a:ext cx="1554480" cy="731520"/>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ea typeface="Amiri" pitchFamily="2" charset="-78"/>
                <a:cs typeface="Amiri" pitchFamily="2" charset="-78"/>
              </a:rPr>
              <a:t>مِنْ</a:t>
            </a:r>
            <a:endParaRPr lang="ar-SA" sz="2400" dirty="0"/>
          </a:p>
        </p:txBody>
      </p:sp>
      <p:sp>
        <p:nvSpPr>
          <p:cNvPr id="42" name="Text 39"/>
          <p:cNvSpPr txBox="1"/>
          <p:nvPr/>
        </p:nvSpPr>
        <p:spPr>
          <a:xfrm>
            <a:off x="3136392" y="4626864"/>
            <a:ext cx="438912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يُقَلِّلُ </a:t>
            </a:r>
            <a:pPr rtl="1" algn="ctr" indent="0" marL="0">
              <a:buNone/>
            </a:pPr>
            <a:r>
              <a:rPr lang="ar-SA" altLang="en-US" sz="2200" b="1" dirty="0">
                <a:solidFill>
                  <a:srgbClr val="0E7C86"/>
                </a:solidFill>
                <a:latin typeface="Amiri" pitchFamily="2" charset="-78"/>
                <a:ea typeface="Amiri" pitchFamily="2" charset="-78"/>
                <a:cs typeface="Amiri" pitchFamily="2" charset="-78"/>
              </a:rPr>
              <a:t>مِنَ</a:t>
            </a:r>
            <a:pPr rtl="1" algn="ctr" indent="0" marL="0">
              <a:buNone/>
            </a:pPr>
            <a:r>
              <a:rPr lang="ar-SA" altLang="en-US" sz="2200" b="1" dirty="0">
                <a:solidFill>
                  <a:srgbClr val="1B3B6F"/>
                </a:solidFill>
                <a:latin typeface="Amiri" pitchFamily="2" charset="-78"/>
                <a:ea typeface="Amiri" pitchFamily="2" charset="-78"/>
                <a:cs typeface="Amiri" pitchFamily="2" charset="-78"/>
              </a:rPr>
              <a:t> الخَطَرِ.</a:t>
            </a:r>
            <a:endParaRPr lang="ar-SA" sz="2200" dirty="0"/>
          </a:p>
        </p:txBody>
      </p:sp>
      <p:sp>
        <p:nvSpPr>
          <p:cNvPr id="43" name="Text 40"/>
          <p:cNvSpPr txBox="1"/>
          <p:nvPr/>
        </p:nvSpPr>
        <p:spPr>
          <a:xfrm>
            <a:off x="566928" y="4626864"/>
            <a:ext cx="24048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reduces — it reduces the risk</a:t>
            </a:r>
            <a:endParaRPr lang="en-US" sz="1100" dirty="0"/>
          </a:p>
        </p:txBody>
      </p:sp>
      <p:sp>
        <p:nvSpPr>
          <p:cNvPr id="44" name="Text 4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Feminine food → feminine verb or adjective: as-salaṭa ghaniyya bi- … · taḥtawī ‘alā …</a:t>
            </a:r>
            <a:endParaRPr lang="en-US" sz="11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47</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AT-A-L06 · Healthy Eating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46" b="1" spc="150" kern="0" dirty="0">
                <a:solidFill>
                  <a:srgbClr val="1B3B6F"/>
                </a:solidFill>
                <a:latin typeface="Calibri" pitchFamily="34" charset="0"/>
                <a:cs typeface="Amiri" pitchFamily="2" charset="-78"/>
              </a:rPr>
              <a:t>GRAMMAR FOCUS · PART 2 · AGREEMENT AND ADVICE (WEBSITE RULES) · DEVELOP / STRETCH</a:t>
            </a:r>
            <a:endParaRPr lang="en-US" sz="846"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Plurals of things, and advice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دُهُونٌ مُشْبَعَةٌ · يُوصَى بِـ</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AT-A-L06</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303020" cy="274320"/>
          </a:xfrm>
          <a:prstGeom prst="roundRect">
            <a:avLst>
              <a:gd name="adj" fmla="val 50000"/>
            </a:avLst>
          </a:prstGeom>
          <a:solidFill>
            <a:srgbClr val="1E7B4F"/>
          </a:solidFill>
          <a:ln w="12700">
            <a:solidFill>
              <a:srgbClr val="1E7B4F"/>
            </a:solidFill>
            <a:prstDash val="solid"/>
          </a:ln>
        </p:spPr>
      </p:sp>
      <p:sp>
        <p:nvSpPr>
          <p:cNvPr id="17" name="Text 14"/>
          <p:cNvSpPr txBox="1"/>
          <p:nvPr/>
        </p:nvSpPr>
        <p:spPr>
          <a:xfrm>
            <a:off x="8232648" y="1920240"/>
            <a:ext cx="13030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HEALTHY? · CORE</a:t>
            </a:r>
            <a:endParaRPr lang="en-US" sz="850" dirty="0"/>
          </a:p>
        </p:txBody>
      </p:sp>
      <p:sp>
        <p:nvSpPr>
          <p:cNvPr id="18" name="Text 15"/>
          <p:cNvSpPr txBox="1"/>
          <p:nvPr/>
        </p:nvSpPr>
        <p:spPr>
          <a:xfrm>
            <a:off x="9581388" y="1874520"/>
            <a:ext cx="20132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صِحِّيٌّ / صِحِّيَّةٌ</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السَّلَطَةُ صِحِّيَّةٌ لِأَنَّهَا غَنِيَّةٌ بِالفِيتَامِينَاتِ.</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Salad is healthy because it is rich in vitamins.</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Salad is feminine → -iyya.</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64592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4413504" y="1920240"/>
            <a:ext cx="16459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THINGS PL. · DEVELOP</a:t>
            </a:r>
            <a:endParaRPr lang="en-US" sz="850" dirty="0"/>
          </a:p>
        </p:txBody>
      </p:sp>
      <p:sp>
        <p:nvSpPr>
          <p:cNvPr id="26" name="Text 23"/>
          <p:cNvSpPr txBox="1"/>
          <p:nvPr/>
        </p:nvSpPr>
        <p:spPr>
          <a:xfrm>
            <a:off x="6105144" y="1874520"/>
            <a:ext cx="1670304" cy="365760"/>
          </a:xfrm>
          <a:prstGeom prst="rect">
            <a:avLst/>
          </a:prstGeom>
          <a:noFill/>
          <a:ln/>
        </p:spPr>
        <p:txBody>
          <a:bodyPr wrap="square" lIns="0" tIns="0" rIns="0" bIns="0" rtlCol="0" anchor="ctr"/>
          <a:lstStyle/>
          <a:p>
            <a:pPr algn="l" indent="0" marL="0">
              <a:buNone/>
            </a:pPr>
            <a:r>
              <a:rPr lang="en-US" sz="1600" b="1" dirty="0">
                <a:solidFill>
                  <a:srgbClr val="8A6D1E"/>
                </a:solidFill>
                <a:latin typeface="Calibri" pitchFamily="34" charset="0"/>
                <a:cs typeface="Amiri" pitchFamily="2" charset="-78"/>
              </a:rPr>
              <a:t>things → f. sing.</a:t>
            </a:r>
            <a:endParaRPr lang="en-US"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2850" b="1" dirty="0">
                <a:solidFill>
                  <a:srgbClr val="1B3B6F"/>
                </a:solidFill>
                <a:latin typeface="Amiri" pitchFamily="2" charset="-78"/>
                <a:ea typeface="Amiri" pitchFamily="2" charset="-78"/>
                <a:cs typeface="Amiri" pitchFamily="2" charset="-78"/>
              </a:rPr>
              <a:t>دُهُونٌ مُشْبَعَةٌ · مَعَادِنُ مُهِمَّةٌ</a:t>
            </a:r>
            <a:endParaRPr lang="ar-SA" sz="28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saturated fats · important minerals</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Not -ūna: that is for people.</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371600" cy="274320"/>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594360" y="1920240"/>
            <a:ext cx="13716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ADVICE · STRETCH</a:t>
            </a:r>
            <a:endParaRPr lang="en-US" sz="850" dirty="0"/>
          </a:p>
        </p:txBody>
      </p:sp>
      <p:sp>
        <p:nvSpPr>
          <p:cNvPr id="34" name="Text 31"/>
          <p:cNvSpPr txBox="1"/>
          <p:nvPr/>
        </p:nvSpPr>
        <p:spPr>
          <a:xfrm>
            <a:off x="2011680" y="1874520"/>
            <a:ext cx="19446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يُوصَى بِـ</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يُوصَى بِتَقْلِيلِ السُّكَّرِ.</a:t>
            </a:r>
            <a:endParaRPr lang="ar-SA" sz="32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It is recommended to reduce sugar.</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No doer named: passive.</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common error: a plural of things is not human.</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دُهُونٌ مُشْبَعَةٌ</a:t>
            </a:r>
            <a:endParaRPr lang="ar-SA" sz="26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2" charset="-78"/>
                <a:ea typeface="Amiri" pitchFamily="2" charset="-78"/>
                <a:cs typeface="Amiri" pitchFamily="2" charset="-78"/>
              </a:rPr>
              <a:t>دُهُونٌ مُشْبَعُونَ</a:t>
            </a:r>
            <a:endParaRPr lang="ar-SA" sz="26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47</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AT-A-L06 · Healthy Eating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Describing nutritional content formally</a:t>
            </a:r>
            <a:endParaRPr lang="en-US" sz="24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650" b="1" dirty="0">
                <a:solidFill>
                  <a:srgbClr val="8A6D1E"/>
                </a:solidFill>
                <a:latin typeface="Amiri" pitchFamily="2" charset="-78"/>
                <a:ea typeface="Amiri" pitchFamily="2" charset="-78"/>
                <a:cs typeface="Amiri" pitchFamily="2" charset="-78"/>
              </a:rPr>
              <a:t>وَصْفُ المُحْتَوَى الغِذَائِيِّ بِأُسْلُوبٍ عِلْمِيٍّ</a:t>
            </a:r>
            <a:endParaRPr lang="ar-SA" sz="265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AT-A-L06</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a:t>
            </a:r>
            <a:pPr algn="l" indent="0" marL="0">
              <a:buNone/>
            </a:pPr>
            <a:r>
              <a:rPr lang="ar-SA" altLang="en-US" sz="1650" b="1" dirty="0">
                <a:solidFill>
                  <a:srgbClr val="1B3B6F"/>
                </a:solidFill>
                <a:latin typeface="Amiri" pitchFamily="2" charset="-78"/>
                <a:ea typeface="Amiri" pitchFamily="2" charset="-78"/>
                <a:cs typeface="Amiri" pitchFamily="2" charset="-78"/>
              </a:rPr>
              <a:t>يَحْتَوِي عَلَى</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يَحْتَوِي عَلَى</a:t>
            </a:r>
            <a:pPr algn="l" indent="0" marL="0">
              <a:buNone/>
            </a:pPr>
            <a:r>
              <a:rPr lang="en-US" sz="1050" dirty="0">
                <a:solidFill>
                  <a:srgbClr val="5A6472"/>
                </a:solidFill>
                <a:latin typeface="Calibri" pitchFamily="34" charset="0"/>
                <a:cs typeface="Amiri" pitchFamily="2" charset="-78"/>
              </a:rPr>
              <a:t> + genitive</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يَحْتَوِي السَّمَكُ عَلَى بُرُوتِينٍ عَالِي الجَوْدَةِ   ·   تَحْتَوِي الخُضَرُ عَلَى أَلْيَافٍ كَثِيرَةٍ</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a:t>
            </a:r>
            <a:pPr algn="l" indent="0" marL="0">
              <a:buNone/>
            </a:pPr>
            <a:r>
              <a:rPr lang="ar-SA" altLang="en-US" sz="1650" b="1" dirty="0">
                <a:solidFill>
                  <a:srgbClr val="1B3B6F"/>
                </a:solidFill>
                <a:latin typeface="Amiri" pitchFamily="2" charset="-78"/>
                <a:ea typeface="Amiri" pitchFamily="2" charset="-78"/>
                <a:cs typeface="Amiri" pitchFamily="2" charset="-78"/>
              </a:rPr>
              <a:t>غَنِيٌّ بِـ</a:t>
            </a:r>
            <a:pPr algn="l" indent="0" marL="0">
              <a:buNone/>
            </a:pPr>
            <a:r>
              <a:rPr lang="en-US" sz="1250" b="1" dirty="0">
                <a:solidFill>
                  <a:srgbClr val="1B3B6F"/>
                </a:solidFill>
                <a:latin typeface="Calibri" pitchFamily="34" charset="0"/>
                <a:cs typeface="Amiri" pitchFamily="2" charset="-78"/>
              </a:rPr>
              <a:t> and </a:t>
            </a:r>
            <a:pPr algn="l" indent="0" marL="0">
              <a:buNone/>
            </a:pPr>
            <a:r>
              <a:rPr lang="ar-SA" altLang="en-US" sz="1650" b="1" dirty="0">
                <a:solidFill>
                  <a:srgbClr val="1B3B6F"/>
                </a:solidFill>
                <a:latin typeface="Amiri" pitchFamily="2" charset="-78"/>
                <a:ea typeface="Amiri" pitchFamily="2" charset="-78"/>
                <a:cs typeface="Amiri" pitchFamily="2" charset="-78"/>
              </a:rPr>
              <a:t>يَفْتَقِرُ إِلَى</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غَنِيٌّ بِـ</a:t>
            </a:r>
            <a:pPr algn="l" indent="0" marL="0">
              <a:buNone/>
            </a:pPr>
            <a:r>
              <a:rPr lang="en-US" sz="1050" dirty="0">
                <a:solidFill>
                  <a:srgbClr val="5A6472"/>
                </a:solidFill>
                <a:latin typeface="Calibri" pitchFamily="34" charset="0"/>
                <a:cs typeface="Amiri" pitchFamily="2" charset="-78"/>
              </a:rPr>
              <a:t> + genitive · </a:t>
            </a:r>
            <a:pPr algn="l" indent="0" marL="0">
              <a:buNone/>
            </a:pPr>
            <a:r>
              <a:rPr lang="ar-SA" altLang="en-US" sz="1350" dirty="0">
                <a:solidFill>
                  <a:srgbClr val="5A6472"/>
                </a:solidFill>
                <a:latin typeface="Amiri" pitchFamily="2" charset="-78"/>
                <a:ea typeface="Amiri" pitchFamily="2" charset="-78"/>
                <a:cs typeface="Amiri" pitchFamily="2" charset="-78"/>
              </a:rPr>
              <a:t>يَفْتَقِرُ إِلَى</a:t>
            </a:r>
            <a:pPr algn="l" indent="0" marL="0">
              <a:buNone/>
            </a:pPr>
            <a:r>
              <a:rPr lang="en-US" sz="1050" dirty="0">
                <a:solidFill>
                  <a:srgbClr val="5A6472"/>
                </a:solidFill>
                <a:latin typeface="Calibri" pitchFamily="34" charset="0"/>
                <a:cs typeface="Amiri" pitchFamily="2" charset="-78"/>
              </a:rPr>
              <a:t> + genitive</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التَّمْرُ غَنِيٌّ بِالحَدِيدِ   ·   يَفْتَقِرُ هٰذَا الطَّعَامُ إِلَى الأَلْيَافِ</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Non-human plural agreement</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plural of things + feminine singular adjective</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دُهُونٌ مُشْبَعَةٌ   ·   سُعْرَاتٌ حَرَارِيَّةٌ عَالِيَةٌ</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The impersonal recommendation</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يُوصَى بِـ</a:t>
            </a:r>
            <a:pPr algn="l" indent="0" marL="0">
              <a:buNone/>
            </a:pPr>
            <a:r>
              <a:rPr lang="en-US" sz="1050" dirty="0">
                <a:solidFill>
                  <a:srgbClr val="5A6472"/>
                </a:solidFill>
                <a:latin typeface="Calibri" pitchFamily="34" charset="0"/>
                <a:cs typeface="Amiri" pitchFamily="2" charset="-78"/>
              </a:rPr>
              <a:t> + genitive verbal noun</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يُوصَى بِتَنَاوُلِ الخُضَرِ يَوْمِيًّا   ·   يُنْصَحُ بِتَقْلِيلِ المِلْحِ</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47</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AT-A-L06 · Healthy Eating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AT-A-L06</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يَحْتَوِي الحَلِيبُ ___ الكَالْسْيُومِ.</a:t>
            </a:r>
            <a:endParaRPr lang="ar-SA" sz="15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29" name="Shape 26"/>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313932"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2" name="Text 29"/>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3" name="Text 30"/>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التَّمْرُ غَنِيٌّ ___ الحَدِيدِ.</a:t>
            </a:r>
            <a:endParaRPr lang="ar-SA" sz="150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7" name="Text 44"/>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يَفْتَقِرُ هٰذَا الطَّعَامُ ___ الأَلْيَافِ.</a:t>
            </a:r>
            <a:endParaRPr lang="ar-SA" sz="150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agreement.</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دُهُونٌ مُشْبَعَةٌ</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دُهُونٌ مُشْبَعُونَ</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دُهُونٌ مُشْبَعٌ</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47</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AT-A-L06 · Healthy Eating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AT-A-L06</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يَحْتَوِي الحَلِيبُ ___ الكَالْسْيُومِ.</a:t>
            </a:r>
            <a:endParaRPr lang="ar-SA" sz="15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بِـ</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إِلَى</a:t>
            </a:r>
            <a:endParaRPr lang="ar-SA" sz="1700" dirty="0"/>
          </a:p>
        </p:txBody>
      </p:sp>
      <p:sp>
        <p:nvSpPr>
          <p:cNvPr id="26" name="Shape 23"/>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9" name="Text 26"/>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عَلَى</a:t>
            </a:r>
            <a:endParaRPr lang="ar-SA" sz="1700" dirty="0"/>
          </a:p>
        </p:txBody>
      </p:sp>
      <p:sp>
        <p:nvSpPr>
          <p:cNvPr id="30" name="Text 27"/>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يَحْتَوِي</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ea typeface="Amiri" pitchFamily="2" charset="-78"/>
                <a:cs typeface="Amiri" pitchFamily="2" charset="-78"/>
              </a:rPr>
              <a:t>عَلَى</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5" name="Text 32"/>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التَّمْرُ غَنِيٌّ ___ الحَدِيدِ.</a:t>
            </a:r>
            <a:endParaRPr lang="ar-SA" sz="1500" dirty="0"/>
          </a:p>
        </p:txBody>
      </p:sp>
      <p:sp>
        <p:nvSpPr>
          <p:cNvPr id="36" name="Shape 33"/>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7" name="Shape 34"/>
          <p:cNvSpPr/>
          <p:nvPr/>
        </p:nvSpPr>
        <p:spPr>
          <a:xfrm>
            <a:off x="6368796" y="2490216"/>
            <a:ext cx="256032" cy="256032"/>
          </a:xfrm>
          <a:prstGeom prst="ellipse">
            <a:avLst/>
          </a:prstGeom>
          <a:solidFill>
            <a:srgbClr val="2E8B57"/>
          </a:solidFill>
          <a:ln w="12700">
            <a:solidFill>
              <a:srgbClr val="2E8B57"/>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بِـ</a:t>
            </a:r>
            <a:endParaRPr lang="ar-SA" sz="1700" dirty="0"/>
          </a:p>
        </p:txBody>
      </p:sp>
      <p:sp>
        <p:nvSpPr>
          <p:cNvPr id="40" name="Shape 37"/>
          <p:cNvSpPr/>
          <p:nvPr/>
        </p:nvSpPr>
        <p:spPr>
          <a:xfrm>
            <a:off x="6368796" y="2862072"/>
            <a:ext cx="256032" cy="256032"/>
          </a:xfrm>
          <a:prstGeom prst="ellipse">
            <a:avLst/>
          </a:prstGeom>
          <a:solidFill>
            <a:srgbClr val="C9CED6"/>
          </a:solidFill>
          <a:ln w="12700">
            <a:solidFill>
              <a:srgbClr val="C9CED6"/>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مِنْ</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غَنِيٌّ</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ea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51" name="Text 48"/>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يَفْتَقِرُ هٰذَا الطَّعَامُ ___ الأَلْيَافِ.</a:t>
            </a:r>
            <a:endParaRPr lang="ar-SA" sz="150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إِلَى</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بِـ</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يَفْتَقِرُ</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ea typeface="Amiri" pitchFamily="2" charset="-78"/>
                <a:cs typeface="Amiri" pitchFamily="2" charset="-78"/>
              </a:rPr>
              <a:t>إِلَى</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agreement.</a:t>
            </a:r>
            <a:endParaRPr lang="en-US" sz="1250" dirty="0"/>
          </a:p>
        </p:txBody>
      </p:sp>
      <p:sp>
        <p:nvSpPr>
          <p:cNvPr id="67" name="Shape 64"/>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368796" y="4831080"/>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70" name="Text 67"/>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دُهُونٌ مُشْبَعَةٌ</a:t>
            </a:r>
            <a:endParaRPr lang="ar-SA" sz="1700" dirty="0"/>
          </a:p>
        </p:txBody>
      </p:sp>
      <p:sp>
        <p:nvSpPr>
          <p:cNvPr id="71" name="Shape 68"/>
          <p:cNvSpPr/>
          <p:nvPr/>
        </p:nvSpPr>
        <p:spPr>
          <a:xfrm>
            <a:off x="6368796" y="5202936"/>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3" name="Text 70"/>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دُهُونٌ مُشْبَعُونَ</a:t>
            </a:r>
            <a:endParaRPr lang="ar-SA" sz="1700" dirty="0"/>
          </a:p>
        </p:txBody>
      </p:sp>
      <p:sp>
        <p:nvSpPr>
          <p:cNvPr id="74" name="Shape 71"/>
          <p:cNvSpPr/>
          <p:nvPr/>
        </p:nvSpPr>
        <p:spPr>
          <a:xfrm>
            <a:off x="6368796" y="5574792"/>
            <a:ext cx="256032" cy="256032"/>
          </a:xfrm>
          <a:prstGeom prst="ellipse">
            <a:avLst/>
          </a:prstGeom>
          <a:solidFill>
            <a:srgbClr val="C9CED6"/>
          </a:solidFill>
          <a:ln w="12700">
            <a:solidFill>
              <a:srgbClr val="C9CED6"/>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دُهُونٌ مُشْبَعٌ</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plural of things takes a feminine singular adjective.</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47</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AT-A-L06 · Healthy Eating</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analyse a meal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AT-A-L06</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The meal</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وَجْبَتِي: أَرُزٌّ وَدَجَاجٌ وَسَلَطَةٌ.</a:t>
            </a:r>
            <a:endParaRPr lang="ar-SA" sz="21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AT-A-L04 food words.</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Contains</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2000" b="1" dirty="0">
                <a:solidFill>
                  <a:srgbClr val="1B3B6F"/>
                </a:solidFill>
                <a:latin typeface="Amiri" pitchFamily="2" charset="-78"/>
                <a:ea typeface="Amiri" pitchFamily="2" charset="-78"/>
                <a:cs typeface="Amiri" pitchFamily="2" charset="-78"/>
              </a:rPr>
              <a:t>تَحْتَوِي الوَجْبَةُ </a:t>
            </a:r>
            <a:pPr rtl="1" algn="ctr" indent="0" marL="0">
              <a:lnSpc>
                <a:spcPct val="120000"/>
              </a:lnSpc>
              <a:buNone/>
            </a:pPr>
            <a:r>
              <a:rPr lang="ar-SA" altLang="en-US" sz="2000" b="1" dirty="0">
                <a:solidFill>
                  <a:srgbClr val="0E7C86"/>
                </a:solidFill>
                <a:latin typeface="Amiri" pitchFamily="2" charset="-78"/>
                <a:ea typeface="Amiri" pitchFamily="2" charset="-78"/>
                <a:cs typeface="Amiri" pitchFamily="2" charset="-78"/>
              </a:rPr>
              <a:t>عَلَى</a:t>
            </a:r>
            <a:pPr rtl="1" algn="ctr" indent="0" marL="0">
              <a:lnSpc>
                <a:spcPct val="120000"/>
              </a:lnSpc>
              <a:buNone/>
            </a:pPr>
            <a:r>
              <a:rPr lang="ar-SA" altLang="en-US" sz="2000" b="1" dirty="0">
                <a:solidFill>
                  <a:srgbClr val="1B3B6F"/>
                </a:solidFill>
                <a:latin typeface="Amiri" pitchFamily="2" charset="-78"/>
                <a:ea typeface="Amiri" pitchFamily="2" charset="-78"/>
                <a:cs typeface="Amiri" pitchFamily="2" charset="-78"/>
              </a:rPr>
              <a:t> بُرُوتِينٍ.</a:t>
            </a:r>
            <a:endParaRPr lang="ar-SA" sz="20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Meal is f. → taḥtawī.</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Rich in</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300" b="1" dirty="0">
                <a:solidFill>
                  <a:srgbClr val="1B3B6F"/>
                </a:solidFill>
                <a:latin typeface="Amiri" pitchFamily="2" charset="-78"/>
                <a:ea typeface="Amiri" pitchFamily="2" charset="-78"/>
                <a:cs typeface="Amiri" pitchFamily="2" charset="-78"/>
              </a:rPr>
              <a:t>السَّلَطَةُ غَنِيَّةٌ </a:t>
            </a:r>
            <a:pPr rtl="1" algn="ctr" indent="0" marL="0">
              <a:buNone/>
            </a:pPr>
            <a:r>
              <a:rPr lang="ar-SA" altLang="en-US" sz="2300" b="1" dirty="0">
                <a:solidFill>
                  <a:srgbClr val="0E7C86"/>
                </a:solidFill>
                <a:latin typeface="Amiri" pitchFamily="2" charset="-78"/>
                <a:ea typeface="Amiri" pitchFamily="2" charset="-78"/>
                <a:cs typeface="Amiri" pitchFamily="2" charset="-78"/>
              </a:rPr>
              <a:t>بِالأَلْيَافِ</a:t>
            </a:r>
            <a:pPr rtl="1" algn="ctr" indent="0" marL="0">
              <a:buNone/>
            </a:pPr>
            <a:r>
              <a:rPr lang="ar-SA" altLang="en-US" sz="2300" b="1" dirty="0">
                <a:solidFill>
                  <a:srgbClr val="1B3B6F"/>
                </a:solidFill>
                <a:latin typeface="Amiri" pitchFamily="2" charset="-78"/>
                <a:cs typeface="Amiri" pitchFamily="2" charset="-78"/>
              </a:rPr>
              <a:t>.</a:t>
            </a:r>
            <a:endParaRPr lang="ar-SA" sz="23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Salad f. → ghaniyya.</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Lacks + advice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تَفْتَقِرُ </a:t>
            </a:r>
            <a:pPr rtl="1" algn="ctr" indent="0" marL="0">
              <a:lnSpc>
                <a:spcPct val="120000"/>
              </a:lnSpc>
              <a:buNone/>
            </a:pPr>
            <a:r>
              <a:rPr lang="ar-SA" altLang="en-US" sz="1750" b="1" dirty="0">
                <a:solidFill>
                  <a:srgbClr val="0E7C86"/>
                </a:solidFill>
                <a:latin typeface="Amiri" pitchFamily="2" charset="-78"/>
                <a:ea typeface="Amiri" pitchFamily="2" charset="-78"/>
                <a:cs typeface="Amiri" pitchFamily="2" charset="-78"/>
              </a:rPr>
              <a:t>إِلَى</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الفَاكِهَةِ، </a:t>
            </a:r>
            <a:pPr rtl="1" algn="ctr" indent="0" marL="0">
              <a:lnSpc>
                <a:spcPct val="120000"/>
              </a:lnSpc>
              <a:buNone/>
            </a:pPr>
            <a:r>
              <a:rPr lang="ar-SA" altLang="en-US" sz="1750" b="1" dirty="0">
                <a:solidFill>
                  <a:srgbClr val="C77700"/>
                </a:solidFill>
                <a:latin typeface="Amiri" pitchFamily="2" charset="-78"/>
                <a:ea typeface="Amiri" pitchFamily="2" charset="-78"/>
                <a:cs typeface="Amiri" pitchFamily="2" charset="-78"/>
              </a:rPr>
              <a:t>فَيُوصَى بِإِضَافَةِ</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تُفَّاحَةٍ.</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Gap → advice.</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PREPOSITION</a:t>
            </a:r>
            <a:endParaRPr lang="en-US" sz="800" dirty="0"/>
          </a:p>
        </p:txBody>
      </p:sp>
      <p:sp>
        <p:nvSpPr>
          <p:cNvPr id="47" name="Shape 43"/>
          <p:cNvSpPr/>
          <p:nvPr/>
        </p:nvSpPr>
        <p:spPr>
          <a:xfrm>
            <a:off x="10515600" y="4736592"/>
            <a:ext cx="914400" cy="237744"/>
          </a:xfrm>
          <a:prstGeom prst="roundRect">
            <a:avLst>
              <a:gd name="adj" fmla="val 50000"/>
            </a:avLst>
          </a:prstGeom>
          <a:solidFill>
            <a:srgbClr val="C77700"/>
          </a:solidFill>
          <a:ln w="12700">
            <a:solidFill>
              <a:srgbClr val="C77700"/>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ADVICE</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تَنَاوَلْتُ أَرُزًّا وَدَجَاجًا وَسَلَطَةً. تَحْتَوِي الوَجْبَةُ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عَلَى</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بُرُوتِينٍ وَكَرْبُوهِيدْرَاتٍ، وَالسَّلَطَةُ غَنِيَّةٌ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بِالأَلْيَافِ</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وَالفِيتَامِينَاتِ. وَلٰكِنَّهَا تَفْتَقِرُ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إِلَى</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الفَاكِهَةِ، لِذٰلِكَ </a:t>
            </a:r>
            <a:pPr rtl="1" algn="r" indent="0" marL="0">
              <a:lnSpc>
                <a:spcPct val="120000"/>
              </a:lnSpc>
              <a:buNone/>
            </a:pPr>
            <a:r>
              <a:rPr lang="ar-SA" altLang="en-US" sz="1400" b="1" dirty="0">
                <a:solidFill>
                  <a:srgbClr val="C77700"/>
                </a:solidFill>
                <a:latin typeface="Amiri" pitchFamily="2" charset="-78"/>
                <a:ea typeface="Amiri" pitchFamily="2" charset="-78"/>
                <a:cs typeface="Amiri" pitchFamily="2" charset="-78"/>
              </a:rPr>
              <a:t>يُوصَى بِإِضَافَةِ</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تُفَّاحَةٍ.</a:t>
            </a:r>
            <a:endParaRPr lang="ar-SA" sz="14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I ate rice, chicken and salad. The meal contains protein and carbohydrates, and the salad is rich in fibre and vitamins. But it lacks fruit, so it is recommended to add an apple.</a:t>
            </a:r>
            <a:endParaRPr lang="en-US" sz="11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47</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AT-A-L06 · Healthy Eating</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AT-A-L06</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يَحْتَوِي السَّمَكُ عَلَى بُرُوتِينٍ.</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Fish contains protein.</a:t>
            </a:r>
            <a:endParaRPr lang="en-US" sz="1250" dirty="0"/>
          </a:p>
          <a:p>
            <a:pPr indent="0" marL="0">
              <a:buNone/>
            </a:pPr>
            <a:r>
              <a:rPr lang="en-US" sz="1050" i="1" dirty="0">
                <a:solidFill>
                  <a:srgbClr val="8A6D1E"/>
                </a:solidFill>
                <a:latin typeface="Calibri" pitchFamily="34" charset="0"/>
                <a:cs typeface="Amiri" pitchFamily="2" charset="-78"/>
              </a:rPr>
              <a:t>contains + ‘alā</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الخُضَرُ وَالفَوَاكِهُ غَنِيَّةٌ بِالفِيتَامِينَاتِ.</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Vegetables and fruit are rich in vitamins.</a:t>
            </a:r>
            <a:endParaRPr lang="en-US" sz="1250" dirty="0"/>
          </a:p>
          <a:p>
            <a:pPr indent="0" marL="0">
              <a:buNone/>
            </a:pPr>
            <a:r>
              <a:rPr lang="en-US" sz="1050" i="1" dirty="0">
                <a:solidFill>
                  <a:srgbClr val="8A6D1E"/>
                </a:solidFill>
                <a:latin typeface="Calibri" pitchFamily="34" charset="0"/>
                <a:cs typeface="Amiri" pitchFamily="2" charset="-78"/>
              </a:rPr>
              <a:t>rich + bi-</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دُهُونٌ مُشْبَعَةٌ</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saturated fats</a:t>
            </a:r>
            <a:endParaRPr lang="en-US" sz="1250" dirty="0"/>
          </a:p>
          <a:p>
            <a:pPr indent="0" marL="0">
              <a:buNone/>
            </a:pPr>
            <a:r>
              <a:rPr lang="en-US" sz="1050" i="1" dirty="0">
                <a:solidFill>
                  <a:srgbClr val="8A6D1E"/>
                </a:solidFill>
                <a:latin typeface="Calibri" pitchFamily="34" charset="0"/>
                <a:cs typeface="Amiri" pitchFamily="2" charset="-78"/>
              </a:rPr>
              <a:t>Plural of things → feminine singular adjective.</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يُوصَى بِتَنَاوُلِ الخُضَرِ يَوْمِيًّا.</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It is recommended to eat vegetables daily.</a:t>
            </a:r>
            <a:endParaRPr lang="en-US" sz="1250" dirty="0"/>
          </a:p>
          <a:p>
            <a:pPr indent="0" marL="0">
              <a:buNone/>
            </a:pPr>
            <a:r>
              <a:rPr lang="en-US" sz="1050" i="1" dirty="0">
                <a:solidFill>
                  <a:srgbClr val="8A6D1E"/>
                </a:solidFill>
                <a:latin typeface="Calibri" pitchFamily="34" charset="0"/>
                <a:cs typeface="Amiri" pitchFamily="2" charset="-78"/>
              </a:rPr>
              <a:t>Advice without naming who gives it.</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47</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AT-A-L06 · Healthy Eating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cs typeface="Amiri" pitchFamily="2" charset="-78"/>
              </a:rPr>
              <a:t>WE DO · PICTURE MATCH · WEBSITE GAME “VISUAL GAME — DIET AND NUTRITION — REVIEWING AND EXTENDING FOOD VOCABULARY”</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Healthy or not? Match the picture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وَجْبَةٌ مُتَوَازِنَةٌ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AT-A-L06</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salad, apple, water</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burger, cake</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water, water, water</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هٰذِهِ الوَجْبَةُ غَنِيَّةٌ بِالسُّكَّرِ وَالدُّهُونِ.</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مِنَ المُهِمِّ شُرْبُ مَاءٍ كَافٍ.</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هٰذِهِ وَجْبَةٌ صِحِّيَّةٌ وَمُتَوَازِنَةٌ.</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47</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AT-A-L06 · Healthy Eating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وَجْبَةٌ مُتَوَازِنَةٌ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AT-A-L06</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salad, apple, water</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هٰذِهِ وَجْبَةٌ صِحِّيَّةٌ وَمُتَوَازِنَةٌ.</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This is a healthy, balanced meal.</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burger, cake</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ea typeface="Amiri" pitchFamily="2" charset="-78"/>
                <a:cs typeface="Amiri" pitchFamily="2" charset="-78"/>
              </a:rPr>
              <a:t>هٰذِهِ الوَجْبَةُ غَنِيَّةٌ بِالسُّكَّرِ وَالدُّهُونِ.</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This meal is rich in sugar and fat.</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water, water, water</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مِنَ المُهِمِّ شُرْبُ مَاءٍ كَافٍ.</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It is important to drink enough water.</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47</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AT-A-L06 · Healthy Eating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little word follows?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AT-A-L06</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يَحْتَوِي</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يُحَافِظُ</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غَنِيٌّ</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يُوصَى</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يُنْصَحُ</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يَفْتَقِرُ</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يُؤَدِّي</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يُقَلِّلُ</a:t>
            </a:r>
            <a:endParaRPr lang="ar-SA" sz="1800" dirty="0"/>
          </a:p>
        </p:txBody>
      </p:sp>
      <p:sp>
        <p:nvSpPr>
          <p:cNvPr id="31" name="Shape 28"/>
          <p:cNvSpPr/>
          <p:nvPr/>
        </p:nvSpPr>
        <p:spPr>
          <a:xfrm>
            <a:off x="8095488" y="3017520"/>
            <a:ext cx="3636264"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8232648" y="3127248"/>
            <a:ext cx="3361944"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8232648" y="3127248"/>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1 · عَلَى</a:t>
            </a:r>
            <a:endParaRPr lang="en-US" sz="950" dirty="0"/>
          </a:p>
        </p:txBody>
      </p:sp>
      <p:sp>
        <p:nvSpPr>
          <p:cNvPr id="34" name="Shape 31"/>
          <p:cNvSpPr/>
          <p:nvPr/>
        </p:nvSpPr>
        <p:spPr>
          <a:xfrm>
            <a:off x="4276344" y="3017520"/>
            <a:ext cx="3636264"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4413504" y="3127248"/>
            <a:ext cx="3361944"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4413504" y="3127248"/>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2 · بِـ</a:t>
            </a:r>
            <a:endParaRPr lang="en-US" sz="950" dirty="0"/>
          </a:p>
        </p:txBody>
      </p:sp>
      <p:sp>
        <p:nvSpPr>
          <p:cNvPr id="37" name="Shape 34"/>
          <p:cNvSpPr/>
          <p:nvPr/>
        </p:nvSpPr>
        <p:spPr>
          <a:xfrm>
            <a:off x="457200" y="3017520"/>
            <a:ext cx="3636264" cy="3291840"/>
          </a:xfrm>
          <a:prstGeom prst="roundRect">
            <a:avLst>
              <a:gd name="adj" fmla="val 2222"/>
            </a:avLst>
          </a:prstGeom>
          <a:solidFill>
            <a:srgbClr val="EEF3FA"/>
          </a:solidFill>
          <a:ln w="9525">
            <a:solidFill>
              <a:srgbClr val="C9D6EA"/>
            </a:solidFill>
            <a:prstDash val="solid"/>
          </a:ln>
        </p:spPr>
      </p:sp>
      <p:sp>
        <p:nvSpPr>
          <p:cNvPr id="38" name="Shape 35"/>
          <p:cNvSpPr/>
          <p:nvPr/>
        </p:nvSpPr>
        <p:spPr>
          <a:xfrm>
            <a:off x="594360" y="3127248"/>
            <a:ext cx="3361944" cy="310896"/>
          </a:xfrm>
          <a:prstGeom prst="roundRect">
            <a:avLst>
              <a:gd name="adj" fmla="val 50000"/>
            </a:avLst>
          </a:prstGeom>
          <a:solidFill>
            <a:srgbClr val="2F6FB0"/>
          </a:solidFill>
          <a:ln w="12700">
            <a:solidFill>
              <a:srgbClr val="2F6FB0"/>
            </a:solidFill>
            <a:prstDash val="solid"/>
          </a:ln>
        </p:spPr>
      </p:sp>
      <p:sp>
        <p:nvSpPr>
          <p:cNvPr id="39" name="Text 36"/>
          <p:cNvSpPr txBox="1"/>
          <p:nvPr/>
        </p:nvSpPr>
        <p:spPr>
          <a:xfrm>
            <a:off x="594360" y="3127248"/>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3 · إِلَى أَوْ مِنْ</a:t>
            </a:r>
            <a:endParaRPr lang="en-US" sz="9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47</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AT-A-L06 · Healthy Eating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AT-A-L06</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1 · عَلَى</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يَحْتَوِي</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يُحَافِظُ</a:t>
            </a:r>
            <a:endParaRPr lang="ar-SA" sz="1800" dirty="0"/>
          </a:p>
        </p:txBody>
      </p:sp>
      <p:sp>
        <p:nvSpPr>
          <p:cNvPr id="22" name="Shape 19"/>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3" name="Shape 20"/>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4" name="Text 21"/>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2 · بِـ</a:t>
            </a:r>
            <a:endParaRPr lang="en-US" sz="950" dirty="0"/>
          </a:p>
        </p:txBody>
      </p:sp>
      <p:sp>
        <p:nvSpPr>
          <p:cNvPr id="25" name="Shape 22"/>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6" name="Text 23"/>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غَنِيٌّ</a:t>
            </a:r>
            <a:endParaRPr lang="ar-SA" sz="1800" dirty="0"/>
          </a:p>
        </p:txBody>
      </p:sp>
      <p:sp>
        <p:nvSpPr>
          <p:cNvPr id="27" name="Shape 24"/>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يُوصَى</a:t>
            </a:r>
            <a:endParaRPr lang="ar-SA" sz="1800" dirty="0"/>
          </a:p>
        </p:txBody>
      </p:sp>
      <p:sp>
        <p:nvSpPr>
          <p:cNvPr id="29" name="Shape 26"/>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يُنْصَحُ</a:t>
            </a:r>
            <a:endParaRPr lang="ar-SA" sz="1800" dirty="0"/>
          </a:p>
        </p:txBody>
      </p:sp>
      <p:sp>
        <p:nvSpPr>
          <p:cNvPr id="31" name="Shape 28"/>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2" name="Shape 29"/>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3 · إِلَى أَوْ مِنْ</a:t>
            </a:r>
            <a:endParaRPr lang="en-US" sz="950" dirty="0"/>
          </a:p>
        </p:txBody>
      </p:sp>
      <p:sp>
        <p:nvSpPr>
          <p:cNvPr id="34" name="Shape 31"/>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5" name="Text 32"/>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يَفْتَقِرُ</a:t>
            </a:r>
            <a:endParaRPr lang="ar-SA" sz="1800" dirty="0"/>
          </a:p>
        </p:txBody>
      </p:sp>
      <p:sp>
        <p:nvSpPr>
          <p:cNvPr id="36" name="Shape 33"/>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يُؤَدِّي</a:t>
            </a:r>
            <a:endParaRPr lang="ar-SA" sz="1800" dirty="0"/>
          </a:p>
        </p:txBody>
      </p:sp>
      <p:sp>
        <p:nvSpPr>
          <p:cNvPr id="38" name="Shape 35"/>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يُقَلِّلُ</a:t>
            </a:r>
            <a:endParaRPr lang="ar-SA" sz="18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47</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AT-A-L06 · Healthy Eating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5,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AT-A-L06</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impersonal recommendation.</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يُوصَى تَنَاوُلَ الخُضَرِ يَوْمِيًّا.</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يُوصِي بِتَنَاوُلِ الخُضَرِ يَوْمِيًّا.</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يُوصَى بِتَنَاوُلِ الخُضَرِ يَوْمِيًّا.</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2" charset="-78"/>
                <a:ea typeface="Amiri" pitchFamily="2" charset="-78"/>
                <a:cs typeface="Amiri" pitchFamily="2" charset="-78"/>
              </a:rPr>
              <a:t>يُقَلِّلُ النَّشَاطُ البَدَنِيُّ ___ خَطَرِ الأَمْرَاضِ.</a:t>
            </a:r>
            <a:endParaRPr lang="ar-SA" sz="145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7" name="Text 44"/>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description of a processed food.</a:t>
            </a:r>
            <a:endParaRPr lang="en-US" sz="12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أَطْعِمَةٌ مُعَالَجُونَ يَحْتَوُونَ عَلَى دُهُونٍ مُشْبَعِينَ.</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أَطْعِمَةٌ مُعَالَجَةٌ تَحْتَوِي عَلَى دُهُونٍ مُشْبَعَةٍ.</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أَطْعِمَةٌ مُعَالَجَةٌ تَحْتَوِي بِدُهُونٍ مُشْبَعَةٍ.</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is written in academic register?</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الأَكْلُ الجَيِّدُ حِلْوٌ وَمُفِيدٌ.</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أُحِبُّ الطَّعَامَ كَثِيرًا جِدًّا.</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يُوصَى بِنِظَامٍ غِذَائِيٍّ مُتَوَازِنٍ يَحْتَوِي عَلَى أَلْيَافٍ وَمَعَادِنَ.</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47</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AT-A-L06 · Healthy Eating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AT-A-L06</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impersonal recommendation.</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يُوصَى تَنَاوُلَ الخُضَرِ يَوْمِيًّا.</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يُوصِي بِتَنَاوُلِ الخُضَرِ يَوْمِيًّا.</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يُوصَى بِتَنَاوُلِ الخُضَرِ يَوْمِيًّا.</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passive </a:t>
            </a:r>
            <a:pPr algn="l" indent="0" marL="0">
              <a:buNone/>
            </a:pPr>
            <a:r>
              <a:rPr lang="ar-SA" altLang="en-US" sz="1350" dirty="0">
                <a:solidFill>
                  <a:srgbClr val="8A6D1E"/>
                </a:solidFill>
                <a:latin typeface="Amiri" pitchFamily="2" charset="-78"/>
                <a:ea typeface="Amiri" pitchFamily="2" charset="-78"/>
                <a:cs typeface="Amiri" pitchFamily="2" charset="-78"/>
              </a:rPr>
              <a:t>يُوصَى</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ea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 with a genitive verbal noun.</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6" name="Text 33"/>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2" charset="-78"/>
                <a:ea typeface="Amiri" pitchFamily="2" charset="-78"/>
                <a:cs typeface="Amiri" pitchFamily="2" charset="-78"/>
              </a:rPr>
              <a:t>يُقَلِّلُ النَّشَاطُ البَدَنِيُّ ___ خَطَرِ الأَمْرَاضِ.</a:t>
            </a:r>
            <a:endParaRPr lang="ar-SA" sz="145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مِنْ</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بِـ</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يُقَلِّلُ</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ea typeface="Amiri" pitchFamily="2" charset="-78"/>
                <a:cs typeface="Amiri" pitchFamily="2" charset="-78"/>
              </a:rPr>
              <a:t>مِنْ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1" name="Text 4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description of a processed food.</a:t>
            </a:r>
            <a:endParaRPr lang="en-US" sz="12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أَطْعِمَةٌ مُعَالَجُونَ يَحْتَوُونَ عَلَى دُهُونٍ مُشْبَعِينَ.</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أَطْعِمَةٌ مُعَالَجَةٌ تَحْتَوِي عَلَى دُهُونٍ مُشْبَعَةٍ.</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أَطْعِمَةٌ مُعَالَجَةٌ تَحْتَوِي بِدُهُونٍ مُشْبَعَةٍ.</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Both plurals take feminine singular adjectives, and </a:t>
            </a:r>
            <a:pPr algn="l" indent="0" marL="0">
              <a:buNone/>
            </a:pPr>
            <a:r>
              <a:rPr lang="ar-SA" altLang="en-US" sz="1350" dirty="0">
                <a:solidFill>
                  <a:srgbClr val="8A6D1E"/>
                </a:solidFill>
                <a:latin typeface="Amiri" pitchFamily="2" charset="-78"/>
                <a:ea typeface="Amiri" pitchFamily="2" charset="-78"/>
                <a:cs typeface="Amiri" pitchFamily="2" charset="-78"/>
              </a:rPr>
              <a:t>يَحْتَوِي</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ea typeface="Amiri" pitchFamily="2" charset="-78"/>
                <a:cs typeface="Amiri" pitchFamily="2" charset="-78"/>
              </a:rPr>
              <a:t>عَلَى</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is written in academic register?</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الأَكْلُ الجَيِّدُ حِلْوٌ وَمُفِيدٌ.</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أُحِبُّ الطَّعَامَ كَثِيرًا جِدًّا.</a:t>
            </a:r>
            <a:endParaRPr lang="ar-SA" sz="17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يُوصَى بِنِظَامٍ غِذَائِيٍّ مُتَوَازِنٍ يَحْتَوِي عَلَى أَلْيَافٍ وَمَعَادِنَ.</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academic version uses the impersonal passive and precise nutrient vocabulary.</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47</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AT-A-L06 · Healthy Eating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AT-A-L06</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يَحْتَوِي الحَلِيبُ بِالكَالْسْيُومِ.</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Contains + which preposition?</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دُهُونٌ مُشْبَعُونَ.</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Fats are things: which adjective ending?</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يَفْتَقِرُ الطَّعَامُ الأَلْيَافَ.</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Lacks + which preposition?</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47</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AT-A-L06 · Healthy Eating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AT-A-L06</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يَحْتَوِي الحَلِيبُ بِالكَالْسْيُومِ.</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يَحْتَوِي الحَلِيبُ عَلَى الكَالْسْيُومِ.</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يَحْتَوِي</a:t>
            </a:r>
            <a:pPr algn="l" indent="0" marL="0">
              <a:buNone/>
            </a:pPr>
            <a:r>
              <a:rPr lang="en-US" sz="1150" b="1" dirty="0">
                <a:solidFill>
                  <a:srgbClr val="1B3B6F"/>
                </a:solidFill>
                <a:latin typeface="Calibri" pitchFamily="34" charset="0"/>
                <a:cs typeface="Amiri" pitchFamily="2" charset="-78"/>
              </a:rPr>
              <a:t> requires </a:t>
            </a:r>
            <a:pPr algn="l" indent="0" marL="0">
              <a:buNone/>
            </a:pPr>
            <a:r>
              <a:rPr lang="ar-SA" altLang="en-US" sz="1500" b="1" dirty="0">
                <a:solidFill>
                  <a:srgbClr val="1B3B6F"/>
                </a:solidFill>
                <a:latin typeface="Amiri" pitchFamily="2" charset="-78"/>
                <a:ea typeface="Amiri" pitchFamily="2" charset="-78"/>
                <a:cs typeface="Amiri" pitchFamily="2" charset="-78"/>
              </a:rPr>
              <a:t>عَلَى</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دُهُونٌ مُشْبَعُونَ.</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دُهُونٌ مُشْبَعَةٌ.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non-human plural takes a feminine singular adjective.</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يَفْتَقِرُ الطَّعَامُ الأَلْيَافَ.</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يَفْتَقِرُ الطَّعَامُ إِلَى الأَلْيَافِ.</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يَفْتَقِرُ</a:t>
            </a:r>
            <a:pPr algn="l" indent="0" marL="0">
              <a:buNone/>
            </a:pPr>
            <a:r>
              <a:rPr lang="en-US" sz="1150" b="1" dirty="0">
                <a:solidFill>
                  <a:srgbClr val="1B3B6F"/>
                </a:solidFill>
                <a:latin typeface="Calibri" pitchFamily="34" charset="0"/>
                <a:cs typeface="Amiri" pitchFamily="2" charset="-78"/>
              </a:rPr>
              <a:t> needs </a:t>
            </a:r>
            <a:pPr algn="l" indent="0" marL="0">
              <a:buNone/>
            </a:pPr>
            <a:r>
              <a:rPr lang="ar-SA" altLang="en-US" sz="1500" b="1" dirty="0">
                <a:solidFill>
                  <a:srgbClr val="1B3B6F"/>
                </a:solidFill>
                <a:latin typeface="Amiri" pitchFamily="2" charset="-78"/>
                <a:ea typeface="Amiri" pitchFamily="2" charset="-78"/>
                <a:cs typeface="Amiri" pitchFamily="2" charset="-78"/>
              </a:rPr>
              <a:t>إِلَى</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47</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AT-A-L06 · Healthy Eating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50" b="1" dirty="0">
                <a:solidFill>
                  <a:srgbClr val="1B3B6F"/>
                </a:solidFill>
                <a:latin typeface="Cambria" pitchFamily="34" charset="0"/>
                <a:cs typeface="Amiri" pitchFamily="2" charset="-78"/>
              </a:rPr>
              <a:t>Listening: a nutritionist explains a balanced plate</a:t>
            </a:r>
            <a:endParaRPr lang="en-US" sz="19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 balanced diet contain?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Protein, carbohydrates and unsaturated fats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protein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vegetables</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are vegetables and fruit rich in?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Saturated fats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Salt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Vitamins and minerals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processed foods lack?</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Salt</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Calories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Fibre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portions are recommended daily?</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Five</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Two</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Ten</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this reduce?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cost of food</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risk of heart disease</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time spent cooking</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2 and 4.</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غَنِيَّةٌ بِالفِيتَامِينَاتِ</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خَمْسِ حِصَصٍ</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47</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AT-A-L06 · Healthy Eating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AT-A-L06</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النِّظَامُ الغِذَائِيُّ المُتَوَازِنُ يَحْتَوِي عَلَى بُرُوتِينٍ وَكَرْبُوهِيدْرَاتٍ وَدُهُونٍ غَيْرِ مُشْبَعَةٍ.</a:t>
            </a:r>
            <a:endParaRPr lang="ar-SA" sz="19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balanced diet contains protein, carbohydrates and unsaturated fats.</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1B3B6F"/>
                </a:solidFill>
                <a:latin typeface="Amiri" pitchFamily="2" charset="-78"/>
                <a:ea typeface="Amiri" pitchFamily="2" charset="-78"/>
                <a:cs typeface="Amiri" pitchFamily="2" charset="-78"/>
              </a:rPr>
              <a:t>الخُضَرُ وَالفَوَاكِهُ غَنِيَّةٌ بِالفِيتَامِينَاتِ وَالمَعَادِنِ، وَتَحْتَوِي عَلَى أَلْيَافٍ تُسَاعِدُ الهَضْمَ.</a:t>
            </a:r>
            <a:endParaRPr lang="ar-SA" sz="18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Vegetables and fruit are rich in vitamins and minerals, and contain fibre that helps digestion.</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lnSpc>
                <a:spcPct val="120000"/>
              </a:lnSpc>
              <a:buNone/>
            </a:pPr>
            <a:r>
              <a:rPr lang="ar-SA" altLang="en-US" sz="1650" b="1" dirty="0">
                <a:solidFill>
                  <a:srgbClr val="1B3B6F"/>
                </a:solidFill>
                <a:latin typeface="Amiri" pitchFamily="2" charset="-78"/>
                <a:ea typeface="Amiri" pitchFamily="2" charset="-78"/>
                <a:cs typeface="Amiri" pitchFamily="2" charset="-78"/>
              </a:rPr>
              <a:t>أَمَّا الأَطْعِمَةُ المُعَالَجَةُ فَتَحْتَوِي عَادَةً عَلَى دُهُونٍ مُشْبَعَةٍ وَمِلْحٍ كَثِيرٍ، وَتَفْتَقِرُ إِلَى الأَلْيَافِ.</a:t>
            </a:r>
            <a:endParaRPr lang="ar-SA" sz="165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As for processed foods, they usually contain saturated fats and a lot of salt, and lack fibre.</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يُوصَى بِتَنَاوُلِ خَمْسِ حِصَصٍ مِنَ الخُضَرِ وَالفَوَاكِهِ يَوْمِيًّا، وَيُنْصَحُ بِتَقْلِيلِ السُّكَّرِ.</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recommended to eat five portions of vegetables and fruit daily, and it is advised to reduce sugar.</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وَيُقَلِّلُ هٰذَا مِنْ خَطَرِ أَمْرَاضِ القَلْبِ، وَيَزِيدُ مِنَ الطَّاقَةِ اليَوْمِيَّةِ.</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This reduces the risk of heart disease and increases daily energy.</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47</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AT-A-L06 · Healthy Eating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 balanced diet contain?</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Protein, carbohydrates and unsaturated fats</a:t>
            </a:r>
            <a:endParaRPr lang="en-US" sz="11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protein</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vegetables</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يَحْتَوِي عَلَى بُرُوتِينٍ وَكَرْبُوهِيدْرَاتٍ وَدُهُونٍ غَيْرِ مُشْبَعَةٍ.</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are vegetables and fruit rich in?</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Saturated fats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Salt</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Vitamins and minerals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غَنِيَّةٌ بِالفِيتَامِينَاتِ وَالمَعَادِنِ.</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processed foods lack?</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Salt</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Calories</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Fibre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وَتَفْتَقِرُ إِلَى الأَلْيَافِ.</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portions are recommended daily?</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Five</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Two</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Ten</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يُوصَى بِتَنَاوُلِ خَمْسِ حِصَصٍ … يَوْمِيًّا.</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this reduce?</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cost of food</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risk of heart disease</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time spent cooking</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وَيُقَلِّلُ هٰذَا مِنْ خَطَرِ أَمْرَاضِ القَلْبِ.</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2 and 4.</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غَنِيَّةٌ بِالفِيتَامِينَاتِ</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خَمْسِ حِصَصٍ</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47</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AT-A-L06 · Healthy Eating</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TOPIC A APPLICATION CHALLENGE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Healthy-choice sort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تَحَدِّي التَّطْبِيقِ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AT-A-L06</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TOPIC A CHALLENGE · WEBSITE</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Healthy-choice sort</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Sort habits into helpful, unhelpful or depends. Give a reason for each decision and turn three statements into practical health advice.</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Teacher shows the 4 habits on the right, then types 2 more in the chat.</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Everyone types H (helpful), U (unhelpful) or D (depends) in the chat.</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Two students justify one choice each with “because …”.</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Turn three habits into advice: yajibu an … / yūṣā bi- …</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Sort all six. Say one: “… ṣiḥḥī li’annahu …” (… is healthy because …).</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Justify two decisions with contains / rich in, and give one piece of advice.</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Explain a “depends” habit and give advice with yūṣā bi- plus an effect.</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شُرْبُ المَاءِ الكَافِي</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drinking enough water</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النَّوْمُ ثَمَانِيَ سَاعَاتٍ</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sleeping eight hours</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المَشْرُوبَاتُ الغَازِيَّةُ كُلَّ يَوْمٍ</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fizzy drinks every day</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الوَجَبَاتُ السَّرِيعَةُ</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fast food</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47</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AT-A-L06 · Healthy Eating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analyse a meal</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AT-A-L06</a:t>
            </a:r>
            <a:endParaRPr lang="en-US" sz="850" dirty="0"/>
          </a:p>
        </p:txBody>
      </p:sp>
      <p:sp>
        <p:nvSpPr>
          <p:cNvPr id="17" name="Shape 14"/>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8" name="Text 15"/>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9" name="Text 16"/>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20" name="Shape 17"/>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21" name="Text 18"/>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2" name="Text 19"/>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3" name="Shape 20"/>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4" name="Text 21"/>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5" name="Text 22"/>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6" name="Shape 23"/>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7" name="Text 24"/>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8" name="Text 25"/>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9" name="Shape 26"/>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30" name="Text 27"/>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31" name="Text 28"/>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2" name="Shape 29"/>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5" name="Text 32"/>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هَلْ وَجْبَتُكَ صِحِّيَّةٌ؟ لِمَاذَا؟</a:t>
            </a:r>
            <a:endParaRPr lang="ar-SA" sz="1800" dirty="0"/>
          </a:p>
        </p:txBody>
      </p:sp>
      <p:sp>
        <p:nvSpPr>
          <p:cNvPr id="36" name="Shape 33"/>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9" name="Text 36"/>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صِفْ وَجْبَةً تَنَاوَلْتَهَا. عَلَى مَاذَا تَحْتَوِي؟</a:t>
            </a:r>
            <a:endParaRPr lang="ar-SA" sz="1800" dirty="0"/>
          </a:p>
        </p:txBody>
      </p:sp>
      <p:sp>
        <p:nvSpPr>
          <p:cNvPr id="40" name="Shape 37"/>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2" name="Text 39"/>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3" name="Text 40"/>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بِمَاذَا هِيَ غَنِيَّةٌ؟ وَإِلَى مَاذَا تَفْتَقِرُ؟</a:t>
            </a:r>
            <a:endParaRPr lang="ar-SA" sz="1800" dirty="0"/>
          </a:p>
        </p:txBody>
      </p:sp>
      <p:sp>
        <p:nvSpPr>
          <p:cNvPr id="44" name="Shape 41"/>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6" name="Text 43"/>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7" name="Text 44"/>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بِمَاذَا تُوصِي لِتَحْسِينِهَا؟</a:t>
            </a:r>
            <a:endParaRPr lang="ar-SA" sz="1800" dirty="0"/>
          </a:p>
        </p:txBody>
      </p:sp>
      <p:sp>
        <p:nvSpPr>
          <p:cNvPr id="48" name="Shape 45"/>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9" name="Text 46"/>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50" name="Shape 47"/>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550" b="1" dirty="0">
                <a:solidFill>
                  <a:srgbClr val="1D5FBF"/>
                </a:solidFill>
                <a:latin typeface="Amiri" pitchFamily="2" charset="-78"/>
                <a:ea typeface="Amiri" pitchFamily="2" charset="-78"/>
                <a:cs typeface="Amiri" pitchFamily="2" charset="-78"/>
              </a:rPr>
              <a:t>نَعَمْ، وَجْبَتِي صِحِّيَّةٌ لِأَنَّهَا غَنِيَّةٌ بِـ ___ .</a:t>
            </a:r>
            <a:endParaRPr lang="ar-SA" sz="1550" dirty="0"/>
          </a:p>
        </p:txBody>
      </p:sp>
      <p:sp>
        <p:nvSpPr>
          <p:cNvPr id="53" name="Shape 50"/>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4" name="Text 51"/>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5" name="Text 52"/>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تَحْتَوِي عَلَى ___ وَ ___ .</a:t>
            </a:r>
            <a:endParaRPr lang="ar-SA" sz="1600" dirty="0"/>
          </a:p>
        </p:txBody>
      </p:sp>
      <p:sp>
        <p:nvSpPr>
          <p:cNvPr id="56" name="Shape 53"/>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7" name="Text 54"/>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8" name="Text 55"/>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2" charset="-78"/>
                <a:ea typeface="Amiri" pitchFamily="2" charset="-78"/>
                <a:cs typeface="Amiri" pitchFamily="2" charset="-78"/>
              </a:rPr>
              <a:t>هِيَ غَنِيَّةٌ بِـ ___ ، وَلٰكِنَّهَا تَفْتَقِرُ إِلَى ___ .</a:t>
            </a:r>
            <a:endParaRPr lang="ar-SA" sz="1400" dirty="0"/>
          </a:p>
        </p:txBody>
      </p:sp>
      <p:sp>
        <p:nvSpPr>
          <p:cNvPr id="59" name="Shape 56"/>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60" name="Text 57"/>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61" name="Text 58"/>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يُوصَى بِـ ___ لِأَنَّ ذٰلِكَ يُقَلِّلُ مِنْ ___ .</a:t>
            </a:r>
            <a:endParaRPr lang="ar-SA" sz="1600" dirty="0"/>
          </a:p>
        </p:txBody>
      </p:sp>
      <p:sp>
        <p:nvSpPr>
          <p:cNvPr id="62" name="Shape 59"/>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3" name="Text 60"/>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4" name="Shape 61"/>
          <p:cNvSpPr/>
          <p:nvPr/>
        </p:nvSpPr>
        <p:spPr>
          <a:xfrm>
            <a:off x="11274552" y="5559552"/>
            <a:ext cx="292608" cy="292608"/>
          </a:xfrm>
          <a:prstGeom prst="ellipse">
            <a:avLst/>
          </a:prstGeom>
          <a:solidFill>
            <a:srgbClr val="1E6B52"/>
          </a:solidFill>
          <a:ln w="12700">
            <a:solidFill>
              <a:srgbClr val="1E6B52"/>
            </a:solidFill>
            <a:prstDash val="solid"/>
          </a:ln>
        </p:spPr>
      </p:sp>
      <p:sp>
        <p:nvSpPr>
          <p:cNvPr id="65" name="Text 62"/>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66" name="Text 63"/>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صِفْ وَجْبَةً تَنَاوَلْتَهَا. عَلَى مَاذَا تَحْتَوِي؟</a:t>
            </a:r>
            <a:endParaRPr lang="ar-SA" sz="1550" dirty="0"/>
          </a:p>
        </p:txBody>
      </p:sp>
      <p:sp>
        <p:nvSpPr>
          <p:cNvPr id="67" name="Text 64"/>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Describe a meal you ate. What does it contain?</a:t>
            </a:r>
            <a:endParaRPr lang="en-US" sz="950" dirty="0"/>
          </a:p>
        </p:txBody>
      </p:sp>
      <p:sp>
        <p:nvSpPr>
          <p:cNvPr id="68" name="Shape 65"/>
          <p:cNvSpPr/>
          <p:nvPr/>
        </p:nvSpPr>
        <p:spPr>
          <a:xfrm>
            <a:off x="11274552" y="5925312"/>
            <a:ext cx="292608" cy="292608"/>
          </a:xfrm>
          <a:prstGeom prst="ellipse">
            <a:avLst/>
          </a:prstGeom>
          <a:solidFill>
            <a:srgbClr val="1E6B52"/>
          </a:solidFill>
          <a:ln w="12700">
            <a:solidFill>
              <a:srgbClr val="1E6B52"/>
            </a:solidFill>
            <a:prstDash val="solid"/>
          </a:ln>
        </p:spPr>
      </p:sp>
      <p:sp>
        <p:nvSpPr>
          <p:cNvPr id="69" name="Text 66"/>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70" name="Text 67"/>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تَحْتَوِي عَلَى بُرُوتِينٍ وَكَرْبُوهِيدْرَاتٍ، وَهِيَ غَنِيَّةٌ بِالأَلْيَافِ.</a:t>
            </a:r>
            <a:endParaRPr lang="ar-SA" sz="1550" dirty="0"/>
          </a:p>
        </p:txBody>
      </p:sp>
      <p:sp>
        <p:nvSpPr>
          <p:cNvPr id="71" name="Text 68"/>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It contains protein and carbohydrates, and it is rich in fibre.</a:t>
            </a:r>
            <a:endParaRPr lang="en-US" sz="950" dirty="0"/>
          </a:p>
        </p:txBody>
      </p:sp>
      <p:sp>
        <p:nvSpPr>
          <p:cNvPr id="72" name="Text 6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47</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AT-A-L06 · Healthy Eating</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AT-A-L06</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Website Core: five sentences naming nutrients with accurate agreement.</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Two healthy foods + “rich in …”, one unhealthy food + “contains …”, one piece of advice (yajibu an …).</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6–8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Website Develop: add the three content structures with their correct prepositions.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Analyse your lunch: contains / rich in / lacks + one agreeing plural (duhūn mushba‘a).</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80–90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Website task: analyse a meal in academic register.</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All three structures, an impersonal recommendation (yūṣā bi-) and an effect (yuqallilu min …).</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47</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AT-A-L06 · Healthy Eating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AT-A-L06</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تَحْتَوِي الوَجْبَةُ عَلَى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meal contains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هِيَ غَنِيَّةٌ بِـ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It is rich in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وَلٰكِنَّهَا تَفْتَقِرُ إِلَى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But it lacks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750" b="1" dirty="0">
                <a:solidFill>
                  <a:srgbClr val="1B3B6F"/>
                </a:solidFill>
                <a:latin typeface="Amiri" pitchFamily="2" charset="-78"/>
                <a:ea typeface="Amiri" pitchFamily="2" charset="-78"/>
                <a:cs typeface="Amiri" pitchFamily="2" charset="-78"/>
              </a:rPr>
              <a:t>تَحْتَوِي الأَطْعِمَةُ المُعَالَجَةُ عَلَى دُهُونٍ مُشْبَعَةٍ.</a:t>
            </a:r>
            <a:endParaRPr lang="ar-SA" sz="175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Processed foods contain saturated fats.</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يُوصَى بِـ ______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It is recommended to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______ صِحِّيٌّ. / ______ صِحِّيَّةٌ.</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is healthy.</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______ غَنِيٌّ بِالفِيتَامِينَاتِ.</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is rich in vitamins.</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يَحْتَوِي ______ عَلَى بُرُوتِينٍ.</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contains protein.</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______ لَيْسَ صِحِّيًّا لِأَنَّهُ ______ .</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is not healthy because …</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يَجِبُ أَنْ نَأْكُلَ ______ .</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 must eat …</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بُرُوتِينٌ  ·  كَرْبُوهِيدْرَاتٌ  ·  دُهُونٌ  ·  أَلْيَافٌ  ·  فِيتَامِينَاتٌ  ·  مَعَادِنُ  ·  صِحِّيٌّ / صِحِّيَّةٌ  ·  غَنِيٌّ بِـ  ·  يَحْتَوِي عَلَى  ·  يَفْتَقِرُ إِلَى  ·  مُتَوَازِنٌ  ·  يُوصَى بِـ</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47</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AT-A-L06 · Healthy Eating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AT-A-L06</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eighty to ninety words analysing a meal in academic register. Say what it contains, what it is rich in, what it lacks, and what you would recommend, using the impersonal passive at least once.</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All three content structures with their correct prepositions.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At least two nutrient plurals with feminine singular adjectives.</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impersonal recommendation with </a:t>
            </a:r>
            <a:pPr algn="l" indent="0" marL="0">
              <a:buNone/>
            </a:pPr>
            <a:r>
              <a:rPr lang="ar-SA" altLang="en-US" sz="1550" dirty="0">
                <a:solidFill>
                  <a:srgbClr val="1F2A37"/>
                </a:solidFill>
                <a:latin typeface="Amiri" pitchFamily="2" charset="-78"/>
                <a:ea typeface="Amiri" pitchFamily="2" charset="-78"/>
                <a:cs typeface="Amiri" pitchFamily="2" charset="-78"/>
              </a:rPr>
              <a:t>يُوصَى بِـ</a:t>
            </a:r>
            <a:pPr algn="l" indent="0" marL="0">
              <a:buNone/>
            </a:pPr>
            <a:r>
              <a:rPr lang="en-US" sz="1200" dirty="0">
                <a:solidFill>
                  <a:srgbClr val="1F2A37"/>
                </a:solidFill>
                <a:latin typeface="Calibri" pitchFamily="34" charset="0"/>
                <a:cs typeface="Amiri" pitchFamily="2" charset="-78"/>
              </a:rPr>
              <a:t> or </a:t>
            </a:r>
            <a:pPr algn="l" indent="0" marL="0">
              <a:buNone/>
            </a:pPr>
            <a:r>
              <a:rPr lang="ar-SA" altLang="en-US" sz="1550" dirty="0">
                <a:solidFill>
                  <a:srgbClr val="1F2A37"/>
                </a:solidFill>
                <a:latin typeface="Amiri" pitchFamily="2" charset="-78"/>
                <a:ea typeface="Amiri" pitchFamily="2" charset="-78"/>
                <a:cs typeface="Amiri" pitchFamily="2" charset="-78"/>
              </a:rPr>
              <a:t>يُنْصَحُ بِـ</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statement of effect using </a:t>
            </a:r>
            <a:pPr algn="l" indent="0" marL="0">
              <a:buNone/>
            </a:pPr>
            <a:r>
              <a:rPr lang="ar-SA" altLang="en-US" sz="1550" dirty="0">
                <a:solidFill>
                  <a:srgbClr val="1F2A37"/>
                </a:solidFill>
                <a:latin typeface="Amiri" pitchFamily="2" charset="-78"/>
                <a:ea typeface="Amiri" pitchFamily="2" charset="-78"/>
                <a:cs typeface="Amiri" pitchFamily="2" charset="-78"/>
              </a:rPr>
              <a:t>يُقَلِّلُ مِنْ</a:t>
            </a:r>
            <a:pPr algn="l" indent="0" marL="0">
              <a:buNone/>
            </a:pPr>
            <a:r>
              <a:rPr lang="en-US" sz="1200" dirty="0">
                <a:solidFill>
                  <a:srgbClr val="1F2A37"/>
                </a:solidFill>
                <a:latin typeface="Calibri" pitchFamily="34" charset="0"/>
                <a:cs typeface="Amiri" pitchFamily="2" charset="-78"/>
              </a:rPr>
              <a:t> or </a:t>
            </a:r>
            <a:pPr algn="l" indent="0" marL="0">
              <a:buNone/>
            </a:pPr>
            <a:r>
              <a:rPr lang="ar-SA" altLang="en-US" sz="1550" dirty="0">
                <a:solidFill>
                  <a:srgbClr val="1F2A37"/>
                </a:solidFill>
                <a:latin typeface="Amiri" pitchFamily="2" charset="-78"/>
                <a:ea typeface="Amiri" pitchFamily="2" charset="-78"/>
                <a:cs typeface="Amiri" pitchFamily="2" charset="-78"/>
              </a:rPr>
              <a:t>يَزِيدُ مِنْ</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يُوصَى بِإِضَافَةِ حِصَّةٍ مِنَ الفَاكِهَةِ</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it is recommended to add a portion of fruit</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مِلْحٌ أَكْثَرُ مِمَّا يَنْبَغِي</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more salt than it should</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يُقَلِّلُ مِنْ خَطَرِ ارْتِفَاعِ ضَغْطِ الدَّمِ</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reduces the risk of high blood pressure</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يَزِيدُ مِنَ القِيمَةِ الغِذَائِيَّةِ</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increases the nutritional value</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لَيْسَ الهَدَفُ الكَمَالَ، بَلْ عَادَةٌ مُسْتَدَامَةٌ</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goal is not perfection but a lasting habit</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47</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AT-A-L06 · Healthy Eating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AT-A-L06</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تَنَاوَلْتُ أَمْسِ وَجْبَةً بَسِيطَةً مِنَ الأَرُزِّ وَالدَّجَاجِ وَالسَّلَطَةِ. تَحْتَوِي هٰذِهِ الوَجْبَةُ عَلَى بُرُوتِينٍ عَالِي الجَوْدَةِ وَكَرْبُوهِيدْرَاتٍ مُعَقَّدَةٍ، وَهِيَ غَنِيَّةٌ بِالأَلْيَافِ وَبَعْضِ المَعَادِنِ. وَلٰكِنَّهَا تَفْتَقِرُ إِلَى الفَوَاكِهِ، وَتَحْتَوِي عَلَى مِلْحٍ أَكْثَرَ مِمَّا يَنْبَغِي. يُوصَى بِإِضَافَةِ حِصَّةٍ مِنَ الفَاكِهَةِ وَبِتَقْلِيلِ المِلْحِ، لِأَنَّ ذٰلِكَ يُقَلِّلُ مِنْ خَطَرِ ارْتِفَاعِ ضَغْطِ الدَّمِ وَيَزِيدُ مِنَ القِيمَةِ الغِذَائِيَّةِ. وَلَيْسَ الهَدَفُ الكَمَالَ، بَلْ عَادَةٌ مُسْتَدَامَةٌ.</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Yesterday I ate a simple meal of rice, chicken and salad. This meal contains high-quality protein and complex carbohydrates, and it is rich in fibre and some minerals. But it lacks fruit, and it contains more salt than it should. It is recommended to add a portion of fruit and to reduce salt, because that reduces the risk of high blood pressure and increases the nutritional value. The goal is not perfection, but a lasting habit.</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“contains” with ‘alā</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“rich in” with bi-</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“lacks” with ilā</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an impersonal recommendation</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47</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AT-A-L06 · Healthy Eating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AT-A-L06</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said why a food is healthy (rich in …).</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Feminine food → feminine adjective (ṣiḥḥiyya).</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Each structure has its own preposition.</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Plurals of things → feminine singular adjective.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yūṣā bi- and an effect.</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47</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AT-A-L06 · Healthy Eating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AT-A-L06</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تَحْتَوِي الخُضَرُ</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أَلْيَافٍ كَثِيرَةٍ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agreement.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سُعْرَاتٌ حَرَارِيُّونَ عَالُونَ</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سُعْرَاتٌ حَرَارِيَّةٌ عَالِيَةٌ</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سُعْرَاتٌ حَرَارِيٌّ عَالٍ</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يُوصَى</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تَقْلِيلِ السُّكَّرِ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47</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AT-A-L06 · Healthy Eating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AT-A-L06</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تَحْتَوِي الخُضَرُ</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أَلْيَافٍ كَثِيرَةٍ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عَلَى</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بِـ</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إِلَى</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يَحْتَوِي</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ea typeface="Amiri" pitchFamily="2" charset="-78"/>
                <a:cs typeface="Amiri" pitchFamily="2" charset="-78"/>
              </a:rPr>
              <a:t>عَلَى</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agreement.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سُعْرَاتٌ حَرَارِيُّونَ عَالُونَ</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سُعْرَاتٌ حَرَارِيَّةٌ عَالِيَةٌ</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سُعْرَاتٌ حَرَارِيٌّ عَالٍ</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non-human plural takes feminine singular adjectives.</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يُوصَى</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تَقْلِيلِ السُّكَّرِ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بِـ</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عَلَى</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إِلَى</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يُوصَى</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ea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 with a genitive verbal noun.</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47</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AT-A-L06 · Healthy Eating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Reading: what makes a diet balanced</a:t>
            </a:r>
            <a:endParaRPr lang="en-US" sz="26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AT-A-L06</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300" dirty="0">
                <a:solidFill>
                  <a:srgbClr val="1F2A37"/>
                </a:solidFill>
                <a:latin typeface="Amiri" pitchFamily="2" charset="-78"/>
                <a:ea typeface="Amiri" pitchFamily="2" charset="-78"/>
                <a:cs typeface="Amiri" pitchFamily="2" charset="-78"/>
              </a:rPr>
              <a:t>يَعْتَمِدُ النِّظَامُ الغِذَائِيُّ المُتَوَازِنُ عَلَى التَّنَوُّعِ لَا عَلَى الحِرْمَانِ. فَالجِسْمُ يَحْتَاجُ إِلَى البُرُوتِينِ لِبِنَاءِ العَضَلَاتِ، وَإِلَى الكَرْبُوهِيدْرَاتِ مَصْدَرًا لِلطَّاقَةِ، وَإِلَى الدُّهُونِ غَيْرِ المُشْبَعَةِ لِوَظَائِفَ حَيَوِيَّةٍ. وَالخُضَرُ وَالفَوَاكِهُ غَنِيَّةٌ بِالفِيتَامِينَاتِ وَالمَعَادِنِ وَالأَلْيَافِ. أَمَّا الأَطْعِمَةُ المُعَالَجَةُ فَتَحْتَوِي عَلَى سُعْرَاتٍ حَرَارِيَّةٍ عَالِيَةٍ وَتَفْتَقِرُ إِلَى القِيمَةِ الغِذَائِيَّةِ. وَيُوصَى بِقِرَاءَةِ المُلْصَقَاتِ قَبْلَ الشِّرَاءِ، لِأَنَّ ذٰلِكَ يُسَاعِدُ عَلَى اخْتِيَارٍ أَفْضَلَ. وَلَيْسَ الهَدَفُ نِظَامًا مِثَالِيًّا، بَلْ عَادَاتٌ مُسْتَدَامَةٌ يُمْكِنُ الاسْتِمْرَارُ عَلَيْهَا.</a:t>
            </a:r>
            <a:endParaRPr lang="ar-SA" sz="23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يَعْتَمِدُ عَلَى</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depends on</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التَّنَوُّعِ</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variety</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الحِرْمَانِ</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deprivation, going without</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لِبِنَاءِ العَضَلَاتِ</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to build muscles</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مَصْدَرًا لِلطَّاقَةِ</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as a source of energy</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لِوَظَائِفَ حَيَوِيَّةٍ</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for vital functions</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القِيمَةِ الغِذَائِيَّةِ</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nutritional value</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المُلْصَقَاتِ</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labels</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قَبْلَ الشِّرَاءِ</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before buying</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عَادَاتٌ مُسْتَدَامَةٌ</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lasting habits</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47</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AT-A-L06 · Healthy Eating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AT-A-L06</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 balanced diet depend on?</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Deprivation</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Variety, not deprivation</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Expensive food</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the body need protein?</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For energy only</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For hydration</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build muscle</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processed foods lack?</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Nutritional value</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Calories</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Salt</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recommended before buying?</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Asking a doctor</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Reading the labels</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Cooking at home</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stated goal?</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Sustainable habits rather than a perfect diet</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perfect diet</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Losing weight quickly</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47</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AT-A-L06 · Healthy Eating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AT-A-L06</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 balanced diet depend on?</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Deprivation</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Variety, not deprivation</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Expensive food</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يَعْتَمِدُ … عَلَى التَّنَوُّعِ لَا عَلَى الحِرْمَانِ.</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the body need protein?</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For energy only</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For hydration</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To build muscle</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يَحْتَاجُ إِلَى البُرُوتِينِ لِبِنَاءِ العَضَلَاتِ.</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processed foods lack?</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Nutritional value</a:t>
            </a:r>
            <a:endParaRPr lang="en-US" sz="12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Calories</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Salt</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وَتَفْتَقِرُ إِلَى القِيمَةِ الغِذَائِيَّةِ.</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recommended before buying?</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Asking a doctor</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Reading the labels</a:t>
            </a:r>
            <a:endParaRPr lang="en-US" sz="12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Cooking at home</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وَيُوصَى بِقِرَاءَةِ المُلْصَقَاتِ قَبْلَ الشِّرَاءِ.</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stated goal?</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Sustainable habits rather than a perfect diet</a:t>
            </a:r>
            <a:endParaRPr lang="en-US" sz="11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perfect diet</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Losing weight quickly</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وَلَيْسَ الهَدَفُ نِظَامًا مِثَالِيًّا، بَلْ عَادَاتٌ مُسْتَدَامَةٌ.</a:t>
            </a:r>
            <a:endParaRPr lang="ar-SA" sz="13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47</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AT-A-L06 · Healthy Eating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Nutrition Mission — Prepositions, Agreement and Register</a:t>
            </a:r>
            <a:endParaRPr lang="en-US" sz="1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AT-A-L06</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ea typeface="Amiri" pitchFamily="2" charset="-78"/>
                <a:cs typeface="Amiri" pitchFamily="2" charset="-78"/>
              </a:rPr>
              <a:t>يَحْتَوِي</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بُرُوتِينٍ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ea typeface="Amiri" pitchFamily="2" charset="-78"/>
                <a:cs typeface="Amiri" pitchFamily="2" charset="-78"/>
              </a:rPr>
              <a:t>غَنِيٌّ</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الحَدِيدِ</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ea typeface="Amiri" pitchFamily="2" charset="-78"/>
                <a:cs typeface="Amiri" pitchFamily="2" charset="-78"/>
              </a:rPr>
              <a:t>يَفْتَقِرُ</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الأَلْيَافِ</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Vocabulary: which means “fibre”?</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مَعَادِنُ</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دُهُونٌ</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أَلْيَافٌ</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Vocabulary: which means “saturated fats”?</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دُهُونٌ مُشْبَعَةٌ</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دُهُونٌ غَيْرُ مُشْبَعَةٍ</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أَلْيَافٌ طَبِيعِيَّةٌ</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Agreement: complete — </a:t>
            </a:r>
            <a:pPr algn="l" indent="0" marL="0">
              <a:buNone/>
            </a:pPr>
            <a:r>
              <a:rPr lang="ar-SA" altLang="en-US" sz="1650" b="1" dirty="0">
                <a:solidFill>
                  <a:srgbClr val="1B3B6F"/>
                </a:solidFill>
                <a:latin typeface="Amiri" pitchFamily="2" charset="-78"/>
                <a:ea typeface="Amiri" pitchFamily="2" charset="-78"/>
                <a:cs typeface="Amiri" pitchFamily="2" charset="-78"/>
              </a:rPr>
              <a:t>مَعَادِنُ</a:t>
            </a:r>
            <a:pPr algn="l" indent="0" marL="0">
              <a:buNone/>
            </a:pPr>
            <a:r>
              <a:rPr lang="en-US" sz="1250" b="1" dirty="0">
                <a:solidFill>
                  <a:srgbClr val="1B3B6F"/>
                </a:solidFill>
                <a:latin typeface="Calibri" pitchFamily="34" charset="0"/>
                <a:cs typeface="Amiri" pitchFamily="2" charset="-78"/>
              </a:rPr>
              <a:t> ___.</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مُهِمُّونَ</a:t>
            </a:r>
            <a:endParaRPr lang="ar-SA" sz="20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مُهِمَّةٌ</a:t>
            </a:r>
            <a:endParaRPr lang="ar-SA" sz="20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مُهِمٌّ</a:t>
            </a:r>
            <a:endParaRPr lang="ar-SA" sz="20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47</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AT-A-L06 · Healthy Eating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AT-A-L06</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ea typeface="Amiri" pitchFamily="2" charset="-78"/>
                <a:cs typeface="Amiri" pitchFamily="2" charset="-78"/>
              </a:rPr>
              <a:t>يَحْتَوِي</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بُرُوتِينٍ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بِـ</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عَلَى</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إِلَى</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يَحْتَوِي</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ea typeface="Amiri" pitchFamily="2" charset="-78"/>
                <a:cs typeface="Amiri" pitchFamily="2" charset="-78"/>
              </a:rPr>
              <a:t>عَلَى</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ea typeface="Amiri" pitchFamily="2" charset="-78"/>
                <a:cs typeface="Amiri" pitchFamily="2" charset="-78"/>
              </a:rPr>
              <a:t>غَنِيٌّ</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الحَدِيدِ</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بِـ</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مِنْ</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غَنِيٌّ</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ea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ea typeface="Amiri" pitchFamily="2" charset="-78"/>
                <a:cs typeface="Amiri" pitchFamily="2" charset="-78"/>
              </a:rPr>
              <a:t>يَفْتَقِرُ</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الأَلْيَافِ</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بِـ</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إِلَى</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يَفْتَقِرُ</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ea typeface="Amiri" pitchFamily="2" charset="-78"/>
                <a:cs typeface="Amiri" pitchFamily="2" charset="-78"/>
              </a:rPr>
              <a:t>إِلَى</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Vocabulary: which means “fibre”?</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مَعَادِنُ</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دُهُونٌ</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أَلْيَافٌ</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أَلْيَافٌ</a:t>
            </a:r>
            <a:pPr algn="l" indent="0" marL="0">
              <a:buNone/>
            </a:pPr>
            <a:r>
              <a:rPr lang="en-US" sz="1050" i="1" dirty="0">
                <a:solidFill>
                  <a:srgbClr val="8A6D1E"/>
                </a:solidFill>
                <a:latin typeface="Calibri" pitchFamily="34" charset="0"/>
                <a:cs typeface="Amiri" pitchFamily="2" charset="-78"/>
              </a:rPr>
              <a:t> is fibre.</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Vocabulary: which means “saturated fats”?</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دُهُونٌ مُشْبَعَةٌ</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دُهُونٌ غَيْرُ مُشْبَعَةٍ</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أَلْيَافٌ طَبِيعِيَّةٌ</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مُشْبَعَة</a:t>
            </a:r>
            <a:pPr algn="l" indent="0" marL="0">
              <a:buNone/>
            </a:pPr>
            <a:r>
              <a:rPr lang="en-US" sz="1050" i="1" dirty="0">
                <a:solidFill>
                  <a:srgbClr val="8A6D1E"/>
                </a:solidFill>
                <a:latin typeface="Calibri" pitchFamily="34" charset="0"/>
                <a:cs typeface="Amiri" pitchFamily="2" charset="-78"/>
              </a:rPr>
              <a:t> means saturated.</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Agreement: complete — </a:t>
            </a:r>
            <a:pPr algn="l" indent="0" marL="0">
              <a:buNone/>
            </a:pPr>
            <a:r>
              <a:rPr lang="ar-SA" altLang="en-US" sz="1650" b="1" dirty="0">
                <a:solidFill>
                  <a:srgbClr val="1B3B6F"/>
                </a:solidFill>
                <a:latin typeface="Amiri" pitchFamily="2" charset="-78"/>
                <a:ea typeface="Amiri" pitchFamily="2" charset="-78"/>
                <a:cs typeface="Amiri" pitchFamily="2" charset="-78"/>
              </a:rPr>
              <a:t>مَعَادِنُ</a:t>
            </a:r>
            <a:pPr algn="l" indent="0" marL="0">
              <a:buNone/>
            </a:pPr>
            <a:r>
              <a:rPr lang="en-US" sz="1250" b="1" dirty="0">
                <a:solidFill>
                  <a:srgbClr val="1B3B6F"/>
                </a:solidFill>
                <a:latin typeface="Calibri" pitchFamily="34" charset="0"/>
                <a:cs typeface="Amiri" pitchFamily="2" charset="-78"/>
              </a:rPr>
              <a:t> ___.</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مُهِمُّونَ</a:t>
            </a:r>
            <a:endParaRPr lang="ar-SA" sz="17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مُهِمَّةٌ</a:t>
            </a:r>
            <a:endParaRPr lang="ar-SA" sz="17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مُهِمٌّ</a:t>
            </a:r>
            <a:endParaRPr lang="ar-SA" sz="17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non-human plural takes a feminine singular adjective.</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47</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AT-A-L06 · Healthy Eating</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Before AT-A-L07: get ready at home</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AT-A-L06</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AT-A-L07 · Body Parts and Health Problems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رَأْسٌ</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head</a:t>
            </a:r>
            <a:pPr indent="0" marL="0">
              <a:buNone/>
            </a:pPr>
            <a:r>
              <a:rPr lang="ar-SA" sz="1000" i="1" dirty="0">
                <a:solidFill>
                  <a:srgbClr val="5A6472"/>
                </a:solidFill>
                <a:latin typeface="Calibri" pitchFamily="34" charset="0"/>
                <a:ea typeface="Amiri" pitchFamily="2" charset="-78"/>
                <a:cs typeface="Amiri" pitchFamily="2" charset="-78"/>
              </a:rPr>
              <a:t>  pl. رُؤُوسٌ</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عَيْنٌ</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eye</a:t>
            </a:r>
            <a:pPr indent="0" marL="0">
              <a:buNone/>
            </a:pPr>
            <a:r>
              <a:rPr lang="ar-SA" sz="1000" i="1" dirty="0">
                <a:solidFill>
                  <a:srgbClr val="5A6472"/>
                </a:solidFill>
                <a:latin typeface="Calibri" pitchFamily="34" charset="0"/>
                <a:ea typeface="Amiri" pitchFamily="2" charset="-78"/>
                <a:cs typeface="Amiri" pitchFamily="2" charset="-78"/>
              </a:rPr>
              <a:t>  two: عَيْنَانِ</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يَدٌ</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hand</a:t>
            </a:r>
            <a:pPr indent="0" marL="0">
              <a:buNone/>
            </a:pPr>
            <a:r>
              <a:rPr lang="ar-SA" sz="1000" i="1" dirty="0">
                <a:solidFill>
                  <a:srgbClr val="5A6472"/>
                </a:solidFill>
                <a:latin typeface="Calibri" pitchFamily="34" charset="0"/>
                <a:ea typeface="Amiri" pitchFamily="2" charset="-78"/>
                <a:cs typeface="Amiri" pitchFamily="2" charset="-78"/>
              </a:rPr>
              <a:t>  two: يَدَانِ</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رِجْلٌ</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leg</a:t>
            </a:r>
            <a:pPr indent="0" marL="0">
              <a:buNone/>
            </a:pPr>
            <a:r>
              <a:rPr lang="ar-SA" sz="1000" i="1" dirty="0">
                <a:solidFill>
                  <a:srgbClr val="5A6472"/>
                </a:solidFill>
                <a:latin typeface="Calibri" pitchFamily="34" charset="0"/>
                <a:ea typeface="Amiri" pitchFamily="2" charset="-78"/>
                <a:cs typeface="Amiri" pitchFamily="2" charset="-78"/>
              </a:rPr>
              <a:t>  two: رِجْلَانِ</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مَعِدَةٌ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stomach</a:t>
            </a:r>
            <a:pPr indent="0" marL="0">
              <a:buNone/>
            </a:pP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Point to and name three parts of your body in Arabic.</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مَا هٰذَا؟</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AT-A-L06: vocabulary tab — learn 6 nutrients; write 3 “rich in” sentences.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Analyse your lunch in 6 sentences with contains / rich in / lacks.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80–90 words analysing a meal in academic register.</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46 / 47</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AT-A-L06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250" b="1" dirty="0">
                <a:solidFill>
                  <a:srgbClr val="FFFFFF"/>
                </a:solidFill>
                <a:latin typeface="Cambria" pitchFamily="34" charset="0"/>
                <a:cs typeface="Amiri" pitchFamily="2" charset="-78"/>
              </a:rPr>
              <a:t>AT-A-L07 · Body Parts and Health Problems</a:t>
            </a:r>
            <a:endParaRPr lang="en-US" sz="22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أَجْزَاءُ الْجِسْمِ وَالْمُشْكِلَاتُ الصِّحِّيَّةُ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5 body words — and the “two” form (‘aynāni).</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47</Slides>
  <Notes>47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47</vt:i4>
      </vt:variant>
    </vt:vector>
  </HeadingPairs>
  <TitlesOfParts>
    <vt:vector size="5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AT-A-L06 · Healthy Eating and Lifestyle Choices</dc:title>
  <dc:subject>PptxGenJS Presentation</dc:subject>
  <dc:creator>Al Madina Online School · Arabic Department</dc:creator>
  <cp:lastModifiedBy>Al Madina Online School · Arabic Department</cp:lastModifiedBy>
  <cp:revision>1</cp:revision>
  <dcterms:created xsi:type="dcterms:W3CDTF">2026-10-11T06:43:43Z</dcterms:created>
  <dcterms:modified xsi:type="dcterms:W3CDTF">2026-10-11T06:43:43Z</dcterms:modified>
</cp:coreProperties>
</file>