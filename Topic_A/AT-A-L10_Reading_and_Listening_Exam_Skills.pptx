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AT-A-L10 — Reading and Listening Exam Skills. Website: Advanced Topics › Topic A (Everyday Activities) › Lesson 10.
The website builds this lesson on the D1-L10 lesson engine, with the Topic focus “Practise understanding Topic A texts, locating evidence and checking answers against distractors.” (grammar: Question strategies; time frames; evidence and distractors; skills: Listening · Reading) and the application challenge “Distractor detective”.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3–4 retrieve AT-A-L09 (transport patterns and the listening “as for …”); question 5 retrieves AT-A-L02 (time with illā).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“For each short listening or reading item, underline the evidence, identify the tempting distractor and explain why the correct answer fits the time frame.”
SCRIPT (teacher reads each twice):
1. كُنْتُ أُرِيدُ قَهْوَةً، وَلٰكِنِّي طَلَبْتُ شَايًا لِأَنَّ القَهْوَةَ مُرَّةٌ. → tea (distractor: coffee — he wanted it but did not order it).
2. عِنْدَهَا صُدَاعٌ مُنْذُ يَوْمَيْنِ، وَسُعَالٌ مُنْذُ أُسْبُوعٍ. السُّؤَالُ عَنِ الصُّدَاعِ. → two days (distractor: a week = the cough).
3. عَادَةً يَذْهَبُ عُمَرُ بِالحَافِلَةِ، وَلٰكِنَّهُ اليَوْمَ يَذْهَبُ مَشْيًا لِأَنَّ الجَوَّ جَمِيلٌ. → on foot (distractor: bus = usually, not today).
4. كَانَ القِطَارُ يُغَادِرُ فِي السَّابِعَةِ وَالرُّبْعِ، وَلٰكِنَّ المَوْعِدَ الجَدِيدَ فِي السَّابِعَةِ وَالنِّصْفِ. → 7:30 (distractor: 7:15 = the old time).
Teacher-written items for the website “distractor detective”, built from Topic A lessons AT-A-L04/05, L07, L09 and L02. Answers: 1 tea · 2 two days · 3 on foot · 4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(AT-A-L11 · Reading — Travel and Tourism Texts) · Speaking and Writing — My Daily Routine) will spend class time USING this language, so students prepare it tonight — short, simple, easy to access (school guidance: “Simple, Short, Interesting, Relevant, Easy to access”). The five words come from the website D1-L11 (website)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Reading and Listening Exam Skills</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مَهَارَاتُ الْقِرَاءَةِ وَالِاسْتِمَاعِ لِلِامْتِحَانِ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Practise understanding Topic A texts, locating evidence and checking answers against distractors.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AT-A-L10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to school by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عَلَى الحَافِلَةِ.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بِمَشْيًا.</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بِالحَافِلَةِ.</a:t>
            </a:r>
            <a:endParaRPr lang="ar-SA" sz="20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Sarah goes by bus. Who cycles?</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أَمَّا أَخُوهَا فَيَذْهَبُ عَلَى الدَّرَّاجَةِ.</a:t>
            </a:r>
            <a:endParaRPr lang="ar-SA" sz="11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الرُّبْعَ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وَالرُّبْعُ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to school by bus.”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 عَلَى الحَافِلَةِ.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 بِمَشْيًا.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إِلَى المَدْرَسَةِ بِالحَافِلَةِ.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bi- with vehicles.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Sarah goes by bus. Who cycles?</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أَمَّا أَخُوهَا فَيَذْهَبُ عَلَى الدَّرَّاجَةِ.</a:t>
            </a:r>
            <a:endParaRPr lang="ar-SA" sz="11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Sarah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father</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listening: amma … fa-.</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الخَامِسَةُ إِلَّا الرُّبْعَ</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وَالرُّبْعُ</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Hearing a word is not enough. Check: right person? right event? did “but” or “not” change it?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تَسْتَيْقِظُ فِي السَّادِسَةِ،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وَلٰكِنَّهَا 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تَخْرُجُ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حَتَّى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السَّابِعَةِ وَالرُّبْعِ.</a:t>
            </a:r>
            <a:endParaRPr lang="ar-SA" sz="19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‎انتخاب‎ </a:t>
            </a:r>
            <a:pPr indent="0" marL="0">
              <a:buNone/>
            </a:pPr>
            <a:r>
              <a:rPr lang="en-US" sz="950" b="1" dirty="0">
                <a:solidFill>
                  <a:srgbClr val="2E8B57"/>
                </a:solidFill>
                <a:latin typeface="Calibri" pitchFamily="34" charset="0"/>
                <a:ea typeface="Calibri" pitchFamily="34" charset="-122"/>
                <a:cs typeface="Calibri" pitchFamily="34" charset="-120"/>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anchor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selective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gist / overall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focus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predict / expect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ignore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notice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eliminate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verify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correct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large / spacious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small / narrow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tired / exhausted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 / sets off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 / 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0E7C86"/>
                </a:solidFill>
                <a:latin typeface="Amiri" pitchFamily="34" charset="0"/>
                <a:ea typeface="Amiri" pitchFamily="34" charset="-122"/>
                <a:cs typeface="Amiri" pitchFamily="34" charset="-120"/>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مَرْيَمُ ·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buNone/>
            </a:pPr>
            <a:r>
              <a:rPr lang="ar-SA" altLang="en-US" sz="1750" b="1" dirty="0">
                <a:solidFill>
                  <a:srgbClr val="0E7C86"/>
                </a:solidFill>
                <a:latin typeface="Amiri" pitchFamily="34" charset="0"/>
                <a:ea typeface="Amiri" pitchFamily="34" charset="-122"/>
                <a:cs typeface="Amiri" pitchFamily="34" charset="-120"/>
              </a:rPr>
              <a:t>فِي السَّادِسَةِ</a:t>
            </a:r>
            <a:pPr rtl="1" algn="ctr" indent="0" marL="0">
              <a:buNone/>
            </a:pPr>
            <a:r>
              <a:rPr lang="ar-SA" altLang="en-US" sz="1750" b="1" dirty="0">
                <a:solidFill>
                  <a:srgbClr val="1B3B6F"/>
                </a:solidFill>
                <a:latin typeface="Amiri" pitchFamily="34" charset="0"/>
                <a:ea typeface="Amiri" pitchFamily="34" charset="-122"/>
                <a:cs typeface="Amiri" pitchFamily="34" charset="-120"/>
              </a:rPr>
              <a:t> … تَخْرُجُ </a:t>
            </a:r>
            <a:pPr rtl="1" algn="ctr" indent="0" marL="0">
              <a:buNone/>
            </a:pPr>
            <a:r>
              <a:rPr lang="ar-SA" altLang="en-US" sz="1750" b="1" dirty="0">
                <a:solidFill>
                  <a:srgbClr val="0E7C86"/>
                </a:solidFill>
                <a:latin typeface="Amiri" pitchFamily="34" charset="0"/>
                <a:ea typeface="Amiri" pitchFamily="34" charset="-122"/>
                <a:cs typeface="Amiri" pitchFamily="34" charset="-120"/>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اِقْتَرَحَ الرَّابِعَةَ … </a:t>
            </a:r>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سَلْمَى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لَا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dirty="0">
                <a:solidFill>
                  <a:srgbClr val="5A6472"/>
                </a:solidFill>
                <a:latin typeface="Calibri" pitchFamily="34" charset="0"/>
                <a:ea typeface="Calibri" pitchFamily="34" charset="-122"/>
                <a:cs typeface="Calibri" pitchFamily="34" charset="-120"/>
              </a:rPr>
              <a:t> = I · </a:t>
            </a:r>
            <a:pPr algn="l" indent="0" marL="0">
              <a:buNone/>
            </a:pPr>
            <a:r>
              <a:rPr lang="ar-SA" altLang="en-US" sz="1350" dirty="0">
                <a:solidFill>
                  <a:srgbClr val="5A6472"/>
                </a:solidFill>
                <a:latin typeface="Amiri" pitchFamily="34" charset="0"/>
                <a:ea typeface="Amiri" pitchFamily="34" charset="-122"/>
                <a:cs typeface="Amiri" pitchFamily="34" charset="-120"/>
              </a:rPr>
              <a:t>تَـ</a:t>
            </a:r>
            <a:pPr algn="l" indent="0" marL="0">
              <a:buNone/>
            </a:pPr>
            <a:r>
              <a:rPr lang="en-US" sz="1050" dirty="0">
                <a:solidFill>
                  <a:srgbClr val="5A6472"/>
                </a:solidFill>
                <a:latin typeface="Calibri" pitchFamily="34" charset="0"/>
                <a:ea typeface="Calibri" pitchFamily="34" charset="-122"/>
                <a:cs typeface="Calibri" pitchFamily="34" charset="-120"/>
              </a:rPr>
              <a:t> = you/she · </a:t>
            </a:r>
            <a:pPr algn="l" indent="0" marL="0">
              <a:buNone/>
            </a:pPr>
            <a:r>
              <a:rPr lang="ar-SA" altLang="en-US" sz="1350" dirty="0">
                <a:solidFill>
                  <a:srgbClr val="5A6472"/>
                </a:solidFill>
                <a:latin typeface="Amiri" pitchFamily="34" charset="0"/>
                <a:ea typeface="Amiri" pitchFamily="34" charset="-122"/>
                <a:cs typeface="Amiri" pitchFamily="34" charset="-120"/>
              </a:rPr>
              <a:t>يَـ</a:t>
            </a:r>
            <a:pPr algn="l" indent="0" marL="0">
              <a:buNone/>
            </a:pPr>
            <a:r>
              <a:rPr lang="en-US" sz="1050" dirty="0">
                <a:solidFill>
                  <a:srgbClr val="5A6472"/>
                </a:solidFill>
                <a:latin typeface="Calibri" pitchFamily="34" charset="0"/>
                <a:ea typeface="Calibri" pitchFamily="34" charset="-122"/>
                <a:cs typeface="Calibri" pitchFamily="34" charset="-120"/>
              </a:rPr>
              <a:t> = he · </a:t>
            </a:r>
            <a:pPr algn="l" indent="0" marL="0">
              <a:buNone/>
            </a:pPr>
            <a:r>
              <a:rPr lang="ar-SA" altLang="en-US" sz="1350" dirty="0">
                <a:solidFill>
                  <a:srgbClr val="5A6472"/>
                </a:solidFill>
                <a:latin typeface="Amiri" pitchFamily="34" charset="0"/>
                <a:ea typeface="Amiri" pitchFamily="34" charset="-122"/>
                <a:cs typeface="Amiri" pitchFamily="34" charset="-120"/>
              </a:rPr>
              <a:t>نَـ</a:t>
            </a:r>
            <a:pPr algn="l" indent="0" marL="0">
              <a:buNone/>
            </a:pPr>
            <a:r>
              <a:rPr lang="en-US" sz="1050" dirty="0">
                <a:solidFill>
                  <a:srgbClr val="5A6472"/>
                </a:solidFill>
                <a:latin typeface="Calibri" pitchFamily="34" charset="0"/>
                <a:ea typeface="Calibri" pitchFamily="34" charset="-122"/>
                <a:cs typeface="Calibri" pitchFamily="34" charset="-120"/>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أَسْتَيْقِظُ</a:t>
            </a:r>
            <a:pPr algn="l" indent="0" marL="0">
              <a:buNone/>
            </a:pPr>
            <a:r>
              <a:rPr lang="en-US" sz="2000" b="1" dirty="0">
                <a:solidFill>
                  <a:srgbClr val="1F2A37"/>
                </a:solidFill>
                <a:latin typeface="Calibri" pitchFamily="34" charset="0"/>
                <a:ea typeface="Calibri" pitchFamily="34" charset="-122"/>
                <a:cs typeface="Calibri" pitchFamily="34" charset="-120"/>
              </a:rPr>
              <a:t> = I wake.   ·   </a:t>
            </a:r>
            <a:pPr algn="l" indent="0" marL="0">
              <a:buNone/>
            </a:pPr>
            <a:r>
              <a:rPr lang="ar-SA" altLang="en-US" sz="2600" b="1" dirty="0">
                <a:solidFill>
                  <a:srgbClr val="1F2A37"/>
                </a:solidFill>
                <a:latin typeface="Amiri" pitchFamily="34" charset="0"/>
                <a:ea typeface="Amiri" pitchFamily="34" charset="-122"/>
                <a:cs typeface="Amiri" pitchFamily="34" charset="-120"/>
              </a:rPr>
              <a:t>تَسْتَيْقِظُ</a:t>
            </a:r>
            <a:pPr algn="l" indent="0" marL="0">
              <a:buNone/>
            </a:pPr>
            <a:r>
              <a:rPr lang="en-US" sz="2000" b="1" dirty="0">
                <a:solidFill>
                  <a:srgbClr val="1F2A37"/>
                </a:solidFill>
                <a:latin typeface="Calibri" pitchFamily="34" charset="0"/>
                <a:ea typeface="Calibri" pitchFamily="34" charset="-122"/>
                <a:cs typeface="Calibri" pitchFamily="34" charset="-120"/>
              </a:rPr>
              <a:t> = she/you wake.   ·   </a:t>
            </a:r>
            <a:pPr algn="l" indent="0" marL="0">
              <a:buNone/>
            </a:pPr>
            <a:r>
              <a:rPr lang="ar-SA" altLang="en-US" sz="2600" b="1" dirty="0">
                <a:solidFill>
                  <a:srgbClr val="1F2A37"/>
                </a:solidFill>
                <a:latin typeface="Amiri" pitchFamily="34" charset="0"/>
                <a:ea typeface="Amiri" pitchFamily="34" charset="-122"/>
                <a:cs typeface="Amiri" pitchFamily="34" charset="-120"/>
              </a:rPr>
              <a:t>يَسْتَيْقِظُ</a:t>
            </a:r>
            <a:pPr algn="l" indent="0" marL="0">
              <a:buNone/>
            </a:pPr>
            <a:r>
              <a:rPr lang="en-US" sz="2000" b="1" dirty="0">
                <a:solidFill>
                  <a:srgbClr val="1F2A37"/>
                </a:solidFill>
                <a:latin typeface="Calibri" pitchFamily="34" charset="0"/>
                <a:ea typeface="Calibri" pitchFamily="34" charset="-122"/>
                <a:cs typeface="Calibri" pitchFamily="34" charset="-120"/>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فِي السَّادِسَةِ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وَلٰكِنَّهَا لَا تَخْرُجُ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حَتَّى السَّابِعَةِ وَالرُّبْعِ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السَّادِسَةُ</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تَخْرُجُ … حَتَّى السَّابِعَةِ وَالرُّبْعِ</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السُّؤَالُ: مَتَى تَخْرُجُ مَرْيَمُ؟ ← أَتَوَقَّعُ وَقْتًا. ← سَمِعْتُ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 أَسْتَبْعِدُ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لِأَنَّهَا وَقْتُ الاِسْتِيقَاظِ. ← الجَوَابُ: </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focus on time words.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eliminate the option about another person.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notice “but” and wait for the new information.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 the second listening I verify details.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اِقْتَرَحَ عُمَرُ السَّاعَةَ الرَّابِعَةَ</a:t>
            </a:r>
            <a:pPr algn="l" indent="0" marL="0">
              <a:buNone/>
            </a:pPr>
            <a:r>
              <a:rPr lang="en-US" sz="1050" i="1" dirty="0">
                <a:solidFill>
                  <a:srgbClr val="8A6D1E"/>
                </a:solidFill>
                <a:latin typeface="Calibri" pitchFamily="34" charset="0"/>
                <a:ea typeface="Calibri" pitchFamily="34" charset="-122"/>
                <a:cs typeface="Calibri" pitchFamily="34" charset="-120"/>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Distractor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Distractor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For each short listening or reading item, underline the evidence, identify the tempting distractor and explain why the correct answer fits the time frame.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reads each item twice (script in the notes); the options are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Everyone types the answer AND one Arabic evidence word.</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name the distractor: which option was “heard” but wrong?</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Say why the answer fits: person, time frame, “but / not”.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items 1–2. Type the answer and one evidence word.</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 4 items: answer, evidence and the distractor.</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each distractor in one sentence (wrong person / wrong time / cancelled by “but”).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شَايٌ · قَهْوَةٌ · عَصِيرٌ</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1 · what does he order?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يَوْمَانِ · أُسْبُوعٌ · شَهْرٌ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2 · how long has she had the headache?</a:t>
            </a:r>
            <a:endParaRPr lang="en-US" sz="9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حَافِلَةٌ · قِطَارٌ · مَشْيًا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3 · how does Omar go today?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٧:١٥ · ٧:٣٠ · ٧:٤٥</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4 · when does the train leave?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Reflect on listening decisions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الكَلِمَةُ المِفْتَاحِيَّةُ الَّتِي سَاعَدَتْكَ؟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مُشَتِّتٍ كَانَ أَقْوَى؟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غَيَّرْتَ فِي الاِسْتِمَاعِ الثَّانِي؟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المُحَدَّدُ الَّذِي سَتُطَوِّرُهُ فِي الاِسْتِمَاعِ القَادِمِ؟</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الكَلِمَةُ المِفْتَاحِيَّةُ كَانَتْ «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 المُشَتِّتُ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الاِسْتِمَاعِ الثَّانِي ، تَثَبَّتُّ مِنْ ___ .</a:t>
            </a:r>
            <a:endParaRPr lang="ar-SA" sz="15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هَدَفِي القَادِمُ 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لَمْ تَخْتَرِ السَّادِسَةَ؟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didn’t you choose six?</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 السَّادِسَةَ كَانَتْ وَقْتَ الاِسْتِيقَاظِ، بَيْنَمَا السُّؤَالُ كَانَ عَنْ وَقْتِ الخُرُوجِ. اِنْتَظَرْتُ الفِعْلَ «تَخْرُجُ».</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Because six was the wake-up time, whereas the question was about the leaving time. I waited for the verb “leaves”.</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51</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51</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51</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linked it to </a:t>
            </a:r>
            <a:pPr algn="l" indent="0" marL="0">
              <a:buNone/>
            </a:pPr>
            <a:r>
              <a:rPr lang="ar-SA" altLang="en-US" sz="1350" dirty="0">
                <a:solidFill>
                  <a:srgbClr val="8A6D1E"/>
                </a:solidFill>
                <a:latin typeface="Amiri" pitchFamily="34" charset="0"/>
                <a:ea typeface="Amiri" pitchFamily="34" charset="-122"/>
                <a:cs typeface="Amiri" pitchFamily="34" charset="-120"/>
              </a:rPr>
              <a:t>التَّمْرِينِ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51</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51</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Link the requested action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marker </a:t>
            </a:r>
            <a:pPr algn="l" indent="0" marL="0">
              <a:buNone/>
            </a:pPr>
            <a:r>
              <a:rPr lang="ar-SA" altLang="en-US" sz="1350" dirty="0">
                <a:solidFill>
                  <a:srgbClr val="8A6D1E"/>
                </a:solidFill>
                <a:latin typeface="Amiri" pitchFamily="34" charset="0"/>
                <a:ea typeface="Amiri" pitchFamily="34" charset="-122"/>
                <a:cs typeface="Amiri" pitchFamily="34" charset="-120"/>
              </a:rPr>
              <a:t>وَلٰكِنَّنِي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 عَدَا</a:t>
            </a:r>
            <a:pPr algn="l" indent="0" marL="0">
              <a:buNone/>
            </a:pPr>
            <a:r>
              <a:rPr lang="en-US" sz="1050" i="1" dirty="0">
                <a:solidFill>
                  <a:srgbClr val="8A6D1E"/>
                </a:solidFill>
                <a:latin typeface="Calibri" pitchFamily="34" charset="0"/>
                <a:ea typeface="Calibri" pitchFamily="34" charset="-122"/>
                <a:cs typeface="Calibri" pitchFamily="34" charset="-120"/>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Track the subject after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 اِتَّفَقَا عَلَى</a:t>
            </a:r>
            <a:pPr algn="l" indent="0" marL="0">
              <a:buNone/>
            </a:pPr>
            <a:r>
              <a:rPr lang="en-US" sz="1050" i="1" dirty="0">
                <a:solidFill>
                  <a:srgbClr val="8A6D1E"/>
                </a:solidFill>
                <a:latin typeface="Calibri" pitchFamily="34" charset="0"/>
                <a:ea typeface="Calibri" pitchFamily="34" charset="-122"/>
                <a:cs typeface="Calibri" pitchFamily="34" charset="-120"/>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AT-A-L11: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AT-A-L11 · Reading — Travel and Tourism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51</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AT-A-L11 · Reading — Travel and Tourism Texts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نُصُوصُ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AT-A-L10 · Reading and Listening Exam Skills</dc:title>
  <dc:subject>PptxGenJS Presentation</dc:subject>
  <dc:creator>Al Madina Online School · Arabic Department</dc:creator>
  <cp:lastModifiedBy>Al Madina Online School · Arabic Department</cp:lastModifiedBy>
  <cp:revision>1</cp:revision>
  <dcterms:created xsi:type="dcterms:W3CDTF">2026-09-27T12:43:35Z</dcterms:created>
  <dcterms:modified xsi:type="dcterms:W3CDTF">2026-09-27T12:43:35Z</dcterms:modified>
</cp:coreProperties>
</file>