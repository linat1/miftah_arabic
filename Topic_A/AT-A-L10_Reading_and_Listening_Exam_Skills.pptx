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A · AT-A-L10 — Reading and Listening Exam Skills. Website: Advanced Topics › Topic A (Everyday Activities) › Lesson 10.
The website builds this lesson on the D1-L10 lesson engine, with the Topic focus “Practise understanding Topic A texts, locating evidence and checking answers against distractors.” (grammar: Question strategies; time frames; evidence and distractors; skills: Listening · Reading) and the application challenge “Distractor detective”.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A Daily Routine and Time › AT-A-L10. The website lesson “Listening — Daily Routine and Time Details”: vocabulary, grammar rules and quiz, patterns, common mistakes, sorter, listening, reading, speaking prompts and model, writing task and model, differentiation, final check and the lesson mission. Picture match: website visual game “Beat the Clock”.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three-part website listening is the main task, done as three short cycles (predict → listen twice → read the script → answers).
• Core: predict the answer TYPE for each question (a time? a person? how often?) and answer the time questions. Develop: all questions + explain one distractor. Stretch: the performance log (reading) and a written reflection with a measurable target.
• Read each text yourself at natural speed, with a pause between sentences. Do NOT show the script until after the second listening.
• Urdu bridge: توقع، تحقیق، ملاحظہ، مقابلہ، انتخاب.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3–4 retrieve AT-A-L09 (transport patterns and the listening “as for …”); question 5 retrieves AT-A-L02 (time with illā).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Hearing a word is not enough. Check: right person? right event? did “but” or “not”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توقع (expectation) → التَّوَقُّعُ / أَتَوَقَّعُ. تحقیق (research, investigation) shares the root of تَحَقُّقٌ (verification). ملاحظہ → أُلَاحِظُ. CAREFUL: Urdu مقابلہ = a competition; Arabic المُقَابَلَةُ = an interview or a contrast, and أُقَارِنُ = I compare. انتخاب (election, selection) is related to اِنْتِقَائِيٌّ in meaning (selective).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process (website vocabulary (1 of 2)). Hear → Say → See → Use. Transliteration is printed for Core students (cover it for Develop/Stretch).
Strategy words — students need to UNDERSTAND them (they appear in reflection and in website feedback), not produce all of them. مِفْتَاحٌ = key, so كَلِمَةٌ مِفْتَاحِيَّةٌ = a key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process (website vocabulary (2 of 2)). Hear → Say → See → Use. Transliteration is printed for Core students (cover it for Develop/Stretch).
Strategy words — students need to UNDERSTAND them (they appear in reflection and in website feedback), not produce all of them. مِفْتَاحٌ = key, so كَلِمَةٌ مِفْتَاحِيَّةٌ = a key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Strategy verbs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Strategy verbs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Common synonym pairs (website vocabulary (1 of 2)). Hear → Say → See → Use. Transliteration is printed for Core students (cover it for Develop/Stretch).
FLEX: teach if time allows; otherwise these are on the website vocabulary tab for homework.
Synonym pairs (FLEX): exam listening often uses a DIFFERENT word from the question — e.g. the question says مُتْعَبٌ, the speaker says مُرْهَقٌ.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Common synonym pairs (website vocabulary (2 of 2)). Hear → Say → See → Use. Transliteration is printed for Core students (cover it for Develop/Stretch).
FLEX: teach if time allows; otherwise these are on the website vocabulary tab for homework.
Synonym pairs (FLEX): exam listening often uses a DIFFERENT word from the question — e.g. the question says مُتْعَبٌ, the speaker says مُرْهَقٌ.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table “Cue · What to listen for · Risk” and rules “Use person prefixes to track the speaker”, “Use time frames as anchors”, “Listen beyond the contrast marker”.
Website teaching point: “Do not choose an option merely because you heard its vocabulary. Confirm that the detail belongs to the correct person, event and time.”
Prediction routine (Core): label every question T / P / F / R before listening — this is the “anchor” in the website vocabulary (مَرْسَاةٌ سَمْعِيَّةٌ).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“Listen beyond the contrast marker” and “Notice negation and limitation” (إِلَّا may mean “except / only” as well as “to” in clock time: لَا أَسْتَعْمِلُ الهَاتِفَ إِلَّا لِمُرَاجَعَةِ الوَقْتِ = I only use the phone to check the time). Examples from the website mission rounds 2 and 3.
Quick-fire: the teacher says a sentence with لَا / وَلٰكِنَّ; students show thumbs up / down for “Does he train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“Listening accuracy improves when you recognise person prefixes, time frames, frequency phrases and contrast markers. These grammatical signals help you reject distractors.”
• Use person prefixes to track the speaker: When two people are compared, the prefix tells you who performs the action.
• Use time frames as anchors: Write the number or relation you expect before listening. Then reject a time mentioned for a different event.
• Listen beyond the contrast marker: A distractor may appear before the contrast; the speaker’s final choice or true situation often follows it.
• Notice negation and limitation: One small negative word can reverse the answer. إِلَّا may mean “except / only” as well as “to” in clock time.
Website common error: Do not choose an option merely because you heard its vocabulary. Confirm that the detail belongs to the correct person, event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thinks aloud through website listening question 2 (and Q8, the distractor question). This is exactly the mistake Sara makes in the website performance log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sentence 1 (my listening target). • Develop: copy sentences 2 and 3. • Stretch: write your own strategy sentence with أَسْتَبْعِدُ or أَتَثَبَّتُ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cue and identify the kind of detail it signals. Use the cue to predict what must be caught in the listening text.
Website instruction: use the cue to PREDICT what must be caught in the listening. Do this sorter BEFORE the three listening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cue and identify the kind of detail it signals. Use the cue to predict what must be caught in the listening text.
Website instruction: use the cue to PREDICT what must be caught in the listening. Do this sorter BEFORE the three listening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and 2. Develop/Stretch: + question 3 (the distractor).
Listen 1: just listen. Listen 2: note answers. Then chat the letters.
Support: after the second listening, show the read-along slide (Arabic + English, line by line) for Core students.
SCRIPT (read aloud):
النَّصُّ الأَوَّلُ: تَسْتَيْقِظُ مَرْيَمُ فِي السَّادِسَةِ، وَلٰكِنَّهَا لَا تَخْرُجُ مِنَ البَيْتِ حَتَّى السَّابِعَةِ وَالرُّبْعِ. تَتَنَاوَلُ الإِفْطَارَ دَائِمًا، وَتَسْتَقِلُّ الحَافِلَةَ فِي السَّابِعَةِ وَالنِّصْفِ.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 2 (the first suggestion). Develop/Stretch: all three — question 1 is the FINAL agreed time.
Listen 1: just listen. Listen 2: note answers. Then chat the letters.
Support: after the second listening, show the read-along slide (Arabic + English, line by line) for Core students.
SCRIPT (read aloud):
النَّصُّ الثَّانِي: يَلْتَقِي عُمَرُ وَسَلْمَى يَوْمَ السَّبْتِ. اِقْتَرَحَ عُمَرُ السَّاعَةَ الرَّابِعَةَ، أَمَّا سَلْمَى فَلَا تَنْتَهِي مِنْ دَرْسِهَا قَبْلَ الرَّابِعَةِ وَالنِّصْفِ، لِذٰلِكَ اِتَّفَقَا عَلَى الخَامِسَةِ إِلَّا الرُّبْعَ.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and 3. Develop/Stretch: all four.
Listen 1: just listen. Listen 2: note answers. Then chat the letters.
Support: after the second listening, show the read-along slide (Arabic + English, line by line) for Core students.
SCRIPT (read aloud):
النَّصُّ الثَّالِثُ: يَعُودُ سَامِرٌ إِلَى البَيْتِ فِي الثَّالِثَةِ وَعَشْرِ دَقَائِقَ. يَسْتَرِيحُ نِصْفَ سَاعَةٍ، ثُمَّ يُكْمِلُ وَاجِبَهُ قَبْلَ أَنْ يَذْهَبَ إِلَى التَّمْرِينِ. يَتَمَرَّنُ ثَلَاثَ مَرَّاتٍ فِي الأُسْبُوعِ، أَمَّا يَوْمُ الخَمِيسِ فَيَبْقَى فِي البَيْتِ وَيُسَاعِدُ أُسْرَتَهُ.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APPLICATION CHALLENGE (3 min — it takes the speaking-rehearsal slot; the website speaking slide after it is FLEX) — from the website Topic page: “For each short listening or reading item, underline the evidence, identify the tempting distractor and explain why the correct answer fits the time frame.”
SCRIPT (teacher reads each twice):
1. كُنْتُ أُرِيدُ قَهْوَةً، وَلٰكِنِّي طَلَبْتُ شَايًا لِأَنَّ القَهْوَةَ مُرَّةٌ. → tea (distractor: coffee — he wanted it but did not order it).
2. عِنْدَهَا صُدَاعٌ مُنْذُ يَوْمَيْنِ، وَسُعَالٌ مُنْذُ أُسْبُوعٍ. السُّؤَالُ عَنِ الصُّدَاعِ. → two days (distractor: a week = the cough).
3. عَادَةً يَذْهَبُ عُمَرُ بِالحَافِلَةِ، وَلٰكِنَّهُ اليَوْمَ يَذْهَبُ مَشْيًا لِأَنَّ الجَوَّ جَمِيلٌ. → on foot (distractor: bus = usually, not today).
4. كَانَ القِطَارُ يُغَادِرُ فِي السَّابِعَةِ وَالرُّبْعِ، وَلٰكِنَّ المَوْعِدَ الجَدِيدَ فِي السَّابِعَةِ وَالنِّصْفِ. → 7:30 (distractor: 7:15 = the old time).
Teacher-written items for the website “distractor detective”, built from Topic A lessons AT-A-L04/05, L07, L09 and L02. Answers: 1 tea · 2 two days · 3 on foot · 4 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A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reflection prompts. Keep it short and supportive — this is metacognition: students explain HOW they listened. Core may answer in one Arabic key word + English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Identify key words and complete the questions with support. · Develop — Explain distractors and correct answers from the script. · Stretch — Evaluate paraphrase, inference and personal strategy using precise listening terminology.
Website writing task (Stretch): Write 100–120 words reconstructing one speaker’s routine from the listening evidence, then explain two distractors you rejected.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رَكَّزْتُ عَلَى / اِنْتَظَرْتُ / صَحَّحْتُ · كَانَ المُشَتِّتُ قَوِيًّا لِأَنَّ السَّادِسَةَ ذُكِرَتْ أَوَّلًا · فِي الاِسْتِمَاعِ الثَّانِي رَكَّزْتُ عَلَى الفِعْلِ «تَخْرُجُ» · هَدَفِي القَادِمُ أَنْ أَرْبِطَ كُلَّ رَقْمٍ بِالحَدَثِ الصَّحِيحِ.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(AT-A-L11 · Reading — Travel and Tourism Texts) · Speaking and Writing — My Daily Routine) will spend class time USING this language, so students prepare it tonight — short, simple, easy to access (school guidance: “Simple, Short, Interesting, Relevant, Easy to access”). The five words come from the website D1-L11 (website) vocabulary (speaking and reflection, answer extension).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cs typeface="Amiri" pitchFamily="2" charset="-78"/>
              </a:rPr>
              <a:t>Reading and Listening Exam Skills</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مَهَارَاتُ الْقِرَاءَةِ وَالِاسْتِمَاعِ لِلِامْتِحَانِ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Practise understanding Topic A texts, locating evidence and checking answers against distractors.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AT-A-L10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Five listening traps and how to beat them.</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short listening cycles with the script.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focus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predict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correct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script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to school by bus.”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أَذْهَبُ إِلَى المَدْرَسَةِ عَلَى الحَافِلَةِ.</a:t>
            </a:r>
            <a:endParaRPr lang="ar-SA" sz="20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أَذْهَبُ إِلَى المَدْرَسَةِ بِمَشْيًا.</a:t>
            </a:r>
            <a:endParaRPr lang="ar-SA" sz="20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أَذْهَبُ إِلَى المَدْرَسَةِ بِالحَافِلَةِ.</a:t>
            </a:r>
            <a:endParaRPr lang="ar-SA" sz="200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Sarah goes by bus. Who cycles?</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أَمَّا أَخُوهَا فَيَذْهَبُ عَلَى الدَّرَّاجَةِ.</a:t>
            </a:r>
            <a:endParaRPr lang="ar-SA" sz="11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Sarah</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4:45?</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٤:٤٥</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الخَامِسَةُ إِلَّا الرُّبْعَ</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إِلَّا الرُّبْعَ</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وَالرُّبْعُ</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focus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predict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correct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key word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script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go to school by bus.”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إِلَى المَدْرَسَةِ عَلَى الحَافِلَةِ.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إِلَى المَدْرَسَةِ بِمَشْيًا.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أَذْهَبُ إِلَى المَدْرَسَةِ بِالحَافِلَةِ.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AT-A-L09: bi- with vehicles.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Sarah goes by bus. Who cycles?</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أَمَّا أَخُوهَا فَيَذْهَبُ عَلَى الدَّرَّاجَةِ.</a:t>
            </a:r>
            <a:endParaRPr lang="ar-SA" sz="11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Sarah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father</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brother</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AT-A-L09 listening: amma … fa-.</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4:45?</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٤:٤٥</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الخَامِسَةُ إِلَّا الرُّبْعَ</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الرَّابِعَةُ إِلَّا الرُّبْعَ</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الرَّابِعَةُ وَالرُّبْعُ</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AT-A-L02: the next hour with </a:t>
            </a:r>
            <a:pPr algn="l" indent="0" marL="0">
              <a:buNone/>
            </a:pPr>
            <a:r>
              <a:rPr lang="ar-SA" altLang="en-US" sz="1350" dirty="0">
                <a:solidFill>
                  <a:srgbClr val="8A6D1E"/>
                </a:solidFill>
                <a:latin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Hearing a word is not enough. Check: right person? right event? did “but” or “not” change it?</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تَسْتَيْقِظُ فِي السَّادِسَةِ، </a:t>
            </a:r>
            <a:pPr rtl="1" algn="ctr" indent="0" marL="0">
              <a:lnSpc>
                <a:spcPct val="120000"/>
              </a:lnSpc>
              <a:buNone/>
            </a:pPr>
            <a:r>
              <a:rPr lang="ar-SA" altLang="en-US" sz="1950" b="1" dirty="0">
                <a:solidFill>
                  <a:srgbClr val="0E7C86"/>
                </a:solidFill>
                <a:latin typeface="Amiri" pitchFamily="2" charset="-78"/>
                <a:cs typeface="Amiri" pitchFamily="2" charset="-78"/>
              </a:rPr>
              <a:t>وَلٰكِنَّهَا لَا</a:t>
            </a:r>
            <a:pPr rtl="1" algn="ctr" indent="0" marL="0">
              <a:lnSpc>
                <a:spcPct val="120000"/>
              </a:lnSpc>
              <a:buNone/>
            </a:pPr>
            <a:r>
              <a:rPr lang="ar-SA" altLang="en-US" sz="1950" b="1" dirty="0">
                <a:solidFill>
                  <a:srgbClr val="1B3B6F"/>
                </a:solidFill>
                <a:latin typeface="Amiri" pitchFamily="2" charset="-78"/>
                <a:cs typeface="Amiri" pitchFamily="2" charset="-78"/>
              </a:rPr>
              <a:t> تَخْرُجُ </a:t>
            </a:r>
            <a:pPr rtl="1" algn="ctr" indent="0" marL="0">
              <a:lnSpc>
                <a:spcPct val="120000"/>
              </a:lnSpc>
              <a:buNone/>
            </a:pPr>
            <a:r>
              <a:rPr lang="ar-SA" altLang="en-US" sz="1950" b="1" dirty="0">
                <a:solidFill>
                  <a:srgbClr val="0E7C86"/>
                </a:solidFill>
                <a:latin typeface="Amiri" pitchFamily="2" charset="-78"/>
                <a:cs typeface="Amiri" pitchFamily="2" charset="-78"/>
              </a:rPr>
              <a:t>حَتَّى</a:t>
            </a:r>
            <a:pPr rtl="1" algn="ctr" indent="0" marL="0">
              <a:lnSpc>
                <a:spcPct val="120000"/>
              </a:lnSpc>
              <a:buNone/>
            </a:pPr>
            <a:r>
              <a:rPr lang="ar-SA" altLang="en-US" sz="1950" b="1" dirty="0">
                <a:solidFill>
                  <a:srgbClr val="1B3B6F"/>
                </a:solidFill>
                <a:latin typeface="Amiri" pitchFamily="2" charset="-78"/>
                <a:cs typeface="Amiri" pitchFamily="2" charset="-78"/>
              </a:rPr>
              <a:t> السَّابِعَةِ وَالرُّبْعِ.</a:t>
            </a:r>
            <a:endParaRPr lang="ar-SA" sz="19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the information type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people, times, negation and contrast.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synonyms and paraphrase.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Evaluate listening performance and set a precise target.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predict whether an answer is a time, a person or a frequency.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link a time to the right event.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why a distractor is wrong.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listening after “but” and catch “not”.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recognise synonyms and paraphrase.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set a precise listening target for next time.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process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Strategy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Common synonym pairs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التَّوَقُّعُ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‎توقع‎ </a:t>
            </a:r>
            <a:pPr indent="0" marL="0">
              <a:buNone/>
            </a:pPr>
            <a:r>
              <a:rPr lang="en-US" sz="950" b="1" dirty="0">
                <a:solidFill>
                  <a:srgbClr val="2E8B57"/>
                </a:solidFill>
                <a:latin typeface="Calibri" pitchFamily="34" charset="0"/>
                <a:cs typeface="Amiri" pitchFamily="2" charset="-78"/>
              </a:rPr>
              <a:t> tawaqqo · expectation, prediction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تَحَقُّقٌ</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‎تحقیق‎ </a:t>
            </a:r>
            <a:pPr indent="0" marL="0">
              <a:buNone/>
            </a:pPr>
            <a:r>
              <a:rPr lang="en-US" sz="950" b="1" dirty="0">
                <a:solidFill>
                  <a:srgbClr val="2E8B57"/>
                </a:solidFill>
                <a:latin typeface="Calibri" pitchFamily="34" charset="0"/>
                <a:cs typeface="Amiri" pitchFamily="2" charset="-78"/>
              </a:rPr>
              <a:t> tahqīq · investigation → checking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أُلَاحِظُ</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‎ملاحظہ‎ </a:t>
            </a:r>
            <a:pPr indent="0" marL="0">
              <a:buNone/>
            </a:pPr>
            <a:r>
              <a:rPr lang="en-US" sz="950" b="1" dirty="0">
                <a:solidFill>
                  <a:srgbClr val="2E8B57"/>
                </a:solidFill>
                <a:latin typeface="Calibri" pitchFamily="34" charset="0"/>
                <a:cs typeface="Amiri" pitchFamily="2" charset="-78"/>
              </a:rPr>
              <a:t> mulāhaza · observation → I notice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أُقَارِنُ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comparison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الاِسْتِمَاعُ الاِنْتِقَائِيُّ</a:t>
            </a:r>
            <a:endParaRPr lang="ar-SA" sz="155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‎انتخاب‎ </a:t>
            </a:r>
            <a:pPr indent="0" marL="0">
              <a:buNone/>
            </a:pPr>
            <a:r>
              <a:rPr lang="en-US" sz="950" b="1" dirty="0">
                <a:solidFill>
                  <a:srgbClr val="2E8B57"/>
                </a:solidFill>
                <a:latin typeface="Calibri" pitchFamily="34" charset="0"/>
                <a:cs typeface="Amiri" pitchFamily="2" charset="-78"/>
              </a:rPr>
              <a:t> intikhāb · choice, selection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process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الاِسْتِمَاعُ النَّشِطُ</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listening</a:t>
            </a:r>
            <a:endParaRPr lang="en-US" sz="1350" dirty="0"/>
          </a:p>
          <a:p>
            <a:pPr indent="0" marL="0">
              <a:buNone/>
            </a:pPr>
            <a:r>
              <a:rPr lang="en-US" sz="1100" i="1" dirty="0">
                <a:solidFill>
                  <a:srgbClr val="5A6472"/>
                </a:solidFill>
                <a:latin typeface="Calibri" pitchFamily="34" charset="0"/>
                <a:cs typeface="Amiri" pitchFamily="2" charset="-78"/>
              </a:rPr>
              <a:t>als-ti-mā-ʿu an-na-shi-ṭu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التَّوَقُّعُ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at-ta-waq-qu-ʿu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كَلِمَةٌ مِفْتَاحِيَّةٌ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key</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مِفْتَاحٌ</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مَرْسَاةٌ سَمْعِيَّةٌ</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listening anchor</a:t>
            </a:r>
            <a:endParaRPr lang="en-US" sz="1350" dirty="0"/>
          </a:p>
          <a:p>
            <a:pPr indent="0" marL="0">
              <a:buNone/>
            </a:pPr>
            <a:r>
              <a:rPr lang="en-US" sz="1100" i="1" dirty="0">
                <a:solidFill>
                  <a:srgbClr val="5A6472"/>
                </a:solidFill>
                <a:latin typeface="Calibri" pitchFamily="34" charset="0"/>
                <a:cs typeface="Amiri" pitchFamily="2" charset="-78"/>
              </a:rPr>
              <a:t>mar-sā-tun sam-ʿiy-ya-tun</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مُشَتِّتٌ</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59" name="Shape 56"/>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مُشَتِّتَاتٌ</a:t>
            </a:r>
            <a:endParaRPr lang="ar-SA" sz="1500" dirty="0"/>
          </a:p>
        </p:txBody>
      </p:sp>
      <p:sp>
        <p:nvSpPr>
          <p:cNvPr id="62" name="Shape 59"/>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64" name="Text 61"/>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المُشَتِّتُ</a:t>
            </a:r>
            <a:endParaRPr lang="ar-SA" sz="1500" dirty="0"/>
          </a:p>
        </p:txBody>
      </p:sp>
      <p:sp>
        <p:nvSpPr>
          <p:cNvPr id="65" name="Shape 62"/>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7" name="Text 64"/>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مُشَتِّتٌ</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process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تَحَقُّقٌ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verification</a:t>
            </a:r>
            <a:endParaRPr lang="en-US" sz="1350" dirty="0"/>
          </a:p>
          <a:p>
            <a:pPr indent="0" marL="0">
              <a:buNone/>
            </a:pPr>
            <a:r>
              <a:rPr lang="en-US" sz="1100" i="1" dirty="0">
                <a:solidFill>
                  <a:srgbClr val="5A6472"/>
                </a:solidFill>
                <a:latin typeface="Calibri" pitchFamily="34" charset="0"/>
                <a:cs typeface="Amiri" pitchFamily="2" charset="-78"/>
              </a:rPr>
              <a:t>ta-ḥaq-qu-qun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الاِسْتِمَاعُ الاِنْتِقَائِيُّ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selective listening</a:t>
            </a:r>
            <a:endParaRPr lang="en-US" sz="1350" dirty="0"/>
          </a:p>
          <a:p>
            <a:pPr indent="0" marL="0">
              <a:buNone/>
            </a:pPr>
            <a:r>
              <a:rPr lang="en-US" sz="1100" i="1" dirty="0">
                <a:solidFill>
                  <a:srgbClr val="5A6472"/>
                </a:solidFill>
                <a:latin typeface="Calibri" pitchFamily="34" charset="0"/>
                <a:cs typeface="Amiri" pitchFamily="2" charset="-78"/>
              </a:rPr>
              <a:t>als-ti-mā-ʿu aln-ti-qā-ʾiy-yu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المَعْنَى العَامُّ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gist / overall meaning</a:t>
            </a:r>
            <a:endParaRPr lang="en-US" sz="1350" dirty="0"/>
          </a:p>
          <a:p>
            <a:pPr indent="0" marL="0">
              <a:buNone/>
            </a:pPr>
            <a:r>
              <a:rPr lang="en-US" sz="1100" i="1" dirty="0">
                <a:solidFill>
                  <a:srgbClr val="5A6472"/>
                </a:solidFill>
                <a:latin typeface="Calibri" pitchFamily="34" charset="0"/>
                <a:cs typeface="Amiri" pitchFamily="2" charset="-78"/>
              </a:rPr>
              <a:t>al-maʿ-nā al-ʿām-mu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التَّفْصِيلُ الدَّقِيقُ</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Strategy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أُرَكِّزُ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focus on</a:t>
            </a:r>
            <a:endParaRPr lang="en-US" sz="1350" dirty="0"/>
          </a:p>
          <a:p>
            <a:pPr indent="0" marL="0">
              <a:buNone/>
            </a:pPr>
            <a:r>
              <a:rPr lang="en-US" sz="1100" i="1" dirty="0">
                <a:solidFill>
                  <a:srgbClr val="5A6472"/>
                </a:solidFill>
                <a:latin typeface="Calibri" pitchFamily="34" charset="0"/>
                <a:cs typeface="Amiri" pitchFamily="2" charset="-78"/>
              </a:rPr>
              <a:t>u-rak-ki-zu ʿa-lā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تُرَكِّزُ</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يُرَكِّزُ</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أُرَكِّزُ</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أَتَوَقَّعُ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predict / expect</a:t>
            </a:r>
            <a:endParaRPr lang="en-US" sz="1350" dirty="0"/>
          </a:p>
          <a:p>
            <a:pPr indent="0" marL="0">
              <a:buNone/>
            </a:pPr>
            <a:r>
              <a:rPr lang="en-US" sz="1100" i="1" dirty="0">
                <a:solidFill>
                  <a:srgbClr val="5A6472"/>
                </a:solidFill>
                <a:latin typeface="Calibri" pitchFamily="34" charset="0"/>
                <a:cs typeface="Amiri" pitchFamily="2" charset="-78"/>
              </a:rPr>
              <a:t>a-ta-waq-qa-ʿu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تَتَوَقَّعُ</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يَتَوَقَّعُ</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أَتَوَقَّعُ</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أُهْمِلُ</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ignore</a:t>
            </a:r>
            <a:endParaRPr lang="en-US" sz="1350" dirty="0"/>
          </a:p>
          <a:p>
            <a:pPr indent="0" marL="0">
              <a:buNone/>
            </a:pPr>
            <a:r>
              <a:rPr lang="en-US" sz="1100" i="1" dirty="0">
                <a:solidFill>
                  <a:srgbClr val="5A6472"/>
                </a:solidFill>
                <a:latin typeface="Calibri" pitchFamily="34" charset="0"/>
                <a:cs typeface="Amiri" pitchFamily="2" charset="-78"/>
              </a:rPr>
              <a:t>uh-mi-lu</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أُلَاحِظُ</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notice</a:t>
            </a:r>
            <a:endParaRPr lang="en-US" sz="1350" dirty="0"/>
          </a:p>
          <a:p>
            <a:pPr indent="0" marL="0">
              <a:buNone/>
            </a:pPr>
            <a:r>
              <a:rPr lang="en-US" sz="1100" i="1" dirty="0">
                <a:solidFill>
                  <a:srgbClr val="5A6472"/>
                </a:solidFill>
                <a:latin typeface="Calibri" pitchFamily="34" charset="0"/>
                <a:cs typeface="Amiri" pitchFamily="2" charset="-78"/>
              </a:rPr>
              <a:t>u-lā-ḥi-ẓu</a:t>
            </a:r>
            <a:endParaRPr lang="en-US" sz="1350" dirty="0"/>
          </a:p>
        </p:txBody>
      </p:sp>
      <p:sp>
        <p:nvSpPr>
          <p:cNvPr id="63" name="Shape 60"/>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تُلَاحِظُ</a:t>
            </a:r>
            <a:endParaRPr lang="ar-SA" sz="1500" dirty="0"/>
          </a:p>
        </p:txBody>
      </p:sp>
      <p:sp>
        <p:nvSpPr>
          <p:cNvPr id="66" name="Shape 63"/>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يُلَاحِظُ</a:t>
            </a:r>
            <a:endParaRPr lang="ar-SA" sz="1500" dirty="0"/>
          </a:p>
        </p:txBody>
      </p:sp>
      <p:sp>
        <p:nvSpPr>
          <p:cNvPr id="69" name="Shape 66"/>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أُلَاحِظُ</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Strategy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أُقَارِنُ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compare</a:t>
            </a:r>
            <a:endParaRPr lang="en-US" sz="1350" dirty="0"/>
          </a:p>
          <a:p>
            <a:pPr indent="0" marL="0">
              <a:buNone/>
            </a:pPr>
            <a:r>
              <a:rPr lang="en-US" sz="1100" i="1" dirty="0">
                <a:solidFill>
                  <a:srgbClr val="5A6472"/>
                </a:solidFill>
                <a:latin typeface="Calibri" pitchFamily="34" charset="0"/>
                <a:cs typeface="Amiri" pitchFamily="2" charset="-78"/>
              </a:rPr>
              <a:t>u-qā-ri-nu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3" name="Shape 2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أَسْتَبْعِدُ</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eliminate</a:t>
            </a:r>
            <a:endParaRPr lang="en-US" sz="1350" dirty="0"/>
          </a:p>
          <a:p>
            <a:pPr indent="0" marL="0">
              <a:buNone/>
            </a:pPr>
            <a:r>
              <a:rPr lang="en-US" sz="1100" i="1" dirty="0">
                <a:solidFill>
                  <a:srgbClr val="5A6472"/>
                </a:solidFill>
                <a:latin typeface="Calibri" pitchFamily="34" charset="0"/>
                <a:cs typeface="Amiri" pitchFamily="2" charset="-78"/>
              </a:rPr>
              <a:t>as-tab-ʿi-du</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تَسْتَبْعِدُ</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يَسْتَبْعِدُ</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أَسْتَبْعِدُ</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أَتَثَبَّتُ مِنْ</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verify</a:t>
            </a:r>
            <a:endParaRPr lang="en-US" sz="1350" dirty="0"/>
          </a:p>
          <a:p>
            <a:pPr indent="0" marL="0">
              <a:buNone/>
            </a:pPr>
            <a:r>
              <a:rPr lang="en-US" sz="1100" i="1" dirty="0">
                <a:solidFill>
                  <a:srgbClr val="5A6472"/>
                </a:solidFill>
                <a:latin typeface="Calibri" pitchFamily="34" charset="0"/>
                <a:cs typeface="Amiri" pitchFamily="2" charset="-78"/>
              </a:rPr>
              <a:t>a-ta-thab-ba-tu min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أُصَحِّحُ</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correct</a:t>
            </a:r>
            <a:endParaRPr lang="en-US" sz="1350" dirty="0"/>
          </a:p>
          <a:p>
            <a:pPr indent="0" marL="0">
              <a:buNone/>
            </a:pPr>
            <a:r>
              <a:rPr lang="en-US" sz="1100" i="1" dirty="0">
                <a:solidFill>
                  <a:srgbClr val="5A6472"/>
                </a:solidFill>
                <a:latin typeface="Calibri" pitchFamily="34" charset="0"/>
                <a:cs typeface="Amiri" pitchFamily="2" charset="-78"/>
              </a:rPr>
              <a:t>u-ṣaḥ-ḥi-ḥu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synonym pairs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كَبِيرٌ / وَاسِعٌ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large / spacious</a:t>
            </a:r>
            <a:endParaRPr lang="en-US" sz="1350" dirty="0"/>
          </a:p>
          <a:p>
            <a:pPr indent="0" marL="0">
              <a:buNone/>
            </a:pPr>
            <a:r>
              <a:rPr lang="en-US" sz="1100" i="1" dirty="0">
                <a:solidFill>
                  <a:srgbClr val="5A6472"/>
                </a:solidFill>
                <a:latin typeface="Calibri" pitchFamily="34" charset="0"/>
                <a:cs typeface="Amiri" pitchFamily="2" charset="-78"/>
              </a:rPr>
              <a:t>ka-bī-run / wā-si-ʿun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صَغِيرٌ / ضَيِّقٌ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narrow</a:t>
            </a:r>
            <a:endParaRPr lang="en-US" sz="1350" dirty="0"/>
          </a:p>
          <a:p>
            <a:pPr indent="0" marL="0">
              <a:buNone/>
            </a:pPr>
            <a:r>
              <a:rPr lang="en-US" sz="1100" i="1" dirty="0">
                <a:solidFill>
                  <a:srgbClr val="5A6472"/>
                </a:solidFill>
                <a:latin typeface="Calibri" pitchFamily="34" charset="0"/>
                <a:cs typeface="Amiri" pitchFamily="2" charset="-78"/>
              </a:rPr>
              <a:t>ṣa-ghī-run / ḍay-yi-qun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مُتْعَبٌ / مُرْهَقٌ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 / exhausted</a:t>
            </a:r>
            <a:endParaRPr lang="en-US" sz="1350" dirty="0"/>
          </a:p>
          <a:p>
            <a:pPr indent="0" marL="0">
              <a:buNone/>
            </a:pPr>
            <a:r>
              <a:rPr lang="en-US" sz="1100" i="1" dirty="0">
                <a:solidFill>
                  <a:srgbClr val="5A6472"/>
                </a:solidFill>
                <a:latin typeface="Calibri" pitchFamily="34" charset="0"/>
                <a:cs typeface="Amiri" pitchFamily="2" charset="-78"/>
              </a:rPr>
              <a:t>mut-ʿa-bun / mur-ha-qun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يَبْدَأُ / يَنْطَلِقُ</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 / sets off</a:t>
            </a:r>
            <a:endParaRPr lang="en-US" sz="1350" dirty="0"/>
          </a:p>
          <a:p>
            <a:pPr indent="0" marL="0">
              <a:buNone/>
            </a:pPr>
            <a:r>
              <a:rPr lang="en-US" sz="1100" i="1" dirty="0">
                <a:solidFill>
                  <a:srgbClr val="5A6472"/>
                </a:solidFill>
                <a:latin typeface="Calibri" pitchFamily="34" charset="0"/>
                <a:cs typeface="Amiri" pitchFamily="2" charset="-78"/>
              </a:rPr>
              <a:t>yab-da-ʾu / yan-ṭa-li-qu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synonym pairs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يَنْتَهِي / يَخْتَتِمُ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 / concludes</a:t>
            </a:r>
            <a:endParaRPr lang="en-US" sz="1350" dirty="0"/>
          </a:p>
          <a:p>
            <a:pPr indent="0" marL="0">
              <a:buNone/>
            </a:pPr>
            <a:r>
              <a:rPr lang="en-US" sz="1100" i="1" dirty="0">
                <a:solidFill>
                  <a:srgbClr val="5A6472"/>
                </a:solidFill>
                <a:latin typeface="Calibri" pitchFamily="34" charset="0"/>
                <a:cs typeface="Amiri" pitchFamily="2" charset="-78"/>
              </a:rPr>
              <a:t>yan-ta-hī / yakh-ta-ti-mu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غَالِبًا / كَثِيرًا مَا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ghā-li-ban / ka-thī-ran mā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قَلِيلًا مَا / نَادِرًا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seldom / rarely</a:t>
            </a:r>
            <a:endParaRPr lang="en-US" sz="1350" dirty="0"/>
          </a:p>
          <a:p>
            <a:pPr indent="0" marL="0">
              <a:buNone/>
            </a:pPr>
            <a:r>
              <a:rPr lang="en-US" sz="1100" i="1" dirty="0">
                <a:solidFill>
                  <a:srgbClr val="5A6472"/>
                </a:solidFill>
                <a:latin typeface="Calibri" pitchFamily="34" charset="0"/>
                <a:cs typeface="Amiri" pitchFamily="2" charset="-78"/>
              </a:rPr>
              <a:t>qa-lī-lan mā / nā-di-ran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LISTENING CUES AND THEIR TRAPS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to listen for — and the trap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عَلَامَاتُ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a:t>
            </a:r>
            <a:endParaRPr lang="en-US" sz="1100" dirty="0"/>
          </a:p>
        </p:txBody>
      </p:sp>
      <p:sp>
        <p:nvSpPr>
          <p:cNvPr id="17" name="Text 14"/>
          <p:cNvSpPr txBox="1"/>
          <p:nvPr/>
        </p:nvSpPr>
        <p:spPr>
          <a:xfrm>
            <a:off x="540410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30266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Listen for</a:t>
            </a:r>
            <a:endParaRPr lang="en-US" sz="1100" dirty="0"/>
          </a:p>
        </p:txBody>
      </p:sp>
      <p:sp>
        <p:nvSpPr>
          <p:cNvPr id="19" name="Text 16"/>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trap</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تَـ</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1D5FBF"/>
                </a:solidFill>
                <a:latin typeface="Amiri" pitchFamily="2" charset="-78"/>
                <a:cs typeface="Amiri" pitchFamily="2" charset="-78"/>
              </a:rPr>
              <a:t>يَـ</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0E7C86"/>
                </a:solidFill>
                <a:latin typeface="Amiri" pitchFamily="2" charset="-78"/>
                <a:cs typeface="Amiri" pitchFamily="2" charset="-78"/>
              </a:rPr>
              <a:t>أَـ</a:t>
            </a:r>
            <a:endParaRPr lang="ar-SA" sz="2600" dirty="0"/>
          </a:p>
        </p:txBody>
      </p:sp>
      <p:sp>
        <p:nvSpPr>
          <p:cNvPr id="22" name="Text 19"/>
          <p:cNvSpPr txBox="1"/>
          <p:nvPr/>
        </p:nvSpPr>
        <p:spPr>
          <a:xfrm>
            <a:off x="5422392"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a:t>
            </a:r>
            <a:pPr rtl="1" algn="ctr" indent="0" marL="0">
              <a:buNone/>
            </a:pPr>
            <a:r>
              <a:rPr lang="ar-SA" altLang="en-US" sz="2100" b="1" dirty="0">
                <a:solidFill>
                  <a:srgbClr val="1B3B6F"/>
                </a:solidFill>
                <a:latin typeface="Amiri" pitchFamily="2" charset="-78"/>
                <a:cs typeface="Amiri" pitchFamily="2" charset="-78"/>
              </a:rPr>
              <a:t>سْتَيْقِظُ مَرْيَمُ · </a:t>
            </a:r>
            <a:pPr rtl="1" algn="ctr" indent="0" marL="0">
              <a:buNone/>
            </a:pPr>
            <a:r>
              <a:rPr lang="ar-SA" altLang="en-US" sz="2100" b="1" dirty="0">
                <a:solidFill>
                  <a:srgbClr val="1D5FBF"/>
                </a:solidFill>
                <a:latin typeface="Amiri" pitchFamily="2" charset="-78"/>
                <a:cs typeface="Amiri" pitchFamily="2" charset="-78"/>
              </a:rPr>
              <a:t>يَ</a:t>
            </a:r>
            <a:pPr rtl="1" algn="ctr" indent="0" marL="0">
              <a:buNone/>
            </a:pPr>
            <a:r>
              <a:rPr lang="ar-SA" altLang="en-US" sz="2100" b="1" dirty="0">
                <a:solidFill>
                  <a:srgbClr val="1B3B6F"/>
                </a:solidFill>
                <a:latin typeface="Amiri" pitchFamily="2" charset="-78"/>
                <a:cs typeface="Amiri" pitchFamily="2" charset="-78"/>
              </a:rPr>
              <a:t>عُودُ سَامِرٌ</a:t>
            </a:r>
            <a:endParaRPr lang="ar-SA" sz="2100" dirty="0"/>
          </a:p>
        </p:txBody>
      </p:sp>
      <p:sp>
        <p:nvSpPr>
          <p:cNvPr id="23" name="Text 20"/>
          <p:cNvSpPr txBox="1"/>
          <p:nvPr/>
        </p:nvSpPr>
        <p:spPr>
          <a:xfrm>
            <a:off x="5376672"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Maryam wakes · Samer returns</a:t>
            </a:r>
            <a:endParaRPr lang="en-US" sz="950" dirty="0"/>
          </a:p>
        </p:txBody>
      </p:sp>
      <p:sp>
        <p:nvSpPr>
          <p:cNvPr id="24" name="Text 21"/>
          <p:cNvSpPr txBox="1"/>
          <p:nvPr/>
        </p:nvSpPr>
        <p:spPr>
          <a:xfrm>
            <a:off x="30632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does it</a:t>
            </a:r>
            <a:endParaRPr lang="en-US" sz="1100" dirty="0"/>
          </a:p>
        </p:txBody>
      </p:sp>
      <p:sp>
        <p:nvSpPr>
          <p:cNvPr id="25" name="Text 22"/>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up two people</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 الوَقْتِ</a:t>
            </a:r>
            <a:endParaRPr lang="ar-SA" sz="2600" dirty="0"/>
          </a:p>
        </p:txBody>
      </p:sp>
      <p:sp>
        <p:nvSpPr>
          <p:cNvPr id="30" name="Text 27"/>
          <p:cNvSpPr txBox="1"/>
          <p:nvPr/>
        </p:nvSpPr>
        <p:spPr>
          <a:xfrm>
            <a:off x="5422392" y="3072384"/>
            <a:ext cx="3840480" cy="4535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تَسْتَيْقِظُ </a:t>
            </a:r>
            <a:pPr rtl="1" algn="ctr" indent="0" marL="0">
              <a:buNone/>
            </a:pPr>
            <a:r>
              <a:rPr lang="ar-SA" altLang="en-US" sz="1750" b="1" dirty="0">
                <a:solidFill>
                  <a:srgbClr val="0E7C86"/>
                </a:solidFill>
                <a:latin typeface="Amiri" pitchFamily="2" charset="-78"/>
                <a:cs typeface="Amiri" pitchFamily="2" charset="-78"/>
              </a:rPr>
              <a:t>فِي السَّادِسَةِ</a:t>
            </a:r>
            <a:pPr rtl="1" algn="ctr" indent="0" marL="0">
              <a:buNone/>
            </a:pPr>
            <a:r>
              <a:rPr lang="ar-SA" altLang="en-US" sz="1750" b="1" dirty="0">
                <a:solidFill>
                  <a:srgbClr val="1B3B6F"/>
                </a:solidFill>
                <a:latin typeface="Amiri" pitchFamily="2" charset="-78"/>
                <a:cs typeface="Amiri" pitchFamily="2" charset="-78"/>
              </a:rPr>
              <a:t> … تَخْرُجُ </a:t>
            </a:r>
            <a:pPr rtl="1" algn="ctr" indent="0" marL="0">
              <a:buNone/>
            </a:pPr>
            <a:r>
              <a:rPr lang="ar-SA" altLang="en-US" sz="1750" b="1" dirty="0">
                <a:solidFill>
                  <a:srgbClr val="0E7C86"/>
                </a:solidFill>
                <a:latin typeface="Amiri" pitchFamily="2" charset="-78"/>
                <a:cs typeface="Amiri" pitchFamily="2" charset="-78"/>
              </a:rPr>
              <a:t>حَتَّى السَّابِعَةِ وَالرُّبْعِ</a:t>
            </a:r>
            <a:endParaRPr lang="ar-SA" sz="1750" dirty="0"/>
          </a:p>
        </p:txBody>
      </p:sp>
      <p:sp>
        <p:nvSpPr>
          <p:cNvPr id="31" name="Text 28"/>
          <p:cNvSpPr txBox="1"/>
          <p:nvPr/>
        </p:nvSpPr>
        <p:spPr>
          <a:xfrm>
            <a:off x="5376672"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wakes at 6 … leaves at 7:15</a:t>
            </a:r>
            <a:endParaRPr lang="en-US" sz="950" dirty="0"/>
          </a:p>
        </p:txBody>
      </p:sp>
      <p:sp>
        <p:nvSpPr>
          <p:cNvPr id="32" name="Text 29"/>
          <p:cNvSpPr txBox="1"/>
          <p:nvPr/>
        </p:nvSpPr>
        <p:spPr>
          <a:xfrm>
            <a:off x="30632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EVENT the time belongs to</a:t>
            </a:r>
            <a:endParaRPr lang="en-US" sz="1100" dirty="0"/>
          </a:p>
        </p:txBody>
      </p:sp>
      <p:sp>
        <p:nvSpPr>
          <p:cNvPr id="33" name="Text 30"/>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choosing the first number heard</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وَلٰكِنَّ · أَمَّا</a:t>
            </a:r>
            <a:endParaRPr lang="ar-SA" sz="2600" dirty="0"/>
          </a:p>
        </p:txBody>
      </p:sp>
      <p:sp>
        <p:nvSpPr>
          <p:cNvPr id="38" name="Text 35"/>
          <p:cNvSpPr txBox="1"/>
          <p:nvPr/>
        </p:nvSpPr>
        <p:spPr>
          <a:xfrm>
            <a:off x="5422392"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اِقْتَرَحَ الرَّابِعَةَ … </a:t>
            </a:r>
            <a:pPr rtl="1" algn="ctr" indent="0" marL="0">
              <a:buNone/>
            </a:pPr>
            <a:r>
              <a:rPr lang="ar-SA" altLang="en-US" sz="2100" b="1" dirty="0">
                <a:solidFill>
                  <a:srgbClr val="0E7C86"/>
                </a:solidFill>
                <a:latin typeface="Amiri" pitchFamily="2" charset="-78"/>
                <a:cs typeface="Amiri" pitchFamily="2" charset="-78"/>
              </a:rPr>
              <a:t>أَمَّا</a:t>
            </a:r>
            <a:pPr rtl="1" algn="ctr" indent="0" marL="0">
              <a:buNone/>
            </a:pPr>
            <a:r>
              <a:rPr lang="ar-SA" altLang="en-US" sz="2100" b="1" dirty="0">
                <a:solidFill>
                  <a:srgbClr val="1B3B6F"/>
                </a:solidFill>
                <a:latin typeface="Amiri" pitchFamily="2" charset="-78"/>
                <a:cs typeface="Amiri" pitchFamily="2" charset="-78"/>
              </a:rPr>
              <a:t> سَلْمَى </a:t>
            </a:r>
            <a:pPr rtl="1" algn="ctr" indent="0" marL="0">
              <a:buNone/>
            </a:pPr>
            <a:r>
              <a:rPr lang="ar-SA" altLang="en-US" sz="2100" b="1" dirty="0">
                <a:solidFill>
                  <a:srgbClr val="0E7C86"/>
                </a:solidFill>
                <a:latin typeface="Amiri" pitchFamily="2" charset="-78"/>
                <a:cs typeface="Amiri" pitchFamily="2" charset="-78"/>
              </a:rPr>
              <a:t>فَلَا</a:t>
            </a:r>
            <a:pPr rtl="1" algn="ctr" indent="0" marL="0">
              <a:buNone/>
            </a:pPr>
            <a:r>
              <a:rPr lang="ar-SA" altLang="en-US" sz="2100" b="1" dirty="0">
                <a:solidFill>
                  <a:srgbClr val="1B3B6F"/>
                </a:solidFill>
                <a:latin typeface="Amiri" pitchFamily="2" charset="-78"/>
                <a:cs typeface="Amiri" pitchFamily="2" charset="-78"/>
              </a:rPr>
              <a:t> …</a:t>
            </a:r>
            <a:endParaRPr lang="ar-SA" sz="2100" dirty="0"/>
          </a:p>
        </p:txBody>
      </p:sp>
      <p:sp>
        <p:nvSpPr>
          <p:cNvPr id="39" name="Text 36"/>
          <p:cNvSpPr txBox="1"/>
          <p:nvPr/>
        </p:nvSpPr>
        <p:spPr>
          <a:xfrm>
            <a:off x="5376672"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suggested four … as for Salma …</a:t>
            </a:r>
            <a:endParaRPr lang="en-US" sz="950" dirty="0"/>
          </a:p>
        </p:txBody>
      </p:sp>
      <p:sp>
        <p:nvSpPr>
          <p:cNvPr id="40" name="Text 37"/>
          <p:cNvSpPr txBox="1"/>
          <p:nvPr/>
        </p:nvSpPr>
        <p:spPr>
          <a:xfrm>
            <a:off x="30632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CORRECTED information</a:t>
            </a:r>
            <a:endParaRPr lang="en-US" sz="1100" dirty="0"/>
          </a:p>
        </p:txBody>
      </p:sp>
      <p:sp>
        <p:nvSpPr>
          <p:cNvPr id="41" name="Text 38"/>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stopping too early</a:t>
            </a:r>
            <a:endParaRPr lang="en-US" sz="110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لَا · لَمْ · إِلَّا</a:t>
            </a:r>
            <a:endParaRPr lang="ar-SA" sz="2600" dirty="0"/>
          </a:p>
        </p:txBody>
      </p:sp>
      <p:sp>
        <p:nvSpPr>
          <p:cNvPr id="44" name="Text 41"/>
          <p:cNvSpPr txBox="1"/>
          <p:nvPr/>
        </p:nvSpPr>
        <p:spPr>
          <a:xfrm>
            <a:off x="5422392" y="4645152"/>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لَا</a:t>
            </a:r>
            <a:pPr rtl="1" algn="ctr" indent="0" marL="0">
              <a:buNone/>
            </a:pPr>
            <a:r>
              <a:rPr lang="ar-SA" altLang="en-US" sz="2100" b="1" dirty="0">
                <a:solidFill>
                  <a:srgbClr val="1B3B6F"/>
                </a:solidFill>
                <a:latin typeface="Amiri" pitchFamily="2" charset="-78"/>
                <a:cs typeface="Amiri" pitchFamily="2" charset="-78"/>
              </a:rPr>
              <a:t> أَتَمَرَّنُ يَوْمَ الجُمُعَةِ.</a:t>
            </a:r>
            <a:endParaRPr lang="ar-SA" sz="2100" dirty="0"/>
          </a:p>
        </p:txBody>
      </p:sp>
      <p:sp>
        <p:nvSpPr>
          <p:cNvPr id="45" name="Text 42"/>
          <p:cNvSpPr txBox="1"/>
          <p:nvPr/>
        </p:nvSpPr>
        <p:spPr>
          <a:xfrm>
            <a:off x="5376672" y="5065776"/>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 not train on Friday.</a:t>
            </a:r>
            <a:endParaRPr lang="en-US" sz="950" dirty="0"/>
          </a:p>
        </p:txBody>
      </p:sp>
      <p:sp>
        <p:nvSpPr>
          <p:cNvPr id="46" name="Text 43"/>
          <p:cNvSpPr txBox="1"/>
          <p:nvPr/>
        </p:nvSpPr>
        <p:spPr>
          <a:xfrm>
            <a:off x="30632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NEGATION</a:t>
            </a:r>
            <a:endParaRPr lang="en-US" sz="1100" dirty="0"/>
          </a:p>
        </p:txBody>
      </p:sp>
      <p:sp>
        <p:nvSpPr>
          <p:cNvPr id="47" name="Text 44"/>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missing the reversal</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each listening: write T (time), P (person), F (frequency) or R (reason) next to every question.</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THREE SMALL WORDS THAT CHANGE THE ANSWER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But, not, only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وَلٰكِنَّ · لَا / لَمْ ·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202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KEEP LISTENING · DEVELOP</a:t>
            </a:r>
            <a:endParaRPr lang="en-US" sz="850" dirty="0"/>
          </a:p>
        </p:txBody>
      </p:sp>
      <p:sp>
        <p:nvSpPr>
          <p:cNvPr id="18" name="Text 15"/>
          <p:cNvSpPr txBox="1"/>
          <p:nvPr/>
        </p:nvSpPr>
        <p:spPr>
          <a:xfrm>
            <a:off x="10198608"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وَلٰكِنَّ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كُنْتُ أَذْهَبُ مَشْيًا، وَلٰكِنَّنِي الآنَ أَذْهَبُ بِالحَافِلَةِ.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used to walk, but now I go by bus.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answer comes AFTER “but”.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REVERSAL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لَا / لَمْ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لَمْ يَتَغَيَّرْ مَوْعِدِي.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appointment did not change.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small word = the opposite.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EXCEPT / ONLY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إِلَّا · مَا عَدَا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أَتَمَرَّنُ كُلَّ يَوْمٍ مَا عَدَا يَوْمَ الجُمُعَةِ.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every day except Friday.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only “to” on the clock!</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do not stop listening at “but”.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أَسْتَمِرُّ بَعْدَ وَلٰكِنَّ</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cs typeface="Amiri" pitchFamily="2" charset="-78"/>
              </a:rPr>
              <a:t>أَتَوَقَّفُ عِنْدَ وَلٰكِنَّ</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grammar as an evidence system</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القَوَاعِدُ فِي الاِسْتِمَاعِ نِظَامٌ لِلْأَدِلَّةِ</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person prefixes to track the speaker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أَـ</a:t>
            </a:r>
            <a:pPr algn="l" indent="0" marL="0">
              <a:buNone/>
            </a:pPr>
            <a:r>
              <a:rPr lang="en-US" sz="1050" dirty="0">
                <a:solidFill>
                  <a:srgbClr val="5A6472"/>
                </a:solidFill>
                <a:latin typeface="Calibri" pitchFamily="34" charset="0"/>
                <a:cs typeface="Amiri" pitchFamily="2" charset="-78"/>
              </a:rPr>
              <a:t> = I · </a:t>
            </a:r>
            <a:pPr algn="l" indent="0" marL="0">
              <a:buNone/>
            </a:pPr>
            <a:r>
              <a:rPr lang="ar-SA" altLang="en-US" sz="1350" dirty="0">
                <a:solidFill>
                  <a:srgbClr val="5A6472"/>
                </a:solidFill>
                <a:latin typeface="Amiri" pitchFamily="2" charset="-78"/>
                <a:cs typeface="Amiri" pitchFamily="2" charset="-78"/>
              </a:rPr>
              <a:t>تَـ</a:t>
            </a:r>
            <a:pPr algn="l" indent="0" marL="0">
              <a:buNone/>
            </a:pPr>
            <a:r>
              <a:rPr lang="en-US" sz="1050" dirty="0">
                <a:solidFill>
                  <a:srgbClr val="5A6472"/>
                </a:solidFill>
                <a:latin typeface="Calibri" pitchFamily="34" charset="0"/>
                <a:cs typeface="Amiri" pitchFamily="2" charset="-78"/>
              </a:rPr>
              <a:t> = you/she · </a:t>
            </a:r>
            <a:pPr algn="l" indent="0" marL="0">
              <a:buNone/>
            </a:pPr>
            <a:r>
              <a:rPr lang="ar-SA" altLang="en-US" sz="1350" dirty="0">
                <a:solidFill>
                  <a:srgbClr val="5A6472"/>
                </a:solidFill>
                <a:latin typeface="Amiri" pitchFamily="2" charset="-78"/>
                <a:cs typeface="Amiri" pitchFamily="2" charset="-78"/>
              </a:rPr>
              <a:t>يَـ</a:t>
            </a:r>
            <a:pPr algn="l" indent="0" marL="0">
              <a:buNone/>
            </a:pPr>
            <a:r>
              <a:rPr lang="en-US" sz="1050" dirty="0">
                <a:solidFill>
                  <a:srgbClr val="5A6472"/>
                </a:solidFill>
                <a:latin typeface="Calibri" pitchFamily="34" charset="0"/>
                <a:cs typeface="Amiri" pitchFamily="2" charset="-78"/>
              </a:rPr>
              <a:t> = he · </a:t>
            </a:r>
            <a:pPr algn="l" indent="0" marL="0">
              <a:buNone/>
            </a:pPr>
            <a:r>
              <a:rPr lang="ar-SA" altLang="en-US" sz="1350" dirty="0">
                <a:solidFill>
                  <a:srgbClr val="5A6472"/>
                </a:solidFill>
                <a:latin typeface="Amiri" pitchFamily="2" charset="-78"/>
                <a:cs typeface="Amiri" pitchFamily="2" charset="-78"/>
              </a:rPr>
              <a:t>نَـ</a:t>
            </a:r>
            <a:pPr algn="l" indent="0" marL="0">
              <a:buNone/>
            </a:pPr>
            <a:r>
              <a:rPr lang="en-US" sz="1050" dirty="0">
                <a:solidFill>
                  <a:srgbClr val="5A6472"/>
                </a:solidFill>
                <a:latin typeface="Calibri" pitchFamily="34" charset="0"/>
                <a:cs typeface="Amiri" pitchFamily="2" charset="-78"/>
              </a:rPr>
              <a:t> = we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algn="l" indent="0" marL="0">
              <a:buNone/>
            </a:pPr>
            <a:r>
              <a:rPr lang="ar-SA" altLang="en-US" sz="2600" b="1" dirty="0">
                <a:solidFill>
                  <a:srgbClr val="1F2A37"/>
                </a:solidFill>
                <a:latin typeface="Amiri" pitchFamily="2" charset="-78"/>
                <a:cs typeface="Amiri" pitchFamily="2" charset="-78"/>
              </a:rPr>
              <a:t>أَسْتَيْقِظُ</a:t>
            </a:r>
            <a:pPr algn="l" indent="0" marL="0">
              <a:buNone/>
            </a:pPr>
            <a:r>
              <a:rPr lang="en-US" sz="2000" b="1" dirty="0">
                <a:solidFill>
                  <a:srgbClr val="1F2A37"/>
                </a:solidFill>
                <a:latin typeface="Calibri" pitchFamily="34" charset="0"/>
                <a:cs typeface="Amiri" pitchFamily="2" charset="-78"/>
              </a:rPr>
              <a:t> = I wake.   ·   </a:t>
            </a:r>
            <a:pPr algn="l" indent="0" marL="0">
              <a:buNone/>
            </a:pPr>
            <a:r>
              <a:rPr lang="ar-SA" altLang="en-US" sz="2600" b="1" dirty="0">
                <a:solidFill>
                  <a:srgbClr val="1F2A37"/>
                </a:solidFill>
                <a:latin typeface="Amiri" pitchFamily="2" charset="-78"/>
                <a:cs typeface="Amiri" pitchFamily="2" charset="-78"/>
              </a:rPr>
              <a:t>تَسْتَيْقِظُ</a:t>
            </a:r>
            <a:pPr algn="l" indent="0" marL="0">
              <a:buNone/>
            </a:pPr>
            <a:r>
              <a:rPr lang="en-US" sz="2000" b="1" dirty="0">
                <a:solidFill>
                  <a:srgbClr val="1F2A37"/>
                </a:solidFill>
                <a:latin typeface="Calibri" pitchFamily="34" charset="0"/>
                <a:cs typeface="Amiri" pitchFamily="2" charset="-78"/>
              </a:rPr>
              <a:t> = she/you wake.   ·   </a:t>
            </a:r>
            <a:pPr algn="l" indent="0" marL="0">
              <a:buNone/>
            </a:pPr>
            <a:r>
              <a:rPr lang="ar-SA" altLang="en-US" sz="2600" b="1" dirty="0">
                <a:solidFill>
                  <a:srgbClr val="1F2A37"/>
                </a:solidFill>
                <a:latin typeface="Amiri" pitchFamily="2" charset="-78"/>
                <a:cs typeface="Amiri" pitchFamily="2" charset="-78"/>
              </a:rPr>
              <a:t>يَسْتَيْقِظُ</a:t>
            </a:r>
            <a:pPr algn="l" indent="0" marL="0">
              <a:buNone/>
            </a:pPr>
            <a:r>
              <a:rPr lang="en-US" sz="2000" b="1" dirty="0">
                <a:solidFill>
                  <a:srgbClr val="1F2A37"/>
                </a:solidFill>
                <a:latin typeface="Calibri" pitchFamily="34" charset="0"/>
                <a:cs typeface="Amiri" pitchFamily="2" charset="-78"/>
              </a:rPr>
              <a:t> = he wakes.</a:t>
            </a:r>
            <a:endParaRPr lang="en-US"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time frames as anchors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فِي السَّاعَةِ · قَبْلَ · بَعْدَ · مُدَّةَ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يَسْتَيْقِظُ فِي السَّادِسَةِ، لٰكِنَّ الدَّرْسَ يَبْدَأُ فِي الثَّامِنَةِ.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Listen beyond the contrast marker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وَلٰكِنَّ · بَيْنَمَا · أَمَّا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أُحِبُّ المَشْيَ، وَلٰكِنَّنِي أَذْهَبُ بِالحَافِلَةِ عِنْدَمَا تُمْطِرُ.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Notice negation and limitation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لَا · لَمْ · لَيْسَ · إِلَّا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لَا أَتَمَرَّنُ يَوْمَ الجُمُعَةِ.   ·   لَمْ يَتَغَيَّرْ مَوْعِدِي.   ·   لَا أَسْتَعْمِلُ الهَاتِفَ إِلَّا لِمُرَاجَعَةِ الوَقْتِ.</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distractor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the final score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translates the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sounds plausible but is not the required answer</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after hearing </a:t>
            </a:r>
            <a:pPr algn="l" indent="0" marL="0">
              <a:buNone/>
            </a:pPr>
            <a:r>
              <a:rPr lang="ar-SA" altLang="en-US" sz="1650" b="1" dirty="0">
                <a:solidFill>
                  <a:srgbClr val="1B3B6F"/>
                </a:solidFill>
                <a:latin typeface="Amiri" pitchFamily="2" charset="-78"/>
                <a:cs typeface="Amiri" pitchFamily="2" charset="-78"/>
              </a:rPr>
              <a:t>وَلٰكِنَّ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 listening for the contrast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immediately</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next clause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can reverse a statement?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near-synonymous?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نَادِرًا / قَلِيلًا مَا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يَبْدَأُ / يَنْتَهِي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 بَعْدَ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distractor do?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the final score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translates the text</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sounds plausible but is not the required answer</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distractor is deliberately close but wrong.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after hearing </a:t>
            </a:r>
            <a:pPr algn="l" indent="0" marL="0">
              <a:buNone/>
            </a:pPr>
            <a:r>
              <a:rPr lang="ar-SA" altLang="en-US" sz="1650" b="1" dirty="0">
                <a:solidFill>
                  <a:srgbClr val="1B3B6F"/>
                </a:solidFill>
                <a:latin typeface="Amiri" pitchFamily="2" charset="-78"/>
                <a:cs typeface="Amiri" pitchFamily="2" charset="-78"/>
              </a:rPr>
              <a:t>وَلٰكِنَّ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keep listening for the contrast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immediately</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next clause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key correction often follows.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can reverse a statement?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Negation changes the meaning.</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near-synonymous?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نَادِرًا / قَلِيلًا مَا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يَبْدَأُ / يَنْتَهِي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 بَعْدَ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express low frequency.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beat a distractor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مَتَى تَخْرُجُ مَرْيَمُ مِنَ البَيْتِ؟</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type: a TIME for LEAVING.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Listen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تَسْتَيْقِظُ </a:t>
            </a:r>
            <a:pPr rtl="1" algn="ctr" indent="0" marL="0">
              <a:lnSpc>
                <a:spcPct val="120000"/>
              </a:lnSpc>
              <a:buNone/>
            </a:pPr>
            <a:r>
              <a:rPr lang="ar-SA" altLang="en-US" sz="1750" b="1" dirty="0">
                <a:solidFill>
                  <a:srgbClr val="D6336C"/>
                </a:solidFill>
                <a:latin typeface="Amiri" pitchFamily="2" charset="-78"/>
                <a:cs typeface="Amiri" pitchFamily="2" charset="-78"/>
              </a:rPr>
              <a:t>فِي السَّادِسَةِ</a:t>
            </a:r>
            <a:pPr rtl="1" algn="ctr" indent="0" marL="0">
              <a:lnSpc>
                <a:spcPct val="120000"/>
              </a:lnSpc>
              <a:buNone/>
            </a:pPr>
            <a:r>
              <a:rPr lang="ar-SA" altLang="en-US" sz="1750" b="1" dirty="0">
                <a:solidFill>
                  <a:srgbClr val="1B3B6F"/>
                </a:solidFill>
                <a:latin typeface="Amiri" pitchFamily="2" charset="-78"/>
                <a:cs typeface="Amiri" pitchFamily="2" charset="-78"/>
              </a:rPr>
              <a:t>، وَلٰكِنَّهَا لَا تَخْرُجُ </a:t>
            </a:r>
            <a:pPr rtl="1" algn="ctr" indent="0" marL="0">
              <a:lnSpc>
                <a:spcPct val="120000"/>
              </a:lnSpc>
              <a:buNone/>
            </a:pPr>
            <a:r>
              <a:rPr lang="ar-SA" altLang="en-US" sz="1750" b="1" dirty="0">
                <a:solidFill>
                  <a:srgbClr val="0E7C86"/>
                </a:solidFill>
                <a:latin typeface="Amiri" pitchFamily="2" charset="-78"/>
                <a:cs typeface="Amiri" pitchFamily="2" charset="-78"/>
              </a:rPr>
              <a:t>حَتَّى السَّابِعَةِ وَالرُّبْعِ</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times! Which is leaving?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Reject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D6336C"/>
                </a:solidFill>
                <a:latin typeface="Amiri" pitchFamily="2" charset="-78"/>
                <a:cs typeface="Amiri" pitchFamily="2" charset="-78"/>
              </a:rPr>
              <a:t>السَّادِسَةُ</a:t>
            </a:r>
            <a:pPr rtl="1" algn="ctr" indent="0" marL="0">
              <a:lnSpc>
                <a:spcPct val="120000"/>
              </a:lnSpc>
              <a:buNone/>
            </a:pPr>
            <a:r>
              <a:rPr lang="ar-SA" altLang="en-US" sz="1900" b="1" dirty="0">
                <a:solidFill>
                  <a:srgbClr val="1B3B6F"/>
                </a:solidFill>
                <a:latin typeface="Amiri" pitchFamily="2" charset="-78"/>
                <a:cs typeface="Amiri" pitchFamily="2" charset="-78"/>
              </a:rPr>
              <a:t> = وَقْتُ الاِسْتِيقَاظِ ✗</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6:00 is the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Verify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cs typeface="Amiri" pitchFamily="2" charset="-78"/>
              </a:rPr>
              <a:t>تَخْرُجُ … حَتَّى السَّابِعَةِ وَالرُّبْعِ</a:t>
            </a:r>
            <a:pPr rtl="1" algn="ctr" indent="0" marL="0">
              <a:lnSpc>
                <a:spcPct val="120000"/>
              </a:lnSpc>
              <a:buNone/>
            </a:pPr>
            <a:r>
              <a:rPr lang="ar-SA" altLang="en-US" sz="1800" b="1" dirty="0">
                <a:solidFill>
                  <a:srgbClr val="1B3B6F"/>
                </a:solidFill>
                <a:latin typeface="Amiri" pitchFamily="2" charset="-78"/>
                <a:cs typeface="Amiri" pitchFamily="2" charset="-78"/>
              </a:rPr>
              <a:t>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listen: the verb “leaves”.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السُّؤَالُ: مَتَى تَخْرُجُ مَرْيَمُ؟ ← أَتَوَقَّعُ وَقْتًا. ← سَمِعْتُ </a:t>
            </a:r>
            <a:pPr rtl="1" algn="r" indent="0" marL="0">
              <a:lnSpc>
                <a:spcPct val="120000"/>
              </a:lnSpc>
              <a:buNone/>
            </a:pPr>
            <a:r>
              <a:rPr lang="ar-SA" altLang="en-US" sz="1600" b="1" dirty="0">
                <a:solidFill>
                  <a:srgbClr val="D6336C"/>
                </a:solidFill>
                <a:latin typeface="Amiri" pitchFamily="2" charset="-78"/>
                <a:cs typeface="Amiri" pitchFamily="2" charset="-78"/>
              </a:rPr>
              <a:t>السَّادِسَةَ</a:t>
            </a:r>
            <a:pPr rtl="1" algn="r" indent="0" marL="0">
              <a:lnSpc>
                <a:spcPct val="120000"/>
              </a:lnSpc>
              <a:buNone/>
            </a:pPr>
            <a:r>
              <a:rPr lang="ar-SA" altLang="en-US" sz="1600" b="1" dirty="0">
                <a:solidFill>
                  <a:srgbClr val="1B3B6F"/>
                </a:solidFill>
                <a:latin typeface="Amiri" pitchFamily="2" charset="-78"/>
                <a:cs typeface="Amiri" pitchFamily="2" charset="-78"/>
              </a:rPr>
              <a:t> وَ</a:t>
            </a:r>
            <a:pPr rtl="1" algn="r" indent="0" marL="0">
              <a:lnSpc>
                <a:spcPct val="120000"/>
              </a:lnSpc>
              <a:buNone/>
            </a:pPr>
            <a:r>
              <a:rPr lang="ar-SA" altLang="en-US" sz="1600" b="1" dirty="0">
                <a:solidFill>
                  <a:srgbClr val="0E7C86"/>
                </a:solidFill>
                <a:latin typeface="Amiri" pitchFamily="2" charset="-78"/>
                <a:cs typeface="Amiri" pitchFamily="2" charset="-78"/>
              </a:rPr>
              <a:t>السَّابِعَةَ وَالرُّبْعَ</a:t>
            </a:r>
            <a:pPr rtl="1" algn="r" indent="0" marL="0">
              <a:lnSpc>
                <a:spcPct val="120000"/>
              </a:lnSpc>
              <a:buNone/>
            </a:pPr>
            <a:r>
              <a:rPr lang="ar-SA" altLang="en-US" sz="1600" b="1" dirty="0">
                <a:solidFill>
                  <a:srgbClr val="1B3B6F"/>
                </a:solidFill>
                <a:latin typeface="Amiri" pitchFamily="2" charset="-78"/>
                <a:cs typeface="Amiri" pitchFamily="2" charset="-78"/>
              </a:rPr>
              <a:t>. ← أَسْتَبْعِدُ </a:t>
            </a:r>
            <a:pPr rtl="1" algn="r" indent="0" marL="0">
              <a:lnSpc>
                <a:spcPct val="120000"/>
              </a:lnSpc>
              <a:buNone/>
            </a:pPr>
            <a:r>
              <a:rPr lang="ar-SA" altLang="en-US" sz="1600" b="1" dirty="0">
                <a:solidFill>
                  <a:srgbClr val="D6336C"/>
                </a:solidFill>
                <a:latin typeface="Amiri" pitchFamily="2" charset="-78"/>
                <a:cs typeface="Amiri" pitchFamily="2" charset="-78"/>
              </a:rPr>
              <a:t>السَّادِسَةَ</a:t>
            </a:r>
            <a:pPr rtl="1" algn="r" indent="0" marL="0">
              <a:lnSpc>
                <a:spcPct val="120000"/>
              </a:lnSpc>
              <a:buNone/>
            </a:pPr>
            <a:r>
              <a:rPr lang="ar-SA" altLang="en-US" sz="1600" b="1" dirty="0">
                <a:solidFill>
                  <a:srgbClr val="1B3B6F"/>
                </a:solidFill>
                <a:latin typeface="Amiri" pitchFamily="2" charset="-78"/>
                <a:cs typeface="Amiri" pitchFamily="2" charset="-78"/>
              </a:rPr>
              <a:t> لِأَنَّهَا وَقْتُ الاِسْتِيقَاظِ. ← الجَوَابُ: </a:t>
            </a:r>
            <a:pPr rtl="1" algn="r" indent="0" marL="0">
              <a:lnSpc>
                <a:spcPct val="120000"/>
              </a:lnSpc>
              <a:buNone/>
            </a:pPr>
            <a:r>
              <a:rPr lang="ar-SA" altLang="en-US" sz="1600" b="1" dirty="0">
                <a:solidFill>
                  <a:srgbClr val="0E7C86"/>
                </a:solidFill>
                <a:latin typeface="Amiri" pitchFamily="2" charset="-78"/>
                <a:cs typeface="Amiri" pitchFamily="2" charset="-78"/>
              </a:rPr>
              <a:t>السَّابِعَةُ وَالرُّبْعُ</a:t>
            </a:r>
            <a:pPr rtl="1" algn="r" indent="0" marL="0">
              <a:lnSpc>
                <a:spcPct val="120000"/>
              </a:lnSpc>
              <a:buNone/>
            </a:pPr>
            <a:r>
              <a:rPr lang="ar-SA" altLang="en-US" sz="1600" b="1" dirty="0">
                <a:solidFill>
                  <a:srgbClr val="1B3B6F"/>
                </a:solidFill>
                <a:latin typeface="Amiri" pitchFamily="2" charset="-78"/>
                <a:cs typeface="Amiri" pitchFamily="2" charset="-78"/>
              </a:rPr>
              <a:t>.</a:t>
            </a:r>
            <a:endParaRPr lang="ar-SA" sz="1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When does Maryam leave? → I predict a time. → I heard six and quarter past seven. → I eliminate six because it is the wake-up time. → Answer: quarter past seven.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أُرَكِّزُ عَلَى كَلِمَاتِ الوَقْتِ.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focus on time words.</a:t>
            </a:r>
            <a:endParaRPr lang="en-US" sz="1250" dirty="0"/>
          </a:p>
          <a:p>
            <a:pPr indent="0" marL="0">
              <a:buNone/>
            </a:pPr>
            <a:r>
              <a:rPr lang="en-US" sz="1050" i="1" dirty="0">
                <a:solidFill>
                  <a:srgbClr val="8A6D1E"/>
                </a:solidFill>
                <a:latin typeface="Calibri" pitchFamily="34" charset="0"/>
                <a:cs typeface="Amiri" pitchFamily="2" charset="-78"/>
              </a:rPr>
              <a:t>A deliberate listening target.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أَسْتَبْعِدُ الخِيَارَ الَّذِي يَخُصُّ شَخْصًا آخَرَ.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eliminate the option about another person.</a:t>
            </a:r>
            <a:endParaRPr lang="en-US" sz="1250" dirty="0"/>
          </a:p>
          <a:p>
            <a:pPr indent="0" marL="0">
              <a:buNone/>
            </a:pPr>
            <a:r>
              <a:rPr lang="en-US" sz="1050" i="1" dirty="0">
                <a:solidFill>
                  <a:srgbClr val="8A6D1E"/>
                </a:solidFill>
                <a:latin typeface="Calibri" pitchFamily="34" charset="0"/>
                <a:cs typeface="Amiri" pitchFamily="2" charset="-78"/>
              </a:rPr>
              <a:t>Person tracking.</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أُلَاحِظُ وَلٰكِنَّ ثُمَّ أَنْتَظِرُ المَعْلُومَةَ الجَدِيدَةَ.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notice “but” and wait for the new information.</a:t>
            </a:r>
            <a:endParaRPr lang="en-US" sz="1250" dirty="0"/>
          </a:p>
          <a:p>
            <a:pPr indent="0" marL="0">
              <a:buNone/>
            </a:pPr>
            <a:r>
              <a:rPr lang="en-US" sz="1050" i="1" dirty="0">
                <a:solidFill>
                  <a:srgbClr val="8A6D1E"/>
                </a:solidFill>
                <a:latin typeface="Calibri" pitchFamily="34" charset="0"/>
                <a:cs typeface="Amiri" pitchFamily="2" charset="-78"/>
              </a:rPr>
              <a:t>Contrast control.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الاِسْتِمَاعِ الثَّانِي أَتَثَبَّتُ مِنَ التَّفَاصِيلِ.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 the second listening I verify details.</a:t>
            </a:r>
            <a:endParaRPr lang="en-US" sz="1250" dirty="0"/>
          </a:p>
          <a:p>
            <a:pPr indent="0" marL="0">
              <a:buNone/>
            </a:pPr>
            <a:r>
              <a:rPr lang="en-US" sz="1050" i="1" dirty="0">
                <a:solidFill>
                  <a:srgbClr val="8A6D1E"/>
                </a:solidFill>
                <a:latin typeface="Calibri" pitchFamily="34" charset="0"/>
                <a:cs typeface="Amiri" pitchFamily="2" charset="-78"/>
              </a:rPr>
              <a:t>Verification habit.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evidence decoder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السَّاعَةِ السَّابِعَةِ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نِصْفِ سَاعَةٍ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أَخْرُجَ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 المَدْرَسَةَ بَعِيدَةٌ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وَلٰكِنَّ الحَافِلَةَ تَأَخَّرَتْ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أَخِي فَيَسْتَيْقِظُ مُتَأَخِّرًا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أَذْهَبُ يَوْمَ الجُمُعَةِ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أَسْتَقِلِ الحَافِلَةَ اليَوْمَ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order or duration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Reason or contrast</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Negation or changed detail</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order or duration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السَّاعَةِ السَّابِعَةِ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نِصْفِ سَاعَةٍ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قَبْلَ أَنْ أَخْرُجَ</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Reason or contrast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 المَدْرَسَةَ بَعِيدَةٌ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وَلٰكِنَّ الحَافِلَةَ تَأَخَّرَتْ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أَخِي فَيَسْتَيْقِظُ مُتَأَخِّرًا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Negation or changed detail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أَذْهَبُ يَوْمَ الجُمُعَةِ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أَسْتَقِلِ الحَافِلَةَ اليَوْمَ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anchor?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unknown word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handwriting mark</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predictable cue such as time or place</a:t>
            </a:r>
            <a:endParaRPr lang="en-US" sz="12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 the first guess without checking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verify exact detail and correct notes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word</a:t>
            </a:r>
            <a:endParaRPr lang="en-US" sz="12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selective listening action?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 sound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focus on the requested time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questions</a:t>
            </a:r>
            <a:endParaRPr lang="en-US" sz="12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anchor?</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unknown word</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handwriting mark</a:t>
            </a:r>
            <a:endParaRPr lang="en-US" sz="12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predictable cue such as time or place</a:t>
            </a:r>
            <a:endParaRPr lang="en-US" sz="12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Anchors help locate required detail.</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 do?</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 the first guess without checking</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verify exact detail and correct notes</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word</a:t>
            </a:r>
            <a:endParaRPr lang="en-US" sz="12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it for verification.</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selective listening action?</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 sound</a:t>
            </a:r>
            <a:endParaRPr lang="en-US" sz="12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focus on the requested time</a:t>
            </a:r>
            <a:endParaRPr lang="en-US" sz="12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questions</a:t>
            </a:r>
            <a:endParaRPr lang="en-US" sz="12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Listen for the information category required.</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سَمِعْتُ كَلِمَةَ الحَافِلَةِ، إِذَنْ هِيَ الإِجَابَةُ.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Hearing a word ≠ the answer. What must you check?</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أَخْتَارُ أَوَّلَ وَقْتٍ أَسْمَعُهُ.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Several times are mentioned. What do you link each one to?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أَتَوَقَّفُ عِنْدَ وَلٰكِنَّ.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often comes AFTER “but”?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سَمِعْتُ كَلِمَةَ الحَافِلَةِ، إِذَنْ هِيَ الإِجَابَةُ.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أَتَأَكَّدُ أَنَّ الحَافِلَةَ تَخُصُّ السُّؤَالَ وَالشَّخْصَ الصَّحِيحَ.</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Hearing the word is not sufficient.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أَخْتَارُ أَوَّلَ وَقْتٍ أَسْمَعُهُ.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أَرْبِطُ كُلَّ وَقْتٍ بِالحَدَثِ الَّذِي يَصِفُهُ.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Several times may appear.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أَتَوَقَّفُ عِنْدَ وَلٰكِنَّ.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أَسْتَمِرُّ بَعْدَ وَلٰكِنَّ لِأَسْمَعَ المُقَابَلَةَ.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key information often follows the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Maryam’s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leave home?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is a distractor in Text 1 when the question asks about leaving home?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leaving times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Before listening, write T next to each question.</a:t>
            </a:r>
            <a:endParaRPr lang="en-US" sz="1250" dirty="0"/>
          </a:p>
          <a:p>
            <a:pPr algn="l" indent="0" marL="0">
              <a:buNone/>
            </a:pPr>
            <a:r>
              <a:rPr lang="en-US" sz="1250" dirty="0">
                <a:solidFill>
                  <a:srgbClr val="1E6B52"/>
                </a:solidFill>
                <a:latin typeface="Calibri" pitchFamily="34" charset="0"/>
                <a:cs typeface="Amiri" pitchFamily="2" charset="-78"/>
              </a:rPr>
              <a:t>Two times will be heard: wake? leave? bus?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النَّصُّ الأَوَّلُ: تَسْتَيْقِظُ مَرْيَمُ فِي السَّادِسَةِ،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 Maryam wakes up at six,</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وَلٰكِنَّهَا لَا تَخْرُجُ مِنَ البَيْتِ حَتَّى السَّابِعَةِ وَالرُّبْعِ.</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she does not leave the house until quarter past seven.</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تَتَنَاوَلُ الإِفْطَارَ دَائِمًا، وَتَسْتَقِلُّ الحَافِلَةَ فِي السَّابِعَةِ وَالنِّصْفِ.</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always has breakfast, and she takes the bus at half past seven.</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time is her wake-up time.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leave home?</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7:15</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does not leave until a quarter past seven.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is a distractor in Text 1 when the question asks about leaving home?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leaving times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6:00 is the wake-up time, not the leaving time.</a:t>
            </a:r>
            <a:endParaRPr lang="en-US" sz="10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Before listening, write T next to each question.</a:t>
            </a:r>
            <a:endParaRPr lang="en-US" sz="1250" dirty="0"/>
          </a:p>
          <a:p>
            <a:pPr algn="l" indent="0" marL="0">
              <a:buNone/>
            </a:pPr>
            <a:r>
              <a:rPr lang="en-US" sz="1250" dirty="0">
                <a:solidFill>
                  <a:srgbClr val="1E6B52"/>
                </a:solidFill>
                <a:latin typeface="Calibri" pitchFamily="34" charset="0"/>
                <a:cs typeface="Amiri" pitchFamily="2" charset="-78"/>
              </a:rPr>
              <a:t>Two times will be heard: wake? leave? bus?</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Text 2: Omar and Salma make a plan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 Omar and Salma finally agree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did Omar first suggest?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can’t Salma meet at four?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tired</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at the club</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lesson ends at 4:30</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times are heard.</a:t>
            </a:r>
            <a:endParaRPr lang="en-US" sz="1250" dirty="0"/>
          </a:p>
          <a:p>
            <a:pPr algn="l" indent="0" marL="0">
              <a:buNone/>
            </a:pPr>
            <a:r>
              <a:rPr lang="en-US" sz="1250" dirty="0">
                <a:solidFill>
                  <a:srgbClr val="1E6B52"/>
                </a:solidFill>
                <a:latin typeface="Calibri" pitchFamily="34" charset="0"/>
                <a:cs typeface="Amiri" pitchFamily="2" charset="-78"/>
              </a:rPr>
              <a:t>Wait for the phrase “they agreed on”.</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النَّصُّ الثَّانِي: يَلْتَقِي عُمَرُ وَسَلْمَى يَوْمَ السَّبْتِ. اِقْتَرَحَ عُمَرُ السَّاعَةَ الرَّابِعَةَ،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 Omar and Salma are meeting on Saturday. Omar suggested four o’clock,</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سَلْمَى فَلَا تَنْتَهِي مِنْ دَرْسِهَا قَبْلَ الرَّابِعَةِ وَالنِّصْفِ،</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Salma does not finish her lesson before half past four,</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لِذٰلِكَ اِتَّفَقَا عَلَى الخَامِسَةِ إِلَّا الرُّبْعَ.</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they agreed on quarter to five.</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 Omar and Salma finally agree on?</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4:30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اِتَّفَقَا عَلَى الخَامِسَةِ إِلَّا الرُّبْعَ.</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did Omar first suggest?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4:30</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4:45</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4:00</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اِقْتَرَحَ عُمَرُ السَّاعَةَ الرَّابِعَةَ</a:t>
            </a:r>
            <a:pPr algn="l" indent="0" marL="0">
              <a:buNone/>
            </a:pPr>
            <a:r>
              <a:rPr lang="en-US" sz="1050" i="1" dirty="0">
                <a:solidFill>
                  <a:srgbClr val="8A6D1E"/>
                </a:solidFill>
                <a:latin typeface="Calibri" pitchFamily="34" charset="0"/>
                <a:cs typeface="Amiri" pitchFamily="2" charset="-78"/>
              </a:rPr>
              <a:t> — a suggestion, not the final time.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can’t Salma meet at four?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tired</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at the club</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lesson ends at 4:30</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تَنْتَهِي مِنْ دَرْسِهَا قَبْلَ الرَّابِعَةِ وَالنِّصْفِ.</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times are heard.</a:t>
            </a:r>
            <a:endParaRPr lang="en-US" sz="1250" dirty="0"/>
          </a:p>
          <a:p>
            <a:pPr algn="l" indent="0" marL="0">
              <a:buNone/>
            </a:pPr>
            <a:r>
              <a:rPr lang="en-US" sz="1250" dirty="0">
                <a:solidFill>
                  <a:srgbClr val="1E6B52"/>
                </a:solidFill>
                <a:latin typeface="Calibri" pitchFamily="34" charset="0"/>
                <a:cs typeface="Amiri" pitchFamily="2" charset="-78"/>
              </a:rPr>
              <a:t>Wait for the phrase “they agreed on”.</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3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Samer’s afternoon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Samir return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3:10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resting?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straight to training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breakfast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completes homework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stays home and helps his family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twice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meets Salma</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T, order, F, what day?</a:t>
            </a:r>
            <a:endParaRPr lang="en-US" sz="1250" dirty="0"/>
          </a:p>
          <a:p>
            <a:pPr algn="l" indent="0" marL="0">
              <a:buNone/>
            </a:pPr>
            <a:r>
              <a:rPr lang="en-US" sz="1250" dirty="0">
                <a:solidFill>
                  <a:srgbClr val="1E6B52"/>
                </a:solidFill>
                <a:latin typeface="Calibri" pitchFamily="34" charset="0"/>
                <a:cs typeface="Amiri" pitchFamily="2" charset="-78"/>
              </a:rPr>
              <a:t>Listen past “as for …”.</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النَّصُّ الثَّالِثُ: يَعُودُ سَامِرٌ إِلَى البَيْتِ فِي الثَّالِثَةِ وَعَشْرِ دَقَائِقَ.</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 Samer returns home at ten past three.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يَسْتَرِيحُ نِصْفَ سَاعَةٍ، ثُمَّ يُكْمِلُ وَاجِبَهُ قَبْلَ أَنْ يَذْهَبَ إِلَى التَّمْرِينِ.</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rests for half an hour, then finishes his homework before he goes to training.</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يَتَمَرَّنُ ثَلَاثَ مَرَّاتٍ فِي الأُسْبُوعِ،</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three times a week;</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يَوْمُ الخَمِيسِ فَيَبْقَى فِي البَيْتِ وَيُسَاعِدُ أُسْرَتَهُ.</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Thursday, he stays at home and helps his family.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Samir return home?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3:10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4:10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الثَّالِثَةِ وَعَشْرِ دَقَائِقَ.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resting?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straight to training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breakfast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completes homework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 يُكْمِلُ وَاجِبَهُ.</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ثَلَاثَ مَرَّاتٍ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stays home and helps his family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trains twice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meets Salma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يَوْمُ الخَمِيسِ فَيَبْقَى فِي البَيْتِ.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T, order, F, what day?</a:t>
            </a:r>
            <a:endParaRPr lang="en-US" sz="1250" dirty="0"/>
          </a:p>
          <a:p>
            <a:pPr algn="l" indent="0" marL="0">
              <a:buNone/>
            </a:pPr>
            <a:r>
              <a:rPr lang="en-US" sz="1250" dirty="0">
                <a:solidFill>
                  <a:srgbClr val="1E6B52"/>
                </a:solidFill>
                <a:latin typeface="Calibri" pitchFamily="34" charset="0"/>
                <a:cs typeface="Amiri" pitchFamily="2" charset="-78"/>
              </a:rPr>
              <a:t>Listen past “as for …”.</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Distractor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Distractor detective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For each short listening or reading item, underline the evidence, identify the tempting distractor and explain why the correct answer fits the time frame.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reads each item twice (script in the notes); the options are on the right.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Everyone types the answer AND one Arabic evidence word.</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name the distractor: which option was “heard” but wrong?</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why the answer fits: person, time frame, “but / not”.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items 1–2. Type the answer and one evidence word.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4 items: answer, evidence and the distractor.</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each distractor in one sentence (wrong person / wrong time / cancelled by “but”).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شَايٌ · قَهْوَةٌ · عَصِيرٌ</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1 · what does he order?</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يَوْمَانِ · أُسْبُوعٌ · شَهْرٌ</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2 · how long has she had the headache?</a:t>
            </a:r>
            <a:endParaRPr lang="en-US" sz="9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حَافِلَةٌ · قِطَارٌ · مَشْيًا</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3 · how does Omar go today?</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٧:١٥ · ٧:٣٠ · ٧:٤٥</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4 · when does the train leave?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Reflect on listening decisions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الكَلِمَةُ المِفْتَاحِيَّةُ الَّتِي سَاعَدَتْكَ؟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مُشَتِّتٍ كَانَ أَقْوَى؟ وَلِمَاذَا؟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غَيَّرْتَ فِي الاِسْتِمَاعِ الثَّانِي؟</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الهَدَفُ المُحَدَّدُ الَّذِي سَتُطَوِّرُهُ فِي الاِسْتِمَاعِ القَادِمِ؟</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الكَلِمَةُ المِفْتَاحِيَّةُ كَانَتْ «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كَانَ المُشَتِّتُ ___ لِأَنَّ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فِي الاِسْتِمَاعِ الثَّانِي ، تَثَبَّتُّ مِنْ ___ .</a:t>
            </a:r>
            <a:endParaRPr lang="ar-SA" sz="155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هَدَفِي القَادِمُ أَنْ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لِمَاذَا لَمْ تَخْتَرِ السَّادِسَةَ؟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didn’t you choose six?</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لِأَنَّ السَّادِسَةَ كَانَتْ وَقْتَ الاِسْتِيقَاظِ، بَيْنَمَا السُّؤَالُ كَانَ عَنْ وَقْتِ الخُرُوجِ. اِنْتَظَرْتُ الفِعْلَ «تَخْرُجُ».</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Because six was the wake-up time, whereas the question was about the leaving time. I waited for the verb “leaves”.</a:t>
            </a:r>
            <a:endParaRPr lang="en-US" sz="7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key words and complete the questions with support.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Rebuild Samer’s afternoon (Text 3) from your answers: time, order, how often, Thursday.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distractors and correct answers from the script.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Rebuild one speaker’s routine and explain ONE distractor you rejected and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paraphrase, inference and personal strategy using precise listening terminology.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reconstruct a routine, explain two distractors, say what changed on the second listen and set a measurable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رَكَّزْتُ عَلَى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focused on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المُشَتِّتُ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distractor was …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اِسْتَبْعَدْتُ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eliminated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الاِسْتِمَاعِ الثَّانِي تَثَبَّتُّ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second listen I verified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هَدَفِي القَادِمُ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next target is to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يَعُودُ سَامِرٌ إِلَى البَيْتِ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Samer returns home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يَسْتَرِيحُ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rests for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يُكْمِلُ وَاجِبَهُ.</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he finishes his homework.</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يَتَمَرَّنُ ______ فِي الأُسْبُوعِ.</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trains … a week.</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يَوْمُ الخَمِيسِ فَـ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Thursday he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أَتَوَقَّعُ  ·  أُرَكِّزُ عَلَى  ·  أَسْتَبْعِدُ  ·  أَتَثَبَّتُ مِنْ  ·  مُشَتِّتٌ  ·  كَلِمَةٌ مِفْتَاحِيَّةٌ  ·  الوَقْتُ  ·  الحَدَثُ  ·  وَلٰكِنَّ  ·  لَا / لَمْ  ·  اِتَّفَقَا عَلَى  ·  هَدَفِي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reconstructing one speaker’s routine from the listening evidence, then explain two distractors you rejected.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Refer to an exact question or detail.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Explain why one distractor was attractive.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listening-strategy vocabulary.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State what changed on the second listen.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Set a measurable next-step target.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اِخْتَرْتُ السَّادِسَةَ لِأَنَّهَا أَوَّلُ وَقْتٍ سَمِعْتُهُ</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chose six because it was the first time I heard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 السُّؤَالَ كَانَ عَنْ وَقْتِ الخُرُوجِ</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the question was about the leaving time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فَانْتَظَرْتُ عِبَارَةَ «اِتَّفَقَا عَلَى»</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waited for the phrase “they agreed 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رَبَطْتُ «ثَلَاثَ مَرَّاتٍ» بِالتَّمْرِينِ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linked “three times” to training</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سَأَكْتُبُ كُلَّ وَقْتٍ مَعَ الحَدَثِ الَّذِي يَصِفُهُ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write each time with the event it describes</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تَدْرِيبِ الاِسْتِمَاعِ نَجَحْتُ فِي تَتَبُّعِ أَوْقَاتِ النَّصِّ الثَّانِي، لِأَنَّنِي اِنْتَظَرْتُ عِبَارَةَ «اِتَّفَقَا عَلَى» قَبْلَ أَنْ أَخْتَارَ. وَلٰكِنَّنِي أَخْطَأْتُ فِي السُّؤَالِ الأَوَّلِ، فَقَدِ اِخْتَرْتُ وَقْتَ الاِسْتِيقَاظِ بَدَلَ وَقْتِ الخُرُوجِ. كَانَ المُشَتِّتُ قَوِيًّا لِأَنَّ السَّادِسَةَ ذُكِرَتْ أَوَّلًا. فِي الاِسْتِمَاعِ الثَّانِي رَكَّزْتُ عَلَى الفِعْلِ «تَخْرُجُ» وَصَحَّحْتُ إِجَابَتِي. هَدَفِي القَادِمُ أَنْ أَرْبِطَ كُلَّ رَقْمٍ بِالحَدَثِ الصَّحِيحِ وَأَنْ أُرَاجِعَ كُلَّ إِجَابَةٍ مَرَّةً وَاحِدَةً.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listening practice I managed to track the times in Text 2, because I waited for the phrase “they agreed on” before choosing. But I made a mistake in the first question: I chose the wake-up time instead of the leaving time. The distractor was strong because six was mentioned first. On the second listening I focused on the verb “leaves” and corrected my answer. My next target is to link every number to the correct event and to check every answer once.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strategy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distractor and why it was strong</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what changed on the second listen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measurable target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each question (time, person, how often)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times match the right event.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listening after “but” and “as for”.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one distractor I rejected.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target is specific and measurable.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51</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with the first number heard?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link it to the event before choosing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it immediately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all later numbers</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final agreement?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اِقْتَرَحَ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اِتَّفَقَا عَلَى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تَنْتَهِي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distractor clue?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correct word attached to the wrong person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exact requested detail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clear final conclusion</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51</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with the first number heard?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link it to the event before choosing</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 it immediately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all later numbers</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Context determines which event the number belongs to.</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final agreement?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اِقْتَرَحَ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اِتَّفَقَا عَلَى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تَنْتَهِي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signals the chosen time.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distractor clue?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correct word attached to the wrong person</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exact requested detail</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clear final conclusion</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vocabulary may be right but the referent wrong.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51</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performance log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بَعْدَ التَّدْرِيبِ كَتَبَتْ سَارَةُ: فِي النَّصِّ الأَوَّلِ اِخْتَرْتُ السَّادِسَةَ لِأَنَّهَا أَوَّلُ وَقْتٍ سَمِعْتُهُ، وَلٰكِنَّ السُّؤَالَ كَانَ عَنْ وَقْتِ الخُرُوجِ، وَالإِجَابَةُ الصَّحِيحَةُ هِيَ السَّابِعَةُ وَالرُّبْعُ. فِي النَّصِّ الثَّانِي ذَكَرَ المُتَحَدِّثَانِ ثَلَاثَةَ أَوْقَاتٍ، فَانْتَظَرْتُ عِبَارَةَ «اِتَّفَقَا عَلَى». أَمَّا فِي النَّصِّ الثَّالِثِ فَرَبَطْتُ «ثَلَاثَ مَرَّاتٍ» بِالتَّمْرِينِ، وَلَمْ أَخْتَرْ يَوْمَ الخَمِيسِ لِأَنَّهُ يَبْقَى فِي البَيْتِ. فِي الاِسْتِمَاعِ القَادِمِ سَأَكْتُبُ كُلَّ وَقْتٍ مَعَ الحَدَثِ الَّذِي يَصِفُهُ.</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بَعْدَ التَّدْرِيبِ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the practice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اِخْتَرْتُ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chose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أَوَّلُ وَقْتٍ سَمِعْتُهُ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first time I heard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وَقْتِ الخُرُوجِ</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leaving time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المُتَحَدِّثَانِ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two speakers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فَانْتَظَرْتُ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I waited for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عِبَارَةَ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phrase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رَبَطْتُ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linked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لَمْ أَخْتَرْ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did not choose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سَأَكْتُبُ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write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51</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Sara’s first error?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missing a person’s name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choosing the wake-up time instead of the leaving time</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confusing Saturday and Thursday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revealed the final agreed time?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اِقْتَرَحَ عُمَرُ</a:t>
            </a:r>
            <a:endParaRPr lang="ar-SA" sz="20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الرَّابِعَةِ</a:t>
            </a:r>
            <a:endParaRPr lang="ar-SA" sz="20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اِتَّفَقَا عَلَى</a:t>
            </a:r>
            <a:endParaRPr lang="ar-SA" sz="20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t>
            </a:r>
            <a:pPr algn="l" indent="0" marL="0">
              <a:buNone/>
            </a:pPr>
            <a:r>
              <a:rPr lang="ar-SA" altLang="en-US" sz="1650" b="1" dirty="0">
                <a:solidFill>
                  <a:srgbClr val="1B3B6F"/>
                </a:solidFill>
                <a:latin typeface="Amiri" pitchFamily="2" charset="-78"/>
                <a:cs typeface="Amiri" pitchFamily="2" charset="-78"/>
              </a:rPr>
              <a:t>ثَلَاثَ مَرَّاتٍ</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frequency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time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 duration</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Thursday rejected as a training day?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club is closed</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stays home that day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visits Salma</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Sara do next time?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each time beside its event</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word</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the last number heard</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improved across the log?</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 speed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person-prefix control</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distractor control</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51</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Sara’s first error?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missing a person’s name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choosing the wake-up time instead of the leaving time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confusing Saturday and Thursday</a:t>
            </a:r>
            <a:endParaRPr lang="en-US" sz="11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chose the first time heard rather than the requested event.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revealed the final agreed time?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اِقْتَرَحَ عُمَرُ</a:t>
            </a:r>
            <a:endParaRPr lang="ar-SA" sz="17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الرَّابِعَةِ</a:t>
            </a:r>
            <a:endParaRPr lang="ar-SA" sz="170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اِتَّفَقَا عَلَى</a:t>
            </a:r>
            <a:endParaRPr lang="ar-SA" sz="170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agreement phrase signals the final answer.</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t>
            </a:r>
            <a:pPr algn="l" indent="0" marL="0">
              <a:buNone/>
            </a:pPr>
            <a:r>
              <a:rPr lang="ar-SA" altLang="en-US" sz="1650" b="1" dirty="0">
                <a:solidFill>
                  <a:srgbClr val="1B3B6F"/>
                </a:solidFill>
                <a:latin typeface="Amiri" pitchFamily="2" charset="-78"/>
                <a:cs typeface="Amiri" pitchFamily="2" charset="-78"/>
              </a:rPr>
              <a:t>ثَلَاثَ مَرَّاتٍ</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training frequency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 time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 duration</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linked it to </a:t>
            </a:r>
            <a:pPr algn="l" indent="0" marL="0">
              <a:buNone/>
            </a:pPr>
            <a:r>
              <a:rPr lang="ar-SA" altLang="en-US" sz="1350" dirty="0">
                <a:solidFill>
                  <a:srgbClr val="8A6D1E"/>
                </a:solidFill>
                <a:latin typeface="Amiri" pitchFamily="2" charset="-78"/>
                <a:cs typeface="Amiri" pitchFamily="2" charset="-78"/>
              </a:rPr>
              <a:t>التَّمْرِينِ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Thursday rejected as a training day?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club is closed</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stays home that day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visits Salma</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he remains at home.</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Sara do next time?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each time beside its event</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word</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choose the last number heard</a:t>
            </a:r>
            <a:endParaRPr lang="en-US" sz="11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target is event-linked note-taking.</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improved across the log?</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 speed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person-prefix control</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distractor control</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identifies why plausible details were wrong.</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51</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listening-detail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أَسْتَيْقِظُ فِي السَّادِسَةِ، وَلٰكِنَّ الحَافِلَةَ تَصِلُ فِي السَّابِعَةِ</a:t>
            </a:r>
            <a:pPr algn="l" indent="0" marL="0">
              <a:buNone/>
            </a:pPr>
            <a:r>
              <a:rPr lang="en-US" sz="1000" b="1" dirty="0">
                <a:solidFill>
                  <a:srgbClr val="1F2A37"/>
                </a:solidFill>
                <a:latin typeface="Calibri" pitchFamily="34" charset="0"/>
                <a:cs typeface="Amiri" pitchFamily="2" charset="-78"/>
              </a:rPr>
              <a:t>. When does the speaker wake up?</a:t>
            </a:r>
            <a:endParaRPr lang="en-US"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كُنْتُ أَذْهَبُ مَشْيًا، وَلٰكِنَّنِي الآنَ أَذْهَبُ بِالحَافِلَةِ</a:t>
            </a:r>
            <a:pPr algn="l" indent="0" marL="0">
              <a:buNone/>
            </a:pPr>
            <a:r>
              <a:rPr lang="en-US" sz="1000" b="1" dirty="0">
                <a:solidFill>
                  <a:srgbClr val="1F2A37"/>
                </a:solidFill>
                <a:latin typeface="Calibri" pitchFamily="34" charset="0"/>
                <a:cs typeface="Amiri" pitchFamily="2" charset="-78"/>
              </a:rPr>
              <a:t>. How does the speaker travel now?</a:t>
            </a:r>
            <a:endParaRPr lang="en-US" sz="100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بِالحَافِلَةِ</a:t>
            </a:r>
            <a:endParaRPr lang="ar-SA" sz="20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مَشْيًا</a:t>
            </a:r>
            <a:endParaRPr lang="ar-SA" sz="20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بِالقِطَارِ</a:t>
            </a:r>
            <a:endParaRPr lang="ar-SA" sz="2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أَتَمَرَّنُ كُلَّ يَوْمٍ مَا عَدَا يَوْمَ الجُمُعَةِ</a:t>
            </a:r>
            <a:pPr algn="l" indent="0" marL="0">
              <a:buNone/>
            </a:pPr>
            <a:r>
              <a:rPr lang="en-US" sz="1000" b="1" dirty="0">
                <a:solidFill>
                  <a:srgbClr val="1F2A37"/>
                </a:solidFill>
                <a:latin typeface="Calibri" pitchFamily="34" charset="0"/>
                <a:cs typeface="Amiri" pitchFamily="2" charset="-78"/>
              </a:rPr>
              <a:t>. Which statement is correct?</a:t>
            </a:r>
            <a:endParaRPr lang="en-US" sz="100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exercises on Friday.</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never exercises.</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does not exercise on Friday.</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63" name="Text 60"/>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تَسْتَيْقِظُ مَرْيَمُ فِي السَّادِسَةِ وَالنِّصْفِ، أَمَّا أَخُوهَا فَيَسْتَيْقِظُ فِي السَّابِعَةِ</a:t>
            </a:r>
            <a:pPr algn="l" indent="0" marL="0">
              <a:buNone/>
            </a:pPr>
            <a:r>
              <a:rPr lang="en-US" sz="1000" b="1" dirty="0">
                <a:solidFill>
                  <a:srgbClr val="1F2A37"/>
                </a:solidFill>
                <a:latin typeface="Calibri" pitchFamily="34" charset="0"/>
                <a:cs typeface="Amiri" pitchFamily="2" charset="-78"/>
              </a:rPr>
              <a:t>. Who wakes at 7:00?</a:t>
            </a:r>
            <a:endParaRPr lang="en-US" sz="1000" dirty="0"/>
          </a:p>
        </p:txBody>
      </p:sp>
      <p:sp>
        <p:nvSpPr>
          <p:cNvPr id="64" name="Shape 61"/>
          <p:cNvSpPr/>
          <p:nvPr/>
        </p:nvSpPr>
        <p:spPr>
          <a:xfrm>
            <a:off x="640080" y="48737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67" name="Shape 64"/>
          <p:cNvSpPr/>
          <p:nvPr/>
        </p:nvSpPr>
        <p:spPr>
          <a:xfrm>
            <a:off x="640080" y="53309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كِلَاهُمَا</a:t>
            </a:r>
            <a:endParaRPr lang="ar-SA" sz="2050" dirty="0"/>
          </a:p>
        </p:txBody>
      </p:sp>
      <p:sp>
        <p:nvSpPr>
          <p:cNvPr id="70" name="Shape 67"/>
          <p:cNvSpPr/>
          <p:nvPr/>
        </p:nvSpPr>
        <p:spPr>
          <a:xfrm>
            <a:off x="640080" y="5788152"/>
            <a:ext cx="256032" cy="256032"/>
          </a:xfrm>
          <a:prstGeom prst="ellipse">
            <a:avLst/>
          </a:prstGeom>
          <a:solidFill>
            <a:srgbClr val="F4F1EA"/>
          </a:solidFill>
          <a:ln w="12700">
            <a:solidFill>
              <a:srgbClr val="F4F1EA"/>
            </a:solidFill>
            <a:prstDash val="solid"/>
          </a:ln>
        </p:spPr>
      </p:sp>
      <p:sp>
        <p:nvSpPr>
          <p:cNvPr id="71" name="Text 68"/>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2" name="Text 69"/>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أَخُوهَا</a:t>
            </a:r>
            <a:endParaRPr lang="ar-SA" sz="2050" dirty="0"/>
          </a:p>
        </p:txBody>
      </p:sp>
      <p:sp>
        <p:nvSpPr>
          <p:cNvPr id="73" name="Shape 70"/>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404360" y="4288536"/>
            <a:ext cx="310896" cy="310896"/>
          </a:xfrm>
          <a:prstGeom prst="ellipse">
            <a:avLst/>
          </a:prstGeom>
          <a:solidFill>
            <a:srgbClr val="1B3B6F"/>
          </a:solidFill>
          <a:ln w="12700">
            <a:solidFill>
              <a:srgbClr val="1B3B6F"/>
            </a:solidFill>
            <a:prstDash val="solid"/>
          </a:ln>
        </p:spPr>
      </p:sp>
      <p:sp>
        <p:nvSpPr>
          <p:cNvPr id="75" name="Text 72"/>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6" name="Text 73"/>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77" name="Text 74"/>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بَعْدَ الدِّرَاسَةِ أَكُونُ مُرْهَقًا، لِذٰلِكَ أَسْتَرِيحُ قَلِيلًا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cs typeface="Amiri" pitchFamily="2" charset="-78"/>
              </a:rPr>
              <a:t>مُرْهَقًا</a:t>
            </a:r>
            <a:pPr algn="l" indent="0" marL="0">
              <a:buNone/>
            </a:pPr>
            <a:r>
              <a:rPr lang="en-US" sz="1000" b="1" dirty="0">
                <a:solidFill>
                  <a:srgbClr val="1F2A37"/>
                </a:solidFill>
                <a:latin typeface="Calibri" pitchFamily="34" charset="0"/>
                <a:cs typeface="Amiri" pitchFamily="2" charset="-78"/>
              </a:rPr>
              <a:t> mean here?</a:t>
            </a:r>
            <a:endParaRPr lang="en-US" sz="1000" dirty="0"/>
          </a:p>
        </p:txBody>
      </p:sp>
      <p:sp>
        <p:nvSpPr>
          <p:cNvPr id="78" name="Shape 75"/>
          <p:cNvSpPr/>
          <p:nvPr/>
        </p:nvSpPr>
        <p:spPr>
          <a:xfrm>
            <a:off x="4459224" y="48737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0" name="Text 77"/>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exhausted</a:t>
            </a:r>
            <a:endParaRPr lang="en-US" sz="1250" dirty="0"/>
          </a:p>
        </p:txBody>
      </p:sp>
      <p:sp>
        <p:nvSpPr>
          <p:cNvPr id="81" name="Shape 78"/>
          <p:cNvSpPr/>
          <p:nvPr/>
        </p:nvSpPr>
        <p:spPr>
          <a:xfrm>
            <a:off x="4459224" y="53309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3" name="Text 80"/>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energetic</a:t>
            </a:r>
            <a:endParaRPr lang="en-US" sz="1250" dirty="0"/>
          </a:p>
        </p:txBody>
      </p:sp>
      <p:sp>
        <p:nvSpPr>
          <p:cNvPr id="84" name="Shape 81"/>
          <p:cNvSpPr/>
          <p:nvPr/>
        </p:nvSpPr>
        <p:spPr>
          <a:xfrm>
            <a:off x="4459224" y="57881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6" name="Text 83"/>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punctual</a:t>
            </a:r>
            <a:endParaRPr lang="en-US" sz="1250" dirty="0"/>
          </a:p>
        </p:txBody>
      </p:sp>
      <p:sp>
        <p:nvSpPr>
          <p:cNvPr id="87" name="Shape 8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223504" y="4288536"/>
            <a:ext cx="310896" cy="310896"/>
          </a:xfrm>
          <a:prstGeom prst="ellipse">
            <a:avLst/>
          </a:prstGeom>
          <a:solidFill>
            <a:srgbClr val="1B3B6F"/>
          </a:solidFill>
          <a:ln w="12700">
            <a:solidFill>
              <a:srgbClr val="1B3B6F"/>
            </a:solidFill>
            <a:prstDash val="solid"/>
          </a:ln>
        </p:spPr>
      </p:sp>
      <p:sp>
        <p:nvSpPr>
          <p:cNvPr id="89" name="Text 8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0" name="Text 87"/>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91" name="Text 88"/>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اِقْتَرَحَتْ سَلْمَى السَّادِسَةَ، وَاقْتَرَحَ عَلِيٌّ السَّابِعَةَ، ثُمَّ اِتَّفَقَا عَلَى السَّادِسَةِ وَالنِّصْفِ</a:t>
            </a:r>
            <a:pPr algn="l" indent="0" marL="0">
              <a:buNone/>
            </a:pPr>
            <a:r>
              <a:rPr lang="en-US" sz="1000" b="1" dirty="0">
                <a:solidFill>
                  <a:srgbClr val="1F2A37"/>
                </a:solidFill>
                <a:latin typeface="Calibri" pitchFamily="34" charset="0"/>
                <a:cs typeface="Amiri" pitchFamily="2" charset="-78"/>
              </a:rPr>
              <a:t>. What time did they finally agree on?</a:t>
            </a:r>
            <a:endParaRPr lang="en-US" sz="1000" dirty="0"/>
          </a:p>
        </p:txBody>
      </p:sp>
      <p:sp>
        <p:nvSpPr>
          <p:cNvPr id="92" name="Shape 89"/>
          <p:cNvSpPr/>
          <p:nvPr/>
        </p:nvSpPr>
        <p:spPr>
          <a:xfrm>
            <a:off x="8278368" y="48737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4" name="Text 91"/>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95" name="Shape 92"/>
          <p:cNvSpPr/>
          <p:nvPr/>
        </p:nvSpPr>
        <p:spPr>
          <a:xfrm>
            <a:off x="8278368" y="53309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7" name="Text 94"/>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98" name="Shape 95"/>
          <p:cNvSpPr/>
          <p:nvPr/>
        </p:nvSpPr>
        <p:spPr>
          <a:xfrm>
            <a:off x="8278368" y="5788152"/>
            <a:ext cx="256032" cy="256032"/>
          </a:xfrm>
          <a:prstGeom prst="ellipse">
            <a:avLst/>
          </a:prstGeom>
          <a:solidFill>
            <a:srgbClr val="F4F1EA"/>
          </a:solidFill>
          <a:ln w="12700">
            <a:solidFill>
              <a:srgbClr val="F4F1EA"/>
            </a:solidFill>
            <a:prstDash val="solid"/>
          </a:ln>
        </p:spPr>
      </p:sp>
      <p:sp>
        <p:nvSpPr>
          <p:cNvPr id="99" name="Text 96"/>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0" name="Text 97"/>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51</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أَسْتَيْقِظُ فِي السَّادِسَةِ، وَلٰكِنَّ الحَافِلَةَ تَصِلُ فِي السَّابِعَةِ</a:t>
            </a:r>
            <a:pPr algn="l" indent="0" marL="0">
              <a:buNone/>
            </a:pPr>
            <a:r>
              <a:rPr lang="en-US" sz="1000" b="1" dirty="0">
                <a:solidFill>
                  <a:srgbClr val="1F2A37"/>
                </a:solidFill>
                <a:latin typeface="Calibri" pitchFamily="34" charset="0"/>
                <a:cs typeface="Amiri" pitchFamily="2" charset="-78"/>
              </a:rPr>
              <a:t>. When does the speaker wake up?</a:t>
            </a:r>
            <a:endParaRPr lang="en-US" sz="10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Link the requested action </a:t>
            </a:r>
            <a:pPr algn="l" indent="0" marL="0">
              <a:buNone/>
            </a:pPr>
            <a:r>
              <a:rPr lang="ar-SA" altLang="en-US" sz="1350" dirty="0">
                <a:solidFill>
                  <a:srgbClr val="8A6D1E"/>
                </a:solidFill>
                <a:latin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 to its own time and ignore the later bus time.</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كُنْتُ أَذْهَبُ مَشْيًا، وَلٰكِنَّنِي الآنَ أَذْهَبُ بِالحَافِلَةِ</a:t>
            </a:r>
            <a:pPr algn="l" indent="0" marL="0">
              <a:buNone/>
            </a:pPr>
            <a:r>
              <a:rPr lang="en-US" sz="1000" b="1" dirty="0">
                <a:solidFill>
                  <a:srgbClr val="1F2A37"/>
                </a:solidFill>
                <a:latin typeface="Calibri" pitchFamily="34" charset="0"/>
                <a:cs typeface="Amiri" pitchFamily="2" charset="-78"/>
              </a:rPr>
              <a:t>. How does the speaker travel now?</a:t>
            </a:r>
            <a:endParaRPr lang="en-US" sz="100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بِالحَافِلَةِ</a:t>
            </a:r>
            <a:endParaRPr lang="ar-SA" sz="170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مَشْيًا</a:t>
            </a:r>
            <a:endParaRPr lang="ar-SA" sz="170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بِالقِطَارِ</a:t>
            </a:r>
            <a:endParaRPr lang="ar-SA" sz="170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contrast marker </a:t>
            </a:r>
            <a:pPr algn="l" indent="0" marL="0">
              <a:buNone/>
            </a:pPr>
            <a:r>
              <a:rPr lang="ar-SA" altLang="en-US" sz="1350" dirty="0">
                <a:solidFill>
                  <a:srgbClr val="8A6D1E"/>
                </a:solidFill>
                <a:latin typeface="Amiri" pitchFamily="2" charset="-78"/>
                <a:cs typeface="Amiri" pitchFamily="2" charset="-78"/>
              </a:rPr>
              <a:t>وَلٰكِنَّنِي الآنَ</a:t>
            </a:r>
            <a:pPr algn="l" indent="0" marL="0">
              <a:buNone/>
            </a:pPr>
            <a:r>
              <a:rPr lang="en-US" sz="1050" i="1" dirty="0">
                <a:solidFill>
                  <a:srgbClr val="8A6D1E"/>
                </a:solidFill>
                <a:latin typeface="Calibri" pitchFamily="34" charset="0"/>
                <a:cs typeface="Amiri" pitchFamily="2" charset="-78"/>
              </a:rPr>
              <a:t> introduces the current situation.</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أَتَمَرَّنُ كُلَّ يَوْمٍ مَا عَدَا يَوْمَ الجُمُعَةِ</a:t>
            </a:r>
            <a:pPr algn="l" indent="0" marL="0">
              <a:buNone/>
            </a:pPr>
            <a:r>
              <a:rPr lang="en-US" sz="1000" b="1" dirty="0">
                <a:solidFill>
                  <a:srgbClr val="1F2A37"/>
                </a:solidFill>
                <a:latin typeface="Calibri" pitchFamily="34" charset="0"/>
                <a:cs typeface="Amiri" pitchFamily="2" charset="-78"/>
              </a:rPr>
              <a:t>. Which statement is correct?</a:t>
            </a:r>
            <a:endParaRPr lang="en-US" sz="100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exercises on Friday.</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never exercises.</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speaker does not exercise on Friday.</a:t>
            </a:r>
            <a:endParaRPr lang="en-US" sz="120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مَا عَدَا</a:t>
            </a:r>
            <a:pPr algn="l" indent="0" marL="0">
              <a:buNone/>
            </a:pPr>
            <a:r>
              <a:rPr lang="en-US" sz="1050" i="1" dirty="0">
                <a:solidFill>
                  <a:srgbClr val="8A6D1E"/>
                </a:solidFill>
                <a:latin typeface="Calibri" pitchFamily="34" charset="0"/>
                <a:cs typeface="Amiri" pitchFamily="2" charset="-78"/>
              </a:rPr>
              <a:t> means “except”; Friday is excluded.</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68" name="Text 6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تَسْتَيْقِظُ مَرْيَمُ فِي السَّادِسَةِ وَالنِّصْفِ، أَمَّا أَخُوهَا فَيَسْتَيْقِظُ فِي السَّابِعَةِ</a:t>
            </a:r>
            <a:pPr algn="l" indent="0" marL="0">
              <a:buNone/>
            </a:pPr>
            <a:r>
              <a:rPr lang="en-US" sz="1000" b="1" dirty="0">
                <a:solidFill>
                  <a:srgbClr val="1F2A37"/>
                </a:solidFill>
                <a:latin typeface="Calibri" pitchFamily="34" charset="0"/>
                <a:cs typeface="Amiri" pitchFamily="2" charset="-78"/>
              </a:rPr>
              <a:t>. Who wakes at 7:00?</a:t>
            </a:r>
            <a:endParaRPr lang="en-US" sz="1000" dirty="0"/>
          </a:p>
        </p:txBody>
      </p:sp>
      <p:sp>
        <p:nvSpPr>
          <p:cNvPr id="69" name="Shape 67"/>
          <p:cNvSpPr/>
          <p:nvPr/>
        </p:nvSpPr>
        <p:spPr>
          <a:xfrm>
            <a:off x="640080" y="4831080"/>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a:t>
            </a:r>
            <a:endParaRPr lang="ar-SA" sz="1700" dirty="0"/>
          </a:p>
        </p:txBody>
      </p:sp>
      <p:sp>
        <p:nvSpPr>
          <p:cNvPr id="72" name="Shape 70"/>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2"/>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كِلَاهُمَا</a:t>
            </a:r>
            <a:endParaRPr lang="ar-SA" sz="1700" dirty="0"/>
          </a:p>
        </p:txBody>
      </p:sp>
      <p:sp>
        <p:nvSpPr>
          <p:cNvPr id="75" name="Shape 73"/>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6" name="Shape 74"/>
          <p:cNvSpPr/>
          <p:nvPr/>
        </p:nvSpPr>
        <p:spPr>
          <a:xfrm>
            <a:off x="640080" y="5574792"/>
            <a:ext cx="256032" cy="256032"/>
          </a:xfrm>
          <a:prstGeom prst="ellipse">
            <a:avLst/>
          </a:prstGeom>
          <a:solidFill>
            <a:srgbClr val="2E8B57"/>
          </a:solidFill>
          <a:ln w="12700">
            <a:solidFill>
              <a:srgbClr val="2E8B57"/>
            </a:solidFill>
            <a:prstDash val="solid"/>
          </a:ln>
        </p:spPr>
      </p:sp>
      <p:sp>
        <p:nvSpPr>
          <p:cNvPr id="77" name="Text 7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6"/>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أَخُوهَا</a:t>
            </a:r>
            <a:endParaRPr lang="ar-SA" sz="1700" dirty="0"/>
          </a:p>
        </p:txBody>
      </p:sp>
      <p:sp>
        <p:nvSpPr>
          <p:cNvPr id="79" name="Text 77"/>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Track the subject after </a:t>
            </a:r>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the brother wakes at seven.</a:t>
            </a:r>
            <a:endParaRPr lang="en-US" sz="1050" dirty="0"/>
          </a:p>
        </p:txBody>
      </p:sp>
      <p:sp>
        <p:nvSpPr>
          <p:cNvPr id="80" name="Shape 7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9"/>
          <p:cNvSpPr/>
          <p:nvPr/>
        </p:nvSpPr>
        <p:spPr>
          <a:xfrm>
            <a:off x="4404360" y="4288536"/>
            <a:ext cx="310896" cy="310896"/>
          </a:xfrm>
          <a:prstGeom prst="ellipse">
            <a:avLst/>
          </a:prstGeom>
          <a:solidFill>
            <a:srgbClr val="1B3B6F"/>
          </a:solidFill>
          <a:ln w="12700">
            <a:solidFill>
              <a:srgbClr val="1B3B6F"/>
            </a:solidFill>
            <a:prstDash val="solid"/>
          </a:ln>
        </p:spPr>
      </p:sp>
      <p:sp>
        <p:nvSpPr>
          <p:cNvPr id="82" name="Text 8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3" name="Text 8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84" name="Text 82"/>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بَعْدَ الدِّرَاسَةِ أَكُونُ مُرْهَقًا، لِذٰلِكَ أَسْتَرِيحُ قَلِيلًا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cs typeface="Amiri" pitchFamily="2" charset="-78"/>
              </a:rPr>
              <a:t>مُرْهَقًا</a:t>
            </a:r>
            <a:pPr algn="l" indent="0" marL="0">
              <a:buNone/>
            </a:pPr>
            <a:r>
              <a:rPr lang="en-US" sz="1000" b="1" dirty="0">
                <a:solidFill>
                  <a:srgbClr val="1F2A37"/>
                </a:solidFill>
                <a:latin typeface="Calibri" pitchFamily="34" charset="0"/>
                <a:cs typeface="Amiri" pitchFamily="2" charset="-78"/>
              </a:rPr>
              <a:t> mean here?</a:t>
            </a:r>
            <a:endParaRPr lang="en-US" sz="1000" dirty="0"/>
          </a:p>
        </p:txBody>
      </p:sp>
      <p:sp>
        <p:nvSpPr>
          <p:cNvPr id="85" name="Shape 8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6" name="Shape 84"/>
          <p:cNvSpPr/>
          <p:nvPr/>
        </p:nvSpPr>
        <p:spPr>
          <a:xfrm>
            <a:off x="4459224" y="4831080"/>
            <a:ext cx="256032" cy="256032"/>
          </a:xfrm>
          <a:prstGeom prst="ellipse">
            <a:avLst/>
          </a:prstGeom>
          <a:solidFill>
            <a:srgbClr val="2E8B57"/>
          </a:solidFill>
          <a:ln w="12700">
            <a:solidFill>
              <a:srgbClr val="2E8B57"/>
            </a:solidFill>
            <a:prstDash val="solid"/>
          </a:ln>
        </p:spPr>
      </p:sp>
      <p:sp>
        <p:nvSpPr>
          <p:cNvPr id="87" name="Text 8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8" name="Text 86"/>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exhausted</a:t>
            </a:r>
            <a:endParaRPr lang="en-US" sz="1250" dirty="0"/>
          </a:p>
        </p:txBody>
      </p:sp>
      <p:sp>
        <p:nvSpPr>
          <p:cNvPr id="89" name="Shape 87"/>
          <p:cNvSpPr/>
          <p:nvPr/>
        </p:nvSpPr>
        <p:spPr>
          <a:xfrm>
            <a:off x="4459224" y="5202936"/>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9"/>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energetic</a:t>
            </a:r>
            <a:endParaRPr lang="en-US" sz="1250" dirty="0"/>
          </a:p>
        </p:txBody>
      </p:sp>
      <p:sp>
        <p:nvSpPr>
          <p:cNvPr id="92" name="Shape 90"/>
          <p:cNvSpPr/>
          <p:nvPr/>
        </p:nvSpPr>
        <p:spPr>
          <a:xfrm>
            <a:off x="4459224" y="5574792"/>
            <a:ext cx="256032" cy="256032"/>
          </a:xfrm>
          <a:prstGeom prst="ellipse">
            <a:avLst/>
          </a:prstGeom>
          <a:solidFill>
            <a:srgbClr val="C9CED6"/>
          </a:solidFill>
          <a:ln w="12700">
            <a:solidFill>
              <a:srgbClr val="C9CED6"/>
            </a:solidFill>
            <a:prstDash val="solid"/>
          </a:ln>
        </p:spPr>
      </p:sp>
      <p:sp>
        <p:nvSpPr>
          <p:cNvPr id="93" name="Text 9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2"/>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punctual</a:t>
            </a:r>
            <a:endParaRPr lang="en-US" sz="1250" dirty="0"/>
          </a:p>
        </p:txBody>
      </p:sp>
      <p:sp>
        <p:nvSpPr>
          <p:cNvPr id="95" name="Text 9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reason for resting is that the speaker is exhausted.</a:t>
            </a:r>
            <a:endParaRPr lang="en-US" sz="1050" dirty="0"/>
          </a:p>
        </p:txBody>
      </p:sp>
      <p:sp>
        <p:nvSpPr>
          <p:cNvPr id="96" name="Shape 9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7" name="Shape 95"/>
          <p:cNvSpPr/>
          <p:nvPr/>
        </p:nvSpPr>
        <p:spPr>
          <a:xfrm>
            <a:off x="8223504" y="4288536"/>
            <a:ext cx="310896" cy="310896"/>
          </a:xfrm>
          <a:prstGeom prst="ellipse">
            <a:avLst/>
          </a:prstGeom>
          <a:solidFill>
            <a:srgbClr val="1B3B6F"/>
          </a:solidFill>
          <a:ln w="12700">
            <a:solidFill>
              <a:srgbClr val="1B3B6F"/>
            </a:solidFill>
            <a:prstDash val="solid"/>
          </a:ln>
        </p:spPr>
      </p:sp>
      <p:sp>
        <p:nvSpPr>
          <p:cNvPr id="98" name="Text 9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9" name="Text 97"/>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100" name="Text 98"/>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اِقْتَرَحَتْ سَلْمَى السَّادِسَةَ، وَاقْتَرَحَ عَلِيٌّ السَّابِعَةَ، ثُمَّ اِتَّفَقَا عَلَى السَّادِسَةِ وَالنِّصْفِ</a:t>
            </a:r>
            <a:pPr algn="l" indent="0" marL="0">
              <a:buNone/>
            </a:pPr>
            <a:r>
              <a:rPr lang="en-US" sz="1000" b="1" dirty="0">
                <a:solidFill>
                  <a:srgbClr val="1F2A37"/>
                </a:solidFill>
                <a:latin typeface="Calibri" pitchFamily="34" charset="0"/>
                <a:cs typeface="Amiri" pitchFamily="2" charset="-78"/>
              </a:rPr>
              <a:t>. What time did they finally agree on?</a:t>
            </a:r>
            <a:endParaRPr lang="en-US" sz="1000" dirty="0"/>
          </a:p>
        </p:txBody>
      </p:sp>
      <p:sp>
        <p:nvSpPr>
          <p:cNvPr id="101" name="Shape 99"/>
          <p:cNvSpPr/>
          <p:nvPr/>
        </p:nvSpPr>
        <p:spPr>
          <a:xfrm>
            <a:off x="8278368" y="4831080"/>
            <a:ext cx="256032" cy="256032"/>
          </a:xfrm>
          <a:prstGeom prst="ellipse">
            <a:avLst/>
          </a:prstGeom>
          <a:solidFill>
            <a:srgbClr val="C9CED6"/>
          </a:solidFill>
          <a:ln w="12700">
            <a:solidFill>
              <a:srgbClr val="C9CED6"/>
            </a:solidFill>
            <a:prstDash val="solid"/>
          </a:ln>
        </p:spPr>
      </p:sp>
      <p:sp>
        <p:nvSpPr>
          <p:cNvPr id="102" name="Text 100"/>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3" name="Text 101"/>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a:t>
            </a:r>
            <a:endParaRPr lang="en-US" sz="1250" dirty="0"/>
          </a:p>
        </p:txBody>
      </p:sp>
      <p:sp>
        <p:nvSpPr>
          <p:cNvPr id="104" name="Shape 102"/>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5" name="Shape 103"/>
          <p:cNvSpPr/>
          <p:nvPr/>
        </p:nvSpPr>
        <p:spPr>
          <a:xfrm>
            <a:off x="8278368" y="5202936"/>
            <a:ext cx="256032" cy="256032"/>
          </a:xfrm>
          <a:prstGeom prst="ellipse">
            <a:avLst/>
          </a:prstGeom>
          <a:solidFill>
            <a:srgbClr val="2E8B57"/>
          </a:solidFill>
          <a:ln w="12700">
            <a:solidFill>
              <a:srgbClr val="2E8B57"/>
            </a:solidFill>
            <a:prstDash val="solid"/>
          </a:ln>
        </p:spPr>
      </p:sp>
      <p:sp>
        <p:nvSpPr>
          <p:cNvPr id="106" name="Text 104"/>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7" name="Text 105"/>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108" name="Shape 106"/>
          <p:cNvSpPr/>
          <p:nvPr/>
        </p:nvSpPr>
        <p:spPr>
          <a:xfrm>
            <a:off x="8278368" y="5574792"/>
            <a:ext cx="256032" cy="256032"/>
          </a:xfrm>
          <a:prstGeom prst="ellipse">
            <a:avLst/>
          </a:prstGeom>
          <a:solidFill>
            <a:srgbClr val="C9CED6"/>
          </a:solidFill>
          <a:ln w="12700">
            <a:solidFill>
              <a:srgbClr val="C9CED6"/>
            </a:solidFill>
            <a:prstDash val="solid"/>
          </a:ln>
        </p:spPr>
      </p:sp>
      <p:sp>
        <p:nvSpPr>
          <p:cNvPr id="109" name="Text 107"/>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0" name="Text 108"/>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111" name="Text 10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ثُمَّ اِتَّفَقَا عَلَى</a:t>
            </a:r>
            <a:pPr algn="l" indent="0" marL="0">
              <a:buNone/>
            </a:pPr>
            <a:r>
              <a:rPr lang="en-US" sz="1050" i="1" dirty="0">
                <a:solidFill>
                  <a:srgbClr val="8A6D1E"/>
                </a:solidFill>
                <a:latin typeface="Calibri" pitchFamily="34" charset="0"/>
                <a:cs typeface="Amiri" pitchFamily="2" charset="-78"/>
              </a:rPr>
              <a:t> signals the final agreed detail.</a:t>
            </a:r>
            <a:endParaRPr lang="en-US" sz="1050" dirty="0"/>
          </a:p>
        </p:txBody>
      </p:sp>
      <p:sp>
        <p:nvSpPr>
          <p:cNvPr id="112"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51</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AT-A-L10 · Exam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AT-A-L11: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AT-A-L11 · Reading — Travel and Tourism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accuracy</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تَبْرِيرٌ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justification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سَبِيلِ المِثَالِ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example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 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however, nevertheless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“Describe your daily routine.” Include one reason and one example.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صِفْ رُوتِينَكَ اليَوْمِيَّ.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AT-A-L10: redo the listening mission and the sorter “Listening evidence decoder”.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mission rounds 1–6: for each, write the Arabic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100–120-word listening reflection with a measurable target.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50 / 51</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AT-A-L11 · Reading — Travel and Tourism Texts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الْقِرَاءَةُ: نُصُوصُ السَّفَرِ وَالسِّيَاحَةِ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link every time to its event — and keep listening after “but”.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AT-A-L10 · Reading and Listening Exam Skills</dc:title>
  <dc:subject>PptxGenJS Presentation</dc:subject>
  <dc:creator>Al Madina Online School · Arabic Department</dc:creator>
  <cp:lastModifiedBy>Al Madina Online School · Arabic Department</cp:lastModifiedBy>
  <cp:revision>1</cp:revision>
  <dcterms:created xsi:type="dcterms:W3CDTF">2026-10-11T06:43:46Z</dcterms:created>
  <dcterms:modified xsi:type="dcterms:W3CDTF">2026-10-11T06:43:46Z</dcterms:modified>
</cp:coreProperties>
</file>