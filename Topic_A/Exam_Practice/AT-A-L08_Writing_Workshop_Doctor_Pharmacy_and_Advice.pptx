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8 (Doctor, Pharmacy and Advice, AT-A-L08).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number + marra in the genitive plural (thalātha marrāt).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لِمَاذَا (why) · مَاذَا (what) · كَيْفَ (how) · مَا (what) · مَتَى (when) — the rubric here speaks to a girl (ghibti, tarjiʿīna).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 clear past story, simple dialogue, a dosage, an opinion and a future wish — written by a girl (marīḍa, ṭabība).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lam akun + present, bal (rather), reported speech (qālat inna), advice with bi-an / allā, a concession and a conditional.
ENGLISH SUMMARY (read aloud or paste in the chat for Core students): I didn’t like doctors as a child, but my last visit changed my mind: after a week of late-night revision, dizziness and constant headaches → the doctor asked about sleep and food; not an illness but lack of sleep and water; advised eight hours’ sleep and no coffee in the evening, phone off an hour before bed → only one vitamin, once a day after breakfast; the pharmacist warned me not to take it on an empty stomach; results in two weeks → a good doctor treats the cause, not just the symptoms; it is true changing habits was hard, but I feel more energetic; “if anyone asked me for the most important advice, I would say: sleep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idhā … (conditional habits), two reasons, ammā … fa-, a past example, a concession, a suggestion and a conditional.
ENGLISH SUMMARY (read aloud or paste in the chat for Core students): Many people now take medicine without asking a doctor — a painkiller for a small headache, antibiotics for a cold, saying it is quicker and cheaper, especially when clinics are busy → dangerous: every medicine has side effects and antibiotics don’t work on viruses; as for the doctor, he knows the history and the right dose, and follows up until recovery → last year my brother took a friend’s medicine, within an hour had a severe allergy and went to hospital; since then my family reads the instructions and asks the pharmacist → it is true a doctor’s visit takes time, but it is safer; schools should teach the correct use of medicine; “if they did, mistakes would fall a lot and we would protect our families’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Doctor and Pharmacy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عِنْدَ الطَّبِيبِ وَفِي الصَّيْدَلِيَّةِ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pharmacy form, write an email about a visit to the doctor, and write an extended piece with advice (naṣaḥanī bi-an …) and instructions.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AT-A-L08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visit to the doctor.</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naṣaḥa … bi-an + verb in -a; allā for “not to”; dosage = number + marra (marratayn, thalātha marrāt); female doctor → faḥaṣatnī, qālat.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نَصَحَنِي الطَّبِيبُ بِأَنْ أَرْتَاحَ</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doctor advised me to rest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وَأَلَّا أَشْرَبَ المَشْرُوبَاتِ البَارِدَةَ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and not to drink cold drinks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آخُذُ حَبَّةً مَرَّتَيْنِ فِي اليَوْمِ بَعْدَ الأَكْلِ</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take a tablet twice a day after food</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Pharmacy customer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الصَّيْدَلِيَّةِ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Patient’s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المَرِيضِ</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المُشْكِلَةُ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Doctor’s name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الطَّبِيبِ</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medicine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نَوْعُ الدَّوَاءِ</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times a day</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مَرَّةً فِي اليَوْمِ؟</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or after food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قَبْلَ الأَكْلِ أَمْ بَعْدَهُ؟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the doctor’s advice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 نَصِيحَةُ الطَّبِيبِ؟</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(naṣaḥatnī bi-an …).</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Pharmacy customer form: model answers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مَرْيَمُ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المَرِيضِ</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sore throat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التِهَابٌ فِي الحَلْقِ</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المُشْكِلَةُ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 Salma</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الدُّكْتُورَةُ سَلْمَى</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الطَّبِيبِ</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syrup</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شَرَابٌ</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نَوْعُ الدَّوَاءِ</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times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 مَرَّاتٍ</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مَرَّةً فِي اليَوْمِ؟</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food</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الأَكْلِ</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قَبْلَ الأَكْلِ أَمْ بَعْدَهُ؟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advised me to rest and not to drink cold water.</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نَصَحَتْنِي بِأَنْ أَرْتَاحَ وَأَلَّا أَشْرَبَ المَاءَ البَارِدَ.</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 نَصِيحَةُ الطَّبِيبِ؟</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visit to the doctor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زِيَارَةِ الطَّبِيبِ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friend asked why you were absent. Write an email in Arabic of about 80–90 words. You must include: • why you went to the doctor • what the doctor did and said • what you bought at the pharmacy and how you take it • the doctor’s advice, and when you will return to school.</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dosage (marratayn fī l-yawm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Advice with naṣaḥanī bi-an + verb in -a.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ذَهَبْتُ إِلَى الطَّبِيبِ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to the doctor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فَحَصَنِي وَقَالَ إِنَّ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examined me and said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آخُذُ … مَرَّتَيْنِ فِي اليَوْمِ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take … twice a day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نَصَحَنِي بِأَنْ … وَأَلَّا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advised me to … and not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asked why you were absent: write to her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سَأَلَتْكِ صَدِيقَتُكِ لِمَاذَا غِبْتِ. اكْتُبِي لَهَا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went to the doctor</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لِمَاذَا ذَهَبْتِ إِلَى الطَّبِيبِ؟</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doctor did and said</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 الطَّبِيبُ؟ وَمَاذَا قَالَ؟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bought; how you take it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اشْتَرَيْتِ مِنَ الصَّيْدَلِيَّةِ؟ وَكَيْفَ تَأْخُذِينَهُ؟</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advice; when you will return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نَصِيحَةُ الطَّبِيبِ؟ وَمَتَى سَتَرْجِعِينَ؟</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went to the doctor because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ذَهَبْتُ إِلَى الطَّبِيبِ لِأَنَّ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doctor examined me and said: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فَحَصَنِي الطَّبِيبُ، وَقَالَ: «______».</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bought … I take it … a day.</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اشْتَرَيْتُ ______ . آخُذُهُ ______ فِي اليَوْمِ.</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advised me to … I will return on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نَصَحَنِي بِأَنْ ______ . سَأَرْجِعُ يَوْمَ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لَيْلَى،</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أَمْسِ ذَهَبْتُ إِلَى الطَّبِيبِ، لِأَنَّ حَلْقِي كَانَ يُؤْلِمُنِي، وَكَانَ عِنْدِي حُمَّى. فَحَصَنِي الطَّبِيبُ، وَقَالَ: «عِنْدَكِ التِهَابٌ فِي الحَلْقِ». بَعْدَ ذٰلِكَ ذَهَبْتُ إِلَى الصَّيْدَلِيَّةِ، وَاشْتَرَيْتُ شَرَابًا وَحُبُوبًا. آخُذُ الدَّوَاءَ ثَلَاثَ مَرَّاتٍ فِي اليَوْمِ بَعْدَ الأَكْلِ. نَصَحَنِي الطَّبِيبُ بِأَنْ أَرْتَاحَ فِي البَيْتِ يَوْمَيْنِ، وَأَنْ أَشْرَبَ المَاءَ كَثِيرًا. سَأَرْجِعُ إِلَى المَدْرَسَةِ يَوْمَ الأَحَدِ.</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Layla, how are you? Yesterday I went to the doctor because my throat hurt and I had a fever. The doctor examined me and said: ‘You have a throat infection.’ After that I went to the pharmacy and bought syrup and tablets. I take the medicine three times a day after food. The doctor advised me to rest at home for two days and drink lots of water. I will come back to school on Sunday.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ذَهَبْتُ إِلَى الطَّبِيبِ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فَحَصَنِي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ثَلَاثَ مَرَّاتٍ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نَصَحَنِي … بِأَنْ أَرْتَاحَ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لَيْلَى،</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فَقَدْ سَأَلْتِنِي لِمَاذَا غِبْتُ عَنِ المَدْرَسَةِ. أَمْسِ اسْتَيْقَظْتُ وَحَلْقِي يُؤْلِمُنِي بِشِدَّةٍ، وَكَانَتْ حَرَارَتِي مُرْتَفِعَةً، فَحَجَزَتْ لِي أُمِّي مَوْعِدًا فِي العِيَادَةِ. فَحَصَنِي الطَّبِيبُ بِعِنَايَةٍ، وَقَالَ إِنَّ عِنْدِي التِهَابًا فِي الحَلْقِ، ثُمَّ كَتَبَ لِي وَصْفَةً. فِي الصَّيْدَلِيَّةِ شَرَحَ لِي الصَّيْدَلِيُّ أَنْ آخُذَ حَبَّةً مَرَّتَيْنِ فِي اليَوْمِ بَعْدَ الأَكْلِ، خَمْسَةَ أَيَّامٍ. نَصَحَنِي الطَّبِيبُ بِأَنْ أَرْتَاحَ، وَأَلَّا أَشْرَبَ المَشْرُوبَاتِ البَارِدَةَ. أَشْعُرُ بِتَحَسُّنٍ اليَوْمَ، وَالحُمَّى أَقَلُّ مِنْ أَمْسِ، وَسَأَرْجِعُ إِلَى المَدْرَسَةِ يَوْمَ الإِثْنَيْنِ إِنْ شَاءَ اللّٰهُ.</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هَلْ يُمْكِنُ أَنْ تُرْسِلِي لِي الوَاجِبَ؟</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Layla, greetings. You asked me why I was absent from school. Yesterday I woke up with a very sore throat and a high temperature, so my mum booked me an appointment at the clinic. The doctor examined me carefully, said I had a throat infection, then wrote me a prescription. At the pharmacy the pharmacist explained that I should take one tablet twice a day after food, for five days. The doctor advised me to rest and not to drink cold drinks. I feel better today and the fever is lower than yesterday, and I will return to school on Monday, God willing. Could you send me the homework? With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فَحَجَزَتْ لِي أُمِّي مَوْعِدًا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قَالَ إِنَّ عِنْدِي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مَرَّتَيْنِ فِي اليَوْمِ بَعْدَ الأَكْلِ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وَأَلَّا أَشْرَبَ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visit to the doctor</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زِيَارَةٌ إِلَى الطَّبِيبِ</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went · what happened at the clinic · the medicine and advice · what you learned;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لِمَاذَا ذَهَبْتَ؟ · مَاذَا حَدَثَ فِي العِيَادَةِ؟ · الدَّوَاءُ وَالنَّصَائِحُ · مَاذَا تَعَلَّمْتَ؟ وَمَا خُطَطُكَ؟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Medicine without advice: danger or quick fix?</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الدَّوَاءُ بِدُونِ اسْتِشَارَةٍ: خَطَرٌ أَمْ حَلٌّ سَرِيعٌ؟</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people self-medicate · the role of doctor and pharmacist · an experience you know · your opinion and suggestions</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لِمَاذَا يَأْخُذُ النَّاسُ الدَّوَاءَ وَحْدَهُمْ؟ · دَوْرُ الطَّبِيبِ وَالصَّيْدَلِيِّ · تَجْرِبَةٌ تَعْرِفُهَا · رَأْيُكَ وَاقْتِرَاحَاتُكَ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Start — why: symptoms + how long (mundhu …); kuntu + adjective.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At the clinic — what the doctor did and said: faḥaṣanī, qāla inna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Medicine + advice — dosage (marratayn …), naṣaḥanī bi-an …, allā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End — what you learned + future: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نَصَحَنِي الطَّبِيبُ بِأَنْ أَرْتَاحَ.</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doctor advised me to rest.</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آخُذُ الدَّوَاءَ مَرَّتَيْنِ فِي اليَوْمِ.</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take the medicine twice a day.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سَأَقْرَأُ التَّعْلِيمَاتِ دَائِمًا.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always read the instructions.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00" dirty="0">
                <a:solidFill>
                  <a:srgbClr val="1F2A37"/>
                </a:solidFill>
                <a:latin typeface="Amiri" pitchFamily="2" charset="-78"/>
                <a:cs typeface="Amiri" pitchFamily="2" charset="-78"/>
              </a:rPr>
              <a:t>فِي الأُسْبُوعِ المَاضِي كُنْتُ مَرِيضَةً. فِي يَوْمِ الثُّلَاثَاءِ اسْتَيْقَظْتُ، وَكَانَتْ أُذُنِي تُؤْلِمُنِي كَثِيرًا، وَكَانَ عِنْدِي صُدَاعٌ. لَمْ أَذْهَبْ إِلَى المَدْرَسَةِ، وَبَقِيتُ فِي السَّرِيرِ، لِأَنِّي كُنْتُ مُتْعَبَةً جِدًّا.</a:t>
            </a:r>
            <a:endParaRPr lang="ar-SA" sz="1500" dirty="0"/>
          </a:p>
          <a:p>
            <a:pPr rtl="1" algn="r" indent="0" marL="0">
              <a:lnSpc>
                <a:spcPct val="120000"/>
              </a:lnSpc>
              <a:buNone/>
            </a:pPr>
            <a:r>
              <a:rPr lang="ar-SA" altLang="en-US" sz="1500" dirty="0">
                <a:solidFill>
                  <a:srgbClr val="1F2A37"/>
                </a:solidFill>
                <a:latin typeface="Amiri" pitchFamily="2" charset="-78"/>
                <a:cs typeface="Amiri" pitchFamily="2" charset="-78"/>
              </a:rPr>
              <a:t>اتَّصَلَتْ أُمِّي بِالعِيَادَةِ، وَحَجَزَتْ مَوْعِدًا فِي السَّاعَةِ الحَادِيَةَ عَشْرَةَ. ذَهَبْنَا بِالسَّيَّارَةِ، وَانْتَظَرْنَا عِشْرِينَ دَقِيقَةً. الطَّبِيبَةُ كَانَتْ لَطِيفَةً جِدًّا. سَأَلَتْنِي: «مُنْذُ مَتَى تُؤْلِمُكِ أُذُنُكِ؟» قُلْتُ: «مُنْذُ يَوْمَيْنِ». فَحَصَتْنِي، وَكَتَبَتْ لِي وَصْفَةً.</a:t>
            </a:r>
            <a:endParaRPr lang="ar-SA" sz="1500" dirty="0"/>
          </a:p>
          <a:p>
            <a:pPr rtl="1" algn="r" indent="0" marL="0">
              <a:lnSpc>
                <a:spcPct val="120000"/>
              </a:lnSpc>
              <a:buNone/>
            </a:pPr>
            <a:r>
              <a:rPr lang="ar-SA" altLang="en-US" sz="1500" dirty="0">
                <a:solidFill>
                  <a:srgbClr val="1F2A37"/>
                </a:solidFill>
                <a:latin typeface="Amiri" pitchFamily="2" charset="-78"/>
                <a:cs typeface="Amiri" pitchFamily="2" charset="-78"/>
              </a:rPr>
              <a:t>بَعْدَ ذٰلِكَ ذَهَبْنَا إِلَى الصَّيْدَلِيَّةِ. أَعْطَانَا الصَّيْدَلِيُّ قَطْرَةً لِلْأُذُنِ وَحُبُوبًا لِلصُّدَاعِ. قَالَ: «خُذِي الحُبُوبَ مَرَّتَيْنِ فِي اليَوْمِ بَعْدَ الأَكْلِ». فِي البَيْتِ نِمْتُ كَثِيرًا، وَشَرِبْتُ الشَّايَ بِالعَسَلِ.</a:t>
            </a:r>
            <a:endParaRPr lang="ar-SA" sz="1500" dirty="0"/>
          </a:p>
          <a:p>
            <a:pPr rtl="1" algn="r" indent="0" marL="0">
              <a:lnSpc>
                <a:spcPct val="120000"/>
              </a:lnSpc>
              <a:buNone/>
            </a:pPr>
            <a:r>
              <a:rPr lang="ar-SA" altLang="en-US" sz="1500" dirty="0">
                <a:solidFill>
                  <a:srgbClr val="1F2A37"/>
                </a:solidFill>
                <a:latin typeface="Amiri" pitchFamily="2" charset="-78"/>
                <a:cs typeface="Amiri" pitchFamily="2" charset="-78"/>
              </a:rPr>
              <a:t>الآنَ أَنَا بِخَيْرٍ، وَالحَمْدُ لِلّٰهِ. فِي رَأْيِي، يَجِبُ أَنْ نَذْهَبَ إِلَى الطَّبِيبِ عِنْدَمَا نَمْرَضُ، وَأَنْ نَقْرَأَ تَعْلِيمَاتِ الدَّوَاءِ. فِي المُسْتَقْبَلِ أُرِيدُ أَنْ أَكُونَ طَبِيبَةً، لِأَنِّي أُحِبُّ أَنْ أُسَاعِدَ النَّاسَ.</a:t>
            </a:r>
            <a:endParaRPr lang="ar-SA" sz="15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week: earache and a headache on Tuesday; no school, stayed in bed, very tired → Mum booked an appointment for eleven; a twenty-minute wait; a kind (female) doctor: “Since when?” “Two days”; a prescription → the pharmacy: ear drops and headache tablets, “twice a day after food”; sleep and honey tea → now well; we must see a doctor when ill and read medicine instructions; I want to be a doctor because I like helping people.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حَجَزَتْ مَوْعِدًا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يَوْمَيْنِ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مَرَّتَيْنِ فِي اليَوْمِ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يَجِبُ أَنْ نَذْهَبَ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لَمْ أَكُنْ أُحِبُّ زِيَارَةَ الطَّبِيبِ عِنْدَمَا كُنْتُ صَغِيرَةً، لٰكِنَّ زِيَارَتِي الأَخِيرَةَ غَيَّرَتْ رَأْيِي. فِي الشَّهْرِ المَاضِي، بَعْدَ أُسْبُوعٍ مِنَ السَّهَرِ لِلِامْتِحَانَاتِ، بَدَأْتُ أَشْعُرُ بِدُوَارٍ وَصُدَاعٍ مُسْتَمِرٍّ، فَحَجَزَتْ لِي أُمِّي مَوْعِدًا فِي العِيَادَةِ القَرِيبَةِ مِنْ بَيْتِنَا.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اسْتَقْبَلَتْنِي الطَّبِيبَةُ بِابْتِسَامَةٍ، وَسَأَلَتْنِي عَنْ نَوْمِي وَأَكْلِي، ثُمَّ فَحَصَتْنِي بِعِنَايَةٍ. قَالَتْ إِنَّ المُشْكِلَةَ لَيْسَتْ مَرَضًا، بَلْ قِلَّةُ النَّوْمِ وَالمَاءِ، وَنَصَحَتْنِي بِأَنْ أَنَامَ ثَمَانِيَ سَاعَاتٍ، وَأَلَّا أَشْرَبَ القَهْوَةَ فِي المَسَاءِ، وَأَنْ أُطْفِئَ الهَاتِفَ قَبْلَ النَّوْمِ بِسَاعَةٍ.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لَمْ تَكْتُبْ لِي أَدْوِيَةً كَثِيرَةً، بَلْ فِيتَامِينًا وَاحِدًا آخُذُهُ مَرَّةً فِي اليَوْمِ بَعْدَ الفُطُورِ. وَفِي الصَّيْدَلِيَّةِ شَرَحَ لِي الصَّيْدَلِيُّ التَّعْلِيمَاتِ بِوُضُوحٍ، وَنَبَّهَنِي إِلَى أَلَّا آخُذَهُ عَلَى مَعِدَةٍ فَارِغَةٍ، وَقَالَ إِنَّ النَّتِيجَةَ سَتَظْهَرُ بَعْدَ أُسْبُوعَيْنِ.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تَعَلَّمْتُ أَنَّ الطَّبِيبَ الجَيِّدَ يُعَالِجُ السَّبَبَ لَا الأَعْرَاضَ فَقَطْ. صَحِيحٌ أَنَّ تَغْيِيرَ عَادَاتِي كَانَ صَعْبًا، غَيْرَ أَنِّي أَشْعُرُ الآنَ بِنَشَاطٍ أَكْبَرَ. وَلَوْ سَأَلَنِي أَحَدٌ عَنْ أَهَمِّ نَصِيحَةٍ، لَقُلْتُ: النَّوْمُ أَوَّلًا.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أَكُنْ أُحِبُّ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مَرَضًا، بَلْ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نَبَّهَنِي إِلَى أَلَّا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سَأَلَنِي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Q3 (</a:t>
            </a:r>
            <a:pPr algn="l" indent="0" marL="0">
              <a:buNone/>
            </a:pPr>
            <a:r>
              <a:rPr lang="ar-SA" altLang="en-US" sz="2550" b="1" dirty="0">
                <a:solidFill>
                  <a:srgbClr val="1B3B6F"/>
                </a:solidFill>
                <a:latin typeface="Amiri" pitchFamily="2" charset="-78"/>
                <a:cs typeface="Amiri" pitchFamily="2" charset="-78"/>
              </a:rPr>
              <a:t>ب</a:t>
            </a:r>
            <a:pPr algn="l" indent="0" marL="0">
              <a:buNone/>
            </a:pPr>
            <a:r>
              <a:rPr lang="en-US" sz="1950" b="1" dirty="0">
                <a:solidFill>
                  <a:srgbClr val="1B3B6F"/>
                </a:solidFill>
                <a:latin typeface="Cambria" pitchFamily="34" charset="0"/>
                <a:cs typeface="Amiri" pitchFamily="2" charset="-78"/>
              </a:rPr>
              <a:t>) full-mark model: medicine without advice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صَارَ كَثِيرٌ مِنَ النَّاسِ اليَوْمَ يَأْخُذُونَ الدَّوَاءَ دُونَ أَنْ يَسْتَشِيرُوا الطَّبِيبَ؛ فَإِذَا شَعَرُوا بِصُدَاعٍ بَسِيطٍ أَخَذُوا مُسَكِّنًا، وَإِذَا أُصِيبُوا بِزُكَامٍ اشْتَرَوْا مُضَادًّا حَيَوِيًّا مِنَ الصَّيْدَلِيَّةِ. وَيَقُولُونَ إِنَّ ذٰلِكَ أَسْرَعُ وَأَرْخَصُ مِنْ زِيَارَةِ الطَّبِيبِ، خُصُوصًا عِنْدَمَا تَكُونُ العِيَادَاتُ مُزْدَحِمَةً.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هٰذِهِ عَادَةٌ خَطِيرَةٌ، لِأَنَّ لِكُلِّ دَوَاءٍ آثَارًا جَانِبِيَّةً، وَلِأَنَّ المُضَادَّاتِ الحَيَوِيَّةَ لَا تُفِيدُ ضِدَّ الفَيْرُوسَاتِ. أَمَّا الطَّبِيبُ فَيَعْرِفُ تَارِيخَ المَرِيضِ، وَيَخْتَارُ الدَّوَاءَ المُنَاسِبَ وَالجُرْعَةَ الصَّحِيحَةَ، وَيُتَابِعُ حَالَتَهُ حَتَّى يُشْفَى.</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السَّنَةِ المَاضِيَةِ أَخَذَ أَخِي دَوَاءً لِصَدِيقِهِ عِنْدَمَا كَانَ مَرِيضًا، فَأُصِيبَ بَعْدَ سَاعَةٍ وَاحِدَةٍ بِحَسَاسِيَّةٍ شَدِيدَةٍ، وَاضْطُرَّ إِلَى الذَّهَابِ إِلَى المُسْتَشْفَى. مُنْذُ ذٰلِكَ اليَوْمِ تَعَلَّمَتْ أُسْرَتِي كُلُّهَا أَنْ تَقْرَأَ التَّعْلِيمَاتِ وَأَنْ تَسْأَلَ الصَّيْدَلِيَّ دَائِمًا.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زِيَارَةَ الطَّبِيبِ تَأْخُذُ وَقْتًا، غَيْرَ أَنَّهَا أَكْثَرُ أَمَانًا. لِذٰلِكَ أَقْتَرِحُ أَنْ تُنَظِّمَ المَدَارِسُ دُرُوسًا عَنِ الاسْتِعْمَالِ الصَّحِيحِ لِلْأَدْوِيَةِ، وَلَوْ فَعَلَتْ ذٰلِكَ، لَقَلَّتِ الأَخْطَاءُ كَثِيرًا، وَلَحَمَيْنَا صِحَّةَ أُسَرِنَا.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دُونَ أَنْ يَسْتَشِيرُوا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الطَّبِيبُ فَيَعْرِفُ</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وَاضْطُرَّ إِلَى</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فَعَلَتْ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dosage is correct (thalātha marrāt).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naṣaḥanī bi-an + verb in -a, and allā.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reported speech,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AT-A-L09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AT-A-L08 · Writing Workshop — Doctor and Pharmacy</dc:title>
  <dc:subject>PptxGenJS Presentation</dc:subject>
  <dc:creator>Al Madina Online School · Arabic Department</dc:creator>
  <cp:lastModifiedBy>Al Madina Online School · Arabic Department</cp:lastModifiedBy>
  <cp:revision>1</cp:revision>
  <dcterms:created xsi:type="dcterms:W3CDTF">2026-10-11T08:25:14Z</dcterms:created>
  <dcterms:modified xsi:type="dcterms:W3CDTF">2026-10-11T08:25:14Z</dcterms:modified>
</cp:coreProperties>
</file>