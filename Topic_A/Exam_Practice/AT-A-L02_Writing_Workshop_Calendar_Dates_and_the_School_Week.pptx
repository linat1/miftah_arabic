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A, Lesson 2 (Calendar, Dates and the School Week, AT-A-L02).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Watch the dual in box 7 (سَاعَتَانِ) and ordinals in dates (الثَّانِيَ عَشَرَ).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words: كَمْ (how many) · مَتَى (when) · مَا (what) · لِمَاذَا (why) · مَاذَا (what) — and notice the tense: فَعَلْتَ (past) · سَتَفْعَلُ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(59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(82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(114 words). Core model: simple sentences, but all four points and three time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(133 words). Full-mark model: numbers and ordinals used accurately, ammā … fa-, likay lā + subjunctive, and a conditional.
ENGLISH SUMMARY (read aloud or paste in the chat for Core students): Present: the week, registration at 8:30, six 50-minute lessons → opinion: Tuesday hardest (four science lessons + robotics club); as for Friday, it is the easiest → past: a science-museum trip on 6 October, a report and an excellent mark → future: organise time with a calendar so as not to forget; “if it were up to me, I would make Wednesday a half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(133 words). Full-mark model for the Stretch title: a compound ordinal date, a past contrast, a concession and a conditional. Any important date is welcome.
ENGLISH SUMMARY (read aloud or paste in the chat for Core students): The date: 15 March, my little sister’s birthday (before, I was the only child; as for now, I have a friend) → past: last year’s party on Saturday, step by step → opinion: such occasions bring families together, but some people spend too much → future: a simple garden party and a handmade card; “if I had enough money, I would take her to the zoo”.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EXAM PRACTICE  ·  AT-A-L02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Calendar, Dates and the School Week</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200" b="1" dirty="0">
                <a:solidFill>
                  <a:srgbClr val="D4AF37"/>
                </a:solidFill>
                <a:latin typeface="Amiri" pitchFamily="2" charset="-78"/>
                <a:cs typeface="Amiri" pitchFamily="2" charset="-78"/>
              </a:rPr>
              <a:t>وَرْشَةُ الكِتَابَةِ — التَّقْوِيمُ وَالتَّوَارِيخُ وَالأُسْبُوعُ الدِّرَاسِيُّ</a:t>
            </a:r>
            <a:endParaRPr lang="ar-SA" sz="32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complete a club form with dates and times, write an email about your school week, and write an extended piece with ordinals, dates and three time frames.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AT-A-L02 · Advanced Topic A · Everyday Activities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your school week.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ordinals agree (al-ḥiṣṣa al-ūlā), numbers + nouns (khamsata ayyāmin), and the right tense for each bullet.</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فِي الخَامِسِ مِنْ مَايُو</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 the fifth of May</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مِنَ الإِثْنَيْنِ إِلَى الجُمُعَةِ</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from Monday to Friday</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cs typeface="Amiri" pitchFamily="2" charset="-78"/>
              </a:rPr>
              <a:t>يَوْمَ السَّبْتِ المَاضِي · الأُسْبُوعَ القَادِمَ</a:t>
            </a:r>
            <a:endParaRPr lang="ar-SA" sz="275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last Saturday · next week</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School-club membership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اسْتِمَارَةُ الاشْتِرَاكِ فِي النَّادِي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Date of birth (day + month)</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تَارِيخُ المِيلَادِ</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school year</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الصَّفُّ</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days that suit you</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الأَيَّامُ المُنَاسِبَةُ</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time that suits you</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الوَقْتُ المُنَاسِبُ</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club you choose</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النَّادِي الَّذِي تَخْتَارُهُ</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hours a week?</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كَمْ سَاعَةً فِي الأُسْبُوعِ؟</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want to join</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جُمْلَةٌ: لِمَاذَا تُرِيدُ الاشْتِرَاكَ؟</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needs a full sentence with a reason (li-anna).</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School-club membership form: model answers</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Yusuf Ali</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يُوسُفُ عَلِيٌّ</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12 June</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الثَّانِيَ عَشَرَ مِنْ يُونْيُو</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تَارِيخُ المِيلَادِ</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Year 10</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الصَّفُّ العَاشِرُ</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الصَّفُّ</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Tuesday and Thursday</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الثُّلَاثَاءُ وَالخَمِيسُ</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الأَيَّامُ المُنَاسِبَةُ</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four o’clock</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السَّاعَةُ الرَّابِعَةُ</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الوَقْتُ المُنَاسِبُ</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chess club</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نَادِي الشِّطْرَنْجِ</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النَّادِي الَّذِي تَخْتَارُهُ</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hours</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سَاعَتَانِ</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كَمْ سَاعَةً فِي الأُسْبُوعِ؟</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want to join because I love thinking and challenges.</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أُرِيدُ الاشْتِرَاكَ لِأَنِّي أُحِبُّ التَّفْكِيرَ وَالتَّحَدِّيَ.</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جُمْلَةٌ: لِمَاذَا تُرِيدُ الاشْتِرَاكَ؟</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Question 2: an email about your school week</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رِسَالَةٌ عَنْ أُسْبُوعِي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an email in Arabic of about 80–90 words to an Arabic-speaking friend about your school week. You must include: • how many days you study and when the day starts and ends • your favourite day and why • what you did last weekend • when the next holiday starts and what you will do.</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Days, dates and times written correctly.</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(last weekend) AND future (the holiday).</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أُرِيدُ أَنْ أُخْبِرَكَ عَنْ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want to tell you about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يَبْدَأُ اليَوْمُ فِي … وَيَنْتَهِي فِي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day starts at … and ends 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نِهَايَةِ الأُسْبُوعِ المَاضِي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weekend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سَتَبْدَأُ العُطْلَةُ فِي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holiday will start on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friend about your school week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اكْتُبْ رِسَالَةً إِلِكْتِرُونِيَّةً إِلَى صَدِيقٍ عَنْ أُسْبُوعِكَ الدِّرَاسِيِّ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days; when the day starts and ends</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كَمْ يَوْمًا تَدْرُسُ، وَمَتَى يَبْدَأُ اليَوْمُ وَيَنْتَهِي؟</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favourite day, and why</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يَوْمُكَ المُفَضَّلُ؟ وَلِمَاذَا؟</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last weekend</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فَعَلْتَ فِي نِهَايَةِ الأُسْبُوعِ المَاضِي؟</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the next holiday starts; what you will do</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مَتَى تَبْدَأُ العُطْلَةُ القَادِمَةُ، وَمَاذَا سَتَفْعَلُ؟</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study … days. The day starts at … and ends at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أَدْرُسُ ______ أَيَّامٍ. يَبْدَأُ اليَوْمُ فِي ______ وَيَنْتَهِي فِي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favourite day is … because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يَوْمِي المُفَضَّلُ هُوَ ______ لِأَنَّ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Last weekend I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نِهَايَةِ الأُسْبُوعِ المَاضِي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holiday starts on …, and I will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تَبْدَأُ العُطْلَةُ فِي ______ ، وَسَوْفَ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See you soon,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إِلَى اللِّقَاءِ،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cs typeface="Amiri" pitchFamily="2" charset="-78"/>
              </a:rPr>
              <a:t>مَرْحَبًا يَا عَلِيُّ،</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كَيْفَ حَالُكَ؟ أُرِيدُ أَنْ أُخْبِرَكَ عَنْ أُسْبُوعِي. أَدْرُسُ خَمْسَةَ أَيَّامٍ، مِنَ الإِثْنَيْنِ إِلَى الجُمُعَةِ. يَبْدَأُ اليَوْمُ فِي الثَّامِنَةِ وَالنِّصْفِ، وَيَنْتَهِي فِي الثَّالِثَةِ. يَوْمِي المُفَضَّلُ هُوَ الأَرْبِعَاءُ لِأَنَّ عِنْدِي حِصَّةَ الرِّيَاضَةِ، وَأُحِبُّهَا كَثِيرًا. فِي نِهَايَةِ الأُسْبُوعِ المَاضِي زُرْتُ جَدَّتِي وَلَعِبْتُ كُرَةَ القَدَمِ. تَبْدَأُ العُطْلَةُ فِي العِشْرِينَ مِنْ دِيسَمْبَرَ، وَسَوْفَ أُسَافِرُ إِلَى مِصْرَ مَعَ أُسْرَتِي.</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إِلَى اللِّقَاءِ،</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يُوسُفُ</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Ali, how are you? I study five days, from Monday to Friday. The day starts at half past eight and ends at three. My favourite day is Wednesday because I have PE. Last weekend I visited my grandmother and played football. The holiday starts on the twentieth of December, and I will travel to Egypt with my family. See you soon, Yusuf.”</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خَمْسَةَ أَيَّامٍ</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لِأَنَّ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زُرْتُ</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وَسَوْفَ أُسَافِرُ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مَرْحَبًا يَا عَلِيُّ،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كَيْفَ حَالُكَ؟ أُرِيدُ أَنْ أُخْبِرَكَ عَنْ أُسْبُوعِي فِي المَدْرَسَةِ. أَدْرُسُ خَمْسَةَ أَيَّامٍ، مِنَ الإِثْنَيْنِ إِلَى الجُمُعَةِ. يَبْدَأُ اليَوْمُ الدِّرَاسِيُّ فِي الثَّامِنَةِ وَالنِّصْفِ، وَيَنْتَهِي فِي الثَّالِثَةِ وَالرُّبْعِ، وَأَتَنَاوَلُ الغَدَاءَ فِي المَدْرَسَةِ مَعَ أَصْدِقَائِي. يَوْمِي المُفَضَّلُ هُوَ الأَرْبِعَاءُ، لِأَنَّ عِنْدِي حِصَّتَيْنِ مِنَ الرِّيَاضَةِ، لٰكِنَّ يَوْمَ الثُّلَاثَاءِ مُتْعِبٌ جِدًّا. فِي نِهَايَةِ الأُسْبُوعِ المَاضِي زُرْتُ جَدَّتِي يَوْمَ السَّبْتِ، وَلَعِبْتُ كُرَةَ القَدَمِ يَوْمَ الأَحَدِ. سَتَبْدَأُ العُطْلَةُ القَادِمَةُ فِي العِشْرِينَ مِنْ دِيسَمْبَرَ، وَسَأُسَافِرُ إِلَى مِصْرَ مَعَ أُسْرَتِي أُسْبُوعَيْنِ. وَأَنْتَ، مَتَى تَبْدَأُ عُطْلَتُكَ؟</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مَعَ تَحِيَّاتِي،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يُوسُفُ</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Ali, how are you? I want to tell you about my week at school. I study five days, Monday to Friday. The school day starts at half past eight and ends at quarter past three. My favourite day is Wednesday, because I have two PE lessons, but Tuesday is very tiring. Last weekend I visited my grandmother on Saturday and played football on Sunday. The next holiday will start on the twentieth of December, and I will travel to Egypt with my family for two weeks. And you — when does your holiday start? With my greetings, Yusuf.”</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وَالرُّبْعِ</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حِصَّتَيْنِ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لٰكِنَّ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أُسْبُوعَيْنِ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week at my school</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أُسْبُوعٌ فِي مَدْرَسَتِي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school week · the hardest day and why · a special school day this year · plans for next term</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صِفْ أُسْبُوعَكَ الدِّرَاسِيَّ · مَا أَصْعَبُ يَوْمٍ وَلِمَاذَا؟ · صِفْ يَوْمًا مُمَيَّزًا فِي المَدْرَسَةِ هٰذِهِ السَّنَةَ · مَا خُطَطُكَ لِلْفَصْلِ القَادِمِ؟</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important date in my life</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تَارِيخٌ مُهِمٌّ فِي حَيَاتِي</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date and why it matters · how you marked it last time · your opinion · how you will mark it in future</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مَا التَّارِيخُ، وَلِمَاذَا هُوَ مُهِمٌّ؟ · كَيْفَ احْتَفَلْتَ بِهِ آخِرَ مَرَّةٍ؟ · مَا رَأْيُكَ فِي هٰذِهِ المُنَاسَبَاتِ؟ · كَيْفَ سَتَحْتَفِلُ بِهِ فِي المُسْتَقْبَلِ؟</a:t>
            </a:r>
            <a:endParaRPr lang="ar-SA" sz="14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AT-A-L02</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Present — the week: days, times, lessons (yabda’u … wa-yantahī …).</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the hardest / most important day, with a reason; Stretch: ammā … fa-.</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a special day: fī as-sādisi min uktūbar dhahabnā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Future — sa-unaẓẓimu …; Stretch: law … la- (a conditional).</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يَبْدَأُ اليَوْمُ فِي الثَّامِنَةِ وَالنِّصْفِ.</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the day starts at half past eight.</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فِي السَّادِسِ مِنْ أُكْتُوبَرَ ذَهَبْنَا …</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on the sixth of October we went …</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فِي الفَصْلِ القَادِمِ سَأُنَظِّمُ وَقْتِي.</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next term I will organise my time.</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00" dirty="0">
                <a:solidFill>
                  <a:srgbClr val="1F2A37"/>
                </a:solidFill>
                <a:latin typeface="Amiri" pitchFamily="2" charset="-78"/>
                <a:cs typeface="Amiri" pitchFamily="2" charset="-78"/>
              </a:rPr>
              <a:t>أَدْرُسُ فِي مَدْرَسَةٍ كَبِيرَةٍ فِي لَنْدَنَ. أَذْهَبُ إِلَى المَدْرَسَةِ خَمْسَةَ أَيَّامٍ فِي الأُسْبُوعِ، مِنَ الإِثْنَيْنِ إِلَى الجُمُعَةِ. يَبْدَأُ اليَوْمُ فِي السَّاعَةِ الثَّامِنَةِ وَالنِّصْفِ، وَيَنْتَهِي فِي السَّاعَةِ الثَّالِثَةِ. عِنْدِي سِتُّ حِصَصٍ كُلَّ يَوْمٍ. يَوْمَ الإِثْنَيْنِ أَدْرُسُ الرِّيَاضِيَّاتِ وَالعَرَبِيَّةَ، وَيَوْمَ الأَرْبِعَاءِ عِنْدِي الرِّيَاضَةُ وَالفَنُّ. فِي الاسْتِرَاحَةِ أَتَنَاوَلُ الغَدَاءَ مَعَ أَصْدِقَائِي.</a:t>
            </a:r>
            <a:endParaRPr lang="ar-SA" sz="1600" dirty="0"/>
          </a:p>
          <a:p>
            <a:pPr rtl="1" algn="r" indent="0" marL="0">
              <a:lnSpc>
                <a:spcPct val="120000"/>
              </a:lnSpc>
              <a:buNone/>
            </a:pPr>
            <a:r>
              <a:rPr lang="ar-SA" altLang="en-US" sz="1600" dirty="0">
                <a:solidFill>
                  <a:srgbClr val="1F2A37"/>
                </a:solidFill>
                <a:latin typeface="Amiri" pitchFamily="2" charset="-78"/>
                <a:cs typeface="Amiri" pitchFamily="2" charset="-78"/>
              </a:rPr>
              <a:t>اليَوْمُ الأَصْعَبُ هُوَ الثُّلَاثَاءُ، لِأَنَّ عِنْدِي امْتِحَانًا قَصِيرًا كُلَّ أُسْبُوعٍ، وَأَرْجِعُ إِلَى البَيْتِ مُتَأَخِّرًا.</a:t>
            </a:r>
            <a:endParaRPr lang="ar-SA" sz="1600" dirty="0"/>
          </a:p>
          <a:p>
            <a:pPr rtl="1" algn="r" indent="0" marL="0">
              <a:lnSpc>
                <a:spcPct val="120000"/>
              </a:lnSpc>
              <a:buNone/>
            </a:pPr>
            <a:r>
              <a:rPr lang="ar-SA" altLang="en-US" sz="1600" dirty="0">
                <a:solidFill>
                  <a:srgbClr val="1F2A37"/>
                </a:solidFill>
                <a:latin typeface="Amiri" pitchFamily="2" charset="-78"/>
                <a:cs typeface="Amiri" pitchFamily="2" charset="-78"/>
              </a:rPr>
              <a:t>فِي شَهْرِ أُكْتُوبَرَ ذَهَبْنَا فِي رِحْلَةٍ مَدْرَسِيَّةٍ إِلَى المَتْحَفِ. كَانَ يَوْمًا جَمِيلًا، وَتَعَلَّمْتُ أَشْيَاءَ كَثِيرَةً، وَأَكَلْتُ مَعَ أَصْدِقَائِي فِي الحَدِيقَةِ، ثُمَّ رَجَعْنَا إِلَى المَدْرَسَةِ فِي السَّاعَةِ الثَّالِثَةِ.</a:t>
            </a:r>
            <a:endParaRPr lang="ar-SA" sz="1600" dirty="0"/>
          </a:p>
          <a:p>
            <a:pPr rtl="1" algn="r" indent="0" marL="0">
              <a:lnSpc>
                <a:spcPct val="120000"/>
              </a:lnSpc>
              <a:buNone/>
            </a:pPr>
            <a:r>
              <a:rPr lang="ar-SA" altLang="en-US" sz="1600" dirty="0">
                <a:solidFill>
                  <a:srgbClr val="1F2A37"/>
                </a:solidFill>
                <a:latin typeface="Amiri" pitchFamily="2" charset="-78"/>
                <a:cs typeface="Amiri" pitchFamily="2" charset="-78"/>
              </a:rPr>
              <a:t>فِي الفَصْلِ القَادِمِ سَأُرَاجِعُ دُرُوسِي كُلَّ يَوْمٍ، وَسَأَشْتَرِكُ فِي نَادِي الشِّطْرَنْجِ يَوْمَ الخَمِيسِ، وَسَأَنَامُ مُبَكِّرًا قَبْلَ الامْتِحَانَاتِ. أُحِبُّ مَدْرَسَتِي كَثِيرًا لِأَنَّ المُعَلِّمِينَ لُطَفَاءُ وَالطُّلَّابَ أَصْدِقَائِي.</a:t>
            </a:r>
            <a:endParaRPr lang="ar-SA" sz="1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Present: a school in London, Monday to Friday, 8:30–3:00, six lessons, the subjects → opinion: Tuesday is hardest (a weekly test, home late) → past: an October trip to the museum, lunch in the park → future: revise every day, join the chess club on Thursday; I love my school because the teachers are kind.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خَمْسَةَ أَيَّامٍ</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اليَوْمُ الأَصْعَبُ</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ذَهَبْنَا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سَأَشْتَرِكُ</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AT-A-L02</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أَدْرُسُ فِي مَدْرَسَةٍ ثَانَوِيَّةٍ، وَيَمْتَدُّ أُسْبُوعِي الدِّرَاسِيُّ مِنَ الإِثْنَيْنِ إِلَى الجُمُعَةِ. يَبْدَأُ اليَوْمُ فِي الثَّامِنَةِ وَالنِّصْفِ بِالتَّسْجِيلِ، ثُمَّ نَدْرُسُ سِتَّ حِصَصٍ، مُدَّةُ كُلٍّ مِنْهَا خَمْسُونَ دَقِيقَةً، وَيَنْتَهِي فِي الثَّالِثَةِ وَالرُّبْعِ. وَفِي الاسْتِرَاحَةِ الطَّوِيلَةِ نَتَنَاوَلُ الغَدَاءَ وَنَلْعَبُ فِي السَّاحَةِ نِصْفَ سَاعَةٍ.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رَأْيِي، أَصْعَبُ يَوْمٍ هُوَ الثُّلَاثَاءُ، لِأَنَّ الحِصَصَ الأَرْبَعَ الأُولَى عِلْمِيَّةٌ، وَبَعْدَهَا أَبْقَى فِي نَادِي الرُّوبُوتَاتِ حَتَّى الخَامِسَةِ، فَأَشْعُرُ بِالتَّعَبِ فِي المَسَاءِ. أَمَّا الجُمُعَةُ فَهِيَ أَسْهَلُ يَوْمٍ، لِأَنَّنَا نَخْرُجُ مُبَكِّرًا.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السَّادِسِ مِنْ أُكْتُوبَرَ ذَهَبْنَا فِي رِحْلَةٍ إِلَى مَتْحَفِ العُلُومِ؛ شَاهَدْنَا تَجَارِبَ مُدْهِشَةً، وَكَتَبْتُ تَقْرِيرًا عَنْهَا فِي اليَوْمِ التَّالِي، فَحَصَلْتُ عَلَى دَرَجَةٍ مُمْتَازَةٍ. كَانَ ذٰلِكَ اليَوْمُ مِنْ أَجْمَلِ أَيَّامِ السَّنَةِ.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الفَصْلِ القَادِمِ سَأُنَظِّمُ وَقْتِي أَفْضَلَ، وَسَأَكْتُبُ مَوَاعِيدَ الوَاجِبَاتِ وَالامْتِحَانَاتِ فِي تَقْوِيمِي، لِكَيْ لَا أَنْسَى شَيْئًا، وَسَأُرَاجِعُ كُلَّ مَادَّةٍ مَرَّتَيْنِ فِي الأُسْبُوعِ. وَلَوْ كَانَ القَرَارُ بِيَدِي، لَجَعَلْتُ يَوْمَ الأَرْبِعَاءِ نِصْفَ يَوْمٍ لِلرَّاحَةِ وَالأَنْشِطَةِ!</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مُدَّةُ كُلٍّ مِنْهَا</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الجُمُعَةُ فَهِيَ</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لِكَيْ لَا أَنْسَى</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كَانَ … لَجَعَلْتُ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Q3 (</a:t>
            </a:r>
            <a:pPr algn="l" indent="0" marL="0">
              <a:buNone/>
            </a:pPr>
            <a:r>
              <a:rPr lang="ar-SA" altLang="en-US" sz="2950" b="1" dirty="0">
                <a:solidFill>
                  <a:srgbClr val="1B3B6F"/>
                </a:solidFill>
                <a:latin typeface="Amiri" pitchFamily="2" charset="-78"/>
                <a:cs typeface="Amiri" pitchFamily="2" charset="-78"/>
              </a:rPr>
              <a:t>ب</a:t>
            </a:r>
            <a:pPr algn="l" indent="0" marL="0">
              <a:buNone/>
            </a:pPr>
            <a:r>
              <a:rPr lang="en-US" sz="2250" b="1" dirty="0">
                <a:solidFill>
                  <a:srgbClr val="1B3B6F"/>
                </a:solidFill>
                <a:latin typeface="Cambria" pitchFamily="34" charset="0"/>
                <a:cs typeface="Amiri" pitchFamily="2" charset="-78"/>
              </a:rPr>
              <a:t>) full-mark model: an important date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AT-A-L02</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أَهَمُّ تَارِيخٍ فِي حَيَاتِي هُوَ الخَامِسَ عَشَرَ مِنْ مَارِسَ، لِأَنَّهُ يَوْمُ مِيلَادِ أُخْتِي الصَّغِيرَةِ سَلْمَى. وُلِدَتْ فِي مُسْتَشْفًى قَرِيبٍ مِنْ بَيْتِنَا فِي السَّاعَةِ الثَّالِثَةِ فَجْرًا، وَكُنْتُ وَقْتَهَا فِي السَّابِعَةِ مِنْ عُمْرِي. قَبْلَ وِلَادَتِهَا كُنْتُ الطِّفْلَ الوَحِيدَ فِي البَيْتِ، أَمَّا الآنَ فَعِنْدِي صَدِيقَةٌ تَلْعَبُ مَعِي كُلَّ يَوْمٍ.</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السَّنَةِ المَاضِيَةِ احْتَفَلْنَا بِعِيدِ مِيلَادِهَا يَوْمَ السَّبْتِ؛ زَيَّنَّا البَيْتَ بِالبَالُونَاتِ المُلَوَّنَةِ فِي الصَّبَاحِ، وَجَاءَ أَقَارِبُنَا فِي الرَّابِعَةِ، وَأَكَلْنَا كَعْكَةً كَبِيرَةً، ثُمَّ لَعِبْنَا حَتَّى المَسَاءِ. وَقَدَّمْتُ لَهَا هَدِيَّةً جَمِيلَةً، فَفَرِحَتْ كَثِيرًا.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رَأْيِي، هٰذِهِ المُنَاسَبَاتُ مُهِمَّةٌ لِأَنَّهَا تَجْمَعُ الأُسْرَةَ، غَيْرَ أَنَّ بَعْضَ النَّاسِ يُنْفِقُونَ أَمْوَالًا كَثِيرَةً عَلَيْهَا، وَهٰذَا غَيْرُ ضَرُورِيٍّ؛ فَالأَهَمُّ مِنَ الهَدَايَا هُوَ الوَقْتُ الَّذِي نَقْضِيهِ مَعًا.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السَّنَةِ القَادِمَةِ سَأُخَطِّطُ لِحَفْلَةٍ بَسِيطَةٍ فِي الحَدِيقَةِ، وَسَأَدْعُو صَدِيقَاتِهَا مِنَ المَدْرَسَةِ، وَسَأَصْنَعُ لَهَا بِطَاقَةً بِيَدِي. وَلَوْ كَانَ عِنْدِي مَالٌ كَافٍ، لَأَخَذْتُهَا إِلَى حَدِيقَةِ الحَيَوَانَاتِ، لِأَنَّهَا تُحِبُّ الحَيَوَانَاتِ كَثِيرًا.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الخَامِسَ عَشَرَ مِنْ مَارِسَ</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الآنَ فَعِنْدِي</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غَيْرَ أَنَّ</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 لَأَخَذْتُهَا</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with dates and times written correctly.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 past sentence (last weekend) and a future sentence (the holiday).</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ordinals, ammā … fa- or a conditional used accurately.</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AT-A-L03 · Exam practice · Speaking and writing workshops — the next Topic A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AT-A-L02 · Writing Workshop — Calendar, Dates and the School Week</dc:title>
  <dc:subject>PptxGenJS Presentation</dc:subject>
  <dc:creator>Al Madina Online School · Arabic Department</dc:creator>
  <cp:lastModifiedBy>Al Madina Online School · Arabic Department</cp:lastModifiedBy>
  <cp:revision>1</cp:revision>
  <dcterms:created xsi:type="dcterms:W3CDTF">2026-10-11T07:46:09Z</dcterms:created>
  <dcterms:modified xsi:type="dcterms:W3CDTF">2026-10-11T07:46:09Z</dcterms:modified>
</cp:coreProperties>
</file>