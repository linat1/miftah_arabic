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WORKSHOP AT A GLANCE — 60 minutes on Teams; individual writing with live feedback (shared document or paper + photo).
0–2 Welcome · 2–6 How Paper 4 works · 6–14 Q1 form filling + model · 14–17 Q2 the task, in English and Arabic · 17–19 Q2 frames (Core) · 19–31 Q2 writing · 31–35 Q2 models · 35–38 Q3 choose a title + plan · 38–54 Q3 writing (Stretch) / Q2 redraft (Core) · 54–58 Q3 models + self-check · 58–60 Close.
Content: teacher-made exam questions for Advanced Topic A, Lesson 2 (Calendar, Dates and the School Week, AT-A-L02). Every question has Core · Develop · Stretch support; models are given at two levels (a secure Core answer and a full-mark answer).
EXAM FORMAT: Paper 4 Writing — Q1 form filling, Q2 directed writing (about 80–90 words), Q3 extended writing (one title from two, about 130–150 words), following the Cambridge IGCSE Arabic 0544 format. Check word counts and marks against the current syllabus and the past paper you use.
Q3 in one lesson: Stretch students write Q3 in class; Core students redraft Q2 and plan Q3, then write Q3 for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(3 min). The two biggest losses: a missed bullet point (Q2) and staying in one tense (Q3). Word counts are a guide: far too short cannot cover the task; far too long creates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 FORM FILLING. About 8 minutes. Core: boxes 1–6. Develop / Stretch: all 8. Watch the dual in box 7 (سَاعَتَانِ) and ordinals in dates (الثَّانِيَ عَشَرَ).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 students check their own form and correct one answer in a different colour.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Q2 TASK (3 min to read and plan). Students number the four bullets 1–4 in the margin and tick each one as they write it.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words: كَمْ (how many) · مَتَى (when) · مَا (what) · لِمَاذَا (why) · مَاذَا (what) — and notice the tense: فَعَلْتَ (past) · سَتَفْعَلُ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(12 min). Live feedback: check bullet coverage first, then verb endings and agreement. Core completes the frames; Develop adds detail; Stretch writes freely and reaches 90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(59 words). A Core model: every bullet answered in short, accurate sentences. Show how ONE extra detail per bullet brings it to 80–90 words.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(82 words). Full-mark model: all four bullets, a range of linking words, an opinion with a reason and a contrast. Students compare with their own: what can I add?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Q3 (3 min to choose and read). Title (أ) suits Core and Develop; title (ب) suits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(3 min) then WRITE (16 min). Check the plan before students write: four paragraphs = four bullet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(114 words). Core model: simple sentences, but all four points and three time frames.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numbers and ordinals used accurately, ammā … fa-, likay lā + subjunctive, and a conditional.
ENGLISH SUMMARY (read aloud or paste in the chat for Core students): Present: the week, registration at 8:30, six 50-minute lessons → opinion: Tuesday hardest (four science lessons + robotics club); as for Friday, it is the easiest → past: a science-museum trip on 6 October, a report and an excellent mark → future: organise time with a calendar so as not to forget; “if it were up to me, I would make Wednesday a half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(133 words). Full-mark model for the Stretch title: a compound ordinal date, a past contrast, a concession and a conditional. Any important date is welcome.
ENGLISH SUMMARY (read aloud or paste in the chat for Core students): The date: 15 March, my little sister’s birthday (before, I was the only child; as for now, I have a friend) → past: last year’s party on Saturday, step by step → opinion: such occasions bring families together, but some people spend too much → future: a simple garden party and a handmade card; “if I had enough money, I would take her to the zoo”.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A · EXAM PRACTICE  ·  AT-A-L02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AT-A-L02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Writing Workshop — Calendar and the School Week</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وَرْشَةُ الكِتَابَةِ — التَّقْوِيمُ وَالأُسْبُوعُ الدِّرَاسِيُّ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Paper 4 practice: complete a club form with dates and times, write an email about your school week, and write an extended piece with ordinals, dates and three time frames.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AT-A-L02 · Advanced Topic A · Everyday Activities · exam practice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A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A › AT-A-L02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18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WORKSHOP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 practice,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How the writing paper works.</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كَيْفَ</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1: fill in the form.</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الاسْتِمَارَةُ</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2: an email about your school week.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الرِّسَالَةُ</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23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Question 3: extended writing (choose a title).</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المَقَالُ</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Model answers and self-check.</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Core students: Questions 1 and 2 today, with frames; plan Question 3 and finish it at home. Stretch: all three questions in class.</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18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TEACH · PAPER 4 WRITING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the writing exam works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امْتِحَانُ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THREE QUESTIONS</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Q1 FORM FILLING — short answers (a word or a phrase) in Arabic. Answer exactly what each box asks.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Q2 DIRECTED WRITING — about 80–90 words. Cover EVERY bullet point; a missing bullet loses marks.</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Q3 EXTENDED WRITING — choose ONE title, about 130–150 words. Show range: past, present and future, opinions, reasons, linking words.</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Check: ordinals agree (al-ḥiṣṣa al-ūlā), numbers + nouns (khamsata ayyāmin), and the right tense for each bullet.</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WORDS THAT LIFT YOUR WRITING</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فِي الخَامِسِ مِنْ مَايُو</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 the fifth of May</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cs typeface="Amiri" pitchFamily="2" charset="-78"/>
              </a:rPr>
              <a:t>مِنَ الإِثْنَيْنِ إِلَى الجُمُعَةِ</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from Monday to Friday</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2" charset="-78"/>
                <a:cs typeface="Amiri" pitchFamily="2" charset="-78"/>
              </a:rPr>
              <a:t>يَوْمَ السَّبْتِ المَاضِي · الأُسْبُوعَ القَادِمَ</a:t>
            </a:r>
            <a:endParaRPr lang="ar-SA" sz="275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last Saturday · next week</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18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1 · FORM FILLING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School-club membership form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اسْتِمَارَةُ الاشْتِرَاكِ فِي النَّادِي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97112" y="1810512"/>
            <a:ext cx="2761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Your answer</a:t>
            </a:r>
            <a:endParaRPr lang="en-US" sz="1100" dirty="0"/>
          </a:p>
        </p:txBody>
      </p:sp>
      <p:sp>
        <p:nvSpPr>
          <p:cNvPr id="17" name="Text 14"/>
          <p:cNvSpPr txBox="1"/>
          <p:nvPr/>
        </p:nvSpPr>
        <p:spPr>
          <a:xfrm>
            <a:off x="560527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write</a:t>
            </a:r>
            <a:endParaRPr lang="en-US" sz="1100" dirty="0"/>
          </a:p>
        </p:txBody>
      </p:sp>
      <p:sp>
        <p:nvSpPr>
          <p:cNvPr id="18" name="Text 15"/>
          <p:cNvSpPr txBox="1"/>
          <p:nvPr/>
        </p:nvSpPr>
        <p:spPr>
          <a:xfrm>
            <a:off x="1033272" y="1810512"/>
            <a:ext cx="4425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8933688" y="2267712"/>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2" name="Text 19"/>
          <p:cNvSpPr txBox="1"/>
          <p:nvPr/>
        </p:nvSpPr>
        <p:spPr>
          <a:xfrm>
            <a:off x="5641848" y="2267712"/>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name</a:t>
            </a:r>
            <a:endParaRPr lang="en-US" sz="1100" dirty="0"/>
          </a:p>
        </p:txBody>
      </p:sp>
      <p:sp>
        <p:nvSpPr>
          <p:cNvPr id="23" name="Text 20"/>
          <p:cNvSpPr txBox="1"/>
          <p:nvPr/>
        </p:nvSpPr>
        <p:spPr>
          <a:xfrm>
            <a:off x="1051560" y="2267712"/>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الاسْمُ</a:t>
            </a:r>
            <a:endParaRPr lang="ar-SA" sz="17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8" name="Text 25"/>
          <p:cNvSpPr txBox="1"/>
          <p:nvPr/>
        </p:nvSpPr>
        <p:spPr>
          <a:xfrm>
            <a:off x="8933688" y="2728341"/>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29" name="Text 26"/>
          <p:cNvSpPr txBox="1"/>
          <p:nvPr/>
        </p:nvSpPr>
        <p:spPr>
          <a:xfrm>
            <a:off x="5641848" y="2728341"/>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Date of birth (day + month)</a:t>
            </a:r>
            <a:endParaRPr lang="en-US" sz="1100" dirty="0"/>
          </a:p>
        </p:txBody>
      </p:sp>
      <p:sp>
        <p:nvSpPr>
          <p:cNvPr id="30" name="Text 27"/>
          <p:cNvSpPr txBox="1"/>
          <p:nvPr/>
        </p:nvSpPr>
        <p:spPr>
          <a:xfrm>
            <a:off x="1051560" y="2728341"/>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المِيلَادِ</a:t>
            </a:r>
            <a:endParaRPr lang="ar-SA" sz="1700" dirty="0"/>
          </a:p>
        </p:txBody>
      </p:sp>
      <p:sp>
        <p:nvSpPr>
          <p:cNvPr id="31" name="Text 28"/>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2774061"/>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77406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5" name="Text 32"/>
          <p:cNvSpPr txBox="1"/>
          <p:nvPr/>
        </p:nvSpPr>
        <p:spPr>
          <a:xfrm>
            <a:off x="8933688" y="3188970"/>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641848" y="3188970"/>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year</a:t>
            </a:r>
            <a:endParaRPr lang="en-US" sz="1100" dirty="0"/>
          </a:p>
        </p:txBody>
      </p:sp>
      <p:sp>
        <p:nvSpPr>
          <p:cNvPr id="37" name="Text 34"/>
          <p:cNvSpPr txBox="1"/>
          <p:nvPr/>
        </p:nvSpPr>
        <p:spPr>
          <a:xfrm>
            <a:off x="1051560" y="3188970"/>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الصَّفُّ</a:t>
            </a:r>
            <a:endParaRPr lang="ar-SA" sz="1700" dirty="0"/>
          </a:p>
        </p:txBody>
      </p:sp>
      <p:sp>
        <p:nvSpPr>
          <p:cNvPr id="38" name="Text 35"/>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23469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23469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42" name="Text 39"/>
          <p:cNvSpPr txBox="1"/>
          <p:nvPr/>
        </p:nvSpPr>
        <p:spPr>
          <a:xfrm>
            <a:off x="8933688" y="3649599"/>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3" name="Text 40"/>
          <p:cNvSpPr txBox="1"/>
          <p:nvPr/>
        </p:nvSpPr>
        <p:spPr>
          <a:xfrm>
            <a:off x="5641848" y="3649599"/>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days that suit you</a:t>
            </a:r>
            <a:endParaRPr lang="en-US" sz="1100" dirty="0"/>
          </a:p>
        </p:txBody>
      </p:sp>
      <p:sp>
        <p:nvSpPr>
          <p:cNvPr id="44" name="Text 41"/>
          <p:cNvSpPr txBox="1"/>
          <p:nvPr/>
        </p:nvSpPr>
        <p:spPr>
          <a:xfrm>
            <a:off x="1051560" y="3649599"/>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الأَيَّامُ المُنَاسِبَةُ</a:t>
            </a:r>
            <a:endParaRPr lang="ar-SA" sz="1700" dirty="0"/>
          </a:p>
        </p:txBody>
      </p:sp>
      <p:sp>
        <p:nvSpPr>
          <p:cNvPr id="45" name="Text 42"/>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3695319"/>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695319"/>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9" name="Text 46"/>
          <p:cNvSpPr txBox="1"/>
          <p:nvPr/>
        </p:nvSpPr>
        <p:spPr>
          <a:xfrm>
            <a:off x="8933688" y="4110228"/>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0" name="Text 47"/>
          <p:cNvSpPr txBox="1"/>
          <p:nvPr/>
        </p:nvSpPr>
        <p:spPr>
          <a:xfrm>
            <a:off x="5641848" y="4110228"/>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time that suits you</a:t>
            </a:r>
            <a:endParaRPr lang="en-US" sz="1100" dirty="0"/>
          </a:p>
        </p:txBody>
      </p:sp>
      <p:sp>
        <p:nvSpPr>
          <p:cNvPr id="51" name="Text 48"/>
          <p:cNvSpPr txBox="1"/>
          <p:nvPr/>
        </p:nvSpPr>
        <p:spPr>
          <a:xfrm>
            <a:off x="1051560" y="4110228"/>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الوَقْتُ المُنَاسِبُ</a:t>
            </a:r>
            <a:endParaRPr lang="ar-SA" sz="1700" dirty="0"/>
          </a:p>
        </p:txBody>
      </p:sp>
      <p:sp>
        <p:nvSpPr>
          <p:cNvPr id="52" name="Text 49"/>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3" name="Shape 50"/>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Shape 5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8933688" y="4570857"/>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57" name="Text 54"/>
          <p:cNvSpPr txBox="1"/>
          <p:nvPr/>
        </p:nvSpPr>
        <p:spPr>
          <a:xfrm>
            <a:off x="5641848" y="4570857"/>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club you choose</a:t>
            </a:r>
            <a:endParaRPr lang="en-US" sz="1100" dirty="0"/>
          </a:p>
        </p:txBody>
      </p:sp>
      <p:sp>
        <p:nvSpPr>
          <p:cNvPr id="58" name="Text 55"/>
          <p:cNvSpPr txBox="1"/>
          <p:nvPr/>
        </p:nvSpPr>
        <p:spPr>
          <a:xfrm>
            <a:off x="1051560" y="4570857"/>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النَّادِي الَّذِي تَخْتَارُهُ</a:t>
            </a:r>
            <a:endParaRPr lang="ar-SA" sz="1700" dirty="0"/>
          </a:p>
        </p:txBody>
      </p:sp>
      <p:sp>
        <p:nvSpPr>
          <p:cNvPr id="59" name="Text 5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0" name="Shape 57"/>
          <p:cNvSpPr/>
          <p:nvPr/>
        </p:nvSpPr>
        <p:spPr>
          <a:xfrm>
            <a:off x="11091672" y="4616577"/>
            <a:ext cx="548640" cy="182880"/>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1091672" y="4616577"/>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62" name="Shape 59"/>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63" name="Text 60"/>
          <p:cNvSpPr txBox="1"/>
          <p:nvPr/>
        </p:nvSpPr>
        <p:spPr>
          <a:xfrm>
            <a:off x="8933688" y="5031486"/>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4" name="Text 61"/>
          <p:cNvSpPr txBox="1"/>
          <p:nvPr/>
        </p:nvSpPr>
        <p:spPr>
          <a:xfrm>
            <a:off x="5641848" y="5031486"/>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hours a week?</a:t>
            </a:r>
            <a:endParaRPr lang="en-US" sz="1100" dirty="0"/>
          </a:p>
        </p:txBody>
      </p:sp>
      <p:sp>
        <p:nvSpPr>
          <p:cNvPr id="65" name="Text 62"/>
          <p:cNvSpPr txBox="1"/>
          <p:nvPr/>
        </p:nvSpPr>
        <p:spPr>
          <a:xfrm>
            <a:off x="1051560" y="5031486"/>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كَمْ سَاعَةً فِي الأُسْبُوعِ؟</a:t>
            </a:r>
            <a:endParaRPr lang="ar-SA" sz="1700" dirty="0"/>
          </a:p>
        </p:txBody>
      </p:sp>
      <p:sp>
        <p:nvSpPr>
          <p:cNvPr id="66" name="Text 63"/>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67" name="Shape 64"/>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68" name="Text 65"/>
          <p:cNvSpPr txBox="1"/>
          <p:nvPr/>
        </p:nvSpPr>
        <p:spPr>
          <a:xfrm>
            <a:off x="8933688" y="5492115"/>
            <a:ext cx="27249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69" name="Text 66"/>
          <p:cNvSpPr txBox="1"/>
          <p:nvPr/>
        </p:nvSpPr>
        <p:spPr>
          <a:xfrm>
            <a:off x="5641848" y="5492115"/>
            <a:ext cx="310896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ONE sentence: why you want to join</a:t>
            </a:r>
            <a:endParaRPr lang="en-US" sz="1100" dirty="0"/>
          </a:p>
        </p:txBody>
      </p:sp>
      <p:sp>
        <p:nvSpPr>
          <p:cNvPr id="70" name="Text 67"/>
          <p:cNvSpPr txBox="1"/>
          <p:nvPr/>
        </p:nvSpPr>
        <p:spPr>
          <a:xfrm>
            <a:off x="1051560" y="5492115"/>
            <a:ext cx="4389120" cy="405765"/>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جُمْلَةٌ: لِمَاذَا تُرِيدُ الاشْتِرَاكَ؟</a:t>
            </a:r>
            <a:endParaRPr lang="ar-SA" sz="1700" dirty="0"/>
          </a:p>
        </p:txBody>
      </p:sp>
      <p:sp>
        <p:nvSpPr>
          <p:cNvPr id="71" name="Text 68"/>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72" name="Text 69"/>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One word or a short phrase for each box — the last box needs a full sentence with a reason (li-anna).</a:t>
            </a:r>
            <a:endParaRPr lang="en-US" sz="11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18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1 · MODEL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School-club membership form: model answers</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54312" y="1810512"/>
            <a:ext cx="2304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5056632" y="1810512"/>
            <a:ext cx="4151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Model answer</a:t>
            </a:r>
            <a:endParaRPr lang="en-US" sz="1100" dirty="0"/>
          </a:p>
        </p:txBody>
      </p:sp>
      <p:sp>
        <p:nvSpPr>
          <p:cNvPr id="18" name="Text 15"/>
          <p:cNvSpPr txBox="1"/>
          <p:nvPr/>
        </p:nvSpPr>
        <p:spPr>
          <a:xfrm>
            <a:off x="103327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form</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405765"/>
          </a:xfrm>
          <a:prstGeom prst="roundRect">
            <a:avLst>
              <a:gd name="adj" fmla="val 11268"/>
            </a:avLst>
          </a:prstGeom>
          <a:solidFill>
            <a:srgbClr val="FFFFFF"/>
          </a:solidFill>
          <a:ln w="9525">
            <a:solidFill>
              <a:srgbClr val="D8D0BF"/>
            </a:solidFill>
            <a:prstDash val="solid"/>
          </a:ln>
        </p:spPr>
      </p:sp>
      <p:sp>
        <p:nvSpPr>
          <p:cNvPr id="21" name="Text 18"/>
          <p:cNvSpPr txBox="1"/>
          <p:nvPr/>
        </p:nvSpPr>
        <p:spPr>
          <a:xfrm>
            <a:off x="9390888" y="2267712"/>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Yusuf Ali</a:t>
            </a:r>
            <a:endParaRPr lang="en-US" sz="1100" dirty="0"/>
          </a:p>
        </p:txBody>
      </p:sp>
      <p:sp>
        <p:nvSpPr>
          <p:cNvPr id="22" name="Text 19"/>
          <p:cNvSpPr txBox="1"/>
          <p:nvPr/>
        </p:nvSpPr>
        <p:spPr>
          <a:xfrm>
            <a:off x="5074920" y="2267712"/>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يُوسُفُ عَلِيٌّ</a:t>
            </a:r>
            <a:endParaRPr lang="ar-SA" sz="1800" dirty="0"/>
          </a:p>
        </p:txBody>
      </p:sp>
      <p:sp>
        <p:nvSpPr>
          <p:cNvPr id="23" name="Text 20"/>
          <p:cNvSpPr txBox="1"/>
          <p:nvPr/>
        </p:nvSpPr>
        <p:spPr>
          <a:xfrm>
            <a:off x="1051560" y="2267712"/>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الاسْمُ</a:t>
            </a:r>
            <a:endParaRPr lang="ar-SA" sz="1600" dirty="0"/>
          </a:p>
        </p:txBody>
      </p:sp>
      <p:sp>
        <p:nvSpPr>
          <p:cNvPr id="24" name="Text 21"/>
          <p:cNvSpPr txBox="1"/>
          <p:nvPr/>
        </p:nvSpPr>
        <p:spPr>
          <a:xfrm>
            <a:off x="566928" y="2267712"/>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457200" y="2728341"/>
            <a:ext cx="11274552" cy="405765"/>
          </a:xfrm>
          <a:prstGeom prst="roundRect">
            <a:avLst>
              <a:gd name="adj" fmla="val 11268"/>
            </a:avLst>
          </a:prstGeom>
          <a:solidFill>
            <a:srgbClr val="F4F1EA"/>
          </a:solidFill>
          <a:ln w="9525">
            <a:solidFill>
              <a:srgbClr val="D8D0BF"/>
            </a:solidFill>
            <a:prstDash val="solid"/>
          </a:ln>
        </p:spPr>
      </p:sp>
      <p:sp>
        <p:nvSpPr>
          <p:cNvPr id="26" name="Text 23"/>
          <p:cNvSpPr txBox="1"/>
          <p:nvPr/>
        </p:nvSpPr>
        <p:spPr>
          <a:xfrm>
            <a:off x="9390888" y="2728341"/>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12 June</a:t>
            </a:r>
            <a:endParaRPr lang="en-US" sz="1100" dirty="0"/>
          </a:p>
        </p:txBody>
      </p:sp>
      <p:sp>
        <p:nvSpPr>
          <p:cNvPr id="27" name="Text 24"/>
          <p:cNvSpPr txBox="1"/>
          <p:nvPr/>
        </p:nvSpPr>
        <p:spPr>
          <a:xfrm>
            <a:off x="5074920" y="2728341"/>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الثَّانِيَ عَشَرَ مِنْ يُونْيُو</a:t>
            </a:r>
            <a:endParaRPr lang="ar-SA" sz="1800" dirty="0"/>
          </a:p>
        </p:txBody>
      </p:sp>
      <p:sp>
        <p:nvSpPr>
          <p:cNvPr id="28" name="Text 25"/>
          <p:cNvSpPr txBox="1"/>
          <p:nvPr/>
        </p:nvSpPr>
        <p:spPr>
          <a:xfrm>
            <a:off x="1051560" y="2728341"/>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تَارِيخُ المِيلَادِ</a:t>
            </a:r>
            <a:endParaRPr lang="ar-SA" sz="1600" dirty="0"/>
          </a:p>
        </p:txBody>
      </p:sp>
      <p:sp>
        <p:nvSpPr>
          <p:cNvPr id="29" name="Text 26"/>
          <p:cNvSpPr txBox="1"/>
          <p:nvPr/>
        </p:nvSpPr>
        <p:spPr>
          <a:xfrm>
            <a:off x="566928" y="2728341"/>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0" name="Shape 27"/>
          <p:cNvSpPr/>
          <p:nvPr/>
        </p:nvSpPr>
        <p:spPr>
          <a:xfrm>
            <a:off x="457200" y="3188970"/>
            <a:ext cx="11274552" cy="405765"/>
          </a:xfrm>
          <a:prstGeom prst="roundRect">
            <a:avLst>
              <a:gd name="adj" fmla="val 11268"/>
            </a:avLst>
          </a:prstGeom>
          <a:solidFill>
            <a:srgbClr val="FFFFFF"/>
          </a:solidFill>
          <a:ln w="9525">
            <a:solidFill>
              <a:srgbClr val="D8D0BF"/>
            </a:solidFill>
            <a:prstDash val="solid"/>
          </a:ln>
        </p:spPr>
      </p:sp>
      <p:sp>
        <p:nvSpPr>
          <p:cNvPr id="31" name="Text 28"/>
          <p:cNvSpPr txBox="1"/>
          <p:nvPr/>
        </p:nvSpPr>
        <p:spPr>
          <a:xfrm>
            <a:off x="9390888" y="3188970"/>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Year 10</a:t>
            </a:r>
            <a:endParaRPr lang="en-US" sz="1100" dirty="0"/>
          </a:p>
        </p:txBody>
      </p:sp>
      <p:sp>
        <p:nvSpPr>
          <p:cNvPr id="32" name="Text 29"/>
          <p:cNvSpPr txBox="1"/>
          <p:nvPr/>
        </p:nvSpPr>
        <p:spPr>
          <a:xfrm>
            <a:off x="5074920" y="3188970"/>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الصَّفُّ العَاشِرُ</a:t>
            </a:r>
            <a:endParaRPr lang="ar-SA" sz="1800" dirty="0"/>
          </a:p>
        </p:txBody>
      </p:sp>
      <p:sp>
        <p:nvSpPr>
          <p:cNvPr id="33" name="Text 30"/>
          <p:cNvSpPr txBox="1"/>
          <p:nvPr/>
        </p:nvSpPr>
        <p:spPr>
          <a:xfrm>
            <a:off x="1051560" y="3188970"/>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الصَّفُّ</a:t>
            </a:r>
            <a:endParaRPr lang="ar-SA" sz="1600" dirty="0"/>
          </a:p>
        </p:txBody>
      </p:sp>
      <p:sp>
        <p:nvSpPr>
          <p:cNvPr id="34" name="Text 31"/>
          <p:cNvSpPr txBox="1"/>
          <p:nvPr/>
        </p:nvSpPr>
        <p:spPr>
          <a:xfrm>
            <a:off x="566928" y="3188970"/>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3649599"/>
            <a:ext cx="11274552" cy="405765"/>
          </a:xfrm>
          <a:prstGeom prst="roundRect">
            <a:avLst>
              <a:gd name="adj" fmla="val 11268"/>
            </a:avLst>
          </a:prstGeom>
          <a:solidFill>
            <a:srgbClr val="F4F1EA"/>
          </a:solidFill>
          <a:ln w="9525">
            <a:solidFill>
              <a:srgbClr val="D8D0BF"/>
            </a:solidFill>
            <a:prstDash val="solid"/>
          </a:ln>
        </p:spPr>
      </p:sp>
      <p:sp>
        <p:nvSpPr>
          <p:cNvPr id="36" name="Text 33"/>
          <p:cNvSpPr txBox="1"/>
          <p:nvPr/>
        </p:nvSpPr>
        <p:spPr>
          <a:xfrm>
            <a:off x="9390888" y="3649599"/>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Tuesday and Thursday</a:t>
            </a:r>
            <a:endParaRPr lang="en-US" sz="1100" dirty="0"/>
          </a:p>
        </p:txBody>
      </p:sp>
      <p:sp>
        <p:nvSpPr>
          <p:cNvPr id="37" name="Text 34"/>
          <p:cNvSpPr txBox="1"/>
          <p:nvPr/>
        </p:nvSpPr>
        <p:spPr>
          <a:xfrm>
            <a:off x="5074920" y="3649599"/>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الثُّلَاثَاءُ وَالخَمِيسُ</a:t>
            </a:r>
            <a:endParaRPr lang="ar-SA" sz="1800" dirty="0"/>
          </a:p>
        </p:txBody>
      </p:sp>
      <p:sp>
        <p:nvSpPr>
          <p:cNvPr id="38" name="Text 35"/>
          <p:cNvSpPr txBox="1"/>
          <p:nvPr/>
        </p:nvSpPr>
        <p:spPr>
          <a:xfrm>
            <a:off x="1051560" y="3649599"/>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الأَيَّامُ المُنَاسِبَةُ</a:t>
            </a:r>
            <a:endParaRPr lang="ar-SA" sz="1600" dirty="0"/>
          </a:p>
        </p:txBody>
      </p:sp>
      <p:sp>
        <p:nvSpPr>
          <p:cNvPr id="39" name="Text 36"/>
          <p:cNvSpPr txBox="1"/>
          <p:nvPr/>
        </p:nvSpPr>
        <p:spPr>
          <a:xfrm>
            <a:off x="566928" y="3649599"/>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0" name="Shape 37"/>
          <p:cNvSpPr/>
          <p:nvPr/>
        </p:nvSpPr>
        <p:spPr>
          <a:xfrm>
            <a:off x="457200" y="4110228"/>
            <a:ext cx="11274552" cy="405765"/>
          </a:xfrm>
          <a:prstGeom prst="roundRect">
            <a:avLst>
              <a:gd name="adj" fmla="val 11268"/>
            </a:avLst>
          </a:prstGeom>
          <a:solidFill>
            <a:srgbClr val="FFFFFF"/>
          </a:solidFill>
          <a:ln w="9525">
            <a:solidFill>
              <a:srgbClr val="D8D0BF"/>
            </a:solidFill>
            <a:prstDash val="solid"/>
          </a:ln>
        </p:spPr>
      </p:sp>
      <p:sp>
        <p:nvSpPr>
          <p:cNvPr id="41" name="Text 38"/>
          <p:cNvSpPr txBox="1"/>
          <p:nvPr/>
        </p:nvSpPr>
        <p:spPr>
          <a:xfrm>
            <a:off x="9390888" y="4110228"/>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four o’clock</a:t>
            </a:r>
            <a:endParaRPr lang="en-US" sz="1100" dirty="0"/>
          </a:p>
        </p:txBody>
      </p:sp>
      <p:sp>
        <p:nvSpPr>
          <p:cNvPr id="42" name="Text 39"/>
          <p:cNvSpPr txBox="1"/>
          <p:nvPr/>
        </p:nvSpPr>
        <p:spPr>
          <a:xfrm>
            <a:off x="5074920" y="4110228"/>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السَّاعَةُ الرَّابِعَةُ</a:t>
            </a:r>
            <a:endParaRPr lang="ar-SA" sz="1800" dirty="0"/>
          </a:p>
        </p:txBody>
      </p:sp>
      <p:sp>
        <p:nvSpPr>
          <p:cNvPr id="43" name="Text 40"/>
          <p:cNvSpPr txBox="1"/>
          <p:nvPr/>
        </p:nvSpPr>
        <p:spPr>
          <a:xfrm>
            <a:off x="1051560" y="4110228"/>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الوَقْتُ المُنَاسِبُ</a:t>
            </a:r>
            <a:endParaRPr lang="ar-SA" sz="1600" dirty="0"/>
          </a:p>
        </p:txBody>
      </p:sp>
      <p:sp>
        <p:nvSpPr>
          <p:cNvPr id="44" name="Text 41"/>
          <p:cNvSpPr txBox="1"/>
          <p:nvPr/>
        </p:nvSpPr>
        <p:spPr>
          <a:xfrm>
            <a:off x="566928" y="4110228"/>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5" name="Shape 42"/>
          <p:cNvSpPr/>
          <p:nvPr/>
        </p:nvSpPr>
        <p:spPr>
          <a:xfrm>
            <a:off x="457200" y="4570857"/>
            <a:ext cx="11274552" cy="405765"/>
          </a:xfrm>
          <a:prstGeom prst="roundRect">
            <a:avLst>
              <a:gd name="adj" fmla="val 11268"/>
            </a:avLst>
          </a:prstGeom>
          <a:solidFill>
            <a:srgbClr val="F4F1EA"/>
          </a:solidFill>
          <a:ln w="9525">
            <a:solidFill>
              <a:srgbClr val="D8D0BF"/>
            </a:solidFill>
            <a:prstDash val="solid"/>
          </a:ln>
        </p:spPr>
      </p:sp>
      <p:sp>
        <p:nvSpPr>
          <p:cNvPr id="46" name="Text 43"/>
          <p:cNvSpPr txBox="1"/>
          <p:nvPr/>
        </p:nvSpPr>
        <p:spPr>
          <a:xfrm>
            <a:off x="9390888" y="4570857"/>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chess club</a:t>
            </a:r>
            <a:endParaRPr lang="en-US" sz="1100" dirty="0"/>
          </a:p>
        </p:txBody>
      </p:sp>
      <p:sp>
        <p:nvSpPr>
          <p:cNvPr id="47" name="Text 44"/>
          <p:cNvSpPr txBox="1"/>
          <p:nvPr/>
        </p:nvSpPr>
        <p:spPr>
          <a:xfrm>
            <a:off x="5074920" y="4570857"/>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نَادِي الشِّطْرَنْجِ</a:t>
            </a:r>
            <a:endParaRPr lang="ar-SA" sz="1800" dirty="0"/>
          </a:p>
        </p:txBody>
      </p:sp>
      <p:sp>
        <p:nvSpPr>
          <p:cNvPr id="48" name="Text 45"/>
          <p:cNvSpPr txBox="1"/>
          <p:nvPr/>
        </p:nvSpPr>
        <p:spPr>
          <a:xfrm>
            <a:off x="1051560" y="4570857"/>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النَّادِي الَّذِي تَخْتَارُهُ</a:t>
            </a:r>
            <a:endParaRPr lang="ar-SA" sz="1600" dirty="0"/>
          </a:p>
        </p:txBody>
      </p:sp>
      <p:sp>
        <p:nvSpPr>
          <p:cNvPr id="49" name="Text 46"/>
          <p:cNvSpPr txBox="1"/>
          <p:nvPr/>
        </p:nvSpPr>
        <p:spPr>
          <a:xfrm>
            <a:off x="566928" y="4570857"/>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50" name="Shape 47"/>
          <p:cNvSpPr/>
          <p:nvPr/>
        </p:nvSpPr>
        <p:spPr>
          <a:xfrm>
            <a:off x="457200" y="5031486"/>
            <a:ext cx="11274552" cy="405765"/>
          </a:xfrm>
          <a:prstGeom prst="roundRect">
            <a:avLst>
              <a:gd name="adj" fmla="val 11268"/>
            </a:avLst>
          </a:prstGeom>
          <a:solidFill>
            <a:srgbClr val="FFFFFF"/>
          </a:solidFill>
          <a:ln w="9525">
            <a:solidFill>
              <a:srgbClr val="D8D0BF"/>
            </a:solidFill>
            <a:prstDash val="solid"/>
          </a:ln>
        </p:spPr>
      </p:sp>
      <p:sp>
        <p:nvSpPr>
          <p:cNvPr id="51" name="Text 48"/>
          <p:cNvSpPr txBox="1"/>
          <p:nvPr/>
        </p:nvSpPr>
        <p:spPr>
          <a:xfrm>
            <a:off x="9390888" y="5031486"/>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hours</a:t>
            </a:r>
            <a:endParaRPr lang="en-US" sz="1100" dirty="0"/>
          </a:p>
        </p:txBody>
      </p:sp>
      <p:sp>
        <p:nvSpPr>
          <p:cNvPr id="52" name="Text 49"/>
          <p:cNvSpPr txBox="1"/>
          <p:nvPr/>
        </p:nvSpPr>
        <p:spPr>
          <a:xfrm>
            <a:off x="5074920" y="5031486"/>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سَاعَتَانِ</a:t>
            </a:r>
            <a:endParaRPr lang="ar-SA" sz="1800" dirty="0"/>
          </a:p>
        </p:txBody>
      </p:sp>
      <p:sp>
        <p:nvSpPr>
          <p:cNvPr id="53" name="Text 50"/>
          <p:cNvSpPr txBox="1"/>
          <p:nvPr/>
        </p:nvSpPr>
        <p:spPr>
          <a:xfrm>
            <a:off x="1051560" y="5031486"/>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كَمْ سَاعَةً فِي الأُسْبُوعِ؟</a:t>
            </a:r>
            <a:endParaRPr lang="ar-SA" sz="1600" dirty="0"/>
          </a:p>
        </p:txBody>
      </p:sp>
      <p:sp>
        <p:nvSpPr>
          <p:cNvPr id="54" name="Text 51"/>
          <p:cNvSpPr txBox="1"/>
          <p:nvPr/>
        </p:nvSpPr>
        <p:spPr>
          <a:xfrm>
            <a:off x="566928" y="5031486"/>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7</a:t>
            </a:r>
            <a:endParaRPr lang="en-US" sz="1100" dirty="0"/>
          </a:p>
        </p:txBody>
      </p:sp>
      <p:sp>
        <p:nvSpPr>
          <p:cNvPr id="55" name="Shape 52"/>
          <p:cNvSpPr/>
          <p:nvPr/>
        </p:nvSpPr>
        <p:spPr>
          <a:xfrm>
            <a:off x="457200" y="5492115"/>
            <a:ext cx="11274552" cy="405765"/>
          </a:xfrm>
          <a:prstGeom prst="roundRect">
            <a:avLst>
              <a:gd name="adj" fmla="val 11268"/>
            </a:avLst>
          </a:prstGeom>
          <a:solidFill>
            <a:srgbClr val="F4F1EA"/>
          </a:solidFill>
          <a:ln w="9525">
            <a:solidFill>
              <a:srgbClr val="D8D0BF"/>
            </a:solidFill>
            <a:prstDash val="solid"/>
          </a:ln>
        </p:spPr>
      </p:sp>
      <p:sp>
        <p:nvSpPr>
          <p:cNvPr id="56" name="Text 53"/>
          <p:cNvSpPr txBox="1"/>
          <p:nvPr/>
        </p:nvSpPr>
        <p:spPr>
          <a:xfrm>
            <a:off x="9390888" y="5492115"/>
            <a:ext cx="2267712"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join because I love thinking and challenges.</a:t>
            </a:r>
            <a:endParaRPr lang="en-US" sz="1100" dirty="0"/>
          </a:p>
        </p:txBody>
      </p:sp>
      <p:sp>
        <p:nvSpPr>
          <p:cNvPr id="57" name="Text 54"/>
          <p:cNvSpPr txBox="1"/>
          <p:nvPr/>
        </p:nvSpPr>
        <p:spPr>
          <a:xfrm>
            <a:off x="5074920" y="5492115"/>
            <a:ext cx="4114800" cy="405765"/>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أُرِيدُ الاشْتِرَاكَ لِأَنِّي أُحِبُّ التَّفْكِيرَ وَالتَّحَدِّيَ.</a:t>
            </a:r>
            <a:endParaRPr lang="ar-SA" sz="1800" dirty="0"/>
          </a:p>
        </p:txBody>
      </p:sp>
      <p:sp>
        <p:nvSpPr>
          <p:cNvPr id="58" name="Text 55"/>
          <p:cNvSpPr txBox="1"/>
          <p:nvPr/>
        </p:nvSpPr>
        <p:spPr>
          <a:xfrm>
            <a:off x="1051560" y="5492115"/>
            <a:ext cx="3840480" cy="405765"/>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cs typeface="Amiri" pitchFamily="2" charset="-78"/>
              </a:rPr>
              <a:t>جُمْلَةٌ: لِمَاذَا تُرِيدُ الاشْتِرَاكَ؟</a:t>
            </a:r>
            <a:endParaRPr lang="ar-SA" sz="1600" dirty="0"/>
          </a:p>
        </p:txBody>
      </p:sp>
      <p:sp>
        <p:nvSpPr>
          <p:cNvPr id="59" name="Text 56"/>
          <p:cNvSpPr txBox="1"/>
          <p:nvPr/>
        </p:nvSpPr>
        <p:spPr>
          <a:xfrm>
            <a:off x="566928" y="5492115"/>
            <a:ext cx="320040" cy="405765"/>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8</a:t>
            </a:r>
            <a:endParaRPr lang="en-US" sz="1100" dirty="0"/>
          </a:p>
        </p:txBody>
      </p:sp>
      <p:sp>
        <p:nvSpPr>
          <p:cNvPr id="60" name="Text 5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Short answers are fine — but they must be accurate, in Arabic, and answer exactly what the form asks.</a:t>
            </a:r>
            <a:endParaRPr lang="en-US" sz="11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18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DIRECTED WRITING · ABOUT 80–90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Question 2: an email about your school week</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رِسَالَةٌ عَنْ أُسْبُوعِي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06524"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06524"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Q2 · DIRECTED WRITING</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00" b="1" dirty="0">
                <a:solidFill>
                  <a:srgbClr val="1F2A37"/>
                </a:solidFill>
                <a:latin typeface="Calibri" pitchFamily="34" charset="0"/>
                <a:cs typeface="Amiri" pitchFamily="2" charset="-78"/>
              </a:rPr>
              <a:t>Write an email in Arabic of about 80–90 words to an Arabic-speaking friend about your school week. You must include: • how many days you study and when the day starts and ends • your favourite day and why • what you did last weekend • when the next holiday starts and what you will do.</a:t>
            </a:r>
            <a:endParaRPr lang="en-US" sz="11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four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greeting and a closing.</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Days, dates and times written correctly.</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Past (last weekend) AND future (the holiday).</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About 80–90 words.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أُرِيدُ أَنْ أُخْبِرَكَ عَنْ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want to tell you about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يَبْدَأُ اليَوْمُ فِي … وَيَنْتَهِي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day starts at … and ends at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نِهَايَةِ الأُسْبُوعِ المَاضِي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last weekend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سَتَبْدَأُ العُطْلَةُ فِي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holiday will start on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18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THE TASK IN ARABIC (AS IN THE EXAM)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 the Arabic rubric</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627632" y="1810512"/>
            <a:ext cx="6071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882128" y="2267712"/>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email to a friend about your school week (80–90 words).</a:t>
            </a:r>
            <a:endParaRPr lang="en-US" sz="1100" dirty="0"/>
          </a:p>
        </p:txBody>
      </p:sp>
      <p:sp>
        <p:nvSpPr>
          <p:cNvPr id="21" name="Text 18"/>
          <p:cNvSpPr txBox="1"/>
          <p:nvPr/>
        </p:nvSpPr>
        <p:spPr>
          <a:xfrm>
            <a:off x="1645920" y="2267712"/>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اكْتُبْ رِسَالَةً إِلِكْتِرُونِيَّةً إِلَى صَدِيقٍ عَنْ أُسْبُوعِكَ الدِّرَاسِيِّ (٨٠–٩٠ كَلِمَةً).</a:t>
            </a:r>
            <a:endParaRPr lang="ar-SA" sz="1800" dirty="0"/>
          </a:p>
        </p:txBody>
      </p:sp>
      <p:sp>
        <p:nvSpPr>
          <p:cNvPr id="22" name="Text 19"/>
          <p:cNvSpPr txBox="1"/>
          <p:nvPr/>
        </p:nvSpPr>
        <p:spPr>
          <a:xfrm>
            <a:off x="566928" y="2267712"/>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task</a:t>
            </a:r>
            <a:endParaRPr lang="en-US" sz="110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882128" y="300471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many days; when the day starts and ends</a:t>
            </a:r>
            <a:endParaRPr lang="en-US" sz="1100" dirty="0"/>
          </a:p>
        </p:txBody>
      </p:sp>
      <p:sp>
        <p:nvSpPr>
          <p:cNvPr id="25" name="Text 22"/>
          <p:cNvSpPr txBox="1"/>
          <p:nvPr/>
        </p:nvSpPr>
        <p:spPr>
          <a:xfrm>
            <a:off x="1645920" y="300471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كَمْ يَوْمًا تَدْرُسُ، وَمَتَى يَبْدَأُ اليَوْمُ وَيَنْتَهِي؟</a:t>
            </a:r>
            <a:endParaRPr lang="ar-SA" sz="1800" dirty="0"/>
          </a:p>
        </p:txBody>
      </p:sp>
      <p:sp>
        <p:nvSpPr>
          <p:cNvPr id="26" name="Text 23"/>
          <p:cNvSpPr txBox="1"/>
          <p:nvPr/>
        </p:nvSpPr>
        <p:spPr>
          <a:xfrm>
            <a:off x="566928" y="300471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8" name="Text 25"/>
          <p:cNvSpPr txBox="1"/>
          <p:nvPr/>
        </p:nvSpPr>
        <p:spPr>
          <a:xfrm>
            <a:off x="7882128" y="3741725"/>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favourite day, and why</a:t>
            </a:r>
            <a:endParaRPr lang="en-US" sz="1100" dirty="0"/>
          </a:p>
        </p:txBody>
      </p:sp>
      <p:sp>
        <p:nvSpPr>
          <p:cNvPr id="29" name="Text 26"/>
          <p:cNvSpPr txBox="1"/>
          <p:nvPr/>
        </p:nvSpPr>
        <p:spPr>
          <a:xfrm>
            <a:off x="1645920" y="3741725"/>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 يَوْمُكَ المُفَضَّلُ؟ وَلِمَاذَا؟</a:t>
            </a:r>
            <a:endParaRPr lang="ar-SA" sz="1800" dirty="0"/>
          </a:p>
        </p:txBody>
      </p:sp>
      <p:sp>
        <p:nvSpPr>
          <p:cNvPr id="30" name="Text 27"/>
          <p:cNvSpPr txBox="1"/>
          <p:nvPr/>
        </p:nvSpPr>
        <p:spPr>
          <a:xfrm>
            <a:off x="566928" y="3741725"/>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1" name="Shape 2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2" name="Text 29"/>
          <p:cNvSpPr txBox="1"/>
          <p:nvPr/>
        </p:nvSpPr>
        <p:spPr>
          <a:xfrm>
            <a:off x="7882128" y="4478731"/>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you did last weekend</a:t>
            </a:r>
            <a:endParaRPr lang="en-US" sz="1100" dirty="0"/>
          </a:p>
        </p:txBody>
      </p:sp>
      <p:sp>
        <p:nvSpPr>
          <p:cNvPr id="33" name="Text 30"/>
          <p:cNvSpPr txBox="1"/>
          <p:nvPr/>
        </p:nvSpPr>
        <p:spPr>
          <a:xfrm>
            <a:off x="1645920" y="4478731"/>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مَاذَا فَعَلْتَ فِي نِهَايَةِ الأُسْبُوعِ المَاضِي؟</a:t>
            </a:r>
            <a:endParaRPr lang="ar-SA" sz="1800" dirty="0"/>
          </a:p>
        </p:txBody>
      </p:sp>
      <p:sp>
        <p:nvSpPr>
          <p:cNvPr id="34" name="Text 31"/>
          <p:cNvSpPr txBox="1"/>
          <p:nvPr/>
        </p:nvSpPr>
        <p:spPr>
          <a:xfrm>
            <a:off x="566928" y="4478731"/>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5" name="Shape 3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6" name="Text 33"/>
          <p:cNvSpPr txBox="1"/>
          <p:nvPr/>
        </p:nvSpPr>
        <p:spPr>
          <a:xfrm>
            <a:off x="7882128" y="5215738"/>
            <a:ext cx="3776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When the next holiday starts; what you will do</a:t>
            </a:r>
            <a:endParaRPr lang="en-US" sz="1100" dirty="0"/>
          </a:p>
        </p:txBody>
      </p:sp>
      <p:sp>
        <p:nvSpPr>
          <p:cNvPr id="37" name="Text 34"/>
          <p:cNvSpPr txBox="1"/>
          <p:nvPr/>
        </p:nvSpPr>
        <p:spPr>
          <a:xfrm>
            <a:off x="1645920" y="5215738"/>
            <a:ext cx="6035040" cy="6821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مَتَى تَبْدَأُ العُطْلَةُ القَادِمَةُ، وَمَاذَا سَتَفْعَلُ؟</a:t>
            </a:r>
            <a:endParaRPr lang="ar-SA" sz="1800" dirty="0"/>
          </a:p>
        </p:txBody>
      </p:sp>
      <p:sp>
        <p:nvSpPr>
          <p:cNvPr id="38" name="Text 35"/>
          <p:cNvSpPr txBox="1"/>
          <p:nvPr/>
        </p:nvSpPr>
        <p:spPr>
          <a:xfrm>
            <a:off x="566928" y="5215738"/>
            <a:ext cx="9144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In the exam the instructions are in Arabic: underline the question word in each bullet.</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18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2 · CORE FRAMES (DEVELOP: USE THEM ONLY IF STUCK)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with these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English</a:t>
            </a:r>
            <a:endParaRPr lang="en-US" sz="1100" dirty="0"/>
          </a:p>
        </p:txBody>
      </p:sp>
      <p:sp>
        <p:nvSpPr>
          <p:cNvPr id="17" name="Text 14"/>
          <p:cNvSpPr txBox="1"/>
          <p:nvPr/>
        </p:nvSpPr>
        <p:spPr>
          <a:xfrm>
            <a:off x="1627632" y="1810512"/>
            <a:ext cx="6254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Frame</a:t>
            </a:r>
            <a:endParaRPr lang="en-US" sz="1100" dirty="0"/>
          </a:p>
        </p:txBody>
      </p:sp>
      <p:sp>
        <p:nvSpPr>
          <p:cNvPr id="18" name="Text 15"/>
          <p:cNvSpPr txBox="1"/>
          <p:nvPr/>
        </p:nvSpPr>
        <p:spPr>
          <a:xfrm>
            <a:off x="530352" y="1810512"/>
            <a:ext cx="950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Bullet</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 how are you?</a:t>
            </a:r>
            <a:endParaRPr lang="en-US" sz="1100" dirty="0"/>
          </a:p>
        </p:txBody>
      </p:sp>
      <p:sp>
        <p:nvSpPr>
          <p:cNvPr id="21" name="Text 18"/>
          <p:cNvSpPr txBox="1"/>
          <p:nvPr/>
        </p:nvSpPr>
        <p:spPr>
          <a:xfrm>
            <a:off x="1645920" y="226771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مَرْحَبًا يَا ______ ، كَيْفَ حَالُكَ؟</a:t>
            </a:r>
            <a:endParaRPr lang="ar-SA" sz="1800" dirty="0"/>
          </a:p>
        </p:txBody>
      </p:sp>
      <p:sp>
        <p:nvSpPr>
          <p:cNvPr id="22" name="Text 19"/>
          <p:cNvSpPr txBox="1"/>
          <p:nvPr/>
        </p:nvSpPr>
        <p:spPr>
          <a:xfrm>
            <a:off x="566928" y="226771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start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study … days. The day starts at … and ends at …</a:t>
            </a:r>
            <a:endParaRPr lang="en-US" sz="1100" dirty="0"/>
          </a:p>
        </p:txBody>
      </p:sp>
      <p:sp>
        <p:nvSpPr>
          <p:cNvPr id="27" name="Text 24"/>
          <p:cNvSpPr txBox="1"/>
          <p:nvPr/>
        </p:nvSpPr>
        <p:spPr>
          <a:xfrm>
            <a:off x="1645920" y="2881884"/>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أَدْرُسُ ______ أَيَّامٍ. يَبْدَأُ اليَوْمُ فِي ______ وَيَنْتَهِي فِي ______ .</a:t>
            </a:r>
            <a:endParaRPr lang="ar-SA" sz="1800" dirty="0"/>
          </a:p>
        </p:txBody>
      </p:sp>
      <p:sp>
        <p:nvSpPr>
          <p:cNvPr id="28" name="Text 25"/>
          <p:cNvSpPr txBox="1"/>
          <p:nvPr/>
        </p:nvSpPr>
        <p:spPr>
          <a:xfrm>
            <a:off x="566928" y="2881884"/>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My favourite day is … because …</a:t>
            </a:r>
            <a:endParaRPr lang="en-US" sz="1100" dirty="0"/>
          </a:p>
        </p:txBody>
      </p:sp>
      <p:sp>
        <p:nvSpPr>
          <p:cNvPr id="33" name="Text 30"/>
          <p:cNvSpPr txBox="1"/>
          <p:nvPr/>
        </p:nvSpPr>
        <p:spPr>
          <a:xfrm>
            <a:off x="1645920" y="3496056"/>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يَوْمِي المُفَضَّلُ هُوَ ______ لِأَنَّ ______ .</a:t>
            </a:r>
            <a:endParaRPr lang="ar-SA" sz="1800" dirty="0"/>
          </a:p>
        </p:txBody>
      </p:sp>
      <p:sp>
        <p:nvSpPr>
          <p:cNvPr id="34" name="Text 31"/>
          <p:cNvSpPr txBox="1"/>
          <p:nvPr/>
        </p:nvSpPr>
        <p:spPr>
          <a:xfrm>
            <a:off x="566928" y="3496056"/>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Last weekend I …</a:t>
            </a:r>
            <a:endParaRPr lang="en-US" sz="1100" dirty="0"/>
          </a:p>
        </p:txBody>
      </p:sp>
      <p:sp>
        <p:nvSpPr>
          <p:cNvPr id="39" name="Text 36"/>
          <p:cNvSpPr txBox="1"/>
          <p:nvPr/>
        </p:nvSpPr>
        <p:spPr>
          <a:xfrm>
            <a:off x="1645920" y="4110228"/>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فِي نِهَايَةِ الأُسْبُوعِ المَاضِي ______ .</a:t>
            </a:r>
            <a:endParaRPr lang="ar-SA" sz="1800" dirty="0"/>
          </a:p>
        </p:txBody>
      </p:sp>
      <p:sp>
        <p:nvSpPr>
          <p:cNvPr id="40" name="Text 37"/>
          <p:cNvSpPr txBox="1"/>
          <p:nvPr/>
        </p:nvSpPr>
        <p:spPr>
          <a:xfrm>
            <a:off x="566928" y="4110228"/>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holiday starts on …, and I will …</a:t>
            </a:r>
            <a:endParaRPr lang="en-US" sz="1100" dirty="0"/>
          </a:p>
        </p:txBody>
      </p:sp>
      <p:sp>
        <p:nvSpPr>
          <p:cNvPr id="45" name="Text 42"/>
          <p:cNvSpPr txBox="1"/>
          <p:nvPr/>
        </p:nvSpPr>
        <p:spPr>
          <a:xfrm>
            <a:off x="1645920" y="4724400"/>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تَبْدَأُ العُطْلَةُ فِي ______ ، وَسَوْفَ ______ .</a:t>
            </a:r>
            <a:endParaRPr lang="ar-SA" sz="1800" dirty="0"/>
          </a:p>
        </p:txBody>
      </p:sp>
      <p:sp>
        <p:nvSpPr>
          <p:cNvPr id="46" name="Text 43"/>
          <p:cNvSpPr txBox="1"/>
          <p:nvPr/>
        </p:nvSpPr>
        <p:spPr>
          <a:xfrm>
            <a:off x="566928" y="4724400"/>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7" name="Shape 44"/>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9" name="Shape 4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0" name="Text 47"/>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See you soon, (your name)</a:t>
            </a:r>
            <a:endParaRPr lang="en-US" sz="1100" dirty="0"/>
          </a:p>
        </p:txBody>
      </p:sp>
      <p:sp>
        <p:nvSpPr>
          <p:cNvPr id="51" name="Text 48"/>
          <p:cNvSpPr txBox="1"/>
          <p:nvPr/>
        </p:nvSpPr>
        <p:spPr>
          <a:xfrm>
            <a:off x="1645920" y="5338572"/>
            <a:ext cx="6217920" cy="55930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إِلَى اللِّقَاءِ، ______</a:t>
            </a:r>
            <a:endParaRPr lang="ar-SA" sz="1800" dirty="0"/>
          </a:p>
        </p:txBody>
      </p:sp>
      <p:sp>
        <p:nvSpPr>
          <p:cNvPr id="52" name="Text 49"/>
          <p:cNvSpPr txBox="1"/>
          <p:nvPr/>
        </p:nvSpPr>
        <p:spPr>
          <a:xfrm>
            <a:off x="566928" y="5338572"/>
            <a:ext cx="9144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a:t>
            </a:r>
            <a:endParaRPr lang="en-US" sz="1100" dirty="0"/>
          </a:p>
        </p:txBody>
      </p:sp>
      <p:sp>
        <p:nvSpPr>
          <p:cNvPr id="53" name="Shape 50"/>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Develop: add a frequency word and a “but” (lākin). Stretch: write without frames and add a second opinion.</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18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CORE MODEL · A SECURE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Q2 Core model: every bullet covered</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900" dirty="0">
                <a:solidFill>
                  <a:srgbClr val="1F2A37"/>
                </a:solidFill>
                <a:latin typeface="Amiri" pitchFamily="2" charset="-78"/>
                <a:cs typeface="Amiri" pitchFamily="2" charset="-78"/>
              </a:rPr>
              <a:t>مَرْحَبًا يَا عَلِيُّ،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كَيْفَ حَالُكَ؟ أُرِيدُ أَنْ أُخْبِرَكَ عَنْ أُسْبُوعِي. أَدْرُسُ خَمْسَةَ أَيَّامٍ، مِنَ الإِثْنَيْنِ إِلَى الجُمُعَةِ. يَبْدَأُ اليَوْمُ فِي الثَّامِنَةِ وَالنِّصْفِ، وَيَنْتَهِي فِي الثَّالِثَةِ. يَوْمِي المُفَضَّلُ هُوَ الأَرْبِعَاءُ لِأَنَّ عِنْدِي حِصَّةَ الرِّيَاضَةِ، وَأُحِبُّهَا كَثِيرًا. فِي نِهَايَةِ الأُسْبُوعِ المَاضِي زُرْتُ جَدَّتِي وَلَعِبْتُ كُرَةَ القَدَمِ. تَبْدَأُ العُطْلَةُ فِي العِشْرِينَ مِنْ دِيسَمْبَرَ، وَسَوْفَ أُسَافِرُ إِلَى مِصْرَ مَعَ أُسْرَتِي.</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إِلَى اللِّقَاءِ،</a:t>
            </a:r>
            <a:endParaRPr lang="ar-SA" sz="1900" dirty="0"/>
          </a:p>
          <a:p>
            <a:pPr rtl="1" algn="r" indent="0" marL="0">
              <a:lnSpc>
                <a:spcPct val="120000"/>
              </a:lnSpc>
              <a:buNone/>
            </a:pPr>
            <a:r>
              <a:rPr lang="ar-SA" altLang="en-US" sz="1900" dirty="0">
                <a:solidFill>
                  <a:srgbClr val="1F2A37"/>
                </a:solidFill>
                <a:latin typeface="Amiri" pitchFamily="2" charset="-78"/>
                <a:cs typeface="Amiri" pitchFamily="2" charset="-78"/>
              </a:rPr>
              <a:t>يُوسُفُ</a:t>
            </a:r>
            <a:endParaRPr lang="ar-SA" sz="19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Ali, how are you? I study five days, from Monday to Friday. The day starts at half past eight and ends at three. My favourite day is Wednesday because I have PE. Last weekend I visited my grandmother and played football. The holiday starts on the twentieth of December, and I will travel to Egypt with my family. See you soon,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خَمْسَةَ أَيَّامٍ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لِأَنَّ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زُرْتُ</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وَسَوْفَ أُسَافِرُ</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18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QUESTION 2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Q2 full-mark model: detail, linking, opinion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50" dirty="0">
                <a:solidFill>
                  <a:srgbClr val="1F2A37"/>
                </a:solidFill>
                <a:latin typeface="Amiri" pitchFamily="2" charset="-78"/>
                <a:cs typeface="Amiri" pitchFamily="2" charset="-78"/>
              </a:rPr>
              <a:t>مَرْحَبًا يَا عَلِيُّ،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كَيْفَ حَالُكَ؟ أُرِيدُ أَنْ أُخْبِرَكَ عَنْ أُسْبُوعِي فِي المَدْرَسَةِ. أَدْرُسُ خَمْسَةَ أَيَّامٍ، مِنَ الإِثْنَيْنِ إِلَى الجُمُعَةِ. يَبْدَأُ اليَوْمُ الدِّرَاسِيُّ فِي الثَّامِنَةِ وَالنِّصْفِ، وَيَنْتَهِي فِي الثَّالِثَةِ وَالرُّبْعِ، وَأَتَنَاوَلُ الغَدَاءَ فِي المَدْرَسَةِ مَعَ أَصْدِقَائِي. يَوْمِي المُفَضَّلُ هُوَ الأَرْبِعَاءُ، لِأَنَّ عِنْدِي حِصَّتَيْنِ مِنَ الرِّيَاضَةِ، لٰكِنَّ يَوْمَ الثُّلَاثَاءِ مُتْعِبٌ جِدًّا. فِي نِهَايَةِ الأُسْبُوعِ المَاضِي زُرْتُ جَدَّتِي يَوْمَ السَّبْتِ، وَلَعِبْتُ كُرَةَ القَدَمِ يَوْمَ الأَحَدِ. سَتَبْدَأُ العُطْلَةُ القَادِمَةُ فِي العِشْرِينَ مِنْ دِيسَمْبَرَ، وَسَأُسَافِرُ إِلَى مِصْرَ مَعَ أُسْرَتِي أُسْبُوعَيْنِ. وَأَنْتَ، مَتَى تَبْدَأُ عُطْلَتُكَ؟</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مَعَ تَحِيَّاتِي،</a:t>
            </a:r>
            <a:endParaRPr lang="ar-SA" sz="1650" dirty="0"/>
          </a:p>
          <a:p>
            <a:pPr rtl="1" algn="r" indent="0" marL="0">
              <a:lnSpc>
                <a:spcPct val="120000"/>
              </a:lnSpc>
              <a:buNone/>
            </a:pPr>
            <a:r>
              <a:rPr lang="ar-SA" altLang="en-US" sz="1650" dirty="0">
                <a:solidFill>
                  <a:srgbClr val="1F2A37"/>
                </a:solidFill>
                <a:latin typeface="Amiri" pitchFamily="2" charset="-78"/>
                <a:cs typeface="Amiri" pitchFamily="2" charset="-78"/>
              </a:rPr>
              <a:t>يُوسُفُ</a:t>
            </a:r>
            <a:endParaRPr lang="ar-SA" sz="16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Ali, how are you? I want to tell you about my week at school. I study five days, Monday to Friday. The school day starts at half past eight and ends at quarter past three. My favourite day is Wednesday, because I have two PE lessons, but Tuesday is very tiring. Last weekend I visited my grandmother on Saturday and played football on Sunday. The next holiday will start on the twentieth of December, and I will travel to Egypt with my family for two weeks. And you — when does your holiday start? With my greetings, Yusuf.”</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وَالرُّبْعِ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حِصَّتَيْنِ</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أُسْبُوعَيْنِ</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18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QUESTION 3 · EXTENDED WRITING · ABOUT 130–150 WORDS · CHOOSE ONE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3: choose one title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اخْتَرْ عُنْوَانًا وَاحِدًا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571232" y="1810512"/>
            <a:ext cx="4087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English</a:t>
            </a:r>
            <a:endParaRPr lang="en-US" sz="1100" dirty="0"/>
          </a:p>
        </p:txBody>
      </p:sp>
      <p:sp>
        <p:nvSpPr>
          <p:cNvPr id="17" name="Text 14"/>
          <p:cNvSpPr txBox="1"/>
          <p:nvPr/>
        </p:nvSpPr>
        <p:spPr>
          <a:xfrm>
            <a:off x="153619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In Arabic</a:t>
            </a:r>
            <a:endParaRPr lang="en-US" sz="1100" dirty="0"/>
          </a:p>
        </p:txBody>
      </p:sp>
      <p:sp>
        <p:nvSpPr>
          <p:cNvPr id="18" name="Text 15"/>
          <p:cNvSpPr txBox="1"/>
          <p:nvPr/>
        </p:nvSpPr>
        <p:spPr>
          <a:xfrm>
            <a:off x="530352" y="1810512"/>
            <a:ext cx="859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Title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7607808" y="2267712"/>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week at my school</a:t>
            </a:r>
            <a:endParaRPr lang="en-US" sz="1100" dirty="0"/>
          </a:p>
        </p:txBody>
      </p:sp>
      <p:sp>
        <p:nvSpPr>
          <p:cNvPr id="21" name="Text 18"/>
          <p:cNvSpPr txBox="1"/>
          <p:nvPr/>
        </p:nvSpPr>
        <p:spPr>
          <a:xfrm>
            <a:off x="1554480" y="2267712"/>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أُسْبُوعٌ فِي مَدْرَسَتِي</a:t>
            </a:r>
            <a:endParaRPr lang="ar-SA" sz="1700" dirty="0"/>
          </a:p>
        </p:txBody>
      </p:sp>
      <p:sp>
        <p:nvSpPr>
          <p:cNvPr id="22" name="Text 19"/>
          <p:cNvSpPr txBox="1"/>
          <p:nvPr/>
        </p:nvSpPr>
        <p:spPr>
          <a:xfrm>
            <a:off x="548640" y="2267712"/>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(أ)</a:t>
            </a:r>
            <a:endParaRPr lang="ar-SA" sz="20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7607808" y="3054096"/>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Your school week · the hardest day and why · a special school day this year · plans for next term</a:t>
            </a:r>
            <a:endParaRPr lang="en-US" sz="1100" dirty="0"/>
          </a:p>
        </p:txBody>
      </p:sp>
      <p:sp>
        <p:nvSpPr>
          <p:cNvPr id="25" name="Text 22"/>
          <p:cNvSpPr txBox="1"/>
          <p:nvPr/>
        </p:nvSpPr>
        <p:spPr>
          <a:xfrm>
            <a:off x="1554480" y="3054096"/>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صِفْ أُسْبُوعَكَ الدِّرَاسِيَّ · مَا أَصْعَبُ يَوْمٍ وَلِمَاذَا؟ · صِفْ يَوْمًا مُمَيَّزًا فِي المَدْرَسَةِ هٰذِهِ السَّنَةَ · مَا خُطَطُكَ لِلْفَصْلِ القَادِمِ؟</a:t>
            </a:r>
            <a:endParaRPr lang="ar-SA" sz="1400" dirty="0"/>
          </a:p>
        </p:txBody>
      </p:sp>
      <p:sp>
        <p:nvSpPr>
          <p:cNvPr id="26" name="Text 23"/>
          <p:cNvSpPr txBox="1"/>
          <p:nvPr/>
        </p:nvSpPr>
        <p:spPr>
          <a:xfrm>
            <a:off x="566928" y="3054096"/>
            <a:ext cx="822960" cy="731520"/>
          </a:xfrm>
          <a:prstGeom prst="rect">
            <a:avLst/>
          </a:prstGeom>
          <a:noFill/>
          <a:ln/>
        </p:spPr>
        <p:txBody>
          <a:bodyPr wrap="square" lIns="0" tIns="0" rIns="0" bIns="0" rtlCol="0" anchor="ctr"/>
          <a:lstStyle/>
          <a:p>
            <a:pPr algn="l" indent="0" marL="0">
              <a:buNone/>
            </a:pPr>
            <a:endParaRPr lang="en-US" sz="1100" dirty="0"/>
          </a:p>
        </p:txBody>
      </p:sp>
      <p:sp>
        <p:nvSpPr>
          <p:cNvPr id="27" name="Shape 2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8" name="Text 25"/>
          <p:cNvSpPr txBox="1"/>
          <p:nvPr/>
        </p:nvSpPr>
        <p:spPr>
          <a:xfrm>
            <a:off x="7607808" y="3840480"/>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important date in my life</a:t>
            </a:r>
            <a:endParaRPr lang="en-US" sz="1100" dirty="0"/>
          </a:p>
        </p:txBody>
      </p:sp>
      <p:sp>
        <p:nvSpPr>
          <p:cNvPr id="29" name="Text 26"/>
          <p:cNvSpPr txBox="1"/>
          <p:nvPr/>
        </p:nvSpPr>
        <p:spPr>
          <a:xfrm>
            <a:off x="1554480" y="3840480"/>
            <a:ext cx="585216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cs typeface="Amiri" pitchFamily="2" charset="-78"/>
              </a:rPr>
              <a:t>تَارِيخٌ مُهِمٌّ فِي حَيَاتِي</a:t>
            </a:r>
            <a:endParaRPr lang="ar-SA" sz="1700" dirty="0"/>
          </a:p>
        </p:txBody>
      </p:sp>
      <p:sp>
        <p:nvSpPr>
          <p:cNvPr id="30" name="Text 27"/>
          <p:cNvSpPr txBox="1"/>
          <p:nvPr/>
        </p:nvSpPr>
        <p:spPr>
          <a:xfrm>
            <a:off x="548640" y="3840480"/>
            <a:ext cx="8229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cs typeface="Amiri" pitchFamily="2" charset="-78"/>
              </a:rPr>
              <a:t>(ب)</a:t>
            </a:r>
            <a:endParaRPr lang="ar-SA" sz="2000" dirty="0"/>
          </a:p>
        </p:txBody>
      </p:sp>
      <p:sp>
        <p:nvSpPr>
          <p:cNvPr id="31" name="Shape 2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2" name="Text 29"/>
          <p:cNvSpPr txBox="1"/>
          <p:nvPr/>
        </p:nvSpPr>
        <p:spPr>
          <a:xfrm>
            <a:off x="7607808" y="4626864"/>
            <a:ext cx="405079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date and why it matters · how you marked it last time · your opinion · how you will mark it in future</a:t>
            </a:r>
            <a:endParaRPr lang="en-US" sz="1100" dirty="0"/>
          </a:p>
        </p:txBody>
      </p:sp>
      <p:sp>
        <p:nvSpPr>
          <p:cNvPr id="33" name="Text 30"/>
          <p:cNvSpPr txBox="1"/>
          <p:nvPr/>
        </p:nvSpPr>
        <p:spPr>
          <a:xfrm>
            <a:off x="1554480" y="4626864"/>
            <a:ext cx="585216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cs typeface="Amiri" pitchFamily="2" charset="-78"/>
              </a:rPr>
              <a:t>مَا التَّارِيخُ، وَلِمَاذَا هُوَ مُهِمٌّ؟ · كَيْفَ احْتَفَلْتَ بِهِ آخِرَ مَرَّةٍ؟ · مَا رَأْيُكَ فِي هٰذِهِ المُنَاسَبَاتِ؟ · كَيْفَ سَتَحْتَفِلُ بِهِ فِي المُسْتَقْبَلِ؟</a:t>
            </a:r>
            <a:endParaRPr lang="ar-SA" sz="1400" dirty="0"/>
          </a:p>
        </p:txBody>
      </p:sp>
      <p:sp>
        <p:nvSpPr>
          <p:cNvPr id="34" name="Text 31"/>
          <p:cNvSpPr txBox="1"/>
          <p:nvPr/>
        </p:nvSpPr>
        <p:spPr>
          <a:xfrm>
            <a:off x="566928" y="4626864"/>
            <a:ext cx="822960" cy="731520"/>
          </a:xfrm>
          <a:prstGeom prst="rect">
            <a:avLst/>
          </a:prstGeom>
          <a:noFill/>
          <a:ln/>
        </p:spPr>
        <p:txBody>
          <a:bodyPr wrap="square" lIns="0" tIns="0" rIns="0" bIns="0" rtlCol="0" anchor="ctr"/>
          <a:lstStyle/>
          <a:p>
            <a:pPr algn="l" indent="0" marL="0">
              <a:buNone/>
            </a:pPr>
            <a:endParaRPr lang="en-US" sz="11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Cover all four points. Use three time frames (present · past · future), opinions with reasons, and linking words.</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18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QUESTION 3 · PLAN BEFORE YOU WRITE (4 PARAGRAPHS)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four-paragraph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خُطَّةُ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ONE PARAGRAPH FOR EACH POINT</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Present — the week: days, times, lessons (yabda’u … wa-yantahī …).</a:t>
            </a:r>
            <a:endParaRPr lang="en-US" sz="1300" dirty="0"/>
          </a:p>
        </p:txBody>
      </p:sp>
      <p:sp>
        <p:nvSpPr>
          <p:cNvPr id="20" name="Shape 17"/>
          <p:cNvSpPr/>
          <p:nvPr/>
        </p:nvSpPr>
        <p:spPr>
          <a:xfrm>
            <a:off x="658368" y="3035808"/>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035808"/>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926080"/>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Opinion — the hardest / most important day, with a reason; Stretch: ammā … fa-.</a:t>
            </a:r>
            <a:endParaRPr lang="en-US" sz="1300" dirty="0"/>
          </a:p>
        </p:txBody>
      </p:sp>
      <p:sp>
        <p:nvSpPr>
          <p:cNvPr id="23" name="Shape 20"/>
          <p:cNvSpPr/>
          <p:nvPr/>
        </p:nvSpPr>
        <p:spPr>
          <a:xfrm>
            <a:off x="658368" y="3785616"/>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78561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675888"/>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Past — a special day: fī as-sādisi min uktūbar dhahabnā …</a:t>
            </a:r>
            <a:endParaRPr lang="en-US" sz="1300" dirty="0"/>
          </a:p>
        </p:txBody>
      </p:sp>
      <p:sp>
        <p:nvSpPr>
          <p:cNvPr id="26" name="Shape 23"/>
          <p:cNvSpPr/>
          <p:nvPr/>
        </p:nvSpPr>
        <p:spPr>
          <a:xfrm>
            <a:off x="658368" y="4535424"/>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5354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4425696"/>
            <a:ext cx="5394960" cy="713232"/>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Future — sa-unaẓẓimu …; Stretch: law … la- (a conditional).</a:t>
            </a:r>
            <a:endParaRPr lang="en-US" sz="1300" dirty="0"/>
          </a:p>
        </p:txBody>
      </p:sp>
      <p:sp>
        <p:nvSpPr>
          <p:cNvPr id="29" name="Shape 26"/>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ONE SENTENCE PER TIME FRAME</a:t>
            </a:r>
            <a:endParaRPr lang="en-US" sz="1000" dirty="0"/>
          </a:p>
        </p:txBody>
      </p:sp>
      <p:sp>
        <p:nvSpPr>
          <p:cNvPr id="31" name="Text 28"/>
          <p:cNvSpPr txBox="1"/>
          <p:nvPr/>
        </p:nvSpPr>
        <p:spPr>
          <a:xfrm>
            <a:off x="6949440" y="2194560"/>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يَبْدَأُ اليَوْمُ فِي الثَّامِنَةِ وَالنِّصْفِ.</a:t>
            </a:r>
            <a:endParaRPr lang="ar-SA" sz="2600" dirty="0"/>
          </a:p>
        </p:txBody>
      </p:sp>
      <p:sp>
        <p:nvSpPr>
          <p:cNvPr id="32" name="Text 29"/>
          <p:cNvSpPr txBox="1"/>
          <p:nvPr/>
        </p:nvSpPr>
        <p:spPr>
          <a:xfrm>
            <a:off x="6949440" y="2761244"/>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present: the day starts at half past eight.</a:t>
            </a:r>
            <a:endParaRPr lang="en-US" sz="1100" dirty="0"/>
          </a:p>
        </p:txBody>
      </p:sp>
      <p:sp>
        <p:nvSpPr>
          <p:cNvPr id="33" name="Shape 30"/>
          <p:cNvSpPr/>
          <p:nvPr/>
        </p:nvSpPr>
        <p:spPr>
          <a:xfrm>
            <a:off x="6995160" y="3188208"/>
            <a:ext cx="4553712" cy="0"/>
          </a:xfrm>
          <a:prstGeom prst="line">
            <a:avLst/>
          </a:prstGeom>
          <a:noFill/>
          <a:ln w="9525">
            <a:solidFill>
              <a:srgbClr val="E4DCCB"/>
            </a:solidFill>
            <a:prstDash val="dash"/>
          </a:ln>
        </p:spPr>
      </p:sp>
      <p:sp>
        <p:nvSpPr>
          <p:cNvPr id="34" name="Text 31"/>
          <p:cNvSpPr txBox="1"/>
          <p:nvPr/>
        </p:nvSpPr>
        <p:spPr>
          <a:xfrm>
            <a:off x="6949440" y="3206496"/>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فِي السَّادِسِ مِنْ أُكْتُوبَرَ ذَهَبْنَا …</a:t>
            </a:r>
            <a:endParaRPr lang="ar-SA" sz="2600" dirty="0"/>
          </a:p>
        </p:txBody>
      </p:sp>
      <p:sp>
        <p:nvSpPr>
          <p:cNvPr id="35" name="Text 32"/>
          <p:cNvSpPr txBox="1"/>
          <p:nvPr/>
        </p:nvSpPr>
        <p:spPr>
          <a:xfrm>
            <a:off x="6949440" y="3773180"/>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past: on the sixth of October we went …</a:t>
            </a:r>
            <a:endParaRPr lang="en-US" sz="1100" dirty="0"/>
          </a:p>
        </p:txBody>
      </p:sp>
      <p:sp>
        <p:nvSpPr>
          <p:cNvPr id="36" name="Shape 33"/>
          <p:cNvSpPr/>
          <p:nvPr/>
        </p:nvSpPr>
        <p:spPr>
          <a:xfrm>
            <a:off x="6995160" y="4200144"/>
            <a:ext cx="4553712" cy="0"/>
          </a:xfrm>
          <a:prstGeom prst="line">
            <a:avLst/>
          </a:prstGeom>
          <a:noFill/>
          <a:ln w="9525">
            <a:solidFill>
              <a:srgbClr val="E4DCCB"/>
            </a:solidFill>
            <a:prstDash val="dash"/>
          </a:ln>
        </p:spPr>
      </p:sp>
      <p:sp>
        <p:nvSpPr>
          <p:cNvPr id="37" name="Text 34"/>
          <p:cNvSpPr txBox="1"/>
          <p:nvPr/>
        </p:nvSpPr>
        <p:spPr>
          <a:xfrm>
            <a:off x="6949440" y="4218432"/>
            <a:ext cx="4645152" cy="566684"/>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cs typeface="Amiri" pitchFamily="2" charset="-78"/>
              </a:rPr>
              <a:t>فِي الفَصْلِ القَادِمِ سَأُنَظِّمُ وَقْتِي.</a:t>
            </a:r>
            <a:endParaRPr lang="ar-SA" sz="2600" dirty="0"/>
          </a:p>
        </p:txBody>
      </p:sp>
      <p:sp>
        <p:nvSpPr>
          <p:cNvPr id="38" name="Text 35"/>
          <p:cNvSpPr txBox="1"/>
          <p:nvPr/>
        </p:nvSpPr>
        <p:spPr>
          <a:xfrm>
            <a:off x="6949440" y="4785116"/>
            <a:ext cx="4645152" cy="404774"/>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future: next term I will organise my time.</a:t>
            </a:r>
            <a:endParaRPr lang="en-US" sz="1100" dirty="0"/>
          </a:p>
        </p:txBody>
      </p:sp>
      <p:sp>
        <p:nvSpPr>
          <p:cNvPr id="39" name="Shape 36"/>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ROUTES</a:t>
            </a:r>
            <a:endParaRPr lang="en-US" sz="1100" dirty="0"/>
          </a:p>
        </p:txBody>
      </p:sp>
      <p:sp>
        <p:nvSpPr>
          <p:cNvPr id="41" name="Text 38"/>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Core: title (</a:t>
            </a:r>
            <a:pPr algn="l" indent="0" marL="0">
              <a:buNone/>
            </a:pPr>
            <a:r>
              <a:rPr lang="ar-SA" altLang="en-US" sz="1650" dirty="0">
                <a:solidFill>
                  <a:srgbClr val="1F2A37"/>
                </a:solidFill>
                <a:latin typeface="Amiri" pitchFamily="2" charset="-78"/>
                <a:cs typeface="Amiri" pitchFamily="2" charset="-78"/>
              </a:rPr>
              <a:t>أ</a:t>
            </a:r>
            <a:pPr algn="l" indent="0" marL="0">
              <a:buNone/>
            </a:pPr>
            <a:r>
              <a:rPr lang="en-US" sz="1250" dirty="0">
                <a:solidFill>
                  <a:srgbClr val="1F2A37"/>
                </a:solidFill>
                <a:latin typeface="Calibri" pitchFamily="34" charset="0"/>
                <a:cs typeface="Amiri" pitchFamily="2" charset="-78"/>
              </a:rPr>
              <a:t>), one or two sentences per paragraph, then finish at home. Develop: three sentences per paragraph. Stretch: title (</a:t>
            </a:r>
            <a:pPr algn="l" indent="0" marL="0">
              <a:buNone/>
            </a:pPr>
            <a:r>
              <a:rPr lang="ar-SA" altLang="en-US" sz="1650" dirty="0">
                <a:solidFill>
                  <a:srgbClr val="1F2A37"/>
                </a:solidFill>
                <a:latin typeface="Amiri" pitchFamily="2" charset="-78"/>
                <a:cs typeface="Amiri" pitchFamily="2" charset="-78"/>
              </a:rPr>
              <a:t>ب</a:t>
            </a:r>
            <a:pPr algn="l" indent="0" marL="0">
              <a:buNone/>
            </a:pPr>
            <a:r>
              <a:rPr lang="en-US" sz="1250" dirty="0">
                <a:solidFill>
                  <a:srgbClr val="1F2A37"/>
                </a:solidFill>
                <a:latin typeface="Calibri" pitchFamily="34" charset="0"/>
                <a:cs typeface="Amiri" pitchFamily="2" charset="-78"/>
              </a:rPr>
              <a:t>) with a contrast and a conditional.</a:t>
            </a:r>
            <a:endParaRPr lang="en-US" sz="12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18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CORE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Q3 (</a:t>
            </a:r>
            <a:pPr algn="l" indent="0" marL="0">
              <a:buNone/>
            </a:pPr>
            <a:r>
              <a:rPr lang="ar-SA" altLang="en-US" sz="3250" b="1" dirty="0">
                <a:solidFill>
                  <a:srgbClr val="1B3B6F"/>
                </a:solidFill>
                <a:latin typeface="Amiri" pitchFamily="2" charset="-78"/>
                <a:cs typeface="Amiri" pitchFamily="2" charset="-78"/>
              </a:rPr>
              <a:t>أ</a:t>
            </a:r>
            <a:pPr algn="l" indent="0" marL="0">
              <a:buNone/>
            </a:pPr>
            <a:r>
              <a:rPr lang="en-US" sz="2500" b="1" dirty="0">
                <a:solidFill>
                  <a:srgbClr val="1B3B6F"/>
                </a:solidFill>
                <a:latin typeface="Cambria" pitchFamily="34" charset="0"/>
                <a:cs typeface="Amiri" pitchFamily="2" charset="-78"/>
              </a:rPr>
              <a:t>) Core model: clear and complete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1600" dirty="0">
                <a:solidFill>
                  <a:srgbClr val="1F2A37"/>
                </a:solidFill>
                <a:latin typeface="Amiri" pitchFamily="2" charset="-78"/>
                <a:cs typeface="Amiri" pitchFamily="2" charset="-78"/>
              </a:rPr>
              <a:t>أَدْرُسُ فِي مَدْرَسَةٍ كَبِيرَةٍ فِي لَنْدَنَ. أَذْهَبُ إِلَى المَدْرَسَةِ خَمْسَةَ أَيَّامٍ فِي الأُسْبُوعِ، مِنَ الإِثْنَيْنِ إِلَى الجُمُعَةِ. يَبْدَأُ اليَوْمُ فِي السَّاعَةِ الثَّامِنَةِ وَالنِّصْفِ، وَيَنْتَهِي فِي السَّاعَةِ الثَّالِثَةِ. عِنْدِي سِتُّ حِصَصٍ كُلَّ يَوْمٍ. يَوْمَ الإِثْنَيْنِ أَدْرُسُ الرِّيَاضِيَّاتِ وَالعَرَبِيَّةَ، وَيَوْمَ الأَرْبِعَاءِ عِنْدِي الرِّيَاضَةُ وَالفَنُّ. فِي الاسْتِرَاحَةِ أَتَنَاوَلُ الغَدَاءَ مَعَ أَصْدِقَائِي.</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اليَوْمُ الأَصْعَبُ هُوَ الثُّلَاثَاءُ، لِأَنَّ عِنْدِي امْتِحَانًا قَصِيرًا كُلَّ أُسْبُوعٍ، وَأَرْجِعُ إِلَى البَيْتِ مُتَأَخِّرًا.</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فِي شَهْرِ أُكْتُوبَرَ ذَهَبْنَا فِي رِحْلَةٍ مَدْرَسِيَّةٍ إِلَى المَتْحَفِ. كَانَ يَوْمًا جَمِيلًا، وَتَعَلَّمْتُ أَشْيَاءَ كَثِيرَةً، وَأَكَلْتُ مَعَ أَصْدِقَائِي فِي الحَدِيقَةِ، ثُمَّ رَجَعْنَا إِلَى المَدْرَسَةِ فِي السَّاعَةِ الثَّالِثَةِ.</a:t>
            </a:r>
            <a:endParaRPr lang="ar-SA" sz="1600" dirty="0"/>
          </a:p>
          <a:p>
            <a:pPr rtl="1" algn="r" indent="0" marL="0">
              <a:lnSpc>
                <a:spcPct val="120000"/>
              </a:lnSpc>
              <a:buNone/>
            </a:pPr>
            <a:r>
              <a:rPr lang="ar-SA" altLang="en-US" sz="1600" dirty="0">
                <a:solidFill>
                  <a:srgbClr val="1F2A37"/>
                </a:solidFill>
                <a:latin typeface="Amiri" pitchFamily="2" charset="-78"/>
                <a:cs typeface="Amiri" pitchFamily="2" charset="-78"/>
              </a:rPr>
              <a:t>فِي الفَصْلِ القَادِمِ سَأُرَاجِعُ دُرُوسِي كُلَّ يَوْمٍ، وَسَأَشْتَرِكُ فِي نَادِي الشِّطْرَنْجِ يَوْمَ الخَمِيسِ، وَسَأَنَامُ مُبَكِّرًا قَبْلَ الامْتِحَانَاتِ. أُحِبُّ مَدْرَسَتِي كَثِيرًا لِأَنَّ المُعَلِّمِينَ لُطَفَاءُ وَالطُّلَّابَ أَصْدِقَائِي.</a:t>
            </a:r>
            <a:endParaRPr lang="ar-SA" sz="1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Present: a school in London, Monday to Friday, 8:30–3:00, six lessons, the subjects → opinion: Tuesday is hardest (a weekly test, home late) → past: an October trip to the museum, lunch in the park → future: revise every day, join the chess club on Thursday; I love my school because the teachers are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خَمْسَةَ أَيَّامٍ</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اليَوْمُ الأَصْعَبُ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ذَهَبْنَا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سَأَشْتَرِكُ</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18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أ</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Q3 (</a:t>
            </a:r>
            <a:pPr algn="l" indent="0" marL="0">
              <a:buNone/>
            </a:pPr>
            <a:r>
              <a:rPr lang="ar-SA" altLang="en-US" sz="2850" b="1" dirty="0">
                <a:solidFill>
                  <a:srgbClr val="1B3B6F"/>
                </a:solidFill>
                <a:latin typeface="Amiri" pitchFamily="2" charset="-78"/>
                <a:cs typeface="Amiri" pitchFamily="2" charset="-78"/>
              </a:rPr>
              <a:t>أ</a:t>
            </a:r>
            <a:pPr algn="l" indent="0" marL="0">
              <a:buNone/>
            </a:pPr>
            <a:r>
              <a:rPr lang="en-US" sz="2200" b="1" dirty="0">
                <a:solidFill>
                  <a:srgbClr val="1B3B6F"/>
                </a:solidFill>
                <a:latin typeface="Cambria" pitchFamily="34" charset="0"/>
                <a:cs typeface="Amiri" pitchFamily="2" charset="-78"/>
              </a:rPr>
              <a:t>) full-mark model: range and accuracy</a:t>
            </a:r>
            <a:endParaRPr lang="en-US" sz="22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أَدْرُسُ فِي مَدْرَسَةٍ ثَانَوِيَّةٍ، وَيَمْتَدُّ أُسْبُوعِي الدِّرَاسِيُّ مِنَ الإِثْنَيْنِ إِلَى الجُمُعَةِ. يَبْدَأُ اليَوْمُ فِي الثَّامِنَةِ وَالنِّصْفِ بِالتَّسْجِيلِ، ثُمَّ نَدْرُسُ سِتَّ حِصَصٍ، مُدَّةُ كُلٍّ مِنْهَا خَمْسُونَ دَقِيقَةً، وَيَنْتَهِي فِي الثَّالِثَةِ وَالرُّبْعِ. وَفِي الاسْتِرَاحَةِ الطَّوِيلَةِ نَتَنَاوَلُ الغَدَاءَ وَنَلْعَبُ فِي السَّاحَةِ نِصْفَ سَاعَةٍ.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رَأْيِي، أَصْعَبُ يَوْمٍ هُوَ الثُّلَاثَاءُ، لِأَنَّ الحِصَصَ الأَرْبَعَ الأُولَى عِلْمِيَّةٌ، وَبَعْدَهَا أَبْقَى فِي نَادِي الرُّوبُوتَاتِ حَتَّى الخَامِسَةِ، فَأَشْعُرُ بِالتَّعَبِ فِي المَسَاءِ. أَمَّا الجُمُعَةُ فَهِيَ أَسْهَلُ يَوْمٍ، لِأَنَّنَا نَخْرُجُ مُبَكِّرًا.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السَّادِسِ مِنْ أُكْتُوبَرَ ذَهَبْنَا فِي رِحْلَةٍ إِلَى مَتْحَفِ العُلُومِ؛ شَاهَدْنَا تَجَارِبَ مُدْهِشَةً، وَكَتَبْتُ تَقْرِيرًا عَنْهَا فِي اليَوْمِ التَّالِي، فَحَصَلْتُ عَلَى دَرَجَةٍ مُمْتَازَةٍ. كَانَ ذٰلِكَ اليَوْمُ مِنْ أَجْمَلِ أَيَّامِ السَّنَةِ.</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الفَصْلِ القَادِمِ سَأُنَظِّمُ وَقْتِي أَفْضَلَ، وَسَأَكْتُبُ مَوَاعِيدَ الوَاجِبَاتِ وَالامْتِحَانَاتِ فِي تَقْوِيمِي، لِكَيْ لَا أَنْسَى شَيْئًا، وَسَأُرَاجِعُ كُلَّ مَادَّةٍ مَرَّتَيْنِ فِي الأُسْبُوعِ. وَلَوْ كَانَ القَرَارُ بِيَدِي، لَجَعَلْتُ يَوْمَ الأَرْبِعَاءِ نِصْفَ يَوْمٍ لِلرَّاحَةِ وَالأَنْشِطَةِ!</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مُدَّةُ كُلٍّ مِنْهَا</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الجُمُعَةُ فَهِيَ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لِكَيْ لَا أَنْسَى</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كَانَ … لَجَعَلْتُ</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18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8A6D1E"/>
                </a:solidFill>
                <a:latin typeface="Calibri" pitchFamily="34" charset="0"/>
                <a:cs typeface="Amiri" pitchFamily="2" charset="-78"/>
              </a:rPr>
              <a:t>QUESTION 3 · TITLE (</a:t>
            </a:r>
            <a:pPr algn="l" indent="0" marL="0">
              <a:buNone/>
            </a:pPr>
            <a:r>
              <a:rPr lang="ar-SA" altLang="en-US" sz="1300" b="1" dirty="0">
                <a:solidFill>
                  <a:srgbClr val="8A6D1E"/>
                </a:solidFill>
                <a:latin typeface="Amiri" pitchFamily="2" charset="-78"/>
                <a:cs typeface="Amiri" pitchFamily="2" charset="-78"/>
              </a:rPr>
              <a:t>ب</a:t>
            </a:r>
            <a:pPr algn="l" indent="0" marL="0">
              <a:buNone/>
            </a:pPr>
            <a:r>
              <a:rPr lang="en-US" sz="1000" b="1" dirty="0">
                <a:solidFill>
                  <a:srgbClr val="8A6D1E"/>
                </a:solidFill>
                <a:latin typeface="Calibri" pitchFamily="34" charset="0"/>
                <a:cs typeface="Amiri" pitchFamily="2" charset="-78"/>
              </a:rPr>
              <a:t>) · FULL-MARK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Q3 (</a:t>
            </a:r>
            <a:pPr algn="l" indent="0" marL="0">
              <a:buNone/>
            </a:pPr>
            <a:r>
              <a:rPr lang="ar-SA" altLang="en-US" sz="2950" b="1" dirty="0">
                <a:solidFill>
                  <a:srgbClr val="1B3B6F"/>
                </a:solidFill>
                <a:latin typeface="Amiri" pitchFamily="2" charset="-78"/>
                <a:cs typeface="Amiri" pitchFamily="2" charset="-78"/>
              </a:rPr>
              <a:t>ب</a:t>
            </a:r>
            <a:pPr algn="l" indent="0" marL="0">
              <a:buNone/>
            </a:pPr>
            <a:r>
              <a:rPr lang="en-US" sz="2250" b="1" dirty="0">
                <a:solidFill>
                  <a:srgbClr val="1B3B6F"/>
                </a:solidFill>
                <a:latin typeface="Cambria" pitchFamily="34" charset="0"/>
                <a:cs typeface="Amiri" pitchFamily="2" charset="-78"/>
              </a:rPr>
              <a:t>) full-mark model: an important date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11274552" cy="3931920"/>
          </a:xfrm>
          <a:prstGeom prst="roundRect">
            <a:avLst>
              <a:gd name="adj" fmla="val 186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3675888"/>
          </a:xfrm>
          <a:prstGeom prst="rect">
            <a:avLst/>
          </a:prstGeom>
          <a:noFill/>
          <a:ln/>
        </p:spPr>
        <p:txBody>
          <a:bodyPr wrap="square" lIns="0" tIns="0" rIns="0" bIns="0" rtlCol="0" anchor="ctr"/>
          <a:lstStyle/>
          <a:p>
            <a:pPr rtl="1" algn="r" indent="0" marL="0">
              <a:lnSpc>
                <a:spcPct val="120000"/>
              </a:lnSpc>
              <a:buNone/>
            </a:pPr>
            <a:r>
              <a:rPr lang="ar-SA" altLang="en-US" sz="1750" dirty="0">
                <a:solidFill>
                  <a:srgbClr val="1F2A37"/>
                </a:solidFill>
                <a:latin typeface="Amiri" pitchFamily="2" charset="-78"/>
                <a:cs typeface="Amiri" pitchFamily="2" charset="-78"/>
              </a:rPr>
              <a:t>أَهَمُّ تَارِيخٍ فِي حَيَاتِي هُوَ الخَامِسَ عَشَرَ مِنْ مَارِسَ، لِأَنَّهُ يَوْمُ مِيلَادِ أُخْتِي الصَّغِيرَةِ سَلْمَى. وُلِدَتْ فِي مُسْتَشْفًى قَرِيبٍ مِنْ بَيْتِنَا فِي السَّاعَةِ الثَّالِثَةِ فَجْرًا، وَكُنْتُ وَقْتَهَا فِي السَّابِعَةِ مِنْ عُمْرِي. قَبْلَ وِلَادَتِهَا كُنْتُ الطِّفْلَ الوَحِيدَ فِي البَيْتِ، أَمَّا الآنَ فَعِنْدِي صَدِيقَةٌ تَلْعَبُ مَعِي كُلَّ يَوْمٍ.</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السَّنَةِ المَاضِيَةِ احْتَفَلْنَا بِعِيدِ مِيلَادِهَا يَوْمَ السَّبْتِ؛ زَيَّنَّا البَيْتَ بِالبَالُونَاتِ المُلَوَّنَةِ فِي الصَّبَاحِ، وَجَاءَ أَقَارِبُنَا فِي الرَّابِعَةِ، وَأَكَلْنَا كَعْكَةً كَبِيرَةً، ثُمَّ لَعِبْنَا حَتَّى المَسَاءِ. وَقَدَّمْتُ لَهَا هَدِيَّةً جَمِيلَةً، فَفَرِحَتْ كَثِيرًا.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رَأْيِي، هٰذِهِ المُنَاسَبَاتُ مُهِمَّةٌ لِأَنَّهَا تَجْمَعُ الأُسْرَةَ، غَيْرَ أَنَّ بَعْضَ النَّاسِ يُنْفِقُونَ أَمْوَالًا كَثِيرَةً عَلَيْهَا، وَهٰذَا غَيْرُ ضَرُورِيٍّ؛ فَالأَهَمُّ مِنَ الهَدَايَا هُوَ الوَقْتُ الَّذِي نَقْضِيهِ مَعًا.</a:t>
            </a:r>
            <a:endParaRPr lang="ar-SA" sz="1750" dirty="0"/>
          </a:p>
          <a:p>
            <a:pPr rtl="1" algn="r" indent="0" marL="0">
              <a:lnSpc>
                <a:spcPct val="120000"/>
              </a:lnSpc>
              <a:buNone/>
            </a:pPr>
            <a:r>
              <a:rPr lang="ar-SA" altLang="en-US" sz="1750" dirty="0">
                <a:solidFill>
                  <a:srgbClr val="1F2A37"/>
                </a:solidFill>
                <a:latin typeface="Amiri" pitchFamily="2" charset="-78"/>
                <a:cs typeface="Amiri" pitchFamily="2" charset="-78"/>
              </a:rPr>
              <a:t>فِي السَّنَةِ القَادِمَةِ سَأُخَطِّطُ لِحَفْلَةٍ بَسِيطَةٍ فِي الحَدِيقَةِ، وَسَأَدْعُو صَدِيقَاتِهَا مِنَ المَدْرَسَةِ، وَسَأَصْنَعُ لَهَا بِطَاقَةً بِيَدِي. وَلَوْ كَانَ عِنْدِي مَالٌ كَافٍ، لَأَخَذْتُهَا إِلَى حَدِيقَةِ الحَيَوَانَاتِ، لِأَنَّهَا تُحِبُّ الحَيَوَانَاتِ كَثِيرًا.</a:t>
            </a:r>
            <a:endParaRPr lang="ar-SA" sz="1750" dirty="0"/>
          </a:p>
        </p:txBody>
      </p:sp>
      <p:sp>
        <p:nvSpPr>
          <p:cNvPr id="17" name="Text 14"/>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18" name="Shape 15"/>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19" name="Text 16"/>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الخَامِسَ عَشَرَ مِنْ مَارِسَ</a:t>
            </a:r>
            <a:endParaRPr lang="en-US" sz="950" dirty="0"/>
          </a:p>
        </p:txBody>
      </p:sp>
      <p:sp>
        <p:nvSpPr>
          <p:cNvPr id="20" name="Shape 17"/>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1" name="Text 18"/>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أَمَّا الآنَ فَعِنْدِي</a:t>
            </a:r>
            <a:endParaRPr lang="en-US" sz="950" dirty="0"/>
          </a:p>
        </p:txBody>
      </p:sp>
      <p:sp>
        <p:nvSpPr>
          <p:cNvPr id="22" name="Shape 19"/>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3" name="Text 20"/>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غَيْرَ أَنَّ</a:t>
            </a:r>
            <a:endParaRPr lang="en-US" sz="950" dirty="0"/>
          </a:p>
        </p:txBody>
      </p:sp>
      <p:sp>
        <p:nvSpPr>
          <p:cNvPr id="24" name="Shape 21"/>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لَوْ … لَأَخَذْتُهَا</a:t>
            </a:r>
            <a:endParaRPr lang="en-US" sz="950" dirty="0"/>
          </a:p>
        </p:txBody>
      </p:sp>
      <p:sp>
        <p:nvSpPr>
          <p:cNvPr id="26" name="Text 2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18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AT-A-L02 · Writing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Topic A · Writing workshop · AT-A-L02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Q1: every box in Arabic, with dates and times written correctly.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all four bullet points, with a greeting and a closing.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Q2: a past sentence (last weekend) and a future sentence (the holiday).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four paragraphs in three time frames.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Q3: ordinals, ammā … fa- or a conditional used accurately.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18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AT-A-L02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great writing practice today!</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WORKSHOP</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AT-A-L03 · Exam practice · Speaking and writing workshops — the next Topic A lesson</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وَرْشَةُ التَّدْرِيبِ</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cover every bullet point, check your verb endings, and use three time frames in Question 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AT-A-L02 · Writing Workshop — Calendar and the School Week</dc:title>
  <dc:subject>PptxGenJS Presentation</dc:subject>
  <dc:creator>Al Madina Online School · Arabic Department</dc:creator>
  <cp:lastModifiedBy>Al Madina Online School · Arabic Department</cp:lastModifiedBy>
  <cp:revision>1</cp:revision>
  <dcterms:created xsi:type="dcterms:W3CDTF">2026-10-11T07:50:46Z</dcterms:created>
  <dcterms:modified xsi:type="dcterms:W3CDTF">2026-10-11T07:50:46Z</dcterms:modified>
</cp:coreProperties>
</file>