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mostly in breakout rooms of three.
0–2 Welcome · 2–6 How Paper 3 works · 6–10 Language bank · 10–13 Breakout routine · 13–33 Role plays A–D in rooms (rotate roles) · 33–37 Role-play models (main room) · 37–50 Topic conversation in rooms · 50–55 Conversation models · 55–58 Feedback + self-check · 58–60 Close.
Content: teacher-made exam scenarios for Advanced Topic A, Lesson 1 (Time and Daily Routine, AT-A-L01), using that lesson’s verbs, times, sequencing and frequency language. Every task has Core · Develop · Stretch support and a model answer.
EXAM FORMAT: Paper 3 Speaking = a role play and a topic conversation, as in the Cambridge IGCSE Arabic 0544 speaking test. Check timings and marks against the current syllabus and the past paper you use.
BREAKOUT ROOMS: set up rooms of three before the lesson (mixed or same-level — see slide 6). Send the slides as a PDF or share the deck link so every room can see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explain that most of the lesson happens in breakout rooms; the teacher visits each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Role play = precise and complete; conversation = develop. Choral repetition of the three repair phrases. To a girl: تُعِيدِي.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LANGUAGE BANK (2 min) — the AT-A-L01 verbs with the four forms students need in the exam: I (أَـ), he (يَـ), she (تَـ), they (يَـ…ونَ). Say “I” → “she” for each: أَسْتَيْقِظُ → تَسْتَيْقِظُ.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LANGUAGE BANK (2 min) — adjectives with m. / f. / pl. (a girl says: أَنَا نَاعِسَةٌ / مُتْعَبَةٌ), plus frequency and time adverbs that lift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BREAKOUT ROUTINE (3 min, in the main room before opening rooms). Grouping: same-level rooms make the routes simple; mixed rooms work if the strongest student is examiner first. Post the room timer in the chat. Teacher visits every room for about two minutes and listens to at least one candidate per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A (Core) — at a summer camp.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تَسْتَيْقِظِينَ · تَتَنَاوَلِينَ · تَذْهَبِينَ · تَفْعَلِينَ.
Core role play: one full sentence per task is enough. Check the “I” prefix أَـ on every verb (أَسْتَيْقِظُ · أَتَنَاوَلُ · أَسْتَقِلُّ).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B (Core+) — a phone call with your host family.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تَسْتَيْقِظِينَ · تَتَنَاوَلِينَ · تَذْهَبِينَ · تَفْعَلِينَ.
Task 4: the CANDIDATE asks the question; the examiner answers with the line in brackets. Asking a question is a common role-play task — practise the question words (مَتَى · فِي أَيِّ سَاعَةٍ · كَمْ). To a girl: نَاعِسَةً.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C (Develop) — at the sports club.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كَيْفَ أُسَاعِدُكِ؟ · يُنَاسِبُكِ · صِفِي لِي يَوْمَكِ · تُمَارِسِينَ.
Develop: add a reason (لِأَنِّي) or a frequency word (عَادَةً · أَحْيَانًا) to every answer. Frequency: مَرَّةً (once) · مَرَّتَيْنِ (twice) · ثَلَاثَ مَرَّاتٍ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D (Stretch) — an interview for the school radio.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صِفِي لَنَا · فَعَلْتِ · رُوتِينُكِ · رَأْيِكِ · سَتُغَيِّرِينَ — and the candidate says مُتْعَبَةً.
Stretch: three time frames (present routine, past yesterday, future change), an opinion with a reason and a contrast. Task 1 uses بَعْدَ أَنْ + subjunctive (أَتَوَضَّأَ · أُصَلِّيَ). Students who prefer may describe any morning routine; prayer is an example, not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Observers keep this slide open (or copy the six points into their book). Teacher collects one strong WWW per room in the main room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Core. Examiner asks the questions in order and may add “لِمَاذَا؟ / هَلْ يُمْكِنُ أَنْ تَشْرَحَ أَكْثَرَ؟” to push for more. Candidate aims for one full sentence per question, with a time or a frequency word.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Develop. Examiner asks the questions in order and may add “لِمَاذَا؟ / هَلْ يُمْكِنُ أَنْ تَشْرَحَ أَكْثَرَ؟” to push for more. Candidate aims for two or three sentences, with sequence words and a reason.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Stretch. Examiner asks the questions in order and may add “لِمَاذَا؟ / هَلْ يُمْكِنُ أَنْ تَشْرَحَ أَكْثَرَ؟” to push for more. Candidate aims for a developed answer: opinion, reason, example, and more than one time frame.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(Core)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(Develop)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Workshop — Time and Daily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التَّحَدُّثِ — 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3 practice in breakout rooms: four role plays and a topic conversation about your day — answer every task in a full sentence, then develop with times, sequence, frequency and reasons.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AT-A-L01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speaking exam works; the language you need.</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 plays A–D in breakout rooms.</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تَمْثِيلُ الدَّوْرِ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8A6D1E"/>
          </a:solidFill>
          <a:ln w="12700">
            <a:solidFill>
              <a:srgbClr val="8A6D1E"/>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Role-play models.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النَّمُوذَجُ</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Topic conversation in breakout rooms.</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المُحَادَثَةُ</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Conversation models, feedback,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In the rooms everyone has a job: examiner, candidate or observer. You will swap after each role play, so everybody speaks.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3 SPEAKING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speaking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TWO PARTS WE PRACTISE TODAY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ROLE PLAY — a card with a situation and tasks. The examiner asks; you answer every task in a full, clear sentence. One task is unexpected (!).</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TOPIC CONVERSATION — the examiner asks questions about a topic you know. Short answers are not enough: develop each one.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Examiners reward: completing the tasks, a range of language (tenses, linking words, opinions) and accuracy.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stay silent — use a repair phrase and keep going.</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REPAIR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دَعْنِي أُفَكِّرُ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let me think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LANGUAGE BANK · ROUTINE VERBS (I · HE · SHE · THEY)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for your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meal)</a:t>
            </a:r>
            <a:endParaRPr lang="en-US" sz="1350" dirty="0"/>
          </a:p>
          <a:p>
            <a:pPr indent="0" marL="0">
              <a:buNone/>
            </a:pPr>
            <a:r>
              <a:rPr lang="en-US" sz="1100" i="1" dirty="0">
                <a:solidFill>
                  <a:srgbClr val="5A6472"/>
                </a:solidFill>
                <a:latin typeface="Calibri" pitchFamily="34" charset="0"/>
                <a:cs typeface="Amiri" pitchFamily="2" charset="-78"/>
              </a:rPr>
              <a:t>a-ta-nā-wa-lu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يَتَنَاوَلُونَ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أَسْتَقِلُّ الحَافِلَةَ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the bus</a:t>
            </a:r>
            <a:endParaRPr lang="en-US" sz="1350" dirty="0"/>
          </a:p>
          <a:p>
            <a:pPr indent="0" marL="0">
              <a:buNone/>
            </a:pPr>
            <a:r>
              <a:rPr lang="en-US" sz="1100" i="1" dirty="0">
                <a:solidFill>
                  <a:srgbClr val="5A6472"/>
                </a:solidFill>
                <a:latin typeface="Calibri" pitchFamily="34" charset="0"/>
                <a:cs typeface="Amiri" pitchFamily="2" charset="-78"/>
              </a:rPr>
              <a:t>as-ta-qil-lu al-ḥā-fi-la-ta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يَسْتَقِلُّونَ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تَسْتَقِلُّ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يَسْتَقِلُّ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أَسْتَعِدُّ</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ready</a:t>
            </a:r>
            <a:endParaRPr lang="en-US" sz="1350" dirty="0"/>
          </a:p>
          <a:p>
            <a:pPr indent="0" marL="0">
              <a:buNone/>
            </a:pPr>
            <a:r>
              <a:rPr lang="en-US" sz="1100" i="1" dirty="0">
                <a:solidFill>
                  <a:srgbClr val="5A6472"/>
                </a:solidFill>
                <a:latin typeface="Calibri" pitchFamily="34" charset="0"/>
                <a:cs typeface="Amiri" pitchFamily="2" charset="-78"/>
              </a:rPr>
              <a:t>as-ta-ʿid-du</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يَسْتَعِدُّونَ</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تَسْتَعِدُّ</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يَسْتَعِدُّ</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a:t>
            </a:r>
            <a:endParaRPr lang="en-US" sz="1350" dirty="0"/>
          </a:p>
          <a:p>
            <a:pPr indent="0" marL="0">
              <a:buNone/>
            </a:pPr>
            <a:r>
              <a:rPr lang="en-US" sz="1100" i="1" dirty="0">
                <a:solidFill>
                  <a:srgbClr val="5A6472"/>
                </a:solidFill>
                <a:latin typeface="Calibri" pitchFamily="34" charset="0"/>
                <a:cs typeface="Amiri" pitchFamily="2" charset="-78"/>
              </a:rPr>
              <a:t>a-ṣi-lu</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يَصِلُونَ</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تَصِلُ</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يَصِلُ</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207008"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أَنَامُ</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sleep, go to bed</a:t>
            </a:r>
            <a:endParaRPr lang="en-US" sz="1350" dirty="0"/>
          </a:p>
          <a:p>
            <a:pPr indent="0" marL="0">
              <a:buNone/>
            </a:pPr>
            <a:r>
              <a:rPr lang="en-US" sz="1100" i="1" dirty="0">
                <a:solidFill>
                  <a:srgbClr val="5A6472"/>
                </a:solidFill>
                <a:latin typeface="Calibri" pitchFamily="34" charset="0"/>
                <a:cs typeface="Amiri" pitchFamily="2" charset="-78"/>
              </a:rPr>
              <a:t>a-nā-mu</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يَنَامُونَ</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تَنَامُ</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يَنَامُ</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LANGUAGE BANK · HOW YOU FEEL, TIME AND FREQUENCY (M. · F. · PL.)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it: feelings, time, frequency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الصِّفَاتُ وَالوَقْتُ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نَشِيطٌ</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energetic</a:t>
            </a:r>
            <a:endParaRPr lang="en-US" sz="1350" dirty="0"/>
          </a:p>
          <a:p>
            <a:pPr indent="0" marL="0">
              <a:buNone/>
            </a:pPr>
            <a:r>
              <a:rPr lang="en-US" sz="1100" i="1" dirty="0">
                <a:solidFill>
                  <a:srgbClr val="5A6472"/>
                </a:solidFill>
                <a:latin typeface="Calibri" pitchFamily="34" charset="0"/>
                <a:cs typeface="Amiri" pitchFamily="2" charset="-78"/>
              </a:rPr>
              <a:t>na-shī-ṭun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نَاعِسٌ</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sleepy</a:t>
            </a:r>
            <a:endParaRPr lang="en-US" sz="1350" dirty="0"/>
          </a:p>
          <a:p>
            <a:pPr indent="0" marL="0">
              <a:buNone/>
            </a:pPr>
            <a:r>
              <a:rPr lang="en-US" sz="1100" i="1" dirty="0">
                <a:solidFill>
                  <a:srgbClr val="5A6472"/>
                </a:solidFill>
                <a:latin typeface="Calibri" pitchFamily="34" charset="0"/>
                <a:cs typeface="Amiri" pitchFamily="2" charset="-78"/>
              </a:rPr>
              <a:t>nā-ʿi-sun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a:t>
            </a:r>
            <a:endParaRPr lang="en-US" sz="1350" dirty="0"/>
          </a:p>
          <a:p>
            <a:pPr indent="0" marL="0">
              <a:buNone/>
            </a:pPr>
            <a:r>
              <a:rPr lang="en-US" sz="1100" i="1" dirty="0">
                <a:solidFill>
                  <a:srgbClr val="5A6472"/>
                </a:solidFill>
                <a:latin typeface="Calibri" pitchFamily="34" charset="0"/>
                <a:cs typeface="Amiri" pitchFamily="2" charset="-78"/>
              </a:rPr>
              <a:t>mut-ʿa-bun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مُنَبِّهٌ</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alarm clock</a:t>
            </a:r>
            <a:endParaRPr lang="en-US" sz="1350" dirty="0"/>
          </a:p>
          <a:p>
            <a:pPr indent="0" marL="0">
              <a:buNone/>
            </a:pPr>
            <a:r>
              <a:rPr lang="en-US" sz="1100" i="1" dirty="0">
                <a:solidFill>
                  <a:srgbClr val="5A6472"/>
                </a:solidFill>
                <a:latin typeface="Calibri" pitchFamily="34" charset="0"/>
                <a:cs typeface="Amiri" pitchFamily="2" charset="-78"/>
              </a:rPr>
              <a:t>mu-nab-bi-hun</a:t>
            </a:r>
            <a:endParaRPr lang="en-US" sz="1350" dirty="0"/>
          </a:p>
        </p:txBody>
      </p:sp>
      <p:sp>
        <p:nvSpPr>
          <p:cNvPr id="78" name="Shape 7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مُنَبِّهَاتٌ</a:t>
            </a:r>
            <a:endParaRPr lang="ar-SA" sz="1500" dirty="0"/>
          </a:p>
        </p:txBody>
      </p:sp>
      <p:sp>
        <p:nvSpPr>
          <p:cNvPr id="81" name="Shape 7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3" name="Text 8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a:t>
            </a:r>
            <a:endParaRPr lang="ar-SA" sz="1500" dirty="0"/>
          </a:p>
        </p:txBody>
      </p:sp>
      <p:sp>
        <p:nvSpPr>
          <p:cNvPr id="84" name="Shape 8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4389120"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7" name="Shape 8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frequency</a:t>
            </a:r>
            <a:endParaRPr lang="en-US" sz="800" dirty="0"/>
          </a:p>
        </p:txBody>
      </p:sp>
      <p:sp>
        <p:nvSpPr>
          <p:cNvPr id="89" name="Shape 8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0" name="Text 8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1" name="Text 8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 أَحْيَانًا</a:t>
            </a:r>
            <a:endParaRPr lang="ar-SA" sz="3000" dirty="0"/>
          </a:p>
        </p:txBody>
      </p:sp>
      <p:sp>
        <p:nvSpPr>
          <p:cNvPr id="92" name="Text 8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 · sometimes</a:t>
            </a:r>
            <a:endParaRPr lang="en-US" sz="1350" dirty="0"/>
          </a:p>
          <a:p>
            <a:pPr indent="0" marL="0">
              <a:buNone/>
            </a:pPr>
            <a:r>
              <a:rPr lang="en-US" sz="1100" i="1" dirty="0">
                <a:solidFill>
                  <a:srgbClr val="5A6472"/>
                </a:solidFill>
                <a:latin typeface="Calibri" pitchFamily="34" charset="0"/>
                <a:cs typeface="Amiri" pitchFamily="2" charset="-78"/>
              </a:rPr>
              <a:t>ʿā-da-tan · aḥ-yā-nan</a:t>
            </a:r>
            <a:endParaRPr lang="en-US" sz="135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6" name="Shape 9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time</a:t>
            </a:r>
            <a:endParaRPr lang="en-US" sz="800" dirty="0"/>
          </a:p>
        </p:txBody>
      </p:sp>
      <p:sp>
        <p:nvSpPr>
          <p:cNvPr id="98" name="Shape 9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9" name="Text 9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0" name="Text 9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مُبَكِّرًا · مُتَأَخِّرًا</a:t>
            </a:r>
            <a:endParaRPr lang="ar-SA" sz="3000" dirty="0"/>
          </a:p>
        </p:txBody>
      </p:sp>
      <p:sp>
        <p:nvSpPr>
          <p:cNvPr id="101" name="Text 9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 · late</a:t>
            </a:r>
            <a:endParaRPr lang="en-US" sz="1350" dirty="0"/>
          </a:p>
          <a:p>
            <a:pPr indent="0" marL="0">
              <a:buNone/>
            </a:pPr>
            <a:r>
              <a:rPr lang="en-US" sz="1100" i="1" dirty="0">
                <a:solidFill>
                  <a:srgbClr val="5A6472"/>
                </a:solidFill>
                <a:latin typeface="Calibri" pitchFamily="34" charset="0"/>
                <a:cs typeface="Amiri" pitchFamily="2" charset="-78"/>
              </a:rPr>
              <a:t>mu-bak-ki-ran · mu-ta-ʾakh-khi-ran</a:t>
            </a:r>
            <a:endParaRPr lang="en-US" sz="1350" dirty="0"/>
          </a:p>
        </p:txBody>
      </p:sp>
      <p:sp>
        <p:nvSpPr>
          <p:cNvPr id="102" name="Text 9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BREAKOUT ROOMS · HOW WE WORK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 candidate · observer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BREAKOUT ROUTINE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Three jobs, then swap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Rooms of three. A = examiner (reads the questions only). B = candidate (answers from the task card). C = observer (ticks the checklist and gives one WWW and one EBI).</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candidate reads the card and plans (no writing full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About 3 minutes: the role play — the examiner reads every question in order.</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observer gives feedback (WWW + EBI).</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jobs and do the next role play. Then the topic conversation.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A and B, with the help column. Conversation: Core questions.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B and C, help column covered. Conversation: Core + Develop questions.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C and D, no help. Conversation: Develop + Stretch questions, push with “why?”.</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تَكَلَّمْ أَكْثَرَ، مِنْ فَضْلِكَ</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say more, please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لِمَاذَا؟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A · CORE · AT A SUMMER CAMP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A — At the summer camp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المُخَيَّمِ الصَّيْفِيِّ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اسْمِي … وَعُمْرِي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your name and your age.</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 فِي السَّاعَةِ …</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time you usually wake up.</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سَاعَةٍ تَسْتَيْقِظُ عَادَةً؟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أَتَنَاوَلُ … وَأَشْرَبُ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have for breakfast.</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تَتَنَاوَلُ فِي الإِفْطَارِ؟</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أَسْتَقِلُّ الحَافِلَةَ / أَمْشِي</a:t>
            </a:r>
            <a:endParaRPr lang="ar-SA" sz="1500" dirty="0"/>
          </a:p>
        </p:txBody>
      </p:sp>
      <p:sp>
        <p:nvSpPr>
          <p:cNvPr id="43" name="Text 40"/>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you get to school.</a:t>
            </a:r>
            <a:endParaRPr lang="en-US" sz="1100" dirty="0"/>
          </a:p>
        </p:txBody>
      </p:sp>
      <p:sp>
        <p:nvSpPr>
          <p:cNvPr id="44" name="Text 41"/>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بَعْدَ المَدْرَسَةِ أَ…</a:t>
            </a:r>
            <a:endParaRPr lang="ar-SA" sz="1500" dirty="0"/>
          </a:p>
        </p:txBody>
      </p:sp>
      <p:sp>
        <p:nvSpPr>
          <p:cNvPr id="50" name="Text 47"/>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a:t>
            </a:r>
            <a:endParaRPr lang="en-US" sz="1100" dirty="0"/>
          </a:p>
        </p:txBody>
      </p:sp>
      <p:sp>
        <p:nvSpPr>
          <p:cNvPr id="51" name="Text 48"/>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تَفْعَلُ بَعْدَ المَدْرَسَةِ؟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new camper  ·  The examiner is: the camp leader  ·  ! = unexpected question: listen carefully.</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B · CORE+ · A PHONE CALL WITH YOUR HOST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Role play B — Calling your host family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مَعَ الأُسْرَةِ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أَيَّامِ المَدْرَسَةِ أَسْتَيْقِظُ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when you wake up on school days.</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فِي أَيَّامِ المَدْرَسَةِ؟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مُتَأَخِّرًا لِأَنِّي …</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when you wake up at the weekend — and why.</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وَفِي نِهَايَةِ الأُسْبُوعِ؟</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أَوَّلًا … ثُمَّ … بَعْدَ ذٰلِكَ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or three morning activities in order.</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الصَّبَاحِ قَبْلَ المَدْرَسَةِ؟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أَيِّ سَاعَةٍ …؟</a:t>
            </a:r>
            <a:endParaRPr lang="ar-SA" sz="1500" dirty="0"/>
          </a:p>
        </p:txBody>
      </p:sp>
      <p:sp>
        <p:nvSpPr>
          <p:cNvPr id="41" name="Text 38"/>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what time the family has breakfast (the examiner then answers).</a:t>
            </a:r>
            <a:endParaRPr lang="en-US" sz="1100" dirty="0"/>
          </a:p>
        </p:txBody>
      </p:sp>
      <p:sp>
        <p:nvSpPr>
          <p:cNvPr id="42" name="Text 39"/>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 نَتَنَاوَلُ الإِفْطَارَ فِي السَّابِعَةِ.</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نَعَمْ، أَحْتَاجُ إِلَى …</a:t>
            </a:r>
            <a:endParaRPr lang="ar-SA" sz="1500" dirty="0"/>
          </a:p>
        </p:txBody>
      </p:sp>
      <p:sp>
        <p:nvSpPr>
          <p:cNvPr id="46" name="Text 43"/>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a:t>
            </a:r>
            <a:endParaRPr lang="en-US" sz="1100" dirty="0"/>
          </a:p>
        </p:txBody>
      </p:sp>
      <p:sp>
        <p:nvSpPr>
          <p:cNvPr id="47" name="Text 44"/>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تَحْتَاجُ إِلَى شَيْءٍ فِي الصَّبَاحِ؟</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student going on an exchange visit  ·  The examiner is: your host mother / father  ·  ! = unexpected question: listen carefully.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C · DEVELOP · AT THE SPORTS CLUB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Role play C — Joining the swimming club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النَّادِي الرِّيَاضِيِّ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أَشْتَرِكَ فِي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which class you want to join.</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بِكَ فِي النَّادِي. كَيْفَ أُسَاعِدُكَ؟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يُنَاسِبُنِي … لِأَنِّي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 time and give a reason.</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عِنْدَنَا دُرُوسٌ صَبَاحًا وَمَسَاءً. أَيُّ وَقْتٍ يُنَاسِبُكَ؟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أَصِلُ … ثُمَّ … وَأَخِيرًا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afternoon in order (three activities).</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لِي يَوْمَكَ بَعْدَ المَدْرَسَةِ.</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كَمْ دَقِيقَةً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how long the lesson lasts (the examiner then answers).</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 يَسْتَغْرِقُ الدَّرْسُ سَاعَةً وَاحِدَةً.</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مَرَّةً / مَرَّتَيْنِ / ثَلَاثَ مَرَّاتٍ</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تُمَارِسُ الرِّيَاضَةَ فِي الأُسْبُوعِ؟</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student who wants to join a club  ·  The examiner is: the club receptionist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D · STRETCH · AN INTERVIEW FOR THE SCHOOL RADIO</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 play D — The school radio: a balanced day</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مَعَ إِذَاعَةِ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بَعْدَ أَنْ أَتَوَضَّأَ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typical day, with times and sequence.</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لَنَا يَوْمًا عَادِيًّا فِي حَيَاتِكَ.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 فِي العُطْلَةِ فَأَسْتَيْقِظُ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school days and holidays.</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أَيَّامِ الدِّرَاسَةِ وَالعُطْلَةِ؟</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رَجَعْتُ … ثُمَّ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did yesterday (past tense).</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أَمْسِ بَعْدَ المَدْرَسَةِ؟</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أَعْتَقِدُ أَنَّهُ … لٰكِنَّنِي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 and a “but”.</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رُوتِينُكَ صِحِّيٌّ فِي رَأْيِكَ؟ لِمَاذَا؟</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سَأُحَاوِلُ أَنْ …</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(future).</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سَتُغَيِّرُ فِي رُوتِينِكَ فِي المُسْتَقْبَلِ؟</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student being interviewed  ·  The examiner is: the school-radio presenter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OBSERVER · FEEDBACK CHECKLIST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Observer: tick and give feedback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وَرَقَةُ المُلَاحِظِ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you heard</a:t>
            </a:r>
            <a:endParaRPr lang="en-US" sz="1100" dirty="0"/>
          </a:p>
        </p:txBody>
      </p:sp>
      <p:sp>
        <p:nvSpPr>
          <p:cNvPr id="17" name="Text 14"/>
          <p:cNvSpPr txBox="1"/>
          <p:nvPr/>
        </p:nvSpPr>
        <p:spPr>
          <a:xfrm>
            <a:off x="76626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1996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candidate …</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699248" y="2267712"/>
            <a:ext cx="914400" cy="559308"/>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23620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answered EVERY task, including the unexpected one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699248" y="2881884"/>
            <a:ext cx="914400" cy="559308"/>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23620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2881884"/>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full sentences with the correct “I” verb (a-: astayqiẓu)</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699248" y="3496056"/>
            <a:ext cx="914400" cy="559308"/>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23620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496056"/>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added a time, a sequence word or a frequency word</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699248" y="4110228"/>
            <a:ext cx="914400" cy="559308"/>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23620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110228"/>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gave a reason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or an opinion (</a:t>
            </a:r>
            <a:pPr algn="l" indent="0" marL="0">
              <a:buNone/>
            </a:pPr>
            <a:r>
              <a:rPr lang="ar-SA" altLang="en-US" sz="1450" dirty="0">
                <a:solidFill>
                  <a:srgbClr val="5A6472"/>
                </a:solidFill>
                <a:latin typeface="Amiri" pitchFamily="2" charset="-78"/>
                <a:ea typeface="Amiri" pitchFamily="2" charset="-78"/>
                <a:cs typeface="Amiri" pitchFamily="2" charset="-78"/>
              </a:rPr>
              <a:t>فِي رَأْيِي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699248" y="4724400"/>
            <a:ext cx="914400" cy="559308"/>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23620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4724400"/>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more than one time frame (past / future)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7699248" y="5338572"/>
            <a:ext cx="914400" cy="559308"/>
          </a:xfrm>
          <a:prstGeom prst="rect">
            <a:avLst/>
          </a:prstGeom>
          <a:noFill/>
          <a:ln/>
        </p:spPr>
        <p:txBody>
          <a:bodyPr wrap="square" lIns="0" tIns="0" rIns="0" bIns="0" rtlCol="0" anchor="ctr"/>
          <a:lstStyle/>
          <a:p>
            <a:pPr algn="l" indent="0" marL="0">
              <a:buNone/>
            </a:pPr>
            <a:endParaRPr lang="en-US" sz="1100" dirty="0"/>
          </a:p>
        </p:txBody>
      </p:sp>
      <p:sp>
        <p:nvSpPr>
          <p:cNvPr id="52" name="Text 49"/>
          <p:cNvSpPr txBox="1"/>
          <p:nvPr/>
        </p:nvSpPr>
        <p:spPr>
          <a:xfrm>
            <a:off x="623620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t>
            </a:r>
            <a:endParaRPr lang="en-US" sz="1100" dirty="0"/>
          </a:p>
        </p:txBody>
      </p:sp>
      <p:sp>
        <p:nvSpPr>
          <p:cNvPr id="53" name="Text 50"/>
          <p:cNvSpPr txBox="1"/>
          <p:nvPr/>
        </p:nvSpPr>
        <p:spPr>
          <a:xfrm>
            <a:off x="566928" y="533857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kept going with a repair phrase instead of silence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Feedback in the room: one WWW (what went well) + one EBI (even better if …).</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A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A: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آدَمُ، وَعُمْرِي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Adam and I am fourteen.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عَادَةً فِي السَّاعَةِ السَّادِسَةِ وَالنِّصْفِ.</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wake up at half past six.</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أَيِّ سَاعَةٍ تَسْتَيْقِظُ عَادَةً؟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الخُبْزَ وَالجُبْنَ، وَأَشْرَبُ الحَلِيبَ.</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eat bread and cheese, and I drink milk.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تَتَنَاوَلُ فِي الإِفْطَارِ؟</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أَسْتَقِلُّ الحَافِلَةَ، وَأَصِلُ إِلَى المَدْرَسَةِ فِي الثَّامِنَةِ.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take the bus and arrive at school at eight.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 إِلَى المَدْرَسَةِ؟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أَتَنَاوَلُ الغَدَاءَ، ثُمَّ أَدْرُسُ.</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school I have lunch, then I study.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تَفْعَلُ بَعْدَ المَدْرَسَةِ؟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B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B: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أَيَّامِ المَدْرَسَةِ أَسْتَيْقِظُ مُبَكِّرًا، فِي السَّاعَةِ السَّادِسَةِ.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school days I wake up early, at six o’clock.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تَسْتَيْقِظُ فِي أَيَّامِ المَدْرَسَةِ؟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أَسْتَيْقِظُ مُتَأَخِّرًا، لِأَنِّي أُحِبُّ النَّوْمَ!</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the weekend I wake up late, because I love sleeping!</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وَفِي نِهَايَةِ الأُسْبُوعِ؟</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أَغْتَسِلُ، ثُمَّ أَرْتَدِي مَلَابِسِي، وَبَعْدَ ذٰلِكَ أَتَنَاوَلُ الإِفْطَارَ.</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shower, then I get dressed, and after that I have breakfast.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فِي الصَّبَاحِ قَبْلَ المَدْرَسَةِ؟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أَيِّ سَاعَةٍ تَتَنَاوَلُونَ الإِفْطَارَ؟</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time do you (all) have breakfast?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نَتَنَاوَلُ الإِفْطَارَ فِي السَّابِعَةِ.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أَحْتَاجُ إِلَى مُنَبِّهٍ، لِأَنِّي أَكُونُ نَاعِسًا فِي الصَّبَاحِ.</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need an alarm clock, because I am sleepy in the morning.</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تَحْتَاجُ إِلَى شَيْءٍ فِي الصَّبَاحِ؟</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C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C: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أَشْتَرِكَ فِي دَرْسِ السِّبَاحَةِ،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to join the swimming class,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بِكَ فِي النَّادِي. كَيْفَ أُسَاعِدُكَ؟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يُنَاسِبُنِي المَسَاءُ، لِأَنِّي فِي المَدْرَسَةِ مِنَ الثَّامِنَةِ إِلَى الثَّالِثَةِ.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evening suits me, because I am at school from eight to three.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عِنْدَنَا دُرُوسٌ صَبَاحًا وَمَسَاءً. أَيُّ وَقْتٍ يُنَاسِبُكَ؟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أَصِلُ إِلَى البَيْتِ فِي الرَّابِعَةِ، ثُمَّ أَتَنَاوَلُ الغَدَاءَ وَأُنْهِي وَاجِبَاتِي، وَأَخِيرًا أَرْتَاحُ قَلِيلًا.</a:t>
            </a:r>
            <a:endParaRPr lang="ar-SA" sz="175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get home at four, then I have lunch and finish my homework, and finally I rest a little.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لِي يَوْمَكَ بَعْدَ المَدْرَسَةِ.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دَقِيقَةً يَسْتَغْرِقُ الدَّرْسُ؟</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many minutes does the lesson last?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يَسْتَغْرِقُ الدَّرْسُ سَاعَةً وَاحِدَةً.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أُمَارِسُ الرِّيَاضَةَ مَرَّتَيْنِ فِي الأُسْبُوعِ عَادَةً، وَأَحْيَانًا ثَلَاثَ مَرَّاتٍ.</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do sport twice a week, and sometimes three times.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تُمَارِسُ الرِّيَاضَةَ فِي الأُسْبُوعِ؟</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D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D: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أَسْتَيْقِظُ فِي السَّادِسَةِ، وَبَعْدَ أَنْ أَتَوَضَّأَ وَأُصَلِّيَ الفَجْرَ أَسْتَعِدُّ لِلْمَدْرَسَةِ، ثُمَّ أَخْرُجُ مِنَ البَيْتِ فِي السَّابِعَةِ وَالنِّصْفِ.</a:t>
            </a:r>
            <a:endParaRPr lang="ar-SA" sz="14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six; after I do wudu and pray Fajr I get ready for school, then I leave home at half past seven.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لَنَا يَوْمًا عَادِيًّا فِي حَيَاتِكَ.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فِي أَيَّامِ الدِّرَاسَةِ يَكُونُ يَوْمِي مُنَظَّمًا وَسَرِيعًا، أَمَّا فِي العُطْلَةِ فَأَسْتَيْقِظُ مُتَأَخِّرًا وَأَقْضِي وَقْتًا أَطْوَلَ مَعَ أُسْرَتِي.</a:t>
            </a:r>
            <a:endParaRPr lang="ar-SA" sz="14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school days my day is organised and fast; in the holidays I wake up late and spend longer with my family.</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الفَرْقُ بَيْنَ أَيَّامِ الدِّرَاسَةِ وَالعُطْلَةِ؟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رَجَعْتُ إِلَى البَيْتِ مُتْعَبًا، فَأَخَذْتُ قَيْلُولَةً قَصِيرَةً، ثُمَّ رَاجَعْتُ دُرُوسِي سَاعَتَيْنِ.</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 I came home tired, so I had a short nap, then I revised for two hours.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 أَمْسِ بَعْدَ المَدْرَسَةِ؟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أَعْتَقِدُ أَنَّهُ صِحِّيٌّ إِلَى حَدٍّ مَا، لِأَنِّي أَتَنَاوَلُ الإِفْطَارَ كُلَّ يَوْمٍ، لٰكِنَّنِي أَنَامُ مُتَأَخِّرًا أَحْيَانًا.</a:t>
            </a:r>
            <a:endParaRPr lang="ar-SA" sz="17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think it is fairly healthy, because I eat breakfast every day, but I sometimes go to bed late.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رُوتِينُكَ صِحِّيٌّ فِي رَأْيِكَ؟ 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سَأُحَاوِلُ أَنْ أَنَامَ مُبَكِّرًا، وَسَأَسْتَعْمِلُ هَاتِفِي أَقَلَّ فِي اللَّيْلِ.</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try to sleep early, and I will use my phone less at night.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سَتُغَيِّرُ فِي رُوتِينِكَ فِي المُسْتَقْبَلِ؟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three time frames + an opinion + a contrast. Notice ammā … fa- (as for … then) and baʿda an + verb in -a.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CORE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Topic conversation — Core questions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 فِي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do you wake up?</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سَاعَةٍ تَسْتَيْقِظُ؟</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أَتَنَاوَلُ …</a:t>
            </a:r>
            <a:endParaRPr lang="ar-SA" sz="1500" dirty="0"/>
          </a:p>
        </p:txBody>
      </p:sp>
      <p:sp>
        <p:nvSpPr>
          <p:cNvPr id="29" name="Text 26"/>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have for breakfast?</a:t>
            </a:r>
            <a:endParaRPr lang="en-US" sz="1100" dirty="0"/>
          </a:p>
        </p:txBody>
      </p:sp>
      <p:sp>
        <p:nvSpPr>
          <p:cNvPr id="30" name="Text 27"/>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تَتَنَاوَلُ فِي الإِفْطَارِ؟</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أَذْهَبُ بِالسَّيَّارَةِ / أَمْشِي</a:t>
            </a:r>
            <a:endParaRPr lang="ar-SA" sz="1500" dirty="0"/>
          </a:p>
        </p:txBody>
      </p:sp>
      <p:sp>
        <p:nvSpPr>
          <p:cNvPr id="36" name="Text 33"/>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37" name="Text 34"/>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المَسَاءِ أَ…</a:t>
            </a:r>
            <a:endParaRPr lang="ar-SA" sz="1500" dirty="0"/>
          </a:p>
        </p:txBody>
      </p:sp>
      <p:sp>
        <p:nvSpPr>
          <p:cNvPr id="43" name="Text 40"/>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in the evening?</a:t>
            </a:r>
            <a:endParaRPr lang="en-US" sz="1100" dirty="0"/>
          </a:p>
        </p:txBody>
      </p:sp>
      <p:sp>
        <p:nvSpPr>
          <p:cNvPr id="44" name="Text 41"/>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المَسَاءِ؟</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أَنَامُ فِي …</a:t>
            </a:r>
            <a:endParaRPr lang="ar-SA" sz="1500" dirty="0"/>
          </a:p>
        </p:txBody>
      </p:sp>
      <p:sp>
        <p:nvSpPr>
          <p:cNvPr id="50" name="Text 47"/>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go to sleep?</a:t>
            </a:r>
            <a:endParaRPr lang="en-US" sz="1100" dirty="0"/>
          </a:p>
        </p:txBody>
      </p:sp>
      <p:sp>
        <p:nvSpPr>
          <p:cNvPr id="51" name="Text 48"/>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تَنَامُ؟</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one full sentence for every question. If you are stuck: </a:t>
            </a:r>
            <a:pPr algn="l" indent="0" marL="0">
              <a:buNone/>
            </a:pPr>
            <a:r>
              <a:rPr lang="ar-SA" altLang="en-US" sz="1500" b="1" dirty="0">
                <a:solidFill>
                  <a:srgbClr val="1B3B6F"/>
                </a:solidFill>
                <a:latin typeface="Amiri" pitchFamily="2" charset="-78"/>
                <a:ea typeface="Amiri" pitchFamily="2" charset="-78"/>
                <a:cs typeface="Amiri" pitchFamily="2" charset="-78"/>
              </a:rPr>
              <a:t>عَفْوًا، هَلْ يُمْكِنُ أَنْ تُعِيدَ السُّؤَالَ؟</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DEVELOP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Develop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رُوتِينِي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أَوَّلًا … ثُمَّ … وَأَخِيرًا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morning routine in order.</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رُوتِينَكَ الصَّبَاحِيَّ بِالتَّرْتِيبِ.</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نَعَمْ، فِي نِهَايَةِ الأُسْبُوعِ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your day different at the weekend?</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يَخْتَلِفُ يَوْمُكَ فِي نِهَايَةِ الأُسْبُوعِ؟</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 / تَسْتَيْقِظُ … أَوَّلًا</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wakes up first in your house?</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يَسْتَيْقِظُ أَوَّلًا فِي بَيْتِكَ؟</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أُحِبُّ … لِأَنَّ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part of the day? Why?</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الجُزْءُ المُفَضَّلُ مِنْ يَوْمِكَ؟ لِمَاذَا؟</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أَمْسِ اسْتَيْقَظْتُ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do yesterday morning?</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صَبَاحَ أَمْسِ؟</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two or three sentences — a sequence word (thumma · baʿda dhālika) and a reason (li-anna) in each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STRETCH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Stretch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تَنْظِيمُ الوَقْتِ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بَيْنَمَا أَسْتَيْقِظُ … يَسْتَيْقِظُ أَخِي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your routine with another family member’s.</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بَيْنَ رُوتِينِكَ وَرُوتِينِ شَخْصٍ آخَرَ فِي أُسْرَتِكَ.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رَأْيِي … لِأَنَّ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students get enough sleep, in your opinion?</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يَنَامُ الطُّلَّابُ وَقْتًا كَافِيًا فِي رَأْيِكَ؟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أَضَعُ جَدْوَلًا … وَأَحْرِصُ عَلَى …</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organise your time during exams?</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تُنَظِّمُ وَقْتَكَ فِي أَيَّامِ الامْتِحَانَاتِ؟</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عِنْدَمَا كُنْتُ صَغِيرًا كُنْتُ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your routine like when you were little?</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كَانَ رُوتِينُكَ عِنْدَمَا كُنْتَ صَغِيرًا؟</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كَانَ عِنْدِي يَوْمٌ حُرٌّ، لَزُرْتُ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a completely free day, how would you spend it?</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كَانَ عِنْدَكَ يَوْمٌ حُرٌّ تَمَامًا، كَيْفَ تَقْضِيهِ؟</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opinion + reason + example, and a second time frame (kuntu … · sa- … · law …).</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Core: what a strong answer sounds like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أَسْتَيْقِظُ فِي السَّاعَةِ السَّادِسَةِ وَالنِّصْفِ.</a:t>
            </a:r>
            <a:endParaRPr lang="ar-SA" sz="170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half past six.</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أَيِّ سَاعَةٍ تَسْتَيْقِظُ؟</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أَتَنَاوَلُ البَيْضَ وَالخُبْزَ عَادَةً.</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have eggs and bread.</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تَتَنَاوَلُ فِي الإِفْطَارِ؟</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أَذْهَبُ إِلَى المَدْرَسَةِ بِالسَّيَّارَةِ مَعَ أَبِي.</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to school by car with my father.</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تَذْهَبُ إِلَى المَدْرَسَةِ؟</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المَسَاءِ أَدْرُسُ ثُمَّ أُشَاهِدُ التِّلْفَازَ.</a:t>
            </a:r>
            <a:endParaRPr lang="ar-SA" sz="170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evening I study, then I watch TV.</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تَفْعَلُ فِي المَسَاءِ؟</a:t>
            </a:r>
            <a:endParaRPr lang="ar-SA" sz="15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أَنَامُ فِي السَّاعَةِ العَاشِرَةِ.</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to sleep at ten o’clock.</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مَتَى تَنَامُ؟</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Full sentence + a time or a frequency word = a secure Core answer.</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Develop: what a strong answer sounds like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أَوَّلًا أَسْتَيْقِظُ فِي السَّادِسَةِ، ثُمَّ أُنَظِّفُ أَسْنَانِي وَأَرْتَدِي مَلَابِسِي، وَأَخِيرًا أَتَنَاوَلُ الإِفْطَارَ مَعَ أُسْرَتِي.</a:t>
            </a:r>
            <a:endParaRPr lang="ar-SA" sz="165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wake up at six, then I brush my teeth and get dressed, and finally I have breakfast with my family.</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 رُوتِينَكَ الصَّبَاحِيَّ بِالتَّرْتِيبِ.</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نَعَمْ، فِي نِهَايَةِ الأُسْبُوعِ أَسْتَيْقِظُ مُتَأَخِّرًا، وَأَلْعَبُ كُرَةَ القَدَمِ مَعَ أَصْدِقَائِي.</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at the weekend I wake up late and play football with my friends.</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يَخْتَلِفُ يَوْمُكَ فِي نِهَايَةِ الأُسْبُوعِ؟</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تَسْتَيْقِظُ أُمِّي أَوَّلًا، لِأَنَّهَا تُحَضِّرُ الإِفْطَارَ لَنَا.</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wakes up first, because she prepares breakfast for us.</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 يَسْتَيْقِظُ أَوَّلًا فِي بَيْتِكَ؟</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أُحِبُّ المَسَاءَ كَثِيرًا، لِأَنَّنِي أَرْتَاحُ وَأَقْرَأُ كِتَابًا.</a:t>
            </a:r>
            <a:endParaRPr lang="ar-SA" sz="170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really like the evening, because I relax and read a book.</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الجُزْءُ المُفَضَّلُ مِنْ يَوْمِكَ؟ لِمَاذَا؟</a:t>
            </a:r>
            <a:endParaRPr lang="ar-SA" sz="15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أَمْسِ اسْتَيْقَظْتُ مُتَأَخِّرًا، فَخَرَجْتُ مِنَ البَيْتِ بِسُرْعَةٍ.</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 I woke up late, so I left the house quickly.</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فَعَلْتَ صَبَاحَ أَمْسِ؟</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 + reason + one past-tense sentence = a strong Develop answer.</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بَيْنَمَا أَسْتَيْقِظُ فِي السَّادِسَةِ، يَسْتَيْقِظُ أَخِي الكَبِيرُ فِي الخَامِسَةِ، لِأَنَّهُ يَعْمَلُ فِي مُسْتَشْفًى بَعِيدٍ.</a:t>
            </a:r>
            <a:endParaRPr lang="ar-SA" sz="17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While I wake up at six, my older brother wakes up at five, because he works in a hospital far away.</a:t>
            </a:r>
            <a:endParaRPr lang="en-US" sz="95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قَارِنْ بَيْنَ رُوتِينِكَ وَرُوتِينِ شَخْصٍ آخَرَ فِي أُسْرَتِكَ.</a:t>
            </a:r>
            <a:endParaRPr lang="ar-SA" sz="15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رَأْيِي لَا يَنَامُ كَثِيرٌ مِنَ الطُّلَّابِ وَقْتًا كَافِيًا، لِأَنَّهُمْ يَسْتَعْمِلُونَ الهَاتِفَ حَتَّى وَقْتٍ مُتَأَخِّرٍ.</a:t>
            </a:r>
            <a:endParaRPr lang="ar-SA" sz="17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opinion many students do not get enough sleep, because they use their phones until late.</a:t>
            </a:r>
            <a:endParaRPr lang="en-US" sz="9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يَنَامُ الطُّلَّابُ وَقْتًا كَافِيًا فِي رَأْيِكَ؟</a:t>
            </a:r>
            <a:endParaRPr lang="ar-SA" sz="15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343400" y="3858768"/>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أَضَعُ جَدْوَلًا لِلْمُرَاجَعَةِ، وَأَدْرُسُ سَاعَةً ثُمَّ أَرْتَاحُ عَشْرَ دَقَائِقَ، وَأَحْرِصُ عَلَى النَّوْمِ مُبَكِّرًا.</a:t>
            </a:r>
            <a:endParaRPr lang="ar-SA" sz="1700" dirty="0"/>
          </a:p>
        </p:txBody>
      </p:sp>
      <p:sp>
        <p:nvSpPr>
          <p:cNvPr id="31" name="Text 28"/>
          <p:cNvSpPr txBox="1"/>
          <p:nvPr/>
        </p:nvSpPr>
        <p:spPr>
          <a:xfrm>
            <a:off x="4297680" y="4279392"/>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make a revision timetable, study for an hour then rest for ten minutes, and make sure I sleep early.</a:t>
            </a:r>
            <a:endParaRPr lang="en-US" sz="950" dirty="0"/>
          </a:p>
        </p:txBody>
      </p:sp>
      <p:sp>
        <p:nvSpPr>
          <p:cNvPr id="32" name="Text 29"/>
          <p:cNvSpPr txBox="1"/>
          <p:nvPr/>
        </p:nvSpPr>
        <p:spPr>
          <a:xfrm>
            <a:off x="1051560" y="3840480"/>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تُنَظِّمُ وَقْتَكَ فِي أَيَّامِ الامْتِحَانَاتِ؟</a:t>
            </a:r>
            <a:endParaRPr lang="ar-SA" sz="15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a comparison (baynamā), a past habit (kuntu + verb), a conditional (law … la-) — range is rewarded.</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عِنْدَمَا كُنْتُ صَغِيرًا كُنْتُ أَنَامُ مُبَكِّرًا جِدًّا، وَكَانَتْ أُمِّي تُوقِظُنِي كُلَّ صَبَاحٍ.</a:t>
            </a:r>
            <a:endParaRPr lang="ar-SA" sz="17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When I was little I used to sleep very early, and my mother used to wake me every morning.</a:t>
            </a:r>
            <a:endParaRPr lang="en-US" sz="95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كَانَ رُوتِينُكَ عِنْدَمَا كُنْتَ صَغِيرًا؟</a:t>
            </a:r>
            <a:endParaRPr lang="ar-SA" sz="15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كَانَ عِنْدِي يَوْمٌ حُرٌّ، لَزُرْتُ جَدَّتِي فِي الصَّبَاحِ، وَلَلَعِبْتُ مَعَ أَصْدِقَائِي فِي المَسَاءِ.</a:t>
            </a:r>
            <a:endParaRPr lang="ar-SA" sz="17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had a free day, I would visit my grandmother in the morning and play with my friends in the evening.</a:t>
            </a:r>
            <a:endParaRPr lang="en-US" sz="9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كَانَ عِنْدَكَ يَوْمٌ حُرٌّ تَمَامًا، كَيْفَ تَقْضِيهِ؟</a:t>
            </a:r>
            <a:endParaRPr lang="ar-SA" sz="15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a comparison (baynamā), a past habit (kuntu + verb), a conditional (law … la-) — range is rewarded.</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Speaking workshop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every role-play task in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“I” form of routine verbs correctly (</a:t>
            </a:r>
            <a:pPr algn="l" indent="0" marL="0">
              <a:buNone/>
            </a:pPr>
            <a:r>
              <a:rPr lang="ar-SA" altLang="en-US" sz="1700" dirty="0">
                <a:solidFill>
                  <a:srgbClr val="1F2A37"/>
                </a:solidFill>
                <a:latin typeface="Amiri" pitchFamily="2" charset="-78"/>
                <a:ea typeface="Amiri" pitchFamily="2" charset="-78"/>
                <a:cs typeface="Amiri" pitchFamily="2" charset="-78"/>
              </a:rPr>
              <a:t>أَسْتَيْقِظُ</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times, sequence words and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 question in the role play.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past, present and future in the conversation.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speaking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AT-A-L01 · Writing workshop · Form filling, directed writing and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the role play answer EVERY task; in the conversation, develop every answer.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Speaking Workshop — Time and Daily Routine</dc:title>
  <dc:subject>PptxGenJS Presentation</dc:subject>
  <dc:creator>Al Madina Online School · Arabic Department</dc:creator>
  <cp:lastModifiedBy>Al Madina Online School · Arabic Department</cp:lastModifiedBy>
  <cp:revision>1</cp:revision>
  <dcterms:created xsi:type="dcterms:W3CDTF">2026-10-11T06:49:52Z</dcterms:created>
  <dcterms:modified xsi:type="dcterms:W3CDTF">2026-10-11T06:49:52Z</dcterms:modified>
</cp:coreProperties>
</file>