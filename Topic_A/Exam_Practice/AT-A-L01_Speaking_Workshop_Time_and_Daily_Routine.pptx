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mostly in breakout rooms of three.
0–2 Welcome · 2–6 How Paper 3 works · 6–10 Language bank · 10–13 Breakout routine · 13–33 Role plays A–D in rooms (rotate roles) · 33–37 Role-play models (main room) · 37–50 Topic conversation in rooms · 50–55 Conversation models · 55–58 Feedback + self-check · 58–60 Close.
Content: teacher-made exam scenarios for Advanced Topic A, Lesson 1 (Time and Daily Routine, AT-A-L01), using that lesson’s verbs, times, sequencing and frequency language. Every task has Core · Develop · Stretch support and a model answer.
EXAM FORMAT: Paper 3 Speaking = a role play and a topic conversation, as in the Cambridge IGCSE Arabic 0544 speaking test. Check timings and marks against the current syllabus and the past paper you use.
BREAKOUT ROOMS: set up rooms of three before the lesson (mixed or same-level — see slide 6). Send the slides as a PDF or share the deck link so every room can see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explain that most of the lesson happens in breakout rooms; the teacher visits each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Role play = precise and complete; conversation = develop. Choral repetition of the three repair phrases. To a girl: تُعِيدِي.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BANK (2 min) — the AT-A-L01 verbs with the four forms students need in the exam: I (أَـ), he (يَـ), she (تَـ), they (يَـ…ونَ). Say “I” → “she” for each: أَسْتَيْقِظُ → تَسْتَيْقِظُ.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BANK (2 min) — adjectives with m. / f. / pl. (a girl says: أَنَا نَاعِسَةٌ / مُتْعَبَةٌ), plus frequency and time adverbs that lift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BREAKOUT ROUTINE (3 min, in the main room before opening rooms). Grouping: same-level rooms make the routes simple; mixed rooms work if the strongest student is examiner first. Post the room timer in the chat. Teacher visits every room for about two minutes and listens to at least one candidate per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A (Core) — at a summer camp.
SET-UP IN THE BREAKOUT ROOM: A = examiner (reads the left column ONLY — the questions, in order), B = candidate (sees the task column; Core may use the help column), C = observer (ticks the feedback checklist). 1 minute preparation, about 3 minutes speaking, 1 minute feedback, then rotate.
Task ! is the unexpected question: in the exam the candidate has not seen it — the examiner should read it without warning.
To a girl, the examiner uses the feminine: تَسْتَيْقِظِينَ · تَتَنَاوَلِينَ · تَذْهَبِينَ · تَفْعَلِينَ.
Core role play: one full sentence per task is enough. Check the “I” prefix أَـ on every verb (أَسْتَيْقِظُ · أَتَنَاوَلُ · أَسْتَقِلُّ).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B (Core+) — a phone call with your host family.
SET-UP IN THE BREAKOUT ROOM: A = examiner (reads the left column ONLY — the questions, in order), B = candidate (sees the task column; Core may use the help column), C = observer (ticks the feedback checklist). 1 minute preparation, about 3 minutes speaking, 1 minute feedback, then rotate.
Task ! is the unexpected question: in the exam the candidate has not seen it — the examiner should read it without warning.
To a girl, the examiner uses the feminine: تَسْتَيْقِظِينَ · تَتَنَاوَلِينَ · تَذْهَبِينَ · تَفْعَلِينَ.
Task 4: the CANDIDATE asks the question; the examiner answers with the line in brackets. Asking a question is a common role-play task — practise the question words (مَتَى · فِي أَيِّ سَاعَةٍ · كَمْ). To a girl: نَاعِسَةً.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C (Develop) — at the sports club.
SET-UP IN THE BREAKOUT ROOM: A = examiner (reads the left column ONLY — the questions, in order), B = candidate (sees the task column; Core may use the help column), C = observer (ticks the feedback checklist). 1 minute preparation, about 3 minutes speaking, 1 minute feedback, then rotate.
Task ! is the unexpected question: in the exam the candidate has not seen it — the examiner should read it without warning.
To a girl, the examiner uses the feminine: كَيْفَ أُسَاعِدُكِ؟ · يُنَاسِبُكِ · صِفِي لِي يَوْمَكِ · تُمَارِسِينَ.
Develop: add a reason (لِأَنِّي) or a frequency word (عَادَةً · أَحْيَانًا) to every answer. Frequency: مَرَّةً (once) · مَرَّتَيْنِ (twice) · ثَلَاثَ مَرَّاتٍ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D (Stretch) — an interview for the school radio.
SET-UP IN THE BREAKOUT ROOM: A = examiner (reads the left column ONLY — the questions, in order), B = candidate (sees the task column; Core may use the help column), C = observer (ticks the feedback checklist). 1 minute preparation, about 3 minutes speaking, 1 minute feedback, then rotate.
Task ! is the unexpected question: in the exam the candidate has not seen it — the examiner should read it without warning.
To a girl, the examiner uses the feminine: صِفِي لَنَا · فَعَلْتِ · رُوتِينُكِ · رَأْيِكِ · سَتُغَيِّرِينَ — and the candidate says مُتْعَبَةً.
Stretch: three time frames (present routine, past yesterday, future change), an opinion with a reason and a contrast. Task 1 uses بَعْدَ أَنْ + subjunctive (أَتَوَضَّأَ · أُصَلِّيَ). Students who prefer may describe any morning routine; prayer is an example, not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Observers keep this slide open (or copy the six points into their book). Teacher collects one strong WWW per room in the main room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show AFTER the groups have performed. Groups compare: which task did we answer less fully? Read the model aloud in pairs (examiner /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show AFTER the groups have performed. Groups compare: which task did we answer less fully? Read the model aloud in pairs (examiner /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show AFTER the groups have performed. Groups compare: which task did we answer less fully? Read the model aloud in pairs (examiner /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show AFTER the groups have performed. Groups compare: which task did we answer less fully? Read the model aloud in pairs (examiner /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CONVERSATION — Core. Examiner asks the questions in order and may add “لِمَاذَا؟ / هَلْ يُمْكِنُ أَنْ تَشْرَحَ أَكْثَرَ؟” to push for more. Candidate aims for one full sentence per question, with a time or a frequency word.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CONVERSATION — Develop. Examiner asks the questions in order and may add “لِمَاذَا؟ / هَلْ يُمْكِنُ أَنْ تَشْرَحَ أَكْثَرَ؟” to push for more. Candidate aims for two or three sentences, with sequence words and a reason.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CONVERSATION — Stretch. Examiner asks the questions in order and may add “لِمَاذَا؟ / هَلْ يُمْكِنُ أَنْ تَشْرَحَ أَكْثَرَ؟” to push for more. Candidate aims for a developed answer: opinion, reason, example, and more than one time frame.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(Core) — show after the groups have practised. Students underline one phrase to “steal” for their own answer.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(Develop) — show after the groups have practised. Students underline one phrase to “steal” for their own answer.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(Stretch) — show after the groups have practised. Students underline one phrase to “steal” for their own answer.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(Stretch) — show after the groups have practised. Students underline one phrase to “steal” for their own answer.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Speaking Workshop — Time and Daily Routine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التَّحَدُّثِ — الوَقْتُ وَالرُّوتِينُ اليَوْمِيُّ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3 practice in breakout rooms: four role plays and a topic conversation about your day — answer every task in a full sentence, then develop with times, sequence, frequency and reasons.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AT-A-L01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speaking exam works; the language you need.</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20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Role plays A–D in breakout rooms.</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تَمْثِيلُ الدَّوْرِ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8A6D1E"/>
          </a:solidFill>
          <a:ln w="12700">
            <a:solidFill>
              <a:srgbClr val="8A6D1E"/>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Role-play models.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النَّمُوذَجُ</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Topic conversation in breakout rooms.</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المُحَادَثَةُ</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Conversation models, feedback,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In the rooms everyone has a job: examiner, candidate or observer. You will swap after each role play, so everybody speaks.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3 SPEAKING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speaking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TWO PARTS WE PRACTISE TODAY</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ROLE PLAY — a card with a situation and tasks. The examiner asks; you answer every task in a full, clear sentence. One task is unexpected (!).</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TOPIC CONVERSATION — the examiner asks questions about a topic you know. Short answers are not enough: develop each one.</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Examiners reward: completing the tasks, a range of language (tenses, linking words, opinions) and accuracy.</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Never stay silent — use a repair phrase and keep going.</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REPAIR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عَفْوًا، هَلْ يُمْكِنُ أَنْ تُعِيدَ السُّؤَالَ؟</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could you repeat the question?</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لَحْظَةً، دَعْنِي أُفَكِّرُ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let me think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أَقْصِدُ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mean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LANGUAGE BANK · ROUTINE VERBS (I · HE · SHE · THEY)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Verbs for your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أَفْعَالُ 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0700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أَسْتَيْقِظُ</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a:t>
            </a:r>
            <a:endParaRPr lang="en-US" sz="1350" dirty="0"/>
          </a:p>
          <a:p>
            <a:pPr indent="0" marL="0">
              <a:buNone/>
            </a:pPr>
            <a:r>
              <a:rPr lang="en-US" sz="1100" i="1" dirty="0">
                <a:solidFill>
                  <a:srgbClr val="5A6472"/>
                </a:solidFill>
                <a:latin typeface="Calibri" pitchFamily="34" charset="0"/>
                <a:cs typeface="Amiri" pitchFamily="2" charset="-78"/>
              </a:rPr>
              <a:t>as-tay-qi-ẓu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يَسْتَيْقِظُونَ</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تَسْتَيْقِظُ</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يَسْتَيْقِظُ</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أَتَنَاوَلُ</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(a meal)</a:t>
            </a:r>
            <a:endParaRPr lang="en-US" sz="1350" dirty="0"/>
          </a:p>
          <a:p>
            <a:pPr indent="0" marL="0">
              <a:buNone/>
            </a:pPr>
            <a:r>
              <a:rPr lang="en-US" sz="1100" i="1" dirty="0">
                <a:solidFill>
                  <a:srgbClr val="5A6472"/>
                </a:solidFill>
                <a:latin typeface="Calibri" pitchFamily="34" charset="0"/>
                <a:cs typeface="Amiri" pitchFamily="2" charset="-78"/>
              </a:rPr>
              <a:t>a-ta-nā-wa-lu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يَتَنَاوَلُونَ</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تَتَنَاوَلُ</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يَتَنَاوَلُ</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أَسْتَقِلُّ الحَافِلَةَ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take the bus</a:t>
            </a:r>
            <a:endParaRPr lang="en-US" sz="1350" dirty="0"/>
          </a:p>
          <a:p>
            <a:pPr indent="0" marL="0">
              <a:buNone/>
            </a:pPr>
            <a:r>
              <a:rPr lang="en-US" sz="1100" i="1" dirty="0">
                <a:solidFill>
                  <a:srgbClr val="5A6472"/>
                </a:solidFill>
                <a:latin typeface="Calibri" pitchFamily="34" charset="0"/>
                <a:cs typeface="Amiri" pitchFamily="2" charset="-78"/>
              </a:rPr>
              <a:t>as-ta-qil-lu al-ḥā-fi-la-ta</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يَسْتَقِلُّونَ</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تَسْتَقِلُّ</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يَسْتَقِلُّ</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أَسْتَعِدُّ</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ready</a:t>
            </a:r>
            <a:endParaRPr lang="en-US" sz="1350" dirty="0"/>
          </a:p>
          <a:p>
            <a:pPr indent="0" marL="0">
              <a:buNone/>
            </a:pPr>
            <a:r>
              <a:rPr lang="en-US" sz="1100" i="1" dirty="0">
                <a:solidFill>
                  <a:srgbClr val="5A6472"/>
                </a:solidFill>
                <a:latin typeface="Calibri" pitchFamily="34" charset="0"/>
                <a:cs typeface="Amiri" pitchFamily="2" charset="-78"/>
              </a:rPr>
              <a:t>as-ta-ʿid-du</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80" name="Text 77"/>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يَسْتَعِدُّونَ</a:t>
            </a:r>
            <a:endParaRPr lang="ar-SA" sz="135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تَسْتَعِدُّ</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يَسْتَعِدُّ</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1207008"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أَصِلُ</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arrive</a:t>
            </a:r>
            <a:endParaRPr lang="en-US" sz="1350" dirty="0"/>
          </a:p>
          <a:p>
            <a:pPr indent="0" marL="0">
              <a:buNone/>
            </a:pPr>
            <a:r>
              <a:rPr lang="en-US" sz="1100" i="1" dirty="0">
                <a:solidFill>
                  <a:srgbClr val="5A6472"/>
                </a:solidFill>
                <a:latin typeface="Calibri" pitchFamily="34" charset="0"/>
                <a:cs typeface="Amiri" pitchFamily="2" charset="-78"/>
              </a:rPr>
              <a:t>a-ṣi-lu</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98" name="Text 95"/>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يَصِلُونَ</a:t>
            </a:r>
            <a:endParaRPr lang="ar-SA" sz="135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تَصِلُ</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يَصِلُ</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1207008"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أَنَامُ</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sleep, go to bed</a:t>
            </a:r>
            <a:endParaRPr lang="en-US" sz="1350" dirty="0"/>
          </a:p>
          <a:p>
            <a:pPr indent="0" marL="0">
              <a:buNone/>
            </a:pPr>
            <a:r>
              <a:rPr lang="en-US" sz="1100" i="1" dirty="0">
                <a:solidFill>
                  <a:srgbClr val="5A6472"/>
                </a:solidFill>
                <a:latin typeface="Calibri" pitchFamily="34" charset="0"/>
                <a:cs typeface="Amiri" pitchFamily="2" charset="-78"/>
              </a:rPr>
              <a:t>a-nā-mu</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116" name="Text 113"/>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يَنَامُونَ</a:t>
            </a:r>
            <a:endParaRPr lang="ar-SA" sz="135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تَنَامُ</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يَنَامُ</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LANGUAGE BANK · HOW YOU FEEL, TIME AND FREQUENCY (M. · F. · PL.)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Describe it: feelings, time, frequency</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الصِّفَاتُ وَالوَقْتُ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نَشِيطٌ</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energetic</a:t>
            </a:r>
            <a:endParaRPr lang="en-US" sz="1350" dirty="0"/>
          </a:p>
          <a:p>
            <a:pPr indent="0" marL="0">
              <a:buNone/>
            </a:pPr>
            <a:r>
              <a:rPr lang="en-US" sz="1100" i="1" dirty="0">
                <a:solidFill>
                  <a:srgbClr val="5A6472"/>
                </a:solidFill>
                <a:latin typeface="Calibri" pitchFamily="34" charset="0"/>
                <a:cs typeface="Amiri" pitchFamily="2" charset="-78"/>
              </a:rPr>
              <a:t>na-shī-ṭun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نَشِيطُونَ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نَشِيطَةٌ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نَشِيطٌ</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نَاعِسٌ</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sleepy</a:t>
            </a:r>
            <a:endParaRPr lang="en-US" sz="1350" dirty="0"/>
          </a:p>
          <a:p>
            <a:pPr indent="0" marL="0">
              <a:buNone/>
            </a:pPr>
            <a:r>
              <a:rPr lang="en-US" sz="1100" i="1" dirty="0">
                <a:solidFill>
                  <a:srgbClr val="5A6472"/>
                </a:solidFill>
                <a:latin typeface="Calibri" pitchFamily="34" charset="0"/>
                <a:cs typeface="Amiri" pitchFamily="2" charset="-78"/>
              </a:rPr>
              <a:t>nā-ʿi-sun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نَاعِسُونَ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نَاعِسَةٌ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نَاعِسٌ</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مُتْعَبٌ</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tired</a:t>
            </a:r>
            <a:endParaRPr lang="en-US" sz="1350" dirty="0"/>
          </a:p>
          <a:p>
            <a:pPr indent="0" marL="0">
              <a:buNone/>
            </a:pPr>
            <a:r>
              <a:rPr lang="en-US" sz="1100" i="1" dirty="0">
                <a:solidFill>
                  <a:srgbClr val="5A6472"/>
                </a:solidFill>
                <a:latin typeface="Calibri" pitchFamily="34" charset="0"/>
                <a:cs typeface="Amiri" pitchFamily="2" charset="-78"/>
              </a:rPr>
              <a:t>mut-ʿa-bun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مُتْعَبُونَ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مُتْعَبَةٌ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مُتْعَبٌ</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مُنَبِّهٌ</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alarm clock</a:t>
            </a:r>
            <a:endParaRPr lang="en-US" sz="1350" dirty="0"/>
          </a:p>
          <a:p>
            <a:pPr indent="0" marL="0">
              <a:buNone/>
            </a:pPr>
            <a:r>
              <a:rPr lang="en-US" sz="1100" i="1" dirty="0">
                <a:solidFill>
                  <a:srgbClr val="5A6472"/>
                </a:solidFill>
                <a:latin typeface="Calibri" pitchFamily="34" charset="0"/>
                <a:cs typeface="Amiri" pitchFamily="2" charset="-78"/>
              </a:rPr>
              <a:t>mu-nab-bi-hun</a:t>
            </a:r>
            <a:endParaRPr lang="en-US" sz="1350" dirty="0"/>
          </a:p>
        </p:txBody>
      </p:sp>
      <p:sp>
        <p:nvSpPr>
          <p:cNvPr id="78" name="Shape 7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مُنَبِّهَاتٌ</a:t>
            </a:r>
            <a:endParaRPr lang="ar-SA" sz="1500" dirty="0"/>
          </a:p>
        </p:txBody>
      </p:sp>
      <p:sp>
        <p:nvSpPr>
          <p:cNvPr id="81" name="Shape 7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3" name="Text 8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مُنَبِّهٌ</a:t>
            </a:r>
            <a:endParaRPr lang="ar-SA" sz="1500" dirty="0"/>
          </a:p>
        </p:txBody>
      </p:sp>
      <p:sp>
        <p:nvSpPr>
          <p:cNvPr id="84" name="Shape 8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4389120" y="4261104"/>
            <a:ext cx="310896" cy="310896"/>
          </a:xfrm>
          <a:prstGeom prst="ellipse">
            <a:avLst/>
          </a:prstGeom>
          <a:solidFill>
            <a:srgbClr val="F4F1EA"/>
          </a:solidFill>
          <a:ln w="12700">
            <a:solidFill>
              <a:srgbClr val="F4F1EA"/>
            </a:solidFill>
            <a:prstDash val="solid"/>
          </a:ln>
        </p:spPr>
      </p:sp>
      <p:sp>
        <p:nvSpPr>
          <p:cNvPr id="86" name="Text 8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7" name="Shape 84"/>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88" name="Text 85"/>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frequency</a:t>
            </a:r>
            <a:endParaRPr lang="en-US" sz="800" dirty="0"/>
          </a:p>
        </p:txBody>
      </p:sp>
      <p:sp>
        <p:nvSpPr>
          <p:cNvPr id="89" name="Shape 8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0" name="Text 8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1" name="Text 8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عَادَةً · أَحْيَانًا</a:t>
            </a:r>
            <a:endParaRPr lang="ar-SA" sz="3000" dirty="0"/>
          </a:p>
        </p:txBody>
      </p:sp>
      <p:sp>
        <p:nvSpPr>
          <p:cNvPr id="92" name="Text 8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 · sometimes</a:t>
            </a:r>
            <a:endParaRPr lang="en-US" sz="1350" dirty="0"/>
          </a:p>
          <a:p>
            <a:pPr indent="0" marL="0">
              <a:buNone/>
            </a:pPr>
            <a:r>
              <a:rPr lang="en-US" sz="1100" i="1" dirty="0">
                <a:solidFill>
                  <a:srgbClr val="5A6472"/>
                </a:solidFill>
                <a:latin typeface="Calibri" pitchFamily="34" charset="0"/>
                <a:cs typeface="Amiri" pitchFamily="2" charset="-78"/>
              </a:rPr>
              <a:t>ʿā-da-tan · aḥ-yā-nan</a:t>
            </a:r>
            <a:endParaRPr lang="en-US" sz="1350" dirty="0"/>
          </a:p>
        </p:txBody>
      </p:sp>
      <p:sp>
        <p:nvSpPr>
          <p:cNvPr id="93" name="Shape 9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566928" y="4261104"/>
            <a:ext cx="310896" cy="310896"/>
          </a:xfrm>
          <a:prstGeom prst="ellipse">
            <a:avLst/>
          </a:prstGeom>
          <a:solidFill>
            <a:srgbClr val="F4F1EA"/>
          </a:solidFill>
          <a:ln w="12700">
            <a:solidFill>
              <a:srgbClr val="F4F1EA"/>
            </a:solidFill>
            <a:prstDash val="solid"/>
          </a:ln>
        </p:spPr>
      </p:sp>
      <p:sp>
        <p:nvSpPr>
          <p:cNvPr id="95" name="Text 9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6" name="Shape 93"/>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7" name="Text 94"/>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time</a:t>
            </a:r>
            <a:endParaRPr lang="en-US" sz="800" dirty="0"/>
          </a:p>
        </p:txBody>
      </p:sp>
      <p:sp>
        <p:nvSpPr>
          <p:cNvPr id="98" name="Shape 9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9" name="Text 9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00" name="Text 9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مُبَكِّرًا · مُتَأَخِّرًا</a:t>
            </a:r>
            <a:endParaRPr lang="ar-SA" sz="3000" dirty="0"/>
          </a:p>
        </p:txBody>
      </p:sp>
      <p:sp>
        <p:nvSpPr>
          <p:cNvPr id="101" name="Text 9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early · late</a:t>
            </a:r>
            <a:endParaRPr lang="en-US" sz="1350" dirty="0"/>
          </a:p>
          <a:p>
            <a:pPr indent="0" marL="0">
              <a:buNone/>
            </a:pPr>
            <a:r>
              <a:rPr lang="en-US" sz="1100" i="1" dirty="0">
                <a:solidFill>
                  <a:srgbClr val="5A6472"/>
                </a:solidFill>
                <a:latin typeface="Calibri" pitchFamily="34" charset="0"/>
                <a:cs typeface="Amiri" pitchFamily="2" charset="-78"/>
              </a:rPr>
              <a:t>mu-bak-ki-ran · mu-ta-ʾakh-khi-ran</a:t>
            </a:r>
            <a:endParaRPr lang="en-US" sz="1350" dirty="0"/>
          </a:p>
        </p:txBody>
      </p:sp>
      <p:sp>
        <p:nvSpPr>
          <p:cNvPr id="102" name="Text 9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BREAKOUT ROOMS · HOW WE WORK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Examiner · candidate · observer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فِي 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BREAKOUT ROUTINE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Three jobs, then swap</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Rooms of three. A = examiner (reads the questions only). B = candidate (answers from the task card). C = observer (ticks the checklist and gives one WWW and one EBI).</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 minute: the candidate reads the card and plans (no writing full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About 3 minutes: the role play — the examiner reads every question in order.</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 minute: the observer gives feedback (WWW + EBI).</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jobs and do the next role play. Then the topic conversation.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Role plays A and B, with the help column. Conversation: Core questions.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Role plays B and C, help column covered. Conversation: Core + Develop questions.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Role plays C and D, no help. Conversation: Develop + Stretch questions, push with “why?”.</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تَكَلَّمْ أَكْثَرَ، مِنْ فَضْلِكَ</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say more, please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لِمَاذَا؟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ROLE PLAY A · CORE · AT A SUMMER CAMP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 play A — At the summer camp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فِي المُخَيَّمِ الصَّيْفِيِّ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22792" y="1810512"/>
            <a:ext cx="3035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Help (Core)</a:t>
            </a:r>
            <a:endParaRPr lang="en-US" sz="1100" dirty="0"/>
          </a:p>
        </p:txBody>
      </p:sp>
      <p:sp>
        <p:nvSpPr>
          <p:cNvPr id="17" name="Text 14"/>
          <p:cNvSpPr txBox="1"/>
          <p:nvPr/>
        </p:nvSpPr>
        <p:spPr>
          <a:xfrm>
            <a:off x="505663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task</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641080" y="2267712"/>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اسْمِي … وَعُمْرِي …</a:t>
            </a:r>
            <a:endParaRPr lang="ar-SA" sz="1500" dirty="0"/>
          </a:p>
        </p:txBody>
      </p:sp>
      <p:sp>
        <p:nvSpPr>
          <p:cNvPr id="22" name="Text 19"/>
          <p:cNvSpPr txBox="1"/>
          <p:nvPr/>
        </p:nvSpPr>
        <p:spPr>
          <a:xfrm>
            <a:off x="509320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your name and your age.</a:t>
            </a:r>
            <a:endParaRPr lang="en-US" sz="1100" dirty="0"/>
          </a:p>
        </p:txBody>
      </p:sp>
      <p:sp>
        <p:nvSpPr>
          <p:cNvPr id="23" name="Text 20"/>
          <p:cNvSpPr txBox="1"/>
          <p:nvPr/>
        </p:nvSpPr>
        <p:spPr>
          <a:xfrm>
            <a:off x="1051560" y="2267712"/>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أَهْلًا وَسَهْلًا! مَا اسْمُكَ، وَكَمْ عُمْرُكَ؟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641080" y="300471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أَسْتَيْقِظُ فِي السَّاعَةِ …</a:t>
            </a:r>
            <a:endParaRPr lang="ar-SA" sz="1500" dirty="0"/>
          </a:p>
        </p:txBody>
      </p:sp>
      <p:sp>
        <p:nvSpPr>
          <p:cNvPr id="29" name="Text 26"/>
          <p:cNvSpPr txBox="1"/>
          <p:nvPr/>
        </p:nvSpPr>
        <p:spPr>
          <a:xfrm>
            <a:off x="509320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time you usually wake up.</a:t>
            </a:r>
            <a:endParaRPr lang="en-US" sz="1100" dirty="0"/>
          </a:p>
        </p:txBody>
      </p:sp>
      <p:sp>
        <p:nvSpPr>
          <p:cNvPr id="30" name="Text 27"/>
          <p:cNvSpPr txBox="1"/>
          <p:nvPr/>
        </p:nvSpPr>
        <p:spPr>
          <a:xfrm>
            <a:off x="1051560" y="300471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فِي أَيِّ سَاعَةٍ تَسْتَيْقِظُ عَادَةً؟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641080" y="3741725"/>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أَتَنَاوَلُ … وَأَشْرَبُ …</a:t>
            </a:r>
            <a:endParaRPr lang="ar-SA" sz="1500" dirty="0"/>
          </a:p>
        </p:txBody>
      </p:sp>
      <p:sp>
        <p:nvSpPr>
          <p:cNvPr id="36" name="Text 33"/>
          <p:cNvSpPr txBox="1"/>
          <p:nvPr/>
        </p:nvSpPr>
        <p:spPr>
          <a:xfrm>
            <a:off x="509320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have for breakfast.</a:t>
            </a:r>
            <a:endParaRPr lang="en-US" sz="1100" dirty="0"/>
          </a:p>
        </p:txBody>
      </p:sp>
      <p:sp>
        <p:nvSpPr>
          <p:cNvPr id="37" name="Text 34"/>
          <p:cNvSpPr txBox="1"/>
          <p:nvPr/>
        </p:nvSpPr>
        <p:spPr>
          <a:xfrm>
            <a:off x="1051560" y="3741725"/>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مَاذَا تَتَنَاوَلُ فِي الإِفْطَارِ؟</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641080" y="4478731"/>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أَسْتَقِلُّ الحَافِلَةَ / أَمْشِي</a:t>
            </a:r>
            <a:endParaRPr lang="ar-SA" sz="1500" dirty="0"/>
          </a:p>
        </p:txBody>
      </p:sp>
      <p:sp>
        <p:nvSpPr>
          <p:cNvPr id="43" name="Text 40"/>
          <p:cNvSpPr txBox="1"/>
          <p:nvPr/>
        </p:nvSpPr>
        <p:spPr>
          <a:xfrm>
            <a:off x="509320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you get to school.</a:t>
            </a:r>
            <a:endParaRPr lang="en-US" sz="1100" dirty="0"/>
          </a:p>
        </p:txBody>
      </p:sp>
      <p:sp>
        <p:nvSpPr>
          <p:cNvPr id="44" name="Text 41"/>
          <p:cNvSpPr txBox="1"/>
          <p:nvPr/>
        </p:nvSpPr>
        <p:spPr>
          <a:xfrm>
            <a:off x="1051560" y="4478731"/>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تَذْهَبُ إِلَى المَدْرَسَةِ؟</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641080" y="521573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بَعْدَ المَدْرَسَةِ أَ…</a:t>
            </a:r>
            <a:endParaRPr lang="ar-SA" sz="1500" dirty="0"/>
          </a:p>
        </p:txBody>
      </p:sp>
      <p:sp>
        <p:nvSpPr>
          <p:cNvPr id="50" name="Text 47"/>
          <p:cNvSpPr txBox="1"/>
          <p:nvPr/>
        </p:nvSpPr>
        <p:spPr>
          <a:xfrm>
            <a:off x="509320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a:t>
            </a:r>
            <a:endParaRPr lang="en-US" sz="1100" dirty="0"/>
          </a:p>
        </p:txBody>
      </p:sp>
      <p:sp>
        <p:nvSpPr>
          <p:cNvPr id="51" name="Text 48"/>
          <p:cNvSpPr txBox="1"/>
          <p:nvPr/>
        </p:nvSpPr>
        <p:spPr>
          <a:xfrm>
            <a:off x="1051560" y="521573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وَمَاذَا تَفْعَلُ بَعْدَ المَدْرَسَةِ؟</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 are: a new camper  ·  The examiner is: the camp leader  ·  ! = unexpected question: listen carefully.</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ROLE PLAY B · CORE+ · A PHONE CALL WITH YOUR HOST FAMILY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Role play B — Calling your host family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مُكَالَمَةٌ مَعَ الأُسْرَةِ المُضِيفَةِ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22792" y="1810512"/>
            <a:ext cx="3035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Help (Core)</a:t>
            </a:r>
            <a:endParaRPr lang="en-US" sz="1100" dirty="0"/>
          </a:p>
        </p:txBody>
      </p:sp>
      <p:sp>
        <p:nvSpPr>
          <p:cNvPr id="17" name="Text 14"/>
          <p:cNvSpPr txBox="1"/>
          <p:nvPr/>
        </p:nvSpPr>
        <p:spPr>
          <a:xfrm>
            <a:off x="505663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task</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641080" y="2267712"/>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أَيَّامِ المَدْرَسَةِ أَسْتَيْقِظُ …</a:t>
            </a:r>
            <a:endParaRPr lang="ar-SA" sz="1500" dirty="0"/>
          </a:p>
        </p:txBody>
      </p:sp>
      <p:sp>
        <p:nvSpPr>
          <p:cNvPr id="22" name="Text 19"/>
          <p:cNvSpPr txBox="1"/>
          <p:nvPr/>
        </p:nvSpPr>
        <p:spPr>
          <a:xfrm>
            <a:off x="509320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when you wake up on school days.</a:t>
            </a:r>
            <a:endParaRPr lang="en-US" sz="1100" dirty="0"/>
          </a:p>
        </p:txBody>
      </p:sp>
      <p:sp>
        <p:nvSpPr>
          <p:cNvPr id="23" name="Text 20"/>
          <p:cNvSpPr txBox="1"/>
          <p:nvPr/>
        </p:nvSpPr>
        <p:spPr>
          <a:xfrm>
            <a:off x="1051560" y="2267712"/>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مَتَى تَسْتَيْقِظُ فِي أَيَّامِ المَدْرَسَةِ؟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641080" y="300471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 مُتَأَخِّرًا لِأَنِّي …</a:t>
            </a:r>
            <a:endParaRPr lang="ar-SA" sz="1500" dirty="0"/>
          </a:p>
        </p:txBody>
      </p:sp>
      <p:sp>
        <p:nvSpPr>
          <p:cNvPr id="29" name="Text 26"/>
          <p:cNvSpPr txBox="1"/>
          <p:nvPr/>
        </p:nvSpPr>
        <p:spPr>
          <a:xfrm>
            <a:off x="509320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when you wake up at the weekend — and why.</a:t>
            </a:r>
            <a:endParaRPr lang="en-US" sz="1100" dirty="0"/>
          </a:p>
        </p:txBody>
      </p:sp>
      <p:sp>
        <p:nvSpPr>
          <p:cNvPr id="30" name="Text 27"/>
          <p:cNvSpPr txBox="1"/>
          <p:nvPr/>
        </p:nvSpPr>
        <p:spPr>
          <a:xfrm>
            <a:off x="1051560" y="300471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وَفِي نِهَايَةِ الأُسْبُوعِ؟</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641080" y="3741725"/>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أَوَّلًا … ثُمَّ … بَعْدَ ذٰلِكَ …</a:t>
            </a:r>
            <a:endParaRPr lang="ar-SA" sz="1500" dirty="0"/>
          </a:p>
        </p:txBody>
      </p:sp>
      <p:sp>
        <p:nvSpPr>
          <p:cNvPr id="36" name="Text 33"/>
          <p:cNvSpPr txBox="1"/>
          <p:nvPr/>
        </p:nvSpPr>
        <p:spPr>
          <a:xfrm>
            <a:off x="509320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or three morning activities in order.</a:t>
            </a:r>
            <a:endParaRPr lang="en-US" sz="1100" dirty="0"/>
          </a:p>
        </p:txBody>
      </p:sp>
      <p:sp>
        <p:nvSpPr>
          <p:cNvPr id="37" name="Text 34"/>
          <p:cNvSpPr txBox="1"/>
          <p:nvPr/>
        </p:nvSpPr>
        <p:spPr>
          <a:xfrm>
            <a:off x="1051560" y="3741725"/>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مَاذَا تَفْعَلُ فِي الصَّبَاحِ قَبْلَ المَدْرَسَةِ؟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641080" y="4478731"/>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أَيِّ سَاعَةٍ …؟</a:t>
            </a:r>
            <a:endParaRPr lang="ar-SA" sz="1500" dirty="0"/>
          </a:p>
        </p:txBody>
      </p:sp>
      <p:sp>
        <p:nvSpPr>
          <p:cNvPr id="41" name="Text 38"/>
          <p:cNvSpPr txBox="1"/>
          <p:nvPr/>
        </p:nvSpPr>
        <p:spPr>
          <a:xfrm>
            <a:off x="509320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what time the family has breakfast (the examiner then answers).</a:t>
            </a:r>
            <a:endParaRPr lang="en-US" sz="1100" dirty="0"/>
          </a:p>
        </p:txBody>
      </p:sp>
      <p:sp>
        <p:nvSpPr>
          <p:cNvPr id="42" name="Text 39"/>
          <p:cNvSpPr txBox="1"/>
          <p:nvPr/>
        </p:nvSpPr>
        <p:spPr>
          <a:xfrm>
            <a:off x="1051560" y="4478731"/>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 نَتَنَاوَلُ الإِفْطَارَ فِي السَّابِعَةِ.</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641080" y="521573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نَعَمْ، أَحْتَاجُ إِلَى …</a:t>
            </a:r>
            <a:endParaRPr lang="ar-SA" sz="1500" dirty="0"/>
          </a:p>
        </p:txBody>
      </p:sp>
      <p:sp>
        <p:nvSpPr>
          <p:cNvPr id="46" name="Text 43"/>
          <p:cNvSpPr txBox="1"/>
          <p:nvPr/>
        </p:nvSpPr>
        <p:spPr>
          <a:xfrm>
            <a:off x="509320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a:t>
            </a:r>
            <a:endParaRPr lang="en-US" sz="1100" dirty="0"/>
          </a:p>
        </p:txBody>
      </p:sp>
      <p:sp>
        <p:nvSpPr>
          <p:cNvPr id="47" name="Text 44"/>
          <p:cNvSpPr txBox="1"/>
          <p:nvPr/>
        </p:nvSpPr>
        <p:spPr>
          <a:xfrm>
            <a:off x="1051560" y="521573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تَحْتَاجُ إِلَى شَيْءٍ فِي الصَّبَاحِ؟</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 are: a student going on an exchange visit  ·  The examiner is: your host mother / father  ·  ! = unexpected question: listen carefully.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ROLE PLAY C · DEVELOP · AT THE SPORTS CLUB</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Role play C — Joining the swimming club</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فِي النَّادِي الرِّيَاضِيِّ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22792" y="1810512"/>
            <a:ext cx="3035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Help (Core)</a:t>
            </a:r>
            <a:endParaRPr lang="en-US" sz="1100" dirty="0"/>
          </a:p>
        </p:txBody>
      </p:sp>
      <p:sp>
        <p:nvSpPr>
          <p:cNvPr id="17" name="Text 14"/>
          <p:cNvSpPr txBox="1"/>
          <p:nvPr/>
        </p:nvSpPr>
        <p:spPr>
          <a:xfrm>
            <a:off x="505663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task</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641080" y="2267712"/>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أُرِيدُ أَنْ أَشْتَرِكَ فِي …</a:t>
            </a:r>
            <a:endParaRPr lang="ar-SA" sz="1500" dirty="0"/>
          </a:p>
        </p:txBody>
      </p:sp>
      <p:sp>
        <p:nvSpPr>
          <p:cNvPr id="22" name="Text 19"/>
          <p:cNvSpPr txBox="1"/>
          <p:nvPr/>
        </p:nvSpPr>
        <p:spPr>
          <a:xfrm>
            <a:off x="509320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which class you want to join.</a:t>
            </a:r>
            <a:endParaRPr lang="en-US" sz="1100" dirty="0"/>
          </a:p>
        </p:txBody>
      </p:sp>
      <p:sp>
        <p:nvSpPr>
          <p:cNvPr id="23" name="Text 20"/>
          <p:cNvSpPr txBox="1"/>
          <p:nvPr/>
        </p:nvSpPr>
        <p:spPr>
          <a:xfrm>
            <a:off x="1051560" y="2267712"/>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أَهْلًا بِكَ فِي النَّادِي. كَيْفَ أُسَاعِدُكَ؟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641080" y="300471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يُنَاسِبُنِي … لِأَنِّي …</a:t>
            </a:r>
            <a:endParaRPr lang="ar-SA" sz="1500" dirty="0"/>
          </a:p>
        </p:txBody>
      </p:sp>
      <p:sp>
        <p:nvSpPr>
          <p:cNvPr id="27" name="Text 24"/>
          <p:cNvSpPr txBox="1"/>
          <p:nvPr/>
        </p:nvSpPr>
        <p:spPr>
          <a:xfrm>
            <a:off x="509320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 time and give a reason.</a:t>
            </a:r>
            <a:endParaRPr lang="en-US" sz="1100" dirty="0"/>
          </a:p>
        </p:txBody>
      </p:sp>
      <p:sp>
        <p:nvSpPr>
          <p:cNvPr id="28" name="Text 25"/>
          <p:cNvSpPr txBox="1"/>
          <p:nvPr/>
        </p:nvSpPr>
        <p:spPr>
          <a:xfrm>
            <a:off x="1051560" y="300471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عِنْدَنَا دُرُوسٌ صَبَاحًا وَمَسَاءً. أَيُّ وَقْتٍ يُنَاسِبُكَ؟</a:t>
            </a:r>
            <a:endParaRPr lang="ar-SA" sz="17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641080" y="3741725"/>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أَصِلُ … ثُمَّ … وَأَخِيرًا …</a:t>
            </a:r>
            <a:endParaRPr lang="ar-SA" sz="1500" dirty="0"/>
          </a:p>
        </p:txBody>
      </p:sp>
      <p:sp>
        <p:nvSpPr>
          <p:cNvPr id="32" name="Text 29"/>
          <p:cNvSpPr txBox="1"/>
          <p:nvPr/>
        </p:nvSpPr>
        <p:spPr>
          <a:xfrm>
            <a:off x="509320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afternoon in order (three activities).</a:t>
            </a:r>
            <a:endParaRPr lang="en-US" sz="1100" dirty="0"/>
          </a:p>
        </p:txBody>
      </p:sp>
      <p:sp>
        <p:nvSpPr>
          <p:cNvPr id="33" name="Text 30"/>
          <p:cNvSpPr txBox="1"/>
          <p:nvPr/>
        </p:nvSpPr>
        <p:spPr>
          <a:xfrm>
            <a:off x="1051560" y="3741725"/>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صِفْ لِي يَوْمَكَ بَعْدَ المَدْرَسَةِ.</a:t>
            </a:r>
            <a:endParaRPr lang="ar-SA" sz="17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641080" y="4478731"/>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كَمْ دَقِيقَةً …؟</a:t>
            </a:r>
            <a:endParaRPr lang="ar-SA" sz="1500" dirty="0"/>
          </a:p>
        </p:txBody>
      </p:sp>
      <p:sp>
        <p:nvSpPr>
          <p:cNvPr id="37" name="Text 34"/>
          <p:cNvSpPr txBox="1"/>
          <p:nvPr/>
        </p:nvSpPr>
        <p:spPr>
          <a:xfrm>
            <a:off x="509320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how long the lesson lasts (the examiner then answers).</a:t>
            </a:r>
            <a:endParaRPr lang="en-US" sz="1100" dirty="0"/>
          </a:p>
        </p:txBody>
      </p:sp>
      <p:sp>
        <p:nvSpPr>
          <p:cNvPr id="38" name="Text 35"/>
          <p:cNvSpPr txBox="1"/>
          <p:nvPr/>
        </p:nvSpPr>
        <p:spPr>
          <a:xfrm>
            <a:off x="1051560" y="4478731"/>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 يَسْتَغْرِقُ الدَّرْسُ سَاعَةً وَاحِدَةً.</a:t>
            </a:r>
            <a:endParaRPr lang="ar-SA" sz="17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641080" y="521573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مَرَّةً / مَرَّتَيْنِ / ثَلَاثَ مَرَّاتٍ</a:t>
            </a:r>
            <a:endParaRPr lang="ar-SA" sz="1500" dirty="0"/>
          </a:p>
        </p:txBody>
      </p:sp>
      <p:sp>
        <p:nvSpPr>
          <p:cNvPr id="42" name="Text 39"/>
          <p:cNvSpPr txBox="1"/>
          <p:nvPr/>
        </p:nvSpPr>
        <p:spPr>
          <a:xfrm>
            <a:off x="509320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a:t>
            </a:r>
            <a:endParaRPr lang="en-US" sz="1100" dirty="0"/>
          </a:p>
        </p:txBody>
      </p:sp>
      <p:sp>
        <p:nvSpPr>
          <p:cNvPr id="43" name="Text 40"/>
          <p:cNvSpPr txBox="1"/>
          <p:nvPr/>
        </p:nvSpPr>
        <p:spPr>
          <a:xfrm>
            <a:off x="1051560" y="521573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كَمْ مَرَّةً تُمَارِسُ الرِّيَاضَةَ فِي الأُسْبُوعِ؟</a:t>
            </a:r>
            <a:endParaRPr lang="ar-SA" sz="17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 are: a student who wants to join a club  ·  The examiner is: the club receptionist  ·  ! = unexpected question: listen carefully.</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ROLE PLAY D · STRETCH · AN INTERVIEW FOR THE SCHOOL RADIO</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Role play D — The school radio: a balanced day</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مُقَابَلَةٌ مَعَ إِذَاعَةِ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22792" y="1810512"/>
            <a:ext cx="3035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Help (Core)</a:t>
            </a:r>
            <a:endParaRPr lang="en-US" sz="1100" dirty="0"/>
          </a:p>
        </p:txBody>
      </p:sp>
      <p:sp>
        <p:nvSpPr>
          <p:cNvPr id="17" name="Text 14"/>
          <p:cNvSpPr txBox="1"/>
          <p:nvPr/>
        </p:nvSpPr>
        <p:spPr>
          <a:xfrm>
            <a:off x="505663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task</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641080" y="2267712"/>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بَعْدَ أَنْ أَتَوَضَّأَ …</a:t>
            </a:r>
            <a:endParaRPr lang="ar-SA" sz="1500" dirty="0"/>
          </a:p>
        </p:txBody>
      </p:sp>
      <p:sp>
        <p:nvSpPr>
          <p:cNvPr id="22" name="Text 19"/>
          <p:cNvSpPr txBox="1"/>
          <p:nvPr/>
        </p:nvSpPr>
        <p:spPr>
          <a:xfrm>
            <a:off x="509320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typical day, with times and sequence.</a:t>
            </a:r>
            <a:endParaRPr lang="en-US" sz="1100" dirty="0"/>
          </a:p>
        </p:txBody>
      </p:sp>
      <p:sp>
        <p:nvSpPr>
          <p:cNvPr id="23" name="Text 20"/>
          <p:cNvSpPr txBox="1"/>
          <p:nvPr/>
        </p:nvSpPr>
        <p:spPr>
          <a:xfrm>
            <a:off x="1051560" y="2267712"/>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صِفْ لَنَا يَوْمًا عَادِيًّا فِي حَيَاتِكَ.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641080" y="300471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أَمَّا فِي العُطْلَةِ فَأَسْتَيْقِظُ …</a:t>
            </a:r>
            <a:endParaRPr lang="ar-SA" sz="1500" dirty="0"/>
          </a:p>
        </p:txBody>
      </p:sp>
      <p:sp>
        <p:nvSpPr>
          <p:cNvPr id="27" name="Text 24"/>
          <p:cNvSpPr txBox="1"/>
          <p:nvPr/>
        </p:nvSpPr>
        <p:spPr>
          <a:xfrm>
            <a:off x="509320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school days and holidays.</a:t>
            </a:r>
            <a:endParaRPr lang="en-US" sz="1100" dirty="0"/>
          </a:p>
        </p:txBody>
      </p:sp>
      <p:sp>
        <p:nvSpPr>
          <p:cNvPr id="28" name="Text 25"/>
          <p:cNvSpPr txBox="1"/>
          <p:nvPr/>
        </p:nvSpPr>
        <p:spPr>
          <a:xfrm>
            <a:off x="1051560" y="300471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 الفَرْقُ بَيْنَ أَيَّامِ الدِّرَاسَةِ وَالعُطْلَةِ؟</a:t>
            </a:r>
            <a:endParaRPr lang="ar-SA" sz="17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641080" y="3741725"/>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رَجَعْتُ … ثُمَّ …</a:t>
            </a:r>
            <a:endParaRPr lang="ar-SA" sz="1500" dirty="0"/>
          </a:p>
        </p:txBody>
      </p:sp>
      <p:sp>
        <p:nvSpPr>
          <p:cNvPr id="32" name="Text 29"/>
          <p:cNvSpPr txBox="1"/>
          <p:nvPr/>
        </p:nvSpPr>
        <p:spPr>
          <a:xfrm>
            <a:off x="509320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did yesterday (past tense).</a:t>
            </a:r>
            <a:endParaRPr lang="en-US" sz="1100" dirty="0"/>
          </a:p>
        </p:txBody>
      </p:sp>
      <p:sp>
        <p:nvSpPr>
          <p:cNvPr id="33" name="Text 30"/>
          <p:cNvSpPr txBox="1"/>
          <p:nvPr/>
        </p:nvSpPr>
        <p:spPr>
          <a:xfrm>
            <a:off x="1051560" y="3741725"/>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مَاذَا فَعَلْتَ أَمْسِ بَعْدَ المَدْرَسَةِ؟</a:t>
            </a:r>
            <a:endParaRPr lang="ar-SA" sz="17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641080" y="4478731"/>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أَعْتَقِدُ أَنَّهُ … لٰكِنَّنِي …</a:t>
            </a:r>
            <a:endParaRPr lang="ar-SA" sz="1500" dirty="0"/>
          </a:p>
        </p:txBody>
      </p:sp>
      <p:sp>
        <p:nvSpPr>
          <p:cNvPr id="37" name="Text 34"/>
          <p:cNvSpPr txBox="1"/>
          <p:nvPr/>
        </p:nvSpPr>
        <p:spPr>
          <a:xfrm>
            <a:off x="509320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an opinion with a reason and a “but”.</a:t>
            </a:r>
            <a:endParaRPr lang="en-US" sz="1100" dirty="0"/>
          </a:p>
        </p:txBody>
      </p:sp>
      <p:sp>
        <p:nvSpPr>
          <p:cNvPr id="38" name="Text 35"/>
          <p:cNvSpPr txBox="1"/>
          <p:nvPr/>
        </p:nvSpPr>
        <p:spPr>
          <a:xfrm>
            <a:off x="1051560" y="4478731"/>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رُوتِينُكَ صِحِّيٌّ فِي رَأْيِكَ؟ لِمَاذَا؟</a:t>
            </a:r>
            <a:endParaRPr lang="ar-SA" sz="17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641080" y="5215738"/>
            <a:ext cx="299923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سَأُحَاوِلُ أَنْ …</a:t>
            </a:r>
            <a:endParaRPr lang="ar-SA" sz="1500" dirty="0"/>
          </a:p>
        </p:txBody>
      </p:sp>
      <p:sp>
        <p:nvSpPr>
          <p:cNvPr id="42" name="Text 39"/>
          <p:cNvSpPr txBox="1"/>
          <p:nvPr/>
        </p:nvSpPr>
        <p:spPr>
          <a:xfrm>
            <a:off x="509320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 (future).</a:t>
            </a:r>
            <a:endParaRPr lang="en-US" sz="1100" dirty="0"/>
          </a:p>
        </p:txBody>
      </p:sp>
      <p:sp>
        <p:nvSpPr>
          <p:cNvPr id="43" name="Text 40"/>
          <p:cNvSpPr txBox="1"/>
          <p:nvPr/>
        </p:nvSpPr>
        <p:spPr>
          <a:xfrm>
            <a:off x="1051560" y="5215738"/>
            <a:ext cx="38404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مَاذَا سَتُغَيِّرُ فِي رُوتِينِكَ فِي المُسْتَقْبَلِ؟</a:t>
            </a:r>
            <a:endParaRPr lang="ar-SA" sz="17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 are: a student being interviewed  ·  The examiner is: the school-radio presenter  ·  ! = unexpected question: listen carefully.</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OBSERVER · FEEDBACK CHECKLIST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Observer: tick and give feedback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وَرَقَةُ المُلَاحِظِ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you heard</a:t>
            </a:r>
            <a:endParaRPr lang="en-US" sz="1100" dirty="0"/>
          </a:p>
        </p:txBody>
      </p:sp>
      <p:sp>
        <p:nvSpPr>
          <p:cNvPr id="17" name="Text 14"/>
          <p:cNvSpPr txBox="1"/>
          <p:nvPr/>
        </p:nvSpPr>
        <p:spPr>
          <a:xfrm>
            <a:off x="766267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19963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candidate …</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699248" y="2267712"/>
            <a:ext cx="914400" cy="559308"/>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236208" y="226771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answered EVERY task, including the unexpected one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699248" y="2881884"/>
            <a:ext cx="914400" cy="559308"/>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236208" y="2881884"/>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2881884"/>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full sentences with the correct “I” verb (a-: astayqiẓu)</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699248" y="3496056"/>
            <a:ext cx="914400" cy="559308"/>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236208" y="3496056"/>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496056"/>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added a time, a sequence word or a frequency word</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796528" y="4110228"/>
            <a:ext cx="2862072" cy="559308"/>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699248" y="4110228"/>
            <a:ext cx="914400" cy="559308"/>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236208" y="4110228"/>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110228"/>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gave a reason (</a:t>
            </a:r>
            <a:pPr algn="l" indent="0" marL="0">
              <a:buNone/>
            </a:pPr>
            <a:r>
              <a:rPr lang="ar-SA" altLang="en-US" sz="1450" dirty="0">
                <a:solidFill>
                  <a:srgbClr val="5A6472"/>
                </a:solidFill>
                <a:latin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or an opinion (</a:t>
            </a:r>
            <a:pPr algn="l" indent="0" marL="0">
              <a:buNone/>
            </a:pPr>
            <a:r>
              <a:rPr lang="ar-SA" altLang="en-US" sz="1450" dirty="0">
                <a:solidFill>
                  <a:srgbClr val="5A6472"/>
                </a:solidFill>
                <a:latin typeface="Amiri" pitchFamily="2" charset="-78"/>
                <a:cs typeface="Amiri" pitchFamily="2" charset="-78"/>
              </a:rPr>
              <a:t>فِي رَأْيِي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8796528" y="4724400"/>
            <a:ext cx="2862072" cy="559308"/>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699248" y="4724400"/>
            <a:ext cx="914400" cy="559308"/>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236208" y="4724400"/>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4724400"/>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more than one time frame (past / future)</a:t>
            </a:r>
            <a:endParaRPr lang="en-US" sz="11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796528" y="5338572"/>
            <a:ext cx="2862072" cy="559308"/>
          </a:xfrm>
          <a:prstGeom prst="rect">
            <a:avLst/>
          </a:prstGeom>
          <a:noFill/>
          <a:ln/>
        </p:spPr>
        <p:txBody>
          <a:bodyPr wrap="square" lIns="0" tIns="0" rIns="0" bIns="0" rtlCol="0" anchor="ctr"/>
          <a:lstStyle/>
          <a:p>
            <a:pPr algn="l" indent="0" marL="0">
              <a:buNone/>
            </a:pPr>
            <a:endParaRPr lang="en-US" sz="1100" dirty="0"/>
          </a:p>
        </p:txBody>
      </p:sp>
      <p:sp>
        <p:nvSpPr>
          <p:cNvPr id="51" name="Text 48"/>
          <p:cNvSpPr txBox="1"/>
          <p:nvPr/>
        </p:nvSpPr>
        <p:spPr>
          <a:xfrm>
            <a:off x="7699248" y="5338572"/>
            <a:ext cx="914400" cy="559308"/>
          </a:xfrm>
          <a:prstGeom prst="rect">
            <a:avLst/>
          </a:prstGeom>
          <a:noFill/>
          <a:ln/>
        </p:spPr>
        <p:txBody>
          <a:bodyPr wrap="square" lIns="0" tIns="0" rIns="0" bIns="0" rtlCol="0" anchor="ctr"/>
          <a:lstStyle/>
          <a:p>
            <a:pPr algn="l" indent="0" marL="0">
              <a:buNone/>
            </a:pPr>
            <a:endParaRPr lang="en-US" sz="1100" dirty="0"/>
          </a:p>
        </p:txBody>
      </p:sp>
      <p:sp>
        <p:nvSpPr>
          <p:cNvPr id="52" name="Text 49"/>
          <p:cNvSpPr txBox="1"/>
          <p:nvPr/>
        </p:nvSpPr>
        <p:spPr>
          <a:xfrm>
            <a:off x="6236208" y="533857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a:t>
            </a:r>
            <a:endParaRPr lang="en-US" sz="1100" dirty="0"/>
          </a:p>
        </p:txBody>
      </p:sp>
      <p:sp>
        <p:nvSpPr>
          <p:cNvPr id="53" name="Text 50"/>
          <p:cNvSpPr txBox="1"/>
          <p:nvPr/>
        </p:nvSpPr>
        <p:spPr>
          <a:xfrm>
            <a:off x="566928" y="5338572"/>
            <a:ext cx="5486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kept going with a repair phrase instead of silence</a:t>
            </a:r>
            <a:endParaRPr lang="en-US" sz="11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Feedback in the room: one WWW (what went well) + one EBI (even better if …).</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 · ROLE PLAY A ·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 play A: a full-mark performance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اسْمِي آدَمُ، وَعُمْرِي أَرْبَعَ عَشْرَةَ سَنَةً.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name is Adam and I am fourteen.</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أَهْلًا وَسَهْلًا! مَا اسْمُكَ، وَكَمْ عُمْرُكَ؟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أَسْتَيْقِظُ عَادَةً فِي السَّاعَةِ السَّادِسَةِ وَالنِّصْفِ.</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usually wake up at half past six.</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فِي أَيِّ سَاعَةٍ تَسْتَيْقِظُ عَادَةً؟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أَتَنَاوَلُ الخُبْزَ وَالجُبْنَ، وَأَشْرَبُ الحَلِيبَ.</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eat bread and cheese, and I drink milk.</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مَاذَا تَتَنَاوَلُ فِي الإِفْطَارِ؟</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أَسْتَقِلُّ الحَافِلَةَ، وَأَصِلُ إِلَى المَدْرَسَةِ فِي الثَّامِنَةِ.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take the bus and arrive at school at eight.</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كَيْفَ تَذْهَبُ إِلَى المَدْرَسَةِ؟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بَعْدَ المَدْرَسَةِ أَتَنَاوَلُ الغَدَاءَ، ثُمَّ أَدْرُسُ.</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school I have lunch, then I study.</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وَمَاذَا تَفْعَلُ بَعْدَ المَدْرَسَةِ؟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task answered with a full sentence — short, clear and accurate is enough for the role play.</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 · ROLE PLAY B ·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 play B: a full-mark performance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أَيَّامِ المَدْرَسَةِ أَسْتَيْقِظُ مُبَكِّرًا، فِي السَّاعَةِ السَّادِسَةِ.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 school days I wake up early, at six o’clock.</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مَتَى تَسْتَيْقِظُ فِي أَيَّامِ المَدْرَسَةِ؟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نِهَايَةِ الأُسْبُوعِ أَسْتَيْقِظُ مُتَأَخِّرًا، لِأَنِّي أُحِبُّ النَّوْمَ!</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the weekend I wake up late, because I love sleeping!</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وَفِي نِهَايَةِ الأُسْبُوعِ؟</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أَوَّلًا أَغْتَسِلُ، ثُمَّ أَرْتَدِي مَلَابِسِي، وَبَعْدَ ذٰلِكَ أَتَنَاوَلُ الإِفْطَارَ.</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I shower, then I get dressed, and after that I have breakfast.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مَاذَا تَفْعَلُ فِي الصَّبَاحِ قَبْلَ المَدْرَسَةِ؟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أَيِّ سَاعَةٍ تَتَنَاوَلُونَ الإِفْطَارَ؟</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What time do you (all) have breakfast?</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 نَتَنَاوَلُ الإِفْطَارَ فِي السَّابِعَةِ.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نَعَمْ، أَحْتَاجُ إِلَى مُنَبِّهٍ، لِأَنِّي أَكُونُ نَاعِسًا فِي الصَّبَاحِ.</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need an alarm clock, because I am sleepy in the morning.</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هَلْ تَحْتَاجُ إِلَى شَيْءٍ فِي الصَّبَاحِ؟</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task answered with a full sentence — short, clear and accurate is enough for the role play.</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 · ROLE PLAY C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 play C: a full-mark performance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أَنْ أَشْتَرِكَ فِي دَرْسِ السِّبَاحَةِ، مِنْ فَضْلِكَ.</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would like to join the swimming class, please.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أَهْلًا بِكَ فِي النَّادِي. كَيْفَ أُسَاعِدُكَ؟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يُنَاسِبُنِي المَسَاءُ، لِأَنِّي فِي المَدْرَسَةِ مِنَ الثَّامِنَةِ إِلَى الثَّالِثَةِ.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evening suits me, because I am at school from eight to three.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عِنْدَنَا دُرُوسٌ صَبَاحًا وَمَسَاءً. أَيُّ وَقْتٍ يُنَاسِبُكَ؟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أَصِلُ إِلَى البَيْتِ فِي الرَّابِعَةِ، ثُمَّ أَتَنَاوَلُ الغَدَاءَ وَأُنْهِي وَاجِبَاتِي، وَأَخِيرًا أَرْتَاحُ قَلِيلًا.</a:t>
            </a:r>
            <a:endParaRPr lang="ar-SA" sz="175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get home at four, then I have lunch and finish my homework, and finally I rest a little.</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صِفْ لِي يَوْمَكَ بَعْدَ المَدْرَسَةِ.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دَقِيقَةً يَسْتَغْرِقُ الدَّرْسُ؟</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many minutes does the lesson last?</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 يَسْتَغْرِقُ الدَّرْسُ سَاعَةً وَاحِدَةً.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أُمَارِسُ الرِّيَاضَةَ مَرَّتَيْنِ فِي الأُسْبُوعِ عَادَةً، وَأَحْيَانًا ثَلَاثَ مَرَّاتٍ.</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usually do sport twice a week, and sometimes three times.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كَمْ مَرَّةً تُمَارِسُ الرِّيَاضَةَ فِي الأُسْبُوعِ؟</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task answered with a full sentence — short, clear and accurate is enough for the role play.</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 · ROLE PLAY D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 play D: a full-mark performance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says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cs typeface="Amiri" pitchFamily="2" charset="-78"/>
              </a:rPr>
              <a:t>أَسْتَيْقِظُ فِي السَّادِسَةِ، وَبَعْدَ أَنْ أَتَوَضَّأَ وَأُصَلِّيَ الفَجْرَ أَسْتَعِدُّ لِلْمَدْرَسَةِ، ثُمَّ أَخْرُجُ مِنَ البَيْتِ فِي السَّابِعَةِ وَالنِّصْفِ.</a:t>
            </a:r>
            <a:endParaRPr lang="ar-SA" sz="14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wake up at six; after I do wudu and pray Fajr I get ready for school, then I leave home at half past seven.</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صِفْ لَنَا يَوْمًا عَادِيًّا فِي حَيَاتِكَ.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cs typeface="Amiri" pitchFamily="2" charset="-78"/>
              </a:rPr>
              <a:t>فِي أَيَّامِ الدِّرَاسَةِ يَكُونُ يَوْمِي مُنَظَّمًا وَسَرِيعًا، أَمَّا فِي العُطْلَةِ فَأَسْتَيْقِظُ مُتَأَخِّرًا وَأَقْضِي وَقْتًا أَطْوَلَ مَعَ أُسْرَتِي.</a:t>
            </a:r>
            <a:endParaRPr lang="ar-SA" sz="14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 school days my day is organised and fast; in the holidays I wake up late and spend longer with my family.</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مَا الفَرْقُ بَيْنَ أَيَّامِ الدِّرَاسَةِ وَالعُطْلَةِ؟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رَجَعْتُ إِلَى البَيْتِ مُتْعَبًا، فَأَخَذْتُ قَيْلُولَةً قَصِيرَةً، ثُمَّ رَاجَعْتُ دُرُوسِي سَاعَتَيْنِ.</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Yesterday I came home tired, so I had a short nap, then I revised for two hours.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مَاذَا فَعَلْتَ أَمْسِ بَعْدَ المَدْرَسَةِ؟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أَعْتَقِدُ أَنَّهُ صِحِّيٌّ إِلَى حَدٍّ مَا، لِأَنِّي أَتَنَاوَلُ الإِفْطَارَ كُلَّ يَوْمٍ، لٰكِنَّنِي أَنَامُ مُتَأَخِّرًا أَحْيَانًا.</a:t>
            </a:r>
            <a:endParaRPr lang="ar-SA" sz="17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think it is fairly healthy, because I eat breakfast every day, but I sometimes go to bed late.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هَلْ رُوتِينُكَ صِحِّيٌّ فِي رَأْيِكَ؟ لِمَاذَا؟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سَأُحَاوِلُ أَنْ أَنَامَ مُبَكِّرًا، وَسَأَسْتَعْمِلُ هَاتِفِي أَقَلَّ فِي اللَّيْلِ.</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try to sleep early, and I will use my phone less at night.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مَاذَا سَتُغَيِّرُ فِي رُوتِينِكَ فِي المُسْتَقْبَلِ؟</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three time frames + an opinion + a contrast. Notice ammā … fa- (as for … then) and baʿda an + verb in -a.</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TOPIC CONVERSATION · CORE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Topic conversation — Core questions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يَوْمِي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439912" y="1810512"/>
            <a:ext cx="3218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57881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10332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58200" y="2267712"/>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أَسْتَيْقِظُ فِي …</a:t>
            </a:r>
            <a:endParaRPr lang="ar-SA" sz="1500" dirty="0"/>
          </a:p>
        </p:txBody>
      </p:sp>
      <p:sp>
        <p:nvSpPr>
          <p:cNvPr id="22" name="Text 19"/>
          <p:cNvSpPr txBox="1"/>
          <p:nvPr/>
        </p:nvSpPr>
        <p:spPr>
          <a:xfrm>
            <a:off x="58247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time do you wake up?</a:t>
            </a:r>
            <a:endParaRPr lang="en-US" sz="1100" dirty="0"/>
          </a:p>
        </p:txBody>
      </p:sp>
      <p:sp>
        <p:nvSpPr>
          <p:cNvPr id="23" name="Text 20"/>
          <p:cNvSpPr txBox="1"/>
          <p:nvPr/>
        </p:nvSpPr>
        <p:spPr>
          <a:xfrm>
            <a:off x="1051560" y="2267712"/>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فِي أَيِّ سَاعَةٍ تَسْتَيْقِظُ؟</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458200" y="300471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أَتَنَاوَلُ …</a:t>
            </a:r>
            <a:endParaRPr lang="ar-SA" sz="1500" dirty="0"/>
          </a:p>
        </p:txBody>
      </p:sp>
      <p:sp>
        <p:nvSpPr>
          <p:cNvPr id="29" name="Text 26"/>
          <p:cNvSpPr txBox="1"/>
          <p:nvPr/>
        </p:nvSpPr>
        <p:spPr>
          <a:xfrm>
            <a:off x="58247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have for breakfast?</a:t>
            </a:r>
            <a:endParaRPr lang="en-US" sz="1100" dirty="0"/>
          </a:p>
        </p:txBody>
      </p:sp>
      <p:sp>
        <p:nvSpPr>
          <p:cNvPr id="30" name="Text 27"/>
          <p:cNvSpPr txBox="1"/>
          <p:nvPr/>
        </p:nvSpPr>
        <p:spPr>
          <a:xfrm>
            <a:off x="1051560" y="300471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مَاذَا تَتَنَاوَلُ فِي الإِفْطَارِ؟</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458200" y="3741725"/>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أَذْهَبُ بِالسَّيَّارَةِ / أَمْشِي</a:t>
            </a:r>
            <a:endParaRPr lang="ar-SA" sz="1500" dirty="0"/>
          </a:p>
        </p:txBody>
      </p:sp>
      <p:sp>
        <p:nvSpPr>
          <p:cNvPr id="36" name="Text 33"/>
          <p:cNvSpPr txBox="1"/>
          <p:nvPr/>
        </p:nvSpPr>
        <p:spPr>
          <a:xfrm>
            <a:off x="58247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a:t>
            </a:r>
            <a:endParaRPr lang="en-US" sz="1100" dirty="0"/>
          </a:p>
        </p:txBody>
      </p:sp>
      <p:sp>
        <p:nvSpPr>
          <p:cNvPr id="37" name="Text 34"/>
          <p:cNvSpPr txBox="1"/>
          <p:nvPr/>
        </p:nvSpPr>
        <p:spPr>
          <a:xfrm>
            <a:off x="1051560" y="3741725"/>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تَذْهَبُ إِلَى المَدْرَسَةِ؟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458200" y="4478731"/>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المَسَاءِ أَ…</a:t>
            </a:r>
            <a:endParaRPr lang="ar-SA" sz="1500" dirty="0"/>
          </a:p>
        </p:txBody>
      </p:sp>
      <p:sp>
        <p:nvSpPr>
          <p:cNvPr id="43" name="Text 40"/>
          <p:cNvSpPr txBox="1"/>
          <p:nvPr/>
        </p:nvSpPr>
        <p:spPr>
          <a:xfrm>
            <a:off x="58247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in the evening?</a:t>
            </a:r>
            <a:endParaRPr lang="en-US" sz="1100" dirty="0"/>
          </a:p>
        </p:txBody>
      </p:sp>
      <p:sp>
        <p:nvSpPr>
          <p:cNvPr id="44" name="Text 41"/>
          <p:cNvSpPr txBox="1"/>
          <p:nvPr/>
        </p:nvSpPr>
        <p:spPr>
          <a:xfrm>
            <a:off x="1051560" y="4478731"/>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مَاذَا تَفْعَلُ فِي المَسَاءِ؟</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458200" y="521573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أَنَامُ فِي …</a:t>
            </a:r>
            <a:endParaRPr lang="ar-SA" sz="1500" dirty="0"/>
          </a:p>
        </p:txBody>
      </p:sp>
      <p:sp>
        <p:nvSpPr>
          <p:cNvPr id="50" name="Text 47"/>
          <p:cNvSpPr txBox="1"/>
          <p:nvPr/>
        </p:nvSpPr>
        <p:spPr>
          <a:xfrm>
            <a:off x="58247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go to sleep?</a:t>
            </a:r>
            <a:endParaRPr lang="en-US" sz="1100" dirty="0"/>
          </a:p>
        </p:txBody>
      </p:sp>
      <p:sp>
        <p:nvSpPr>
          <p:cNvPr id="51" name="Text 48"/>
          <p:cNvSpPr txBox="1"/>
          <p:nvPr/>
        </p:nvSpPr>
        <p:spPr>
          <a:xfrm>
            <a:off x="1051560" y="521573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مَتَى تَنَامُ؟</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Core: one full sentence for every question. If you are stuck: </a:t>
            </a:r>
            <a:pPr algn="l" indent="0" marL="0">
              <a:buNone/>
            </a:pPr>
            <a:r>
              <a:rPr lang="ar-SA" altLang="en-US" sz="1500" b="1" dirty="0">
                <a:solidFill>
                  <a:srgbClr val="1B3B6F"/>
                </a:solidFill>
                <a:latin typeface="Amiri" pitchFamily="2" charset="-78"/>
                <a:cs typeface="Amiri" pitchFamily="2" charset="-78"/>
              </a:rPr>
              <a:t>عَفْوًا، هَلْ يُمْكِنُ أَنْ تُعِيدَ السُّؤَالَ؟</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TOPIC CONVERSATION · DEVELOP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Topic conversation — Develop questions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رُوتِينِي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439912" y="1810512"/>
            <a:ext cx="3218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57881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10332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58200" y="2267712"/>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أَوَّلًا … ثُمَّ … وَأَخِيرًا …</a:t>
            </a:r>
            <a:endParaRPr lang="ar-SA" sz="1500" dirty="0"/>
          </a:p>
        </p:txBody>
      </p:sp>
      <p:sp>
        <p:nvSpPr>
          <p:cNvPr id="22" name="Text 19"/>
          <p:cNvSpPr txBox="1"/>
          <p:nvPr/>
        </p:nvSpPr>
        <p:spPr>
          <a:xfrm>
            <a:off x="58247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morning routine in order.</a:t>
            </a:r>
            <a:endParaRPr lang="en-US" sz="1100" dirty="0"/>
          </a:p>
        </p:txBody>
      </p:sp>
      <p:sp>
        <p:nvSpPr>
          <p:cNvPr id="23" name="Text 20"/>
          <p:cNvSpPr txBox="1"/>
          <p:nvPr/>
        </p:nvSpPr>
        <p:spPr>
          <a:xfrm>
            <a:off x="1051560" y="2267712"/>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صِفْ رُوتِينَكَ الصَّبَاحِيَّ بِالتَّرْتِيبِ.</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58200" y="300471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نَعَمْ، فِي نِهَايَةِ الأُسْبُوعِ …</a:t>
            </a:r>
            <a:endParaRPr lang="ar-SA" sz="1500" dirty="0"/>
          </a:p>
        </p:txBody>
      </p:sp>
      <p:sp>
        <p:nvSpPr>
          <p:cNvPr id="27" name="Text 24"/>
          <p:cNvSpPr txBox="1"/>
          <p:nvPr/>
        </p:nvSpPr>
        <p:spPr>
          <a:xfrm>
            <a:off x="58247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day different at the weekend?</a:t>
            </a:r>
            <a:endParaRPr lang="en-US" sz="1100" dirty="0"/>
          </a:p>
        </p:txBody>
      </p:sp>
      <p:sp>
        <p:nvSpPr>
          <p:cNvPr id="28" name="Text 25"/>
          <p:cNvSpPr txBox="1"/>
          <p:nvPr/>
        </p:nvSpPr>
        <p:spPr>
          <a:xfrm>
            <a:off x="1051560" y="300471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يَخْتَلِفُ يَوْمُكَ فِي نِهَايَةِ الأُسْبُوعِ؟</a:t>
            </a:r>
            <a:endParaRPr lang="ar-SA" sz="17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458200" y="3741725"/>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يَسْتَيْقِظُ / تَسْتَيْقِظُ … أَوَّلًا</a:t>
            </a:r>
            <a:endParaRPr lang="ar-SA" sz="1500" dirty="0"/>
          </a:p>
        </p:txBody>
      </p:sp>
      <p:sp>
        <p:nvSpPr>
          <p:cNvPr id="32" name="Text 29"/>
          <p:cNvSpPr txBox="1"/>
          <p:nvPr/>
        </p:nvSpPr>
        <p:spPr>
          <a:xfrm>
            <a:off x="58247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wakes up first in your house?</a:t>
            </a:r>
            <a:endParaRPr lang="en-US" sz="1100" dirty="0"/>
          </a:p>
        </p:txBody>
      </p:sp>
      <p:sp>
        <p:nvSpPr>
          <p:cNvPr id="33" name="Text 30"/>
          <p:cNvSpPr txBox="1"/>
          <p:nvPr/>
        </p:nvSpPr>
        <p:spPr>
          <a:xfrm>
            <a:off x="1051560" y="3741725"/>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مَنْ يَسْتَيْقِظُ أَوَّلًا فِي بَيْتِكَ؟</a:t>
            </a:r>
            <a:endParaRPr lang="ar-SA" sz="17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58200" y="4478731"/>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أُحِبُّ … لِأَنَّ …</a:t>
            </a:r>
            <a:endParaRPr lang="ar-SA" sz="1500" dirty="0"/>
          </a:p>
        </p:txBody>
      </p:sp>
      <p:sp>
        <p:nvSpPr>
          <p:cNvPr id="37" name="Text 34"/>
          <p:cNvSpPr txBox="1"/>
          <p:nvPr/>
        </p:nvSpPr>
        <p:spPr>
          <a:xfrm>
            <a:off x="58247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part of the day? Why?</a:t>
            </a:r>
            <a:endParaRPr lang="en-US" sz="1100" dirty="0"/>
          </a:p>
        </p:txBody>
      </p:sp>
      <p:sp>
        <p:nvSpPr>
          <p:cNvPr id="38" name="Text 35"/>
          <p:cNvSpPr txBox="1"/>
          <p:nvPr/>
        </p:nvSpPr>
        <p:spPr>
          <a:xfrm>
            <a:off x="1051560" y="4478731"/>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 الجُزْءُ المُفَضَّلُ مِنْ يَوْمِكَ؟ لِمَاذَا؟</a:t>
            </a:r>
            <a:endParaRPr lang="ar-SA" sz="17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458200" y="521573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أَمْسِ اسْتَيْقَظْتُ …</a:t>
            </a:r>
            <a:endParaRPr lang="ar-SA" sz="1500" dirty="0"/>
          </a:p>
        </p:txBody>
      </p:sp>
      <p:sp>
        <p:nvSpPr>
          <p:cNvPr id="42" name="Text 39"/>
          <p:cNvSpPr txBox="1"/>
          <p:nvPr/>
        </p:nvSpPr>
        <p:spPr>
          <a:xfrm>
            <a:off x="58247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do yesterday morning?</a:t>
            </a:r>
            <a:endParaRPr lang="en-US" sz="1100" dirty="0"/>
          </a:p>
        </p:txBody>
      </p:sp>
      <p:sp>
        <p:nvSpPr>
          <p:cNvPr id="43" name="Text 40"/>
          <p:cNvSpPr txBox="1"/>
          <p:nvPr/>
        </p:nvSpPr>
        <p:spPr>
          <a:xfrm>
            <a:off x="1051560" y="521573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مَاذَا فَعَلْتَ صَبَاحَ أَمْسِ؟</a:t>
            </a:r>
            <a:endParaRPr lang="ar-SA" sz="17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two or three sentences — a sequence word (thumma · baʿda dhālika) and a reason (li-anna) in each answer.</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TOPIC CONVERSATION · STRETCH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Topic conversation — Stretch questions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تَنْظِيمُ الوَقْتِ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439912" y="1810512"/>
            <a:ext cx="3218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57881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10332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58200" y="2267712"/>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بَيْنَمَا أَسْتَيْقِظُ … يَسْتَيْقِظُ أَخِي …</a:t>
            </a:r>
            <a:endParaRPr lang="ar-SA" sz="1500" dirty="0"/>
          </a:p>
        </p:txBody>
      </p:sp>
      <p:sp>
        <p:nvSpPr>
          <p:cNvPr id="22" name="Text 19"/>
          <p:cNvSpPr txBox="1"/>
          <p:nvPr/>
        </p:nvSpPr>
        <p:spPr>
          <a:xfrm>
            <a:off x="58247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your routine with another family member’s.</a:t>
            </a:r>
            <a:endParaRPr lang="en-US" sz="1100" dirty="0"/>
          </a:p>
        </p:txBody>
      </p:sp>
      <p:sp>
        <p:nvSpPr>
          <p:cNvPr id="23" name="Text 20"/>
          <p:cNvSpPr txBox="1"/>
          <p:nvPr/>
        </p:nvSpPr>
        <p:spPr>
          <a:xfrm>
            <a:off x="1051560" y="2267712"/>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قَارِنْ بَيْنَ رُوتِينِكَ وَرُوتِينِ شَخْصٍ آخَرَ فِي أُسْرَتِكَ.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58200" y="300471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رَأْيِي … لِأَنَّ …</a:t>
            </a:r>
            <a:endParaRPr lang="ar-SA" sz="1500" dirty="0"/>
          </a:p>
        </p:txBody>
      </p:sp>
      <p:sp>
        <p:nvSpPr>
          <p:cNvPr id="27" name="Text 24"/>
          <p:cNvSpPr txBox="1"/>
          <p:nvPr/>
        </p:nvSpPr>
        <p:spPr>
          <a:xfrm>
            <a:off x="58247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students get enough sleep, in your opinion?</a:t>
            </a:r>
            <a:endParaRPr lang="en-US" sz="1100" dirty="0"/>
          </a:p>
        </p:txBody>
      </p:sp>
      <p:sp>
        <p:nvSpPr>
          <p:cNvPr id="28" name="Text 25"/>
          <p:cNvSpPr txBox="1"/>
          <p:nvPr/>
        </p:nvSpPr>
        <p:spPr>
          <a:xfrm>
            <a:off x="1051560" y="300471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يَنَامُ الطُّلَّابُ وَقْتًا كَافِيًا فِي رَأْيِكَ؟</a:t>
            </a:r>
            <a:endParaRPr lang="ar-SA" sz="17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458200" y="3741725"/>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أَضَعُ جَدْوَلًا … وَأَحْرِصُ عَلَى …</a:t>
            </a:r>
            <a:endParaRPr lang="ar-SA" sz="1500" dirty="0"/>
          </a:p>
        </p:txBody>
      </p:sp>
      <p:sp>
        <p:nvSpPr>
          <p:cNvPr id="32" name="Text 29"/>
          <p:cNvSpPr txBox="1"/>
          <p:nvPr/>
        </p:nvSpPr>
        <p:spPr>
          <a:xfrm>
            <a:off x="58247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organise your time during exams?</a:t>
            </a:r>
            <a:endParaRPr lang="en-US" sz="1100" dirty="0"/>
          </a:p>
        </p:txBody>
      </p:sp>
      <p:sp>
        <p:nvSpPr>
          <p:cNvPr id="33" name="Text 30"/>
          <p:cNvSpPr txBox="1"/>
          <p:nvPr/>
        </p:nvSpPr>
        <p:spPr>
          <a:xfrm>
            <a:off x="1051560" y="3741725"/>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تُنَظِّمُ وَقْتَكَ فِي أَيَّامِ الامْتِحَانَاتِ؟</a:t>
            </a:r>
            <a:endParaRPr lang="ar-SA" sz="17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58200" y="4478731"/>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عِنْدَمَا كُنْتُ صَغِيرًا كُنْتُ …</a:t>
            </a:r>
            <a:endParaRPr lang="ar-SA" sz="1500" dirty="0"/>
          </a:p>
        </p:txBody>
      </p:sp>
      <p:sp>
        <p:nvSpPr>
          <p:cNvPr id="37" name="Text 34"/>
          <p:cNvSpPr txBox="1"/>
          <p:nvPr/>
        </p:nvSpPr>
        <p:spPr>
          <a:xfrm>
            <a:off x="58247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was your routine like when you were little?</a:t>
            </a:r>
            <a:endParaRPr lang="en-US" sz="1100" dirty="0"/>
          </a:p>
        </p:txBody>
      </p:sp>
      <p:sp>
        <p:nvSpPr>
          <p:cNvPr id="38" name="Text 35"/>
          <p:cNvSpPr txBox="1"/>
          <p:nvPr/>
        </p:nvSpPr>
        <p:spPr>
          <a:xfrm>
            <a:off x="1051560" y="4478731"/>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كَانَ رُوتِينُكَ عِنْدَمَا كُنْتَ صَغِيرًا؟</a:t>
            </a:r>
            <a:endParaRPr lang="ar-SA" sz="17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458200" y="5215738"/>
            <a:ext cx="318211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لَوْ كَانَ عِنْدِي يَوْمٌ حُرٌّ، لَزُرْتُ …</a:t>
            </a:r>
            <a:endParaRPr lang="ar-SA" sz="1500" dirty="0"/>
          </a:p>
        </p:txBody>
      </p:sp>
      <p:sp>
        <p:nvSpPr>
          <p:cNvPr id="42" name="Text 39"/>
          <p:cNvSpPr txBox="1"/>
          <p:nvPr/>
        </p:nvSpPr>
        <p:spPr>
          <a:xfrm>
            <a:off x="58247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had a completely free day, how would you spend it?</a:t>
            </a:r>
            <a:endParaRPr lang="en-US" sz="1100" dirty="0"/>
          </a:p>
        </p:txBody>
      </p:sp>
      <p:sp>
        <p:nvSpPr>
          <p:cNvPr id="43" name="Text 40"/>
          <p:cNvSpPr txBox="1"/>
          <p:nvPr/>
        </p:nvSpPr>
        <p:spPr>
          <a:xfrm>
            <a:off x="1051560" y="5215738"/>
            <a:ext cx="457200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لَوْ كَانَ عِنْدَكَ يَوْمٌ حُرٌّ تَمَامًا، كَيْفَ تَقْضِيهِ؟</a:t>
            </a:r>
            <a:endParaRPr lang="ar-SA" sz="17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opinion + reason + example, and a second time frame (kuntu … · sa- … · law …).</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ANSWERS · TOPIC CONVERSATION ·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Core: what a strong answer sounds like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325112" y="1810512"/>
            <a:ext cx="7333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343400" y="2286000"/>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أَسْتَيْقِظُ فِي السَّاعَةِ السَّادِسَةِ وَالنِّصْفِ.</a:t>
            </a:r>
            <a:endParaRPr lang="ar-SA" sz="1700" dirty="0"/>
          </a:p>
        </p:txBody>
      </p:sp>
      <p:sp>
        <p:nvSpPr>
          <p:cNvPr id="21" name="Text 18"/>
          <p:cNvSpPr txBox="1"/>
          <p:nvPr/>
        </p:nvSpPr>
        <p:spPr>
          <a:xfrm>
            <a:off x="4297680" y="2676997"/>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wake up at half past six.</a:t>
            </a:r>
            <a:endParaRPr lang="en-US" sz="950" dirty="0"/>
          </a:p>
        </p:txBody>
      </p:sp>
      <p:sp>
        <p:nvSpPr>
          <p:cNvPr id="22" name="Text 19"/>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أَيِّ سَاعَةٍ تَسْتَيْقِظُ؟</a:t>
            </a:r>
            <a:endParaRPr lang="ar-SA" sz="15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343400" y="3023006"/>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أَتَنَاوَلُ البَيْضَ وَالخُبْزَ عَادَةً.</a:t>
            </a:r>
            <a:endParaRPr lang="ar-SA" sz="1700" dirty="0"/>
          </a:p>
        </p:txBody>
      </p:sp>
      <p:sp>
        <p:nvSpPr>
          <p:cNvPr id="26" name="Text 23"/>
          <p:cNvSpPr txBox="1"/>
          <p:nvPr/>
        </p:nvSpPr>
        <p:spPr>
          <a:xfrm>
            <a:off x="4297680" y="3414004"/>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usually have eggs and bread.</a:t>
            </a:r>
            <a:endParaRPr lang="en-US" sz="950" dirty="0"/>
          </a:p>
        </p:txBody>
      </p:sp>
      <p:sp>
        <p:nvSpPr>
          <p:cNvPr id="27" name="Text 24"/>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مَاذَا تَتَنَاوَلُ فِي الإِفْطَارِ؟</a:t>
            </a:r>
            <a:endParaRPr lang="ar-SA" sz="15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343400" y="3760013"/>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أَذْهَبُ إِلَى المَدْرَسَةِ بِالسَّيَّارَةِ مَعَ أَبِي.</a:t>
            </a:r>
            <a:endParaRPr lang="ar-SA" sz="1700" dirty="0"/>
          </a:p>
        </p:txBody>
      </p:sp>
      <p:sp>
        <p:nvSpPr>
          <p:cNvPr id="31" name="Text 28"/>
          <p:cNvSpPr txBox="1"/>
          <p:nvPr/>
        </p:nvSpPr>
        <p:spPr>
          <a:xfrm>
            <a:off x="4297680" y="4151010"/>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go to school by car with my father.</a:t>
            </a:r>
            <a:endParaRPr lang="en-US" sz="950" dirty="0"/>
          </a:p>
        </p:txBody>
      </p:sp>
      <p:sp>
        <p:nvSpPr>
          <p:cNvPr id="32" name="Text 29"/>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 تَذْهَبُ إِلَى المَدْرَسَةِ؟</a:t>
            </a:r>
            <a:endParaRPr lang="ar-SA" sz="15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343400" y="4497019"/>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فِي المَسَاءِ أَدْرُسُ ثُمَّ أُشَاهِدُ التِّلْفَازَ.</a:t>
            </a:r>
            <a:endParaRPr lang="ar-SA" sz="1700" dirty="0"/>
          </a:p>
        </p:txBody>
      </p:sp>
      <p:sp>
        <p:nvSpPr>
          <p:cNvPr id="36" name="Text 33"/>
          <p:cNvSpPr txBox="1"/>
          <p:nvPr/>
        </p:nvSpPr>
        <p:spPr>
          <a:xfrm>
            <a:off x="4297680" y="4888017"/>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the evening I study, then I watch TV.</a:t>
            </a:r>
            <a:endParaRPr lang="en-US" sz="950" dirty="0"/>
          </a:p>
        </p:txBody>
      </p:sp>
      <p:sp>
        <p:nvSpPr>
          <p:cNvPr id="37" name="Text 34"/>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مَاذَا تَفْعَلُ فِي المَسَاءِ؟</a:t>
            </a:r>
            <a:endParaRPr lang="ar-SA" sz="15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343400" y="5234026"/>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أَنَامُ فِي السَّاعَةِ العَاشِرَةِ.</a:t>
            </a:r>
            <a:endParaRPr lang="ar-SA" sz="1700" dirty="0"/>
          </a:p>
        </p:txBody>
      </p:sp>
      <p:sp>
        <p:nvSpPr>
          <p:cNvPr id="41" name="Text 38"/>
          <p:cNvSpPr txBox="1"/>
          <p:nvPr/>
        </p:nvSpPr>
        <p:spPr>
          <a:xfrm>
            <a:off x="4297680" y="5625023"/>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go to sleep at ten o’clock.</a:t>
            </a:r>
            <a:endParaRPr lang="en-US" sz="950" dirty="0"/>
          </a:p>
        </p:txBody>
      </p:sp>
      <p:sp>
        <p:nvSpPr>
          <p:cNvPr id="42" name="Text 39"/>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مَتَى تَنَامُ؟</a:t>
            </a:r>
            <a:endParaRPr lang="ar-SA" sz="15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Full sentence + a time or a frequency word = a secure Core answer.</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ANSWERS · TOPIC CONVERSATION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Develop: what a strong answer sounds like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325112" y="1810512"/>
            <a:ext cx="7333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343400" y="2286000"/>
            <a:ext cx="7296912" cy="422928"/>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أَوَّلًا أَسْتَيْقِظُ فِي السَّادِسَةِ، ثُمَّ أُنَظِّفُ أَسْنَانِي وَأَرْتَدِي مَلَابِسِي، وَأَخِيرًا أَتَنَاوَلُ الإِفْطَارَ مَعَ أُسْرَتِي.</a:t>
            </a:r>
            <a:endParaRPr lang="ar-SA" sz="1650" dirty="0"/>
          </a:p>
        </p:txBody>
      </p:sp>
      <p:sp>
        <p:nvSpPr>
          <p:cNvPr id="21" name="Text 18"/>
          <p:cNvSpPr txBox="1"/>
          <p:nvPr/>
        </p:nvSpPr>
        <p:spPr>
          <a:xfrm>
            <a:off x="4297680" y="2676997"/>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I wake up at six, then I brush my teeth and get dressed, and finally I have breakfast with my family.</a:t>
            </a:r>
            <a:endParaRPr lang="en-US" sz="950" dirty="0"/>
          </a:p>
        </p:txBody>
      </p:sp>
      <p:sp>
        <p:nvSpPr>
          <p:cNvPr id="22" name="Text 19"/>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صِفْ رُوتِينَكَ الصَّبَاحِيَّ بِالتَّرْتِيبِ.</a:t>
            </a:r>
            <a:endParaRPr lang="ar-SA" sz="15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343400" y="3023006"/>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نَعَمْ، فِي نِهَايَةِ الأُسْبُوعِ أَسْتَيْقِظُ مُتَأَخِّرًا، وَأَلْعَبُ كُرَةَ القَدَمِ مَعَ أَصْدِقَائِي.</a:t>
            </a:r>
            <a:endParaRPr lang="ar-SA" sz="1700" dirty="0"/>
          </a:p>
        </p:txBody>
      </p:sp>
      <p:sp>
        <p:nvSpPr>
          <p:cNvPr id="26" name="Text 23"/>
          <p:cNvSpPr txBox="1"/>
          <p:nvPr/>
        </p:nvSpPr>
        <p:spPr>
          <a:xfrm>
            <a:off x="4297680" y="3414004"/>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at the weekend I wake up late and play football with my friends.</a:t>
            </a:r>
            <a:endParaRPr lang="en-US" sz="950" dirty="0"/>
          </a:p>
        </p:txBody>
      </p:sp>
      <p:sp>
        <p:nvSpPr>
          <p:cNvPr id="27" name="Text 24"/>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هَلْ يَخْتَلِفُ يَوْمُكَ فِي نِهَايَةِ الأُسْبُوعِ؟</a:t>
            </a:r>
            <a:endParaRPr lang="ar-SA" sz="15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343400" y="3760013"/>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تَسْتَيْقِظُ أُمِّي أَوَّلًا، لِأَنَّهَا تُحَضِّرُ الإِفْطَارَ لَنَا.</a:t>
            </a:r>
            <a:endParaRPr lang="ar-SA" sz="1700" dirty="0"/>
          </a:p>
        </p:txBody>
      </p:sp>
      <p:sp>
        <p:nvSpPr>
          <p:cNvPr id="31" name="Text 28"/>
          <p:cNvSpPr txBox="1"/>
          <p:nvPr/>
        </p:nvSpPr>
        <p:spPr>
          <a:xfrm>
            <a:off x="4297680" y="4151010"/>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mother wakes up first, because she prepares breakfast for us.</a:t>
            </a:r>
            <a:endParaRPr lang="en-US" sz="950" dirty="0"/>
          </a:p>
        </p:txBody>
      </p:sp>
      <p:sp>
        <p:nvSpPr>
          <p:cNvPr id="32" name="Text 29"/>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 يَسْتَيْقِظُ أَوَّلًا فِي بَيْتِكَ؟</a:t>
            </a:r>
            <a:endParaRPr lang="ar-SA" sz="15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343400" y="4497019"/>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أُحِبُّ المَسَاءَ كَثِيرًا، لِأَنَّنِي أَرْتَاحُ وَأَقْرَأُ كِتَابًا.</a:t>
            </a:r>
            <a:endParaRPr lang="ar-SA" sz="1700" dirty="0"/>
          </a:p>
        </p:txBody>
      </p:sp>
      <p:sp>
        <p:nvSpPr>
          <p:cNvPr id="36" name="Text 33"/>
          <p:cNvSpPr txBox="1"/>
          <p:nvPr/>
        </p:nvSpPr>
        <p:spPr>
          <a:xfrm>
            <a:off x="4297680" y="4888017"/>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really like the evening, because I relax and read a book.</a:t>
            </a:r>
            <a:endParaRPr lang="en-US" sz="950" dirty="0"/>
          </a:p>
        </p:txBody>
      </p:sp>
      <p:sp>
        <p:nvSpPr>
          <p:cNvPr id="37" name="Text 34"/>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مَا الجُزْءُ المُفَضَّلُ مِنْ يَوْمِكَ؟ لِمَاذَا؟</a:t>
            </a:r>
            <a:endParaRPr lang="ar-SA" sz="15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343400" y="5234026"/>
            <a:ext cx="72969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أَمْسِ اسْتَيْقَظْتُ مُتَأَخِّرًا، فَخَرَجْتُ مِنَ البَيْتِ بِسُرْعَةٍ.</a:t>
            </a:r>
            <a:endParaRPr lang="ar-SA" sz="1700" dirty="0"/>
          </a:p>
        </p:txBody>
      </p:sp>
      <p:sp>
        <p:nvSpPr>
          <p:cNvPr id="41" name="Text 38"/>
          <p:cNvSpPr txBox="1"/>
          <p:nvPr/>
        </p:nvSpPr>
        <p:spPr>
          <a:xfrm>
            <a:off x="4297680" y="5625023"/>
            <a:ext cx="73883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Yesterday I woke up late, so I left the house quickly.</a:t>
            </a:r>
            <a:endParaRPr lang="en-US" sz="950" dirty="0"/>
          </a:p>
        </p:txBody>
      </p:sp>
      <p:sp>
        <p:nvSpPr>
          <p:cNvPr id="42" name="Text 39"/>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مَاذَا فَعَلْتَ صَبَاحَ أَمْسِ؟</a:t>
            </a:r>
            <a:endParaRPr lang="ar-SA" sz="15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Sequence + reason + one past-tense sentence = a strong Develop answer.</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ANSWERS · TOPIC CONVERSATION · STRETCH ·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Stretch: what a strong answer sounds like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325112" y="1810512"/>
            <a:ext cx="7333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343400" y="2286000"/>
            <a:ext cx="7296912" cy="4535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بَيْنَمَا أَسْتَيْقِظُ فِي السَّادِسَةِ، يَسْتَيْقِظُ أَخِي الكَبِيرُ فِي الخَامِسَةِ، لِأَنَّهُ يَعْمَلُ فِي مُسْتَشْفًى بَعِيدٍ.</a:t>
            </a:r>
            <a:endParaRPr lang="ar-SA" sz="1700" dirty="0"/>
          </a:p>
        </p:txBody>
      </p:sp>
      <p:sp>
        <p:nvSpPr>
          <p:cNvPr id="21" name="Text 18"/>
          <p:cNvSpPr txBox="1"/>
          <p:nvPr/>
        </p:nvSpPr>
        <p:spPr>
          <a:xfrm>
            <a:off x="4297680" y="2706624"/>
            <a:ext cx="73883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While I wake up at six, my older brother wakes up at five, because he works in a hospital far away.</a:t>
            </a:r>
            <a:endParaRPr lang="en-US" sz="950" dirty="0"/>
          </a:p>
        </p:txBody>
      </p:sp>
      <p:sp>
        <p:nvSpPr>
          <p:cNvPr id="22" name="Text 19"/>
          <p:cNvSpPr txBox="1"/>
          <p:nvPr/>
        </p:nvSpPr>
        <p:spPr>
          <a:xfrm>
            <a:off x="1051560" y="2267712"/>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قَارِنْ بَيْنَ رُوتِينِكَ وَرُوتِينِ شَخْصٍ آخَرَ فِي أُسْرَتِكَ.</a:t>
            </a:r>
            <a:endParaRPr lang="ar-SA" sz="15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343400" y="3072384"/>
            <a:ext cx="7296912" cy="4535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فِي رَأْيِي لَا يَنَامُ كَثِيرٌ مِنَ الطُّلَّابِ وَقْتًا كَافِيًا، لِأَنَّهُمْ يَسْتَعْمِلُونَ الهَاتِفَ حَتَّى وَقْتٍ مُتَأَخِّرٍ.</a:t>
            </a:r>
            <a:endParaRPr lang="ar-SA" sz="1700" dirty="0"/>
          </a:p>
        </p:txBody>
      </p:sp>
      <p:sp>
        <p:nvSpPr>
          <p:cNvPr id="26" name="Text 23"/>
          <p:cNvSpPr txBox="1"/>
          <p:nvPr/>
        </p:nvSpPr>
        <p:spPr>
          <a:xfrm>
            <a:off x="4297680" y="3493008"/>
            <a:ext cx="73883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my opinion many students do not get enough sleep, because they use their phones until late.</a:t>
            </a:r>
            <a:endParaRPr lang="en-US" sz="950" dirty="0"/>
          </a:p>
        </p:txBody>
      </p:sp>
      <p:sp>
        <p:nvSpPr>
          <p:cNvPr id="27" name="Text 24"/>
          <p:cNvSpPr txBox="1"/>
          <p:nvPr/>
        </p:nvSpPr>
        <p:spPr>
          <a:xfrm>
            <a:off x="1051560" y="3054096"/>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هَلْ يَنَامُ الطُّلَّابُ وَقْتًا كَافِيًا فِي رَأْيِكَ؟</a:t>
            </a:r>
            <a:endParaRPr lang="ar-SA" sz="15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343400" y="3858768"/>
            <a:ext cx="7296912" cy="4535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أَضَعُ جَدْوَلًا لِلْمُرَاجَعَةِ، وَأَدْرُسُ سَاعَةً ثُمَّ أَرْتَاحُ عَشْرَ دَقَائِقَ، وَأَحْرِصُ عَلَى النَّوْمِ مُبَكِّرًا.</a:t>
            </a:r>
            <a:endParaRPr lang="ar-SA" sz="1700" dirty="0"/>
          </a:p>
        </p:txBody>
      </p:sp>
      <p:sp>
        <p:nvSpPr>
          <p:cNvPr id="31" name="Text 28"/>
          <p:cNvSpPr txBox="1"/>
          <p:nvPr/>
        </p:nvSpPr>
        <p:spPr>
          <a:xfrm>
            <a:off x="4297680" y="4279392"/>
            <a:ext cx="73883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make a revision timetable, study for an hour then rest for ten minutes, and make sure I sleep early.</a:t>
            </a:r>
            <a:endParaRPr lang="en-US" sz="950" dirty="0"/>
          </a:p>
        </p:txBody>
      </p:sp>
      <p:sp>
        <p:nvSpPr>
          <p:cNvPr id="32" name="Text 29"/>
          <p:cNvSpPr txBox="1"/>
          <p:nvPr/>
        </p:nvSpPr>
        <p:spPr>
          <a:xfrm>
            <a:off x="1051560" y="3840480"/>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 تُنَظِّمُ وَقْتَكَ فِي أَيَّامِ الامْتِحَانَاتِ؟</a:t>
            </a:r>
            <a:endParaRPr lang="ar-SA" sz="15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Text 3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a comparison (baynamā), a past habit (kuntu + verb), a conditional (law … la-) — range is rewarded.</a:t>
            </a:r>
            <a:endParaRPr lang="en-US" sz="11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MODEL ANSWERS · TOPIC CONVERSATION · STRETCH · PART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Stretch: what a strong answer sounds like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325112" y="1810512"/>
            <a:ext cx="7333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 (with English)</a:t>
            </a:r>
            <a:endParaRPr lang="en-US" sz="1100" dirty="0"/>
          </a:p>
        </p:txBody>
      </p:sp>
      <p:sp>
        <p:nvSpPr>
          <p:cNvPr id="17" name="Text 14"/>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343400" y="2286000"/>
            <a:ext cx="7296912" cy="4535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عِنْدَمَا كُنْتُ صَغِيرًا كُنْتُ أَنَامُ مُبَكِّرًا جِدًّا، وَكَانَتْ أُمِّي تُوقِظُنِي كُلَّ صَبَاحٍ.</a:t>
            </a:r>
            <a:endParaRPr lang="ar-SA" sz="1700" dirty="0"/>
          </a:p>
        </p:txBody>
      </p:sp>
      <p:sp>
        <p:nvSpPr>
          <p:cNvPr id="21" name="Text 18"/>
          <p:cNvSpPr txBox="1"/>
          <p:nvPr/>
        </p:nvSpPr>
        <p:spPr>
          <a:xfrm>
            <a:off x="4297680" y="2706624"/>
            <a:ext cx="73883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When I was little I used to sleep very early, and my mother used to wake me every morning.</a:t>
            </a:r>
            <a:endParaRPr lang="en-US" sz="950" dirty="0"/>
          </a:p>
        </p:txBody>
      </p:sp>
      <p:sp>
        <p:nvSpPr>
          <p:cNvPr id="22" name="Text 19"/>
          <p:cNvSpPr txBox="1"/>
          <p:nvPr/>
        </p:nvSpPr>
        <p:spPr>
          <a:xfrm>
            <a:off x="1051560" y="2267712"/>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 كَانَ رُوتِينُكَ عِنْدَمَا كُنْتَ صَغِيرًا؟</a:t>
            </a:r>
            <a:endParaRPr lang="ar-SA" sz="15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343400" y="3072384"/>
            <a:ext cx="7296912" cy="4535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لَوْ كَانَ عِنْدِي يَوْمٌ حُرٌّ، لَزُرْتُ جَدَّتِي فِي الصَّبَاحِ، وَلَلَعِبْتُ مَعَ أَصْدِقَائِي فِي المَسَاءِ.</a:t>
            </a:r>
            <a:endParaRPr lang="ar-SA" sz="1700" dirty="0"/>
          </a:p>
        </p:txBody>
      </p:sp>
      <p:sp>
        <p:nvSpPr>
          <p:cNvPr id="26" name="Text 23"/>
          <p:cNvSpPr txBox="1"/>
          <p:nvPr/>
        </p:nvSpPr>
        <p:spPr>
          <a:xfrm>
            <a:off x="4297680" y="3493008"/>
            <a:ext cx="73883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had a free day, I would visit my grandmother in the morning and play with my friends in the evening.</a:t>
            </a:r>
            <a:endParaRPr lang="en-US" sz="950" dirty="0"/>
          </a:p>
        </p:txBody>
      </p:sp>
      <p:sp>
        <p:nvSpPr>
          <p:cNvPr id="27" name="Text 24"/>
          <p:cNvSpPr txBox="1"/>
          <p:nvPr/>
        </p:nvSpPr>
        <p:spPr>
          <a:xfrm>
            <a:off x="1051560" y="3054096"/>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لَوْ كَانَ عِنْدَكَ يَوْمٌ حُرٌّ تَمَامًا، كَيْفَ تَقْضِيهِ؟</a:t>
            </a:r>
            <a:endParaRPr lang="ar-SA" sz="15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9" name="Text 2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a comparison (baynamā), a past habit (kuntu + verb), a conditional (law … la-) — range is rewarded.</a:t>
            </a:r>
            <a:endParaRPr lang="en-US" sz="11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Speaking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Speaking workshop · AT-A-L01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every role-play task in a full sentence.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“I” form of routine verbs correctly (</a:t>
            </a:r>
            <a:pPr algn="l" indent="0" marL="0">
              <a:buNone/>
            </a:pPr>
            <a:r>
              <a:rPr lang="ar-SA" altLang="en-US" sz="1700" dirty="0">
                <a:solidFill>
                  <a:srgbClr val="1F2A37"/>
                </a:solidFill>
                <a:latin typeface="Amiri" pitchFamily="2" charset="-78"/>
                <a:cs typeface="Amiri" pitchFamily="2" charset="-78"/>
              </a:rPr>
              <a:t>أَسْتَيْقِظُ</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أَتَنَاوَلُ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times, sequence words and a reason.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a question in the role play.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past, present and future in the conversation.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speaking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AT-A-L01 · Writing workshop · Form filling, directed writing and extended writing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الكِتَابَةِ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in the role play answer EVERY task; in the conversation, develop every answer.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AT-A-L01 · Speaking Workshop — Time and Daily Routine</dc:title>
  <dc:subject>PptxGenJS Presentation</dc:subject>
  <dc:creator>Al Madina Online School · Arabic Department</dc:creator>
  <cp:lastModifiedBy>Al Madina Online School · Arabic Department</cp:lastModifiedBy>
  <cp:revision>1</cp:revision>
  <dcterms:created xsi:type="dcterms:W3CDTF">2026-10-11T06:49:52Z</dcterms:created>
  <dcterms:modified xsi:type="dcterms:W3CDTF">2026-10-11T06:49:52Z</dcterms:modified>
</cp:coreProperties>
</file>