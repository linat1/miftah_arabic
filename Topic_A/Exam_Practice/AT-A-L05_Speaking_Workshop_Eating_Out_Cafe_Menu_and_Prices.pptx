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A, Lesson 5 (Eating Out — Café, Menu and Prices, AT-A-L05), using that lesson’s language (requests, imperatives, attached pronouns, numbers and prices).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four persons for each verb. The imperative changes with the person you speak to: أَعْطِنِي (to a man), أَعْطِينِي (to a woman), أَعْطُونِي (to a group). Always add مِنْ فَضْلِكَ / مِنْ فَضْلِكِ.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دِينَارٌ (1) · دِينَارَانِ (2) · ثَلَاثَةُ دَنَانِيرَ (3–10) · عِشْرُونَ دِينَارًا (11+). Adjectives agree: الطَّبَقُ غَالٍ / الوَجْبَةُ غَالِيَةٌ. Attached pronoun: كَمْ ثَمَنُهُ؟ (how much is it?).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A (Core) — in a café in Amman.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تَطْلُبِينَ · تُرِيدِينَ · تَجْلِسِينَ.
Core: polite requests. Task 3: the candidate ASKS. Idāfa: فِنْجَانُ شَايٍ (a cup of tea), قِطْعَةُ كَعْكٍ (a piece of cake).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B (Core+) — a phone call to a restaurant.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تَفَضَّلِي · مِنْ فَضْلِكِ.
Numbers 3–10 take the opposite gender and a plural genitive: خَمْسَةُ أَشْخَاصٍ. لِكَمْ شَخْصًا = for how many people. The model help writes the preposition as one word with the number: لِخَمْسَةِ.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C (Develop) — a problem in a restaurant.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تُرِيدِينَ · طَلَبْتِ · سَتَرْجِعِينَ.
Develop: a polite complaint, أَرْجُو أَنْ + subjunctive, an attached pronoun (تُسَخِّنَهَا = heat IT up, referring to the soup), past and future.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D (Stretch) — planning an end-of-year class meal.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رَأْيِكِ (the questions here are mostly to “you all”: تُفَضِّلُونَ · أَكَلْتُمْ · تَطْلُبُونَ).
Stretch: numbers 11+ (عِشْرُونَ طَالِبًا), the dual مِئَتَا, comparatives (أَصَحُّ · أَهَمُّ مِنْ), a past narrative and a conditional.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Develop. Examiner asks the questions in order and may add “لِمَاذَا؟ / هَلْ يُمْكِنُ أَنْ تَشْرَحَ أَكْثَرَ؟” to push for more. Candidate aims for two or three sentences, with a reason, a price or a past event.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Stretch. Examiner asks the questions in order and may add “لِمَاذَا؟ / هَلْ يُمْكِنُ أَنْ تَشْرَحَ أَكْثَرَ؟” to push for more. Candidate aims for a developed answer: opinion, comparison, an experience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A · EXAM PRACTICE  ·  AT-A-L05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AT-A-L05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Eating Out</a:t>
            </a:r>
            <a:endParaRPr lang="en-US" sz="34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التَّحَدُّثِ — فِي المَطْعَمِ وَالمَقْهَى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order politely, ask about prices, book a table, sort out a problem — then develop with opinions, experiences and plans.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AT-A-L05 · Advanced Topic A · Everyday Activities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A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A › AT-A-L05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3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IN THE CAFÉ (I · HE · SHE · THEY) AND POLITE IMPERATIVES</a:t>
            </a:r>
            <a:endParaRPr lang="en-US" sz="983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Order, pay, book — politely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المَقْهَى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أَطْلُبُ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order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aṭ-lu-bu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يَطْلُبُونَ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تَطْلُبُ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يَطْلُبُ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أَدْفَعُ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pay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ad-fa-ʿu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يَدْفَعُونَ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تَدْفَعُ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يَدْفَعُ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أَحْجِزُ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book, reserve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aḥ-ji-zu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62" name="Text 59"/>
          <p:cNvSpPr txBox="1"/>
          <p:nvPr/>
        </p:nvSpPr>
        <p:spPr>
          <a:xfrm>
            <a:off x="2944368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يَحْجِزُونَ</a:t>
            </a:r>
            <a:endParaRPr lang="ar-SA" sz="1350" dirty="0"/>
          </a:p>
        </p:txBody>
      </p:sp>
      <p:sp>
        <p:nvSpPr>
          <p:cNvPr id="63" name="Shape 60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تَحْجِزُ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يَحْجِزُ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8604504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604504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أَعْطِنِي …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give me … (imperative)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aʿ-ṭi-nī …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to pl.</a:t>
            </a:r>
            <a:endParaRPr lang="en-US" sz="700" dirty="0"/>
          </a:p>
        </p:txBody>
      </p:sp>
      <p:sp>
        <p:nvSpPr>
          <p:cNvPr id="80" name="Text 77"/>
          <p:cNvSpPr txBox="1"/>
          <p:nvPr/>
        </p:nvSpPr>
        <p:spPr>
          <a:xfrm>
            <a:off x="10588752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أَعْطُونِي</a:t>
            </a:r>
            <a:endParaRPr lang="ar-SA" sz="1350" dirty="0"/>
          </a:p>
        </p:txBody>
      </p:sp>
      <p:sp>
        <p:nvSpPr>
          <p:cNvPr id="81" name="Shape 78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to f.</a:t>
            </a:r>
            <a:endParaRPr lang="en-US" sz="700" dirty="0"/>
          </a:p>
        </p:txBody>
      </p:sp>
      <p:sp>
        <p:nvSpPr>
          <p:cNvPr id="83" name="Text 80"/>
          <p:cNvSpPr txBox="1"/>
          <p:nvPr/>
        </p:nvSpPr>
        <p:spPr>
          <a:xfrm>
            <a:off x="9436608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أَعْطِينِي</a:t>
            </a:r>
            <a:endParaRPr lang="ar-SA" sz="1350" dirty="0"/>
          </a:p>
        </p:txBody>
      </p:sp>
      <p:sp>
        <p:nvSpPr>
          <p:cNvPr id="84" name="Shape 81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to m.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8284464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أَعْطِنِي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8" name="Shape 85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4782312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782312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92" name="Shape 89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3" name="Text 90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4" name="Text 91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نَادِلٌ</a:t>
            </a:r>
            <a:endParaRPr lang="ar-SA" sz="3000" dirty="0"/>
          </a:p>
        </p:txBody>
      </p:sp>
      <p:sp>
        <p:nvSpPr>
          <p:cNvPr id="95" name="Text 92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waiter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nā-di-lun</a:t>
            </a:r>
            <a:endParaRPr lang="en-US" sz="1350" dirty="0"/>
          </a:p>
        </p:txBody>
      </p:sp>
      <p:sp>
        <p:nvSpPr>
          <p:cNvPr id="96" name="Shape 93"/>
          <p:cNvSpPr/>
          <p:nvPr/>
        </p:nvSpPr>
        <p:spPr>
          <a:xfrm>
            <a:off x="672084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677570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98" name="Text 95"/>
          <p:cNvSpPr txBox="1"/>
          <p:nvPr/>
        </p:nvSpPr>
        <p:spPr>
          <a:xfrm>
            <a:off x="6766560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نُدُلٌ</a:t>
            </a:r>
            <a:endParaRPr lang="ar-SA" sz="1500" dirty="0"/>
          </a:p>
        </p:txBody>
      </p:sp>
      <p:sp>
        <p:nvSpPr>
          <p:cNvPr id="99" name="Shape 96"/>
          <p:cNvSpPr/>
          <p:nvPr/>
        </p:nvSpPr>
        <p:spPr>
          <a:xfrm>
            <a:off x="5568696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5623560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101" name="Text 98"/>
          <p:cNvSpPr txBox="1"/>
          <p:nvPr/>
        </p:nvSpPr>
        <p:spPr>
          <a:xfrm>
            <a:off x="5614416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نَادِلَةٌ</a:t>
            </a:r>
            <a:endParaRPr lang="ar-SA" sz="1500" dirty="0"/>
          </a:p>
        </p:txBody>
      </p:sp>
      <p:sp>
        <p:nvSpPr>
          <p:cNvPr id="102" name="Shape 99"/>
          <p:cNvSpPr/>
          <p:nvPr/>
        </p:nvSpPr>
        <p:spPr>
          <a:xfrm>
            <a:off x="441655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447141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104" name="Text 101"/>
          <p:cNvSpPr txBox="1"/>
          <p:nvPr/>
        </p:nvSpPr>
        <p:spPr>
          <a:xfrm>
            <a:off x="4462272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نَادِلٌ</a:t>
            </a:r>
            <a:endParaRPr lang="ar-SA" sz="1500" dirty="0"/>
          </a:p>
        </p:txBody>
      </p:sp>
      <p:sp>
        <p:nvSpPr>
          <p:cNvPr id="105" name="Shape 102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06" name="Shape 103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07" name="Text 104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108" name="Shape 105"/>
          <p:cNvSpPr/>
          <p:nvPr/>
        </p:nvSpPr>
        <p:spPr>
          <a:xfrm>
            <a:off x="960120" y="4279392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960120" y="4279392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dual · pl.</a:t>
            </a:r>
            <a:endParaRPr lang="en-US" sz="800" dirty="0"/>
          </a:p>
        </p:txBody>
      </p:sp>
      <p:sp>
        <p:nvSpPr>
          <p:cNvPr id="110" name="Shape 107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1" name="Text 108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12" name="Text 109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مَطْعَمٌ</a:t>
            </a:r>
            <a:endParaRPr lang="ar-SA" sz="3000" dirty="0"/>
          </a:p>
        </p:txBody>
      </p:sp>
      <p:sp>
        <p:nvSpPr>
          <p:cNvPr id="113" name="Text 110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restaurant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maṭ-ʿa-mun</a:t>
            </a:r>
            <a:endParaRPr lang="en-US" sz="1350" dirty="0"/>
          </a:p>
        </p:txBody>
      </p:sp>
      <p:sp>
        <p:nvSpPr>
          <p:cNvPr id="114" name="Shape 111"/>
          <p:cNvSpPr/>
          <p:nvPr/>
        </p:nvSpPr>
        <p:spPr>
          <a:xfrm>
            <a:off x="289864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5" name="Text 112"/>
          <p:cNvSpPr txBox="1"/>
          <p:nvPr/>
        </p:nvSpPr>
        <p:spPr>
          <a:xfrm>
            <a:off x="295351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16" name="Text 113"/>
          <p:cNvSpPr txBox="1"/>
          <p:nvPr/>
        </p:nvSpPr>
        <p:spPr>
          <a:xfrm>
            <a:off x="294436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مَطَاعِمُ</a:t>
            </a:r>
            <a:endParaRPr lang="ar-SA" sz="1500" dirty="0"/>
          </a:p>
        </p:txBody>
      </p:sp>
      <p:sp>
        <p:nvSpPr>
          <p:cNvPr id="117" name="Shape 114"/>
          <p:cNvSpPr/>
          <p:nvPr/>
        </p:nvSpPr>
        <p:spPr>
          <a:xfrm>
            <a:off x="174650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8" name="Text 115"/>
          <p:cNvSpPr txBox="1"/>
          <p:nvPr/>
        </p:nvSpPr>
        <p:spPr>
          <a:xfrm>
            <a:off x="180136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dual</a:t>
            </a:r>
            <a:endParaRPr lang="en-US" sz="700" dirty="0"/>
          </a:p>
        </p:txBody>
      </p:sp>
      <p:sp>
        <p:nvSpPr>
          <p:cNvPr id="119" name="Text 116"/>
          <p:cNvSpPr txBox="1"/>
          <p:nvPr/>
        </p:nvSpPr>
        <p:spPr>
          <a:xfrm>
            <a:off x="1792224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مَطْعَمَانِ</a:t>
            </a:r>
            <a:endParaRPr lang="ar-SA" sz="1350" dirty="0"/>
          </a:p>
        </p:txBody>
      </p:sp>
      <p:sp>
        <p:nvSpPr>
          <p:cNvPr id="120" name="Shape 117"/>
          <p:cNvSpPr/>
          <p:nvPr/>
        </p:nvSpPr>
        <p:spPr>
          <a:xfrm>
            <a:off x="59436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21" name="Text 118"/>
          <p:cNvSpPr txBox="1"/>
          <p:nvPr/>
        </p:nvSpPr>
        <p:spPr>
          <a:xfrm>
            <a:off x="64922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122" name="Text 119"/>
          <p:cNvSpPr txBox="1"/>
          <p:nvPr/>
        </p:nvSpPr>
        <p:spPr>
          <a:xfrm>
            <a:off x="640080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مَطْعَمٌ</a:t>
            </a:r>
            <a:endParaRPr lang="ar-SA" sz="1500" dirty="0"/>
          </a:p>
        </p:txBody>
      </p:sp>
      <p:sp>
        <p:nvSpPr>
          <p:cNvPr id="123" name="Text 120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MENU, BILL AND PRICES (M. · F. · NUMBERS)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much is it?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الأَسْعَارُ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idāfa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قَائِمَةُ الطَّعَامِ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menu (idāfa)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qā-ʾi-ma-tu aṭ-ṭa-ʿā-mi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782312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782312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الحِسَابُ · الفَاتُورَةُ</a:t>
            </a:r>
            <a:endParaRPr lang="ar-SA" sz="3000" dirty="0"/>
          </a:p>
        </p:txBody>
      </p:sp>
      <p:sp>
        <p:nvSpPr>
          <p:cNvPr id="32" name="Text 29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bill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al-ḥi-sā-bu · al-fā-tū-ra-tu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35" name="Text 32"/>
          <p:cNvSpPr txBox="1"/>
          <p:nvPr/>
        </p:nvSpPr>
        <p:spPr>
          <a:xfrm>
            <a:off x="6190488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فَوَاتِيرُ</a:t>
            </a:r>
            <a:endParaRPr lang="ar-SA" sz="1500" dirty="0"/>
          </a:p>
        </p:txBody>
      </p:sp>
      <p:sp>
        <p:nvSpPr>
          <p:cNvPr id="36" name="Shape 33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38" name="Text 35"/>
          <p:cNvSpPr txBox="1"/>
          <p:nvPr/>
        </p:nvSpPr>
        <p:spPr>
          <a:xfrm>
            <a:off x="4462272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فَاتُورَةٌ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960120" y="1938528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60120" y="1938528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6" name="Text 43"/>
          <p:cNvSpPr txBox="1"/>
          <p:nvPr/>
        </p:nvSpPr>
        <p:spPr>
          <a:xfrm>
            <a:off x="566928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ثَمَنُ …؟</a:t>
            </a:r>
            <a:endParaRPr lang="ar-SA" sz="3000" dirty="0"/>
          </a:p>
        </p:txBody>
      </p:sp>
      <p:sp>
        <p:nvSpPr>
          <p:cNvPr id="47" name="Text 44"/>
          <p:cNvSpPr txBox="1"/>
          <p:nvPr/>
        </p:nvSpPr>
        <p:spPr>
          <a:xfrm>
            <a:off x="594360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much is …?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kam tha-ma-nu …?</a:t>
            </a:r>
            <a:endParaRPr lang="en-US" sz="1350" dirty="0"/>
          </a:p>
        </p:txBody>
      </p:sp>
      <p:sp>
        <p:nvSpPr>
          <p:cNvPr id="48" name="Shape 45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8604504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604504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numbers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5" name="Text 52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دِينَارٌ</a:t>
            </a:r>
            <a:endParaRPr lang="ar-SA" sz="3000" dirty="0"/>
          </a:p>
        </p:txBody>
      </p:sp>
      <p:sp>
        <p:nvSpPr>
          <p:cNvPr id="56" name="Text 53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dinar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dī-nā-run</a:t>
            </a:r>
            <a:endParaRPr lang="en-US" sz="1350" dirty="0"/>
          </a:p>
        </p:txBody>
      </p:sp>
      <p:sp>
        <p:nvSpPr>
          <p:cNvPr id="57" name="Shape 54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3–10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10588752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دَنَانِيرُ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943660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دِينَارَانِ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دِينَارٌ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4782312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4782312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3" name="Text 70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رَخِيصٌ</a:t>
            </a:r>
            <a:endParaRPr lang="ar-SA" sz="3000" dirty="0"/>
          </a:p>
        </p:txBody>
      </p:sp>
      <p:sp>
        <p:nvSpPr>
          <p:cNvPr id="74" name="Text 71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cheap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ra-khī-ṣun</a:t>
            </a:r>
            <a:endParaRPr lang="en-US" sz="1350" dirty="0"/>
          </a:p>
        </p:txBody>
      </p:sp>
      <p:sp>
        <p:nvSpPr>
          <p:cNvPr id="75" name="Shape 72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77" name="Text 74"/>
          <p:cNvSpPr txBox="1"/>
          <p:nvPr/>
        </p:nvSpPr>
        <p:spPr>
          <a:xfrm>
            <a:off x="6190488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رَخِيصَةٌ</a:t>
            </a:r>
            <a:endParaRPr lang="ar-SA" sz="1500" dirty="0"/>
          </a:p>
        </p:txBody>
      </p:sp>
      <p:sp>
        <p:nvSpPr>
          <p:cNvPr id="78" name="Shape 75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رَخِيصٌ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2" name="Shape 79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960120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960120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</a:t>
            </a:r>
            <a:endParaRPr lang="en-US" sz="800" dirty="0"/>
          </a:p>
        </p:txBody>
      </p:sp>
      <p:sp>
        <p:nvSpPr>
          <p:cNvPr id="86" name="Shape 83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8" name="Text 85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غَالٍ</a:t>
            </a:r>
            <a:endParaRPr lang="ar-SA" sz="3000" dirty="0"/>
          </a:p>
        </p:txBody>
      </p:sp>
      <p:sp>
        <p:nvSpPr>
          <p:cNvPr id="89" name="Text 86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expensive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ghā-lin</a:t>
            </a:r>
            <a:endParaRPr lang="en-US" sz="1350" dirty="0"/>
          </a:p>
        </p:txBody>
      </p:sp>
      <p:sp>
        <p:nvSpPr>
          <p:cNvPr id="90" name="Shape 87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92" name="Text 89"/>
          <p:cNvSpPr txBox="1"/>
          <p:nvPr/>
        </p:nvSpPr>
        <p:spPr>
          <a:xfrm>
            <a:off x="2368296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غَالِيَةٌ</a:t>
            </a:r>
            <a:endParaRPr lang="ar-SA" sz="1500" dirty="0"/>
          </a:p>
        </p:txBody>
      </p:sp>
      <p:sp>
        <p:nvSpPr>
          <p:cNvPr id="93" name="Shape 90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95" name="Text 92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غَالٍ</a:t>
            </a:r>
            <a:endParaRPr lang="ar-SA" sz="1500" dirty="0"/>
          </a:p>
        </p:txBody>
      </p:sp>
      <p:sp>
        <p:nvSpPr>
          <p:cNvPr id="96" name="Text 9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IN A CAFÉ IN AMMAN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Ordering in a café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مَقْهًى فِي عَمَّانَ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… وَ …، مِنْ فَضْلِكَ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Order a drink and something to eat.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 وَسَهْلًا! مَاذَا تَطْلُبُ؟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مِلْعَقَةً وَاحِدَةً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yes or no, politely.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تُرِيدُ السُّكَّرَ؟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ثَمَنُ …؟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how much the cake is (the examiner then answers).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دِينَارَانِ.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أَجْلِسُ فِي … لِأَنَّ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where you want to sit, and why.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تَجْلِسُ فِي الدَّاخِلِ أَمْ فِي الخَارِجِ؟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شُكْرًا. الحِسَابُ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تُرِيدُ شَيْئًا آخَرَ؟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customer  ·  The examiner is: the waiter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A PHONE CALL TO A RESTAURANT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Booking a table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حَجْزُ طَاوِلَةٍ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أَحْجِزَ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you want to book a table.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مَطْعَمُ النَّخِيلِ، تَفَضَّلْ.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لِخَمْسَةِ أَشْخَاصٍ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many people.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لِكَمْ شَخْصًا؟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يَوْمَ … فِي السَّاعَةِ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the day and the time.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أَيِّ يَوْمٍ، وَفِي أَيِّ سَاعَةٍ؟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عِنْدَكُمْ …؟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if they have dishes for children (the examiner then answers).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نَعَمْ، عِنْدَنَا قَائِمَةٌ خَاصَّةٌ لِلْأَطْفَالِ.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الحَجْزُ بِاسْمِ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الاسْمُ، مِنْ فَضْلِكَ؟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customer  ·  The examiner is: the restaurant employee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A PROBLEM IN A RESTAURANT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A problem with the order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مُشْكِلَةٌ فِي المَطْعَمِ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… بَارِدَةٌ، وَأَنَا طَلَبْتُ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the problem politely.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الطَّعَامُ؟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أَرْجُو أَنْ تُسَخِّنَهَا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would like him to do.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أَعْتَذِرُ! مَاذَا تُرِيدُ أَنْ أَفْعَلَ؟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طَلَبْتُ … مَعَ … وَ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else you ordered (past).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طَلَبْتَ أَيْضًا؟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الخِدْمَةُ …؟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if service is included in the bill (the examiner then answers).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نَعَمْ، عَشَرَةٌ فِي المِئَةِ.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سَأَرْجِعُ لِأَنَّ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question, with a reason.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سَتَرْجِعُ إِلَى مَطْعَمِنَا؟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customer  ·  The examiner is: the waiter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PLANNING AN END-OF-YEAR CLASS MEAL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The class meal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وَجْبَةُ نِهَايَةِ السَّنَةِ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سَيَأْتِي … طَالِبًا، وَمِيزَانِيَّتُنَا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the number of students and the budget.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طَالِبًا سَيَأْتِي، وَمَا مِيزَانِيَّتُكُمْ؟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نُفَضِّلُ … لِأَنَّهَا … وَلِأَنَّ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preference with two reasons.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تُفَضِّلُونَ: الوَجَبَاتِ السَّرِيعَةَ أَمِ الأَطْبَاقَ العَرَبِيَّةَ؟</a:t>
            </a:r>
            <a:endParaRPr lang="ar-SA" sz="155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السَّنَةِ المَاضِيَةِ تَنَاوَلْنَا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past class meal.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أَكَلْتُمْ مَعًا فِي مَطْعَمٍ مِنْ قَبْلُ؟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رَأْيِي، … أَهَمُّ مِنْ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an opinion with a comparison.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يَجْعَلُ المَطْعَمَ جَيِّدًا فِي رَأْيِكَ؟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كَانَتِ … لَطَلَبْنَا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(a conditional).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كَانَتِ المِيزَانِيَّةُ أَكْبَرَ، مَاذَا تَطْلُبُونَ؟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the class representative  ·  The examiner is: the restaurant manager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made polite requests (urīdu … min faḍlika) with full sentences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numbers and prices correctly, and gave a reason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فِنْجَانَ شَايٍ وَقِطْعَةَ كَعْكٍ، مِنْ فَضْلِكَ.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would like a cup of tea and a piece of cake, please.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 وَسَهْلًا! مَاذَا تَطْلُبُ؟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مِلْعَقَةً وَاحِدَةً، مِنْ فَضْلِكَ.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one spoonful, please.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تُرِيدُ السُّكَّرَ؟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ثَمَنُ الكَعْكَةِ؟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much is the cake?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دِينَارَانِ.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أَجْلِسُ فِي الخَارِجِ، لِأَنَّ الجَوَّ جَمِيلٌ.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I’ll sit outside, because the weather is lovely.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تَجْلِسُ فِي الدَّاخِلِ أَمْ فِي الخَارِجِ؟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شُكْرًا. الحِسَابُ، مِنْ فَضْلِكَ.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thank you. The bill, please.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تُرِيدُ شَيْئًا آخَرَ؟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أَحْجِزَ طَاوِلَةً، مِنْ فَضْلِكَ.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would like to book a table, please.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مَطْعَمُ النَّخِيلِ، تَفَضَّلْ.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لِخَمْسَةِ أَشْخَاصٍ.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For five people.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لِكَمْ شَخْصًا؟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يَوْمَ الجُمُعَةِ، فِي السَّاعَةِ الثَّامِنَةِ مَسَاءً.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 Friday, at eight in the evening.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أَيِّ يَوْمٍ، وَفِي أَيِّ سَاعَةٍ؟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عِنْدَكُمْ أَطْبَاقٌ لِلْأَطْفَالِ؟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have dishes for children?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نَعَمْ، عِنْدَنَا قَائِمَةٌ خَاصَّةٌ لِلْأَطْفَالِ.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الحَجْزُ بِاسْمِ آدَمَ حُسَيْنٍ، شُكْرًا لَكَ.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booking is in the name of Adam Hussain, thank you.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الاسْمُ، مِنْ فَضْلِكَ؟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الشُّورْبَةُ بَارِدَةٌ، وَأَنَا طَلَبْتُ شُورْبَةً سَاخِنَةً.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Excuse me, the soup is cold, and I ordered a hot soup.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الطَّعَامُ؟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أَرْجُو أَنْ تُسَخِّنَهَا، أَوْ أَنْ تُحْضِرَ لِي طَبَقًا آخَرَ.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Please heat it up, or bring me another dish.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أَعْتَذِرُ! مَاذَا تُرِيدُ أَنْ أَفْعَلَ؟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طَلَبْتُ دَجَاجًا مَشْوِيًّا مَعَ الأُرْزِ، وَعَصِيرَ لَيْمُونٍ.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ordered grilled chicken with rice, and a lemon juice.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طَلَبْتَ أَيْضًا؟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الخِدْمَةُ مَحْسُوبَةٌ فِي الفَاتُورَةِ؟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service included in the bill?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نَعَمْ، عَشَرَةٌ فِي المِئَةِ.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سَأَرْجِعُ، لِأَنَّ الطَّعَامَ لَذِيذٌ وَالخِدْمَةَ سَرِيعَةٌ.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will come back, because the food is tasty and the service is quick.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سَتَرْجِعُ إِلَى مَطْعَمِنَا؟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سَيَأْتِي عِشْرُونَ طَالِبًا، وَمِيزَانِيَّتُنَا مِئَتَا دِينَارٍ تَقْرِيبًا.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Twenty students will come, and our budget is about two hundred dinars.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طَالِبًا سَيَأْتِي، وَمَا مِيزَانِيَّتُكُمْ؟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نُفَضِّلُ الأَطْبَاقَ العَرَبِيَّةَ، لِأَنَّهَا أَصَحُّ، وَلِأَنَّ بَعْضَ زُمَلَائِنَا لَا يَأْكُلُونَ الوَجَبَاتِ السَّرِيعَةَ.</a:t>
            </a:r>
            <a:endParaRPr lang="ar-SA" sz="175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prefer Arabic dishes, because they are healthier, and because some classmates don’t eat fast food.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تُفَضِّلُونَ: الوَجَبَاتِ السَّرِيعَةَ أَمِ الأَطْبَاقَ العَرَبِيَّةَ؟</a:t>
            </a:r>
            <a:endParaRPr lang="ar-SA" sz="145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فِي السَّنَةِ المَاضِيَةِ تَنَاوَلْنَا الغَدَاءَ فِي مَطْعَمٍ لُبْنَانِيٍّ، وَكَانَتِ التَّجْرِبَةُ رَائِعَةً.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last year we had lunch in a Lebanese restaurant, and it was a great experience.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أَكَلْتُمْ مَعًا فِي مَطْعَمٍ مِنْ قَبْلُ؟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رَأْيِي، الطَّعَامُ الطَّازَجُ وَالأَسْعَارُ المَعْقُولَةُ أَهَمُّ مِنَ الدِّيكُورِ الفَاخِرِ.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my opinion, fresh food and reasonable prices matter more than luxurious decor.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يَجْعَلُ المَطْعَمَ جَيِّدًا فِي رَأْيِكَ؟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كَانَتِ المِيزَانِيَّةُ أَكْبَرَ، لَطَلَبْنَا حَلْوَى خَاصَّةً وَكَعْكَةً كَبِيرَةً لِلِاحْتِفَالِ.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the budget were bigger, we would order a special dessert and a big cake to celebrate.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كَانَتِ المِيزَانِيَّةُ أَكْبَرَ، مَاذَا تَطْلُبُونَ؟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large numbers, comparatives, past narrative and law … la-.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المَطْعَمِ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أَذْهَبُ … مَرَّةً فِي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go to restaurants often?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تَذْهَبُ إِلَى المَطْعَمِ كَثِيرًا؟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أَطْلُبُ عَادَةً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usually order in a café?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تَطْلُبُ عَادَةً فِي المَقْهَى؟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مَطْعَمِي المُفَضَّلُ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favourite restaurant?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مَطْعَمُكَ المُفَضَّلُ؟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أَذْهَبُ مَعَ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Who do you go with?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مَنْ تَذْهَبُ؟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بَعْضُ المَطَاعِمِ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Are restaurants expensive?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المَطَاعِمُ غَالِيَةٌ؟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الأَكْلُ خَارِجَ البَيْتِ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مَطْعَمِي المُفَضَّلُ … وَالطَّعَامُ فِيهِ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favourite restaurant.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مَطْعَمَكَ المُفَضَّلَ.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أَطْلُبُ … أَوَّلًا، ثُمَّ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order in an Arabic restaurant?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تَطْلُبُ فِي مَطْعَمٍ عَرَبِيٍّ؟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… لِأَنَّهُ … لٰكِنَّ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prefer eating out or at home?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تُفَضِّلُ الأَكْلَ فِي المَطْعَمِ أَمْ فِي البَيْتِ؟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ذَهَبْتُ … وَأَكَلْتُ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did you last go to a restaurant?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ذَهَبْتَ إِلَى مَطْعَمٍ آخِرَ مَرَّةٍ؟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أَدْفَعُ عَادَةً … جُنَيْهَاتٍ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much do you usually pay in a café?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تَدْفَعُ عَادَةً فِي المَقْهَى؟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a comparison (arkhaṣ, aṣaḥḥ), a price, a reason (li-anna).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ثَقَافَةُ المَطَاعِمِ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 أَنَّ … أَهَمُّ مِنْ … لِأَنَّ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makes a restaurant successful?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يَجْعَلُ المَطْعَمَ نَاجِحًا فِي رَأْيِكَ؟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بَيْنَمَا يَشْرَبُ النَّاسُ هُنَا … يَجْلِسُ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cafés here and in Arab countries.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بَيْنَ المَقَاهِي هُنَا وَفِي البُلْدَانِ العَرَبِيَّةِ.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مَرَّةً طَلَبْتُ … فَأَحْضَرَ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problem you had in a restaurant.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مُشْكِلَةً حَدَثَتْ لَكَ فِي مَطْعَمٍ.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أَرَى أَنَّ … إِذَا … لِأَنَّ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Should we leave a tip for the waiter?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نَتْرُكَ إِكْرَامِيَّةً لِلنَّادِلِ؟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فَتَحْتُ مَقْهًى، لَجَعَلْتُهُ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opened a café, how would you make it special?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فَتَحْتَ مَقْهًى، كَيْفَ تَجْعَلُهُ مُمَيَّزًا؟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opinion with a comparison, baynamā, a past narrative with fa- and a conditional (law … la-).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أَذْهَبُ إِلَى المَطْعَمِ مَرَّةً فِي الشَّهْرِ.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go to a restaurant once a month.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تَذْهَبُ إِلَى المَطْعَمِ كَثِيرًا؟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أَطْلُبُ عَادَةً عَصِيرَ فَرَاوِلَةٍ وَكَعْكَةً.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usually order a strawberry juice and a cake.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تَطْلُبُ عَادَةً فِي المَقْهَى؟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مَطْعَمِي المُفَضَّلُ مَطْعَمٌ إِيطَالِيٌّ قَرِيبٌ مِنْ بَيْتِي.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favourite restaurant is an Italian restaurant near my house.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مَطْعَمُكَ المُفَضَّلُ؟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أَذْهَبُ مَعَ أُسْرَتِي أَوْ مَعَ أَصْدِقَائِي.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go with my family or my friends.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مَنْ تَذْهَبُ؟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بَعْضُ المَطَاعِمِ غَالِيَةٌ جِدًّا.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some restaurants are very expensive.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المَطَاعِمُ غَالِيَةٌ؟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one detail (how often, with whom, which food)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مَطْعَمِي المُفَضَّلُ صَغِيرٌ وَهَادِئٌ، وَالطَّعَامُ فِيهِ لَذِيذٌ، وَالأَسْعَارُ مَعْقُولَةٌ.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favourite restaurant is small and quiet; the food is tasty and the prices are reasonable.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مَطْعَمَكَ المُفَضَّلَ.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أَطْلُبُ الحُمُّصَ وَالفَلَافِلَ أَوَّلًا، ثُمَّ أَطْلُبُ المَشَاوِيَ.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order hummus and falafel first, then grilled meats.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تَطْلُبُ فِي مَطْعَمٍ عَرَبِيٍّ؟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الأَكْلَ فِي البَيْتِ لِأَنَّهُ أَرْخَصُ وَأَصَحُّ، لٰكِنَّ المَطْعَمَ مُمْتِعٌ فِي المُنَاسَبَاتِ.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prefer eating at home because it is cheaper and healthier, but restaurants are fun on special occasions.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تُفَضِّلُ الأَكْلَ فِي المَطْعَمِ أَمْ فِي البَيْتِ؟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ذَهَبْتُ الأُسْبُوعَ المَاضِيَ مَعَ أُسْرَتِي، وَأَكَلْتُ سَمَكًا مَشْوِيًّا.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went last week with my family and ate grilled fish.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ذَهَبْتَ إِلَى مَطْعَمٍ آخِرَ مَرَّةٍ؟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أَدْفَعُ عَادَةً خَمْسَةَ جُنَيْهَاتٍ تَقْرِيبًا ثَمَنَ عَصِيرٍ وَكَعْكَةٍ.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usually pay about five pounds for a juice and a cake.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تَدْفَعُ عَادَةً فِي المَقْهَى؟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Description + preference + reason + one past sentence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 أَنَّ الطَّعَامَ الطَّازَجَ وَالخِدْمَةَ اللَّطِيفَةَ أَهَمُّ مِنَ المَكَانِ الفَاخِرِ، لِأَنَّ الزَّبُونَ يَرْجِعُ إِذَا شَعَرَ بِالتَّرْحِيبِ.</a:t>
            </a:r>
            <a:endParaRPr lang="ar-SA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think fresh food and friendly service matter more than a luxurious place, because customers come back if they feel welcome.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يَجْعَلُ المَطْعَمَ نَاجِحًا فِي رَأْيِكَ؟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بَيْنَمَا يَشْرَبُ النَّاسُ هُنَا القَهْوَةَ بِسُرْعَةٍ قَبْلَ العَمَلِ، يَجْلِسُ النَّاسُ فِي المَقَاهِي العَرَبِيَّةِ سَاعَاتٍ يَتَحَدَّثُونَ وَيَلْعَبُونَ.</a:t>
            </a:r>
            <a:endParaRPr lang="ar-SA" sz="145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While people here drink coffee quickly before work, people in Arab cafés sit for hours talking and playing games.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بَيْنَ المَقَاهِي هُنَا وَفِي البُلْدَانِ العَرَبِيَّةِ.</a:t>
            </a:r>
            <a:endParaRPr lang="ar-SA" sz="145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مَرَّةً طَلَبْتُ طَبَقًا نَبَاتِيًّا، فَأَحْضَرَ النَّادِلُ طَبَقًا بِاللَّحْمِ، فَشَرَحْتُ لَهُ بِأَدَبٍ، وَغَيَّرَهُ بِسُرْعَةٍ.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Once I ordered a vegetarian dish and the waiter brought one with meat; I explained politely and he changed it quickly.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مُشْكِلَةً حَدَثَتْ لَكَ فِي مَطْعَمٍ.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comparatives, baynamā, a past story, idhā for a condition and law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أَرَى أَنَّ الإِكْرَامِيَّةَ فِكْرَةٌ جَيِّدَةٌ إِذَا كَانَتِ الخِدْمَةُ مُمْتَازَةً، لِأَنَّ النُّدُلَ يَعْمَلُونَ سَاعَاتٍ طَوِيلَةً.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think a tip is a good idea if the service is excellent, because waiters work long hours.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نَتْرُكَ إِكْرَامِيَّةً لِلنَّادِلِ؟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فَتَحْتُ مَقْهًى، لَجَعَلْتُهُ مَكَانًا هَادِئًا لِلْقِرَاءَةِ، وَلَقَدَّمْتُ مَشْرُوبَاتٍ صِحِّيَّةً بِأَسْعَارٍ رَخِيصَةٍ.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opened a café, I would make it a quiet place for reading and serve healthy drinks at low prices.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فَتَحْتَ مَقْهًى، كَيْفَ تَجْعَلُهُ مُمَيَّزًا؟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comparatives, baynamā, a past story, idhā for a condition and law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every role-play task in a full sentence.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made polite requests (urīdu … · min faḍlika).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asked about a price and used numbers correctly.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explained a problem politely (arjū an …).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compared, told a past story and used a conditional.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AT-A-L05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AT-A-L05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AT-A-L05 · Speaking Workshop — Eating Out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2026-10-11T08:14:08Z</dcterms:created>
  <dcterms:modified xsi:type="dcterms:W3CDTF">2026-10-11T08:14:08Z</dcterms:modified>
</cp:coreProperties>
</file>