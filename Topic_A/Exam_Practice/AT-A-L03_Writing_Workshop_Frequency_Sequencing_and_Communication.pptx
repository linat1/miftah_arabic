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3 (Frequency, Sequencing and Communication, AT-A-L03).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is a noun answer (التَّدْخِينُ / السَّهَرُ) — not a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Writing to an aunt (feminine): أُخْبِرَكِ · إِلَيْكِ · سَأَزُورُكِ. To an uncle: أُخْبِرَكَ · إِلَيْكَ · سَأَزُورُكَ.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مَاذَا (what) · كَمْ مَرَّةً (how often) · كَيْفَ (how) — and two tenses in bullet 4: فَعَلْتَ (past) · سَتَفْعَلُ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(84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simple sentences, frequency words in every paragraph, and three time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frequency, ammā … fa-, qabla an + subjunctive, baʿda an + past, a concession and a conditional.
ENGLISH SUMMARY (read aloud or paste in the chat for Core students): Present: an orderly week; before leaving home I pack my bag; training twice a week, the library sometimes; as for TV, I rarely watch it → order: when I get home I rest, then homework before I contact friends; I call my grandmother in Pakistan every Friday → opinion: messages are quick, but calls are warmer → past: last week, after I learnt the test date, I switched my phone off and revised → future: fixed reading time; “if I manage it, I would read a book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a past habit (kāna + present), contrast, an example, a concession, a decision with an + subjunctive and a conditional.
ENGLISH SUMMARY (read aloud or paste in the chat for Core students): Then: my grandfather wrote a paper letter to his brother once a month and waited weeks for a reply; as for today, messages arrive in seconds → now: apps every day, video calls on occasions (last Eid, a whole hour with my uncle in Canada) → opinion: technology brought the distant near, but sometimes pushed the near away → future: phone off for an hour each evening; “if everyone did that, our relationships would be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Frequency and Communication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التَّكْرَارُ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complete a survey form about how often you do things, write an email linking events in order, and write an extended piece with connectors, frequency and three time frames.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AT-A-L03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to a relative about your week.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qabla an + verb in -a; baʿda an + past verb; “never” = lā + verb + abadan; and the right tense for each bullet.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دَائِمًا · أَحْيَانًا · لَا … أَبَدًا</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always · sometimes · never</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قَبْلَ أَنْ أَنَامَ · بَعْدَ أَنْ رَجَعْتُ</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before I sleep · after I came back</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عِنْدَمَا · ثُمَّ · أَمَّا … فَإِنَّ</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when · then · as for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Youth-club survey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اسْتِبْيَانُ نَادِي الشَّبَابِ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you do sport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كَمْ مَرَّةً تُمَارِسُ الرِّيَاضَةَ؟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sometimes do</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نَشَاطٌ تَفْعَلُهُ أَحْيَانًا</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never do</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شَيْءٌ لَا تَفْعَلُهُ أَبَدًا</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keep in touch with friends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تَتَوَاصَلُ مَعَ أَصْدِقَائِكَ؟</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come to the club</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مَتَى تَأْتِي إِلَى النَّادِي؟</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do before sleeping</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مَاذَا تَفْعَلُ قَبْلَ أَنْ تَنَامَ؟</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needs a full sentence (qabla an anāma …).</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Youth-club survey: model answers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Adam Hussain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آدَمُ حُسَيْنٌ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أَرْبَعَ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times a week</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 مَرَّاتٍ فِي الأُسْبُوعِ</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كَمْ مَرَّةً تُمَارِسُ الرِّيَاضَةَ؟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drawing</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الرَّسْمُ</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نَشَاطٌ تَفْعَلُهُ أَحْيَانًا</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smoking</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التَّدْخِينُ</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شَيْءٌ لَا تَفْعَلُهُ أَبَدًا</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messages on the phone</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بِالرَّسَائِلِ عَلَى الهَاتِفِ</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كَيْفَ تَتَوَاصَلُ مَعَ أَصْدِقَائِكَ؟</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Wednesday after school</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 الأَرْبِعَاءِ بَعْدَ المَدْرَسَةِ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مَتَى تَأْتِي إِلَى النَّادِي؟</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I sleep I read a book and switch off my phone.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قَبْلَ أَنْ أَنَامَ أَقْرَأُ كِتَابًا وَأُطْفِئُ هَاتِفِي.</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مَاذَا تَفْعَلُ قَبْلَ أَنْ تَنَامَ؟</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an email to your aunt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إِلَى خَالَتِي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of about 80–90 words to a relative who lives abroad about your week. You must include: • what you do regularly and how often • what you do before or after school (in order) • how you keep in touch with friends and family • what you did yesterday and what you will do in the holidays.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 to a relative.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Frequency words and connectors (qabla an, ʿindamā, thumma).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(yesterday) AND future (the holidays).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أَشْتَاقُ إِلَيْكِ كَثِيرًا.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miss you a lot. (to a woman)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مَرَّتَيْنِ فِي الأُسْبُوعِ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twice a week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عِنْدَمَا أَرْجِعُ إِلَى البَيْتِ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get home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حُبِّي،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love, (closing)</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relative abroad about your week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اكْتُبْ رِسَالَةً إِلِكْتِرُونِيَّةً إِلَى قَرِيبٍ يَسْكُنُ فِي الخَارِجِ عَنْ أُسْبُوعِكَ (٨٠–٩٠ كَلِمَةً).</a:t>
            </a:r>
            <a:endParaRPr lang="ar-SA" sz="175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regularly, and how often</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تَفْعَلُ بِانْتِظَامٍ؟ وَكَمْ مَرَّةً؟</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before or after school</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تَفْعَلُ قَبْلَ المَدْرَسَةِ أَوْ بَعْدَهَا؟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keep in touch</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كَيْفَ تَتَوَاصَلُ مَعَ أَصْدِقَائِكَ وَأُسْرَتِكَ؟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and the holidays</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أَمْسِ، وَمَاذَا سَتَفْعَلُ فِي العُطْلَةِ؟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play … twice a week, and sometimes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أَلْعَبُ ______ مَرَّتَيْنِ فِي الأُسْبُوعِ، وَأَحْيَانًا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I sleep … When I get home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قَبْلَ أَنْ أَنَامَ ______ . عِنْدَمَا أَرْجِعُ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keep in touch with my friends by messages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أَتَوَاصَلُ مَعَ أَصْدِقَائِي بِالرَّسَائِلِ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 In the holiday I will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______ . فِي العُطْلَةِ سَوْفَ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love,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حُبِّي،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خَالَتِي،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أُرِيدُ أَنْ أُخْبِرَكِ عَنْ أُسْبُوعِي. أَذْهَبُ إِلَى المَدْرَسَةِ كُلَّ يَوْمٍ، وَأَلْعَبُ كُرَةَ القَدَمِ مَرَّتَيْنِ فِي الأُسْبُوعِ. قَبْلَ أَنْ أَنَامَ أَقْرَأُ كِتَابًا. أَتَوَاصَلُ مَعَ أَصْدِقَائِي بِالرَّسَائِلِ كُلَّ يَوْمٍ، وَأَتَّصِلُ بِجَدَّتِي يَوْمَ الجُمُعَةِ. أَمْسِ ذَهَبْتُ إِلَى المَكْتَبَةِ بَعْدَ المَدْرَسَةِ، ثُمَّ رَجَعْتُ إِلَى البَيْتِ. فِي العُطْلَةِ سَأَزُورُكِ مَعَ أُمِّي، إِنْ شَاءَ اللّٰهُ.</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حُبِّي،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Auntie, how are you? I want to tell you about my week. I go to school every day and play football twice a week. Before I sleep I read a book. I keep in touch with my friends by messages every day, and I call my grandmother on Friday. Yesterday I went to the library after school, then I went home. In the holidays I will visit you with my mother, God willing. With love,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مَرَّتَيْنِ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قَبْلَ أَنْ أَنَامَ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أَتَوَاصَلُ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سَأَزُورُكِ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مَرْحَبًا يَا خَالَتِي،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كَيْفَ حَالُكِ؟ أَشْتَاقُ إِلَيْكِ كَثِيرًا. أُرِيدُ أَنْ أُخْبِرَكِ عَنْ أُسْبُوعِي. أَذْهَبُ إِلَى المَدْرَسَةِ خَمْسَةَ أَيَّامٍ، وَأَلْعَبُ كُرَةَ القَدَمِ مَرَّتَيْنِ فِي الأُسْبُوعِ، وَلَا أَتَأَخَّرُ عَنِ التَّدْرِيبِ أَبَدًا. عِنْدَمَا أَرْجِعُ إِلَى البَيْتِ أُنْهِي وَاجِبَاتِي، وَقَبْلَ أَنْ أَنَامَ أَقْرَأُ قَلِيلًا. وَأَحْيَانًا أَلْعَبُ مَعَ أَخِي فِي الحَدِيقَةِ. أَتَوَاصَلُ مَعَ أَصْدِقَائِي بِالرَّسَائِلِ يَوْمِيًّا، لٰكِنَّنِي أُفَضِّلُ المُكَالَمَاتِ لِأَنَّهَا أَقْرَبُ. أَمْسِ، بَعْدَ أَنْ رَجَعْتُ مِنَ المَدْرَسَةِ، ذَهَبْتُ إِلَى المَكْتَبَةِ مَعَ صَدِيقِي يُوسُفَ وَاسْتَعَرْتُ كِتَابًا جَدِيدًا. فِي العُطْلَةِ القَادِمَةِ سَأَزُورُكِ مَعَ أُمِّي، وَسَنَقْضِي يَوْمًا كَامِلًا مَعًا.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حُبِّي،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آدَمُ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Auntie, how are you? I miss you a lot. I want to tell you about my week. I go to school five days, play football twice a week, and I am never late for training. When I get home I finish my homework, and before I sleep I read a little. I keep in touch with my friends by messages every day, but I prefer calls because they feel closer. Yesterday, after I got back from school, I went to the library and borrowed a new book. In the next holiday I will visit you with my mother, and we will spend a whole day together. With love,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أَتَأَخَّرُ … أَبَدًا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عِنْدَمَا أَرْجِعُ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لٰكِنَّنِي أُفَضِّلُ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بَعْدَ أَنْ رَجَعْتُ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week: what I do and how often</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أُسْبُوعِي: مَاذَا أَفْعَلُ وَكَمْ مَرَّةً؟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Activities and how often · after school, in order · how you keep in touch + opinion · last week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صِفْ نَشَاطَاتِكَ وَكَمْ مَرَّةً تَفْعَلُهَا · صِفْ مَا تَفْعَلُهُ بَعْدَ المَدْرَسَةِ بِالتَّرْتِيبِ · كَيْفَ تَتَوَاصَلُ مَعَ الآخَرِينَ وَمَا رَأْيُكَ؟ · مَاذَا فَعَلْتَ الأُسْبُوعَ المَاضِيَ، وَمَا 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Communication: then and now</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التَّوَاصُلُ بَيْنَ الأَمْسِ وَاليَوْمِ</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people communicated in the past · how you communicate today · pros and cons of technology · a habit you will change</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كَيْفَ كَانَ النَّاسُ يَتَوَاصَلُونَ فِي المَاضِي؟ · كَيْفَ تَتَوَاصَلُ أَنْتَ اليَوْمَ؟ · مَا إِيجَابِيَّاتُ التِّكْنُولُوجِيَا وَسَلْبِيَّاتُهَا؟ · مَاذَا سَتُغَيِّرُ فِي عَادَاتِكَ؟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your week: frequency (dā’iman, marratayn, aḥyānan) and order (ʿindamā, thumma).</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Communication + opinion — fī ra’yī … li-anna …; Stretch: ṣaḥīḥun anna … ghayra anna.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last week / a past habit: kāna … yaktubu (used to write); baʿda an + past.</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sa- …; Stretch: law … la- (a conditional).</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أَتَّصِلُ بِجَدَّتِي مَرَّةً فِي الأُسْبُوعِ.</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call my grandmother once a week.</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المَاضِي كَانَ جَدِّي يَكْتُبُ رَسَائِلَ.</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habit: my grandfather used to write letters.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سَأُطْفِئُ هَاتِفِي سَاعَةً كُلَّ مَسَاءٍ.</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switch off my phone for an hour each evening.</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cs typeface="Amiri" pitchFamily="2" charset="-78"/>
              </a:rPr>
              <a:t>أُسْبُوعِي مُنَظَّمٌ جِدًّا. أَذْهَبُ إِلَى المَدْرَسَةِ مِنَ الإِثْنَيْنِ إِلَى الجُمُعَةِ، وَأَسْتَيْقِظُ دَائِمًا فِي السَّاعَةِ السَّادِسَةِ وَالنِّصْفِ. أَلْعَبُ كُرَةَ السَّلَّةِ مَرَّتَيْنِ فِي الأُسْبُوعِ، يَوْمَ الثُّلَاثَاءِ وَيَوْمَ الخَمِيسِ. أَحْيَانًا أَذْهَبُ إِلَى المَكْتَبَةِ بَعْدَ المَدْرَسَةِ، وَنَادِرًا مَا أُشَاهِدُ التِّلْفَازَ. وَفِي نِهَايَةِ الأُسْبُوعِ أَزُورُ جَدِّي دَائِمًا.</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عِنْدَمَا أَرْجِعُ إِلَى البَيْتِ أَتَنَاوَلُ الغَدَاءَ، ثُمَّ أُنْهِي وَاجِبَاتِي. وَفِي المَسَاءِ أَتَنَاوَلُ العَشَاءَ مَعَ أُسْرَتِي. قَبْلَ أَنْ أَنَامَ أُرَتِّبُ حَقِيبَتِي وَأَقْرَأُ كِتَابًا.</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أَتَوَاصَلُ مَعَ أَصْدِقَائِي بِالرَّسَائِلِ كُلَّ يَوْمٍ، وَأَتَّصِلُ بِجَدَّتِي مَرَّةً فِي الأُسْبُوعِ. وَأَحْيَانًا نَلْعَبُ مَعًا عَلَى الإِنْتَرْنِتِ. أُحِبُّ المُكَالَمَاتِ لِأَنِّي أَسْمَعُ صَوْتَ جَدَّتِي.</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الأُسْبُوعَ المَاضِيَ كَانَ عِنْدِي امْتِحَانٌ فِي العُلُومِ، فَذَاكَرْتُ كُلَّ يَوْمٍ سَاعَةً، وَحَصَلْتُ عَلَى دَرَجَةٍ جَيِّدَةٍ، وَكَانَ المُعَلِّمُ سَعِيدًا جِدًّا.</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فِي المُسْتَقْبَلِ سَأَلْعَبُ الرِّيَاضَةَ أَكْثَرَ، وَسَأَسْتَعْمِلُ الهَاتِفَ أَقَلَّ.</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Present: an organised week — always up at 6:30, basketball twice a week, sometimes the library, rarely TV → order: when I get home, lunch, then homework; before bed, pack my bag and read → communication: messages every day, I call my grandmother once a week (I like hearing her voice) → past: last week a science test, I revised an hour a day → future: more sport, less phone.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دَائِمًا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مَرَّتَيْنِ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عِنْدَمَا أَرْجِعُ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قَبْلَ أَنْ أَنَامَ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يَمُرُّ أُسْبُوعِي عَادَةً بِنِظَامٍ وَاضِحٍ. أَسْتَيْقِظُ دَائِمًا فِي السَّادِسَةِ وَالنِّصْفِ، وَقَبْلَ أَنْ أَخْرُجَ مِنَ البَيْتِ أُرَتِّبُ حَقِيبَتِي وَأَتَنَاوَلُ الإِفْطَارَ. أَتَدَرَّبُ عَلَى كُرَةِ السَّلَّةِ مَرَّتَيْنِ فِي الأُسْبُوعِ، وَأَزُورُ المَكْتَبَةَ أَحْيَانًا، أَمَّا التِّلْفَازُ فَنَادِرًا مَا أُشَاهِدُهُ. وَفِي نِهَايَةِ الأُسْبُوعِ أَقْضِي وَقْتًا أَطْوَلَ مَعَ أُسْرَتِي.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عِنْدَمَا أَرْجِعُ إِلَى البَيْتِ أَرْتَاحُ قَلِيلًا، ثُمَّ أُنْهِي وَاجِبَاتِي قَبْلَ أَنْ أَتَوَاصَلَ مَعَ أَصْدِقَائِي. أُرْسِلُ لَهُمْ رَسَائِلَ يَوْمِيًّا، لٰكِنَّنِي أَتَّصِلُ بِجَدَّتِي فِي بَاكِسْتَانَ كُلَّ يَوْمِ جُمُعَةٍ، لِأَنَّ صَوْتَهَا يُفْرِحُنِي؛ فَعِنْدَمَا أَسْمَعُهَا أَشْعُرُ أَنَّهَا قَرِيبَةٌ مِنِّي.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الرَّسَائِلُ سَرِيعَةٌ وَعَمَلِيَّةٌ، غَيْرَ أَنَّ المُكَالَمَاتِ أَدْفَأُ وَأَقْرَبُ إِلَى القَلْبِ.</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الأُسْبُوعَ المَاضِيَ كَانَ مُخْتَلِفًا؛ فَبَعْدَ أَنْ عَرَفْتُ مَوْعِدَ امْتِحَانِ العُلُومِ، أَطْفَأْتُ هَاتِفِي كُلَّ مَسَاءٍ وَذَاكَرْتُ سَاعَتَيْنِ، فَحَصَلْتُ عَلَى دَرَجَةٍ مُمْتَازَةٍ، وَشَعَرْتُ بِالفَخْرِ لِأَنَّ تَعَبِي لَمْ يَضِعْ.</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الشَّهْرِ القَادِمِ سَأُخَصِّصُ وَقْتًا ثَابِتًا لِلْقِرَاءَةِ قَبْلَ أَنْ أَنَامَ، وَلَوْ نَجَحْتُ فِي ذٰلِكَ، لَقَرَأْتُ كِتَابًا كُلَّ أُسْبُوعٍ.</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قَبْلَ أَنْ أَخْرُجَ</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التِّلْفَازُ فَنَادِرًا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غَيْرَ أَنَّ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 لَقَرَأْتُ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Q3 (</a:t>
            </a:r>
            <a:pPr algn="l" indent="0" marL="0">
              <a:buNone/>
            </a:pPr>
            <a:r>
              <a:rPr lang="ar-SA" altLang="en-US" sz="2350" b="1" dirty="0">
                <a:solidFill>
                  <a:srgbClr val="1B3B6F"/>
                </a:solidFill>
                <a:latin typeface="Amiri" pitchFamily="2" charset="-78"/>
                <a:cs typeface="Amiri" pitchFamily="2" charset="-78"/>
              </a:rPr>
              <a:t>ب</a:t>
            </a:r>
            <a:pPr algn="l" indent="0" marL="0">
              <a:buNone/>
            </a:pPr>
            <a:r>
              <a:rPr lang="en-US" sz="1800" b="1" dirty="0">
                <a:solidFill>
                  <a:srgbClr val="1B3B6F"/>
                </a:solidFill>
                <a:latin typeface="Cambria" pitchFamily="34" charset="0"/>
                <a:cs typeface="Amiri" pitchFamily="2" charset="-78"/>
              </a:rPr>
              <a:t>) full-mark model: communication then and now</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تَغَيَّرَ التَّوَاصُلُ بَيْنَ النَّاسِ كَثِيرًا فِي السَّنَوَاتِ الأَخِيرَةِ. فِي المَاضِي كَانَ جَدِّي يَكْتُبُ رِسَالَةً وَرَقِيَّةً إِلَى أَخِيهِ مَرَّةً فِي الشَّهْرِ، وَيَنْتَظِرُ الرَّدَّ أَسَابِيعَ، فَكَانَتْ كُلُّ رِسَالَةٍ حَدَثًا مُهِمًّا فِي البَيْتِ، أَمَّا اليَوْمَ فَنُرْسِلُ الرَّسَائِلَ وَنَسْتَقْبِلُهَا فِي ثَوَانٍ.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أَنَا أَتَوَاصَلُ مَعَ أَصْدِقَائِي يَوْمِيًّا بِالتَّطْبِيقَاتِ، وَأَتَّصِلُ بِأَقَارِبِي بِالفِيدْيُو فِي المُنَاسَبَاتِ. فِي العِيدِ المَاضِي، مَثَلًا، اتَّصَلْنَا بِعَمِّي فِي كَنَدَا، فَرَأَيْنَا أَطْفَالَهُ وَتَحَدَّثْنَا سَاعَةً كَامِلَةً. وَأَحْيَانًا أَكْتُبُ بِطَاقَاتٍ وَرَقِيَّةً فِي المُنَاسَبَاتِ الكَبِيرَةِ، لِأَنَّ جَدَّتِي تُحِبُّهَا.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التِّكْنُولُوجِيَا قَرَّبَتِ البَعِيدَ، غَيْرَ أَنَّهَا أَبْعَدَتِ القَرِيبَ أَحْيَانًا؛ فَكَثِيرًا مَا نَجْلِسُ مَعًا فِي غُرْفَةٍ وَاحِدَةٍ وَكُلُّ وَاحِدٍ يَنْظُرُ إِلَى هَاتِفِهِ، وَلَا نَتَحَدَّثُ إِلَّا قَلِيلًا.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قَرَّرْتُ أَنْ أُطْفِئَ هَاتِفِي سَاعَةً كُلَّ مَسَاءٍ، وَأَنْ أَتَحَدَّثَ مَعَ أُسْرَتِي وَأَلْعَبَ مَعَ إِخْوَتِي بَدَلًا مِنْهُ. وَلَوْ فَعَلَ كُلُّ النَّاسِ ذٰلِكَ، لَأَصْبَحَتْ عَلَاقَاتُنَا أَقْوَى وَأَجْمَلَ بِكَثِيرٍ. وَأَنْتُمْ، كَمْ سَاعَةً تَقْضُونَ عَلَى هَوَاتِفِكُمْ؟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جَدِّي يَكْتُبُ</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فَنُرْسِلُ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صَحِيحٌ أَنَّ … غَيْرَ أَنَّهَا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 لَأَصْبَحَتْ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last box as a full sentence.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frequency words and connectors (qabla an · ʿindamā · thumma).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past habit (kāna + verb), a concession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AT-A-L04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AT-A-L03 · Writing Workshop — Frequency and Communication</dc:title>
  <dc:subject>PptxGenJS Presentation</dc:subject>
  <dc:creator>Al Madina Online School · Arabic Department</dc:creator>
  <cp:lastModifiedBy>Al Madina Online School · Arabic Department</cp:lastModifiedBy>
  <cp:revision>1</cp:revision>
  <dcterms:created xsi:type="dcterms:W3CDTF">2026-10-11T07:50:47Z</dcterms:created>
  <dcterms:modified xsi:type="dcterms:W3CDTF">2026-10-11T07:50:47Z</dcterms:modified>
</cp:coreProperties>
</file>