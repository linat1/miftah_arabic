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A, Lesson 9 (Travel and Transport for Everyday Journeys, AT-A-L09).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6: min … ilā … (from … to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كَيْفَ (how) · مَتَى (when) · كَمْ (how long) · مَعَ مَنْ (with whom) · مَا رَأْيُكِ (your opinion) — bullet 4 is PAST then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(82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(110 words). Core model: transport with bi-, a duration, comparatives, a past journey, an opinion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a relative clause, uffaḍḍilu … ʿalā, bi-kathīr, ammā … fa-, a past narrative with fa-, yanbaghī an and a conditional.
ENGLISH SUMMARY (read aloud or paste in the chat for Core students): A quiet suburb 10 km from the centre, so transport fills my day: walk five minutes, then the train that gets me to school in only a quarter of an hour, reading or revising on the way → I prefer the train: much faster and not affected by traffic or accidents; as for the bus, it is cheaper but can be half an hour late at rush hour → but the train isn’t perfect: last winter it broke down in the snow; a whole hour in the bitter cold, then we walked and arrived after the second lesson had begun → the city should invest in cycle lanes (cheaper, cleaner, encouraging exercise); “if there were a safe route from my home to school, I would cycle every day, even in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for the Stretch title: kāna + present, ammā … fa-qad, a school initiative, a concession, comparatives and a conditional.
ENGLISH SUMMARY (read aloud or paste in the chat for Core students): Many people in my town rely on cars even for short trips — traffic and air pollution, especially in the morning when everyone travels at once; a short trip can take half an hour → in the past people walked to the market, mosque and school because everything was close; as for today, cities have grown and distances are longer, so the car became a necessity, especially in outlying districts → last year my school ran a “car-free week”: students walked, cycled or took the bus; clearly less traffic and more energy in the first lesson → it is true the car is comfortable and sometimes necessary, but public transport is better for the environment and cheaper for families; “if the council made buses more frequent and faster, many people would leave their cars at home, and our town would be cleaner and calmer”.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EXAM PRACTICE  ·  AT-A-L09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Writing Workshop — Everyday Journeys</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المُوَاصَلَاتُ اليَوْمِيَّةُ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bus-pass application, write an email about your journey to a new school, and write an extended piece comparing transport, with a past journey and your opinion.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AT-A-L09 · Advanced Topic A · Everyday Activities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your journey to school.</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bi- + al- with transport (bil-ḥāfila); comparatives do not change for gender (al-ḥāfila asraʿu); numbers + minutes (ʿashr daqāʾiq · ʿishrūna daqīqa).</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تَسْتَغْرِقُ الرِّحْلَةُ نِصْفَ سَاعَةٍ</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journey takes half an hour</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القِطَارُ أَسْرَعُ مِنَ الحَافِلَةِ</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train is faster than the bus</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أُفَضِّلُ … عَلَى … لِأَنَّ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prefer … to … because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Student bus-pass application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 بِطَاقَةِ الحَافِلَةِ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address (street and town)</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العُنْوَانُ</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of your school</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اسْمُ المَدْرَسَةِ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Nearest stop to your home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المَحَطَّةُ القَرِيبَةُ مِنْ بَيْتِكَ</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 you leave home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وَقْتُ الخُرُوجِ مِنَ البَيْتِ</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Days you travel</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أَيَّامُ السَّفَرِ</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travel now</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تَذْهَبُ الآنَ؟</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the pass</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تُرِيدُ البِطَاقَةَ؟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 comparative.</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Student bus-pass application: model answers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Sara Ali</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سَارَةُ عَلِيٌّ</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Palm Street, Manama</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شَارِعُ النَّخِيلِ، المَنَامَةُ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العُنْوَانُ</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Noor School</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 النُّورِ</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 المَدْرَسَةِ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market stop</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مَحَطَّةُ السُّوقِ</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المَحَطَّةُ القَرِيبَةُ مِنْ بَيْتِكَ</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quarter past seven</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السَّابِعَةُ وَالرُّبْعُ</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وَقْتُ الخُرُوجِ مِنَ البَيْتِ</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Sunday to Thursday</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الأَحَدِ إِلَى الخَمِيسِ</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أَيَّامُ السَّفَرِ</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 car with my father</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بِالسَّيَّارَةِ مَعَ أَبِي</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تَذْهَبُ الآنَ؟</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cs typeface="Amiri" pitchFamily="2" charset="-78"/>
              </a:rPr>
              <a:t>I want the pass because the bus is cheaper and better for the environment.</a:t>
            </a:r>
            <a:endParaRPr lang="en-US" sz="9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البِطَاقَةَ لِأَنَّ الحَافِلَةَ أَرْخَصُ وَأَفْضَلُ لِلْبِيئَةِ.</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تُرِيدُ البِطَاقَةَ؟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journey to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رِحْلَتِي إِلَى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have started at a new school. Write an email in Arabic to your friend of about 80–90 words. You must include: • how you travel to your new school, and when you leave • how long the journey takes, and who you travel with • your opinion of this means of transport • something that happened on the journey yesterday, and how you will travel next year.</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clock time and a duration.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comparison or an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بِالحَافِلَةِ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go to school by bus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تَسْتَغْرِقُ الرِّحْلَةُ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journey takes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 عَلَى …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 to …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تَأَخَّرَتِ الحَافِلَةُ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the bus was late</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have started at a new school: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بَدَأْتِ الدِّرَاسَةَ فِي مَدْرَسَةٍ جَدِيدَةٍ. اكْتُبِي رِسَالَةً إِلَى صَدِيقَتِكِ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travel; when you leave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تَذْهَبِينَ إِلَى المَدْرَسَةِ؟ وَمَتَى تَخْرُجِينَ؟</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who with</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تَسْتَغْرِقُ الرِّحْلَةُ؟ وَمَعَ مَنْ تَذْهَبِينَ؟</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of it</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فِي هٰذِهِ الوَسِيلَةِ؟</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happened yesterday; next year</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حَدَثَ أَمْسِ فِي الطَّرِيقِ؟ وَكَيْفَ سَتَذْهَبِينَ فِي السَّنَةِ القَادِمَةِ؟</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go to school … I leave at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______ . أَخْرُجُ فِي السَّاعَةِ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journey takes … I go with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تَسْتَغْرِقُ الرِّحْلَةُ ______ . أَذْهَبُ مَعَ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is cheap / fast, but it is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______ رَخِيصَةٌ / سَرِيعَةٌ، لٰكِنَّهَا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 Next year I will go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______ . فِي السَّنَةِ القَادِمَةِ سَأَذْهَبُ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جَمِيلَةُ،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أَذْهَبُ إِلَى المَدْرَسَةِ الجَدِيدَةِ بِالحَافِلَةِ كُلَّ يَوْمٍ. أَخْرُجُ مِنَ البَيْتِ فِي السَّاعَةِ السَّابِعَةِ، وَتَسْتَغْرِقُ الرِّحْلَةُ نِصْفَ سَاعَةٍ تَقْرِيبًا. أَرْكَبُ الحَافِلَةَ مَعَ صَدِيقَتِي هِنْدٍ، وَنَتَحَدَّثُ طُولَ الطَّرِيقِ. الحَافِلَةُ رَخِيصَةٌ، لٰكِنَّهَا مُزْدَحِمَةٌ جِدًّا فِي الصَّبَاحِ. أَمْسِ تَأَخَّرَتِ الحَافِلَةُ، فَوَصَلْتُ إِلَى المَدْرَسَةِ مُتَأَخِّرَةً عَشْرَ دَقَائِقَ. فِي السَّنَةِ القَادِمَةِ سَأَذْهَبُ بِالدَّرَّاجَةِ، لِأَنَّهَا أَسْرَعُ.</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سَارَةُ</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Jamila, how are you? I go to my new school by bus every day. I leave home at seven o’clock, and the journey takes about half an hour. I take the bus with my friend Hind, and we chat all the way. The bus is cheap, but it is very crowded in the morning. Yesterday the bus was late, so I arrived at school ten minutes late. Next year I will go by bike, because it is faster. Goodbye, Sara.”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بِالحَافِلَةِ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تَسْتَغْرِقُ الرِّحْلَةُ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لٰكِنَّهَا مُزْدَحِمَةٌ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سَأَذْهَبُ بِالدَّرَّاجَةِ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جَمِيلَةُ،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تَحِيَّةً طَيِّبَةً، وَبَعْدُ، فَقَدْ سَأَلْتِنِي كَيْفَ أَذْهَبُ إِلَى مَدْرَسَتِي الجَدِيدَةِ. أَرْكَبُ الحَافِلَةَ رَقْمَ ١٢ مِنَ المَحَطَّةِ الَّتِي أَمَامَ بَيْتِنَا فِي السَّاعَةِ السَّابِعَةِ، وَتَسْتَغْرِقُ الرِّحْلَةُ نَحْوَ نِصْفِ سَاعَةٍ. أُفَضِّلُ الحَافِلَةَ عَلَى السَّيَّارَةِ، لِأَنَّهَا أَرْخَصُ وَأَفْضَلُ لِلْبِيئَةِ، غَيْرَ أَنَّهَا تَكُونُ مُزْدَحِمَةً فِي الصَّبَاحِ. أَمْسِ حَدَثَ شَيْءٌ مُضْحِكٌ: نِمْتُ فِي الحَافِلَةِ، فَفَاتَتْنِي مَحَطَّتِي، وَاضْطُرِرْتُ إِلَى المَشْيِ عَشْرَ دَقَائِقَ تَحْتَ المَطَرِ، فَوَصَلْتُ مُبْتَلَّةً وَمُتَأَخِّرَةً! فِي السَّنَةِ القَادِمَةِ سَأَذْهَبُ بِالدَّرَّاجَةِ، لِأَنَّهَا أَسْرَعُ وَأَكْثَرُ مُتْعَةً. وَأَنْتِ، كَيْفَ تَذْهَبِينَ إِلَى مَدْرَسَتِكِ؟ أَنْتَظِرُ رَدَّكِ بِشَوْقٍ.</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مَحَبَّتِي،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سَارَةُ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Jamila, greetings. You asked me how I get to my new school. I take the number 12 bus from the stop in front of our house at seven, and the journey takes about half an hour. I prefer the bus to the car because it is cheaper and better for the environment, but it is crowded in the morning. Something funny happened yesterday: I fell asleep on the bus, missed my stop and had to walk for ten minutes in the rain, so I arrived wet and late! Next year I will go by bike, because it is faster and more fun. And you — how do you get to your school? I look forward to your reply. With love, Sara.”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أَمَامَ بَيْتِنَا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أُفَضِّلُ الحَافِلَةَ عَلَى السَّيَّارَةِ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فَفَاتَتْنِي مَحَطَّتِي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أَسْرَعُ وَأَكْثَرُ مُتْعَةً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Transport in my life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المُوَاصَلَاتُ فِي حَيَاتِي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get to school and elsewhere · compare two means of transport · a journey you won’t forget · your opinion and future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كَيْفَ تَذْهَبُ إِلَى المَدْرَسَةِ وَالأَمَاكِنِ الأُخْرَى؟ · قَارِنْ بَيْنَ وَسِيلَتَيْنِ · رِحْلَةٌ لَا تَنْسَاهَا · رَأْيُكَ وَخُطَطُكَ لِلْمُسْتَقْبَلِ</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car or public transport?</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السَّيَّارَةُ أَمِ المُوَاصَلَاتُ العَامَّةُ؟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Problems in your town · how transport has changed · an experience or initiative · your opinion and suggestions</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المُشْكِلَاتُ فِي مَدِينَتِكَ · كَيْفَ تَغَيَّرَتِ المُوَاصَلَاتُ؟ · تَجْرِبَةٌ أَوْ مُبَادَرَةٌ تَعْرِفُهَا · رَأْيُكَ وَاقْتِرَاحَاتُكَ</a:t>
            </a:r>
            <a:endParaRPr lang="ar-SA" sz="14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Present — how you travel, times and durations: adhhabu bi-…, tastaghriqu r-riḥla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Compare — asraʿu / arkhaṣu min …; Stretch: ammā … fa-, bi-kathīr.</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journey to remember: rakibnā, waṣalnā, taʾakhkhara …; fa- for a result.</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yajibu an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أَذْهَبُ إِلَى المَدْرَسَةِ بِالقِطَارِ.</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go to school by train.</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رَكِبْنَا القِطَارَ، وَوَصَلْنَا ظُهْرًا.</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we took the train and arrived at noon.</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سَأَذْهَبُ بِالدَّرَّاجَةِ فِي السَّنَةِ القَادِمَةِ.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go by bike next year.</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أَسْكُنُ فِي مَدِينَةٍ كَبِيرَةٍ، وَفِيهَا مُوَاصَلَاتٌ كَثِيرَةٌ: الحَافِلَاتُ وَالقِطَارَاتُ وَسَيَّارَاتُ الأُجْرَةِ. أَذْهَبُ إِلَى المَدْرَسَةِ بِالحَافِلَةِ، وَتَسْتَغْرِقُ الرِّحْلَةُ عِشْرِينَ دَقِيقَةً تَقْرِيبًا. أَبِي يَذْهَبُ إِلَى العَمَلِ بِالقِطَارِ، وَأُمِّي تَذْهَبُ بِالسَّيَّارَةِ، لِأَنَّ عَمَلَهَا بَعِيدٌ عَنِ المَحَطَّةِ.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أُحِبُّ القِطَارَ، لِأَنَّهُ سَرِيعٌ وَمُرِيحٌ. الحَافِلَةُ أَرْخَصُ مِنَ القِطَارِ، لٰكِنَّهَا أَبْطَأُ، وَهِيَ مُزْدَحِمَةٌ فِي الصَّبَاحِ. السَّيَّارَةُ مُرِيحَةٌ، لٰكِنَّهَا غَالِيَةٌ، وَهِيَ تُلَوِّثُ الهَوَاءَ.</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الشَّهْرِ المَاضِي ذَهَبْتُ مَعَ أُسْرَتِي إِلَى بَيْتِ جَدِّي بِالقِطَارِ. رَكِبْنَا القِطَارَ فِي السَّاعَةِ التَّاسِعَةِ، وَوَصَلْنَا فِي السَّاعَةِ الثَّانِيَةَ عَشْرَةَ. أَكَلْنَا السَّنْدَوِيشَاتِ، وَلَعِبْنَا الوَرَقَ فِي القِطَارِ. كَانَتِ الرِّحْلَةُ مُمْتِعَةً جِدًّا، وَرَأَيْنَا مِنَ النَّافِذَةِ جِبَالًا وَمَزَارِعَ جَمِيلَةً.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رَأْيِي، يَجِبُ أَنْ نَسْتَعْمِلَ المُوَاصَلَاتِ العَامَّةَ أَكْثَرَ، لِأَنَّهَا أَفْضَلُ لِلْبِيئَةِ. فِي المُسْتَقْبَلِ سَأَذْهَبُ إِلَى المَدْرَسَةِ بِالدَّرَّاجَةِ مَعَ أَصْدِقَائِي.</a:t>
            </a:r>
            <a:endParaRPr lang="ar-SA" sz="17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 big city with buses, trains and taxis; I take the bus (about twenty minutes), Dad the train, Mum the car (her work is far from the station) → I like the train (fast, comfortable); the bus is cheaper but slower and crowded; the car is comfortable but expensive and pollutes the air → last month to Grandad’s by train: 9:00 to 12:00, sandwiches and cards, a great trip with mountains and farms from the window → we must use public transport more (better for the environment); I will cycle to school with my friends in future.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تَسْتَغْرِقُ الرِّحْلَةُ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أَرْخَصُ مِنَ القِطَارِ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رَكِبْنَا القِطَارَ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نَسْتَعْمِلَ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أَسْكُنُ فِي ضَاحِيَةٍ هَادِئَةٍ، عَلَى بُعْدِ عَشَرَةِ كِيلُومِتْرَاتٍ مِنْ وَسَطِ المَدِينَةِ، وَلِذٰلِكَ تُشَكِّلُ المُوَاصَلَاتُ جُزْءًا كَبِيرًا مِنْ يَوْمِي. أَخْرُجُ مِنَ البَيْتِ فِي السَّابِعَةِ، وَأَمْشِي خَمْسَ دَقَائِقَ إِلَى المَحَطَّةِ، ثُمَّ أَرْكَبُ القِطَارَ الَّذِي يَصِلُ بِي إِلَى المَدْرَسَةِ فِي رُبْعِ سَاعَةٍ فَقَطْ، وَأَقْرَأُ أَوْ أُرَاجِعُ دُرُوسِي أَثْنَاءَ الرِّحْلَةِ.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أُفَضِّلُ القِطَارَ عَلَى الحَافِلَةِ، لِأَنَّهُ أَسْرَعُ بِكَثِيرٍ وَلَا يَتَأَثَّرُ بِازْدِحَامِ الشَّوَارِعِ أَوْ بِالحَوَادِثِ، أَمَّا الحَافِلَةُ فَأَرْخَصُ، غَيْرَ أَنَّهَا قَدْ تَتَأَخَّرُ نِصْفَ سَاعَةٍ فِي أَوْقَاتِ الذُّرْوَةِ.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لٰكِنَّ القِطَارَ لَيْسَ مِثَالِيًّا دَائِمًا؛ فَفِي الشِّتَاءِ المَاضِي تَعَطَّلَ القِطَارُ بِسَبَبِ الثَّلْجِ، فَانْتَظَرْنَا سَاعَةً كَامِلَةً فِي البَرْدِ الشَّدِيدِ، ثُمَّ مَشَيْتُ مَعَ زُمَلَائِي إِلَى المَدْرَسَةِ، وَوَصَلْنَا بَعْدَ أَنْ بَدَأَ الدَّرْسُ الثَّانِي.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رَأْيِي، يَنْبَغِي أَنْ تَسْتَثْمِرَ المَدِينَةُ فِي طُرُقِ الدَّرَّاجَاتِ، لِأَنَّهَا أَرْخَصُ وَأَنْظَفُ، وَتُشَجِّعُ الشَّبَابَ عَلَى الرِّيَاضَةِ. وَلَوْ كَانَتْ هُنَاكَ طَرِيقٌ آمِنَةٌ مِنْ بَيْتِي إِلَى المَدْرَسَةِ، لَذَهَبْتُ بِالدَّرَّاجَةِ كُلَّ يَوْمٍ، حَتَّى فِي الشِّتَاءِ.</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يَصِلُ بِي إِلَى المَدْرَسَةِ</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الحَافِلَةُ فَأَرْخَصُ</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بَعْدَ أَنْ بَدَأَ</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كَانَتْ … لَذَهَبْتُ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Q3 (</a:t>
            </a:r>
            <a:pPr algn="l" indent="0" marL="0">
              <a:buNone/>
            </a:pPr>
            <a:r>
              <a:rPr lang="ar-SA" altLang="en-US" sz="2350" b="1" dirty="0">
                <a:solidFill>
                  <a:srgbClr val="1B3B6F"/>
                </a:solidFill>
                <a:latin typeface="Amiri" pitchFamily="2" charset="-78"/>
                <a:ea typeface="Amiri" pitchFamily="2" charset="-78"/>
                <a:cs typeface="Amiri" pitchFamily="2" charset="-78"/>
              </a:rPr>
              <a:t>ب</a:t>
            </a:r>
            <a:pPr algn="l" indent="0" marL="0">
              <a:buNone/>
            </a:pPr>
            <a:r>
              <a:rPr lang="en-US" sz="1800" b="1" dirty="0">
                <a:solidFill>
                  <a:srgbClr val="1B3B6F"/>
                </a:solidFill>
                <a:latin typeface="Cambria" pitchFamily="34" charset="0"/>
                <a:cs typeface="Amiri" pitchFamily="2" charset="-78"/>
              </a:rPr>
              <a:t>) full-mark model: the car or public transport?</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يَعْتَمِدُ كَثِيرٌ مِنَ النَّاسِ فِي مَدِينَتِي عَلَى السَّيَّارَاتِ الخَاصَّةِ، حَتَّى لِلرِّحْلَاتِ القَصِيرَةِ، وَهٰذَا يُسَبِّبُ ازْدِحَامًا شَدِيدًا وَتَلَوُّثًا فِي الهَوَاءِ، خُصُوصًا فِي الصَّبَاحِ عِنْدَمَا يَذْهَبُ الجَمِيعُ إِلَى العَمَلِ وَالمَدَارِسِ فِي الوَقْتِ نَفْسِهِ. وَقَدْ تَسْتَغْرِقُ رِحْلَةٌ قَصِيرَةٌ نِصْفَ سَاعَةٍ أَوْ أَكْثَرَ.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المَاضِي كَانَ النَّاسُ يَمْشُونَ إِلَى السُّوقِ وَالمَسْجِدِ وَالمَدْرَسَةِ، لِأَنَّ كُلَّ شَيْءٍ كَانَ قَرِيبًا، أَمَّا اليَوْمَ فَقَدْ كَبُرَتِ المُدُنُ، وَأَصْبَحَتِ المَسَافَاتُ أَطْوَلَ، فَصَارَتِ السَّيَّارَةُ ضَرُورَةً لِكَثِيرٍ مِنَ الأُسَرِ، خُصُوصًا فِي الأَحْيَاءِ البَعِيدَةِ.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السَّنَةِ المَاضِيَةِ نَظَّمَتْ مَدْرَسَتِي «أُسْبُوعَ بِلَا سَيَّارَاتٍ»؛ جَاءَ الطُّلَّابُ مَشْيًا أَوْ بِالدَّرَّاجَاتِ أَوْ بِالحَافِلَةِ، فَقَلَّ الازْدِحَامُ أَمَامَ المَدْرَسَةِ بِشَكْلٍ وَاضِحٍ، وَشَعَرَ الجَمِيعُ بِنَشَاطٍ أَكْبَرَ فِي الحِصَّةِ الأُولَى.</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السَّيَّارَةَ مُرِيحَةٌ وَضَرُورِيَّةٌ أَحْيَانًا، غَيْرَ أَنَّ المُوَاصَلَاتِ العَامَّةَ أَفْضَلُ لِلْبِيئَةِ وَأَرْخَصُ لِلْأُسْرَةِ. وَلَوْ جَعَلَتِ البَلَدِيَّةُ الحَافِلَاتِ أَكْثَرَ وَأَسْرَعَ، لَتَرَكَ كَثِيرٌ مِنَ النَّاسِ سَيَّارَاتِهِمْ فِي البَيْتِ، وَلَأَصْبَحَتْ مَدِينَتُنَا أَنْظَفَ وَأَهْدَأَ.</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يَعْتَمِدُ كَثِيرٌ مِنَ النَّاسِ</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اليَوْمَ فَقَدْ كَبُرَتِ</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«أُسْبُوعَ بِلَا سَيَّارَاتٍ»</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جَعَلَتِ … لَتَرَكَ</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a clock time and min … ilā.</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comparison (arkhaṣu min) or uffaḍḍilu … ʿalā.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ammā … fa-, a concession or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AT-A-L10 · Exam practice · Speaking and writing workshops — the next Topic A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AT-A-L09 · Writing Workshop — Everyday Journeys</dc:title>
  <dc:subject>PptxGenJS Presentation</dc:subject>
  <dc:creator>Al Madina Online School · Arabic Department</dc:creator>
  <cp:lastModifiedBy>Al Madina Online School · Arabic Department</cp:lastModifiedBy>
  <cp:revision>1</cp:revision>
  <dcterms:created xsi:type="dcterms:W3CDTF">2026-10-11T08:28:47Z</dcterms:created>
  <dcterms:modified xsi:type="dcterms:W3CDTF">2026-10-11T08:28:47Z</dcterms:modified>
</cp:coreProperties>
</file>