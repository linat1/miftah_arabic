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WORKSHOP AT A GLANCE — 60 minutes on Teams; individual writing with live feedback (shared document or paper + photo).
0–2 Welcome · 2–6 How Paper 4 works · 6–14 Q1 form filling + model · 14–17 Q2 the task, in English and Arabic · 17–19 Q2 frames (Core) · 19–31 Q2 writing · 31–35 Q2 models · 35–38 Q3 choose a title + plan · 38–54 Q3 writing (Stretch) / Q2 redraft (Core) · 54–58 Q3 models + self-check · 58–60 Close.
Content: teacher-made exam questions for Advanced Topic A, Lesson 9 (Travel and Transport for Everyday Journeys, AT-A-L09). Every question has Core · Develop · Stretch support; models are given at two levels (a secure Core answer and a full-mark answer).
EXAM FORMAT: Paper 4 Writing — Q1 form filling, Q2 directed writing (about 80–90 words), Q3 extended writing (one title from two, about 130–150 words), following the Cambridge IGCSE Arabic 0544 format. Check word counts and marks against the current syllabus and the past paper you use.
Q3 in one lesson: Stretch students write Q3 in class; Core students redraft Q2 and plan Q3, then write Q3 for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(1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(3 min). The two biggest losses: a missed bullet point (Q2) and staying in one tense (Q3). Word counts are a guide: far too short cannot cover the task; far too long creates errors.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 FORM FILLING. About 8 minutes. Core: boxes 1–6. Develop / Stretch: all 8. Box 6: min … ilā … (from … to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 students check their own form and correct one answer in a different colour.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Q2 TASK (3 min to read and plan). Students number the four bullets 1–4 in the margin and tick each one as they write it.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Question words: كَيْفَ (how) · مَتَى (when) · كَمْ (how long) · مَعَ مَنْ (with whom) · مَا رَأْيُكِ (your opinion) — bullet 4 is PAST then FUTURE.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WRITE (12 min). Live feedback: check bullet coverage first, then verb endings and agreement. Core completes the frames; Develop adds detail; Stretch writes freely and reaches 90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(57 words). A Core model: every bullet answered in short, accurate sentences. Show how ONE extra detail per bullet brings it to 80–90 words.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(82 words). Full-mark model: all four bullets, a range of linking words, an opinion with a reason and a contrast. Students compare with their own: what can I add?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Q3 (3 min to choose and read). Title (أ) suits Core and Develop; title (ب) suits Stretch.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PLAN (3 min) then WRITE (16 min). Check the plan before students write: four paragraphs = four bullet 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(110 words). Core model: transport with bi-, a duration, comparatives, a past journey, an opinion and a future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(133 words). Full-mark model: a relative clause, uffaḍḍilu … ʿalā, bi-kathīr, ammā … fa-, a past narrative with fa-, yanbaghī an and a conditional.
ENGLISH SUMMARY (read aloud or paste in the chat for Core students): A quiet suburb 10 km from the centre, so transport fills my day: walk five minutes, then the train that gets me to school in only a quarter of an hour, reading or revising on the way → I prefer the train: much faster and not affected by traffic or accidents; as for the bus, it is cheaper but can be half an hour late at rush hour → but the train isn’t perfect: last winter it broke down in the snow; a whole hour in the bitter cold, then we walked and arrived after the second lesson had begun → the city should invest in cycle lanes (cheaper, cleaner, encouraging exercise); “if there were a safe route from my home to school, I would cycle every day, even in winter”.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(130 words). Full-mark model for the Stretch title: kāna + present, ammā … fa-qad, a school initiative, a concession, comparatives and a conditional.
ENGLISH SUMMARY (read aloud or paste in the chat for Core students): Many people in my town rely on cars even for short trips — traffic and air pollution, especially in the morning when everyone travels at once; a short trip can take half an hour → in the past people walked to the market, mosque and school because everything was close; as for today, cities have grown and distances are longer, so the car became a necessity, especially in outlying districts → last year my school ran a “car-free week”: students walked, cycled or took the bus; clearly less traffic and more energy in the first lesson → it is true the car is comfortable and sometimes necessary, but public transport is better for the environment and cheaper for families; “if the council made buses more frequent and faster, many people would leave their cars at home, and our town would be cleaner and calmer”.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ADVANCED TOPIC A · EXAM PRACTICE  ·  AT-A-L09</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AT-A-L09</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800" b="1" dirty="0">
                <a:solidFill>
                  <a:srgbClr val="FFFFFF"/>
                </a:solidFill>
                <a:latin typeface="Cambria" pitchFamily="34" charset="0"/>
                <a:cs typeface="Amiri" pitchFamily="2" charset="-78"/>
              </a:rPr>
              <a:t>Writing Workshop — Everyday Journeys</a:t>
            </a:r>
            <a:endParaRPr lang="en-US" sz="28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وَرْشَةُ الكِتَابَةِ — المُوَاصَلَاتُ اليَوْمِيَّةُ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Paper 4 practice: fill in a bus-pass application, write an email about your journey to a new school, and write an extended piece comparing transport, with a past journey and your opinion.</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AT-A-L09 · Advanced Topic A · Everyday Activities · exam practice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Topic A · A1+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Advanced Topics › Topic A › AT-A-L09</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AT-A-L09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AT-A-L09</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18</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AT-A-L09 · Writing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WORKSHOP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Exam practice,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الوَرْشَةِ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AT-A-L09</a:t>
            </a:r>
            <a:endParaRPr lang="en-US" sz="850" dirty="0"/>
          </a:p>
        </p:txBody>
      </p:sp>
      <p:sp>
        <p:nvSpPr>
          <p:cNvPr id="15" name="Shape 12"/>
          <p:cNvSpPr/>
          <p:nvPr/>
        </p:nvSpPr>
        <p:spPr>
          <a:xfrm>
            <a:off x="457200"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933042" cy="566928"/>
          </a:xfrm>
          <a:prstGeom prst="roundRect">
            <a:avLst>
              <a:gd name="adj" fmla="val 9677"/>
            </a:avLst>
          </a:prstGeom>
          <a:solidFill>
            <a:srgbClr val="1B3B6F"/>
          </a:solidFill>
          <a:ln w="12700">
            <a:solidFill>
              <a:srgbClr val="1B3B6F"/>
            </a:solidFill>
            <a:prstDash val="solid"/>
          </a:ln>
        </p:spPr>
      </p:sp>
      <p:sp>
        <p:nvSpPr>
          <p:cNvPr id="17" name="Text 14"/>
          <p:cNvSpPr txBox="1"/>
          <p:nvPr/>
        </p:nvSpPr>
        <p:spPr>
          <a:xfrm>
            <a:off x="603504"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18" name="Text 15"/>
          <p:cNvSpPr txBox="1"/>
          <p:nvPr/>
        </p:nvSpPr>
        <p:spPr>
          <a:xfrm>
            <a:off x="603504"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4 min</a:t>
            </a:r>
            <a:endParaRPr lang="en-US" sz="1000" dirty="0"/>
          </a:p>
        </p:txBody>
      </p:sp>
      <p:sp>
        <p:nvSpPr>
          <p:cNvPr id="19" name="Shape 16"/>
          <p:cNvSpPr/>
          <p:nvPr/>
        </p:nvSpPr>
        <p:spPr>
          <a:xfrm>
            <a:off x="1332281"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33228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How the writing paper works.</a:t>
            </a:r>
            <a:endParaRPr lang="en-US" sz="1200" dirty="0"/>
          </a:p>
        </p:txBody>
      </p:sp>
      <p:sp>
        <p:nvSpPr>
          <p:cNvPr id="22" name="Text 19"/>
          <p:cNvSpPr txBox="1"/>
          <p:nvPr/>
        </p:nvSpPr>
        <p:spPr>
          <a:xfrm>
            <a:off x="548640"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كَيْفَ</a:t>
            </a:r>
            <a:endParaRPr lang="ar-SA" sz="1500" dirty="0"/>
          </a:p>
        </p:txBody>
      </p:sp>
      <p:sp>
        <p:nvSpPr>
          <p:cNvPr id="23" name="Shape 20"/>
          <p:cNvSpPr/>
          <p:nvPr/>
        </p:nvSpPr>
        <p:spPr>
          <a:xfrm>
            <a:off x="273771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847442" y="1938528"/>
            <a:ext cx="1933042" cy="566928"/>
          </a:xfrm>
          <a:prstGeom prst="roundRect">
            <a:avLst>
              <a:gd name="adj" fmla="val 9677"/>
            </a:avLst>
          </a:prstGeom>
          <a:solidFill>
            <a:srgbClr val="1E6B52"/>
          </a:solidFill>
          <a:ln w="12700">
            <a:solidFill>
              <a:srgbClr val="1E6B52"/>
            </a:solidFill>
            <a:prstDash val="solid"/>
          </a:ln>
        </p:spPr>
      </p:sp>
      <p:sp>
        <p:nvSpPr>
          <p:cNvPr id="25" name="Text 22"/>
          <p:cNvSpPr txBox="1"/>
          <p:nvPr/>
        </p:nvSpPr>
        <p:spPr>
          <a:xfrm>
            <a:off x="288401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26" name="Text 23"/>
          <p:cNvSpPr txBox="1"/>
          <p:nvPr/>
        </p:nvSpPr>
        <p:spPr>
          <a:xfrm>
            <a:off x="288401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8 min</a:t>
            </a:r>
            <a:endParaRPr lang="en-US" sz="1000" dirty="0"/>
          </a:p>
        </p:txBody>
      </p:sp>
      <p:sp>
        <p:nvSpPr>
          <p:cNvPr id="27" name="Shape 24"/>
          <p:cNvSpPr/>
          <p:nvPr/>
        </p:nvSpPr>
        <p:spPr>
          <a:xfrm>
            <a:off x="3612794"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6127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86573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1: fill in the form.</a:t>
            </a:r>
            <a:endParaRPr lang="en-US" sz="1200" dirty="0"/>
          </a:p>
        </p:txBody>
      </p:sp>
      <p:sp>
        <p:nvSpPr>
          <p:cNvPr id="30" name="Text 27"/>
          <p:cNvSpPr txBox="1"/>
          <p:nvPr/>
        </p:nvSpPr>
        <p:spPr>
          <a:xfrm>
            <a:off x="282915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الاسْتِمَارَةُ</a:t>
            </a:r>
            <a:endParaRPr lang="ar-SA" sz="1500" dirty="0"/>
          </a:p>
        </p:txBody>
      </p:sp>
      <p:sp>
        <p:nvSpPr>
          <p:cNvPr id="31" name="Shape 28"/>
          <p:cNvSpPr/>
          <p:nvPr/>
        </p:nvSpPr>
        <p:spPr>
          <a:xfrm>
            <a:off x="5018227"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127955" y="1938528"/>
            <a:ext cx="1933042" cy="566928"/>
          </a:xfrm>
          <a:prstGeom prst="roundRect">
            <a:avLst>
              <a:gd name="adj" fmla="val 9677"/>
            </a:avLst>
          </a:prstGeom>
          <a:solidFill>
            <a:srgbClr val="1E6B52"/>
          </a:solidFill>
          <a:ln w="12700">
            <a:solidFill>
              <a:srgbClr val="1E6B52"/>
            </a:solidFill>
            <a:prstDash val="solid"/>
          </a:ln>
        </p:spPr>
      </p:sp>
      <p:sp>
        <p:nvSpPr>
          <p:cNvPr id="33" name="Text 30"/>
          <p:cNvSpPr txBox="1"/>
          <p:nvPr/>
        </p:nvSpPr>
        <p:spPr>
          <a:xfrm>
            <a:off x="5164531"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34" name="Text 31"/>
          <p:cNvSpPr txBox="1"/>
          <p:nvPr/>
        </p:nvSpPr>
        <p:spPr>
          <a:xfrm>
            <a:off x="5164531"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17 min</a:t>
            </a:r>
            <a:endParaRPr lang="en-US" sz="1000" dirty="0"/>
          </a:p>
        </p:txBody>
      </p:sp>
      <p:sp>
        <p:nvSpPr>
          <p:cNvPr id="35" name="Shape 32"/>
          <p:cNvSpPr/>
          <p:nvPr/>
        </p:nvSpPr>
        <p:spPr>
          <a:xfrm>
            <a:off x="5893308"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5146243"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2: an email about your journey to school.</a:t>
            </a:r>
            <a:endParaRPr lang="en-US" sz="1200" dirty="0"/>
          </a:p>
        </p:txBody>
      </p:sp>
      <p:sp>
        <p:nvSpPr>
          <p:cNvPr id="38" name="Text 35"/>
          <p:cNvSpPr txBox="1"/>
          <p:nvPr/>
        </p:nvSpPr>
        <p:spPr>
          <a:xfrm>
            <a:off x="5109667"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الرِّسَالَةُ</a:t>
            </a:r>
            <a:endParaRPr lang="ar-SA" sz="1500" dirty="0"/>
          </a:p>
        </p:txBody>
      </p:sp>
      <p:sp>
        <p:nvSpPr>
          <p:cNvPr id="39" name="Shape 36"/>
          <p:cNvSpPr/>
          <p:nvPr/>
        </p:nvSpPr>
        <p:spPr>
          <a:xfrm>
            <a:off x="7298741"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7408469" y="1938528"/>
            <a:ext cx="1933042"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7445045"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7445045"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23 min</a:t>
            </a:r>
            <a:endParaRPr lang="en-US" sz="1000" dirty="0"/>
          </a:p>
        </p:txBody>
      </p:sp>
      <p:sp>
        <p:nvSpPr>
          <p:cNvPr id="43" name="Shape 40"/>
          <p:cNvSpPr/>
          <p:nvPr/>
        </p:nvSpPr>
        <p:spPr>
          <a:xfrm>
            <a:off x="81738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81738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7426757"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3: extended writing (choose a title).</a:t>
            </a:r>
            <a:endParaRPr lang="en-US" sz="1200" dirty="0"/>
          </a:p>
        </p:txBody>
      </p:sp>
      <p:sp>
        <p:nvSpPr>
          <p:cNvPr id="46" name="Text 43"/>
          <p:cNvSpPr txBox="1"/>
          <p:nvPr/>
        </p:nvSpPr>
        <p:spPr>
          <a:xfrm>
            <a:off x="7390181"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المَقَالُ</a:t>
            </a:r>
            <a:endParaRPr lang="ar-SA" sz="1500" dirty="0"/>
          </a:p>
        </p:txBody>
      </p:sp>
      <p:sp>
        <p:nvSpPr>
          <p:cNvPr id="47" name="Shape 44"/>
          <p:cNvSpPr/>
          <p:nvPr/>
        </p:nvSpPr>
        <p:spPr>
          <a:xfrm>
            <a:off x="957925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9688982" y="1938528"/>
            <a:ext cx="1933042"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972555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972555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6 min</a:t>
            </a:r>
            <a:endParaRPr lang="en-US" sz="1000" dirty="0"/>
          </a:p>
        </p:txBody>
      </p:sp>
      <p:sp>
        <p:nvSpPr>
          <p:cNvPr id="51" name="Shape 48"/>
          <p:cNvSpPr/>
          <p:nvPr/>
        </p:nvSpPr>
        <p:spPr>
          <a:xfrm>
            <a:off x="10454335"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1045433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970727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Model answers and self-check.</a:t>
            </a:r>
            <a:endParaRPr lang="en-US" sz="1200" dirty="0"/>
          </a:p>
        </p:txBody>
      </p:sp>
      <p:sp>
        <p:nvSpPr>
          <p:cNvPr id="54" name="Text 51"/>
          <p:cNvSpPr txBox="1"/>
          <p:nvPr/>
        </p:nvSpPr>
        <p:spPr>
          <a:xfrm>
            <a:off x="967069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a:t>
            </a:r>
            <a:endParaRPr lang="ar-SA" sz="1500" dirty="0"/>
          </a:p>
        </p:txBody>
      </p:sp>
      <p:sp>
        <p:nvSpPr>
          <p:cNvPr id="55" name="Shape 52"/>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57" name="Text 54"/>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Core students: Questions 1 and 2 today, with frames; plan Question 3 and finish it at home. Stretch: all three questions in class.</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18</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AT-A-L09 · Writing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TEACH · PAPER 4 WRITING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How the writing exam works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امْتِحَانُ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AT-A-L09</a:t>
            </a:r>
            <a:endParaRPr lang="en-US" sz="850" dirty="0"/>
          </a:p>
        </p:txBody>
      </p:sp>
      <p:sp>
        <p:nvSpPr>
          <p:cNvPr id="15" name="Shape 12"/>
          <p:cNvSpPr/>
          <p:nvPr/>
        </p:nvSpPr>
        <p:spPr>
          <a:xfrm>
            <a:off x="457200" y="1810512"/>
            <a:ext cx="617220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THREE QUESTIONS</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Q1 FORM FILLING — short answers (a word or a phrase) in Arabic. Answer exactly what each box asks.</a:t>
            </a:r>
            <a:endParaRPr lang="en-US" sz="1300" dirty="0"/>
          </a:p>
        </p:txBody>
      </p:sp>
      <p:sp>
        <p:nvSpPr>
          <p:cNvPr id="20" name="Shape 17"/>
          <p:cNvSpPr/>
          <p:nvPr/>
        </p:nvSpPr>
        <p:spPr>
          <a:xfrm>
            <a:off x="658368" y="3296412"/>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296412"/>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3186684"/>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Q2 DIRECTED WRITING — about 80–90 words. Cover EVERY bullet point; a missing bullet loses marks.</a:t>
            </a:r>
            <a:endParaRPr lang="en-US" sz="1300" dirty="0"/>
          </a:p>
        </p:txBody>
      </p:sp>
      <p:sp>
        <p:nvSpPr>
          <p:cNvPr id="23" name="Shape 20"/>
          <p:cNvSpPr/>
          <p:nvPr/>
        </p:nvSpPr>
        <p:spPr>
          <a:xfrm>
            <a:off x="658368" y="4306824"/>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43068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4197096"/>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Q3 EXTENDED WRITING — choose ONE title, about 130–150 words. Show range: past, present and future, opinions, reasons, linking words.</a:t>
            </a:r>
            <a:endParaRPr lang="en-US" sz="1300" dirty="0"/>
          </a:p>
        </p:txBody>
      </p:sp>
      <p:sp>
        <p:nvSpPr>
          <p:cNvPr id="26" name="Shape 23"/>
          <p:cNvSpPr/>
          <p:nvPr/>
        </p:nvSpPr>
        <p:spPr>
          <a:xfrm>
            <a:off x="658368" y="5317236"/>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531723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5207508"/>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Check: bi- + al- with transport (bil-ḥāfila); comparatives do not change for gender (al-ḥāfila asraʿu); numbers + minutes (ʿashr daqāʾiq · ʿishrūna daqīqa).</a:t>
            </a:r>
            <a:endParaRPr lang="en-US" sz="1300" dirty="0"/>
          </a:p>
        </p:txBody>
      </p:sp>
      <p:sp>
        <p:nvSpPr>
          <p:cNvPr id="29" name="Shape 26"/>
          <p:cNvSpPr/>
          <p:nvPr/>
        </p:nvSpPr>
        <p:spPr>
          <a:xfrm>
            <a:off x="6812280" y="1810512"/>
            <a:ext cx="491947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WORDS THAT LIFT YOUR WRITING</a:t>
            </a:r>
            <a:endParaRPr lang="en-US" sz="1000" dirty="0"/>
          </a:p>
        </p:txBody>
      </p:sp>
      <p:sp>
        <p:nvSpPr>
          <p:cNvPr id="31" name="Text 28"/>
          <p:cNvSpPr txBox="1"/>
          <p:nvPr/>
        </p:nvSpPr>
        <p:spPr>
          <a:xfrm>
            <a:off x="6949440" y="2194560"/>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تَسْتَغْرِقُ الرِّحْلَةُ نِصْفَ سَاعَةٍ</a:t>
            </a:r>
            <a:endParaRPr lang="ar-SA" sz="2800" dirty="0"/>
          </a:p>
        </p:txBody>
      </p:sp>
      <p:sp>
        <p:nvSpPr>
          <p:cNvPr id="32" name="Text 29"/>
          <p:cNvSpPr txBox="1"/>
          <p:nvPr/>
        </p:nvSpPr>
        <p:spPr>
          <a:xfrm>
            <a:off x="6949440" y="2955828"/>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the journey takes half an hour</a:t>
            </a:r>
            <a:endParaRPr lang="en-US" sz="1100" dirty="0"/>
          </a:p>
        </p:txBody>
      </p:sp>
      <p:sp>
        <p:nvSpPr>
          <p:cNvPr id="33" name="Shape 30"/>
          <p:cNvSpPr/>
          <p:nvPr/>
        </p:nvSpPr>
        <p:spPr>
          <a:xfrm>
            <a:off x="6995160" y="3535680"/>
            <a:ext cx="4553712" cy="0"/>
          </a:xfrm>
          <a:prstGeom prst="line">
            <a:avLst/>
          </a:prstGeom>
          <a:noFill/>
          <a:ln w="9525">
            <a:solidFill>
              <a:srgbClr val="E4DCCB"/>
            </a:solidFill>
            <a:prstDash val="dash"/>
          </a:ln>
        </p:spPr>
      </p:sp>
      <p:sp>
        <p:nvSpPr>
          <p:cNvPr id="34" name="Text 31"/>
          <p:cNvSpPr txBox="1"/>
          <p:nvPr/>
        </p:nvSpPr>
        <p:spPr>
          <a:xfrm>
            <a:off x="6949440" y="3553968"/>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القِطَارُ أَسْرَعُ مِنَ الحَافِلَةِ</a:t>
            </a:r>
            <a:endParaRPr lang="ar-SA" sz="2800" dirty="0"/>
          </a:p>
        </p:txBody>
      </p:sp>
      <p:sp>
        <p:nvSpPr>
          <p:cNvPr id="35" name="Text 32"/>
          <p:cNvSpPr txBox="1"/>
          <p:nvPr/>
        </p:nvSpPr>
        <p:spPr>
          <a:xfrm>
            <a:off x="6949440" y="4315236"/>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the train is faster than the bus</a:t>
            </a:r>
            <a:endParaRPr lang="en-US" sz="1100" dirty="0"/>
          </a:p>
        </p:txBody>
      </p:sp>
      <p:sp>
        <p:nvSpPr>
          <p:cNvPr id="36" name="Shape 33"/>
          <p:cNvSpPr/>
          <p:nvPr/>
        </p:nvSpPr>
        <p:spPr>
          <a:xfrm>
            <a:off x="6995160" y="4895088"/>
            <a:ext cx="4553712" cy="0"/>
          </a:xfrm>
          <a:prstGeom prst="line">
            <a:avLst/>
          </a:prstGeom>
          <a:noFill/>
          <a:ln w="9525">
            <a:solidFill>
              <a:srgbClr val="E4DCCB"/>
            </a:solidFill>
            <a:prstDash val="dash"/>
          </a:ln>
        </p:spPr>
      </p:sp>
      <p:sp>
        <p:nvSpPr>
          <p:cNvPr id="37" name="Text 34"/>
          <p:cNvSpPr txBox="1"/>
          <p:nvPr/>
        </p:nvSpPr>
        <p:spPr>
          <a:xfrm>
            <a:off x="6949440" y="4913376"/>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أُفَضِّلُ … عَلَى … لِأَنَّ …</a:t>
            </a:r>
            <a:endParaRPr lang="ar-SA" sz="2800" dirty="0"/>
          </a:p>
        </p:txBody>
      </p:sp>
      <p:sp>
        <p:nvSpPr>
          <p:cNvPr id="38" name="Text 35"/>
          <p:cNvSpPr txBox="1"/>
          <p:nvPr/>
        </p:nvSpPr>
        <p:spPr>
          <a:xfrm>
            <a:off x="6949440" y="5674644"/>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I prefer … to … because …</a:t>
            </a:r>
            <a:endParaRPr lang="en-US" sz="11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18</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AT-A-L09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1 · FORM FILLING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Student bus-pass application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طَلَبُ بِطَاقَةِ الحَافِلَةِ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AT-A-L09</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897112" y="1810512"/>
            <a:ext cx="2761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Your answer</a:t>
            </a:r>
            <a:endParaRPr lang="en-US" sz="1100" dirty="0"/>
          </a:p>
        </p:txBody>
      </p:sp>
      <p:sp>
        <p:nvSpPr>
          <p:cNvPr id="17" name="Text 14"/>
          <p:cNvSpPr txBox="1"/>
          <p:nvPr/>
        </p:nvSpPr>
        <p:spPr>
          <a:xfrm>
            <a:off x="560527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to write</a:t>
            </a:r>
            <a:endParaRPr lang="en-US" sz="1100" dirty="0"/>
          </a:p>
        </p:txBody>
      </p:sp>
      <p:sp>
        <p:nvSpPr>
          <p:cNvPr id="18" name="Text 15"/>
          <p:cNvSpPr txBox="1"/>
          <p:nvPr/>
        </p:nvSpPr>
        <p:spPr>
          <a:xfrm>
            <a:off x="1033272" y="1810512"/>
            <a:ext cx="4425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8933688" y="2267712"/>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2" name="Text 19"/>
          <p:cNvSpPr txBox="1"/>
          <p:nvPr/>
        </p:nvSpPr>
        <p:spPr>
          <a:xfrm>
            <a:off x="5641848" y="2267712"/>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name</a:t>
            </a:r>
            <a:endParaRPr lang="en-US" sz="1100" dirty="0"/>
          </a:p>
        </p:txBody>
      </p:sp>
      <p:sp>
        <p:nvSpPr>
          <p:cNvPr id="23" name="Text 20"/>
          <p:cNvSpPr txBox="1"/>
          <p:nvPr/>
        </p:nvSpPr>
        <p:spPr>
          <a:xfrm>
            <a:off x="1051560" y="2267712"/>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الاسْمُ</a:t>
            </a:r>
            <a:endParaRPr lang="ar-SA" sz="17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8" name="Text 25"/>
          <p:cNvSpPr txBox="1"/>
          <p:nvPr/>
        </p:nvSpPr>
        <p:spPr>
          <a:xfrm>
            <a:off x="8933688" y="2728341"/>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9" name="Text 26"/>
          <p:cNvSpPr txBox="1"/>
          <p:nvPr/>
        </p:nvSpPr>
        <p:spPr>
          <a:xfrm>
            <a:off x="5641848" y="2728341"/>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address (street and town)</a:t>
            </a:r>
            <a:endParaRPr lang="en-US" sz="1100" dirty="0"/>
          </a:p>
        </p:txBody>
      </p:sp>
      <p:sp>
        <p:nvSpPr>
          <p:cNvPr id="30" name="Text 27"/>
          <p:cNvSpPr txBox="1"/>
          <p:nvPr/>
        </p:nvSpPr>
        <p:spPr>
          <a:xfrm>
            <a:off x="1051560" y="2728341"/>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العُنْوَانُ</a:t>
            </a:r>
            <a:endParaRPr lang="ar-SA" sz="1700" dirty="0"/>
          </a:p>
        </p:txBody>
      </p:sp>
      <p:sp>
        <p:nvSpPr>
          <p:cNvPr id="31" name="Text 28"/>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2774061"/>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77406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5" name="Text 32"/>
          <p:cNvSpPr txBox="1"/>
          <p:nvPr/>
        </p:nvSpPr>
        <p:spPr>
          <a:xfrm>
            <a:off x="8933688" y="3188970"/>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6" name="Text 33"/>
          <p:cNvSpPr txBox="1"/>
          <p:nvPr/>
        </p:nvSpPr>
        <p:spPr>
          <a:xfrm>
            <a:off x="5641848" y="3188970"/>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Name of your school</a:t>
            </a:r>
            <a:endParaRPr lang="en-US" sz="1100" dirty="0"/>
          </a:p>
        </p:txBody>
      </p:sp>
      <p:sp>
        <p:nvSpPr>
          <p:cNvPr id="37" name="Text 34"/>
          <p:cNvSpPr txBox="1"/>
          <p:nvPr/>
        </p:nvSpPr>
        <p:spPr>
          <a:xfrm>
            <a:off x="1051560" y="3188970"/>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اسْمُ المَدْرَسَةِ</a:t>
            </a:r>
            <a:endParaRPr lang="ar-SA" sz="1700" dirty="0"/>
          </a:p>
        </p:txBody>
      </p:sp>
      <p:sp>
        <p:nvSpPr>
          <p:cNvPr id="38" name="Text 35"/>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11091672" y="3234690"/>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23469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42" name="Text 39"/>
          <p:cNvSpPr txBox="1"/>
          <p:nvPr/>
        </p:nvSpPr>
        <p:spPr>
          <a:xfrm>
            <a:off x="8933688" y="3649599"/>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43" name="Text 40"/>
          <p:cNvSpPr txBox="1"/>
          <p:nvPr/>
        </p:nvSpPr>
        <p:spPr>
          <a:xfrm>
            <a:off x="5641848" y="3649599"/>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Nearest stop to your home</a:t>
            </a:r>
            <a:endParaRPr lang="en-US" sz="1100" dirty="0"/>
          </a:p>
        </p:txBody>
      </p:sp>
      <p:sp>
        <p:nvSpPr>
          <p:cNvPr id="44" name="Text 41"/>
          <p:cNvSpPr txBox="1"/>
          <p:nvPr/>
        </p:nvSpPr>
        <p:spPr>
          <a:xfrm>
            <a:off x="1051560" y="3649599"/>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المَحَطَّةُ القَرِيبَةُ مِنْ بَيْتِكَ</a:t>
            </a:r>
            <a:endParaRPr lang="ar-SA" sz="1700" dirty="0"/>
          </a:p>
        </p:txBody>
      </p:sp>
      <p:sp>
        <p:nvSpPr>
          <p:cNvPr id="45" name="Text 42"/>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6" name="Shape 43"/>
          <p:cNvSpPr/>
          <p:nvPr/>
        </p:nvSpPr>
        <p:spPr>
          <a:xfrm>
            <a:off x="11091672" y="3695319"/>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3695319"/>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Shape 45"/>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9" name="Text 46"/>
          <p:cNvSpPr txBox="1"/>
          <p:nvPr/>
        </p:nvSpPr>
        <p:spPr>
          <a:xfrm>
            <a:off x="8933688" y="4110228"/>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0" name="Text 47"/>
          <p:cNvSpPr txBox="1"/>
          <p:nvPr/>
        </p:nvSpPr>
        <p:spPr>
          <a:xfrm>
            <a:off x="5641848" y="4110228"/>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Time you leave home</a:t>
            </a:r>
            <a:endParaRPr lang="en-US" sz="1100" dirty="0"/>
          </a:p>
        </p:txBody>
      </p:sp>
      <p:sp>
        <p:nvSpPr>
          <p:cNvPr id="51" name="Text 48"/>
          <p:cNvSpPr txBox="1"/>
          <p:nvPr/>
        </p:nvSpPr>
        <p:spPr>
          <a:xfrm>
            <a:off x="1051560" y="4110228"/>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وَقْتُ الخُرُوجِ مِنَ البَيْتِ</a:t>
            </a:r>
            <a:endParaRPr lang="ar-SA" sz="1700" dirty="0"/>
          </a:p>
        </p:txBody>
      </p:sp>
      <p:sp>
        <p:nvSpPr>
          <p:cNvPr id="52" name="Text 49"/>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53" name="Shape 50"/>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Shape 5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8933688" y="4570857"/>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7" name="Text 54"/>
          <p:cNvSpPr txBox="1"/>
          <p:nvPr/>
        </p:nvSpPr>
        <p:spPr>
          <a:xfrm>
            <a:off x="5641848" y="4570857"/>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Days you travel</a:t>
            </a:r>
            <a:endParaRPr lang="en-US" sz="1100" dirty="0"/>
          </a:p>
        </p:txBody>
      </p:sp>
      <p:sp>
        <p:nvSpPr>
          <p:cNvPr id="58" name="Text 55"/>
          <p:cNvSpPr txBox="1"/>
          <p:nvPr/>
        </p:nvSpPr>
        <p:spPr>
          <a:xfrm>
            <a:off x="1051560" y="4570857"/>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أَيَّامُ السَّفَرِ</a:t>
            </a:r>
            <a:endParaRPr lang="ar-SA" sz="1700" dirty="0"/>
          </a:p>
        </p:txBody>
      </p:sp>
      <p:sp>
        <p:nvSpPr>
          <p:cNvPr id="59" name="Text 5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60" name="Shape 57"/>
          <p:cNvSpPr/>
          <p:nvPr/>
        </p:nvSpPr>
        <p:spPr>
          <a:xfrm>
            <a:off x="11091672" y="4616577"/>
            <a:ext cx="548640" cy="182880"/>
          </a:xfrm>
          <a:prstGeom prst="roundRect">
            <a:avLst>
              <a:gd name="adj" fmla="val 50000"/>
            </a:avLst>
          </a:prstGeom>
          <a:solidFill>
            <a:srgbClr val="2E8B57"/>
          </a:solidFill>
          <a:ln w="12700">
            <a:solidFill>
              <a:srgbClr val="2E8B57"/>
            </a:solidFill>
            <a:prstDash val="solid"/>
          </a:ln>
        </p:spPr>
      </p:sp>
      <p:sp>
        <p:nvSpPr>
          <p:cNvPr id="61" name="Text 58"/>
          <p:cNvSpPr txBox="1"/>
          <p:nvPr/>
        </p:nvSpPr>
        <p:spPr>
          <a:xfrm>
            <a:off x="11091672" y="4616577"/>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62" name="Shape 59"/>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63" name="Text 60"/>
          <p:cNvSpPr txBox="1"/>
          <p:nvPr/>
        </p:nvSpPr>
        <p:spPr>
          <a:xfrm>
            <a:off x="8933688" y="5031486"/>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4" name="Text 61"/>
          <p:cNvSpPr txBox="1"/>
          <p:nvPr/>
        </p:nvSpPr>
        <p:spPr>
          <a:xfrm>
            <a:off x="5641848" y="5031486"/>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 you travel now</a:t>
            </a:r>
            <a:endParaRPr lang="en-US" sz="1100" dirty="0"/>
          </a:p>
        </p:txBody>
      </p:sp>
      <p:sp>
        <p:nvSpPr>
          <p:cNvPr id="65" name="Text 62"/>
          <p:cNvSpPr txBox="1"/>
          <p:nvPr/>
        </p:nvSpPr>
        <p:spPr>
          <a:xfrm>
            <a:off x="1051560" y="5031486"/>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كَيْفَ تَذْهَبُ الآنَ؟</a:t>
            </a:r>
            <a:endParaRPr lang="ar-SA" sz="1700" dirty="0"/>
          </a:p>
        </p:txBody>
      </p:sp>
      <p:sp>
        <p:nvSpPr>
          <p:cNvPr id="66" name="Text 63"/>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67" name="Shape 64"/>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68" name="Text 65"/>
          <p:cNvSpPr txBox="1"/>
          <p:nvPr/>
        </p:nvSpPr>
        <p:spPr>
          <a:xfrm>
            <a:off x="8933688" y="5492115"/>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9" name="Text 66"/>
          <p:cNvSpPr txBox="1"/>
          <p:nvPr/>
        </p:nvSpPr>
        <p:spPr>
          <a:xfrm>
            <a:off x="5641848" y="5492115"/>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ONE sentence: why you want the pass</a:t>
            </a:r>
            <a:endParaRPr lang="en-US" sz="1100" dirty="0"/>
          </a:p>
        </p:txBody>
      </p:sp>
      <p:sp>
        <p:nvSpPr>
          <p:cNvPr id="70" name="Text 67"/>
          <p:cNvSpPr txBox="1"/>
          <p:nvPr/>
        </p:nvSpPr>
        <p:spPr>
          <a:xfrm>
            <a:off x="1051560" y="5492115"/>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جُمْلَةٌ: لِمَاذَا تُرِيدُ البِطَاقَةَ؟</a:t>
            </a:r>
            <a:endParaRPr lang="ar-SA" sz="1700" dirty="0"/>
          </a:p>
        </p:txBody>
      </p:sp>
      <p:sp>
        <p:nvSpPr>
          <p:cNvPr id="71" name="Text 68"/>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72" name="Text 69"/>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One word or a short phrase for each box — the last box is a full sentence with a comparative.</a:t>
            </a:r>
            <a:endParaRPr lang="en-US" sz="1150" dirty="0"/>
          </a:p>
        </p:txBody>
      </p:sp>
      <p:sp>
        <p:nvSpPr>
          <p:cNvPr id="73" name="Text 7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18</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AT-A-L09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1 · MODEL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00" b="1" dirty="0">
                <a:solidFill>
                  <a:srgbClr val="1B3B6F"/>
                </a:solidFill>
                <a:latin typeface="Cambria" pitchFamily="34" charset="0"/>
                <a:cs typeface="Amiri" pitchFamily="2" charset="-78"/>
              </a:rPr>
              <a:t>Student bus-pass application: model answers</a:t>
            </a:r>
            <a:endParaRPr lang="en-US" sz="21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AT-A-L09</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54312" y="1810512"/>
            <a:ext cx="2304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5056632" y="1810512"/>
            <a:ext cx="4151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 answer</a:t>
            </a:r>
            <a:endParaRPr lang="en-US" sz="1100" dirty="0"/>
          </a:p>
        </p:txBody>
      </p:sp>
      <p:sp>
        <p:nvSpPr>
          <p:cNvPr id="18" name="Text 15"/>
          <p:cNvSpPr txBox="1"/>
          <p:nvPr/>
        </p:nvSpPr>
        <p:spPr>
          <a:xfrm>
            <a:off x="103327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9390888" y="2267712"/>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Sara Ali</a:t>
            </a:r>
            <a:endParaRPr lang="en-US" sz="1100" dirty="0"/>
          </a:p>
        </p:txBody>
      </p:sp>
      <p:sp>
        <p:nvSpPr>
          <p:cNvPr id="22" name="Text 19"/>
          <p:cNvSpPr txBox="1"/>
          <p:nvPr/>
        </p:nvSpPr>
        <p:spPr>
          <a:xfrm>
            <a:off x="5074920" y="2267712"/>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سَارَةُ عَلِيٌّ</a:t>
            </a:r>
            <a:endParaRPr lang="ar-SA" sz="1800" dirty="0"/>
          </a:p>
        </p:txBody>
      </p:sp>
      <p:sp>
        <p:nvSpPr>
          <p:cNvPr id="23" name="Text 20"/>
          <p:cNvSpPr txBox="1"/>
          <p:nvPr/>
        </p:nvSpPr>
        <p:spPr>
          <a:xfrm>
            <a:off x="1051560" y="2267712"/>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الاسْمُ</a:t>
            </a:r>
            <a:endParaRPr lang="ar-SA" sz="16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6" name="Text 23"/>
          <p:cNvSpPr txBox="1"/>
          <p:nvPr/>
        </p:nvSpPr>
        <p:spPr>
          <a:xfrm>
            <a:off x="9390888" y="2728341"/>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Palm Street, Manama</a:t>
            </a:r>
            <a:endParaRPr lang="en-US" sz="1100" dirty="0"/>
          </a:p>
        </p:txBody>
      </p:sp>
      <p:sp>
        <p:nvSpPr>
          <p:cNvPr id="27" name="Text 24"/>
          <p:cNvSpPr txBox="1"/>
          <p:nvPr/>
        </p:nvSpPr>
        <p:spPr>
          <a:xfrm>
            <a:off x="5074920" y="2728341"/>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شَارِعُ النَّخِيلِ، المَنَامَةُ</a:t>
            </a:r>
            <a:endParaRPr lang="ar-SA" sz="1800" dirty="0"/>
          </a:p>
        </p:txBody>
      </p:sp>
      <p:sp>
        <p:nvSpPr>
          <p:cNvPr id="28" name="Text 25"/>
          <p:cNvSpPr txBox="1"/>
          <p:nvPr/>
        </p:nvSpPr>
        <p:spPr>
          <a:xfrm>
            <a:off x="1051560" y="2728341"/>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العُنْوَانُ</a:t>
            </a:r>
            <a:endParaRPr lang="ar-SA" sz="1600" dirty="0"/>
          </a:p>
        </p:txBody>
      </p:sp>
      <p:sp>
        <p:nvSpPr>
          <p:cNvPr id="29" name="Text 26"/>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0" name="Shape 27"/>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1" name="Text 28"/>
          <p:cNvSpPr txBox="1"/>
          <p:nvPr/>
        </p:nvSpPr>
        <p:spPr>
          <a:xfrm>
            <a:off x="9390888" y="3188970"/>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Al Noor School</a:t>
            </a:r>
            <a:endParaRPr lang="en-US" sz="1100" dirty="0"/>
          </a:p>
        </p:txBody>
      </p:sp>
      <p:sp>
        <p:nvSpPr>
          <p:cNvPr id="32" name="Text 29"/>
          <p:cNvSpPr txBox="1"/>
          <p:nvPr/>
        </p:nvSpPr>
        <p:spPr>
          <a:xfrm>
            <a:off x="5074920" y="3188970"/>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مَدْرَسَةُ النُّورِ</a:t>
            </a:r>
            <a:endParaRPr lang="ar-SA" sz="1800" dirty="0"/>
          </a:p>
        </p:txBody>
      </p:sp>
      <p:sp>
        <p:nvSpPr>
          <p:cNvPr id="33" name="Text 30"/>
          <p:cNvSpPr txBox="1"/>
          <p:nvPr/>
        </p:nvSpPr>
        <p:spPr>
          <a:xfrm>
            <a:off x="1051560" y="3188970"/>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اسْمُ المَدْرَسَةِ</a:t>
            </a:r>
            <a:endParaRPr lang="ar-SA" sz="1600" dirty="0"/>
          </a:p>
        </p:txBody>
      </p:sp>
      <p:sp>
        <p:nvSpPr>
          <p:cNvPr id="34" name="Text 31"/>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36" name="Text 33"/>
          <p:cNvSpPr txBox="1"/>
          <p:nvPr/>
        </p:nvSpPr>
        <p:spPr>
          <a:xfrm>
            <a:off x="9390888" y="3649599"/>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market stop</a:t>
            </a:r>
            <a:endParaRPr lang="en-US" sz="1100" dirty="0"/>
          </a:p>
        </p:txBody>
      </p:sp>
      <p:sp>
        <p:nvSpPr>
          <p:cNvPr id="37" name="Text 34"/>
          <p:cNvSpPr txBox="1"/>
          <p:nvPr/>
        </p:nvSpPr>
        <p:spPr>
          <a:xfrm>
            <a:off x="5074920" y="3649599"/>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مَحَطَّةُ السُّوقِ</a:t>
            </a:r>
            <a:endParaRPr lang="ar-SA" sz="1800" dirty="0"/>
          </a:p>
        </p:txBody>
      </p:sp>
      <p:sp>
        <p:nvSpPr>
          <p:cNvPr id="38" name="Text 35"/>
          <p:cNvSpPr txBox="1"/>
          <p:nvPr/>
        </p:nvSpPr>
        <p:spPr>
          <a:xfrm>
            <a:off x="1051560" y="3649599"/>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المَحَطَّةُ القَرِيبَةُ مِنْ بَيْتِكَ</a:t>
            </a:r>
            <a:endParaRPr lang="ar-SA" sz="1600" dirty="0"/>
          </a:p>
        </p:txBody>
      </p:sp>
      <p:sp>
        <p:nvSpPr>
          <p:cNvPr id="39" name="Text 36"/>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0" name="Shape 37"/>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1" name="Text 38"/>
          <p:cNvSpPr txBox="1"/>
          <p:nvPr/>
        </p:nvSpPr>
        <p:spPr>
          <a:xfrm>
            <a:off x="9390888" y="4110228"/>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quarter past seven</a:t>
            </a:r>
            <a:endParaRPr lang="en-US" sz="1100" dirty="0"/>
          </a:p>
        </p:txBody>
      </p:sp>
      <p:sp>
        <p:nvSpPr>
          <p:cNvPr id="42" name="Text 39"/>
          <p:cNvSpPr txBox="1"/>
          <p:nvPr/>
        </p:nvSpPr>
        <p:spPr>
          <a:xfrm>
            <a:off x="5074920" y="4110228"/>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السَّابِعَةُ وَالرُّبْعُ</a:t>
            </a:r>
            <a:endParaRPr lang="ar-SA" sz="1800" dirty="0"/>
          </a:p>
        </p:txBody>
      </p:sp>
      <p:sp>
        <p:nvSpPr>
          <p:cNvPr id="43" name="Text 40"/>
          <p:cNvSpPr txBox="1"/>
          <p:nvPr/>
        </p:nvSpPr>
        <p:spPr>
          <a:xfrm>
            <a:off x="1051560" y="4110228"/>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وَقْتُ الخُرُوجِ مِنَ البَيْتِ</a:t>
            </a:r>
            <a:endParaRPr lang="ar-SA" sz="1600" dirty="0"/>
          </a:p>
        </p:txBody>
      </p:sp>
      <p:sp>
        <p:nvSpPr>
          <p:cNvPr id="44" name="Text 41"/>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45" name="Shape 4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46" name="Text 43"/>
          <p:cNvSpPr txBox="1"/>
          <p:nvPr/>
        </p:nvSpPr>
        <p:spPr>
          <a:xfrm>
            <a:off x="9390888" y="4570857"/>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Sunday to Thursday</a:t>
            </a:r>
            <a:endParaRPr lang="en-US" sz="1100" dirty="0"/>
          </a:p>
        </p:txBody>
      </p:sp>
      <p:sp>
        <p:nvSpPr>
          <p:cNvPr id="47" name="Text 44"/>
          <p:cNvSpPr txBox="1"/>
          <p:nvPr/>
        </p:nvSpPr>
        <p:spPr>
          <a:xfrm>
            <a:off x="5074920" y="4570857"/>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مِنَ الأَحَدِ إِلَى الخَمِيسِ</a:t>
            </a:r>
            <a:endParaRPr lang="ar-SA" sz="1800" dirty="0"/>
          </a:p>
        </p:txBody>
      </p:sp>
      <p:sp>
        <p:nvSpPr>
          <p:cNvPr id="48" name="Text 45"/>
          <p:cNvSpPr txBox="1"/>
          <p:nvPr/>
        </p:nvSpPr>
        <p:spPr>
          <a:xfrm>
            <a:off x="1051560" y="4570857"/>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أَيَّامُ السَّفَرِ</a:t>
            </a:r>
            <a:endParaRPr lang="ar-SA" sz="1600" dirty="0"/>
          </a:p>
        </p:txBody>
      </p:sp>
      <p:sp>
        <p:nvSpPr>
          <p:cNvPr id="49" name="Text 4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50" name="Shape 47"/>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51" name="Text 48"/>
          <p:cNvSpPr txBox="1"/>
          <p:nvPr/>
        </p:nvSpPr>
        <p:spPr>
          <a:xfrm>
            <a:off x="9390888" y="5031486"/>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by car with my father</a:t>
            </a:r>
            <a:endParaRPr lang="en-US" sz="1100" dirty="0"/>
          </a:p>
        </p:txBody>
      </p:sp>
      <p:sp>
        <p:nvSpPr>
          <p:cNvPr id="52" name="Text 49"/>
          <p:cNvSpPr txBox="1"/>
          <p:nvPr/>
        </p:nvSpPr>
        <p:spPr>
          <a:xfrm>
            <a:off x="5074920" y="5031486"/>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بِالسَّيَّارَةِ مَعَ أَبِي</a:t>
            </a:r>
            <a:endParaRPr lang="ar-SA" sz="1800" dirty="0"/>
          </a:p>
        </p:txBody>
      </p:sp>
      <p:sp>
        <p:nvSpPr>
          <p:cNvPr id="53" name="Text 50"/>
          <p:cNvSpPr txBox="1"/>
          <p:nvPr/>
        </p:nvSpPr>
        <p:spPr>
          <a:xfrm>
            <a:off x="1051560" y="5031486"/>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كَيْفَ تَذْهَبُ الآنَ؟</a:t>
            </a:r>
            <a:endParaRPr lang="ar-SA" sz="1600" dirty="0"/>
          </a:p>
        </p:txBody>
      </p:sp>
      <p:sp>
        <p:nvSpPr>
          <p:cNvPr id="54" name="Text 51"/>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55" name="Shape 52"/>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9390888" y="5492115"/>
            <a:ext cx="2267712" cy="405765"/>
          </a:xfrm>
          <a:prstGeom prst="rect">
            <a:avLst/>
          </a:prstGeom>
          <a:noFill/>
          <a:ln/>
        </p:spPr>
        <p:txBody>
          <a:bodyPr wrap="square" lIns="0" tIns="0" rIns="0" bIns="0" rtlCol="0" anchor="ctr"/>
          <a:lstStyle/>
          <a:p>
            <a:pPr algn="l" indent="0" marL="0">
              <a:buNone/>
            </a:pPr>
            <a:r>
              <a:rPr lang="en-US" sz="900" dirty="0">
                <a:solidFill>
                  <a:srgbClr val="5A6472"/>
                </a:solidFill>
                <a:latin typeface="Calibri" pitchFamily="34" charset="0"/>
                <a:cs typeface="Amiri" pitchFamily="2" charset="-78"/>
              </a:rPr>
              <a:t>I want the pass because the bus is cheaper and better for the environment.</a:t>
            </a:r>
            <a:endParaRPr lang="en-US" sz="900" dirty="0"/>
          </a:p>
        </p:txBody>
      </p:sp>
      <p:sp>
        <p:nvSpPr>
          <p:cNvPr id="57" name="Text 54"/>
          <p:cNvSpPr txBox="1"/>
          <p:nvPr/>
        </p:nvSpPr>
        <p:spPr>
          <a:xfrm>
            <a:off x="5074920" y="5492115"/>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أُرِيدُ البِطَاقَةَ لِأَنَّ الحَافِلَةَ أَرْخَصُ وَأَفْضَلُ لِلْبِيئَةِ.</a:t>
            </a:r>
            <a:endParaRPr lang="ar-SA" sz="1800" dirty="0"/>
          </a:p>
        </p:txBody>
      </p:sp>
      <p:sp>
        <p:nvSpPr>
          <p:cNvPr id="58" name="Text 55"/>
          <p:cNvSpPr txBox="1"/>
          <p:nvPr/>
        </p:nvSpPr>
        <p:spPr>
          <a:xfrm>
            <a:off x="1051560" y="5492115"/>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جُمْلَةٌ: لِمَاذَا تُرِيدُ البِطَاقَةَ؟</a:t>
            </a:r>
            <a:endParaRPr lang="ar-SA" sz="1600" dirty="0"/>
          </a:p>
        </p:txBody>
      </p:sp>
      <p:sp>
        <p:nvSpPr>
          <p:cNvPr id="59" name="Text 56"/>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60" name="Text 57"/>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Short answers are fine — but they must be accurate, in Arabic, and answer exactly what the form asks.</a:t>
            </a:r>
            <a:endParaRPr lang="en-US" sz="1150" dirty="0"/>
          </a:p>
        </p:txBody>
      </p:sp>
      <p:sp>
        <p:nvSpPr>
          <p:cNvPr id="61" name="Text 5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18</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AT-A-L09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DIRECTED WRITING · ABOUT 80–90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 2: my journey to school</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رِسَالَةٌ عَنْ رِحْلَتِي إِلَى المَدْرَسَةِ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AT-A-L09</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906524"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1906524"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Q2 · DIRECTED WRITING</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100" b="1" dirty="0">
                <a:solidFill>
                  <a:srgbClr val="1F2A37"/>
                </a:solidFill>
                <a:latin typeface="Calibri" pitchFamily="34" charset="0"/>
                <a:cs typeface="Amiri" pitchFamily="2" charset="-78"/>
              </a:rPr>
              <a:t>You have started at a new school. Write an email in Arabic to your friend of about 80–90 words. You must include: • how you travel to your new school, and when you leave • how long the journey takes, and who you travel with • your opinion of this means of transport • something that happened on the journey yesterday, and how you will travel next year.</a:t>
            </a:r>
            <a:endParaRPr lang="en-US" sz="110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All four bullet points, in order.</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greeting and a closing.</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clock time and a duration.</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comparison or an opinion with a reason.</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past AND a future sentence.</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أَذْهَبُ إِلَى المَدْرَسَةِ بِالحَافِلَةِ</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go to school by bus</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تَسْتَغْرِقُ الرِّحْلَةُ …</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journey takes …</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أُفَضِّلُ … عَلَى … لِأَنَّ …</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prefer … to … because …</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أَمْسِ تَأَخَّرَتِ الحَافِلَةُ</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yesterday the bus was late</a:t>
            </a:r>
            <a:endParaRPr lang="en-US" sz="10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18</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AT-A-L09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THE TASK IN ARABIC (AS IN THE EXAM)</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 the Arabic rubric</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السُّؤَالِ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AT-A-L09</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845552" y="1810512"/>
            <a:ext cx="3813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627632" y="1810512"/>
            <a:ext cx="6071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882128" y="2267712"/>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 have started at a new school: write to your friend (80–90 words).</a:t>
            </a:r>
            <a:endParaRPr lang="en-US" sz="1100" dirty="0"/>
          </a:p>
        </p:txBody>
      </p:sp>
      <p:sp>
        <p:nvSpPr>
          <p:cNvPr id="21" name="Text 18"/>
          <p:cNvSpPr txBox="1"/>
          <p:nvPr/>
        </p:nvSpPr>
        <p:spPr>
          <a:xfrm>
            <a:off x="1645920" y="2267712"/>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بَدَأْتِ الدِّرَاسَةَ فِي مَدْرَسَةٍ جَدِيدَةٍ. اكْتُبِي رِسَالَةً إِلَى صَدِيقَتِكِ (٨٠–٩٠ كَلِمَةً).</a:t>
            </a:r>
            <a:endParaRPr lang="ar-SA" sz="1800" dirty="0"/>
          </a:p>
        </p:txBody>
      </p:sp>
      <p:sp>
        <p:nvSpPr>
          <p:cNvPr id="22" name="Text 19"/>
          <p:cNvSpPr txBox="1"/>
          <p:nvPr/>
        </p:nvSpPr>
        <p:spPr>
          <a:xfrm>
            <a:off x="566928" y="2267712"/>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task</a:t>
            </a:r>
            <a:endParaRPr lang="en-US" sz="1100" dirty="0"/>
          </a:p>
        </p:txBody>
      </p:sp>
      <p:sp>
        <p:nvSpPr>
          <p:cNvPr id="23" name="Shape 20"/>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4" name="Text 21"/>
          <p:cNvSpPr txBox="1"/>
          <p:nvPr/>
        </p:nvSpPr>
        <p:spPr>
          <a:xfrm>
            <a:off x="7882128" y="300471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 you travel; when you leave</a:t>
            </a:r>
            <a:endParaRPr lang="en-US" sz="1100" dirty="0"/>
          </a:p>
        </p:txBody>
      </p:sp>
      <p:sp>
        <p:nvSpPr>
          <p:cNvPr id="25" name="Text 22"/>
          <p:cNvSpPr txBox="1"/>
          <p:nvPr/>
        </p:nvSpPr>
        <p:spPr>
          <a:xfrm>
            <a:off x="1645920" y="300471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كَيْفَ تَذْهَبِينَ إِلَى المَدْرَسَةِ؟ وَمَتَى تَخْرُجِينَ؟</a:t>
            </a:r>
            <a:endParaRPr lang="ar-SA" sz="1800" dirty="0"/>
          </a:p>
        </p:txBody>
      </p:sp>
      <p:sp>
        <p:nvSpPr>
          <p:cNvPr id="26" name="Text 23"/>
          <p:cNvSpPr txBox="1"/>
          <p:nvPr/>
        </p:nvSpPr>
        <p:spPr>
          <a:xfrm>
            <a:off x="566928" y="300471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7" name="Shape 24"/>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28" name="Text 25"/>
          <p:cNvSpPr txBox="1"/>
          <p:nvPr/>
        </p:nvSpPr>
        <p:spPr>
          <a:xfrm>
            <a:off x="7882128" y="3741725"/>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 long; who with</a:t>
            </a:r>
            <a:endParaRPr lang="en-US" sz="1100" dirty="0"/>
          </a:p>
        </p:txBody>
      </p:sp>
      <p:sp>
        <p:nvSpPr>
          <p:cNvPr id="29" name="Text 26"/>
          <p:cNvSpPr txBox="1"/>
          <p:nvPr/>
        </p:nvSpPr>
        <p:spPr>
          <a:xfrm>
            <a:off x="1645920" y="3741725"/>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كَمْ تَسْتَغْرِقُ الرِّحْلَةُ؟ وَمَعَ مَنْ تَذْهَبِينَ؟</a:t>
            </a:r>
            <a:endParaRPr lang="ar-SA" sz="1800" dirty="0"/>
          </a:p>
        </p:txBody>
      </p:sp>
      <p:sp>
        <p:nvSpPr>
          <p:cNvPr id="30" name="Text 27"/>
          <p:cNvSpPr txBox="1"/>
          <p:nvPr/>
        </p:nvSpPr>
        <p:spPr>
          <a:xfrm>
            <a:off x="566928" y="3741725"/>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1" name="Shape 2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2" name="Text 29"/>
          <p:cNvSpPr txBox="1"/>
          <p:nvPr/>
        </p:nvSpPr>
        <p:spPr>
          <a:xfrm>
            <a:off x="7882128" y="4478731"/>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opinion of it</a:t>
            </a:r>
            <a:endParaRPr lang="en-US" sz="1100" dirty="0"/>
          </a:p>
        </p:txBody>
      </p:sp>
      <p:sp>
        <p:nvSpPr>
          <p:cNvPr id="33" name="Text 30"/>
          <p:cNvSpPr txBox="1"/>
          <p:nvPr/>
        </p:nvSpPr>
        <p:spPr>
          <a:xfrm>
            <a:off x="1645920" y="4478731"/>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 رَأْيُكِ فِي هٰذِهِ الوَسِيلَةِ؟</a:t>
            </a:r>
            <a:endParaRPr lang="ar-SA" sz="1800" dirty="0"/>
          </a:p>
        </p:txBody>
      </p:sp>
      <p:sp>
        <p:nvSpPr>
          <p:cNvPr id="34" name="Text 31"/>
          <p:cNvSpPr txBox="1"/>
          <p:nvPr/>
        </p:nvSpPr>
        <p:spPr>
          <a:xfrm>
            <a:off x="566928" y="4478731"/>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6" name="Text 33"/>
          <p:cNvSpPr txBox="1"/>
          <p:nvPr/>
        </p:nvSpPr>
        <p:spPr>
          <a:xfrm>
            <a:off x="7882128" y="521573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happened yesterday; next year</a:t>
            </a:r>
            <a:endParaRPr lang="en-US" sz="1100" dirty="0"/>
          </a:p>
        </p:txBody>
      </p:sp>
      <p:sp>
        <p:nvSpPr>
          <p:cNvPr id="37" name="Text 34"/>
          <p:cNvSpPr txBox="1"/>
          <p:nvPr/>
        </p:nvSpPr>
        <p:spPr>
          <a:xfrm>
            <a:off x="1645920" y="521573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مَاذَا حَدَثَ أَمْسِ فِي الطَّرِيقِ؟ وَكَيْفَ سَتَذْهَبِينَ فِي السَّنَةِ القَادِمَةِ؟</a:t>
            </a:r>
            <a:endParaRPr lang="ar-SA" sz="1800" dirty="0"/>
          </a:p>
        </p:txBody>
      </p:sp>
      <p:sp>
        <p:nvSpPr>
          <p:cNvPr id="38" name="Text 35"/>
          <p:cNvSpPr txBox="1"/>
          <p:nvPr/>
        </p:nvSpPr>
        <p:spPr>
          <a:xfrm>
            <a:off x="566928" y="521573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In the exam the instructions are in Arabic: underline the question word in each bullet.</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18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AT-A-L09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CORE FRAMES (DEVELOP: USE THEM ONLY IF STUCK)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with these frames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AT-A-L09</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028432" y="1810512"/>
            <a:ext cx="3630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1627632" y="1810512"/>
            <a:ext cx="6254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Frame</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065008" y="226771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Hello …, how are you?</a:t>
            </a:r>
            <a:endParaRPr lang="en-US" sz="1100" dirty="0"/>
          </a:p>
        </p:txBody>
      </p:sp>
      <p:sp>
        <p:nvSpPr>
          <p:cNvPr id="21" name="Text 18"/>
          <p:cNvSpPr txBox="1"/>
          <p:nvPr/>
        </p:nvSpPr>
        <p:spPr>
          <a:xfrm>
            <a:off x="1645920" y="226771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مَرْحَبًا يَا ______ ، كَيْفَ حَالُكِ؟</a:t>
            </a:r>
            <a:endParaRPr lang="ar-SA" sz="1800" dirty="0"/>
          </a:p>
        </p:txBody>
      </p:sp>
      <p:sp>
        <p:nvSpPr>
          <p:cNvPr id="22" name="Text 19"/>
          <p:cNvSpPr txBox="1"/>
          <p:nvPr/>
        </p:nvSpPr>
        <p:spPr>
          <a:xfrm>
            <a:off x="566928" y="226771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start</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065008" y="2881884"/>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go to school … I leave at …</a:t>
            </a:r>
            <a:endParaRPr lang="en-US" sz="1100" dirty="0"/>
          </a:p>
        </p:txBody>
      </p:sp>
      <p:sp>
        <p:nvSpPr>
          <p:cNvPr id="27" name="Text 24"/>
          <p:cNvSpPr txBox="1"/>
          <p:nvPr/>
        </p:nvSpPr>
        <p:spPr>
          <a:xfrm>
            <a:off x="1645920" y="2881884"/>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أَذْهَبُ إِلَى المَدْرَسَةِ ______ . أَخْرُجُ فِي السَّاعَةِ ______ .</a:t>
            </a:r>
            <a:endParaRPr lang="ar-SA" sz="1800" dirty="0"/>
          </a:p>
        </p:txBody>
      </p:sp>
      <p:sp>
        <p:nvSpPr>
          <p:cNvPr id="28" name="Text 25"/>
          <p:cNvSpPr txBox="1"/>
          <p:nvPr/>
        </p:nvSpPr>
        <p:spPr>
          <a:xfrm>
            <a:off x="566928" y="2881884"/>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8065008" y="3496056"/>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journey takes … I go with …</a:t>
            </a:r>
            <a:endParaRPr lang="en-US" sz="1100" dirty="0"/>
          </a:p>
        </p:txBody>
      </p:sp>
      <p:sp>
        <p:nvSpPr>
          <p:cNvPr id="33" name="Text 30"/>
          <p:cNvSpPr txBox="1"/>
          <p:nvPr/>
        </p:nvSpPr>
        <p:spPr>
          <a:xfrm>
            <a:off x="1645920" y="3496056"/>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تَسْتَغْرِقُ الرِّحْلَةُ ______ . أَذْهَبُ مَعَ ______ .</a:t>
            </a:r>
            <a:endParaRPr lang="ar-SA" sz="1800" dirty="0"/>
          </a:p>
        </p:txBody>
      </p:sp>
      <p:sp>
        <p:nvSpPr>
          <p:cNvPr id="34" name="Text 31"/>
          <p:cNvSpPr txBox="1"/>
          <p:nvPr/>
        </p:nvSpPr>
        <p:spPr>
          <a:xfrm>
            <a:off x="566928" y="3496056"/>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8065008" y="4110228"/>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 is cheap / fast, but it is …</a:t>
            </a:r>
            <a:endParaRPr lang="en-US" sz="1100" dirty="0"/>
          </a:p>
        </p:txBody>
      </p:sp>
      <p:sp>
        <p:nvSpPr>
          <p:cNvPr id="39" name="Text 36"/>
          <p:cNvSpPr txBox="1"/>
          <p:nvPr/>
        </p:nvSpPr>
        <p:spPr>
          <a:xfrm>
            <a:off x="1645920" y="4110228"/>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______ رَخِيصَةٌ / سَرِيعَةٌ، لٰكِنَّهَا ______ .</a:t>
            </a:r>
            <a:endParaRPr lang="ar-SA" sz="1800" dirty="0"/>
          </a:p>
        </p:txBody>
      </p:sp>
      <p:sp>
        <p:nvSpPr>
          <p:cNvPr id="40" name="Text 37"/>
          <p:cNvSpPr txBox="1"/>
          <p:nvPr/>
        </p:nvSpPr>
        <p:spPr>
          <a:xfrm>
            <a:off x="566928" y="4110228"/>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1" name="Shape 38"/>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Shape 40"/>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4" name="Text 41"/>
          <p:cNvSpPr txBox="1"/>
          <p:nvPr/>
        </p:nvSpPr>
        <p:spPr>
          <a:xfrm>
            <a:off x="8065008" y="4724400"/>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Yesterday … Next year I will go …</a:t>
            </a:r>
            <a:endParaRPr lang="en-US" sz="1100" dirty="0"/>
          </a:p>
        </p:txBody>
      </p:sp>
      <p:sp>
        <p:nvSpPr>
          <p:cNvPr id="45" name="Text 42"/>
          <p:cNvSpPr txBox="1"/>
          <p:nvPr/>
        </p:nvSpPr>
        <p:spPr>
          <a:xfrm>
            <a:off x="1645920" y="4724400"/>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أَمْسِ ______ . فِي السَّنَةِ القَادِمَةِ سَأَذْهَبُ ______ .</a:t>
            </a:r>
            <a:endParaRPr lang="ar-SA" sz="1800" dirty="0"/>
          </a:p>
        </p:txBody>
      </p:sp>
      <p:sp>
        <p:nvSpPr>
          <p:cNvPr id="46" name="Text 43"/>
          <p:cNvSpPr txBox="1"/>
          <p:nvPr/>
        </p:nvSpPr>
        <p:spPr>
          <a:xfrm>
            <a:off x="566928" y="4724400"/>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7" name="Shape 44"/>
          <p:cNvSpPr/>
          <p:nvPr/>
        </p:nvSpPr>
        <p:spPr>
          <a:xfrm>
            <a:off x="11091672" y="4770120"/>
            <a:ext cx="548640" cy="182880"/>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1091672" y="477012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9" name="Shape 4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0" name="Text 47"/>
          <p:cNvSpPr txBox="1"/>
          <p:nvPr/>
        </p:nvSpPr>
        <p:spPr>
          <a:xfrm>
            <a:off x="8065008" y="533857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Goodbye, (your name)</a:t>
            </a:r>
            <a:endParaRPr lang="en-US" sz="1100" dirty="0"/>
          </a:p>
        </p:txBody>
      </p:sp>
      <p:sp>
        <p:nvSpPr>
          <p:cNvPr id="51" name="Text 48"/>
          <p:cNvSpPr txBox="1"/>
          <p:nvPr/>
        </p:nvSpPr>
        <p:spPr>
          <a:xfrm>
            <a:off x="1645920" y="533857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مَعَ السَّلَامَةِ، ______</a:t>
            </a:r>
            <a:endParaRPr lang="ar-SA" sz="1800" dirty="0"/>
          </a:p>
        </p:txBody>
      </p:sp>
      <p:sp>
        <p:nvSpPr>
          <p:cNvPr id="52" name="Text 49"/>
          <p:cNvSpPr txBox="1"/>
          <p:nvPr/>
        </p:nvSpPr>
        <p:spPr>
          <a:xfrm>
            <a:off x="566928" y="533857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end</a:t>
            </a:r>
            <a:endParaRPr lang="en-US" sz="1100" dirty="0"/>
          </a:p>
        </p:txBody>
      </p:sp>
      <p:sp>
        <p:nvSpPr>
          <p:cNvPr id="53" name="Shape 50"/>
          <p:cNvSpPr/>
          <p:nvPr/>
        </p:nvSpPr>
        <p:spPr>
          <a:xfrm>
            <a:off x="11091672" y="5384292"/>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538429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Text 5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Develop: add a frequency word and a “but” (lākin). Stretch: write without frames and add a second opinion.</a:t>
            </a:r>
            <a:endParaRPr lang="en-US" sz="11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18</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AT-A-L09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CORE MODEL · A SECURE ANSWER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Q2 Core model: every bullet covered</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AT-A-L09</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مَرْحَبًا يَا جَمِيلَةُ،</a:t>
            </a:r>
            <a:endParaRPr lang="ar-SA" sz="1900" dirty="0"/>
          </a:p>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كَيْفَ حَالُكِ؟ أَذْهَبُ إِلَى المَدْرَسَةِ الجَدِيدَةِ بِالحَافِلَةِ كُلَّ يَوْمٍ. أَخْرُجُ مِنَ البَيْتِ فِي السَّاعَةِ السَّابِعَةِ، وَتَسْتَغْرِقُ الرِّحْلَةُ نِصْفَ سَاعَةٍ تَقْرِيبًا. أَرْكَبُ الحَافِلَةَ مَعَ صَدِيقَتِي هِنْدٍ، وَنَتَحَدَّثُ طُولَ الطَّرِيقِ. الحَافِلَةُ رَخِيصَةٌ، لٰكِنَّهَا مُزْدَحِمَةٌ جِدًّا فِي الصَّبَاحِ. أَمْسِ تَأَخَّرَتِ الحَافِلَةُ، فَوَصَلْتُ إِلَى المَدْرَسَةِ مُتَأَخِّرَةً عَشْرَ دَقَائِقَ. فِي السَّنَةِ القَادِمَةِ سَأَذْهَبُ بِالدَّرَّاجَةِ، لِأَنَّهَا أَسْرَعُ.</a:t>
            </a:r>
            <a:endParaRPr lang="ar-SA" sz="1900" dirty="0"/>
          </a:p>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مَعَ السَّلَامَةِ،</a:t>
            </a:r>
            <a:endParaRPr lang="ar-SA" sz="1900" dirty="0"/>
          </a:p>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سَارَةُ</a:t>
            </a:r>
            <a:endParaRPr lang="ar-SA" sz="19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“Hello Jamila, how are you? I go to my new school by bus every day. I leave home at seven o’clock, and the journey takes about half an hour. I take the bus with my friend Hind, and we chat all the way. The bus is cheap, but it is very crowded in the morning. Yesterday the bus was late, so I arrived at school ten minutes late. Next year I will go by bike, because it is faster. Goodbye, Sara.”</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بِالحَافِلَةِ</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تَسْتَغْرِقُ الرِّحْلَةُ</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لٰكِنَّهَا مُزْدَحِمَةٌ</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سَأَذْهَبُ بِالدَّرَّاجَةِ</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18</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AT-A-L09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Q2 full-mark model: detail, linking, opinion</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AT-A-L09</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عَزِيزَتِي جَمِيلَةُ،</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تَحِيَّةً طَيِّبَةً، وَبَعْدُ، فَقَدْ سَأَلْتِنِي كَيْفَ أَذْهَبُ إِلَى مَدْرَسَتِي الجَدِيدَةِ. أَرْكَبُ الحَافِلَةَ رَقْمَ ١٢ مِنَ المَحَطَّةِ الَّتِي أَمَامَ بَيْتِنَا فِي السَّاعَةِ السَّابِعَةِ، وَتَسْتَغْرِقُ الرِّحْلَةُ نَحْوَ نِصْفِ سَاعَةٍ. أُفَضِّلُ الحَافِلَةَ عَلَى السَّيَّارَةِ، لِأَنَّهَا أَرْخَصُ وَأَفْضَلُ لِلْبِيئَةِ، غَيْرَ أَنَّهَا تَكُونُ مُزْدَحِمَةً فِي الصَّبَاحِ. أَمْسِ حَدَثَ شَيْءٌ مُضْحِكٌ: نِمْتُ فِي الحَافِلَةِ، فَفَاتَتْنِي مَحَطَّتِي، وَاضْطُرِرْتُ إِلَى المَشْيِ عَشْرَ دَقَائِقَ تَحْتَ المَطَرِ، فَوَصَلْتُ مُبْتَلَّةً وَمُتَأَخِّرَةً! فِي السَّنَةِ القَادِمَةِ سَأَذْهَبُ بِالدَّرَّاجَةِ، لِأَنَّهَا أَسْرَعُ وَأَكْثَرُ مُتْعَةً. وَأَنْتِ، كَيْفَ تَذْهَبِينَ إِلَى مَدْرَسَتِكِ؟ أَنْتَظِرُ رَدَّكِ بِشَوْقٍ.</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مَعَ مَحَبَّتِي،</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سَارَةُ</a:t>
            </a:r>
            <a:endParaRPr lang="ar-SA" sz="16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“Dear Jamila, greetings. You asked me how I get to my new school. I take the number 12 bus from the stop in front of our house at seven, and the journey takes about half an hour. I prefer the bus to the car because it is cheaper and better for the environment, but it is crowded in the morning. Something funny happened yesterday: I fell asleep on the bus, missed my stop and had to walk for ten minutes in the rain, so I arrived wet and late! Next year I will go by bike, because it is faster and more fun. And you — how do you get to your school? I look forward to your reply. With love, Sara.”</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الَّتِي أَمَامَ بَيْتِنَا</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أُفَضِّلُ الحَافِلَةَ عَلَى السَّيَّارَةِ</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فَفَاتَتْنِي مَحَطَّتِي</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أَسْرَعُ وَأَكْثَرُ مُتْعَةً</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18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AT-A-L09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QUESTION 3 · EXTENDED WRITING · ABOUT 130–150 WORDS · CHOOSE ONE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 3: choose one title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اخْتَرْ عُنْوَانًا وَاحِدًا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AT-A-L09</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571232" y="1810512"/>
            <a:ext cx="40873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53619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859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Title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7607808" y="2267712"/>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Transport in my life</a:t>
            </a:r>
            <a:endParaRPr lang="en-US" sz="1100" dirty="0"/>
          </a:p>
        </p:txBody>
      </p:sp>
      <p:sp>
        <p:nvSpPr>
          <p:cNvPr id="21" name="Text 18"/>
          <p:cNvSpPr txBox="1"/>
          <p:nvPr/>
        </p:nvSpPr>
        <p:spPr>
          <a:xfrm>
            <a:off x="1554480" y="2267712"/>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المُوَاصَلَاتُ فِي حَيَاتِي</a:t>
            </a:r>
            <a:endParaRPr lang="ar-SA" sz="1700" dirty="0"/>
          </a:p>
        </p:txBody>
      </p:sp>
      <p:sp>
        <p:nvSpPr>
          <p:cNvPr id="22" name="Text 19"/>
          <p:cNvSpPr txBox="1"/>
          <p:nvPr/>
        </p:nvSpPr>
        <p:spPr>
          <a:xfrm>
            <a:off x="548640" y="2267712"/>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(أ)</a:t>
            </a:r>
            <a:endParaRPr lang="ar-SA" sz="200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7607808" y="3054096"/>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 you get to school and elsewhere · compare two means of transport · a journey you won’t forget · your opinion and future plans</a:t>
            </a:r>
            <a:endParaRPr lang="en-US" sz="1100" dirty="0"/>
          </a:p>
        </p:txBody>
      </p:sp>
      <p:sp>
        <p:nvSpPr>
          <p:cNvPr id="25" name="Text 22"/>
          <p:cNvSpPr txBox="1"/>
          <p:nvPr/>
        </p:nvSpPr>
        <p:spPr>
          <a:xfrm>
            <a:off x="1554480" y="3054096"/>
            <a:ext cx="5852160" cy="731520"/>
          </a:xfrm>
          <a:prstGeom prst="rect">
            <a:avLst/>
          </a:prstGeom>
          <a:noFill/>
          <a:ln/>
        </p:spPr>
        <p:txBody>
          <a:bodyPr wrap="square" lIns="0" tIns="0" rIns="0" bIns="0" rtlCol="0" anchor="ctr"/>
          <a:lstStyle/>
          <a:p>
            <a:pPr rtl="1" algn="ct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كَيْفَ تَذْهَبُ إِلَى المَدْرَسَةِ وَالأَمَاكِنِ الأُخْرَى؟ · قَارِنْ بَيْنَ وَسِيلَتَيْنِ · رِحْلَةٌ لَا تَنْسَاهَا · رَأْيُكَ وَخُطَطُكَ لِلْمُسْتَقْبَلِ</a:t>
            </a:r>
            <a:endParaRPr lang="ar-SA" sz="1400" dirty="0"/>
          </a:p>
        </p:txBody>
      </p:sp>
      <p:sp>
        <p:nvSpPr>
          <p:cNvPr id="26" name="Text 23"/>
          <p:cNvSpPr txBox="1"/>
          <p:nvPr/>
        </p:nvSpPr>
        <p:spPr>
          <a:xfrm>
            <a:off x="566928" y="3054096"/>
            <a:ext cx="822960" cy="731520"/>
          </a:xfrm>
          <a:prstGeom prst="rect">
            <a:avLst/>
          </a:prstGeom>
          <a:noFill/>
          <a:ln/>
        </p:spPr>
        <p:txBody>
          <a:bodyPr wrap="square" lIns="0" tIns="0" rIns="0" bIns="0" rtlCol="0" anchor="ctr"/>
          <a:lstStyle/>
          <a:p>
            <a:pPr algn="l" indent="0" marL="0">
              <a:buNone/>
            </a:pPr>
            <a:endParaRPr lang="en-US" sz="1100" dirty="0"/>
          </a:p>
        </p:txBody>
      </p:sp>
      <p:sp>
        <p:nvSpPr>
          <p:cNvPr id="27" name="Shape 24"/>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8" name="Text 25"/>
          <p:cNvSpPr txBox="1"/>
          <p:nvPr/>
        </p:nvSpPr>
        <p:spPr>
          <a:xfrm>
            <a:off x="7607808" y="3840480"/>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car or public transport?</a:t>
            </a:r>
            <a:endParaRPr lang="en-US" sz="1100" dirty="0"/>
          </a:p>
        </p:txBody>
      </p:sp>
      <p:sp>
        <p:nvSpPr>
          <p:cNvPr id="29" name="Text 26"/>
          <p:cNvSpPr txBox="1"/>
          <p:nvPr/>
        </p:nvSpPr>
        <p:spPr>
          <a:xfrm>
            <a:off x="1554480" y="3840480"/>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السَّيَّارَةُ أَمِ المُوَاصَلَاتُ العَامَّةُ؟</a:t>
            </a:r>
            <a:endParaRPr lang="ar-SA" sz="1700" dirty="0"/>
          </a:p>
        </p:txBody>
      </p:sp>
      <p:sp>
        <p:nvSpPr>
          <p:cNvPr id="30" name="Text 27"/>
          <p:cNvSpPr txBox="1"/>
          <p:nvPr/>
        </p:nvSpPr>
        <p:spPr>
          <a:xfrm>
            <a:off x="548640" y="3840480"/>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(ب)</a:t>
            </a:r>
            <a:endParaRPr lang="ar-SA" sz="2000" dirty="0"/>
          </a:p>
        </p:txBody>
      </p:sp>
      <p:sp>
        <p:nvSpPr>
          <p:cNvPr id="31" name="Shape 2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2" name="Text 29"/>
          <p:cNvSpPr txBox="1"/>
          <p:nvPr/>
        </p:nvSpPr>
        <p:spPr>
          <a:xfrm>
            <a:off x="7607808" y="4626864"/>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Problems in your town · how transport has changed · an experience or initiative · your opinion and suggestions</a:t>
            </a:r>
            <a:endParaRPr lang="en-US" sz="1100" dirty="0"/>
          </a:p>
        </p:txBody>
      </p:sp>
      <p:sp>
        <p:nvSpPr>
          <p:cNvPr id="33" name="Text 30"/>
          <p:cNvSpPr txBox="1"/>
          <p:nvPr/>
        </p:nvSpPr>
        <p:spPr>
          <a:xfrm>
            <a:off x="1554480" y="4626864"/>
            <a:ext cx="5852160" cy="731520"/>
          </a:xfrm>
          <a:prstGeom prst="rect">
            <a:avLst/>
          </a:prstGeom>
          <a:noFill/>
          <a:ln/>
        </p:spPr>
        <p:txBody>
          <a:bodyPr wrap="square" lIns="0" tIns="0" rIns="0" bIns="0" rtlCol="0" anchor="ctr"/>
          <a:lstStyle/>
          <a:p>
            <a:pPr rtl="1" algn="ct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المُشْكِلَاتُ فِي مَدِينَتِكَ · كَيْفَ تَغَيَّرَتِ المُوَاصَلَاتُ؟ · تَجْرِبَةٌ أَوْ مُبَادَرَةٌ تَعْرِفُهَا · رَأْيُكَ وَاقْتِرَاحَاتُكَ</a:t>
            </a:r>
            <a:endParaRPr lang="ar-SA" sz="1400" dirty="0"/>
          </a:p>
        </p:txBody>
      </p:sp>
      <p:sp>
        <p:nvSpPr>
          <p:cNvPr id="34" name="Text 31"/>
          <p:cNvSpPr txBox="1"/>
          <p:nvPr/>
        </p:nvSpPr>
        <p:spPr>
          <a:xfrm>
            <a:off x="566928" y="4626864"/>
            <a:ext cx="822960" cy="731520"/>
          </a:xfrm>
          <a:prstGeom prst="rect">
            <a:avLst/>
          </a:prstGeom>
          <a:noFill/>
          <a:ln/>
        </p:spPr>
        <p:txBody>
          <a:bodyPr wrap="square" lIns="0" tIns="0" rIns="0" bIns="0" rtlCol="0" anchor="ctr"/>
          <a:lstStyle/>
          <a:p>
            <a:pPr algn="l" indent="0" marL="0">
              <a:buNone/>
            </a:pPr>
            <a:endParaRPr lang="en-US" sz="1100" dirty="0"/>
          </a:p>
        </p:txBody>
      </p:sp>
      <p:sp>
        <p:nvSpPr>
          <p:cNvPr id="35" name="Text 3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Cover all four points. Use three time frames (present · past · future), opinions with reasons, and linking words.</a:t>
            </a:r>
            <a:endParaRPr lang="en-US" sz="11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18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AT-A-L09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3 · PLAN BEFORE YOU WRITE (4 PARAGRAPHS)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four-paragraph plan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خُطَّةُ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AT-A-L09</a:t>
            </a:r>
            <a:endParaRPr lang="en-US" sz="850" dirty="0"/>
          </a:p>
        </p:txBody>
      </p:sp>
      <p:sp>
        <p:nvSpPr>
          <p:cNvPr id="15" name="Shape 12"/>
          <p:cNvSpPr/>
          <p:nvPr/>
        </p:nvSpPr>
        <p:spPr>
          <a:xfrm>
            <a:off x="457200" y="1810512"/>
            <a:ext cx="6172200" cy="3456432"/>
          </a:xfrm>
          <a:prstGeom prst="roundRect">
            <a:avLst>
              <a:gd name="adj" fmla="val 211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ONE PARAGRAPH FOR EACH POINT</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Present — how you travel, times and durations: adhhabu bi-…, tastaghriqu r-riḥla …</a:t>
            </a:r>
            <a:endParaRPr lang="en-US" sz="1300" dirty="0"/>
          </a:p>
        </p:txBody>
      </p:sp>
      <p:sp>
        <p:nvSpPr>
          <p:cNvPr id="20" name="Shape 17"/>
          <p:cNvSpPr/>
          <p:nvPr/>
        </p:nvSpPr>
        <p:spPr>
          <a:xfrm>
            <a:off x="658368" y="3035808"/>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035808"/>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2926080"/>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Compare — asraʿu / arkhaṣu min …; Stretch: ammā … fa-, bi-kathīr.</a:t>
            </a:r>
            <a:endParaRPr lang="en-US" sz="1300" dirty="0"/>
          </a:p>
        </p:txBody>
      </p:sp>
      <p:sp>
        <p:nvSpPr>
          <p:cNvPr id="23" name="Shape 20"/>
          <p:cNvSpPr/>
          <p:nvPr/>
        </p:nvSpPr>
        <p:spPr>
          <a:xfrm>
            <a:off x="658368" y="3785616"/>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378561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3675888"/>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Past — a journey to remember: rakibnā, waṣalnā, taʾakhkhara …; fa- for a result.</a:t>
            </a:r>
            <a:endParaRPr lang="en-US" sz="1300" dirty="0"/>
          </a:p>
        </p:txBody>
      </p:sp>
      <p:sp>
        <p:nvSpPr>
          <p:cNvPr id="26" name="Shape 23"/>
          <p:cNvSpPr/>
          <p:nvPr/>
        </p:nvSpPr>
        <p:spPr>
          <a:xfrm>
            <a:off x="658368" y="4535424"/>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45354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4425696"/>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Opinion + future — yajibu an …, sa- …; Stretch: ṣaḥīḥun anna … ghayra anna, law … la-.</a:t>
            </a:r>
            <a:endParaRPr lang="en-US" sz="1300" dirty="0"/>
          </a:p>
        </p:txBody>
      </p:sp>
      <p:sp>
        <p:nvSpPr>
          <p:cNvPr id="29" name="Shape 26"/>
          <p:cNvSpPr/>
          <p:nvPr/>
        </p:nvSpPr>
        <p:spPr>
          <a:xfrm>
            <a:off x="6812280" y="1810512"/>
            <a:ext cx="4919472" cy="3456432"/>
          </a:xfrm>
          <a:prstGeom prst="roundRect">
            <a:avLst>
              <a:gd name="adj" fmla="val 211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ONE SENTENCE PER TIME FRAME</a:t>
            </a:r>
            <a:endParaRPr lang="en-US" sz="1000" dirty="0"/>
          </a:p>
        </p:txBody>
      </p:sp>
      <p:sp>
        <p:nvSpPr>
          <p:cNvPr id="31" name="Text 28"/>
          <p:cNvSpPr txBox="1"/>
          <p:nvPr/>
        </p:nvSpPr>
        <p:spPr>
          <a:xfrm>
            <a:off x="6949440" y="2194560"/>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أَذْهَبُ إِلَى المَدْرَسَةِ بِالقِطَارِ.</a:t>
            </a:r>
            <a:endParaRPr lang="ar-SA" sz="2600" dirty="0"/>
          </a:p>
        </p:txBody>
      </p:sp>
      <p:sp>
        <p:nvSpPr>
          <p:cNvPr id="32" name="Text 29"/>
          <p:cNvSpPr txBox="1"/>
          <p:nvPr/>
        </p:nvSpPr>
        <p:spPr>
          <a:xfrm>
            <a:off x="6949440" y="2761244"/>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present: I go to school by train.</a:t>
            </a:r>
            <a:endParaRPr lang="en-US" sz="1100" dirty="0"/>
          </a:p>
        </p:txBody>
      </p:sp>
      <p:sp>
        <p:nvSpPr>
          <p:cNvPr id="33" name="Shape 30"/>
          <p:cNvSpPr/>
          <p:nvPr/>
        </p:nvSpPr>
        <p:spPr>
          <a:xfrm>
            <a:off x="6995160" y="3188208"/>
            <a:ext cx="4553712" cy="0"/>
          </a:xfrm>
          <a:prstGeom prst="line">
            <a:avLst/>
          </a:prstGeom>
          <a:noFill/>
          <a:ln w="9525">
            <a:solidFill>
              <a:srgbClr val="E4DCCB"/>
            </a:solidFill>
            <a:prstDash val="dash"/>
          </a:ln>
        </p:spPr>
      </p:sp>
      <p:sp>
        <p:nvSpPr>
          <p:cNvPr id="34" name="Text 31"/>
          <p:cNvSpPr txBox="1"/>
          <p:nvPr/>
        </p:nvSpPr>
        <p:spPr>
          <a:xfrm>
            <a:off x="6949440" y="3206496"/>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رَكِبْنَا القِطَارَ، وَوَصَلْنَا ظُهْرًا.</a:t>
            </a:r>
            <a:endParaRPr lang="ar-SA" sz="2600" dirty="0"/>
          </a:p>
        </p:txBody>
      </p:sp>
      <p:sp>
        <p:nvSpPr>
          <p:cNvPr id="35" name="Text 32"/>
          <p:cNvSpPr txBox="1"/>
          <p:nvPr/>
        </p:nvSpPr>
        <p:spPr>
          <a:xfrm>
            <a:off x="6949440" y="3773180"/>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past: we took the train and arrived at noon.</a:t>
            </a:r>
            <a:endParaRPr lang="en-US" sz="1100" dirty="0"/>
          </a:p>
        </p:txBody>
      </p:sp>
      <p:sp>
        <p:nvSpPr>
          <p:cNvPr id="36" name="Shape 33"/>
          <p:cNvSpPr/>
          <p:nvPr/>
        </p:nvSpPr>
        <p:spPr>
          <a:xfrm>
            <a:off x="6995160" y="4200144"/>
            <a:ext cx="4553712" cy="0"/>
          </a:xfrm>
          <a:prstGeom prst="line">
            <a:avLst/>
          </a:prstGeom>
          <a:noFill/>
          <a:ln w="9525">
            <a:solidFill>
              <a:srgbClr val="E4DCCB"/>
            </a:solidFill>
            <a:prstDash val="dash"/>
          </a:ln>
        </p:spPr>
      </p:sp>
      <p:sp>
        <p:nvSpPr>
          <p:cNvPr id="37" name="Text 34"/>
          <p:cNvSpPr txBox="1"/>
          <p:nvPr/>
        </p:nvSpPr>
        <p:spPr>
          <a:xfrm>
            <a:off x="6949440" y="4218432"/>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سَأَذْهَبُ بِالدَّرَّاجَةِ فِي السَّنَةِ القَادِمَةِ.</a:t>
            </a:r>
            <a:endParaRPr lang="ar-SA" sz="2600" dirty="0"/>
          </a:p>
        </p:txBody>
      </p:sp>
      <p:sp>
        <p:nvSpPr>
          <p:cNvPr id="38" name="Text 35"/>
          <p:cNvSpPr txBox="1"/>
          <p:nvPr/>
        </p:nvSpPr>
        <p:spPr>
          <a:xfrm>
            <a:off x="6949440" y="4785116"/>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future: I will go by bike next year.</a:t>
            </a:r>
            <a:endParaRPr lang="en-US" sz="1100" dirty="0"/>
          </a:p>
        </p:txBody>
      </p:sp>
      <p:sp>
        <p:nvSpPr>
          <p:cNvPr id="39" name="Shape 36"/>
          <p:cNvSpPr/>
          <p:nvPr/>
        </p:nvSpPr>
        <p:spPr>
          <a:xfrm>
            <a:off x="457200" y="5394960"/>
            <a:ext cx="11274552" cy="914400"/>
          </a:xfrm>
          <a:prstGeom prst="roundRect">
            <a:avLst>
              <a:gd name="adj" fmla="val 8000"/>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58368" y="5468112"/>
            <a:ext cx="1920240" cy="768096"/>
          </a:xfrm>
          <a:prstGeom prst="rect">
            <a:avLst/>
          </a:prstGeom>
          <a:noFill/>
          <a:ln/>
        </p:spPr>
        <p:txBody>
          <a:bodyPr wrap="square" lIns="0" tIns="0" rIns="0" bIns="0" rtlCol="0" anchor="ctr"/>
          <a:lstStyle/>
          <a:p>
            <a:pPr algn="l" indent="0" marL="0">
              <a:buNone/>
            </a:pPr>
            <a:r>
              <a:rPr lang="en-US" sz="1100" b="1" spc="100" kern="0" dirty="0">
                <a:solidFill>
                  <a:srgbClr val="8A6D1E"/>
                </a:solidFill>
                <a:latin typeface="Calibri" pitchFamily="34" charset="0"/>
                <a:cs typeface="Amiri" pitchFamily="2" charset="-78"/>
              </a:rPr>
              <a:t>ROUTES</a:t>
            </a:r>
            <a:endParaRPr lang="en-US" sz="1100" dirty="0"/>
          </a:p>
        </p:txBody>
      </p:sp>
      <p:sp>
        <p:nvSpPr>
          <p:cNvPr id="41" name="Text 38"/>
          <p:cNvSpPr txBox="1"/>
          <p:nvPr/>
        </p:nvSpPr>
        <p:spPr>
          <a:xfrm>
            <a:off x="2606040" y="5449824"/>
            <a:ext cx="89611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Core: title (</a:t>
            </a:r>
            <a:pPr algn="l" indent="0" marL="0">
              <a:buNone/>
            </a:pPr>
            <a:r>
              <a:rPr lang="ar-SA" altLang="en-US" sz="1650" dirty="0">
                <a:solidFill>
                  <a:srgbClr val="1F2A37"/>
                </a:solidFill>
                <a:latin typeface="Amiri" pitchFamily="2" charset="-78"/>
                <a:ea typeface="Amiri" pitchFamily="2" charset="-78"/>
                <a:cs typeface="Amiri" pitchFamily="2" charset="-78"/>
              </a:rPr>
              <a:t>أ</a:t>
            </a:r>
            <a:pPr algn="l" indent="0" marL="0">
              <a:buNone/>
            </a:pPr>
            <a:r>
              <a:rPr lang="en-US" sz="1250" dirty="0">
                <a:solidFill>
                  <a:srgbClr val="1F2A37"/>
                </a:solidFill>
                <a:latin typeface="Calibri" pitchFamily="34" charset="0"/>
                <a:cs typeface="Amiri" pitchFamily="2" charset="-78"/>
              </a:rPr>
              <a:t>), one or two sentences per paragraph, then finish at home. Develop: three sentences per paragraph. Stretch: title (</a:t>
            </a:r>
            <a:pPr algn="l" indent="0" marL="0">
              <a:buNone/>
            </a:pPr>
            <a:r>
              <a:rPr lang="ar-SA" altLang="en-US" sz="1650" dirty="0">
                <a:solidFill>
                  <a:srgbClr val="1F2A37"/>
                </a:solidFill>
                <a:latin typeface="Amiri" pitchFamily="2" charset="-78"/>
                <a:ea typeface="Amiri" pitchFamily="2" charset="-78"/>
                <a:cs typeface="Amiri" pitchFamily="2" charset="-78"/>
              </a:rPr>
              <a:t>ب</a:t>
            </a:r>
            <a:pPr algn="l" indent="0" marL="0">
              <a:buNone/>
            </a:pPr>
            <a:r>
              <a:rPr lang="en-US" sz="1250" dirty="0">
                <a:solidFill>
                  <a:srgbClr val="1F2A37"/>
                </a:solidFill>
                <a:latin typeface="Calibri" pitchFamily="34" charset="0"/>
                <a:cs typeface="Amiri" pitchFamily="2" charset="-78"/>
              </a:rPr>
              <a:t>) with a contrast and a conditional.</a:t>
            </a:r>
            <a:endParaRPr lang="en-US" sz="12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18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AT-A-L09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CORE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Q3 (</a:t>
            </a:r>
            <a:pPr algn="l" indent="0" marL="0">
              <a:buNone/>
            </a:pPr>
            <a:r>
              <a:rPr lang="ar-SA" altLang="en-US" sz="3250" b="1" dirty="0">
                <a:solidFill>
                  <a:srgbClr val="1B3B6F"/>
                </a:solidFill>
                <a:latin typeface="Amiri" pitchFamily="2" charset="-78"/>
                <a:ea typeface="Amiri" pitchFamily="2" charset="-78"/>
                <a:cs typeface="Amiri" pitchFamily="2" charset="-78"/>
              </a:rPr>
              <a:t>أ</a:t>
            </a:r>
            <a:pPr algn="l" indent="0" marL="0">
              <a:buNone/>
            </a:pPr>
            <a:r>
              <a:rPr lang="en-US" sz="2500" b="1" dirty="0">
                <a:solidFill>
                  <a:srgbClr val="1B3B6F"/>
                </a:solidFill>
                <a:latin typeface="Cambria" pitchFamily="34" charset="0"/>
                <a:cs typeface="Amiri" pitchFamily="2" charset="-78"/>
              </a:rPr>
              <a:t>) Core model: clear and complete</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AT-A-L09</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أَسْكُنُ فِي مَدِينَةٍ كَبِيرَةٍ، وَفِيهَا مُوَاصَلَاتٌ كَثِيرَةٌ: الحَافِلَاتُ وَالقِطَارَاتُ وَسَيَّارَاتُ الأُجْرَةِ. أَذْهَبُ إِلَى المَدْرَسَةِ بِالحَافِلَةِ، وَتَسْتَغْرِقُ الرِّحْلَةُ عِشْرِينَ دَقِيقَةً تَقْرِيبًا. أَبِي يَذْهَبُ إِلَى العَمَلِ بِالقِطَارِ، وَأُمِّي تَذْهَبُ بِالسَّيَّارَةِ، لِأَنَّ عَمَلَهَا بَعِيدٌ عَنِ المَحَطَّةِ.</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أُحِبُّ القِطَارَ، لِأَنَّهُ سَرِيعٌ وَمُرِيحٌ. الحَافِلَةُ أَرْخَصُ مِنَ القِطَارِ، لٰكِنَّهَا أَبْطَأُ، وَهِيَ مُزْدَحِمَةٌ فِي الصَّبَاحِ. السَّيَّارَةُ مُرِيحَةٌ، لٰكِنَّهَا غَالِيَةٌ، وَهِيَ تُلَوِّثُ الهَوَاءَ.</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فِي الشَّهْرِ المَاضِي ذَهَبْتُ مَعَ أُسْرَتِي إِلَى بَيْتِ جَدِّي بِالقِطَارِ. رَكِبْنَا القِطَارَ فِي السَّاعَةِ التَّاسِعَةِ، وَوَصَلْنَا فِي السَّاعَةِ الثَّانِيَةَ عَشْرَةَ. أَكَلْنَا السَّنْدَوِيشَاتِ، وَلَعِبْنَا الوَرَقَ فِي القِطَارِ. كَانَتِ الرِّحْلَةُ مُمْتِعَةً جِدًّا، وَرَأَيْنَا مِنَ النَّافِذَةِ جِبَالًا وَمَزَارِعَ جَمِيلَةً.</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فِي رَأْيِي، يَجِبُ أَنْ نَسْتَعْمِلَ المُوَاصَلَاتِ العَامَّةَ أَكْثَرَ، لِأَنَّهَا أَفْضَلُ لِلْبِيئَةِ. فِي المُسْتَقْبَلِ سَأَذْهَبُ إِلَى المَدْرَسَةِ بِالدَّرَّاجَةِ مَعَ أَصْدِقَائِي.</a:t>
            </a:r>
            <a:endParaRPr lang="ar-SA" sz="17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A big city with buses, trains and taxis; I take the bus (about twenty minutes), Dad the train, Mum the car (her work is far from the station) → I like the train (fast, comfortable); the bus is cheaper but slower and crowded; the car is comfortable but expensive and pollutes the air → last month to Grandad’s by train: 9:00 to 12:00, sandwiches and cards, a great trip with mountains and farms from the window → we must use public transport more (better for the environment); I will cycle to school with my friends in future.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تَسْتَغْرِقُ الرِّحْلَةُ</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أَرْخَصُ مِنَ القِطَارِ</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رَكِبْنَا القِطَارَ</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يَجِبُ أَنْ نَسْتَعْمِلَ</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18</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AT-A-L09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cs typeface="Amiri" pitchFamily="2" charset="-78"/>
              </a:rPr>
              <a:t>Q3 (</a:t>
            </a:r>
            <a:pPr algn="l" indent="0" marL="0">
              <a:buNone/>
            </a:pPr>
            <a:r>
              <a:rPr lang="ar-SA" altLang="en-US" sz="2850" b="1" dirty="0">
                <a:solidFill>
                  <a:srgbClr val="1B3B6F"/>
                </a:solidFill>
                <a:latin typeface="Amiri" pitchFamily="2" charset="-78"/>
                <a:ea typeface="Amiri" pitchFamily="2" charset="-78"/>
                <a:cs typeface="Amiri" pitchFamily="2" charset="-78"/>
              </a:rPr>
              <a:t>أ</a:t>
            </a:r>
            <a:pPr algn="l" indent="0" marL="0">
              <a:buNone/>
            </a:pPr>
            <a:r>
              <a:rPr lang="en-US" sz="2200" b="1" dirty="0">
                <a:solidFill>
                  <a:srgbClr val="1B3B6F"/>
                </a:solidFill>
                <a:latin typeface="Cambria" pitchFamily="34" charset="0"/>
                <a:cs typeface="Amiri" pitchFamily="2" charset="-78"/>
              </a:rPr>
              <a:t>) full-mark model: range and accuracy</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AT-A-L09</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أَسْكُنُ فِي ضَاحِيَةٍ هَادِئَةٍ، عَلَى بُعْدِ عَشَرَةِ كِيلُومِتْرَاتٍ مِنْ وَسَطِ المَدِينَةِ، وَلِذٰلِكَ تُشَكِّلُ المُوَاصَلَاتُ جُزْءًا كَبِيرًا مِنْ يَوْمِي. أَخْرُجُ مِنَ البَيْتِ فِي السَّابِعَةِ، وَأَمْشِي خَمْسَ دَقَائِقَ إِلَى المَحَطَّةِ، ثُمَّ أَرْكَبُ القِطَارَ الَّذِي يَصِلُ بِي إِلَى المَدْرَسَةِ فِي رُبْعِ سَاعَةٍ فَقَطْ، وَأَقْرَأُ أَوْ أُرَاجِعُ دُرُوسِي أَثْنَاءَ الرِّحْلَةِ.</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أُفَضِّلُ القِطَارَ عَلَى الحَافِلَةِ، لِأَنَّهُ أَسْرَعُ بِكَثِيرٍ وَلَا يَتَأَثَّرُ بِازْدِحَامِ الشَّوَارِعِ أَوْ بِالحَوَادِثِ، أَمَّا الحَافِلَةُ فَأَرْخَصُ، غَيْرَ أَنَّهَا قَدْ تَتَأَخَّرُ نِصْفَ سَاعَةٍ فِي أَوْقَاتِ الذُّرْوَةِ.</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لٰكِنَّ القِطَارَ لَيْسَ مِثَالِيًّا دَائِمًا؛ فَفِي الشِّتَاءِ المَاضِي تَعَطَّلَ القِطَارُ بِسَبَبِ الثَّلْجِ، فَانْتَظَرْنَا سَاعَةً كَامِلَةً فِي البَرْدِ الشَّدِيدِ، ثُمَّ مَشَيْتُ مَعَ زُمَلَائِي إِلَى المَدْرَسَةِ، وَوَصَلْنَا بَعْدَ أَنْ بَدَأَ الدَّرْسُ الثَّانِي.</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فِي رَأْيِي، يَنْبَغِي أَنْ تَسْتَثْمِرَ المَدِينَةُ فِي طُرُقِ الدَّرَّاجَاتِ، لِأَنَّهَا أَرْخَصُ وَأَنْظَفُ، وَتُشَجِّعُ الشَّبَابَ عَلَى الرِّيَاضَةِ. وَلَوْ كَانَتْ هُنَاكَ طَرِيقٌ آمِنَةٌ مِنْ بَيْتِي إِلَى المَدْرَسَةِ، لَذَهَبْتُ بِالدَّرَّاجَةِ كُلَّ يَوْمٍ، حَتَّى فِي الشِّتَاءِ.</a:t>
            </a:r>
            <a:endParaRPr lang="ar-SA" sz="175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يَصِلُ بِي إِلَى المَدْرَسَةِ</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أَمَّا الحَافِلَةُ فَأَرْخَصُ</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بَعْدَ أَنْ بَدَأَ</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لَوْ كَانَتْ … لَذَهَبْتُ</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18</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AT-A-L09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ب</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800" b="1" dirty="0">
                <a:solidFill>
                  <a:srgbClr val="1B3B6F"/>
                </a:solidFill>
                <a:latin typeface="Cambria" pitchFamily="34" charset="0"/>
                <a:cs typeface="Amiri" pitchFamily="2" charset="-78"/>
              </a:rPr>
              <a:t>Q3 (</a:t>
            </a:r>
            <a:pPr algn="l" indent="0" marL="0">
              <a:buNone/>
            </a:pPr>
            <a:r>
              <a:rPr lang="ar-SA" altLang="en-US" sz="2350" b="1" dirty="0">
                <a:solidFill>
                  <a:srgbClr val="1B3B6F"/>
                </a:solidFill>
                <a:latin typeface="Amiri" pitchFamily="2" charset="-78"/>
                <a:ea typeface="Amiri" pitchFamily="2" charset="-78"/>
                <a:cs typeface="Amiri" pitchFamily="2" charset="-78"/>
              </a:rPr>
              <a:t>ب</a:t>
            </a:r>
            <a:pPr algn="l" indent="0" marL="0">
              <a:buNone/>
            </a:pPr>
            <a:r>
              <a:rPr lang="en-US" sz="1800" b="1" dirty="0">
                <a:solidFill>
                  <a:srgbClr val="1B3B6F"/>
                </a:solidFill>
                <a:latin typeface="Cambria" pitchFamily="34" charset="0"/>
                <a:cs typeface="Amiri" pitchFamily="2" charset="-78"/>
              </a:rPr>
              <a:t>) full-mark model: the car or public transport?</a:t>
            </a:r>
            <a:endParaRPr lang="en-US" sz="1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AT-A-L09</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يَعْتَمِدُ كَثِيرٌ مِنَ النَّاسِ فِي مَدِينَتِي عَلَى السَّيَّارَاتِ الخَاصَّةِ، حَتَّى لِلرِّحْلَاتِ القَصِيرَةِ، وَهٰذَا يُسَبِّبُ ازْدِحَامًا شَدِيدًا وَتَلَوُّثًا فِي الهَوَاءِ، خُصُوصًا فِي الصَّبَاحِ عِنْدَمَا يَذْهَبُ الجَمِيعُ إِلَى العَمَلِ وَالمَدَارِسِ فِي الوَقْتِ نَفْسِهِ. وَقَدْ تَسْتَغْرِقُ رِحْلَةٌ قَصِيرَةٌ نِصْفَ سَاعَةٍ أَوْ أَكْثَرَ.</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فِي المَاضِي كَانَ النَّاسُ يَمْشُونَ إِلَى السُّوقِ وَالمَسْجِدِ وَالمَدْرَسَةِ، لِأَنَّ كُلَّ شَيْءٍ كَانَ قَرِيبًا، أَمَّا اليَوْمَ فَقَدْ كَبُرَتِ المُدُنُ، وَأَصْبَحَتِ المَسَافَاتُ أَطْوَلَ، فَصَارَتِ السَّيَّارَةُ ضَرُورَةً لِكَثِيرٍ مِنَ الأُسَرِ، خُصُوصًا فِي الأَحْيَاءِ البَعِيدَةِ.</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فِي السَّنَةِ المَاضِيَةِ نَظَّمَتْ مَدْرَسَتِي «أُسْبُوعَ بِلَا سَيَّارَاتٍ»؛ جَاءَ الطُّلَّابُ مَشْيًا أَوْ بِالدَّرَّاجَاتِ أَوْ بِالحَافِلَةِ، فَقَلَّ الازْدِحَامُ أَمَامَ المَدْرَسَةِ بِشَكْلٍ وَاضِحٍ، وَشَعَرَ الجَمِيعُ بِنَشَاطٍ أَكْبَرَ فِي الحِصَّةِ الأُولَى.</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صَحِيحٌ أَنَّ السَّيَّارَةَ مُرِيحَةٌ وَضَرُورِيَّةٌ أَحْيَانًا، غَيْرَ أَنَّ المُوَاصَلَاتِ العَامَّةَ أَفْضَلُ لِلْبِيئَةِ وَأَرْخَصُ لِلْأُسْرَةِ. وَلَوْ جَعَلَتِ البَلَدِيَّةُ الحَافِلَاتِ أَكْثَرَ وَأَسْرَعَ، لَتَرَكَ كَثِيرٌ مِنَ النَّاسِ سَيَّارَاتِهِمْ فِي البَيْتِ، وَلَأَصْبَحَتْ مَدِينَتُنَا أَنْظَفَ وَأَهْدَأَ.</a:t>
            </a:r>
            <a:endParaRPr lang="ar-SA" sz="175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يَعْتَمِدُ كَثِيرٌ مِنَ النَّاسِ</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أَمَّا اليَوْمَ فَقَدْ كَبُرَتِ</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«أُسْبُوعَ بِلَا سَيَّارَاتٍ»</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لَوْ جَعَلَتِ … لَتَرَكَ</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18</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AT-A-L09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AT-A-L09</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Q1: every box in Arabic; a clock time and min … ilā.</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all four bullet points, with a greeting and a closing.</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a comparison (arkhaṣu min) or uffaḍḍilu … ʿalā.</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four paragraphs in three time frames.</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ammā … fa-, a concession or a conditional.</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18</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AT-A-L09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great writing practice today!</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WORKSHOP</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AT-A-L10 · Exam practice · Speaking and writing workshops — the next Topic A lesson</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وَرْشَةُ التَّدْرِيبِ</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cover every bullet point, check your verb endings, and use three time frames in Question 3.</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AT-A-L09 · Writing Workshop — Everyday Journeys</dc:title>
  <dc:subject>PptxGenJS Presentation</dc:subject>
  <dc:creator>Al Madina Online School · Arabic Department</dc:creator>
  <cp:lastModifiedBy>Al Madina Online School · Arabic Department</cp:lastModifiedBy>
  <cp:revision>1</cp:revision>
  <dcterms:created xsi:type="dcterms:W3CDTF">2026-10-11T08:28:47Z</dcterms:created>
  <dcterms:modified xsi:type="dcterms:W3CDTF">2026-10-11T08:28:47Z</dcterms:modified>
</cp:coreProperties>
</file>