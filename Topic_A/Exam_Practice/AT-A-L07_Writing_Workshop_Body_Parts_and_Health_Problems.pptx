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7 (Body Parts and Health Problems, AT-A-L07).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5 uses mundhu + dual (yawmayn).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لِمَاذَا (why) · مَا (what) · مُنْذُ مَتَى (since when) · مَاذَا (what) · مَتَى (when) — bullet 3 is PAST, bullet 4 is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(110 words). Core model: a clear past story with simple dialogue, symptoms, a duration, an opinion and a future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a relative clause, ʿindamā, lam + jussive, reported speech, li- of purpose, a comparative, a concession and a conditional.
ENGLISH SUMMARY (read aloud or paste in the chat for Core students): I will never forget the week I fell ill before the winter exams: a match in the rain, home soaked, didn’t change (too tired, two hours of TV) → at night a temperature, sore throat and back, no sleep; the doctor: a throat infection, rest for a whole week → worried about lessons, but classmates sent summaries and the teacher phoned; Mum made soup and honey tea every day → health is worth more than anything; it is true illness was annoying, but it taught me to look after myself; “if I could go back in time, I would change my clothes straight after the match and have a warm drink”.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ammā … fa-, past vs present, a school experience, a concession, comparatives and a conditional.
ENGLISH SUMMARY (read aloud or paste in the chat for Core students): Many think health is the doctor’s job; I believe prevention starts with daily habits — handwashing, sleep, healthy food, and exercise that strengthens body and mood → in the past people waited until illness got worse; today schools run vaccination and screening campaigns, and health information is online for all → last year a cold spread in my class and half were absent; the school put sanitiser in every room and asked ill students to stay home; better within two weeks → it is true treatment is sometimes necessary, but prevention is easier and cheaper; “if each of us followed these simple habits, our visits to the doctor would fall a lot, and we would live happier, longer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Body and Health Problems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الجِسْمُ وَالمَشَاكِلُ الصِّحِّيَّةُ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clinic registration form, write an absence email to your teacher, and write an extended piece about an illness or about prevention.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AT-A-L07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absence email to your teacher.</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the verb agrees with the body part (yuʾlimunī raʾsī · tuʾlimunī yadī); ʿindī + symptom in the nominative; mundhu + a time phrase.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يُؤْلِمُنِي رَأْسِي · تُؤْلِمُنِي يَدِي</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head hurts · my hand hurts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عِنْدِي حُمَّى مُنْذُ يَوْمَيْنِ</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have had a fever for two days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بَدَأَتِ الأَعْرَاضُ عِنْدَمَا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symptoms started when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Clinic registration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العِيَادَةِ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it hurts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أَيْنَ الأَلَمُ؟</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symptoms (two)</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الأَعْرَاضُ</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when</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مُنْذُ مَتَى؟</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Medicine taken?</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أَخَذْتَ دَوَاءً؟</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Any allergies</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حَسَاسِيَّةٌ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how the illness started</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كَيْفَ بَدَأَ المَرَضُ؟</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in the past.</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Clinic registration form: model answers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Sami Yusuf</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سَامِي يُوسُفُ</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fifteen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خَمْسَ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head and throat</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الرَّأْسُ وَالحَلْقُ</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أَيْنَ الأَلَمُ؟</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fever and cough</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حُمَّى وَسُعَالٌ</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الأَعْرَاضُ</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two days</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مُنْذُ يَوْمَيْنِ</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مُنْذُ مَتَى؟</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a headache tablet</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نَعَمْ، دَوَاءً لِلصُّدَاعِ</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هَلْ أَخَذْتَ دَوَاءً؟</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peanut allergy</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حَسَاسِيَّةٌ مِنَ الفُولِ السُّودَانِيِّ</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حَسَاسِيَّةٌ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illness started when I played in the rain on Saturday.</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بَدَأَ المَرَضُ عِنْدَمَا لَعِبْتُ تَحْتَ المَطَرِ يَوْمَ السَّبْتِ.</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كَيْفَ بَدَأَ المَرَضُ؟</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an absence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اعْتِذَارٍ عَنِ الغِيَابِ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are ill and cannot go to school. Write an email in Arabic to your teacher of about 80–90 words. You must include: • why you cannot come to school • your symptoms and how long you have been ill • what you did yesterday about your illness • when you will return, and one request.</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polite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Symptoms with ʿindī and yuʾlimunī.</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sentence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آسِفٌ، لَا أَسْتَطِيعُ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sorry, I can’t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 وَيُؤْلِمُنِي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 and my … hurts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مَرِيضٌ مُنْذُ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been ill since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يُمْكِنُ أَنْ تُرْسِلَ لِي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could you send me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ill and can’t go to school: write to your teacher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أَنْتَ مَرِيضٌ وَلَا تَسْتَطِيعُ الذَّهَابَ إِلَى المَدْرَسَةِ. اكْتُبْ رِسَالَةً إِلَى مُعَلِّمِكَ (٨٠–٩٠ كَلِمَةً).</a:t>
            </a:r>
            <a:endParaRPr lang="ar-SA" sz="16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cannot come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لِمَاذَا لَا تَسْتَطِيعُ الحُضُورَ؟</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symptoms, and since when</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الأَعْرَاضُ؟ وَمُنْذُ مَتَى أَنْتَ مَرِيضٌ؟</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yesterday about it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أَمْسِ بِسَبَبِ المَرَضِ؟</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will return; one request</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مَتَى سَتَرْجِعُ؟ وَمَاذَا تَطْلُبُ مِنْ مُعَلِّمِكَ؟</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Mr …, I am … from Year …</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أُسْتَاذُ ______ ، أَنَا ______ مِنَ الصَّفِّ ______ .</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Sorry, I can’t come, because I am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آسِفٌ، لَا أَسْتَطِيعُ أَنْ آتِيَ، لِأَنِّي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 and my … hurts, since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عِنْدِي ______ ، وَيُؤْلِمُنِي ______ ، مُنْذُ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went to … and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ذَهَبْتُ إِلَى ______ وَ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return on … Could you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سَأَرْجِعُ يَوْمَ ______ . هَلْ يُمْكِنُ أَنْ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Many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شُكْرًا جَزِيلًا،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أُسْتَاذُ أَحْمَدُ،</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أَنَا سَامِي مِنَ الصَّفِّ العَاشِرِ. أَنَا آسِفٌ، لَا أَسْتَطِيعُ أَنْ آتِيَ إِلَى المَدْرَسَةِ اليَوْمَ، لِأَنِّي مَرِيضٌ. عِنْدِي حُمَّى وَسُعَالٌ، وَيُؤْلِمُنِي رَأْسِي كَثِيرًا. أَنَا مَرِيضٌ مُنْذُ يَوْمَيْنِ. أَمْسِ ذَهَبْتُ إِلَى الطَّبِيبِ مَعَ أُمِّي، وَأَعْطَانِي دَوَاءً. سَأَرْجِعُ إِلَى المَدْرَسَةِ يَوْمَ الأَحَدِ إِنْ شَاءَ اللّٰهُ. هَلْ يُمْكِنُ أَنْ تُرْسِلَ لِي الوَاجِبَ؟</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شُكْرًا جَزِيلًا،</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سَامِي</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Mr Ahmed, I am Sami from Year 10. I am sorry, I can’t come to school today because I am ill. I have a fever and a cough, and my head hurts a lot. I have been ill for two days. Yesterday I went to the doctor with my mum and he gave me medicine. I will come back to school on Sunday, God willing. Could you send me the homework? Many thanks, Sami.”</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لِأَنِّي مَرِيضٌ</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يُؤْلِمُنِي رَأْسِي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مُنْذُ يَوْمَيْنِ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سَأَرْجِعُ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cs typeface="Amiri" pitchFamily="2" charset="-78"/>
              </a:rPr>
              <a:t>حَضْرَةَ الأُسْتَاذِ أَحْمَدَ المُحْتَرَمِ،</a:t>
            </a:r>
            <a:endParaRPr lang="ar-SA" sz="1700" dirty="0"/>
          </a:p>
          <a:p>
            <a:pPr rtl="1" algn="r" indent="0" marL="0">
              <a:lnSpc>
                <a:spcPct val="120000"/>
              </a:lnSpc>
              <a:buNone/>
            </a:pPr>
            <a:r>
              <a:rPr lang="ar-SA" altLang="en-US" sz="1700" dirty="0">
                <a:solidFill>
                  <a:srgbClr val="1F2A37"/>
                </a:solidFill>
                <a:latin typeface="Amiri" pitchFamily="2" charset="-78"/>
                <a:cs typeface="Amiri" pitchFamily="2" charset="-78"/>
              </a:rPr>
              <a:t>تَحِيَّةً طَيِّبَةً، وَبَعْدُ، فَأَنَا سَامِي مِنَ الصَّفِّ العَاشِرِ، وَأَكْتُبُ إِلَيْكَ لِأَعْتَذِرَ عَنِ الغِيَابِ اليَوْمَ. أَنَا مَرِيضٌ مُنْذُ يَوْمِ الإِثْنَيْنِ؛ عِنْدِي حُمَّى شَدِيدَةٌ وَسُعَالٌ، وَيُؤْلِمُنِي رَأْسِي وَحَلْقِي، وَأَشْعُرُ بِتَعَبٍ شَدِيدٍ طُولَ اليَوْمِ، فَلَا أَسْتَطِيعُ أَنْ أُرَكِّزَ أَوْ أَدْرُسَ. بَدَأَتِ الأَعْرَاضُ عِنْدَمَا رَجَعْتُ مِنَ المُبَارَاةِ مُبْتَلًّا بِالمَطَرِ. أَمْسِ فَحَصَنِي الطَّبِيبُ، وَنَصَحَنِي بِأَنْ أَرْتَاحَ ثَلَاثَةَ أَيَّامٍ وَأَشْرَبَ سَوَائِلَ كَثِيرَةً. أَتَوَقَّعُ أَنْ أَرْجِعَ يَوْمَ الأَحَدِ، وَأَرْجُو أَنْ تُرْسِلَ لِي وَاجِبَ هٰذَا الأُسْبُوعِ لِكَيْ لَا يَفُوتَنِي شَيْءٌ.</a:t>
            </a:r>
            <a:endParaRPr lang="ar-SA" sz="1700" dirty="0"/>
          </a:p>
          <a:p>
            <a:pPr rtl="1" algn="r" indent="0" marL="0">
              <a:lnSpc>
                <a:spcPct val="120000"/>
              </a:lnSpc>
              <a:buNone/>
            </a:pPr>
            <a:r>
              <a:rPr lang="ar-SA" altLang="en-US" sz="1700" dirty="0">
                <a:solidFill>
                  <a:srgbClr val="1F2A37"/>
                </a:solidFill>
                <a:latin typeface="Amiri" pitchFamily="2" charset="-78"/>
                <a:cs typeface="Amiri" pitchFamily="2" charset="-78"/>
              </a:rPr>
              <a:t>مَعَ الشُّكْرِ وَالتَّقْدِيرِ،</a:t>
            </a:r>
            <a:endParaRPr lang="ar-SA" sz="1700" dirty="0"/>
          </a:p>
          <a:p>
            <a:pPr rtl="1" algn="r" indent="0" marL="0">
              <a:lnSpc>
                <a:spcPct val="120000"/>
              </a:lnSpc>
              <a:buNone/>
            </a:pPr>
            <a:r>
              <a:rPr lang="ar-SA" altLang="en-US" sz="1700" dirty="0">
                <a:solidFill>
                  <a:srgbClr val="1F2A37"/>
                </a:solidFill>
                <a:latin typeface="Amiri" pitchFamily="2" charset="-78"/>
                <a:cs typeface="Amiri" pitchFamily="2" charset="-78"/>
              </a:rPr>
              <a:t>سَامِي يُوسُفُ</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Mr Ahmed, greetings. I am Sami from Year 10, and I am writing to apologise for my absence today. I have been ill since Monday: I have a high fever and a cough, and my head and throat hurt; I feel very tired all day, so I can’t concentrate or study. The symptoms started when I came back from the match soaked by the rain. Yesterday the doctor examined me and advised me to rest for three days and drink plenty of fluids. I expect to return on Sunday, and I would be grateful if you could send me this week’s homework so that I don’t miss anything. With thanks and respect, Sami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لِأَعْتَذِرَ عَنِ الغِيَابِ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مُنْذُ يَوْمِ الإِثْنَيْنِ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بَدَأَتِ الأَعْرَاضُ عِنْدَمَا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لِكَيْ لَا يَفُوتَنِي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time I was ill</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يَوْمَ كُنْتُ مَرِيضًا</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and how it started · symptoms and the doctor · how you spent the days · what you learned</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مَتَى وَكَيْفَ بَدَأَ المَرَضُ؟ · الأَعْرَاضُ وَزِيَارَةُ الطَّبِيبِ · كَيْفَ قَضَيْتَ أَيَّامَ المَرَضِ؟ · مَاذَا تَعَلَّمْتَ؟</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Prevention is better than cure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الوِقَايَةُ خَيْرٌ مِنَ العِلَاجِ</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Habits that protect us · how attention to health has changed · an experience at school or home · your opinion and suggestions</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عَادَاتٌ تَحْمِينَا مِنَ المَرَضِ · كَيْفَ تَغَيَّرَ الاهْتِمَامُ بِالصِّحَّةِ؟ · تَجْرِبَةٌ فِي مَدْرَسَتِكَ أَوْ أُسْرَتِكَ · رَأْيُكَ وَاقْتِرَاحَاتُكَ</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Start — when and how: qabla … (ago), ʿindamā …; set the scene in the past.</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Symptoms + doctor — ʿindī …, yuʾlimunī …, the doctor said / advised (naṣaḥanī bi-an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Middle — how you felt and who helped: kuntu + adjective, li-anna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End — what you learned + future: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بَدَأَ كُلُّ شَيْءٍ عِنْدَمَا لَعِبْتُ تَحْتَ المَطَرِ.</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it all started when I played in the rain.</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عِنْدِي صُدَاعٌ، وَتُؤْلِمُنِي رِجْلِي.</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have a headache, and my leg hurts.</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سَأَهْتَمُّ بِصِحَّتِي أَكْثَرَ.</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look after my health more.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فِي الشِّتَاءِ المَاضِي كُنْتُ مَرِيضًا جِدًّا. فِي يَوْمِ الإِثْنَيْنِ رَجَعْتُ مِنَ المَدْرَسَةِ، وَكُنْتُ مُتْعَبًا. فِي اللَّيْلِ كَانَ عِنْدِي حُمَّى، وَكَانَ يُؤْلِمُنِي رَأْسِي وَبَطْنِي. لَمْ آكُلْ شَيْئًا، وَلَمْ أَنَمْ جَيِّدًا، لِأَنَّ الأَلَمَ كَانَ شَدِيدًا.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الصَّبَاحِ ذَهَبْتُ إِلَى الطَّبِيبِ مَعَ أَبِي. سَأَلَنِي الطَّبِيبُ: «مُنْذُ مَتَى أَنْتَ مَرِيضٌ؟» قُلْتُ: «مُنْذُ أَمْسِ». فَحَصَنِي، وَقَالَ: «عِنْدَكَ زُكَامٌ شَدِيدٌ». أَعْطَانِي دَوَاءً، وَقَالَ: «يَجِبُ أَنْ تَرْتَاحَ».</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بَقِيتُ فِي البَيْتِ أَرْبَعَةَ أَيَّامٍ. نِمْتُ كَثِيرًا، وَشَرِبْتُ الشَّايَ بِالعَسَلِ، وَطَبَخَتْ لِي أُمِّي الشُّورْبَةَ. كُنْتُ حَزِينًا، لِأَنِّي لَمْ أَلْعَبْ مَعَ أَصْدِقَائِي، لٰكِنَّ صَدِيقِي أَرْسَلَ لِي الوَاجِبَ.</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الآنَ صِحَّتِي جَيِّدَةٌ، وَالحَمْدُ لِلّٰهِ. فِي رَأْيِي، يَجِبُ أَنْ نَغْسِلَ أَيْدِيَنَا، وَأَنْ نَلْبَسَ مَلَابِسَ دَافِئَةً فِي الشِّتَاءِ. فِي المُسْتَقْبَلِ سَأَهْتَمُّ بِصِحَّتِي أَكْثَرَ، وَسَأَنَامُ مُبَكِّرًا.</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winter: home from school tired; at night a fever, head and stomach hurt; no food, poor sleep because of the pain → the doctor with Dad: “Since when?” “Since yesterday”; a bad cold; medicine and rest → four days at home: sleep, tea with honey, Mum’s soup; sad not to play, but a friend sent the homework → now healthy; we must wash our hands and dress warmly; I will look after my health more and sleep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عِنْدِي حُمَّى</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مُنْذُ أَمْسِ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أَرْبَعَةَ أَيَّامٍ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يَجِبُ أَنْ نَغْسِلَ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لَنْ أَنْسَى الأُسْبُوعَ الَّذِي مَرِضْتُ فِيهِ قَبْلَ امْتِحَانَاتِ الشِّتَاءِ. بَدَأَ كُلُّ شَيْءٍ يَوْمَ السَّبْتِ، عِنْدَمَا لَعِبْتُ مُبَارَاةً تَحْتَ المَطَرِ، ثُمَّ رَجَعْتُ إِلَى البَيْتِ مُبْتَلًّا وَلَمْ أُغَيِّرْ مَلَابِسِي، لِأَنِّي كُنْتُ مُتْعَبًا جِدًّا، وَجَلَسْتُ أَمَامَ التِّلْفَازِ سَاعَتَيْنِ.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اللَّيْلِ ارْتَفَعَتْ حَرَارَتِي، وَصَارَ يُؤْلِمُنِي حَلْقِي وَظَهْرِي، فَلَمْ أَسْتَطِعْ أَنْ أَنَامَ. فِي الصَّبَاحِ أَخَذَنِي أَبِي إِلَى الطَّبِيبِ، فَفَحَصَنِي وَقَالَ إِنَّ عِنْدِي التِهَابًا فِي الحَلْقِ، وَنَصَحَنِي بِأَنْ أَرْتَاحَ أُسْبُوعًا كَامِلًا.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كَانَ أَصْعَبُ شَيْءٍ أَنَّنِي كُنْتُ قَلِقًا عَلَى دُرُوسِي، لِأَنَّ الامْتِحَانَاتِ كَانَتْ قَرِيبَةً. لٰكِنَّ زُمَلَائِي كَانُوا رَائِعِينَ؛ أَرْسَلُوا لِي المُلَخَّصَاتِ، وَاتَّصَلَ بِي مُعَلِّمِي لِيَطْمَئِنَّ عَلَيَّ، أَمَّا أُمِّي فَكَانَتْ تُحَضِّرُ لِي الشُّورْبَةَ وَالشَّايَ بِالعَسَلِ كُلَّ يَوْمٍ.</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تَعَلَّمْتُ مِنْ هٰذِهِ التَّجْرِبَةِ أَنَّ الصِّحَّةَ أَغْلَى مِنْ أَيِّ شَيْءٍ. صَحِيحٌ أَنَّ المَرَضَ كَانَ مُزْعِجًا، غَيْرَ أَنَّهُ عَلَّمَنِي أَنْ أَهْتَمَّ بِنَفْسِي. وَلَوْ رَجَعَ بِيَ الزَّمَنُ، لَغَيَّرْتُ مَلَابِسِي فَوْرًا بَعْدَ المُبَارَاةِ، وَلَشَرِبْتُ شَيْئًا دَافِئًا.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لَنْ أَنْسَى الأُسْبُوعَ الَّذِي</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فَلَمْ أَسْتَطِعْ</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نَصَحَنِي بِأَنْ أَرْتَاحَ</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رَجَعَ … لَغَيَّرْتُ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Q3 (</a:t>
            </a:r>
            <a:pPr algn="l" indent="0" marL="0">
              <a:buNone/>
            </a:pPr>
            <a:r>
              <a:rPr lang="ar-SA" altLang="en-US" sz="2800" b="1" dirty="0">
                <a:solidFill>
                  <a:srgbClr val="1B3B6F"/>
                </a:solidFill>
                <a:latin typeface="Amiri" pitchFamily="2" charset="-78"/>
                <a:cs typeface="Amiri" pitchFamily="2" charset="-78"/>
              </a:rPr>
              <a:t>ب</a:t>
            </a:r>
            <a:pPr algn="l" indent="0" marL="0">
              <a:buNone/>
            </a:pPr>
            <a:r>
              <a:rPr lang="en-US" sz="2150" b="1" dirty="0">
                <a:solidFill>
                  <a:srgbClr val="1B3B6F"/>
                </a:solidFill>
                <a:latin typeface="Cambria" pitchFamily="34" charset="0"/>
                <a:cs typeface="Amiri" pitchFamily="2" charset="-78"/>
              </a:rPr>
              <a:t>) full-mark model: prevention is better</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يَعْتَقِدُ كَثِيرٌ مِنَ النَّاسِ أَنَّ الصِّحَّةَ مَسْؤُولِيَّةُ الطَّبِيبِ وَحْدَهُ، أَمَّا أَنَا فَأَرَى أَنَّ الوِقَايَةَ تَبْدَأُ مِنْ عَادَاتِنَا اليَوْمِيَّةِ. فَغَسْلُ اليَدَيْنِ، وَالنَّوْمُ الكَافِي، وَالطَّعَامُ الصِّحِّيُّ تَحْمِينَا مِنْ أَمْرَاضٍ كَثِيرَةٍ قَبْلَ أَنْ نَحْتَاجَ إِلَى الدَّوَاءِ، وَكَذٰلِكَ الرِّيَاضَةُ الَّتِي تُقَوِّي جِسْمَنَا وَتُحَسِّنُ مِزَاجَنَا.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المَاضِي كَانَ النَّاسُ يَنْتَظِرُونَ حَتَّى يَشْتَدَّ المَرَضُ، ثُمَّ يَذْهَبُونَ إِلَى الطَّبِيبِ. أَمَّا اليَوْمَ فَهُنَاكَ حَمَلَاتٌ لِلتَّطْعِيمِ وَالفَحْصِ المُبَكِّرِ فِي المَدَارِسِ، وَهٰذَا قَلَّلَ الأَمْرَاضَ كَثِيرًا، كَمَا أَصْبَحَتِ المَعْلُومَاتُ الصِّحِّيَّةُ مُتَوَفِّرَةً لِلْجَمِيعِ عَلَى الإِنْتَرْنِتِ.</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السَّنَةِ المَاضِيَةِ انْتَشَرَ الزُّكَامُ فِي صَفِّي، وَغَابَ نِصْفُ الطُّلَّابِ تَقْرِيبًا. فَقَرَّرَتِ المَدْرَسَةُ أَنْ تَضَعَ مُعَقِّمًا فِي كُلِّ فَصْلٍ، وَأَنْ تَطْلُبَ مِنَ الطُّلَّابِ المَرْضَى أَنْ يَبْقَوْا فِي بُيُوتِهِمْ، فَتَحَسَّنَ الوَضْعُ خِلَالَ أُسْبُوعَيْنِ.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العِلَاجَ ضَرُورِيٌّ أَحْيَانًا، غَيْرَ أَنَّ الوِقَايَةَ أَسْهَلُ وَأَرْخَصُ. وَلَوِ اتَّبَعَ كُلُّ وَاحِدٍ مِنَّا هٰذِهِ العَادَاتِ البَسِيطَةَ، لَقَلَّتْ زِيَارَاتُنَا لِلطَّبِيبِ كَثِيرًا، وَلَعِشْنَا حَيَاةً أَسْعَدَ وَأَطْوَلَ.</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أَنَا فَأَرَى</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النَّاسُ يَنْتَظِرُونَ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فَقَرَّرَتِ المَدْرَسَةُ أَنْ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اتَّبَعَ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mundhu + a time phrase.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polite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yuʾlimunī / tuʾlimunī agrees with the body part.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ʿindamā, lam + jussive, a concession or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AT-A-L08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AT-A-L07 · Writing Workshop — Body and Health Problems</dc:title>
  <dc:subject>PptxGenJS Presentation</dc:subject>
  <dc:creator>Al Madina Online School · Arabic Department</dc:creator>
  <cp:lastModifiedBy>Al Madina Online School · Arabic Department</cp:lastModifiedBy>
  <cp:revision>1</cp:revision>
  <dcterms:created xsi:type="dcterms:W3CDTF">2026-10-11T08:21:49Z</dcterms:created>
  <dcterms:modified xsi:type="dcterms:W3CDTF">2026-10-11T08:21:49Z</dcterms:modified>
</cp:coreProperties>
</file>