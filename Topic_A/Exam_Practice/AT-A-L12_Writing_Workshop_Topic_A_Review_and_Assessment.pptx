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12 (Topic A Review — mock exam practice, AT-A-L12).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Every box recycles a different Topic A lesson: L01, L04, L07, L06, 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صِفِي (describe) · مَا (what) · هَلْ (yes/no) · مَاذَا (what) · مَتَى (when) · اسْأَلِي (ask) — two instructions and four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(84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(115 words). Core model: every part of Topic A in simple sentences — routine, food, sport, transport, health, an opinion and an idhā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law … la-, comparatives and a superlative, ammā … fa-, lam takun + kuntu + present, advice with bi-an, a concession and idhā … sa-.
ENGLISH SUMMARY (read aloud or paste in the chat for Core students): If anyone asked about my ideal day, I would say it is simple but balanced: up at sunrise without an alarm, a half-hour walk, a healthy family breakfast → at noon the train to the centre (faster than the bus, cleaner than the car); friends at a small café with the tastiest juice in town; as for the evening, a good book, then bed at ten so I wake up energetic → my days weren’t always like this: last year I stayed up on my phone and ate fast food, until the doctor advised me to change after a two-week headache, so I changed step by step → it is true this day doesn’t happen every week, but I live part of it daily; if I pass my exams, I will reward myself with a whole perfect day at the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a balanced opening, kāna + present vs ammā … fa-, a family example with advice, lā … bal, a superlative and a conditional.
ENGLISH SUMMARY (read aloud or paste in the chat for Core students): Modern life is easier — faster transport, better medicine, food at any time, travel anywhere in a few hours — but easy doesn’t always mean healthy → in the past people walked a lot, ate what they grew and slept soon after sunset; as for today, we sit at screens, order fast food at the press of a button and stay up till midnight → in my family: two years ago Dad drove to work and had back pain; the doctor advised walking; he now walks to the station and the pain eased within a month, and he sleeps better than before → we shouldn’t reject modern life but use it wisely; “if we took the past’s healthy habits and the present’s useful technology, we would live the best life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Topic A Mock Exam</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امْتِحَانٌ تَجْرِيبِيٌّ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full Paper 4 mock on the whole of Topic A: an exchange-programme form, an email to a host family, and an extended piece on your ideal day or on modern life and health.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AT-A-L12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to your host family.</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every Topic A structure you use: times (fī s-sābiʿa), frequency, an + verb in -a after advice, body + suffix (yuʾlimunī), bi- with transport, comparatives, idhā … sa- and law … la-.</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أَسْتَيْقِظُ عَادَةً فِي السَّابِعَةِ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usually get up at seven</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نَصَحَنِي الطَّبِيبُ بِأَنْ أُغَيِّرَ عَادَاتِي</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doctor advised me to change my habits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إِذَا نَجَحْتُ، سَأُكَافِئُ نَفْسِي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I pass, I will reward myself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Exchange programme registration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بَرْنَامَجِ التَّبَادُلِ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age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 وَالعُمْرُ</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 wake-up time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وَقْتُ الاسْتِيقَاظِ عَادَةً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like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طَعَامٌ تُحِبُّهُ</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don’t eat</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طَعَامٌ لَا تَأْكُلُهُ</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health problem</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مُشْكِلَةٌ صِحِّيَّةٌ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sport and how often</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رِيَاضَتُكَ وَكَمْ مَرَّةً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will travel</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سَتُسَافِرُ؟</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take part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تُرِيدُ أَنْ تُشَارِكَ؟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(likay + verb in -a).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Exchange programme registration: model answers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Hala Said, sixteen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هَالَةُ سَعِيدٍ، سِتَّ عَشْرَةَ سَنَةً</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 وَالعُمْرُ</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a.m.</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السَّابِعَةُ صَبَاحًا</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وَقْتُ الاسْتِيقَاظِ عَادَةً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maqluba</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المَقْلُوبَةُ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طَعَامٌ تُحِبُّهُ</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peanuts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الفُولُ السُّودَانِيُّ</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طَعَامٌ لَا تَأْكُلُهُ</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peanut allergy</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حَسَاسِيَّةٌ مِنَ الفُولِ السُّودَانِيِّ</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مُشْكِلَةٌ صِحِّيَّةٌ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swimming, twice a week</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السِّبَاحَةُ، مَرَّتَيْنِ فِي الأُسْبُوعِ</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رِيَاضَتُكَ وَكَمْ مَرَّةً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plane, then by train</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بِالطَّائِرَةِ ثُمَّ بِالقِطَارِ</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كَيْفَ سَتُسَافِرُ؟</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50" dirty="0">
                <a:solidFill>
                  <a:srgbClr val="5A6472"/>
                </a:solidFill>
                <a:latin typeface="Calibri" pitchFamily="34" charset="0"/>
                <a:cs typeface="Amiri" pitchFamily="2" charset="-78"/>
              </a:rPr>
              <a:t>I want to take part to improve my Arabic and get to know a new culture.</a:t>
            </a:r>
            <a:endParaRPr lang="en-US" sz="9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أُرِيدُ أَنْ أُشَارِكَ لِكَيْ أُحَسِّنَ لُغَتِي العَرَبِيَّةَ وَأَتَعَرَّفَ إِلَى ثَقَافَةٍ جَدِيدَةٍ.</a:t>
            </a:r>
            <a:endParaRPr lang="ar-SA" sz="13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تُرِيدُ أَنْ تُشَارِكَ؟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Question 2: an email to your host family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إِلَى الأُسْرَةِ المُضِيفَةِ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will stay with an Arabic-speaking host family. Write an email in Arabic of about 80–90 words. You must include: • your daily routine • the food you like and don’t eat, and any health problem • what you did yesterday to prepare for the trip, and when you will arrive • one question about the journey to their house.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polite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Times and frequency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polite question at the end.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أَسْتَيْقِظُ عَادَةً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usually get up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حَسَاسِيَّةٌ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allergic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سَأَصِلُ يَوْمَ …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arrive on … 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يُمْكِنُ أَنْ تُخْبِرِينِي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could you tell me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will stay with an Arab family: write to them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سَتَسْكُنِينَ مَعَ أُسْرَةٍ عَرَبِيَّةٍ. اكْتُبِي لَهَا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daily routine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صِفِي رُوتِينَكِ اليَوْمِيَّ.</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Food you like / don’t eat; any health problem</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الطَّعَامُ الَّذِي تُحِبِّينَهُ وَلَا تَأْكُلِينَهُ؟ وَهَلْ عِنْدَكِ مُشْكِلَةٌ صِحِّيَّةٌ؟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yesterday; when you will arrive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أَمْسِ لِتَسْتَعِدِّي؟ وَمَتَى سَتَصِلِينَ؟</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one question about the journey</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اسْأَلِي سُؤَالًا عَنِ الطَّرِيقِ إِلَى البَيْتِ.</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Dear Mrs …, I am …</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عَزِيزَتِي السَّيِّدَةَ ______ ، أَنَا ______ .</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usually get up at … and go to bed at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أَسْتَيْقِظُ عَادَةً فِي ______ ، وَأَنَامُ فِي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 but I don’t eat … I have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أُحِبُّ ______ ، لٰكِنِّي لَا آكُلُ ______ . عِنْدِي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 I will arrive on … at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______ . سَأَصِلُ يَوْمَ ______ فِي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Could you tell me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هَلْ يُمْكِنُ أَنْ تُخْبِرِينِي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عَزِيزَتِي السَّيِّدَةَ لَيْلَى،</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أَنَا هَالَةُ، الطَّالِبَةُ الَّتِي سَتَسْكُنُ عِنْدَكُمْ فِي الصَّيْفِ. أَسْتَيْقِظُ عَادَةً فِي السَّاعَةِ السَّابِعَةِ، وَأَنَامُ فِي العَاشِرَةِ. أُحِبُّ الدَّجَاجَ وَالأُرْزَ وَالسَّلَطَةَ، لٰكِنِّي لَا آكُلُ السَّمَكَ. عِنْدِي حَسَاسِيَّةٌ مِنَ الفُولِ السُّودَانِيِّ. أَمْسِ اشْتَرَيْتُ تَذْكِرَةَ الطَّائِرَةِ، وَسَأَصِلُ يَوْمَ السَّبْتِ فِي السَّاعَةِ الرَّابِعَةِ. هَلْ يُمْكِنُ أَنْ تُخْبِرِينِي كَيْفَ أَصِلُ إِلَى بَيْتِكُمْ مِنَ المَطَارِ؟</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هَالَةُ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Mrs Layla, I am Hala, the student who will live with you in the summer. I usually get up at seven and go to bed at ten. I like chicken, rice and salad, but I don’t eat fish. I have a peanut allergy. Yesterday I bought my plane ticket, and I will arrive on Saturday at four o’clock. Could you tell me how to get to your house from the airport? With thanks, Hala.”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أَسْتَيْقِظُ عَادَةً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لٰكِنِّي لَا آكُلُ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عِنْدِي حَسَاسِيَّةٌ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سَأَصِلُ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عَزِيزَتِي السَّيِّدَةَ لَيْلَى،</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وَبَعْدُ، فَأَنَا هَالَةُ، الطَّالِبَةُ الَّتِي سَتَنْزِلُ عِنْدَكُمْ فِي بَرْنَامَجِ التَّبَادُلِ. أَسْتَيْقِظُ عَادَةً فِي السَّابِعَةِ، وَأُحِبُّ أَنْ أَمْشِيَ قَلِيلًا قَبْلَ الفُطُورِ، وَأَنَامُ عَادَةً فِي العَاشِرَةِ وَالنِّصْفِ. آكُلُ كُلَّ شَيْءٍ تَقْرِيبًا، وَأُحِبُّ الأَطْبَاقَ العَرَبِيَّةَ خُصُوصًا، غَيْرَ أَنَّ عِنْدِي حَسَاسِيَّةً شَدِيدَةً مِنَ الفُولِ السُّودَانِيِّ، فَأَرْجُو أَنْ تَنْتَبِهُوا لِذٰلِكَ. أَمْسِ حَجَزْتُ رِحْلَتِي؛ سَأَصِلُ يَوْمَ السَّبْتِ بَعْدَ الظُّهْرِ، وَإِذَا تَأَخَّرَتِ الطَّائِرَةُ، سَأَتَّصِلُ بِكُمْ فَوْرًا، وَسَأُرْسِلُ لَكُمْ رِسَالَةً عِنْدَ وُصُولِي. هَلْ مِنَ الأَفْضَلِ أَنْ آخُذَ القِطَارَ أَمْ سَيَّارَةَ أُجْرَةٍ إِلَى بَيْتِكُمْ؟</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خَالِصِ الشُّكْرِ،</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هَالَةُ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Mrs Layla, greetings. I am Hala, the student who will stay with you on the exchange programme. I usually get up at seven and like to walk a little before breakfast, and I usually go to bed at half past ten. I eat almost everything, and I especially love Arabic dishes, but I have a severe peanut allergy, so please be careful about that. Yesterday I booked my flight; I will arrive on Saturday afternoon, and if the plane is late, I will call you straight away, and I will message you when I arrive. Is it better to take the train or a taxi to your house? With sincere thanks, Hala.”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أُحِبُّ أَنْ أَمْشِيَ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غَيْرَ أَنَّ عِنْدِي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تَأَخَّرَتْ … سَأَتَّصِلُ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القِطَارَ أَمْ سَيَّارَةَ أُجْرَةٍ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ideal day</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يَوْمِي المِثَالِيُّ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get up; what you eat · sport, transport and places · a past day that was different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مَتَى تَسْتَيْقِظُ؟ وَمَاذَا تَأْكُلُ؟ · الرِّيَاضَةُ وَالمُوَاصَلَاتُ وَالأَمَاكِنُ · يَوْمٌ مَاضٍ كَانَ مُخْتَلِفًا · رَأْيُكَ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Modern life and health</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الحَيَاةُ العَصْرِيَّةُ وَالصِّحَّةُ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life easier today? · past and present: food, movement, sleep · an experience in your family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هَلِ الحَيَاةُ اليَوْمَ أَسْهَلُ؟ · المَاضِي وَالحَاضِرُ: الأَكْلُ وَالحَرَكَةُ وَالنَّوْمُ · تَجْرِبَةٌ مِنْ أُسْرَتِكَ · رَأْيُكَ وَاقْتِرَاحُكَ</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routine, food and drink: times, frequency, adjectives (L01–L05).</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Health + transport — exercise, advice, bi- + transport, comparatives (L06–L09).</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day or a change: kuntu + present, naṣaḥanī bi-an …, a duration (L07–L08, L11).</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fī raʾyī …, idhā … sa-;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أَسْتَيْقِظُ فِي الثَّامِنَةِ يَوْمَ الجُمُعَةِ.</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get up at eight on Fridays.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كُنْتُ مَرِيضًا، فَذَهَبْتُ إِلَى الطَّبِيبِ.</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was ill, so I went to the doctor.</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إِذَا نَجَحْتُ، سَأُسَافِرُ إِلَى البَحْرِ.</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if I pass, I will travel to the seaside.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يَوْمِي المِثَالِيُّ يَكُونُ يَوْمَ الجُمُعَةِ. أَسْتَيْقِظُ فِي السَّاعَةِ الثَّامِنَةِ، لِأَنِّي لَا أَذْهَبُ إِلَى المَدْرَسَةِ. آكُلُ فُطُورًا كَبِيرًا مَعَ أُسْرَتِي: الفُولَ وَالبَيْضَ وَالخُبْزَ، وَأَشْرَبُ الشَّايَ. نَتَحَدَّثُ كَثِيرًا، لِأَنَّنَا لَا نَجْلِسُ مَعًا فِي الصَّبَاحِ أَيَّامَ المَدْرَسَةِ.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بَعْدَ ذٰلِكَ أَذْهَبُ إِلَى النَّادِي بِالدَّرَّاجَةِ، وَأَلْعَبُ كُرَةَ القَدَمِ سَاعَتَيْنِ. الرِّيَاضَةُ مُهِمَّةٌ لِلصِّحَّةِ، وَهِيَ تَجْعَلُنِي سَعِيدًا. فِي الظُّهْرِ نَأْكُلُ الغَدَاءَ فِي بَيْتِ جَدِّي، وَتَطْبُخُ جَدَّتِي المَقْلُوبَةَ اللَّذِيذَةَ.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الجُمُعَةِ المَاضِيَةِ كَانَ يَوْمِي مُخْتَلِفًا. كُنْتُ مَرِيضًا، وَكَانَ عِنْدِي صُدَاعٌ وَحُمَّى. ذَهَبْتُ إِلَى الطَّبِيبِ، وَقَالَ: «يَجِبُ أَنْ تَرْتَاحَ». بَقِيتُ فِي السَّرِيرِ يَوْمَيْنِ، وَشَاهَدْتُ التِّلْفَازَ، وَشَرِبْتُ الشَّايَ بِالعَسَلِ. كَانَ يَوْمًا مُمِلًّا جِدًّا!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رَأْيِي، اليَوْمُ المِثَالِيُّ فِيهِ أُسْرَةٌ وَرِيَاضَةٌ وَأَكْلٌ لَذِيذٌ. فِي المُسْتَقْبَلِ، إِذَا سَافَرْتُ إِلَى بَلَدٍ آخَرَ، سَأَزُورُ مَطَاعِمَهُ وَمَتَاحِفَهُ فِي يَوْمٍ وَاحِدٍ!</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ideal day is Friday: up at eight (no school); a big family breakfast — beans, eggs, bread, tea; we talk a lot, as we never sit together on school mornings → by bike to the club, two hours of football; sport is good for health and makes me happy; lunch at Grandad’s, where Grandma cooks a delicious maqluba → last Friday was different: ill with a headache and fever; the doctor: “you must rest”; two days in bed with TV and honey tea — very boring! → an ideal day has family, sport and tasty food; if I travel abroad, I’ll visit its restaurants and museums in one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أَسْتَيْقِظُ فِي السَّاعَةِ الثَّامِنَةِ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بِالدَّرَّاجَةِ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عِنْدِي صُدَاعٌ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سَافَرْتُ … سَأَزُورُ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لَوْ سَأَلَنِي أَحَدٌ عَنْ يَوْمِي المِثَالِيِّ، لَقُلْتُ إِنَّهُ يَوْمٌ بَسِيطٌ، لٰكِنَّهُ مُتَوَازِنٌ. أَسْتَيْقِظُ فِيهِ مَعَ شُرُوقِ الشَّمْسِ دُونَ مُنَبِّهٍ، وَأَمْشِي نِصْفَ سَاعَةٍ فِي الحَدِيقَةِ، ثُمَّ أَتَنَاوَلُ فُطُورًا صِحِّيًّا مِنَ الشُّوفَانِ وَالفَوَاكِهِ مَعَ أُسْرَتِي.</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الظُّهْرِ أَرْكَبُ القِطَارَ إِلَى وَسَطِ المَدِينَةِ، لِأَنَّهُ أَسْرَعُ مِنَ الحَافِلَةِ وَأَقَلُّ تَلْوِيثًا مِنَ السَّيَّارَةِ، وَأَلْتَقِي بِأَصْدِقَائِي فِي مَقْهًى صَغِيرٍ يُقَدِّمُ أَلَذَّ عَصِيرٍ فِي المَدِينَةِ. أَمَّا المَسَاءُ فَأَقْضِيهِ فِي قِرَاءَةِ كِتَابٍ جَيِّدٍ، ثُمَّ أَنَامُ فِي العَاشِرَةِ لِكَيْ أَسْتَيْقِظَ نَشِيطًا.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الحَقِيقَةِ، لَمْ تَكُنْ أَيَّامِي هٰكَذَا دَائِمًا؛ فَفِي السَّنَةِ المَاضِيَةِ كُنْتُ أَسْهَرُ عَلَى الهَاتِفِ، وَآكُلُ الوَجَبَاتِ السَّرِيعَةَ، حَتَّى نَصَحَنِي الطَّبِيبُ بِأَنْ أُغَيِّرَ عَادَاتِي بَعْدَ صُدَاعٍ اسْتَمَرَّ أُسْبُوعَيْنِ، فَبَدَأْتُ أُغَيِّرُهَا خُطْوَةً خُطْوَةً.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هٰذَا اليَوْمَ لَا يَتَكَرَّرُ كُلَّ أُسْبُوعٍ، غَيْرَ أَنِّي أُحَاوِلُ أَنْ أَعِيشَ جُزْءًا مِنْهُ كُلَّ يَوْمٍ. وَإِذَا نَجَحْتُ فِي امْتِحَانَاتِي، سَأُكَافِئُ نَفْسِي بِيَوْمٍ مِثَالِيٍّ كَامِلٍ عَلَى شَاطِئِ البَحْرِ.</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سَأَلَنِي … لَقُلْتُ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أَسْرَعُ مِنَ الحَافِلَةِ وَأَقَلُّ تَلْوِيثًا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نَصَحَنِي الطَّبِيبُ بِأَنْ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نَجَحْتُ … سَأُكَافِئُ</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Q3 (</a:t>
            </a:r>
            <a:pPr algn="l" indent="0" marL="0">
              <a:buNone/>
            </a:pPr>
            <a:r>
              <a:rPr lang="ar-SA" altLang="en-US" sz="2650" b="1" dirty="0">
                <a:solidFill>
                  <a:srgbClr val="1B3B6F"/>
                </a:solidFill>
                <a:latin typeface="Amiri" pitchFamily="2" charset="-78"/>
                <a:cs typeface="Amiri" pitchFamily="2" charset="-78"/>
              </a:rPr>
              <a:t>ب</a:t>
            </a:r>
            <a:pPr algn="l" indent="0" marL="0">
              <a:buNone/>
            </a:pPr>
            <a:r>
              <a:rPr lang="en-US" sz="2050" b="1" dirty="0">
                <a:solidFill>
                  <a:srgbClr val="1B3B6F"/>
                </a:solidFill>
                <a:latin typeface="Cambria" pitchFamily="34" charset="0"/>
                <a:cs typeface="Amiri" pitchFamily="2" charset="-78"/>
              </a:rPr>
              <a:t>) full-mark model: modern life and health</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يَعْتَقِدُ كَثِيرٌ مِنَ النَّاسِ أَنَّ الحَيَاةَ العَصْرِيَّةَ أَسْهَلُ مِنْ حَيَاةِ أَجْدَادِنَا، وَهٰذَا صَحِيحٌ إِلَى حَدٍّ كَبِيرٍ؛ فَالمُوَاصَلَاتُ أَسْرَعُ، وَالطِّبُّ أَفْضَلُ، وَالطَّعَامُ مُتَوَفِّرٌ فِي كُلِّ وَقْتٍ، وَنَسْتَطِيعُ أَنْ نُسَافِرَ إِلَى أَيِّ بَلَدٍ فِي سَاعَاتٍ قَلِيلَةٍ. غَيْرَ أَنَّ السُّهُولَةَ لَا تَعْنِي دَائِمًا الصِّحَّةَ.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المَاضِي كَانَ النَّاسُ يَمْشُونَ كَثِيرًا، وَيَأْكُلُونَ مَا يَزْرَعُونَهُ، وَيَنَامُونَ بَعْدَ المَغْرِبِ بِقَلِيلٍ، أَمَّا اليَوْمَ فَنَجْلِسُ سَاعَاتٍ أَمَامَ الشَّاشَاتِ، وَنَطْلُبُ الوَجَبَاتِ السَّرِيعَةَ بِضَغْطَةِ زِرٍّ، وَنَسْهَرُ حَتَّى مُنْتَصَفِ اللَّيْلِ.</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لَاحَظْتُ ذٰلِكَ فِي أُسْرَتِي؛ فَقَبْلَ سَنَتَيْنِ كَانَ أَبِي يَذْهَبُ إِلَى عَمَلِهِ بِالسَّيَّارَةِ، وَيَشْكُو مِنْ أَلَمٍ فِي ظَهْرِهِ، فَنَصَحَهُ الطَّبِيبُ بِأَنْ يَمْشِيَ. فَصَارَ يَمْشِي إِلَى المَحَطَّةِ كُلَّ صَبَاحٍ، وَخَفَّ الأَلَمُ خِلَالَ شَهْرٍ، وَأَصْبَحَ يَنَامُ أَفْضَلَ مِنْ قَبْلُ.</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رَأْيِي، لَا يَجِبُ أَنْ نَرْفُضَ الحَيَاةَ العَصْرِيَّةَ، بَلْ أَنْ نَسْتَعْمِلَهَا بِحِكْمَةٍ. وَلَوْ أَخَذْنَا مِنَ المَاضِي عَادَاتِهِ الصِّحِّيَّةَ، وَمِنَ الحَاضِرِ تِكْنُولُوجْيَاهُ المُفِيدَةَ، لَعِشْنَا أَفْضَلَ حَيَاةٍ مُمْكِنَةٍ.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أَسْهَلُ مِنْ حَيَاةِ أَجْدَادِنَا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فَنَجْلِسُ</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نَصَحَهُ الطَّبِيبُ بِأَنْ يَمْشِيَ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أَخَذْنَا … لَعِشْنَا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using words from each Topic A lesson.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polite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past AND a future sentence, plus a polite question.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idhā … sa-, law … la- and a concession.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Topic B · Exam practice continues with the next topic</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المِحْوَرُ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A exam practice complete — well done!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AT-A-L12 · Writing Workshop — Topic A Mock Exam</dc:title>
  <dc:subject>PptxGenJS Presentation</dc:subject>
  <dc:creator>Al Madina Online School · Arabic Department</dc:creator>
  <cp:lastModifiedBy>Al Madina Online School · Arabic Department</cp:lastModifiedBy>
  <cp:revision>1</cp:revision>
  <dcterms:created xsi:type="dcterms:W3CDTF">2026-10-11T08:39:45Z</dcterms:created>
  <dcterms:modified xsi:type="dcterms:W3CDTF">2026-10-11T08:39:45Z</dcterms:modified>
</cp:coreProperties>
</file>