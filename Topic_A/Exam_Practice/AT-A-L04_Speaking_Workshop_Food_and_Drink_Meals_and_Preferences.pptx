
<file path=[Content_Types].xml><?xml version="1.0" encoding="utf-8"?>
<Types xmlns="http://schemas.openxmlformats.org/package/2006/content-types">
  <Default Extension="fntdata" ContentType="application/x-fontdata"/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embedTrueTypeFonts="1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</p:sldIdLst>
  <p:notesMasterIdLst>
    <p:notesMasterId r:id="rId27"/>
  </p:notesMasterIdLst>
  <p:sldSz cx="12192000" cy="6858000"/>
  <p:notesSz cx="6858000" cy="12192000"/>
  <p:embeddedFontLst>
    <p:embeddedFont>
      <p:font typeface="Amiri" pitchFamily="2" charset="-78"/>
      <p:regular r:id="rIdFont1"/>
      <p:bold r:id="rIdFont2"/>
    </p:embeddedFont>
  </p:embeddedFontLst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notesMaster" Target="notesMasters/notesMaster1.xml"/><Relationship Id="rId28" Type="http://schemas.openxmlformats.org/officeDocument/2006/relationships/presProps" Target="presProps.xml"/><Relationship Id="rId29" Type="http://schemas.openxmlformats.org/officeDocument/2006/relationships/viewProps" Target="viewProps.xml"/><Relationship Id="rId30" Type="http://schemas.openxmlformats.org/officeDocument/2006/relationships/theme" Target="theme/theme1.xml"/><Relationship Id="rId31" Type="http://schemas.openxmlformats.org/officeDocument/2006/relationships/tableStyles" Target="tableStyles.xml"/><Relationship Id="rIdFont1" Type="http://schemas.openxmlformats.org/officeDocument/2006/relationships/font" Target="fonts/font1.fntdata"/><Relationship Id="rIdFont2" Type="http://schemas.openxmlformats.org/officeDocument/2006/relationships/font" Target="fonts/font2.fntdata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cs typeface="Amiri" pitchFamily="2" charset="-78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cs typeface="Amiri" pitchFamily="2" charset="-78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cs typeface="Amiri" pitchFamily="2" charset="-78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cs typeface="Amiri" pitchFamily="2" charset="-78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cs typeface="Amiri" pitchFamily="2" charset="-78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cs typeface="Amiri" pitchFamily="2" charset="-78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cs typeface="Amiri" pitchFamily="2" charset="-78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cs typeface="Amiri" pitchFamily="2" charset="-78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cs typeface="Amiri" pitchFamily="2" charset="-78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WORKSHOP AT A GLANCE — 60 minutes on Teams, mostly in breakout rooms of three.
0–2 Welcome · 2–6 How Paper 3 works · 6–10 Language bank · 10–13 Breakout routine · 13–33 Role plays A–D in rooms (rotate roles) · 33–37 Role-play models (main room) · 37–50 Topic conversation in rooms · 50–55 Conversation models · 55–58 Feedback + self-check · 58–60 Close.
Content: teacher-made exam scenarios for Advanced Topic A, Lesson 4 (Food and Drink — Meals and Preferences, AT-A-L04), using that lesson’s language (idāfa, adjective agreement, plurals). Every task has Core · Develop · Stretch support and a model answer.
EXAM FORMAT: Paper 3 Speaking = a role play and a topic conversation, as in the Cambridge IGCSE Arabic 0544 speaking test. Check timings and marks against the current syllabus and the past paper you use.
BREAKOUT ROOMS: set up rooms of three before the lesson. Share the deck (or a PDF) so every room can see the cards.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ar-SA" dirty="0">
                <a:latin typeface="Amiri" pitchFamily="2" charset="-78"/>
                <a:ea typeface="Amiri" pitchFamily="2" charset="-78"/>
                <a:cs typeface="Amiri" pitchFamily="2" charset="-78"/>
              </a:rPr>
              <a:t>WELCOME (1 min) — while students join.
• Greet each student by name as they arrive: السَّلَامُ عَلَيْكُمْ. Take the register (Pastoral Tracker: attendance 0/1).
• 2-MINUTE CHECK-IN (SEND training): a private chat to any student who seemed unsettled last lesson — “Are you okay today? 👍 / 👎”.
• Point to the four expectations — brief and positive: this is our class agreement.
• Talk code: “I will always give you thinking and practice time before I ask anyone.” Reading aloud is by invitation — a student may say “pass” and you return to them later.
• Follow-up on preparation: who learnt the five words? Quick private reminder to anyone who did not (Flipped Learning: follow up every time).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MAP (1 min) — most of the lesson happens in breakout rooms; the teacher visits each room.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ar-SA" dirty="0">
                <a:latin typeface="Amiri" pitchFamily="2" charset="-78"/>
                <a:ea typeface="Amiri" pitchFamily="2" charset="-78"/>
                <a:cs typeface="Amiri" pitchFamily="2" charset="-78"/>
              </a:rPr>
              <a:t>TEACH (3 min). Role play = precise and complete; conversation = develop. Choral repetition of the repair phrases. To a girl: تُعِيدِي.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ar-SA" dirty="0">
                <a:latin typeface="Amiri" pitchFamily="2" charset="-78"/>
                <a:ea typeface="Amiri" pitchFamily="2" charset="-78"/>
                <a:cs typeface="Amiri" pitchFamily="2" charset="-78"/>
              </a:rPr>
              <a:t>LANGUAGE BANK (2 min) — four persons for each verb (آكُلُ → تَأْكُلُ). Plurals: وَجْبَةٌ → وَجَبَاتٌ (sound), طَبَقٌ → أَطْبَاقٌ (broken).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ar-SA" dirty="0">
                <a:latin typeface="Amiri" pitchFamily="2" charset="-78"/>
                <a:ea typeface="Amiri" pitchFamily="2" charset="-78"/>
                <a:cs typeface="Amiri" pitchFamily="2" charset="-78"/>
              </a:rPr>
              <a:t>LANGUAGE BANK (2 min) — adjectives agree: طَبَقٌ لَذِيذٌ / وَجْبَةٌ لَذِيذَةٌ; non-human plurals take the feminine singular: أَطْبَاقٌ لَذِيذَةٌ. Idāfa: عَصِيرُ البُرْتُقَالِ (no “al” on the first word).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BREAKOUT ROUTINE (3 min, in the main room). Same-level rooms make the routes simple; mixed rooms work if the strongest student is examiner first. Post the room timer in the chat. Visit every room for about two minutes.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ar-SA" dirty="0">
                <a:latin typeface="Amiri" pitchFamily="2" charset="-78"/>
                <a:ea typeface="Amiri" pitchFamily="2" charset="-78"/>
                <a:cs typeface="Amiri" pitchFamily="2" charset="-78"/>
              </a:rPr>
              <a:t>ROLE PLAY A (Core) — dinner at a friend’s house.
SET-UP IN THE BREAKOUT ROOM: A = examiner (reads the left column ONLY — the questions, in order), B = candidate (sees the task column; Core may use the help column), C = observer (ticks the feedback checklist). 1 minute preparation, about 3 minutes speaking, 1 minute feedback, then rotate.
Task ! is the unexpected question: in the exam the candidate has not seen it — the examiner should read it without warning.
To a girl, the examiner uses the feminine: تُحِبِّينَ · تَأْكُلِينَ · تَشْرَبِينَ · فَاكِهَتُكِ · أَعْجَبَكِ — and the candidate says مِنْ فَضْلِكِ to the mother (feminine).
Core: full sentences; “I don’t eat” = لَا آكُلُ. The examiner is a woman, so the candidate says مِنْ فَضْلِكِ.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ar-SA" dirty="0">
                <a:latin typeface="Amiri" pitchFamily="2" charset="-78"/>
                <a:ea typeface="Amiri" pitchFamily="2" charset="-78"/>
                <a:cs typeface="Amiri" pitchFamily="2" charset="-78"/>
              </a:rPr>
              <a:t>ROLE PLAY B (Core+) — a survey about the school canteen.
SET-UP IN THE BREAKOUT ROOM: A = examiner (reads the left column ONLY — the questions, in order), B = candidate (sees the task column; Core may use the help column), C = observer (ticks the feedback checklist). 1 minute preparation, about 3 minutes speaking, 1 minute feedback, then rotate.
Task ! is the unexpected question: in the exam the candidate has not seen it — the examiner should read it without warning.
To a girl, the examiner uses the feminine: تَتَنَاوَلِينَ · تَأْكُلِينَ · رَأْيُكِ · تُرِيدِينَ.
Task 4: the CANDIDATE asks. Idāfa in every task: شَطِيرَةُ جُبْنٍ · طَعَامُ المَقْصَفِ · شُورْبَةُ العَدَسِ · سَلَطَةُ فَوَاكِهَ. غَالٍ = expensive (like قَاضٍ).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ar-SA" dirty="0">
                <a:latin typeface="Amiri" pitchFamily="2" charset="-78"/>
                <a:ea typeface="Amiri" pitchFamily="2" charset="-78"/>
                <a:cs typeface="Amiri" pitchFamily="2" charset="-78"/>
              </a:rPr>
              <a:t>ROLE PLAY C (Develop) — with your exchange partner.
SET-UP IN THE BREAKOUT ROOM: A = examiner (reads the left column ONLY — the questions, in order), B = candidate (sees the task column; Core may use the help column), C = observer (ticks the feedback checklist). 1 minute preparation, about 3 minutes speaking, 1 minute feedback, then rotate.
Task ! is the unexpected question: in the exam the candidate has not seen it — the examiner should read it without warning.
To a girl, the examiner uses the feminine: تَتَنَاوَلِينَ · أُسْرَتِكِ · تُسَاعِدِينَ · تُحِبِّينَهُ.
Develop: numbers with nouns (ثَلَاثَ وَجَبَاتٍ), relative clauses (الطَّعَامُ الَّذِي …), reasons. Any family dish is welcome.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ar-SA" dirty="0">
                <a:latin typeface="Amiri" pitchFamily="2" charset="-78"/>
                <a:ea typeface="Amiri" pitchFamily="2" charset="-78"/>
                <a:cs typeface="Amiri" pitchFamily="2" charset="-78"/>
              </a:rPr>
              <a:t>ROLE PLAY D (Stretch) — a radio programme about food and culture.
SET-UP IN THE BREAKOUT ROOM: A = examiner (reads the left column ONLY — the questions, in order), B = candidate (sees the task column; Core may use the help column), C = observer (ticks the feedback checklist). 1 minute preparation, about 3 minutes speaking, 1 minute feedback, then rotate.
Task ! is the unexpected question: in the exam the candidate has not seen it — the examiner should read it without warning.
To a girl, the examiner uses the feminine: أُسْرَتِكِ · تُفَضِّلِينَ · كُنْتِ طَبَّاخَةً · ضُيُوفِكِ.
Stretch: نُفَضِّلُ … عَلَى …, a past occasion, a contrast, a comparison with baynamā and a conditional. Any family occasion is welcome (Eid, a wedding, a birthday).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Observers keep this slide open (or copy the six points into their book). Collect one strong WWW per room afterwards.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MODEL — show AFTER the groups have performed. Groups compare: which task did we answer less fully? Read the model aloud in pairs (examiner / candidate).
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MODEL — show AFTER the groups have performed. Groups compare: which task did we answer less fully? Read the model aloud in pairs (examiner / candidate).
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MODEL — show AFTER the groups have performed. Groups compare: which task did we answer less fully? Read the model aloud in pairs (examiner / candidate).
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MODEL — show AFTER the groups have performed. Groups compare: which task did we answer less fully? Read the model aloud in pairs (examiner / candidate).
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ar-SA" dirty="0">
                <a:latin typeface="Amiri" pitchFamily="2" charset="-78"/>
                <a:ea typeface="Amiri" pitchFamily="2" charset="-78"/>
                <a:cs typeface="Amiri" pitchFamily="2" charset="-78"/>
              </a:rPr>
              <a:t>TOPIC CONVERSATION — Core. Examiner asks the questions in order and may add “لِمَاذَا؟ / هَلْ يُمْكِنُ أَنْ تَشْرَحَ أَكْثَرَ؟” to push for more. Candidate aims for one full sentence per question.
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ar-SA" dirty="0">
                <a:latin typeface="Amiri" pitchFamily="2" charset="-78"/>
                <a:ea typeface="Amiri" pitchFamily="2" charset="-78"/>
                <a:cs typeface="Amiri" pitchFamily="2" charset="-78"/>
              </a:rPr>
              <a:t>TOPIC CONVERSATION — Develop. Examiner asks the questions in order and may add “لِمَاذَا؟ / هَلْ يُمْكِنُ أَنْ تَشْرَحَ أَكْثَرَ؟” to push for more. Candidate aims for two or three sentences, with a reason and some detail.
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ar-SA" dirty="0">
                <a:latin typeface="Amiri" pitchFamily="2" charset="-78"/>
                <a:ea typeface="Amiri" pitchFamily="2" charset="-78"/>
                <a:cs typeface="Amiri" pitchFamily="2" charset="-78"/>
              </a:rPr>
              <a:t>TOPIC CONVERSATION — Stretch. Examiner asks the questions in order and may add “لِمَاذَا؟ / هَلْ يُمْكِنُ أَنْ تَشْرَحَ أَكْثَرَ؟” to push for more. Candidate aims for a developed answer: opinion, comparison, example and more than one time frame.
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MODEL ANSWERS (Core) — show after the groups have practised. Students underline one phrase to “steal” for their own answer.
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MODEL ANSWERS (Develop) — show after the groups have practised. Students underline one phrase to “steal” for their own answer.
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MODEL ANSWERS (Stretch) — show after the groups have practised. Students underline one phrase to “steal” for their own answer.
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MODEL ANSWERS (Stretch) — show after the groups have practised. Students underline one phrase to “steal” for their own answer.
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SELF-CHECK (1 min) against the website success criteria. Students tick privately, then type one WWW and one EBI in the chat (English is fine).
Teacher: one whole-class feedback point from live feedback. Pastoral: Curiosity &amp; Growth for honest reflection and a harder target next lesson.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CLOSE — thank students, dismiss calmly. After the lesson: complete the Pastoral Tracker (attendance, character, self-management, curiosity; demerits only for the five listed concerns). Note any student below 2/3 on the exit ticket for a Do Now check-in next lesson.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cs typeface="Amiri" pitchFamily="2" charset="-78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cs typeface="Amiri" pitchFamily="2" charset="-78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cs typeface="Amiri" pitchFamily="2" charset="-78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cs typeface="Amiri" pitchFamily="2" charset="-78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cs typeface="Amiri" pitchFamily="2" charset="-78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cs typeface="Amiri" pitchFamily="2" charset="-78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cs typeface="Amiri" pitchFamily="2" charset="-78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cs typeface="Amiri" pitchFamily="2" charset="-78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cs typeface="Amiri" pitchFamily="2" charset="-78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cs typeface="Amiri" pitchFamily="2" charset="-78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cs typeface="Amiri" pitchFamily="2" charset="-78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cs typeface="Amiri" pitchFamily="2" charset="-78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cs typeface="Amiri" pitchFamily="2" charset="-78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cs typeface="Amiri" pitchFamily="2" charset="-78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cs typeface="Amiri" pitchFamily="2" charset="-78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cs typeface="Amiri" pitchFamily="2" charset="-78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cs typeface="Amiri" pitchFamily="2" charset="-78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cs typeface="Amiri" pitchFamily="2" charset="-78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cs typeface="Amiri" pitchFamily="2" charset="-78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2.png"/><Relationship Id="rId3" Type="http://schemas.openxmlformats.org/officeDocument/2006/relationships/image" Target="../media/image-2-3.png"/><Relationship Id="rId4" Type="http://schemas.openxmlformats.org/officeDocument/2006/relationships/image" Target="../media/image-2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5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D1F3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863840" y="-1463040"/>
            <a:ext cx="5852160" cy="5852160"/>
          </a:xfrm>
          <a:prstGeom prst="ellipse">
            <a:avLst/>
          </a:prstGeom>
          <a:solidFill>
            <a:srgbClr val="14315C"/>
          </a:solidFill>
          <a:ln w="12700">
            <a:solidFill>
              <a:srgbClr val="14315C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8778240" y="-548640"/>
            <a:ext cx="4023360" cy="4023360"/>
          </a:xfrm>
          <a:prstGeom prst="ellipse">
            <a:avLst/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pic>
        <p:nvPicPr>
          <p:cNvPr id="4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012680" y="685800"/>
            <a:ext cx="1554480" cy="1554480"/>
          </a:xfrm>
          <a:prstGeom prst="rect">
            <a:avLst/>
          </a:prstGeom>
        </p:spPr>
      </p:pic>
      <p:sp>
        <p:nvSpPr>
          <p:cNvPr id="5" name="Shape 2"/>
          <p:cNvSpPr/>
          <p:nvPr/>
        </p:nvSpPr>
        <p:spPr>
          <a:xfrm>
            <a:off x="457200" y="411480"/>
            <a:ext cx="502920" cy="502920"/>
          </a:xfrm>
          <a:prstGeom prst="ellipse">
            <a:avLst/>
          </a:prstGeom>
          <a:solidFill>
            <a:srgbClr val="1B3B6F"/>
          </a:solidFill>
          <a:ln w="15875">
            <a:solidFill>
              <a:srgbClr val="D4AF37"/>
            </a:solidFill>
            <a:prstDash val="solid"/>
          </a:ln>
        </p:spPr>
      </p:sp>
      <p:sp>
        <p:nvSpPr>
          <p:cNvPr id="6" name="Text 3"/>
          <p:cNvSpPr txBox="1"/>
          <p:nvPr/>
        </p:nvSpPr>
        <p:spPr>
          <a:xfrm>
            <a:off x="457200" y="393192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2200" b="1" dirty="0">
                <a:solidFill>
                  <a:srgbClr val="D4AF37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م</a:t>
            </a:r>
            <a:endParaRPr lang="ar-SA" sz="2200" dirty="0"/>
          </a:p>
        </p:txBody>
      </p:sp>
      <p:sp>
        <p:nvSpPr>
          <p:cNvPr id="7" name="Text 4"/>
          <p:cNvSpPr txBox="1"/>
          <p:nvPr/>
        </p:nvSpPr>
        <p:spPr>
          <a:xfrm>
            <a:off x="1078992" y="384048"/>
            <a:ext cx="54864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mbria" pitchFamily="34" charset="0"/>
                <a:cs typeface="Amiri" pitchFamily="2" charset="-78"/>
              </a:rPr>
              <a:t>Al Madina Online School</a:t>
            </a:r>
            <a:endParaRPr lang="en-US" sz="1400" dirty="0"/>
          </a:p>
          <a:p>
            <a:pPr indent="0" marL="0">
              <a:buNone/>
            </a:pPr>
            <a:r>
              <a:rPr lang="en-US" sz="800" b="1" spc="200" kern="0" dirty="0">
                <a:solidFill>
                  <a:srgbClr val="D4AF37"/>
                </a:solidFill>
                <a:latin typeface="Calibri" pitchFamily="34" charset="0"/>
                <a:cs typeface="Amiri" pitchFamily="2" charset="-78"/>
              </a:rPr>
              <a:t>ARABIC DEPARTMENT · MIFTAH ARABIC</a:t>
            </a:r>
            <a:endParaRPr lang="en-US" sz="1400" dirty="0"/>
          </a:p>
        </p:txBody>
      </p:sp>
      <p:sp>
        <p:nvSpPr>
          <p:cNvPr id="8" name="Text 5"/>
          <p:cNvSpPr txBox="1"/>
          <p:nvPr/>
        </p:nvSpPr>
        <p:spPr>
          <a:xfrm>
            <a:off x="457200" y="1600200"/>
            <a:ext cx="8686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200" kern="0" dirty="0">
                <a:solidFill>
                  <a:srgbClr val="D4AF37"/>
                </a:solidFill>
                <a:latin typeface="Calibri" pitchFamily="34" charset="0"/>
                <a:cs typeface="Amiri" pitchFamily="2" charset="-78"/>
              </a:rPr>
              <a:t>CAMBRIDGE IGCSE ARABIC 0544  ·  ADVANCED TOPIC A · EXAM PRACTICE  ·  AT-A-L04</a:t>
            </a:r>
            <a:endParaRPr lang="en-US" sz="1100" dirty="0"/>
          </a:p>
        </p:txBody>
      </p:sp>
      <p:sp>
        <p:nvSpPr>
          <p:cNvPr id="9" name="Text 6"/>
          <p:cNvSpPr txBox="1"/>
          <p:nvPr/>
        </p:nvSpPr>
        <p:spPr>
          <a:xfrm>
            <a:off x="457200" y="1965960"/>
            <a:ext cx="7315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9FB3D1"/>
                </a:solidFill>
                <a:latin typeface="Cambria" pitchFamily="34" charset="0"/>
                <a:cs typeface="Amiri" pitchFamily="2" charset="-78"/>
              </a:rPr>
              <a:t>AT-A-L04</a:t>
            </a:r>
            <a:endParaRPr lang="en-US" sz="2600" dirty="0"/>
          </a:p>
        </p:txBody>
      </p:sp>
      <p:sp>
        <p:nvSpPr>
          <p:cNvPr id="10" name="Text 7"/>
          <p:cNvSpPr txBox="1"/>
          <p:nvPr/>
        </p:nvSpPr>
        <p:spPr>
          <a:xfrm>
            <a:off x="457200" y="2487168"/>
            <a:ext cx="80467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50" b="1" dirty="0">
                <a:solidFill>
                  <a:srgbClr val="FFFFFF"/>
                </a:solidFill>
                <a:latin typeface="Cambria" pitchFamily="34" charset="0"/>
                <a:cs typeface="Amiri" pitchFamily="2" charset="-78"/>
              </a:rPr>
              <a:t>Speaking Workshop — Food and Drink</a:t>
            </a:r>
            <a:endParaRPr lang="en-US" sz="3050" dirty="0"/>
          </a:p>
        </p:txBody>
      </p:sp>
      <p:sp>
        <p:nvSpPr>
          <p:cNvPr id="11" name="Text 8"/>
          <p:cNvSpPr txBox="1"/>
          <p:nvPr/>
        </p:nvSpPr>
        <p:spPr>
          <a:xfrm>
            <a:off x="457200" y="3310128"/>
            <a:ext cx="80467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l" indent="0" marL="0">
              <a:buNone/>
            </a:pPr>
            <a:r>
              <a:rPr lang="ar-SA" altLang="en-US" sz="3600" b="1" dirty="0">
                <a:solidFill>
                  <a:srgbClr val="D4AF37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وَرْشَةُ التَّحَدُّثِ — الطَّعَامُ وَالشَّرَابُ</a:t>
            </a:r>
            <a:endParaRPr lang="ar-SA" sz="3600" dirty="0"/>
          </a:p>
        </p:txBody>
      </p:sp>
      <p:sp>
        <p:nvSpPr>
          <p:cNvPr id="12" name="Text 9"/>
          <p:cNvSpPr txBox="1"/>
          <p:nvPr/>
        </p:nvSpPr>
        <p:spPr>
          <a:xfrm>
            <a:off x="457200" y="4224528"/>
            <a:ext cx="78638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dirty="0">
                <a:solidFill>
                  <a:srgbClr val="C6D2E6"/>
                </a:solidFill>
                <a:latin typeface="Calibri" pitchFamily="34" charset="0"/>
                <a:cs typeface="Amiri" pitchFamily="2" charset="-78"/>
              </a:rPr>
              <a:t>Paper 3 practice in breakout rooms: say what you eat and drink, give preferences with reasons, describe meals and family food traditions.</a:t>
            </a:r>
            <a:endParaRPr lang="en-US" sz="1400" dirty="0"/>
          </a:p>
        </p:txBody>
      </p:sp>
      <p:sp>
        <p:nvSpPr>
          <p:cNvPr id="13" name="Shape 10"/>
          <p:cNvSpPr/>
          <p:nvPr/>
        </p:nvSpPr>
        <p:spPr>
          <a:xfrm>
            <a:off x="457200" y="5166360"/>
            <a:ext cx="2651760" cy="868680"/>
          </a:xfrm>
          <a:prstGeom prst="roundRect">
            <a:avLst>
              <a:gd name="adj" fmla="val 8421"/>
            </a:avLst>
          </a:prstGeom>
          <a:solidFill>
            <a:srgbClr val="16335F"/>
          </a:solidFill>
          <a:ln w="12700">
            <a:solidFill>
              <a:srgbClr val="2A4B7C"/>
            </a:solidFill>
            <a:prstDash val="solid"/>
          </a:ln>
        </p:spPr>
      </p:sp>
      <p:sp>
        <p:nvSpPr>
          <p:cNvPr id="14" name="Text 11"/>
          <p:cNvSpPr txBox="1"/>
          <p:nvPr/>
        </p:nvSpPr>
        <p:spPr>
          <a:xfrm>
            <a:off x="621792" y="5212080"/>
            <a:ext cx="23774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spc="200" kern="0" dirty="0">
                <a:solidFill>
                  <a:srgbClr val="D4AF37"/>
                </a:solidFill>
                <a:latin typeface="Calibri" pitchFamily="34" charset="0"/>
                <a:cs typeface="Amiri" pitchFamily="2" charset="-78"/>
              </a:rPr>
              <a:t>LESSON</a:t>
            </a:r>
            <a:endParaRPr lang="en-US" sz="850" dirty="0"/>
          </a:p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AT-A-L04 · Advanced Topic A · Everyday Activities · exam practice</a:t>
            </a:r>
            <a:endParaRPr lang="en-US" sz="850" dirty="0"/>
          </a:p>
        </p:txBody>
      </p:sp>
      <p:sp>
        <p:nvSpPr>
          <p:cNvPr id="15" name="Shape 12"/>
          <p:cNvSpPr/>
          <p:nvPr/>
        </p:nvSpPr>
        <p:spPr>
          <a:xfrm>
            <a:off x="3273552" y="5166360"/>
            <a:ext cx="2651760" cy="868680"/>
          </a:xfrm>
          <a:prstGeom prst="roundRect">
            <a:avLst>
              <a:gd name="adj" fmla="val 8421"/>
            </a:avLst>
          </a:prstGeom>
          <a:solidFill>
            <a:srgbClr val="16335F"/>
          </a:solidFill>
          <a:ln w="12700">
            <a:solidFill>
              <a:srgbClr val="2A4B7C"/>
            </a:solidFill>
            <a:prstDash val="solid"/>
          </a:ln>
        </p:spPr>
      </p:sp>
      <p:sp>
        <p:nvSpPr>
          <p:cNvPr id="16" name="Text 13"/>
          <p:cNvSpPr txBox="1"/>
          <p:nvPr/>
        </p:nvSpPr>
        <p:spPr>
          <a:xfrm>
            <a:off x="3438144" y="5212080"/>
            <a:ext cx="23774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spc="200" kern="0" dirty="0">
                <a:solidFill>
                  <a:srgbClr val="D4AF37"/>
                </a:solidFill>
                <a:latin typeface="Calibri" pitchFamily="34" charset="0"/>
                <a:cs typeface="Amiri" pitchFamily="2" charset="-78"/>
              </a:rPr>
              <a:t>DURATION</a:t>
            </a:r>
            <a:endParaRPr lang="en-US" sz="850" dirty="0"/>
          </a:p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60 minutes · Teams</a:t>
            </a:r>
            <a:endParaRPr lang="en-US" sz="850" dirty="0"/>
          </a:p>
        </p:txBody>
      </p:sp>
      <p:sp>
        <p:nvSpPr>
          <p:cNvPr id="17" name="Shape 14"/>
          <p:cNvSpPr/>
          <p:nvPr/>
        </p:nvSpPr>
        <p:spPr>
          <a:xfrm>
            <a:off x="6089904" y="5166360"/>
            <a:ext cx="2651760" cy="868680"/>
          </a:xfrm>
          <a:prstGeom prst="roundRect">
            <a:avLst>
              <a:gd name="adj" fmla="val 8421"/>
            </a:avLst>
          </a:prstGeom>
          <a:solidFill>
            <a:srgbClr val="16335F"/>
          </a:solidFill>
          <a:ln w="12700">
            <a:solidFill>
              <a:srgbClr val="2A4B7C"/>
            </a:solidFill>
            <a:prstDash val="solid"/>
          </a:ln>
        </p:spPr>
      </p:sp>
      <p:sp>
        <p:nvSpPr>
          <p:cNvPr id="18" name="Text 15"/>
          <p:cNvSpPr txBox="1"/>
          <p:nvPr/>
        </p:nvSpPr>
        <p:spPr>
          <a:xfrm>
            <a:off x="6254496" y="5212080"/>
            <a:ext cx="23774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spc="200" kern="0" dirty="0">
                <a:solidFill>
                  <a:srgbClr val="D4AF37"/>
                </a:solidFill>
                <a:latin typeface="Calibri" pitchFamily="34" charset="0"/>
                <a:cs typeface="Amiri" pitchFamily="2" charset="-78"/>
              </a:rPr>
              <a:t>LEVEL</a:t>
            </a:r>
            <a:endParaRPr lang="en-US" sz="850" dirty="0"/>
          </a:p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Topic A · A1+ → B1</a:t>
            </a:r>
            <a:endParaRPr lang="en-US" sz="850" dirty="0"/>
          </a:p>
        </p:txBody>
      </p:sp>
      <p:sp>
        <p:nvSpPr>
          <p:cNvPr id="19" name="Shape 16"/>
          <p:cNvSpPr/>
          <p:nvPr/>
        </p:nvSpPr>
        <p:spPr>
          <a:xfrm>
            <a:off x="8906256" y="5166360"/>
            <a:ext cx="2651760" cy="868680"/>
          </a:xfrm>
          <a:prstGeom prst="roundRect">
            <a:avLst>
              <a:gd name="adj" fmla="val 8421"/>
            </a:avLst>
          </a:prstGeom>
          <a:solidFill>
            <a:srgbClr val="16335F"/>
          </a:solidFill>
          <a:ln w="12700">
            <a:solidFill>
              <a:srgbClr val="2A4B7C"/>
            </a:solidFill>
            <a:prstDash val="solid"/>
          </a:ln>
        </p:spPr>
      </p:sp>
      <p:sp>
        <p:nvSpPr>
          <p:cNvPr id="20" name="Text 17"/>
          <p:cNvSpPr txBox="1"/>
          <p:nvPr/>
        </p:nvSpPr>
        <p:spPr>
          <a:xfrm>
            <a:off x="9070848" y="5212080"/>
            <a:ext cx="23774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spc="200" kern="0" dirty="0">
                <a:solidFill>
                  <a:srgbClr val="D4AF37"/>
                </a:solidFill>
                <a:latin typeface="Calibri" pitchFamily="34" charset="0"/>
                <a:cs typeface="Amiri" pitchFamily="2" charset="-78"/>
              </a:rPr>
              <a:t>ON THE WEBSITE</a:t>
            </a:r>
            <a:endParaRPr lang="en-US" sz="850" dirty="0"/>
          </a:p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Advanced Topics › Topic A › AT-A-L04</a:t>
            </a:r>
            <a:endParaRPr lang="en-US" sz="85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D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237744"/>
            <a:ext cx="420624" cy="420624"/>
          </a:xfrm>
          <a:prstGeom prst="ellipse">
            <a:avLst/>
          </a:prstGeom>
          <a:solidFill>
            <a:srgbClr val="1B3B6F"/>
          </a:solidFill>
          <a:ln w="12700">
            <a:solidFill>
              <a:srgbClr val="D4AF37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457200" y="219456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D4AF37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م</a:t>
            </a:r>
            <a:endParaRPr lang="ar-SA" sz="18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3657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Al Madina Online School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57200"/>
            <a:ext cx="4572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ARABIC DEPARTMENT · MIFTAH ARABIC · IGCSE 0544</a:t>
            </a:r>
            <a:endParaRPr lang="en-US" sz="800" dirty="0"/>
          </a:p>
        </p:txBody>
      </p:sp>
      <p:sp>
        <p:nvSpPr>
          <p:cNvPr id="6" name="Shape 4"/>
          <p:cNvSpPr/>
          <p:nvPr/>
        </p:nvSpPr>
        <p:spPr>
          <a:xfrm>
            <a:off x="8897112" y="274320"/>
            <a:ext cx="2834640" cy="329184"/>
          </a:xfrm>
          <a:prstGeom prst="roundRect">
            <a:avLst>
              <a:gd name="adj" fmla="val 50000"/>
            </a:avLst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8897112" y="274320"/>
            <a:ext cx="28346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AT-A-L04 · Speaking workshop</a:t>
            </a:r>
            <a:endParaRPr lang="en-US" sz="950" dirty="0"/>
          </a:p>
        </p:txBody>
      </p:sp>
      <p:sp>
        <p:nvSpPr>
          <p:cNvPr id="8" name="Shape 6"/>
          <p:cNvSpPr/>
          <p:nvPr/>
        </p:nvSpPr>
        <p:spPr>
          <a:xfrm>
            <a:off x="7219188" y="274320"/>
            <a:ext cx="1540764" cy="329184"/>
          </a:xfrm>
          <a:prstGeom prst="roundRect">
            <a:avLst>
              <a:gd name="adj" fmla="val 50000"/>
            </a:avLst>
          </a:prstGeom>
          <a:solidFill>
            <a:srgbClr val="5A6472"/>
          </a:solidFill>
          <a:ln w="12700">
            <a:solidFill>
              <a:srgbClr val="5A6472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7219188" y="274320"/>
            <a:ext cx="154076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WELCOME · 1 MIN</a:t>
            </a:r>
            <a:endParaRPr lang="en-US" sz="900" dirty="0"/>
          </a:p>
        </p:txBody>
      </p:sp>
      <p:sp>
        <p:nvSpPr>
          <p:cNvPr id="10" name="Text 8"/>
          <p:cNvSpPr txBox="1"/>
          <p:nvPr/>
        </p:nvSpPr>
        <p:spPr>
          <a:xfrm>
            <a:off x="457200" y="822960"/>
            <a:ext cx="69494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300" kern="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BEFORE WE BEGIN</a:t>
            </a:r>
            <a:endParaRPr lang="en-US" sz="1000" dirty="0"/>
          </a:p>
        </p:txBody>
      </p:sp>
      <p:sp>
        <p:nvSpPr>
          <p:cNvPr id="11" name="Text 9"/>
          <p:cNvSpPr txBox="1"/>
          <p:nvPr/>
        </p:nvSpPr>
        <p:spPr>
          <a:xfrm>
            <a:off x="457200" y="1033272"/>
            <a:ext cx="69494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Our online classroom</a:t>
            </a:r>
            <a:endParaRPr lang="en-US" sz="2800" dirty="0"/>
          </a:p>
        </p:txBody>
      </p:sp>
      <p:sp>
        <p:nvSpPr>
          <p:cNvPr id="12" name="Text 10"/>
          <p:cNvSpPr txBox="1"/>
          <p:nvPr/>
        </p:nvSpPr>
        <p:spPr>
          <a:xfrm>
            <a:off x="7498080" y="868680"/>
            <a:ext cx="4233672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2800" b="1" dirty="0">
                <a:solidFill>
                  <a:srgbClr val="8A6D1E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آدَابُ الصَّفِّ</a:t>
            </a:r>
            <a:endParaRPr lang="ar-SA" sz="28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6455664"/>
            <a:ext cx="6400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Miftah Arabic · Topic A · Speaking workshop · AT-A-L04</a:t>
            </a:r>
            <a:endParaRPr lang="en-US" sz="850" dirty="0"/>
          </a:p>
        </p:txBody>
      </p:sp>
      <p:sp>
        <p:nvSpPr>
          <p:cNvPr id="15" name="Shape 12"/>
          <p:cNvSpPr/>
          <p:nvPr/>
        </p:nvSpPr>
        <p:spPr>
          <a:xfrm>
            <a:off x="457200" y="1828800"/>
            <a:ext cx="5394960" cy="932688"/>
          </a:xfrm>
          <a:prstGeom prst="roundRect">
            <a:avLst>
              <a:gd name="adj" fmla="val 7843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16" name="Shape 13"/>
          <p:cNvSpPr/>
          <p:nvPr/>
        </p:nvSpPr>
        <p:spPr>
          <a:xfrm>
            <a:off x="640080" y="2002536"/>
            <a:ext cx="585216" cy="585216"/>
          </a:xfrm>
          <a:prstGeom prst="ellipse">
            <a:avLst/>
          </a:prstGeom>
          <a:solidFill>
            <a:srgbClr val="EEF3FA"/>
          </a:solidFill>
          <a:ln w="12700">
            <a:solidFill>
              <a:srgbClr val="EEF3FA"/>
            </a:solidFill>
            <a:prstDash val="solid"/>
          </a:ln>
        </p:spPr>
      </p:sp>
      <p:pic>
        <p:nvPicPr>
          <p:cNvPr id="1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77240" y="2139696"/>
            <a:ext cx="310896" cy="310896"/>
          </a:xfrm>
          <a:prstGeom prst="rect">
            <a:avLst/>
          </a:prstGeom>
        </p:spPr>
      </p:pic>
      <p:sp>
        <p:nvSpPr>
          <p:cNvPr id="18" name="Text 14"/>
          <p:cNvSpPr txBox="1"/>
          <p:nvPr/>
        </p:nvSpPr>
        <p:spPr>
          <a:xfrm>
            <a:off x="1371600" y="1901952"/>
            <a:ext cx="4389120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Camera on</a:t>
            </a:r>
            <a:endParaRPr lang="en-US" sz="1500" dirty="0"/>
          </a:p>
          <a:p>
            <a:pPr indent="0" marL="0">
              <a:buNone/>
            </a:pPr>
            <a:r>
              <a:rPr lang="en-US" sz="115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So I can see you learning and help you quickly.</a:t>
            </a:r>
            <a:endParaRPr lang="en-US" sz="1500" dirty="0"/>
          </a:p>
        </p:txBody>
      </p:sp>
      <p:sp>
        <p:nvSpPr>
          <p:cNvPr id="19" name="Shape 15"/>
          <p:cNvSpPr/>
          <p:nvPr/>
        </p:nvSpPr>
        <p:spPr>
          <a:xfrm>
            <a:off x="457200" y="2907792"/>
            <a:ext cx="5394960" cy="932688"/>
          </a:xfrm>
          <a:prstGeom prst="roundRect">
            <a:avLst>
              <a:gd name="adj" fmla="val 7843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20" name="Shape 16"/>
          <p:cNvSpPr/>
          <p:nvPr/>
        </p:nvSpPr>
        <p:spPr>
          <a:xfrm>
            <a:off x="640080" y="3081528"/>
            <a:ext cx="585216" cy="585216"/>
          </a:xfrm>
          <a:prstGeom prst="ellipse">
            <a:avLst/>
          </a:prstGeom>
          <a:solidFill>
            <a:srgbClr val="EEF3FA"/>
          </a:solidFill>
          <a:ln w="12700">
            <a:solidFill>
              <a:srgbClr val="EEF3FA"/>
            </a:solidFill>
            <a:prstDash val="solid"/>
          </a:ln>
        </p:spPr>
      </p:sp>
      <p:pic>
        <p:nvPicPr>
          <p:cNvPr id="21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7240" y="3218688"/>
            <a:ext cx="310896" cy="310896"/>
          </a:xfrm>
          <a:prstGeom prst="rect">
            <a:avLst/>
          </a:prstGeom>
        </p:spPr>
      </p:pic>
      <p:sp>
        <p:nvSpPr>
          <p:cNvPr id="22" name="Text 17"/>
          <p:cNvSpPr txBox="1"/>
          <p:nvPr/>
        </p:nvSpPr>
        <p:spPr>
          <a:xfrm>
            <a:off x="1371600" y="2980944"/>
            <a:ext cx="4389120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Mic muted</a:t>
            </a:r>
            <a:endParaRPr lang="en-US" sz="1500" dirty="0"/>
          </a:p>
          <a:p>
            <a:pPr indent="0" marL="0">
              <a:buNone/>
            </a:pPr>
            <a:r>
              <a:rPr lang="en-US" sz="115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Unmute only when invited to speak.</a:t>
            </a:r>
            <a:endParaRPr lang="en-US" sz="1500" dirty="0"/>
          </a:p>
        </p:txBody>
      </p:sp>
      <p:sp>
        <p:nvSpPr>
          <p:cNvPr id="23" name="Shape 18"/>
          <p:cNvSpPr/>
          <p:nvPr/>
        </p:nvSpPr>
        <p:spPr>
          <a:xfrm>
            <a:off x="457200" y="3986784"/>
            <a:ext cx="5394960" cy="932688"/>
          </a:xfrm>
          <a:prstGeom prst="roundRect">
            <a:avLst>
              <a:gd name="adj" fmla="val 7843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24" name="Shape 19"/>
          <p:cNvSpPr/>
          <p:nvPr/>
        </p:nvSpPr>
        <p:spPr>
          <a:xfrm>
            <a:off x="640080" y="4160520"/>
            <a:ext cx="585216" cy="585216"/>
          </a:xfrm>
          <a:prstGeom prst="ellipse">
            <a:avLst/>
          </a:prstGeom>
          <a:solidFill>
            <a:srgbClr val="EEF3FA"/>
          </a:solidFill>
          <a:ln w="12700">
            <a:solidFill>
              <a:srgbClr val="EEF3FA"/>
            </a:solidFill>
            <a:prstDash val="solid"/>
          </a:ln>
        </p:spPr>
      </p:sp>
      <p:pic>
        <p:nvPicPr>
          <p:cNvPr id="25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77240" y="4297680"/>
            <a:ext cx="310896" cy="310896"/>
          </a:xfrm>
          <a:prstGeom prst="rect">
            <a:avLst/>
          </a:prstGeom>
        </p:spPr>
      </p:pic>
      <p:sp>
        <p:nvSpPr>
          <p:cNvPr id="26" name="Text 20"/>
          <p:cNvSpPr txBox="1"/>
          <p:nvPr/>
        </p:nvSpPr>
        <p:spPr>
          <a:xfrm>
            <a:off x="1371600" y="4059936"/>
            <a:ext cx="4389120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Chat for learning</a:t>
            </a:r>
            <a:endParaRPr lang="en-US" sz="1500" dirty="0"/>
          </a:p>
          <a:p>
            <a:pPr indent="0" marL="0">
              <a:buNone/>
            </a:pPr>
            <a:r>
              <a:rPr lang="en-US" sz="115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Answers, questions and Arabic only.</a:t>
            </a:r>
            <a:endParaRPr lang="en-US" sz="1500" dirty="0"/>
          </a:p>
        </p:txBody>
      </p:sp>
      <p:sp>
        <p:nvSpPr>
          <p:cNvPr id="27" name="Shape 21"/>
          <p:cNvSpPr/>
          <p:nvPr/>
        </p:nvSpPr>
        <p:spPr>
          <a:xfrm>
            <a:off x="457200" y="5065776"/>
            <a:ext cx="5394960" cy="932688"/>
          </a:xfrm>
          <a:prstGeom prst="roundRect">
            <a:avLst>
              <a:gd name="adj" fmla="val 7843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28" name="Shape 22"/>
          <p:cNvSpPr/>
          <p:nvPr/>
        </p:nvSpPr>
        <p:spPr>
          <a:xfrm>
            <a:off x="640080" y="5239512"/>
            <a:ext cx="585216" cy="585216"/>
          </a:xfrm>
          <a:prstGeom prst="ellipse">
            <a:avLst/>
          </a:prstGeom>
          <a:solidFill>
            <a:srgbClr val="EEF3FA"/>
          </a:solidFill>
          <a:ln w="12700">
            <a:solidFill>
              <a:srgbClr val="EEF3FA"/>
            </a:solidFill>
            <a:prstDash val="solid"/>
          </a:ln>
        </p:spPr>
      </p:sp>
      <p:pic>
        <p:nvPicPr>
          <p:cNvPr id="29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77240" y="5376672"/>
            <a:ext cx="310896" cy="310896"/>
          </a:xfrm>
          <a:prstGeom prst="rect">
            <a:avLst/>
          </a:prstGeom>
        </p:spPr>
      </p:pic>
      <p:sp>
        <p:nvSpPr>
          <p:cNvPr id="30" name="Text 23"/>
          <p:cNvSpPr txBox="1"/>
          <p:nvPr/>
        </p:nvSpPr>
        <p:spPr>
          <a:xfrm>
            <a:off x="1371600" y="5138928"/>
            <a:ext cx="4389120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Raise your hand</a:t>
            </a:r>
            <a:endParaRPr lang="en-US" sz="1500" dirty="0"/>
          </a:p>
          <a:p>
            <a:pPr indent="0" marL="0">
              <a:buNone/>
            </a:pPr>
            <a:r>
              <a:rPr lang="en-US" sz="115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Use the hand button to ask for help.</a:t>
            </a:r>
            <a:endParaRPr lang="en-US" sz="1500" dirty="0"/>
          </a:p>
        </p:txBody>
      </p:sp>
      <p:sp>
        <p:nvSpPr>
          <p:cNvPr id="31" name="Shape 24"/>
          <p:cNvSpPr/>
          <p:nvPr/>
        </p:nvSpPr>
        <p:spPr>
          <a:xfrm>
            <a:off x="6172200" y="1828800"/>
            <a:ext cx="5559552" cy="4169664"/>
          </a:xfrm>
          <a:prstGeom prst="roundRect">
            <a:avLst>
              <a:gd name="adj" fmla="val 1754"/>
            </a:avLst>
          </a:prstGeom>
          <a:solidFill>
            <a:srgbClr val="F7F9FC"/>
          </a:solidFill>
          <a:ln w="9525">
            <a:solidFill>
              <a:srgbClr val="C9D6EA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32" name="Text 25"/>
          <p:cNvSpPr txBox="1"/>
          <p:nvPr/>
        </p:nvSpPr>
        <p:spPr>
          <a:xfrm>
            <a:off x="6400800" y="1938528"/>
            <a:ext cx="510235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200" kern="0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HOW WE TALK — THE ORACY CODE</a:t>
            </a:r>
            <a:endParaRPr lang="en-US" sz="1100" dirty="0"/>
          </a:p>
        </p:txBody>
      </p:sp>
      <p:sp>
        <p:nvSpPr>
          <p:cNvPr id="33" name="Shape 26"/>
          <p:cNvSpPr/>
          <p:nvPr/>
        </p:nvSpPr>
        <p:spPr>
          <a:xfrm>
            <a:off x="6400800" y="2450592"/>
            <a:ext cx="548640" cy="548640"/>
          </a:xfrm>
          <a:prstGeom prst="ellipse">
            <a:avLst/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34" name="Text 27"/>
          <p:cNvSpPr txBox="1"/>
          <p:nvPr/>
        </p:nvSpPr>
        <p:spPr>
          <a:xfrm>
            <a:off x="6400800" y="2450592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D4AF37"/>
                </a:solidFill>
                <a:latin typeface="Arial" pitchFamily="34" charset="0"/>
                <a:cs typeface="Amiri" pitchFamily="2" charset="-78"/>
              </a:rPr>
              <a:t>●</a:t>
            </a:r>
            <a:endParaRPr lang="en-US" sz="1800" dirty="0"/>
          </a:p>
        </p:txBody>
      </p:sp>
      <p:sp>
        <p:nvSpPr>
          <p:cNvPr id="35" name="Text 28"/>
          <p:cNvSpPr txBox="1"/>
          <p:nvPr/>
        </p:nvSpPr>
        <p:spPr>
          <a:xfrm>
            <a:off x="7059168" y="2377440"/>
            <a:ext cx="2011680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Think</a:t>
            </a:r>
            <a:endParaRPr lang="en-US" sz="1400" dirty="0"/>
          </a:p>
          <a:p>
            <a:pPr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silent preparation</a:t>
            </a:r>
            <a:endParaRPr lang="en-US" sz="1400" dirty="0"/>
          </a:p>
        </p:txBody>
      </p:sp>
      <p:sp>
        <p:nvSpPr>
          <p:cNvPr id="36" name="Shape 29"/>
          <p:cNvSpPr/>
          <p:nvPr/>
        </p:nvSpPr>
        <p:spPr>
          <a:xfrm>
            <a:off x="8997696" y="2450592"/>
            <a:ext cx="548640" cy="548640"/>
          </a:xfrm>
          <a:prstGeom prst="ellipse">
            <a:avLst/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37" name="Text 30"/>
          <p:cNvSpPr txBox="1"/>
          <p:nvPr/>
        </p:nvSpPr>
        <p:spPr>
          <a:xfrm>
            <a:off x="8997696" y="2450592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D4AF37"/>
                </a:solidFill>
                <a:latin typeface="Arial" pitchFamily="34" charset="0"/>
                <a:cs typeface="Amiri" pitchFamily="2" charset="-78"/>
              </a:rPr>
              <a:t>↔</a:t>
            </a:r>
            <a:endParaRPr lang="en-US" sz="1800" dirty="0"/>
          </a:p>
        </p:txBody>
      </p:sp>
      <p:sp>
        <p:nvSpPr>
          <p:cNvPr id="38" name="Text 31"/>
          <p:cNvSpPr txBox="1"/>
          <p:nvPr/>
        </p:nvSpPr>
        <p:spPr>
          <a:xfrm>
            <a:off x="9656064" y="2377440"/>
            <a:ext cx="2011680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Rehearse</a:t>
            </a:r>
            <a:endParaRPr lang="en-US" sz="1400" dirty="0"/>
          </a:p>
          <a:p>
            <a:pPr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both partners speak</a:t>
            </a:r>
            <a:endParaRPr lang="en-US" sz="1400" dirty="0"/>
          </a:p>
        </p:txBody>
      </p:sp>
      <p:sp>
        <p:nvSpPr>
          <p:cNvPr id="39" name="Shape 32"/>
          <p:cNvSpPr/>
          <p:nvPr/>
        </p:nvSpPr>
        <p:spPr>
          <a:xfrm>
            <a:off x="6400800" y="3364992"/>
            <a:ext cx="548640" cy="548640"/>
          </a:xfrm>
          <a:prstGeom prst="ellipse">
            <a:avLst/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40" name="Text 33"/>
          <p:cNvSpPr txBox="1"/>
          <p:nvPr/>
        </p:nvSpPr>
        <p:spPr>
          <a:xfrm>
            <a:off x="6400800" y="3364992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D4AF37"/>
                </a:solidFill>
                <a:latin typeface="Arial" pitchFamily="34" charset="0"/>
                <a:cs typeface="Amiri" pitchFamily="2" charset="-78"/>
              </a:rPr>
              <a:t>+</a:t>
            </a:r>
            <a:endParaRPr lang="en-US" sz="1800" dirty="0"/>
          </a:p>
        </p:txBody>
      </p:sp>
      <p:sp>
        <p:nvSpPr>
          <p:cNvPr id="41" name="Text 34"/>
          <p:cNvSpPr txBox="1"/>
          <p:nvPr/>
        </p:nvSpPr>
        <p:spPr>
          <a:xfrm>
            <a:off x="7059168" y="3291840"/>
            <a:ext cx="2011680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Build</a:t>
            </a:r>
            <a:endParaRPr lang="en-US" sz="1400" dirty="0"/>
          </a:p>
          <a:p>
            <a:pPr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add a reason or detail</a:t>
            </a:r>
            <a:endParaRPr lang="en-US" sz="1400" dirty="0"/>
          </a:p>
        </p:txBody>
      </p:sp>
      <p:sp>
        <p:nvSpPr>
          <p:cNvPr id="42" name="Shape 35"/>
          <p:cNvSpPr/>
          <p:nvPr/>
        </p:nvSpPr>
        <p:spPr>
          <a:xfrm>
            <a:off x="8997696" y="3364992"/>
            <a:ext cx="548640" cy="548640"/>
          </a:xfrm>
          <a:prstGeom prst="ellipse">
            <a:avLst/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43" name="Text 36"/>
          <p:cNvSpPr txBox="1"/>
          <p:nvPr/>
        </p:nvSpPr>
        <p:spPr>
          <a:xfrm>
            <a:off x="8997696" y="3364992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D4AF37"/>
                </a:solidFill>
                <a:latin typeface="Arial" pitchFamily="34" charset="0"/>
                <a:cs typeface="Amiri" pitchFamily="2" charset="-78"/>
              </a:rPr>
              <a:t>?</a:t>
            </a:r>
            <a:endParaRPr lang="en-US" sz="1800" dirty="0"/>
          </a:p>
        </p:txBody>
      </p:sp>
      <p:sp>
        <p:nvSpPr>
          <p:cNvPr id="44" name="Text 37"/>
          <p:cNvSpPr txBox="1"/>
          <p:nvPr/>
        </p:nvSpPr>
        <p:spPr>
          <a:xfrm>
            <a:off x="9656064" y="3291840"/>
            <a:ext cx="2011680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Challenge</a:t>
            </a:r>
            <a:endParaRPr lang="en-US" sz="1400" dirty="0"/>
          </a:p>
          <a:p>
            <a:pPr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question respectfully</a:t>
            </a:r>
            <a:endParaRPr lang="en-US" sz="1400" dirty="0"/>
          </a:p>
        </p:txBody>
      </p:sp>
      <p:sp>
        <p:nvSpPr>
          <p:cNvPr id="45" name="Shape 38"/>
          <p:cNvSpPr/>
          <p:nvPr/>
        </p:nvSpPr>
        <p:spPr>
          <a:xfrm>
            <a:off x="6400800" y="4279392"/>
            <a:ext cx="548640" cy="548640"/>
          </a:xfrm>
          <a:prstGeom prst="ellipse">
            <a:avLst/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46" name="Text 39"/>
          <p:cNvSpPr txBox="1"/>
          <p:nvPr/>
        </p:nvSpPr>
        <p:spPr>
          <a:xfrm>
            <a:off x="6400800" y="4279392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D4AF37"/>
                </a:solidFill>
                <a:latin typeface="Arial" pitchFamily="34" charset="0"/>
                <a:cs typeface="Amiri" pitchFamily="2" charset="-78"/>
              </a:rPr>
              <a:t>◎</a:t>
            </a:r>
            <a:endParaRPr lang="en-US" sz="1800" dirty="0"/>
          </a:p>
        </p:txBody>
      </p:sp>
      <p:sp>
        <p:nvSpPr>
          <p:cNvPr id="47" name="Text 40"/>
          <p:cNvSpPr txBox="1"/>
          <p:nvPr/>
        </p:nvSpPr>
        <p:spPr>
          <a:xfrm>
            <a:off x="7059168" y="4206240"/>
            <a:ext cx="2011680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Share</a:t>
            </a:r>
            <a:endParaRPr lang="en-US" sz="1400" dirty="0"/>
          </a:p>
          <a:p>
            <a:pPr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anyone may be invited</a:t>
            </a:r>
            <a:endParaRPr lang="en-US" sz="1400" dirty="0"/>
          </a:p>
        </p:txBody>
      </p:sp>
      <p:sp>
        <p:nvSpPr>
          <p:cNvPr id="48" name="Shape 41"/>
          <p:cNvSpPr/>
          <p:nvPr/>
        </p:nvSpPr>
        <p:spPr>
          <a:xfrm>
            <a:off x="8997696" y="4279392"/>
            <a:ext cx="548640" cy="548640"/>
          </a:xfrm>
          <a:prstGeom prst="ellipse">
            <a:avLst/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49" name="Text 42"/>
          <p:cNvSpPr txBox="1"/>
          <p:nvPr/>
        </p:nvSpPr>
        <p:spPr>
          <a:xfrm>
            <a:off x="8997696" y="4279392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D4AF37"/>
                </a:solidFill>
                <a:latin typeface="Arial" pitchFamily="34" charset="0"/>
                <a:cs typeface="Amiri" pitchFamily="2" charset="-78"/>
              </a:rPr>
              <a:t>↺</a:t>
            </a:r>
            <a:endParaRPr lang="en-US" sz="1800" dirty="0"/>
          </a:p>
        </p:txBody>
      </p:sp>
      <p:sp>
        <p:nvSpPr>
          <p:cNvPr id="50" name="Text 43"/>
          <p:cNvSpPr txBox="1"/>
          <p:nvPr/>
        </p:nvSpPr>
        <p:spPr>
          <a:xfrm>
            <a:off x="9656064" y="4206240"/>
            <a:ext cx="2011680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Summarise</a:t>
            </a:r>
            <a:endParaRPr lang="en-US" sz="1400" dirty="0"/>
          </a:p>
          <a:p>
            <a:pPr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say it more precisely</a:t>
            </a:r>
            <a:endParaRPr lang="en-US" sz="1400" dirty="0"/>
          </a:p>
        </p:txBody>
      </p:sp>
      <p:sp>
        <p:nvSpPr>
          <p:cNvPr id="51" name="Text 44"/>
          <p:cNvSpPr txBox="1"/>
          <p:nvPr/>
        </p:nvSpPr>
        <p:spPr>
          <a:xfrm>
            <a:off x="6400800" y="5230368"/>
            <a:ext cx="5102352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i="1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I will always give you thinking and practice time before I ask anyone. Reading aloud is by invitation — you can always say “pass, please come back to me”.</a:t>
            </a:r>
            <a:endParaRPr lang="en-US" sz="1150" dirty="0"/>
          </a:p>
        </p:txBody>
      </p:sp>
      <p:sp>
        <p:nvSpPr>
          <p:cNvPr id="52" name="Text 45"/>
          <p:cNvSpPr txBox="1"/>
          <p:nvPr/>
        </p:nvSpPr>
        <p:spPr>
          <a:xfrm>
            <a:off x="10360152" y="6455664"/>
            <a:ext cx="1371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2 / 25</a:t>
            </a:r>
            <a:endParaRPr lang="en-US" sz="85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D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237744"/>
            <a:ext cx="420624" cy="420624"/>
          </a:xfrm>
          <a:prstGeom prst="ellipse">
            <a:avLst/>
          </a:prstGeom>
          <a:solidFill>
            <a:srgbClr val="1B3B6F"/>
          </a:solidFill>
          <a:ln w="12700">
            <a:solidFill>
              <a:srgbClr val="D4AF37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457200" y="219456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D4AF37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م</a:t>
            </a:r>
            <a:endParaRPr lang="ar-SA" sz="18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3657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Al Madina Online School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57200"/>
            <a:ext cx="4572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ARABIC DEPARTMENT · MIFTAH ARABIC · IGCSE 0544</a:t>
            </a:r>
            <a:endParaRPr lang="en-US" sz="800" dirty="0"/>
          </a:p>
        </p:txBody>
      </p:sp>
      <p:sp>
        <p:nvSpPr>
          <p:cNvPr id="6" name="Shape 4"/>
          <p:cNvSpPr/>
          <p:nvPr/>
        </p:nvSpPr>
        <p:spPr>
          <a:xfrm>
            <a:off x="8897112" y="274320"/>
            <a:ext cx="2834640" cy="329184"/>
          </a:xfrm>
          <a:prstGeom prst="roundRect">
            <a:avLst>
              <a:gd name="adj" fmla="val 50000"/>
            </a:avLst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8897112" y="274320"/>
            <a:ext cx="28346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AT-A-L04 · Speaking workshop</a:t>
            </a:r>
            <a:endParaRPr lang="en-US" sz="950" dirty="0"/>
          </a:p>
        </p:txBody>
      </p:sp>
      <p:sp>
        <p:nvSpPr>
          <p:cNvPr id="8" name="Shape 6"/>
          <p:cNvSpPr/>
          <p:nvPr/>
        </p:nvSpPr>
        <p:spPr>
          <a:xfrm>
            <a:off x="7388352" y="274320"/>
            <a:ext cx="1371600" cy="329184"/>
          </a:xfrm>
          <a:prstGeom prst="roundRect">
            <a:avLst>
              <a:gd name="adj" fmla="val 50000"/>
            </a:avLst>
          </a:prstGeom>
          <a:solidFill>
            <a:srgbClr val="5A6472"/>
          </a:solidFill>
          <a:ln w="12700">
            <a:solidFill>
              <a:srgbClr val="5A6472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7388352" y="274320"/>
            <a:ext cx="13716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WELCOME</a:t>
            </a:r>
            <a:endParaRPr lang="en-US" sz="900" dirty="0"/>
          </a:p>
        </p:txBody>
      </p:sp>
      <p:sp>
        <p:nvSpPr>
          <p:cNvPr id="10" name="Text 8"/>
          <p:cNvSpPr txBox="1"/>
          <p:nvPr/>
        </p:nvSpPr>
        <p:spPr>
          <a:xfrm>
            <a:off x="457200" y="822960"/>
            <a:ext cx="69494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300" kern="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TODAY’S WORKSHOP MAP</a:t>
            </a:r>
            <a:endParaRPr lang="en-US" sz="1000" dirty="0"/>
          </a:p>
        </p:txBody>
      </p:sp>
      <p:sp>
        <p:nvSpPr>
          <p:cNvPr id="11" name="Text 9"/>
          <p:cNvSpPr txBox="1"/>
          <p:nvPr/>
        </p:nvSpPr>
        <p:spPr>
          <a:xfrm>
            <a:off x="457200" y="1033272"/>
            <a:ext cx="69494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Exam practice, step by step</a:t>
            </a:r>
            <a:endParaRPr lang="en-US" sz="2800" dirty="0"/>
          </a:p>
        </p:txBody>
      </p:sp>
      <p:sp>
        <p:nvSpPr>
          <p:cNvPr id="12" name="Text 10"/>
          <p:cNvSpPr txBox="1"/>
          <p:nvPr/>
        </p:nvSpPr>
        <p:spPr>
          <a:xfrm>
            <a:off x="7498080" y="868680"/>
            <a:ext cx="4233672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2800" b="1" dirty="0">
                <a:solidFill>
                  <a:srgbClr val="8A6D1E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خَرِيطَةُ الوَرْشَةِ</a:t>
            </a:r>
            <a:endParaRPr lang="ar-SA" sz="28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6455664"/>
            <a:ext cx="6400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Miftah Arabic · Topic A · Speaking workshop · AT-A-L04</a:t>
            </a:r>
            <a:endParaRPr lang="en-US" sz="850" dirty="0"/>
          </a:p>
        </p:txBody>
      </p:sp>
      <p:sp>
        <p:nvSpPr>
          <p:cNvPr id="15" name="Shape 12"/>
          <p:cNvSpPr/>
          <p:nvPr/>
        </p:nvSpPr>
        <p:spPr>
          <a:xfrm>
            <a:off x="457200" y="1828800"/>
            <a:ext cx="2152498" cy="3246120"/>
          </a:xfrm>
          <a:prstGeom prst="roundRect">
            <a:avLst>
              <a:gd name="adj" fmla="val 3398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16" name="Shape 13"/>
          <p:cNvSpPr/>
          <p:nvPr/>
        </p:nvSpPr>
        <p:spPr>
          <a:xfrm>
            <a:off x="566928" y="1938528"/>
            <a:ext cx="1933042" cy="566928"/>
          </a:xfrm>
          <a:prstGeom prst="roundRect">
            <a:avLst>
              <a:gd name="adj" fmla="val 9677"/>
            </a:avLst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17" name="Text 14"/>
          <p:cNvSpPr txBox="1"/>
          <p:nvPr/>
        </p:nvSpPr>
        <p:spPr>
          <a:xfrm>
            <a:off x="603504" y="1956816"/>
            <a:ext cx="185989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TEACHER INSTRUCTION</a:t>
            </a:r>
            <a:endParaRPr lang="en-US" sz="1000" dirty="0"/>
          </a:p>
        </p:txBody>
      </p:sp>
      <p:sp>
        <p:nvSpPr>
          <p:cNvPr id="18" name="Text 15"/>
          <p:cNvSpPr txBox="1"/>
          <p:nvPr/>
        </p:nvSpPr>
        <p:spPr>
          <a:xfrm>
            <a:off x="603504" y="2249424"/>
            <a:ext cx="185989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E8EDF5"/>
                </a:solidFill>
                <a:latin typeface="Calibri" pitchFamily="34" charset="0"/>
                <a:cs typeface="Amiri" pitchFamily="2" charset="-78"/>
              </a:rPr>
              <a:t>8 min</a:t>
            </a:r>
            <a:endParaRPr lang="en-US" sz="1000" dirty="0"/>
          </a:p>
        </p:txBody>
      </p:sp>
      <p:sp>
        <p:nvSpPr>
          <p:cNvPr id="19" name="Shape 16"/>
          <p:cNvSpPr/>
          <p:nvPr/>
        </p:nvSpPr>
        <p:spPr>
          <a:xfrm>
            <a:off x="1332281" y="2651760"/>
            <a:ext cx="402336" cy="402336"/>
          </a:xfrm>
          <a:prstGeom prst="ellipse">
            <a:avLst/>
          </a:prstGeom>
          <a:solidFill>
            <a:srgbClr val="F4F1EA"/>
          </a:solidFill>
          <a:ln w="12700">
            <a:solidFill>
              <a:srgbClr val="F4F1EA"/>
            </a:solidFill>
            <a:prstDash val="solid"/>
          </a:ln>
        </p:spPr>
      </p:sp>
      <p:sp>
        <p:nvSpPr>
          <p:cNvPr id="20" name="Text 17"/>
          <p:cNvSpPr txBox="1"/>
          <p:nvPr/>
        </p:nvSpPr>
        <p:spPr>
          <a:xfrm>
            <a:off x="1332281" y="2651760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1</a:t>
            </a:r>
            <a:endParaRPr lang="en-US" sz="1300" dirty="0"/>
          </a:p>
        </p:txBody>
      </p:sp>
      <p:sp>
        <p:nvSpPr>
          <p:cNvPr id="21" name="Text 18"/>
          <p:cNvSpPr txBox="1"/>
          <p:nvPr/>
        </p:nvSpPr>
        <p:spPr>
          <a:xfrm>
            <a:off x="585216" y="3145536"/>
            <a:ext cx="1896466" cy="1417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How the speaking exam works; the language you need.</a:t>
            </a:r>
            <a:endParaRPr lang="en-US" sz="1200" dirty="0"/>
          </a:p>
        </p:txBody>
      </p:sp>
      <p:sp>
        <p:nvSpPr>
          <p:cNvPr id="22" name="Text 19"/>
          <p:cNvSpPr txBox="1"/>
          <p:nvPr/>
        </p:nvSpPr>
        <p:spPr>
          <a:xfrm>
            <a:off x="548640" y="4526280"/>
            <a:ext cx="1969618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كَيْفَ</a:t>
            </a:r>
            <a:endParaRPr lang="ar-SA" sz="1500" dirty="0"/>
          </a:p>
        </p:txBody>
      </p:sp>
      <p:sp>
        <p:nvSpPr>
          <p:cNvPr id="23" name="Shape 20"/>
          <p:cNvSpPr/>
          <p:nvPr/>
        </p:nvSpPr>
        <p:spPr>
          <a:xfrm>
            <a:off x="2737714" y="1828800"/>
            <a:ext cx="2152498" cy="3246120"/>
          </a:xfrm>
          <a:prstGeom prst="roundRect">
            <a:avLst>
              <a:gd name="adj" fmla="val 3398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24" name="Shape 21"/>
          <p:cNvSpPr/>
          <p:nvPr/>
        </p:nvSpPr>
        <p:spPr>
          <a:xfrm>
            <a:off x="2847442" y="1938528"/>
            <a:ext cx="1933042" cy="566928"/>
          </a:xfrm>
          <a:prstGeom prst="roundRect">
            <a:avLst>
              <a:gd name="adj" fmla="val 9677"/>
            </a:avLst>
          </a:prstGeom>
          <a:solidFill>
            <a:srgbClr val="1E6B52"/>
          </a:solidFill>
          <a:ln w="12700">
            <a:solidFill>
              <a:srgbClr val="1E6B52"/>
            </a:solidFill>
            <a:prstDash val="solid"/>
          </a:ln>
        </p:spPr>
      </p:sp>
      <p:sp>
        <p:nvSpPr>
          <p:cNvPr id="25" name="Text 22"/>
          <p:cNvSpPr txBox="1"/>
          <p:nvPr/>
        </p:nvSpPr>
        <p:spPr>
          <a:xfrm>
            <a:off x="2884018" y="1956816"/>
            <a:ext cx="185989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YOU DO</a:t>
            </a:r>
            <a:endParaRPr lang="en-US" sz="1000" dirty="0"/>
          </a:p>
        </p:txBody>
      </p:sp>
      <p:sp>
        <p:nvSpPr>
          <p:cNvPr id="26" name="Text 23"/>
          <p:cNvSpPr txBox="1"/>
          <p:nvPr/>
        </p:nvSpPr>
        <p:spPr>
          <a:xfrm>
            <a:off x="2884018" y="2249424"/>
            <a:ext cx="185989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E8EDF5"/>
                </a:solidFill>
                <a:latin typeface="Calibri" pitchFamily="34" charset="0"/>
                <a:cs typeface="Amiri" pitchFamily="2" charset="-78"/>
              </a:rPr>
              <a:t>20 min</a:t>
            </a:r>
            <a:endParaRPr lang="en-US" sz="1000" dirty="0"/>
          </a:p>
        </p:txBody>
      </p:sp>
      <p:sp>
        <p:nvSpPr>
          <p:cNvPr id="27" name="Shape 24"/>
          <p:cNvSpPr/>
          <p:nvPr/>
        </p:nvSpPr>
        <p:spPr>
          <a:xfrm>
            <a:off x="3612794" y="2651760"/>
            <a:ext cx="402336" cy="402336"/>
          </a:xfrm>
          <a:prstGeom prst="ellipse">
            <a:avLst/>
          </a:prstGeom>
          <a:solidFill>
            <a:srgbClr val="F4F1EA"/>
          </a:solidFill>
          <a:ln w="12700">
            <a:solidFill>
              <a:srgbClr val="F4F1EA"/>
            </a:solidFill>
            <a:prstDash val="solid"/>
          </a:ln>
        </p:spPr>
      </p:sp>
      <p:sp>
        <p:nvSpPr>
          <p:cNvPr id="28" name="Text 25"/>
          <p:cNvSpPr txBox="1"/>
          <p:nvPr/>
        </p:nvSpPr>
        <p:spPr>
          <a:xfrm>
            <a:off x="3612794" y="2651760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2</a:t>
            </a:r>
            <a:endParaRPr lang="en-US" sz="1300" dirty="0"/>
          </a:p>
        </p:txBody>
      </p:sp>
      <p:sp>
        <p:nvSpPr>
          <p:cNvPr id="29" name="Text 26"/>
          <p:cNvSpPr txBox="1"/>
          <p:nvPr/>
        </p:nvSpPr>
        <p:spPr>
          <a:xfrm>
            <a:off x="2865730" y="3145536"/>
            <a:ext cx="1896466" cy="1417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Role plays A–D in breakout rooms.</a:t>
            </a:r>
            <a:endParaRPr lang="en-US" sz="1200" dirty="0"/>
          </a:p>
        </p:txBody>
      </p:sp>
      <p:sp>
        <p:nvSpPr>
          <p:cNvPr id="30" name="Text 27"/>
          <p:cNvSpPr txBox="1"/>
          <p:nvPr/>
        </p:nvSpPr>
        <p:spPr>
          <a:xfrm>
            <a:off x="2829154" y="4526280"/>
            <a:ext cx="1969618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E6B52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تَمْثِيلُ الدَّوْرِ</a:t>
            </a:r>
            <a:endParaRPr lang="ar-SA" sz="1500" dirty="0"/>
          </a:p>
        </p:txBody>
      </p:sp>
      <p:sp>
        <p:nvSpPr>
          <p:cNvPr id="31" name="Shape 28"/>
          <p:cNvSpPr/>
          <p:nvPr/>
        </p:nvSpPr>
        <p:spPr>
          <a:xfrm>
            <a:off x="5018227" y="1828800"/>
            <a:ext cx="2152498" cy="3246120"/>
          </a:xfrm>
          <a:prstGeom prst="roundRect">
            <a:avLst>
              <a:gd name="adj" fmla="val 3398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32" name="Shape 29"/>
          <p:cNvSpPr/>
          <p:nvPr/>
        </p:nvSpPr>
        <p:spPr>
          <a:xfrm>
            <a:off x="5127955" y="1938528"/>
            <a:ext cx="1933042" cy="566928"/>
          </a:xfrm>
          <a:prstGeom prst="roundRect">
            <a:avLst>
              <a:gd name="adj" fmla="val 9677"/>
            </a:avLst>
          </a:prstGeom>
          <a:solidFill>
            <a:srgbClr val="8A6D1E"/>
          </a:solidFill>
          <a:ln w="12700">
            <a:solidFill>
              <a:srgbClr val="8A6D1E"/>
            </a:solidFill>
            <a:prstDash val="solid"/>
          </a:ln>
        </p:spPr>
      </p:sp>
      <p:sp>
        <p:nvSpPr>
          <p:cNvPr id="33" name="Text 30"/>
          <p:cNvSpPr txBox="1"/>
          <p:nvPr/>
        </p:nvSpPr>
        <p:spPr>
          <a:xfrm>
            <a:off x="5164531" y="1956816"/>
            <a:ext cx="185989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FEEDBACK</a:t>
            </a:r>
            <a:endParaRPr lang="en-US" sz="1000" dirty="0"/>
          </a:p>
        </p:txBody>
      </p:sp>
      <p:sp>
        <p:nvSpPr>
          <p:cNvPr id="34" name="Text 31"/>
          <p:cNvSpPr txBox="1"/>
          <p:nvPr/>
        </p:nvSpPr>
        <p:spPr>
          <a:xfrm>
            <a:off x="5164531" y="2249424"/>
            <a:ext cx="185989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E8EDF5"/>
                </a:solidFill>
                <a:latin typeface="Calibri" pitchFamily="34" charset="0"/>
                <a:cs typeface="Amiri" pitchFamily="2" charset="-78"/>
              </a:rPr>
              <a:t>4 min</a:t>
            </a:r>
            <a:endParaRPr lang="en-US" sz="1000" dirty="0"/>
          </a:p>
        </p:txBody>
      </p:sp>
      <p:sp>
        <p:nvSpPr>
          <p:cNvPr id="35" name="Shape 32"/>
          <p:cNvSpPr/>
          <p:nvPr/>
        </p:nvSpPr>
        <p:spPr>
          <a:xfrm>
            <a:off x="5893308" y="2651760"/>
            <a:ext cx="402336" cy="402336"/>
          </a:xfrm>
          <a:prstGeom prst="ellipse">
            <a:avLst/>
          </a:prstGeom>
          <a:solidFill>
            <a:srgbClr val="F4F1EA"/>
          </a:solidFill>
          <a:ln w="12700">
            <a:solidFill>
              <a:srgbClr val="F4F1EA"/>
            </a:solidFill>
            <a:prstDash val="solid"/>
          </a:ln>
        </p:spPr>
      </p:sp>
      <p:sp>
        <p:nvSpPr>
          <p:cNvPr id="36" name="Text 33"/>
          <p:cNvSpPr txBox="1"/>
          <p:nvPr/>
        </p:nvSpPr>
        <p:spPr>
          <a:xfrm>
            <a:off x="5893308" y="2651760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3</a:t>
            </a:r>
            <a:endParaRPr lang="en-US" sz="1300" dirty="0"/>
          </a:p>
        </p:txBody>
      </p:sp>
      <p:sp>
        <p:nvSpPr>
          <p:cNvPr id="37" name="Text 34"/>
          <p:cNvSpPr txBox="1"/>
          <p:nvPr/>
        </p:nvSpPr>
        <p:spPr>
          <a:xfrm>
            <a:off x="5146243" y="3145536"/>
            <a:ext cx="1896466" cy="1417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Role-play models.</a:t>
            </a:r>
            <a:endParaRPr lang="en-US" sz="1200" dirty="0"/>
          </a:p>
        </p:txBody>
      </p:sp>
      <p:sp>
        <p:nvSpPr>
          <p:cNvPr id="38" name="Text 35"/>
          <p:cNvSpPr txBox="1"/>
          <p:nvPr/>
        </p:nvSpPr>
        <p:spPr>
          <a:xfrm>
            <a:off x="5109667" y="4526280"/>
            <a:ext cx="1969618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8A6D1E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النَّمُوذَجُ</a:t>
            </a:r>
            <a:endParaRPr lang="ar-SA" sz="1500" dirty="0"/>
          </a:p>
        </p:txBody>
      </p:sp>
      <p:sp>
        <p:nvSpPr>
          <p:cNvPr id="39" name="Shape 36"/>
          <p:cNvSpPr/>
          <p:nvPr/>
        </p:nvSpPr>
        <p:spPr>
          <a:xfrm>
            <a:off x="7298741" y="1828800"/>
            <a:ext cx="2152498" cy="3246120"/>
          </a:xfrm>
          <a:prstGeom prst="roundRect">
            <a:avLst>
              <a:gd name="adj" fmla="val 3398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40" name="Shape 37"/>
          <p:cNvSpPr/>
          <p:nvPr/>
        </p:nvSpPr>
        <p:spPr>
          <a:xfrm>
            <a:off x="7408469" y="1938528"/>
            <a:ext cx="1933042" cy="566928"/>
          </a:xfrm>
          <a:prstGeom prst="roundRect">
            <a:avLst>
              <a:gd name="adj" fmla="val 9677"/>
            </a:avLst>
          </a:prstGeom>
          <a:solidFill>
            <a:srgbClr val="1E6B52"/>
          </a:solidFill>
          <a:ln w="12700">
            <a:solidFill>
              <a:srgbClr val="1E6B52"/>
            </a:solidFill>
            <a:prstDash val="solid"/>
          </a:ln>
        </p:spPr>
      </p:sp>
      <p:sp>
        <p:nvSpPr>
          <p:cNvPr id="41" name="Text 38"/>
          <p:cNvSpPr txBox="1"/>
          <p:nvPr/>
        </p:nvSpPr>
        <p:spPr>
          <a:xfrm>
            <a:off x="7445045" y="1956816"/>
            <a:ext cx="185989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YOU DO</a:t>
            </a:r>
            <a:endParaRPr lang="en-US" sz="1000" dirty="0"/>
          </a:p>
        </p:txBody>
      </p:sp>
      <p:sp>
        <p:nvSpPr>
          <p:cNvPr id="42" name="Text 39"/>
          <p:cNvSpPr txBox="1"/>
          <p:nvPr/>
        </p:nvSpPr>
        <p:spPr>
          <a:xfrm>
            <a:off x="7445045" y="2249424"/>
            <a:ext cx="185989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E8EDF5"/>
                </a:solidFill>
                <a:latin typeface="Calibri" pitchFamily="34" charset="0"/>
                <a:cs typeface="Amiri" pitchFamily="2" charset="-78"/>
              </a:rPr>
              <a:t>13 min</a:t>
            </a:r>
            <a:endParaRPr lang="en-US" sz="1000" dirty="0"/>
          </a:p>
        </p:txBody>
      </p:sp>
      <p:sp>
        <p:nvSpPr>
          <p:cNvPr id="43" name="Shape 40"/>
          <p:cNvSpPr/>
          <p:nvPr/>
        </p:nvSpPr>
        <p:spPr>
          <a:xfrm>
            <a:off x="8173822" y="2651760"/>
            <a:ext cx="402336" cy="402336"/>
          </a:xfrm>
          <a:prstGeom prst="ellipse">
            <a:avLst/>
          </a:prstGeom>
          <a:solidFill>
            <a:srgbClr val="F4F1EA"/>
          </a:solidFill>
          <a:ln w="12700">
            <a:solidFill>
              <a:srgbClr val="F4F1EA"/>
            </a:solidFill>
            <a:prstDash val="solid"/>
          </a:ln>
        </p:spPr>
      </p:sp>
      <p:sp>
        <p:nvSpPr>
          <p:cNvPr id="44" name="Text 41"/>
          <p:cNvSpPr txBox="1"/>
          <p:nvPr/>
        </p:nvSpPr>
        <p:spPr>
          <a:xfrm>
            <a:off x="8173822" y="2651760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4</a:t>
            </a:r>
            <a:endParaRPr lang="en-US" sz="1300" dirty="0"/>
          </a:p>
        </p:txBody>
      </p:sp>
      <p:sp>
        <p:nvSpPr>
          <p:cNvPr id="45" name="Text 42"/>
          <p:cNvSpPr txBox="1"/>
          <p:nvPr/>
        </p:nvSpPr>
        <p:spPr>
          <a:xfrm>
            <a:off x="7426757" y="3145536"/>
            <a:ext cx="1896466" cy="1417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Topic conversation in breakout rooms.</a:t>
            </a:r>
            <a:endParaRPr lang="en-US" sz="1200" dirty="0"/>
          </a:p>
        </p:txBody>
      </p:sp>
      <p:sp>
        <p:nvSpPr>
          <p:cNvPr id="46" name="Text 43"/>
          <p:cNvSpPr txBox="1"/>
          <p:nvPr/>
        </p:nvSpPr>
        <p:spPr>
          <a:xfrm>
            <a:off x="7390181" y="4526280"/>
            <a:ext cx="1969618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E6B52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المُحَادَثَةُ</a:t>
            </a:r>
            <a:endParaRPr lang="ar-SA" sz="1500" dirty="0"/>
          </a:p>
        </p:txBody>
      </p:sp>
      <p:sp>
        <p:nvSpPr>
          <p:cNvPr id="47" name="Shape 44"/>
          <p:cNvSpPr/>
          <p:nvPr/>
        </p:nvSpPr>
        <p:spPr>
          <a:xfrm>
            <a:off x="9579254" y="1828800"/>
            <a:ext cx="2152498" cy="3246120"/>
          </a:xfrm>
          <a:prstGeom prst="roundRect">
            <a:avLst>
              <a:gd name="adj" fmla="val 3398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48" name="Shape 45"/>
          <p:cNvSpPr/>
          <p:nvPr/>
        </p:nvSpPr>
        <p:spPr>
          <a:xfrm>
            <a:off x="9688982" y="1938528"/>
            <a:ext cx="1933042" cy="566928"/>
          </a:xfrm>
          <a:prstGeom prst="roundRect">
            <a:avLst>
              <a:gd name="adj" fmla="val 9677"/>
            </a:avLst>
          </a:prstGeom>
          <a:solidFill>
            <a:srgbClr val="8A6D1E"/>
          </a:solidFill>
          <a:ln w="12700">
            <a:solidFill>
              <a:srgbClr val="8A6D1E"/>
            </a:solidFill>
            <a:prstDash val="solid"/>
          </a:ln>
        </p:spPr>
      </p:sp>
      <p:sp>
        <p:nvSpPr>
          <p:cNvPr id="49" name="Text 46"/>
          <p:cNvSpPr txBox="1"/>
          <p:nvPr/>
        </p:nvSpPr>
        <p:spPr>
          <a:xfrm>
            <a:off x="9725558" y="1956816"/>
            <a:ext cx="185989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FEEDBACK</a:t>
            </a:r>
            <a:endParaRPr lang="en-US" sz="1000" dirty="0"/>
          </a:p>
        </p:txBody>
      </p:sp>
      <p:sp>
        <p:nvSpPr>
          <p:cNvPr id="50" name="Text 47"/>
          <p:cNvSpPr txBox="1"/>
          <p:nvPr/>
        </p:nvSpPr>
        <p:spPr>
          <a:xfrm>
            <a:off x="9725558" y="2249424"/>
            <a:ext cx="185989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E8EDF5"/>
                </a:solidFill>
                <a:latin typeface="Calibri" pitchFamily="34" charset="0"/>
                <a:cs typeface="Amiri" pitchFamily="2" charset="-78"/>
              </a:rPr>
              <a:t>9 min</a:t>
            </a:r>
            <a:endParaRPr lang="en-US" sz="1000" dirty="0"/>
          </a:p>
        </p:txBody>
      </p:sp>
      <p:sp>
        <p:nvSpPr>
          <p:cNvPr id="51" name="Shape 48"/>
          <p:cNvSpPr/>
          <p:nvPr/>
        </p:nvSpPr>
        <p:spPr>
          <a:xfrm>
            <a:off x="10454335" y="2651760"/>
            <a:ext cx="402336" cy="402336"/>
          </a:xfrm>
          <a:prstGeom prst="ellipse">
            <a:avLst/>
          </a:prstGeom>
          <a:solidFill>
            <a:srgbClr val="F4F1EA"/>
          </a:solidFill>
          <a:ln w="12700">
            <a:solidFill>
              <a:srgbClr val="F4F1EA"/>
            </a:solidFill>
            <a:prstDash val="solid"/>
          </a:ln>
        </p:spPr>
      </p:sp>
      <p:sp>
        <p:nvSpPr>
          <p:cNvPr id="52" name="Text 49"/>
          <p:cNvSpPr txBox="1"/>
          <p:nvPr/>
        </p:nvSpPr>
        <p:spPr>
          <a:xfrm>
            <a:off x="10454335" y="2651760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5</a:t>
            </a:r>
            <a:endParaRPr lang="en-US" sz="1300" dirty="0"/>
          </a:p>
        </p:txBody>
      </p:sp>
      <p:sp>
        <p:nvSpPr>
          <p:cNvPr id="53" name="Text 50"/>
          <p:cNvSpPr txBox="1"/>
          <p:nvPr/>
        </p:nvSpPr>
        <p:spPr>
          <a:xfrm>
            <a:off x="9707270" y="3145536"/>
            <a:ext cx="1896466" cy="1417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Conversation models, feedback, self-check.</a:t>
            </a:r>
            <a:endParaRPr lang="en-US" sz="1200" dirty="0"/>
          </a:p>
        </p:txBody>
      </p:sp>
      <p:sp>
        <p:nvSpPr>
          <p:cNvPr id="54" name="Text 51"/>
          <p:cNvSpPr txBox="1"/>
          <p:nvPr/>
        </p:nvSpPr>
        <p:spPr>
          <a:xfrm>
            <a:off x="9670694" y="4526280"/>
            <a:ext cx="1969618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8A6D1E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قَيِّمْ</a:t>
            </a:r>
            <a:endParaRPr lang="ar-SA" sz="1500" dirty="0"/>
          </a:p>
        </p:txBody>
      </p:sp>
      <p:sp>
        <p:nvSpPr>
          <p:cNvPr id="55" name="Shape 52"/>
          <p:cNvSpPr/>
          <p:nvPr/>
        </p:nvSpPr>
        <p:spPr>
          <a:xfrm>
            <a:off x="457200" y="5285232"/>
            <a:ext cx="11274552" cy="1024128"/>
          </a:xfrm>
          <a:prstGeom prst="roundRect">
            <a:avLst>
              <a:gd name="adj" fmla="val 7143"/>
            </a:avLst>
          </a:prstGeom>
          <a:solidFill>
            <a:srgbClr val="E9F5EE"/>
          </a:solidFill>
          <a:ln w="9525">
            <a:solidFill>
              <a:srgbClr val="9CCFB0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56" name="Text 53"/>
          <p:cNvSpPr txBox="1"/>
          <p:nvPr/>
        </p:nvSpPr>
        <p:spPr>
          <a:xfrm>
            <a:off x="685800" y="5358384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200" kern="0" dirty="0">
                <a:solidFill>
                  <a:srgbClr val="1E6B52"/>
                </a:solidFill>
                <a:latin typeface="Calibri" pitchFamily="34" charset="0"/>
                <a:cs typeface="Amiri" pitchFamily="2" charset="-78"/>
              </a:rPr>
              <a:t>IF ARABIC FEELS HARD TODAY</a:t>
            </a:r>
            <a:endParaRPr lang="en-US" sz="1000" dirty="0"/>
          </a:p>
        </p:txBody>
      </p:sp>
      <p:sp>
        <p:nvSpPr>
          <p:cNvPr id="57" name="Text 54"/>
          <p:cNvSpPr txBox="1"/>
          <p:nvPr/>
        </p:nvSpPr>
        <p:spPr>
          <a:xfrm>
            <a:off x="685800" y="5632704"/>
            <a:ext cx="1088136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50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In the rooms everyone has a job: examiner, candidate or observer. You swap after each role play, so everybody speaks.</a:t>
            </a:r>
            <a:endParaRPr lang="en-US" sz="1250" dirty="0"/>
          </a:p>
        </p:txBody>
      </p:sp>
      <p:sp>
        <p:nvSpPr>
          <p:cNvPr id="58" name="Text 55"/>
          <p:cNvSpPr txBox="1"/>
          <p:nvPr/>
        </p:nvSpPr>
        <p:spPr>
          <a:xfrm>
            <a:off x="10360152" y="6455664"/>
            <a:ext cx="1371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3 / 25</a:t>
            </a:r>
            <a:endParaRPr lang="en-US" sz="85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D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237744"/>
            <a:ext cx="420624" cy="420624"/>
          </a:xfrm>
          <a:prstGeom prst="ellipse">
            <a:avLst/>
          </a:prstGeom>
          <a:solidFill>
            <a:srgbClr val="1B3B6F"/>
          </a:solidFill>
          <a:ln w="12700">
            <a:solidFill>
              <a:srgbClr val="D4AF37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457200" y="219456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D4AF37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م</a:t>
            </a:r>
            <a:endParaRPr lang="ar-SA" sz="18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3657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Al Madina Online School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57200"/>
            <a:ext cx="4572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ARABIC DEPARTMENT · MIFTAH ARABIC · IGCSE 0544</a:t>
            </a:r>
            <a:endParaRPr lang="en-US" sz="800" dirty="0"/>
          </a:p>
        </p:txBody>
      </p:sp>
      <p:sp>
        <p:nvSpPr>
          <p:cNvPr id="6" name="Shape 4"/>
          <p:cNvSpPr/>
          <p:nvPr/>
        </p:nvSpPr>
        <p:spPr>
          <a:xfrm>
            <a:off x="8897112" y="274320"/>
            <a:ext cx="2834640" cy="329184"/>
          </a:xfrm>
          <a:prstGeom prst="roundRect">
            <a:avLst>
              <a:gd name="adj" fmla="val 50000"/>
            </a:avLst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8897112" y="274320"/>
            <a:ext cx="28346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AT-A-L04 · Speaking workshop</a:t>
            </a:r>
            <a:endParaRPr lang="en-US" sz="950" dirty="0"/>
          </a:p>
        </p:txBody>
      </p:sp>
      <p:sp>
        <p:nvSpPr>
          <p:cNvPr id="8" name="Shape 6"/>
          <p:cNvSpPr/>
          <p:nvPr/>
        </p:nvSpPr>
        <p:spPr>
          <a:xfrm>
            <a:off x="6308446" y="274320"/>
            <a:ext cx="2451506" cy="329184"/>
          </a:xfrm>
          <a:prstGeom prst="roundRect">
            <a:avLst>
              <a:gd name="adj" fmla="val 50000"/>
            </a:avLst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6308446" y="274320"/>
            <a:ext cx="245150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TEACHER INSTRUCTION · 3 MIN</a:t>
            </a:r>
            <a:endParaRPr lang="en-US" sz="900" dirty="0"/>
          </a:p>
        </p:txBody>
      </p:sp>
      <p:sp>
        <p:nvSpPr>
          <p:cNvPr id="10" name="Text 8"/>
          <p:cNvSpPr txBox="1"/>
          <p:nvPr/>
        </p:nvSpPr>
        <p:spPr>
          <a:xfrm>
            <a:off x="457200" y="822960"/>
            <a:ext cx="69494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300" kern="0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TEACH · PAPER 3 SPEAKING</a:t>
            </a:r>
            <a:endParaRPr lang="en-US" sz="1000" dirty="0"/>
          </a:p>
        </p:txBody>
      </p:sp>
      <p:sp>
        <p:nvSpPr>
          <p:cNvPr id="11" name="Text 9"/>
          <p:cNvSpPr txBox="1"/>
          <p:nvPr/>
        </p:nvSpPr>
        <p:spPr>
          <a:xfrm>
            <a:off x="457200" y="1033272"/>
            <a:ext cx="69494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How the speaking exam works</a:t>
            </a:r>
            <a:endParaRPr lang="en-US" sz="2800" dirty="0"/>
          </a:p>
        </p:txBody>
      </p:sp>
      <p:sp>
        <p:nvSpPr>
          <p:cNvPr id="12" name="Text 10"/>
          <p:cNvSpPr txBox="1"/>
          <p:nvPr/>
        </p:nvSpPr>
        <p:spPr>
          <a:xfrm>
            <a:off x="7498080" y="868680"/>
            <a:ext cx="4233672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2800" b="1" dirty="0">
                <a:solidFill>
                  <a:srgbClr val="8A6D1E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امْتِحَانُ التَّحَدُّثِ</a:t>
            </a:r>
            <a:endParaRPr lang="ar-SA" sz="28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6455664"/>
            <a:ext cx="6400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Miftah Arabic · Topic A · Speaking workshop · AT-A-L04</a:t>
            </a:r>
            <a:endParaRPr lang="en-US" sz="850" dirty="0"/>
          </a:p>
        </p:txBody>
      </p:sp>
      <p:sp>
        <p:nvSpPr>
          <p:cNvPr id="15" name="Shape 12"/>
          <p:cNvSpPr/>
          <p:nvPr/>
        </p:nvSpPr>
        <p:spPr>
          <a:xfrm>
            <a:off x="457200" y="1810512"/>
            <a:ext cx="6172200" cy="4498848"/>
          </a:xfrm>
          <a:prstGeom prst="roundRect">
            <a:avLst>
              <a:gd name="adj" fmla="val 1626"/>
            </a:avLst>
          </a:prstGeom>
          <a:solidFill>
            <a:srgbClr val="F7F9FC"/>
          </a:solidFill>
          <a:ln w="9525">
            <a:solidFill>
              <a:srgbClr val="C9D6EA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16" name="Text 13"/>
          <p:cNvSpPr txBox="1"/>
          <p:nvPr/>
        </p:nvSpPr>
        <p:spPr>
          <a:xfrm>
            <a:off x="658368" y="1883664"/>
            <a:ext cx="5806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200" kern="0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THE TWO PARTS WE PRACTISE TODAY</a:t>
            </a:r>
            <a:endParaRPr lang="en-US" sz="1000" dirty="0"/>
          </a:p>
        </p:txBody>
      </p:sp>
      <p:sp>
        <p:nvSpPr>
          <p:cNvPr id="17" name="Shape 14"/>
          <p:cNvSpPr/>
          <p:nvPr/>
        </p:nvSpPr>
        <p:spPr>
          <a:xfrm>
            <a:off x="658368" y="2286000"/>
            <a:ext cx="310896" cy="310896"/>
          </a:xfrm>
          <a:prstGeom prst="ellipse">
            <a:avLst/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18" name="Text 15"/>
          <p:cNvSpPr txBox="1"/>
          <p:nvPr/>
        </p:nvSpPr>
        <p:spPr>
          <a:xfrm>
            <a:off x="658368" y="2286000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  <a:latin typeface="Calibri" pitchFamily="34" charset="0"/>
                <a:cs typeface="Amiri" pitchFamily="2" charset="-78"/>
              </a:rPr>
              <a:t>1</a:t>
            </a:r>
            <a:endParaRPr lang="en-US" sz="1100" dirty="0"/>
          </a:p>
        </p:txBody>
      </p:sp>
      <p:sp>
        <p:nvSpPr>
          <p:cNvPr id="19" name="Text 16"/>
          <p:cNvSpPr txBox="1"/>
          <p:nvPr/>
        </p:nvSpPr>
        <p:spPr>
          <a:xfrm>
            <a:off x="1078992" y="2176272"/>
            <a:ext cx="5394960" cy="9738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ROLE PLAY — a card with a situation and tasks. The examiner asks; you answer every task in a full, clear sentence. One task is unexpected (!).</a:t>
            </a:r>
            <a:endParaRPr lang="en-US" sz="1300" dirty="0"/>
          </a:p>
        </p:txBody>
      </p:sp>
      <p:sp>
        <p:nvSpPr>
          <p:cNvPr id="20" name="Shape 17"/>
          <p:cNvSpPr/>
          <p:nvPr/>
        </p:nvSpPr>
        <p:spPr>
          <a:xfrm>
            <a:off x="658368" y="3296412"/>
            <a:ext cx="310896" cy="310896"/>
          </a:xfrm>
          <a:prstGeom prst="ellipse">
            <a:avLst/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21" name="Text 18"/>
          <p:cNvSpPr txBox="1"/>
          <p:nvPr/>
        </p:nvSpPr>
        <p:spPr>
          <a:xfrm>
            <a:off x="658368" y="3296412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  <a:latin typeface="Calibri" pitchFamily="34" charset="0"/>
                <a:cs typeface="Amiri" pitchFamily="2" charset="-78"/>
              </a:rPr>
              <a:t>2</a:t>
            </a:r>
            <a:endParaRPr lang="en-US" sz="1100" dirty="0"/>
          </a:p>
        </p:txBody>
      </p:sp>
      <p:sp>
        <p:nvSpPr>
          <p:cNvPr id="22" name="Text 19"/>
          <p:cNvSpPr txBox="1"/>
          <p:nvPr/>
        </p:nvSpPr>
        <p:spPr>
          <a:xfrm>
            <a:off x="1078992" y="3186684"/>
            <a:ext cx="5394960" cy="9738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TOPIC CONVERSATION — the examiner asks questions about a topic you know. Short answers are not enough: develop each one.</a:t>
            </a:r>
            <a:endParaRPr lang="en-US" sz="1300" dirty="0"/>
          </a:p>
        </p:txBody>
      </p:sp>
      <p:sp>
        <p:nvSpPr>
          <p:cNvPr id="23" name="Shape 20"/>
          <p:cNvSpPr/>
          <p:nvPr/>
        </p:nvSpPr>
        <p:spPr>
          <a:xfrm>
            <a:off x="658368" y="4306824"/>
            <a:ext cx="310896" cy="310896"/>
          </a:xfrm>
          <a:prstGeom prst="ellipse">
            <a:avLst/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24" name="Text 21"/>
          <p:cNvSpPr txBox="1"/>
          <p:nvPr/>
        </p:nvSpPr>
        <p:spPr>
          <a:xfrm>
            <a:off x="658368" y="4306824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  <a:latin typeface="Calibri" pitchFamily="34" charset="0"/>
                <a:cs typeface="Amiri" pitchFamily="2" charset="-78"/>
              </a:rPr>
              <a:t>3</a:t>
            </a:r>
            <a:endParaRPr lang="en-US" sz="1100" dirty="0"/>
          </a:p>
        </p:txBody>
      </p:sp>
      <p:sp>
        <p:nvSpPr>
          <p:cNvPr id="25" name="Text 22"/>
          <p:cNvSpPr txBox="1"/>
          <p:nvPr/>
        </p:nvSpPr>
        <p:spPr>
          <a:xfrm>
            <a:off x="1078992" y="4197096"/>
            <a:ext cx="5394960" cy="9738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Examiners reward: completing the tasks, a range of language (tenses, linking words, opinions) and accuracy.</a:t>
            </a:r>
            <a:endParaRPr lang="en-US" sz="1300" dirty="0"/>
          </a:p>
        </p:txBody>
      </p:sp>
      <p:sp>
        <p:nvSpPr>
          <p:cNvPr id="26" name="Shape 23"/>
          <p:cNvSpPr/>
          <p:nvPr/>
        </p:nvSpPr>
        <p:spPr>
          <a:xfrm>
            <a:off x="658368" y="5317236"/>
            <a:ext cx="310896" cy="310896"/>
          </a:xfrm>
          <a:prstGeom prst="ellipse">
            <a:avLst/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27" name="Text 24"/>
          <p:cNvSpPr txBox="1"/>
          <p:nvPr/>
        </p:nvSpPr>
        <p:spPr>
          <a:xfrm>
            <a:off x="658368" y="5317236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  <a:latin typeface="Calibri" pitchFamily="34" charset="0"/>
                <a:cs typeface="Amiri" pitchFamily="2" charset="-78"/>
              </a:rPr>
              <a:t>4</a:t>
            </a:r>
            <a:endParaRPr lang="en-US" sz="1100" dirty="0"/>
          </a:p>
        </p:txBody>
      </p:sp>
      <p:sp>
        <p:nvSpPr>
          <p:cNvPr id="28" name="Text 25"/>
          <p:cNvSpPr txBox="1"/>
          <p:nvPr/>
        </p:nvSpPr>
        <p:spPr>
          <a:xfrm>
            <a:off x="1078992" y="5207508"/>
            <a:ext cx="5394960" cy="9738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Never stay silent — use a repair phrase and keep going.</a:t>
            </a:r>
            <a:endParaRPr lang="en-US" sz="1300" dirty="0"/>
          </a:p>
        </p:txBody>
      </p:sp>
      <p:sp>
        <p:nvSpPr>
          <p:cNvPr id="29" name="Shape 26"/>
          <p:cNvSpPr/>
          <p:nvPr/>
        </p:nvSpPr>
        <p:spPr>
          <a:xfrm>
            <a:off x="6812280" y="1810512"/>
            <a:ext cx="4919472" cy="4498848"/>
          </a:xfrm>
          <a:prstGeom prst="roundRect">
            <a:avLst>
              <a:gd name="adj" fmla="val 1626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30" name="Text 27"/>
          <p:cNvSpPr txBox="1"/>
          <p:nvPr/>
        </p:nvSpPr>
        <p:spPr>
          <a:xfrm>
            <a:off x="6995160" y="1883664"/>
            <a:ext cx="455371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200" kern="0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REPAIR PHRASES</a:t>
            </a:r>
            <a:endParaRPr lang="en-US" sz="1000" dirty="0"/>
          </a:p>
        </p:txBody>
      </p:sp>
      <p:sp>
        <p:nvSpPr>
          <p:cNvPr id="31" name="Text 28"/>
          <p:cNvSpPr txBox="1"/>
          <p:nvPr/>
        </p:nvSpPr>
        <p:spPr>
          <a:xfrm>
            <a:off x="6949440" y="2194560"/>
            <a:ext cx="4645152" cy="7612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28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عَفْوًا، هَلْ يُمْكِنُ أَنْ تُعِيدَ السُّؤَالَ؟</a:t>
            </a:r>
            <a:endParaRPr lang="ar-SA" sz="2800" dirty="0"/>
          </a:p>
        </p:txBody>
      </p:sp>
      <p:sp>
        <p:nvSpPr>
          <p:cNvPr id="32" name="Text 29"/>
          <p:cNvSpPr txBox="1"/>
          <p:nvPr/>
        </p:nvSpPr>
        <p:spPr>
          <a:xfrm>
            <a:off x="6949440" y="2955828"/>
            <a:ext cx="4645152" cy="5437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Sorry, could you repeat the question?</a:t>
            </a:r>
            <a:endParaRPr lang="en-US" sz="1100" dirty="0"/>
          </a:p>
        </p:txBody>
      </p:sp>
      <p:sp>
        <p:nvSpPr>
          <p:cNvPr id="33" name="Shape 30"/>
          <p:cNvSpPr/>
          <p:nvPr/>
        </p:nvSpPr>
        <p:spPr>
          <a:xfrm>
            <a:off x="6995160" y="3535680"/>
            <a:ext cx="4553712" cy="0"/>
          </a:xfrm>
          <a:prstGeom prst="line">
            <a:avLst/>
          </a:prstGeom>
          <a:noFill/>
          <a:ln w="9525">
            <a:solidFill>
              <a:srgbClr val="E4DCCB"/>
            </a:solidFill>
            <a:prstDash val="dash"/>
          </a:ln>
        </p:spPr>
      </p:sp>
      <p:sp>
        <p:nvSpPr>
          <p:cNvPr id="34" name="Text 31"/>
          <p:cNvSpPr txBox="1"/>
          <p:nvPr/>
        </p:nvSpPr>
        <p:spPr>
          <a:xfrm>
            <a:off x="6949440" y="3553968"/>
            <a:ext cx="4645152" cy="7612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28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لَحْظَةً، دَعْنِي أُفَكِّرُ …</a:t>
            </a:r>
            <a:endParaRPr lang="ar-SA" sz="2800" dirty="0"/>
          </a:p>
        </p:txBody>
      </p:sp>
      <p:sp>
        <p:nvSpPr>
          <p:cNvPr id="35" name="Text 32"/>
          <p:cNvSpPr txBox="1"/>
          <p:nvPr/>
        </p:nvSpPr>
        <p:spPr>
          <a:xfrm>
            <a:off x="6949440" y="4315236"/>
            <a:ext cx="4645152" cy="5437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One moment, let me think …</a:t>
            </a:r>
            <a:endParaRPr lang="en-US" sz="1100" dirty="0"/>
          </a:p>
        </p:txBody>
      </p:sp>
      <p:sp>
        <p:nvSpPr>
          <p:cNvPr id="36" name="Shape 33"/>
          <p:cNvSpPr/>
          <p:nvPr/>
        </p:nvSpPr>
        <p:spPr>
          <a:xfrm>
            <a:off x="6995160" y="4895088"/>
            <a:ext cx="4553712" cy="0"/>
          </a:xfrm>
          <a:prstGeom prst="line">
            <a:avLst/>
          </a:prstGeom>
          <a:noFill/>
          <a:ln w="9525">
            <a:solidFill>
              <a:srgbClr val="E4DCCB"/>
            </a:solidFill>
            <a:prstDash val="dash"/>
          </a:ln>
        </p:spPr>
      </p:sp>
      <p:sp>
        <p:nvSpPr>
          <p:cNvPr id="37" name="Text 34"/>
          <p:cNvSpPr txBox="1"/>
          <p:nvPr/>
        </p:nvSpPr>
        <p:spPr>
          <a:xfrm>
            <a:off x="6949440" y="4913376"/>
            <a:ext cx="4645152" cy="7612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28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أَقْصِدُ …</a:t>
            </a:r>
            <a:endParaRPr lang="ar-SA" sz="2800" dirty="0"/>
          </a:p>
        </p:txBody>
      </p:sp>
      <p:sp>
        <p:nvSpPr>
          <p:cNvPr id="38" name="Text 35"/>
          <p:cNvSpPr txBox="1"/>
          <p:nvPr/>
        </p:nvSpPr>
        <p:spPr>
          <a:xfrm>
            <a:off x="6949440" y="5674644"/>
            <a:ext cx="4645152" cy="5437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I mean …</a:t>
            </a:r>
            <a:endParaRPr lang="en-US" sz="1100" dirty="0"/>
          </a:p>
        </p:txBody>
      </p:sp>
      <p:sp>
        <p:nvSpPr>
          <p:cNvPr id="39" name="Text 36"/>
          <p:cNvSpPr txBox="1"/>
          <p:nvPr/>
        </p:nvSpPr>
        <p:spPr>
          <a:xfrm>
            <a:off x="10360152" y="6455664"/>
            <a:ext cx="1371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4 / 25</a:t>
            </a:r>
            <a:endParaRPr lang="en-US" sz="8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D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237744"/>
            <a:ext cx="420624" cy="420624"/>
          </a:xfrm>
          <a:prstGeom prst="ellipse">
            <a:avLst/>
          </a:prstGeom>
          <a:solidFill>
            <a:srgbClr val="1B3B6F"/>
          </a:solidFill>
          <a:ln w="12700">
            <a:solidFill>
              <a:srgbClr val="D4AF37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457200" y="219456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D4AF37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م</a:t>
            </a:r>
            <a:endParaRPr lang="ar-SA" sz="18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3657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Al Madina Online School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57200"/>
            <a:ext cx="4572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ARABIC DEPARTMENT · MIFTAH ARABIC · IGCSE 0544</a:t>
            </a:r>
            <a:endParaRPr lang="en-US" sz="800" dirty="0"/>
          </a:p>
        </p:txBody>
      </p:sp>
      <p:sp>
        <p:nvSpPr>
          <p:cNvPr id="6" name="Shape 4"/>
          <p:cNvSpPr/>
          <p:nvPr/>
        </p:nvSpPr>
        <p:spPr>
          <a:xfrm>
            <a:off x="8897112" y="274320"/>
            <a:ext cx="2834640" cy="329184"/>
          </a:xfrm>
          <a:prstGeom prst="roundRect">
            <a:avLst>
              <a:gd name="adj" fmla="val 50000"/>
            </a:avLst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8897112" y="274320"/>
            <a:ext cx="28346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AT-A-L04 · Speaking workshop</a:t>
            </a:r>
            <a:endParaRPr lang="en-US" sz="950" dirty="0"/>
          </a:p>
        </p:txBody>
      </p:sp>
      <p:sp>
        <p:nvSpPr>
          <p:cNvPr id="8" name="Shape 6"/>
          <p:cNvSpPr/>
          <p:nvPr/>
        </p:nvSpPr>
        <p:spPr>
          <a:xfrm>
            <a:off x="6308446" y="274320"/>
            <a:ext cx="2451506" cy="329184"/>
          </a:xfrm>
          <a:prstGeom prst="roundRect">
            <a:avLst>
              <a:gd name="adj" fmla="val 50000"/>
            </a:avLst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6308446" y="274320"/>
            <a:ext cx="245150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TEACHER INSTRUCTION · 2 MIN</a:t>
            </a:r>
            <a:endParaRPr lang="en-US" sz="900" dirty="0"/>
          </a:p>
        </p:txBody>
      </p:sp>
      <p:sp>
        <p:nvSpPr>
          <p:cNvPr id="10" name="Text 8"/>
          <p:cNvSpPr txBox="1"/>
          <p:nvPr/>
        </p:nvSpPr>
        <p:spPr>
          <a:xfrm>
            <a:off x="457200" y="822960"/>
            <a:ext cx="69494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3" b="1" spc="150" kern="0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LANGUAGE BANK · FOOD VERBS (I · HE · SHE · THEY) AND NOUNS (SG. · DUAL · PL.)</a:t>
            </a:r>
            <a:endParaRPr lang="en-US" sz="903" dirty="0"/>
          </a:p>
        </p:txBody>
      </p:sp>
      <p:sp>
        <p:nvSpPr>
          <p:cNvPr id="11" name="Text 9"/>
          <p:cNvSpPr txBox="1"/>
          <p:nvPr/>
        </p:nvSpPr>
        <p:spPr>
          <a:xfrm>
            <a:off x="457200" y="1033272"/>
            <a:ext cx="69494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Eat, drink, prefer, cook</a:t>
            </a:r>
            <a:endParaRPr lang="en-US" sz="2800" dirty="0"/>
          </a:p>
        </p:txBody>
      </p:sp>
      <p:sp>
        <p:nvSpPr>
          <p:cNvPr id="12" name="Text 10"/>
          <p:cNvSpPr txBox="1"/>
          <p:nvPr/>
        </p:nvSpPr>
        <p:spPr>
          <a:xfrm>
            <a:off x="7498080" y="868680"/>
            <a:ext cx="4233672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2800" b="1" dirty="0">
                <a:solidFill>
                  <a:srgbClr val="8A6D1E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أَفْعَالُ الطَّعَامِ</a:t>
            </a:r>
            <a:endParaRPr lang="ar-SA" sz="28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6455664"/>
            <a:ext cx="6400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Miftah Arabic · Topic A · Speaking workshop · AT-A-L04</a:t>
            </a:r>
            <a:endParaRPr lang="en-US" sz="850" dirty="0"/>
          </a:p>
        </p:txBody>
      </p:sp>
      <p:sp>
        <p:nvSpPr>
          <p:cNvPr id="15" name="Shape 12"/>
          <p:cNvSpPr/>
          <p:nvPr/>
        </p:nvSpPr>
        <p:spPr>
          <a:xfrm>
            <a:off x="8101584" y="1810512"/>
            <a:ext cx="3639312" cy="2157984"/>
          </a:xfrm>
          <a:prstGeom prst="roundRect">
            <a:avLst>
              <a:gd name="adj" fmla="val 3390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16" name="Shape 13"/>
          <p:cNvSpPr/>
          <p:nvPr/>
        </p:nvSpPr>
        <p:spPr>
          <a:xfrm>
            <a:off x="8211312" y="1920240"/>
            <a:ext cx="310896" cy="310896"/>
          </a:xfrm>
          <a:prstGeom prst="ellipse">
            <a:avLst/>
          </a:prstGeom>
          <a:solidFill>
            <a:srgbClr val="F4F1EA"/>
          </a:solidFill>
          <a:ln w="12700">
            <a:solidFill>
              <a:srgbClr val="F4F1EA"/>
            </a:solidFill>
            <a:prstDash val="solid"/>
          </a:ln>
        </p:spPr>
      </p:sp>
      <p:sp>
        <p:nvSpPr>
          <p:cNvPr id="17" name="Text 14"/>
          <p:cNvSpPr txBox="1"/>
          <p:nvPr/>
        </p:nvSpPr>
        <p:spPr>
          <a:xfrm>
            <a:off x="8211312" y="1920240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1</a:t>
            </a:r>
            <a:endParaRPr lang="en-US" sz="1000" dirty="0"/>
          </a:p>
        </p:txBody>
      </p:sp>
      <p:sp>
        <p:nvSpPr>
          <p:cNvPr id="18" name="Shape 15"/>
          <p:cNvSpPr/>
          <p:nvPr/>
        </p:nvSpPr>
        <p:spPr>
          <a:xfrm>
            <a:off x="8604504" y="1938528"/>
            <a:ext cx="1207008" cy="256032"/>
          </a:xfrm>
          <a:prstGeom prst="roundRect">
            <a:avLst>
              <a:gd name="adj" fmla="val 50000"/>
            </a:avLst>
          </a:prstGeom>
          <a:solidFill>
            <a:srgbClr val="EFE7D2"/>
          </a:solidFill>
          <a:ln w="12700">
            <a:solidFill>
              <a:srgbClr val="EFE7D2"/>
            </a:solidFill>
            <a:prstDash val="solid"/>
          </a:ln>
        </p:spPr>
      </p:sp>
      <p:sp>
        <p:nvSpPr>
          <p:cNvPr id="19" name="Text 16"/>
          <p:cNvSpPr txBox="1"/>
          <p:nvPr/>
        </p:nvSpPr>
        <p:spPr>
          <a:xfrm>
            <a:off x="8604504" y="1938528"/>
            <a:ext cx="120700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he · she · they</a:t>
            </a:r>
            <a:endParaRPr lang="en-US" sz="800" dirty="0"/>
          </a:p>
        </p:txBody>
      </p:sp>
      <p:sp>
        <p:nvSpPr>
          <p:cNvPr id="20" name="Shape 17"/>
          <p:cNvSpPr/>
          <p:nvPr/>
        </p:nvSpPr>
        <p:spPr>
          <a:xfrm>
            <a:off x="10872216" y="1938528"/>
            <a:ext cx="731520" cy="256032"/>
          </a:xfrm>
          <a:prstGeom prst="roundRect">
            <a:avLst>
              <a:gd name="adj" fmla="val 50000"/>
            </a:avLst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21" name="Text 18"/>
          <p:cNvSpPr txBox="1"/>
          <p:nvPr/>
        </p:nvSpPr>
        <p:spPr>
          <a:xfrm>
            <a:off x="10872216" y="1938528"/>
            <a:ext cx="7315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CORE</a:t>
            </a:r>
            <a:endParaRPr lang="en-US" sz="800" dirty="0"/>
          </a:p>
        </p:txBody>
      </p:sp>
      <p:sp>
        <p:nvSpPr>
          <p:cNvPr id="22" name="Text 19"/>
          <p:cNvSpPr txBox="1"/>
          <p:nvPr/>
        </p:nvSpPr>
        <p:spPr>
          <a:xfrm>
            <a:off x="8211312" y="2212848"/>
            <a:ext cx="3401568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30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آكُلُ</a:t>
            </a:r>
            <a:endParaRPr lang="ar-SA" sz="3000" dirty="0"/>
          </a:p>
        </p:txBody>
      </p:sp>
      <p:sp>
        <p:nvSpPr>
          <p:cNvPr id="23" name="Text 20"/>
          <p:cNvSpPr txBox="1"/>
          <p:nvPr/>
        </p:nvSpPr>
        <p:spPr>
          <a:xfrm>
            <a:off x="8238744" y="2907792"/>
            <a:ext cx="3364992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b="1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I eat</a:t>
            </a:r>
            <a:endParaRPr lang="en-US" sz="1350" dirty="0"/>
          </a:p>
          <a:p>
            <a:pPr indent="0" marL="0">
              <a:buNone/>
            </a:pPr>
            <a:r>
              <a:rPr lang="en-US" sz="110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ā-ku-lu</a:t>
            </a:r>
            <a:endParaRPr lang="en-US" sz="1350" dirty="0"/>
          </a:p>
        </p:txBody>
      </p:sp>
      <p:sp>
        <p:nvSpPr>
          <p:cNvPr id="24" name="Shape 21"/>
          <p:cNvSpPr/>
          <p:nvPr/>
        </p:nvSpPr>
        <p:spPr>
          <a:xfrm>
            <a:off x="10543032" y="3438144"/>
            <a:ext cx="1060704" cy="438912"/>
          </a:xfrm>
          <a:prstGeom prst="roundRect">
            <a:avLst>
              <a:gd name="adj" fmla="val 10417"/>
            </a:avLst>
          </a:prstGeom>
          <a:solidFill>
            <a:srgbClr val="F4F1EA"/>
          </a:solidFill>
          <a:ln w="9525">
            <a:solidFill>
              <a:srgbClr val="F4F1EA"/>
            </a:solidFill>
            <a:prstDash val="solid"/>
          </a:ln>
        </p:spPr>
      </p:sp>
      <p:sp>
        <p:nvSpPr>
          <p:cNvPr id="25" name="Text 22"/>
          <p:cNvSpPr txBox="1"/>
          <p:nvPr/>
        </p:nvSpPr>
        <p:spPr>
          <a:xfrm>
            <a:off x="10597896" y="3447288"/>
            <a:ext cx="950976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00" b="1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they</a:t>
            </a:r>
            <a:endParaRPr lang="en-US" sz="700" dirty="0"/>
          </a:p>
        </p:txBody>
      </p:sp>
      <p:sp>
        <p:nvSpPr>
          <p:cNvPr id="26" name="Text 23"/>
          <p:cNvSpPr txBox="1"/>
          <p:nvPr/>
        </p:nvSpPr>
        <p:spPr>
          <a:xfrm>
            <a:off x="10588752" y="3575304"/>
            <a:ext cx="96926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35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يَأْكُلُونَ</a:t>
            </a:r>
            <a:endParaRPr lang="ar-SA" sz="1350" dirty="0"/>
          </a:p>
        </p:txBody>
      </p:sp>
      <p:sp>
        <p:nvSpPr>
          <p:cNvPr id="27" name="Shape 24"/>
          <p:cNvSpPr/>
          <p:nvPr/>
        </p:nvSpPr>
        <p:spPr>
          <a:xfrm>
            <a:off x="9390888" y="3438144"/>
            <a:ext cx="1060704" cy="438912"/>
          </a:xfrm>
          <a:prstGeom prst="roundRect">
            <a:avLst>
              <a:gd name="adj" fmla="val 10417"/>
            </a:avLst>
          </a:prstGeom>
          <a:solidFill>
            <a:srgbClr val="F4F1EA"/>
          </a:solidFill>
          <a:ln w="9525">
            <a:solidFill>
              <a:srgbClr val="F4F1EA"/>
            </a:solidFill>
            <a:prstDash val="solid"/>
          </a:ln>
        </p:spPr>
      </p:sp>
      <p:sp>
        <p:nvSpPr>
          <p:cNvPr id="28" name="Text 25"/>
          <p:cNvSpPr txBox="1"/>
          <p:nvPr/>
        </p:nvSpPr>
        <p:spPr>
          <a:xfrm>
            <a:off x="9445752" y="3447288"/>
            <a:ext cx="950976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50" b="1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she</a:t>
            </a:r>
            <a:endParaRPr lang="en-US" sz="750" dirty="0"/>
          </a:p>
        </p:txBody>
      </p:sp>
      <p:sp>
        <p:nvSpPr>
          <p:cNvPr id="29" name="Text 26"/>
          <p:cNvSpPr txBox="1"/>
          <p:nvPr/>
        </p:nvSpPr>
        <p:spPr>
          <a:xfrm>
            <a:off x="9436608" y="3483864"/>
            <a:ext cx="96926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تَأْكُلُ</a:t>
            </a:r>
            <a:endParaRPr lang="ar-SA" sz="1500" dirty="0"/>
          </a:p>
        </p:txBody>
      </p:sp>
      <p:sp>
        <p:nvSpPr>
          <p:cNvPr id="30" name="Shape 27"/>
          <p:cNvSpPr/>
          <p:nvPr/>
        </p:nvSpPr>
        <p:spPr>
          <a:xfrm>
            <a:off x="8238744" y="3438144"/>
            <a:ext cx="1060704" cy="438912"/>
          </a:xfrm>
          <a:prstGeom prst="roundRect">
            <a:avLst>
              <a:gd name="adj" fmla="val 10417"/>
            </a:avLst>
          </a:prstGeom>
          <a:solidFill>
            <a:srgbClr val="F4F1EA"/>
          </a:solidFill>
          <a:ln w="9525">
            <a:solidFill>
              <a:srgbClr val="F4F1EA"/>
            </a:solidFill>
            <a:prstDash val="solid"/>
          </a:ln>
        </p:spPr>
      </p:sp>
      <p:sp>
        <p:nvSpPr>
          <p:cNvPr id="31" name="Text 28"/>
          <p:cNvSpPr txBox="1"/>
          <p:nvPr/>
        </p:nvSpPr>
        <p:spPr>
          <a:xfrm>
            <a:off x="8293608" y="3447288"/>
            <a:ext cx="950976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50" b="1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he</a:t>
            </a:r>
            <a:endParaRPr lang="en-US" sz="750" dirty="0"/>
          </a:p>
        </p:txBody>
      </p:sp>
      <p:sp>
        <p:nvSpPr>
          <p:cNvPr id="32" name="Text 29"/>
          <p:cNvSpPr txBox="1"/>
          <p:nvPr/>
        </p:nvSpPr>
        <p:spPr>
          <a:xfrm>
            <a:off x="8284464" y="3483864"/>
            <a:ext cx="96926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يَأْكُلُ</a:t>
            </a:r>
            <a:endParaRPr lang="ar-SA" sz="1500" dirty="0"/>
          </a:p>
        </p:txBody>
      </p:sp>
      <p:sp>
        <p:nvSpPr>
          <p:cNvPr id="33" name="Shape 30"/>
          <p:cNvSpPr/>
          <p:nvPr/>
        </p:nvSpPr>
        <p:spPr>
          <a:xfrm>
            <a:off x="4279392" y="1810512"/>
            <a:ext cx="3639312" cy="2157984"/>
          </a:xfrm>
          <a:prstGeom prst="roundRect">
            <a:avLst>
              <a:gd name="adj" fmla="val 3390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34" name="Shape 31"/>
          <p:cNvSpPr/>
          <p:nvPr/>
        </p:nvSpPr>
        <p:spPr>
          <a:xfrm>
            <a:off x="4389120" y="1920240"/>
            <a:ext cx="310896" cy="310896"/>
          </a:xfrm>
          <a:prstGeom prst="ellipse">
            <a:avLst/>
          </a:prstGeom>
          <a:solidFill>
            <a:srgbClr val="F4F1EA"/>
          </a:solidFill>
          <a:ln w="12700">
            <a:solidFill>
              <a:srgbClr val="F4F1EA"/>
            </a:solidFill>
            <a:prstDash val="solid"/>
          </a:ln>
        </p:spPr>
      </p:sp>
      <p:sp>
        <p:nvSpPr>
          <p:cNvPr id="35" name="Text 32"/>
          <p:cNvSpPr txBox="1"/>
          <p:nvPr/>
        </p:nvSpPr>
        <p:spPr>
          <a:xfrm>
            <a:off x="4389120" y="1920240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2</a:t>
            </a:r>
            <a:endParaRPr lang="en-US" sz="1000" dirty="0"/>
          </a:p>
        </p:txBody>
      </p:sp>
      <p:sp>
        <p:nvSpPr>
          <p:cNvPr id="36" name="Shape 33"/>
          <p:cNvSpPr/>
          <p:nvPr/>
        </p:nvSpPr>
        <p:spPr>
          <a:xfrm>
            <a:off x="4782312" y="1938528"/>
            <a:ext cx="1207008" cy="256032"/>
          </a:xfrm>
          <a:prstGeom prst="roundRect">
            <a:avLst>
              <a:gd name="adj" fmla="val 50000"/>
            </a:avLst>
          </a:prstGeom>
          <a:solidFill>
            <a:srgbClr val="EFE7D2"/>
          </a:solidFill>
          <a:ln w="12700">
            <a:solidFill>
              <a:srgbClr val="EFE7D2"/>
            </a:solidFill>
            <a:prstDash val="solid"/>
          </a:ln>
        </p:spPr>
      </p:sp>
      <p:sp>
        <p:nvSpPr>
          <p:cNvPr id="37" name="Text 34"/>
          <p:cNvSpPr txBox="1"/>
          <p:nvPr/>
        </p:nvSpPr>
        <p:spPr>
          <a:xfrm>
            <a:off x="4782312" y="1938528"/>
            <a:ext cx="120700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he · she · they</a:t>
            </a:r>
            <a:endParaRPr lang="en-US" sz="800" dirty="0"/>
          </a:p>
        </p:txBody>
      </p:sp>
      <p:sp>
        <p:nvSpPr>
          <p:cNvPr id="38" name="Shape 35"/>
          <p:cNvSpPr/>
          <p:nvPr/>
        </p:nvSpPr>
        <p:spPr>
          <a:xfrm>
            <a:off x="7050024" y="1938528"/>
            <a:ext cx="731520" cy="256032"/>
          </a:xfrm>
          <a:prstGeom prst="roundRect">
            <a:avLst>
              <a:gd name="adj" fmla="val 50000"/>
            </a:avLst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39" name="Text 36"/>
          <p:cNvSpPr txBox="1"/>
          <p:nvPr/>
        </p:nvSpPr>
        <p:spPr>
          <a:xfrm>
            <a:off x="7050024" y="1938528"/>
            <a:ext cx="7315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CORE</a:t>
            </a:r>
            <a:endParaRPr lang="en-US" sz="800" dirty="0"/>
          </a:p>
        </p:txBody>
      </p:sp>
      <p:sp>
        <p:nvSpPr>
          <p:cNvPr id="40" name="Text 37"/>
          <p:cNvSpPr txBox="1"/>
          <p:nvPr/>
        </p:nvSpPr>
        <p:spPr>
          <a:xfrm>
            <a:off x="4389120" y="2212848"/>
            <a:ext cx="3401568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30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أَشْرَبُ</a:t>
            </a:r>
            <a:endParaRPr lang="ar-SA" sz="3000" dirty="0"/>
          </a:p>
        </p:txBody>
      </p:sp>
      <p:sp>
        <p:nvSpPr>
          <p:cNvPr id="41" name="Text 38"/>
          <p:cNvSpPr txBox="1"/>
          <p:nvPr/>
        </p:nvSpPr>
        <p:spPr>
          <a:xfrm>
            <a:off x="4416552" y="2907792"/>
            <a:ext cx="3364992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b="1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I drink</a:t>
            </a:r>
            <a:endParaRPr lang="en-US" sz="1350" dirty="0"/>
          </a:p>
          <a:p>
            <a:pPr indent="0" marL="0">
              <a:buNone/>
            </a:pPr>
            <a:r>
              <a:rPr lang="en-US" sz="110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ash-ra-bu</a:t>
            </a:r>
            <a:endParaRPr lang="en-US" sz="1350" dirty="0"/>
          </a:p>
        </p:txBody>
      </p:sp>
      <p:sp>
        <p:nvSpPr>
          <p:cNvPr id="42" name="Shape 39"/>
          <p:cNvSpPr/>
          <p:nvPr/>
        </p:nvSpPr>
        <p:spPr>
          <a:xfrm>
            <a:off x="6720840" y="3438144"/>
            <a:ext cx="1060704" cy="438912"/>
          </a:xfrm>
          <a:prstGeom prst="roundRect">
            <a:avLst>
              <a:gd name="adj" fmla="val 10417"/>
            </a:avLst>
          </a:prstGeom>
          <a:solidFill>
            <a:srgbClr val="F4F1EA"/>
          </a:solidFill>
          <a:ln w="9525">
            <a:solidFill>
              <a:srgbClr val="F4F1EA"/>
            </a:solidFill>
            <a:prstDash val="solid"/>
          </a:ln>
        </p:spPr>
      </p:sp>
      <p:sp>
        <p:nvSpPr>
          <p:cNvPr id="43" name="Text 40"/>
          <p:cNvSpPr txBox="1"/>
          <p:nvPr/>
        </p:nvSpPr>
        <p:spPr>
          <a:xfrm>
            <a:off x="6775704" y="3447288"/>
            <a:ext cx="950976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00" b="1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they</a:t>
            </a:r>
            <a:endParaRPr lang="en-US" sz="700" dirty="0"/>
          </a:p>
        </p:txBody>
      </p:sp>
      <p:sp>
        <p:nvSpPr>
          <p:cNvPr id="44" name="Text 41"/>
          <p:cNvSpPr txBox="1"/>
          <p:nvPr/>
        </p:nvSpPr>
        <p:spPr>
          <a:xfrm>
            <a:off x="6766560" y="3575304"/>
            <a:ext cx="96926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35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يَشْرَبُونَ</a:t>
            </a:r>
            <a:endParaRPr lang="ar-SA" sz="1350" dirty="0"/>
          </a:p>
        </p:txBody>
      </p:sp>
      <p:sp>
        <p:nvSpPr>
          <p:cNvPr id="45" name="Shape 42"/>
          <p:cNvSpPr/>
          <p:nvPr/>
        </p:nvSpPr>
        <p:spPr>
          <a:xfrm>
            <a:off x="5568696" y="3438144"/>
            <a:ext cx="1060704" cy="438912"/>
          </a:xfrm>
          <a:prstGeom prst="roundRect">
            <a:avLst>
              <a:gd name="adj" fmla="val 10417"/>
            </a:avLst>
          </a:prstGeom>
          <a:solidFill>
            <a:srgbClr val="F4F1EA"/>
          </a:solidFill>
          <a:ln w="9525">
            <a:solidFill>
              <a:srgbClr val="F4F1EA"/>
            </a:solidFill>
            <a:prstDash val="solid"/>
          </a:ln>
        </p:spPr>
      </p:sp>
      <p:sp>
        <p:nvSpPr>
          <p:cNvPr id="46" name="Text 43"/>
          <p:cNvSpPr txBox="1"/>
          <p:nvPr/>
        </p:nvSpPr>
        <p:spPr>
          <a:xfrm>
            <a:off x="5623560" y="3447288"/>
            <a:ext cx="950976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50" b="1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she</a:t>
            </a:r>
            <a:endParaRPr lang="en-US" sz="750" dirty="0"/>
          </a:p>
        </p:txBody>
      </p:sp>
      <p:sp>
        <p:nvSpPr>
          <p:cNvPr id="47" name="Text 44"/>
          <p:cNvSpPr txBox="1"/>
          <p:nvPr/>
        </p:nvSpPr>
        <p:spPr>
          <a:xfrm>
            <a:off x="5614416" y="3483864"/>
            <a:ext cx="96926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تَشْرَبُ</a:t>
            </a:r>
            <a:endParaRPr lang="ar-SA" sz="1500" dirty="0"/>
          </a:p>
        </p:txBody>
      </p:sp>
      <p:sp>
        <p:nvSpPr>
          <p:cNvPr id="48" name="Shape 45"/>
          <p:cNvSpPr/>
          <p:nvPr/>
        </p:nvSpPr>
        <p:spPr>
          <a:xfrm>
            <a:off x="4416552" y="3438144"/>
            <a:ext cx="1060704" cy="438912"/>
          </a:xfrm>
          <a:prstGeom prst="roundRect">
            <a:avLst>
              <a:gd name="adj" fmla="val 10417"/>
            </a:avLst>
          </a:prstGeom>
          <a:solidFill>
            <a:srgbClr val="F4F1EA"/>
          </a:solidFill>
          <a:ln w="9525">
            <a:solidFill>
              <a:srgbClr val="F4F1EA"/>
            </a:solidFill>
            <a:prstDash val="solid"/>
          </a:ln>
        </p:spPr>
      </p:sp>
      <p:sp>
        <p:nvSpPr>
          <p:cNvPr id="49" name="Text 46"/>
          <p:cNvSpPr txBox="1"/>
          <p:nvPr/>
        </p:nvSpPr>
        <p:spPr>
          <a:xfrm>
            <a:off x="4471416" y="3447288"/>
            <a:ext cx="950976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50" b="1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he</a:t>
            </a:r>
            <a:endParaRPr lang="en-US" sz="750" dirty="0"/>
          </a:p>
        </p:txBody>
      </p:sp>
      <p:sp>
        <p:nvSpPr>
          <p:cNvPr id="50" name="Text 47"/>
          <p:cNvSpPr txBox="1"/>
          <p:nvPr/>
        </p:nvSpPr>
        <p:spPr>
          <a:xfrm>
            <a:off x="4462272" y="3483864"/>
            <a:ext cx="96926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يَشْرَبُ</a:t>
            </a:r>
            <a:endParaRPr lang="ar-SA" sz="1500" dirty="0"/>
          </a:p>
        </p:txBody>
      </p:sp>
      <p:sp>
        <p:nvSpPr>
          <p:cNvPr id="51" name="Shape 48"/>
          <p:cNvSpPr/>
          <p:nvPr/>
        </p:nvSpPr>
        <p:spPr>
          <a:xfrm>
            <a:off x="457200" y="1810512"/>
            <a:ext cx="3639312" cy="2157984"/>
          </a:xfrm>
          <a:prstGeom prst="roundRect">
            <a:avLst>
              <a:gd name="adj" fmla="val 3390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52" name="Shape 49"/>
          <p:cNvSpPr/>
          <p:nvPr/>
        </p:nvSpPr>
        <p:spPr>
          <a:xfrm>
            <a:off x="566928" y="1920240"/>
            <a:ext cx="310896" cy="310896"/>
          </a:xfrm>
          <a:prstGeom prst="ellipse">
            <a:avLst/>
          </a:prstGeom>
          <a:solidFill>
            <a:srgbClr val="F4F1EA"/>
          </a:solidFill>
          <a:ln w="12700">
            <a:solidFill>
              <a:srgbClr val="F4F1EA"/>
            </a:solidFill>
            <a:prstDash val="solid"/>
          </a:ln>
        </p:spPr>
      </p:sp>
      <p:sp>
        <p:nvSpPr>
          <p:cNvPr id="53" name="Text 50"/>
          <p:cNvSpPr txBox="1"/>
          <p:nvPr/>
        </p:nvSpPr>
        <p:spPr>
          <a:xfrm>
            <a:off x="566928" y="1920240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3</a:t>
            </a:r>
            <a:endParaRPr lang="en-US" sz="1000" dirty="0"/>
          </a:p>
        </p:txBody>
      </p:sp>
      <p:sp>
        <p:nvSpPr>
          <p:cNvPr id="54" name="Shape 51"/>
          <p:cNvSpPr/>
          <p:nvPr/>
        </p:nvSpPr>
        <p:spPr>
          <a:xfrm>
            <a:off x="960120" y="1938528"/>
            <a:ext cx="1207008" cy="256032"/>
          </a:xfrm>
          <a:prstGeom prst="roundRect">
            <a:avLst>
              <a:gd name="adj" fmla="val 50000"/>
            </a:avLst>
          </a:prstGeom>
          <a:solidFill>
            <a:srgbClr val="EFE7D2"/>
          </a:solidFill>
          <a:ln w="12700">
            <a:solidFill>
              <a:srgbClr val="EFE7D2"/>
            </a:solidFill>
            <a:prstDash val="solid"/>
          </a:ln>
        </p:spPr>
      </p:sp>
      <p:sp>
        <p:nvSpPr>
          <p:cNvPr id="55" name="Text 52"/>
          <p:cNvSpPr txBox="1"/>
          <p:nvPr/>
        </p:nvSpPr>
        <p:spPr>
          <a:xfrm>
            <a:off x="960120" y="1938528"/>
            <a:ext cx="120700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he · she · they</a:t>
            </a:r>
            <a:endParaRPr lang="en-US" sz="800" dirty="0"/>
          </a:p>
        </p:txBody>
      </p:sp>
      <p:sp>
        <p:nvSpPr>
          <p:cNvPr id="56" name="Shape 53"/>
          <p:cNvSpPr/>
          <p:nvPr/>
        </p:nvSpPr>
        <p:spPr>
          <a:xfrm>
            <a:off x="3227832" y="1938528"/>
            <a:ext cx="731520" cy="256032"/>
          </a:xfrm>
          <a:prstGeom prst="roundRect">
            <a:avLst>
              <a:gd name="adj" fmla="val 50000"/>
            </a:avLst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57" name="Text 54"/>
          <p:cNvSpPr txBox="1"/>
          <p:nvPr/>
        </p:nvSpPr>
        <p:spPr>
          <a:xfrm>
            <a:off x="3227832" y="1938528"/>
            <a:ext cx="7315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CORE</a:t>
            </a:r>
            <a:endParaRPr lang="en-US" sz="800" dirty="0"/>
          </a:p>
        </p:txBody>
      </p:sp>
      <p:sp>
        <p:nvSpPr>
          <p:cNvPr id="58" name="Text 55"/>
          <p:cNvSpPr txBox="1"/>
          <p:nvPr/>
        </p:nvSpPr>
        <p:spPr>
          <a:xfrm>
            <a:off x="566928" y="2212848"/>
            <a:ext cx="3401568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30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أُفَضِّلُ</a:t>
            </a:r>
            <a:endParaRPr lang="ar-SA" sz="3000" dirty="0"/>
          </a:p>
        </p:txBody>
      </p:sp>
      <p:sp>
        <p:nvSpPr>
          <p:cNvPr id="59" name="Text 56"/>
          <p:cNvSpPr txBox="1"/>
          <p:nvPr/>
        </p:nvSpPr>
        <p:spPr>
          <a:xfrm>
            <a:off x="594360" y="2907792"/>
            <a:ext cx="3364992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b="1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I prefer</a:t>
            </a:r>
            <a:endParaRPr lang="en-US" sz="1350" dirty="0"/>
          </a:p>
          <a:p>
            <a:pPr indent="0" marL="0">
              <a:buNone/>
            </a:pPr>
            <a:r>
              <a:rPr lang="en-US" sz="110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u-faḍ-ḍi-lu</a:t>
            </a:r>
            <a:endParaRPr lang="en-US" sz="1350" dirty="0"/>
          </a:p>
        </p:txBody>
      </p:sp>
      <p:sp>
        <p:nvSpPr>
          <p:cNvPr id="60" name="Shape 57"/>
          <p:cNvSpPr/>
          <p:nvPr/>
        </p:nvSpPr>
        <p:spPr>
          <a:xfrm>
            <a:off x="2898648" y="3438144"/>
            <a:ext cx="1060704" cy="438912"/>
          </a:xfrm>
          <a:prstGeom prst="roundRect">
            <a:avLst>
              <a:gd name="adj" fmla="val 10417"/>
            </a:avLst>
          </a:prstGeom>
          <a:solidFill>
            <a:srgbClr val="F4F1EA"/>
          </a:solidFill>
          <a:ln w="9525">
            <a:solidFill>
              <a:srgbClr val="F4F1EA"/>
            </a:solidFill>
            <a:prstDash val="solid"/>
          </a:ln>
        </p:spPr>
      </p:sp>
      <p:sp>
        <p:nvSpPr>
          <p:cNvPr id="61" name="Text 58"/>
          <p:cNvSpPr txBox="1"/>
          <p:nvPr/>
        </p:nvSpPr>
        <p:spPr>
          <a:xfrm>
            <a:off x="2953512" y="3447288"/>
            <a:ext cx="950976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00" b="1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they</a:t>
            </a:r>
            <a:endParaRPr lang="en-US" sz="700" dirty="0"/>
          </a:p>
        </p:txBody>
      </p:sp>
      <p:sp>
        <p:nvSpPr>
          <p:cNvPr id="62" name="Text 59"/>
          <p:cNvSpPr txBox="1"/>
          <p:nvPr/>
        </p:nvSpPr>
        <p:spPr>
          <a:xfrm>
            <a:off x="2944368" y="3575304"/>
            <a:ext cx="96926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35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يُفَضِّلُونَ</a:t>
            </a:r>
            <a:endParaRPr lang="ar-SA" sz="1350" dirty="0"/>
          </a:p>
        </p:txBody>
      </p:sp>
      <p:sp>
        <p:nvSpPr>
          <p:cNvPr id="63" name="Shape 60"/>
          <p:cNvSpPr/>
          <p:nvPr/>
        </p:nvSpPr>
        <p:spPr>
          <a:xfrm>
            <a:off x="1746504" y="3438144"/>
            <a:ext cx="1060704" cy="438912"/>
          </a:xfrm>
          <a:prstGeom prst="roundRect">
            <a:avLst>
              <a:gd name="adj" fmla="val 10417"/>
            </a:avLst>
          </a:prstGeom>
          <a:solidFill>
            <a:srgbClr val="F4F1EA"/>
          </a:solidFill>
          <a:ln w="9525">
            <a:solidFill>
              <a:srgbClr val="F4F1EA"/>
            </a:solidFill>
            <a:prstDash val="solid"/>
          </a:ln>
        </p:spPr>
      </p:sp>
      <p:sp>
        <p:nvSpPr>
          <p:cNvPr id="64" name="Text 61"/>
          <p:cNvSpPr txBox="1"/>
          <p:nvPr/>
        </p:nvSpPr>
        <p:spPr>
          <a:xfrm>
            <a:off x="1801368" y="3447288"/>
            <a:ext cx="950976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50" b="1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she</a:t>
            </a:r>
            <a:endParaRPr lang="en-US" sz="750" dirty="0"/>
          </a:p>
        </p:txBody>
      </p:sp>
      <p:sp>
        <p:nvSpPr>
          <p:cNvPr id="65" name="Text 62"/>
          <p:cNvSpPr txBox="1"/>
          <p:nvPr/>
        </p:nvSpPr>
        <p:spPr>
          <a:xfrm>
            <a:off x="1792224" y="3483864"/>
            <a:ext cx="96926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تُفَضِّلُ</a:t>
            </a:r>
            <a:endParaRPr lang="ar-SA" sz="1500" dirty="0"/>
          </a:p>
        </p:txBody>
      </p:sp>
      <p:sp>
        <p:nvSpPr>
          <p:cNvPr id="66" name="Shape 63"/>
          <p:cNvSpPr/>
          <p:nvPr/>
        </p:nvSpPr>
        <p:spPr>
          <a:xfrm>
            <a:off x="594360" y="3438144"/>
            <a:ext cx="1060704" cy="438912"/>
          </a:xfrm>
          <a:prstGeom prst="roundRect">
            <a:avLst>
              <a:gd name="adj" fmla="val 10417"/>
            </a:avLst>
          </a:prstGeom>
          <a:solidFill>
            <a:srgbClr val="F4F1EA"/>
          </a:solidFill>
          <a:ln w="9525">
            <a:solidFill>
              <a:srgbClr val="F4F1EA"/>
            </a:solidFill>
            <a:prstDash val="solid"/>
          </a:ln>
        </p:spPr>
      </p:sp>
      <p:sp>
        <p:nvSpPr>
          <p:cNvPr id="67" name="Text 64"/>
          <p:cNvSpPr txBox="1"/>
          <p:nvPr/>
        </p:nvSpPr>
        <p:spPr>
          <a:xfrm>
            <a:off x="649224" y="3447288"/>
            <a:ext cx="950976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50" b="1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he</a:t>
            </a:r>
            <a:endParaRPr lang="en-US" sz="750" dirty="0"/>
          </a:p>
        </p:txBody>
      </p:sp>
      <p:sp>
        <p:nvSpPr>
          <p:cNvPr id="68" name="Text 65"/>
          <p:cNvSpPr txBox="1"/>
          <p:nvPr/>
        </p:nvSpPr>
        <p:spPr>
          <a:xfrm>
            <a:off x="640080" y="3483864"/>
            <a:ext cx="96926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يُفَضِّلُ</a:t>
            </a:r>
            <a:endParaRPr lang="ar-SA" sz="1500" dirty="0"/>
          </a:p>
        </p:txBody>
      </p:sp>
      <p:sp>
        <p:nvSpPr>
          <p:cNvPr id="69" name="Shape 66"/>
          <p:cNvSpPr/>
          <p:nvPr/>
        </p:nvSpPr>
        <p:spPr>
          <a:xfrm>
            <a:off x="8101584" y="4151376"/>
            <a:ext cx="3639312" cy="2157984"/>
          </a:xfrm>
          <a:prstGeom prst="roundRect">
            <a:avLst>
              <a:gd name="adj" fmla="val 3390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70" name="Shape 67"/>
          <p:cNvSpPr/>
          <p:nvPr/>
        </p:nvSpPr>
        <p:spPr>
          <a:xfrm>
            <a:off x="8211312" y="4261104"/>
            <a:ext cx="310896" cy="310896"/>
          </a:xfrm>
          <a:prstGeom prst="ellipse">
            <a:avLst/>
          </a:prstGeom>
          <a:solidFill>
            <a:srgbClr val="F4F1EA"/>
          </a:solidFill>
          <a:ln w="12700">
            <a:solidFill>
              <a:srgbClr val="F4F1EA"/>
            </a:solidFill>
            <a:prstDash val="solid"/>
          </a:ln>
        </p:spPr>
      </p:sp>
      <p:sp>
        <p:nvSpPr>
          <p:cNvPr id="71" name="Text 68"/>
          <p:cNvSpPr txBox="1"/>
          <p:nvPr/>
        </p:nvSpPr>
        <p:spPr>
          <a:xfrm>
            <a:off x="8211312" y="4261104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4</a:t>
            </a:r>
            <a:endParaRPr lang="en-US" sz="1000" dirty="0"/>
          </a:p>
        </p:txBody>
      </p:sp>
      <p:sp>
        <p:nvSpPr>
          <p:cNvPr id="72" name="Shape 69"/>
          <p:cNvSpPr/>
          <p:nvPr/>
        </p:nvSpPr>
        <p:spPr>
          <a:xfrm>
            <a:off x="8604504" y="4279392"/>
            <a:ext cx="1207008" cy="256032"/>
          </a:xfrm>
          <a:prstGeom prst="roundRect">
            <a:avLst>
              <a:gd name="adj" fmla="val 50000"/>
            </a:avLst>
          </a:prstGeom>
          <a:solidFill>
            <a:srgbClr val="EFE7D2"/>
          </a:solidFill>
          <a:ln w="12700">
            <a:solidFill>
              <a:srgbClr val="EFE7D2"/>
            </a:solidFill>
            <a:prstDash val="solid"/>
          </a:ln>
        </p:spPr>
      </p:sp>
      <p:sp>
        <p:nvSpPr>
          <p:cNvPr id="73" name="Text 70"/>
          <p:cNvSpPr txBox="1"/>
          <p:nvPr/>
        </p:nvSpPr>
        <p:spPr>
          <a:xfrm>
            <a:off x="8604504" y="4279392"/>
            <a:ext cx="120700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he · she · they</a:t>
            </a:r>
            <a:endParaRPr lang="en-US" sz="800" dirty="0"/>
          </a:p>
        </p:txBody>
      </p:sp>
      <p:sp>
        <p:nvSpPr>
          <p:cNvPr id="74" name="Shape 71"/>
          <p:cNvSpPr/>
          <p:nvPr/>
        </p:nvSpPr>
        <p:spPr>
          <a:xfrm>
            <a:off x="10872216" y="4279392"/>
            <a:ext cx="731520" cy="256032"/>
          </a:xfrm>
          <a:prstGeom prst="roundRect">
            <a:avLst>
              <a:gd name="adj" fmla="val 50000"/>
            </a:avLst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75" name="Text 72"/>
          <p:cNvSpPr txBox="1"/>
          <p:nvPr/>
        </p:nvSpPr>
        <p:spPr>
          <a:xfrm>
            <a:off x="10872216" y="4279392"/>
            <a:ext cx="7315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CORE</a:t>
            </a:r>
            <a:endParaRPr lang="en-US" sz="800" dirty="0"/>
          </a:p>
        </p:txBody>
      </p:sp>
      <p:sp>
        <p:nvSpPr>
          <p:cNvPr id="76" name="Text 73"/>
          <p:cNvSpPr txBox="1"/>
          <p:nvPr/>
        </p:nvSpPr>
        <p:spPr>
          <a:xfrm>
            <a:off x="8211312" y="4553712"/>
            <a:ext cx="3401568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30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أَطْبُخُ</a:t>
            </a:r>
            <a:endParaRPr lang="ar-SA" sz="3000" dirty="0"/>
          </a:p>
        </p:txBody>
      </p:sp>
      <p:sp>
        <p:nvSpPr>
          <p:cNvPr id="77" name="Text 74"/>
          <p:cNvSpPr txBox="1"/>
          <p:nvPr/>
        </p:nvSpPr>
        <p:spPr>
          <a:xfrm>
            <a:off x="8238744" y="5248656"/>
            <a:ext cx="3364992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b="1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I cook</a:t>
            </a:r>
            <a:endParaRPr lang="en-US" sz="1350" dirty="0"/>
          </a:p>
          <a:p>
            <a:pPr indent="0" marL="0">
              <a:buNone/>
            </a:pPr>
            <a:r>
              <a:rPr lang="en-US" sz="110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aṭ-bu-khu</a:t>
            </a:r>
            <a:endParaRPr lang="en-US" sz="1350" dirty="0"/>
          </a:p>
        </p:txBody>
      </p:sp>
      <p:sp>
        <p:nvSpPr>
          <p:cNvPr id="78" name="Shape 75"/>
          <p:cNvSpPr/>
          <p:nvPr/>
        </p:nvSpPr>
        <p:spPr>
          <a:xfrm>
            <a:off x="10543032" y="5779008"/>
            <a:ext cx="1060704" cy="438912"/>
          </a:xfrm>
          <a:prstGeom prst="roundRect">
            <a:avLst>
              <a:gd name="adj" fmla="val 10417"/>
            </a:avLst>
          </a:prstGeom>
          <a:solidFill>
            <a:srgbClr val="F4F1EA"/>
          </a:solidFill>
          <a:ln w="9525">
            <a:solidFill>
              <a:srgbClr val="F4F1EA"/>
            </a:solidFill>
            <a:prstDash val="solid"/>
          </a:ln>
        </p:spPr>
      </p:sp>
      <p:sp>
        <p:nvSpPr>
          <p:cNvPr id="79" name="Text 76"/>
          <p:cNvSpPr txBox="1"/>
          <p:nvPr/>
        </p:nvSpPr>
        <p:spPr>
          <a:xfrm>
            <a:off x="10597896" y="5788152"/>
            <a:ext cx="950976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00" b="1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they</a:t>
            </a:r>
            <a:endParaRPr lang="en-US" sz="700" dirty="0"/>
          </a:p>
        </p:txBody>
      </p:sp>
      <p:sp>
        <p:nvSpPr>
          <p:cNvPr id="80" name="Text 77"/>
          <p:cNvSpPr txBox="1"/>
          <p:nvPr/>
        </p:nvSpPr>
        <p:spPr>
          <a:xfrm>
            <a:off x="10588752" y="5916168"/>
            <a:ext cx="96926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35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يَطْبُخُونَ</a:t>
            </a:r>
            <a:endParaRPr lang="ar-SA" sz="1350" dirty="0"/>
          </a:p>
        </p:txBody>
      </p:sp>
      <p:sp>
        <p:nvSpPr>
          <p:cNvPr id="81" name="Shape 78"/>
          <p:cNvSpPr/>
          <p:nvPr/>
        </p:nvSpPr>
        <p:spPr>
          <a:xfrm>
            <a:off x="9390888" y="5779008"/>
            <a:ext cx="1060704" cy="438912"/>
          </a:xfrm>
          <a:prstGeom prst="roundRect">
            <a:avLst>
              <a:gd name="adj" fmla="val 10417"/>
            </a:avLst>
          </a:prstGeom>
          <a:solidFill>
            <a:srgbClr val="F4F1EA"/>
          </a:solidFill>
          <a:ln w="9525">
            <a:solidFill>
              <a:srgbClr val="F4F1EA"/>
            </a:solidFill>
            <a:prstDash val="solid"/>
          </a:ln>
        </p:spPr>
      </p:sp>
      <p:sp>
        <p:nvSpPr>
          <p:cNvPr id="82" name="Text 79"/>
          <p:cNvSpPr txBox="1"/>
          <p:nvPr/>
        </p:nvSpPr>
        <p:spPr>
          <a:xfrm>
            <a:off x="9445752" y="5788152"/>
            <a:ext cx="950976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50" b="1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she</a:t>
            </a:r>
            <a:endParaRPr lang="en-US" sz="750" dirty="0"/>
          </a:p>
        </p:txBody>
      </p:sp>
      <p:sp>
        <p:nvSpPr>
          <p:cNvPr id="83" name="Text 80"/>
          <p:cNvSpPr txBox="1"/>
          <p:nvPr/>
        </p:nvSpPr>
        <p:spPr>
          <a:xfrm>
            <a:off x="9436608" y="5824728"/>
            <a:ext cx="96926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تَطْبُخُ</a:t>
            </a:r>
            <a:endParaRPr lang="ar-SA" sz="1500" dirty="0"/>
          </a:p>
        </p:txBody>
      </p:sp>
      <p:sp>
        <p:nvSpPr>
          <p:cNvPr id="84" name="Shape 81"/>
          <p:cNvSpPr/>
          <p:nvPr/>
        </p:nvSpPr>
        <p:spPr>
          <a:xfrm>
            <a:off x="8238744" y="5779008"/>
            <a:ext cx="1060704" cy="438912"/>
          </a:xfrm>
          <a:prstGeom prst="roundRect">
            <a:avLst>
              <a:gd name="adj" fmla="val 10417"/>
            </a:avLst>
          </a:prstGeom>
          <a:solidFill>
            <a:srgbClr val="F4F1EA"/>
          </a:solidFill>
          <a:ln w="9525">
            <a:solidFill>
              <a:srgbClr val="F4F1EA"/>
            </a:solidFill>
            <a:prstDash val="solid"/>
          </a:ln>
        </p:spPr>
      </p:sp>
      <p:sp>
        <p:nvSpPr>
          <p:cNvPr id="85" name="Text 82"/>
          <p:cNvSpPr txBox="1"/>
          <p:nvPr/>
        </p:nvSpPr>
        <p:spPr>
          <a:xfrm>
            <a:off x="8293608" y="5788152"/>
            <a:ext cx="950976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50" b="1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he</a:t>
            </a:r>
            <a:endParaRPr lang="en-US" sz="750" dirty="0"/>
          </a:p>
        </p:txBody>
      </p:sp>
      <p:sp>
        <p:nvSpPr>
          <p:cNvPr id="86" name="Text 83"/>
          <p:cNvSpPr txBox="1"/>
          <p:nvPr/>
        </p:nvSpPr>
        <p:spPr>
          <a:xfrm>
            <a:off x="8284464" y="5824728"/>
            <a:ext cx="96926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يَطْبُخُ</a:t>
            </a:r>
            <a:endParaRPr lang="ar-SA" sz="1500" dirty="0"/>
          </a:p>
        </p:txBody>
      </p:sp>
      <p:sp>
        <p:nvSpPr>
          <p:cNvPr id="87" name="Shape 84"/>
          <p:cNvSpPr/>
          <p:nvPr/>
        </p:nvSpPr>
        <p:spPr>
          <a:xfrm>
            <a:off x="4279392" y="4151376"/>
            <a:ext cx="3639312" cy="2157984"/>
          </a:xfrm>
          <a:prstGeom prst="roundRect">
            <a:avLst>
              <a:gd name="adj" fmla="val 3390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88" name="Shape 85"/>
          <p:cNvSpPr/>
          <p:nvPr/>
        </p:nvSpPr>
        <p:spPr>
          <a:xfrm>
            <a:off x="4389120" y="4261104"/>
            <a:ext cx="310896" cy="310896"/>
          </a:xfrm>
          <a:prstGeom prst="ellipse">
            <a:avLst/>
          </a:prstGeom>
          <a:solidFill>
            <a:srgbClr val="F4F1EA"/>
          </a:solidFill>
          <a:ln w="12700">
            <a:solidFill>
              <a:srgbClr val="F4F1EA"/>
            </a:solidFill>
            <a:prstDash val="solid"/>
          </a:ln>
        </p:spPr>
      </p:sp>
      <p:sp>
        <p:nvSpPr>
          <p:cNvPr id="89" name="Text 86"/>
          <p:cNvSpPr txBox="1"/>
          <p:nvPr/>
        </p:nvSpPr>
        <p:spPr>
          <a:xfrm>
            <a:off x="4389120" y="4261104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5</a:t>
            </a:r>
            <a:endParaRPr lang="en-US" sz="1000" dirty="0"/>
          </a:p>
        </p:txBody>
      </p:sp>
      <p:sp>
        <p:nvSpPr>
          <p:cNvPr id="90" name="Shape 87"/>
          <p:cNvSpPr/>
          <p:nvPr/>
        </p:nvSpPr>
        <p:spPr>
          <a:xfrm>
            <a:off x="4782312" y="4279392"/>
            <a:ext cx="1269187" cy="256032"/>
          </a:xfrm>
          <a:prstGeom prst="roundRect">
            <a:avLst>
              <a:gd name="adj" fmla="val 50000"/>
            </a:avLst>
          </a:prstGeom>
          <a:solidFill>
            <a:srgbClr val="EFE7D2"/>
          </a:solidFill>
          <a:ln w="12700">
            <a:solidFill>
              <a:srgbClr val="EFE7D2"/>
            </a:solidFill>
            <a:prstDash val="solid"/>
          </a:ln>
        </p:spPr>
      </p:sp>
      <p:sp>
        <p:nvSpPr>
          <p:cNvPr id="91" name="Text 88"/>
          <p:cNvSpPr txBox="1"/>
          <p:nvPr/>
        </p:nvSpPr>
        <p:spPr>
          <a:xfrm>
            <a:off x="4782312" y="4279392"/>
            <a:ext cx="1269187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sg. · dual · pl.</a:t>
            </a:r>
            <a:endParaRPr lang="en-US" sz="800" dirty="0"/>
          </a:p>
        </p:txBody>
      </p:sp>
      <p:sp>
        <p:nvSpPr>
          <p:cNvPr id="92" name="Shape 89"/>
          <p:cNvSpPr/>
          <p:nvPr/>
        </p:nvSpPr>
        <p:spPr>
          <a:xfrm>
            <a:off x="7050024" y="4279392"/>
            <a:ext cx="731520" cy="256032"/>
          </a:xfrm>
          <a:prstGeom prst="roundRect">
            <a:avLst>
              <a:gd name="adj" fmla="val 50000"/>
            </a:avLst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93" name="Text 90"/>
          <p:cNvSpPr txBox="1"/>
          <p:nvPr/>
        </p:nvSpPr>
        <p:spPr>
          <a:xfrm>
            <a:off x="7050024" y="4279392"/>
            <a:ext cx="7315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CORE</a:t>
            </a:r>
            <a:endParaRPr lang="en-US" sz="800" dirty="0"/>
          </a:p>
        </p:txBody>
      </p:sp>
      <p:sp>
        <p:nvSpPr>
          <p:cNvPr id="94" name="Text 91"/>
          <p:cNvSpPr txBox="1"/>
          <p:nvPr/>
        </p:nvSpPr>
        <p:spPr>
          <a:xfrm>
            <a:off x="4389120" y="4553712"/>
            <a:ext cx="3401568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30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وَجْبَةٌ</a:t>
            </a:r>
            <a:endParaRPr lang="ar-SA" sz="3000" dirty="0"/>
          </a:p>
        </p:txBody>
      </p:sp>
      <p:sp>
        <p:nvSpPr>
          <p:cNvPr id="95" name="Text 92"/>
          <p:cNvSpPr txBox="1"/>
          <p:nvPr/>
        </p:nvSpPr>
        <p:spPr>
          <a:xfrm>
            <a:off x="4416552" y="5248656"/>
            <a:ext cx="3364992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b="1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a meal</a:t>
            </a:r>
            <a:endParaRPr lang="en-US" sz="1350" dirty="0"/>
          </a:p>
          <a:p>
            <a:pPr indent="0" marL="0">
              <a:buNone/>
            </a:pPr>
            <a:r>
              <a:rPr lang="en-US" sz="110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waj-ba-tun</a:t>
            </a:r>
            <a:endParaRPr lang="en-US" sz="1350" dirty="0"/>
          </a:p>
        </p:txBody>
      </p:sp>
      <p:sp>
        <p:nvSpPr>
          <p:cNvPr id="96" name="Shape 93"/>
          <p:cNvSpPr/>
          <p:nvPr/>
        </p:nvSpPr>
        <p:spPr>
          <a:xfrm>
            <a:off x="6720840" y="5779008"/>
            <a:ext cx="1060704" cy="438912"/>
          </a:xfrm>
          <a:prstGeom prst="roundRect">
            <a:avLst>
              <a:gd name="adj" fmla="val 10417"/>
            </a:avLst>
          </a:prstGeom>
          <a:solidFill>
            <a:srgbClr val="F4F1EA"/>
          </a:solidFill>
          <a:ln w="9525">
            <a:solidFill>
              <a:srgbClr val="F4F1EA"/>
            </a:solidFill>
            <a:prstDash val="solid"/>
          </a:ln>
        </p:spPr>
      </p:sp>
      <p:sp>
        <p:nvSpPr>
          <p:cNvPr id="97" name="Text 94"/>
          <p:cNvSpPr txBox="1"/>
          <p:nvPr/>
        </p:nvSpPr>
        <p:spPr>
          <a:xfrm>
            <a:off x="6775704" y="5788152"/>
            <a:ext cx="950976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50" b="1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pl.</a:t>
            </a:r>
            <a:endParaRPr lang="en-US" sz="750" dirty="0"/>
          </a:p>
        </p:txBody>
      </p:sp>
      <p:sp>
        <p:nvSpPr>
          <p:cNvPr id="98" name="Text 95"/>
          <p:cNvSpPr txBox="1"/>
          <p:nvPr/>
        </p:nvSpPr>
        <p:spPr>
          <a:xfrm>
            <a:off x="6766560" y="5824728"/>
            <a:ext cx="96926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وَجَبَاتٌ</a:t>
            </a:r>
            <a:endParaRPr lang="ar-SA" sz="1500" dirty="0"/>
          </a:p>
        </p:txBody>
      </p:sp>
      <p:sp>
        <p:nvSpPr>
          <p:cNvPr id="99" name="Shape 96"/>
          <p:cNvSpPr/>
          <p:nvPr/>
        </p:nvSpPr>
        <p:spPr>
          <a:xfrm>
            <a:off x="5568696" y="5779008"/>
            <a:ext cx="1060704" cy="438912"/>
          </a:xfrm>
          <a:prstGeom prst="roundRect">
            <a:avLst>
              <a:gd name="adj" fmla="val 10417"/>
            </a:avLst>
          </a:prstGeom>
          <a:solidFill>
            <a:srgbClr val="F4F1EA"/>
          </a:solidFill>
          <a:ln w="9525">
            <a:solidFill>
              <a:srgbClr val="F4F1EA"/>
            </a:solidFill>
            <a:prstDash val="solid"/>
          </a:ln>
        </p:spPr>
      </p:sp>
      <p:sp>
        <p:nvSpPr>
          <p:cNvPr id="100" name="Text 97"/>
          <p:cNvSpPr txBox="1"/>
          <p:nvPr/>
        </p:nvSpPr>
        <p:spPr>
          <a:xfrm>
            <a:off x="5623560" y="5788152"/>
            <a:ext cx="950976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00" b="1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dual</a:t>
            </a:r>
            <a:endParaRPr lang="en-US" sz="700" dirty="0"/>
          </a:p>
        </p:txBody>
      </p:sp>
      <p:sp>
        <p:nvSpPr>
          <p:cNvPr id="101" name="Text 98"/>
          <p:cNvSpPr txBox="1"/>
          <p:nvPr/>
        </p:nvSpPr>
        <p:spPr>
          <a:xfrm>
            <a:off x="5614416" y="5916168"/>
            <a:ext cx="96926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35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وَجْبَتَانِ</a:t>
            </a:r>
            <a:endParaRPr lang="ar-SA" sz="1350" dirty="0"/>
          </a:p>
        </p:txBody>
      </p:sp>
      <p:sp>
        <p:nvSpPr>
          <p:cNvPr id="102" name="Shape 99"/>
          <p:cNvSpPr/>
          <p:nvPr/>
        </p:nvSpPr>
        <p:spPr>
          <a:xfrm>
            <a:off x="4416552" y="5779008"/>
            <a:ext cx="1060704" cy="438912"/>
          </a:xfrm>
          <a:prstGeom prst="roundRect">
            <a:avLst>
              <a:gd name="adj" fmla="val 10417"/>
            </a:avLst>
          </a:prstGeom>
          <a:solidFill>
            <a:srgbClr val="F4F1EA"/>
          </a:solidFill>
          <a:ln w="9525">
            <a:solidFill>
              <a:srgbClr val="F4F1EA"/>
            </a:solidFill>
            <a:prstDash val="solid"/>
          </a:ln>
        </p:spPr>
      </p:sp>
      <p:sp>
        <p:nvSpPr>
          <p:cNvPr id="103" name="Text 100"/>
          <p:cNvSpPr txBox="1"/>
          <p:nvPr/>
        </p:nvSpPr>
        <p:spPr>
          <a:xfrm>
            <a:off x="4471416" y="5788152"/>
            <a:ext cx="950976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50" b="1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sg.</a:t>
            </a:r>
            <a:endParaRPr lang="en-US" sz="750" dirty="0"/>
          </a:p>
        </p:txBody>
      </p:sp>
      <p:sp>
        <p:nvSpPr>
          <p:cNvPr id="104" name="Text 101"/>
          <p:cNvSpPr txBox="1"/>
          <p:nvPr/>
        </p:nvSpPr>
        <p:spPr>
          <a:xfrm>
            <a:off x="4462272" y="5824728"/>
            <a:ext cx="96926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وَجْبَةٌ</a:t>
            </a:r>
            <a:endParaRPr lang="ar-SA" sz="1500" dirty="0"/>
          </a:p>
        </p:txBody>
      </p:sp>
      <p:sp>
        <p:nvSpPr>
          <p:cNvPr id="105" name="Shape 102"/>
          <p:cNvSpPr/>
          <p:nvPr/>
        </p:nvSpPr>
        <p:spPr>
          <a:xfrm>
            <a:off x="457200" y="4151376"/>
            <a:ext cx="3639312" cy="2157984"/>
          </a:xfrm>
          <a:prstGeom prst="roundRect">
            <a:avLst>
              <a:gd name="adj" fmla="val 3390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106" name="Shape 103"/>
          <p:cNvSpPr/>
          <p:nvPr/>
        </p:nvSpPr>
        <p:spPr>
          <a:xfrm>
            <a:off x="566928" y="4261104"/>
            <a:ext cx="310896" cy="310896"/>
          </a:xfrm>
          <a:prstGeom prst="ellipse">
            <a:avLst/>
          </a:prstGeom>
          <a:solidFill>
            <a:srgbClr val="F4F1EA"/>
          </a:solidFill>
          <a:ln w="12700">
            <a:solidFill>
              <a:srgbClr val="F4F1EA"/>
            </a:solidFill>
            <a:prstDash val="solid"/>
          </a:ln>
        </p:spPr>
      </p:sp>
      <p:sp>
        <p:nvSpPr>
          <p:cNvPr id="107" name="Text 104"/>
          <p:cNvSpPr txBox="1"/>
          <p:nvPr/>
        </p:nvSpPr>
        <p:spPr>
          <a:xfrm>
            <a:off x="566928" y="4261104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6</a:t>
            </a:r>
            <a:endParaRPr lang="en-US" sz="1000" dirty="0"/>
          </a:p>
        </p:txBody>
      </p:sp>
      <p:sp>
        <p:nvSpPr>
          <p:cNvPr id="108" name="Shape 105"/>
          <p:cNvSpPr/>
          <p:nvPr/>
        </p:nvSpPr>
        <p:spPr>
          <a:xfrm>
            <a:off x="960120" y="4279392"/>
            <a:ext cx="1269187" cy="256032"/>
          </a:xfrm>
          <a:prstGeom prst="roundRect">
            <a:avLst>
              <a:gd name="adj" fmla="val 50000"/>
            </a:avLst>
          </a:prstGeom>
          <a:solidFill>
            <a:srgbClr val="EFE7D2"/>
          </a:solidFill>
          <a:ln w="12700">
            <a:solidFill>
              <a:srgbClr val="EFE7D2"/>
            </a:solidFill>
            <a:prstDash val="solid"/>
          </a:ln>
        </p:spPr>
      </p:sp>
      <p:sp>
        <p:nvSpPr>
          <p:cNvPr id="109" name="Text 106"/>
          <p:cNvSpPr txBox="1"/>
          <p:nvPr/>
        </p:nvSpPr>
        <p:spPr>
          <a:xfrm>
            <a:off x="960120" y="4279392"/>
            <a:ext cx="1269187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sg. · dual · pl.</a:t>
            </a:r>
            <a:endParaRPr lang="en-US" sz="800" dirty="0"/>
          </a:p>
        </p:txBody>
      </p:sp>
      <p:sp>
        <p:nvSpPr>
          <p:cNvPr id="110" name="Shape 107"/>
          <p:cNvSpPr/>
          <p:nvPr/>
        </p:nvSpPr>
        <p:spPr>
          <a:xfrm>
            <a:off x="3227832" y="4279392"/>
            <a:ext cx="731520" cy="256032"/>
          </a:xfrm>
          <a:prstGeom prst="roundRect">
            <a:avLst>
              <a:gd name="adj" fmla="val 50000"/>
            </a:avLst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111" name="Text 108"/>
          <p:cNvSpPr txBox="1"/>
          <p:nvPr/>
        </p:nvSpPr>
        <p:spPr>
          <a:xfrm>
            <a:off x="3227832" y="4279392"/>
            <a:ext cx="7315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CORE</a:t>
            </a:r>
            <a:endParaRPr lang="en-US" sz="800" dirty="0"/>
          </a:p>
        </p:txBody>
      </p:sp>
      <p:sp>
        <p:nvSpPr>
          <p:cNvPr id="112" name="Text 109"/>
          <p:cNvSpPr txBox="1"/>
          <p:nvPr/>
        </p:nvSpPr>
        <p:spPr>
          <a:xfrm>
            <a:off x="566928" y="4553712"/>
            <a:ext cx="3401568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30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طَبَقٌ</a:t>
            </a:r>
            <a:endParaRPr lang="ar-SA" sz="3000" dirty="0"/>
          </a:p>
        </p:txBody>
      </p:sp>
      <p:sp>
        <p:nvSpPr>
          <p:cNvPr id="113" name="Text 110"/>
          <p:cNvSpPr txBox="1"/>
          <p:nvPr/>
        </p:nvSpPr>
        <p:spPr>
          <a:xfrm>
            <a:off x="594360" y="5248656"/>
            <a:ext cx="3364992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b="1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a dish, a plate</a:t>
            </a:r>
            <a:endParaRPr lang="en-US" sz="1350" dirty="0"/>
          </a:p>
          <a:p>
            <a:pPr indent="0" marL="0">
              <a:buNone/>
            </a:pPr>
            <a:r>
              <a:rPr lang="en-US" sz="110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ṭa-ba-qun</a:t>
            </a:r>
            <a:endParaRPr lang="en-US" sz="1350" dirty="0"/>
          </a:p>
        </p:txBody>
      </p:sp>
      <p:sp>
        <p:nvSpPr>
          <p:cNvPr id="114" name="Shape 111"/>
          <p:cNvSpPr/>
          <p:nvPr/>
        </p:nvSpPr>
        <p:spPr>
          <a:xfrm>
            <a:off x="2898648" y="5779008"/>
            <a:ext cx="1060704" cy="438912"/>
          </a:xfrm>
          <a:prstGeom prst="roundRect">
            <a:avLst>
              <a:gd name="adj" fmla="val 10417"/>
            </a:avLst>
          </a:prstGeom>
          <a:solidFill>
            <a:srgbClr val="F4F1EA"/>
          </a:solidFill>
          <a:ln w="9525">
            <a:solidFill>
              <a:srgbClr val="F4F1EA"/>
            </a:solidFill>
            <a:prstDash val="solid"/>
          </a:ln>
        </p:spPr>
      </p:sp>
      <p:sp>
        <p:nvSpPr>
          <p:cNvPr id="115" name="Text 112"/>
          <p:cNvSpPr txBox="1"/>
          <p:nvPr/>
        </p:nvSpPr>
        <p:spPr>
          <a:xfrm>
            <a:off x="2953512" y="5788152"/>
            <a:ext cx="950976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50" b="1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pl.</a:t>
            </a:r>
            <a:endParaRPr lang="en-US" sz="750" dirty="0"/>
          </a:p>
        </p:txBody>
      </p:sp>
      <p:sp>
        <p:nvSpPr>
          <p:cNvPr id="116" name="Text 113"/>
          <p:cNvSpPr txBox="1"/>
          <p:nvPr/>
        </p:nvSpPr>
        <p:spPr>
          <a:xfrm>
            <a:off x="2944368" y="5824728"/>
            <a:ext cx="96926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أَطْبَاقٌ</a:t>
            </a:r>
            <a:endParaRPr lang="ar-SA" sz="1500" dirty="0"/>
          </a:p>
        </p:txBody>
      </p:sp>
      <p:sp>
        <p:nvSpPr>
          <p:cNvPr id="117" name="Shape 114"/>
          <p:cNvSpPr/>
          <p:nvPr/>
        </p:nvSpPr>
        <p:spPr>
          <a:xfrm>
            <a:off x="1746504" y="5779008"/>
            <a:ext cx="1060704" cy="438912"/>
          </a:xfrm>
          <a:prstGeom prst="roundRect">
            <a:avLst>
              <a:gd name="adj" fmla="val 10417"/>
            </a:avLst>
          </a:prstGeom>
          <a:solidFill>
            <a:srgbClr val="F4F1EA"/>
          </a:solidFill>
          <a:ln w="9525">
            <a:solidFill>
              <a:srgbClr val="F4F1EA"/>
            </a:solidFill>
            <a:prstDash val="solid"/>
          </a:ln>
        </p:spPr>
      </p:sp>
      <p:sp>
        <p:nvSpPr>
          <p:cNvPr id="118" name="Text 115"/>
          <p:cNvSpPr txBox="1"/>
          <p:nvPr/>
        </p:nvSpPr>
        <p:spPr>
          <a:xfrm>
            <a:off x="1801368" y="5788152"/>
            <a:ext cx="950976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00" b="1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dual</a:t>
            </a:r>
            <a:endParaRPr lang="en-US" sz="700" dirty="0"/>
          </a:p>
        </p:txBody>
      </p:sp>
      <p:sp>
        <p:nvSpPr>
          <p:cNvPr id="119" name="Text 116"/>
          <p:cNvSpPr txBox="1"/>
          <p:nvPr/>
        </p:nvSpPr>
        <p:spPr>
          <a:xfrm>
            <a:off x="1792224" y="5916168"/>
            <a:ext cx="96926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35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طَبَقَانِ</a:t>
            </a:r>
            <a:endParaRPr lang="ar-SA" sz="1350" dirty="0"/>
          </a:p>
        </p:txBody>
      </p:sp>
      <p:sp>
        <p:nvSpPr>
          <p:cNvPr id="120" name="Shape 117"/>
          <p:cNvSpPr/>
          <p:nvPr/>
        </p:nvSpPr>
        <p:spPr>
          <a:xfrm>
            <a:off x="594360" y="5779008"/>
            <a:ext cx="1060704" cy="438912"/>
          </a:xfrm>
          <a:prstGeom prst="roundRect">
            <a:avLst>
              <a:gd name="adj" fmla="val 10417"/>
            </a:avLst>
          </a:prstGeom>
          <a:solidFill>
            <a:srgbClr val="F4F1EA"/>
          </a:solidFill>
          <a:ln w="9525">
            <a:solidFill>
              <a:srgbClr val="F4F1EA"/>
            </a:solidFill>
            <a:prstDash val="solid"/>
          </a:ln>
        </p:spPr>
      </p:sp>
      <p:sp>
        <p:nvSpPr>
          <p:cNvPr id="121" name="Text 118"/>
          <p:cNvSpPr txBox="1"/>
          <p:nvPr/>
        </p:nvSpPr>
        <p:spPr>
          <a:xfrm>
            <a:off x="649224" y="5788152"/>
            <a:ext cx="950976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50" b="1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sg.</a:t>
            </a:r>
            <a:endParaRPr lang="en-US" sz="750" dirty="0"/>
          </a:p>
        </p:txBody>
      </p:sp>
      <p:sp>
        <p:nvSpPr>
          <p:cNvPr id="122" name="Text 119"/>
          <p:cNvSpPr txBox="1"/>
          <p:nvPr/>
        </p:nvSpPr>
        <p:spPr>
          <a:xfrm>
            <a:off x="640080" y="5824728"/>
            <a:ext cx="96926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طَبَقٌ</a:t>
            </a:r>
            <a:endParaRPr lang="ar-SA" sz="1500" dirty="0"/>
          </a:p>
        </p:txBody>
      </p:sp>
      <p:sp>
        <p:nvSpPr>
          <p:cNvPr id="123" name="Text 120"/>
          <p:cNvSpPr txBox="1"/>
          <p:nvPr/>
        </p:nvSpPr>
        <p:spPr>
          <a:xfrm>
            <a:off x="10360152" y="6455664"/>
            <a:ext cx="1371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5 / 25</a:t>
            </a:r>
            <a:endParaRPr lang="en-US" sz="85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D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237744"/>
            <a:ext cx="420624" cy="420624"/>
          </a:xfrm>
          <a:prstGeom prst="ellipse">
            <a:avLst/>
          </a:prstGeom>
          <a:solidFill>
            <a:srgbClr val="1B3B6F"/>
          </a:solidFill>
          <a:ln w="12700">
            <a:solidFill>
              <a:srgbClr val="D4AF37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457200" y="219456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D4AF37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م</a:t>
            </a:r>
            <a:endParaRPr lang="ar-SA" sz="18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3657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Al Madina Online School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57200"/>
            <a:ext cx="4572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ARABIC DEPARTMENT · MIFTAH ARABIC · IGCSE 0544</a:t>
            </a:r>
            <a:endParaRPr lang="en-US" sz="800" dirty="0"/>
          </a:p>
        </p:txBody>
      </p:sp>
      <p:sp>
        <p:nvSpPr>
          <p:cNvPr id="6" name="Shape 4"/>
          <p:cNvSpPr/>
          <p:nvPr/>
        </p:nvSpPr>
        <p:spPr>
          <a:xfrm>
            <a:off x="8897112" y="274320"/>
            <a:ext cx="2834640" cy="329184"/>
          </a:xfrm>
          <a:prstGeom prst="roundRect">
            <a:avLst>
              <a:gd name="adj" fmla="val 50000"/>
            </a:avLst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8897112" y="274320"/>
            <a:ext cx="28346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AT-A-L04 · Speaking workshop</a:t>
            </a:r>
            <a:endParaRPr lang="en-US" sz="950" dirty="0"/>
          </a:p>
        </p:txBody>
      </p:sp>
      <p:sp>
        <p:nvSpPr>
          <p:cNvPr id="8" name="Shape 6"/>
          <p:cNvSpPr/>
          <p:nvPr/>
        </p:nvSpPr>
        <p:spPr>
          <a:xfrm>
            <a:off x="6308446" y="274320"/>
            <a:ext cx="2451506" cy="329184"/>
          </a:xfrm>
          <a:prstGeom prst="roundRect">
            <a:avLst>
              <a:gd name="adj" fmla="val 50000"/>
            </a:avLst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6308446" y="274320"/>
            <a:ext cx="245150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TEACHER INSTRUCTION · 2 MIN</a:t>
            </a:r>
            <a:endParaRPr lang="en-US" sz="900" dirty="0"/>
          </a:p>
        </p:txBody>
      </p:sp>
      <p:sp>
        <p:nvSpPr>
          <p:cNvPr id="10" name="Text 8"/>
          <p:cNvSpPr txBox="1"/>
          <p:nvPr/>
        </p:nvSpPr>
        <p:spPr>
          <a:xfrm>
            <a:off x="457200" y="822960"/>
            <a:ext cx="69494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300" kern="0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LANGUAGE BANK · DESCRIBING FOOD (M. · F.), IDĀFA AND MEALS</a:t>
            </a:r>
            <a:endParaRPr lang="en-US" sz="1000" dirty="0"/>
          </a:p>
        </p:txBody>
      </p:sp>
      <p:sp>
        <p:nvSpPr>
          <p:cNvPr id="11" name="Text 9"/>
          <p:cNvSpPr txBox="1"/>
          <p:nvPr/>
        </p:nvSpPr>
        <p:spPr>
          <a:xfrm>
            <a:off x="457200" y="1033272"/>
            <a:ext cx="69494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70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Describe it: delicious, spicy, healthy</a:t>
            </a:r>
            <a:endParaRPr lang="en-US" sz="2700" dirty="0"/>
          </a:p>
        </p:txBody>
      </p:sp>
      <p:sp>
        <p:nvSpPr>
          <p:cNvPr id="12" name="Text 10"/>
          <p:cNvSpPr txBox="1"/>
          <p:nvPr/>
        </p:nvSpPr>
        <p:spPr>
          <a:xfrm>
            <a:off x="7498080" y="868680"/>
            <a:ext cx="4233672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2800" b="1" dirty="0">
                <a:solidFill>
                  <a:srgbClr val="8A6D1E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وَصْفُ الطَّعَامِ</a:t>
            </a:r>
            <a:endParaRPr lang="ar-SA" sz="28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6455664"/>
            <a:ext cx="6400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Miftah Arabic · Topic A · Speaking workshop · AT-A-L04</a:t>
            </a:r>
            <a:endParaRPr lang="en-US" sz="850" dirty="0"/>
          </a:p>
        </p:txBody>
      </p:sp>
      <p:sp>
        <p:nvSpPr>
          <p:cNvPr id="15" name="Shape 12"/>
          <p:cNvSpPr/>
          <p:nvPr/>
        </p:nvSpPr>
        <p:spPr>
          <a:xfrm>
            <a:off x="8101584" y="1810512"/>
            <a:ext cx="3639312" cy="2157984"/>
          </a:xfrm>
          <a:prstGeom prst="roundRect">
            <a:avLst>
              <a:gd name="adj" fmla="val 3390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16" name="Shape 13"/>
          <p:cNvSpPr/>
          <p:nvPr/>
        </p:nvSpPr>
        <p:spPr>
          <a:xfrm>
            <a:off x="8211312" y="1920240"/>
            <a:ext cx="310896" cy="310896"/>
          </a:xfrm>
          <a:prstGeom prst="ellipse">
            <a:avLst/>
          </a:prstGeom>
          <a:solidFill>
            <a:srgbClr val="F4F1EA"/>
          </a:solidFill>
          <a:ln w="12700">
            <a:solidFill>
              <a:srgbClr val="F4F1EA"/>
            </a:solidFill>
            <a:prstDash val="solid"/>
          </a:ln>
        </p:spPr>
      </p:sp>
      <p:sp>
        <p:nvSpPr>
          <p:cNvPr id="17" name="Text 14"/>
          <p:cNvSpPr txBox="1"/>
          <p:nvPr/>
        </p:nvSpPr>
        <p:spPr>
          <a:xfrm>
            <a:off x="8211312" y="1920240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7</a:t>
            </a:r>
            <a:endParaRPr lang="en-US" sz="1000" dirty="0"/>
          </a:p>
        </p:txBody>
      </p:sp>
      <p:sp>
        <p:nvSpPr>
          <p:cNvPr id="18" name="Shape 15"/>
          <p:cNvSpPr/>
          <p:nvPr/>
        </p:nvSpPr>
        <p:spPr>
          <a:xfrm>
            <a:off x="8604504" y="1938528"/>
            <a:ext cx="709574" cy="256032"/>
          </a:xfrm>
          <a:prstGeom prst="roundRect">
            <a:avLst>
              <a:gd name="adj" fmla="val 50000"/>
            </a:avLst>
          </a:prstGeom>
          <a:solidFill>
            <a:srgbClr val="EFE7D2"/>
          </a:solidFill>
          <a:ln w="12700">
            <a:solidFill>
              <a:srgbClr val="EFE7D2"/>
            </a:solidFill>
            <a:prstDash val="solid"/>
          </a:ln>
        </p:spPr>
      </p:sp>
      <p:sp>
        <p:nvSpPr>
          <p:cNvPr id="19" name="Text 16"/>
          <p:cNvSpPr txBox="1"/>
          <p:nvPr/>
        </p:nvSpPr>
        <p:spPr>
          <a:xfrm>
            <a:off x="8604504" y="1938528"/>
            <a:ext cx="70957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m. · f.</a:t>
            </a:r>
            <a:endParaRPr lang="en-US" sz="800" dirty="0"/>
          </a:p>
        </p:txBody>
      </p:sp>
      <p:sp>
        <p:nvSpPr>
          <p:cNvPr id="20" name="Shape 17"/>
          <p:cNvSpPr/>
          <p:nvPr/>
        </p:nvSpPr>
        <p:spPr>
          <a:xfrm>
            <a:off x="10872216" y="1938528"/>
            <a:ext cx="731520" cy="256032"/>
          </a:xfrm>
          <a:prstGeom prst="roundRect">
            <a:avLst>
              <a:gd name="adj" fmla="val 50000"/>
            </a:avLst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21" name="Text 18"/>
          <p:cNvSpPr txBox="1"/>
          <p:nvPr/>
        </p:nvSpPr>
        <p:spPr>
          <a:xfrm>
            <a:off x="10872216" y="1938528"/>
            <a:ext cx="7315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CORE</a:t>
            </a:r>
            <a:endParaRPr lang="en-US" sz="800" dirty="0"/>
          </a:p>
        </p:txBody>
      </p:sp>
      <p:sp>
        <p:nvSpPr>
          <p:cNvPr id="22" name="Text 19"/>
          <p:cNvSpPr txBox="1"/>
          <p:nvPr/>
        </p:nvSpPr>
        <p:spPr>
          <a:xfrm>
            <a:off x="8211312" y="2212848"/>
            <a:ext cx="3401568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30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لَذِيذٌ</a:t>
            </a:r>
            <a:endParaRPr lang="ar-SA" sz="3000" dirty="0"/>
          </a:p>
        </p:txBody>
      </p:sp>
      <p:sp>
        <p:nvSpPr>
          <p:cNvPr id="23" name="Text 20"/>
          <p:cNvSpPr txBox="1"/>
          <p:nvPr/>
        </p:nvSpPr>
        <p:spPr>
          <a:xfrm>
            <a:off x="8238744" y="2907792"/>
            <a:ext cx="3364992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b="1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delicious</a:t>
            </a:r>
            <a:endParaRPr lang="en-US" sz="1350" dirty="0"/>
          </a:p>
          <a:p>
            <a:pPr indent="0" marL="0">
              <a:buNone/>
            </a:pPr>
            <a:r>
              <a:rPr lang="en-US" sz="110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la-dhī-dhun</a:t>
            </a:r>
            <a:endParaRPr lang="en-US" sz="1350" dirty="0"/>
          </a:p>
        </p:txBody>
      </p:sp>
      <p:sp>
        <p:nvSpPr>
          <p:cNvPr id="24" name="Shape 21"/>
          <p:cNvSpPr/>
          <p:nvPr/>
        </p:nvSpPr>
        <p:spPr>
          <a:xfrm>
            <a:off x="9966960" y="3438144"/>
            <a:ext cx="1636776" cy="438912"/>
          </a:xfrm>
          <a:prstGeom prst="roundRect">
            <a:avLst>
              <a:gd name="adj" fmla="val 10417"/>
            </a:avLst>
          </a:prstGeom>
          <a:solidFill>
            <a:srgbClr val="F4F1EA"/>
          </a:solidFill>
          <a:ln w="9525">
            <a:solidFill>
              <a:srgbClr val="F4F1EA"/>
            </a:solidFill>
            <a:prstDash val="solid"/>
          </a:ln>
        </p:spPr>
      </p:sp>
      <p:sp>
        <p:nvSpPr>
          <p:cNvPr id="25" name="Text 22"/>
          <p:cNvSpPr txBox="1"/>
          <p:nvPr/>
        </p:nvSpPr>
        <p:spPr>
          <a:xfrm>
            <a:off x="10021824" y="3447288"/>
            <a:ext cx="1527048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50" b="1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f.</a:t>
            </a:r>
            <a:endParaRPr lang="en-US" sz="750" dirty="0"/>
          </a:p>
        </p:txBody>
      </p:sp>
      <p:sp>
        <p:nvSpPr>
          <p:cNvPr id="26" name="Text 23"/>
          <p:cNvSpPr txBox="1"/>
          <p:nvPr/>
        </p:nvSpPr>
        <p:spPr>
          <a:xfrm>
            <a:off x="10012680" y="3483864"/>
            <a:ext cx="154533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لَذِيذَةٌ</a:t>
            </a:r>
            <a:endParaRPr lang="ar-SA" sz="1500" dirty="0"/>
          </a:p>
        </p:txBody>
      </p:sp>
      <p:sp>
        <p:nvSpPr>
          <p:cNvPr id="27" name="Shape 24"/>
          <p:cNvSpPr/>
          <p:nvPr/>
        </p:nvSpPr>
        <p:spPr>
          <a:xfrm>
            <a:off x="8238744" y="3438144"/>
            <a:ext cx="1636776" cy="438912"/>
          </a:xfrm>
          <a:prstGeom prst="roundRect">
            <a:avLst>
              <a:gd name="adj" fmla="val 10417"/>
            </a:avLst>
          </a:prstGeom>
          <a:solidFill>
            <a:srgbClr val="F4F1EA"/>
          </a:solidFill>
          <a:ln w="9525">
            <a:solidFill>
              <a:srgbClr val="F4F1EA"/>
            </a:solidFill>
            <a:prstDash val="solid"/>
          </a:ln>
        </p:spPr>
      </p:sp>
      <p:sp>
        <p:nvSpPr>
          <p:cNvPr id="28" name="Text 25"/>
          <p:cNvSpPr txBox="1"/>
          <p:nvPr/>
        </p:nvSpPr>
        <p:spPr>
          <a:xfrm>
            <a:off x="8293608" y="3447288"/>
            <a:ext cx="1527048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50" b="1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m.</a:t>
            </a:r>
            <a:endParaRPr lang="en-US" sz="750" dirty="0"/>
          </a:p>
        </p:txBody>
      </p:sp>
      <p:sp>
        <p:nvSpPr>
          <p:cNvPr id="29" name="Text 26"/>
          <p:cNvSpPr txBox="1"/>
          <p:nvPr/>
        </p:nvSpPr>
        <p:spPr>
          <a:xfrm>
            <a:off x="8284464" y="3483864"/>
            <a:ext cx="154533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لَذِيذٌ</a:t>
            </a:r>
            <a:endParaRPr lang="ar-SA" sz="1500" dirty="0"/>
          </a:p>
        </p:txBody>
      </p:sp>
      <p:sp>
        <p:nvSpPr>
          <p:cNvPr id="30" name="Shape 27"/>
          <p:cNvSpPr/>
          <p:nvPr/>
        </p:nvSpPr>
        <p:spPr>
          <a:xfrm>
            <a:off x="4279392" y="1810512"/>
            <a:ext cx="3639312" cy="2157984"/>
          </a:xfrm>
          <a:prstGeom prst="roundRect">
            <a:avLst>
              <a:gd name="adj" fmla="val 3390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31" name="Shape 28"/>
          <p:cNvSpPr/>
          <p:nvPr/>
        </p:nvSpPr>
        <p:spPr>
          <a:xfrm>
            <a:off x="4389120" y="1920240"/>
            <a:ext cx="310896" cy="310896"/>
          </a:xfrm>
          <a:prstGeom prst="ellipse">
            <a:avLst/>
          </a:prstGeom>
          <a:solidFill>
            <a:srgbClr val="F4F1EA"/>
          </a:solidFill>
          <a:ln w="12700">
            <a:solidFill>
              <a:srgbClr val="F4F1EA"/>
            </a:solidFill>
            <a:prstDash val="solid"/>
          </a:ln>
        </p:spPr>
      </p:sp>
      <p:sp>
        <p:nvSpPr>
          <p:cNvPr id="32" name="Text 29"/>
          <p:cNvSpPr txBox="1"/>
          <p:nvPr/>
        </p:nvSpPr>
        <p:spPr>
          <a:xfrm>
            <a:off x="4389120" y="1920240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8</a:t>
            </a:r>
            <a:endParaRPr lang="en-US" sz="1000" dirty="0"/>
          </a:p>
        </p:txBody>
      </p:sp>
      <p:sp>
        <p:nvSpPr>
          <p:cNvPr id="33" name="Shape 30"/>
          <p:cNvSpPr/>
          <p:nvPr/>
        </p:nvSpPr>
        <p:spPr>
          <a:xfrm>
            <a:off x="4782312" y="1938528"/>
            <a:ext cx="709574" cy="256032"/>
          </a:xfrm>
          <a:prstGeom prst="roundRect">
            <a:avLst>
              <a:gd name="adj" fmla="val 50000"/>
            </a:avLst>
          </a:prstGeom>
          <a:solidFill>
            <a:srgbClr val="EFE7D2"/>
          </a:solidFill>
          <a:ln w="12700">
            <a:solidFill>
              <a:srgbClr val="EFE7D2"/>
            </a:solidFill>
            <a:prstDash val="solid"/>
          </a:ln>
        </p:spPr>
      </p:sp>
      <p:sp>
        <p:nvSpPr>
          <p:cNvPr id="34" name="Text 31"/>
          <p:cNvSpPr txBox="1"/>
          <p:nvPr/>
        </p:nvSpPr>
        <p:spPr>
          <a:xfrm>
            <a:off x="4782312" y="1938528"/>
            <a:ext cx="70957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m. · f.</a:t>
            </a:r>
            <a:endParaRPr lang="en-US" sz="800" dirty="0"/>
          </a:p>
        </p:txBody>
      </p:sp>
      <p:sp>
        <p:nvSpPr>
          <p:cNvPr id="35" name="Shape 32"/>
          <p:cNvSpPr/>
          <p:nvPr/>
        </p:nvSpPr>
        <p:spPr>
          <a:xfrm>
            <a:off x="7050024" y="1938528"/>
            <a:ext cx="731520" cy="256032"/>
          </a:xfrm>
          <a:prstGeom prst="roundRect">
            <a:avLst>
              <a:gd name="adj" fmla="val 50000"/>
            </a:avLst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36" name="Text 33"/>
          <p:cNvSpPr txBox="1"/>
          <p:nvPr/>
        </p:nvSpPr>
        <p:spPr>
          <a:xfrm>
            <a:off x="7050024" y="1938528"/>
            <a:ext cx="7315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CORE</a:t>
            </a:r>
            <a:endParaRPr lang="en-US" sz="800" dirty="0"/>
          </a:p>
        </p:txBody>
      </p:sp>
      <p:sp>
        <p:nvSpPr>
          <p:cNvPr id="37" name="Text 34"/>
          <p:cNvSpPr txBox="1"/>
          <p:nvPr/>
        </p:nvSpPr>
        <p:spPr>
          <a:xfrm>
            <a:off x="4389120" y="2212848"/>
            <a:ext cx="3401568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30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حَارٌّ</a:t>
            </a:r>
            <a:endParaRPr lang="ar-SA" sz="3000" dirty="0"/>
          </a:p>
        </p:txBody>
      </p:sp>
      <p:sp>
        <p:nvSpPr>
          <p:cNvPr id="38" name="Text 35"/>
          <p:cNvSpPr txBox="1"/>
          <p:nvPr/>
        </p:nvSpPr>
        <p:spPr>
          <a:xfrm>
            <a:off x="4416552" y="2907792"/>
            <a:ext cx="3364992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b="1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spicy, hot</a:t>
            </a:r>
            <a:endParaRPr lang="en-US" sz="1350" dirty="0"/>
          </a:p>
          <a:p>
            <a:pPr indent="0" marL="0">
              <a:buNone/>
            </a:pPr>
            <a:r>
              <a:rPr lang="en-US" sz="110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ḥār-run</a:t>
            </a:r>
            <a:endParaRPr lang="en-US" sz="1350" dirty="0"/>
          </a:p>
        </p:txBody>
      </p:sp>
      <p:sp>
        <p:nvSpPr>
          <p:cNvPr id="39" name="Shape 36"/>
          <p:cNvSpPr/>
          <p:nvPr/>
        </p:nvSpPr>
        <p:spPr>
          <a:xfrm>
            <a:off x="6144768" y="3438144"/>
            <a:ext cx="1636776" cy="438912"/>
          </a:xfrm>
          <a:prstGeom prst="roundRect">
            <a:avLst>
              <a:gd name="adj" fmla="val 10417"/>
            </a:avLst>
          </a:prstGeom>
          <a:solidFill>
            <a:srgbClr val="F4F1EA"/>
          </a:solidFill>
          <a:ln w="9525">
            <a:solidFill>
              <a:srgbClr val="F4F1EA"/>
            </a:solidFill>
            <a:prstDash val="solid"/>
          </a:ln>
        </p:spPr>
      </p:sp>
      <p:sp>
        <p:nvSpPr>
          <p:cNvPr id="40" name="Text 37"/>
          <p:cNvSpPr txBox="1"/>
          <p:nvPr/>
        </p:nvSpPr>
        <p:spPr>
          <a:xfrm>
            <a:off x="6199632" y="3447288"/>
            <a:ext cx="1527048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50" b="1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f.</a:t>
            </a:r>
            <a:endParaRPr lang="en-US" sz="750" dirty="0"/>
          </a:p>
        </p:txBody>
      </p:sp>
      <p:sp>
        <p:nvSpPr>
          <p:cNvPr id="41" name="Text 38"/>
          <p:cNvSpPr txBox="1"/>
          <p:nvPr/>
        </p:nvSpPr>
        <p:spPr>
          <a:xfrm>
            <a:off x="6190488" y="3483864"/>
            <a:ext cx="154533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حَارَّةٌ</a:t>
            </a:r>
            <a:endParaRPr lang="ar-SA" sz="1500" dirty="0"/>
          </a:p>
        </p:txBody>
      </p:sp>
      <p:sp>
        <p:nvSpPr>
          <p:cNvPr id="42" name="Shape 39"/>
          <p:cNvSpPr/>
          <p:nvPr/>
        </p:nvSpPr>
        <p:spPr>
          <a:xfrm>
            <a:off x="4416552" y="3438144"/>
            <a:ext cx="1636776" cy="438912"/>
          </a:xfrm>
          <a:prstGeom prst="roundRect">
            <a:avLst>
              <a:gd name="adj" fmla="val 10417"/>
            </a:avLst>
          </a:prstGeom>
          <a:solidFill>
            <a:srgbClr val="F4F1EA"/>
          </a:solidFill>
          <a:ln w="9525">
            <a:solidFill>
              <a:srgbClr val="F4F1EA"/>
            </a:solidFill>
            <a:prstDash val="solid"/>
          </a:ln>
        </p:spPr>
      </p:sp>
      <p:sp>
        <p:nvSpPr>
          <p:cNvPr id="43" name="Text 40"/>
          <p:cNvSpPr txBox="1"/>
          <p:nvPr/>
        </p:nvSpPr>
        <p:spPr>
          <a:xfrm>
            <a:off x="4471416" y="3447288"/>
            <a:ext cx="1527048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50" b="1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m.</a:t>
            </a:r>
            <a:endParaRPr lang="en-US" sz="750" dirty="0"/>
          </a:p>
        </p:txBody>
      </p:sp>
      <p:sp>
        <p:nvSpPr>
          <p:cNvPr id="44" name="Text 41"/>
          <p:cNvSpPr txBox="1"/>
          <p:nvPr/>
        </p:nvSpPr>
        <p:spPr>
          <a:xfrm>
            <a:off x="4462272" y="3483864"/>
            <a:ext cx="154533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حَارٌّ</a:t>
            </a:r>
            <a:endParaRPr lang="ar-SA" sz="1500" dirty="0"/>
          </a:p>
        </p:txBody>
      </p:sp>
      <p:sp>
        <p:nvSpPr>
          <p:cNvPr id="45" name="Shape 42"/>
          <p:cNvSpPr/>
          <p:nvPr/>
        </p:nvSpPr>
        <p:spPr>
          <a:xfrm>
            <a:off x="457200" y="1810512"/>
            <a:ext cx="3639312" cy="2157984"/>
          </a:xfrm>
          <a:prstGeom prst="roundRect">
            <a:avLst>
              <a:gd name="adj" fmla="val 3390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46" name="Shape 43"/>
          <p:cNvSpPr/>
          <p:nvPr/>
        </p:nvSpPr>
        <p:spPr>
          <a:xfrm>
            <a:off x="566928" y="1920240"/>
            <a:ext cx="310896" cy="310896"/>
          </a:xfrm>
          <a:prstGeom prst="ellipse">
            <a:avLst/>
          </a:prstGeom>
          <a:solidFill>
            <a:srgbClr val="F4F1EA"/>
          </a:solidFill>
          <a:ln w="12700">
            <a:solidFill>
              <a:srgbClr val="F4F1EA"/>
            </a:solidFill>
            <a:prstDash val="solid"/>
          </a:ln>
        </p:spPr>
      </p:sp>
      <p:sp>
        <p:nvSpPr>
          <p:cNvPr id="47" name="Text 44"/>
          <p:cNvSpPr txBox="1"/>
          <p:nvPr/>
        </p:nvSpPr>
        <p:spPr>
          <a:xfrm>
            <a:off x="566928" y="1920240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9</a:t>
            </a:r>
            <a:endParaRPr lang="en-US" sz="1000" dirty="0"/>
          </a:p>
        </p:txBody>
      </p:sp>
      <p:sp>
        <p:nvSpPr>
          <p:cNvPr id="48" name="Shape 45"/>
          <p:cNvSpPr/>
          <p:nvPr/>
        </p:nvSpPr>
        <p:spPr>
          <a:xfrm>
            <a:off x="960120" y="1938528"/>
            <a:ext cx="709574" cy="256032"/>
          </a:xfrm>
          <a:prstGeom prst="roundRect">
            <a:avLst>
              <a:gd name="adj" fmla="val 50000"/>
            </a:avLst>
          </a:prstGeom>
          <a:solidFill>
            <a:srgbClr val="EFE7D2"/>
          </a:solidFill>
          <a:ln w="12700">
            <a:solidFill>
              <a:srgbClr val="EFE7D2"/>
            </a:solidFill>
            <a:prstDash val="solid"/>
          </a:ln>
        </p:spPr>
      </p:sp>
      <p:sp>
        <p:nvSpPr>
          <p:cNvPr id="49" name="Text 46"/>
          <p:cNvSpPr txBox="1"/>
          <p:nvPr/>
        </p:nvSpPr>
        <p:spPr>
          <a:xfrm>
            <a:off x="960120" y="1938528"/>
            <a:ext cx="70957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m. · f.</a:t>
            </a:r>
            <a:endParaRPr lang="en-US" sz="800" dirty="0"/>
          </a:p>
        </p:txBody>
      </p:sp>
      <p:sp>
        <p:nvSpPr>
          <p:cNvPr id="50" name="Shape 47"/>
          <p:cNvSpPr/>
          <p:nvPr/>
        </p:nvSpPr>
        <p:spPr>
          <a:xfrm>
            <a:off x="3227832" y="1938528"/>
            <a:ext cx="731520" cy="256032"/>
          </a:xfrm>
          <a:prstGeom prst="roundRect">
            <a:avLst>
              <a:gd name="adj" fmla="val 50000"/>
            </a:avLst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51" name="Text 48"/>
          <p:cNvSpPr txBox="1"/>
          <p:nvPr/>
        </p:nvSpPr>
        <p:spPr>
          <a:xfrm>
            <a:off x="3227832" y="1938528"/>
            <a:ext cx="7315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CORE</a:t>
            </a:r>
            <a:endParaRPr lang="en-US" sz="800" dirty="0"/>
          </a:p>
        </p:txBody>
      </p:sp>
      <p:sp>
        <p:nvSpPr>
          <p:cNvPr id="52" name="Text 49"/>
          <p:cNvSpPr txBox="1"/>
          <p:nvPr/>
        </p:nvSpPr>
        <p:spPr>
          <a:xfrm>
            <a:off x="566928" y="2212848"/>
            <a:ext cx="3401568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30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صِحِّيٌّ</a:t>
            </a:r>
            <a:endParaRPr lang="ar-SA" sz="3000" dirty="0"/>
          </a:p>
        </p:txBody>
      </p:sp>
      <p:sp>
        <p:nvSpPr>
          <p:cNvPr id="53" name="Text 50"/>
          <p:cNvSpPr txBox="1"/>
          <p:nvPr/>
        </p:nvSpPr>
        <p:spPr>
          <a:xfrm>
            <a:off x="594360" y="2907792"/>
            <a:ext cx="3364992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b="1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healthy</a:t>
            </a:r>
            <a:endParaRPr lang="en-US" sz="1350" dirty="0"/>
          </a:p>
          <a:p>
            <a:pPr indent="0" marL="0">
              <a:buNone/>
            </a:pPr>
            <a:r>
              <a:rPr lang="en-US" sz="110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ṣiḥ-ḥiy-yun</a:t>
            </a:r>
            <a:endParaRPr lang="en-US" sz="1350" dirty="0"/>
          </a:p>
        </p:txBody>
      </p:sp>
      <p:sp>
        <p:nvSpPr>
          <p:cNvPr id="54" name="Shape 51"/>
          <p:cNvSpPr/>
          <p:nvPr/>
        </p:nvSpPr>
        <p:spPr>
          <a:xfrm>
            <a:off x="2322576" y="3438144"/>
            <a:ext cx="1636776" cy="438912"/>
          </a:xfrm>
          <a:prstGeom prst="roundRect">
            <a:avLst>
              <a:gd name="adj" fmla="val 10417"/>
            </a:avLst>
          </a:prstGeom>
          <a:solidFill>
            <a:srgbClr val="F4F1EA"/>
          </a:solidFill>
          <a:ln w="9525">
            <a:solidFill>
              <a:srgbClr val="F4F1EA"/>
            </a:solidFill>
            <a:prstDash val="solid"/>
          </a:ln>
        </p:spPr>
      </p:sp>
      <p:sp>
        <p:nvSpPr>
          <p:cNvPr id="55" name="Text 52"/>
          <p:cNvSpPr txBox="1"/>
          <p:nvPr/>
        </p:nvSpPr>
        <p:spPr>
          <a:xfrm>
            <a:off x="2377440" y="3447288"/>
            <a:ext cx="1527048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50" b="1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f.</a:t>
            </a:r>
            <a:endParaRPr lang="en-US" sz="750" dirty="0"/>
          </a:p>
        </p:txBody>
      </p:sp>
      <p:sp>
        <p:nvSpPr>
          <p:cNvPr id="56" name="Text 53"/>
          <p:cNvSpPr txBox="1"/>
          <p:nvPr/>
        </p:nvSpPr>
        <p:spPr>
          <a:xfrm>
            <a:off x="2368296" y="3483864"/>
            <a:ext cx="154533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صِحِّيَّةٌ</a:t>
            </a:r>
            <a:endParaRPr lang="ar-SA" sz="1500" dirty="0"/>
          </a:p>
        </p:txBody>
      </p:sp>
      <p:sp>
        <p:nvSpPr>
          <p:cNvPr id="57" name="Shape 54"/>
          <p:cNvSpPr/>
          <p:nvPr/>
        </p:nvSpPr>
        <p:spPr>
          <a:xfrm>
            <a:off x="594360" y="3438144"/>
            <a:ext cx="1636776" cy="438912"/>
          </a:xfrm>
          <a:prstGeom prst="roundRect">
            <a:avLst>
              <a:gd name="adj" fmla="val 10417"/>
            </a:avLst>
          </a:prstGeom>
          <a:solidFill>
            <a:srgbClr val="F4F1EA"/>
          </a:solidFill>
          <a:ln w="9525">
            <a:solidFill>
              <a:srgbClr val="F4F1EA"/>
            </a:solidFill>
            <a:prstDash val="solid"/>
          </a:ln>
        </p:spPr>
      </p:sp>
      <p:sp>
        <p:nvSpPr>
          <p:cNvPr id="58" name="Text 55"/>
          <p:cNvSpPr txBox="1"/>
          <p:nvPr/>
        </p:nvSpPr>
        <p:spPr>
          <a:xfrm>
            <a:off x="649224" y="3447288"/>
            <a:ext cx="1527048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50" b="1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m.</a:t>
            </a:r>
            <a:endParaRPr lang="en-US" sz="750" dirty="0"/>
          </a:p>
        </p:txBody>
      </p:sp>
      <p:sp>
        <p:nvSpPr>
          <p:cNvPr id="59" name="Text 56"/>
          <p:cNvSpPr txBox="1"/>
          <p:nvPr/>
        </p:nvSpPr>
        <p:spPr>
          <a:xfrm>
            <a:off x="640080" y="3483864"/>
            <a:ext cx="154533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صِحِّيٌّ</a:t>
            </a:r>
            <a:endParaRPr lang="ar-SA" sz="1500" dirty="0"/>
          </a:p>
        </p:txBody>
      </p:sp>
      <p:sp>
        <p:nvSpPr>
          <p:cNvPr id="60" name="Shape 57"/>
          <p:cNvSpPr/>
          <p:nvPr/>
        </p:nvSpPr>
        <p:spPr>
          <a:xfrm>
            <a:off x="8101584" y="4151376"/>
            <a:ext cx="3639312" cy="2157984"/>
          </a:xfrm>
          <a:prstGeom prst="roundRect">
            <a:avLst>
              <a:gd name="adj" fmla="val 3390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61" name="Shape 58"/>
          <p:cNvSpPr/>
          <p:nvPr/>
        </p:nvSpPr>
        <p:spPr>
          <a:xfrm>
            <a:off x="8211312" y="4261104"/>
            <a:ext cx="310896" cy="310896"/>
          </a:xfrm>
          <a:prstGeom prst="ellipse">
            <a:avLst/>
          </a:prstGeom>
          <a:solidFill>
            <a:srgbClr val="F4F1EA"/>
          </a:solidFill>
          <a:ln w="12700">
            <a:solidFill>
              <a:srgbClr val="F4F1EA"/>
            </a:solidFill>
            <a:prstDash val="solid"/>
          </a:ln>
        </p:spPr>
      </p:sp>
      <p:sp>
        <p:nvSpPr>
          <p:cNvPr id="62" name="Text 59"/>
          <p:cNvSpPr txBox="1"/>
          <p:nvPr/>
        </p:nvSpPr>
        <p:spPr>
          <a:xfrm>
            <a:off x="8211312" y="4261104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10</a:t>
            </a:r>
            <a:endParaRPr lang="en-US" sz="1000" dirty="0"/>
          </a:p>
        </p:txBody>
      </p:sp>
      <p:sp>
        <p:nvSpPr>
          <p:cNvPr id="63" name="Shape 60"/>
          <p:cNvSpPr/>
          <p:nvPr/>
        </p:nvSpPr>
        <p:spPr>
          <a:xfrm>
            <a:off x="8604504" y="4279392"/>
            <a:ext cx="833933" cy="256032"/>
          </a:xfrm>
          <a:prstGeom prst="roundRect">
            <a:avLst>
              <a:gd name="adj" fmla="val 50000"/>
            </a:avLst>
          </a:prstGeom>
          <a:solidFill>
            <a:srgbClr val="EFE7D2"/>
          </a:solidFill>
          <a:ln w="12700">
            <a:solidFill>
              <a:srgbClr val="EFE7D2"/>
            </a:solidFill>
            <a:prstDash val="solid"/>
          </a:ln>
        </p:spPr>
      </p:sp>
      <p:sp>
        <p:nvSpPr>
          <p:cNvPr id="64" name="Text 61"/>
          <p:cNvSpPr txBox="1"/>
          <p:nvPr/>
        </p:nvSpPr>
        <p:spPr>
          <a:xfrm>
            <a:off x="8604504" y="4279392"/>
            <a:ext cx="833933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sg. · pl.</a:t>
            </a:r>
            <a:endParaRPr lang="en-US" sz="800" dirty="0"/>
          </a:p>
        </p:txBody>
      </p:sp>
      <p:sp>
        <p:nvSpPr>
          <p:cNvPr id="65" name="Shape 62"/>
          <p:cNvSpPr/>
          <p:nvPr/>
        </p:nvSpPr>
        <p:spPr>
          <a:xfrm>
            <a:off x="10872216" y="4279392"/>
            <a:ext cx="731520" cy="256032"/>
          </a:xfrm>
          <a:prstGeom prst="roundRect">
            <a:avLst>
              <a:gd name="adj" fmla="val 50000"/>
            </a:avLst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66" name="Text 63"/>
          <p:cNvSpPr txBox="1"/>
          <p:nvPr/>
        </p:nvSpPr>
        <p:spPr>
          <a:xfrm>
            <a:off x="10872216" y="4279392"/>
            <a:ext cx="7315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CORE</a:t>
            </a:r>
            <a:endParaRPr lang="en-US" sz="800" dirty="0"/>
          </a:p>
        </p:txBody>
      </p:sp>
      <p:sp>
        <p:nvSpPr>
          <p:cNvPr id="67" name="Text 64"/>
          <p:cNvSpPr txBox="1"/>
          <p:nvPr/>
        </p:nvSpPr>
        <p:spPr>
          <a:xfrm>
            <a:off x="8211312" y="4553712"/>
            <a:ext cx="3401568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30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فَاكِهَةٌ</a:t>
            </a:r>
            <a:endParaRPr lang="ar-SA" sz="3000" dirty="0"/>
          </a:p>
        </p:txBody>
      </p:sp>
      <p:sp>
        <p:nvSpPr>
          <p:cNvPr id="68" name="Text 65"/>
          <p:cNvSpPr txBox="1"/>
          <p:nvPr/>
        </p:nvSpPr>
        <p:spPr>
          <a:xfrm>
            <a:off x="8238744" y="5248656"/>
            <a:ext cx="3364992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b="1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fruit</a:t>
            </a:r>
            <a:endParaRPr lang="en-US" sz="1350" dirty="0"/>
          </a:p>
          <a:p>
            <a:pPr indent="0" marL="0">
              <a:buNone/>
            </a:pPr>
            <a:r>
              <a:rPr lang="en-US" sz="110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fā-ki-ha-tun</a:t>
            </a:r>
            <a:endParaRPr lang="en-US" sz="1350" dirty="0"/>
          </a:p>
        </p:txBody>
      </p:sp>
      <p:sp>
        <p:nvSpPr>
          <p:cNvPr id="69" name="Shape 66"/>
          <p:cNvSpPr/>
          <p:nvPr/>
        </p:nvSpPr>
        <p:spPr>
          <a:xfrm>
            <a:off x="9966960" y="5779008"/>
            <a:ext cx="1636776" cy="438912"/>
          </a:xfrm>
          <a:prstGeom prst="roundRect">
            <a:avLst>
              <a:gd name="adj" fmla="val 10417"/>
            </a:avLst>
          </a:prstGeom>
          <a:solidFill>
            <a:srgbClr val="F4F1EA"/>
          </a:solidFill>
          <a:ln w="9525">
            <a:solidFill>
              <a:srgbClr val="F4F1EA"/>
            </a:solidFill>
            <a:prstDash val="solid"/>
          </a:ln>
        </p:spPr>
      </p:sp>
      <p:sp>
        <p:nvSpPr>
          <p:cNvPr id="70" name="Text 67"/>
          <p:cNvSpPr txBox="1"/>
          <p:nvPr/>
        </p:nvSpPr>
        <p:spPr>
          <a:xfrm>
            <a:off x="10021824" y="5788152"/>
            <a:ext cx="1527048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50" b="1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pl.</a:t>
            </a:r>
            <a:endParaRPr lang="en-US" sz="750" dirty="0"/>
          </a:p>
        </p:txBody>
      </p:sp>
      <p:sp>
        <p:nvSpPr>
          <p:cNvPr id="71" name="Text 68"/>
          <p:cNvSpPr txBox="1"/>
          <p:nvPr/>
        </p:nvSpPr>
        <p:spPr>
          <a:xfrm>
            <a:off x="10012680" y="5824728"/>
            <a:ext cx="154533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فَوَاكِهُ</a:t>
            </a:r>
            <a:endParaRPr lang="ar-SA" sz="1500" dirty="0"/>
          </a:p>
        </p:txBody>
      </p:sp>
      <p:sp>
        <p:nvSpPr>
          <p:cNvPr id="72" name="Shape 69"/>
          <p:cNvSpPr/>
          <p:nvPr/>
        </p:nvSpPr>
        <p:spPr>
          <a:xfrm>
            <a:off x="8238744" y="5779008"/>
            <a:ext cx="1636776" cy="438912"/>
          </a:xfrm>
          <a:prstGeom prst="roundRect">
            <a:avLst>
              <a:gd name="adj" fmla="val 10417"/>
            </a:avLst>
          </a:prstGeom>
          <a:solidFill>
            <a:srgbClr val="F4F1EA"/>
          </a:solidFill>
          <a:ln w="9525">
            <a:solidFill>
              <a:srgbClr val="F4F1EA"/>
            </a:solidFill>
            <a:prstDash val="solid"/>
          </a:ln>
        </p:spPr>
      </p:sp>
      <p:sp>
        <p:nvSpPr>
          <p:cNvPr id="73" name="Text 70"/>
          <p:cNvSpPr txBox="1"/>
          <p:nvPr/>
        </p:nvSpPr>
        <p:spPr>
          <a:xfrm>
            <a:off x="8293608" y="5788152"/>
            <a:ext cx="1527048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50" b="1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sg.</a:t>
            </a:r>
            <a:endParaRPr lang="en-US" sz="750" dirty="0"/>
          </a:p>
        </p:txBody>
      </p:sp>
      <p:sp>
        <p:nvSpPr>
          <p:cNvPr id="74" name="Text 71"/>
          <p:cNvSpPr txBox="1"/>
          <p:nvPr/>
        </p:nvSpPr>
        <p:spPr>
          <a:xfrm>
            <a:off x="8284464" y="5824728"/>
            <a:ext cx="154533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فَاكِهَةٌ</a:t>
            </a:r>
            <a:endParaRPr lang="ar-SA" sz="1500" dirty="0"/>
          </a:p>
        </p:txBody>
      </p:sp>
      <p:sp>
        <p:nvSpPr>
          <p:cNvPr id="75" name="Shape 72"/>
          <p:cNvSpPr/>
          <p:nvPr/>
        </p:nvSpPr>
        <p:spPr>
          <a:xfrm>
            <a:off x="4279392" y="4151376"/>
            <a:ext cx="3639312" cy="2157984"/>
          </a:xfrm>
          <a:prstGeom prst="roundRect">
            <a:avLst>
              <a:gd name="adj" fmla="val 3390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76" name="Shape 73"/>
          <p:cNvSpPr/>
          <p:nvPr/>
        </p:nvSpPr>
        <p:spPr>
          <a:xfrm>
            <a:off x="4389120" y="4261104"/>
            <a:ext cx="310896" cy="310896"/>
          </a:xfrm>
          <a:prstGeom prst="ellipse">
            <a:avLst/>
          </a:prstGeom>
          <a:solidFill>
            <a:srgbClr val="F4F1EA"/>
          </a:solidFill>
          <a:ln w="12700">
            <a:solidFill>
              <a:srgbClr val="F4F1EA"/>
            </a:solidFill>
            <a:prstDash val="solid"/>
          </a:ln>
        </p:spPr>
      </p:sp>
      <p:sp>
        <p:nvSpPr>
          <p:cNvPr id="77" name="Text 74"/>
          <p:cNvSpPr txBox="1"/>
          <p:nvPr/>
        </p:nvSpPr>
        <p:spPr>
          <a:xfrm>
            <a:off x="4389120" y="4261104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11</a:t>
            </a:r>
            <a:endParaRPr lang="en-US" sz="1000" dirty="0"/>
          </a:p>
        </p:txBody>
      </p:sp>
      <p:sp>
        <p:nvSpPr>
          <p:cNvPr id="78" name="Shape 75"/>
          <p:cNvSpPr/>
          <p:nvPr/>
        </p:nvSpPr>
        <p:spPr>
          <a:xfrm>
            <a:off x="4782312" y="4279392"/>
            <a:ext cx="704088" cy="256032"/>
          </a:xfrm>
          <a:prstGeom prst="roundRect">
            <a:avLst>
              <a:gd name="adj" fmla="val 50000"/>
            </a:avLst>
          </a:prstGeom>
          <a:solidFill>
            <a:srgbClr val="EFE7D2"/>
          </a:solidFill>
          <a:ln w="12700">
            <a:solidFill>
              <a:srgbClr val="EFE7D2"/>
            </a:solidFill>
            <a:prstDash val="solid"/>
          </a:ln>
        </p:spPr>
      </p:sp>
      <p:sp>
        <p:nvSpPr>
          <p:cNvPr id="79" name="Text 76"/>
          <p:cNvSpPr txBox="1"/>
          <p:nvPr/>
        </p:nvSpPr>
        <p:spPr>
          <a:xfrm>
            <a:off x="4782312" y="4279392"/>
            <a:ext cx="70408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idāfa</a:t>
            </a:r>
            <a:endParaRPr lang="en-US" sz="800" dirty="0"/>
          </a:p>
        </p:txBody>
      </p:sp>
      <p:sp>
        <p:nvSpPr>
          <p:cNvPr id="80" name="Shape 77"/>
          <p:cNvSpPr/>
          <p:nvPr/>
        </p:nvSpPr>
        <p:spPr>
          <a:xfrm>
            <a:off x="7050024" y="4279392"/>
            <a:ext cx="731520" cy="256032"/>
          </a:xfrm>
          <a:prstGeom prst="roundRect">
            <a:avLst>
              <a:gd name="adj" fmla="val 50000"/>
            </a:avLst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81" name="Text 78"/>
          <p:cNvSpPr txBox="1"/>
          <p:nvPr/>
        </p:nvSpPr>
        <p:spPr>
          <a:xfrm>
            <a:off x="7050024" y="4279392"/>
            <a:ext cx="7315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CORE</a:t>
            </a:r>
            <a:endParaRPr lang="en-US" sz="800" dirty="0"/>
          </a:p>
        </p:txBody>
      </p:sp>
      <p:sp>
        <p:nvSpPr>
          <p:cNvPr id="82" name="Text 79"/>
          <p:cNvSpPr txBox="1"/>
          <p:nvPr/>
        </p:nvSpPr>
        <p:spPr>
          <a:xfrm>
            <a:off x="4389120" y="4553712"/>
            <a:ext cx="3401568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30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عَصِيرُ البُرْتُقَالِ</a:t>
            </a:r>
            <a:endParaRPr lang="ar-SA" sz="3000" dirty="0"/>
          </a:p>
        </p:txBody>
      </p:sp>
      <p:sp>
        <p:nvSpPr>
          <p:cNvPr id="83" name="Text 80"/>
          <p:cNvSpPr txBox="1"/>
          <p:nvPr/>
        </p:nvSpPr>
        <p:spPr>
          <a:xfrm>
            <a:off x="4416552" y="5468112"/>
            <a:ext cx="3364992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b="1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orange juice (idāfa)</a:t>
            </a:r>
            <a:endParaRPr lang="en-US" sz="1350" dirty="0"/>
          </a:p>
          <a:p>
            <a:pPr indent="0" marL="0">
              <a:buNone/>
            </a:pPr>
            <a:r>
              <a:rPr lang="en-US" sz="110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ʿa-ṣī-ru al-bur-tu-qā-li</a:t>
            </a:r>
            <a:endParaRPr lang="en-US" sz="1350" dirty="0"/>
          </a:p>
        </p:txBody>
      </p:sp>
      <p:sp>
        <p:nvSpPr>
          <p:cNvPr id="84" name="Shape 81"/>
          <p:cNvSpPr/>
          <p:nvPr/>
        </p:nvSpPr>
        <p:spPr>
          <a:xfrm>
            <a:off x="457200" y="4151376"/>
            <a:ext cx="3639312" cy="2157984"/>
          </a:xfrm>
          <a:prstGeom prst="roundRect">
            <a:avLst>
              <a:gd name="adj" fmla="val 3390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85" name="Shape 82"/>
          <p:cNvSpPr/>
          <p:nvPr/>
        </p:nvSpPr>
        <p:spPr>
          <a:xfrm>
            <a:off x="566928" y="4261104"/>
            <a:ext cx="310896" cy="310896"/>
          </a:xfrm>
          <a:prstGeom prst="ellipse">
            <a:avLst/>
          </a:prstGeom>
          <a:solidFill>
            <a:srgbClr val="F4F1EA"/>
          </a:solidFill>
          <a:ln w="12700">
            <a:solidFill>
              <a:srgbClr val="F4F1EA"/>
            </a:solidFill>
            <a:prstDash val="solid"/>
          </a:ln>
        </p:spPr>
      </p:sp>
      <p:sp>
        <p:nvSpPr>
          <p:cNvPr id="86" name="Text 83"/>
          <p:cNvSpPr txBox="1"/>
          <p:nvPr/>
        </p:nvSpPr>
        <p:spPr>
          <a:xfrm>
            <a:off x="566928" y="4261104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12</a:t>
            </a:r>
            <a:endParaRPr lang="en-US" sz="1000" dirty="0"/>
          </a:p>
        </p:txBody>
      </p:sp>
      <p:sp>
        <p:nvSpPr>
          <p:cNvPr id="87" name="Shape 84"/>
          <p:cNvSpPr/>
          <p:nvPr/>
        </p:nvSpPr>
        <p:spPr>
          <a:xfrm>
            <a:off x="960120" y="4279392"/>
            <a:ext cx="704088" cy="256032"/>
          </a:xfrm>
          <a:prstGeom prst="roundRect">
            <a:avLst>
              <a:gd name="adj" fmla="val 50000"/>
            </a:avLst>
          </a:prstGeom>
          <a:solidFill>
            <a:srgbClr val="EFE7D2"/>
          </a:solidFill>
          <a:ln w="12700">
            <a:solidFill>
              <a:srgbClr val="EFE7D2"/>
            </a:solidFill>
            <a:prstDash val="solid"/>
          </a:ln>
        </p:spPr>
      </p:sp>
      <p:sp>
        <p:nvSpPr>
          <p:cNvPr id="88" name="Text 85"/>
          <p:cNvSpPr txBox="1"/>
          <p:nvPr/>
        </p:nvSpPr>
        <p:spPr>
          <a:xfrm>
            <a:off x="960120" y="4279392"/>
            <a:ext cx="70408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meals</a:t>
            </a:r>
            <a:endParaRPr lang="en-US" sz="800" dirty="0"/>
          </a:p>
        </p:txBody>
      </p:sp>
      <p:sp>
        <p:nvSpPr>
          <p:cNvPr id="89" name="Shape 86"/>
          <p:cNvSpPr/>
          <p:nvPr/>
        </p:nvSpPr>
        <p:spPr>
          <a:xfrm>
            <a:off x="3227832" y="4279392"/>
            <a:ext cx="731520" cy="256032"/>
          </a:xfrm>
          <a:prstGeom prst="roundRect">
            <a:avLst>
              <a:gd name="adj" fmla="val 50000"/>
            </a:avLst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90" name="Text 87"/>
          <p:cNvSpPr txBox="1"/>
          <p:nvPr/>
        </p:nvSpPr>
        <p:spPr>
          <a:xfrm>
            <a:off x="3227832" y="4279392"/>
            <a:ext cx="7315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CORE</a:t>
            </a:r>
            <a:endParaRPr lang="en-US" sz="800" dirty="0"/>
          </a:p>
        </p:txBody>
      </p:sp>
      <p:sp>
        <p:nvSpPr>
          <p:cNvPr id="91" name="Text 88"/>
          <p:cNvSpPr txBox="1"/>
          <p:nvPr/>
        </p:nvSpPr>
        <p:spPr>
          <a:xfrm>
            <a:off x="566928" y="4553712"/>
            <a:ext cx="3401568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28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الفُطُورُ · الغَدَاءُ · العَشَاءُ</a:t>
            </a:r>
            <a:endParaRPr lang="ar-SA" sz="2800" dirty="0"/>
          </a:p>
        </p:txBody>
      </p:sp>
      <p:sp>
        <p:nvSpPr>
          <p:cNvPr id="92" name="Text 89"/>
          <p:cNvSpPr txBox="1"/>
          <p:nvPr/>
        </p:nvSpPr>
        <p:spPr>
          <a:xfrm>
            <a:off x="594360" y="5468112"/>
            <a:ext cx="3364992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b="1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breakfast · lunch · dinner</a:t>
            </a:r>
            <a:endParaRPr lang="en-US" sz="1350" dirty="0"/>
          </a:p>
          <a:p>
            <a:pPr indent="0" marL="0">
              <a:buNone/>
            </a:pPr>
            <a:r>
              <a:rPr lang="en-US" sz="110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al-fu-ṭū-ru · al-gha-dā-ʾu · al-ʿa-shā-ʾu</a:t>
            </a:r>
            <a:endParaRPr lang="en-US" sz="1350" dirty="0"/>
          </a:p>
        </p:txBody>
      </p:sp>
      <p:sp>
        <p:nvSpPr>
          <p:cNvPr id="93" name="Text 90"/>
          <p:cNvSpPr txBox="1"/>
          <p:nvPr/>
        </p:nvSpPr>
        <p:spPr>
          <a:xfrm>
            <a:off x="10360152" y="6455664"/>
            <a:ext cx="1371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6 / 25</a:t>
            </a:r>
            <a:endParaRPr lang="en-US" sz="85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D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237744"/>
            <a:ext cx="420624" cy="420624"/>
          </a:xfrm>
          <a:prstGeom prst="ellipse">
            <a:avLst/>
          </a:prstGeom>
          <a:solidFill>
            <a:srgbClr val="1B3B6F"/>
          </a:solidFill>
          <a:ln w="12700">
            <a:solidFill>
              <a:srgbClr val="D4AF37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457200" y="219456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D4AF37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م</a:t>
            </a:r>
            <a:endParaRPr lang="ar-SA" sz="18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3657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Al Madina Online School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57200"/>
            <a:ext cx="4572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ARABIC DEPARTMENT · MIFTAH ARABIC · IGCSE 0544</a:t>
            </a:r>
            <a:endParaRPr lang="en-US" sz="800" dirty="0"/>
          </a:p>
        </p:txBody>
      </p:sp>
      <p:sp>
        <p:nvSpPr>
          <p:cNvPr id="6" name="Shape 4"/>
          <p:cNvSpPr/>
          <p:nvPr/>
        </p:nvSpPr>
        <p:spPr>
          <a:xfrm>
            <a:off x="8897112" y="274320"/>
            <a:ext cx="2834640" cy="329184"/>
          </a:xfrm>
          <a:prstGeom prst="roundRect">
            <a:avLst>
              <a:gd name="adj" fmla="val 50000"/>
            </a:avLst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8897112" y="274320"/>
            <a:ext cx="28346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AT-A-L04 · Speaking workshop</a:t>
            </a:r>
            <a:endParaRPr lang="en-US" sz="950" dirty="0"/>
          </a:p>
        </p:txBody>
      </p:sp>
      <p:sp>
        <p:nvSpPr>
          <p:cNvPr id="8" name="Shape 6"/>
          <p:cNvSpPr/>
          <p:nvPr/>
        </p:nvSpPr>
        <p:spPr>
          <a:xfrm>
            <a:off x="7295083" y="274320"/>
            <a:ext cx="1464869" cy="329184"/>
          </a:xfrm>
          <a:prstGeom prst="roundRect">
            <a:avLst>
              <a:gd name="adj" fmla="val 50000"/>
            </a:avLst>
          </a:prstGeom>
          <a:solidFill>
            <a:srgbClr val="1E6B52"/>
          </a:solidFill>
          <a:ln w="12700">
            <a:solidFill>
              <a:srgbClr val="1E6B52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7295083" y="274320"/>
            <a:ext cx="1464869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YOU DO · 3 MIN</a:t>
            </a:r>
            <a:endParaRPr lang="en-US" sz="900" dirty="0"/>
          </a:p>
        </p:txBody>
      </p:sp>
      <p:sp>
        <p:nvSpPr>
          <p:cNvPr id="10" name="Text 8"/>
          <p:cNvSpPr txBox="1"/>
          <p:nvPr/>
        </p:nvSpPr>
        <p:spPr>
          <a:xfrm>
            <a:off x="457200" y="822960"/>
            <a:ext cx="69494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300" kern="0" dirty="0">
                <a:solidFill>
                  <a:srgbClr val="1E6B52"/>
                </a:solidFill>
                <a:latin typeface="Calibri" pitchFamily="34" charset="0"/>
                <a:cs typeface="Amiri" pitchFamily="2" charset="-78"/>
              </a:rPr>
              <a:t>BREAKOUT ROOMS · HOW WE WORK</a:t>
            </a:r>
            <a:endParaRPr lang="en-US" sz="1000" dirty="0"/>
          </a:p>
        </p:txBody>
      </p:sp>
      <p:sp>
        <p:nvSpPr>
          <p:cNvPr id="11" name="Text 9"/>
          <p:cNvSpPr txBox="1"/>
          <p:nvPr/>
        </p:nvSpPr>
        <p:spPr>
          <a:xfrm>
            <a:off x="457200" y="1033272"/>
            <a:ext cx="69494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Examiner · candidate · observer</a:t>
            </a:r>
            <a:endParaRPr lang="en-US" sz="2800" dirty="0"/>
          </a:p>
        </p:txBody>
      </p:sp>
      <p:sp>
        <p:nvSpPr>
          <p:cNvPr id="12" name="Text 10"/>
          <p:cNvSpPr txBox="1"/>
          <p:nvPr/>
        </p:nvSpPr>
        <p:spPr>
          <a:xfrm>
            <a:off x="7498080" y="868680"/>
            <a:ext cx="4233672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2800" b="1" dirty="0">
                <a:solidFill>
                  <a:srgbClr val="8A6D1E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فِي الغُرَفِ</a:t>
            </a:r>
            <a:endParaRPr lang="ar-SA" sz="28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6455664"/>
            <a:ext cx="6400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Miftah Arabic · Topic A · Speaking workshop · AT-A-L04</a:t>
            </a:r>
            <a:endParaRPr lang="en-US" sz="850" dirty="0"/>
          </a:p>
        </p:txBody>
      </p:sp>
      <p:sp>
        <p:nvSpPr>
          <p:cNvPr id="15" name="Shape 12"/>
          <p:cNvSpPr/>
          <p:nvPr/>
        </p:nvSpPr>
        <p:spPr>
          <a:xfrm>
            <a:off x="457200" y="1810512"/>
            <a:ext cx="5715000" cy="4498848"/>
          </a:xfrm>
          <a:prstGeom prst="roundRect">
            <a:avLst>
              <a:gd name="adj" fmla="val 1626"/>
            </a:avLst>
          </a:prstGeom>
          <a:solidFill>
            <a:srgbClr val="F4F1EA"/>
          </a:solidFill>
          <a:ln w="9525">
            <a:solidFill>
              <a:srgbClr val="E8D49A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16" name="Shape 13"/>
          <p:cNvSpPr/>
          <p:nvPr/>
        </p:nvSpPr>
        <p:spPr>
          <a:xfrm>
            <a:off x="640080" y="1920240"/>
            <a:ext cx="3108960" cy="292608"/>
          </a:xfrm>
          <a:prstGeom prst="roundRect">
            <a:avLst>
              <a:gd name="adj" fmla="val 50000"/>
            </a:avLst>
          </a:prstGeom>
          <a:solidFill>
            <a:srgbClr val="8A6D1E"/>
          </a:solidFill>
          <a:ln w="12700">
            <a:solidFill>
              <a:srgbClr val="8A6D1E"/>
            </a:solidFill>
            <a:prstDash val="solid"/>
          </a:ln>
        </p:spPr>
      </p:sp>
      <p:sp>
        <p:nvSpPr>
          <p:cNvPr id="17" name="Text 14"/>
          <p:cNvSpPr txBox="1"/>
          <p:nvPr/>
        </p:nvSpPr>
        <p:spPr>
          <a:xfrm>
            <a:off x="640080" y="1920240"/>
            <a:ext cx="31089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BREAKOUT ROUTINE</a:t>
            </a:r>
            <a:endParaRPr lang="en-US" sz="900" dirty="0"/>
          </a:p>
        </p:txBody>
      </p:sp>
      <p:sp>
        <p:nvSpPr>
          <p:cNvPr id="18" name="Text 15"/>
          <p:cNvSpPr txBox="1"/>
          <p:nvPr/>
        </p:nvSpPr>
        <p:spPr>
          <a:xfrm>
            <a:off x="640080" y="2286000"/>
            <a:ext cx="53492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0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🎧  Three jobs, then swap</a:t>
            </a:r>
            <a:endParaRPr lang="en-US" sz="2200" dirty="0"/>
          </a:p>
        </p:txBody>
      </p:sp>
      <p:sp>
        <p:nvSpPr>
          <p:cNvPr id="19" name="Text 16"/>
          <p:cNvSpPr txBox="1"/>
          <p:nvPr/>
        </p:nvSpPr>
        <p:spPr>
          <a:xfrm>
            <a:off x="640080" y="2816352"/>
            <a:ext cx="534924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50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Rooms of three. A = examiner (reads the questions only). B = candidate (answers from the task card). C = observer (ticks the checklist and gives one WWW and one EBI).</a:t>
            </a:r>
            <a:endParaRPr lang="en-US" sz="1350" dirty="0"/>
          </a:p>
        </p:txBody>
      </p:sp>
      <p:sp>
        <p:nvSpPr>
          <p:cNvPr id="20" name="Text 17"/>
          <p:cNvSpPr txBox="1"/>
          <p:nvPr/>
        </p:nvSpPr>
        <p:spPr>
          <a:xfrm>
            <a:off x="640080" y="4041648"/>
            <a:ext cx="53035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b="1" spc="200" kern="0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HOW WE RUN IT ONLINE</a:t>
            </a:r>
            <a:endParaRPr lang="en-US" sz="950" dirty="0"/>
          </a:p>
        </p:txBody>
      </p:sp>
      <p:sp>
        <p:nvSpPr>
          <p:cNvPr id="21" name="Shape 18"/>
          <p:cNvSpPr/>
          <p:nvPr/>
        </p:nvSpPr>
        <p:spPr>
          <a:xfrm>
            <a:off x="658368" y="4407408"/>
            <a:ext cx="274320" cy="274320"/>
          </a:xfrm>
          <a:prstGeom prst="ellipse">
            <a:avLst/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22" name="Text 19"/>
          <p:cNvSpPr txBox="1"/>
          <p:nvPr/>
        </p:nvSpPr>
        <p:spPr>
          <a:xfrm>
            <a:off x="658368" y="4407408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1</a:t>
            </a:r>
            <a:endParaRPr lang="en-US" sz="1000" dirty="0"/>
          </a:p>
        </p:txBody>
      </p:sp>
      <p:sp>
        <p:nvSpPr>
          <p:cNvPr id="23" name="Text 20"/>
          <p:cNvSpPr txBox="1"/>
          <p:nvPr/>
        </p:nvSpPr>
        <p:spPr>
          <a:xfrm>
            <a:off x="1024128" y="4334256"/>
            <a:ext cx="4983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1 minute: the candidate reads the card and plans (no writing full sentences).</a:t>
            </a:r>
            <a:endParaRPr lang="en-US" sz="1150" dirty="0"/>
          </a:p>
        </p:txBody>
      </p:sp>
      <p:sp>
        <p:nvSpPr>
          <p:cNvPr id="24" name="Shape 21"/>
          <p:cNvSpPr/>
          <p:nvPr/>
        </p:nvSpPr>
        <p:spPr>
          <a:xfrm>
            <a:off x="658368" y="4864608"/>
            <a:ext cx="274320" cy="274320"/>
          </a:xfrm>
          <a:prstGeom prst="ellipse">
            <a:avLst/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25" name="Text 22"/>
          <p:cNvSpPr txBox="1"/>
          <p:nvPr/>
        </p:nvSpPr>
        <p:spPr>
          <a:xfrm>
            <a:off x="658368" y="4864608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2</a:t>
            </a:r>
            <a:endParaRPr lang="en-US" sz="1000" dirty="0"/>
          </a:p>
        </p:txBody>
      </p:sp>
      <p:sp>
        <p:nvSpPr>
          <p:cNvPr id="26" name="Text 23"/>
          <p:cNvSpPr txBox="1"/>
          <p:nvPr/>
        </p:nvSpPr>
        <p:spPr>
          <a:xfrm>
            <a:off x="1024128" y="4791456"/>
            <a:ext cx="4983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About 3 minutes: the role play — the examiner reads every question in order.</a:t>
            </a:r>
            <a:endParaRPr lang="en-US" sz="1150" dirty="0"/>
          </a:p>
        </p:txBody>
      </p:sp>
      <p:sp>
        <p:nvSpPr>
          <p:cNvPr id="27" name="Shape 24"/>
          <p:cNvSpPr/>
          <p:nvPr/>
        </p:nvSpPr>
        <p:spPr>
          <a:xfrm>
            <a:off x="658368" y="5321808"/>
            <a:ext cx="274320" cy="274320"/>
          </a:xfrm>
          <a:prstGeom prst="ellipse">
            <a:avLst/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28" name="Text 25"/>
          <p:cNvSpPr txBox="1"/>
          <p:nvPr/>
        </p:nvSpPr>
        <p:spPr>
          <a:xfrm>
            <a:off x="658368" y="5321808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3</a:t>
            </a:r>
            <a:endParaRPr lang="en-US" sz="1000" dirty="0"/>
          </a:p>
        </p:txBody>
      </p:sp>
      <p:sp>
        <p:nvSpPr>
          <p:cNvPr id="29" name="Text 26"/>
          <p:cNvSpPr txBox="1"/>
          <p:nvPr/>
        </p:nvSpPr>
        <p:spPr>
          <a:xfrm>
            <a:off x="1024128" y="5248656"/>
            <a:ext cx="4983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1 minute: the observer gives feedback (WWW + EBI).</a:t>
            </a:r>
            <a:endParaRPr lang="en-US" sz="1150" dirty="0"/>
          </a:p>
        </p:txBody>
      </p:sp>
      <p:sp>
        <p:nvSpPr>
          <p:cNvPr id="30" name="Shape 27"/>
          <p:cNvSpPr/>
          <p:nvPr/>
        </p:nvSpPr>
        <p:spPr>
          <a:xfrm>
            <a:off x="658368" y="5779008"/>
            <a:ext cx="274320" cy="274320"/>
          </a:xfrm>
          <a:prstGeom prst="ellipse">
            <a:avLst/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31" name="Text 28"/>
          <p:cNvSpPr txBox="1"/>
          <p:nvPr/>
        </p:nvSpPr>
        <p:spPr>
          <a:xfrm>
            <a:off x="658368" y="5779008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4</a:t>
            </a:r>
            <a:endParaRPr lang="en-US" sz="1000" dirty="0"/>
          </a:p>
        </p:txBody>
      </p:sp>
      <p:sp>
        <p:nvSpPr>
          <p:cNvPr id="32" name="Text 29"/>
          <p:cNvSpPr txBox="1"/>
          <p:nvPr/>
        </p:nvSpPr>
        <p:spPr>
          <a:xfrm>
            <a:off x="1024128" y="5705856"/>
            <a:ext cx="4983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Swap jobs and do the next role play. Then the topic conversation.</a:t>
            </a:r>
            <a:endParaRPr lang="en-US" sz="1150" dirty="0"/>
          </a:p>
        </p:txBody>
      </p:sp>
      <p:sp>
        <p:nvSpPr>
          <p:cNvPr id="33" name="Shape 30"/>
          <p:cNvSpPr/>
          <p:nvPr/>
        </p:nvSpPr>
        <p:spPr>
          <a:xfrm>
            <a:off x="6355080" y="1810512"/>
            <a:ext cx="5376672" cy="896112"/>
          </a:xfrm>
          <a:prstGeom prst="roundRect">
            <a:avLst>
              <a:gd name="adj" fmla="val 8163"/>
            </a:avLst>
          </a:prstGeom>
          <a:solidFill>
            <a:srgbClr val="E9F5EE"/>
          </a:solidFill>
          <a:ln w="9525">
            <a:solidFill>
              <a:srgbClr val="2E8B57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34" name="Shape 31"/>
          <p:cNvSpPr/>
          <p:nvPr/>
        </p:nvSpPr>
        <p:spPr>
          <a:xfrm>
            <a:off x="6473952" y="1901952"/>
            <a:ext cx="1051560" cy="256032"/>
          </a:xfrm>
          <a:prstGeom prst="roundRect">
            <a:avLst>
              <a:gd name="adj" fmla="val 50000"/>
            </a:avLst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35" name="Text 32"/>
          <p:cNvSpPr txBox="1"/>
          <p:nvPr/>
        </p:nvSpPr>
        <p:spPr>
          <a:xfrm>
            <a:off x="6473952" y="1901952"/>
            <a:ext cx="10515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CORE</a:t>
            </a:r>
            <a:endParaRPr lang="en-US" sz="850" dirty="0"/>
          </a:p>
        </p:txBody>
      </p:sp>
      <p:sp>
        <p:nvSpPr>
          <p:cNvPr id="36" name="Text 33"/>
          <p:cNvSpPr txBox="1"/>
          <p:nvPr/>
        </p:nvSpPr>
        <p:spPr>
          <a:xfrm>
            <a:off x="6473952" y="2176272"/>
            <a:ext cx="512064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Role plays A and B, with the help column. Conversation: Core questions.</a:t>
            </a:r>
            <a:endParaRPr lang="en-US" sz="1150" dirty="0"/>
          </a:p>
        </p:txBody>
      </p:sp>
      <p:sp>
        <p:nvSpPr>
          <p:cNvPr id="37" name="Shape 34"/>
          <p:cNvSpPr/>
          <p:nvPr/>
        </p:nvSpPr>
        <p:spPr>
          <a:xfrm>
            <a:off x="6355080" y="2816352"/>
            <a:ext cx="5376672" cy="896112"/>
          </a:xfrm>
          <a:prstGeom prst="roundRect">
            <a:avLst>
              <a:gd name="adj" fmla="val 8163"/>
            </a:avLst>
          </a:prstGeom>
          <a:solidFill>
            <a:srgbClr val="FCF1E0"/>
          </a:solidFill>
          <a:ln w="9525">
            <a:solidFill>
              <a:srgbClr val="C9780A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38" name="Shape 35"/>
          <p:cNvSpPr/>
          <p:nvPr/>
        </p:nvSpPr>
        <p:spPr>
          <a:xfrm>
            <a:off x="6473952" y="2907792"/>
            <a:ext cx="1051560" cy="256032"/>
          </a:xfrm>
          <a:prstGeom prst="roundRect">
            <a:avLst>
              <a:gd name="adj" fmla="val 50000"/>
            </a:avLst>
          </a:prstGeom>
          <a:solidFill>
            <a:srgbClr val="C9780A"/>
          </a:solidFill>
          <a:ln w="12700">
            <a:solidFill>
              <a:srgbClr val="C9780A"/>
            </a:solidFill>
            <a:prstDash val="solid"/>
          </a:ln>
        </p:spPr>
      </p:sp>
      <p:sp>
        <p:nvSpPr>
          <p:cNvPr id="39" name="Text 36"/>
          <p:cNvSpPr txBox="1"/>
          <p:nvPr/>
        </p:nvSpPr>
        <p:spPr>
          <a:xfrm>
            <a:off x="6473952" y="2907792"/>
            <a:ext cx="10515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DEVELOP</a:t>
            </a:r>
            <a:endParaRPr lang="en-US" sz="850" dirty="0"/>
          </a:p>
        </p:txBody>
      </p:sp>
      <p:sp>
        <p:nvSpPr>
          <p:cNvPr id="40" name="Text 37"/>
          <p:cNvSpPr txBox="1"/>
          <p:nvPr/>
        </p:nvSpPr>
        <p:spPr>
          <a:xfrm>
            <a:off x="6473952" y="3182112"/>
            <a:ext cx="512064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Role plays B and C, help column covered. Conversation: Core + Develop questions.</a:t>
            </a:r>
            <a:endParaRPr lang="en-US" sz="1150" dirty="0"/>
          </a:p>
        </p:txBody>
      </p:sp>
      <p:sp>
        <p:nvSpPr>
          <p:cNvPr id="41" name="Shape 38"/>
          <p:cNvSpPr/>
          <p:nvPr/>
        </p:nvSpPr>
        <p:spPr>
          <a:xfrm>
            <a:off x="6355080" y="3822192"/>
            <a:ext cx="5376672" cy="896112"/>
          </a:xfrm>
          <a:prstGeom prst="roundRect">
            <a:avLst>
              <a:gd name="adj" fmla="val 8163"/>
            </a:avLst>
          </a:prstGeom>
          <a:solidFill>
            <a:srgbClr val="FBEAEA"/>
          </a:solidFill>
          <a:ln w="9525">
            <a:solidFill>
              <a:srgbClr val="B83227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42" name="Shape 39"/>
          <p:cNvSpPr/>
          <p:nvPr/>
        </p:nvSpPr>
        <p:spPr>
          <a:xfrm>
            <a:off x="6473952" y="3913632"/>
            <a:ext cx="1051560" cy="256032"/>
          </a:xfrm>
          <a:prstGeom prst="roundRect">
            <a:avLst>
              <a:gd name="adj" fmla="val 50000"/>
            </a:avLst>
          </a:prstGeom>
          <a:solidFill>
            <a:srgbClr val="B83227"/>
          </a:solidFill>
          <a:ln w="12700">
            <a:solidFill>
              <a:srgbClr val="B83227"/>
            </a:solidFill>
            <a:prstDash val="solid"/>
          </a:ln>
        </p:spPr>
      </p:sp>
      <p:sp>
        <p:nvSpPr>
          <p:cNvPr id="43" name="Text 40"/>
          <p:cNvSpPr txBox="1"/>
          <p:nvPr/>
        </p:nvSpPr>
        <p:spPr>
          <a:xfrm>
            <a:off x="6473952" y="3913632"/>
            <a:ext cx="10515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STRETCH</a:t>
            </a:r>
            <a:endParaRPr lang="en-US" sz="850" dirty="0"/>
          </a:p>
        </p:txBody>
      </p:sp>
      <p:sp>
        <p:nvSpPr>
          <p:cNvPr id="44" name="Text 41"/>
          <p:cNvSpPr txBox="1"/>
          <p:nvPr/>
        </p:nvSpPr>
        <p:spPr>
          <a:xfrm>
            <a:off x="6473952" y="4187952"/>
            <a:ext cx="512064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Role plays C and D, no help. Conversation: Develop + Stretch questions, push with “why?”.</a:t>
            </a:r>
            <a:endParaRPr lang="en-US" sz="1150" dirty="0"/>
          </a:p>
        </p:txBody>
      </p:sp>
      <p:sp>
        <p:nvSpPr>
          <p:cNvPr id="45" name="Shape 42"/>
          <p:cNvSpPr/>
          <p:nvPr/>
        </p:nvSpPr>
        <p:spPr>
          <a:xfrm>
            <a:off x="6355080" y="4828032"/>
            <a:ext cx="5376672" cy="1481328"/>
          </a:xfrm>
          <a:prstGeom prst="roundRect">
            <a:avLst>
              <a:gd name="adj" fmla="val 4938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46" name="Text 43"/>
          <p:cNvSpPr txBox="1"/>
          <p:nvPr/>
        </p:nvSpPr>
        <p:spPr>
          <a:xfrm>
            <a:off x="6492240" y="4882896"/>
            <a:ext cx="2743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b="1" spc="200" kern="0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USEFUL LANGUAGE</a:t>
            </a:r>
            <a:endParaRPr lang="en-US" sz="950" dirty="0"/>
          </a:p>
        </p:txBody>
      </p:sp>
      <p:sp>
        <p:nvSpPr>
          <p:cNvPr id="47" name="Text 44"/>
          <p:cNvSpPr txBox="1"/>
          <p:nvPr/>
        </p:nvSpPr>
        <p:spPr>
          <a:xfrm>
            <a:off x="8732520" y="5138928"/>
            <a:ext cx="2880360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13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دَوْرُكَ!</a:t>
            </a:r>
            <a:endParaRPr lang="ar-SA" sz="1300" dirty="0"/>
          </a:p>
        </p:txBody>
      </p:sp>
      <p:sp>
        <p:nvSpPr>
          <p:cNvPr id="48" name="Text 45"/>
          <p:cNvSpPr txBox="1"/>
          <p:nvPr/>
        </p:nvSpPr>
        <p:spPr>
          <a:xfrm>
            <a:off x="6492240" y="5138928"/>
            <a:ext cx="2194560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your turn!</a:t>
            </a:r>
            <a:endParaRPr lang="en-US" sz="1000" dirty="0"/>
          </a:p>
        </p:txBody>
      </p:sp>
      <p:sp>
        <p:nvSpPr>
          <p:cNvPr id="49" name="Text 46"/>
          <p:cNvSpPr txBox="1"/>
          <p:nvPr/>
        </p:nvSpPr>
        <p:spPr>
          <a:xfrm>
            <a:off x="8732520" y="5422392"/>
            <a:ext cx="2880360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13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أَحْسَنْتَ! / أَحْسَنْتِ!</a:t>
            </a:r>
            <a:endParaRPr lang="ar-SA" sz="1300" dirty="0"/>
          </a:p>
        </p:txBody>
      </p:sp>
      <p:sp>
        <p:nvSpPr>
          <p:cNvPr id="50" name="Text 47"/>
          <p:cNvSpPr txBox="1"/>
          <p:nvPr/>
        </p:nvSpPr>
        <p:spPr>
          <a:xfrm>
            <a:off x="6492240" y="5422392"/>
            <a:ext cx="2194560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well done! (m. / f.)</a:t>
            </a:r>
            <a:endParaRPr lang="en-US" sz="1000" dirty="0"/>
          </a:p>
        </p:txBody>
      </p:sp>
      <p:sp>
        <p:nvSpPr>
          <p:cNvPr id="51" name="Text 48"/>
          <p:cNvSpPr txBox="1"/>
          <p:nvPr/>
        </p:nvSpPr>
        <p:spPr>
          <a:xfrm>
            <a:off x="8732520" y="5705856"/>
            <a:ext cx="2880360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13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تَكَلَّمْ أَكْثَرَ، مِنْ فَضْلِكَ</a:t>
            </a:r>
            <a:endParaRPr lang="ar-SA" sz="1300" dirty="0"/>
          </a:p>
        </p:txBody>
      </p:sp>
      <p:sp>
        <p:nvSpPr>
          <p:cNvPr id="52" name="Text 49"/>
          <p:cNvSpPr txBox="1"/>
          <p:nvPr/>
        </p:nvSpPr>
        <p:spPr>
          <a:xfrm>
            <a:off x="6492240" y="5705856"/>
            <a:ext cx="2194560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say more, please</a:t>
            </a:r>
            <a:endParaRPr lang="en-US" sz="1000" dirty="0"/>
          </a:p>
        </p:txBody>
      </p:sp>
      <p:sp>
        <p:nvSpPr>
          <p:cNvPr id="53" name="Text 50"/>
          <p:cNvSpPr txBox="1"/>
          <p:nvPr/>
        </p:nvSpPr>
        <p:spPr>
          <a:xfrm>
            <a:off x="8732520" y="5989320"/>
            <a:ext cx="2880360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13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لِمَاذَا؟</a:t>
            </a:r>
            <a:endParaRPr lang="ar-SA" sz="1300" dirty="0"/>
          </a:p>
        </p:txBody>
      </p:sp>
      <p:sp>
        <p:nvSpPr>
          <p:cNvPr id="54" name="Text 51"/>
          <p:cNvSpPr txBox="1"/>
          <p:nvPr/>
        </p:nvSpPr>
        <p:spPr>
          <a:xfrm>
            <a:off x="6492240" y="5989320"/>
            <a:ext cx="2194560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why?</a:t>
            </a:r>
            <a:endParaRPr lang="en-US" sz="1000" dirty="0"/>
          </a:p>
        </p:txBody>
      </p:sp>
      <p:sp>
        <p:nvSpPr>
          <p:cNvPr id="55" name="Text 52"/>
          <p:cNvSpPr txBox="1"/>
          <p:nvPr/>
        </p:nvSpPr>
        <p:spPr>
          <a:xfrm>
            <a:off x="10360152" y="6455664"/>
            <a:ext cx="1371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7 / 25</a:t>
            </a:r>
            <a:endParaRPr lang="en-US" sz="85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D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237744"/>
            <a:ext cx="420624" cy="420624"/>
          </a:xfrm>
          <a:prstGeom prst="ellipse">
            <a:avLst/>
          </a:prstGeom>
          <a:solidFill>
            <a:srgbClr val="1B3B6F"/>
          </a:solidFill>
          <a:ln w="12700">
            <a:solidFill>
              <a:srgbClr val="D4AF37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457200" y="219456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D4AF37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م</a:t>
            </a:r>
            <a:endParaRPr lang="ar-SA" sz="18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3657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Al Madina Online School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57200"/>
            <a:ext cx="4572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ARABIC DEPARTMENT · MIFTAH ARABIC · IGCSE 0544</a:t>
            </a:r>
            <a:endParaRPr lang="en-US" sz="800" dirty="0"/>
          </a:p>
        </p:txBody>
      </p:sp>
      <p:sp>
        <p:nvSpPr>
          <p:cNvPr id="6" name="Shape 4"/>
          <p:cNvSpPr/>
          <p:nvPr/>
        </p:nvSpPr>
        <p:spPr>
          <a:xfrm>
            <a:off x="8897112" y="274320"/>
            <a:ext cx="2834640" cy="329184"/>
          </a:xfrm>
          <a:prstGeom prst="roundRect">
            <a:avLst>
              <a:gd name="adj" fmla="val 50000"/>
            </a:avLst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8897112" y="274320"/>
            <a:ext cx="28346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AT-A-L04 · Speaking workshop</a:t>
            </a:r>
            <a:endParaRPr lang="en-US" sz="950" dirty="0"/>
          </a:p>
        </p:txBody>
      </p:sp>
      <p:sp>
        <p:nvSpPr>
          <p:cNvPr id="8" name="Shape 6"/>
          <p:cNvSpPr/>
          <p:nvPr/>
        </p:nvSpPr>
        <p:spPr>
          <a:xfrm>
            <a:off x="7295083" y="274320"/>
            <a:ext cx="1464869" cy="329184"/>
          </a:xfrm>
          <a:prstGeom prst="roundRect">
            <a:avLst>
              <a:gd name="adj" fmla="val 50000"/>
            </a:avLst>
          </a:prstGeom>
          <a:solidFill>
            <a:srgbClr val="1E6B52"/>
          </a:solidFill>
          <a:ln w="12700">
            <a:solidFill>
              <a:srgbClr val="1E6B52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7295083" y="274320"/>
            <a:ext cx="1464869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YOU DO · 6 MIN</a:t>
            </a:r>
            <a:endParaRPr lang="en-US" sz="900" dirty="0"/>
          </a:p>
        </p:txBody>
      </p:sp>
      <p:sp>
        <p:nvSpPr>
          <p:cNvPr id="10" name="Text 8"/>
          <p:cNvSpPr txBox="1"/>
          <p:nvPr/>
        </p:nvSpPr>
        <p:spPr>
          <a:xfrm>
            <a:off x="457200" y="822960"/>
            <a:ext cx="69494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300" kern="0" dirty="0">
                <a:solidFill>
                  <a:srgbClr val="1E6B52"/>
                </a:solidFill>
                <a:latin typeface="Calibri" pitchFamily="34" charset="0"/>
                <a:cs typeface="Amiri" pitchFamily="2" charset="-78"/>
              </a:rPr>
              <a:t>ROLE PLAY A · CORE · DINNER AT A FRIEND’S HOUSE</a:t>
            </a:r>
            <a:endParaRPr lang="en-US" sz="1000" dirty="0"/>
          </a:p>
        </p:txBody>
      </p:sp>
      <p:sp>
        <p:nvSpPr>
          <p:cNvPr id="11" name="Text 9"/>
          <p:cNvSpPr txBox="1"/>
          <p:nvPr/>
        </p:nvSpPr>
        <p:spPr>
          <a:xfrm>
            <a:off x="457200" y="1033272"/>
            <a:ext cx="69494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45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Role play A — Dinner at a friend’s house</a:t>
            </a:r>
            <a:endParaRPr lang="en-US" sz="2450" dirty="0"/>
          </a:p>
        </p:txBody>
      </p:sp>
      <p:sp>
        <p:nvSpPr>
          <p:cNvPr id="12" name="Text 10"/>
          <p:cNvSpPr txBox="1"/>
          <p:nvPr/>
        </p:nvSpPr>
        <p:spPr>
          <a:xfrm>
            <a:off x="7498080" y="868680"/>
            <a:ext cx="4233672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2800" b="1" dirty="0">
                <a:solidFill>
                  <a:srgbClr val="8A6D1E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العَشَاءُ عِنْدَ صَدِيقِي</a:t>
            </a:r>
            <a:endParaRPr lang="ar-SA" sz="28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6455664"/>
            <a:ext cx="6400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Miftah Arabic · Topic A · Speaking workshop · AT-A-L04</a:t>
            </a:r>
            <a:endParaRPr lang="en-US" sz="850" dirty="0"/>
          </a:p>
        </p:txBody>
      </p:sp>
      <p:sp>
        <p:nvSpPr>
          <p:cNvPr id="15" name="Shape 12"/>
          <p:cNvSpPr/>
          <p:nvPr/>
        </p:nvSpPr>
        <p:spPr>
          <a:xfrm>
            <a:off x="457200" y="1810512"/>
            <a:ext cx="11274552" cy="384048"/>
          </a:xfrm>
          <a:prstGeom prst="rect">
            <a:avLst/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16" name="Text 13"/>
          <p:cNvSpPr txBox="1"/>
          <p:nvPr/>
        </p:nvSpPr>
        <p:spPr>
          <a:xfrm>
            <a:off x="8622792" y="1810512"/>
            <a:ext cx="303580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Help (Core)</a:t>
            </a:r>
            <a:endParaRPr lang="en-US" sz="1100" dirty="0"/>
          </a:p>
        </p:txBody>
      </p:sp>
      <p:sp>
        <p:nvSpPr>
          <p:cNvPr id="17" name="Text 14"/>
          <p:cNvSpPr txBox="1"/>
          <p:nvPr/>
        </p:nvSpPr>
        <p:spPr>
          <a:xfrm>
            <a:off x="5056632" y="1810512"/>
            <a:ext cx="341985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Your task</a:t>
            </a:r>
            <a:endParaRPr lang="en-US" sz="1100" dirty="0"/>
          </a:p>
        </p:txBody>
      </p:sp>
      <p:sp>
        <p:nvSpPr>
          <p:cNvPr id="18" name="Text 15"/>
          <p:cNvSpPr txBox="1"/>
          <p:nvPr/>
        </p:nvSpPr>
        <p:spPr>
          <a:xfrm>
            <a:off x="1033272" y="1810512"/>
            <a:ext cx="387705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The examiner says</a:t>
            </a:r>
            <a:endParaRPr lang="en-US" sz="1100" dirty="0"/>
          </a:p>
        </p:txBody>
      </p:sp>
      <p:sp>
        <p:nvSpPr>
          <p:cNvPr id="19" name="Text 16"/>
          <p:cNvSpPr txBox="1"/>
          <p:nvPr/>
        </p:nvSpPr>
        <p:spPr>
          <a:xfrm>
            <a:off x="530352" y="1810512"/>
            <a:ext cx="35661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#</a:t>
            </a:r>
            <a:endParaRPr lang="en-US" sz="1100" dirty="0"/>
          </a:p>
        </p:txBody>
      </p:sp>
      <p:sp>
        <p:nvSpPr>
          <p:cNvPr id="20" name="Shape 17"/>
          <p:cNvSpPr/>
          <p:nvPr/>
        </p:nvSpPr>
        <p:spPr>
          <a:xfrm>
            <a:off x="457200" y="2267712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21" name="Text 18"/>
          <p:cNvSpPr txBox="1"/>
          <p:nvPr/>
        </p:nvSpPr>
        <p:spPr>
          <a:xfrm>
            <a:off x="8641080" y="2267712"/>
            <a:ext cx="2999232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أُحِبُّ … وَ …</a:t>
            </a:r>
            <a:endParaRPr lang="ar-SA" sz="1500" dirty="0"/>
          </a:p>
        </p:txBody>
      </p:sp>
      <p:sp>
        <p:nvSpPr>
          <p:cNvPr id="22" name="Text 19"/>
          <p:cNvSpPr txBox="1"/>
          <p:nvPr/>
        </p:nvSpPr>
        <p:spPr>
          <a:xfrm>
            <a:off x="5093208" y="2267712"/>
            <a:ext cx="33832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Say what you like to eat.</a:t>
            </a:r>
            <a:endParaRPr lang="en-US" sz="1100" dirty="0"/>
          </a:p>
        </p:txBody>
      </p:sp>
      <p:sp>
        <p:nvSpPr>
          <p:cNvPr id="23" name="Text 20"/>
          <p:cNvSpPr txBox="1"/>
          <p:nvPr/>
        </p:nvSpPr>
        <p:spPr>
          <a:xfrm>
            <a:off x="1051560" y="2267712"/>
            <a:ext cx="38404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7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أَهْلًا بِكَ! مَاذَا تُحِبُّ أَنْ تَأْكُلَ؟</a:t>
            </a:r>
            <a:endParaRPr lang="ar-SA" sz="1700" dirty="0"/>
          </a:p>
        </p:txBody>
      </p:sp>
      <p:sp>
        <p:nvSpPr>
          <p:cNvPr id="24" name="Text 21"/>
          <p:cNvSpPr txBox="1"/>
          <p:nvPr/>
        </p:nvSpPr>
        <p:spPr>
          <a:xfrm>
            <a:off x="566928" y="2267712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1</a:t>
            </a:r>
            <a:endParaRPr lang="en-US" sz="1100" dirty="0"/>
          </a:p>
        </p:txBody>
      </p:sp>
      <p:sp>
        <p:nvSpPr>
          <p:cNvPr id="25" name="Shape 22"/>
          <p:cNvSpPr/>
          <p:nvPr/>
        </p:nvSpPr>
        <p:spPr>
          <a:xfrm>
            <a:off x="11091672" y="2313432"/>
            <a:ext cx="548640" cy="182880"/>
          </a:xfrm>
          <a:prstGeom prst="roundRect">
            <a:avLst>
              <a:gd name="adj" fmla="val 50000"/>
            </a:avLst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26" name="Text 23"/>
          <p:cNvSpPr txBox="1"/>
          <p:nvPr/>
        </p:nvSpPr>
        <p:spPr>
          <a:xfrm>
            <a:off x="11091672" y="2313432"/>
            <a:ext cx="5486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CORE</a:t>
            </a:r>
            <a:endParaRPr lang="en-US" sz="650" dirty="0"/>
          </a:p>
        </p:txBody>
      </p:sp>
      <p:sp>
        <p:nvSpPr>
          <p:cNvPr id="27" name="Shape 24"/>
          <p:cNvSpPr/>
          <p:nvPr/>
        </p:nvSpPr>
        <p:spPr>
          <a:xfrm>
            <a:off x="457200" y="3004718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4F1EA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28" name="Text 25"/>
          <p:cNvSpPr txBox="1"/>
          <p:nvPr/>
        </p:nvSpPr>
        <p:spPr>
          <a:xfrm>
            <a:off x="8641080" y="3004718"/>
            <a:ext cx="2999232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لَا، لَا آكُلُ … لٰكِنِّي …</a:t>
            </a:r>
            <a:endParaRPr lang="ar-SA" sz="1500" dirty="0"/>
          </a:p>
        </p:txBody>
      </p:sp>
      <p:sp>
        <p:nvSpPr>
          <p:cNvPr id="29" name="Text 26"/>
          <p:cNvSpPr txBox="1"/>
          <p:nvPr/>
        </p:nvSpPr>
        <p:spPr>
          <a:xfrm>
            <a:off x="5093208" y="3004718"/>
            <a:ext cx="33832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Say if you eat fish.</a:t>
            </a:r>
            <a:endParaRPr lang="en-US" sz="1100" dirty="0"/>
          </a:p>
        </p:txBody>
      </p:sp>
      <p:sp>
        <p:nvSpPr>
          <p:cNvPr id="30" name="Text 27"/>
          <p:cNvSpPr txBox="1"/>
          <p:nvPr/>
        </p:nvSpPr>
        <p:spPr>
          <a:xfrm>
            <a:off x="1051560" y="3004718"/>
            <a:ext cx="38404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7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هَلْ تَأْكُلُ السَّمَكَ؟</a:t>
            </a:r>
            <a:endParaRPr lang="ar-SA" sz="1700" dirty="0"/>
          </a:p>
        </p:txBody>
      </p:sp>
      <p:sp>
        <p:nvSpPr>
          <p:cNvPr id="31" name="Text 28"/>
          <p:cNvSpPr txBox="1"/>
          <p:nvPr/>
        </p:nvSpPr>
        <p:spPr>
          <a:xfrm>
            <a:off x="566928" y="3004718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2</a:t>
            </a:r>
            <a:endParaRPr lang="en-US" sz="1100" dirty="0"/>
          </a:p>
        </p:txBody>
      </p:sp>
      <p:sp>
        <p:nvSpPr>
          <p:cNvPr id="32" name="Shape 29"/>
          <p:cNvSpPr/>
          <p:nvPr/>
        </p:nvSpPr>
        <p:spPr>
          <a:xfrm>
            <a:off x="11091672" y="3050438"/>
            <a:ext cx="548640" cy="182880"/>
          </a:xfrm>
          <a:prstGeom prst="roundRect">
            <a:avLst>
              <a:gd name="adj" fmla="val 50000"/>
            </a:avLst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33" name="Text 30"/>
          <p:cNvSpPr txBox="1"/>
          <p:nvPr/>
        </p:nvSpPr>
        <p:spPr>
          <a:xfrm>
            <a:off x="11091672" y="3050438"/>
            <a:ext cx="5486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CORE</a:t>
            </a:r>
            <a:endParaRPr lang="en-US" sz="650" dirty="0"/>
          </a:p>
        </p:txBody>
      </p:sp>
      <p:sp>
        <p:nvSpPr>
          <p:cNvPr id="34" name="Shape 31"/>
          <p:cNvSpPr/>
          <p:nvPr/>
        </p:nvSpPr>
        <p:spPr>
          <a:xfrm>
            <a:off x="457200" y="3741725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35" name="Text 32"/>
          <p:cNvSpPr txBox="1"/>
          <p:nvPr/>
        </p:nvSpPr>
        <p:spPr>
          <a:xfrm>
            <a:off x="8641080" y="3741725"/>
            <a:ext cx="2999232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أَشْرَبُ …، مِنْ فَضْلِكِ</a:t>
            </a:r>
            <a:endParaRPr lang="ar-SA" sz="1500" dirty="0"/>
          </a:p>
        </p:txBody>
      </p:sp>
      <p:sp>
        <p:nvSpPr>
          <p:cNvPr id="36" name="Text 33"/>
          <p:cNvSpPr txBox="1"/>
          <p:nvPr/>
        </p:nvSpPr>
        <p:spPr>
          <a:xfrm>
            <a:off x="5093208" y="3741725"/>
            <a:ext cx="33832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Say what you would like to drink.</a:t>
            </a:r>
            <a:endParaRPr lang="en-US" sz="1100" dirty="0"/>
          </a:p>
        </p:txBody>
      </p:sp>
      <p:sp>
        <p:nvSpPr>
          <p:cNvPr id="37" name="Text 34"/>
          <p:cNvSpPr txBox="1"/>
          <p:nvPr/>
        </p:nvSpPr>
        <p:spPr>
          <a:xfrm>
            <a:off x="1051560" y="3741725"/>
            <a:ext cx="38404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7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مَاذَا تَشْرَبُ؟</a:t>
            </a:r>
            <a:endParaRPr lang="ar-SA" sz="1700" dirty="0"/>
          </a:p>
        </p:txBody>
      </p:sp>
      <p:sp>
        <p:nvSpPr>
          <p:cNvPr id="38" name="Text 35"/>
          <p:cNvSpPr txBox="1"/>
          <p:nvPr/>
        </p:nvSpPr>
        <p:spPr>
          <a:xfrm>
            <a:off x="566928" y="3741725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3</a:t>
            </a:r>
            <a:endParaRPr lang="en-US" sz="1100" dirty="0"/>
          </a:p>
        </p:txBody>
      </p:sp>
      <p:sp>
        <p:nvSpPr>
          <p:cNvPr id="39" name="Shape 36"/>
          <p:cNvSpPr/>
          <p:nvPr/>
        </p:nvSpPr>
        <p:spPr>
          <a:xfrm>
            <a:off x="11091672" y="3787445"/>
            <a:ext cx="548640" cy="182880"/>
          </a:xfrm>
          <a:prstGeom prst="roundRect">
            <a:avLst>
              <a:gd name="adj" fmla="val 50000"/>
            </a:avLst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40" name="Text 37"/>
          <p:cNvSpPr txBox="1"/>
          <p:nvPr/>
        </p:nvSpPr>
        <p:spPr>
          <a:xfrm>
            <a:off x="11091672" y="3787445"/>
            <a:ext cx="5486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CORE</a:t>
            </a:r>
            <a:endParaRPr lang="en-US" sz="650" dirty="0"/>
          </a:p>
        </p:txBody>
      </p:sp>
      <p:sp>
        <p:nvSpPr>
          <p:cNvPr id="41" name="Shape 38"/>
          <p:cNvSpPr/>
          <p:nvPr/>
        </p:nvSpPr>
        <p:spPr>
          <a:xfrm>
            <a:off x="457200" y="4478731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4F1EA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42" name="Text 39"/>
          <p:cNvSpPr txBox="1"/>
          <p:nvPr/>
        </p:nvSpPr>
        <p:spPr>
          <a:xfrm>
            <a:off x="8641080" y="4478731"/>
            <a:ext cx="2999232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فَاكِهَتِي المُفَضَّلَةُ هِيَ …</a:t>
            </a:r>
            <a:endParaRPr lang="ar-SA" sz="1500" dirty="0"/>
          </a:p>
        </p:txBody>
      </p:sp>
      <p:sp>
        <p:nvSpPr>
          <p:cNvPr id="43" name="Text 40"/>
          <p:cNvSpPr txBox="1"/>
          <p:nvPr/>
        </p:nvSpPr>
        <p:spPr>
          <a:xfrm>
            <a:off x="5093208" y="4478731"/>
            <a:ext cx="33832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Say your favourite fruit.</a:t>
            </a:r>
            <a:endParaRPr lang="en-US" sz="1100" dirty="0"/>
          </a:p>
        </p:txBody>
      </p:sp>
      <p:sp>
        <p:nvSpPr>
          <p:cNvPr id="44" name="Text 41"/>
          <p:cNvSpPr txBox="1"/>
          <p:nvPr/>
        </p:nvSpPr>
        <p:spPr>
          <a:xfrm>
            <a:off x="1051560" y="4478731"/>
            <a:ext cx="38404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7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مَا فَاكِهَتُكَ المُفَضَّلَةُ؟</a:t>
            </a:r>
            <a:endParaRPr lang="ar-SA" sz="1700" dirty="0"/>
          </a:p>
        </p:txBody>
      </p:sp>
      <p:sp>
        <p:nvSpPr>
          <p:cNvPr id="45" name="Text 42"/>
          <p:cNvSpPr txBox="1"/>
          <p:nvPr/>
        </p:nvSpPr>
        <p:spPr>
          <a:xfrm>
            <a:off x="566928" y="4478731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4</a:t>
            </a:r>
            <a:endParaRPr lang="en-US" sz="1100" dirty="0"/>
          </a:p>
        </p:txBody>
      </p:sp>
      <p:sp>
        <p:nvSpPr>
          <p:cNvPr id="46" name="Shape 43"/>
          <p:cNvSpPr/>
          <p:nvPr/>
        </p:nvSpPr>
        <p:spPr>
          <a:xfrm>
            <a:off x="11091672" y="4524451"/>
            <a:ext cx="548640" cy="182880"/>
          </a:xfrm>
          <a:prstGeom prst="roundRect">
            <a:avLst>
              <a:gd name="adj" fmla="val 50000"/>
            </a:avLst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47" name="Text 44"/>
          <p:cNvSpPr txBox="1"/>
          <p:nvPr/>
        </p:nvSpPr>
        <p:spPr>
          <a:xfrm>
            <a:off x="11091672" y="4524451"/>
            <a:ext cx="5486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CORE</a:t>
            </a:r>
            <a:endParaRPr lang="en-US" sz="650" dirty="0"/>
          </a:p>
        </p:txBody>
      </p:sp>
      <p:sp>
        <p:nvSpPr>
          <p:cNvPr id="48" name="Shape 45"/>
          <p:cNvSpPr/>
          <p:nvPr/>
        </p:nvSpPr>
        <p:spPr>
          <a:xfrm>
            <a:off x="457200" y="5215738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49" name="Text 46"/>
          <p:cNvSpPr txBox="1"/>
          <p:nvPr/>
        </p:nvSpPr>
        <p:spPr>
          <a:xfrm>
            <a:off x="8641080" y="5215738"/>
            <a:ext cx="2999232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نَعَمْ، الطَّعَامُ … جِدًّا</a:t>
            </a:r>
            <a:endParaRPr lang="ar-SA" sz="1500" dirty="0"/>
          </a:p>
        </p:txBody>
      </p:sp>
      <p:sp>
        <p:nvSpPr>
          <p:cNvPr id="50" name="Text 47"/>
          <p:cNvSpPr txBox="1"/>
          <p:nvPr/>
        </p:nvSpPr>
        <p:spPr>
          <a:xfrm>
            <a:off x="5093208" y="5215738"/>
            <a:ext cx="33832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Answer the unexpected question.</a:t>
            </a:r>
            <a:endParaRPr lang="en-US" sz="1100" dirty="0"/>
          </a:p>
        </p:txBody>
      </p:sp>
      <p:sp>
        <p:nvSpPr>
          <p:cNvPr id="51" name="Text 48"/>
          <p:cNvSpPr txBox="1"/>
          <p:nvPr/>
        </p:nvSpPr>
        <p:spPr>
          <a:xfrm>
            <a:off x="1051560" y="5215738"/>
            <a:ext cx="38404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7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هَلْ أَعْجَبَكَ الطَّعَامُ؟</a:t>
            </a:r>
            <a:endParaRPr lang="ar-SA" sz="1700" dirty="0"/>
          </a:p>
        </p:txBody>
      </p:sp>
      <p:sp>
        <p:nvSpPr>
          <p:cNvPr id="52" name="Text 49"/>
          <p:cNvSpPr txBox="1"/>
          <p:nvPr/>
        </p:nvSpPr>
        <p:spPr>
          <a:xfrm>
            <a:off x="566928" y="5215738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5 !</a:t>
            </a:r>
            <a:endParaRPr lang="en-US" sz="1100" dirty="0"/>
          </a:p>
        </p:txBody>
      </p:sp>
      <p:sp>
        <p:nvSpPr>
          <p:cNvPr id="53" name="Shape 50"/>
          <p:cNvSpPr/>
          <p:nvPr/>
        </p:nvSpPr>
        <p:spPr>
          <a:xfrm>
            <a:off x="11091672" y="5261458"/>
            <a:ext cx="548640" cy="182880"/>
          </a:xfrm>
          <a:prstGeom prst="roundRect">
            <a:avLst>
              <a:gd name="adj" fmla="val 50000"/>
            </a:avLst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54" name="Text 51"/>
          <p:cNvSpPr txBox="1"/>
          <p:nvPr/>
        </p:nvSpPr>
        <p:spPr>
          <a:xfrm>
            <a:off x="11091672" y="5261458"/>
            <a:ext cx="5486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CORE</a:t>
            </a:r>
            <a:endParaRPr lang="en-US" sz="650" dirty="0"/>
          </a:p>
        </p:txBody>
      </p:sp>
      <p:sp>
        <p:nvSpPr>
          <p:cNvPr id="55" name="Text 52"/>
          <p:cNvSpPr txBox="1"/>
          <p:nvPr/>
        </p:nvSpPr>
        <p:spPr>
          <a:xfrm>
            <a:off x="457200" y="5943600"/>
            <a:ext cx="1127455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You are: a guest  ·  The examiner is: your friend’s mother  ·  ! = unexpected question: listen carefully.</a:t>
            </a:r>
            <a:endParaRPr lang="en-US" sz="1150" dirty="0"/>
          </a:p>
        </p:txBody>
      </p:sp>
      <p:sp>
        <p:nvSpPr>
          <p:cNvPr id="56" name="Text 53"/>
          <p:cNvSpPr txBox="1"/>
          <p:nvPr/>
        </p:nvSpPr>
        <p:spPr>
          <a:xfrm>
            <a:off x="10360152" y="6455664"/>
            <a:ext cx="1371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8 / 25</a:t>
            </a:r>
            <a:endParaRPr lang="en-US" sz="85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D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237744"/>
            <a:ext cx="420624" cy="420624"/>
          </a:xfrm>
          <a:prstGeom prst="ellipse">
            <a:avLst/>
          </a:prstGeom>
          <a:solidFill>
            <a:srgbClr val="1B3B6F"/>
          </a:solidFill>
          <a:ln w="12700">
            <a:solidFill>
              <a:srgbClr val="D4AF37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457200" y="219456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D4AF37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م</a:t>
            </a:r>
            <a:endParaRPr lang="ar-SA" sz="18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3657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Al Madina Online School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57200"/>
            <a:ext cx="4572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ARABIC DEPARTMENT · MIFTAH ARABIC · IGCSE 0544</a:t>
            </a:r>
            <a:endParaRPr lang="en-US" sz="800" dirty="0"/>
          </a:p>
        </p:txBody>
      </p:sp>
      <p:sp>
        <p:nvSpPr>
          <p:cNvPr id="6" name="Shape 4"/>
          <p:cNvSpPr/>
          <p:nvPr/>
        </p:nvSpPr>
        <p:spPr>
          <a:xfrm>
            <a:off x="8897112" y="274320"/>
            <a:ext cx="2834640" cy="329184"/>
          </a:xfrm>
          <a:prstGeom prst="roundRect">
            <a:avLst>
              <a:gd name="adj" fmla="val 50000"/>
            </a:avLst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8897112" y="274320"/>
            <a:ext cx="28346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AT-A-L04 · Speaking workshop</a:t>
            </a:r>
            <a:endParaRPr lang="en-US" sz="950" dirty="0"/>
          </a:p>
        </p:txBody>
      </p:sp>
      <p:sp>
        <p:nvSpPr>
          <p:cNvPr id="8" name="Shape 6"/>
          <p:cNvSpPr/>
          <p:nvPr/>
        </p:nvSpPr>
        <p:spPr>
          <a:xfrm>
            <a:off x="7295083" y="274320"/>
            <a:ext cx="1464869" cy="329184"/>
          </a:xfrm>
          <a:prstGeom prst="roundRect">
            <a:avLst>
              <a:gd name="adj" fmla="val 50000"/>
            </a:avLst>
          </a:prstGeom>
          <a:solidFill>
            <a:srgbClr val="1E6B52"/>
          </a:solidFill>
          <a:ln w="12700">
            <a:solidFill>
              <a:srgbClr val="1E6B52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7295083" y="274320"/>
            <a:ext cx="1464869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YOU DO · 6 MIN</a:t>
            </a:r>
            <a:endParaRPr lang="en-US" sz="900" dirty="0"/>
          </a:p>
        </p:txBody>
      </p:sp>
      <p:sp>
        <p:nvSpPr>
          <p:cNvPr id="10" name="Text 8"/>
          <p:cNvSpPr txBox="1"/>
          <p:nvPr/>
        </p:nvSpPr>
        <p:spPr>
          <a:xfrm>
            <a:off x="457200" y="822960"/>
            <a:ext cx="69494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300" kern="0" dirty="0">
                <a:solidFill>
                  <a:srgbClr val="1E6B52"/>
                </a:solidFill>
                <a:latin typeface="Calibri" pitchFamily="34" charset="0"/>
                <a:cs typeface="Amiri" pitchFamily="2" charset="-78"/>
              </a:rPr>
              <a:t>ROLE PLAY B · CORE+ · A SURVEY ABOUT THE SCHOOL CANTEEN</a:t>
            </a:r>
            <a:endParaRPr lang="en-US" sz="1000" dirty="0"/>
          </a:p>
        </p:txBody>
      </p:sp>
      <p:sp>
        <p:nvSpPr>
          <p:cNvPr id="11" name="Text 9"/>
          <p:cNvSpPr txBox="1"/>
          <p:nvPr/>
        </p:nvSpPr>
        <p:spPr>
          <a:xfrm>
            <a:off x="457200" y="1033272"/>
            <a:ext cx="69494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Role play B — The canteen survey</a:t>
            </a:r>
            <a:endParaRPr lang="en-US" sz="2800" dirty="0"/>
          </a:p>
        </p:txBody>
      </p:sp>
      <p:sp>
        <p:nvSpPr>
          <p:cNvPr id="12" name="Text 10"/>
          <p:cNvSpPr txBox="1"/>
          <p:nvPr/>
        </p:nvSpPr>
        <p:spPr>
          <a:xfrm>
            <a:off x="7498080" y="868680"/>
            <a:ext cx="4233672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2800" b="1" dirty="0">
                <a:solidFill>
                  <a:srgbClr val="8A6D1E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مَقْصَفُ المَدْرَسَةِ</a:t>
            </a:r>
            <a:endParaRPr lang="ar-SA" sz="28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6455664"/>
            <a:ext cx="6400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Miftah Arabic · Topic A · Speaking workshop · AT-A-L04</a:t>
            </a:r>
            <a:endParaRPr lang="en-US" sz="850" dirty="0"/>
          </a:p>
        </p:txBody>
      </p:sp>
      <p:sp>
        <p:nvSpPr>
          <p:cNvPr id="15" name="Shape 12"/>
          <p:cNvSpPr/>
          <p:nvPr/>
        </p:nvSpPr>
        <p:spPr>
          <a:xfrm>
            <a:off x="457200" y="1810512"/>
            <a:ext cx="11274552" cy="384048"/>
          </a:xfrm>
          <a:prstGeom prst="rect">
            <a:avLst/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16" name="Text 13"/>
          <p:cNvSpPr txBox="1"/>
          <p:nvPr/>
        </p:nvSpPr>
        <p:spPr>
          <a:xfrm>
            <a:off x="8622792" y="1810512"/>
            <a:ext cx="303580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Help (Core)</a:t>
            </a:r>
            <a:endParaRPr lang="en-US" sz="1100" dirty="0"/>
          </a:p>
        </p:txBody>
      </p:sp>
      <p:sp>
        <p:nvSpPr>
          <p:cNvPr id="17" name="Text 14"/>
          <p:cNvSpPr txBox="1"/>
          <p:nvPr/>
        </p:nvSpPr>
        <p:spPr>
          <a:xfrm>
            <a:off x="5056632" y="1810512"/>
            <a:ext cx="341985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Your task</a:t>
            </a:r>
            <a:endParaRPr lang="en-US" sz="1100" dirty="0"/>
          </a:p>
        </p:txBody>
      </p:sp>
      <p:sp>
        <p:nvSpPr>
          <p:cNvPr id="18" name="Text 15"/>
          <p:cNvSpPr txBox="1"/>
          <p:nvPr/>
        </p:nvSpPr>
        <p:spPr>
          <a:xfrm>
            <a:off x="1033272" y="1810512"/>
            <a:ext cx="387705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The examiner says</a:t>
            </a:r>
            <a:endParaRPr lang="en-US" sz="1100" dirty="0"/>
          </a:p>
        </p:txBody>
      </p:sp>
      <p:sp>
        <p:nvSpPr>
          <p:cNvPr id="19" name="Text 16"/>
          <p:cNvSpPr txBox="1"/>
          <p:nvPr/>
        </p:nvSpPr>
        <p:spPr>
          <a:xfrm>
            <a:off x="530352" y="1810512"/>
            <a:ext cx="35661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#</a:t>
            </a:r>
            <a:endParaRPr lang="en-US" sz="1100" dirty="0"/>
          </a:p>
        </p:txBody>
      </p:sp>
      <p:sp>
        <p:nvSpPr>
          <p:cNvPr id="20" name="Shape 17"/>
          <p:cNvSpPr/>
          <p:nvPr/>
        </p:nvSpPr>
        <p:spPr>
          <a:xfrm>
            <a:off x="457200" y="2267712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21" name="Text 18"/>
          <p:cNvSpPr txBox="1"/>
          <p:nvPr/>
        </p:nvSpPr>
        <p:spPr>
          <a:xfrm>
            <a:off x="8641080" y="2267712"/>
            <a:ext cx="2999232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أَتَنَاوَلُ الغَدَاءَ فِي …</a:t>
            </a:r>
            <a:endParaRPr lang="ar-SA" sz="1500" dirty="0"/>
          </a:p>
        </p:txBody>
      </p:sp>
      <p:sp>
        <p:nvSpPr>
          <p:cNvPr id="22" name="Text 19"/>
          <p:cNvSpPr txBox="1"/>
          <p:nvPr/>
        </p:nvSpPr>
        <p:spPr>
          <a:xfrm>
            <a:off x="5093208" y="2267712"/>
            <a:ext cx="33832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Say what time you have lunch.</a:t>
            </a:r>
            <a:endParaRPr lang="en-US" sz="1100" dirty="0"/>
          </a:p>
        </p:txBody>
      </p:sp>
      <p:sp>
        <p:nvSpPr>
          <p:cNvPr id="23" name="Text 20"/>
          <p:cNvSpPr txBox="1"/>
          <p:nvPr/>
        </p:nvSpPr>
        <p:spPr>
          <a:xfrm>
            <a:off x="1051560" y="2267712"/>
            <a:ext cx="38404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7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فِي أَيِّ سَاعَةٍ تَتَنَاوَلُ الغَدَاءَ؟</a:t>
            </a:r>
            <a:endParaRPr lang="ar-SA" sz="1700" dirty="0"/>
          </a:p>
        </p:txBody>
      </p:sp>
      <p:sp>
        <p:nvSpPr>
          <p:cNvPr id="24" name="Text 21"/>
          <p:cNvSpPr txBox="1"/>
          <p:nvPr/>
        </p:nvSpPr>
        <p:spPr>
          <a:xfrm>
            <a:off x="566928" y="2267712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1</a:t>
            </a:r>
            <a:endParaRPr lang="en-US" sz="1100" dirty="0"/>
          </a:p>
        </p:txBody>
      </p:sp>
      <p:sp>
        <p:nvSpPr>
          <p:cNvPr id="25" name="Shape 22"/>
          <p:cNvSpPr/>
          <p:nvPr/>
        </p:nvSpPr>
        <p:spPr>
          <a:xfrm>
            <a:off x="11091672" y="2313432"/>
            <a:ext cx="548640" cy="182880"/>
          </a:xfrm>
          <a:prstGeom prst="roundRect">
            <a:avLst>
              <a:gd name="adj" fmla="val 50000"/>
            </a:avLst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26" name="Text 23"/>
          <p:cNvSpPr txBox="1"/>
          <p:nvPr/>
        </p:nvSpPr>
        <p:spPr>
          <a:xfrm>
            <a:off x="11091672" y="2313432"/>
            <a:ext cx="5486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CORE</a:t>
            </a:r>
            <a:endParaRPr lang="en-US" sz="650" dirty="0"/>
          </a:p>
        </p:txBody>
      </p:sp>
      <p:sp>
        <p:nvSpPr>
          <p:cNvPr id="27" name="Shape 24"/>
          <p:cNvSpPr/>
          <p:nvPr/>
        </p:nvSpPr>
        <p:spPr>
          <a:xfrm>
            <a:off x="457200" y="3004718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4F1EA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28" name="Text 25"/>
          <p:cNvSpPr txBox="1"/>
          <p:nvPr/>
        </p:nvSpPr>
        <p:spPr>
          <a:xfrm>
            <a:off x="8641080" y="3004718"/>
            <a:ext cx="2999232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عَادَةً آكُلُ شَطِيرَةَ …</a:t>
            </a:r>
            <a:endParaRPr lang="ar-SA" sz="1500" dirty="0"/>
          </a:p>
        </p:txBody>
      </p:sp>
      <p:sp>
        <p:nvSpPr>
          <p:cNvPr id="29" name="Text 26"/>
          <p:cNvSpPr txBox="1"/>
          <p:nvPr/>
        </p:nvSpPr>
        <p:spPr>
          <a:xfrm>
            <a:off x="5093208" y="3004718"/>
            <a:ext cx="33832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Say what you usually eat there.</a:t>
            </a:r>
            <a:endParaRPr lang="en-US" sz="1100" dirty="0"/>
          </a:p>
        </p:txBody>
      </p:sp>
      <p:sp>
        <p:nvSpPr>
          <p:cNvPr id="30" name="Text 27"/>
          <p:cNvSpPr txBox="1"/>
          <p:nvPr/>
        </p:nvSpPr>
        <p:spPr>
          <a:xfrm>
            <a:off x="1051560" y="3004718"/>
            <a:ext cx="38404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7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مَاذَا تَأْكُلُ عَادَةً فِي المَقْصَفِ؟</a:t>
            </a:r>
            <a:endParaRPr lang="ar-SA" sz="1700" dirty="0"/>
          </a:p>
        </p:txBody>
      </p:sp>
      <p:sp>
        <p:nvSpPr>
          <p:cNvPr id="31" name="Text 28"/>
          <p:cNvSpPr txBox="1"/>
          <p:nvPr/>
        </p:nvSpPr>
        <p:spPr>
          <a:xfrm>
            <a:off x="566928" y="3004718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2</a:t>
            </a:r>
            <a:endParaRPr lang="en-US" sz="1100" dirty="0"/>
          </a:p>
        </p:txBody>
      </p:sp>
      <p:sp>
        <p:nvSpPr>
          <p:cNvPr id="32" name="Shape 29"/>
          <p:cNvSpPr/>
          <p:nvPr/>
        </p:nvSpPr>
        <p:spPr>
          <a:xfrm>
            <a:off x="11091672" y="3050438"/>
            <a:ext cx="548640" cy="182880"/>
          </a:xfrm>
          <a:prstGeom prst="roundRect">
            <a:avLst>
              <a:gd name="adj" fmla="val 50000"/>
            </a:avLst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33" name="Text 30"/>
          <p:cNvSpPr txBox="1"/>
          <p:nvPr/>
        </p:nvSpPr>
        <p:spPr>
          <a:xfrm>
            <a:off x="11091672" y="3050438"/>
            <a:ext cx="5486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CORE</a:t>
            </a:r>
            <a:endParaRPr lang="en-US" sz="650" dirty="0"/>
          </a:p>
        </p:txBody>
      </p:sp>
      <p:sp>
        <p:nvSpPr>
          <p:cNvPr id="34" name="Shape 31"/>
          <p:cNvSpPr/>
          <p:nvPr/>
        </p:nvSpPr>
        <p:spPr>
          <a:xfrm>
            <a:off x="457200" y="3741725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35" name="Text 32"/>
          <p:cNvSpPr txBox="1"/>
          <p:nvPr/>
        </p:nvSpPr>
        <p:spPr>
          <a:xfrm>
            <a:off x="8641080" y="3741725"/>
            <a:ext cx="2999232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… لَذِيذٌ، لٰكِنَّهُ …</a:t>
            </a:r>
            <a:endParaRPr lang="ar-SA" sz="1500" dirty="0"/>
          </a:p>
        </p:txBody>
      </p:sp>
      <p:sp>
        <p:nvSpPr>
          <p:cNvPr id="36" name="Text 33"/>
          <p:cNvSpPr txBox="1"/>
          <p:nvPr/>
        </p:nvSpPr>
        <p:spPr>
          <a:xfrm>
            <a:off x="5093208" y="3741725"/>
            <a:ext cx="33832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Give your opinion, with a “but”.</a:t>
            </a:r>
            <a:endParaRPr lang="en-US" sz="1100" dirty="0"/>
          </a:p>
        </p:txBody>
      </p:sp>
      <p:sp>
        <p:nvSpPr>
          <p:cNvPr id="37" name="Text 34"/>
          <p:cNvSpPr txBox="1"/>
          <p:nvPr/>
        </p:nvSpPr>
        <p:spPr>
          <a:xfrm>
            <a:off x="1051560" y="3741725"/>
            <a:ext cx="38404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7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مَا رَأْيُكَ فِي طَعَامِ المَقْصَفِ؟</a:t>
            </a:r>
            <a:endParaRPr lang="ar-SA" sz="1700" dirty="0"/>
          </a:p>
        </p:txBody>
      </p:sp>
      <p:sp>
        <p:nvSpPr>
          <p:cNvPr id="38" name="Text 35"/>
          <p:cNvSpPr txBox="1"/>
          <p:nvPr/>
        </p:nvSpPr>
        <p:spPr>
          <a:xfrm>
            <a:off x="566928" y="3741725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3</a:t>
            </a:r>
            <a:endParaRPr lang="en-US" sz="1100" dirty="0"/>
          </a:p>
        </p:txBody>
      </p:sp>
      <p:sp>
        <p:nvSpPr>
          <p:cNvPr id="39" name="Shape 36"/>
          <p:cNvSpPr/>
          <p:nvPr/>
        </p:nvSpPr>
        <p:spPr>
          <a:xfrm>
            <a:off x="457200" y="4478731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4F1EA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40" name="Text 37"/>
          <p:cNvSpPr txBox="1"/>
          <p:nvPr/>
        </p:nvSpPr>
        <p:spPr>
          <a:xfrm>
            <a:off x="8641080" y="4478731"/>
            <a:ext cx="2999232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هَلْ عِنْدَكُمْ أَطْبَاقٌ …؟</a:t>
            </a:r>
            <a:endParaRPr lang="ar-SA" sz="1500" dirty="0"/>
          </a:p>
        </p:txBody>
      </p:sp>
      <p:sp>
        <p:nvSpPr>
          <p:cNvPr id="41" name="Text 38"/>
          <p:cNvSpPr txBox="1"/>
          <p:nvPr/>
        </p:nvSpPr>
        <p:spPr>
          <a:xfrm>
            <a:off x="5093208" y="4478731"/>
            <a:ext cx="33832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ASK if there are vegetarian dishes (the examiner then answers).</a:t>
            </a:r>
            <a:endParaRPr lang="en-US" sz="1100" dirty="0"/>
          </a:p>
        </p:txBody>
      </p:sp>
      <p:sp>
        <p:nvSpPr>
          <p:cNvPr id="42" name="Text 39"/>
          <p:cNvSpPr txBox="1"/>
          <p:nvPr/>
        </p:nvSpPr>
        <p:spPr>
          <a:xfrm>
            <a:off x="1051560" y="4478731"/>
            <a:ext cx="38404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7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… نَعَمْ، عِنْدَنَا شُورْبَةُ العَدَسِ كُلَّ يَوْمٍ.</a:t>
            </a:r>
            <a:endParaRPr lang="ar-SA" sz="1700" dirty="0"/>
          </a:p>
        </p:txBody>
      </p:sp>
      <p:sp>
        <p:nvSpPr>
          <p:cNvPr id="43" name="Text 40"/>
          <p:cNvSpPr txBox="1"/>
          <p:nvPr/>
        </p:nvSpPr>
        <p:spPr>
          <a:xfrm>
            <a:off x="566928" y="4478731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4</a:t>
            </a:r>
            <a:endParaRPr lang="en-US" sz="1100" dirty="0"/>
          </a:p>
        </p:txBody>
      </p:sp>
      <p:sp>
        <p:nvSpPr>
          <p:cNvPr id="44" name="Shape 41"/>
          <p:cNvSpPr/>
          <p:nvPr/>
        </p:nvSpPr>
        <p:spPr>
          <a:xfrm>
            <a:off x="457200" y="5215738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45" name="Text 42"/>
          <p:cNvSpPr txBox="1"/>
          <p:nvPr/>
        </p:nvSpPr>
        <p:spPr>
          <a:xfrm>
            <a:off x="8641080" y="5215738"/>
            <a:ext cx="2999232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أُرِيدُ أَنْ تُضِيفُوا …</a:t>
            </a:r>
            <a:endParaRPr lang="ar-SA" sz="1500" dirty="0"/>
          </a:p>
        </p:txBody>
      </p:sp>
      <p:sp>
        <p:nvSpPr>
          <p:cNvPr id="46" name="Text 43"/>
          <p:cNvSpPr txBox="1"/>
          <p:nvPr/>
        </p:nvSpPr>
        <p:spPr>
          <a:xfrm>
            <a:off x="5093208" y="5215738"/>
            <a:ext cx="33832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Answer the unexpected question.</a:t>
            </a:r>
            <a:endParaRPr lang="en-US" sz="1100" dirty="0"/>
          </a:p>
        </p:txBody>
      </p:sp>
      <p:sp>
        <p:nvSpPr>
          <p:cNvPr id="47" name="Text 44"/>
          <p:cNvSpPr txBox="1"/>
          <p:nvPr/>
        </p:nvSpPr>
        <p:spPr>
          <a:xfrm>
            <a:off x="1051560" y="5215738"/>
            <a:ext cx="38404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7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مَاذَا تُرِيدُ أَنْ نُضِيفَ إِلَى القَائِمَةِ؟</a:t>
            </a:r>
            <a:endParaRPr lang="ar-SA" sz="1700" dirty="0"/>
          </a:p>
        </p:txBody>
      </p:sp>
      <p:sp>
        <p:nvSpPr>
          <p:cNvPr id="48" name="Text 45"/>
          <p:cNvSpPr txBox="1"/>
          <p:nvPr/>
        </p:nvSpPr>
        <p:spPr>
          <a:xfrm>
            <a:off x="566928" y="5215738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5 !</a:t>
            </a:r>
            <a:endParaRPr lang="en-US" sz="1100" dirty="0"/>
          </a:p>
        </p:txBody>
      </p:sp>
      <p:sp>
        <p:nvSpPr>
          <p:cNvPr id="49" name="Text 46"/>
          <p:cNvSpPr txBox="1"/>
          <p:nvPr/>
        </p:nvSpPr>
        <p:spPr>
          <a:xfrm>
            <a:off x="457200" y="5943600"/>
            <a:ext cx="1127455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You are: a student  ·  The examiner is: the canteen manager  ·  ! = unexpected question: listen carefully.</a:t>
            </a:r>
            <a:endParaRPr lang="en-US" sz="1150" dirty="0"/>
          </a:p>
        </p:txBody>
      </p:sp>
      <p:sp>
        <p:nvSpPr>
          <p:cNvPr id="50" name="Text 47"/>
          <p:cNvSpPr txBox="1"/>
          <p:nvPr/>
        </p:nvSpPr>
        <p:spPr>
          <a:xfrm>
            <a:off x="10360152" y="6455664"/>
            <a:ext cx="1371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9 / 25</a:t>
            </a:r>
            <a:endParaRPr lang="en-US" sz="85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D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237744"/>
            <a:ext cx="420624" cy="420624"/>
          </a:xfrm>
          <a:prstGeom prst="ellipse">
            <a:avLst/>
          </a:prstGeom>
          <a:solidFill>
            <a:srgbClr val="1B3B6F"/>
          </a:solidFill>
          <a:ln w="12700">
            <a:solidFill>
              <a:srgbClr val="D4AF37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457200" y="219456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D4AF37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م</a:t>
            </a:r>
            <a:endParaRPr lang="ar-SA" sz="18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3657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Al Madina Online School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57200"/>
            <a:ext cx="4572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ARABIC DEPARTMENT · MIFTAH ARABIC · IGCSE 0544</a:t>
            </a:r>
            <a:endParaRPr lang="en-US" sz="800" dirty="0"/>
          </a:p>
        </p:txBody>
      </p:sp>
      <p:sp>
        <p:nvSpPr>
          <p:cNvPr id="6" name="Shape 4"/>
          <p:cNvSpPr/>
          <p:nvPr/>
        </p:nvSpPr>
        <p:spPr>
          <a:xfrm>
            <a:off x="8897112" y="274320"/>
            <a:ext cx="2834640" cy="329184"/>
          </a:xfrm>
          <a:prstGeom prst="roundRect">
            <a:avLst>
              <a:gd name="adj" fmla="val 50000"/>
            </a:avLst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8897112" y="274320"/>
            <a:ext cx="28346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AT-A-L04 · Speaking workshop</a:t>
            </a:r>
            <a:endParaRPr lang="en-US" sz="950" dirty="0"/>
          </a:p>
        </p:txBody>
      </p:sp>
      <p:sp>
        <p:nvSpPr>
          <p:cNvPr id="8" name="Shape 6"/>
          <p:cNvSpPr/>
          <p:nvPr/>
        </p:nvSpPr>
        <p:spPr>
          <a:xfrm>
            <a:off x="7295083" y="274320"/>
            <a:ext cx="1464869" cy="329184"/>
          </a:xfrm>
          <a:prstGeom prst="roundRect">
            <a:avLst>
              <a:gd name="adj" fmla="val 50000"/>
            </a:avLst>
          </a:prstGeom>
          <a:solidFill>
            <a:srgbClr val="1E6B52"/>
          </a:solidFill>
          <a:ln w="12700">
            <a:solidFill>
              <a:srgbClr val="1E6B52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7295083" y="274320"/>
            <a:ext cx="1464869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YOU DO · 6 MIN</a:t>
            </a:r>
            <a:endParaRPr lang="en-US" sz="900" dirty="0"/>
          </a:p>
        </p:txBody>
      </p:sp>
      <p:sp>
        <p:nvSpPr>
          <p:cNvPr id="10" name="Text 8"/>
          <p:cNvSpPr txBox="1"/>
          <p:nvPr/>
        </p:nvSpPr>
        <p:spPr>
          <a:xfrm>
            <a:off x="457200" y="822960"/>
            <a:ext cx="69494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300" kern="0" dirty="0">
                <a:solidFill>
                  <a:srgbClr val="1E6B52"/>
                </a:solidFill>
                <a:latin typeface="Calibri" pitchFamily="34" charset="0"/>
                <a:cs typeface="Amiri" pitchFamily="2" charset="-78"/>
              </a:rPr>
              <a:t>ROLE PLAY C · DEVELOP · WITH YOUR EXCHANGE PARTNER</a:t>
            </a:r>
            <a:endParaRPr lang="en-US" sz="1000" dirty="0"/>
          </a:p>
        </p:txBody>
      </p:sp>
      <p:sp>
        <p:nvSpPr>
          <p:cNvPr id="11" name="Text 9"/>
          <p:cNvSpPr txBox="1"/>
          <p:nvPr/>
        </p:nvSpPr>
        <p:spPr>
          <a:xfrm>
            <a:off x="457200" y="1033272"/>
            <a:ext cx="69494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Role play C — Food at home</a:t>
            </a:r>
            <a:endParaRPr lang="en-US" sz="2800" dirty="0"/>
          </a:p>
        </p:txBody>
      </p:sp>
      <p:sp>
        <p:nvSpPr>
          <p:cNvPr id="12" name="Text 10"/>
          <p:cNvSpPr txBox="1"/>
          <p:nvPr/>
        </p:nvSpPr>
        <p:spPr>
          <a:xfrm>
            <a:off x="7498080" y="868680"/>
            <a:ext cx="4233672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2800" b="1" dirty="0">
                <a:solidFill>
                  <a:srgbClr val="8A6D1E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الطَّعَامُ فِي بَيْتِي</a:t>
            </a:r>
            <a:endParaRPr lang="ar-SA" sz="28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6455664"/>
            <a:ext cx="6400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Miftah Arabic · Topic A · Speaking workshop · AT-A-L04</a:t>
            </a:r>
            <a:endParaRPr lang="en-US" sz="850" dirty="0"/>
          </a:p>
        </p:txBody>
      </p:sp>
      <p:sp>
        <p:nvSpPr>
          <p:cNvPr id="15" name="Shape 12"/>
          <p:cNvSpPr/>
          <p:nvPr/>
        </p:nvSpPr>
        <p:spPr>
          <a:xfrm>
            <a:off x="457200" y="1810512"/>
            <a:ext cx="11274552" cy="384048"/>
          </a:xfrm>
          <a:prstGeom prst="rect">
            <a:avLst/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16" name="Text 13"/>
          <p:cNvSpPr txBox="1"/>
          <p:nvPr/>
        </p:nvSpPr>
        <p:spPr>
          <a:xfrm>
            <a:off x="8622792" y="1810512"/>
            <a:ext cx="303580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Help (Core)</a:t>
            </a:r>
            <a:endParaRPr lang="en-US" sz="1100" dirty="0"/>
          </a:p>
        </p:txBody>
      </p:sp>
      <p:sp>
        <p:nvSpPr>
          <p:cNvPr id="17" name="Text 14"/>
          <p:cNvSpPr txBox="1"/>
          <p:nvPr/>
        </p:nvSpPr>
        <p:spPr>
          <a:xfrm>
            <a:off x="5056632" y="1810512"/>
            <a:ext cx="341985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Your task</a:t>
            </a:r>
            <a:endParaRPr lang="en-US" sz="1100" dirty="0"/>
          </a:p>
        </p:txBody>
      </p:sp>
      <p:sp>
        <p:nvSpPr>
          <p:cNvPr id="18" name="Text 15"/>
          <p:cNvSpPr txBox="1"/>
          <p:nvPr/>
        </p:nvSpPr>
        <p:spPr>
          <a:xfrm>
            <a:off x="1033272" y="1810512"/>
            <a:ext cx="387705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The examiner says</a:t>
            </a:r>
            <a:endParaRPr lang="en-US" sz="1100" dirty="0"/>
          </a:p>
        </p:txBody>
      </p:sp>
      <p:sp>
        <p:nvSpPr>
          <p:cNvPr id="19" name="Text 16"/>
          <p:cNvSpPr txBox="1"/>
          <p:nvPr/>
        </p:nvSpPr>
        <p:spPr>
          <a:xfrm>
            <a:off x="530352" y="1810512"/>
            <a:ext cx="35661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#</a:t>
            </a:r>
            <a:endParaRPr lang="en-US" sz="1100" dirty="0"/>
          </a:p>
        </p:txBody>
      </p:sp>
      <p:sp>
        <p:nvSpPr>
          <p:cNvPr id="20" name="Shape 17"/>
          <p:cNvSpPr/>
          <p:nvPr/>
        </p:nvSpPr>
        <p:spPr>
          <a:xfrm>
            <a:off x="457200" y="2267712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21" name="Text 18"/>
          <p:cNvSpPr txBox="1"/>
          <p:nvPr/>
        </p:nvSpPr>
        <p:spPr>
          <a:xfrm>
            <a:off x="8641080" y="2267712"/>
            <a:ext cx="2999232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ثَلَاثَ وَجَبَاتٍ: الفُطُورَ فِي …</a:t>
            </a:r>
            <a:endParaRPr lang="ar-SA" sz="1500" dirty="0"/>
          </a:p>
        </p:txBody>
      </p:sp>
      <p:sp>
        <p:nvSpPr>
          <p:cNvPr id="22" name="Text 19"/>
          <p:cNvSpPr txBox="1"/>
          <p:nvPr/>
        </p:nvSpPr>
        <p:spPr>
          <a:xfrm>
            <a:off x="5093208" y="2267712"/>
            <a:ext cx="33832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Describe your meals and when you eat them.</a:t>
            </a:r>
            <a:endParaRPr lang="en-US" sz="1100" dirty="0"/>
          </a:p>
        </p:txBody>
      </p:sp>
      <p:sp>
        <p:nvSpPr>
          <p:cNvPr id="23" name="Text 20"/>
          <p:cNvSpPr txBox="1"/>
          <p:nvPr/>
        </p:nvSpPr>
        <p:spPr>
          <a:xfrm>
            <a:off x="1051560" y="2267712"/>
            <a:ext cx="38404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7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كَمْ وَجْبَةً تَتَنَاوَلُ فِي اليَوْمِ؟ وَمَتَى؟</a:t>
            </a:r>
            <a:endParaRPr lang="ar-SA" sz="1700" dirty="0"/>
          </a:p>
        </p:txBody>
      </p:sp>
      <p:sp>
        <p:nvSpPr>
          <p:cNvPr id="24" name="Text 21"/>
          <p:cNvSpPr txBox="1"/>
          <p:nvPr/>
        </p:nvSpPr>
        <p:spPr>
          <a:xfrm>
            <a:off x="566928" y="2267712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1</a:t>
            </a:r>
            <a:endParaRPr lang="en-US" sz="1100" dirty="0"/>
          </a:p>
        </p:txBody>
      </p:sp>
      <p:sp>
        <p:nvSpPr>
          <p:cNvPr id="25" name="Shape 22"/>
          <p:cNvSpPr/>
          <p:nvPr/>
        </p:nvSpPr>
        <p:spPr>
          <a:xfrm>
            <a:off x="457200" y="3004718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4F1EA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26" name="Text 23"/>
          <p:cNvSpPr txBox="1"/>
          <p:nvPr/>
        </p:nvSpPr>
        <p:spPr>
          <a:xfrm>
            <a:off x="8641080" y="3004718"/>
            <a:ext cx="2999232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الطَّبَقُ المُفَضَّلُ … لِأَنَّ …</a:t>
            </a:r>
            <a:endParaRPr lang="ar-SA" sz="1500" dirty="0"/>
          </a:p>
        </p:txBody>
      </p:sp>
      <p:sp>
        <p:nvSpPr>
          <p:cNvPr id="27" name="Text 24"/>
          <p:cNvSpPr txBox="1"/>
          <p:nvPr/>
        </p:nvSpPr>
        <p:spPr>
          <a:xfrm>
            <a:off x="5093208" y="3004718"/>
            <a:ext cx="33832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Name the family’s favourite dish and why.</a:t>
            </a:r>
            <a:endParaRPr lang="en-US" sz="1100" dirty="0"/>
          </a:p>
        </p:txBody>
      </p:sp>
      <p:sp>
        <p:nvSpPr>
          <p:cNvPr id="28" name="Text 25"/>
          <p:cNvSpPr txBox="1"/>
          <p:nvPr/>
        </p:nvSpPr>
        <p:spPr>
          <a:xfrm>
            <a:off x="1051560" y="3004718"/>
            <a:ext cx="38404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7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مَا الطَّبَقُ المُفَضَّلُ فِي أُسْرَتِكَ؟</a:t>
            </a:r>
            <a:endParaRPr lang="ar-SA" sz="1700" dirty="0"/>
          </a:p>
        </p:txBody>
      </p:sp>
      <p:sp>
        <p:nvSpPr>
          <p:cNvPr id="29" name="Text 26"/>
          <p:cNvSpPr txBox="1"/>
          <p:nvPr/>
        </p:nvSpPr>
        <p:spPr>
          <a:xfrm>
            <a:off x="566928" y="3004718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2</a:t>
            </a:r>
            <a:endParaRPr lang="en-US" sz="1100" dirty="0"/>
          </a:p>
        </p:txBody>
      </p:sp>
      <p:sp>
        <p:nvSpPr>
          <p:cNvPr id="30" name="Shape 27"/>
          <p:cNvSpPr/>
          <p:nvPr/>
        </p:nvSpPr>
        <p:spPr>
          <a:xfrm>
            <a:off x="457200" y="3741725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31" name="Text 28"/>
          <p:cNvSpPr txBox="1"/>
          <p:nvPr/>
        </p:nvSpPr>
        <p:spPr>
          <a:xfrm>
            <a:off x="8641080" y="3741725"/>
            <a:ext cx="2999232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أُسَاعِدُ … أَغْسِلُ … وَأُحَضِّرُ …</a:t>
            </a:r>
            <a:endParaRPr lang="ar-SA" sz="1500" dirty="0"/>
          </a:p>
        </p:txBody>
      </p:sp>
      <p:sp>
        <p:nvSpPr>
          <p:cNvPr id="32" name="Text 29"/>
          <p:cNvSpPr txBox="1"/>
          <p:nvPr/>
        </p:nvSpPr>
        <p:spPr>
          <a:xfrm>
            <a:off x="5093208" y="3741725"/>
            <a:ext cx="33832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Say how you help in the kitchen (two things).</a:t>
            </a:r>
            <a:endParaRPr lang="en-US" sz="1100" dirty="0"/>
          </a:p>
        </p:txBody>
      </p:sp>
      <p:sp>
        <p:nvSpPr>
          <p:cNvPr id="33" name="Text 30"/>
          <p:cNvSpPr txBox="1"/>
          <p:nvPr/>
        </p:nvSpPr>
        <p:spPr>
          <a:xfrm>
            <a:off x="1051560" y="3741725"/>
            <a:ext cx="38404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7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هَلْ تُسَاعِدُ فِي المَطْبَخِ؟</a:t>
            </a:r>
            <a:endParaRPr lang="ar-SA" sz="1700" dirty="0"/>
          </a:p>
        </p:txBody>
      </p:sp>
      <p:sp>
        <p:nvSpPr>
          <p:cNvPr id="34" name="Text 31"/>
          <p:cNvSpPr txBox="1"/>
          <p:nvPr/>
        </p:nvSpPr>
        <p:spPr>
          <a:xfrm>
            <a:off x="566928" y="3741725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3</a:t>
            </a:r>
            <a:endParaRPr lang="en-US" sz="1100" dirty="0"/>
          </a:p>
        </p:txBody>
      </p:sp>
      <p:sp>
        <p:nvSpPr>
          <p:cNvPr id="35" name="Shape 32"/>
          <p:cNvSpPr/>
          <p:nvPr/>
        </p:nvSpPr>
        <p:spPr>
          <a:xfrm>
            <a:off x="457200" y="4478731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4F1EA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36" name="Text 33"/>
          <p:cNvSpPr txBox="1"/>
          <p:nvPr/>
        </p:nvSpPr>
        <p:spPr>
          <a:xfrm>
            <a:off x="8641080" y="4478731"/>
            <a:ext cx="2999232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مَا الأَكْلَةُ المَشْهُورَةُ …؟</a:t>
            </a:r>
            <a:endParaRPr lang="ar-SA" sz="1500" dirty="0"/>
          </a:p>
        </p:txBody>
      </p:sp>
      <p:sp>
        <p:nvSpPr>
          <p:cNvPr id="37" name="Text 34"/>
          <p:cNvSpPr txBox="1"/>
          <p:nvPr/>
        </p:nvSpPr>
        <p:spPr>
          <a:xfrm>
            <a:off x="5093208" y="4478731"/>
            <a:ext cx="33832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ASK what the famous dish in Jordan is (the examiner then answers).</a:t>
            </a:r>
            <a:endParaRPr lang="en-US" sz="1100" dirty="0"/>
          </a:p>
        </p:txBody>
      </p:sp>
      <p:sp>
        <p:nvSpPr>
          <p:cNvPr id="38" name="Text 35"/>
          <p:cNvSpPr txBox="1"/>
          <p:nvPr/>
        </p:nvSpPr>
        <p:spPr>
          <a:xfrm>
            <a:off x="1051560" y="4478731"/>
            <a:ext cx="38404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7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… المَنْسَفُ: لَحْمٌ مَعَ أُرْزٍ وَلَبَنٍ.</a:t>
            </a:r>
            <a:endParaRPr lang="ar-SA" sz="1700" dirty="0"/>
          </a:p>
        </p:txBody>
      </p:sp>
      <p:sp>
        <p:nvSpPr>
          <p:cNvPr id="39" name="Text 36"/>
          <p:cNvSpPr txBox="1"/>
          <p:nvPr/>
        </p:nvSpPr>
        <p:spPr>
          <a:xfrm>
            <a:off x="566928" y="4478731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4</a:t>
            </a:r>
            <a:endParaRPr lang="en-US" sz="1100" dirty="0"/>
          </a:p>
        </p:txBody>
      </p:sp>
      <p:sp>
        <p:nvSpPr>
          <p:cNvPr id="40" name="Shape 37"/>
          <p:cNvSpPr/>
          <p:nvPr/>
        </p:nvSpPr>
        <p:spPr>
          <a:xfrm>
            <a:off x="457200" y="5215738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41" name="Text 38"/>
          <p:cNvSpPr txBox="1"/>
          <p:nvPr/>
        </p:nvSpPr>
        <p:spPr>
          <a:xfrm>
            <a:off x="8641080" y="5215738"/>
            <a:ext cx="2999232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لَا أُحِبُّ … لِأَنَّ …</a:t>
            </a:r>
            <a:endParaRPr lang="ar-SA" sz="1500" dirty="0"/>
          </a:p>
        </p:txBody>
      </p:sp>
      <p:sp>
        <p:nvSpPr>
          <p:cNvPr id="42" name="Text 39"/>
          <p:cNvSpPr txBox="1"/>
          <p:nvPr/>
        </p:nvSpPr>
        <p:spPr>
          <a:xfrm>
            <a:off x="5093208" y="5215738"/>
            <a:ext cx="33832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Answer the unexpected question, with a reason.</a:t>
            </a:r>
            <a:endParaRPr lang="en-US" sz="1100" dirty="0"/>
          </a:p>
        </p:txBody>
      </p:sp>
      <p:sp>
        <p:nvSpPr>
          <p:cNvPr id="43" name="Text 40"/>
          <p:cNvSpPr txBox="1"/>
          <p:nvPr/>
        </p:nvSpPr>
        <p:spPr>
          <a:xfrm>
            <a:off x="1051560" y="5215738"/>
            <a:ext cx="38404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7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مَا الطَّعَامُ الَّذِي لَا تُحِبُّهُ؟ لِمَاذَا؟</a:t>
            </a:r>
            <a:endParaRPr lang="ar-SA" sz="1700" dirty="0"/>
          </a:p>
        </p:txBody>
      </p:sp>
      <p:sp>
        <p:nvSpPr>
          <p:cNvPr id="44" name="Text 41"/>
          <p:cNvSpPr txBox="1"/>
          <p:nvPr/>
        </p:nvSpPr>
        <p:spPr>
          <a:xfrm>
            <a:off x="566928" y="5215738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5 !</a:t>
            </a:r>
            <a:endParaRPr lang="en-US" sz="1100" dirty="0"/>
          </a:p>
        </p:txBody>
      </p:sp>
      <p:sp>
        <p:nvSpPr>
          <p:cNvPr id="45" name="Text 42"/>
          <p:cNvSpPr txBox="1"/>
          <p:nvPr/>
        </p:nvSpPr>
        <p:spPr>
          <a:xfrm>
            <a:off x="457200" y="5943600"/>
            <a:ext cx="1127455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You are: a host student  ·  The examiner is: your exchange partner from Jordan  ·  ! = unexpected question: listen carefully.</a:t>
            </a:r>
            <a:endParaRPr lang="en-US" sz="1150" dirty="0"/>
          </a:p>
        </p:txBody>
      </p:sp>
      <p:sp>
        <p:nvSpPr>
          <p:cNvPr id="46" name="Text 43"/>
          <p:cNvSpPr txBox="1"/>
          <p:nvPr/>
        </p:nvSpPr>
        <p:spPr>
          <a:xfrm>
            <a:off x="10360152" y="6455664"/>
            <a:ext cx="1371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10 / 25</a:t>
            </a:r>
            <a:endParaRPr lang="en-US" sz="85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D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237744"/>
            <a:ext cx="420624" cy="420624"/>
          </a:xfrm>
          <a:prstGeom prst="ellipse">
            <a:avLst/>
          </a:prstGeom>
          <a:solidFill>
            <a:srgbClr val="1B3B6F"/>
          </a:solidFill>
          <a:ln w="12700">
            <a:solidFill>
              <a:srgbClr val="D4AF37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457200" y="219456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D4AF37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م</a:t>
            </a:r>
            <a:endParaRPr lang="ar-SA" sz="18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3657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Al Madina Online School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57200"/>
            <a:ext cx="4572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ARABIC DEPARTMENT · MIFTAH ARABIC · IGCSE 0544</a:t>
            </a:r>
            <a:endParaRPr lang="en-US" sz="800" dirty="0"/>
          </a:p>
        </p:txBody>
      </p:sp>
      <p:sp>
        <p:nvSpPr>
          <p:cNvPr id="6" name="Shape 4"/>
          <p:cNvSpPr/>
          <p:nvPr/>
        </p:nvSpPr>
        <p:spPr>
          <a:xfrm>
            <a:off x="8897112" y="274320"/>
            <a:ext cx="2834640" cy="329184"/>
          </a:xfrm>
          <a:prstGeom prst="roundRect">
            <a:avLst>
              <a:gd name="adj" fmla="val 50000"/>
            </a:avLst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8897112" y="274320"/>
            <a:ext cx="28346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AT-A-L04 · Speaking workshop</a:t>
            </a:r>
            <a:endParaRPr lang="en-US" sz="950" dirty="0"/>
          </a:p>
        </p:txBody>
      </p:sp>
      <p:sp>
        <p:nvSpPr>
          <p:cNvPr id="8" name="Shape 6"/>
          <p:cNvSpPr/>
          <p:nvPr/>
        </p:nvSpPr>
        <p:spPr>
          <a:xfrm>
            <a:off x="7295083" y="274320"/>
            <a:ext cx="1464869" cy="329184"/>
          </a:xfrm>
          <a:prstGeom prst="roundRect">
            <a:avLst>
              <a:gd name="adj" fmla="val 50000"/>
            </a:avLst>
          </a:prstGeom>
          <a:solidFill>
            <a:srgbClr val="1E6B52"/>
          </a:solidFill>
          <a:ln w="12700">
            <a:solidFill>
              <a:srgbClr val="1E6B52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7295083" y="274320"/>
            <a:ext cx="1464869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YOU DO · 6 MIN</a:t>
            </a:r>
            <a:endParaRPr lang="en-US" sz="900" dirty="0"/>
          </a:p>
        </p:txBody>
      </p:sp>
      <p:sp>
        <p:nvSpPr>
          <p:cNvPr id="10" name="Text 8"/>
          <p:cNvSpPr txBox="1"/>
          <p:nvPr/>
        </p:nvSpPr>
        <p:spPr>
          <a:xfrm>
            <a:off x="457200" y="822960"/>
            <a:ext cx="69494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150" kern="0" dirty="0">
                <a:solidFill>
                  <a:srgbClr val="1E6B52"/>
                </a:solidFill>
                <a:latin typeface="Calibri" pitchFamily="34" charset="0"/>
                <a:cs typeface="Amiri" pitchFamily="2" charset="-78"/>
              </a:rPr>
              <a:t>ROLE PLAY D · STRETCH · A RADIO PROGRAMME ABOUT FOOD AND CULTURE</a:t>
            </a:r>
            <a:endParaRPr lang="en-US" sz="1000" dirty="0"/>
          </a:p>
        </p:txBody>
      </p:sp>
      <p:sp>
        <p:nvSpPr>
          <p:cNvPr id="11" name="Text 9"/>
          <p:cNvSpPr txBox="1"/>
          <p:nvPr/>
        </p:nvSpPr>
        <p:spPr>
          <a:xfrm>
            <a:off x="457200" y="1033272"/>
            <a:ext cx="69494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55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Role play D — Food, family and culture</a:t>
            </a:r>
            <a:endParaRPr lang="en-US" sz="2550" dirty="0"/>
          </a:p>
        </p:txBody>
      </p:sp>
      <p:sp>
        <p:nvSpPr>
          <p:cNvPr id="12" name="Text 10"/>
          <p:cNvSpPr txBox="1"/>
          <p:nvPr/>
        </p:nvSpPr>
        <p:spPr>
          <a:xfrm>
            <a:off x="7498080" y="868680"/>
            <a:ext cx="4233672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2800" b="1" dirty="0">
                <a:solidFill>
                  <a:srgbClr val="8A6D1E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الطَّعَامُ وَالثَّقَافَةُ</a:t>
            </a:r>
            <a:endParaRPr lang="ar-SA" sz="28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6455664"/>
            <a:ext cx="6400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Miftah Arabic · Topic A · Speaking workshop · AT-A-L04</a:t>
            </a:r>
            <a:endParaRPr lang="en-US" sz="850" dirty="0"/>
          </a:p>
        </p:txBody>
      </p:sp>
      <p:sp>
        <p:nvSpPr>
          <p:cNvPr id="15" name="Shape 12"/>
          <p:cNvSpPr/>
          <p:nvPr/>
        </p:nvSpPr>
        <p:spPr>
          <a:xfrm>
            <a:off x="457200" y="1810512"/>
            <a:ext cx="11274552" cy="384048"/>
          </a:xfrm>
          <a:prstGeom prst="rect">
            <a:avLst/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16" name="Text 13"/>
          <p:cNvSpPr txBox="1"/>
          <p:nvPr/>
        </p:nvSpPr>
        <p:spPr>
          <a:xfrm>
            <a:off x="8622792" y="1810512"/>
            <a:ext cx="303580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Help (Core)</a:t>
            </a:r>
            <a:endParaRPr lang="en-US" sz="1100" dirty="0"/>
          </a:p>
        </p:txBody>
      </p:sp>
      <p:sp>
        <p:nvSpPr>
          <p:cNvPr id="17" name="Text 14"/>
          <p:cNvSpPr txBox="1"/>
          <p:nvPr/>
        </p:nvSpPr>
        <p:spPr>
          <a:xfrm>
            <a:off x="5056632" y="1810512"/>
            <a:ext cx="341985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Your task</a:t>
            </a:r>
            <a:endParaRPr lang="en-US" sz="1100" dirty="0"/>
          </a:p>
        </p:txBody>
      </p:sp>
      <p:sp>
        <p:nvSpPr>
          <p:cNvPr id="18" name="Text 15"/>
          <p:cNvSpPr txBox="1"/>
          <p:nvPr/>
        </p:nvSpPr>
        <p:spPr>
          <a:xfrm>
            <a:off x="1033272" y="1810512"/>
            <a:ext cx="387705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The examiner says</a:t>
            </a:r>
            <a:endParaRPr lang="en-US" sz="1100" dirty="0"/>
          </a:p>
        </p:txBody>
      </p:sp>
      <p:sp>
        <p:nvSpPr>
          <p:cNvPr id="19" name="Text 16"/>
          <p:cNvSpPr txBox="1"/>
          <p:nvPr/>
        </p:nvSpPr>
        <p:spPr>
          <a:xfrm>
            <a:off x="530352" y="1810512"/>
            <a:ext cx="35661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#</a:t>
            </a:r>
            <a:endParaRPr lang="en-US" sz="1100" dirty="0"/>
          </a:p>
        </p:txBody>
      </p:sp>
      <p:sp>
        <p:nvSpPr>
          <p:cNvPr id="20" name="Shape 17"/>
          <p:cNvSpPr/>
          <p:nvPr/>
        </p:nvSpPr>
        <p:spPr>
          <a:xfrm>
            <a:off x="457200" y="2267712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21" name="Text 18"/>
          <p:cNvSpPr txBox="1"/>
          <p:nvPr/>
        </p:nvSpPr>
        <p:spPr>
          <a:xfrm>
            <a:off x="8641080" y="2267712"/>
            <a:ext cx="2999232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نُفَضِّلُ … عَلَى …</a:t>
            </a:r>
            <a:endParaRPr lang="ar-SA" sz="1500" dirty="0"/>
          </a:p>
        </p:txBody>
      </p:sp>
      <p:sp>
        <p:nvSpPr>
          <p:cNvPr id="22" name="Text 19"/>
          <p:cNvSpPr txBox="1"/>
          <p:nvPr/>
        </p:nvSpPr>
        <p:spPr>
          <a:xfrm>
            <a:off x="5093208" y="2267712"/>
            <a:ext cx="33832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Describe your family’s food habits, with a preference.</a:t>
            </a:r>
            <a:endParaRPr lang="en-US" sz="1100" dirty="0"/>
          </a:p>
        </p:txBody>
      </p:sp>
      <p:sp>
        <p:nvSpPr>
          <p:cNvPr id="23" name="Text 20"/>
          <p:cNvSpPr txBox="1"/>
          <p:nvPr/>
        </p:nvSpPr>
        <p:spPr>
          <a:xfrm>
            <a:off x="1051560" y="2267712"/>
            <a:ext cx="38404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7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صِفْ عَادَاتِ أُسْرَتِكَ فِي الطَّعَامِ.</a:t>
            </a:r>
            <a:endParaRPr lang="ar-SA" sz="1700" dirty="0"/>
          </a:p>
        </p:txBody>
      </p:sp>
      <p:sp>
        <p:nvSpPr>
          <p:cNvPr id="24" name="Text 21"/>
          <p:cNvSpPr txBox="1"/>
          <p:nvPr/>
        </p:nvSpPr>
        <p:spPr>
          <a:xfrm>
            <a:off x="566928" y="2267712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1</a:t>
            </a:r>
            <a:endParaRPr lang="en-US" sz="1100" dirty="0"/>
          </a:p>
        </p:txBody>
      </p:sp>
      <p:sp>
        <p:nvSpPr>
          <p:cNvPr id="25" name="Shape 22"/>
          <p:cNvSpPr/>
          <p:nvPr/>
        </p:nvSpPr>
        <p:spPr>
          <a:xfrm>
            <a:off x="457200" y="3004718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4F1EA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26" name="Text 23"/>
          <p:cNvSpPr txBox="1"/>
          <p:nvPr/>
        </p:nvSpPr>
        <p:spPr>
          <a:xfrm>
            <a:off x="8641080" y="3004718"/>
            <a:ext cx="2999232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فِي … أَكَلْنَا … وَحَضَّرَتْ …</a:t>
            </a:r>
            <a:endParaRPr lang="ar-SA" sz="1500" dirty="0"/>
          </a:p>
        </p:txBody>
      </p:sp>
      <p:sp>
        <p:nvSpPr>
          <p:cNvPr id="27" name="Text 24"/>
          <p:cNvSpPr txBox="1"/>
          <p:nvPr/>
        </p:nvSpPr>
        <p:spPr>
          <a:xfrm>
            <a:off x="5093208" y="3004718"/>
            <a:ext cx="33832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Describe food at a recent family occasion (past).</a:t>
            </a:r>
            <a:endParaRPr lang="en-US" sz="1100" dirty="0"/>
          </a:p>
        </p:txBody>
      </p:sp>
      <p:sp>
        <p:nvSpPr>
          <p:cNvPr id="28" name="Text 25"/>
          <p:cNvSpPr txBox="1"/>
          <p:nvPr/>
        </p:nvSpPr>
        <p:spPr>
          <a:xfrm>
            <a:off x="1051560" y="3004718"/>
            <a:ext cx="38404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7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مَاذَا أَكَلْتُمْ فِي آخِرِ مُنَاسَبَةٍ عَائِلِيَّةٍ؟</a:t>
            </a:r>
            <a:endParaRPr lang="ar-SA" sz="1700" dirty="0"/>
          </a:p>
        </p:txBody>
      </p:sp>
      <p:sp>
        <p:nvSpPr>
          <p:cNvPr id="29" name="Text 26"/>
          <p:cNvSpPr txBox="1"/>
          <p:nvPr/>
        </p:nvSpPr>
        <p:spPr>
          <a:xfrm>
            <a:off x="566928" y="3004718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2</a:t>
            </a:r>
            <a:endParaRPr lang="en-US" sz="1100" dirty="0"/>
          </a:p>
        </p:txBody>
      </p:sp>
      <p:sp>
        <p:nvSpPr>
          <p:cNvPr id="30" name="Shape 27"/>
          <p:cNvSpPr/>
          <p:nvPr/>
        </p:nvSpPr>
        <p:spPr>
          <a:xfrm>
            <a:off x="457200" y="3741725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31" name="Text 28"/>
          <p:cNvSpPr txBox="1"/>
          <p:nvPr/>
        </p:nvSpPr>
        <p:spPr>
          <a:xfrm>
            <a:off x="8641080" y="3741725"/>
            <a:ext cx="2999232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أُفَضِّلُ … لِأَنَّهُ … لٰكِنِّي …</a:t>
            </a:r>
            <a:endParaRPr lang="ar-SA" sz="1500" dirty="0"/>
          </a:p>
        </p:txBody>
      </p:sp>
      <p:sp>
        <p:nvSpPr>
          <p:cNvPr id="32" name="Text 29"/>
          <p:cNvSpPr txBox="1"/>
          <p:nvPr/>
        </p:nvSpPr>
        <p:spPr>
          <a:xfrm>
            <a:off x="5093208" y="3741725"/>
            <a:ext cx="33832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Give a preference, a reason and a contrast.</a:t>
            </a:r>
            <a:endParaRPr lang="en-US" sz="1100" dirty="0"/>
          </a:p>
        </p:txBody>
      </p:sp>
      <p:sp>
        <p:nvSpPr>
          <p:cNvPr id="33" name="Text 30"/>
          <p:cNvSpPr txBox="1"/>
          <p:nvPr/>
        </p:nvSpPr>
        <p:spPr>
          <a:xfrm>
            <a:off x="1051560" y="3741725"/>
            <a:ext cx="38404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7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هَلْ تُفَضِّلُ الطَّعَامَ التَّقْلِيدِيَّ أَمِ الحَدِيثَ؟ لِمَاذَا؟</a:t>
            </a:r>
            <a:endParaRPr lang="ar-SA" sz="1700" dirty="0"/>
          </a:p>
        </p:txBody>
      </p:sp>
      <p:sp>
        <p:nvSpPr>
          <p:cNvPr id="34" name="Text 31"/>
          <p:cNvSpPr txBox="1"/>
          <p:nvPr/>
        </p:nvSpPr>
        <p:spPr>
          <a:xfrm>
            <a:off x="566928" y="3741725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3</a:t>
            </a:r>
            <a:endParaRPr lang="en-US" sz="1100" dirty="0"/>
          </a:p>
        </p:txBody>
      </p:sp>
      <p:sp>
        <p:nvSpPr>
          <p:cNvPr id="35" name="Shape 32"/>
          <p:cNvSpPr/>
          <p:nvPr/>
        </p:nvSpPr>
        <p:spPr>
          <a:xfrm>
            <a:off x="457200" y="4478731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4F1EA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36" name="Text 33"/>
          <p:cNvSpPr txBox="1"/>
          <p:nvPr/>
        </p:nvSpPr>
        <p:spPr>
          <a:xfrm>
            <a:off x="8641080" y="4478731"/>
            <a:ext cx="2999232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بَيْنَمَا … يُفَضِّلُ …</a:t>
            </a:r>
            <a:endParaRPr lang="ar-SA" sz="1500" dirty="0"/>
          </a:p>
        </p:txBody>
      </p:sp>
      <p:sp>
        <p:nvSpPr>
          <p:cNvPr id="37" name="Text 34"/>
          <p:cNvSpPr txBox="1"/>
          <p:nvPr/>
        </p:nvSpPr>
        <p:spPr>
          <a:xfrm>
            <a:off x="5093208" y="4478731"/>
            <a:ext cx="33832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Compare food in two countries.</a:t>
            </a:r>
            <a:endParaRPr lang="en-US" sz="1100" dirty="0"/>
          </a:p>
        </p:txBody>
      </p:sp>
      <p:sp>
        <p:nvSpPr>
          <p:cNvPr id="38" name="Text 35"/>
          <p:cNvSpPr txBox="1"/>
          <p:nvPr/>
        </p:nvSpPr>
        <p:spPr>
          <a:xfrm>
            <a:off x="1051560" y="4478731"/>
            <a:ext cx="38404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7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قَارِنْ بَيْنَ الطَّعَامِ فِي بَلَدَيْنِ تَعْرِفُهُمَا.</a:t>
            </a:r>
            <a:endParaRPr lang="ar-SA" sz="1700" dirty="0"/>
          </a:p>
        </p:txBody>
      </p:sp>
      <p:sp>
        <p:nvSpPr>
          <p:cNvPr id="39" name="Text 36"/>
          <p:cNvSpPr txBox="1"/>
          <p:nvPr/>
        </p:nvSpPr>
        <p:spPr>
          <a:xfrm>
            <a:off x="566928" y="4478731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4</a:t>
            </a:r>
            <a:endParaRPr lang="en-US" sz="1100" dirty="0"/>
          </a:p>
        </p:txBody>
      </p:sp>
      <p:sp>
        <p:nvSpPr>
          <p:cNvPr id="40" name="Shape 37"/>
          <p:cNvSpPr/>
          <p:nvPr/>
        </p:nvSpPr>
        <p:spPr>
          <a:xfrm>
            <a:off x="457200" y="5215738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41" name="Text 38"/>
          <p:cNvSpPr txBox="1"/>
          <p:nvPr/>
        </p:nvSpPr>
        <p:spPr>
          <a:xfrm>
            <a:off x="8641080" y="5215738"/>
            <a:ext cx="2999232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لَوْ كُنْتُ طَبَّاخًا، لَحَضَّرْتُ …</a:t>
            </a:r>
            <a:endParaRPr lang="ar-SA" sz="1500" dirty="0"/>
          </a:p>
        </p:txBody>
      </p:sp>
      <p:sp>
        <p:nvSpPr>
          <p:cNvPr id="42" name="Text 39"/>
          <p:cNvSpPr txBox="1"/>
          <p:nvPr/>
        </p:nvSpPr>
        <p:spPr>
          <a:xfrm>
            <a:off x="5093208" y="5215738"/>
            <a:ext cx="33832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Answer the unexpected question (a conditional).</a:t>
            </a:r>
            <a:endParaRPr lang="en-US" sz="1100" dirty="0"/>
          </a:p>
        </p:txBody>
      </p:sp>
      <p:sp>
        <p:nvSpPr>
          <p:cNvPr id="43" name="Text 40"/>
          <p:cNvSpPr txBox="1"/>
          <p:nvPr/>
        </p:nvSpPr>
        <p:spPr>
          <a:xfrm>
            <a:off x="1051560" y="5215738"/>
            <a:ext cx="38404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7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لَوْ كُنْتَ طَبَّاخًا، مَاذَا تُحَضِّرُ لِضُيُوفِكَ؟</a:t>
            </a:r>
            <a:endParaRPr lang="ar-SA" sz="1700" dirty="0"/>
          </a:p>
        </p:txBody>
      </p:sp>
      <p:sp>
        <p:nvSpPr>
          <p:cNvPr id="44" name="Text 41"/>
          <p:cNvSpPr txBox="1"/>
          <p:nvPr/>
        </p:nvSpPr>
        <p:spPr>
          <a:xfrm>
            <a:off x="566928" y="5215738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5 !</a:t>
            </a:r>
            <a:endParaRPr lang="en-US" sz="1100" dirty="0"/>
          </a:p>
        </p:txBody>
      </p:sp>
      <p:sp>
        <p:nvSpPr>
          <p:cNvPr id="45" name="Text 42"/>
          <p:cNvSpPr txBox="1"/>
          <p:nvPr/>
        </p:nvSpPr>
        <p:spPr>
          <a:xfrm>
            <a:off x="457200" y="5943600"/>
            <a:ext cx="1127455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You are: a student guest  ·  The examiner is: the radio presenter  ·  ! = unexpected question: listen carefully.</a:t>
            </a:r>
            <a:endParaRPr lang="en-US" sz="1150" dirty="0"/>
          </a:p>
        </p:txBody>
      </p:sp>
      <p:sp>
        <p:nvSpPr>
          <p:cNvPr id="46" name="Text 43"/>
          <p:cNvSpPr txBox="1"/>
          <p:nvPr/>
        </p:nvSpPr>
        <p:spPr>
          <a:xfrm>
            <a:off x="10360152" y="6455664"/>
            <a:ext cx="1371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11 / 25</a:t>
            </a:r>
            <a:endParaRPr lang="en-US" sz="85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D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237744"/>
            <a:ext cx="420624" cy="420624"/>
          </a:xfrm>
          <a:prstGeom prst="ellipse">
            <a:avLst/>
          </a:prstGeom>
          <a:solidFill>
            <a:srgbClr val="1B3B6F"/>
          </a:solidFill>
          <a:ln w="12700">
            <a:solidFill>
              <a:srgbClr val="D4AF37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457200" y="219456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D4AF37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م</a:t>
            </a:r>
            <a:endParaRPr lang="ar-SA" sz="18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3657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Al Madina Online School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57200"/>
            <a:ext cx="4572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ARABIC DEPARTMENT · MIFTAH ARABIC · IGCSE 0544</a:t>
            </a:r>
            <a:endParaRPr lang="en-US" sz="800" dirty="0"/>
          </a:p>
        </p:txBody>
      </p:sp>
      <p:sp>
        <p:nvSpPr>
          <p:cNvPr id="6" name="Shape 4"/>
          <p:cNvSpPr/>
          <p:nvPr/>
        </p:nvSpPr>
        <p:spPr>
          <a:xfrm>
            <a:off x="8897112" y="274320"/>
            <a:ext cx="2834640" cy="329184"/>
          </a:xfrm>
          <a:prstGeom prst="roundRect">
            <a:avLst>
              <a:gd name="adj" fmla="val 50000"/>
            </a:avLst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8897112" y="274320"/>
            <a:ext cx="28346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AT-A-L04 · Speaking workshop</a:t>
            </a:r>
            <a:endParaRPr lang="en-US" sz="950" dirty="0"/>
          </a:p>
        </p:txBody>
      </p:sp>
      <p:sp>
        <p:nvSpPr>
          <p:cNvPr id="8" name="Shape 6"/>
          <p:cNvSpPr/>
          <p:nvPr/>
        </p:nvSpPr>
        <p:spPr>
          <a:xfrm>
            <a:off x="7295083" y="274320"/>
            <a:ext cx="1464869" cy="329184"/>
          </a:xfrm>
          <a:prstGeom prst="roundRect">
            <a:avLst>
              <a:gd name="adj" fmla="val 50000"/>
            </a:avLst>
          </a:prstGeom>
          <a:solidFill>
            <a:srgbClr val="1E6B52"/>
          </a:solidFill>
          <a:ln w="12700">
            <a:solidFill>
              <a:srgbClr val="1E6B52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7295083" y="274320"/>
            <a:ext cx="1464869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YOU DO · 1 MIN</a:t>
            </a:r>
            <a:endParaRPr lang="en-US" sz="900" dirty="0"/>
          </a:p>
        </p:txBody>
      </p:sp>
      <p:sp>
        <p:nvSpPr>
          <p:cNvPr id="10" name="Text 8"/>
          <p:cNvSpPr txBox="1"/>
          <p:nvPr/>
        </p:nvSpPr>
        <p:spPr>
          <a:xfrm>
            <a:off x="457200" y="822960"/>
            <a:ext cx="69494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300" kern="0" dirty="0">
                <a:solidFill>
                  <a:srgbClr val="1E6B52"/>
                </a:solidFill>
                <a:latin typeface="Calibri" pitchFamily="34" charset="0"/>
                <a:cs typeface="Amiri" pitchFamily="2" charset="-78"/>
              </a:rPr>
              <a:t>OBSERVER · FEEDBACK CHECKLIST</a:t>
            </a:r>
            <a:endParaRPr lang="en-US" sz="1000" dirty="0"/>
          </a:p>
        </p:txBody>
      </p:sp>
      <p:sp>
        <p:nvSpPr>
          <p:cNvPr id="11" name="Text 9"/>
          <p:cNvSpPr txBox="1"/>
          <p:nvPr/>
        </p:nvSpPr>
        <p:spPr>
          <a:xfrm>
            <a:off x="457200" y="1033272"/>
            <a:ext cx="69494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Observer: tick and give feedback</a:t>
            </a:r>
            <a:endParaRPr lang="en-US" sz="2800" dirty="0"/>
          </a:p>
        </p:txBody>
      </p:sp>
      <p:sp>
        <p:nvSpPr>
          <p:cNvPr id="12" name="Text 10"/>
          <p:cNvSpPr txBox="1"/>
          <p:nvPr/>
        </p:nvSpPr>
        <p:spPr>
          <a:xfrm>
            <a:off x="7498080" y="868680"/>
            <a:ext cx="4233672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2800" b="1" dirty="0">
                <a:solidFill>
                  <a:srgbClr val="8A6D1E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وَرَقَةُ المُلَاحِظِ</a:t>
            </a:r>
            <a:endParaRPr lang="ar-SA" sz="28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6455664"/>
            <a:ext cx="6400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Miftah Arabic · Topic A · Speaking workshop · AT-A-L04</a:t>
            </a:r>
            <a:endParaRPr lang="en-US" sz="850" dirty="0"/>
          </a:p>
        </p:txBody>
      </p:sp>
      <p:sp>
        <p:nvSpPr>
          <p:cNvPr id="15" name="Shape 12"/>
          <p:cNvSpPr/>
          <p:nvPr/>
        </p:nvSpPr>
        <p:spPr>
          <a:xfrm>
            <a:off x="457200" y="1810512"/>
            <a:ext cx="11274552" cy="384048"/>
          </a:xfrm>
          <a:prstGeom prst="rect">
            <a:avLst/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16" name="Text 13"/>
          <p:cNvSpPr txBox="1"/>
          <p:nvPr/>
        </p:nvSpPr>
        <p:spPr>
          <a:xfrm>
            <a:off x="8759952" y="1810512"/>
            <a:ext cx="28986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Example you heard</a:t>
            </a:r>
            <a:endParaRPr lang="en-US" sz="1100" dirty="0"/>
          </a:p>
        </p:txBody>
      </p:sp>
      <p:sp>
        <p:nvSpPr>
          <p:cNvPr id="17" name="Text 14"/>
          <p:cNvSpPr txBox="1"/>
          <p:nvPr/>
        </p:nvSpPr>
        <p:spPr>
          <a:xfrm>
            <a:off x="7662672" y="1810512"/>
            <a:ext cx="95097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✓ / ✗</a:t>
            </a:r>
            <a:endParaRPr lang="en-US" sz="1100" dirty="0"/>
          </a:p>
        </p:txBody>
      </p:sp>
      <p:sp>
        <p:nvSpPr>
          <p:cNvPr id="18" name="Text 15"/>
          <p:cNvSpPr txBox="1"/>
          <p:nvPr/>
        </p:nvSpPr>
        <p:spPr>
          <a:xfrm>
            <a:off x="6199632" y="1810512"/>
            <a:ext cx="131673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Route</a:t>
            </a:r>
            <a:endParaRPr lang="en-US" sz="1100" dirty="0"/>
          </a:p>
        </p:txBody>
      </p:sp>
      <p:sp>
        <p:nvSpPr>
          <p:cNvPr id="19" name="Text 16"/>
          <p:cNvSpPr txBox="1"/>
          <p:nvPr/>
        </p:nvSpPr>
        <p:spPr>
          <a:xfrm>
            <a:off x="530352" y="1810512"/>
            <a:ext cx="552297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The candidate …</a:t>
            </a:r>
            <a:endParaRPr lang="en-US" sz="1100" dirty="0"/>
          </a:p>
        </p:txBody>
      </p:sp>
      <p:sp>
        <p:nvSpPr>
          <p:cNvPr id="20" name="Shape 17"/>
          <p:cNvSpPr/>
          <p:nvPr/>
        </p:nvSpPr>
        <p:spPr>
          <a:xfrm>
            <a:off x="457200" y="2267712"/>
            <a:ext cx="11274552" cy="559308"/>
          </a:xfrm>
          <a:prstGeom prst="roundRect">
            <a:avLst>
              <a:gd name="adj" fmla="val 8174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21" name="Text 18"/>
          <p:cNvSpPr txBox="1"/>
          <p:nvPr/>
        </p:nvSpPr>
        <p:spPr>
          <a:xfrm>
            <a:off x="8796528" y="2267712"/>
            <a:ext cx="2862072" cy="5593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endParaRPr lang="en-US" sz="1100" dirty="0"/>
          </a:p>
        </p:txBody>
      </p:sp>
      <p:sp>
        <p:nvSpPr>
          <p:cNvPr id="22" name="Text 19"/>
          <p:cNvSpPr txBox="1"/>
          <p:nvPr/>
        </p:nvSpPr>
        <p:spPr>
          <a:xfrm>
            <a:off x="7699248" y="2267712"/>
            <a:ext cx="914400" cy="5593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endParaRPr lang="en-US" sz="1100" dirty="0"/>
          </a:p>
        </p:txBody>
      </p:sp>
      <p:sp>
        <p:nvSpPr>
          <p:cNvPr id="23" name="Text 20"/>
          <p:cNvSpPr txBox="1"/>
          <p:nvPr/>
        </p:nvSpPr>
        <p:spPr>
          <a:xfrm>
            <a:off x="6236208" y="2267712"/>
            <a:ext cx="1280160" cy="5593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Core</a:t>
            </a:r>
            <a:endParaRPr lang="en-US" sz="1100" dirty="0"/>
          </a:p>
        </p:txBody>
      </p:sp>
      <p:sp>
        <p:nvSpPr>
          <p:cNvPr id="24" name="Text 21"/>
          <p:cNvSpPr txBox="1"/>
          <p:nvPr/>
        </p:nvSpPr>
        <p:spPr>
          <a:xfrm>
            <a:off x="566928" y="2267712"/>
            <a:ext cx="5486400" cy="5593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answered EVERY task, including the unexpected one</a:t>
            </a:r>
            <a:endParaRPr lang="en-US" sz="1100" dirty="0"/>
          </a:p>
        </p:txBody>
      </p:sp>
      <p:sp>
        <p:nvSpPr>
          <p:cNvPr id="25" name="Shape 22"/>
          <p:cNvSpPr/>
          <p:nvPr/>
        </p:nvSpPr>
        <p:spPr>
          <a:xfrm>
            <a:off x="11091672" y="2313432"/>
            <a:ext cx="548640" cy="182880"/>
          </a:xfrm>
          <a:prstGeom prst="roundRect">
            <a:avLst>
              <a:gd name="adj" fmla="val 50000"/>
            </a:avLst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26" name="Text 23"/>
          <p:cNvSpPr txBox="1"/>
          <p:nvPr/>
        </p:nvSpPr>
        <p:spPr>
          <a:xfrm>
            <a:off x="11091672" y="2313432"/>
            <a:ext cx="5486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CORE</a:t>
            </a:r>
            <a:endParaRPr lang="en-US" sz="650" dirty="0"/>
          </a:p>
        </p:txBody>
      </p:sp>
      <p:sp>
        <p:nvSpPr>
          <p:cNvPr id="27" name="Shape 24"/>
          <p:cNvSpPr/>
          <p:nvPr/>
        </p:nvSpPr>
        <p:spPr>
          <a:xfrm>
            <a:off x="457200" y="2881884"/>
            <a:ext cx="11274552" cy="559308"/>
          </a:xfrm>
          <a:prstGeom prst="roundRect">
            <a:avLst>
              <a:gd name="adj" fmla="val 8174"/>
            </a:avLst>
          </a:prstGeom>
          <a:solidFill>
            <a:srgbClr val="F4F1EA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28" name="Text 25"/>
          <p:cNvSpPr txBox="1"/>
          <p:nvPr/>
        </p:nvSpPr>
        <p:spPr>
          <a:xfrm>
            <a:off x="8796528" y="2881884"/>
            <a:ext cx="2862072" cy="5593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endParaRPr lang="en-US" sz="1100" dirty="0"/>
          </a:p>
        </p:txBody>
      </p:sp>
      <p:sp>
        <p:nvSpPr>
          <p:cNvPr id="29" name="Text 26"/>
          <p:cNvSpPr txBox="1"/>
          <p:nvPr/>
        </p:nvSpPr>
        <p:spPr>
          <a:xfrm>
            <a:off x="7699248" y="2881884"/>
            <a:ext cx="914400" cy="5593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endParaRPr lang="en-US" sz="1100" dirty="0"/>
          </a:p>
        </p:txBody>
      </p:sp>
      <p:sp>
        <p:nvSpPr>
          <p:cNvPr id="30" name="Text 27"/>
          <p:cNvSpPr txBox="1"/>
          <p:nvPr/>
        </p:nvSpPr>
        <p:spPr>
          <a:xfrm>
            <a:off x="6236208" y="2881884"/>
            <a:ext cx="1280160" cy="5593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Core</a:t>
            </a:r>
            <a:endParaRPr lang="en-US" sz="1100" dirty="0"/>
          </a:p>
        </p:txBody>
      </p:sp>
      <p:sp>
        <p:nvSpPr>
          <p:cNvPr id="31" name="Text 28"/>
          <p:cNvSpPr txBox="1"/>
          <p:nvPr/>
        </p:nvSpPr>
        <p:spPr>
          <a:xfrm>
            <a:off x="566928" y="2881884"/>
            <a:ext cx="5486400" cy="5593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said what they eat / drink in full sentences, with correct verb endings</a:t>
            </a:r>
            <a:endParaRPr lang="en-US" sz="1100" dirty="0"/>
          </a:p>
        </p:txBody>
      </p:sp>
      <p:sp>
        <p:nvSpPr>
          <p:cNvPr id="32" name="Shape 29"/>
          <p:cNvSpPr/>
          <p:nvPr/>
        </p:nvSpPr>
        <p:spPr>
          <a:xfrm>
            <a:off x="11091672" y="2927604"/>
            <a:ext cx="548640" cy="182880"/>
          </a:xfrm>
          <a:prstGeom prst="roundRect">
            <a:avLst>
              <a:gd name="adj" fmla="val 50000"/>
            </a:avLst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33" name="Text 30"/>
          <p:cNvSpPr txBox="1"/>
          <p:nvPr/>
        </p:nvSpPr>
        <p:spPr>
          <a:xfrm>
            <a:off x="11091672" y="2927604"/>
            <a:ext cx="5486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CORE</a:t>
            </a:r>
            <a:endParaRPr lang="en-US" sz="650" dirty="0"/>
          </a:p>
        </p:txBody>
      </p:sp>
      <p:sp>
        <p:nvSpPr>
          <p:cNvPr id="34" name="Shape 31"/>
          <p:cNvSpPr/>
          <p:nvPr/>
        </p:nvSpPr>
        <p:spPr>
          <a:xfrm>
            <a:off x="457200" y="3496056"/>
            <a:ext cx="11274552" cy="559308"/>
          </a:xfrm>
          <a:prstGeom prst="roundRect">
            <a:avLst>
              <a:gd name="adj" fmla="val 8174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35" name="Text 32"/>
          <p:cNvSpPr txBox="1"/>
          <p:nvPr/>
        </p:nvSpPr>
        <p:spPr>
          <a:xfrm>
            <a:off x="8796528" y="3496056"/>
            <a:ext cx="2862072" cy="5593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endParaRPr lang="en-US" sz="1100" dirty="0"/>
          </a:p>
        </p:txBody>
      </p:sp>
      <p:sp>
        <p:nvSpPr>
          <p:cNvPr id="36" name="Text 33"/>
          <p:cNvSpPr txBox="1"/>
          <p:nvPr/>
        </p:nvSpPr>
        <p:spPr>
          <a:xfrm>
            <a:off x="7699248" y="3496056"/>
            <a:ext cx="914400" cy="5593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endParaRPr lang="en-US" sz="1100" dirty="0"/>
          </a:p>
        </p:txBody>
      </p:sp>
      <p:sp>
        <p:nvSpPr>
          <p:cNvPr id="37" name="Text 34"/>
          <p:cNvSpPr txBox="1"/>
          <p:nvPr/>
        </p:nvSpPr>
        <p:spPr>
          <a:xfrm>
            <a:off x="6236208" y="3496056"/>
            <a:ext cx="1280160" cy="5593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Develop</a:t>
            </a:r>
            <a:endParaRPr lang="en-US" sz="1100" dirty="0"/>
          </a:p>
        </p:txBody>
      </p:sp>
      <p:sp>
        <p:nvSpPr>
          <p:cNvPr id="38" name="Text 35"/>
          <p:cNvSpPr txBox="1"/>
          <p:nvPr/>
        </p:nvSpPr>
        <p:spPr>
          <a:xfrm>
            <a:off x="566928" y="3496056"/>
            <a:ext cx="5486400" cy="5593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gave a preference with a reason (ufaḍḍilu … li-anna …)</a:t>
            </a:r>
            <a:endParaRPr lang="en-US" sz="1100" dirty="0"/>
          </a:p>
        </p:txBody>
      </p:sp>
      <p:sp>
        <p:nvSpPr>
          <p:cNvPr id="39" name="Shape 36"/>
          <p:cNvSpPr/>
          <p:nvPr/>
        </p:nvSpPr>
        <p:spPr>
          <a:xfrm>
            <a:off x="457200" y="4110228"/>
            <a:ext cx="11274552" cy="559308"/>
          </a:xfrm>
          <a:prstGeom prst="roundRect">
            <a:avLst>
              <a:gd name="adj" fmla="val 8174"/>
            </a:avLst>
          </a:prstGeom>
          <a:solidFill>
            <a:srgbClr val="F4F1EA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40" name="Text 37"/>
          <p:cNvSpPr txBox="1"/>
          <p:nvPr/>
        </p:nvSpPr>
        <p:spPr>
          <a:xfrm>
            <a:off x="8796528" y="4110228"/>
            <a:ext cx="2862072" cy="5593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endParaRPr lang="en-US" sz="1100" dirty="0"/>
          </a:p>
        </p:txBody>
      </p:sp>
      <p:sp>
        <p:nvSpPr>
          <p:cNvPr id="41" name="Text 38"/>
          <p:cNvSpPr txBox="1"/>
          <p:nvPr/>
        </p:nvSpPr>
        <p:spPr>
          <a:xfrm>
            <a:off x="7699248" y="4110228"/>
            <a:ext cx="914400" cy="5593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endParaRPr lang="en-US" sz="1100" dirty="0"/>
          </a:p>
        </p:txBody>
      </p:sp>
      <p:sp>
        <p:nvSpPr>
          <p:cNvPr id="42" name="Text 39"/>
          <p:cNvSpPr txBox="1"/>
          <p:nvPr/>
        </p:nvSpPr>
        <p:spPr>
          <a:xfrm>
            <a:off x="6236208" y="4110228"/>
            <a:ext cx="1280160" cy="5593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Develop</a:t>
            </a:r>
            <a:endParaRPr lang="en-US" sz="1100" dirty="0"/>
          </a:p>
        </p:txBody>
      </p:sp>
      <p:sp>
        <p:nvSpPr>
          <p:cNvPr id="43" name="Text 40"/>
          <p:cNvSpPr txBox="1"/>
          <p:nvPr/>
        </p:nvSpPr>
        <p:spPr>
          <a:xfrm>
            <a:off x="566928" y="4110228"/>
            <a:ext cx="5486400" cy="5593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gave a reason (li-anna) or an opinion (fī ra’yī)</a:t>
            </a:r>
            <a:endParaRPr lang="en-US" sz="1100" dirty="0"/>
          </a:p>
        </p:txBody>
      </p:sp>
      <p:sp>
        <p:nvSpPr>
          <p:cNvPr id="44" name="Shape 41"/>
          <p:cNvSpPr/>
          <p:nvPr/>
        </p:nvSpPr>
        <p:spPr>
          <a:xfrm>
            <a:off x="457200" y="4724400"/>
            <a:ext cx="11274552" cy="559308"/>
          </a:xfrm>
          <a:prstGeom prst="roundRect">
            <a:avLst>
              <a:gd name="adj" fmla="val 8174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45" name="Text 42"/>
          <p:cNvSpPr txBox="1"/>
          <p:nvPr/>
        </p:nvSpPr>
        <p:spPr>
          <a:xfrm>
            <a:off x="8796528" y="4724400"/>
            <a:ext cx="2862072" cy="5593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endParaRPr lang="en-US" sz="1100" dirty="0"/>
          </a:p>
        </p:txBody>
      </p:sp>
      <p:sp>
        <p:nvSpPr>
          <p:cNvPr id="46" name="Text 43"/>
          <p:cNvSpPr txBox="1"/>
          <p:nvPr/>
        </p:nvSpPr>
        <p:spPr>
          <a:xfrm>
            <a:off x="7699248" y="4724400"/>
            <a:ext cx="914400" cy="5593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endParaRPr lang="en-US" sz="1100" dirty="0"/>
          </a:p>
        </p:txBody>
      </p:sp>
      <p:sp>
        <p:nvSpPr>
          <p:cNvPr id="47" name="Text 44"/>
          <p:cNvSpPr txBox="1"/>
          <p:nvPr/>
        </p:nvSpPr>
        <p:spPr>
          <a:xfrm>
            <a:off x="6236208" y="4724400"/>
            <a:ext cx="1280160" cy="5593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Stretch</a:t>
            </a:r>
            <a:endParaRPr lang="en-US" sz="1100" dirty="0"/>
          </a:p>
        </p:txBody>
      </p:sp>
      <p:sp>
        <p:nvSpPr>
          <p:cNvPr id="48" name="Text 45"/>
          <p:cNvSpPr txBox="1"/>
          <p:nvPr/>
        </p:nvSpPr>
        <p:spPr>
          <a:xfrm>
            <a:off x="566928" y="4724400"/>
            <a:ext cx="5486400" cy="5593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used more than one time frame (past / future)</a:t>
            </a:r>
            <a:endParaRPr lang="en-US" sz="1100" dirty="0"/>
          </a:p>
        </p:txBody>
      </p:sp>
      <p:sp>
        <p:nvSpPr>
          <p:cNvPr id="49" name="Shape 46"/>
          <p:cNvSpPr/>
          <p:nvPr/>
        </p:nvSpPr>
        <p:spPr>
          <a:xfrm>
            <a:off x="457200" y="5338572"/>
            <a:ext cx="11274552" cy="559308"/>
          </a:xfrm>
          <a:prstGeom prst="roundRect">
            <a:avLst>
              <a:gd name="adj" fmla="val 8174"/>
            </a:avLst>
          </a:prstGeom>
          <a:solidFill>
            <a:srgbClr val="F4F1EA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50" name="Text 47"/>
          <p:cNvSpPr txBox="1"/>
          <p:nvPr/>
        </p:nvSpPr>
        <p:spPr>
          <a:xfrm>
            <a:off x="8796528" y="5338572"/>
            <a:ext cx="2862072" cy="5593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endParaRPr lang="en-US" sz="1100" dirty="0"/>
          </a:p>
        </p:txBody>
      </p:sp>
      <p:sp>
        <p:nvSpPr>
          <p:cNvPr id="51" name="Text 48"/>
          <p:cNvSpPr txBox="1"/>
          <p:nvPr/>
        </p:nvSpPr>
        <p:spPr>
          <a:xfrm>
            <a:off x="7699248" y="5338572"/>
            <a:ext cx="914400" cy="5593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endParaRPr lang="en-US" sz="1100" dirty="0"/>
          </a:p>
        </p:txBody>
      </p:sp>
      <p:sp>
        <p:nvSpPr>
          <p:cNvPr id="52" name="Text 49"/>
          <p:cNvSpPr txBox="1"/>
          <p:nvPr/>
        </p:nvSpPr>
        <p:spPr>
          <a:xfrm>
            <a:off x="6236208" y="5338572"/>
            <a:ext cx="1280160" cy="5593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All</a:t>
            </a:r>
            <a:endParaRPr lang="en-US" sz="1100" dirty="0"/>
          </a:p>
        </p:txBody>
      </p:sp>
      <p:sp>
        <p:nvSpPr>
          <p:cNvPr id="53" name="Text 50"/>
          <p:cNvSpPr txBox="1"/>
          <p:nvPr/>
        </p:nvSpPr>
        <p:spPr>
          <a:xfrm>
            <a:off x="566928" y="5338572"/>
            <a:ext cx="5486400" cy="5593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kept going with a repair phrase instead of silence</a:t>
            </a:r>
            <a:endParaRPr lang="en-US" sz="1100" dirty="0"/>
          </a:p>
        </p:txBody>
      </p:sp>
      <p:sp>
        <p:nvSpPr>
          <p:cNvPr id="54" name="Text 51"/>
          <p:cNvSpPr txBox="1"/>
          <p:nvPr/>
        </p:nvSpPr>
        <p:spPr>
          <a:xfrm>
            <a:off x="457200" y="5943600"/>
            <a:ext cx="1127455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Feedback in the room: one WWW (what went well) + one EBI (even better if …).</a:t>
            </a:r>
            <a:endParaRPr lang="en-US" sz="1150" dirty="0"/>
          </a:p>
        </p:txBody>
      </p:sp>
      <p:sp>
        <p:nvSpPr>
          <p:cNvPr id="55" name="Text 52"/>
          <p:cNvSpPr txBox="1"/>
          <p:nvPr/>
        </p:nvSpPr>
        <p:spPr>
          <a:xfrm>
            <a:off x="10360152" y="6455664"/>
            <a:ext cx="1371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12 / 25</a:t>
            </a:r>
            <a:endParaRPr lang="en-US" sz="85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D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237744"/>
            <a:ext cx="420624" cy="420624"/>
          </a:xfrm>
          <a:prstGeom prst="ellipse">
            <a:avLst/>
          </a:prstGeom>
          <a:solidFill>
            <a:srgbClr val="1B3B6F"/>
          </a:solidFill>
          <a:ln w="12700">
            <a:solidFill>
              <a:srgbClr val="D4AF37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457200" y="219456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D4AF37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م</a:t>
            </a:r>
            <a:endParaRPr lang="ar-SA" sz="18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3657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Al Madina Online School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57200"/>
            <a:ext cx="4572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ARABIC DEPARTMENT · MIFTAH ARABIC · IGCSE 0544</a:t>
            </a:r>
            <a:endParaRPr lang="en-US" sz="800" dirty="0"/>
          </a:p>
        </p:txBody>
      </p:sp>
      <p:sp>
        <p:nvSpPr>
          <p:cNvPr id="6" name="Shape 4"/>
          <p:cNvSpPr/>
          <p:nvPr/>
        </p:nvSpPr>
        <p:spPr>
          <a:xfrm>
            <a:off x="8897112" y="274320"/>
            <a:ext cx="2834640" cy="329184"/>
          </a:xfrm>
          <a:prstGeom prst="roundRect">
            <a:avLst>
              <a:gd name="adj" fmla="val 50000"/>
            </a:avLst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8897112" y="274320"/>
            <a:ext cx="28346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AT-A-L04 · Speaking workshop</a:t>
            </a:r>
            <a:endParaRPr lang="en-US" sz="950" dirty="0"/>
          </a:p>
        </p:txBody>
      </p:sp>
      <p:sp>
        <p:nvSpPr>
          <p:cNvPr id="8" name="Shape 6"/>
          <p:cNvSpPr/>
          <p:nvPr/>
        </p:nvSpPr>
        <p:spPr>
          <a:xfrm>
            <a:off x="7143293" y="274320"/>
            <a:ext cx="1616659" cy="329184"/>
          </a:xfrm>
          <a:prstGeom prst="roundRect">
            <a:avLst>
              <a:gd name="adj" fmla="val 50000"/>
            </a:avLst>
          </a:prstGeom>
          <a:solidFill>
            <a:srgbClr val="8A6D1E"/>
          </a:solidFill>
          <a:ln w="12700">
            <a:solidFill>
              <a:srgbClr val="8A6D1E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7143293" y="274320"/>
            <a:ext cx="1616659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FEEDBACK · 2 MIN</a:t>
            </a:r>
            <a:endParaRPr lang="en-US" sz="900" dirty="0"/>
          </a:p>
        </p:txBody>
      </p:sp>
      <p:sp>
        <p:nvSpPr>
          <p:cNvPr id="10" name="Text 8"/>
          <p:cNvSpPr txBox="1"/>
          <p:nvPr/>
        </p:nvSpPr>
        <p:spPr>
          <a:xfrm>
            <a:off x="457200" y="822960"/>
            <a:ext cx="69494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300" kern="0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MODEL ANSWER · ROLE PLAY A · CORE</a:t>
            </a:r>
            <a:endParaRPr lang="en-US" sz="1000" dirty="0"/>
          </a:p>
        </p:txBody>
      </p:sp>
      <p:sp>
        <p:nvSpPr>
          <p:cNvPr id="11" name="Text 9"/>
          <p:cNvSpPr txBox="1"/>
          <p:nvPr/>
        </p:nvSpPr>
        <p:spPr>
          <a:xfrm>
            <a:off x="457200" y="1033272"/>
            <a:ext cx="69494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55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Role play A: a full-mark performance</a:t>
            </a:r>
            <a:endParaRPr lang="en-US" sz="2550" dirty="0"/>
          </a:p>
        </p:txBody>
      </p:sp>
      <p:sp>
        <p:nvSpPr>
          <p:cNvPr id="12" name="Text 10"/>
          <p:cNvSpPr txBox="1"/>
          <p:nvPr/>
        </p:nvSpPr>
        <p:spPr>
          <a:xfrm>
            <a:off x="7498080" y="868680"/>
            <a:ext cx="4233672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2800" b="1" dirty="0">
                <a:solidFill>
                  <a:srgbClr val="8A6D1E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نَمُوذَجُ الإِجَابَةِ</a:t>
            </a:r>
            <a:endParaRPr lang="ar-SA" sz="28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6455664"/>
            <a:ext cx="6400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Miftah Arabic · Topic A · Speaking workshop · AT-A-L04</a:t>
            </a:r>
            <a:endParaRPr lang="en-US" sz="850" dirty="0"/>
          </a:p>
        </p:txBody>
      </p:sp>
      <p:sp>
        <p:nvSpPr>
          <p:cNvPr id="15" name="Shape 12"/>
          <p:cNvSpPr/>
          <p:nvPr/>
        </p:nvSpPr>
        <p:spPr>
          <a:xfrm>
            <a:off x="457200" y="1810512"/>
            <a:ext cx="11274552" cy="384048"/>
          </a:xfrm>
          <a:prstGeom prst="rect">
            <a:avLst/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16" name="Text 13"/>
          <p:cNvSpPr txBox="1"/>
          <p:nvPr/>
        </p:nvSpPr>
        <p:spPr>
          <a:xfrm>
            <a:off x="4782312" y="1810512"/>
            <a:ext cx="687628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Model answer (with English)</a:t>
            </a:r>
            <a:endParaRPr lang="en-US" sz="1100" dirty="0"/>
          </a:p>
        </p:txBody>
      </p:sp>
      <p:sp>
        <p:nvSpPr>
          <p:cNvPr id="17" name="Text 14"/>
          <p:cNvSpPr txBox="1"/>
          <p:nvPr/>
        </p:nvSpPr>
        <p:spPr>
          <a:xfrm>
            <a:off x="1033272" y="1810512"/>
            <a:ext cx="360273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The examiner says</a:t>
            </a:r>
            <a:endParaRPr lang="en-US" sz="1100" dirty="0"/>
          </a:p>
        </p:txBody>
      </p:sp>
      <p:sp>
        <p:nvSpPr>
          <p:cNvPr id="18" name="Text 15"/>
          <p:cNvSpPr txBox="1"/>
          <p:nvPr/>
        </p:nvSpPr>
        <p:spPr>
          <a:xfrm>
            <a:off x="530352" y="1810512"/>
            <a:ext cx="35661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#</a:t>
            </a:r>
            <a:endParaRPr lang="en-US" sz="1100" dirty="0"/>
          </a:p>
        </p:txBody>
      </p:sp>
      <p:sp>
        <p:nvSpPr>
          <p:cNvPr id="19" name="Shape 16"/>
          <p:cNvSpPr/>
          <p:nvPr/>
        </p:nvSpPr>
        <p:spPr>
          <a:xfrm>
            <a:off x="457200" y="2267712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20" name="Text 17"/>
          <p:cNvSpPr txBox="1"/>
          <p:nvPr/>
        </p:nvSpPr>
        <p:spPr>
          <a:xfrm>
            <a:off x="4800600" y="2286000"/>
            <a:ext cx="6839712" cy="422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أُحِبُّ الدَّجَاجَ وَالأُرْزَ كَثِيرًا.</a:t>
            </a:r>
            <a:endParaRPr lang="ar-SA" sz="1800" dirty="0"/>
          </a:p>
        </p:txBody>
      </p:sp>
      <p:sp>
        <p:nvSpPr>
          <p:cNvPr id="21" name="Text 18"/>
          <p:cNvSpPr txBox="1"/>
          <p:nvPr/>
        </p:nvSpPr>
        <p:spPr>
          <a:xfrm>
            <a:off x="4754880" y="2676997"/>
            <a:ext cx="6931152" cy="25921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I really like chicken and rice.</a:t>
            </a:r>
            <a:endParaRPr lang="en-US" sz="950" dirty="0"/>
          </a:p>
        </p:txBody>
      </p:sp>
      <p:sp>
        <p:nvSpPr>
          <p:cNvPr id="22" name="Text 19"/>
          <p:cNvSpPr txBox="1"/>
          <p:nvPr/>
        </p:nvSpPr>
        <p:spPr>
          <a:xfrm>
            <a:off x="1051560" y="2267712"/>
            <a:ext cx="356616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6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أَهْلًا بِكَ! مَاذَا تُحِبُّ أَنْ تَأْكُلَ؟</a:t>
            </a:r>
            <a:endParaRPr lang="ar-SA" sz="1600" dirty="0"/>
          </a:p>
        </p:txBody>
      </p:sp>
      <p:sp>
        <p:nvSpPr>
          <p:cNvPr id="23" name="Text 20"/>
          <p:cNvSpPr txBox="1"/>
          <p:nvPr/>
        </p:nvSpPr>
        <p:spPr>
          <a:xfrm>
            <a:off x="566928" y="2267712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1</a:t>
            </a:r>
            <a:endParaRPr lang="en-US" sz="1100" dirty="0"/>
          </a:p>
        </p:txBody>
      </p:sp>
      <p:sp>
        <p:nvSpPr>
          <p:cNvPr id="24" name="Shape 21"/>
          <p:cNvSpPr/>
          <p:nvPr/>
        </p:nvSpPr>
        <p:spPr>
          <a:xfrm>
            <a:off x="457200" y="3004718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4F1EA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25" name="Text 22"/>
          <p:cNvSpPr txBox="1"/>
          <p:nvPr/>
        </p:nvSpPr>
        <p:spPr>
          <a:xfrm>
            <a:off x="4800600" y="3023006"/>
            <a:ext cx="6839712" cy="422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لَا، لَا آكُلُ السَّمَكَ، لٰكِنِّي أُحِبُّ اللَّحْمَ.</a:t>
            </a:r>
            <a:endParaRPr lang="ar-SA" sz="1800" dirty="0"/>
          </a:p>
        </p:txBody>
      </p:sp>
      <p:sp>
        <p:nvSpPr>
          <p:cNvPr id="26" name="Text 23"/>
          <p:cNvSpPr txBox="1"/>
          <p:nvPr/>
        </p:nvSpPr>
        <p:spPr>
          <a:xfrm>
            <a:off x="4754880" y="3414004"/>
            <a:ext cx="6931152" cy="25921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No, I don’t eat fish, but I like meat.</a:t>
            </a:r>
            <a:endParaRPr lang="en-US" sz="950" dirty="0"/>
          </a:p>
        </p:txBody>
      </p:sp>
      <p:sp>
        <p:nvSpPr>
          <p:cNvPr id="27" name="Text 24"/>
          <p:cNvSpPr txBox="1"/>
          <p:nvPr/>
        </p:nvSpPr>
        <p:spPr>
          <a:xfrm>
            <a:off x="1051560" y="3004718"/>
            <a:ext cx="356616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6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هَلْ تَأْكُلُ السَّمَكَ؟</a:t>
            </a:r>
            <a:endParaRPr lang="ar-SA" sz="1600" dirty="0"/>
          </a:p>
        </p:txBody>
      </p:sp>
      <p:sp>
        <p:nvSpPr>
          <p:cNvPr id="28" name="Text 25"/>
          <p:cNvSpPr txBox="1"/>
          <p:nvPr/>
        </p:nvSpPr>
        <p:spPr>
          <a:xfrm>
            <a:off x="566928" y="3004718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2</a:t>
            </a:r>
            <a:endParaRPr lang="en-US" sz="1100" dirty="0"/>
          </a:p>
        </p:txBody>
      </p:sp>
      <p:sp>
        <p:nvSpPr>
          <p:cNvPr id="29" name="Shape 26"/>
          <p:cNvSpPr/>
          <p:nvPr/>
        </p:nvSpPr>
        <p:spPr>
          <a:xfrm>
            <a:off x="457200" y="3741725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30" name="Text 27"/>
          <p:cNvSpPr txBox="1"/>
          <p:nvPr/>
        </p:nvSpPr>
        <p:spPr>
          <a:xfrm>
            <a:off x="4800600" y="3760013"/>
            <a:ext cx="6839712" cy="422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أَشْرَبُ عَصِيرَ البُرْتُقَالِ، مِنْ فَضْلِكِ.</a:t>
            </a:r>
            <a:endParaRPr lang="ar-SA" sz="1800" dirty="0"/>
          </a:p>
        </p:txBody>
      </p:sp>
      <p:sp>
        <p:nvSpPr>
          <p:cNvPr id="31" name="Text 28"/>
          <p:cNvSpPr txBox="1"/>
          <p:nvPr/>
        </p:nvSpPr>
        <p:spPr>
          <a:xfrm>
            <a:off x="4754880" y="4151010"/>
            <a:ext cx="6931152" cy="25921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I’ll drink orange juice, please.</a:t>
            </a:r>
            <a:endParaRPr lang="en-US" sz="950" dirty="0"/>
          </a:p>
        </p:txBody>
      </p:sp>
      <p:sp>
        <p:nvSpPr>
          <p:cNvPr id="32" name="Text 29"/>
          <p:cNvSpPr txBox="1"/>
          <p:nvPr/>
        </p:nvSpPr>
        <p:spPr>
          <a:xfrm>
            <a:off x="1051560" y="3741725"/>
            <a:ext cx="356616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6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مَاذَا تَشْرَبُ؟</a:t>
            </a:r>
            <a:endParaRPr lang="ar-SA" sz="1600" dirty="0"/>
          </a:p>
        </p:txBody>
      </p:sp>
      <p:sp>
        <p:nvSpPr>
          <p:cNvPr id="33" name="Text 30"/>
          <p:cNvSpPr txBox="1"/>
          <p:nvPr/>
        </p:nvSpPr>
        <p:spPr>
          <a:xfrm>
            <a:off x="566928" y="3741725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3</a:t>
            </a:r>
            <a:endParaRPr lang="en-US" sz="1100" dirty="0"/>
          </a:p>
        </p:txBody>
      </p:sp>
      <p:sp>
        <p:nvSpPr>
          <p:cNvPr id="34" name="Shape 31"/>
          <p:cNvSpPr/>
          <p:nvPr/>
        </p:nvSpPr>
        <p:spPr>
          <a:xfrm>
            <a:off x="457200" y="4478731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4F1EA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35" name="Text 32"/>
          <p:cNvSpPr txBox="1"/>
          <p:nvPr/>
        </p:nvSpPr>
        <p:spPr>
          <a:xfrm>
            <a:off x="4800600" y="4497019"/>
            <a:ext cx="6839712" cy="422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فَاكِهَتِي المُفَضَّلَةُ هِيَ المَانْجُو.</a:t>
            </a:r>
            <a:endParaRPr lang="ar-SA" sz="1800" dirty="0"/>
          </a:p>
        </p:txBody>
      </p:sp>
      <p:sp>
        <p:nvSpPr>
          <p:cNvPr id="36" name="Text 33"/>
          <p:cNvSpPr txBox="1"/>
          <p:nvPr/>
        </p:nvSpPr>
        <p:spPr>
          <a:xfrm>
            <a:off x="4754880" y="4888017"/>
            <a:ext cx="6931152" cy="25921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My favourite fruit is mango.</a:t>
            </a:r>
            <a:endParaRPr lang="en-US" sz="950" dirty="0"/>
          </a:p>
        </p:txBody>
      </p:sp>
      <p:sp>
        <p:nvSpPr>
          <p:cNvPr id="37" name="Text 34"/>
          <p:cNvSpPr txBox="1"/>
          <p:nvPr/>
        </p:nvSpPr>
        <p:spPr>
          <a:xfrm>
            <a:off x="1051560" y="4478731"/>
            <a:ext cx="356616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6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مَا فَاكِهَتُكَ المُفَضَّلَةُ؟</a:t>
            </a:r>
            <a:endParaRPr lang="ar-SA" sz="1600" dirty="0"/>
          </a:p>
        </p:txBody>
      </p:sp>
      <p:sp>
        <p:nvSpPr>
          <p:cNvPr id="38" name="Text 35"/>
          <p:cNvSpPr txBox="1"/>
          <p:nvPr/>
        </p:nvSpPr>
        <p:spPr>
          <a:xfrm>
            <a:off x="566928" y="4478731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4</a:t>
            </a:r>
            <a:endParaRPr lang="en-US" sz="1100" dirty="0"/>
          </a:p>
        </p:txBody>
      </p:sp>
      <p:sp>
        <p:nvSpPr>
          <p:cNvPr id="39" name="Shape 36"/>
          <p:cNvSpPr/>
          <p:nvPr/>
        </p:nvSpPr>
        <p:spPr>
          <a:xfrm>
            <a:off x="457200" y="5215738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40" name="Text 37"/>
          <p:cNvSpPr txBox="1"/>
          <p:nvPr/>
        </p:nvSpPr>
        <p:spPr>
          <a:xfrm>
            <a:off x="4800600" y="5234026"/>
            <a:ext cx="6839712" cy="422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نَعَمْ، الطَّعَامُ لَذِيذٌ جِدًّا، شُكْرًا جَزِيلًا.</a:t>
            </a:r>
            <a:endParaRPr lang="ar-SA" sz="1800" dirty="0"/>
          </a:p>
        </p:txBody>
      </p:sp>
      <p:sp>
        <p:nvSpPr>
          <p:cNvPr id="41" name="Text 38"/>
          <p:cNvSpPr txBox="1"/>
          <p:nvPr/>
        </p:nvSpPr>
        <p:spPr>
          <a:xfrm>
            <a:off x="4754880" y="5625023"/>
            <a:ext cx="6931152" cy="25921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Yes, the food is very delicious, thank you very much.</a:t>
            </a:r>
            <a:endParaRPr lang="en-US" sz="950" dirty="0"/>
          </a:p>
        </p:txBody>
      </p:sp>
      <p:sp>
        <p:nvSpPr>
          <p:cNvPr id="42" name="Text 39"/>
          <p:cNvSpPr txBox="1"/>
          <p:nvPr/>
        </p:nvSpPr>
        <p:spPr>
          <a:xfrm>
            <a:off x="1051560" y="5215738"/>
            <a:ext cx="356616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6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هَلْ أَعْجَبَكَ الطَّعَامُ؟</a:t>
            </a:r>
            <a:endParaRPr lang="ar-SA" sz="1600" dirty="0"/>
          </a:p>
        </p:txBody>
      </p:sp>
      <p:sp>
        <p:nvSpPr>
          <p:cNvPr id="43" name="Text 40"/>
          <p:cNvSpPr txBox="1"/>
          <p:nvPr/>
        </p:nvSpPr>
        <p:spPr>
          <a:xfrm>
            <a:off x="566928" y="5215738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5</a:t>
            </a:r>
            <a:endParaRPr lang="en-US" sz="1100" dirty="0"/>
          </a:p>
        </p:txBody>
      </p:sp>
      <p:sp>
        <p:nvSpPr>
          <p:cNvPr id="44" name="Text 41"/>
          <p:cNvSpPr txBox="1"/>
          <p:nvPr/>
        </p:nvSpPr>
        <p:spPr>
          <a:xfrm>
            <a:off x="457200" y="5943600"/>
            <a:ext cx="1127455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Every task answered with a full sentence — short, clear and accurate is enough for the role play.</a:t>
            </a:r>
            <a:endParaRPr lang="en-US" sz="1150" dirty="0"/>
          </a:p>
        </p:txBody>
      </p:sp>
      <p:sp>
        <p:nvSpPr>
          <p:cNvPr id="45" name="Text 42"/>
          <p:cNvSpPr txBox="1"/>
          <p:nvPr/>
        </p:nvSpPr>
        <p:spPr>
          <a:xfrm>
            <a:off x="10360152" y="6455664"/>
            <a:ext cx="1371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13 / 25</a:t>
            </a:r>
            <a:endParaRPr lang="en-US" sz="85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D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237744"/>
            <a:ext cx="420624" cy="420624"/>
          </a:xfrm>
          <a:prstGeom prst="ellipse">
            <a:avLst/>
          </a:prstGeom>
          <a:solidFill>
            <a:srgbClr val="1B3B6F"/>
          </a:solidFill>
          <a:ln w="12700">
            <a:solidFill>
              <a:srgbClr val="D4AF37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457200" y="219456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D4AF37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م</a:t>
            </a:r>
            <a:endParaRPr lang="ar-SA" sz="18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3657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Al Madina Online School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57200"/>
            <a:ext cx="4572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ARABIC DEPARTMENT · MIFTAH ARABIC · IGCSE 0544</a:t>
            </a:r>
            <a:endParaRPr lang="en-US" sz="800" dirty="0"/>
          </a:p>
        </p:txBody>
      </p:sp>
      <p:sp>
        <p:nvSpPr>
          <p:cNvPr id="6" name="Shape 4"/>
          <p:cNvSpPr/>
          <p:nvPr/>
        </p:nvSpPr>
        <p:spPr>
          <a:xfrm>
            <a:off x="8897112" y="274320"/>
            <a:ext cx="2834640" cy="329184"/>
          </a:xfrm>
          <a:prstGeom prst="roundRect">
            <a:avLst>
              <a:gd name="adj" fmla="val 50000"/>
            </a:avLst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8897112" y="274320"/>
            <a:ext cx="28346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AT-A-L04 · Speaking workshop</a:t>
            </a:r>
            <a:endParaRPr lang="en-US" sz="950" dirty="0"/>
          </a:p>
        </p:txBody>
      </p:sp>
      <p:sp>
        <p:nvSpPr>
          <p:cNvPr id="8" name="Shape 6"/>
          <p:cNvSpPr/>
          <p:nvPr/>
        </p:nvSpPr>
        <p:spPr>
          <a:xfrm>
            <a:off x="7143293" y="274320"/>
            <a:ext cx="1616659" cy="329184"/>
          </a:xfrm>
          <a:prstGeom prst="roundRect">
            <a:avLst>
              <a:gd name="adj" fmla="val 50000"/>
            </a:avLst>
          </a:prstGeom>
          <a:solidFill>
            <a:srgbClr val="8A6D1E"/>
          </a:solidFill>
          <a:ln w="12700">
            <a:solidFill>
              <a:srgbClr val="8A6D1E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7143293" y="274320"/>
            <a:ext cx="1616659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FEEDBACK · 2 MIN</a:t>
            </a:r>
            <a:endParaRPr lang="en-US" sz="900" dirty="0"/>
          </a:p>
        </p:txBody>
      </p:sp>
      <p:sp>
        <p:nvSpPr>
          <p:cNvPr id="10" name="Text 8"/>
          <p:cNvSpPr txBox="1"/>
          <p:nvPr/>
        </p:nvSpPr>
        <p:spPr>
          <a:xfrm>
            <a:off x="457200" y="822960"/>
            <a:ext cx="69494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300" kern="0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MODEL ANSWER · ROLE PLAY B · CORE+</a:t>
            </a:r>
            <a:endParaRPr lang="en-US" sz="1000" dirty="0"/>
          </a:p>
        </p:txBody>
      </p:sp>
      <p:sp>
        <p:nvSpPr>
          <p:cNvPr id="11" name="Text 9"/>
          <p:cNvSpPr txBox="1"/>
          <p:nvPr/>
        </p:nvSpPr>
        <p:spPr>
          <a:xfrm>
            <a:off x="457200" y="1033272"/>
            <a:ext cx="69494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55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Role play B: a full-mark performance</a:t>
            </a:r>
            <a:endParaRPr lang="en-US" sz="2550" dirty="0"/>
          </a:p>
        </p:txBody>
      </p:sp>
      <p:sp>
        <p:nvSpPr>
          <p:cNvPr id="12" name="Text 10"/>
          <p:cNvSpPr txBox="1"/>
          <p:nvPr/>
        </p:nvSpPr>
        <p:spPr>
          <a:xfrm>
            <a:off x="7498080" y="868680"/>
            <a:ext cx="4233672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2800" b="1" dirty="0">
                <a:solidFill>
                  <a:srgbClr val="8A6D1E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نَمُوذَجُ الإِجَابَةِ</a:t>
            </a:r>
            <a:endParaRPr lang="ar-SA" sz="28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6455664"/>
            <a:ext cx="6400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Miftah Arabic · Topic A · Speaking workshop · AT-A-L04</a:t>
            </a:r>
            <a:endParaRPr lang="en-US" sz="850" dirty="0"/>
          </a:p>
        </p:txBody>
      </p:sp>
      <p:sp>
        <p:nvSpPr>
          <p:cNvPr id="15" name="Shape 12"/>
          <p:cNvSpPr/>
          <p:nvPr/>
        </p:nvSpPr>
        <p:spPr>
          <a:xfrm>
            <a:off x="457200" y="1810512"/>
            <a:ext cx="11274552" cy="384048"/>
          </a:xfrm>
          <a:prstGeom prst="rect">
            <a:avLst/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16" name="Text 13"/>
          <p:cNvSpPr txBox="1"/>
          <p:nvPr/>
        </p:nvSpPr>
        <p:spPr>
          <a:xfrm>
            <a:off x="4782312" y="1810512"/>
            <a:ext cx="687628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Model answer (with English)</a:t>
            </a:r>
            <a:endParaRPr lang="en-US" sz="1100" dirty="0"/>
          </a:p>
        </p:txBody>
      </p:sp>
      <p:sp>
        <p:nvSpPr>
          <p:cNvPr id="17" name="Text 14"/>
          <p:cNvSpPr txBox="1"/>
          <p:nvPr/>
        </p:nvSpPr>
        <p:spPr>
          <a:xfrm>
            <a:off x="1033272" y="1810512"/>
            <a:ext cx="360273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The examiner says</a:t>
            </a:r>
            <a:endParaRPr lang="en-US" sz="1100" dirty="0"/>
          </a:p>
        </p:txBody>
      </p:sp>
      <p:sp>
        <p:nvSpPr>
          <p:cNvPr id="18" name="Text 15"/>
          <p:cNvSpPr txBox="1"/>
          <p:nvPr/>
        </p:nvSpPr>
        <p:spPr>
          <a:xfrm>
            <a:off x="530352" y="1810512"/>
            <a:ext cx="35661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#</a:t>
            </a:r>
            <a:endParaRPr lang="en-US" sz="1100" dirty="0"/>
          </a:p>
        </p:txBody>
      </p:sp>
      <p:sp>
        <p:nvSpPr>
          <p:cNvPr id="19" name="Shape 16"/>
          <p:cNvSpPr/>
          <p:nvPr/>
        </p:nvSpPr>
        <p:spPr>
          <a:xfrm>
            <a:off x="457200" y="2267712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20" name="Text 17"/>
          <p:cNvSpPr txBox="1"/>
          <p:nvPr/>
        </p:nvSpPr>
        <p:spPr>
          <a:xfrm>
            <a:off x="4800600" y="2286000"/>
            <a:ext cx="6839712" cy="422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أَتَنَاوَلُ الغَدَاءَ فِي السَّاعَةِ الوَاحِدَةِ إِلَّا رُبْعًا.</a:t>
            </a:r>
            <a:endParaRPr lang="ar-SA" sz="1800" dirty="0"/>
          </a:p>
        </p:txBody>
      </p:sp>
      <p:sp>
        <p:nvSpPr>
          <p:cNvPr id="21" name="Text 18"/>
          <p:cNvSpPr txBox="1"/>
          <p:nvPr/>
        </p:nvSpPr>
        <p:spPr>
          <a:xfrm>
            <a:off x="4754880" y="2676997"/>
            <a:ext cx="6931152" cy="25921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I have lunch at quarter to one.</a:t>
            </a:r>
            <a:endParaRPr lang="en-US" sz="950" dirty="0"/>
          </a:p>
        </p:txBody>
      </p:sp>
      <p:sp>
        <p:nvSpPr>
          <p:cNvPr id="22" name="Text 19"/>
          <p:cNvSpPr txBox="1"/>
          <p:nvPr/>
        </p:nvSpPr>
        <p:spPr>
          <a:xfrm>
            <a:off x="1051560" y="2267712"/>
            <a:ext cx="356616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6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فِي أَيِّ سَاعَةٍ تَتَنَاوَلُ الغَدَاءَ؟</a:t>
            </a:r>
            <a:endParaRPr lang="ar-SA" sz="1600" dirty="0"/>
          </a:p>
        </p:txBody>
      </p:sp>
      <p:sp>
        <p:nvSpPr>
          <p:cNvPr id="23" name="Text 20"/>
          <p:cNvSpPr txBox="1"/>
          <p:nvPr/>
        </p:nvSpPr>
        <p:spPr>
          <a:xfrm>
            <a:off x="566928" y="2267712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1</a:t>
            </a:r>
            <a:endParaRPr lang="en-US" sz="1100" dirty="0"/>
          </a:p>
        </p:txBody>
      </p:sp>
      <p:sp>
        <p:nvSpPr>
          <p:cNvPr id="24" name="Shape 21"/>
          <p:cNvSpPr/>
          <p:nvPr/>
        </p:nvSpPr>
        <p:spPr>
          <a:xfrm>
            <a:off x="457200" y="3004718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4F1EA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25" name="Text 22"/>
          <p:cNvSpPr txBox="1"/>
          <p:nvPr/>
        </p:nvSpPr>
        <p:spPr>
          <a:xfrm>
            <a:off x="4800600" y="3023006"/>
            <a:ext cx="6839712" cy="422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عَادَةً آكُلُ شَطِيرَةَ جُبْنٍ وَتُفَّاحَةً.</a:t>
            </a:r>
            <a:endParaRPr lang="ar-SA" sz="1800" dirty="0"/>
          </a:p>
        </p:txBody>
      </p:sp>
      <p:sp>
        <p:nvSpPr>
          <p:cNvPr id="26" name="Text 23"/>
          <p:cNvSpPr txBox="1"/>
          <p:nvPr/>
        </p:nvSpPr>
        <p:spPr>
          <a:xfrm>
            <a:off x="4754880" y="3414004"/>
            <a:ext cx="6931152" cy="25921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I usually eat a cheese sandwich and an apple.</a:t>
            </a:r>
            <a:endParaRPr lang="en-US" sz="950" dirty="0"/>
          </a:p>
        </p:txBody>
      </p:sp>
      <p:sp>
        <p:nvSpPr>
          <p:cNvPr id="27" name="Text 24"/>
          <p:cNvSpPr txBox="1"/>
          <p:nvPr/>
        </p:nvSpPr>
        <p:spPr>
          <a:xfrm>
            <a:off x="1051560" y="3004718"/>
            <a:ext cx="356616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6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مَاذَا تَأْكُلُ عَادَةً فِي المَقْصَفِ؟</a:t>
            </a:r>
            <a:endParaRPr lang="ar-SA" sz="1600" dirty="0"/>
          </a:p>
        </p:txBody>
      </p:sp>
      <p:sp>
        <p:nvSpPr>
          <p:cNvPr id="28" name="Text 25"/>
          <p:cNvSpPr txBox="1"/>
          <p:nvPr/>
        </p:nvSpPr>
        <p:spPr>
          <a:xfrm>
            <a:off x="566928" y="3004718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2</a:t>
            </a:r>
            <a:endParaRPr lang="en-US" sz="1100" dirty="0"/>
          </a:p>
        </p:txBody>
      </p:sp>
      <p:sp>
        <p:nvSpPr>
          <p:cNvPr id="29" name="Shape 26"/>
          <p:cNvSpPr/>
          <p:nvPr/>
        </p:nvSpPr>
        <p:spPr>
          <a:xfrm>
            <a:off x="457200" y="3741725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30" name="Text 27"/>
          <p:cNvSpPr txBox="1"/>
          <p:nvPr/>
        </p:nvSpPr>
        <p:spPr>
          <a:xfrm>
            <a:off x="4800600" y="3760013"/>
            <a:ext cx="6839712" cy="422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طَعَامُ المَقْصَفِ لَذِيذٌ، لٰكِنَّهُ غَالٍ قَلِيلًا.</a:t>
            </a:r>
            <a:endParaRPr lang="ar-SA" sz="1800" dirty="0"/>
          </a:p>
        </p:txBody>
      </p:sp>
      <p:sp>
        <p:nvSpPr>
          <p:cNvPr id="31" name="Text 28"/>
          <p:cNvSpPr txBox="1"/>
          <p:nvPr/>
        </p:nvSpPr>
        <p:spPr>
          <a:xfrm>
            <a:off x="4754880" y="4151010"/>
            <a:ext cx="6931152" cy="25921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The canteen food is tasty, but it is a bit expensive.</a:t>
            </a:r>
            <a:endParaRPr lang="en-US" sz="950" dirty="0"/>
          </a:p>
        </p:txBody>
      </p:sp>
      <p:sp>
        <p:nvSpPr>
          <p:cNvPr id="32" name="Text 29"/>
          <p:cNvSpPr txBox="1"/>
          <p:nvPr/>
        </p:nvSpPr>
        <p:spPr>
          <a:xfrm>
            <a:off x="1051560" y="3741725"/>
            <a:ext cx="356616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6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مَا رَأْيُكَ فِي طَعَامِ المَقْصَفِ؟</a:t>
            </a:r>
            <a:endParaRPr lang="ar-SA" sz="1600" dirty="0"/>
          </a:p>
        </p:txBody>
      </p:sp>
      <p:sp>
        <p:nvSpPr>
          <p:cNvPr id="33" name="Text 30"/>
          <p:cNvSpPr txBox="1"/>
          <p:nvPr/>
        </p:nvSpPr>
        <p:spPr>
          <a:xfrm>
            <a:off x="566928" y="3741725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3</a:t>
            </a:r>
            <a:endParaRPr lang="en-US" sz="1100" dirty="0"/>
          </a:p>
        </p:txBody>
      </p:sp>
      <p:sp>
        <p:nvSpPr>
          <p:cNvPr id="34" name="Shape 31"/>
          <p:cNvSpPr/>
          <p:nvPr/>
        </p:nvSpPr>
        <p:spPr>
          <a:xfrm>
            <a:off x="457200" y="4478731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4F1EA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35" name="Text 32"/>
          <p:cNvSpPr txBox="1"/>
          <p:nvPr/>
        </p:nvSpPr>
        <p:spPr>
          <a:xfrm>
            <a:off x="4800600" y="4497019"/>
            <a:ext cx="6839712" cy="422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هَلْ عِنْدَكُمْ أَطْبَاقٌ نَبَاتِيَّةٌ؟</a:t>
            </a:r>
            <a:endParaRPr lang="ar-SA" sz="1800" dirty="0"/>
          </a:p>
        </p:txBody>
      </p:sp>
      <p:sp>
        <p:nvSpPr>
          <p:cNvPr id="36" name="Text 33"/>
          <p:cNvSpPr txBox="1"/>
          <p:nvPr/>
        </p:nvSpPr>
        <p:spPr>
          <a:xfrm>
            <a:off x="4754880" y="4888017"/>
            <a:ext cx="6931152" cy="25921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Do you have vegetarian dishes?</a:t>
            </a:r>
            <a:endParaRPr lang="en-US" sz="950" dirty="0"/>
          </a:p>
        </p:txBody>
      </p:sp>
      <p:sp>
        <p:nvSpPr>
          <p:cNvPr id="37" name="Text 34"/>
          <p:cNvSpPr txBox="1"/>
          <p:nvPr/>
        </p:nvSpPr>
        <p:spPr>
          <a:xfrm>
            <a:off x="1051560" y="4478731"/>
            <a:ext cx="356616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6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… نَعَمْ، عِنْدَنَا شُورْبَةُ العَدَسِ كُلَّ يَوْمٍ.</a:t>
            </a:r>
            <a:endParaRPr lang="ar-SA" sz="1600" dirty="0"/>
          </a:p>
        </p:txBody>
      </p:sp>
      <p:sp>
        <p:nvSpPr>
          <p:cNvPr id="38" name="Text 35"/>
          <p:cNvSpPr txBox="1"/>
          <p:nvPr/>
        </p:nvSpPr>
        <p:spPr>
          <a:xfrm>
            <a:off x="566928" y="4478731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4</a:t>
            </a:r>
            <a:endParaRPr lang="en-US" sz="1100" dirty="0"/>
          </a:p>
        </p:txBody>
      </p:sp>
      <p:sp>
        <p:nvSpPr>
          <p:cNvPr id="39" name="Shape 36"/>
          <p:cNvSpPr/>
          <p:nvPr/>
        </p:nvSpPr>
        <p:spPr>
          <a:xfrm>
            <a:off x="457200" y="5215738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40" name="Text 37"/>
          <p:cNvSpPr txBox="1"/>
          <p:nvPr/>
        </p:nvSpPr>
        <p:spPr>
          <a:xfrm>
            <a:off x="4800600" y="5234026"/>
            <a:ext cx="6839712" cy="422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أُرِيدُ أَنْ تُضِيفُوا سَلَطَةَ فَوَاكِهَ طَازَجَةً، لِأَنَّهَا صِحِّيَّةٌ.</a:t>
            </a:r>
            <a:endParaRPr lang="ar-SA" sz="1800" dirty="0"/>
          </a:p>
        </p:txBody>
      </p:sp>
      <p:sp>
        <p:nvSpPr>
          <p:cNvPr id="41" name="Text 38"/>
          <p:cNvSpPr txBox="1"/>
          <p:nvPr/>
        </p:nvSpPr>
        <p:spPr>
          <a:xfrm>
            <a:off x="4754880" y="5625023"/>
            <a:ext cx="6931152" cy="25921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I would like you to add a fresh fruit salad, because it is healthy.</a:t>
            </a:r>
            <a:endParaRPr lang="en-US" sz="950" dirty="0"/>
          </a:p>
        </p:txBody>
      </p:sp>
      <p:sp>
        <p:nvSpPr>
          <p:cNvPr id="42" name="Text 39"/>
          <p:cNvSpPr txBox="1"/>
          <p:nvPr/>
        </p:nvSpPr>
        <p:spPr>
          <a:xfrm>
            <a:off x="1051560" y="5215738"/>
            <a:ext cx="356616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6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مَاذَا تُرِيدُ أَنْ نُضِيفَ إِلَى القَائِمَةِ؟</a:t>
            </a:r>
            <a:endParaRPr lang="ar-SA" sz="1600" dirty="0"/>
          </a:p>
        </p:txBody>
      </p:sp>
      <p:sp>
        <p:nvSpPr>
          <p:cNvPr id="43" name="Text 40"/>
          <p:cNvSpPr txBox="1"/>
          <p:nvPr/>
        </p:nvSpPr>
        <p:spPr>
          <a:xfrm>
            <a:off x="566928" y="5215738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5</a:t>
            </a:r>
            <a:endParaRPr lang="en-US" sz="1100" dirty="0"/>
          </a:p>
        </p:txBody>
      </p:sp>
      <p:sp>
        <p:nvSpPr>
          <p:cNvPr id="44" name="Text 41"/>
          <p:cNvSpPr txBox="1"/>
          <p:nvPr/>
        </p:nvSpPr>
        <p:spPr>
          <a:xfrm>
            <a:off x="457200" y="5943600"/>
            <a:ext cx="1127455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Every task answered with a full sentence — short, clear and accurate is enough for the role play.</a:t>
            </a:r>
            <a:endParaRPr lang="en-US" sz="1150" dirty="0"/>
          </a:p>
        </p:txBody>
      </p:sp>
      <p:sp>
        <p:nvSpPr>
          <p:cNvPr id="45" name="Text 42"/>
          <p:cNvSpPr txBox="1"/>
          <p:nvPr/>
        </p:nvSpPr>
        <p:spPr>
          <a:xfrm>
            <a:off x="10360152" y="6455664"/>
            <a:ext cx="1371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14 / 25</a:t>
            </a:r>
            <a:endParaRPr lang="en-US" sz="85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FFD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237744"/>
            <a:ext cx="420624" cy="420624"/>
          </a:xfrm>
          <a:prstGeom prst="ellipse">
            <a:avLst/>
          </a:prstGeom>
          <a:solidFill>
            <a:srgbClr val="1B3B6F"/>
          </a:solidFill>
          <a:ln w="12700">
            <a:solidFill>
              <a:srgbClr val="D4AF37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457200" y="219456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D4AF37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م</a:t>
            </a:r>
            <a:endParaRPr lang="ar-SA" sz="18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3657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Al Madina Online School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57200"/>
            <a:ext cx="4572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ARABIC DEPARTMENT · MIFTAH ARABIC · IGCSE 0544</a:t>
            </a:r>
            <a:endParaRPr lang="en-US" sz="800" dirty="0"/>
          </a:p>
        </p:txBody>
      </p:sp>
      <p:sp>
        <p:nvSpPr>
          <p:cNvPr id="6" name="Shape 4"/>
          <p:cNvSpPr/>
          <p:nvPr/>
        </p:nvSpPr>
        <p:spPr>
          <a:xfrm>
            <a:off x="8897112" y="274320"/>
            <a:ext cx="2834640" cy="329184"/>
          </a:xfrm>
          <a:prstGeom prst="roundRect">
            <a:avLst>
              <a:gd name="adj" fmla="val 50000"/>
            </a:avLst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8897112" y="274320"/>
            <a:ext cx="28346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AT-A-L04 · Speaking workshop</a:t>
            </a:r>
            <a:endParaRPr lang="en-US" sz="950" dirty="0"/>
          </a:p>
        </p:txBody>
      </p:sp>
      <p:sp>
        <p:nvSpPr>
          <p:cNvPr id="8" name="Shape 6"/>
          <p:cNvSpPr/>
          <p:nvPr/>
        </p:nvSpPr>
        <p:spPr>
          <a:xfrm>
            <a:off x="7143293" y="274320"/>
            <a:ext cx="1616659" cy="329184"/>
          </a:xfrm>
          <a:prstGeom prst="roundRect">
            <a:avLst>
              <a:gd name="adj" fmla="val 50000"/>
            </a:avLst>
          </a:prstGeom>
          <a:solidFill>
            <a:srgbClr val="8A6D1E"/>
          </a:solidFill>
          <a:ln w="12700">
            <a:solidFill>
              <a:srgbClr val="8A6D1E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7143293" y="274320"/>
            <a:ext cx="1616659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FEEDBACK · 2 MIN</a:t>
            </a:r>
            <a:endParaRPr lang="en-US" sz="900" dirty="0"/>
          </a:p>
        </p:txBody>
      </p:sp>
      <p:sp>
        <p:nvSpPr>
          <p:cNvPr id="10" name="Text 8"/>
          <p:cNvSpPr txBox="1"/>
          <p:nvPr/>
        </p:nvSpPr>
        <p:spPr>
          <a:xfrm>
            <a:off x="457200" y="822960"/>
            <a:ext cx="69494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300" kern="0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MODEL ANSWER · ROLE PLAY C · DEVELOP</a:t>
            </a:r>
            <a:endParaRPr lang="en-US" sz="1000" dirty="0"/>
          </a:p>
        </p:txBody>
      </p:sp>
      <p:sp>
        <p:nvSpPr>
          <p:cNvPr id="11" name="Text 9"/>
          <p:cNvSpPr txBox="1"/>
          <p:nvPr/>
        </p:nvSpPr>
        <p:spPr>
          <a:xfrm>
            <a:off x="457200" y="1033272"/>
            <a:ext cx="69494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55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Role play C: a full-mark performance</a:t>
            </a:r>
            <a:endParaRPr lang="en-US" sz="2550" dirty="0"/>
          </a:p>
        </p:txBody>
      </p:sp>
      <p:sp>
        <p:nvSpPr>
          <p:cNvPr id="12" name="Text 10"/>
          <p:cNvSpPr txBox="1"/>
          <p:nvPr/>
        </p:nvSpPr>
        <p:spPr>
          <a:xfrm>
            <a:off x="7498080" y="868680"/>
            <a:ext cx="4233672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2800" b="1" dirty="0">
                <a:solidFill>
                  <a:srgbClr val="8A6D1E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نَمُوذَجُ الإِجَابَةِ</a:t>
            </a:r>
            <a:endParaRPr lang="ar-SA" sz="28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6455664"/>
            <a:ext cx="6400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Miftah Arabic · Topic A · Speaking workshop · AT-A-L04</a:t>
            </a:r>
            <a:endParaRPr lang="en-US" sz="850" dirty="0"/>
          </a:p>
        </p:txBody>
      </p:sp>
      <p:sp>
        <p:nvSpPr>
          <p:cNvPr id="15" name="Shape 12"/>
          <p:cNvSpPr/>
          <p:nvPr/>
        </p:nvSpPr>
        <p:spPr>
          <a:xfrm>
            <a:off x="457200" y="1810512"/>
            <a:ext cx="11274552" cy="384048"/>
          </a:xfrm>
          <a:prstGeom prst="rect">
            <a:avLst/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16" name="Text 13"/>
          <p:cNvSpPr txBox="1"/>
          <p:nvPr/>
        </p:nvSpPr>
        <p:spPr>
          <a:xfrm>
            <a:off x="4782312" y="1810512"/>
            <a:ext cx="687628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Model answer (with English)</a:t>
            </a:r>
            <a:endParaRPr lang="en-US" sz="1100" dirty="0"/>
          </a:p>
        </p:txBody>
      </p:sp>
      <p:sp>
        <p:nvSpPr>
          <p:cNvPr id="17" name="Text 14"/>
          <p:cNvSpPr txBox="1"/>
          <p:nvPr/>
        </p:nvSpPr>
        <p:spPr>
          <a:xfrm>
            <a:off x="1033272" y="1810512"/>
            <a:ext cx="360273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The examiner says</a:t>
            </a:r>
            <a:endParaRPr lang="en-US" sz="1100" dirty="0"/>
          </a:p>
        </p:txBody>
      </p:sp>
      <p:sp>
        <p:nvSpPr>
          <p:cNvPr id="18" name="Text 15"/>
          <p:cNvSpPr txBox="1"/>
          <p:nvPr/>
        </p:nvSpPr>
        <p:spPr>
          <a:xfrm>
            <a:off x="530352" y="1810512"/>
            <a:ext cx="35661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#</a:t>
            </a:r>
            <a:endParaRPr lang="en-US" sz="1100" dirty="0"/>
          </a:p>
        </p:txBody>
      </p:sp>
      <p:sp>
        <p:nvSpPr>
          <p:cNvPr id="19" name="Shape 16"/>
          <p:cNvSpPr/>
          <p:nvPr/>
        </p:nvSpPr>
        <p:spPr>
          <a:xfrm>
            <a:off x="457200" y="2267712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20" name="Text 17"/>
          <p:cNvSpPr txBox="1"/>
          <p:nvPr/>
        </p:nvSpPr>
        <p:spPr>
          <a:xfrm>
            <a:off x="4800600" y="2286000"/>
            <a:ext cx="6839712" cy="422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أَتَنَاوَلُ ثَلَاثَ وَجَبَاتٍ: الفُطُورَ فِي السَّابِعَةِ، وَالغَدَاءَ فِي المَدْرَسَةِ، وَالعَشَاءَ مَعَ أُسْرَتِي.</a:t>
            </a:r>
            <a:endParaRPr lang="ar-SA" sz="1800" dirty="0"/>
          </a:p>
        </p:txBody>
      </p:sp>
      <p:sp>
        <p:nvSpPr>
          <p:cNvPr id="21" name="Text 18"/>
          <p:cNvSpPr txBox="1"/>
          <p:nvPr/>
        </p:nvSpPr>
        <p:spPr>
          <a:xfrm>
            <a:off x="4754880" y="2676997"/>
            <a:ext cx="6931152" cy="25921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I have three meals: breakfast at seven, lunch at school and dinner with my family.</a:t>
            </a:r>
            <a:endParaRPr lang="en-US" sz="950" dirty="0"/>
          </a:p>
        </p:txBody>
      </p:sp>
      <p:sp>
        <p:nvSpPr>
          <p:cNvPr id="22" name="Text 19"/>
          <p:cNvSpPr txBox="1"/>
          <p:nvPr/>
        </p:nvSpPr>
        <p:spPr>
          <a:xfrm>
            <a:off x="1051560" y="2267712"/>
            <a:ext cx="356616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6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كَمْ وَجْبَةً تَتَنَاوَلُ فِي اليَوْمِ؟ وَمَتَى؟</a:t>
            </a:r>
            <a:endParaRPr lang="ar-SA" sz="1600" dirty="0"/>
          </a:p>
        </p:txBody>
      </p:sp>
      <p:sp>
        <p:nvSpPr>
          <p:cNvPr id="23" name="Text 20"/>
          <p:cNvSpPr txBox="1"/>
          <p:nvPr/>
        </p:nvSpPr>
        <p:spPr>
          <a:xfrm>
            <a:off x="566928" y="2267712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1</a:t>
            </a:r>
            <a:endParaRPr lang="en-US" sz="1100" dirty="0"/>
          </a:p>
        </p:txBody>
      </p:sp>
      <p:sp>
        <p:nvSpPr>
          <p:cNvPr id="24" name="Shape 21"/>
          <p:cNvSpPr/>
          <p:nvPr/>
        </p:nvSpPr>
        <p:spPr>
          <a:xfrm>
            <a:off x="457200" y="3004718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4F1EA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25" name="Text 22"/>
          <p:cNvSpPr txBox="1"/>
          <p:nvPr/>
        </p:nvSpPr>
        <p:spPr>
          <a:xfrm>
            <a:off x="4800600" y="3023006"/>
            <a:ext cx="6839712" cy="422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الطَّبَقُ المُفَضَّلُ فِي أُسْرَتِي هُوَ البِرْيَانِي، لِأَنَّ أُمِّي تَطْبُخُهُ بِبَهَارَاتٍ لَذِيذَةٍ.</a:t>
            </a:r>
            <a:endParaRPr lang="ar-SA" sz="1800" dirty="0"/>
          </a:p>
        </p:txBody>
      </p:sp>
      <p:sp>
        <p:nvSpPr>
          <p:cNvPr id="26" name="Text 23"/>
          <p:cNvSpPr txBox="1"/>
          <p:nvPr/>
        </p:nvSpPr>
        <p:spPr>
          <a:xfrm>
            <a:off x="4754880" y="3414004"/>
            <a:ext cx="6931152" cy="25921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My family’s favourite dish is biryani, because my mother cooks it with delicious spices.</a:t>
            </a:r>
            <a:endParaRPr lang="en-US" sz="950" dirty="0"/>
          </a:p>
        </p:txBody>
      </p:sp>
      <p:sp>
        <p:nvSpPr>
          <p:cNvPr id="27" name="Text 24"/>
          <p:cNvSpPr txBox="1"/>
          <p:nvPr/>
        </p:nvSpPr>
        <p:spPr>
          <a:xfrm>
            <a:off x="1051560" y="3004718"/>
            <a:ext cx="356616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6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مَا الطَّبَقُ المُفَضَّلُ فِي أُسْرَتِكَ؟</a:t>
            </a:r>
            <a:endParaRPr lang="ar-SA" sz="1600" dirty="0"/>
          </a:p>
        </p:txBody>
      </p:sp>
      <p:sp>
        <p:nvSpPr>
          <p:cNvPr id="28" name="Text 25"/>
          <p:cNvSpPr txBox="1"/>
          <p:nvPr/>
        </p:nvSpPr>
        <p:spPr>
          <a:xfrm>
            <a:off x="566928" y="3004718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2</a:t>
            </a:r>
            <a:endParaRPr lang="en-US" sz="1100" dirty="0"/>
          </a:p>
        </p:txBody>
      </p:sp>
      <p:sp>
        <p:nvSpPr>
          <p:cNvPr id="29" name="Shape 26"/>
          <p:cNvSpPr/>
          <p:nvPr/>
        </p:nvSpPr>
        <p:spPr>
          <a:xfrm>
            <a:off x="457200" y="3741725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30" name="Text 27"/>
          <p:cNvSpPr txBox="1"/>
          <p:nvPr/>
        </p:nvSpPr>
        <p:spPr>
          <a:xfrm>
            <a:off x="4800600" y="3760013"/>
            <a:ext cx="6839712" cy="422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نَعَمْ، أُسَاعِدُ أُمِّي أَحْيَانًا؛ أَغْسِلُ الخُضَارَ وَأُحَضِّرُ السَّلَطَةَ.</a:t>
            </a:r>
            <a:endParaRPr lang="ar-SA" sz="1800" dirty="0"/>
          </a:p>
        </p:txBody>
      </p:sp>
      <p:sp>
        <p:nvSpPr>
          <p:cNvPr id="31" name="Text 28"/>
          <p:cNvSpPr txBox="1"/>
          <p:nvPr/>
        </p:nvSpPr>
        <p:spPr>
          <a:xfrm>
            <a:off x="4754880" y="4151010"/>
            <a:ext cx="6931152" cy="25921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Yes, I sometimes help my mother: I wash the vegetables and make the salad.</a:t>
            </a:r>
            <a:endParaRPr lang="en-US" sz="950" dirty="0"/>
          </a:p>
        </p:txBody>
      </p:sp>
      <p:sp>
        <p:nvSpPr>
          <p:cNvPr id="32" name="Text 29"/>
          <p:cNvSpPr txBox="1"/>
          <p:nvPr/>
        </p:nvSpPr>
        <p:spPr>
          <a:xfrm>
            <a:off x="1051560" y="3741725"/>
            <a:ext cx="356616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6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هَلْ تُسَاعِدُ فِي المَطْبَخِ؟</a:t>
            </a:r>
            <a:endParaRPr lang="ar-SA" sz="1600" dirty="0"/>
          </a:p>
        </p:txBody>
      </p:sp>
      <p:sp>
        <p:nvSpPr>
          <p:cNvPr id="33" name="Text 30"/>
          <p:cNvSpPr txBox="1"/>
          <p:nvPr/>
        </p:nvSpPr>
        <p:spPr>
          <a:xfrm>
            <a:off x="566928" y="3741725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3</a:t>
            </a:r>
            <a:endParaRPr lang="en-US" sz="1100" dirty="0"/>
          </a:p>
        </p:txBody>
      </p:sp>
      <p:sp>
        <p:nvSpPr>
          <p:cNvPr id="34" name="Shape 31"/>
          <p:cNvSpPr/>
          <p:nvPr/>
        </p:nvSpPr>
        <p:spPr>
          <a:xfrm>
            <a:off x="457200" y="4478731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4F1EA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35" name="Text 32"/>
          <p:cNvSpPr txBox="1"/>
          <p:nvPr/>
        </p:nvSpPr>
        <p:spPr>
          <a:xfrm>
            <a:off x="4800600" y="4497019"/>
            <a:ext cx="6839712" cy="422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مَا الأَكْلَةُ المَشْهُورَةُ فِي بَلَدِكُمْ؟</a:t>
            </a:r>
            <a:endParaRPr lang="ar-SA" sz="1800" dirty="0"/>
          </a:p>
        </p:txBody>
      </p:sp>
      <p:sp>
        <p:nvSpPr>
          <p:cNvPr id="36" name="Text 33"/>
          <p:cNvSpPr txBox="1"/>
          <p:nvPr/>
        </p:nvSpPr>
        <p:spPr>
          <a:xfrm>
            <a:off x="4754880" y="4888017"/>
            <a:ext cx="6931152" cy="25921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What is the famous dish in your country?</a:t>
            </a:r>
            <a:endParaRPr lang="en-US" sz="950" dirty="0"/>
          </a:p>
        </p:txBody>
      </p:sp>
      <p:sp>
        <p:nvSpPr>
          <p:cNvPr id="37" name="Text 34"/>
          <p:cNvSpPr txBox="1"/>
          <p:nvPr/>
        </p:nvSpPr>
        <p:spPr>
          <a:xfrm>
            <a:off x="1051560" y="4478731"/>
            <a:ext cx="356616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6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… المَنْسَفُ: لَحْمٌ مَعَ أُرْزٍ وَلَبَنٍ.</a:t>
            </a:r>
            <a:endParaRPr lang="ar-SA" sz="1600" dirty="0"/>
          </a:p>
        </p:txBody>
      </p:sp>
      <p:sp>
        <p:nvSpPr>
          <p:cNvPr id="38" name="Text 35"/>
          <p:cNvSpPr txBox="1"/>
          <p:nvPr/>
        </p:nvSpPr>
        <p:spPr>
          <a:xfrm>
            <a:off x="566928" y="4478731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4</a:t>
            </a:r>
            <a:endParaRPr lang="en-US" sz="1100" dirty="0"/>
          </a:p>
        </p:txBody>
      </p:sp>
      <p:sp>
        <p:nvSpPr>
          <p:cNvPr id="39" name="Shape 36"/>
          <p:cNvSpPr/>
          <p:nvPr/>
        </p:nvSpPr>
        <p:spPr>
          <a:xfrm>
            <a:off x="457200" y="5215738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40" name="Text 37"/>
          <p:cNvSpPr txBox="1"/>
          <p:nvPr/>
        </p:nvSpPr>
        <p:spPr>
          <a:xfrm>
            <a:off x="4800600" y="5234026"/>
            <a:ext cx="6839712" cy="422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لَا أُحِبُّ البَصَلَ النِّيءَ، لِأَنَّ طَعْمَهُ قَوِيٌّ جِدًّا.</a:t>
            </a:r>
            <a:endParaRPr lang="ar-SA" sz="1800" dirty="0"/>
          </a:p>
        </p:txBody>
      </p:sp>
      <p:sp>
        <p:nvSpPr>
          <p:cNvPr id="41" name="Text 38"/>
          <p:cNvSpPr txBox="1"/>
          <p:nvPr/>
        </p:nvSpPr>
        <p:spPr>
          <a:xfrm>
            <a:off x="4754880" y="5625023"/>
            <a:ext cx="6931152" cy="25921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I don’t like raw onion, because its taste is very strong.</a:t>
            </a:r>
            <a:endParaRPr lang="en-US" sz="950" dirty="0"/>
          </a:p>
        </p:txBody>
      </p:sp>
      <p:sp>
        <p:nvSpPr>
          <p:cNvPr id="42" name="Text 39"/>
          <p:cNvSpPr txBox="1"/>
          <p:nvPr/>
        </p:nvSpPr>
        <p:spPr>
          <a:xfrm>
            <a:off x="1051560" y="5215738"/>
            <a:ext cx="356616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6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مَا الطَّعَامُ الَّذِي لَا تُحِبُّهُ؟ لِمَاذَا؟</a:t>
            </a:r>
            <a:endParaRPr lang="ar-SA" sz="1600" dirty="0"/>
          </a:p>
        </p:txBody>
      </p:sp>
      <p:sp>
        <p:nvSpPr>
          <p:cNvPr id="43" name="Text 40"/>
          <p:cNvSpPr txBox="1"/>
          <p:nvPr/>
        </p:nvSpPr>
        <p:spPr>
          <a:xfrm>
            <a:off x="566928" y="5215738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5</a:t>
            </a:r>
            <a:endParaRPr lang="en-US" sz="1100" dirty="0"/>
          </a:p>
        </p:txBody>
      </p:sp>
      <p:sp>
        <p:nvSpPr>
          <p:cNvPr id="44" name="Text 41"/>
          <p:cNvSpPr txBox="1"/>
          <p:nvPr/>
        </p:nvSpPr>
        <p:spPr>
          <a:xfrm>
            <a:off x="457200" y="5943600"/>
            <a:ext cx="1127455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Every task answered with a full sentence — short, clear and accurate is enough for the role play.</a:t>
            </a:r>
            <a:endParaRPr lang="en-US" sz="1150" dirty="0"/>
          </a:p>
        </p:txBody>
      </p:sp>
      <p:sp>
        <p:nvSpPr>
          <p:cNvPr id="45" name="Text 42"/>
          <p:cNvSpPr txBox="1"/>
          <p:nvPr/>
        </p:nvSpPr>
        <p:spPr>
          <a:xfrm>
            <a:off x="10360152" y="6455664"/>
            <a:ext cx="1371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15 / 25</a:t>
            </a:r>
            <a:endParaRPr lang="en-US" sz="85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FFD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237744"/>
            <a:ext cx="420624" cy="420624"/>
          </a:xfrm>
          <a:prstGeom prst="ellipse">
            <a:avLst/>
          </a:prstGeom>
          <a:solidFill>
            <a:srgbClr val="1B3B6F"/>
          </a:solidFill>
          <a:ln w="12700">
            <a:solidFill>
              <a:srgbClr val="D4AF37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457200" y="219456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D4AF37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م</a:t>
            </a:r>
            <a:endParaRPr lang="ar-SA" sz="18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3657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Al Madina Online School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57200"/>
            <a:ext cx="4572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ARABIC DEPARTMENT · MIFTAH ARABIC · IGCSE 0544</a:t>
            </a:r>
            <a:endParaRPr lang="en-US" sz="800" dirty="0"/>
          </a:p>
        </p:txBody>
      </p:sp>
      <p:sp>
        <p:nvSpPr>
          <p:cNvPr id="6" name="Shape 4"/>
          <p:cNvSpPr/>
          <p:nvPr/>
        </p:nvSpPr>
        <p:spPr>
          <a:xfrm>
            <a:off x="8897112" y="274320"/>
            <a:ext cx="2834640" cy="329184"/>
          </a:xfrm>
          <a:prstGeom prst="roundRect">
            <a:avLst>
              <a:gd name="adj" fmla="val 50000"/>
            </a:avLst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8897112" y="274320"/>
            <a:ext cx="28346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AT-A-L04 · Speaking workshop</a:t>
            </a:r>
            <a:endParaRPr lang="en-US" sz="950" dirty="0"/>
          </a:p>
        </p:txBody>
      </p:sp>
      <p:sp>
        <p:nvSpPr>
          <p:cNvPr id="8" name="Shape 6"/>
          <p:cNvSpPr/>
          <p:nvPr/>
        </p:nvSpPr>
        <p:spPr>
          <a:xfrm>
            <a:off x="7143293" y="274320"/>
            <a:ext cx="1616659" cy="329184"/>
          </a:xfrm>
          <a:prstGeom prst="roundRect">
            <a:avLst>
              <a:gd name="adj" fmla="val 50000"/>
            </a:avLst>
          </a:prstGeom>
          <a:solidFill>
            <a:srgbClr val="8A6D1E"/>
          </a:solidFill>
          <a:ln w="12700">
            <a:solidFill>
              <a:srgbClr val="8A6D1E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7143293" y="274320"/>
            <a:ext cx="1616659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FEEDBACK · 2 MIN</a:t>
            </a:r>
            <a:endParaRPr lang="en-US" sz="900" dirty="0"/>
          </a:p>
        </p:txBody>
      </p:sp>
      <p:sp>
        <p:nvSpPr>
          <p:cNvPr id="10" name="Text 8"/>
          <p:cNvSpPr txBox="1"/>
          <p:nvPr/>
        </p:nvSpPr>
        <p:spPr>
          <a:xfrm>
            <a:off x="457200" y="822960"/>
            <a:ext cx="69494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300" kern="0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MODEL ANSWER · ROLE PLAY D · STRETCH</a:t>
            </a:r>
            <a:endParaRPr lang="en-US" sz="1000" dirty="0"/>
          </a:p>
        </p:txBody>
      </p:sp>
      <p:sp>
        <p:nvSpPr>
          <p:cNvPr id="11" name="Text 9"/>
          <p:cNvSpPr txBox="1"/>
          <p:nvPr/>
        </p:nvSpPr>
        <p:spPr>
          <a:xfrm>
            <a:off x="457200" y="1033272"/>
            <a:ext cx="69494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55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Role play D: a full-mark performance</a:t>
            </a:r>
            <a:endParaRPr lang="en-US" sz="2550" dirty="0"/>
          </a:p>
        </p:txBody>
      </p:sp>
      <p:sp>
        <p:nvSpPr>
          <p:cNvPr id="12" name="Text 10"/>
          <p:cNvSpPr txBox="1"/>
          <p:nvPr/>
        </p:nvSpPr>
        <p:spPr>
          <a:xfrm>
            <a:off x="7498080" y="868680"/>
            <a:ext cx="4233672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2800" b="1" dirty="0">
                <a:solidFill>
                  <a:srgbClr val="8A6D1E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نَمُوذَجُ الإِجَابَةِ</a:t>
            </a:r>
            <a:endParaRPr lang="ar-SA" sz="28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6455664"/>
            <a:ext cx="6400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Miftah Arabic · Topic A · Speaking workshop · AT-A-L04</a:t>
            </a:r>
            <a:endParaRPr lang="en-US" sz="850" dirty="0"/>
          </a:p>
        </p:txBody>
      </p:sp>
      <p:sp>
        <p:nvSpPr>
          <p:cNvPr id="15" name="Shape 12"/>
          <p:cNvSpPr/>
          <p:nvPr/>
        </p:nvSpPr>
        <p:spPr>
          <a:xfrm>
            <a:off x="457200" y="1810512"/>
            <a:ext cx="11274552" cy="384048"/>
          </a:xfrm>
          <a:prstGeom prst="rect">
            <a:avLst/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16" name="Text 13"/>
          <p:cNvSpPr txBox="1"/>
          <p:nvPr/>
        </p:nvSpPr>
        <p:spPr>
          <a:xfrm>
            <a:off x="4782312" y="1810512"/>
            <a:ext cx="687628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Model answer (with English)</a:t>
            </a:r>
            <a:endParaRPr lang="en-US" sz="1100" dirty="0"/>
          </a:p>
        </p:txBody>
      </p:sp>
      <p:sp>
        <p:nvSpPr>
          <p:cNvPr id="17" name="Text 14"/>
          <p:cNvSpPr txBox="1"/>
          <p:nvPr/>
        </p:nvSpPr>
        <p:spPr>
          <a:xfrm>
            <a:off x="1033272" y="1810512"/>
            <a:ext cx="360273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The examiner says</a:t>
            </a:r>
            <a:endParaRPr lang="en-US" sz="1100" dirty="0"/>
          </a:p>
        </p:txBody>
      </p:sp>
      <p:sp>
        <p:nvSpPr>
          <p:cNvPr id="18" name="Text 15"/>
          <p:cNvSpPr txBox="1"/>
          <p:nvPr/>
        </p:nvSpPr>
        <p:spPr>
          <a:xfrm>
            <a:off x="530352" y="1810512"/>
            <a:ext cx="35661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#</a:t>
            </a:r>
            <a:endParaRPr lang="en-US" sz="1100" dirty="0"/>
          </a:p>
        </p:txBody>
      </p:sp>
      <p:sp>
        <p:nvSpPr>
          <p:cNvPr id="19" name="Shape 16"/>
          <p:cNvSpPr/>
          <p:nvPr/>
        </p:nvSpPr>
        <p:spPr>
          <a:xfrm>
            <a:off x="457200" y="2267712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20" name="Text 17"/>
          <p:cNvSpPr txBox="1"/>
          <p:nvPr/>
        </p:nvSpPr>
        <p:spPr>
          <a:xfrm>
            <a:off x="4800600" y="2286000"/>
            <a:ext cx="6839712" cy="422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نَتَنَاوَلُ العَشَاءَ مَعًا كُلَّ مَسَاءٍ، وَنُفَضِّلُ الأَطْبَاقَ البَيْتِيَّةَ عَلَى الوَجَبَاتِ السَّرِيعَةِ.</a:t>
            </a:r>
            <a:endParaRPr lang="ar-SA" sz="1800" dirty="0"/>
          </a:p>
        </p:txBody>
      </p:sp>
      <p:sp>
        <p:nvSpPr>
          <p:cNvPr id="21" name="Text 18"/>
          <p:cNvSpPr txBox="1"/>
          <p:nvPr/>
        </p:nvSpPr>
        <p:spPr>
          <a:xfrm>
            <a:off x="4754880" y="2676997"/>
            <a:ext cx="6931152" cy="25921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We have dinner together every evening, and we prefer home-made dishes to fast food.</a:t>
            </a:r>
            <a:endParaRPr lang="en-US" sz="950" dirty="0"/>
          </a:p>
        </p:txBody>
      </p:sp>
      <p:sp>
        <p:nvSpPr>
          <p:cNvPr id="22" name="Text 19"/>
          <p:cNvSpPr txBox="1"/>
          <p:nvPr/>
        </p:nvSpPr>
        <p:spPr>
          <a:xfrm>
            <a:off x="1051560" y="2267712"/>
            <a:ext cx="356616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6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صِفْ عَادَاتِ أُسْرَتِكَ فِي الطَّعَامِ.</a:t>
            </a:r>
            <a:endParaRPr lang="ar-SA" sz="1600" dirty="0"/>
          </a:p>
        </p:txBody>
      </p:sp>
      <p:sp>
        <p:nvSpPr>
          <p:cNvPr id="23" name="Text 20"/>
          <p:cNvSpPr txBox="1"/>
          <p:nvPr/>
        </p:nvSpPr>
        <p:spPr>
          <a:xfrm>
            <a:off x="566928" y="2267712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1</a:t>
            </a:r>
            <a:endParaRPr lang="en-US" sz="1100" dirty="0"/>
          </a:p>
        </p:txBody>
      </p:sp>
      <p:sp>
        <p:nvSpPr>
          <p:cNvPr id="24" name="Shape 21"/>
          <p:cNvSpPr/>
          <p:nvPr/>
        </p:nvSpPr>
        <p:spPr>
          <a:xfrm>
            <a:off x="457200" y="3004718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4F1EA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25" name="Text 22"/>
          <p:cNvSpPr txBox="1"/>
          <p:nvPr/>
        </p:nvSpPr>
        <p:spPr>
          <a:xfrm>
            <a:off x="4800600" y="3023006"/>
            <a:ext cx="6839712" cy="422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فِي العِيدِ المَاضِي أَكَلْنَا لَحْمَ الخَرُوفِ مَعَ الأُرْزِ، وَحَضَّرَتْ جَدَّتِي حَلَوِيَّاتٍ كَثِيرَةً.</a:t>
            </a:r>
            <a:endParaRPr lang="ar-SA" sz="1800" dirty="0"/>
          </a:p>
        </p:txBody>
      </p:sp>
      <p:sp>
        <p:nvSpPr>
          <p:cNvPr id="26" name="Text 23"/>
          <p:cNvSpPr txBox="1"/>
          <p:nvPr/>
        </p:nvSpPr>
        <p:spPr>
          <a:xfrm>
            <a:off x="4754880" y="3414004"/>
            <a:ext cx="6931152" cy="25921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Last Eid we ate lamb with rice, and my grandmother made lots of sweets.</a:t>
            </a:r>
            <a:endParaRPr lang="en-US" sz="950" dirty="0"/>
          </a:p>
        </p:txBody>
      </p:sp>
      <p:sp>
        <p:nvSpPr>
          <p:cNvPr id="27" name="Text 24"/>
          <p:cNvSpPr txBox="1"/>
          <p:nvPr/>
        </p:nvSpPr>
        <p:spPr>
          <a:xfrm>
            <a:off x="1051560" y="3004718"/>
            <a:ext cx="356616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6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مَاذَا أَكَلْتُمْ فِي آخِرِ مُنَاسَبَةٍ عَائِلِيَّةٍ؟</a:t>
            </a:r>
            <a:endParaRPr lang="ar-SA" sz="1600" dirty="0"/>
          </a:p>
        </p:txBody>
      </p:sp>
      <p:sp>
        <p:nvSpPr>
          <p:cNvPr id="28" name="Text 25"/>
          <p:cNvSpPr txBox="1"/>
          <p:nvPr/>
        </p:nvSpPr>
        <p:spPr>
          <a:xfrm>
            <a:off x="566928" y="3004718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2</a:t>
            </a:r>
            <a:endParaRPr lang="en-US" sz="1100" dirty="0"/>
          </a:p>
        </p:txBody>
      </p:sp>
      <p:sp>
        <p:nvSpPr>
          <p:cNvPr id="29" name="Shape 26"/>
          <p:cNvSpPr/>
          <p:nvPr/>
        </p:nvSpPr>
        <p:spPr>
          <a:xfrm>
            <a:off x="457200" y="3741725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30" name="Text 27"/>
          <p:cNvSpPr txBox="1"/>
          <p:nvPr/>
        </p:nvSpPr>
        <p:spPr>
          <a:xfrm>
            <a:off x="4800600" y="3760013"/>
            <a:ext cx="6839712" cy="422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7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أُفَضِّلُ الطَّعَامَ التَّقْلِيدِيَّ لِأَنَّهُ يُذَكِّرُنِي بِبَلَدِ أَجْدَادِي، لٰكِنِّي أُحِبُّ تَجْرِبَةَ أَطْبَاقٍ جَدِيدَةٍ أَيْضًا.</a:t>
            </a:r>
            <a:endParaRPr lang="ar-SA" sz="1700" dirty="0"/>
          </a:p>
        </p:txBody>
      </p:sp>
      <p:sp>
        <p:nvSpPr>
          <p:cNvPr id="31" name="Text 28"/>
          <p:cNvSpPr txBox="1"/>
          <p:nvPr/>
        </p:nvSpPr>
        <p:spPr>
          <a:xfrm>
            <a:off x="4754880" y="4151010"/>
            <a:ext cx="6931152" cy="25921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I prefer traditional food because it reminds me of my grandparents’ country, but I also like trying new dishes.</a:t>
            </a:r>
            <a:endParaRPr lang="en-US" sz="950" dirty="0"/>
          </a:p>
        </p:txBody>
      </p:sp>
      <p:sp>
        <p:nvSpPr>
          <p:cNvPr id="32" name="Text 29"/>
          <p:cNvSpPr txBox="1"/>
          <p:nvPr/>
        </p:nvSpPr>
        <p:spPr>
          <a:xfrm>
            <a:off x="1051560" y="3741725"/>
            <a:ext cx="356616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6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هَلْ تُفَضِّلُ الطَّعَامَ التَّقْلِيدِيَّ أَمِ الحَدِيثَ؟ لِمَاذَا؟</a:t>
            </a:r>
            <a:endParaRPr lang="ar-SA" sz="1600" dirty="0"/>
          </a:p>
        </p:txBody>
      </p:sp>
      <p:sp>
        <p:nvSpPr>
          <p:cNvPr id="33" name="Text 30"/>
          <p:cNvSpPr txBox="1"/>
          <p:nvPr/>
        </p:nvSpPr>
        <p:spPr>
          <a:xfrm>
            <a:off x="566928" y="3741725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3</a:t>
            </a:r>
            <a:endParaRPr lang="en-US" sz="1100" dirty="0"/>
          </a:p>
        </p:txBody>
      </p:sp>
      <p:sp>
        <p:nvSpPr>
          <p:cNvPr id="34" name="Shape 31"/>
          <p:cNvSpPr/>
          <p:nvPr/>
        </p:nvSpPr>
        <p:spPr>
          <a:xfrm>
            <a:off x="457200" y="4478731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4F1EA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35" name="Text 32"/>
          <p:cNvSpPr txBox="1"/>
          <p:nvPr/>
        </p:nvSpPr>
        <p:spPr>
          <a:xfrm>
            <a:off x="4800600" y="4497019"/>
            <a:ext cx="6839712" cy="422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5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بَيْنَمَا يُحِبُّ البِرِيطَانِيُّونَ السَّمَكَ وَالبَطَاطَا، يُفَضِّلُ النَّاسُ فِي بَاكِسْتَانَ الأَطْعِمَةَ الحَارَّةَ بِالبَهَارَاتِ.</a:t>
            </a:r>
            <a:endParaRPr lang="ar-SA" sz="1550" dirty="0"/>
          </a:p>
        </p:txBody>
      </p:sp>
      <p:sp>
        <p:nvSpPr>
          <p:cNvPr id="36" name="Text 33"/>
          <p:cNvSpPr txBox="1"/>
          <p:nvPr/>
        </p:nvSpPr>
        <p:spPr>
          <a:xfrm>
            <a:off x="4754880" y="4888017"/>
            <a:ext cx="6931152" cy="25921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While British people like fish and chips, people in Pakistan prefer spicy food with spices.</a:t>
            </a:r>
            <a:endParaRPr lang="en-US" sz="950" dirty="0"/>
          </a:p>
        </p:txBody>
      </p:sp>
      <p:sp>
        <p:nvSpPr>
          <p:cNvPr id="37" name="Text 34"/>
          <p:cNvSpPr txBox="1"/>
          <p:nvPr/>
        </p:nvSpPr>
        <p:spPr>
          <a:xfrm>
            <a:off x="1051560" y="4478731"/>
            <a:ext cx="356616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6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قَارِنْ بَيْنَ الطَّعَامِ فِي بَلَدَيْنِ تَعْرِفُهُمَا.</a:t>
            </a:r>
            <a:endParaRPr lang="ar-SA" sz="1600" dirty="0"/>
          </a:p>
        </p:txBody>
      </p:sp>
      <p:sp>
        <p:nvSpPr>
          <p:cNvPr id="38" name="Text 35"/>
          <p:cNvSpPr txBox="1"/>
          <p:nvPr/>
        </p:nvSpPr>
        <p:spPr>
          <a:xfrm>
            <a:off x="566928" y="4478731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4</a:t>
            </a:r>
            <a:endParaRPr lang="en-US" sz="1100" dirty="0"/>
          </a:p>
        </p:txBody>
      </p:sp>
      <p:sp>
        <p:nvSpPr>
          <p:cNvPr id="39" name="Shape 36"/>
          <p:cNvSpPr/>
          <p:nvPr/>
        </p:nvSpPr>
        <p:spPr>
          <a:xfrm>
            <a:off x="457200" y="5215738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40" name="Text 37"/>
          <p:cNvSpPr txBox="1"/>
          <p:nvPr/>
        </p:nvSpPr>
        <p:spPr>
          <a:xfrm>
            <a:off x="4800600" y="5234026"/>
            <a:ext cx="6839712" cy="422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لَوْ كُنْتُ طَبَّاخًا، لَحَضَّرْتُ لَهُمْ شُورْبَةً سَاخِنَةً، ثُمَّ دَجَاجًا مَشْوِيًّا مَعَ الأُرْزِ.</a:t>
            </a:r>
            <a:endParaRPr lang="ar-SA" sz="1800" dirty="0"/>
          </a:p>
        </p:txBody>
      </p:sp>
      <p:sp>
        <p:nvSpPr>
          <p:cNvPr id="41" name="Text 38"/>
          <p:cNvSpPr txBox="1"/>
          <p:nvPr/>
        </p:nvSpPr>
        <p:spPr>
          <a:xfrm>
            <a:off x="4754880" y="5625023"/>
            <a:ext cx="6931152" cy="25921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If I were a chef, I would make them a hot soup, then grilled chicken with rice.</a:t>
            </a:r>
            <a:endParaRPr lang="en-US" sz="950" dirty="0"/>
          </a:p>
        </p:txBody>
      </p:sp>
      <p:sp>
        <p:nvSpPr>
          <p:cNvPr id="42" name="Text 39"/>
          <p:cNvSpPr txBox="1"/>
          <p:nvPr/>
        </p:nvSpPr>
        <p:spPr>
          <a:xfrm>
            <a:off x="1051560" y="5215738"/>
            <a:ext cx="356616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6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لَوْ كُنْتَ طَبَّاخًا، مَاذَا تُحَضِّرُ لِضُيُوفِكَ؟</a:t>
            </a:r>
            <a:endParaRPr lang="ar-SA" sz="1600" dirty="0"/>
          </a:p>
        </p:txBody>
      </p:sp>
      <p:sp>
        <p:nvSpPr>
          <p:cNvPr id="43" name="Text 40"/>
          <p:cNvSpPr txBox="1"/>
          <p:nvPr/>
        </p:nvSpPr>
        <p:spPr>
          <a:xfrm>
            <a:off x="566928" y="5215738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5</a:t>
            </a:r>
            <a:endParaRPr lang="en-US" sz="1100" dirty="0"/>
          </a:p>
        </p:txBody>
      </p:sp>
      <p:sp>
        <p:nvSpPr>
          <p:cNvPr id="44" name="Text 41"/>
          <p:cNvSpPr txBox="1"/>
          <p:nvPr/>
        </p:nvSpPr>
        <p:spPr>
          <a:xfrm>
            <a:off x="457200" y="5943600"/>
            <a:ext cx="1127455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Stretch: preference with ʿalā, past narrative, contrast, baynamā and law … la-.</a:t>
            </a:r>
            <a:endParaRPr lang="en-US" sz="1150" dirty="0"/>
          </a:p>
        </p:txBody>
      </p:sp>
      <p:sp>
        <p:nvSpPr>
          <p:cNvPr id="45" name="Text 42"/>
          <p:cNvSpPr txBox="1"/>
          <p:nvPr/>
        </p:nvSpPr>
        <p:spPr>
          <a:xfrm>
            <a:off x="10360152" y="6455664"/>
            <a:ext cx="1371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16 / 25</a:t>
            </a:r>
            <a:endParaRPr lang="en-US" sz="85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FFD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237744"/>
            <a:ext cx="420624" cy="420624"/>
          </a:xfrm>
          <a:prstGeom prst="ellipse">
            <a:avLst/>
          </a:prstGeom>
          <a:solidFill>
            <a:srgbClr val="1B3B6F"/>
          </a:solidFill>
          <a:ln w="12700">
            <a:solidFill>
              <a:srgbClr val="D4AF37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457200" y="219456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D4AF37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م</a:t>
            </a:r>
            <a:endParaRPr lang="ar-SA" sz="18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3657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Al Madina Online School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57200"/>
            <a:ext cx="4572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ARABIC DEPARTMENT · MIFTAH ARABIC · IGCSE 0544</a:t>
            </a:r>
            <a:endParaRPr lang="en-US" sz="800" dirty="0"/>
          </a:p>
        </p:txBody>
      </p:sp>
      <p:sp>
        <p:nvSpPr>
          <p:cNvPr id="6" name="Shape 4"/>
          <p:cNvSpPr/>
          <p:nvPr/>
        </p:nvSpPr>
        <p:spPr>
          <a:xfrm>
            <a:off x="8897112" y="274320"/>
            <a:ext cx="2834640" cy="329184"/>
          </a:xfrm>
          <a:prstGeom prst="roundRect">
            <a:avLst>
              <a:gd name="adj" fmla="val 50000"/>
            </a:avLst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8897112" y="274320"/>
            <a:ext cx="28346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AT-A-L04 · Speaking workshop</a:t>
            </a:r>
            <a:endParaRPr lang="en-US" sz="950" dirty="0"/>
          </a:p>
        </p:txBody>
      </p:sp>
      <p:sp>
        <p:nvSpPr>
          <p:cNvPr id="8" name="Shape 6"/>
          <p:cNvSpPr/>
          <p:nvPr/>
        </p:nvSpPr>
        <p:spPr>
          <a:xfrm>
            <a:off x="7295083" y="274320"/>
            <a:ext cx="1464869" cy="329184"/>
          </a:xfrm>
          <a:prstGeom prst="roundRect">
            <a:avLst>
              <a:gd name="adj" fmla="val 50000"/>
            </a:avLst>
          </a:prstGeom>
          <a:solidFill>
            <a:srgbClr val="1E6B52"/>
          </a:solidFill>
          <a:ln w="12700">
            <a:solidFill>
              <a:srgbClr val="1E6B52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7295083" y="274320"/>
            <a:ext cx="1464869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YOU DO · 5 MIN</a:t>
            </a:r>
            <a:endParaRPr lang="en-US" sz="900" dirty="0"/>
          </a:p>
        </p:txBody>
      </p:sp>
      <p:sp>
        <p:nvSpPr>
          <p:cNvPr id="10" name="Text 8"/>
          <p:cNvSpPr txBox="1"/>
          <p:nvPr/>
        </p:nvSpPr>
        <p:spPr>
          <a:xfrm>
            <a:off x="457200" y="822960"/>
            <a:ext cx="69494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300" kern="0" dirty="0">
                <a:solidFill>
                  <a:srgbClr val="1E6B52"/>
                </a:solidFill>
                <a:latin typeface="Calibri" pitchFamily="34" charset="0"/>
                <a:cs typeface="Amiri" pitchFamily="2" charset="-78"/>
              </a:rPr>
              <a:t>TOPIC CONVERSATION · CORE QUESTIONS</a:t>
            </a:r>
            <a:endParaRPr lang="en-US" sz="1000" dirty="0"/>
          </a:p>
        </p:txBody>
      </p:sp>
      <p:sp>
        <p:nvSpPr>
          <p:cNvPr id="11" name="Text 9"/>
          <p:cNvSpPr txBox="1"/>
          <p:nvPr/>
        </p:nvSpPr>
        <p:spPr>
          <a:xfrm>
            <a:off x="457200" y="1033272"/>
            <a:ext cx="69494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Topic conversation — Core questions</a:t>
            </a:r>
            <a:endParaRPr lang="en-US" sz="2600" dirty="0"/>
          </a:p>
        </p:txBody>
      </p:sp>
      <p:sp>
        <p:nvSpPr>
          <p:cNvPr id="12" name="Text 10"/>
          <p:cNvSpPr txBox="1"/>
          <p:nvPr/>
        </p:nvSpPr>
        <p:spPr>
          <a:xfrm>
            <a:off x="7498080" y="868680"/>
            <a:ext cx="4233672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2800" b="1" dirty="0">
                <a:solidFill>
                  <a:srgbClr val="8A6D1E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طَعَامِي</a:t>
            </a:r>
            <a:endParaRPr lang="ar-SA" sz="28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6455664"/>
            <a:ext cx="6400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Miftah Arabic · Topic A · Speaking workshop · AT-A-L04</a:t>
            </a:r>
            <a:endParaRPr lang="en-US" sz="850" dirty="0"/>
          </a:p>
        </p:txBody>
      </p:sp>
      <p:sp>
        <p:nvSpPr>
          <p:cNvPr id="15" name="Shape 12"/>
          <p:cNvSpPr/>
          <p:nvPr/>
        </p:nvSpPr>
        <p:spPr>
          <a:xfrm>
            <a:off x="457200" y="1810512"/>
            <a:ext cx="11274552" cy="384048"/>
          </a:xfrm>
          <a:prstGeom prst="rect">
            <a:avLst/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16" name="Text 13"/>
          <p:cNvSpPr txBox="1"/>
          <p:nvPr/>
        </p:nvSpPr>
        <p:spPr>
          <a:xfrm>
            <a:off x="8439912" y="1810512"/>
            <a:ext cx="321868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Start like this</a:t>
            </a:r>
            <a:endParaRPr lang="en-US" sz="1100" dirty="0"/>
          </a:p>
        </p:txBody>
      </p:sp>
      <p:sp>
        <p:nvSpPr>
          <p:cNvPr id="17" name="Text 14"/>
          <p:cNvSpPr txBox="1"/>
          <p:nvPr/>
        </p:nvSpPr>
        <p:spPr>
          <a:xfrm>
            <a:off x="5788152" y="1810512"/>
            <a:ext cx="250545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Meaning</a:t>
            </a:r>
            <a:endParaRPr lang="en-US" sz="1100" dirty="0"/>
          </a:p>
        </p:txBody>
      </p:sp>
      <p:sp>
        <p:nvSpPr>
          <p:cNvPr id="18" name="Text 15"/>
          <p:cNvSpPr txBox="1"/>
          <p:nvPr/>
        </p:nvSpPr>
        <p:spPr>
          <a:xfrm>
            <a:off x="1033272" y="1810512"/>
            <a:ext cx="460857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The examiner asks</a:t>
            </a:r>
            <a:endParaRPr lang="en-US" sz="1100" dirty="0"/>
          </a:p>
        </p:txBody>
      </p:sp>
      <p:sp>
        <p:nvSpPr>
          <p:cNvPr id="19" name="Text 16"/>
          <p:cNvSpPr txBox="1"/>
          <p:nvPr/>
        </p:nvSpPr>
        <p:spPr>
          <a:xfrm>
            <a:off x="530352" y="1810512"/>
            <a:ext cx="35661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#</a:t>
            </a:r>
            <a:endParaRPr lang="en-US" sz="1100" dirty="0"/>
          </a:p>
        </p:txBody>
      </p:sp>
      <p:sp>
        <p:nvSpPr>
          <p:cNvPr id="20" name="Shape 17"/>
          <p:cNvSpPr/>
          <p:nvPr/>
        </p:nvSpPr>
        <p:spPr>
          <a:xfrm>
            <a:off x="457200" y="2267712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21" name="Text 18"/>
          <p:cNvSpPr txBox="1"/>
          <p:nvPr/>
        </p:nvSpPr>
        <p:spPr>
          <a:xfrm>
            <a:off x="8458200" y="2267712"/>
            <a:ext cx="3182112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آكُلُ …</a:t>
            </a:r>
            <a:endParaRPr lang="ar-SA" sz="1500" dirty="0"/>
          </a:p>
        </p:txBody>
      </p:sp>
      <p:sp>
        <p:nvSpPr>
          <p:cNvPr id="22" name="Text 19"/>
          <p:cNvSpPr txBox="1"/>
          <p:nvPr/>
        </p:nvSpPr>
        <p:spPr>
          <a:xfrm>
            <a:off x="5824728" y="2267712"/>
            <a:ext cx="24688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What do you eat for breakfast?</a:t>
            </a:r>
            <a:endParaRPr lang="en-US" sz="1100" dirty="0"/>
          </a:p>
        </p:txBody>
      </p:sp>
      <p:sp>
        <p:nvSpPr>
          <p:cNvPr id="23" name="Text 20"/>
          <p:cNvSpPr txBox="1"/>
          <p:nvPr/>
        </p:nvSpPr>
        <p:spPr>
          <a:xfrm>
            <a:off x="1051560" y="2267712"/>
            <a:ext cx="457200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7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مَاذَا تَأْكُلُ فِي الفُطُورِ؟</a:t>
            </a:r>
            <a:endParaRPr lang="ar-SA" sz="1700" dirty="0"/>
          </a:p>
        </p:txBody>
      </p:sp>
      <p:sp>
        <p:nvSpPr>
          <p:cNvPr id="24" name="Text 21"/>
          <p:cNvSpPr txBox="1"/>
          <p:nvPr/>
        </p:nvSpPr>
        <p:spPr>
          <a:xfrm>
            <a:off x="566928" y="2267712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1</a:t>
            </a:r>
            <a:endParaRPr lang="en-US" sz="1100" dirty="0"/>
          </a:p>
        </p:txBody>
      </p:sp>
      <p:sp>
        <p:nvSpPr>
          <p:cNvPr id="25" name="Shape 22"/>
          <p:cNvSpPr/>
          <p:nvPr/>
        </p:nvSpPr>
        <p:spPr>
          <a:xfrm>
            <a:off x="11091672" y="2313432"/>
            <a:ext cx="548640" cy="182880"/>
          </a:xfrm>
          <a:prstGeom prst="roundRect">
            <a:avLst>
              <a:gd name="adj" fmla="val 50000"/>
            </a:avLst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26" name="Text 23"/>
          <p:cNvSpPr txBox="1"/>
          <p:nvPr/>
        </p:nvSpPr>
        <p:spPr>
          <a:xfrm>
            <a:off x="11091672" y="2313432"/>
            <a:ext cx="5486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CORE</a:t>
            </a:r>
            <a:endParaRPr lang="en-US" sz="650" dirty="0"/>
          </a:p>
        </p:txBody>
      </p:sp>
      <p:sp>
        <p:nvSpPr>
          <p:cNvPr id="27" name="Shape 24"/>
          <p:cNvSpPr/>
          <p:nvPr/>
        </p:nvSpPr>
        <p:spPr>
          <a:xfrm>
            <a:off x="457200" y="3004718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4F1EA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28" name="Text 25"/>
          <p:cNvSpPr txBox="1"/>
          <p:nvPr/>
        </p:nvSpPr>
        <p:spPr>
          <a:xfrm>
            <a:off x="8458200" y="3004718"/>
            <a:ext cx="3182112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طَعَامِي المُفَضَّلُ هُوَ …</a:t>
            </a:r>
            <a:endParaRPr lang="ar-SA" sz="1500" dirty="0"/>
          </a:p>
        </p:txBody>
      </p:sp>
      <p:sp>
        <p:nvSpPr>
          <p:cNvPr id="29" name="Text 26"/>
          <p:cNvSpPr txBox="1"/>
          <p:nvPr/>
        </p:nvSpPr>
        <p:spPr>
          <a:xfrm>
            <a:off x="5824728" y="3004718"/>
            <a:ext cx="24688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What is your favourite food?</a:t>
            </a:r>
            <a:endParaRPr lang="en-US" sz="1100" dirty="0"/>
          </a:p>
        </p:txBody>
      </p:sp>
      <p:sp>
        <p:nvSpPr>
          <p:cNvPr id="30" name="Text 27"/>
          <p:cNvSpPr txBox="1"/>
          <p:nvPr/>
        </p:nvSpPr>
        <p:spPr>
          <a:xfrm>
            <a:off x="1051560" y="3004718"/>
            <a:ext cx="457200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7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مَا طَعَامُكَ المُفَضَّلُ؟</a:t>
            </a:r>
            <a:endParaRPr lang="ar-SA" sz="1700" dirty="0"/>
          </a:p>
        </p:txBody>
      </p:sp>
      <p:sp>
        <p:nvSpPr>
          <p:cNvPr id="31" name="Text 28"/>
          <p:cNvSpPr txBox="1"/>
          <p:nvPr/>
        </p:nvSpPr>
        <p:spPr>
          <a:xfrm>
            <a:off x="566928" y="3004718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2</a:t>
            </a:r>
            <a:endParaRPr lang="en-US" sz="1100" dirty="0"/>
          </a:p>
        </p:txBody>
      </p:sp>
      <p:sp>
        <p:nvSpPr>
          <p:cNvPr id="32" name="Shape 29"/>
          <p:cNvSpPr/>
          <p:nvPr/>
        </p:nvSpPr>
        <p:spPr>
          <a:xfrm>
            <a:off x="11091672" y="3050438"/>
            <a:ext cx="548640" cy="182880"/>
          </a:xfrm>
          <a:prstGeom prst="roundRect">
            <a:avLst>
              <a:gd name="adj" fmla="val 50000"/>
            </a:avLst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33" name="Text 30"/>
          <p:cNvSpPr txBox="1"/>
          <p:nvPr/>
        </p:nvSpPr>
        <p:spPr>
          <a:xfrm>
            <a:off x="11091672" y="3050438"/>
            <a:ext cx="5486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CORE</a:t>
            </a:r>
            <a:endParaRPr lang="en-US" sz="650" dirty="0"/>
          </a:p>
        </p:txBody>
      </p:sp>
      <p:sp>
        <p:nvSpPr>
          <p:cNvPr id="34" name="Shape 31"/>
          <p:cNvSpPr/>
          <p:nvPr/>
        </p:nvSpPr>
        <p:spPr>
          <a:xfrm>
            <a:off x="457200" y="3741725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35" name="Text 32"/>
          <p:cNvSpPr txBox="1"/>
          <p:nvPr/>
        </p:nvSpPr>
        <p:spPr>
          <a:xfrm>
            <a:off x="8458200" y="3741725"/>
            <a:ext cx="3182112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أَشْرَبُ … عَادَةً</a:t>
            </a:r>
            <a:endParaRPr lang="ar-SA" sz="1500" dirty="0"/>
          </a:p>
        </p:txBody>
      </p:sp>
      <p:sp>
        <p:nvSpPr>
          <p:cNvPr id="36" name="Text 33"/>
          <p:cNvSpPr txBox="1"/>
          <p:nvPr/>
        </p:nvSpPr>
        <p:spPr>
          <a:xfrm>
            <a:off x="5824728" y="3741725"/>
            <a:ext cx="24688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What do you usually drink?</a:t>
            </a:r>
            <a:endParaRPr lang="en-US" sz="1100" dirty="0"/>
          </a:p>
        </p:txBody>
      </p:sp>
      <p:sp>
        <p:nvSpPr>
          <p:cNvPr id="37" name="Text 34"/>
          <p:cNvSpPr txBox="1"/>
          <p:nvPr/>
        </p:nvSpPr>
        <p:spPr>
          <a:xfrm>
            <a:off x="1051560" y="3741725"/>
            <a:ext cx="457200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7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مَاذَا تَشْرَبُ عَادَةً؟</a:t>
            </a:r>
            <a:endParaRPr lang="ar-SA" sz="1700" dirty="0"/>
          </a:p>
        </p:txBody>
      </p:sp>
      <p:sp>
        <p:nvSpPr>
          <p:cNvPr id="38" name="Text 35"/>
          <p:cNvSpPr txBox="1"/>
          <p:nvPr/>
        </p:nvSpPr>
        <p:spPr>
          <a:xfrm>
            <a:off x="566928" y="3741725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3</a:t>
            </a:r>
            <a:endParaRPr lang="en-US" sz="1100" dirty="0"/>
          </a:p>
        </p:txBody>
      </p:sp>
      <p:sp>
        <p:nvSpPr>
          <p:cNvPr id="39" name="Shape 36"/>
          <p:cNvSpPr/>
          <p:nvPr/>
        </p:nvSpPr>
        <p:spPr>
          <a:xfrm>
            <a:off x="11091672" y="3787445"/>
            <a:ext cx="548640" cy="182880"/>
          </a:xfrm>
          <a:prstGeom prst="roundRect">
            <a:avLst>
              <a:gd name="adj" fmla="val 50000"/>
            </a:avLst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40" name="Text 37"/>
          <p:cNvSpPr txBox="1"/>
          <p:nvPr/>
        </p:nvSpPr>
        <p:spPr>
          <a:xfrm>
            <a:off x="11091672" y="3787445"/>
            <a:ext cx="5486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CORE</a:t>
            </a:r>
            <a:endParaRPr lang="en-US" sz="650" dirty="0"/>
          </a:p>
        </p:txBody>
      </p:sp>
      <p:sp>
        <p:nvSpPr>
          <p:cNvPr id="41" name="Shape 38"/>
          <p:cNvSpPr/>
          <p:nvPr/>
        </p:nvSpPr>
        <p:spPr>
          <a:xfrm>
            <a:off x="457200" y="4478731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4F1EA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42" name="Text 39"/>
          <p:cNvSpPr txBox="1"/>
          <p:nvPr/>
        </p:nvSpPr>
        <p:spPr>
          <a:xfrm>
            <a:off x="8458200" y="4478731"/>
            <a:ext cx="3182112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نَعَمْ، أُحِبُّ … / لَا …</a:t>
            </a:r>
            <a:endParaRPr lang="ar-SA" sz="1500" dirty="0"/>
          </a:p>
        </p:txBody>
      </p:sp>
      <p:sp>
        <p:nvSpPr>
          <p:cNvPr id="43" name="Text 40"/>
          <p:cNvSpPr txBox="1"/>
          <p:nvPr/>
        </p:nvSpPr>
        <p:spPr>
          <a:xfrm>
            <a:off x="5824728" y="4478731"/>
            <a:ext cx="24688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Do you like vegetables?</a:t>
            </a:r>
            <a:endParaRPr lang="en-US" sz="1100" dirty="0"/>
          </a:p>
        </p:txBody>
      </p:sp>
      <p:sp>
        <p:nvSpPr>
          <p:cNvPr id="44" name="Text 41"/>
          <p:cNvSpPr txBox="1"/>
          <p:nvPr/>
        </p:nvSpPr>
        <p:spPr>
          <a:xfrm>
            <a:off x="1051560" y="4478731"/>
            <a:ext cx="457200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7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هَلْ تُحِبُّ الخُضَارَ؟</a:t>
            </a:r>
            <a:endParaRPr lang="ar-SA" sz="1700" dirty="0"/>
          </a:p>
        </p:txBody>
      </p:sp>
      <p:sp>
        <p:nvSpPr>
          <p:cNvPr id="45" name="Text 42"/>
          <p:cNvSpPr txBox="1"/>
          <p:nvPr/>
        </p:nvSpPr>
        <p:spPr>
          <a:xfrm>
            <a:off x="566928" y="4478731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4</a:t>
            </a:r>
            <a:endParaRPr lang="en-US" sz="1100" dirty="0"/>
          </a:p>
        </p:txBody>
      </p:sp>
      <p:sp>
        <p:nvSpPr>
          <p:cNvPr id="46" name="Shape 43"/>
          <p:cNvSpPr/>
          <p:nvPr/>
        </p:nvSpPr>
        <p:spPr>
          <a:xfrm>
            <a:off x="11091672" y="4524451"/>
            <a:ext cx="548640" cy="182880"/>
          </a:xfrm>
          <a:prstGeom prst="roundRect">
            <a:avLst>
              <a:gd name="adj" fmla="val 50000"/>
            </a:avLst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47" name="Text 44"/>
          <p:cNvSpPr txBox="1"/>
          <p:nvPr/>
        </p:nvSpPr>
        <p:spPr>
          <a:xfrm>
            <a:off x="11091672" y="4524451"/>
            <a:ext cx="5486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CORE</a:t>
            </a:r>
            <a:endParaRPr lang="en-US" sz="650" dirty="0"/>
          </a:p>
        </p:txBody>
      </p:sp>
      <p:sp>
        <p:nvSpPr>
          <p:cNvPr id="48" name="Shape 45"/>
          <p:cNvSpPr/>
          <p:nvPr/>
        </p:nvSpPr>
        <p:spPr>
          <a:xfrm>
            <a:off x="457200" y="5215738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49" name="Text 46"/>
          <p:cNvSpPr txBox="1"/>
          <p:nvPr/>
        </p:nvSpPr>
        <p:spPr>
          <a:xfrm>
            <a:off x="8458200" y="5215738"/>
            <a:ext cx="3182112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أَتَنَاوَلُ الغَدَاءَ فِي …</a:t>
            </a:r>
            <a:endParaRPr lang="ar-SA" sz="1500" dirty="0"/>
          </a:p>
        </p:txBody>
      </p:sp>
      <p:sp>
        <p:nvSpPr>
          <p:cNvPr id="50" name="Text 47"/>
          <p:cNvSpPr txBox="1"/>
          <p:nvPr/>
        </p:nvSpPr>
        <p:spPr>
          <a:xfrm>
            <a:off x="5824728" y="5215738"/>
            <a:ext cx="24688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Where do you have lunch?</a:t>
            </a:r>
            <a:endParaRPr lang="en-US" sz="1100" dirty="0"/>
          </a:p>
        </p:txBody>
      </p:sp>
      <p:sp>
        <p:nvSpPr>
          <p:cNvPr id="51" name="Text 48"/>
          <p:cNvSpPr txBox="1"/>
          <p:nvPr/>
        </p:nvSpPr>
        <p:spPr>
          <a:xfrm>
            <a:off x="1051560" y="5215738"/>
            <a:ext cx="457200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7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أَيْنَ تَتَنَاوَلُ الغَدَاءَ؟</a:t>
            </a:r>
            <a:endParaRPr lang="ar-SA" sz="1700" dirty="0"/>
          </a:p>
        </p:txBody>
      </p:sp>
      <p:sp>
        <p:nvSpPr>
          <p:cNvPr id="52" name="Text 49"/>
          <p:cNvSpPr txBox="1"/>
          <p:nvPr/>
        </p:nvSpPr>
        <p:spPr>
          <a:xfrm>
            <a:off x="566928" y="5215738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5</a:t>
            </a:r>
            <a:endParaRPr lang="en-US" sz="1100" dirty="0"/>
          </a:p>
        </p:txBody>
      </p:sp>
      <p:sp>
        <p:nvSpPr>
          <p:cNvPr id="53" name="Shape 50"/>
          <p:cNvSpPr/>
          <p:nvPr/>
        </p:nvSpPr>
        <p:spPr>
          <a:xfrm>
            <a:off x="11091672" y="5261458"/>
            <a:ext cx="548640" cy="182880"/>
          </a:xfrm>
          <a:prstGeom prst="roundRect">
            <a:avLst>
              <a:gd name="adj" fmla="val 50000"/>
            </a:avLst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54" name="Text 51"/>
          <p:cNvSpPr txBox="1"/>
          <p:nvPr/>
        </p:nvSpPr>
        <p:spPr>
          <a:xfrm>
            <a:off x="11091672" y="5261458"/>
            <a:ext cx="5486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CORE</a:t>
            </a:r>
            <a:endParaRPr lang="en-US" sz="650" dirty="0"/>
          </a:p>
        </p:txBody>
      </p:sp>
      <p:sp>
        <p:nvSpPr>
          <p:cNvPr id="55" name="Text 52"/>
          <p:cNvSpPr txBox="1"/>
          <p:nvPr/>
        </p:nvSpPr>
        <p:spPr>
          <a:xfrm>
            <a:off x="457200" y="5943600"/>
            <a:ext cx="1127455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Core: one full sentence for every question. If you are stuck: </a:t>
            </a:r>
            <a:pPr algn="l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عَفْوًا، هَلْ يُمْكِنُ أَنْ تُعِيدَ السُّؤَالَ؟</a:t>
            </a:r>
            <a:endParaRPr lang="en-US" sz="1150" dirty="0"/>
          </a:p>
        </p:txBody>
      </p:sp>
      <p:sp>
        <p:nvSpPr>
          <p:cNvPr id="56" name="Text 53"/>
          <p:cNvSpPr txBox="1"/>
          <p:nvPr/>
        </p:nvSpPr>
        <p:spPr>
          <a:xfrm>
            <a:off x="10360152" y="6455664"/>
            <a:ext cx="1371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17 / 25</a:t>
            </a:r>
            <a:endParaRPr lang="en-US" sz="85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FFD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237744"/>
            <a:ext cx="420624" cy="420624"/>
          </a:xfrm>
          <a:prstGeom prst="ellipse">
            <a:avLst/>
          </a:prstGeom>
          <a:solidFill>
            <a:srgbClr val="1B3B6F"/>
          </a:solidFill>
          <a:ln w="12700">
            <a:solidFill>
              <a:srgbClr val="D4AF37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457200" y="219456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D4AF37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م</a:t>
            </a:r>
            <a:endParaRPr lang="ar-SA" sz="18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3657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Al Madina Online School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57200"/>
            <a:ext cx="4572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ARABIC DEPARTMENT · MIFTAH ARABIC · IGCSE 0544</a:t>
            </a:r>
            <a:endParaRPr lang="en-US" sz="800" dirty="0"/>
          </a:p>
        </p:txBody>
      </p:sp>
      <p:sp>
        <p:nvSpPr>
          <p:cNvPr id="6" name="Shape 4"/>
          <p:cNvSpPr/>
          <p:nvPr/>
        </p:nvSpPr>
        <p:spPr>
          <a:xfrm>
            <a:off x="8897112" y="274320"/>
            <a:ext cx="2834640" cy="329184"/>
          </a:xfrm>
          <a:prstGeom prst="roundRect">
            <a:avLst>
              <a:gd name="adj" fmla="val 50000"/>
            </a:avLst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8897112" y="274320"/>
            <a:ext cx="28346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AT-A-L04 · Speaking workshop</a:t>
            </a:r>
            <a:endParaRPr lang="en-US" sz="950" dirty="0"/>
          </a:p>
        </p:txBody>
      </p:sp>
      <p:sp>
        <p:nvSpPr>
          <p:cNvPr id="8" name="Shape 6"/>
          <p:cNvSpPr/>
          <p:nvPr/>
        </p:nvSpPr>
        <p:spPr>
          <a:xfrm>
            <a:off x="7295083" y="274320"/>
            <a:ext cx="1464869" cy="329184"/>
          </a:xfrm>
          <a:prstGeom prst="roundRect">
            <a:avLst>
              <a:gd name="adj" fmla="val 50000"/>
            </a:avLst>
          </a:prstGeom>
          <a:solidFill>
            <a:srgbClr val="1E6B52"/>
          </a:solidFill>
          <a:ln w="12700">
            <a:solidFill>
              <a:srgbClr val="1E6B52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7295083" y="274320"/>
            <a:ext cx="1464869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YOU DO · 5 MIN</a:t>
            </a:r>
            <a:endParaRPr lang="en-US" sz="900" dirty="0"/>
          </a:p>
        </p:txBody>
      </p:sp>
      <p:sp>
        <p:nvSpPr>
          <p:cNvPr id="10" name="Text 8"/>
          <p:cNvSpPr txBox="1"/>
          <p:nvPr/>
        </p:nvSpPr>
        <p:spPr>
          <a:xfrm>
            <a:off x="457200" y="822960"/>
            <a:ext cx="69494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300" kern="0" dirty="0">
                <a:solidFill>
                  <a:srgbClr val="1E6B52"/>
                </a:solidFill>
                <a:latin typeface="Calibri" pitchFamily="34" charset="0"/>
                <a:cs typeface="Amiri" pitchFamily="2" charset="-78"/>
              </a:rPr>
              <a:t>TOPIC CONVERSATION · DEVELOP QUESTIONS</a:t>
            </a:r>
            <a:endParaRPr lang="en-US" sz="1000" dirty="0"/>
          </a:p>
        </p:txBody>
      </p:sp>
      <p:sp>
        <p:nvSpPr>
          <p:cNvPr id="11" name="Text 9"/>
          <p:cNvSpPr txBox="1"/>
          <p:nvPr/>
        </p:nvSpPr>
        <p:spPr>
          <a:xfrm>
            <a:off x="457200" y="1033272"/>
            <a:ext cx="69494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40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Topic conversation — Develop questions</a:t>
            </a:r>
            <a:endParaRPr lang="en-US" sz="2400" dirty="0"/>
          </a:p>
        </p:txBody>
      </p:sp>
      <p:sp>
        <p:nvSpPr>
          <p:cNvPr id="12" name="Text 10"/>
          <p:cNvSpPr txBox="1"/>
          <p:nvPr/>
        </p:nvSpPr>
        <p:spPr>
          <a:xfrm>
            <a:off x="7498080" y="868680"/>
            <a:ext cx="4233672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2800" b="1" dirty="0">
                <a:solidFill>
                  <a:srgbClr val="8A6D1E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وَجَبَاتِي</a:t>
            </a:r>
            <a:endParaRPr lang="ar-SA" sz="28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6455664"/>
            <a:ext cx="6400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Miftah Arabic · Topic A · Speaking workshop · AT-A-L04</a:t>
            </a:r>
            <a:endParaRPr lang="en-US" sz="850" dirty="0"/>
          </a:p>
        </p:txBody>
      </p:sp>
      <p:sp>
        <p:nvSpPr>
          <p:cNvPr id="15" name="Shape 12"/>
          <p:cNvSpPr/>
          <p:nvPr/>
        </p:nvSpPr>
        <p:spPr>
          <a:xfrm>
            <a:off x="457200" y="1810512"/>
            <a:ext cx="11274552" cy="384048"/>
          </a:xfrm>
          <a:prstGeom prst="rect">
            <a:avLst/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16" name="Text 13"/>
          <p:cNvSpPr txBox="1"/>
          <p:nvPr/>
        </p:nvSpPr>
        <p:spPr>
          <a:xfrm>
            <a:off x="8439912" y="1810512"/>
            <a:ext cx="321868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Start like this</a:t>
            </a:r>
            <a:endParaRPr lang="en-US" sz="1100" dirty="0"/>
          </a:p>
        </p:txBody>
      </p:sp>
      <p:sp>
        <p:nvSpPr>
          <p:cNvPr id="17" name="Text 14"/>
          <p:cNvSpPr txBox="1"/>
          <p:nvPr/>
        </p:nvSpPr>
        <p:spPr>
          <a:xfrm>
            <a:off x="5788152" y="1810512"/>
            <a:ext cx="250545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Meaning</a:t>
            </a:r>
            <a:endParaRPr lang="en-US" sz="1100" dirty="0"/>
          </a:p>
        </p:txBody>
      </p:sp>
      <p:sp>
        <p:nvSpPr>
          <p:cNvPr id="18" name="Text 15"/>
          <p:cNvSpPr txBox="1"/>
          <p:nvPr/>
        </p:nvSpPr>
        <p:spPr>
          <a:xfrm>
            <a:off x="1033272" y="1810512"/>
            <a:ext cx="460857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The examiner asks</a:t>
            </a:r>
            <a:endParaRPr lang="en-US" sz="1100" dirty="0"/>
          </a:p>
        </p:txBody>
      </p:sp>
      <p:sp>
        <p:nvSpPr>
          <p:cNvPr id="19" name="Text 16"/>
          <p:cNvSpPr txBox="1"/>
          <p:nvPr/>
        </p:nvSpPr>
        <p:spPr>
          <a:xfrm>
            <a:off x="530352" y="1810512"/>
            <a:ext cx="35661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#</a:t>
            </a:r>
            <a:endParaRPr lang="en-US" sz="1100" dirty="0"/>
          </a:p>
        </p:txBody>
      </p:sp>
      <p:sp>
        <p:nvSpPr>
          <p:cNvPr id="20" name="Shape 17"/>
          <p:cNvSpPr/>
          <p:nvPr/>
        </p:nvSpPr>
        <p:spPr>
          <a:xfrm>
            <a:off x="457200" y="2267712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21" name="Text 18"/>
          <p:cNvSpPr txBox="1"/>
          <p:nvPr/>
        </p:nvSpPr>
        <p:spPr>
          <a:xfrm>
            <a:off x="8458200" y="2267712"/>
            <a:ext cx="3182112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نَتَنَاوَلُ العَشَاءَ فِي … عَادَةً نَأْكُلُ …</a:t>
            </a:r>
            <a:endParaRPr lang="ar-SA" sz="1500" dirty="0"/>
          </a:p>
        </p:txBody>
      </p:sp>
      <p:sp>
        <p:nvSpPr>
          <p:cNvPr id="22" name="Text 19"/>
          <p:cNvSpPr txBox="1"/>
          <p:nvPr/>
        </p:nvSpPr>
        <p:spPr>
          <a:xfrm>
            <a:off x="5824728" y="2267712"/>
            <a:ext cx="24688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Describe dinner at your home.</a:t>
            </a:r>
            <a:endParaRPr lang="en-US" sz="1100" dirty="0"/>
          </a:p>
        </p:txBody>
      </p:sp>
      <p:sp>
        <p:nvSpPr>
          <p:cNvPr id="23" name="Text 20"/>
          <p:cNvSpPr txBox="1"/>
          <p:nvPr/>
        </p:nvSpPr>
        <p:spPr>
          <a:xfrm>
            <a:off x="1051560" y="2267712"/>
            <a:ext cx="457200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7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صِفْ وَجْبَةَ العَشَاءِ فِي بَيْتِكَ.</a:t>
            </a:r>
            <a:endParaRPr lang="ar-SA" sz="1700" dirty="0"/>
          </a:p>
        </p:txBody>
      </p:sp>
      <p:sp>
        <p:nvSpPr>
          <p:cNvPr id="24" name="Text 21"/>
          <p:cNvSpPr txBox="1"/>
          <p:nvPr/>
        </p:nvSpPr>
        <p:spPr>
          <a:xfrm>
            <a:off x="566928" y="2267712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1</a:t>
            </a:r>
            <a:endParaRPr lang="en-US" sz="1100" dirty="0"/>
          </a:p>
        </p:txBody>
      </p:sp>
      <p:sp>
        <p:nvSpPr>
          <p:cNvPr id="25" name="Shape 22"/>
          <p:cNvSpPr/>
          <p:nvPr/>
        </p:nvSpPr>
        <p:spPr>
          <a:xfrm>
            <a:off x="457200" y="3004718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4F1EA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26" name="Text 23"/>
          <p:cNvSpPr txBox="1"/>
          <p:nvPr/>
        </p:nvSpPr>
        <p:spPr>
          <a:xfrm>
            <a:off x="8458200" y="3004718"/>
            <a:ext cx="3182112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لَا أُحِبُّ … لِأَنَّ …</a:t>
            </a:r>
            <a:endParaRPr lang="ar-SA" sz="1500" dirty="0"/>
          </a:p>
        </p:txBody>
      </p:sp>
      <p:sp>
        <p:nvSpPr>
          <p:cNvPr id="27" name="Text 24"/>
          <p:cNvSpPr txBox="1"/>
          <p:nvPr/>
        </p:nvSpPr>
        <p:spPr>
          <a:xfrm>
            <a:off x="5824728" y="3004718"/>
            <a:ext cx="24688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What food don’t you like? Why?</a:t>
            </a:r>
            <a:endParaRPr lang="en-US" sz="1100" dirty="0"/>
          </a:p>
        </p:txBody>
      </p:sp>
      <p:sp>
        <p:nvSpPr>
          <p:cNvPr id="28" name="Text 25"/>
          <p:cNvSpPr txBox="1"/>
          <p:nvPr/>
        </p:nvSpPr>
        <p:spPr>
          <a:xfrm>
            <a:off x="1051560" y="3004718"/>
            <a:ext cx="457200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7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مَا الطَّعَامُ الَّذِي لَا تُحِبُّهُ؟ لِمَاذَا؟</a:t>
            </a:r>
            <a:endParaRPr lang="ar-SA" sz="1700" dirty="0"/>
          </a:p>
        </p:txBody>
      </p:sp>
      <p:sp>
        <p:nvSpPr>
          <p:cNvPr id="29" name="Text 26"/>
          <p:cNvSpPr txBox="1"/>
          <p:nvPr/>
        </p:nvSpPr>
        <p:spPr>
          <a:xfrm>
            <a:off x="566928" y="3004718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2</a:t>
            </a:r>
            <a:endParaRPr lang="en-US" sz="1100" dirty="0"/>
          </a:p>
        </p:txBody>
      </p:sp>
      <p:sp>
        <p:nvSpPr>
          <p:cNvPr id="30" name="Shape 27"/>
          <p:cNvSpPr/>
          <p:nvPr/>
        </p:nvSpPr>
        <p:spPr>
          <a:xfrm>
            <a:off x="457200" y="3741725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31" name="Text 28"/>
          <p:cNvSpPr txBox="1"/>
          <p:nvPr/>
        </p:nvSpPr>
        <p:spPr>
          <a:xfrm>
            <a:off x="8458200" y="3741725"/>
            <a:ext cx="3182112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تَطْبُخُ … غَالِبًا، وَأَحْيَانًا …</a:t>
            </a:r>
            <a:endParaRPr lang="ar-SA" sz="1500" dirty="0"/>
          </a:p>
        </p:txBody>
      </p:sp>
      <p:sp>
        <p:nvSpPr>
          <p:cNvPr id="32" name="Text 29"/>
          <p:cNvSpPr txBox="1"/>
          <p:nvPr/>
        </p:nvSpPr>
        <p:spPr>
          <a:xfrm>
            <a:off x="5824728" y="3741725"/>
            <a:ext cx="24688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Who cooks in your house?</a:t>
            </a:r>
            <a:endParaRPr lang="en-US" sz="1100" dirty="0"/>
          </a:p>
        </p:txBody>
      </p:sp>
      <p:sp>
        <p:nvSpPr>
          <p:cNvPr id="33" name="Text 30"/>
          <p:cNvSpPr txBox="1"/>
          <p:nvPr/>
        </p:nvSpPr>
        <p:spPr>
          <a:xfrm>
            <a:off x="1051560" y="3741725"/>
            <a:ext cx="457200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7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مَنْ يَطْبُخُ فِي بَيْتِكَ؟</a:t>
            </a:r>
            <a:endParaRPr lang="ar-SA" sz="1700" dirty="0"/>
          </a:p>
        </p:txBody>
      </p:sp>
      <p:sp>
        <p:nvSpPr>
          <p:cNvPr id="34" name="Text 31"/>
          <p:cNvSpPr txBox="1"/>
          <p:nvPr/>
        </p:nvSpPr>
        <p:spPr>
          <a:xfrm>
            <a:off x="566928" y="3741725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3</a:t>
            </a:r>
            <a:endParaRPr lang="en-US" sz="1100" dirty="0"/>
          </a:p>
        </p:txBody>
      </p:sp>
      <p:sp>
        <p:nvSpPr>
          <p:cNvPr id="35" name="Shape 32"/>
          <p:cNvSpPr/>
          <p:nvPr/>
        </p:nvSpPr>
        <p:spPr>
          <a:xfrm>
            <a:off x="457200" y="4478731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4F1EA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36" name="Text 33"/>
          <p:cNvSpPr txBox="1"/>
          <p:nvPr/>
        </p:nvSpPr>
        <p:spPr>
          <a:xfrm>
            <a:off x="8458200" y="4478731"/>
            <a:ext cx="3182112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أَمْسِ أَكَلْتُ …</a:t>
            </a:r>
            <a:endParaRPr lang="ar-SA" sz="1500" dirty="0"/>
          </a:p>
        </p:txBody>
      </p:sp>
      <p:sp>
        <p:nvSpPr>
          <p:cNvPr id="37" name="Text 34"/>
          <p:cNvSpPr txBox="1"/>
          <p:nvPr/>
        </p:nvSpPr>
        <p:spPr>
          <a:xfrm>
            <a:off x="5824728" y="4478731"/>
            <a:ext cx="24688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What did you eat yesterday?</a:t>
            </a:r>
            <a:endParaRPr lang="en-US" sz="1100" dirty="0"/>
          </a:p>
        </p:txBody>
      </p:sp>
      <p:sp>
        <p:nvSpPr>
          <p:cNvPr id="38" name="Text 35"/>
          <p:cNvSpPr txBox="1"/>
          <p:nvPr/>
        </p:nvSpPr>
        <p:spPr>
          <a:xfrm>
            <a:off x="1051560" y="4478731"/>
            <a:ext cx="457200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7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مَاذَا أَكَلْتَ أَمْسِ؟</a:t>
            </a:r>
            <a:endParaRPr lang="ar-SA" sz="1700" dirty="0"/>
          </a:p>
        </p:txBody>
      </p:sp>
      <p:sp>
        <p:nvSpPr>
          <p:cNvPr id="39" name="Text 36"/>
          <p:cNvSpPr txBox="1"/>
          <p:nvPr/>
        </p:nvSpPr>
        <p:spPr>
          <a:xfrm>
            <a:off x="566928" y="4478731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4</a:t>
            </a:r>
            <a:endParaRPr lang="en-US" sz="1100" dirty="0"/>
          </a:p>
        </p:txBody>
      </p:sp>
      <p:sp>
        <p:nvSpPr>
          <p:cNvPr id="40" name="Shape 37"/>
          <p:cNvSpPr/>
          <p:nvPr/>
        </p:nvSpPr>
        <p:spPr>
          <a:xfrm>
            <a:off x="457200" y="5215738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41" name="Text 38"/>
          <p:cNvSpPr txBox="1"/>
          <p:nvPr/>
        </p:nvSpPr>
        <p:spPr>
          <a:xfrm>
            <a:off x="8458200" y="5215738"/>
            <a:ext cx="3182112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أُرِيدُ أَنْ أَتَعَلَّمَ طَبْخَ … لِأَنَّ …</a:t>
            </a:r>
            <a:endParaRPr lang="ar-SA" sz="1500" dirty="0"/>
          </a:p>
        </p:txBody>
      </p:sp>
      <p:sp>
        <p:nvSpPr>
          <p:cNvPr id="42" name="Text 39"/>
          <p:cNvSpPr txBox="1"/>
          <p:nvPr/>
        </p:nvSpPr>
        <p:spPr>
          <a:xfrm>
            <a:off x="5824728" y="5215738"/>
            <a:ext cx="24688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Which dish would you like to learn to cook?</a:t>
            </a:r>
            <a:endParaRPr lang="en-US" sz="1100" dirty="0"/>
          </a:p>
        </p:txBody>
      </p:sp>
      <p:sp>
        <p:nvSpPr>
          <p:cNvPr id="43" name="Text 40"/>
          <p:cNvSpPr txBox="1"/>
          <p:nvPr/>
        </p:nvSpPr>
        <p:spPr>
          <a:xfrm>
            <a:off x="1051560" y="5215738"/>
            <a:ext cx="457200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7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مَا الأَكْلَةُ الَّتِي تُرِيدُ أَنْ تَتَعَلَّمَ طَبْخَهَا؟</a:t>
            </a:r>
            <a:endParaRPr lang="ar-SA" sz="1700" dirty="0"/>
          </a:p>
        </p:txBody>
      </p:sp>
      <p:sp>
        <p:nvSpPr>
          <p:cNvPr id="44" name="Text 41"/>
          <p:cNvSpPr txBox="1"/>
          <p:nvPr/>
        </p:nvSpPr>
        <p:spPr>
          <a:xfrm>
            <a:off x="566928" y="5215738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5</a:t>
            </a:r>
            <a:endParaRPr lang="en-US" sz="1100" dirty="0"/>
          </a:p>
        </p:txBody>
      </p:sp>
      <p:sp>
        <p:nvSpPr>
          <p:cNvPr id="45" name="Text 42"/>
          <p:cNvSpPr txBox="1"/>
          <p:nvPr/>
        </p:nvSpPr>
        <p:spPr>
          <a:xfrm>
            <a:off x="457200" y="5943600"/>
            <a:ext cx="1127455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Develop: two or three sentences — a frequency word, an idāfa (shūrbat ʿadas) and a reason (li-anna).</a:t>
            </a:r>
            <a:endParaRPr lang="en-US" sz="1150" dirty="0"/>
          </a:p>
        </p:txBody>
      </p:sp>
      <p:sp>
        <p:nvSpPr>
          <p:cNvPr id="46" name="Text 43"/>
          <p:cNvSpPr txBox="1"/>
          <p:nvPr/>
        </p:nvSpPr>
        <p:spPr>
          <a:xfrm>
            <a:off x="10360152" y="6455664"/>
            <a:ext cx="1371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18 / 25</a:t>
            </a:r>
            <a:endParaRPr lang="en-US" sz="85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FFD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237744"/>
            <a:ext cx="420624" cy="420624"/>
          </a:xfrm>
          <a:prstGeom prst="ellipse">
            <a:avLst/>
          </a:prstGeom>
          <a:solidFill>
            <a:srgbClr val="1B3B6F"/>
          </a:solidFill>
          <a:ln w="12700">
            <a:solidFill>
              <a:srgbClr val="D4AF37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457200" y="219456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D4AF37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م</a:t>
            </a:r>
            <a:endParaRPr lang="ar-SA" sz="18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3657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Al Madina Online School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57200"/>
            <a:ext cx="4572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ARABIC DEPARTMENT · MIFTAH ARABIC · IGCSE 0544</a:t>
            </a:r>
            <a:endParaRPr lang="en-US" sz="800" dirty="0"/>
          </a:p>
        </p:txBody>
      </p:sp>
      <p:sp>
        <p:nvSpPr>
          <p:cNvPr id="6" name="Shape 4"/>
          <p:cNvSpPr/>
          <p:nvPr/>
        </p:nvSpPr>
        <p:spPr>
          <a:xfrm>
            <a:off x="8897112" y="274320"/>
            <a:ext cx="2834640" cy="329184"/>
          </a:xfrm>
          <a:prstGeom prst="roundRect">
            <a:avLst>
              <a:gd name="adj" fmla="val 50000"/>
            </a:avLst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8897112" y="274320"/>
            <a:ext cx="28346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AT-A-L04 · Speaking workshop</a:t>
            </a:r>
            <a:endParaRPr lang="en-US" sz="950" dirty="0"/>
          </a:p>
        </p:txBody>
      </p:sp>
      <p:sp>
        <p:nvSpPr>
          <p:cNvPr id="8" name="Shape 6"/>
          <p:cNvSpPr/>
          <p:nvPr/>
        </p:nvSpPr>
        <p:spPr>
          <a:xfrm>
            <a:off x="7295083" y="274320"/>
            <a:ext cx="1464869" cy="329184"/>
          </a:xfrm>
          <a:prstGeom prst="roundRect">
            <a:avLst>
              <a:gd name="adj" fmla="val 50000"/>
            </a:avLst>
          </a:prstGeom>
          <a:solidFill>
            <a:srgbClr val="1E6B52"/>
          </a:solidFill>
          <a:ln w="12700">
            <a:solidFill>
              <a:srgbClr val="1E6B52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7295083" y="274320"/>
            <a:ext cx="1464869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YOU DO · 5 MIN</a:t>
            </a:r>
            <a:endParaRPr lang="en-US" sz="900" dirty="0"/>
          </a:p>
        </p:txBody>
      </p:sp>
      <p:sp>
        <p:nvSpPr>
          <p:cNvPr id="10" name="Text 8"/>
          <p:cNvSpPr txBox="1"/>
          <p:nvPr/>
        </p:nvSpPr>
        <p:spPr>
          <a:xfrm>
            <a:off x="457200" y="822960"/>
            <a:ext cx="69494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300" kern="0" dirty="0">
                <a:solidFill>
                  <a:srgbClr val="1E6B52"/>
                </a:solidFill>
                <a:latin typeface="Calibri" pitchFamily="34" charset="0"/>
                <a:cs typeface="Amiri" pitchFamily="2" charset="-78"/>
              </a:rPr>
              <a:t>TOPIC CONVERSATION · STRETCH QUESTIONS</a:t>
            </a:r>
            <a:endParaRPr lang="en-US" sz="1000" dirty="0"/>
          </a:p>
        </p:txBody>
      </p:sp>
      <p:sp>
        <p:nvSpPr>
          <p:cNvPr id="11" name="Text 9"/>
          <p:cNvSpPr txBox="1"/>
          <p:nvPr/>
        </p:nvSpPr>
        <p:spPr>
          <a:xfrm>
            <a:off x="457200" y="1033272"/>
            <a:ext cx="69494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40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Topic conversation — Stretch questions</a:t>
            </a:r>
            <a:endParaRPr lang="en-US" sz="2400" dirty="0"/>
          </a:p>
        </p:txBody>
      </p:sp>
      <p:sp>
        <p:nvSpPr>
          <p:cNvPr id="12" name="Text 10"/>
          <p:cNvSpPr txBox="1"/>
          <p:nvPr/>
        </p:nvSpPr>
        <p:spPr>
          <a:xfrm>
            <a:off x="7498080" y="868680"/>
            <a:ext cx="4233672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2800" b="1" dirty="0">
                <a:solidFill>
                  <a:srgbClr val="8A6D1E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عَادَاتُ الأَكْلِ</a:t>
            </a:r>
            <a:endParaRPr lang="ar-SA" sz="28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6455664"/>
            <a:ext cx="6400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Miftah Arabic · Topic A · Speaking workshop · AT-A-L04</a:t>
            </a:r>
            <a:endParaRPr lang="en-US" sz="850" dirty="0"/>
          </a:p>
        </p:txBody>
      </p:sp>
      <p:sp>
        <p:nvSpPr>
          <p:cNvPr id="15" name="Shape 12"/>
          <p:cNvSpPr/>
          <p:nvPr/>
        </p:nvSpPr>
        <p:spPr>
          <a:xfrm>
            <a:off x="457200" y="1810512"/>
            <a:ext cx="11274552" cy="384048"/>
          </a:xfrm>
          <a:prstGeom prst="rect">
            <a:avLst/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16" name="Text 13"/>
          <p:cNvSpPr txBox="1"/>
          <p:nvPr/>
        </p:nvSpPr>
        <p:spPr>
          <a:xfrm>
            <a:off x="8439912" y="1810512"/>
            <a:ext cx="321868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Start like this</a:t>
            </a:r>
            <a:endParaRPr lang="en-US" sz="1100" dirty="0"/>
          </a:p>
        </p:txBody>
      </p:sp>
      <p:sp>
        <p:nvSpPr>
          <p:cNvPr id="17" name="Text 14"/>
          <p:cNvSpPr txBox="1"/>
          <p:nvPr/>
        </p:nvSpPr>
        <p:spPr>
          <a:xfrm>
            <a:off x="5788152" y="1810512"/>
            <a:ext cx="250545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Meaning</a:t>
            </a:r>
            <a:endParaRPr lang="en-US" sz="1100" dirty="0"/>
          </a:p>
        </p:txBody>
      </p:sp>
      <p:sp>
        <p:nvSpPr>
          <p:cNvPr id="18" name="Text 15"/>
          <p:cNvSpPr txBox="1"/>
          <p:nvPr/>
        </p:nvSpPr>
        <p:spPr>
          <a:xfrm>
            <a:off x="1033272" y="1810512"/>
            <a:ext cx="460857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The examiner asks</a:t>
            </a:r>
            <a:endParaRPr lang="en-US" sz="1100" dirty="0"/>
          </a:p>
        </p:txBody>
      </p:sp>
      <p:sp>
        <p:nvSpPr>
          <p:cNvPr id="19" name="Text 16"/>
          <p:cNvSpPr txBox="1"/>
          <p:nvPr/>
        </p:nvSpPr>
        <p:spPr>
          <a:xfrm>
            <a:off x="530352" y="1810512"/>
            <a:ext cx="35661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#</a:t>
            </a:r>
            <a:endParaRPr lang="en-US" sz="1100" dirty="0"/>
          </a:p>
        </p:txBody>
      </p:sp>
      <p:sp>
        <p:nvSpPr>
          <p:cNvPr id="20" name="Shape 17"/>
          <p:cNvSpPr/>
          <p:nvPr/>
        </p:nvSpPr>
        <p:spPr>
          <a:xfrm>
            <a:off x="457200" y="2267712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21" name="Text 18"/>
          <p:cNvSpPr txBox="1"/>
          <p:nvPr/>
        </p:nvSpPr>
        <p:spPr>
          <a:xfrm>
            <a:off x="8458200" y="2267712"/>
            <a:ext cx="3182112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نَعَمْ … وَهٰذَا مُهِمٌّ لِأَنَّ …</a:t>
            </a:r>
            <a:endParaRPr lang="ar-SA" sz="1500" dirty="0"/>
          </a:p>
        </p:txBody>
      </p:sp>
      <p:sp>
        <p:nvSpPr>
          <p:cNvPr id="22" name="Text 19"/>
          <p:cNvSpPr txBox="1"/>
          <p:nvPr/>
        </p:nvSpPr>
        <p:spPr>
          <a:xfrm>
            <a:off x="5824728" y="2267712"/>
            <a:ext cx="24688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Does your family eat together? Why does it matter?</a:t>
            </a:r>
            <a:endParaRPr lang="en-US" sz="1100" dirty="0"/>
          </a:p>
        </p:txBody>
      </p:sp>
      <p:sp>
        <p:nvSpPr>
          <p:cNvPr id="23" name="Text 20"/>
          <p:cNvSpPr txBox="1"/>
          <p:nvPr/>
        </p:nvSpPr>
        <p:spPr>
          <a:xfrm>
            <a:off x="1051560" y="2267712"/>
            <a:ext cx="457200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7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هَلْ تَأْكُلُ أُسْرَتُكَ مَعًا؟ مَا أَهَمِّيَّةُ ذٰلِكَ؟</a:t>
            </a:r>
            <a:endParaRPr lang="ar-SA" sz="1700" dirty="0"/>
          </a:p>
        </p:txBody>
      </p:sp>
      <p:sp>
        <p:nvSpPr>
          <p:cNvPr id="24" name="Text 21"/>
          <p:cNvSpPr txBox="1"/>
          <p:nvPr/>
        </p:nvSpPr>
        <p:spPr>
          <a:xfrm>
            <a:off x="566928" y="2267712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1</a:t>
            </a:r>
            <a:endParaRPr lang="en-US" sz="1100" dirty="0"/>
          </a:p>
        </p:txBody>
      </p:sp>
      <p:sp>
        <p:nvSpPr>
          <p:cNvPr id="25" name="Shape 22"/>
          <p:cNvSpPr/>
          <p:nvPr/>
        </p:nvSpPr>
        <p:spPr>
          <a:xfrm>
            <a:off x="457200" y="3004718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4F1EA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26" name="Text 23"/>
          <p:cNvSpPr txBox="1"/>
          <p:nvPr/>
        </p:nvSpPr>
        <p:spPr>
          <a:xfrm>
            <a:off x="8458200" y="3004718"/>
            <a:ext cx="3182112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فِي المَاضِي كَانَ النَّاسُ … أَمَّا اليَوْمَ فَيَطْلُبُونَ …</a:t>
            </a:r>
            <a:endParaRPr lang="ar-SA" sz="1500" dirty="0"/>
          </a:p>
        </p:txBody>
      </p:sp>
      <p:sp>
        <p:nvSpPr>
          <p:cNvPr id="27" name="Text 24"/>
          <p:cNvSpPr txBox="1"/>
          <p:nvPr/>
        </p:nvSpPr>
        <p:spPr>
          <a:xfrm>
            <a:off x="5824728" y="3004718"/>
            <a:ext cx="24688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How have eating habits changed?</a:t>
            </a:r>
            <a:endParaRPr lang="en-US" sz="1100" dirty="0"/>
          </a:p>
        </p:txBody>
      </p:sp>
      <p:sp>
        <p:nvSpPr>
          <p:cNvPr id="28" name="Text 25"/>
          <p:cNvSpPr txBox="1"/>
          <p:nvPr/>
        </p:nvSpPr>
        <p:spPr>
          <a:xfrm>
            <a:off x="1051560" y="3004718"/>
            <a:ext cx="457200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7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كَيْفَ تَغَيَّرَتْ عَادَاتُ الأَكْلِ فِي رَأْيِكَ؟</a:t>
            </a:r>
            <a:endParaRPr lang="ar-SA" sz="1700" dirty="0"/>
          </a:p>
        </p:txBody>
      </p:sp>
      <p:sp>
        <p:nvSpPr>
          <p:cNvPr id="29" name="Text 26"/>
          <p:cNvSpPr txBox="1"/>
          <p:nvPr/>
        </p:nvSpPr>
        <p:spPr>
          <a:xfrm>
            <a:off x="566928" y="3004718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2</a:t>
            </a:r>
            <a:endParaRPr lang="en-US" sz="1100" dirty="0"/>
          </a:p>
        </p:txBody>
      </p:sp>
      <p:sp>
        <p:nvSpPr>
          <p:cNvPr id="30" name="Shape 27"/>
          <p:cNvSpPr/>
          <p:nvPr/>
        </p:nvSpPr>
        <p:spPr>
          <a:xfrm>
            <a:off x="457200" y="3741725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31" name="Text 28"/>
          <p:cNvSpPr txBox="1"/>
          <p:nvPr/>
        </p:nvSpPr>
        <p:spPr>
          <a:xfrm>
            <a:off x="8458200" y="3741725"/>
            <a:ext cx="3182112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… أَكْلَةٌ مَشْهُورَةٌ، تُطْبَخُ بِالخُضَارِ …</a:t>
            </a:r>
            <a:endParaRPr lang="ar-SA" sz="1500" dirty="0"/>
          </a:p>
        </p:txBody>
      </p:sp>
      <p:sp>
        <p:nvSpPr>
          <p:cNvPr id="32" name="Text 29"/>
          <p:cNvSpPr txBox="1"/>
          <p:nvPr/>
        </p:nvSpPr>
        <p:spPr>
          <a:xfrm>
            <a:off x="5824728" y="3741725"/>
            <a:ext cx="24688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Describe a traditional dish from your family’s country.</a:t>
            </a:r>
            <a:endParaRPr lang="en-US" sz="1100" dirty="0"/>
          </a:p>
        </p:txBody>
      </p:sp>
      <p:sp>
        <p:nvSpPr>
          <p:cNvPr id="33" name="Text 30"/>
          <p:cNvSpPr txBox="1"/>
          <p:nvPr/>
        </p:nvSpPr>
        <p:spPr>
          <a:xfrm>
            <a:off x="1051560" y="3741725"/>
            <a:ext cx="457200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7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صِفْ أَكْلَةً تَقْلِيدِيَّةً مِنْ بَلَدِ أُسْرَتِكَ.</a:t>
            </a:r>
            <a:endParaRPr lang="ar-SA" sz="1700" dirty="0"/>
          </a:p>
        </p:txBody>
      </p:sp>
      <p:sp>
        <p:nvSpPr>
          <p:cNvPr id="34" name="Text 31"/>
          <p:cNvSpPr txBox="1"/>
          <p:nvPr/>
        </p:nvSpPr>
        <p:spPr>
          <a:xfrm>
            <a:off x="566928" y="3741725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3</a:t>
            </a:r>
            <a:endParaRPr lang="en-US" sz="1100" dirty="0"/>
          </a:p>
        </p:txBody>
      </p:sp>
      <p:sp>
        <p:nvSpPr>
          <p:cNvPr id="35" name="Shape 32"/>
          <p:cNvSpPr/>
          <p:nvPr/>
        </p:nvSpPr>
        <p:spPr>
          <a:xfrm>
            <a:off x="457200" y="4478731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4F1EA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36" name="Text 33"/>
          <p:cNvSpPr txBox="1"/>
          <p:nvPr/>
        </p:nvSpPr>
        <p:spPr>
          <a:xfrm>
            <a:off x="8458200" y="4478731"/>
            <a:ext cx="3182112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أَجْمَلُ وَجْبَةٍ أَتَذَكَّرُهَا كَانَتْ …</a:t>
            </a:r>
            <a:endParaRPr lang="ar-SA" sz="1500" dirty="0"/>
          </a:p>
        </p:txBody>
      </p:sp>
      <p:sp>
        <p:nvSpPr>
          <p:cNvPr id="37" name="Text 34"/>
          <p:cNvSpPr txBox="1"/>
          <p:nvPr/>
        </p:nvSpPr>
        <p:spPr>
          <a:xfrm>
            <a:off x="5824728" y="4478731"/>
            <a:ext cx="24688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What is the best meal you remember?</a:t>
            </a:r>
            <a:endParaRPr lang="en-US" sz="1100" dirty="0"/>
          </a:p>
        </p:txBody>
      </p:sp>
      <p:sp>
        <p:nvSpPr>
          <p:cNvPr id="38" name="Text 35"/>
          <p:cNvSpPr txBox="1"/>
          <p:nvPr/>
        </p:nvSpPr>
        <p:spPr>
          <a:xfrm>
            <a:off x="1051560" y="4478731"/>
            <a:ext cx="457200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7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مَا أَجْمَلُ وَجْبَةٍ تَتَذَكَّرُهَا؟</a:t>
            </a:r>
            <a:endParaRPr lang="ar-SA" sz="1700" dirty="0"/>
          </a:p>
        </p:txBody>
      </p:sp>
      <p:sp>
        <p:nvSpPr>
          <p:cNvPr id="39" name="Text 36"/>
          <p:cNvSpPr txBox="1"/>
          <p:nvPr/>
        </p:nvSpPr>
        <p:spPr>
          <a:xfrm>
            <a:off x="566928" y="4478731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4</a:t>
            </a:r>
            <a:endParaRPr lang="en-US" sz="1100" dirty="0"/>
          </a:p>
        </p:txBody>
      </p:sp>
      <p:sp>
        <p:nvSpPr>
          <p:cNvPr id="40" name="Shape 37"/>
          <p:cNvSpPr/>
          <p:nvPr/>
        </p:nvSpPr>
        <p:spPr>
          <a:xfrm>
            <a:off x="457200" y="5215738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41" name="Text 38"/>
          <p:cNvSpPr txBox="1"/>
          <p:nvPr/>
        </p:nvSpPr>
        <p:spPr>
          <a:xfrm>
            <a:off x="8458200" y="5215738"/>
            <a:ext cx="3182112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لَوْ فَتَحْتُ مَطْعَمًا، لَقَدَّمْتُ …</a:t>
            </a:r>
            <a:endParaRPr lang="ar-SA" sz="1500" dirty="0"/>
          </a:p>
        </p:txBody>
      </p:sp>
      <p:sp>
        <p:nvSpPr>
          <p:cNvPr id="42" name="Text 39"/>
          <p:cNvSpPr txBox="1"/>
          <p:nvPr/>
        </p:nvSpPr>
        <p:spPr>
          <a:xfrm>
            <a:off x="5824728" y="5215738"/>
            <a:ext cx="24688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If you opened a restaurant, what would you serve?</a:t>
            </a:r>
            <a:endParaRPr lang="en-US" sz="1100" dirty="0"/>
          </a:p>
        </p:txBody>
      </p:sp>
      <p:sp>
        <p:nvSpPr>
          <p:cNvPr id="43" name="Text 40"/>
          <p:cNvSpPr txBox="1"/>
          <p:nvPr/>
        </p:nvSpPr>
        <p:spPr>
          <a:xfrm>
            <a:off x="1051560" y="5215738"/>
            <a:ext cx="457200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7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لَوْ فَتَحْتَ مَطْعَمًا، مَاذَا تُقَدِّمُ فِيهِ؟</a:t>
            </a:r>
            <a:endParaRPr lang="ar-SA" sz="1700" dirty="0"/>
          </a:p>
        </p:txBody>
      </p:sp>
      <p:sp>
        <p:nvSpPr>
          <p:cNvPr id="44" name="Text 41"/>
          <p:cNvSpPr txBox="1"/>
          <p:nvPr/>
        </p:nvSpPr>
        <p:spPr>
          <a:xfrm>
            <a:off x="566928" y="5215738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5</a:t>
            </a:r>
            <a:endParaRPr lang="en-US" sz="1100" dirty="0"/>
          </a:p>
        </p:txBody>
      </p:sp>
      <p:sp>
        <p:nvSpPr>
          <p:cNvPr id="45" name="Text 42"/>
          <p:cNvSpPr txBox="1"/>
          <p:nvPr/>
        </p:nvSpPr>
        <p:spPr>
          <a:xfrm>
            <a:off x="457200" y="5943600"/>
            <a:ext cx="1127455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Stretch: opinion + reason, past vs present (ammā … fa-), a passive (tuṭbakhu) and a conditional (law … la-).</a:t>
            </a:r>
            <a:endParaRPr lang="en-US" sz="1150" dirty="0"/>
          </a:p>
        </p:txBody>
      </p:sp>
      <p:sp>
        <p:nvSpPr>
          <p:cNvPr id="46" name="Text 43"/>
          <p:cNvSpPr txBox="1"/>
          <p:nvPr/>
        </p:nvSpPr>
        <p:spPr>
          <a:xfrm>
            <a:off x="10360152" y="6455664"/>
            <a:ext cx="1371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19 / 25</a:t>
            </a:r>
            <a:endParaRPr lang="en-US" sz="85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FFD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237744"/>
            <a:ext cx="420624" cy="420624"/>
          </a:xfrm>
          <a:prstGeom prst="ellipse">
            <a:avLst/>
          </a:prstGeom>
          <a:solidFill>
            <a:srgbClr val="1B3B6F"/>
          </a:solidFill>
          <a:ln w="12700">
            <a:solidFill>
              <a:srgbClr val="D4AF37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457200" y="219456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D4AF37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م</a:t>
            </a:r>
            <a:endParaRPr lang="ar-SA" sz="18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3657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Al Madina Online School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57200"/>
            <a:ext cx="4572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ARABIC DEPARTMENT · MIFTAH ARABIC · IGCSE 0544</a:t>
            </a:r>
            <a:endParaRPr lang="en-US" sz="800" dirty="0"/>
          </a:p>
        </p:txBody>
      </p:sp>
      <p:sp>
        <p:nvSpPr>
          <p:cNvPr id="6" name="Shape 4"/>
          <p:cNvSpPr/>
          <p:nvPr/>
        </p:nvSpPr>
        <p:spPr>
          <a:xfrm>
            <a:off x="8897112" y="274320"/>
            <a:ext cx="2834640" cy="329184"/>
          </a:xfrm>
          <a:prstGeom prst="roundRect">
            <a:avLst>
              <a:gd name="adj" fmla="val 50000"/>
            </a:avLst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8897112" y="274320"/>
            <a:ext cx="28346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AT-A-L04 · Speaking workshop</a:t>
            </a:r>
            <a:endParaRPr lang="en-US" sz="950" dirty="0"/>
          </a:p>
        </p:txBody>
      </p:sp>
      <p:sp>
        <p:nvSpPr>
          <p:cNvPr id="8" name="Shape 6"/>
          <p:cNvSpPr/>
          <p:nvPr/>
        </p:nvSpPr>
        <p:spPr>
          <a:xfrm>
            <a:off x="7143293" y="274320"/>
            <a:ext cx="1616659" cy="329184"/>
          </a:xfrm>
          <a:prstGeom prst="roundRect">
            <a:avLst>
              <a:gd name="adj" fmla="val 50000"/>
            </a:avLst>
          </a:prstGeom>
          <a:solidFill>
            <a:srgbClr val="8A6D1E"/>
          </a:solidFill>
          <a:ln w="12700">
            <a:solidFill>
              <a:srgbClr val="8A6D1E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7143293" y="274320"/>
            <a:ext cx="1616659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FEEDBACK · 2 MIN</a:t>
            </a:r>
            <a:endParaRPr lang="en-US" sz="900" dirty="0"/>
          </a:p>
        </p:txBody>
      </p:sp>
      <p:sp>
        <p:nvSpPr>
          <p:cNvPr id="10" name="Text 8"/>
          <p:cNvSpPr txBox="1"/>
          <p:nvPr/>
        </p:nvSpPr>
        <p:spPr>
          <a:xfrm>
            <a:off x="457200" y="822960"/>
            <a:ext cx="69494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300" kern="0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MODEL ANSWERS · TOPIC CONVERSATION · CORE</a:t>
            </a:r>
            <a:endParaRPr lang="en-US" sz="1000" dirty="0"/>
          </a:p>
        </p:txBody>
      </p:sp>
      <p:sp>
        <p:nvSpPr>
          <p:cNvPr id="11" name="Text 9"/>
          <p:cNvSpPr txBox="1"/>
          <p:nvPr/>
        </p:nvSpPr>
        <p:spPr>
          <a:xfrm>
            <a:off x="457200" y="1033272"/>
            <a:ext cx="69494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40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Core: what a strong answer sounds like</a:t>
            </a:r>
            <a:endParaRPr lang="en-US" sz="2400" dirty="0"/>
          </a:p>
        </p:txBody>
      </p:sp>
      <p:sp>
        <p:nvSpPr>
          <p:cNvPr id="12" name="Text 10"/>
          <p:cNvSpPr txBox="1"/>
          <p:nvPr/>
        </p:nvSpPr>
        <p:spPr>
          <a:xfrm>
            <a:off x="7498080" y="868680"/>
            <a:ext cx="4233672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2800" b="1" dirty="0">
                <a:solidFill>
                  <a:srgbClr val="8A6D1E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نَمُوذَجُ الإِجَابَةِ</a:t>
            </a:r>
            <a:endParaRPr lang="ar-SA" sz="28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6455664"/>
            <a:ext cx="6400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Miftah Arabic · Topic A · Speaking workshop · AT-A-L04</a:t>
            </a:r>
            <a:endParaRPr lang="en-US" sz="850" dirty="0"/>
          </a:p>
        </p:txBody>
      </p:sp>
      <p:sp>
        <p:nvSpPr>
          <p:cNvPr id="15" name="Shape 12"/>
          <p:cNvSpPr/>
          <p:nvPr/>
        </p:nvSpPr>
        <p:spPr>
          <a:xfrm>
            <a:off x="457200" y="1810512"/>
            <a:ext cx="11274552" cy="384048"/>
          </a:xfrm>
          <a:prstGeom prst="rect">
            <a:avLst/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16" name="Text 13"/>
          <p:cNvSpPr txBox="1"/>
          <p:nvPr/>
        </p:nvSpPr>
        <p:spPr>
          <a:xfrm>
            <a:off x="4325112" y="1810512"/>
            <a:ext cx="733348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Model answer (with English)</a:t>
            </a:r>
            <a:endParaRPr lang="en-US" sz="1100" dirty="0"/>
          </a:p>
        </p:txBody>
      </p:sp>
      <p:sp>
        <p:nvSpPr>
          <p:cNvPr id="17" name="Text 14"/>
          <p:cNvSpPr txBox="1"/>
          <p:nvPr/>
        </p:nvSpPr>
        <p:spPr>
          <a:xfrm>
            <a:off x="1033272" y="1810512"/>
            <a:ext cx="314553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Question</a:t>
            </a:r>
            <a:endParaRPr lang="en-US" sz="1100" dirty="0"/>
          </a:p>
        </p:txBody>
      </p:sp>
      <p:sp>
        <p:nvSpPr>
          <p:cNvPr id="18" name="Text 15"/>
          <p:cNvSpPr txBox="1"/>
          <p:nvPr/>
        </p:nvSpPr>
        <p:spPr>
          <a:xfrm>
            <a:off x="530352" y="1810512"/>
            <a:ext cx="35661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#</a:t>
            </a:r>
            <a:endParaRPr lang="en-US" sz="1100" dirty="0"/>
          </a:p>
        </p:txBody>
      </p:sp>
      <p:sp>
        <p:nvSpPr>
          <p:cNvPr id="19" name="Shape 16"/>
          <p:cNvSpPr/>
          <p:nvPr/>
        </p:nvSpPr>
        <p:spPr>
          <a:xfrm>
            <a:off x="457200" y="2267712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20" name="Text 17"/>
          <p:cNvSpPr txBox="1"/>
          <p:nvPr/>
        </p:nvSpPr>
        <p:spPr>
          <a:xfrm>
            <a:off x="4343400" y="2286000"/>
            <a:ext cx="7296912" cy="422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7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آكُلُ الخُبْزَ وَالبَيْضَ فِي الفُطُورِ.</a:t>
            </a:r>
            <a:endParaRPr lang="ar-SA" sz="1700" dirty="0"/>
          </a:p>
        </p:txBody>
      </p:sp>
      <p:sp>
        <p:nvSpPr>
          <p:cNvPr id="21" name="Text 18"/>
          <p:cNvSpPr txBox="1"/>
          <p:nvPr/>
        </p:nvSpPr>
        <p:spPr>
          <a:xfrm>
            <a:off x="4297680" y="2676997"/>
            <a:ext cx="7388352" cy="25921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I eat bread and eggs for breakfast.</a:t>
            </a:r>
            <a:endParaRPr lang="en-US" sz="950" dirty="0"/>
          </a:p>
        </p:txBody>
      </p:sp>
      <p:sp>
        <p:nvSpPr>
          <p:cNvPr id="22" name="Text 19"/>
          <p:cNvSpPr txBox="1"/>
          <p:nvPr/>
        </p:nvSpPr>
        <p:spPr>
          <a:xfrm>
            <a:off x="1051560" y="2267712"/>
            <a:ext cx="310896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مَاذَا تَأْكُلُ فِي الفُطُورِ؟</a:t>
            </a:r>
            <a:endParaRPr lang="ar-SA" sz="1500" dirty="0"/>
          </a:p>
        </p:txBody>
      </p:sp>
      <p:sp>
        <p:nvSpPr>
          <p:cNvPr id="23" name="Text 20"/>
          <p:cNvSpPr txBox="1"/>
          <p:nvPr/>
        </p:nvSpPr>
        <p:spPr>
          <a:xfrm>
            <a:off x="566928" y="2267712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1</a:t>
            </a:r>
            <a:endParaRPr lang="en-US" sz="1100" dirty="0"/>
          </a:p>
        </p:txBody>
      </p:sp>
      <p:sp>
        <p:nvSpPr>
          <p:cNvPr id="24" name="Shape 21"/>
          <p:cNvSpPr/>
          <p:nvPr/>
        </p:nvSpPr>
        <p:spPr>
          <a:xfrm>
            <a:off x="457200" y="3004718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4F1EA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25" name="Text 22"/>
          <p:cNvSpPr txBox="1"/>
          <p:nvPr/>
        </p:nvSpPr>
        <p:spPr>
          <a:xfrm>
            <a:off x="4343400" y="3023006"/>
            <a:ext cx="7296912" cy="422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7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طَعَامِي المُفَضَّلُ هُوَ البِيتْزَا.</a:t>
            </a:r>
            <a:endParaRPr lang="ar-SA" sz="1700" dirty="0"/>
          </a:p>
        </p:txBody>
      </p:sp>
      <p:sp>
        <p:nvSpPr>
          <p:cNvPr id="26" name="Text 23"/>
          <p:cNvSpPr txBox="1"/>
          <p:nvPr/>
        </p:nvSpPr>
        <p:spPr>
          <a:xfrm>
            <a:off x="4297680" y="3414004"/>
            <a:ext cx="7388352" cy="25921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My favourite food is pizza.</a:t>
            </a:r>
            <a:endParaRPr lang="en-US" sz="950" dirty="0"/>
          </a:p>
        </p:txBody>
      </p:sp>
      <p:sp>
        <p:nvSpPr>
          <p:cNvPr id="27" name="Text 24"/>
          <p:cNvSpPr txBox="1"/>
          <p:nvPr/>
        </p:nvSpPr>
        <p:spPr>
          <a:xfrm>
            <a:off x="1051560" y="3004718"/>
            <a:ext cx="310896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مَا طَعَامُكَ المُفَضَّلُ؟</a:t>
            </a:r>
            <a:endParaRPr lang="ar-SA" sz="1500" dirty="0"/>
          </a:p>
        </p:txBody>
      </p:sp>
      <p:sp>
        <p:nvSpPr>
          <p:cNvPr id="28" name="Text 25"/>
          <p:cNvSpPr txBox="1"/>
          <p:nvPr/>
        </p:nvSpPr>
        <p:spPr>
          <a:xfrm>
            <a:off x="566928" y="3004718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2</a:t>
            </a:r>
            <a:endParaRPr lang="en-US" sz="1100" dirty="0"/>
          </a:p>
        </p:txBody>
      </p:sp>
      <p:sp>
        <p:nvSpPr>
          <p:cNvPr id="29" name="Shape 26"/>
          <p:cNvSpPr/>
          <p:nvPr/>
        </p:nvSpPr>
        <p:spPr>
          <a:xfrm>
            <a:off x="457200" y="3741725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30" name="Text 27"/>
          <p:cNvSpPr txBox="1"/>
          <p:nvPr/>
        </p:nvSpPr>
        <p:spPr>
          <a:xfrm>
            <a:off x="4343400" y="3760013"/>
            <a:ext cx="7296912" cy="422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7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أَشْرَبُ المَاءَ وَالحَلِيبَ عَادَةً.</a:t>
            </a:r>
            <a:endParaRPr lang="ar-SA" sz="1700" dirty="0"/>
          </a:p>
        </p:txBody>
      </p:sp>
      <p:sp>
        <p:nvSpPr>
          <p:cNvPr id="31" name="Text 28"/>
          <p:cNvSpPr txBox="1"/>
          <p:nvPr/>
        </p:nvSpPr>
        <p:spPr>
          <a:xfrm>
            <a:off x="4297680" y="4151010"/>
            <a:ext cx="7388352" cy="25921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I usually drink water and milk.</a:t>
            </a:r>
            <a:endParaRPr lang="en-US" sz="950" dirty="0"/>
          </a:p>
        </p:txBody>
      </p:sp>
      <p:sp>
        <p:nvSpPr>
          <p:cNvPr id="32" name="Text 29"/>
          <p:cNvSpPr txBox="1"/>
          <p:nvPr/>
        </p:nvSpPr>
        <p:spPr>
          <a:xfrm>
            <a:off x="1051560" y="3741725"/>
            <a:ext cx="310896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مَاذَا تَشْرَبُ عَادَةً؟</a:t>
            </a:r>
            <a:endParaRPr lang="ar-SA" sz="1500" dirty="0"/>
          </a:p>
        </p:txBody>
      </p:sp>
      <p:sp>
        <p:nvSpPr>
          <p:cNvPr id="33" name="Text 30"/>
          <p:cNvSpPr txBox="1"/>
          <p:nvPr/>
        </p:nvSpPr>
        <p:spPr>
          <a:xfrm>
            <a:off x="566928" y="3741725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3</a:t>
            </a:r>
            <a:endParaRPr lang="en-US" sz="1100" dirty="0"/>
          </a:p>
        </p:txBody>
      </p:sp>
      <p:sp>
        <p:nvSpPr>
          <p:cNvPr id="34" name="Shape 31"/>
          <p:cNvSpPr/>
          <p:nvPr/>
        </p:nvSpPr>
        <p:spPr>
          <a:xfrm>
            <a:off x="457200" y="4478731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4F1EA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35" name="Text 32"/>
          <p:cNvSpPr txBox="1"/>
          <p:nvPr/>
        </p:nvSpPr>
        <p:spPr>
          <a:xfrm>
            <a:off x="4343400" y="4497019"/>
            <a:ext cx="7296912" cy="422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7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نَعَمْ، أُحِبُّ الجَزَرَ وَالخِيَارَ.</a:t>
            </a:r>
            <a:endParaRPr lang="ar-SA" sz="1700" dirty="0"/>
          </a:p>
        </p:txBody>
      </p:sp>
      <p:sp>
        <p:nvSpPr>
          <p:cNvPr id="36" name="Text 33"/>
          <p:cNvSpPr txBox="1"/>
          <p:nvPr/>
        </p:nvSpPr>
        <p:spPr>
          <a:xfrm>
            <a:off x="4297680" y="4888017"/>
            <a:ext cx="7388352" cy="25921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Yes, I like carrots and cucumber.</a:t>
            </a:r>
            <a:endParaRPr lang="en-US" sz="950" dirty="0"/>
          </a:p>
        </p:txBody>
      </p:sp>
      <p:sp>
        <p:nvSpPr>
          <p:cNvPr id="37" name="Text 34"/>
          <p:cNvSpPr txBox="1"/>
          <p:nvPr/>
        </p:nvSpPr>
        <p:spPr>
          <a:xfrm>
            <a:off x="1051560" y="4478731"/>
            <a:ext cx="310896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هَلْ تُحِبُّ الخُضَارَ؟</a:t>
            </a:r>
            <a:endParaRPr lang="ar-SA" sz="1500" dirty="0"/>
          </a:p>
        </p:txBody>
      </p:sp>
      <p:sp>
        <p:nvSpPr>
          <p:cNvPr id="38" name="Text 35"/>
          <p:cNvSpPr txBox="1"/>
          <p:nvPr/>
        </p:nvSpPr>
        <p:spPr>
          <a:xfrm>
            <a:off x="566928" y="4478731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4</a:t>
            </a:r>
            <a:endParaRPr lang="en-US" sz="1100" dirty="0"/>
          </a:p>
        </p:txBody>
      </p:sp>
      <p:sp>
        <p:nvSpPr>
          <p:cNvPr id="39" name="Shape 36"/>
          <p:cNvSpPr/>
          <p:nvPr/>
        </p:nvSpPr>
        <p:spPr>
          <a:xfrm>
            <a:off x="457200" y="5215738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40" name="Text 37"/>
          <p:cNvSpPr txBox="1"/>
          <p:nvPr/>
        </p:nvSpPr>
        <p:spPr>
          <a:xfrm>
            <a:off x="4343400" y="5234026"/>
            <a:ext cx="7296912" cy="422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7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أَتَنَاوَلُ الغَدَاءَ فِي مَقْصَفِ المَدْرَسَةِ.</a:t>
            </a:r>
            <a:endParaRPr lang="ar-SA" sz="1700" dirty="0"/>
          </a:p>
        </p:txBody>
      </p:sp>
      <p:sp>
        <p:nvSpPr>
          <p:cNvPr id="41" name="Text 38"/>
          <p:cNvSpPr txBox="1"/>
          <p:nvPr/>
        </p:nvSpPr>
        <p:spPr>
          <a:xfrm>
            <a:off x="4297680" y="5625023"/>
            <a:ext cx="7388352" cy="25921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I have lunch in the school canteen.</a:t>
            </a:r>
            <a:endParaRPr lang="en-US" sz="950" dirty="0"/>
          </a:p>
        </p:txBody>
      </p:sp>
      <p:sp>
        <p:nvSpPr>
          <p:cNvPr id="42" name="Text 39"/>
          <p:cNvSpPr txBox="1"/>
          <p:nvPr/>
        </p:nvSpPr>
        <p:spPr>
          <a:xfrm>
            <a:off x="1051560" y="5215738"/>
            <a:ext cx="310896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أَيْنَ تَتَنَاوَلُ الغَدَاءَ؟</a:t>
            </a:r>
            <a:endParaRPr lang="ar-SA" sz="1500" dirty="0"/>
          </a:p>
        </p:txBody>
      </p:sp>
      <p:sp>
        <p:nvSpPr>
          <p:cNvPr id="43" name="Text 40"/>
          <p:cNvSpPr txBox="1"/>
          <p:nvPr/>
        </p:nvSpPr>
        <p:spPr>
          <a:xfrm>
            <a:off x="566928" y="5215738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5</a:t>
            </a:r>
            <a:endParaRPr lang="en-US" sz="1100" dirty="0"/>
          </a:p>
        </p:txBody>
      </p:sp>
      <p:sp>
        <p:nvSpPr>
          <p:cNvPr id="44" name="Text 41"/>
          <p:cNvSpPr txBox="1"/>
          <p:nvPr/>
        </p:nvSpPr>
        <p:spPr>
          <a:xfrm>
            <a:off x="457200" y="5943600"/>
            <a:ext cx="1127455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Full sentence + the food word = a secure Core answer.</a:t>
            </a:r>
            <a:endParaRPr lang="en-US" sz="1150" dirty="0"/>
          </a:p>
        </p:txBody>
      </p:sp>
      <p:sp>
        <p:nvSpPr>
          <p:cNvPr id="45" name="Text 42"/>
          <p:cNvSpPr txBox="1"/>
          <p:nvPr/>
        </p:nvSpPr>
        <p:spPr>
          <a:xfrm>
            <a:off x="10360152" y="6455664"/>
            <a:ext cx="1371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20 / 25</a:t>
            </a:r>
            <a:endParaRPr lang="en-US" sz="85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FFFD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237744"/>
            <a:ext cx="420624" cy="420624"/>
          </a:xfrm>
          <a:prstGeom prst="ellipse">
            <a:avLst/>
          </a:prstGeom>
          <a:solidFill>
            <a:srgbClr val="1B3B6F"/>
          </a:solidFill>
          <a:ln w="12700">
            <a:solidFill>
              <a:srgbClr val="D4AF37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457200" y="219456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D4AF37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م</a:t>
            </a:r>
            <a:endParaRPr lang="ar-SA" sz="18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3657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Al Madina Online School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57200"/>
            <a:ext cx="4572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ARABIC DEPARTMENT · MIFTAH ARABIC · IGCSE 0544</a:t>
            </a:r>
            <a:endParaRPr lang="en-US" sz="800" dirty="0"/>
          </a:p>
        </p:txBody>
      </p:sp>
      <p:sp>
        <p:nvSpPr>
          <p:cNvPr id="6" name="Shape 4"/>
          <p:cNvSpPr/>
          <p:nvPr/>
        </p:nvSpPr>
        <p:spPr>
          <a:xfrm>
            <a:off x="8897112" y="274320"/>
            <a:ext cx="2834640" cy="329184"/>
          </a:xfrm>
          <a:prstGeom prst="roundRect">
            <a:avLst>
              <a:gd name="adj" fmla="val 50000"/>
            </a:avLst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8897112" y="274320"/>
            <a:ext cx="28346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AT-A-L04 · Speaking workshop</a:t>
            </a:r>
            <a:endParaRPr lang="en-US" sz="950" dirty="0"/>
          </a:p>
        </p:txBody>
      </p:sp>
      <p:sp>
        <p:nvSpPr>
          <p:cNvPr id="8" name="Shape 6"/>
          <p:cNvSpPr/>
          <p:nvPr/>
        </p:nvSpPr>
        <p:spPr>
          <a:xfrm>
            <a:off x="7143293" y="274320"/>
            <a:ext cx="1616659" cy="329184"/>
          </a:xfrm>
          <a:prstGeom prst="roundRect">
            <a:avLst>
              <a:gd name="adj" fmla="val 50000"/>
            </a:avLst>
          </a:prstGeom>
          <a:solidFill>
            <a:srgbClr val="8A6D1E"/>
          </a:solidFill>
          <a:ln w="12700">
            <a:solidFill>
              <a:srgbClr val="8A6D1E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7143293" y="274320"/>
            <a:ext cx="1616659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FEEDBACK · 2 MIN</a:t>
            </a:r>
            <a:endParaRPr lang="en-US" sz="900" dirty="0"/>
          </a:p>
        </p:txBody>
      </p:sp>
      <p:sp>
        <p:nvSpPr>
          <p:cNvPr id="10" name="Text 8"/>
          <p:cNvSpPr txBox="1"/>
          <p:nvPr/>
        </p:nvSpPr>
        <p:spPr>
          <a:xfrm>
            <a:off x="457200" y="822960"/>
            <a:ext cx="69494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300" kern="0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MODEL ANSWERS · TOPIC CONVERSATION · DEVELOP</a:t>
            </a:r>
            <a:endParaRPr lang="en-US" sz="1000" dirty="0"/>
          </a:p>
        </p:txBody>
      </p:sp>
      <p:sp>
        <p:nvSpPr>
          <p:cNvPr id="11" name="Text 9"/>
          <p:cNvSpPr txBox="1"/>
          <p:nvPr/>
        </p:nvSpPr>
        <p:spPr>
          <a:xfrm>
            <a:off x="457200" y="1033272"/>
            <a:ext cx="69494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5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Develop: what a strong answer sounds like</a:t>
            </a:r>
            <a:endParaRPr lang="en-US" sz="2250" dirty="0"/>
          </a:p>
        </p:txBody>
      </p:sp>
      <p:sp>
        <p:nvSpPr>
          <p:cNvPr id="12" name="Text 10"/>
          <p:cNvSpPr txBox="1"/>
          <p:nvPr/>
        </p:nvSpPr>
        <p:spPr>
          <a:xfrm>
            <a:off x="7498080" y="868680"/>
            <a:ext cx="4233672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2800" b="1" dirty="0">
                <a:solidFill>
                  <a:srgbClr val="8A6D1E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نَمُوذَجُ الإِجَابَةِ</a:t>
            </a:r>
            <a:endParaRPr lang="ar-SA" sz="28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6455664"/>
            <a:ext cx="6400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Miftah Arabic · Topic A · Speaking workshop · AT-A-L04</a:t>
            </a:r>
            <a:endParaRPr lang="en-US" sz="850" dirty="0"/>
          </a:p>
        </p:txBody>
      </p:sp>
      <p:sp>
        <p:nvSpPr>
          <p:cNvPr id="15" name="Shape 12"/>
          <p:cNvSpPr/>
          <p:nvPr/>
        </p:nvSpPr>
        <p:spPr>
          <a:xfrm>
            <a:off x="457200" y="1810512"/>
            <a:ext cx="11274552" cy="384048"/>
          </a:xfrm>
          <a:prstGeom prst="rect">
            <a:avLst/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16" name="Text 13"/>
          <p:cNvSpPr txBox="1"/>
          <p:nvPr/>
        </p:nvSpPr>
        <p:spPr>
          <a:xfrm>
            <a:off x="4325112" y="1810512"/>
            <a:ext cx="733348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Model answer (with English)</a:t>
            </a:r>
            <a:endParaRPr lang="en-US" sz="1100" dirty="0"/>
          </a:p>
        </p:txBody>
      </p:sp>
      <p:sp>
        <p:nvSpPr>
          <p:cNvPr id="17" name="Text 14"/>
          <p:cNvSpPr txBox="1"/>
          <p:nvPr/>
        </p:nvSpPr>
        <p:spPr>
          <a:xfrm>
            <a:off x="1033272" y="1810512"/>
            <a:ext cx="314553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Question</a:t>
            </a:r>
            <a:endParaRPr lang="en-US" sz="1100" dirty="0"/>
          </a:p>
        </p:txBody>
      </p:sp>
      <p:sp>
        <p:nvSpPr>
          <p:cNvPr id="18" name="Text 15"/>
          <p:cNvSpPr txBox="1"/>
          <p:nvPr/>
        </p:nvSpPr>
        <p:spPr>
          <a:xfrm>
            <a:off x="530352" y="1810512"/>
            <a:ext cx="35661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#</a:t>
            </a:r>
            <a:endParaRPr lang="en-US" sz="1100" dirty="0"/>
          </a:p>
        </p:txBody>
      </p:sp>
      <p:sp>
        <p:nvSpPr>
          <p:cNvPr id="19" name="Shape 16"/>
          <p:cNvSpPr/>
          <p:nvPr/>
        </p:nvSpPr>
        <p:spPr>
          <a:xfrm>
            <a:off x="457200" y="2267712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20" name="Text 17"/>
          <p:cNvSpPr txBox="1"/>
          <p:nvPr/>
        </p:nvSpPr>
        <p:spPr>
          <a:xfrm>
            <a:off x="4343400" y="2286000"/>
            <a:ext cx="7296912" cy="422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7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نَتَنَاوَلُ العَشَاءَ فِي السَّابِعَةِ؛ عَادَةً نَأْكُلُ الأُرْزَ وَالدَّجَاجَ وَالسَّلَطَةَ، ثُمَّ نَأْكُلُ الفَاكِهَةَ.</a:t>
            </a:r>
            <a:endParaRPr lang="ar-SA" sz="1700" dirty="0"/>
          </a:p>
        </p:txBody>
      </p:sp>
      <p:sp>
        <p:nvSpPr>
          <p:cNvPr id="21" name="Text 18"/>
          <p:cNvSpPr txBox="1"/>
          <p:nvPr/>
        </p:nvSpPr>
        <p:spPr>
          <a:xfrm>
            <a:off x="4297680" y="2676997"/>
            <a:ext cx="7388352" cy="25921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We have dinner at seven: we usually eat rice, chicken and salad, then fruit.</a:t>
            </a:r>
            <a:endParaRPr lang="en-US" sz="950" dirty="0"/>
          </a:p>
        </p:txBody>
      </p:sp>
      <p:sp>
        <p:nvSpPr>
          <p:cNvPr id="22" name="Text 19"/>
          <p:cNvSpPr txBox="1"/>
          <p:nvPr/>
        </p:nvSpPr>
        <p:spPr>
          <a:xfrm>
            <a:off x="1051560" y="2267712"/>
            <a:ext cx="310896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صِفْ وَجْبَةَ العَشَاءِ فِي بَيْتِكَ.</a:t>
            </a:r>
            <a:endParaRPr lang="ar-SA" sz="1500" dirty="0"/>
          </a:p>
        </p:txBody>
      </p:sp>
      <p:sp>
        <p:nvSpPr>
          <p:cNvPr id="23" name="Text 20"/>
          <p:cNvSpPr txBox="1"/>
          <p:nvPr/>
        </p:nvSpPr>
        <p:spPr>
          <a:xfrm>
            <a:off x="566928" y="2267712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1</a:t>
            </a:r>
            <a:endParaRPr lang="en-US" sz="1100" dirty="0"/>
          </a:p>
        </p:txBody>
      </p:sp>
      <p:sp>
        <p:nvSpPr>
          <p:cNvPr id="24" name="Shape 21"/>
          <p:cNvSpPr/>
          <p:nvPr/>
        </p:nvSpPr>
        <p:spPr>
          <a:xfrm>
            <a:off x="457200" y="3004718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4F1EA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25" name="Text 22"/>
          <p:cNvSpPr txBox="1"/>
          <p:nvPr/>
        </p:nvSpPr>
        <p:spPr>
          <a:xfrm>
            <a:off x="4343400" y="3023006"/>
            <a:ext cx="7296912" cy="422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7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لَا أُحِبُّ السَّمَكَ، لِأَنَّ رَائِحَتَهُ قَوِيَّةٌ.</a:t>
            </a:r>
            <a:endParaRPr lang="ar-SA" sz="1700" dirty="0"/>
          </a:p>
        </p:txBody>
      </p:sp>
      <p:sp>
        <p:nvSpPr>
          <p:cNvPr id="26" name="Text 23"/>
          <p:cNvSpPr txBox="1"/>
          <p:nvPr/>
        </p:nvSpPr>
        <p:spPr>
          <a:xfrm>
            <a:off x="4297680" y="3414004"/>
            <a:ext cx="7388352" cy="25921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I don’t like fish, because its smell is strong.</a:t>
            </a:r>
            <a:endParaRPr lang="en-US" sz="950" dirty="0"/>
          </a:p>
        </p:txBody>
      </p:sp>
      <p:sp>
        <p:nvSpPr>
          <p:cNvPr id="27" name="Text 24"/>
          <p:cNvSpPr txBox="1"/>
          <p:nvPr/>
        </p:nvSpPr>
        <p:spPr>
          <a:xfrm>
            <a:off x="1051560" y="3004718"/>
            <a:ext cx="310896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مَا الطَّعَامُ الَّذِي لَا تُحِبُّهُ؟ لِمَاذَا؟</a:t>
            </a:r>
            <a:endParaRPr lang="ar-SA" sz="1500" dirty="0"/>
          </a:p>
        </p:txBody>
      </p:sp>
      <p:sp>
        <p:nvSpPr>
          <p:cNvPr id="28" name="Text 25"/>
          <p:cNvSpPr txBox="1"/>
          <p:nvPr/>
        </p:nvSpPr>
        <p:spPr>
          <a:xfrm>
            <a:off x="566928" y="3004718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2</a:t>
            </a:r>
            <a:endParaRPr lang="en-US" sz="1100" dirty="0"/>
          </a:p>
        </p:txBody>
      </p:sp>
      <p:sp>
        <p:nvSpPr>
          <p:cNvPr id="29" name="Shape 26"/>
          <p:cNvSpPr/>
          <p:nvPr/>
        </p:nvSpPr>
        <p:spPr>
          <a:xfrm>
            <a:off x="457200" y="3741725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30" name="Text 27"/>
          <p:cNvSpPr txBox="1"/>
          <p:nvPr/>
        </p:nvSpPr>
        <p:spPr>
          <a:xfrm>
            <a:off x="4343400" y="3760013"/>
            <a:ext cx="7296912" cy="422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7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تَطْبُخُ أُمِّي غَالِبًا، وَأَحْيَانًا يَطْبُخُ أَبِي فِي نِهَايَةِ الأُسْبُوعِ.</a:t>
            </a:r>
            <a:endParaRPr lang="ar-SA" sz="1700" dirty="0"/>
          </a:p>
        </p:txBody>
      </p:sp>
      <p:sp>
        <p:nvSpPr>
          <p:cNvPr id="31" name="Text 28"/>
          <p:cNvSpPr txBox="1"/>
          <p:nvPr/>
        </p:nvSpPr>
        <p:spPr>
          <a:xfrm>
            <a:off x="4297680" y="4151010"/>
            <a:ext cx="7388352" cy="25921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My mother usually cooks, and sometimes my father cooks at the weekend.</a:t>
            </a:r>
            <a:endParaRPr lang="en-US" sz="950" dirty="0"/>
          </a:p>
        </p:txBody>
      </p:sp>
      <p:sp>
        <p:nvSpPr>
          <p:cNvPr id="32" name="Text 29"/>
          <p:cNvSpPr txBox="1"/>
          <p:nvPr/>
        </p:nvSpPr>
        <p:spPr>
          <a:xfrm>
            <a:off x="1051560" y="3741725"/>
            <a:ext cx="310896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مَنْ يَطْبُخُ فِي بَيْتِكَ؟</a:t>
            </a:r>
            <a:endParaRPr lang="ar-SA" sz="1500" dirty="0"/>
          </a:p>
        </p:txBody>
      </p:sp>
      <p:sp>
        <p:nvSpPr>
          <p:cNvPr id="33" name="Text 30"/>
          <p:cNvSpPr txBox="1"/>
          <p:nvPr/>
        </p:nvSpPr>
        <p:spPr>
          <a:xfrm>
            <a:off x="566928" y="3741725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3</a:t>
            </a:r>
            <a:endParaRPr lang="en-US" sz="1100" dirty="0"/>
          </a:p>
        </p:txBody>
      </p:sp>
      <p:sp>
        <p:nvSpPr>
          <p:cNvPr id="34" name="Shape 31"/>
          <p:cNvSpPr/>
          <p:nvPr/>
        </p:nvSpPr>
        <p:spPr>
          <a:xfrm>
            <a:off x="457200" y="4478731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4F1EA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35" name="Text 32"/>
          <p:cNvSpPr txBox="1"/>
          <p:nvPr/>
        </p:nvSpPr>
        <p:spPr>
          <a:xfrm>
            <a:off x="4343400" y="4497019"/>
            <a:ext cx="7296912" cy="422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7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أَمْسِ أَكَلْتُ مَعْكَرُونَةً بِالطَّمَاطِمِ فِي الغَدَاءِ، وَشُورْبَةَ عَدَسٍ فِي العَشَاءِ.</a:t>
            </a:r>
            <a:endParaRPr lang="ar-SA" sz="1700" dirty="0"/>
          </a:p>
        </p:txBody>
      </p:sp>
      <p:sp>
        <p:nvSpPr>
          <p:cNvPr id="36" name="Text 33"/>
          <p:cNvSpPr txBox="1"/>
          <p:nvPr/>
        </p:nvSpPr>
        <p:spPr>
          <a:xfrm>
            <a:off x="4297680" y="4888017"/>
            <a:ext cx="7388352" cy="25921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Yesterday I ate pasta with tomatoes for lunch and lentil soup for dinner.</a:t>
            </a:r>
            <a:endParaRPr lang="en-US" sz="950" dirty="0"/>
          </a:p>
        </p:txBody>
      </p:sp>
      <p:sp>
        <p:nvSpPr>
          <p:cNvPr id="37" name="Text 34"/>
          <p:cNvSpPr txBox="1"/>
          <p:nvPr/>
        </p:nvSpPr>
        <p:spPr>
          <a:xfrm>
            <a:off x="1051560" y="4478731"/>
            <a:ext cx="310896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مَاذَا أَكَلْتَ أَمْسِ؟</a:t>
            </a:r>
            <a:endParaRPr lang="ar-SA" sz="1500" dirty="0"/>
          </a:p>
        </p:txBody>
      </p:sp>
      <p:sp>
        <p:nvSpPr>
          <p:cNvPr id="38" name="Text 35"/>
          <p:cNvSpPr txBox="1"/>
          <p:nvPr/>
        </p:nvSpPr>
        <p:spPr>
          <a:xfrm>
            <a:off x="566928" y="4478731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4</a:t>
            </a:r>
            <a:endParaRPr lang="en-US" sz="1100" dirty="0"/>
          </a:p>
        </p:txBody>
      </p:sp>
      <p:sp>
        <p:nvSpPr>
          <p:cNvPr id="39" name="Shape 36"/>
          <p:cNvSpPr/>
          <p:nvPr/>
        </p:nvSpPr>
        <p:spPr>
          <a:xfrm>
            <a:off x="457200" y="5215738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40" name="Text 37"/>
          <p:cNvSpPr txBox="1"/>
          <p:nvPr/>
        </p:nvSpPr>
        <p:spPr>
          <a:xfrm>
            <a:off x="4343400" y="5234026"/>
            <a:ext cx="7296912" cy="422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7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أُرِيدُ أَنْ أَتَعَلَّمَ طَبْخَ البِرْيَانِي، لِأَنَّهُ طَبَقُ أُسْرَتِي المُفَضَّلُ.</a:t>
            </a:r>
            <a:endParaRPr lang="ar-SA" sz="1700" dirty="0"/>
          </a:p>
        </p:txBody>
      </p:sp>
      <p:sp>
        <p:nvSpPr>
          <p:cNvPr id="41" name="Text 38"/>
          <p:cNvSpPr txBox="1"/>
          <p:nvPr/>
        </p:nvSpPr>
        <p:spPr>
          <a:xfrm>
            <a:off x="4297680" y="5625023"/>
            <a:ext cx="7388352" cy="25921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I want to learn to cook biryani, because it is my family’s favourite dish.</a:t>
            </a:r>
            <a:endParaRPr lang="en-US" sz="950" dirty="0"/>
          </a:p>
        </p:txBody>
      </p:sp>
      <p:sp>
        <p:nvSpPr>
          <p:cNvPr id="42" name="Text 39"/>
          <p:cNvSpPr txBox="1"/>
          <p:nvPr/>
        </p:nvSpPr>
        <p:spPr>
          <a:xfrm>
            <a:off x="1051560" y="5215738"/>
            <a:ext cx="310896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مَا الأَكْلَةُ الَّتِي تُرِيدُ أَنْ تَتَعَلَّمَ طَبْخَهَا؟</a:t>
            </a:r>
            <a:endParaRPr lang="ar-SA" sz="1500" dirty="0"/>
          </a:p>
        </p:txBody>
      </p:sp>
      <p:sp>
        <p:nvSpPr>
          <p:cNvPr id="43" name="Text 40"/>
          <p:cNvSpPr txBox="1"/>
          <p:nvPr/>
        </p:nvSpPr>
        <p:spPr>
          <a:xfrm>
            <a:off x="566928" y="5215738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5</a:t>
            </a:r>
            <a:endParaRPr lang="en-US" sz="1100" dirty="0"/>
          </a:p>
        </p:txBody>
      </p:sp>
      <p:sp>
        <p:nvSpPr>
          <p:cNvPr id="44" name="Text 41"/>
          <p:cNvSpPr txBox="1"/>
          <p:nvPr/>
        </p:nvSpPr>
        <p:spPr>
          <a:xfrm>
            <a:off x="457200" y="5943600"/>
            <a:ext cx="1127455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Detail + reason + one past sentence = a strong Develop answer.</a:t>
            </a:r>
            <a:endParaRPr lang="en-US" sz="1150" dirty="0"/>
          </a:p>
        </p:txBody>
      </p:sp>
      <p:sp>
        <p:nvSpPr>
          <p:cNvPr id="45" name="Text 42"/>
          <p:cNvSpPr txBox="1"/>
          <p:nvPr/>
        </p:nvSpPr>
        <p:spPr>
          <a:xfrm>
            <a:off x="10360152" y="6455664"/>
            <a:ext cx="1371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21 / 25</a:t>
            </a:r>
            <a:endParaRPr lang="en-US" sz="85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FFFD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237744"/>
            <a:ext cx="420624" cy="420624"/>
          </a:xfrm>
          <a:prstGeom prst="ellipse">
            <a:avLst/>
          </a:prstGeom>
          <a:solidFill>
            <a:srgbClr val="1B3B6F"/>
          </a:solidFill>
          <a:ln w="12700">
            <a:solidFill>
              <a:srgbClr val="D4AF37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457200" y="219456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D4AF37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م</a:t>
            </a:r>
            <a:endParaRPr lang="ar-SA" sz="18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3657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Al Madina Online School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57200"/>
            <a:ext cx="4572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ARABIC DEPARTMENT · MIFTAH ARABIC · IGCSE 0544</a:t>
            </a:r>
            <a:endParaRPr lang="en-US" sz="800" dirty="0"/>
          </a:p>
        </p:txBody>
      </p:sp>
      <p:sp>
        <p:nvSpPr>
          <p:cNvPr id="6" name="Shape 4"/>
          <p:cNvSpPr/>
          <p:nvPr/>
        </p:nvSpPr>
        <p:spPr>
          <a:xfrm>
            <a:off x="8897112" y="274320"/>
            <a:ext cx="2834640" cy="329184"/>
          </a:xfrm>
          <a:prstGeom prst="roundRect">
            <a:avLst>
              <a:gd name="adj" fmla="val 50000"/>
            </a:avLst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8897112" y="274320"/>
            <a:ext cx="28346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AT-A-L04 · Speaking workshop</a:t>
            </a:r>
            <a:endParaRPr lang="en-US" sz="950" dirty="0"/>
          </a:p>
        </p:txBody>
      </p:sp>
      <p:sp>
        <p:nvSpPr>
          <p:cNvPr id="8" name="Shape 6"/>
          <p:cNvSpPr/>
          <p:nvPr/>
        </p:nvSpPr>
        <p:spPr>
          <a:xfrm>
            <a:off x="7143293" y="274320"/>
            <a:ext cx="1616659" cy="329184"/>
          </a:xfrm>
          <a:prstGeom prst="roundRect">
            <a:avLst>
              <a:gd name="adj" fmla="val 50000"/>
            </a:avLst>
          </a:prstGeom>
          <a:solidFill>
            <a:srgbClr val="8A6D1E"/>
          </a:solidFill>
          <a:ln w="12700">
            <a:solidFill>
              <a:srgbClr val="8A6D1E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7143293" y="274320"/>
            <a:ext cx="1616659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FEEDBACK · 2 MIN</a:t>
            </a:r>
            <a:endParaRPr lang="en-US" sz="900" dirty="0"/>
          </a:p>
        </p:txBody>
      </p:sp>
      <p:sp>
        <p:nvSpPr>
          <p:cNvPr id="10" name="Text 8"/>
          <p:cNvSpPr txBox="1"/>
          <p:nvPr/>
        </p:nvSpPr>
        <p:spPr>
          <a:xfrm>
            <a:off x="457200" y="822960"/>
            <a:ext cx="69494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300" kern="0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MODEL ANSWERS · TOPIC CONVERSATION · STRETCH · PART 1</a:t>
            </a:r>
            <a:endParaRPr lang="en-US" sz="1000" dirty="0"/>
          </a:p>
        </p:txBody>
      </p:sp>
      <p:sp>
        <p:nvSpPr>
          <p:cNvPr id="11" name="Text 9"/>
          <p:cNvSpPr txBox="1"/>
          <p:nvPr/>
        </p:nvSpPr>
        <p:spPr>
          <a:xfrm>
            <a:off x="457200" y="1033272"/>
            <a:ext cx="69494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0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Stretch: what a strong answer sounds like</a:t>
            </a:r>
            <a:endParaRPr lang="en-US" sz="2200" dirty="0"/>
          </a:p>
        </p:txBody>
      </p:sp>
      <p:sp>
        <p:nvSpPr>
          <p:cNvPr id="12" name="Text 10"/>
          <p:cNvSpPr txBox="1"/>
          <p:nvPr/>
        </p:nvSpPr>
        <p:spPr>
          <a:xfrm>
            <a:off x="7498080" y="868680"/>
            <a:ext cx="4233672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2800" b="1" dirty="0">
                <a:solidFill>
                  <a:srgbClr val="8A6D1E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نَمُوذَجُ الإِجَابَةِ</a:t>
            </a:r>
            <a:endParaRPr lang="ar-SA" sz="28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6455664"/>
            <a:ext cx="6400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Miftah Arabic · Topic A · Speaking workshop · AT-A-L04</a:t>
            </a:r>
            <a:endParaRPr lang="en-US" sz="850" dirty="0"/>
          </a:p>
        </p:txBody>
      </p:sp>
      <p:sp>
        <p:nvSpPr>
          <p:cNvPr id="15" name="Shape 12"/>
          <p:cNvSpPr/>
          <p:nvPr/>
        </p:nvSpPr>
        <p:spPr>
          <a:xfrm>
            <a:off x="457200" y="1810512"/>
            <a:ext cx="11274552" cy="384048"/>
          </a:xfrm>
          <a:prstGeom prst="rect">
            <a:avLst/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16" name="Text 13"/>
          <p:cNvSpPr txBox="1"/>
          <p:nvPr/>
        </p:nvSpPr>
        <p:spPr>
          <a:xfrm>
            <a:off x="4325112" y="1810512"/>
            <a:ext cx="733348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Model answer (with English)</a:t>
            </a:r>
            <a:endParaRPr lang="en-US" sz="1100" dirty="0"/>
          </a:p>
        </p:txBody>
      </p:sp>
      <p:sp>
        <p:nvSpPr>
          <p:cNvPr id="17" name="Text 14"/>
          <p:cNvSpPr txBox="1"/>
          <p:nvPr/>
        </p:nvSpPr>
        <p:spPr>
          <a:xfrm>
            <a:off x="1033272" y="1810512"/>
            <a:ext cx="314553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Question</a:t>
            </a:r>
            <a:endParaRPr lang="en-US" sz="1100" dirty="0"/>
          </a:p>
        </p:txBody>
      </p:sp>
      <p:sp>
        <p:nvSpPr>
          <p:cNvPr id="18" name="Text 15"/>
          <p:cNvSpPr txBox="1"/>
          <p:nvPr/>
        </p:nvSpPr>
        <p:spPr>
          <a:xfrm>
            <a:off x="530352" y="1810512"/>
            <a:ext cx="35661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#</a:t>
            </a:r>
            <a:endParaRPr lang="en-US" sz="1100" dirty="0"/>
          </a:p>
        </p:txBody>
      </p:sp>
      <p:sp>
        <p:nvSpPr>
          <p:cNvPr id="19" name="Shape 16"/>
          <p:cNvSpPr/>
          <p:nvPr/>
        </p:nvSpPr>
        <p:spPr>
          <a:xfrm>
            <a:off x="457200" y="2267712"/>
            <a:ext cx="11274552" cy="731520"/>
          </a:xfrm>
          <a:prstGeom prst="roundRect">
            <a:avLst>
              <a:gd name="adj" fmla="val 6250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20" name="Text 17"/>
          <p:cNvSpPr txBox="1"/>
          <p:nvPr/>
        </p:nvSpPr>
        <p:spPr>
          <a:xfrm>
            <a:off x="4343400" y="2286000"/>
            <a:ext cx="7296912" cy="4535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7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نَعَمْ، نَأْكُلُ مَعًا كُلَّ مَسَاءٍ، وَهٰذَا مُهِمٌّ لِأَنَّنَا نَتَحَدَّثُ عَنْ يَوْمِنَا وَنَشْعُرُ بِالقُرْبِ.</a:t>
            </a:r>
            <a:endParaRPr lang="ar-SA" sz="1700" dirty="0"/>
          </a:p>
        </p:txBody>
      </p:sp>
      <p:sp>
        <p:nvSpPr>
          <p:cNvPr id="21" name="Text 18"/>
          <p:cNvSpPr txBox="1"/>
          <p:nvPr/>
        </p:nvSpPr>
        <p:spPr>
          <a:xfrm>
            <a:off x="4297680" y="2706624"/>
            <a:ext cx="7388352" cy="27797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Yes, we eat together every evening; it matters because we talk about our day and feel close.</a:t>
            </a:r>
            <a:endParaRPr lang="en-US" sz="950" dirty="0"/>
          </a:p>
        </p:txBody>
      </p:sp>
      <p:sp>
        <p:nvSpPr>
          <p:cNvPr id="22" name="Text 19"/>
          <p:cNvSpPr txBox="1"/>
          <p:nvPr/>
        </p:nvSpPr>
        <p:spPr>
          <a:xfrm>
            <a:off x="1051560" y="2267712"/>
            <a:ext cx="31089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هَلْ تَأْكُلُ أُسْرَتُكَ مَعًا؟ مَا أَهَمِّيَّةُ ذٰلِكَ؟</a:t>
            </a:r>
            <a:endParaRPr lang="ar-SA" sz="1500" dirty="0"/>
          </a:p>
        </p:txBody>
      </p:sp>
      <p:sp>
        <p:nvSpPr>
          <p:cNvPr id="23" name="Text 20"/>
          <p:cNvSpPr txBox="1"/>
          <p:nvPr/>
        </p:nvSpPr>
        <p:spPr>
          <a:xfrm>
            <a:off x="566928" y="2267712"/>
            <a:ext cx="3200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1</a:t>
            </a:r>
            <a:endParaRPr lang="en-US" sz="1100" dirty="0"/>
          </a:p>
        </p:txBody>
      </p:sp>
      <p:sp>
        <p:nvSpPr>
          <p:cNvPr id="24" name="Shape 21"/>
          <p:cNvSpPr/>
          <p:nvPr/>
        </p:nvSpPr>
        <p:spPr>
          <a:xfrm>
            <a:off x="457200" y="3054096"/>
            <a:ext cx="11274552" cy="731520"/>
          </a:xfrm>
          <a:prstGeom prst="roundRect">
            <a:avLst>
              <a:gd name="adj" fmla="val 6250"/>
            </a:avLst>
          </a:prstGeom>
          <a:solidFill>
            <a:srgbClr val="F4F1EA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25" name="Text 22"/>
          <p:cNvSpPr txBox="1"/>
          <p:nvPr/>
        </p:nvSpPr>
        <p:spPr>
          <a:xfrm>
            <a:off x="4343400" y="3072384"/>
            <a:ext cx="7296912" cy="4535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7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فِي المَاضِي كَانَ النَّاسُ يَطْبُخُونَ فِي البَيْتِ دَائِمًا، أَمَّا اليَوْمَ فَيَطْلُبُونَ الوَجَبَاتِ السَّرِيعَةَ كَثِيرًا.</a:t>
            </a:r>
            <a:endParaRPr lang="ar-SA" sz="1700" dirty="0"/>
          </a:p>
        </p:txBody>
      </p:sp>
      <p:sp>
        <p:nvSpPr>
          <p:cNvPr id="26" name="Text 23"/>
          <p:cNvSpPr txBox="1"/>
          <p:nvPr/>
        </p:nvSpPr>
        <p:spPr>
          <a:xfrm>
            <a:off x="4297680" y="3493008"/>
            <a:ext cx="7388352" cy="27797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In the past people always cooked at home; today they order fast food a lot.</a:t>
            </a:r>
            <a:endParaRPr lang="en-US" sz="950" dirty="0"/>
          </a:p>
        </p:txBody>
      </p:sp>
      <p:sp>
        <p:nvSpPr>
          <p:cNvPr id="27" name="Text 24"/>
          <p:cNvSpPr txBox="1"/>
          <p:nvPr/>
        </p:nvSpPr>
        <p:spPr>
          <a:xfrm>
            <a:off x="1051560" y="3054096"/>
            <a:ext cx="31089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كَيْفَ تَغَيَّرَتْ عَادَاتُ الأَكْلِ فِي رَأْيِكَ؟</a:t>
            </a:r>
            <a:endParaRPr lang="ar-SA" sz="1500" dirty="0"/>
          </a:p>
        </p:txBody>
      </p:sp>
      <p:sp>
        <p:nvSpPr>
          <p:cNvPr id="28" name="Text 25"/>
          <p:cNvSpPr txBox="1"/>
          <p:nvPr/>
        </p:nvSpPr>
        <p:spPr>
          <a:xfrm>
            <a:off x="566928" y="3054096"/>
            <a:ext cx="3200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2</a:t>
            </a:r>
            <a:endParaRPr lang="en-US" sz="1100" dirty="0"/>
          </a:p>
        </p:txBody>
      </p:sp>
      <p:sp>
        <p:nvSpPr>
          <p:cNvPr id="29" name="Shape 26"/>
          <p:cNvSpPr/>
          <p:nvPr/>
        </p:nvSpPr>
        <p:spPr>
          <a:xfrm>
            <a:off x="457200" y="3840480"/>
            <a:ext cx="11274552" cy="731520"/>
          </a:xfrm>
          <a:prstGeom prst="roundRect">
            <a:avLst>
              <a:gd name="adj" fmla="val 6250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30" name="Text 27"/>
          <p:cNvSpPr txBox="1"/>
          <p:nvPr/>
        </p:nvSpPr>
        <p:spPr>
          <a:xfrm>
            <a:off x="4343400" y="3858768"/>
            <a:ext cx="7296912" cy="4535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7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الكُسْكُسِي أَكْلَةٌ مَغْرِبِيَّةٌ مَشْهُورَةٌ، تُطْبَخُ بِالخُضَارِ وَاللَّحْمِ، وَنَأْكُلُهَا يَوْمَ الجُمُعَةِ عَادَةً.</a:t>
            </a:r>
            <a:endParaRPr lang="ar-SA" sz="1700" dirty="0"/>
          </a:p>
        </p:txBody>
      </p:sp>
      <p:sp>
        <p:nvSpPr>
          <p:cNvPr id="31" name="Text 28"/>
          <p:cNvSpPr txBox="1"/>
          <p:nvPr/>
        </p:nvSpPr>
        <p:spPr>
          <a:xfrm>
            <a:off x="4297680" y="4279392"/>
            <a:ext cx="7388352" cy="27797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Couscous is a famous Moroccan dish, cooked with vegetables and meat, and we usually eat it on Fridays.</a:t>
            </a:r>
            <a:endParaRPr lang="en-US" sz="950" dirty="0"/>
          </a:p>
        </p:txBody>
      </p:sp>
      <p:sp>
        <p:nvSpPr>
          <p:cNvPr id="32" name="Text 29"/>
          <p:cNvSpPr txBox="1"/>
          <p:nvPr/>
        </p:nvSpPr>
        <p:spPr>
          <a:xfrm>
            <a:off x="1051560" y="3840480"/>
            <a:ext cx="31089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صِفْ أَكْلَةً تَقْلِيدِيَّةً مِنْ بَلَدِ أُسْرَتِكَ.</a:t>
            </a:r>
            <a:endParaRPr lang="ar-SA" sz="1500" dirty="0"/>
          </a:p>
        </p:txBody>
      </p:sp>
      <p:sp>
        <p:nvSpPr>
          <p:cNvPr id="33" name="Text 30"/>
          <p:cNvSpPr txBox="1"/>
          <p:nvPr/>
        </p:nvSpPr>
        <p:spPr>
          <a:xfrm>
            <a:off x="566928" y="3840480"/>
            <a:ext cx="3200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3</a:t>
            </a:r>
            <a:endParaRPr lang="en-US" sz="1100" dirty="0"/>
          </a:p>
        </p:txBody>
      </p:sp>
      <p:sp>
        <p:nvSpPr>
          <p:cNvPr id="34" name="Text 31"/>
          <p:cNvSpPr txBox="1"/>
          <p:nvPr/>
        </p:nvSpPr>
        <p:spPr>
          <a:xfrm>
            <a:off x="457200" y="5943600"/>
            <a:ext cx="1127455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Stretch: kāna + present, ammā … fa-, a passive verb, a superlative and law … la- with likay — range is rewarded.</a:t>
            </a:r>
            <a:endParaRPr lang="en-US" sz="1150" dirty="0"/>
          </a:p>
        </p:txBody>
      </p:sp>
      <p:sp>
        <p:nvSpPr>
          <p:cNvPr id="35" name="Text 32"/>
          <p:cNvSpPr txBox="1"/>
          <p:nvPr/>
        </p:nvSpPr>
        <p:spPr>
          <a:xfrm>
            <a:off x="10360152" y="6455664"/>
            <a:ext cx="1371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22 / 25</a:t>
            </a:r>
            <a:endParaRPr lang="en-US" sz="85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FFFD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237744"/>
            <a:ext cx="420624" cy="420624"/>
          </a:xfrm>
          <a:prstGeom prst="ellipse">
            <a:avLst/>
          </a:prstGeom>
          <a:solidFill>
            <a:srgbClr val="1B3B6F"/>
          </a:solidFill>
          <a:ln w="12700">
            <a:solidFill>
              <a:srgbClr val="D4AF37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457200" y="219456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D4AF37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م</a:t>
            </a:r>
            <a:endParaRPr lang="ar-SA" sz="18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3657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Al Madina Online School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57200"/>
            <a:ext cx="4572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ARABIC DEPARTMENT · MIFTAH ARABIC · IGCSE 0544</a:t>
            </a:r>
            <a:endParaRPr lang="en-US" sz="800" dirty="0"/>
          </a:p>
        </p:txBody>
      </p:sp>
      <p:sp>
        <p:nvSpPr>
          <p:cNvPr id="6" name="Shape 4"/>
          <p:cNvSpPr/>
          <p:nvPr/>
        </p:nvSpPr>
        <p:spPr>
          <a:xfrm>
            <a:off x="8897112" y="274320"/>
            <a:ext cx="2834640" cy="329184"/>
          </a:xfrm>
          <a:prstGeom prst="roundRect">
            <a:avLst>
              <a:gd name="adj" fmla="val 50000"/>
            </a:avLst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8897112" y="274320"/>
            <a:ext cx="28346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AT-A-L04 · Speaking workshop</a:t>
            </a:r>
            <a:endParaRPr lang="en-US" sz="950" dirty="0"/>
          </a:p>
        </p:txBody>
      </p:sp>
      <p:sp>
        <p:nvSpPr>
          <p:cNvPr id="8" name="Shape 6"/>
          <p:cNvSpPr/>
          <p:nvPr/>
        </p:nvSpPr>
        <p:spPr>
          <a:xfrm>
            <a:off x="7143293" y="274320"/>
            <a:ext cx="1616659" cy="329184"/>
          </a:xfrm>
          <a:prstGeom prst="roundRect">
            <a:avLst>
              <a:gd name="adj" fmla="val 50000"/>
            </a:avLst>
          </a:prstGeom>
          <a:solidFill>
            <a:srgbClr val="8A6D1E"/>
          </a:solidFill>
          <a:ln w="12700">
            <a:solidFill>
              <a:srgbClr val="8A6D1E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7143293" y="274320"/>
            <a:ext cx="1616659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FEEDBACK · 2 MIN</a:t>
            </a:r>
            <a:endParaRPr lang="en-US" sz="900" dirty="0"/>
          </a:p>
        </p:txBody>
      </p:sp>
      <p:sp>
        <p:nvSpPr>
          <p:cNvPr id="10" name="Text 8"/>
          <p:cNvSpPr txBox="1"/>
          <p:nvPr/>
        </p:nvSpPr>
        <p:spPr>
          <a:xfrm>
            <a:off x="457200" y="822960"/>
            <a:ext cx="69494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300" kern="0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MODEL ANSWERS · TOPIC CONVERSATION · STRETCH · PART 2</a:t>
            </a:r>
            <a:endParaRPr lang="en-US" sz="1000" dirty="0"/>
          </a:p>
        </p:txBody>
      </p:sp>
      <p:sp>
        <p:nvSpPr>
          <p:cNvPr id="11" name="Text 9"/>
          <p:cNvSpPr txBox="1"/>
          <p:nvPr/>
        </p:nvSpPr>
        <p:spPr>
          <a:xfrm>
            <a:off x="457200" y="1033272"/>
            <a:ext cx="69494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0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Stretch: what a strong answer sounds like</a:t>
            </a:r>
            <a:endParaRPr lang="en-US" sz="2200" dirty="0"/>
          </a:p>
        </p:txBody>
      </p:sp>
      <p:sp>
        <p:nvSpPr>
          <p:cNvPr id="12" name="Text 10"/>
          <p:cNvSpPr txBox="1"/>
          <p:nvPr/>
        </p:nvSpPr>
        <p:spPr>
          <a:xfrm>
            <a:off x="7498080" y="868680"/>
            <a:ext cx="4233672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2800" b="1" dirty="0">
                <a:solidFill>
                  <a:srgbClr val="8A6D1E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نَمُوذَجُ الإِجَابَةِ</a:t>
            </a:r>
            <a:endParaRPr lang="ar-SA" sz="28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6455664"/>
            <a:ext cx="6400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Miftah Arabic · Topic A · Speaking workshop · AT-A-L04</a:t>
            </a:r>
            <a:endParaRPr lang="en-US" sz="850" dirty="0"/>
          </a:p>
        </p:txBody>
      </p:sp>
      <p:sp>
        <p:nvSpPr>
          <p:cNvPr id="15" name="Shape 12"/>
          <p:cNvSpPr/>
          <p:nvPr/>
        </p:nvSpPr>
        <p:spPr>
          <a:xfrm>
            <a:off x="457200" y="1810512"/>
            <a:ext cx="11274552" cy="384048"/>
          </a:xfrm>
          <a:prstGeom prst="rect">
            <a:avLst/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16" name="Text 13"/>
          <p:cNvSpPr txBox="1"/>
          <p:nvPr/>
        </p:nvSpPr>
        <p:spPr>
          <a:xfrm>
            <a:off x="4325112" y="1810512"/>
            <a:ext cx="733348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Model answer (with English)</a:t>
            </a:r>
            <a:endParaRPr lang="en-US" sz="1100" dirty="0"/>
          </a:p>
        </p:txBody>
      </p:sp>
      <p:sp>
        <p:nvSpPr>
          <p:cNvPr id="17" name="Text 14"/>
          <p:cNvSpPr txBox="1"/>
          <p:nvPr/>
        </p:nvSpPr>
        <p:spPr>
          <a:xfrm>
            <a:off x="1033272" y="1810512"/>
            <a:ext cx="314553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Question</a:t>
            </a:r>
            <a:endParaRPr lang="en-US" sz="1100" dirty="0"/>
          </a:p>
        </p:txBody>
      </p:sp>
      <p:sp>
        <p:nvSpPr>
          <p:cNvPr id="18" name="Text 15"/>
          <p:cNvSpPr txBox="1"/>
          <p:nvPr/>
        </p:nvSpPr>
        <p:spPr>
          <a:xfrm>
            <a:off x="530352" y="1810512"/>
            <a:ext cx="35661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#</a:t>
            </a:r>
            <a:endParaRPr lang="en-US" sz="1100" dirty="0"/>
          </a:p>
        </p:txBody>
      </p:sp>
      <p:sp>
        <p:nvSpPr>
          <p:cNvPr id="19" name="Shape 16"/>
          <p:cNvSpPr/>
          <p:nvPr/>
        </p:nvSpPr>
        <p:spPr>
          <a:xfrm>
            <a:off x="457200" y="2267712"/>
            <a:ext cx="11274552" cy="731520"/>
          </a:xfrm>
          <a:prstGeom prst="roundRect">
            <a:avLst>
              <a:gd name="adj" fmla="val 6250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20" name="Text 17"/>
          <p:cNvSpPr txBox="1"/>
          <p:nvPr/>
        </p:nvSpPr>
        <p:spPr>
          <a:xfrm>
            <a:off x="4343400" y="2286000"/>
            <a:ext cx="7296912" cy="4535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7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أَجْمَلُ وَجْبَةٍ أَتَذَكَّرُهَا كَانَتْ فِي مَطْعَمٍ عَلَى البَحْرِ؛ أَكَلْنَا سَمَكًا مَشْوِيًّا وَضَحِكْنَا كَثِيرًا.</a:t>
            </a:r>
            <a:endParaRPr lang="ar-SA" sz="1700" dirty="0"/>
          </a:p>
        </p:txBody>
      </p:sp>
      <p:sp>
        <p:nvSpPr>
          <p:cNvPr id="21" name="Text 18"/>
          <p:cNvSpPr txBox="1"/>
          <p:nvPr/>
        </p:nvSpPr>
        <p:spPr>
          <a:xfrm>
            <a:off x="4297680" y="2706624"/>
            <a:ext cx="7388352" cy="27797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The best meal I remember was in a restaurant by the sea: we ate grilled fish and laughed a lot.</a:t>
            </a:r>
            <a:endParaRPr lang="en-US" sz="950" dirty="0"/>
          </a:p>
        </p:txBody>
      </p:sp>
      <p:sp>
        <p:nvSpPr>
          <p:cNvPr id="22" name="Text 19"/>
          <p:cNvSpPr txBox="1"/>
          <p:nvPr/>
        </p:nvSpPr>
        <p:spPr>
          <a:xfrm>
            <a:off x="1051560" y="2267712"/>
            <a:ext cx="31089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مَا أَجْمَلُ وَجْبَةٍ تَتَذَكَّرُهَا؟</a:t>
            </a:r>
            <a:endParaRPr lang="ar-SA" sz="1500" dirty="0"/>
          </a:p>
        </p:txBody>
      </p:sp>
      <p:sp>
        <p:nvSpPr>
          <p:cNvPr id="23" name="Text 20"/>
          <p:cNvSpPr txBox="1"/>
          <p:nvPr/>
        </p:nvSpPr>
        <p:spPr>
          <a:xfrm>
            <a:off x="566928" y="2267712"/>
            <a:ext cx="3200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4</a:t>
            </a:r>
            <a:endParaRPr lang="en-US" sz="1100" dirty="0"/>
          </a:p>
        </p:txBody>
      </p:sp>
      <p:sp>
        <p:nvSpPr>
          <p:cNvPr id="24" name="Shape 21"/>
          <p:cNvSpPr/>
          <p:nvPr/>
        </p:nvSpPr>
        <p:spPr>
          <a:xfrm>
            <a:off x="457200" y="3054096"/>
            <a:ext cx="11274552" cy="731520"/>
          </a:xfrm>
          <a:prstGeom prst="roundRect">
            <a:avLst>
              <a:gd name="adj" fmla="val 6250"/>
            </a:avLst>
          </a:prstGeom>
          <a:solidFill>
            <a:srgbClr val="F4F1EA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25" name="Text 22"/>
          <p:cNvSpPr txBox="1"/>
          <p:nvPr/>
        </p:nvSpPr>
        <p:spPr>
          <a:xfrm>
            <a:off x="4343400" y="3072384"/>
            <a:ext cx="7296912" cy="4535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7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لَوْ فَتَحْتُ مَطْعَمًا، لَقَدَّمْتُ أَطْبَاقًا مِنْ بُلْدَانٍ مُخْتَلِفَةٍ، لِكَيْ يَتَعَرَّفَ النَّاسُ عَلَى ثَقَافَاتٍ جَدِيدَةٍ.</a:t>
            </a:r>
            <a:endParaRPr lang="ar-SA" sz="1700" dirty="0"/>
          </a:p>
        </p:txBody>
      </p:sp>
      <p:sp>
        <p:nvSpPr>
          <p:cNvPr id="26" name="Text 23"/>
          <p:cNvSpPr txBox="1"/>
          <p:nvPr/>
        </p:nvSpPr>
        <p:spPr>
          <a:xfrm>
            <a:off x="4297680" y="3493008"/>
            <a:ext cx="7388352" cy="27797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If I opened a restaurant, I would serve dishes from different countries, so that people get to know new cultures.</a:t>
            </a:r>
            <a:endParaRPr lang="en-US" sz="950" dirty="0"/>
          </a:p>
        </p:txBody>
      </p:sp>
      <p:sp>
        <p:nvSpPr>
          <p:cNvPr id="27" name="Text 24"/>
          <p:cNvSpPr txBox="1"/>
          <p:nvPr/>
        </p:nvSpPr>
        <p:spPr>
          <a:xfrm>
            <a:off x="1051560" y="3054096"/>
            <a:ext cx="31089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لَوْ فَتَحْتَ مَطْعَمًا، مَاذَا تُقَدِّمُ فِيهِ؟</a:t>
            </a:r>
            <a:endParaRPr lang="ar-SA" sz="1500" dirty="0"/>
          </a:p>
        </p:txBody>
      </p:sp>
      <p:sp>
        <p:nvSpPr>
          <p:cNvPr id="28" name="Text 25"/>
          <p:cNvSpPr txBox="1"/>
          <p:nvPr/>
        </p:nvSpPr>
        <p:spPr>
          <a:xfrm>
            <a:off x="566928" y="3054096"/>
            <a:ext cx="3200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5</a:t>
            </a:r>
            <a:endParaRPr lang="en-US" sz="1100" dirty="0"/>
          </a:p>
        </p:txBody>
      </p:sp>
      <p:sp>
        <p:nvSpPr>
          <p:cNvPr id="29" name="Text 26"/>
          <p:cNvSpPr txBox="1"/>
          <p:nvPr/>
        </p:nvSpPr>
        <p:spPr>
          <a:xfrm>
            <a:off x="457200" y="5943600"/>
            <a:ext cx="1127455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Stretch: kāna + present, ammā … fa-, a passive verb, a superlative and law … la- with likay — range is rewarded.</a:t>
            </a:r>
            <a:endParaRPr lang="en-US" sz="1150" dirty="0"/>
          </a:p>
        </p:txBody>
      </p:sp>
      <p:sp>
        <p:nvSpPr>
          <p:cNvPr id="30" name="Text 27"/>
          <p:cNvSpPr txBox="1"/>
          <p:nvPr/>
        </p:nvSpPr>
        <p:spPr>
          <a:xfrm>
            <a:off x="10360152" y="6455664"/>
            <a:ext cx="1371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23 / 25</a:t>
            </a:r>
            <a:endParaRPr lang="en-US" sz="850" dirty="0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FFFD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237744"/>
            <a:ext cx="420624" cy="420624"/>
          </a:xfrm>
          <a:prstGeom prst="ellipse">
            <a:avLst/>
          </a:prstGeom>
          <a:solidFill>
            <a:srgbClr val="1B3B6F"/>
          </a:solidFill>
          <a:ln w="12700">
            <a:solidFill>
              <a:srgbClr val="D4AF37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457200" y="219456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D4AF37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م</a:t>
            </a:r>
            <a:endParaRPr lang="ar-SA" sz="18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3657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Al Madina Online School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57200"/>
            <a:ext cx="4572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ARABIC DEPARTMENT · MIFTAH ARABIC · IGCSE 0544</a:t>
            </a:r>
            <a:endParaRPr lang="en-US" sz="800" dirty="0"/>
          </a:p>
        </p:txBody>
      </p:sp>
      <p:sp>
        <p:nvSpPr>
          <p:cNvPr id="6" name="Shape 4"/>
          <p:cNvSpPr/>
          <p:nvPr/>
        </p:nvSpPr>
        <p:spPr>
          <a:xfrm>
            <a:off x="8897112" y="274320"/>
            <a:ext cx="2834640" cy="329184"/>
          </a:xfrm>
          <a:prstGeom prst="roundRect">
            <a:avLst>
              <a:gd name="adj" fmla="val 50000"/>
            </a:avLst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8897112" y="274320"/>
            <a:ext cx="28346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AT-A-L04 · Speaking workshop</a:t>
            </a:r>
            <a:endParaRPr lang="en-US" sz="950" dirty="0"/>
          </a:p>
        </p:txBody>
      </p:sp>
      <p:sp>
        <p:nvSpPr>
          <p:cNvPr id="8" name="Shape 6"/>
          <p:cNvSpPr/>
          <p:nvPr/>
        </p:nvSpPr>
        <p:spPr>
          <a:xfrm>
            <a:off x="7143293" y="274320"/>
            <a:ext cx="1616659" cy="329184"/>
          </a:xfrm>
          <a:prstGeom prst="roundRect">
            <a:avLst>
              <a:gd name="adj" fmla="val 50000"/>
            </a:avLst>
          </a:prstGeom>
          <a:solidFill>
            <a:srgbClr val="8A6D1E"/>
          </a:solidFill>
          <a:ln w="12700">
            <a:solidFill>
              <a:srgbClr val="8A6D1E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7143293" y="274320"/>
            <a:ext cx="1616659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FEEDBACK · 1 MIN</a:t>
            </a:r>
            <a:endParaRPr lang="en-US" sz="900" dirty="0"/>
          </a:p>
        </p:txBody>
      </p:sp>
      <p:sp>
        <p:nvSpPr>
          <p:cNvPr id="10" name="Text 8"/>
          <p:cNvSpPr txBox="1"/>
          <p:nvPr/>
        </p:nvSpPr>
        <p:spPr>
          <a:xfrm>
            <a:off x="457200" y="822960"/>
            <a:ext cx="69494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300" kern="0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FEEDBACK · SUCCESS CRITERIA</a:t>
            </a:r>
            <a:endParaRPr lang="en-US" sz="1000" dirty="0"/>
          </a:p>
        </p:txBody>
      </p:sp>
      <p:sp>
        <p:nvSpPr>
          <p:cNvPr id="11" name="Text 9"/>
          <p:cNvSpPr txBox="1"/>
          <p:nvPr/>
        </p:nvSpPr>
        <p:spPr>
          <a:xfrm>
            <a:off x="457200" y="1033272"/>
            <a:ext cx="69494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Check your work</a:t>
            </a:r>
            <a:endParaRPr lang="en-US" sz="2800" dirty="0"/>
          </a:p>
        </p:txBody>
      </p:sp>
      <p:sp>
        <p:nvSpPr>
          <p:cNvPr id="12" name="Text 10"/>
          <p:cNvSpPr txBox="1"/>
          <p:nvPr/>
        </p:nvSpPr>
        <p:spPr>
          <a:xfrm>
            <a:off x="7498080" y="868680"/>
            <a:ext cx="4233672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2800" b="1" dirty="0">
                <a:solidFill>
                  <a:srgbClr val="8A6D1E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قَيِّمْ عَمَلَكَ</a:t>
            </a:r>
            <a:endParaRPr lang="ar-SA" sz="28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6455664"/>
            <a:ext cx="6400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Miftah Arabic · Topic A · Speaking workshop · AT-A-L04</a:t>
            </a:r>
            <a:endParaRPr lang="en-US" sz="850" dirty="0"/>
          </a:p>
        </p:txBody>
      </p:sp>
      <p:sp>
        <p:nvSpPr>
          <p:cNvPr id="15" name="Shape 12"/>
          <p:cNvSpPr/>
          <p:nvPr/>
        </p:nvSpPr>
        <p:spPr>
          <a:xfrm>
            <a:off x="457200" y="1810512"/>
            <a:ext cx="7406640" cy="771754"/>
          </a:xfrm>
          <a:prstGeom prst="roundRect">
            <a:avLst>
              <a:gd name="adj" fmla="val 9479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16" name="Shape 13"/>
          <p:cNvSpPr/>
          <p:nvPr/>
        </p:nvSpPr>
        <p:spPr>
          <a:xfrm>
            <a:off x="685800" y="2086661"/>
            <a:ext cx="219456" cy="219456"/>
          </a:xfrm>
          <a:prstGeom prst="rect">
            <a:avLst/>
          </a:prstGeom>
          <a:solidFill>
            <a:srgbClr val="FFFFFF"/>
          </a:solidFill>
          <a:ln w="19050">
            <a:solidFill>
              <a:srgbClr val="2E8B57"/>
            </a:solidFill>
            <a:prstDash val="solid"/>
          </a:ln>
        </p:spPr>
      </p:sp>
      <p:sp>
        <p:nvSpPr>
          <p:cNvPr id="17" name="Text 14"/>
          <p:cNvSpPr txBox="1"/>
          <p:nvPr/>
        </p:nvSpPr>
        <p:spPr>
          <a:xfrm>
            <a:off x="1097280" y="1810512"/>
            <a:ext cx="5394960" cy="7717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I answered every role-play task in a full sentence.</a:t>
            </a:r>
            <a:endParaRPr lang="en-US" sz="1300" dirty="0"/>
          </a:p>
        </p:txBody>
      </p:sp>
      <p:sp>
        <p:nvSpPr>
          <p:cNvPr id="18" name="Shape 15"/>
          <p:cNvSpPr/>
          <p:nvPr/>
        </p:nvSpPr>
        <p:spPr>
          <a:xfrm>
            <a:off x="6583680" y="2068373"/>
            <a:ext cx="1097280" cy="256032"/>
          </a:xfrm>
          <a:prstGeom prst="roundRect">
            <a:avLst>
              <a:gd name="adj" fmla="val 50000"/>
            </a:avLst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19" name="Text 16"/>
          <p:cNvSpPr txBox="1"/>
          <p:nvPr/>
        </p:nvSpPr>
        <p:spPr>
          <a:xfrm>
            <a:off x="6583680" y="2068373"/>
            <a:ext cx="10972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CORE</a:t>
            </a:r>
            <a:endParaRPr lang="en-US" sz="800" dirty="0"/>
          </a:p>
        </p:txBody>
      </p:sp>
      <p:sp>
        <p:nvSpPr>
          <p:cNvPr id="20" name="Shape 17"/>
          <p:cNvSpPr/>
          <p:nvPr/>
        </p:nvSpPr>
        <p:spPr>
          <a:xfrm>
            <a:off x="457200" y="2710282"/>
            <a:ext cx="7406640" cy="771754"/>
          </a:xfrm>
          <a:prstGeom prst="roundRect">
            <a:avLst>
              <a:gd name="adj" fmla="val 9479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21" name="Shape 18"/>
          <p:cNvSpPr/>
          <p:nvPr/>
        </p:nvSpPr>
        <p:spPr>
          <a:xfrm>
            <a:off x="685800" y="2986430"/>
            <a:ext cx="219456" cy="219456"/>
          </a:xfrm>
          <a:prstGeom prst="rect">
            <a:avLst/>
          </a:prstGeom>
          <a:solidFill>
            <a:srgbClr val="FFFFFF"/>
          </a:solidFill>
          <a:ln w="19050">
            <a:solidFill>
              <a:srgbClr val="2E8B57"/>
            </a:solidFill>
            <a:prstDash val="solid"/>
          </a:ln>
        </p:spPr>
      </p:sp>
      <p:sp>
        <p:nvSpPr>
          <p:cNvPr id="22" name="Text 19"/>
          <p:cNvSpPr txBox="1"/>
          <p:nvPr/>
        </p:nvSpPr>
        <p:spPr>
          <a:xfrm>
            <a:off x="1097280" y="2710282"/>
            <a:ext cx="5394960" cy="7717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I used food verbs correctly (ākulu · ashrabu · ufaḍḍilu).</a:t>
            </a:r>
            <a:endParaRPr lang="en-US" sz="1300" dirty="0"/>
          </a:p>
        </p:txBody>
      </p:sp>
      <p:sp>
        <p:nvSpPr>
          <p:cNvPr id="23" name="Shape 20"/>
          <p:cNvSpPr/>
          <p:nvPr/>
        </p:nvSpPr>
        <p:spPr>
          <a:xfrm>
            <a:off x="6583680" y="2968142"/>
            <a:ext cx="1097280" cy="256032"/>
          </a:xfrm>
          <a:prstGeom prst="roundRect">
            <a:avLst>
              <a:gd name="adj" fmla="val 50000"/>
            </a:avLst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24" name="Text 21"/>
          <p:cNvSpPr txBox="1"/>
          <p:nvPr/>
        </p:nvSpPr>
        <p:spPr>
          <a:xfrm>
            <a:off x="6583680" y="2968142"/>
            <a:ext cx="10972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CORE</a:t>
            </a:r>
            <a:endParaRPr lang="en-US" sz="800" dirty="0"/>
          </a:p>
        </p:txBody>
      </p:sp>
      <p:sp>
        <p:nvSpPr>
          <p:cNvPr id="25" name="Shape 22"/>
          <p:cNvSpPr/>
          <p:nvPr/>
        </p:nvSpPr>
        <p:spPr>
          <a:xfrm>
            <a:off x="457200" y="3610051"/>
            <a:ext cx="7406640" cy="771754"/>
          </a:xfrm>
          <a:prstGeom prst="roundRect">
            <a:avLst>
              <a:gd name="adj" fmla="val 9479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26" name="Shape 23"/>
          <p:cNvSpPr/>
          <p:nvPr/>
        </p:nvSpPr>
        <p:spPr>
          <a:xfrm>
            <a:off x="685800" y="3886200"/>
            <a:ext cx="219456" cy="219456"/>
          </a:xfrm>
          <a:prstGeom prst="rect">
            <a:avLst/>
          </a:prstGeom>
          <a:solidFill>
            <a:srgbClr val="FFFFFF"/>
          </a:solidFill>
          <a:ln w="19050">
            <a:solidFill>
              <a:srgbClr val="C9780A"/>
            </a:solidFill>
            <a:prstDash val="solid"/>
          </a:ln>
        </p:spPr>
      </p:sp>
      <p:sp>
        <p:nvSpPr>
          <p:cNvPr id="27" name="Text 24"/>
          <p:cNvSpPr txBox="1"/>
          <p:nvPr/>
        </p:nvSpPr>
        <p:spPr>
          <a:xfrm>
            <a:off x="1097280" y="3610051"/>
            <a:ext cx="5394960" cy="7717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I made adjectives agree and used an idāfa.</a:t>
            </a:r>
            <a:endParaRPr lang="en-US" sz="1300" dirty="0"/>
          </a:p>
        </p:txBody>
      </p:sp>
      <p:sp>
        <p:nvSpPr>
          <p:cNvPr id="28" name="Shape 25"/>
          <p:cNvSpPr/>
          <p:nvPr/>
        </p:nvSpPr>
        <p:spPr>
          <a:xfrm>
            <a:off x="6583680" y="3867912"/>
            <a:ext cx="1097280" cy="256032"/>
          </a:xfrm>
          <a:prstGeom prst="roundRect">
            <a:avLst>
              <a:gd name="adj" fmla="val 50000"/>
            </a:avLst>
          </a:prstGeom>
          <a:solidFill>
            <a:srgbClr val="C9780A"/>
          </a:solidFill>
          <a:ln w="12700">
            <a:solidFill>
              <a:srgbClr val="C9780A"/>
            </a:solidFill>
            <a:prstDash val="solid"/>
          </a:ln>
        </p:spPr>
      </p:sp>
      <p:sp>
        <p:nvSpPr>
          <p:cNvPr id="29" name="Text 26"/>
          <p:cNvSpPr txBox="1"/>
          <p:nvPr/>
        </p:nvSpPr>
        <p:spPr>
          <a:xfrm>
            <a:off x="6583680" y="3867912"/>
            <a:ext cx="10972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DEVELOP</a:t>
            </a:r>
            <a:endParaRPr lang="en-US" sz="800" dirty="0"/>
          </a:p>
        </p:txBody>
      </p:sp>
      <p:sp>
        <p:nvSpPr>
          <p:cNvPr id="30" name="Shape 27"/>
          <p:cNvSpPr/>
          <p:nvPr/>
        </p:nvSpPr>
        <p:spPr>
          <a:xfrm>
            <a:off x="457200" y="4509821"/>
            <a:ext cx="7406640" cy="771754"/>
          </a:xfrm>
          <a:prstGeom prst="roundRect">
            <a:avLst>
              <a:gd name="adj" fmla="val 9479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31" name="Shape 28"/>
          <p:cNvSpPr/>
          <p:nvPr/>
        </p:nvSpPr>
        <p:spPr>
          <a:xfrm>
            <a:off x="685800" y="4785970"/>
            <a:ext cx="219456" cy="219456"/>
          </a:xfrm>
          <a:prstGeom prst="rect">
            <a:avLst/>
          </a:prstGeom>
          <a:solidFill>
            <a:srgbClr val="FFFFFF"/>
          </a:solidFill>
          <a:ln w="19050">
            <a:solidFill>
              <a:srgbClr val="C9780A"/>
            </a:solidFill>
            <a:prstDash val="solid"/>
          </a:ln>
        </p:spPr>
      </p:sp>
      <p:sp>
        <p:nvSpPr>
          <p:cNvPr id="32" name="Text 29"/>
          <p:cNvSpPr txBox="1"/>
          <p:nvPr/>
        </p:nvSpPr>
        <p:spPr>
          <a:xfrm>
            <a:off x="1097280" y="4509821"/>
            <a:ext cx="5394960" cy="7717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I asked a question in the role play.</a:t>
            </a:r>
            <a:endParaRPr lang="en-US" sz="1300" dirty="0"/>
          </a:p>
        </p:txBody>
      </p:sp>
      <p:sp>
        <p:nvSpPr>
          <p:cNvPr id="33" name="Shape 30"/>
          <p:cNvSpPr/>
          <p:nvPr/>
        </p:nvSpPr>
        <p:spPr>
          <a:xfrm>
            <a:off x="6583680" y="4767682"/>
            <a:ext cx="1097280" cy="256032"/>
          </a:xfrm>
          <a:prstGeom prst="roundRect">
            <a:avLst>
              <a:gd name="adj" fmla="val 50000"/>
            </a:avLst>
          </a:prstGeom>
          <a:solidFill>
            <a:srgbClr val="C9780A"/>
          </a:solidFill>
          <a:ln w="12700">
            <a:solidFill>
              <a:srgbClr val="C9780A"/>
            </a:solidFill>
            <a:prstDash val="solid"/>
          </a:ln>
        </p:spPr>
      </p:sp>
      <p:sp>
        <p:nvSpPr>
          <p:cNvPr id="34" name="Text 31"/>
          <p:cNvSpPr txBox="1"/>
          <p:nvPr/>
        </p:nvSpPr>
        <p:spPr>
          <a:xfrm>
            <a:off x="6583680" y="4767682"/>
            <a:ext cx="10972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DEVELOP</a:t>
            </a:r>
            <a:endParaRPr lang="en-US" sz="800" dirty="0"/>
          </a:p>
        </p:txBody>
      </p:sp>
      <p:sp>
        <p:nvSpPr>
          <p:cNvPr id="35" name="Shape 32"/>
          <p:cNvSpPr/>
          <p:nvPr/>
        </p:nvSpPr>
        <p:spPr>
          <a:xfrm>
            <a:off x="457200" y="5409590"/>
            <a:ext cx="7406640" cy="771754"/>
          </a:xfrm>
          <a:prstGeom prst="roundRect">
            <a:avLst>
              <a:gd name="adj" fmla="val 9479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36" name="Shape 33"/>
          <p:cNvSpPr/>
          <p:nvPr/>
        </p:nvSpPr>
        <p:spPr>
          <a:xfrm>
            <a:off x="685800" y="5685739"/>
            <a:ext cx="219456" cy="219456"/>
          </a:xfrm>
          <a:prstGeom prst="rect">
            <a:avLst/>
          </a:prstGeom>
          <a:solidFill>
            <a:srgbClr val="FFFFFF"/>
          </a:solidFill>
          <a:ln w="19050">
            <a:solidFill>
              <a:srgbClr val="B83227"/>
            </a:solidFill>
            <a:prstDash val="solid"/>
          </a:ln>
        </p:spPr>
      </p:sp>
      <p:sp>
        <p:nvSpPr>
          <p:cNvPr id="37" name="Text 34"/>
          <p:cNvSpPr txBox="1"/>
          <p:nvPr/>
        </p:nvSpPr>
        <p:spPr>
          <a:xfrm>
            <a:off x="1097280" y="5409590"/>
            <a:ext cx="5394960" cy="7717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I compared, described the past and used a conditional.</a:t>
            </a:r>
            <a:endParaRPr lang="en-US" sz="1300" dirty="0"/>
          </a:p>
        </p:txBody>
      </p:sp>
      <p:sp>
        <p:nvSpPr>
          <p:cNvPr id="38" name="Shape 35"/>
          <p:cNvSpPr/>
          <p:nvPr/>
        </p:nvSpPr>
        <p:spPr>
          <a:xfrm>
            <a:off x="6583680" y="5667451"/>
            <a:ext cx="1097280" cy="256032"/>
          </a:xfrm>
          <a:prstGeom prst="roundRect">
            <a:avLst>
              <a:gd name="adj" fmla="val 50000"/>
            </a:avLst>
          </a:prstGeom>
          <a:solidFill>
            <a:srgbClr val="B83227"/>
          </a:solidFill>
          <a:ln w="12700">
            <a:solidFill>
              <a:srgbClr val="B83227"/>
            </a:solidFill>
            <a:prstDash val="solid"/>
          </a:ln>
        </p:spPr>
      </p:sp>
      <p:sp>
        <p:nvSpPr>
          <p:cNvPr id="39" name="Text 36"/>
          <p:cNvSpPr txBox="1"/>
          <p:nvPr/>
        </p:nvSpPr>
        <p:spPr>
          <a:xfrm>
            <a:off x="6583680" y="5667451"/>
            <a:ext cx="10972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STRETCH</a:t>
            </a:r>
            <a:endParaRPr lang="en-US" sz="800" dirty="0"/>
          </a:p>
        </p:txBody>
      </p:sp>
      <p:sp>
        <p:nvSpPr>
          <p:cNvPr id="40" name="Shape 37"/>
          <p:cNvSpPr/>
          <p:nvPr/>
        </p:nvSpPr>
        <p:spPr>
          <a:xfrm>
            <a:off x="8092440" y="1810512"/>
            <a:ext cx="3639312" cy="2084832"/>
          </a:xfrm>
          <a:prstGeom prst="roundRect">
            <a:avLst>
              <a:gd name="adj" fmla="val 3509"/>
            </a:avLst>
          </a:prstGeom>
          <a:solidFill>
            <a:srgbClr val="E9F5EE"/>
          </a:solidFill>
          <a:ln w="9525">
            <a:solidFill>
              <a:srgbClr val="9CCFB0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41" name="Text 38"/>
          <p:cNvSpPr txBox="1"/>
          <p:nvPr/>
        </p:nvSpPr>
        <p:spPr>
          <a:xfrm>
            <a:off x="8275320" y="1920240"/>
            <a:ext cx="3273552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2E8B57"/>
                </a:solidFill>
                <a:latin typeface="Calibri" pitchFamily="34" charset="0"/>
                <a:cs typeface="Amiri" pitchFamily="2" charset="-78"/>
              </a:rPr>
              <a:t>WWW</a:t>
            </a:r>
            <a:endParaRPr lang="en-US" sz="1800" dirty="0"/>
          </a:p>
          <a:p>
            <a:pPr indent="0" marL="0">
              <a:buNone/>
            </a:pPr>
            <a:r>
              <a:rPr lang="en-US" sz="1200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What went well? One thing you did accurately.</a:t>
            </a:r>
            <a:endParaRPr lang="en-US" sz="1800" dirty="0"/>
          </a:p>
        </p:txBody>
      </p:sp>
      <p:sp>
        <p:nvSpPr>
          <p:cNvPr id="42" name="Shape 39"/>
          <p:cNvSpPr/>
          <p:nvPr/>
        </p:nvSpPr>
        <p:spPr>
          <a:xfrm>
            <a:off x="8092440" y="4041648"/>
            <a:ext cx="3639312" cy="2084832"/>
          </a:xfrm>
          <a:prstGeom prst="roundRect">
            <a:avLst>
              <a:gd name="adj" fmla="val 3509"/>
            </a:avLst>
          </a:prstGeom>
          <a:solidFill>
            <a:srgbClr val="FFF4E0"/>
          </a:solidFill>
          <a:ln w="9525">
            <a:solidFill>
              <a:srgbClr val="E8D49A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43" name="Text 40"/>
          <p:cNvSpPr txBox="1"/>
          <p:nvPr/>
        </p:nvSpPr>
        <p:spPr>
          <a:xfrm>
            <a:off x="8275320" y="4151376"/>
            <a:ext cx="3273552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C9780A"/>
                </a:solidFill>
                <a:latin typeface="Calibri" pitchFamily="34" charset="0"/>
                <a:cs typeface="Amiri" pitchFamily="2" charset="-78"/>
              </a:rPr>
              <a:t>EBI</a:t>
            </a:r>
            <a:endParaRPr lang="en-US" sz="1800" dirty="0"/>
          </a:p>
          <a:p>
            <a:pPr indent="0" marL="0">
              <a:buNone/>
            </a:pPr>
            <a:r>
              <a:rPr lang="en-US" sz="1200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Even better if… One thing you will fix or add.</a:t>
            </a:r>
            <a:endParaRPr lang="en-US" sz="1800" dirty="0"/>
          </a:p>
        </p:txBody>
      </p:sp>
      <p:sp>
        <p:nvSpPr>
          <p:cNvPr id="44" name="Text 41"/>
          <p:cNvSpPr txBox="1"/>
          <p:nvPr/>
        </p:nvSpPr>
        <p:spPr>
          <a:xfrm>
            <a:off x="10360152" y="6455664"/>
            <a:ext cx="1371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24 / 25</a:t>
            </a:r>
            <a:endParaRPr lang="en-US" sz="850" dirty="0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0D1F3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863840" y="1097280"/>
            <a:ext cx="5852160" cy="5852160"/>
          </a:xfrm>
          <a:prstGeom prst="ellipse">
            <a:avLst/>
          </a:prstGeom>
          <a:solidFill>
            <a:srgbClr val="14315C"/>
          </a:solidFill>
          <a:ln w="12700">
            <a:solidFill>
              <a:srgbClr val="14315C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9372600" y="2606040"/>
            <a:ext cx="1737360" cy="1737360"/>
          </a:xfrm>
          <a:prstGeom prst="ellipse">
            <a:avLst/>
          </a:prstGeom>
          <a:solidFill>
            <a:srgbClr val="D4AF37"/>
          </a:solidFill>
          <a:ln w="12700">
            <a:solidFill>
              <a:srgbClr val="D4AF37"/>
            </a:solidFill>
            <a:prstDash val="solid"/>
          </a:ln>
        </p:spPr>
      </p:sp>
      <p:pic>
        <p:nvPicPr>
          <p:cNvPr id="4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710928" y="2944368"/>
            <a:ext cx="1060704" cy="1060704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457200" y="128016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300" kern="0" dirty="0">
                <a:solidFill>
                  <a:srgbClr val="D4AF37"/>
                </a:solidFill>
                <a:latin typeface="Calibri" pitchFamily="34" charset="0"/>
                <a:cs typeface="Amiri" pitchFamily="2" charset="-78"/>
              </a:rPr>
              <a:t>AT-A-L04 COMPLETE</a:t>
            </a:r>
            <a:endParaRPr lang="en-US" sz="1100" dirty="0"/>
          </a:p>
        </p:txBody>
      </p:sp>
      <p:sp>
        <p:nvSpPr>
          <p:cNvPr id="6" name="Text 3"/>
          <p:cNvSpPr txBox="1"/>
          <p:nvPr/>
        </p:nvSpPr>
        <p:spPr>
          <a:xfrm>
            <a:off x="457200" y="1691640"/>
            <a:ext cx="73152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l" indent="0" marL="0">
              <a:buNone/>
            </a:pPr>
            <a:r>
              <a:rPr lang="ar-SA" altLang="en-US" sz="4000" b="1" dirty="0">
                <a:solidFill>
                  <a:srgbClr val="FFFFF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أَحْسَنْتُمْ! إِلَى اللِّقَاءِ</a:t>
            </a:r>
            <a:endParaRPr lang="ar-SA" sz="4000" dirty="0"/>
          </a:p>
        </p:txBody>
      </p:sp>
      <p:sp>
        <p:nvSpPr>
          <p:cNvPr id="7" name="Text 4"/>
          <p:cNvSpPr txBox="1"/>
          <p:nvPr/>
        </p:nvSpPr>
        <p:spPr>
          <a:xfrm>
            <a:off x="457200" y="2606040"/>
            <a:ext cx="73152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i="1" dirty="0">
                <a:solidFill>
                  <a:srgbClr val="C6D2E6"/>
                </a:solidFill>
                <a:latin typeface="Calibri" pitchFamily="34" charset="0"/>
                <a:cs typeface="Amiri" pitchFamily="2" charset="-78"/>
              </a:rPr>
              <a:t>Well done — great speaking practice today!</a:t>
            </a:r>
            <a:endParaRPr lang="en-US" sz="1600" dirty="0"/>
          </a:p>
        </p:txBody>
      </p:sp>
      <p:sp>
        <p:nvSpPr>
          <p:cNvPr id="8" name="Text 5"/>
          <p:cNvSpPr txBox="1"/>
          <p:nvPr/>
        </p:nvSpPr>
        <p:spPr>
          <a:xfrm>
            <a:off x="457200" y="356616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300" kern="0" dirty="0">
                <a:solidFill>
                  <a:srgbClr val="D4AF37"/>
                </a:solidFill>
                <a:latin typeface="Calibri" pitchFamily="34" charset="0"/>
                <a:cs typeface="Amiri" pitchFamily="2" charset="-78"/>
              </a:rPr>
              <a:t>NEXT WORKSHOP</a:t>
            </a:r>
            <a:endParaRPr lang="en-US" sz="1100" dirty="0"/>
          </a:p>
        </p:txBody>
      </p:sp>
      <p:sp>
        <p:nvSpPr>
          <p:cNvPr id="9" name="Text 6"/>
          <p:cNvSpPr txBox="1"/>
          <p:nvPr/>
        </p:nvSpPr>
        <p:spPr>
          <a:xfrm>
            <a:off x="457200" y="3886200"/>
            <a:ext cx="7315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50" b="1" dirty="0">
                <a:solidFill>
                  <a:srgbClr val="FFFFFF"/>
                </a:solidFill>
                <a:latin typeface="Cambria" pitchFamily="34" charset="0"/>
                <a:cs typeface="Amiri" pitchFamily="2" charset="-78"/>
              </a:rPr>
              <a:t>AT-A-L04 · Writing workshop · Form filling, directed writing and extended writing</a:t>
            </a:r>
            <a:endParaRPr lang="en-US" sz="1650" dirty="0"/>
          </a:p>
        </p:txBody>
      </p:sp>
      <p:sp>
        <p:nvSpPr>
          <p:cNvPr id="10" name="Text 7"/>
          <p:cNvSpPr txBox="1"/>
          <p:nvPr/>
        </p:nvSpPr>
        <p:spPr>
          <a:xfrm>
            <a:off x="457200" y="4434840"/>
            <a:ext cx="7315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l" indent="0" marL="0">
              <a:buNone/>
            </a:pPr>
            <a:r>
              <a:rPr lang="ar-SA" altLang="en-US" sz="2400" b="1" dirty="0">
                <a:solidFill>
                  <a:srgbClr val="D4AF37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وَرْشَةُ الكِتَابَةِ</a:t>
            </a:r>
            <a:endParaRPr lang="ar-SA" sz="2400" dirty="0"/>
          </a:p>
        </p:txBody>
      </p:sp>
      <p:sp>
        <p:nvSpPr>
          <p:cNvPr id="11" name="Text 8"/>
          <p:cNvSpPr txBox="1"/>
          <p:nvPr/>
        </p:nvSpPr>
        <p:spPr>
          <a:xfrm>
            <a:off x="457200" y="5303520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Remember: in the role play answer EVERY task; in the conversation, develop every answer.</a:t>
            </a:r>
            <a:endParaRPr lang="en-US" sz="13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Amiri" pitchFamily="2" charset="-78"/>
        <a:cs typeface="Amiri" pitchFamily="2" charset="-78"/>
        <a:font script="Arab" typeface="Amiri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Amiri" pitchFamily="2" charset="-78"/>
        <a:cs typeface="Amiri" pitchFamily="2" charset="-78"/>
        <a:font script="Arab" typeface="Amiri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25</Slides>
  <Notes>25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25</vt:i4>
      </vt:variant>
    </vt:vector>
  </HeadingPairs>
  <TitlesOfParts>
    <vt:vector size="28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</vt:vector>
  </TitlesOfParts>
  <Company>Al Madina Online School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AT-A-L04 · Speaking Workshop — Food and Drink</dc:title>
  <dc:subject>PptxGenJS Presentation</dc:subject>
  <dc:creator>Al Madina Online School · Arabic Department</dc:creator>
  <cp:lastModifiedBy>Al Madina Online School · Arabic Department</cp:lastModifiedBy>
  <cp:revision>1</cp:revision>
  <dcterms:created xsi:type="dcterms:W3CDTF">2026-10-11T07:50:48Z</dcterms:created>
  <dcterms:modified xsi:type="dcterms:W3CDTF">2026-10-11T07:50:48Z</dcterms:modified>
</cp:coreProperties>
</file>