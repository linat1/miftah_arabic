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A, Lesson 2 (Calendar, Dates and the School Week, AT-A-L02), using that lesson’s language (ordinal numbers, clock expressions, prepositions of time).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singular, dual and plural: the dual is common with time (سَاعَتَانِ · أُسْبُوعَانِ). Chant sg → dual → pl for each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ordinals agree with the noun: اليَوْمُ الأَوَّلُ / الحِصَّةُ الأُولَى. Dates: فِي الخَامِسِ مِنْ مَايُو (on the fifth of May). Clock times use the feminine ordinal: السَّاعَةُ الثَّالِثَةُ.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at the sports centre.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يُنَاسِبُكِ · مِيلَادِكِ.
Core: one full sentence per task. Day names after يَوْمَ take the genitive: يَوْمَ السَّبْتِ. Clock times use feminine ordinals: العَاشِرَةِ.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a phone call with a friend.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مِيلَادِكِ · and the candidate asks a girl: هَلْ أَنْتِ مُتَفَرِّغَةٌ؟.
Task 4: the CANDIDATE asks; the examiner replies with the line shown. Dates: فِي + ordinal in the genitive (فِي العَاشِرِ) + مِنْ +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talking to a visiting teacher.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تَدْرُسِينَ · عِنْدَكِ · يَوْمُكِ.
Develop: numbers with nouns — خَمْسَةَ أَيَّامٍ (3–10: opposite gender, plural genitive), خَمْسُونَ دَقِيقَةً (11+: singular accusative), the dual حِصَّتَيْنِ.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an interview for the school council.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صِفِي · فَعَلْتِ · تُفَضِّلِينَ · سَنَتِكِ · سَتُنَظِّمِينَ.
Stretch: superlatives (أَطْوَلُ يَوْمٍ · أَهَمُّ تَارِيخٍ), the dual (أُسْبُوعَيْنِ), أَنْ + subjunctive (أَنْ يَبْدَأَ) and three time frames. Any important date is welcome (a birthday, a national day, Eid, the first day at a new school).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question, with a day, a date or a time.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with times, sequence words and a reason.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comparison, opinion, reason and more than one time frame.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EXAM PRACTICE  ·  AT-A-L02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Calendar and the School Week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التَّقْوِيمُ وَالأُسْبُوعُ الدِّرَاسِيُّ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book, arrange and describe things with days, dates and times — then develop with reasons, past events and plans.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Advanced Topic A · Everyday Activities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TIME WORDS (SG. · DUAL · PL.)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Days, weeks, months, lessons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كَلِمَاتُ الوَقْتِ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يَوْمٌ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yaw-mun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أَيَّامٌ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يَوْمَانِ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يَوْمٌ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أُسْبُوعٌ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week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us-bū-ʿun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أَسَابِيعُ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أُسْبُوعَانِ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أُسْبُوعٌ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شَهْرٌ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month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shah-run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أَشْهُرٌ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شَهْرَانِ</a:t>
            </a:r>
            <a:endParaRPr lang="ar-SA" sz="135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شَهْرٌ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سَاعَةٌ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hour; o’clock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sā-ʿa-tun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سَاعَاتٌ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سَاعَتَانِ</a:t>
            </a:r>
            <a:endParaRPr lang="ar-SA" sz="135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سَاعَةٌ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حِصَّةٌ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lesson (period)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ḥiṣ-ṣa-tun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76656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حِصَصٌ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5614416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حِصَّتَانِ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حِصَّةٌ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960120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960120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110" name="Shape 10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12" name="Text 10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عُطْلَةٌ</a:t>
            </a:r>
            <a:endParaRPr lang="ar-SA" sz="3000" dirty="0"/>
          </a:p>
        </p:txBody>
      </p:sp>
      <p:sp>
        <p:nvSpPr>
          <p:cNvPr id="113" name="Text 11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holiday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ʿuṭ-la-tun</a:t>
            </a:r>
            <a:endParaRPr lang="en-US" sz="1350" dirty="0"/>
          </a:p>
        </p:txBody>
      </p:sp>
      <p:sp>
        <p:nvSpPr>
          <p:cNvPr id="114" name="Shape 111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عُطَلٌ</a:t>
            </a:r>
            <a:endParaRPr lang="ar-SA" sz="1500" dirty="0"/>
          </a:p>
        </p:txBody>
      </p:sp>
      <p:sp>
        <p:nvSpPr>
          <p:cNvPr id="117" name="Shape 114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119" name="Text 116"/>
          <p:cNvSpPr txBox="1"/>
          <p:nvPr/>
        </p:nvSpPr>
        <p:spPr>
          <a:xfrm>
            <a:off x="179222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عُطْلَتَانِ</a:t>
            </a:r>
            <a:endParaRPr lang="ar-SA" sz="1350" dirty="0"/>
          </a:p>
        </p:txBody>
      </p:sp>
      <p:sp>
        <p:nvSpPr>
          <p:cNvPr id="120" name="Shape 117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21" name="Text 118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22" name="Text 119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عُطْلَةٌ</a:t>
            </a:r>
            <a:endParaRPr lang="ar-SA" sz="1500" dirty="0"/>
          </a:p>
        </p:txBody>
      </p:sp>
      <p:sp>
        <p:nvSpPr>
          <p:cNvPr id="123" name="Text 12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ORDINALS AND DATES (M. · F.)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First, second, third — and dates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الأَعْدَادُ التَّرْتِيبِيَّةُ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الأَوَّلُ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first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al-aw-wa-lu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الأُولَى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الأَوَّلُ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الثَّانِي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second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ath-thā-nī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الثَّانِيَةُ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الثَّانِي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الثَّالِثُ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third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ath-thā-li-thu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الثَّالِثَةُ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الثَّالِثُ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تَارِيخٌ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date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tā-rī-khun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تَوَارِيخُ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تَارِيخٌ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مَوْعِدٌ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appointment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maw-ʿi-dun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مَوَاعِيدُ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مَوْعِدٌ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time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صَبَاحًا · مَسَاءً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morning · in the evening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ṣa-bā-ḥan · ma-sā-ʾan</a:t>
            </a:r>
            <a:endParaRPr lang="en-US" sz="1350" dirty="0"/>
          </a:p>
        </p:txBody>
      </p:sp>
      <p:sp>
        <p:nvSpPr>
          <p:cNvPr id="99" name="Text 9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AT THE SPORTS CENTRE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Booking a lesson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المَرْكَزِ الرِّيَاضِيِّ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full name.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صَبَاحَ الخَيْرِ! مَا اسْمُكَ؟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الدَّرْسَ يَوْمَ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day you want the lesson.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أَيَّ يَوْمٍ تُرِيدُ الدَّرْسَ؟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السَّاعَةِ … صَبَاحًا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time.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أَيِّ سَاعَةٍ؟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تَارِيخُ مِيلَادِي … مِنْ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date of birth.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تَارِيخُ مِيلَادِكَ؟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يُنَاسِبُنِي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يُنَاسِبُكَ الأُسْبُوعُ القَادِمُ؟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booking a tennis lesson  ·  The examiner is: the receptionist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PHONE CALL WITH A FRIEND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Planning a birthday party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حَفْلَةُ عِيدِ المِيلَادِ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عِيدُ مِيلَادِي فِي … مِنْ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the date of your birthday.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عِيدُ مِيلَادِكَ؟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الحَفْلَةُ يَوْمَ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day the party is.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أَيِّ يَوْمٍ الحَفْلَةُ؟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تَبْدَأُ فِي … وَتَنْتَهِي فِي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when it starts and finishes.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تَبْدَأُ، وَمَتَى تَنْتَهِي؟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أَنْتَ مُتَفَرِّغٌ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if your friend is free on Friday (the examiner then answers).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… نَعَمْ، أَنَا مُتَفَرِّغٌ بَعْدَ العَصْرِ.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سَنَأْكُلُ … وَنَلْعَبُ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سَنَفْعَلُ فِي الحَفْلَةِ؟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planning a party  ·  The examiner is: your friend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TALKING TO A VISITING TEACHER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My school week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أُسْبُوعِي الدِّرَاسِيُّ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أَدْرُسُ … أَيَّامٍ، مِنْ … إِلَى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days you study, and which days.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يَوْمًا تَدْرُسُ فِي الأُسْبُوعِ؟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يَبْدَأُ فِي … وَالرُّبْعِ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start and finish times.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يَبْدَأُ اليَوْمُ الدِّرَاسِيُّ، وَمَتَى يَنْتَهِي؟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عِنْدِي … حِصَصٍ، وَكُلُّ حِصَّةٍ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lessons, and how long each lasts.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حِصَّةً عِنْدَكَ فِي اليَوْمِ؟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تَبْدَأُ العُطْلَةُ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when the summer holiday starts in Jordan (the examiner then answers).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… تَبْدَأُ فِي أَوَّلِ يُولْيُو.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يَوْمِي المُفَضَّلُ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question, with a reason.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يَوْمُكَ المُفَضَّلُ فِي الأُسْبُوعِ؟ وَلِمَاذَا؟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visiting teacher from Jordan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AN INTERVIEW FOR THE SCHOOL COUNCIL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Changing the school week?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مَجْلِسُ الطُّلَّابِ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أَطْوَلُ يَوْمٍ … وَأَقْصَرُهُ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week briefly, with a comparison.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أُسْبُوعَكَ الدِّرَاسِيَّ بِاخْتِصَارٍ.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شَهْرِ … سَافَرْتُ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did in the last holiday (past, with a date).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فَعَلْتَ فِي العُطْلَةِ الأَخِيرَةِ؟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أُفَضِّلُ أَنْ يَبْدَأَ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preference and a reason.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تُفَضِّلُ أَنْ يَبْدَأَ اليَوْمُ مُبَكِّرًا أَمْ مُتَأَخِّرًا؟ لِمَاذَا؟</a:t>
            </a:r>
            <a:endParaRPr lang="ar-SA" sz="165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أَهَمُّ تَارِيخٍ عِنْدِي … 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an important date and explain why.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أَهَمُّ تَارِيخٍ فِي سَنَتِكَ؟ وَلِمَاذَا؟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سَأَكْتُبُ … وَسَأُرَاجِعُ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سَتُنَظِّمُ وَقْتَكَ فِي الشَّهْرِ القَادِمِ؟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representative  ·  The examiner is: the head of the school council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days, dates and times correctly (fī as-sāʿa …, yawma …)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added a reason, a sequence word or a second time detail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اسْمِي يُوسُفُ عَلِيٌّ.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name is Yusuf Ali.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صَبَاحَ الخَيْرِ! مَا اسْمُكَ؟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الدَّرْسَ يَوْمَ السَّبْتِ، مِنْ فَضْلِكَ.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would like the lesson on Saturday, please.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أَيَّ يَوْمٍ تُرِيدُ الدَّرْسَ؟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السَّاعَةِ العَاشِرَةِ صَبَاحًا.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ten o’clock in the morning.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أَيِّ سَاعَةٍ؟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تَارِيخُ مِيلَادِي هُوَ الخَامِسُ مِنْ مَايُو.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date of birth is the fifth of May.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تَارِيخُ مِيلَادِكَ؟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يُنَاسِبُنِي الأُسْبُوعُ القَادِمُ، شُكْرًا.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next week suits me, thank you.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يُنَاسِبُكَ الأُسْبُوعُ القَادِمُ؟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عِيدُ مِيلَادِي فِي العَاشِرِ مِنْ نُوفَمْبَرَ.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birthday is on the tenth of November.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عِيدُ مِيلَادِكَ؟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الحَفْلَةُ يَوْمَ الجُمُعَةِ بَعْدَ المَدْرَسَةِ.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party is on Friday after school.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أَيِّ يَوْمٍ الحَفْلَةُ؟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تَبْدَأُ فِي السَّاعَةِ الرَّابِعَةِ، وَتَنْتَهِي فِي السَّابِعَةِ.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starts at four and finishes at seven.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تَبْدَأُ، وَمَتَى تَنْتَهِي؟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أَنْتَ مُتَفَرِّغٌ يَوْمَ الجُمُعَةِ؟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you free on Friday?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… نَعَمْ، أَنَا مُتَفَرِّغٌ بَعْدَ العَصْرِ.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سَنَأْكُلُ الكَعْكَةَ، وَنَلْعَبُ أَلْعَابًا مُمْتِعَةً فِي الحَدِيقَةِ.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will eat cake and play fun games in the garden.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سَنَفْعَلُ فِي الحَفْلَةِ؟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أَدْرُسُ خَمْسَةَ أَيَّامٍ، مِنَ الإِثْنَيْنِ إِلَى الجُمُعَةِ.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study five days, from Monday to Friday.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يَوْمًا تَدْرُسُ فِي الأُسْبُوعِ؟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يَبْدَأُ فِي الثَّامِنَةِ وَالرُّبْعِ، وَيَنْتَهِي فِي الثَّالِثَةِ وَالنِّصْفِ.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starts at quarter past eight and finishes at half past three.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يَبْدَأُ اليَوْمُ الدِّرَاسِيُّ، وَمَتَى يَنْتَهِي؟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عِنْدِي سِتُّ حِصَصٍ، وَكُلُّ حِصَّةٍ خَمْسُونَ دَقِيقَةً.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six lessons, and each lesson is fifty minutes.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حِصَّةً عِنْدَكَ فِي اليَوْمِ؟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تَبْدَأُ العُطْلَةُ الصَّيْفِيَّةُ عِنْدَكُمْ؟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does the summer holiday start for you?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… تَبْدَأُ فِي أَوَّلِ يُولْيُو.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يَوْمِي المُفَضَّلُ هُوَ الخَمِيسُ، لِأَنَّ عِنْدِي حِصَّتَيْنِ مِنَ الرِّيَاضَةِ.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day is Thursday, because I have two PE lessons.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يَوْمُكَ المُفَضَّلُ فِي الأُسْبُوعِ؟ وَلِمَاذَا؟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أَدْرُسُ مِنَ الإِثْنَيْنِ إِلَى الجُمُعَةِ؛ أَطْوَلُ يَوْمٍ هُوَ الثُّلَاثَاءُ لِأَنَّ عِنْدِي سَبْعَ حِصَصٍ، وَأَقْصَرُهُ الجُمُعَةُ.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study Monday to Friday; the longest day is Tuesday because I have seven lessons, and the shortest is Friday.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أُسْبُوعَكَ الدِّرَاسِيَّ بِاخْتِصَارٍ.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العُطْلَةِ الأَخِيرَةِ، فِي شَهْرِ أَبْرِيلَ، سَافَرْتُ إِلَى مِصْرَ، وَزُرْتُ أَقَارِبِي أُسْبُوعَيْنِ.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last holiday, in April, I travelled to Egypt and visited my relatives for two weeks.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فَعَلْتَ فِي العُطْلَةِ الأَخِيرَةِ؟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أُفَضِّلُ أَنْ يَبْدَأَ فِي التَّاسِعَةِ، لِأَنَّ الطُّلَّابَ يَكُونُونَ أَكْثَرَ تَرْكِيزًا بَعْدَ النَّوْمِ الكَافِي.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it to start at nine, because students concentrate better after enough sleep.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تُفَضِّلُ أَنْ يَبْدَأَ اليَوْمُ مُبَكِّرًا أَمْ مُتَأَخِّرًا؟ لِمَاذَا؟</a:t>
            </a:r>
            <a:endParaRPr lang="ar-SA" sz="155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أَهَمُّ تَارِيخٍ عِنْدِي هُوَ أَوَّلُ يَوْمٍ مِنَ العِيدِ، لِأَنَّ الأُسْرَةَ كُلَّهَا تَجْتَمِعُ.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most important date is the first day of Eid, because the whole family gets together.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أَهَمُّ تَارِيخٍ فِي سَنَتِكَ؟ وَلِمَاذَا؟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سَأَكْتُبُ مَوَاعِيدَ الامْتِحَانَاتِ فِي تَقْوِيمِي، وَسَأُرَاجِعُ سَاعَةً كُلَّ يَوْمٍ.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write the exam dates in my calendar and revise for an hour every day.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سَتُنَظِّمُ وَقْتَكَ فِي الشَّهْرِ القَادِمِ؟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superlatives, a dual, an + verb in -a, and past, present and future in one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التَّوَارِيخُ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اليَوْمُ … مِنْ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date today?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تَارِيخُ اليَوْمِ؟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عِيدُ مِيلَادِي 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is your birthday?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عِيدُ مِيلَادِكَ؟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أَدْرُسُ … أَيَّامٍ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days do you study a week?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يَوْمًا تَدْرُسُ فِي الأُسْبُوعِ؟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تَبْدَأُ المَدْرَسَةُ فِي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does school start?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تَبْدَأُ المَدْرَسَةُ؟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شَهْرِي المُفَضَّلُ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month?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شَهْرُكَ المُفَضَّلُ؟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أُسْبُوعِي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يَوْمُ الإِثْنَيْنِ … ثُمَّ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Monday at your school.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يَوْمَ الإِثْنَيْنِ فِي مَدْرَسَتِكَ.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أُحِبُّ يَوْمَ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day do you like most? Why?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أَيَّ يَوْمٍ تُحِبُّ أَكْثَرَ؟ لِمَاذَا؟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عَادَةً … يَوْمَ السَّبْتِ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usually do at the weekend?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تَفْعَلُ فِي نِهَايَةِ الأُسْبُوعِ عَادَةً؟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تَبْدَأُ فِي … وَسَأَزُورُ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does the next holiday start? What will you do?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تَبْدَأُ العُطْلَةُ القَادِمَةُ؟ وَمَاذَا سَتَفْعَلُ؟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يَوْمَ السَّبْتِ المَاضِي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did you do last Saturday?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فَعَلْتَ يَوْمَ السَّبْتِ المَاضِي؟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time or date, a sequence word (thumma) and a reason (li-anna).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الوَقْتُ وَالتَّقْوِيمُ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بَيْنَمَا نَدْرُسُ … يَدْرُسُ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your school week with a student’s in an Arab country.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قَارِنْ بَيْنَ أُسْبُوعِكَ الدِّرَاسِيِّ وَأُسْبُوعِ طَالِبٍ فِي بَلَدٍ عَرَبِيٍّ.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أَعْتَقِدُ أَنَّهَا … لٰكِنَّ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the summer holiday long enough, in your opinion?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العُطْلَةُ الصَّيْفِيَّةُ طَوِيلَةٌ بِمَا يَكْفِي فِي رَأْيِكَ؟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أَكْتُبُ كُلَّ مَوْعِدٍ فِي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organise your appointments and homework?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تُنَظِّمُ مَوَاعِيدَكَ وَوَاجِبَاتِكَ؟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المَدْرَسَةِ الابْتِدَائِيَّةِ كَانَ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was your week like in primary school?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أُسْبُوعُكَ فِي المَدْرَسَةِ الابْتِدَائِيَّةِ؟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كَانَ عِنْدِي … لَتَعَلَّمْتُ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had an extra day each week, what would you do?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كَانَ عِنْدَكَ يَوْمٌ إِضَافِيٌّ فِي الأُسْبُوعِ،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comparison (baynamā), an opinion with “but”, a past habit (kāna / kuntu) and a conditional (law … la-).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اليَوْمُ هُوَ الخَامِسُ مِنْ أُكْتُوبَرَ.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 is the fifth of October.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تَارِيخُ اليَوْمِ؟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عِيدُ مِيلَادِي فِي الثَّالِثِ مِنْ مَارِسَ.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birthday is on the third of March.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عِيدُ مِيلَادِكَ؟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أَدْرُسُ خَمْسَةَ أَيَّامٍ فِي الأُسْبُوعِ.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study five days a week.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يَوْمًا تَدْرُسُ فِي الأُسْبُوعِ؟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تَبْدَأُ المَدْرَسَةُ فِي السَّاعَةِ الثَّامِنَةِ وَالنِّصْفِ.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School starts at half past eight.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تَبْدَأُ المَدْرَسَةُ؟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شَهْرِي المُفَضَّلُ هُوَ أُغُسْطُسُ، لِأَنَّهُ فِي العُطْلَةِ.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month is August, because it is in the holidays.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شَهْرُكَ المُفَضَّلُ؟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the right date or time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يَوْمُ الإِثْنَيْنِ طَوِيلٌ؛ تَبْدَأُ الحِصَّةُ الأُولَى فِي الثَّامِنَةِ، ثُمَّ عِنْدِي الرِّيَاضِيَّاتُ وَالعُلُومُ، وَأَرْجِعُ إِلَى البَيْتِ فِي الرَّابِعَةِ.</a:t>
            </a:r>
            <a:endParaRPr lang="ar-SA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Monday is long: the first lesson starts at eight, then I have maths and science, and I get home at four.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يَوْمَ الإِثْنَيْنِ فِي مَدْرَسَتِكَ.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أُحِبُّ يَوْمَ الأَرْبِعَاءِ أَكْثَرَ، لِأَنَّ عِنْدِي حِصَّةَ الفَنِّ وَحِصَّةَ الرِّيَاضَةِ.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Wednesday most, because I have art and PE.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أَيَّ يَوْمٍ تُحِبُّ أَكْثَرَ؟ لِمَاذَا؟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عَادَةً أَزُورُ جَدَّتِي يَوْمَ السَّبْتِ، وَأُرَاجِعُ دُرُوسِي يَوْمَ الأَحَدِ.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usually visit my grandmother on Saturday and revise on Sunday.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تَفْعَلُ فِي نِهَايَةِ الأُسْبُوعِ عَادَةً؟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تَبْدَأُ فِي العِشْرِينَ مِنْ دِيسَمْبَرَ، وَسَأَزُورُ أَقَارِبِي فِي مَانْشِسْتَرَ.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starts on the twentieth of December, and I will visit my relatives in Manchester.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تَبْدَأُ العُطْلَةُ القَادِمَةُ؟ وَمَاذَا سَتَفْعَلُ؟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يَوْمَ السَّبْتِ المَاضِي ذَهَبْتُ إِلَى المَكْتَبَةِ فِي العَاشِرَةِ، ثُمَّ لَعِبْتُ كُرَةَ القَدَمِ.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Last Saturday I went to the library at ten, then I played football.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فَعَلْتَ يَوْمَ السَّبْتِ المَاضِي؟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Times + sequence + reason + one past and one future sentence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بَيْنَمَا نَدْرُسُ مِنَ الإِثْنَيْنِ إِلَى الجُمُعَةِ، يَدْرُسُ الطُّلَّابُ فِي بَعْضِ البُلْدَانِ العَرَبِيَّةِ مِنَ الأَحَدِ إِلَى الخَمِيسِ، لِأَنَّ الجُمُعَةَ عُطْلَةٌ هُنَاكَ.</a:t>
            </a:r>
            <a:endParaRPr lang="ar-SA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While we study Monday to Friday, students in some Arab countries study Sunday to Thursday, because Friday is a holiday there.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قَارِنْ بَيْنَ أُسْبُوعِكَ الدِّرَاسِيِّ وَأُسْبُوعِ طَالِبٍ فِي بَلَدٍ عَرَبِيٍّ.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أَعْتَقِدُ أَنَّهَا مُنَاسِبَةٌ، لِأَنَّهَا سِتَّةُ أَسَابِيعَ، لٰكِنَّ بَعْضَ الطُّلَّابِ يَنْسَوْنَ دُرُوسَهُمْ فِيهَا.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it is about right, because it is six weeks, but some students forget their lessons in it.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العُطْلَةُ الصَّيْفِيَّةُ طَوِيلَةٌ بِمَا يَكْفِي فِي رَأْيِكَ؟</a:t>
            </a:r>
            <a:endParaRPr lang="ar-SA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أَكْتُبُ كُلَّ مَوْعِدٍ فِي تَقْوِيمٍ عَلَى هَاتِفِي، وَأُنْهِي الوَاجِبَ فِي اليَوْمِ نَفْسِهِ.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write every appointment in a calendar on my phone, and finish homework on the same day.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تُنَظِّمُ مَوَاعِيدَكَ وَوَاجِبَاتِكَ؟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comparison, opinion + contrast, past habit and a conditional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المَدْرَسَةِ الابْتِدَائِيَّةِ كَانَ اليَوْمُ أَقْصَرَ، وَكُنْتُ أَلْعَبُ أَكْثَرَ وَأَدْرُسُ أَقَلَّ.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primary school the day was shorter, and I used to play more and study less.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أُسْبُوعُكَ فِي المَدْرَسَةِ الابْتِدَائِيَّةِ؟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كَانَ عِنْدِي يَوْمٌ إِضَافِيٌّ، لَتَعَلَّمْتُ لُغَةً جَدِيدَةً، وَلَزُرْتُ أَصْدِقَائِي.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had an extra day, I would learn a new language and visit my friends.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كَانَ عِنْدَكَ يَوْمٌ إِضَافِيٌّ فِي الأُسْبُوعِ، مَاذَا تَفْعَلُ؟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comparison, opinion + contrast, past habit and a conditional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days, dates and times correctly (yawma as-sabti · fī as-sāʿa …).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ordinals and numbers with the right noun (khamsata ayyāmin).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asked a question in the role play.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superlative, a comparison or a conditional.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AT-A-L02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AT-A-L02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AT-A-L02 · Speaking Workshop — Calendar and the School Week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2026-10-11T07:50:46Z</dcterms:created>
  <dcterms:modified xsi:type="dcterms:W3CDTF">2026-10-11T07:50:46Z</dcterms:modified>
</cp:coreProperties>
</file>