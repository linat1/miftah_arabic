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11 (Travel and Tourism, AT-A-L11), using that lesson’s language (holidays in the past tense; hotels and sights; إِذَا (real) and لَوْ (unreal) conditionals).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hollow verbs shorten in the past: زَارَ → زُرْتُ · زُرْنَا. Staying at a hotel: نَزَلْنَا فِي فُنْدُقٍ قَرِيبٍ مِنَ البَحْرِ.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two kinds of “if”: إِذَا سَافَرْتُ، سَأَزُورُ … (real) · لَوْ كَانَ عِنْدِي مَالٌ، لَسَافَرْتُ … (unreal). Non-human plurals take feminine singular: مَعَالِمُ تَارِيخِيَّةٌ.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phoning a hotel.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تُرِيدِينَ · سَتَصِلِينَ — the candidate says أَنَا وَأُخْتِي.
Core: a polite request, room type, numbers with layālin (3–10 + genitive plural), a reason,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at the hotel desk.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غُرْفَتِكِ · وَجَدْتِ · تُعْطِيَنِي (same).
Task 3: a polite request with hal yumkin an + verb in -a. Task 4: the CANDIDATE asks. Ordinal floors: الطَّابِقُ الثَّانِي / الخَامِسُ.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back at school.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قَضَيْتِ · رَأَيْتِهِ · تَنْصَحِينَ صَدِيقَتَكِ — إِذَا ذَهَبَتْ … أَنْ تَرْكَبَ.
Develop: we-forms in the past, a superlative + relative (ajmalu shayʾin raʾaytuhu), a problem with fa- + ḥattā, advice with idhā.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travel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رَبِحْتِ · تَذْهَبِينَ.
Stretch: two reasons, mithlan + fa- (result), kāna vs ammā … fa-, a concession and law … la- with li- of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description and an opinion.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AT-A-L11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AT-A-L11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Travel and Tourism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السَّفَرُ وَالسِّيَاحَةُ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book a hotel room, talk about a past holiday, describe sights and problems, and imagine dream trips with idhā and law.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AT-A-L11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HOLIDAY VERBS IN THE PAST (I · HE · SHE · WE)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did you go?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أَيْنَ سَافَرْتَ؟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travelled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sā-far-tu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سَافَرْنَا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سَافَرَتْ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سَافَرَ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visited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zur-tu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زُرْنَا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زَارَتْ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زَارَ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نَزَلْتُ فِي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stayed at (a hotel)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na-zal-tu fī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نَزَلْنَا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نَزَلَتْ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نَزَلَ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· he · we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أَحْجِزُ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aḥ-ji-zu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نَحْجِزُ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يَحْجِزُ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حَجَزْتُ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سَائِحٌ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tourist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sā-ʾi-ḥun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سُيَّاحٌ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سَائِحَةٌ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سَائِحٌ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6" name="Shape 10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110" name="Shape 10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12" name="Text 10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فُنْدُقٌ</a:t>
            </a:r>
            <a:endParaRPr lang="ar-SA" sz="3000" dirty="0"/>
          </a:p>
        </p:txBody>
      </p:sp>
      <p:sp>
        <p:nvSpPr>
          <p:cNvPr id="113" name="Text 11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hotel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fun-du-qun</a:t>
            </a:r>
            <a:endParaRPr lang="en-US" sz="1350" dirty="0"/>
          </a:p>
        </p:txBody>
      </p:sp>
      <p:sp>
        <p:nvSpPr>
          <p:cNvPr id="114" name="Shape 111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فَنَادِقُ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19" name="Text 116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فُنْدُقٌ</a:t>
            </a:r>
            <a:endParaRPr lang="ar-SA" sz="1500" dirty="0"/>
          </a:p>
        </p:txBody>
      </p:sp>
      <p:sp>
        <p:nvSpPr>
          <p:cNvPr id="120" name="Text 11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HOTELS, SIGHTS AND CONDITIONALS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Hotels, sights — and “if …”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الفُنْدُقُ وَالمَعَالِمُ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single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 مُزْدَوِجَةٌ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double room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ghur-fa-tun muz-da-wi-ja-tun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غُرَفٌ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single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 مُفْرَدَةٌ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مَعْلَمٌ سِيَاحِيٌّ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tourist sight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maʿ-la-mun si-yā-ḥiy-yun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مَعَالِمُ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مَعْلَمٌ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non-hum. pl.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تَارِيخِيٌّ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historic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tā-rī-khiy-yun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تَارِيخِيَّةٌ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تَارِيخِيَّةٌ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تَارِيخِيٌّ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عُطْلَةٌ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holiday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ʿuṭ-la-tun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عُطَلٌ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عُطْلَةٌ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idhā + past verb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…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(real, likely)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…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law … la-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… لَسَافَرْتُ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I would travel (unreal)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law kā-na … la-sā-far-tu</a:t>
            </a:r>
            <a:endParaRPr lang="en-US" sz="135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PHONING A HOTEL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Booking a hotel 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أَحْجِزُ غُرْفَةً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أَحْجِزَ غُرْفَةً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 want to book a room.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فُنْدُقُ البَحْرِ،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 مُزْدَوِجَةٌ لِشَخْصَيْنِ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room and for how many people.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 مُفْرَدَةٌ أَمْ مُزْدَوِجَةٌ؟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لَيَالٍ، مِنْ يَوْمِ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nights and from when.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لَيْلَةً؟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give a reason.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غُرْفَةً تُطِلُّ عَلَى البَحْرِ؟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سَأَصِلُ فِي السَّاعَةِ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سَتَصِلُ إِلَى الفُنْدُقِ؟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guest  ·  The examiner is: the hotel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THE HOTEL DESK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problem at the hotel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مُشْكِلَةٌ فِي الفُنْدُقِ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المُكَيِّفُ فِي غُرْفَتِي لَا يَعْمَلُ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problem with your room.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مَسَاءُ الخَيْرِ، هَلْ هُنَاكَ مُشْكِلَةٌ؟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 رَقْمُ … فِي الطَّابِقِ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room number and floor.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رَقْمُ غُرْفَتِكَ؟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politely for another room tonight.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سَنُرْسِلُ مُوَظَّفًا غَدًا.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… مَتَى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him and ASK about breakfast time.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طَبْعًا. عِنْدَنَا غُرْفَةٌ فِي الطَّابِقِ الخَامِسِ.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… وَكَانَ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opinion).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وَجَدْتَ مَدِينَتَنَا حَتَّى الآنَ؟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guest  ·  The examiner is: the hotel manager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BACK AT SCHOOL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Your holiday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كَيْفَ كَانَتْ عُطْلَتُكَ؟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 … فِي … مَعَ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where, with whom and how long.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أَيْنَ قَضَيْتَ العُطْلَةَ؟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سَافَرْنَا بِالطَّائِرَةِ … وَنَزَلْنَا فِي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travelled and where you stayed.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سَافَرْتُمْ؟ وَأَيْنَ نَزَلْتُمْ؟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شَيْءٍ كَانَ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sight with a superlative.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أَجْمَلُ شَيْءٍ رَأَيْتَهُ؟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ضَاعَتْ … فَانْتَظَرْنَا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small problem and the result.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حَدَثَتْ أَيُّ مُشْكِلَةٍ؟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إِذَا ذَهَبَ … يَجِبُ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(advice + idhā).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تَنْصَحُ صَدِيقَكَ بِزِيَارَتِهَا؟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back from holiday  ·  The examiner is: your Arabic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TRAVEL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Tourism: good or bad?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السِّيَاحَةُ: نِعْمَةٌ أَمْ مُشْكِلَةٌ؟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لِأَنَّهُ … وَلِأَنَّهُ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يُحِبُّ النَّاسُ السَّفَرَ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مِثْلًا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disadvantage with an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لِلسِّيَاحَةِ سَلْبِيَّاتٌ؟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السَّفَرُ … أَمَّا اليَوْمَ فَنَحْجِزُ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السَّفَرُ مُنْذُ أَيَّامِ أَجْدَادِنَا؟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نُقَلِّلَ السَّفَرَ بِالطَّائِرَةِ؟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رَبِحْتُ …، لَذَهَبْتُ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رَبِحْتَ رِحْلَةً مَجَّانِيَّةً، أَيْنَ تَذْهَبُ؟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traveller  ·  The examiner is: a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where, when and how they travelled, in the past tense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sight or a problem, and gave an opinion with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مَسَاءُ الخَيْرِ، أُرِيدُ أَنْ أَحْجِزَ غُرْفَةً،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evening, I would like to book a room,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فُنْدُقُ البَحْرِ،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 مُزْدَوِجَةٌ لِشَخْصَيْنِ: أَنَا وَأَخِي.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double room for two people: me and my brother.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 مُفْرَدَةٌ أَمْ مُزْدَوِجَةٌ؟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ثَلَاثَ لَيَالٍ، مِنْ يَوْمِ الخَمِيسِ إِلَى يَوْمِ الأَحَدِ.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nights, from Thursday to Sunday.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لَيْلَةً؟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مِنْ فَضْلِكَ، لِأَنَّ المَنْظَرَ جَمِيلٌ.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please, because the view is beautiful.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غُرْفَةً تُطِلُّ عَلَى البَحْرِ؟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سَأَصِلُ فِي السَّاعَةِ الخَامِسَةِ مَسَاءً تَقْرِيبًا.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arrive at about five in the evening.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سَتَصِلُ إِلَى الفُنْدُقِ؟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المُكَيِّفُ فِي غُرْفَتِي لَا يَعْمَلُ، وَالجَوُّ حَارٌّ جِدًّا.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air conditioning in my room doesn’t work, and it is very hot.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مَسَاءُ الخَيْرِ، هَلْ هُنَاكَ مُشْكِلَةٌ؟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 رَقْمُ مِئَتَيْنِ وَخَمْسَةٍ، فِي الطَّابِقِ الثَّانِي.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Room 205, on the second floor.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رَقْمُ غُرْفَتِكَ؟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تُعْطِيَنِي غُرْفَةً أُخْرَى اللَّيْلَةَ؟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Could you give me another room tonight?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سَنُرْسِلُ مُوَظَّفًا غَدًا.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جَزِيلًا. وَمَتَى يَبْدَأُ الفُطُورُ فِي الصَّبَاحِ؟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very much. And when does breakfast start?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طَبْعًا. عِنْدَنَا غُرْفَةٌ فِي الطَّابِقِ الخَامِسِ.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القَلْعَةَ وَالسُّوقَ القَدِيمَ، وَكَانَ كُلُّ شَيْءٍ رَائِعًا.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the castle and the old market, and everything was wonderful.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وَجَدْتَ مَدِينَتَنَا حَتَّى الآنَ؟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 أُسْبُوعًا فِي إِسْطَنْبُولَ مَعَ أُسْرَتِي.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spent a week in Istanbul with my family.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أَيْنَ قَضَيْتَ العُطْلَةَ؟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سَافَرْنَا بِالطَّائِرَةِ، وَنَزَلْنَا فِي فُنْدُقٍ صَغِيرٍ قَرِيبٍ مِنَ البَحْرِ.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flew, and stayed in a small hotel near the sea.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سَافَرْتُمْ؟ وَأَيْنَ نَزَلْتُمْ؟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شَيْءٍ كَانَ المَسْجِدَ الأَزْرَقَ، لِأَنَّهُ ضَخْمٌ وَمُزَيَّنٌ بِأَلْوَانٍ رَائِعَةٍ.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beautiful thing was the Blue Mosque, because it is huge and decorated in wonderful colours.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أَجْمَلُ شَيْءٍ رَأَيْتَهُ؟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ضَاعَتْ حَقِيبَةُ أُخْتِي فِي المَطَارِ، فَانْتَظَرْنَا سَاعَتَيْنِ حَتَّى وَجَدُوهَا.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my sister’s bag got lost at the airport, so we waited two hours until they found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حَدَثَتْ أَيُّ مُشْكِلَةٍ؟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وَإِذَا ذَهَبَ فِي الرَّبِيعِ، فَيَجِبُ أَنْ يَرْكَبَ القَارِبَ فِي البُوسْفُورِ.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and if he goes in spring, he must take a boat on the Bosphorus.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تَنْصَحُ صَدِيقَكَ بِزِيَارَتِهَا؟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لِأَنَّهُ يُبْعِدُنَا عَنْ ضَغْطِ الحَيَاةِ اليَوْمِيَّةِ، وَلِأَنَّهُ يُعَرِّفُنَا بِثَقَافَاتٍ جَدِيدَةٍ.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takes us away from daily stress, and because it introduces us to new cultures.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يُحِبُّ النَّاسُ السَّفَرَ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مِثْلًا تَزْدَحِمُ المُدُنُ القَدِيمَةُ بِالسُّيَّاحِ، فَيَرْتَفِعُ سِعْرُ السَّكَنِ عَلَى أَهْلِهَا.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for example old cities get crowded with tourists, so housing prices rise for the locals.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لِلسِّيَاحَةِ سَلْبِيَّاتٌ؟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السَّفَرُ صَعْبًا وَغَالِيًا، أَمَّا اليَوْمَ فَنَحْجِزُ الرِّحْلَةَ وَالفُنْدُقَ بِالهَاتِفِ فِي دَقَائِقَ.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Travel used to be hard and expensive; today we book the flight and hotel on our phone in minutes.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السَّفَرُ مُنْذُ أَيَّامِ أَجْدَادِنَا؟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الطَّائِرَاتِ تُلَوِّثُ البِيئَةَ، غَيْرَ أَنَّنَا نَسْتَطِيعُ أَنْ نُسَافِرَ أَقَلَّ وَنَبْقَى مُدَّةً أَطْوَلَ.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planes pollute, but we can travel less often and stay longer.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نُقَلِّلَ السَّفَرَ بِالطَّائِرَةِ؟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رَبِحْتُ رِحْلَةً مَجَّانِيَّةً، لَذَهَبْتُ إِلَى المَغْرِبِ، لِأَزُورَ فَاسَ وَأَتَعَلَّمَ صِنَاعَةَ الفَخَّارِ.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won a free trip, I would go to Morocco to visit Fez and learn pottery.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رَبِحْتَ رِحْلَةً مَجَّانِيَّةً، أَيْنَ تَذْهَبُ؟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an example with a result, ammā … fa-,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عُطْلَتِي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travel last summer?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سَافَرْتَ فِي الصَّيْفِ المَاضِي؟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سَافَرْنَا بِالطَّائِرَةِ / بِالسَّيَّارَةِ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travel?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سَافَرْتُمْ؟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نَزَلْنَا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stay?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نَزَلْتُمْ؟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زُرْنَا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visit?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زُرْتُمْ؟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 السَّفَرَ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travelling?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السَّفَرَ؟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السَّفَرُ وَالسِّيَاحَةُ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مَدِينَةٍ زُرْتُهَا هِيَ … فِيهَا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most beautiful city you have visited.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أَجْمَلَ مَدِينَةٍ زُرْتَهَا.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Beach holiday or historic city?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عُطْلَةً عَلَى الشَّاطِئِ أَمْ فِي مَدِينَةٍ تَارِيخِيَّةٍ؟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آخُذُ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always take when travelling?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تَأْخُذُهُ مَعَكَ دَائِمًا فِي السَّفَرِ؟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مَرَّةً تَأَخَّرَتْ … فَنِمْنَا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had a problem while travelling?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حَدَثَتْ لَكَ مُشْكِلَةٌ فِي السَّفَرِ؟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… سَنَذْهَبُ إِلَى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you spend your next holiday?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سَتَقْضِي عُطْلَتَكَ القَادِمَةَ؟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superlative, a preference with a reason, a past problem and an idhā sentence.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السِّيَاحَةُ وَالعَالَمُ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travel the best way to learn?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السَّفَرُ أَفْضَلُ طَرِيقَةٍ لِلتَّعَلُّمِ؟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tourism affect poorer countries?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تُؤَثِّرُ السِّيَاحَةُ فِي البِلَادِ الفَقِيرَةِ؟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دَائِمًا؛ فَبَعْضُهُمْ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tourists always respect local culture?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السُّيَّاحُ يَحْتَرِمُونَ ثَقَافَةَ البِلَادِ دَائِمًا؟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virtual travel replace real travel?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السَّفَرُ الافْتِرَاضِيُّ يُغْنِي عَنِ السَّفَرِ الحَقِيقِيِّ؟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عِشْتُ …، لَاخْتَرْتُ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lived a year abroad, which country would you choose?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عِشْتَ سَنَةً فِي بَلَدٍ آخَرَ، أَيَّ بَلَدٍ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min nāḥiya … wa-min nāḥiya ukhrā, lam + jussive, a concession, a superlative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إِلَى مِصْرَ مَعَ أُسْرَتِي.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travelled to Egypt with my family.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سَافَرْتَ فِي الصَّيْفِ المَاضِي؟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سَافَرْنَا بِالطَّائِرَةِ، وَاسْتَغْرَقَتِ الرِّحْلَةُ خَمْسَ سَاعَاتٍ.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flew, and the flight took five hours.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سَافَرْتُمْ؟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نَزَلْنَا فِي فُنْدُقٍ كَبِيرٍ قَرِيبٍ مِنَ النِّيلِ.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stayed in a big hotel near the Nile.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نَزَلْتُمْ؟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زُرْنَا الأَهْرَامَ وَالمُتْحَفَ المِصْرِيَّ.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visited the pyramids and the Egyptian Museum.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زُرْتُمْ؟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 السَّفَرَ كَثِيرًا، لِأَنِّي أَرَى أَمَاكِنَ جَدِيدَةً.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love travelling, because I see new places.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السَّفَرَ؟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in the past + a detail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مَدِينَةٍ زُرْتُهَا هِيَ غَرْنَاطَةُ؛ فِيهَا قَصْرُ الحَمْرَاءِ وَحَدَائِقُ رَائِعَةٌ وَشَوَارِعُ ضَيِّقَةٌ.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beautiful city I have visited is Granada; it has the Alhambra, wonderful gardens and narrow streets.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أَجْمَلَ مَدِينَةٍ زُرْتَهَا.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المَدِينَةَ التَّارِيخِيَّةَ، لِأَنِّي أُحِبُّ التَّارِيخَ، وَالشَّاطِئُ مُمِلٌّ بَعْدَ يَوْمَيْنِ.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a historic city, because I love history, and the beach is boring after two days.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عُطْلَةً عَلَى الشَّاطِئِ أَمْ فِي مَدِينَةٍ تَارِيخِيَّةٍ؟</a:t>
            </a:r>
            <a:endParaRPr lang="ar-SA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آخُذُ دَائِمًا كِتَابًا وَشَاحِنَ الهَاتِفِ، لِأَنَّ الرِّحْلَاتِ الطَّوِيلَةَ مُمِلَّةٌ.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always take a book and a phone charger, because long journeys are boring.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تَأْخُذُهُ مَعَكَ دَائِمًا فِي السَّفَرِ؟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مَرَّةً تَأَخَّرَتْ طَائِرَتُنَا سِتَّ سَاعَاتٍ، فَنِمْنَا عَلَى الكَرَاسِي فِي المَطَارِ.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once our plane was six hours late, so we slept on the chairs at the airport.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حَدَثَتْ لَكَ مُشْكِلَةٌ فِي السَّفَرِ؟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نَجَحْتُ فِي الامْتِحَانَاتِ، سَنَذْهَبُ إِلَى الأُرْدُنِّ لِنَزُورَ البَتْرَاءَ.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pass my exams, we will go to Jordan to visit Petra.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سَتَقْضِي عُطْلَتَكَ القَادِمَةَ؟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reason + past problem + idhā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أَنَّهُ مِنْ أَفْضَلِ الطُّرُقِ، لِأَنَّنَا نَتَعَلَّمُ اللُّغَةَ وَالتَّارِيخَ مِنَ النَّاسِ مُبَاشَرَةً، لَا مِنَ الكُتُبِ فَقَطْ.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it is one of the best ways, because we learn language and history directly from people, not only from books.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السَّفَرُ أَفْضَلُ طَرِيقَةٍ لِلتَّعَلُّمِ؟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تُوَفِّرُ فُرَصَ عَمَلٍ، وَمِنْ نَاحِيَةٍ أُخْرَى قَدْ تُضِرُّ بِالبِيئَةِ وَالتَّقَالِيدِ المَحَلِّيَّةِ.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 it creates jobs; on the other it may harm the environment and local traditions.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تُؤَثِّرُ السِّيَاحَةُ فِي البِلَادِ الفَقِيرَةِ؟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دَائِمًا؛ فَبَعْضُهُمْ يَلْبَسُونَ مَلَابِسَ غَيْرَ مُنَاسِبَةٍ فِي الأَمَاكِنِ الدِّينِيَّةِ، لِأَنَّهُمْ لَمْ يَقْرَؤُوا عَنْهَا قَبْلَ السَّفَرِ.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always; some wear inappropriate clothes in religious places because they didn’t read about them before travelling.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السُّيَّاحُ يَحْتَرِمُونَ ثَقَافَةَ البِلَادِ دَائِمًا؟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min afḍal aṭ-ṭuruq, balanced views, lam yaqraʾū, ṣaḥīḥun anna … ghayra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رَخِيصٌ وَمُفِيدٌ لِلْبِيئَةِ، غَيْرَ أَنَّهُ لَا يُعْطِينَا رَائِحَةَ الأَسْوَاقِ وَلَا طَعْمَ الأَكْلِ.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it is cheap and good for the environment, but it can’t give us the smell of the markets or the taste of the food.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السَّفَرُ الافْتِرَاضِيُّ يُغْنِي عَنِ السَّفَرِ الحَقِيقِيِّ؟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عِشْتُ سَنَةً فِي بَلَدٍ آخَرَ، لَاخْتَرْتُ اليَابَانَ، لِأَنَّ ثَقَافَتَهَا مُخْتَلِفَةٌ تَمَامًا عَنْ ثَقَافَتِنَا.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lived a year abroad, I would choose Japan, because its culture is completely different from 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عِشْتَ سَنَةً فِي بَلَدٍ آخَرَ، أَيَّ بَلَدٍ تَخْتَارُ؟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min afḍal aṭ-ṭuruq, balanced views, lam yaqraʾū, ṣaḥīḥun anna … ghayra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where, when and how I travelled (sāfartu, zurtu).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booked a room or explained a problem politely.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sight with a superlative (ajmalu …).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idhā for a real plan.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law … la-, a concession or balanced views.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AT-A-L11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AT-A-L11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AT-A-L11 · Speaking Workshop — Travel and Tourism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2026-10-11T08:36:11Z</dcterms:created>
  <dcterms:modified xsi:type="dcterms:W3CDTF">2026-10-11T08:36:11Z</dcterms:modified>
</cp:coreProperties>
</file>