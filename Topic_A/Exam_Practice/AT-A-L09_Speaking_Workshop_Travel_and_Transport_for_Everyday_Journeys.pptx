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2000" cy="6858000"/>
  <p:notesSz cx="6858000" cy="12192000"/>
  <p:embeddedFontLst>
    <p:embeddedFont>
      <p:font typeface="Amiri" pitchFamily="2" charset="-78"/>
      <p:regular r:id="rIdFont1"/>
      <p:bold r:id="rIdFont2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Relationship Id="rIdFont1" Type="http://schemas.openxmlformats.org/officeDocument/2006/relationships/font" Target="fonts/font1.fntdata"/><Relationship Id="rIdFont2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cs typeface="Amiri" pitchFamily="2" charset="-78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WORKSHOP AT A GLANCE — 60 minutes on Teams, mostly in breakout rooms of three.
0–2 Welcome · 2–6 How Paper 3 works · 6–10 Language bank · 10–13 Breakout routine · 13–33 Role plays A–D in rooms (rotate roles) · 33–37 Role-play models (main room) · 37–50 Topic conversation in rooms · 50–55 Conversation models · 55–58 Feedback + self-check · 58–60 Close.
Content: teacher-made exam scenarios for Advanced Topic A, Lesson 9 (Travel and Transport for Everyday Journeys, AT-A-L09), using that lesson’s language (travel verbs with bi- (by); prepositions; time; comparatives (أَسْرَعُ مِنْ); directions). Every task has Core · Develop · Stretch support and a model answer.
EXAM FORMAT: Paper 3 Speaking = a role play and a topic conversation, as in the Cambridge IGCSE Arabic 0544 speaking test. Check timings and marks against the current syllabus and the past paper you use.
BREAKOUT ROOMS: set up rooms of three before the lesson. Share the deck (or a PDF) so every room can see the cards.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WELCOME (1 min) — while students join.
• Greet each student by name as they arrive: السَّلَامُ عَلَيْكُمْ. Take the register (Pastoral Tracker: attendance 0/1).
• 2-MINUTE CHECK-IN (SEND training): a private chat to any student who seemed unsettled last lesson — “Are you okay today? 👍 / 👎”.
• Point to the four expectations — brief and positive: this is our class agreement.
• Talk code: “I will always give you thinking and practice time before I ask anyone.” Reading aloud is by invitation — a student may say “pass” and you return to them later.
• Follow-up on preparation: who learnt the five words? Quick private reminder to anyone who did not (Flipped Learning: follow up every time).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MAP (1 min) — most of the lesson happens in breakout rooms; the teacher visits each room.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TEACH (3 min). Role play = precise and complete; conversation = develop. Choral repetition of the repair phrases. To a girl: تُعِيدِي.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means of transport with bi-: بِالحَافِلَةِ · بِالقِطَارِ · بِالسَّيَّارَةِ — but on foot = مَشْيًا عَلَى الأَقْدَامِ. Time taken: تَسْتَغْرِقُ الرِّحْلَةُ عِشْرِينَ دَقِيقَةً.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LANGUAGE BANK (2 min) — comparatives on the afʿal pattern: أَسْرَعُ مِنْ · أَرْخَصُ مِنْ · أَغْلَى مِنْ. Longer adjectives: أَكْثَرُ ازْدِحَامًا. Directions use the imperative.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BREAKOUT ROUTINE (3 min, in the main room). Same-level rooms make the routes simple; mixed rooms work if the strongest student is examiner first. Post the room timer in the chat. Visit every room for about two minutes.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A (Core) — a new classmate.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تَذْهَبِينَ · تَخْرُجِينَ · تُحِبِّينَ.
Core: transport with bi-, a clock time, a duration (ʿishrīna daqīqatan — accusative singular after 11–99), who with, an opinion.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B (Core+) — at the train station.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تُرِيدِينَ أَنْ تَدْفَعِي.
Task 3: the CANDIDATE asks with a comparative (أَسْرَعُ). Task 4: sa- + a question. Prices: بِكَمِ التَّذْكِرَةُ؟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C (Develop) — lost in town.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تَحْتَاجِينَ · اذْهَبِي · انْعَطِفِي · أَنْتِ · وَصَلْتِ.
Develop: lau samaḥt (polite), checking by repeating, a choice question with am, a comparative + reason, two past verbs.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ROLE PLAY D (Stretch) — a council survey.
SET-UP IN THE BREAKOUT ROOM: A = examiner (reads the left column ONLY — the questions, in order), B = candidate (sees the task column; Core may use the help column), C = observer (ticks the feedback checklist). 1 minute preparation, about 3 minutes speaking, 1 minute feedback, then rotate.
Task ! is the unexpected question: in the exam the candidate has not seen it — the examiner should read it without warning.
To a girl, the examiner uses the feminine: رَأْيُكِ · مَدِينَتِكِ · عِنْدَكِ.
Stretch: ammā … fa-, bi-kathīr (much faster), kāna + present (past habit), two reasons, a concession and a conditional.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Observers keep this slide open (or copy the six points into their book). Collect one strong WWW per room afterwards.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— show AFTER the groups have performed. Groups compare: which task did we answer less fully? Read the model aloud in pairs (examiner / candidate).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Core. Examiner asks the questions in order and may add “لِمَاذَا؟ / هَلْ يُمْكِنُ أَنْ تَشْرَحَ أَكْثَرَ؟” to push for more. Candidate aims for one full sentence per question.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Develop. Examiner asks the questions in order and may add “لِمَاذَا؟ / هَلْ يُمْكِنُ أَنْ تَشْرَحَ أَكْثَرَ؟” to push for more. Candidate aims for two or three sentences, with a comparison and a past journey.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ar-SA" dirty="0">
                <a:latin typeface="Amiri" pitchFamily="2" charset="-78"/>
                <a:ea typeface="Amiri" pitchFamily="2" charset="-78"/>
                <a:cs typeface="Amiri" pitchFamily="2" charset="-78"/>
              </a:rPr>
              <a:t>TOPIC CONVERSATION — Stretch. Examiner asks the questions in order and may add “لِمَاذَا؟ / هَلْ يُمْكِنُ أَنْ تَشْرَحَ أَكْثَرَ؟” to push for more. Candidate aims for a developed answer: opinion, comparison, concession and a conditional.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(Core)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(Develop)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ANSWERS (Stretch) — show after the groups have practised. Students underline one phrase to “steal” for their own answer.
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SELF-CHECK (1 min) against the website success criteria. Students tick privately, then type one WWW and one EBI in the chat (English is fine).
Teacher: one whole-class feedback point from live feedback. Pastoral: Curiosity &amp; Growth for honest reflection and a harder target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CLOSE — thank students, dismiss calmly. After the lesson: complete the Pastoral Tracker (attendance, character, self-management, curiosity; demerits only for the five listed concerns). Note any student below 2/3 on the exit ticket for a Do Now check-in next lesson.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cs typeface="Amiri" pitchFamily="2" charset="-78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cs typeface="Amiri" pitchFamily="2" charset="-78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cs typeface="Amiri" pitchFamily="2" charset="-78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cs typeface="Amiri" pitchFamily="2" charset="-78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cs typeface="Amiri" pitchFamily="2" charset="-78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cs typeface="Amiri" pitchFamily="2" charset="-78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cs typeface="Amiri" pitchFamily="2" charset="-78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cs typeface="Amiri" pitchFamily="2" charset="-78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-146304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8778240" y="-548640"/>
            <a:ext cx="4023360" cy="402336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012680" y="685800"/>
            <a:ext cx="1554480" cy="155448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457200" y="411480"/>
            <a:ext cx="502920" cy="502920"/>
          </a:xfrm>
          <a:prstGeom prst="ellipse">
            <a:avLst/>
          </a:prstGeom>
          <a:solidFill>
            <a:srgbClr val="1B3B6F"/>
          </a:solidFill>
          <a:ln w="15875">
            <a:solidFill>
              <a:srgbClr val="D4AF37"/>
            </a:solidFill>
            <a:prstDash val="solid"/>
          </a:ln>
        </p:spPr>
      </p:sp>
      <p:sp>
        <p:nvSpPr>
          <p:cNvPr id="6" name="Text 3"/>
          <p:cNvSpPr txBox="1"/>
          <p:nvPr/>
        </p:nvSpPr>
        <p:spPr>
          <a:xfrm>
            <a:off x="457200" y="39319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2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2200" dirty="0"/>
          </a:p>
        </p:txBody>
      </p:sp>
      <p:sp>
        <p:nvSpPr>
          <p:cNvPr id="7" name="Text 4"/>
          <p:cNvSpPr txBox="1"/>
          <p:nvPr/>
        </p:nvSpPr>
        <p:spPr>
          <a:xfrm>
            <a:off x="1078992" y="384048"/>
            <a:ext cx="5486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400" dirty="0"/>
          </a:p>
          <a:p>
            <a:pPr indent="0" marL="0">
              <a:buNone/>
            </a:pPr>
            <a:r>
              <a:rPr lang="en-US" sz="8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ARABIC DEPARTMENT · MIFTAH ARABIC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1600200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CAMBRIDGE IGCSE ARABIC 0544  ·  ADVANCED TOPIC A · EXAM PRACTICE  ·  AT-A-L09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19659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9FB3D1"/>
                </a:solidFill>
                <a:latin typeface="Cambria" pitchFamily="34" charset="0"/>
                <a:cs typeface="Amiri" pitchFamily="2" charset="-78"/>
              </a:rPr>
              <a:t>AT-A-L09</a:t>
            </a:r>
            <a:endParaRPr lang="en-US" sz="260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248716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Speaking Workshop — Everyday Journeys</a:t>
            </a:r>
            <a:endParaRPr lang="en-US" sz="27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3310128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36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التَّحَدُّثِ — المُوَاصَلَاتُ اليَوْمِيَّةُ</a:t>
            </a:r>
            <a:endParaRPr lang="ar-SA" sz="3600" dirty="0"/>
          </a:p>
        </p:txBody>
      </p:sp>
      <p:sp>
        <p:nvSpPr>
          <p:cNvPr id="12" name="Text 9"/>
          <p:cNvSpPr txBox="1"/>
          <p:nvPr/>
        </p:nvSpPr>
        <p:spPr>
          <a:xfrm>
            <a:off x="457200" y="4224528"/>
            <a:ext cx="7863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Paper 3 practice in breakout rooms: say how you travel and how long it takes, buy a ticket, ask for and give directions, and compare means of transport (asraʿu min …).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4" name="Text 11"/>
          <p:cNvSpPr txBox="1"/>
          <p:nvPr/>
        </p:nvSpPr>
        <p:spPr>
          <a:xfrm>
            <a:off x="621792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LESSON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Advanced Topic A · Everyday Activities · exam practice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3273552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3438144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DURATION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60 minutes · Teams</a:t>
            </a:r>
            <a:endParaRPr lang="en-US" sz="850" dirty="0"/>
          </a:p>
        </p:txBody>
      </p:sp>
      <p:sp>
        <p:nvSpPr>
          <p:cNvPr id="17" name="Shape 14"/>
          <p:cNvSpPr/>
          <p:nvPr/>
        </p:nvSpPr>
        <p:spPr>
          <a:xfrm>
            <a:off x="6089904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254496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LEVEL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Topic A · A1+ → B1</a:t>
            </a:r>
            <a:endParaRPr lang="en-US" sz="850" dirty="0"/>
          </a:p>
        </p:txBody>
      </p:sp>
      <p:sp>
        <p:nvSpPr>
          <p:cNvPr id="19" name="Shape 16"/>
          <p:cNvSpPr/>
          <p:nvPr/>
        </p:nvSpPr>
        <p:spPr>
          <a:xfrm>
            <a:off x="8906256" y="5166360"/>
            <a:ext cx="2651760" cy="868680"/>
          </a:xfrm>
          <a:prstGeom prst="roundRect">
            <a:avLst>
              <a:gd name="adj" fmla="val 8421"/>
            </a:avLst>
          </a:prstGeom>
          <a:solidFill>
            <a:srgbClr val="16335F"/>
          </a:solidFill>
          <a:ln w="12700">
            <a:solidFill>
              <a:srgbClr val="2A4B7C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9070848" y="5212080"/>
            <a:ext cx="2377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ON THE WEBSITE</a:t>
            </a:r>
            <a:endParaRPr lang="en-US" sz="850" dirty="0"/>
          </a:p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Advanced Topics › Topic A › AT-A-L09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19188" y="274320"/>
            <a:ext cx="1540764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19188" y="274320"/>
            <a:ext cx="154076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BEFORE WE BEGIN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Our online classroom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آدَابُ الصَّفِّ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2002536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2139696"/>
            <a:ext cx="310896" cy="310896"/>
          </a:xfrm>
          <a:prstGeom prst="rect">
            <a:avLst/>
          </a:prstGeom>
        </p:spPr>
      </p:pic>
      <p:sp>
        <p:nvSpPr>
          <p:cNvPr id="18" name="Text 14"/>
          <p:cNvSpPr txBox="1"/>
          <p:nvPr/>
        </p:nvSpPr>
        <p:spPr>
          <a:xfrm>
            <a:off x="1371600" y="1901952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Camera on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can see you learning and help you quickly.</a:t>
            </a:r>
            <a:endParaRPr lang="en-US" sz="1500" dirty="0"/>
          </a:p>
        </p:txBody>
      </p:sp>
      <p:sp>
        <p:nvSpPr>
          <p:cNvPr id="19" name="Shape 15"/>
          <p:cNvSpPr/>
          <p:nvPr/>
        </p:nvSpPr>
        <p:spPr>
          <a:xfrm>
            <a:off x="457200" y="2907792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0" name="Shape 16"/>
          <p:cNvSpPr/>
          <p:nvPr/>
        </p:nvSpPr>
        <p:spPr>
          <a:xfrm>
            <a:off x="640080" y="3081528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" y="3218688"/>
            <a:ext cx="310896" cy="310896"/>
          </a:xfrm>
          <a:prstGeom prst="rect">
            <a:avLst/>
          </a:prstGeom>
        </p:spPr>
      </p:pic>
      <p:sp>
        <p:nvSpPr>
          <p:cNvPr id="22" name="Text 17"/>
          <p:cNvSpPr txBox="1"/>
          <p:nvPr/>
        </p:nvSpPr>
        <p:spPr>
          <a:xfrm>
            <a:off x="1371600" y="2980944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Mic muted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Unmute only when invited to speak.</a:t>
            </a:r>
            <a:endParaRPr lang="en-US" sz="1500" dirty="0"/>
          </a:p>
        </p:txBody>
      </p:sp>
      <p:sp>
        <p:nvSpPr>
          <p:cNvPr id="23" name="Shape 18"/>
          <p:cNvSpPr/>
          <p:nvPr/>
        </p:nvSpPr>
        <p:spPr>
          <a:xfrm>
            <a:off x="457200" y="3986784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19"/>
          <p:cNvSpPr/>
          <p:nvPr/>
        </p:nvSpPr>
        <p:spPr>
          <a:xfrm>
            <a:off x="640080" y="4160520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7240" y="4297680"/>
            <a:ext cx="310896" cy="310896"/>
          </a:xfrm>
          <a:prstGeom prst="rect">
            <a:avLst/>
          </a:prstGeom>
        </p:spPr>
      </p:pic>
      <p:sp>
        <p:nvSpPr>
          <p:cNvPr id="26" name="Text 20"/>
          <p:cNvSpPr txBox="1"/>
          <p:nvPr/>
        </p:nvSpPr>
        <p:spPr>
          <a:xfrm>
            <a:off x="1371600" y="4059936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Chat for learning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Answers, questions and Arabic only.</a:t>
            </a:r>
            <a:endParaRPr lang="en-US" sz="1500" dirty="0"/>
          </a:p>
        </p:txBody>
      </p:sp>
      <p:sp>
        <p:nvSpPr>
          <p:cNvPr id="27" name="Shape 21"/>
          <p:cNvSpPr/>
          <p:nvPr/>
        </p:nvSpPr>
        <p:spPr>
          <a:xfrm>
            <a:off x="457200" y="5065776"/>
            <a:ext cx="5394960" cy="932688"/>
          </a:xfrm>
          <a:prstGeom prst="roundRect">
            <a:avLst>
              <a:gd name="adj" fmla="val 7843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8" name="Shape 22"/>
          <p:cNvSpPr/>
          <p:nvPr/>
        </p:nvSpPr>
        <p:spPr>
          <a:xfrm>
            <a:off x="640080" y="5239512"/>
            <a:ext cx="585216" cy="585216"/>
          </a:xfrm>
          <a:prstGeom prst="ellipse">
            <a:avLst/>
          </a:prstGeom>
          <a:solidFill>
            <a:srgbClr val="EEF3FA"/>
          </a:solidFill>
          <a:ln w="12700">
            <a:solidFill>
              <a:srgbClr val="EEF3FA"/>
            </a:solidFill>
            <a:prstDash val="solid"/>
          </a:ln>
        </p:spPr>
      </p:sp>
      <p:pic>
        <p:nvPicPr>
          <p:cNvPr id="29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77240" y="5376672"/>
            <a:ext cx="310896" cy="310896"/>
          </a:xfrm>
          <a:prstGeom prst="rect">
            <a:avLst/>
          </a:prstGeom>
        </p:spPr>
      </p:pic>
      <p:sp>
        <p:nvSpPr>
          <p:cNvPr id="30" name="Text 23"/>
          <p:cNvSpPr txBox="1"/>
          <p:nvPr/>
        </p:nvSpPr>
        <p:spPr>
          <a:xfrm>
            <a:off x="1371600" y="5138928"/>
            <a:ext cx="4389120" cy="786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Raise your hand</a:t>
            </a:r>
            <a:endParaRPr lang="en-US" sz="1500" dirty="0"/>
          </a:p>
          <a:p>
            <a:pPr indent="0" marL="0">
              <a:buNone/>
            </a:pPr>
            <a:r>
              <a:rPr lang="en-US" sz="115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 the hand button to ask for help.</a:t>
            </a:r>
            <a:endParaRPr lang="en-US" sz="1500" dirty="0"/>
          </a:p>
        </p:txBody>
      </p:sp>
      <p:sp>
        <p:nvSpPr>
          <p:cNvPr id="31" name="Shape 24"/>
          <p:cNvSpPr/>
          <p:nvPr/>
        </p:nvSpPr>
        <p:spPr>
          <a:xfrm>
            <a:off x="6172200" y="1828800"/>
            <a:ext cx="5559552" cy="4169664"/>
          </a:xfrm>
          <a:prstGeom prst="roundRect">
            <a:avLst>
              <a:gd name="adj" fmla="val 1754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Text 25"/>
          <p:cNvSpPr txBox="1"/>
          <p:nvPr/>
        </p:nvSpPr>
        <p:spPr>
          <a:xfrm>
            <a:off x="6400800" y="1938528"/>
            <a:ext cx="510235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HOW WE TALK — THE ORACY CODE</a:t>
            </a:r>
            <a:endParaRPr lang="en-US" sz="1100" dirty="0"/>
          </a:p>
        </p:txBody>
      </p:sp>
      <p:sp>
        <p:nvSpPr>
          <p:cNvPr id="33" name="Shape 26"/>
          <p:cNvSpPr/>
          <p:nvPr/>
        </p:nvSpPr>
        <p:spPr>
          <a:xfrm>
            <a:off x="6400800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4" name="Text 27"/>
          <p:cNvSpPr txBox="1"/>
          <p:nvPr/>
        </p:nvSpPr>
        <p:spPr>
          <a:xfrm>
            <a:off x="6400800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●</a:t>
            </a:r>
            <a:endParaRPr lang="en-US" sz="1800" dirty="0"/>
          </a:p>
        </p:txBody>
      </p:sp>
      <p:sp>
        <p:nvSpPr>
          <p:cNvPr id="35" name="Text 28"/>
          <p:cNvSpPr txBox="1"/>
          <p:nvPr/>
        </p:nvSpPr>
        <p:spPr>
          <a:xfrm>
            <a:off x="7059168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Think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silent preparation</a:t>
            </a:r>
            <a:endParaRPr lang="en-US" sz="1400" dirty="0"/>
          </a:p>
        </p:txBody>
      </p:sp>
      <p:sp>
        <p:nvSpPr>
          <p:cNvPr id="36" name="Shape 29"/>
          <p:cNvSpPr/>
          <p:nvPr/>
        </p:nvSpPr>
        <p:spPr>
          <a:xfrm>
            <a:off x="8997696" y="24505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7" name="Text 30"/>
          <p:cNvSpPr txBox="1"/>
          <p:nvPr/>
        </p:nvSpPr>
        <p:spPr>
          <a:xfrm>
            <a:off x="8997696" y="24505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↔</a:t>
            </a:r>
            <a:endParaRPr lang="en-US" sz="1800" dirty="0"/>
          </a:p>
        </p:txBody>
      </p:sp>
      <p:sp>
        <p:nvSpPr>
          <p:cNvPr id="38" name="Text 31"/>
          <p:cNvSpPr txBox="1"/>
          <p:nvPr/>
        </p:nvSpPr>
        <p:spPr>
          <a:xfrm>
            <a:off x="9656064" y="23774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Rehearse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both partners speak</a:t>
            </a:r>
            <a:endParaRPr lang="en-US" sz="1400" dirty="0"/>
          </a:p>
        </p:txBody>
      </p:sp>
      <p:sp>
        <p:nvSpPr>
          <p:cNvPr id="39" name="Shape 32"/>
          <p:cNvSpPr/>
          <p:nvPr/>
        </p:nvSpPr>
        <p:spPr>
          <a:xfrm>
            <a:off x="6400800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0" name="Text 33"/>
          <p:cNvSpPr txBox="1"/>
          <p:nvPr/>
        </p:nvSpPr>
        <p:spPr>
          <a:xfrm>
            <a:off x="6400800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+</a:t>
            </a:r>
            <a:endParaRPr lang="en-US" sz="1800" dirty="0"/>
          </a:p>
        </p:txBody>
      </p:sp>
      <p:sp>
        <p:nvSpPr>
          <p:cNvPr id="41" name="Text 34"/>
          <p:cNvSpPr txBox="1"/>
          <p:nvPr/>
        </p:nvSpPr>
        <p:spPr>
          <a:xfrm>
            <a:off x="7059168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Build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add a reason or detail</a:t>
            </a:r>
            <a:endParaRPr lang="en-US" sz="1400" dirty="0"/>
          </a:p>
        </p:txBody>
      </p:sp>
      <p:sp>
        <p:nvSpPr>
          <p:cNvPr id="42" name="Shape 35"/>
          <p:cNvSpPr/>
          <p:nvPr/>
        </p:nvSpPr>
        <p:spPr>
          <a:xfrm>
            <a:off x="8997696" y="33649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3" name="Text 36"/>
          <p:cNvSpPr txBox="1"/>
          <p:nvPr/>
        </p:nvSpPr>
        <p:spPr>
          <a:xfrm>
            <a:off x="8997696" y="33649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?</a:t>
            </a:r>
            <a:endParaRPr lang="en-US" sz="1800" dirty="0"/>
          </a:p>
        </p:txBody>
      </p:sp>
      <p:sp>
        <p:nvSpPr>
          <p:cNvPr id="44" name="Text 37"/>
          <p:cNvSpPr txBox="1"/>
          <p:nvPr/>
        </p:nvSpPr>
        <p:spPr>
          <a:xfrm>
            <a:off x="9656064" y="32918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Challenge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question respectfully</a:t>
            </a:r>
            <a:endParaRPr lang="en-US" sz="1400" dirty="0"/>
          </a:p>
        </p:txBody>
      </p:sp>
      <p:sp>
        <p:nvSpPr>
          <p:cNvPr id="45" name="Shape 38"/>
          <p:cNvSpPr/>
          <p:nvPr/>
        </p:nvSpPr>
        <p:spPr>
          <a:xfrm>
            <a:off x="6400800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6" name="Text 39"/>
          <p:cNvSpPr txBox="1"/>
          <p:nvPr/>
        </p:nvSpPr>
        <p:spPr>
          <a:xfrm>
            <a:off x="6400800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◎</a:t>
            </a:r>
            <a:endParaRPr lang="en-US" sz="1800" dirty="0"/>
          </a:p>
        </p:txBody>
      </p:sp>
      <p:sp>
        <p:nvSpPr>
          <p:cNvPr id="47" name="Text 40"/>
          <p:cNvSpPr txBox="1"/>
          <p:nvPr/>
        </p:nvSpPr>
        <p:spPr>
          <a:xfrm>
            <a:off x="7059168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Share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anyone may be invited</a:t>
            </a:r>
            <a:endParaRPr lang="en-US" sz="1400" dirty="0"/>
          </a:p>
        </p:txBody>
      </p:sp>
      <p:sp>
        <p:nvSpPr>
          <p:cNvPr id="48" name="Shape 41"/>
          <p:cNvSpPr/>
          <p:nvPr/>
        </p:nvSpPr>
        <p:spPr>
          <a:xfrm>
            <a:off x="8997696" y="4279392"/>
            <a:ext cx="548640" cy="54864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49" name="Text 42"/>
          <p:cNvSpPr txBox="1"/>
          <p:nvPr/>
        </p:nvSpPr>
        <p:spPr>
          <a:xfrm>
            <a:off x="8997696" y="4279392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D4AF37"/>
                </a:solidFill>
                <a:latin typeface="Arial" pitchFamily="34" charset="0"/>
                <a:cs typeface="Amiri" pitchFamily="2" charset="-78"/>
              </a:rPr>
              <a:t>↺</a:t>
            </a:r>
            <a:endParaRPr lang="en-US" sz="1800" dirty="0"/>
          </a:p>
        </p:txBody>
      </p:sp>
      <p:sp>
        <p:nvSpPr>
          <p:cNvPr id="50" name="Text 43"/>
          <p:cNvSpPr txBox="1"/>
          <p:nvPr/>
        </p:nvSpPr>
        <p:spPr>
          <a:xfrm>
            <a:off x="9656064" y="4206240"/>
            <a:ext cx="20116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Summarise</a:t>
            </a:r>
            <a:endParaRPr lang="en-US" sz="1400" dirty="0"/>
          </a:p>
          <a:p>
            <a:pPr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it more precisely</a:t>
            </a:r>
            <a:endParaRPr lang="en-US" sz="1400" dirty="0"/>
          </a:p>
        </p:txBody>
      </p:sp>
      <p:sp>
        <p:nvSpPr>
          <p:cNvPr id="51" name="Text 44"/>
          <p:cNvSpPr txBox="1"/>
          <p:nvPr/>
        </p:nvSpPr>
        <p:spPr>
          <a:xfrm>
            <a:off x="6400800" y="5230368"/>
            <a:ext cx="5102352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i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I will always give you thinking and practice time before I ask anyone. Reading aloud is by invitation — you can always say “pass, please come back to me”.</a:t>
            </a:r>
            <a:endParaRPr lang="en-US" sz="1150" dirty="0"/>
          </a:p>
        </p:txBody>
      </p:sp>
      <p:sp>
        <p:nvSpPr>
          <p:cNvPr id="52" name="Text 4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 / 25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388352" y="274320"/>
            <a:ext cx="1371600" cy="329184"/>
          </a:xfrm>
          <a:prstGeom prst="roundRect">
            <a:avLst>
              <a:gd name="adj" fmla="val 50000"/>
            </a:avLst>
          </a:prstGeom>
          <a:solidFill>
            <a:srgbClr val="5A6472"/>
          </a:solidFill>
          <a:ln w="12700">
            <a:solidFill>
              <a:srgbClr val="5A647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388352" y="274320"/>
            <a:ext cx="1371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WELCOME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TODAY’S WORKSHOP MAP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 practice, step by step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خَرِيطَةُ الوَرْشَةِ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566928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03504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603504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8 min</a:t>
            </a:r>
            <a:endParaRPr lang="en-US" sz="1000" dirty="0"/>
          </a:p>
        </p:txBody>
      </p:sp>
      <p:sp>
        <p:nvSpPr>
          <p:cNvPr id="19" name="Shape 16"/>
          <p:cNvSpPr/>
          <p:nvPr/>
        </p:nvSpPr>
        <p:spPr>
          <a:xfrm>
            <a:off x="1332281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1332281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300" dirty="0"/>
          </a:p>
        </p:txBody>
      </p:sp>
      <p:sp>
        <p:nvSpPr>
          <p:cNvPr id="21" name="Text 18"/>
          <p:cNvSpPr txBox="1"/>
          <p:nvPr/>
        </p:nvSpPr>
        <p:spPr>
          <a:xfrm>
            <a:off x="585216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How the speaking exam works; the language you need.</a:t>
            </a:r>
            <a:endParaRPr lang="en-US" sz="1200" dirty="0"/>
          </a:p>
        </p:txBody>
      </p:sp>
      <p:sp>
        <p:nvSpPr>
          <p:cNvPr id="22" name="Text 19"/>
          <p:cNvSpPr txBox="1"/>
          <p:nvPr/>
        </p:nvSpPr>
        <p:spPr>
          <a:xfrm>
            <a:off x="548640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</a:t>
            </a:r>
            <a:endParaRPr lang="ar-SA" sz="1500" dirty="0"/>
          </a:p>
        </p:txBody>
      </p:sp>
      <p:sp>
        <p:nvSpPr>
          <p:cNvPr id="23" name="Shape 20"/>
          <p:cNvSpPr/>
          <p:nvPr/>
        </p:nvSpPr>
        <p:spPr>
          <a:xfrm>
            <a:off x="273771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4" name="Shape 21"/>
          <p:cNvSpPr/>
          <p:nvPr/>
        </p:nvSpPr>
        <p:spPr>
          <a:xfrm>
            <a:off x="284744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288401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288401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20 min</a:t>
            </a:r>
            <a:endParaRPr lang="en-US" sz="1000" dirty="0"/>
          </a:p>
        </p:txBody>
      </p:sp>
      <p:sp>
        <p:nvSpPr>
          <p:cNvPr id="27" name="Shape 24"/>
          <p:cNvSpPr/>
          <p:nvPr/>
        </p:nvSpPr>
        <p:spPr>
          <a:xfrm>
            <a:off x="3612794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3612794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300" dirty="0"/>
          </a:p>
        </p:txBody>
      </p:sp>
      <p:sp>
        <p:nvSpPr>
          <p:cNvPr id="29" name="Text 26"/>
          <p:cNvSpPr txBox="1"/>
          <p:nvPr/>
        </p:nvSpPr>
        <p:spPr>
          <a:xfrm>
            <a:off x="286573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A–D in breakout rooms.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282915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تَمْثِيلُ الدَّوْرِ</a:t>
            </a:r>
            <a:endParaRPr lang="ar-SA" sz="1500" dirty="0"/>
          </a:p>
        </p:txBody>
      </p:sp>
      <p:sp>
        <p:nvSpPr>
          <p:cNvPr id="31" name="Shape 28"/>
          <p:cNvSpPr/>
          <p:nvPr/>
        </p:nvSpPr>
        <p:spPr>
          <a:xfrm>
            <a:off x="5018227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2" name="Shape 29"/>
          <p:cNvSpPr/>
          <p:nvPr/>
        </p:nvSpPr>
        <p:spPr>
          <a:xfrm>
            <a:off x="5127955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5164531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34" name="Text 31"/>
          <p:cNvSpPr txBox="1"/>
          <p:nvPr/>
        </p:nvSpPr>
        <p:spPr>
          <a:xfrm>
            <a:off x="5164531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4 min</a:t>
            </a:r>
            <a:endParaRPr lang="en-US" sz="1000" dirty="0"/>
          </a:p>
        </p:txBody>
      </p:sp>
      <p:sp>
        <p:nvSpPr>
          <p:cNvPr id="35" name="Shape 32"/>
          <p:cNvSpPr/>
          <p:nvPr/>
        </p:nvSpPr>
        <p:spPr>
          <a:xfrm>
            <a:off x="5893308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5893308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300" dirty="0"/>
          </a:p>
        </p:txBody>
      </p:sp>
      <p:sp>
        <p:nvSpPr>
          <p:cNvPr id="37" name="Text 34"/>
          <p:cNvSpPr txBox="1"/>
          <p:nvPr/>
        </p:nvSpPr>
        <p:spPr>
          <a:xfrm>
            <a:off x="5146243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Role-play models.</a:t>
            </a:r>
            <a:endParaRPr lang="en-US" sz="1200" dirty="0"/>
          </a:p>
        </p:txBody>
      </p:sp>
      <p:sp>
        <p:nvSpPr>
          <p:cNvPr id="38" name="Text 35"/>
          <p:cNvSpPr txBox="1"/>
          <p:nvPr/>
        </p:nvSpPr>
        <p:spPr>
          <a:xfrm>
            <a:off x="5109667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النَّمُوذَجُ</a:t>
            </a:r>
            <a:endParaRPr lang="ar-SA" sz="1500" dirty="0"/>
          </a:p>
        </p:txBody>
      </p:sp>
      <p:sp>
        <p:nvSpPr>
          <p:cNvPr id="39" name="Shape 36"/>
          <p:cNvSpPr/>
          <p:nvPr/>
        </p:nvSpPr>
        <p:spPr>
          <a:xfrm>
            <a:off x="7298741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0" name="Shape 37"/>
          <p:cNvSpPr/>
          <p:nvPr/>
        </p:nvSpPr>
        <p:spPr>
          <a:xfrm>
            <a:off x="7408469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7445045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</a:t>
            </a:r>
            <a:endParaRPr lang="en-US" sz="1000" dirty="0"/>
          </a:p>
        </p:txBody>
      </p:sp>
      <p:sp>
        <p:nvSpPr>
          <p:cNvPr id="42" name="Text 39"/>
          <p:cNvSpPr txBox="1"/>
          <p:nvPr/>
        </p:nvSpPr>
        <p:spPr>
          <a:xfrm>
            <a:off x="7445045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13 min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173822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44" name="Text 41"/>
          <p:cNvSpPr txBox="1"/>
          <p:nvPr/>
        </p:nvSpPr>
        <p:spPr>
          <a:xfrm>
            <a:off x="8173822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300" dirty="0"/>
          </a:p>
        </p:txBody>
      </p:sp>
      <p:sp>
        <p:nvSpPr>
          <p:cNvPr id="45" name="Text 42"/>
          <p:cNvSpPr txBox="1"/>
          <p:nvPr/>
        </p:nvSpPr>
        <p:spPr>
          <a:xfrm>
            <a:off x="7426757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in breakout rooms.</a:t>
            </a:r>
            <a:endParaRPr lang="en-US" sz="1200" dirty="0"/>
          </a:p>
        </p:txBody>
      </p:sp>
      <p:sp>
        <p:nvSpPr>
          <p:cNvPr id="46" name="Text 43"/>
          <p:cNvSpPr txBox="1"/>
          <p:nvPr/>
        </p:nvSpPr>
        <p:spPr>
          <a:xfrm>
            <a:off x="7390181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E6B52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المُحَادَثَةُ</a:t>
            </a:r>
            <a:endParaRPr lang="ar-SA" sz="1500" dirty="0"/>
          </a:p>
        </p:txBody>
      </p:sp>
      <p:sp>
        <p:nvSpPr>
          <p:cNvPr id="47" name="Shape 44"/>
          <p:cNvSpPr/>
          <p:nvPr/>
        </p:nvSpPr>
        <p:spPr>
          <a:xfrm>
            <a:off x="9579254" y="1828800"/>
            <a:ext cx="2152498" cy="3246120"/>
          </a:xfrm>
          <a:prstGeom prst="roundRect">
            <a:avLst>
              <a:gd name="adj" fmla="val 339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8" name="Shape 45"/>
          <p:cNvSpPr/>
          <p:nvPr/>
        </p:nvSpPr>
        <p:spPr>
          <a:xfrm>
            <a:off x="9688982" y="1938528"/>
            <a:ext cx="1933042" cy="566928"/>
          </a:xfrm>
          <a:prstGeom prst="roundRect">
            <a:avLst>
              <a:gd name="adj" fmla="val 9677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9725558" y="1956816"/>
            <a:ext cx="185989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</a:t>
            </a:r>
            <a:endParaRPr lang="en-US" sz="1000" dirty="0"/>
          </a:p>
        </p:txBody>
      </p:sp>
      <p:sp>
        <p:nvSpPr>
          <p:cNvPr id="50" name="Text 47"/>
          <p:cNvSpPr txBox="1"/>
          <p:nvPr/>
        </p:nvSpPr>
        <p:spPr>
          <a:xfrm>
            <a:off x="9725558" y="2249424"/>
            <a:ext cx="185989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E8EDF5"/>
                </a:solidFill>
                <a:latin typeface="Calibri" pitchFamily="34" charset="0"/>
                <a:cs typeface="Amiri" pitchFamily="2" charset="-78"/>
              </a:rPr>
              <a:t>9 min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10454335" y="2651760"/>
            <a:ext cx="402336" cy="40233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10454335" y="265176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300" dirty="0"/>
          </a:p>
        </p:txBody>
      </p:sp>
      <p:sp>
        <p:nvSpPr>
          <p:cNvPr id="53" name="Text 50"/>
          <p:cNvSpPr txBox="1"/>
          <p:nvPr/>
        </p:nvSpPr>
        <p:spPr>
          <a:xfrm>
            <a:off x="9707270" y="3145536"/>
            <a:ext cx="1896466" cy="1417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Conversation models, feedback, self-check.</a:t>
            </a:r>
            <a:endParaRPr lang="en-US" sz="1200" dirty="0"/>
          </a:p>
        </p:txBody>
      </p:sp>
      <p:sp>
        <p:nvSpPr>
          <p:cNvPr id="54" name="Text 51"/>
          <p:cNvSpPr txBox="1"/>
          <p:nvPr/>
        </p:nvSpPr>
        <p:spPr>
          <a:xfrm>
            <a:off x="9670694" y="4526280"/>
            <a:ext cx="196961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</a:t>
            </a:r>
            <a:endParaRPr lang="ar-SA" sz="1500" dirty="0"/>
          </a:p>
        </p:txBody>
      </p:sp>
      <p:sp>
        <p:nvSpPr>
          <p:cNvPr id="55" name="Shape 52"/>
          <p:cNvSpPr/>
          <p:nvPr/>
        </p:nvSpPr>
        <p:spPr>
          <a:xfrm>
            <a:off x="457200" y="5285232"/>
            <a:ext cx="11274552" cy="1024128"/>
          </a:xfrm>
          <a:prstGeom prst="roundRect">
            <a:avLst>
              <a:gd name="adj" fmla="val 7143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6" name="Text 53"/>
          <p:cNvSpPr txBox="1"/>
          <p:nvPr/>
        </p:nvSpPr>
        <p:spPr>
          <a:xfrm>
            <a:off x="685800" y="5358384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IF ARABIC FEELS HARD TODAY</a:t>
            </a:r>
            <a:endParaRPr lang="en-US" sz="1000" dirty="0"/>
          </a:p>
        </p:txBody>
      </p:sp>
      <p:sp>
        <p:nvSpPr>
          <p:cNvPr id="57" name="Text 54"/>
          <p:cNvSpPr txBox="1"/>
          <p:nvPr/>
        </p:nvSpPr>
        <p:spPr>
          <a:xfrm>
            <a:off x="685800" y="5632704"/>
            <a:ext cx="1088136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In the rooms everyone has a job: examiner, candidate or observer. You swap after each role play, so everybody speaks.</a:t>
            </a:r>
            <a:endParaRPr lang="en-US" sz="1250" dirty="0"/>
          </a:p>
        </p:txBody>
      </p:sp>
      <p:sp>
        <p:nvSpPr>
          <p:cNvPr id="58" name="Text 55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3 / 25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TEACH · PAPER 3 SPEAKING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the speaking exam works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امْتِحَانُ التَّحَدُّثِ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6172200" cy="4498848"/>
          </a:xfrm>
          <a:prstGeom prst="roundRect">
            <a:avLst>
              <a:gd name="adj" fmla="val 1626"/>
            </a:avLst>
          </a:prstGeom>
          <a:solidFill>
            <a:srgbClr val="F7F9FC"/>
          </a:solidFill>
          <a:ln w="9525">
            <a:solidFill>
              <a:srgbClr val="C9D6E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Text 13"/>
          <p:cNvSpPr txBox="1"/>
          <p:nvPr/>
        </p:nvSpPr>
        <p:spPr>
          <a:xfrm>
            <a:off x="658368" y="1883664"/>
            <a:ext cx="5806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THE TWO PARTS WE PRACTISE TODAY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658368" y="2286000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8" name="Text 15"/>
          <p:cNvSpPr txBox="1"/>
          <p:nvPr/>
        </p:nvSpPr>
        <p:spPr>
          <a:xfrm>
            <a:off x="658368" y="22860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1078992" y="2176272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 — a card with a situation and tasks. The examiner asks; you answer every task in a full, clear sentence. One task is unexpected (!).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658368" y="3296412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658368" y="3296412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1078992" y="3186684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TOPIC CONVERSATION — the examiner asks questions about a topic you know. Short answers are not enough: develop each one.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" y="4306824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" y="430682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25" name="Text 22"/>
          <p:cNvSpPr txBox="1"/>
          <p:nvPr/>
        </p:nvSpPr>
        <p:spPr>
          <a:xfrm>
            <a:off x="1078992" y="4197096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Examiners reward: completing the tasks, a range of language (tenses, linking words, opinions) and accuracy.</a:t>
            </a:r>
            <a:endParaRPr lang="en-US" sz="1300" dirty="0"/>
          </a:p>
        </p:txBody>
      </p:sp>
      <p:sp>
        <p:nvSpPr>
          <p:cNvPr id="26" name="Shape 23"/>
          <p:cNvSpPr/>
          <p:nvPr/>
        </p:nvSpPr>
        <p:spPr>
          <a:xfrm>
            <a:off x="658368" y="5317236"/>
            <a:ext cx="310896" cy="310896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658368" y="53172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78992" y="5207508"/>
            <a:ext cx="5394960" cy="9738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Never stay silent — use a repair phrase and keep going.</a:t>
            </a:r>
            <a:endParaRPr lang="en-US" sz="1300" dirty="0"/>
          </a:p>
        </p:txBody>
      </p:sp>
      <p:sp>
        <p:nvSpPr>
          <p:cNvPr id="29" name="Shape 26"/>
          <p:cNvSpPr/>
          <p:nvPr/>
        </p:nvSpPr>
        <p:spPr>
          <a:xfrm>
            <a:off x="6812280" y="1810512"/>
            <a:ext cx="4919472" cy="4498848"/>
          </a:xfrm>
          <a:prstGeom prst="roundRect">
            <a:avLst>
              <a:gd name="adj" fmla="val 1626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0" name="Text 27"/>
          <p:cNvSpPr txBox="1"/>
          <p:nvPr/>
        </p:nvSpPr>
        <p:spPr>
          <a:xfrm>
            <a:off x="6995160" y="1883664"/>
            <a:ext cx="455371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REPAIR PHRASES</a:t>
            </a:r>
            <a:endParaRPr lang="en-US" sz="1000" dirty="0"/>
          </a:p>
        </p:txBody>
      </p:sp>
      <p:sp>
        <p:nvSpPr>
          <p:cNvPr id="31" name="Text 28"/>
          <p:cNvSpPr txBox="1"/>
          <p:nvPr/>
        </p:nvSpPr>
        <p:spPr>
          <a:xfrm>
            <a:off x="6949440" y="2194560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ar-SA" sz="2800" dirty="0"/>
          </a:p>
        </p:txBody>
      </p:sp>
      <p:sp>
        <p:nvSpPr>
          <p:cNvPr id="32" name="Text 29"/>
          <p:cNvSpPr txBox="1"/>
          <p:nvPr/>
        </p:nvSpPr>
        <p:spPr>
          <a:xfrm>
            <a:off x="6949440" y="2955828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Sorry, could you repeat the question?</a:t>
            </a:r>
            <a:endParaRPr lang="en-US" sz="1100" dirty="0"/>
          </a:p>
        </p:txBody>
      </p:sp>
      <p:sp>
        <p:nvSpPr>
          <p:cNvPr id="33" name="Shape 30"/>
          <p:cNvSpPr/>
          <p:nvPr/>
        </p:nvSpPr>
        <p:spPr>
          <a:xfrm>
            <a:off x="6995160" y="3535680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4" name="Text 31"/>
          <p:cNvSpPr txBox="1"/>
          <p:nvPr/>
        </p:nvSpPr>
        <p:spPr>
          <a:xfrm>
            <a:off x="6949440" y="3553968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لَحْظَةً، دَعْنِي أُفَكِّرُ …</a:t>
            </a:r>
            <a:endParaRPr lang="ar-SA" sz="2800" dirty="0"/>
          </a:p>
        </p:txBody>
      </p:sp>
      <p:sp>
        <p:nvSpPr>
          <p:cNvPr id="35" name="Text 32"/>
          <p:cNvSpPr txBox="1"/>
          <p:nvPr/>
        </p:nvSpPr>
        <p:spPr>
          <a:xfrm>
            <a:off x="6949440" y="4315236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One moment, let me think …</a:t>
            </a:r>
            <a:endParaRPr lang="en-US" sz="1100" dirty="0"/>
          </a:p>
        </p:txBody>
      </p:sp>
      <p:sp>
        <p:nvSpPr>
          <p:cNvPr id="36" name="Shape 33"/>
          <p:cNvSpPr/>
          <p:nvPr/>
        </p:nvSpPr>
        <p:spPr>
          <a:xfrm>
            <a:off x="6995160" y="4895088"/>
            <a:ext cx="4553712" cy="0"/>
          </a:xfrm>
          <a:prstGeom prst="line">
            <a:avLst/>
          </a:prstGeom>
          <a:noFill/>
          <a:ln w="9525">
            <a:solidFill>
              <a:srgbClr val="E4DCCB"/>
            </a:solidFill>
            <a:prstDash val="dash"/>
          </a:ln>
        </p:spPr>
      </p:sp>
      <p:sp>
        <p:nvSpPr>
          <p:cNvPr id="37" name="Text 34"/>
          <p:cNvSpPr txBox="1"/>
          <p:nvPr/>
        </p:nvSpPr>
        <p:spPr>
          <a:xfrm>
            <a:off x="6949440" y="4913376"/>
            <a:ext cx="4645152" cy="7612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2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أَقْصِدُ …</a:t>
            </a:r>
            <a:endParaRPr lang="ar-SA" sz="2800" dirty="0"/>
          </a:p>
        </p:txBody>
      </p:sp>
      <p:sp>
        <p:nvSpPr>
          <p:cNvPr id="38" name="Text 35"/>
          <p:cNvSpPr txBox="1"/>
          <p:nvPr/>
        </p:nvSpPr>
        <p:spPr>
          <a:xfrm>
            <a:off x="6949440" y="5674644"/>
            <a:ext cx="4645152" cy="543763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mean …</a:t>
            </a:r>
            <a:endParaRPr lang="en-US" sz="1100" dirty="0"/>
          </a:p>
        </p:txBody>
      </p:sp>
      <p:sp>
        <p:nvSpPr>
          <p:cNvPr id="39" name="Text 36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4 / 25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TRAVEL VERBS (I · HE · SHE · THEY)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How do you get there?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بِالحَافِلَةِ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go by bus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adh-ha-bu bil-ḥā-fi-la-ti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1054303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59789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26" name="Text 23"/>
          <p:cNvSpPr txBox="1"/>
          <p:nvPr/>
        </p:nvSpPr>
        <p:spPr>
          <a:xfrm>
            <a:off x="10588752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يَذْهَبُونَ</a:t>
            </a:r>
            <a:endParaRPr lang="ar-SA" sz="1350" dirty="0"/>
          </a:p>
        </p:txBody>
      </p:sp>
      <p:sp>
        <p:nvSpPr>
          <p:cNvPr id="27" name="Shape 24"/>
          <p:cNvSpPr/>
          <p:nvPr/>
        </p:nvSpPr>
        <p:spPr>
          <a:xfrm>
            <a:off x="939088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944575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9436608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تَذْهَبُ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823874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29360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32" name="Text 29"/>
          <p:cNvSpPr txBox="1"/>
          <p:nvPr/>
        </p:nvSpPr>
        <p:spPr>
          <a:xfrm>
            <a:off x="828446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يَذْهَبُ</a:t>
            </a:r>
            <a:endParaRPr lang="ar-SA" sz="1500" dirty="0"/>
          </a:p>
        </p:txBody>
      </p:sp>
      <p:sp>
        <p:nvSpPr>
          <p:cNvPr id="33" name="Shape 30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36" name="Shape 33"/>
          <p:cNvSpPr/>
          <p:nvPr/>
        </p:nvSpPr>
        <p:spPr>
          <a:xfrm>
            <a:off x="4782312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4782312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38" name="Shape 35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40" name="Text 37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أَرْكَبُ</a:t>
            </a:r>
            <a:endParaRPr lang="ar-SA" sz="3000" dirty="0"/>
          </a:p>
        </p:txBody>
      </p:sp>
      <p:sp>
        <p:nvSpPr>
          <p:cNvPr id="41" name="Text 38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ride, get 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ar-ka-bu</a:t>
            </a:r>
            <a:endParaRPr lang="en-US" sz="1350" dirty="0"/>
          </a:p>
        </p:txBody>
      </p:sp>
      <p:sp>
        <p:nvSpPr>
          <p:cNvPr id="42" name="Shape 39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44" name="Text 41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يَرْكَبُونَ</a:t>
            </a:r>
            <a:endParaRPr lang="ar-SA" sz="1350" dirty="0"/>
          </a:p>
        </p:txBody>
      </p:sp>
      <p:sp>
        <p:nvSpPr>
          <p:cNvPr id="45" name="Shape 42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تَرْكَبُ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50" name="Text 47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يَرْكَبُ</a:t>
            </a:r>
            <a:endParaRPr lang="ar-SA" sz="1500" dirty="0"/>
          </a:p>
        </p:txBody>
      </p:sp>
      <p:sp>
        <p:nvSpPr>
          <p:cNvPr id="51" name="Shape 48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52" name="Shape 49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3" name="Text 50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54" name="Shape 51"/>
          <p:cNvSpPr/>
          <p:nvPr/>
        </p:nvSpPr>
        <p:spPr>
          <a:xfrm>
            <a:off x="960120" y="1938528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5" name="Text 52"/>
          <p:cNvSpPr txBox="1"/>
          <p:nvPr/>
        </p:nvSpPr>
        <p:spPr>
          <a:xfrm>
            <a:off x="960120" y="1938528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56" name="Shape 53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7" name="Text 54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8" name="Text 55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أَصِلُ</a:t>
            </a:r>
            <a:endParaRPr lang="ar-SA" sz="3000" dirty="0"/>
          </a:p>
        </p:txBody>
      </p:sp>
      <p:sp>
        <p:nvSpPr>
          <p:cNvPr id="59" name="Text 56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arrive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a-ṣi-lu</a:t>
            </a:r>
            <a:endParaRPr lang="en-US" sz="1350" dirty="0"/>
          </a:p>
        </p:txBody>
      </p:sp>
      <p:sp>
        <p:nvSpPr>
          <p:cNvPr id="60" name="Shape 57"/>
          <p:cNvSpPr/>
          <p:nvPr/>
        </p:nvSpPr>
        <p:spPr>
          <a:xfrm>
            <a:off x="2898648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2953512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2944368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يَصِلُونَ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1746504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4" name="Text 61"/>
          <p:cNvSpPr txBox="1"/>
          <p:nvPr/>
        </p:nvSpPr>
        <p:spPr>
          <a:xfrm>
            <a:off x="1801368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65" name="Text 62"/>
          <p:cNvSpPr txBox="1"/>
          <p:nvPr/>
        </p:nvSpPr>
        <p:spPr>
          <a:xfrm>
            <a:off x="1792224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تَصِلُ</a:t>
            </a:r>
            <a:endParaRPr lang="ar-SA" sz="1500" dirty="0"/>
          </a:p>
        </p:txBody>
      </p:sp>
      <p:sp>
        <p:nvSpPr>
          <p:cNvPr id="66" name="Shape 63"/>
          <p:cNvSpPr/>
          <p:nvPr/>
        </p:nvSpPr>
        <p:spPr>
          <a:xfrm>
            <a:off x="59436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64922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68" name="Text 65"/>
          <p:cNvSpPr txBox="1"/>
          <p:nvPr/>
        </p:nvSpPr>
        <p:spPr>
          <a:xfrm>
            <a:off x="640080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يَصِلُ</a:t>
            </a:r>
            <a:endParaRPr lang="ar-SA" sz="1500" dirty="0"/>
          </a:p>
        </p:txBody>
      </p:sp>
      <p:sp>
        <p:nvSpPr>
          <p:cNvPr id="69" name="Shape 66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70" name="Shape 67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71" name="Text 68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72" name="Shape 69"/>
          <p:cNvSpPr/>
          <p:nvPr/>
        </p:nvSpPr>
        <p:spPr>
          <a:xfrm>
            <a:off x="8604504" y="4279392"/>
            <a:ext cx="1207008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8604504" y="4279392"/>
            <a:ext cx="1207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 · she · they</a:t>
            </a:r>
            <a:endParaRPr lang="en-US" sz="800" dirty="0"/>
          </a:p>
        </p:txBody>
      </p:sp>
      <p:sp>
        <p:nvSpPr>
          <p:cNvPr id="74" name="Shape 71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75" name="Text 72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6" name="Text 73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أَمْشِي</a:t>
            </a:r>
            <a:endParaRPr lang="ar-SA" sz="3000" dirty="0"/>
          </a:p>
        </p:txBody>
      </p:sp>
      <p:sp>
        <p:nvSpPr>
          <p:cNvPr id="77" name="Text 74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walk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am-shī</a:t>
            </a:r>
            <a:endParaRPr lang="en-US" sz="1350" dirty="0"/>
          </a:p>
        </p:txBody>
      </p:sp>
      <p:sp>
        <p:nvSpPr>
          <p:cNvPr id="78" name="Shape 75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they</a:t>
            </a:r>
            <a:endParaRPr lang="en-US" sz="700" dirty="0"/>
          </a:p>
        </p:txBody>
      </p:sp>
      <p:sp>
        <p:nvSpPr>
          <p:cNvPr id="80" name="Text 77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يَمْشُونَ</a:t>
            </a:r>
            <a:endParaRPr lang="ar-SA" sz="1350" dirty="0"/>
          </a:p>
        </p:txBody>
      </p:sp>
      <p:sp>
        <p:nvSpPr>
          <p:cNvPr id="81" name="Shape 78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2" name="Text 79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she</a:t>
            </a:r>
            <a:endParaRPr lang="en-US" sz="750" dirty="0"/>
          </a:p>
        </p:txBody>
      </p:sp>
      <p:sp>
        <p:nvSpPr>
          <p:cNvPr id="83" name="Text 80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تَمْشِي</a:t>
            </a:r>
            <a:endParaRPr lang="ar-SA" sz="1500" dirty="0"/>
          </a:p>
        </p:txBody>
      </p:sp>
      <p:sp>
        <p:nvSpPr>
          <p:cNvPr id="84" name="Shape 81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he</a:t>
            </a:r>
            <a:endParaRPr lang="en-US" sz="750" dirty="0"/>
          </a:p>
        </p:txBody>
      </p:sp>
      <p:sp>
        <p:nvSpPr>
          <p:cNvPr id="86" name="Text 83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يَمْشِي</a:t>
            </a:r>
            <a:endParaRPr lang="ar-SA" sz="1500" dirty="0"/>
          </a:p>
        </p:txBody>
      </p:sp>
      <p:sp>
        <p:nvSpPr>
          <p:cNvPr id="87" name="Shape 84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8" name="Shape 85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9" name="Text 86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000" dirty="0"/>
          </a:p>
        </p:txBody>
      </p:sp>
      <p:sp>
        <p:nvSpPr>
          <p:cNvPr id="90" name="Shape 87"/>
          <p:cNvSpPr/>
          <p:nvPr/>
        </p:nvSpPr>
        <p:spPr>
          <a:xfrm>
            <a:off x="4782312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782312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transport</a:t>
            </a:r>
            <a:endParaRPr lang="en-US" sz="800" dirty="0"/>
          </a:p>
        </p:txBody>
      </p:sp>
      <p:sp>
        <p:nvSpPr>
          <p:cNvPr id="92" name="Shape 89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3" name="Text 90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94" name="Text 91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حَافِلَةٌ · قِطَارٌ · سَيَّارَةٌ</a:t>
            </a:r>
            <a:endParaRPr lang="ar-SA" sz="3000" dirty="0"/>
          </a:p>
        </p:txBody>
      </p:sp>
      <p:sp>
        <p:nvSpPr>
          <p:cNvPr id="95" name="Text 92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bus · train · car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ḥā-fi-la-tun · qi-ṭā-run · say-yā-ra-tun</a:t>
            </a:r>
            <a:endParaRPr lang="en-US" sz="1350" dirty="0"/>
          </a:p>
        </p:txBody>
      </p:sp>
      <p:sp>
        <p:nvSpPr>
          <p:cNvPr id="96" name="Shape 93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98" name="Text 95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حَافِلَاتٌ · قِطَارَاتٌ · سَيَّارَاتٌ</a:t>
            </a:r>
            <a:endParaRPr lang="ar-SA" sz="1500" dirty="0"/>
          </a:p>
        </p:txBody>
      </p:sp>
      <p:sp>
        <p:nvSpPr>
          <p:cNvPr id="99" name="Shape 96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00" name="Shape 97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01" name="Text 98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6</a:t>
            </a:r>
            <a:endParaRPr lang="en-US" sz="1000" dirty="0"/>
          </a:p>
        </p:txBody>
      </p:sp>
      <p:sp>
        <p:nvSpPr>
          <p:cNvPr id="102" name="Shape 99"/>
          <p:cNvSpPr/>
          <p:nvPr/>
        </p:nvSpPr>
        <p:spPr>
          <a:xfrm>
            <a:off x="960120" y="4279392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03" name="Text 100"/>
          <p:cNvSpPr txBox="1"/>
          <p:nvPr/>
        </p:nvSpPr>
        <p:spPr>
          <a:xfrm>
            <a:off x="960120" y="4279392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104" name="Shape 101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05" name="Text 102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6" name="Text 103"/>
          <p:cNvSpPr txBox="1"/>
          <p:nvPr/>
        </p:nvSpPr>
        <p:spPr>
          <a:xfrm>
            <a:off x="566928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</a:t>
            </a:r>
            <a:endParaRPr lang="ar-SA" sz="3000" dirty="0"/>
          </a:p>
        </p:txBody>
      </p:sp>
      <p:sp>
        <p:nvSpPr>
          <p:cNvPr id="107" name="Text 104"/>
          <p:cNvSpPr txBox="1"/>
          <p:nvPr/>
        </p:nvSpPr>
        <p:spPr>
          <a:xfrm>
            <a:off x="594360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station, a stop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ma-ḥaṭ-ṭa-tun</a:t>
            </a:r>
            <a:endParaRPr lang="en-US" sz="1350" dirty="0"/>
          </a:p>
        </p:txBody>
      </p:sp>
      <p:sp>
        <p:nvSpPr>
          <p:cNvPr id="108" name="Shape 105"/>
          <p:cNvSpPr/>
          <p:nvPr/>
        </p:nvSpPr>
        <p:spPr>
          <a:xfrm>
            <a:off x="2322576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09" name="Text 106"/>
          <p:cNvSpPr txBox="1"/>
          <p:nvPr/>
        </p:nvSpPr>
        <p:spPr>
          <a:xfrm>
            <a:off x="2377440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110" name="Text 107"/>
          <p:cNvSpPr txBox="1"/>
          <p:nvPr/>
        </p:nvSpPr>
        <p:spPr>
          <a:xfrm>
            <a:off x="2368296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مَحَطَّاتٌ</a:t>
            </a:r>
            <a:endParaRPr lang="ar-SA" sz="1500" dirty="0"/>
          </a:p>
        </p:txBody>
      </p:sp>
      <p:sp>
        <p:nvSpPr>
          <p:cNvPr id="111" name="Shape 108"/>
          <p:cNvSpPr/>
          <p:nvPr/>
        </p:nvSpPr>
        <p:spPr>
          <a:xfrm>
            <a:off x="594360" y="5779008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112" name="Text 109"/>
          <p:cNvSpPr txBox="1"/>
          <p:nvPr/>
        </p:nvSpPr>
        <p:spPr>
          <a:xfrm>
            <a:off x="649224" y="5788152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113" name="Text 110"/>
          <p:cNvSpPr txBox="1"/>
          <p:nvPr/>
        </p:nvSpPr>
        <p:spPr>
          <a:xfrm>
            <a:off x="640080" y="5824728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مَحَطَّةٌ</a:t>
            </a:r>
            <a:endParaRPr lang="ar-SA" sz="1500" dirty="0"/>
          </a:p>
        </p:txBody>
      </p:sp>
      <p:sp>
        <p:nvSpPr>
          <p:cNvPr id="114" name="Text 11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5 / 25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6308446" y="274320"/>
            <a:ext cx="2451506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6308446" y="274320"/>
            <a:ext cx="2451506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TEACHER INSTRUCTION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LANGUAGE BANK · COMPARING AND DIRECTIONS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Faster, cheaper — and which way?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المُقَارَنَةُ وَالاتِّجَاهَاتُ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8101584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8211312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8211312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7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8604504" y="1938528"/>
            <a:ext cx="833933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8604504" y="1938528"/>
            <a:ext cx="8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 · pl.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10872216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10872216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2" name="Text 19"/>
          <p:cNvSpPr txBox="1"/>
          <p:nvPr/>
        </p:nvSpPr>
        <p:spPr>
          <a:xfrm>
            <a:off x="8211312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تَذْكِرَةٌ</a:t>
            </a:r>
            <a:endParaRPr lang="ar-SA" sz="3000" dirty="0"/>
          </a:p>
        </p:txBody>
      </p:sp>
      <p:sp>
        <p:nvSpPr>
          <p:cNvPr id="23" name="Text 20"/>
          <p:cNvSpPr txBox="1"/>
          <p:nvPr/>
        </p:nvSpPr>
        <p:spPr>
          <a:xfrm>
            <a:off x="8238744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 ticket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tadh-ki-ra-tun</a:t>
            </a:r>
            <a:endParaRPr lang="en-US" sz="1350" dirty="0"/>
          </a:p>
        </p:txBody>
      </p:sp>
      <p:sp>
        <p:nvSpPr>
          <p:cNvPr id="24" name="Shape 21"/>
          <p:cNvSpPr/>
          <p:nvPr/>
        </p:nvSpPr>
        <p:spPr>
          <a:xfrm>
            <a:off x="99669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100218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pl.</a:t>
            </a:r>
            <a:endParaRPr lang="en-US" sz="750" dirty="0"/>
          </a:p>
        </p:txBody>
      </p:sp>
      <p:sp>
        <p:nvSpPr>
          <p:cNvPr id="26" name="Text 23"/>
          <p:cNvSpPr txBox="1"/>
          <p:nvPr/>
        </p:nvSpPr>
        <p:spPr>
          <a:xfrm>
            <a:off x="10012680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تَذَاكِرُ</a:t>
            </a:r>
            <a:endParaRPr lang="ar-SA" sz="1500" dirty="0"/>
          </a:p>
        </p:txBody>
      </p:sp>
      <p:sp>
        <p:nvSpPr>
          <p:cNvPr id="27" name="Shape 24"/>
          <p:cNvSpPr/>
          <p:nvPr/>
        </p:nvSpPr>
        <p:spPr>
          <a:xfrm>
            <a:off x="8238744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293608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sg.</a:t>
            </a:r>
            <a:endParaRPr lang="en-US" sz="750" dirty="0"/>
          </a:p>
        </p:txBody>
      </p:sp>
      <p:sp>
        <p:nvSpPr>
          <p:cNvPr id="29" name="Text 26"/>
          <p:cNvSpPr txBox="1"/>
          <p:nvPr/>
        </p:nvSpPr>
        <p:spPr>
          <a:xfrm>
            <a:off x="8284464" y="3483864"/>
            <a:ext cx="15453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تَذْكِرَةٌ</a:t>
            </a:r>
            <a:endParaRPr lang="ar-SA" sz="1500" dirty="0"/>
          </a:p>
        </p:txBody>
      </p:sp>
      <p:sp>
        <p:nvSpPr>
          <p:cNvPr id="30" name="Shape 27"/>
          <p:cNvSpPr/>
          <p:nvPr/>
        </p:nvSpPr>
        <p:spPr>
          <a:xfrm>
            <a:off x="4279392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4389120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4389120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8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782312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4782312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7050024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7050024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37" name="Text 34"/>
          <p:cNvSpPr txBox="1"/>
          <p:nvPr/>
        </p:nvSpPr>
        <p:spPr>
          <a:xfrm>
            <a:off x="4389120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سَرِيعٌ</a:t>
            </a:r>
            <a:endParaRPr lang="ar-SA" sz="3000" dirty="0"/>
          </a:p>
        </p:txBody>
      </p:sp>
      <p:sp>
        <p:nvSpPr>
          <p:cNvPr id="38" name="Text 35"/>
          <p:cNvSpPr txBox="1"/>
          <p:nvPr/>
        </p:nvSpPr>
        <p:spPr>
          <a:xfrm>
            <a:off x="4416552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fast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sa-rī-ʿun</a:t>
            </a:r>
            <a:endParaRPr lang="en-US" sz="1350" dirty="0"/>
          </a:p>
        </p:txBody>
      </p:sp>
      <p:sp>
        <p:nvSpPr>
          <p:cNvPr id="39" name="Shape 36"/>
          <p:cNvSpPr/>
          <p:nvPr/>
        </p:nvSpPr>
        <p:spPr>
          <a:xfrm>
            <a:off x="6720840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6775704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faster</a:t>
            </a:r>
            <a:endParaRPr lang="en-US" sz="700" dirty="0"/>
          </a:p>
        </p:txBody>
      </p:sp>
      <p:sp>
        <p:nvSpPr>
          <p:cNvPr id="41" name="Text 38"/>
          <p:cNvSpPr txBox="1"/>
          <p:nvPr/>
        </p:nvSpPr>
        <p:spPr>
          <a:xfrm>
            <a:off x="6766560" y="3575304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أَسْرَعُ مِنْ</a:t>
            </a:r>
            <a:endParaRPr lang="ar-SA" sz="1350" dirty="0"/>
          </a:p>
        </p:txBody>
      </p:sp>
      <p:sp>
        <p:nvSpPr>
          <p:cNvPr id="42" name="Shape 39"/>
          <p:cNvSpPr/>
          <p:nvPr/>
        </p:nvSpPr>
        <p:spPr>
          <a:xfrm>
            <a:off x="5568696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5623560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44" name="Text 41"/>
          <p:cNvSpPr txBox="1"/>
          <p:nvPr/>
        </p:nvSpPr>
        <p:spPr>
          <a:xfrm>
            <a:off x="5614416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سَرِيعَةٌ</a:t>
            </a:r>
            <a:endParaRPr lang="ar-SA" sz="1500" dirty="0"/>
          </a:p>
        </p:txBody>
      </p:sp>
      <p:sp>
        <p:nvSpPr>
          <p:cNvPr id="45" name="Shape 42"/>
          <p:cNvSpPr/>
          <p:nvPr/>
        </p:nvSpPr>
        <p:spPr>
          <a:xfrm>
            <a:off x="4416552" y="3438144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46" name="Text 43"/>
          <p:cNvSpPr txBox="1"/>
          <p:nvPr/>
        </p:nvSpPr>
        <p:spPr>
          <a:xfrm>
            <a:off x="4471416" y="3447288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47" name="Text 44"/>
          <p:cNvSpPr txBox="1"/>
          <p:nvPr/>
        </p:nvSpPr>
        <p:spPr>
          <a:xfrm>
            <a:off x="4462272" y="3483864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سَرِيعٌ</a:t>
            </a:r>
            <a:endParaRPr lang="ar-SA" sz="1500" dirty="0"/>
          </a:p>
        </p:txBody>
      </p:sp>
      <p:sp>
        <p:nvSpPr>
          <p:cNvPr id="48" name="Shape 45"/>
          <p:cNvSpPr/>
          <p:nvPr/>
        </p:nvSpPr>
        <p:spPr>
          <a:xfrm>
            <a:off x="457200" y="1810512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9" name="Shape 46"/>
          <p:cNvSpPr/>
          <p:nvPr/>
        </p:nvSpPr>
        <p:spPr>
          <a:xfrm>
            <a:off x="566928" y="1920240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566928" y="192024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9</a:t>
            </a:r>
            <a:endParaRPr lang="en-US" sz="1000" dirty="0"/>
          </a:p>
        </p:txBody>
      </p:sp>
      <p:sp>
        <p:nvSpPr>
          <p:cNvPr id="51" name="Shape 48"/>
          <p:cNvSpPr/>
          <p:nvPr/>
        </p:nvSpPr>
        <p:spPr>
          <a:xfrm>
            <a:off x="960120" y="1938528"/>
            <a:ext cx="958291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52" name="Text 49"/>
          <p:cNvSpPr txBox="1"/>
          <p:nvPr/>
        </p:nvSpPr>
        <p:spPr>
          <a:xfrm>
            <a:off x="960120" y="1938528"/>
            <a:ext cx="95829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comparative</a:t>
            </a:r>
            <a:endParaRPr lang="en-US" sz="800" dirty="0"/>
          </a:p>
        </p:txBody>
      </p:sp>
      <p:sp>
        <p:nvSpPr>
          <p:cNvPr id="53" name="Shape 50"/>
          <p:cNvSpPr/>
          <p:nvPr/>
        </p:nvSpPr>
        <p:spPr>
          <a:xfrm>
            <a:off x="3227832" y="1938528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3227832" y="1938528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55" name="Text 52"/>
          <p:cNvSpPr txBox="1"/>
          <p:nvPr/>
        </p:nvSpPr>
        <p:spPr>
          <a:xfrm>
            <a:off x="566928" y="2212848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رَخِيصٌ · غَالٍ</a:t>
            </a:r>
            <a:endParaRPr lang="ar-SA" sz="3000" dirty="0"/>
          </a:p>
        </p:txBody>
      </p:sp>
      <p:sp>
        <p:nvSpPr>
          <p:cNvPr id="56" name="Text 53"/>
          <p:cNvSpPr txBox="1"/>
          <p:nvPr/>
        </p:nvSpPr>
        <p:spPr>
          <a:xfrm>
            <a:off x="594360" y="290779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cheap · expensive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ra-khī-ṣun · ghā-lin</a:t>
            </a:r>
            <a:endParaRPr lang="en-US" sz="1350" dirty="0"/>
          </a:p>
        </p:txBody>
      </p:sp>
      <p:sp>
        <p:nvSpPr>
          <p:cNvPr id="57" name="Shape 54"/>
          <p:cNvSpPr/>
          <p:nvPr/>
        </p:nvSpPr>
        <p:spPr>
          <a:xfrm>
            <a:off x="2322576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58" name="Text 55"/>
          <p:cNvSpPr txBox="1"/>
          <p:nvPr/>
        </p:nvSpPr>
        <p:spPr>
          <a:xfrm>
            <a:off x="2377440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dearer</a:t>
            </a:r>
            <a:endParaRPr lang="en-US" sz="700" dirty="0"/>
          </a:p>
        </p:txBody>
      </p:sp>
      <p:sp>
        <p:nvSpPr>
          <p:cNvPr id="59" name="Text 56"/>
          <p:cNvSpPr txBox="1"/>
          <p:nvPr/>
        </p:nvSpPr>
        <p:spPr>
          <a:xfrm>
            <a:off x="2368296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أَغْلَى</a:t>
            </a:r>
            <a:endParaRPr lang="ar-SA" sz="1350" dirty="0"/>
          </a:p>
        </p:txBody>
      </p:sp>
      <p:sp>
        <p:nvSpPr>
          <p:cNvPr id="60" name="Shape 57"/>
          <p:cNvSpPr/>
          <p:nvPr/>
        </p:nvSpPr>
        <p:spPr>
          <a:xfrm>
            <a:off x="594360" y="3438144"/>
            <a:ext cx="1636776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61" name="Text 58"/>
          <p:cNvSpPr txBox="1"/>
          <p:nvPr/>
        </p:nvSpPr>
        <p:spPr>
          <a:xfrm>
            <a:off x="649224" y="3447288"/>
            <a:ext cx="1527048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cheaper</a:t>
            </a:r>
            <a:endParaRPr lang="en-US" sz="700" dirty="0"/>
          </a:p>
        </p:txBody>
      </p:sp>
      <p:sp>
        <p:nvSpPr>
          <p:cNvPr id="62" name="Text 59"/>
          <p:cNvSpPr txBox="1"/>
          <p:nvPr/>
        </p:nvSpPr>
        <p:spPr>
          <a:xfrm>
            <a:off x="640080" y="3575304"/>
            <a:ext cx="15453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أَرْخَصُ</a:t>
            </a:r>
            <a:endParaRPr lang="ar-SA" sz="1350" dirty="0"/>
          </a:p>
        </p:txBody>
      </p:sp>
      <p:sp>
        <p:nvSpPr>
          <p:cNvPr id="63" name="Shape 60"/>
          <p:cNvSpPr/>
          <p:nvPr/>
        </p:nvSpPr>
        <p:spPr>
          <a:xfrm>
            <a:off x="8101584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64" name="Shape 61"/>
          <p:cNvSpPr/>
          <p:nvPr/>
        </p:nvSpPr>
        <p:spPr>
          <a:xfrm>
            <a:off x="8211312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65" name="Text 62"/>
          <p:cNvSpPr txBox="1"/>
          <p:nvPr/>
        </p:nvSpPr>
        <p:spPr>
          <a:xfrm>
            <a:off x="8211312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10</a:t>
            </a:r>
            <a:endParaRPr lang="en-US" sz="1000" dirty="0"/>
          </a:p>
        </p:txBody>
      </p:sp>
      <p:sp>
        <p:nvSpPr>
          <p:cNvPr id="66" name="Shape 63"/>
          <p:cNvSpPr/>
          <p:nvPr/>
        </p:nvSpPr>
        <p:spPr>
          <a:xfrm>
            <a:off x="8604504" y="4279392"/>
            <a:ext cx="1144829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67" name="Text 64"/>
          <p:cNvSpPr txBox="1"/>
          <p:nvPr/>
        </p:nvSpPr>
        <p:spPr>
          <a:xfrm>
            <a:off x="8604504" y="4279392"/>
            <a:ext cx="114482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 · f. · more</a:t>
            </a:r>
            <a:endParaRPr lang="en-US" sz="800" dirty="0"/>
          </a:p>
        </p:txBody>
      </p:sp>
      <p:sp>
        <p:nvSpPr>
          <p:cNvPr id="68" name="Shape 65"/>
          <p:cNvSpPr/>
          <p:nvPr/>
        </p:nvSpPr>
        <p:spPr>
          <a:xfrm>
            <a:off x="10872216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69" name="Text 66"/>
          <p:cNvSpPr txBox="1"/>
          <p:nvPr/>
        </p:nvSpPr>
        <p:spPr>
          <a:xfrm>
            <a:off x="10872216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70" name="Text 67"/>
          <p:cNvSpPr txBox="1"/>
          <p:nvPr/>
        </p:nvSpPr>
        <p:spPr>
          <a:xfrm>
            <a:off x="8211312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</a:t>
            </a:r>
            <a:endParaRPr lang="ar-SA" sz="3000" dirty="0"/>
          </a:p>
        </p:txBody>
      </p:sp>
      <p:sp>
        <p:nvSpPr>
          <p:cNvPr id="71" name="Text 68"/>
          <p:cNvSpPr txBox="1"/>
          <p:nvPr/>
        </p:nvSpPr>
        <p:spPr>
          <a:xfrm>
            <a:off x="8238744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crowded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muz-da-ḥi-mun</a:t>
            </a:r>
            <a:endParaRPr lang="en-US" sz="1350" dirty="0"/>
          </a:p>
        </p:txBody>
      </p:sp>
      <p:sp>
        <p:nvSpPr>
          <p:cNvPr id="72" name="Shape 69"/>
          <p:cNvSpPr/>
          <p:nvPr/>
        </p:nvSpPr>
        <p:spPr>
          <a:xfrm>
            <a:off x="10543032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3" name="Text 70"/>
          <p:cNvSpPr txBox="1"/>
          <p:nvPr/>
        </p:nvSpPr>
        <p:spPr>
          <a:xfrm>
            <a:off x="10597896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more</a:t>
            </a:r>
            <a:endParaRPr lang="en-US" sz="700" dirty="0"/>
          </a:p>
        </p:txBody>
      </p:sp>
      <p:sp>
        <p:nvSpPr>
          <p:cNvPr id="74" name="Text 71"/>
          <p:cNvSpPr txBox="1"/>
          <p:nvPr/>
        </p:nvSpPr>
        <p:spPr>
          <a:xfrm>
            <a:off x="10588752" y="5916168"/>
            <a:ext cx="969264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3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أَكْثَرُ ازْدِحَامًا</a:t>
            </a:r>
            <a:endParaRPr lang="ar-SA" sz="1350" dirty="0"/>
          </a:p>
        </p:txBody>
      </p:sp>
      <p:sp>
        <p:nvSpPr>
          <p:cNvPr id="75" name="Shape 72"/>
          <p:cNvSpPr/>
          <p:nvPr/>
        </p:nvSpPr>
        <p:spPr>
          <a:xfrm>
            <a:off x="9390888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6" name="Text 73"/>
          <p:cNvSpPr txBox="1"/>
          <p:nvPr/>
        </p:nvSpPr>
        <p:spPr>
          <a:xfrm>
            <a:off x="9445752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77" name="Text 74"/>
          <p:cNvSpPr txBox="1"/>
          <p:nvPr/>
        </p:nvSpPr>
        <p:spPr>
          <a:xfrm>
            <a:off x="9436608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مُزْدَحِمَةٌ</a:t>
            </a:r>
            <a:endParaRPr lang="ar-SA" sz="1500" dirty="0"/>
          </a:p>
        </p:txBody>
      </p:sp>
      <p:sp>
        <p:nvSpPr>
          <p:cNvPr id="78" name="Shape 75"/>
          <p:cNvSpPr/>
          <p:nvPr/>
        </p:nvSpPr>
        <p:spPr>
          <a:xfrm>
            <a:off x="8238744" y="5779008"/>
            <a:ext cx="1060704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79" name="Text 76"/>
          <p:cNvSpPr txBox="1"/>
          <p:nvPr/>
        </p:nvSpPr>
        <p:spPr>
          <a:xfrm>
            <a:off x="8293608" y="5788152"/>
            <a:ext cx="950976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m.</a:t>
            </a:r>
            <a:endParaRPr lang="en-US" sz="750" dirty="0"/>
          </a:p>
        </p:txBody>
      </p:sp>
      <p:sp>
        <p:nvSpPr>
          <p:cNvPr id="80" name="Text 77"/>
          <p:cNvSpPr txBox="1"/>
          <p:nvPr/>
        </p:nvSpPr>
        <p:spPr>
          <a:xfrm>
            <a:off x="8284464" y="5824728"/>
            <a:ext cx="9692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مُزْدَحِمٌ</a:t>
            </a:r>
            <a:endParaRPr lang="ar-SA" sz="1500" dirty="0"/>
          </a:p>
        </p:txBody>
      </p:sp>
      <p:sp>
        <p:nvSpPr>
          <p:cNvPr id="81" name="Shape 78"/>
          <p:cNvSpPr/>
          <p:nvPr/>
        </p:nvSpPr>
        <p:spPr>
          <a:xfrm>
            <a:off x="4279392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82" name="Shape 79"/>
          <p:cNvSpPr/>
          <p:nvPr/>
        </p:nvSpPr>
        <p:spPr>
          <a:xfrm>
            <a:off x="4389120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83" name="Text 80"/>
          <p:cNvSpPr txBox="1"/>
          <p:nvPr/>
        </p:nvSpPr>
        <p:spPr>
          <a:xfrm>
            <a:off x="4389120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11</a:t>
            </a:r>
            <a:endParaRPr lang="en-US" sz="1000" dirty="0"/>
          </a:p>
        </p:txBody>
      </p:sp>
      <p:sp>
        <p:nvSpPr>
          <p:cNvPr id="84" name="Shape 81"/>
          <p:cNvSpPr/>
          <p:nvPr/>
        </p:nvSpPr>
        <p:spPr>
          <a:xfrm>
            <a:off x="4782312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85" name="Text 82"/>
          <p:cNvSpPr txBox="1"/>
          <p:nvPr/>
        </p:nvSpPr>
        <p:spPr>
          <a:xfrm>
            <a:off x="4782312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directions</a:t>
            </a:r>
            <a:endParaRPr lang="en-US" sz="800" dirty="0"/>
          </a:p>
        </p:txBody>
      </p:sp>
      <p:sp>
        <p:nvSpPr>
          <p:cNvPr id="86" name="Shape 83"/>
          <p:cNvSpPr/>
          <p:nvPr/>
        </p:nvSpPr>
        <p:spPr>
          <a:xfrm>
            <a:off x="7050024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87" name="Text 84"/>
          <p:cNvSpPr txBox="1"/>
          <p:nvPr/>
        </p:nvSpPr>
        <p:spPr>
          <a:xfrm>
            <a:off x="7050024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88" name="Text 85"/>
          <p:cNvSpPr txBox="1"/>
          <p:nvPr/>
        </p:nvSpPr>
        <p:spPr>
          <a:xfrm>
            <a:off x="4389120" y="4553712"/>
            <a:ext cx="3401568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30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اذْهَبْ · خُذْ · انْعَطِفْ</a:t>
            </a:r>
            <a:endParaRPr lang="ar-SA" sz="3000" dirty="0"/>
          </a:p>
        </p:txBody>
      </p:sp>
      <p:sp>
        <p:nvSpPr>
          <p:cNvPr id="89" name="Text 86"/>
          <p:cNvSpPr txBox="1"/>
          <p:nvPr/>
        </p:nvSpPr>
        <p:spPr>
          <a:xfrm>
            <a:off x="4416552" y="5248656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go · take · turn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adh-hab · khudh · an-ʿa-ṭif</a:t>
            </a:r>
            <a:endParaRPr lang="en-US" sz="1350" dirty="0"/>
          </a:p>
        </p:txBody>
      </p:sp>
      <p:sp>
        <p:nvSpPr>
          <p:cNvPr id="90" name="Shape 87"/>
          <p:cNvSpPr/>
          <p:nvPr/>
        </p:nvSpPr>
        <p:spPr>
          <a:xfrm>
            <a:off x="4416552" y="5779008"/>
            <a:ext cx="3364992" cy="438912"/>
          </a:xfrm>
          <a:prstGeom prst="roundRect">
            <a:avLst>
              <a:gd name="adj" fmla="val 10417"/>
            </a:avLst>
          </a:prstGeom>
          <a:solidFill>
            <a:srgbClr val="F4F1EA"/>
          </a:solidFill>
          <a:ln w="9525">
            <a:solidFill>
              <a:srgbClr val="F4F1EA"/>
            </a:solidFill>
            <a:prstDash val="solid"/>
          </a:ln>
        </p:spPr>
      </p:sp>
      <p:sp>
        <p:nvSpPr>
          <p:cNvPr id="91" name="Text 88"/>
          <p:cNvSpPr txBox="1"/>
          <p:nvPr/>
        </p:nvSpPr>
        <p:spPr>
          <a:xfrm>
            <a:off x="4471416" y="5788152"/>
            <a:ext cx="3255264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75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f.</a:t>
            </a:r>
            <a:endParaRPr lang="en-US" sz="750" dirty="0"/>
          </a:p>
        </p:txBody>
      </p:sp>
      <p:sp>
        <p:nvSpPr>
          <p:cNvPr id="92" name="Text 89"/>
          <p:cNvSpPr txBox="1"/>
          <p:nvPr/>
        </p:nvSpPr>
        <p:spPr>
          <a:xfrm>
            <a:off x="4462272" y="5824728"/>
            <a:ext cx="327355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اذْهَبِي · خُذِي · انْعَطِفِي</a:t>
            </a:r>
            <a:endParaRPr lang="ar-SA" sz="1500" dirty="0"/>
          </a:p>
        </p:txBody>
      </p:sp>
      <p:sp>
        <p:nvSpPr>
          <p:cNvPr id="93" name="Shape 90"/>
          <p:cNvSpPr/>
          <p:nvPr/>
        </p:nvSpPr>
        <p:spPr>
          <a:xfrm>
            <a:off x="457200" y="4151376"/>
            <a:ext cx="3639312" cy="2157984"/>
          </a:xfrm>
          <a:prstGeom prst="roundRect">
            <a:avLst>
              <a:gd name="adj" fmla="val 339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94" name="Shape 91"/>
          <p:cNvSpPr/>
          <p:nvPr/>
        </p:nvSpPr>
        <p:spPr>
          <a:xfrm>
            <a:off x="566928" y="4261104"/>
            <a:ext cx="310896" cy="310896"/>
          </a:xfrm>
          <a:prstGeom prst="ellipse">
            <a:avLst/>
          </a:prstGeom>
          <a:solidFill>
            <a:srgbClr val="F4F1EA"/>
          </a:solidFill>
          <a:ln w="12700">
            <a:solidFill>
              <a:srgbClr val="F4F1EA"/>
            </a:solidFill>
            <a:prstDash val="solid"/>
          </a:ln>
        </p:spPr>
      </p:sp>
      <p:sp>
        <p:nvSpPr>
          <p:cNvPr id="95" name="Text 92"/>
          <p:cNvSpPr txBox="1"/>
          <p:nvPr/>
        </p:nvSpPr>
        <p:spPr>
          <a:xfrm>
            <a:off x="566928" y="4261104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12</a:t>
            </a:r>
            <a:endParaRPr lang="en-US" sz="1000" dirty="0"/>
          </a:p>
        </p:txBody>
      </p:sp>
      <p:sp>
        <p:nvSpPr>
          <p:cNvPr id="96" name="Shape 93"/>
          <p:cNvSpPr/>
          <p:nvPr/>
        </p:nvSpPr>
        <p:spPr>
          <a:xfrm>
            <a:off x="960120" y="4279392"/>
            <a:ext cx="896112" cy="256032"/>
          </a:xfrm>
          <a:prstGeom prst="roundRect">
            <a:avLst>
              <a:gd name="adj" fmla="val 50000"/>
            </a:avLst>
          </a:prstGeom>
          <a:solidFill>
            <a:srgbClr val="EFE7D2"/>
          </a:solidFill>
          <a:ln w="12700">
            <a:solidFill>
              <a:srgbClr val="EFE7D2"/>
            </a:solidFill>
            <a:prstDash val="solid"/>
          </a:ln>
        </p:spPr>
      </p:sp>
      <p:sp>
        <p:nvSpPr>
          <p:cNvPr id="97" name="Text 94"/>
          <p:cNvSpPr txBox="1"/>
          <p:nvPr/>
        </p:nvSpPr>
        <p:spPr>
          <a:xfrm>
            <a:off x="960120" y="4279392"/>
            <a:ext cx="89611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directions</a:t>
            </a:r>
            <a:endParaRPr lang="en-US" sz="800" dirty="0"/>
          </a:p>
        </p:txBody>
      </p:sp>
      <p:sp>
        <p:nvSpPr>
          <p:cNvPr id="98" name="Shape 95"/>
          <p:cNvSpPr/>
          <p:nvPr/>
        </p:nvSpPr>
        <p:spPr>
          <a:xfrm>
            <a:off x="3227832" y="4279392"/>
            <a:ext cx="73152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99" name="Text 96"/>
          <p:cNvSpPr txBox="1"/>
          <p:nvPr/>
        </p:nvSpPr>
        <p:spPr>
          <a:xfrm>
            <a:off x="3227832" y="4279392"/>
            <a:ext cx="731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100" name="Text 97"/>
          <p:cNvSpPr txBox="1"/>
          <p:nvPr/>
        </p:nvSpPr>
        <p:spPr>
          <a:xfrm>
            <a:off x="566928" y="4553712"/>
            <a:ext cx="3401568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يَمِينًا · يَسَارًا · إِلَى الأَمَامِ</a:t>
            </a:r>
            <a:endParaRPr lang="ar-SA" sz="2550" dirty="0"/>
          </a:p>
        </p:txBody>
      </p:sp>
      <p:sp>
        <p:nvSpPr>
          <p:cNvPr id="101" name="Text 98"/>
          <p:cNvSpPr txBox="1"/>
          <p:nvPr/>
        </p:nvSpPr>
        <p:spPr>
          <a:xfrm>
            <a:off x="594360" y="5468112"/>
            <a:ext cx="3364992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b="1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right · left · straight on</a:t>
            </a:r>
            <a:endParaRPr lang="en-US" sz="1350" dirty="0"/>
          </a:p>
          <a:p>
            <a:pPr indent="0" marL="0">
              <a:buNone/>
            </a:pP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ya-mī-nan · ya-sā-ran · i-lā al-a-mā-mi</a:t>
            </a:r>
            <a:endParaRPr lang="en-US" sz="1350" dirty="0"/>
          </a:p>
        </p:txBody>
      </p:sp>
      <p:sp>
        <p:nvSpPr>
          <p:cNvPr id="102" name="Text 99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6 / 25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3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BREAKOUT ROOMS · HOW WE WORK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Examiner · candidate · observer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الغُرَفِ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5715000" cy="4498848"/>
          </a:xfrm>
          <a:prstGeom prst="roundRect">
            <a:avLst>
              <a:gd name="adj" fmla="val 1626"/>
            </a:avLst>
          </a:prstGeom>
          <a:solidFill>
            <a:srgbClr val="F4F1EA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40080" y="1920240"/>
            <a:ext cx="3108960" cy="292608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640080" y="1920240"/>
            <a:ext cx="3108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BREAKOUT ROUTINE</a:t>
            </a:r>
            <a:endParaRPr lang="en-US" sz="90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2286000"/>
            <a:ext cx="5349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🎧  Three jobs, then swap</a:t>
            </a:r>
            <a:endParaRPr lang="en-US" sz="2200" dirty="0"/>
          </a:p>
        </p:txBody>
      </p:sp>
      <p:sp>
        <p:nvSpPr>
          <p:cNvPr id="19" name="Text 16"/>
          <p:cNvSpPr txBox="1"/>
          <p:nvPr/>
        </p:nvSpPr>
        <p:spPr>
          <a:xfrm>
            <a:off x="640080" y="2816352"/>
            <a:ext cx="53492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Rooms of three. A = examiner (reads the questions only). B = candidate (answers from the task card). C = observer (ticks the checklist and gives one WWW and one EBI).</a:t>
            </a:r>
            <a:endParaRPr lang="en-US" sz="1350" dirty="0"/>
          </a:p>
        </p:txBody>
      </p:sp>
      <p:sp>
        <p:nvSpPr>
          <p:cNvPr id="20" name="Text 17"/>
          <p:cNvSpPr txBox="1"/>
          <p:nvPr/>
        </p:nvSpPr>
        <p:spPr>
          <a:xfrm>
            <a:off x="640080" y="4041648"/>
            <a:ext cx="5303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HOW WE RUN IT ONLINE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658368" y="44074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658368" y="44074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000" dirty="0"/>
          </a:p>
        </p:txBody>
      </p:sp>
      <p:sp>
        <p:nvSpPr>
          <p:cNvPr id="23" name="Text 20"/>
          <p:cNvSpPr txBox="1"/>
          <p:nvPr/>
        </p:nvSpPr>
        <p:spPr>
          <a:xfrm>
            <a:off x="1024128" y="43342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candidate reads the card and plans (no writing full sentences).</a:t>
            </a:r>
            <a:endParaRPr lang="en-US" sz="1150" dirty="0"/>
          </a:p>
        </p:txBody>
      </p:sp>
      <p:sp>
        <p:nvSpPr>
          <p:cNvPr id="24" name="Shape 21"/>
          <p:cNvSpPr/>
          <p:nvPr/>
        </p:nvSpPr>
        <p:spPr>
          <a:xfrm>
            <a:off x="658368" y="48646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658368" y="48646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000" dirty="0"/>
          </a:p>
        </p:txBody>
      </p:sp>
      <p:sp>
        <p:nvSpPr>
          <p:cNvPr id="26" name="Text 23"/>
          <p:cNvSpPr txBox="1"/>
          <p:nvPr/>
        </p:nvSpPr>
        <p:spPr>
          <a:xfrm>
            <a:off x="1024128" y="47914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About 3 minutes: the role play — the examiner reads every question in order.</a:t>
            </a:r>
            <a:endParaRPr lang="en-US" sz="1150" dirty="0"/>
          </a:p>
        </p:txBody>
      </p:sp>
      <p:sp>
        <p:nvSpPr>
          <p:cNvPr id="27" name="Shape 24"/>
          <p:cNvSpPr/>
          <p:nvPr/>
        </p:nvSpPr>
        <p:spPr>
          <a:xfrm>
            <a:off x="658368" y="53218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658368" y="53218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000" dirty="0"/>
          </a:p>
        </p:txBody>
      </p:sp>
      <p:sp>
        <p:nvSpPr>
          <p:cNvPr id="29" name="Text 26"/>
          <p:cNvSpPr txBox="1"/>
          <p:nvPr/>
        </p:nvSpPr>
        <p:spPr>
          <a:xfrm>
            <a:off x="1024128" y="52486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1 minute: the observer gives feedback (WWW + EBI).</a:t>
            </a:r>
            <a:endParaRPr lang="en-US" sz="1150" dirty="0"/>
          </a:p>
        </p:txBody>
      </p:sp>
      <p:sp>
        <p:nvSpPr>
          <p:cNvPr id="30" name="Shape 27"/>
          <p:cNvSpPr/>
          <p:nvPr/>
        </p:nvSpPr>
        <p:spPr>
          <a:xfrm>
            <a:off x="658368" y="5779008"/>
            <a:ext cx="274320" cy="274320"/>
          </a:xfrm>
          <a:prstGeom prst="ellipse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658368" y="577900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000" dirty="0"/>
          </a:p>
        </p:txBody>
      </p:sp>
      <p:sp>
        <p:nvSpPr>
          <p:cNvPr id="32" name="Text 29"/>
          <p:cNvSpPr txBox="1"/>
          <p:nvPr/>
        </p:nvSpPr>
        <p:spPr>
          <a:xfrm>
            <a:off x="1024128" y="5705856"/>
            <a:ext cx="4983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Swap jobs and do the next role play. Then the topic conversation.</a:t>
            </a:r>
            <a:endParaRPr lang="en-US" sz="1150" dirty="0"/>
          </a:p>
        </p:txBody>
      </p:sp>
      <p:sp>
        <p:nvSpPr>
          <p:cNvPr id="33" name="Shape 30"/>
          <p:cNvSpPr/>
          <p:nvPr/>
        </p:nvSpPr>
        <p:spPr>
          <a:xfrm>
            <a:off x="6355080" y="181051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E9F5EE"/>
          </a:solidFill>
          <a:ln w="9525">
            <a:solidFill>
              <a:srgbClr val="2E8B5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4" name="Shape 31"/>
          <p:cNvSpPr/>
          <p:nvPr/>
        </p:nvSpPr>
        <p:spPr>
          <a:xfrm>
            <a:off x="6473952" y="190195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473952" y="190195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50" dirty="0"/>
          </a:p>
        </p:txBody>
      </p:sp>
      <p:sp>
        <p:nvSpPr>
          <p:cNvPr id="36" name="Text 33"/>
          <p:cNvSpPr txBox="1"/>
          <p:nvPr/>
        </p:nvSpPr>
        <p:spPr>
          <a:xfrm>
            <a:off x="6473952" y="217627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A and B, with the help column. Conversation: Core questions.</a:t>
            </a:r>
            <a:endParaRPr lang="en-US" sz="1150" dirty="0"/>
          </a:p>
        </p:txBody>
      </p:sp>
      <p:sp>
        <p:nvSpPr>
          <p:cNvPr id="37" name="Shape 34"/>
          <p:cNvSpPr/>
          <p:nvPr/>
        </p:nvSpPr>
        <p:spPr>
          <a:xfrm>
            <a:off x="6355080" y="281635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CF1E0"/>
          </a:solidFill>
          <a:ln w="9525">
            <a:solidFill>
              <a:srgbClr val="C9780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8" name="Shape 35"/>
          <p:cNvSpPr/>
          <p:nvPr/>
        </p:nvSpPr>
        <p:spPr>
          <a:xfrm>
            <a:off x="6473952" y="290779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473952" y="290779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50" dirty="0"/>
          </a:p>
        </p:txBody>
      </p:sp>
      <p:sp>
        <p:nvSpPr>
          <p:cNvPr id="40" name="Text 37"/>
          <p:cNvSpPr txBox="1"/>
          <p:nvPr/>
        </p:nvSpPr>
        <p:spPr>
          <a:xfrm>
            <a:off x="6473952" y="318211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B and C, help column covered. Conversation: Core + Develop questions.</a:t>
            </a:r>
            <a:endParaRPr lang="en-US" sz="1150" dirty="0"/>
          </a:p>
        </p:txBody>
      </p:sp>
      <p:sp>
        <p:nvSpPr>
          <p:cNvPr id="41" name="Shape 38"/>
          <p:cNvSpPr/>
          <p:nvPr/>
        </p:nvSpPr>
        <p:spPr>
          <a:xfrm>
            <a:off x="6355080" y="3822192"/>
            <a:ext cx="5376672" cy="896112"/>
          </a:xfrm>
          <a:prstGeom prst="roundRect">
            <a:avLst>
              <a:gd name="adj" fmla="val 8163"/>
            </a:avLst>
          </a:prstGeom>
          <a:solidFill>
            <a:srgbClr val="FBEAEA"/>
          </a:solidFill>
          <a:ln w="9525">
            <a:solidFill>
              <a:srgbClr val="B83227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2" name="Shape 39"/>
          <p:cNvSpPr/>
          <p:nvPr/>
        </p:nvSpPr>
        <p:spPr>
          <a:xfrm>
            <a:off x="6473952" y="3913632"/>
            <a:ext cx="105156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43" name="Text 40"/>
          <p:cNvSpPr txBox="1"/>
          <p:nvPr/>
        </p:nvSpPr>
        <p:spPr>
          <a:xfrm>
            <a:off x="6473952" y="3913632"/>
            <a:ext cx="1051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50" dirty="0"/>
          </a:p>
        </p:txBody>
      </p:sp>
      <p:sp>
        <p:nvSpPr>
          <p:cNvPr id="44" name="Text 41"/>
          <p:cNvSpPr txBox="1"/>
          <p:nvPr/>
        </p:nvSpPr>
        <p:spPr>
          <a:xfrm>
            <a:off x="6473952" y="4187952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Role plays C and D, no help. Conversation: Develop + Stretch questions, push with “why?”.</a:t>
            </a:r>
            <a:endParaRPr lang="en-US" sz="1150" dirty="0"/>
          </a:p>
        </p:txBody>
      </p:sp>
      <p:sp>
        <p:nvSpPr>
          <p:cNvPr id="45" name="Shape 42"/>
          <p:cNvSpPr/>
          <p:nvPr/>
        </p:nvSpPr>
        <p:spPr>
          <a:xfrm>
            <a:off x="6355080" y="4828032"/>
            <a:ext cx="5376672" cy="1481328"/>
          </a:xfrm>
          <a:prstGeom prst="roundRect">
            <a:avLst>
              <a:gd name="adj" fmla="val 4938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6" name="Text 43"/>
          <p:cNvSpPr txBox="1"/>
          <p:nvPr/>
        </p:nvSpPr>
        <p:spPr>
          <a:xfrm>
            <a:off x="6492240" y="4882896"/>
            <a:ext cx="2743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USEFUL LANGUAGE</a:t>
            </a:r>
            <a:endParaRPr lang="en-US" sz="950" dirty="0"/>
          </a:p>
        </p:txBody>
      </p:sp>
      <p:sp>
        <p:nvSpPr>
          <p:cNvPr id="47" name="Text 44"/>
          <p:cNvSpPr txBox="1"/>
          <p:nvPr/>
        </p:nvSpPr>
        <p:spPr>
          <a:xfrm>
            <a:off x="8732520" y="5138928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دَوْرُكَ!</a:t>
            </a:r>
            <a:endParaRPr lang="ar-SA" sz="1300" dirty="0"/>
          </a:p>
        </p:txBody>
      </p:sp>
      <p:sp>
        <p:nvSpPr>
          <p:cNvPr id="48" name="Text 45"/>
          <p:cNvSpPr txBox="1"/>
          <p:nvPr/>
        </p:nvSpPr>
        <p:spPr>
          <a:xfrm>
            <a:off x="6492240" y="5138928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your turn!</a:t>
            </a:r>
            <a:endParaRPr lang="en-US" sz="1000" dirty="0"/>
          </a:p>
        </p:txBody>
      </p:sp>
      <p:sp>
        <p:nvSpPr>
          <p:cNvPr id="49" name="Text 46"/>
          <p:cNvSpPr txBox="1"/>
          <p:nvPr/>
        </p:nvSpPr>
        <p:spPr>
          <a:xfrm>
            <a:off x="8732520" y="5422392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أَحْسَنْتَ! / أَحْسَنْتِ!</a:t>
            </a:r>
            <a:endParaRPr lang="ar-SA" sz="1300" dirty="0"/>
          </a:p>
        </p:txBody>
      </p:sp>
      <p:sp>
        <p:nvSpPr>
          <p:cNvPr id="50" name="Text 47"/>
          <p:cNvSpPr txBox="1"/>
          <p:nvPr/>
        </p:nvSpPr>
        <p:spPr>
          <a:xfrm>
            <a:off x="6492240" y="5422392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well done! (m. / f.)</a:t>
            </a:r>
            <a:endParaRPr lang="en-US" sz="1000" dirty="0"/>
          </a:p>
        </p:txBody>
      </p:sp>
      <p:sp>
        <p:nvSpPr>
          <p:cNvPr id="51" name="Text 48"/>
          <p:cNvSpPr txBox="1"/>
          <p:nvPr/>
        </p:nvSpPr>
        <p:spPr>
          <a:xfrm>
            <a:off x="8732520" y="5705856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تَكَلَّمْ أَكْثَرَ، مِنْ فَضْلِكَ</a:t>
            </a:r>
            <a:endParaRPr lang="ar-SA" sz="1300" dirty="0"/>
          </a:p>
        </p:txBody>
      </p:sp>
      <p:sp>
        <p:nvSpPr>
          <p:cNvPr id="52" name="Text 49"/>
          <p:cNvSpPr txBox="1"/>
          <p:nvPr/>
        </p:nvSpPr>
        <p:spPr>
          <a:xfrm>
            <a:off x="6492240" y="5705856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more, please</a:t>
            </a:r>
            <a:endParaRPr lang="en-US" sz="1000" dirty="0"/>
          </a:p>
        </p:txBody>
      </p:sp>
      <p:sp>
        <p:nvSpPr>
          <p:cNvPr id="53" name="Text 50"/>
          <p:cNvSpPr txBox="1"/>
          <p:nvPr/>
        </p:nvSpPr>
        <p:spPr>
          <a:xfrm>
            <a:off x="8732520" y="5989320"/>
            <a:ext cx="28803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13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لِمَاذَا؟</a:t>
            </a:r>
            <a:endParaRPr lang="ar-SA" sz="1300" dirty="0"/>
          </a:p>
        </p:txBody>
      </p:sp>
      <p:sp>
        <p:nvSpPr>
          <p:cNvPr id="54" name="Text 51"/>
          <p:cNvSpPr txBox="1"/>
          <p:nvPr/>
        </p:nvSpPr>
        <p:spPr>
          <a:xfrm>
            <a:off x="6492240" y="5989320"/>
            <a:ext cx="219456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why?</a:t>
            </a:r>
            <a:endParaRPr lang="en-US" sz="100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7 / 25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A · CORE · A NEW CLASSMATE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 — How do you get to school?</a:t>
            </a:r>
            <a:endParaRPr lang="en-US" sz="24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بِالحَافِلَةِ / بِالسَّيَّارَةِ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you travel to school.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 فِي السَّاعَةِ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what time you leave home.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تَخْرُجُ مِنَ البَيْتِ؟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… دَقِيقَةً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how long the journey takes.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 تَسْتَغْرِقُ الرِّحْلَةُ؟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مَعَ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who you travel with.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تَذْهَبُ؟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لِأَنَّهَا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الحَافِلَةَ؟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student  ·  The examiner is: a new classmate  ·  ! = unexpected question: listen carefully.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8 / 25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B · CORE+ · AT THE TRAIN STATION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 — Buying a train ticket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مَحَطَّةِ القِطَارِ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تَذْكِرَةً إِلَى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Say where you want to go.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إِلَى أَيْنَ؟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وَعَوْدَةٌ،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the type of ticket.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فَقَطْ أَمْ ذَهَابٌ وَعَوْدَةٌ؟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قِطَارٍ أَسْرَعُ؟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which train is faster.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قِطَارٌ فِي التَّاسِعَةِ وَقِطَارٌ فِي الحَادِيَةَ عَشْرَةَ.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سَآخُذُ … بِكَمِ التَّذْكِرَةُ؟</a:t>
            </a:r>
            <a:endParaRPr lang="ar-SA" sz="1500" dirty="0"/>
          </a:p>
        </p:txBody>
      </p:sp>
      <p:sp>
        <p:nvSpPr>
          <p:cNvPr id="41" name="Text 38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Choose the train and ask the price.</a:t>
            </a: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قِطَارُ التَّاسِعَةِ يَصِلُ بَعْدَ سَاعَتَيْنِ.</a:t>
            </a:r>
            <a:endParaRPr lang="ar-SA" sz="17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بِالبِطَاقَةِ / نَقْدًا …</a:t>
            </a:r>
            <a:endParaRPr lang="ar-SA" sz="1500" dirty="0"/>
          </a:p>
        </p:txBody>
      </p:sp>
      <p:sp>
        <p:nvSpPr>
          <p:cNvPr id="46" name="Text 43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question.</a:t>
            </a: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تُرِيدُ أَنْ تَدْفَعَ؟</a:t>
            </a:r>
            <a:endParaRPr lang="ar-SA" sz="17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9" name="Text 4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traveller  ·  The examiner is: the ticket clerk  ·  ! = unexpected question: listen carefully.</a:t>
            </a:r>
            <a:endParaRPr lang="en-US" sz="1150" dirty="0"/>
          </a:p>
        </p:txBody>
      </p:sp>
      <p:sp>
        <p:nvSpPr>
          <p:cNvPr id="50" name="Text 4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9 / 25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C · DEVELOP · LOST IN TOWN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 — Asking for directions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أَسْأَلُ عَنِ الطَّرِيقِ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سَمَحْتَ، كَيْفَ أَصِلُ إِلَى …؟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Politely ask the way to the museum.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تَحْتَاجُ إِلَى مُسَاعَدَةٍ؟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إِلَى الأَمَامِ ثُمَّ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Repeat the directions to check.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اذْهَبْ إِلَى الأَمَامِ، ثُمَّ انْعَطِفْ يَمِينًا عِنْدَ البَنْكِ.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بَعِيدٌ؟ هَلْ أَمْشِي أَمْ …؟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ASK if it is far, and if you should walk or take a bus.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صَحِيحٌ. وَالمُتْحَفُ عَلَى اليَسَارِ.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سَأَمْشِي لِأَنَّ … أَجْمَلُ / أَرْخَصُ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Decide and give a reason (comparison).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عَشْرُ دَقَائِقَ مَشْيًا، أَوْ مَحَطَّتَانِ بِالحَافِلَةِ.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مِنْ … وَصَلْتُ بِالطَّائِرَةِ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(past).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 وَكَيْفَ وَصَلْتَ إِلَى هُنَا؟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visitor  ·  The examiner is: a local person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10 / 25</a:t>
            </a:r>
            <a:endParaRPr lang="en-US" sz="8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6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ROLE PLAY D · STRETCH · A COUNCIL SURVEY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 — Transport in your town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المُوَاصَلَاتُ فِي مَدِينَتِكَ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622792" y="1810512"/>
            <a:ext cx="30358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Help (Core)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056632" y="1810512"/>
            <a:ext cx="34198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Your task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38770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641080" y="2267712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الحَافِلَاتُ … أَمَّا القِطَارُ فَأَسْرَعُ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093208" y="2267712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an opinion with a contrast.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المُوَاصَلَاتِ العَامَّةِ فِي مَدِينَتِكَ؟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641080" y="300471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… كَانَ … أَمَّا الآنَ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093208" y="300471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past and present.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تَغَيَّرَتِ المُوَاصَلَاتُ فِي السَّنَوَاتِ الأَخِيرَةِ؟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641080" y="3741725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… وَلِأَنَّ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093208" y="3741725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Give two reasons.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يُفَضِّلُ النَّاسُ السَّيَّارَةَ فِي رَأْيِكَ؟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641080" y="4478731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093208" y="4478731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Concede and give your view.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المُوَاصَلَاتُ مَجَّانِيَّةً لِلطُّلَّابِ؟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641080" y="5215738"/>
            <a:ext cx="299923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…، لَبَنَيْتُ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093208" y="5215738"/>
            <a:ext cx="33832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 the unexpected question (a conditional).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38404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مِلْيُونُ دِينَارٍ لِلْمُوَاصَلَاتِ، مَاذَا تَفْعَلُ؟</a:t>
            </a:r>
            <a:endParaRPr lang="ar-SA" sz="165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 !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You are: a young resident  ·  The examiner is: a council researcher  ·  ! = unexpected question: listen carefully.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11 / 25</a:t>
            </a:r>
            <a:endParaRPr lang="en-US" sz="8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OBSERVER · FEEDBACK CHECKLIST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Observer: tick and give feedback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وَرَقَةُ المُلَاحِظِ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759952" y="1810512"/>
            <a:ext cx="28986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Example you heard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7662672" y="1810512"/>
            <a:ext cx="950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✓ / ✗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6199632" y="1810512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Route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55229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candidate …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796528" y="226771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2" name="Text 19"/>
          <p:cNvSpPr txBox="1"/>
          <p:nvPr/>
        </p:nvSpPr>
        <p:spPr>
          <a:xfrm>
            <a:off x="7699248" y="226771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6236208" y="226771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answered EVERY task, including the unexpected one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2881884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796528" y="2881884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7699248" y="2881884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6236208" y="2881884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11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2881884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said how they travel, when they leave and how long it takes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2927604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2927604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496056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796528" y="3496056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6" name="Text 33"/>
          <p:cNvSpPr txBox="1"/>
          <p:nvPr/>
        </p:nvSpPr>
        <p:spPr>
          <a:xfrm>
            <a:off x="7699248" y="3496056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6236208" y="3496056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496056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compared two means of transport with asraʿu / arkhaṣu min and a reason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4110228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8796528" y="4110228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1" name="Text 38"/>
          <p:cNvSpPr txBox="1"/>
          <p:nvPr/>
        </p:nvSpPr>
        <p:spPr>
          <a:xfrm>
            <a:off x="7699248" y="4110228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2" name="Text 39"/>
          <p:cNvSpPr txBox="1"/>
          <p:nvPr/>
        </p:nvSpPr>
        <p:spPr>
          <a:xfrm>
            <a:off x="6236208" y="4110228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4110228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gave a reason (li-anna) or an opinion (fī ra’yī)</a:t>
            </a:r>
            <a:endParaRPr lang="en-US" sz="1100" dirty="0"/>
          </a:p>
        </p:txBody>
      </p:sp>
      <p:sp>
        <p:nvSpPr>
          <p:cNvPr id="44" name="Shape 41"/>
          <p:cNvSpPr/>
          <p:nvPr/>
        </p:nvSpPr>
        <p:spPr>
          <a:xfrm>
            <a:off x="457200" y="4724400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5" name="Text 42"/>
          <p:cNvSpPr txBox="1"/>
          <p:nvPr/>
        </p:nvSpPr>
        <p:spPr>
          <a:xfrm>
            <a:off x="8796528" y="4724400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6" name="Text 43"/>
          <p:cNvSpPr txBox="1"/>
          <p:nvPr/>
        </p:nvSpPr>
        <p:spPr>
          <a:xfrm>
            <a:off x="7699248" y="4724400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47" name="Text 44"/>
          <p:cNvSpPr txBox="1"/>
          <p:nvPr/>
        </p:nvSpPr>
        <p:spPr>
          <a:xfrm>
            <a:off x="6236208" y="4724400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1100" dirty="0"/>
          </a:p>
        </p:txBody>
      </p:sp>
      <p:sp>
        <p:nvSpPr>
          <p:cNvPr id="48" name="Text 45"/>
          <p:cNvSpPr txBox="1"/>
          <p:nvPr/>
        </p:nvSpPr>
        <p:spPr>
          <a:xfrm>
            <a:off x="566928" y="4724400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used more than one time frame (past / future)</a:t>
            </a:r>
            <a:endParaRPr lang="en-US" sz="1100" dirty="0"/>
          </a:p>
        </p:txBody>
      </p:sp>
      <p:sp>
        <p:nvSpPr>
          <p:cNvPr id="49" name="Shape 46"/>
          <p:cNvSpPr/>
          <p:nvPr/>
        </p:nvSpPr>
        <p:spPr>
          <a:xfrm>
            <a:off x="457200" y="5338572"/>
            <a:ext cx="11274552" cy="559308"/>
          </a:xfrm>
          <a:prstGeom prst="roundRect">
            <a:avLst>
              <a:gd name="adj" fmla="val 8174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50" name="Text 47"/>
          <p:cNvSpPr txBox="1"/>
          <p:nvPr/>
        </p:nvSpPr>
        <p:spPr>
          <a:xfrm>
            <a:off x="8796528" y="5338572"/>
            <a:ext cx="2862072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7699248" y="5338572"/>
            <a:ext cx="914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endParaRPr lang="en-US" sz="1100" dirty="0"/>
          </a:p>
        </p:txBody>
      </p:sp>
      <p:sp>
        <p:nvSpPr>
          <p:cNvPr id="52" name="Text 49"/>
          <p:cNvSpPr txBox="1"/>
          <p:nvPr/>
        </p:nvSpPr>
        <p:spPr>
          <a:xfrm>
            <a:off x="6236208" y="5338572"/>
            <a:ext cx="128016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All</a:t>
            </a:r>
            <a:endParaRPr lang="en-US" sz="1100" dirty="0"/>
          </a:p>
        </p:txBody>
      </p:sp>
      <p:sp>
        <p:nvSpPr>
          <p:cNvPr id="53" name="Text 50"/>
          <p:cNvSpPr txBox="1"/>
          <p:nvPr/>
        </p:nvSpPr>
        <p:spPr>
          <a:xfrm>
            <a:off x="566928" y="5338572"/>
            <a:ext cx="5486400" cy="559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kept going with a repair phrase instead of silence</a:t>
            </a:r>
            <a:endParaRPr lang="en-US" sz="1100" dirty="0"/>
          </a:p>
        </p:txBody>
      </p:sp>
      <p:sp>
        <p:nvSpPr>
          <p:cNvPr id="54" name="Text 5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Feedback in the room: one WWW (what went well) + one EBI (even better if …).</a:t>
            </a:r>
            <a:endParaRPr lang="en-US" sz="1150" dirty="0"/>
          </a:p>
        </p:txBody>
      </p:sp>
      <p:sp>
        <p:nvSpPr>
          <p:cNvPr id="55" name="Text 5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12 / 25</a:t>
            </a:r>
            <a:endParaRPr lang="en-US" sz="8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A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A: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إِلَى المَدْرَسَةِ بِالحَافِلَةِ.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go to school by bus.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 مِنَ البَيْتِ فِي السَّاعَةِ السَّابِعَةِ وَالرُّبْعِ.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leave home at quarter past seven.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مَتَى تَخْرُجُ مِنَ البَيْتِ؟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الرِّحْلَةُ عِشْرِينَ دَقِيقَةً تَقْرِيبًا.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journey takes about twenty minutes.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 تَسْتَغْرِقُ الرِّحْلَةُ؟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مَعَ أَخِي وَصَدِيقِي سَامِرٍ.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go with my brother and my friend Samer.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مَعَ مَنْ تَذْهَبُ؟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أُحِبُّهَا لِأَنَّهَا رَخِيصَةٌ، لٰكِنَّهَا مُزْدَحِمَةٌ أَحْيَانًا.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like it because it is cheap, but it is sometimes crowded.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تُحِبُّ الحَافِلَةَ؟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13 / 25</a:t>
            </a:r>
            <a:endParaRPr lang="en-US" sz="8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B · CORE+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B: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أُرِيدُ تَذْكِرَةً إِلَى الإِسْكَنْدَرِيَّةِ، مِنْ فَضْلِكَ.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would like a ticket to Alexandria, please.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أَهْلًا، إِلَى أَيْنَ؟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وَعَوْدَةٌ، لِأَنِّي سَأَرْجِعُ يَوْمَ الجُمُعَةِ.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Return, because I will come back on Friday.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ذَهَابٌ فَقَطْ أَمْ ذَهَابٌ وَعَوْدَةٌ؟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أَيُّ قِطَارٍ أَسْرَعُ، مِنْ فَضْلِكَ؟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Which train is faster, please?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هُنَاكَ قِطَارٌ فِي التَّاسِعَةِ وَقِطَارٌ فِي الحَادِيَةَ عَشْرَةَ.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سَآخُذُ قِطَارَ التَّاسِعَةِ إِذَنْ. بِكَمِ التَّذْكِرَةُ؟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I’ll take the nine o’clock train then. How much is the ticket?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قِطَارُ التَّاسِعَةِ يَصِلُ بَعْدَ سَاعَتَيْنِ.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بِالبِطَاقَةِ، مِنْ فَضْلِكَ.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By card, please.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تُرِيدُ أَنْ تَدْفَعَ؟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14 / 25</a:t>
            </a:r>
            <a:endParaRPr lang="en-US" sz="8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C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C: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لَوْ سَمَحْتَ، كَيْفَ أَصِلُ إِلَى المُتْحَفِ الوَطَنِيِّ؟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excuse me, how do I get to the National Museum?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تَحْتَاجُ إِلَى مُسَاعَدَةٍ؟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إِذَنْ، أَذْهَبُ إِلَى الأَمَامِ، ثُمَّ أَنْعَطِفُ يَمِينًا عِنْدَ البَنْكِ. صَحِيحٌ؟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So I go straight on, then turn right at the bank. Is that right?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اذْهَبْ إِلَى الأَمَامِ، ثُمَّ انْعَطِفْ يَمِينًا عِنْدَ البَنْكِ.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هُوَ بَعِيدٌ؟ هَلْ أَمْشِي أَمْ آخُذُ الحَافِلَةَ؟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it far? Should I walk or take the bus?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صَحِيحٌ. وَالمُتْحَفُ عَلَى اليَسَارِ.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سَأَمْشِي، لِأَنَّ الجَوَّ جَمِيلٌ، وَالمَشْيُ أَرْخَصُ مِنَ الحَافِلَةِ.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will walk, because the weather is nice and walking is cheaper than the bus.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عَشْرُ دَقَائِقَ مَشْيًا، أَوْ مَحَطَّتَانِ بِالحَافِلَةِ.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أَنَا مِنْ لَنْدَنَ، وَوَصَلْتُ أَمْسِ بِالطَّائِرَةِ، ثُمَّ رَكِبْتُ القِطَارَ إِلَى وَسَطِ المَدِينَةِ.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am from London; I arrived yesterday by plane, then took the train to the city centre.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مِنْ أَيْنَ أَنْتَ؟ وَكَيْفَ وَصَلْتَ إِلَى هُنَا؟</a:t>
            </a:r>
            <a:endParaRPr lang="ar-SA" sz="16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Every task answered with a full sentence — short, clear and accurate is enough for the role play.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15 / 25</a:t>
            </a:r>
            <a:endParaRPr lang="en-US" sz="8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 · ROLE PLAY D · STRETCH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5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Role play D: a full-mark performance</a:t>
            </a:r>
            <a:endParaRPr lang="en-US" sz="25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782312" y="1810512"/>
            <a:ext cx="68762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602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says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800600" y="2286000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الحَافِلَاتُ رَخِيصَةٌ لٰكِنَّهَا بَطِيئَةٌ، أَمَّا القِطَارُ فَأَسْرَعُ بِكَثِيرٍ، غَيْرَ أَنَّهُ غَالٍ.</a:t>
            </a:r>
            <a:endParaRPr lang="ar-SA" sz="1800" dirty="0"/>
          </a:p>
        </p:txBody>
      </p:sp>
      <p:sp>
        <p:nvSpPr>
          <p:cNvPr id="21" name="Text 18"/>
          <p:cNvSpPr txBox="1"/>
          <p:nvPr/>
        </p:nvSpPr>
        <p:spPr>
          <a:xfrm>
            <a:off x="4754880" y="267699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buses are cheap but slow; the train is much faster, but it is expensive.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رَأْيُكَ فِي المُوَاصَلَاتِ العَامَّةِ فِي مَدِينَتِكَ؟</a:t>
            </a:r>
            <a:endParaRPr lang="ar-SA" sz="16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800600" y="302300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قَبْلَ خَمْسِ سَنَوَاتٍ كَانَتِ الحَافِلَةُ تَأْتِي كُلَّ سَاعَةٍ، أَمَّا الآنَ فَتَأْتِي كُلَّ عَشْرِ دَقَائِقَ.</a:t>
            </a:r>
            <a:endParaRPr lang="ar-SA" sz="1800" dirty="0"/>
          </a:p>
        </p:txBody>
      </p:sp>
      <p:sp>
        <p:nvSpPr>
          <p:cNvPr id="26" name="Text 23"/>
          <p:cNvSpPr txBox="1"/>
          <p:nvPr/>
        </p:nvSpPr>
        <p:spPr>
          <a:xfrm>
            <a:off x="4754880" y="3414004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Five years ago the bus came every hour; now it comes every ten minutes.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تَغَيَّرَتِ المُوَاصَلَاتُ فِي السَّنَوَاتِ الأَخِيرَةِ؟</a:t>
            </a:r>
            <a:endParaRPr lang="ar-SA" sz="16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800600" y="3760013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لِأَنَّهَا مُرِيحَةٌ وَتَصِلُ إِلَى كُلِّ مَكَانٍ، وَلِأَنَّ الحَافِلَاتِ لَا تَعْمَلُ فِي اللَّيْلِ.</a:t>
            </a:r>
            <a:endParaRPr lang="ar-SA" sz="1800" dirty="0"/>
          </a:p>
        </p:txBody>
      </p:sp>
      <p:sp>
        <p:nvSpPr>
          <p:cNvPr id="31" name="Text 28"/>
          <p:cNvSpPr txBox="1"/>
          <p:nvPr/>
        </p:nvSpPr>
        <p:spPr>
          <a:xfrm>
            <a:off x="4754880" y="4151010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Because it is comfortable and reaches everywhere, and because the buses don’t run at night.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لِمَاذَا يُفَضِّلُ النَّاسُ السَّيَّارَةَ فِي رَأْيِكَ؟</a:t>
            </a:r>
            <a:endParaRPr lang="ar-SA" sz="16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800600" y="4497019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ذٰلِكَ مُكْلِفٌ لِلْبَلَدِيَّةِ، غَيْرَ أَنَّهُ يُقَلِّلُ عَدَدَ السَّيَّارَاتِ وَالتَّلَوُّثَ.</a:t>
            </a:r>
            <a:endParaRPr lang="ar-SA" sz="1800" dirty="0"/>
          </a:p>
        </p:txBody>
      </p:sp>
      <p:sp>
        <p:nvSpPr>
          <p:cNvPr id="36" name="Text 33"/>
          <p:cNvSpPr txBox="1"/>
          <p:nvPr/>
        </p:nvSpPr>
        <p:spPr>
          <a:xfrm>
            <a:off x="4754880" y="4888017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it is costly for the council, but it reduces the number of cars and pollution.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6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تَكُونَ المُوَاصَلَاتُ مَجَّانِيَّةً لِلطُّلَّابِ؟</a:t>
            </a:r>
            <a:endParaRPr lang="ar-SA" sz="16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800600" y="5234026"/>
            <a:ext cx="68397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عِنْدِي مِلْيُونُ دِينَارٍ، لَبَنَيْتُ طُرُقًا آمِنَةً لِلدَّرَّاجَاتِ حَوْلَ المَدَارِسِ.</a:t>
            </a:r>
            <a:endParaRPr lang="ar-SA" sz="1800" dirty="0"/>
          </a:p>
        </p:txBody>
      </p:sp>
      <p:sp>
        <p:nvSpPr>
          <p:cNvPr id="41" name="Text 38"/>
          <p:cNvSpPr txBox="1"/>
          <p:nvPr/>
        </p:nvSpPr>
        <p:spPr>
          <a:xfrm>
            <a:off x="4754880" y="5625023"/>
            <a:ext cx="69311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had a million dinars, I would build safe cycle lanes around schools.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5661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5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كَانَ عِنْدَكَ مِلْيُونُ دِينَارٍ لِلْمُوَاصَلَاتِ، مَاذَا تَفْعَلُ؟</a:t>
            </a:r>
            <a:endParaRPr lang="ar-SA" sz="155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a contrast with ammā … fa-, kāna + present, two reasons, ṣaḥīḥun anna … ghayra anna and law … la-.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16 / 25</a:t>
            </a:r>
            <a:endParaRPr lang="en-US" sz="8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CORE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Core questions</a:t>
            </a:r>
            <a:endParaRPr lang="en-US" sz="26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رِحْلَاتِي اليَوْمِيَّةُ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أَذْهَبُ … / أَمْشِي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 you get to school?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11091672" y="2313432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11091672" y="2313432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27" name="Shape 24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8" name="Text 25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…</a:t>
            </a:r>
            <a:endParaRPr lang="ar-SA" sz="1500" dirty="0"/>
          </a:p>
        </p:txBody>
      </p:sp>
      <p:sp>
        <p:nvSpPr>
          <p:cNvPr id="29" name="Text 26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many minutes does the journey take?</a:t>
            </a:r>
            <a:endParaRPr lang="en-US" sz="1100" dirty="0"/>
          </a:p>
        </p:txBody>
      </p:sp>
      <p:sp>
        <p:nvSpPr>
          <p:cNvPr id="30" name="Text 27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 تَسْتَغْرِقُ الرِّحْلَةُ؟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2" name="Shape 29"/>
          <p:cNvSpPr/>
          <p:nvPr/>
        </p:nvSpPr>
        <p:spPr>
          <a:xfrm>
            <a:off x="11091672" y="305043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11091672" y="305043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34" name="Shape 31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… لِأَنَّ …</a:t>
            </a:r>
            <a:endParaRPr lang="ar-SA" sz="1500" dirty="0"/>
          </a:p>
        </p:txBody>
      </p:sp>
      <p:sp>
        <p:nvSpPr>
          <p:cNvPr id="36" name="Text 33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your favourite means of transport?</a:t>
            </a:r>
            <a:endParaRPr lang="en-US" sz="110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وَسِيلَةُ المُوَاصَلَاتِ المُفَضَّلَةُ عِنْدَكَ؟</a:t>
            </a:r>
            <a:endParaRPr lang="ar-SA" sz="17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11091672" y="3787445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11091672" y="3787445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1" name="Shape 38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2" name="Text 39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…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Do you have a bike?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دَرَّاجَةٌ؟</a:t>
            </a:r>
            <a:endParaRPr lang="ar-SA" sz="1700" dirty="0"/>
          </a:p>
        </p:txBody>
      </p:sp>
      <p:sp>
        <p:nvSpPr>
          <p:cNvPr id="45" name="Text 42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6" name="Shape 43"/>
          <p:cNvSpPr/>
          <p:nvPr/>
        </p:nvSpPr>
        <p:spPr>
          <a:xfrm>
            <a:off x="11091672" y="4524451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47" name="Text 44"/>
          <p:cNvSpPr txBox="1"/>
          <p:nvPr/>
        </p:nvSpPr>
        <p:spPr>
          <a:xfrm>
            <a:off x="11091672" y="4524451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48" name="Shape 45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9" name="Text 46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يَذْهَبُ أَبِي بِالسَّيَّارَةِ …</a:t>
            </a:r>
            <a:endParaRPr lang="ar-SA" sz="1500" dirty="0"/>
          </a:p>
        </p:txBody>
      </p:sp>
      <p:sp>
        <p:nvSpPr>
          <p:cNvPr id="50" name="Text 47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does your father go to work?</a:t>
            </a:r>
            <a:endParaRPr lang="en-US" sz="1100" dirty="0"/>
          </a:p>
        </p:txBody>
      </p:sp>
      <p:sp>
        <p:nvSpPr>
          <p:cNvPr id="51" name="Text 48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يَذْهَبُ أَبُوكَ إِلَى العَمَلِ؟</a:t>
            </a:r>
            <a:endParaRPr lang="ar-SA" sz="1700" dirty="0"/>
          </a:p>
        </p:txBody>
      </p:sp>
      <p:sp>
        <p:nvSpPr>
          <p:cNvPr id="52" name="Text 49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53" name="Shape 50"/>
          <p:cNvSpPr/>
          <p:nvPr/>
        </p:nvSpPr>
        <p:spPr>
          <a:xfrm>
            <a:off x="11091672" y="5261458"/>
            <a:ext cx="548640" cy="182880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54" name="Text 51"/>
          <p:cNvSpPr txBox="1"/>
          <p:nvPr/>
        </p:nvSpPr>
        <p:spPr>
          <a:xfrm>
            <a:off x="11091672" y="5261458"/>
            <a:ext cx="5486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650" dirty="0"/>
          </a:p>
        </p:txBody>
      </p:sp>
      <p:sp>
        <p:nvSpPr>
          <p:cNvPr id="55" name="Text 5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Core: one full sentence for every question. If you are stuck: </a:t>
            </a:r>
            <a:pPr algn="l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عَفْوًا، هَلْ يُمْكِنُ أَنْ تُعِيدَ السُّؤَالَ؟</a:t>
            </a:r>
            <a:endParaRPr lang="en-US" sz="1150" dirty="0"/>
          </a:p>
        </p:txBody>
      </p:sp>
      <p:sp>
        <p:nvSpPr>
          <p:cNvPr id="56" name="Text 5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17 / 25</a:t>
            </a:r>
            <a:endParaRPr lang="en-US" sz="8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DEVELOP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Develop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السَّفَرُ وَالمُوَاصَلَاتُ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أَرْخَصُ مِنْ … لٰكِنَّ السَّيَّارَةَ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Compare the bus and the car.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الحَافِلَةِ وَالسَّيَّارَةِ.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… سَافَرْتُ إِلَى … وَاسْتَغْرَقَتِ الرِّحْلَةُ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a journey you made by train or plane.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قُمْتَ بِهَا بِالقِطَارِ أَوِ الطَّائِرَةِ.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الكُبْرَى هِيَ … خُصُوصًا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are the transport problems in your town?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المُشْكِلَاتُ فِي المُوَاصَلَاتِ فِي مَدِينَتِكَ؟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 مِنَ البَيْتِ، ثُمَّ … وَأَنْعَطِفُ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Describe the route from your home to school.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تَصِفُ الطَّرِيقَ مِنْ بَيْتِكَ إِلَى المَدْرَسَةِ؟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 / لَا، سَأَسْتَعْمِلُ … لِأَنَّ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Will you buy a car in the future?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سَتَشْتَرِي سَيَّارَةً فِي المُسْتَقْبَلِ؟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Develop: two or three sentences — a comparison (arkhaṣu min), a past journey, a reason and directions.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18 / 25</a:t>
            </a:r>
            <a:endParaRPr lang="en-US" sz="8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295083" y="274320"/>
            <a:ext cx="1464869" cy="329184"/>
          </a:xfrm>
          <a:prstGeom prst="roundRect">
            <a:avLst>
              <a:gd name="adj" fmla="val 50000"/>
            </a:avLst>
          </a:prstGeom>
          <a:solidFill>
            <a:srgbClr val="1E6B52"/>
          </a:solidFill>
          <a:ln w="12700">
            <a:solidFill>
              <a:srgbClr val="1E6B52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295083" y="274320"/>
            <a:ext cx="146486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YOU DO · 5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1E6B52"/>
                </a:solidFill>
                <a:latin typeface="Calibri" pitchFamily="34" charset="0"/>
                <a:cs typeface="Amiri" pitchFamily="2" charset="-78"/>
              </a:rPr>
              <a:t>TOPIC CONVERSATION · STRETCH QUESTIONS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Topic conversation — Stretch questions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المُوَاصَلَاتُ وَالبِيئَةُ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8439912" y="1810512"/>
            <a:ext cx="32186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Start like this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5788152" y="1810512"/>
            <a:ext cx="250545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Meaning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1033272" y="1810512"/>
            <a:ext cx="460857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The examiner asks</a:t>
            </a:r>
            <a:endParaRPr lang="en-US" sz="1100" dirty="0"/>
          </a:p>
        </p:txBody>
      </p:sp>
      <p:sp>
        <p:nvSpPr>
          <p:cNvPr id="19" name="Text 16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20" name="Shape 17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1" name="Text 18"/>
          <p:cNvSpPr txBox="1"/>
          <p:nvPr/>
        </p:nvSpPr>
        <p:spPr>
          <a:xfrm>
            <a:off x="8458200" y="2267712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… أَفْضَلُ، لِأَنَّ …</a:t>
            </a:r>
            <a:endParaRPr lang="ar-SA" sz="1500" dirty="0"/>
          </a:p>
        </p:txBody>
      </p:sp>
      <p:sp>
        <p:nvSpPr>
          <p:cNvPr id="22" name="Text 19"/>
          <p:cNvSpPr txBox="1"/>
          <p:nvPr/>
        </p:nvSpPr>
        <p:spPr>
          <a:xfrm>
            <a:off x="5824728" y="2267712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Is public transport better than private cars?</a:t>
            </a:r>
            <a:endParaRPr lang="en-US" sz="1100" dirty="0"/>
          </a:p>
        </p:txBody>
      </p:sp>
      <p:sp>
        <p:nvSpPr>
          <p:cNvPr id="23" name="Text 20"/>
          <p:cNvSpPr txBox="1"/>
          <p:nvPr/>
        </p:nvSpPr>
        <p:spPr>
          <a:xfrm>
            <a:off x="1051560" y="2267712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المُوَاصَلَاتُ العَامَّةُ أَفْضَلُ مِنَ السَّيَّارَاتِ الخَاصَّةِ؟</a:t>
            </a:r>
            <a:endParaRPr lang="ar-SA" sz="1700" dirty="0"/>
          </a:p>
        </p:txBody>
      </p:sp>
      <p:sp>
        <p:nvSpPr>
          <p:cNvPr id="24" name="Text 21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5" name="Shape 22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6" name="Text 23"/>
          <p:cNvSpPr txBox="1"/>
          <p:nvPr/>
        </p:nvSpPr>
        <p:spPr>
          <a:xfrm>
            <a:off x="8458200" y="300471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يُسَافِرُ … أَمَّا اليَوْمَ فَنَقْطَعُ …</a:t>
            </a:r>
            <a:endParaRPr lang="ar-SA" sz="1500" dirty="0"/>
          </a:p>
        </p:txBody>
      </p:sp>
      <p:sp>
        <p:nvSpPr>
          <p:cNvPr id="27" name="Text 24"/>
          <p:cNvSpPr txBox="1"/>
          <p:nvPr/>
        </p:nvSpPr>
        <p:spPr>
          <a:xfrm>
            <a:off x="5824728" y="300471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How did people travel in your grandparents’ day?</a:t>
            </a:r>
            <a:endParaRPr lang="en-US" sz="1100" dirty="0"/>
          </a:p>
        </p:txBody>
      </p:sp>
      <p:sp>
        <p:nvSpPr>
          <p:cNvPr id="28" name="Text 25"/>
          <p:cNvSpPr txBox="1"/>
          <p:nvPr/>
        </p:nvSpPr>
        <p:spPr>
          <a:xfrm>
            <a:off x="1051560" y="300471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النَّاسُ يُسَافِرُونَ فِي أَيَّامِ أَجْدَادِكَ؟</a:t>
            </a:r>
            <a:endParaRPr lang="ar-SA" sz="1700" dirty="0"/>
          </a:p>
        </p:txBody>
      </p:sp>
      <p:sp>
        <p:nvSpPr>
          <p:cNvPr id="29" name="Text 26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30" name="Shape 27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8458200" y="3741725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… غَيْرَ أَنَّ …</a:t>
            </a:r>
            <a:endParaRPr lang="ar-SA" sz="1500" dirty="0"/>
          </a:p>
        </p:txBody>
      </p:sp>
      <p:sp>
        <p:nvSpPr>
          <p:cNvPr id="32" name="Text 29"/>
          <p:cNvSpPr txBox="1"/>
          <p:nvPr/>
        </p:nvSpPr>
        <p:spPr>
          <a:xfrm>
            <a:off x="5824728" y="3741725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Should we ban cars from city centres?</a:t>
            </a:r>
            <a:endParaRPr lang="en-US" sz="1100" dirty="0"/>
          </a:p>
        </p:txBody>
      </p:sp>
      <p:sp>
        <p:nvSpPr>
          <p:cNvPr id="33" name="Text 30"/>
          <p:cNvSpPr txBox="1"/>
          <p:nvPr/>
        </p:nvSpPr>
        <p:spPr>
          <a:xfrm>
            <a:off x="1051560" y="3741725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نَمْنَعَ السَّيَّارَاتِ فِي وَسَطِ المُدُنِ؟</a:t>
            </a:r>
            <a:endParaRPr lang="ar-SA" sz="1700" dirty="0"/>
          </a:p>
        </p:txBody>
      </p:sp>
      <p:sp>
        <p:nvSpPr>
          <p:cNvPr id="34" name="Text 31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5" name="Shape 32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6" name="Text 33"/>
          <p:cNvSpPr txBox="1"/>
          <p:nvPr/>
        </p:nvSpPr>
        <p:spPr>
          <a:xfrm>
            <a:off x="8458200" y="4478731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رِحْلَةٍ كَانَتْ … عِنْدَمَا …</a:t>
            </a:r>
            <a:endParaRPr lang="ar-SA" sz="1500" dirty="0"/>
          </a:p>
        </p:txBody>
      </p:sp>
      <p:sp>
        <p:nvSpPr>
          <p:cNvPr id="37" name="Text 34"/>
          <p:cNvSpPr txBox="1"/>
          <p:nvPr/>
        </p:nvSpPr>
        <p:spPr>
          <a:xfrm>
            <a:off x="5824728" y="4478731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What is the hardest journey you have made?</a:t>
            </a:r>
            <a:endParaRPr lang="en-US" sz="1100" dirty="0"/>
          </a:p>
        </p:txBody>
      </p:sp>
      <p:sp>
        <p:nvSpPr>
          <p:cNvPr id="38" name="Text 35"/>
          <p:cNvSpPr txBox="1"/>
          <p:nvPr/>
        </p:nvSpPr>
        <p:spPr>
          <a:xfrm>
            <a:off x="1051560" y="4478731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رِحْلَةٍ قُمْتَ بِهَا؟</a:t>
            </a:r>
            <a:endParaRPr lang="ar-SA" sz="1700" dirty="0"/>
          </a:p>
        </p:txBody>
      </p:sp>
      <p:sp>
        <p:nvSpPr>
          <p:cNvPr id="39" name="Text 36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40" name="Shape 37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8458200" y="5215738"/>
            <a:ext cx="3182112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 …، لَجَعَلْتُهَا …</a:t>
            </a:r>
            <a:endParaRPr lang="ar-SA" sz="1500" dirty="0"/>
          </a:p>
        </p:txBody>
      </p:sp>
      <p:sp>
        <p:nvSpPr>
          <p:cNvPr id="42" name="Text 39"/>
          <p:cNvSpPr txBox="1"/>
          <p:nvPr/>
        </p:nvSpPr>
        <p:spPr>
          <a:xfrm>
            <a:off x="5824728" y="5215738"/>
            <a:ext cx="246888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you designed a new means of transport, what would it be like?</a:t>
            </a:r>
            <a:endParaRPr lang="en-US" sz="1100" dirty="0"/>
          </a:p>
        </p:txBody>
      </p:sp>
      <p:sp>
        <p:nvSpPr>
          <p:cNvPr id="43" name="Text 40"/>
          <p:cNvSpPr txBox="1"/>
          <p:nvPr/>
        </p:nvSpPr>
        <p:spPr>
          <a:xfrm>
            <a:off x="1051560" y="5215738"/>
            <a:ext cx="457200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وَسِيلَةَ مُوَاصَلَاتٍ جَدِيدَةً، كَيْفَ تَكُونُ؟</a:t>
            </a:r>
            <a:endParaRPr lang="ar-SA" sz="1700" dirty="0"/>
          </a:p>
        </p:txBody>
      </p:sp>
      <p:sp>
        <p:nvSpPr>
          <p:cNvPr id="44" name="Text 41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5" name="Text 42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badalan min, kāna + present, ammā … fa-, a superlative (aṣʿabu riḥla), a concession and a conditional.</a:t>
            </a:r>
            <a:endParaRPr lang="en-US" sz="1150" dirty="0"/>
          </a:p>
        </p:txBody>
      </p:sp>
      <p:sp>
        <p:nvSpPr>
          <p:cNvPr id="46" name="Text 43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19 / 25</a:t>
            </a:r>
            <a:endParaRPr lang="en-US" sz="8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CORE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Core: what a strong answer sounds like</a:t>
            </a:r>
            <a:endParaRPr lang="en-US" sz="24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أَمْشِي إِلَى المَدْرَسَةِ، لِأَنَّهَا قَرِيبَةٌ مِنْ بَيْتِي.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walk to school, because it is near my house.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تَذْهَبُ إِلَى المَدْرَسَةِ؟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تَسْتَغْرِقُ الرِّحْلَةُ رُبْعَ سَاعَةٍ فَقَطْ.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journey takes only a quarter of an hour.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كَمْ دَقِيقَةً تَسْتَغْرِقُ الرِّحْلَةُ؟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أُفَضِّلُ القِطَارَ، لِأَنَّهُ سَرِيعٌ وَمُرِيحٌ.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prefer the train, because it is fast and comfortable.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وَسِيلَةُ المُوَاصَلَاتِ المُفَضَّلَةُ عِنْدَكَ؟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نَعَمْ، عِنْدِي دَرَّاجَةٌ زَرْقَاءُ، وَأَرْكَبُهَا فِي نِهَايَةِ الأُسْبُوعِ.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Yes, I have a blue bike and I ride it at the weekend.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عِنْدَكَ دَرَّاجَةٌ؟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يَذْهَبُ أَبِي إِلَى العَمَلِ بِالسَّيَّارَةِ كُلَّ يَوْمٍ.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father goes to work by car every day.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يَذْهَبُ أَبُوكَ إِلَى العَمَلِ؟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Full sentence + a reason or a time = a secure Core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20 / 25</a:t>
            </a:r>
            <a:endParaRPr lang="en-US" sz="8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DEVELOP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Develop: what a strong answer sounds like</a:t>
            </a:r>
            <a:endParaRPr lang="en-US" sz="225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الحَافِلَةُ أَرْخَصُ مِنَ السَّيَّارَةِ، لٰكِنَّ السَّيَّارَةَ أَسْرَعُ وَأَكْثَرُ رَاحَةً.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67699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bus is cheaper than the car, but the car is faster and more comfortable.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قَارِنْ بَيْنَ الحَافِلَةِ وَالسَّيَّارَةِ.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0471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2300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فِي الصَّيْفِ سَافَرْتُ بِالقِطَارِ إِلَى أَدِنْبَرَةَ، وَاسْتَغْرَقَتِ الرِّحْلَةُ أَرْبَعَ سَاعَاتٍ، وَكَانَتِ المَنَاظِرُ جَمِيلَةً.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14004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In the summer I travelled by train to Edinburgh; it took four hours and the views were beautiful.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0471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صِفْ رِحْلَةً قُمْتَ بِهَا بِالقِطَارِ أَوِ الطَّائِرَةِ.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0471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741725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760013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المُشْكِلَةُ الكُبْرَى هِيَ الازْدِحَامُ، خُصُوصًا فِي الصَّبَاحِ، فَأَحْيَانًا أَصِلُ مُتَأَخِّرًا.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151010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biggest problem is traffic, especially in the morning, so I sometimes arrive late.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741725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المُشْكِلَاتُ فِي المُوَاصَلَاتِ فِي مَدِينَتِكَ؟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741725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Shape 31"/>
          <p:cNvSpPr/>
          <p:nvPr/>
        </p:nvSpPr>
        <p:spPr>
          <a:xfrm>
            <a:off x="457200" y="4478731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4343400" y="4497019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أَخْرُجُ مِنَ البَيْتِ، وَأَمْشِي إِلَى الأَمَامِ، ثُمَّ أَنْعَطِفُ يَسَارًا عِنْدَ المَسْجِدِ، وَالمَدْرَسَةُ عَلَى اليَمِينِ.</a:t>
            </a:r>
            <a:endParaRPr lang="ar-SA" sz="1700" dirty="0"/>
          </a:p>
        </p:txBody>
      </p:sp>
      <p:sp>
        <p:nvSpPr>
          <p:cNvPr id="36" name="Text 33"/>
          <p:cNvSpPr txBox="1"/>
          <p:nvPr/>
        </p:nvSpPr>
        <p:spPr>
          <a:xfrm>
            <a:off x="4297680" y="4888017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leave home, walk straight on, then turn left at the mosque; the school is on the right.</a:t>
            </a:r>
            <a:endParaRPr lang="en-US" sz="950" dirty="0"/>
          </a:p>
        </p:txBody>
      </p:sp>
      <p:sp>
        <p:nvSpPr>
          <p:cNvPr id="37" name="Text 34"/>
          <p:cNvSpPr txBox="1"/>
          <p:nvPr/>
        </p:nvSpPr>
        <p:spPr>
          <a:xfrm>
            <a:off x="1051560" y="4478731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تَصِفُ الطَّرِيقَ مِنْ بَيْتِكَ إِلَى المَدْرَسَةِ؟</a:t>
            </a:r>
            <a:endParaRPr lang="ar-SA" sz="1500" dirty="0"/>
          </a:p>
        </p:txBody>
      </p:sp>
      <p:sp>
        <p:nvSpPr>
          <p:cNvPr id="38" name="Text 35"/>
          <p:cNvSpPr txBox="1"/>
          <p:nvPr/>
        </p:nvSpPr>
        <p:spPr>
          <a:xfrm>
            <a:off x="566928" y="4478731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39" name="Shape 36"/>
          <p:cNvSpPr/>
          <p:nvPr/>
        </p:nvSpPr>
        <p:spPr>
          <a:xfrm>
            <a:off x="457200" y="5215738"/>
            <a:ext cx="11274552" cy="682142"/>
          </a:xfrm>
          <a:prstGeom prst="roundRect">
            <a:avLst>
              <a:gd name="adj" fmla="val 6702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40" name="Text 37"/>
          <p:cNvSpPr txBox="1"/>
          <p:nvPr/>
        </p:nvSpPr>
        <p:spPr>
          <a:xfrm>
            <a:off x="4343400" y="5234026"/>
            <a:ext cx="7296912" cy="422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لَا أَظُنُّ، سَأَسْتَعْمِلُ القِطَارَ وَالدَّرَّاجَةَ، لِأَنَّهُمَا أَفْضَلُ لِلْبِيئَةِ.</a:t>
            </a:r>
            <a:endParaRPr lang="ar-SA" sz="1700" dirty="0"/>
          </a:p>
        </p:txBody>
      </p:sp>
      <p:sp>
        <p:nvSpPr>
          <p:cNvPr id="41" name="Text 38"/>
          <p:cNvSpPr txBox="1"/>
          <p:nvPr/>
        </p:nvSpPr>
        <p:spPr>
          <a:xfrm>
            <a:off x="4297680" y="5625023"/>
            <a:ext cx="7388352" cy="25921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don’t think so; I will use the train and the bike, because they are better for the environment.</a:t>
            </a:r>
            <a:endParaRPr lang="en-US" sz="950" dirty="0"/>
          </a:p>
        </p:txBody>
      </p:sp>
      <p:sp>
        <p:nvSpPr>
          <p:cNvPr id="42" name="Text 39"/>
          <p:cNvSpPr txBox="1"/>
          <p:nvPr/>
        </p:nvSpPr>
        <p:spPr>
          <a:xfrm>
            <a:off x="1051560" y="5215738"/>
            <a:ext cx="310896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سَتَشْتَرِي سَيَّارَةً فِي المُسْتَقْبَلِ؟</a:t>
            </a:r>
            <a:endParaRPr lang="ar-SA" sz="1500" dirty="0"/>
          </a:p>
        </p:txBody>
      </p:sp>
      <p:sp>
        <p:nvSpPr>
          <p:cNvPr id="43" name="Text 40"/>
          <p:cNvSpPr txBox="1"/>
          <p:nvPr/>
        </p:nvSpPr>
        <p:spPr>
          <a:xfrm>
            <a:off x="566928" y="5215738"/>
            <a:ext cx="320040" cy="682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44" name="Text 4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Comparison + past journey + time taken + reason = a strong Develop answer.</a:t>
            </a:r>
            <a:endParaRPr lang="en-US" sz="1150" dirty="0"/>
          </a:p>
        </p:txBody>
      </p:sp>
      <p:sp>
        <p:nvSpPr>
          <p:cNvPr id="45" name="Text 4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21 / 25</a:t>
            </a:r>
            <a:endParaRPr lang="en-US" sz="8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1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أَعْتَقِدُ أَنَّ المُوَاصَلَاتِ العَامَّةَ أَفْضَلُ، لِأَنَّ حَافِلَةً وَاحِدَةً تَنْقُلُ خَمْسِينَ شَخْصًا بَدَلًا مِنْ خَمْسِينَ سَيَّارَةً.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 think public transport is better, because one bus carries fifty people instead of fifty cars.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lnSpc>
                <a:spcPct val="120000"/>
              </a:lnSpc>
              <a:buNone/>
            </a:pPr>
            <a:r>
              <a:rPr lang="ar-SA" altLang="en-US" sz="14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هَلِ المُوَاصَلَاتُ العَامَّةُ أَفْضَلُ مِنَ السَّيَّارَاتِ الخَاصَّةِ؟</a:t>
            </a:r>
            <a:endParaRPr lang="ar-SA" sz="14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1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كَانَ جَدِّي يُسَافِرُ بَيْنَ القُرَى عَلَى الحِمَارِ، أَمَّا اليَوْمَ فَنَقْطَعُ المَسَافَةَ نَفْسَهَا بِالسَّيَّارَةِ فِي دَقَائِقَ.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My grandfather travelled between villages by donkey; today we cover the same distance by car in minutes.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كَيْفَ كَانَ النَّاسُ يُسَافِرُونَ فِي أَيَّامِ أَجْدَادِكَ؟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2</a:t>
            </a:r>
            <a:endParaRPr lang="en-US" sz="1100" dirty="0"/>
          </a:p>
        </p:txBody>
      </p:sp>
      <p:sp>
        <p:nvSpPr>
          <p:cNvPr id="29" name="Shape 26"/>
          <p:cNvSpPr/>
          <p:nvPr/>
        </p:nvSpPr>
        <p:spPr>
          <a:xfrm>
            <a:off x="457200" y="3840480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30" name="Text 27"/>
          <p:cNvSpPr txBox="1"/>
          <p:nvPr/>
        </p:nvSpPr>
        <p:spPr>
          <a:xfrm>
            <a:off x="4343400" y="3858768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صَحِيحٌ أَنَّ المَنْعَ يُقَلِّلُ التَّلَوُّثَ، غَيْرَ أَنَّهُ صَعْبٌ عَلَى كِبَارِ السِّنِّ وَذَوِي الإِعَاقَةِ.</a:t>
            </a:r>
            <a:endParaRPr lang="ar-SA" sz="1700" dirty="0"/>
          </a:p>
        </p:txBody>
      </p:sp>
      <p:sp>
        <p:nvSpPr>
          <p:cNvPr id="31" name="Text 28"/>
          <p:cNvSpPr txBox="1"/>
          <p:nvPr/>
        </p:nvSpPr>
        <p:spPr>
          <a:xfrm>
            <a:off x="4297680" y="4279392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It is true that a ban reduces pollution, but it is hard for older and disabled people.</a:t>
            </a:r>
            <a:endParaRPr lang="en-US" sz="950" dirty="0"/>
          </a:p>
        </p:txBody>
      </p:sp>
      <p:sp>
        <p:nvSpPr>
          <p:cNvPr id="32" name="Text 29"/>
          <p:cNvSpPr txBox="1"/>
          <p:nvPr/>
        </p:nvSpPr>
        <p:spPr>
          <a:xfrm>
            <a:off x="1051560" y="3840480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هَلْ يَجِبُ أَنْ نَمْنَعَ السَّيَّارَاتِ فِي وَسَطِ المُدُنِ؟</a:t>
            </a:r>
            <a:endParaRPr lang="ar-SA" sz="1500" dirty="0"/>
          </a:p>
        </p:txBody>
      </p:sp>
      <p:sp>
        <p:nvSpPr>
          <p:cNvPr id="33" name="Text 30"/>
          <p:cNvSpPr txBox="1"/>
          <p:nvPr/>
        </p:nvSpPr>
        <p:spPr>
          <a:xfrm>
            <a:off x="566928" y="3840480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3</a:t>
            </a:r>
            <a:endParaRPr lang="en-US" sz="1100" dirty="0"/>
          </a:p>
        </p:txBody>
      </p:sp>
      <p:sp>
        <p:nvSpPr>
          <p:cNvPr id="34" name="Text 31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comparatives and superlatives, kāna + present, ṣaḥīḥun anna … ghayra anna, law … la- — range is rewarded.</a:t>
            </a:r>
            <a:endParaRPr lang="en-US" sz="1150" dirty="0"/>
          </a:p>
        </p:txBody>
      </p:sp>
      <p:sp>
        <p:nvSpPr>
          <p:cNvPr id="35" name="Text 32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22 / 25</a:t>
            </a:r>
            <a:endParaRPr lang="en-US" sz="8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2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MODEL ANSWERS · TOPIC CONVERSATION · STRETCH · PART 2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Stretch: what a strong answer sounds like</a:t>
            </a:r>
            <a:endParaRPr lang="en-US" sz="22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نَمُوذَجُ الإِجَابَةِ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11274552" cy="384048"/>
          </a:xfrm>
          <a:prstGeom prst="rect">
            <a:avLst/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16" name="Text 13"/>
          <p:cNvSpPr txBox="1"/>
          <p:nvPr/>
        </p:nvSpPr>
        <p:spPr>
          <a:xfrm>
            <a:off x="4325112" y="1810512"/>
            <a:ext cx="733348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Model answer (with English)</a:t>
            </a:r>
            <a:endParaRPr lang="en-US" sz="1100" dirty="0"/>
          </a:p>
        </p:txBody>
      </p:sp>
      <p:sp>
        <p:nvSpPr>
          <p:cNvPr id="17" name="Text 14"/>
          <p:cNvSpPr txBox="1"/>
          <p:nvPr/>
        </p:nvSpPr>
        <p:spPr>
          <a:xfrm>
            <a:off x="1033272" y="1810512"/>
            <a:ext cx="31455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Question</a:t>
            </a:r>
            <a:endParaRPr lang="en-US" sz="1100" dirty="0"/>
          </a:p>
        </p:txBody>
      </p:sp>
      <p:sp>
        <p:nvSpPr>
          <p:cNvPr id="18" name="Text 15"/>
          <p:cNvSpPr txBox="1"/>
          <p:nvPr/>
        </p:nvSpPr>
        <p:spPr>
          <a:xfrm>
            <a:off x="530352" y="1810512"/>
            <a:ext cx="35661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#</a:t>
            </a:r>
            <a:endParaRPr lang="en-US" sz="1100" dirty="0"/>
          </a:p>
        </p:txBody>
      </p:sp>
      <p:sp>
        <p:nvSpPr>
          <p:cNvPr id="19" name="Shape 16"/>
          <p:cNvSpPr/>
          <p:nvPr/>
        </p:nvSpPr>
        <p:spPr>
          <a:xfrm>
            <a:off x="457200" y="2267712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0" name="Text 17"/>
          <p:cNvSpPr txBox="1"/>
          <p:nvPr/>
        </p:nvSpPr>
        <p:spPr>
          <a:xfrm>
            <a:off x="4343400" y="2286000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أَصْعَبُ رِحْلَةٍ كَانَتْ عِنْدَمَا تَأَخَّرَ قِطَارُنَا ثَلَاثَ سَاعَاتٍ بِسَبَبِ الثَّلْجِ، فَوَصَلْنَا فِي مُنْتَصَفِ اللَّيْلِ.</a:t>
            </a:r>
            <a:endParaRPr lang="ar-SA" sz="1700" dirty="0"/>
          </a:p>
        </p:txBody>
      </p:sp>
      <p:sp>
        <p:nvSpPr>
          <p:cNvPr id="21" name="Text 18"/>
          <p:cNvSpPr txBox="1"/>
          <p:nvPr/>
        </p:nvSpPr>
        <p:spPr>
          <a:xfrm>
            <a:off x="4297680" y="2706624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The hardest journey was when our train was three hours late because of snow, so we arrived at midnight.</a:t>
            </a:r>
            <a:endParaRPr lang="en-US" sz="950" dirty="0"/>
          </a:p>
        </p:txBody>
      </p:sp>
      <p:sp>
        <p:nvSpPr>
          <p:cNvPr id="22" name="Text 19"/>
          <p:cNvSpPr txBox="1"/>
          <p:nvPr/>
        </p:nvSpPr>
        <p:spPr>
          <a:xfrm>
            <a:off x="1051560" y="2267712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مَا أَصْعَبُ رِحْلَةٍ قُمْتَ بِهَا؟</a:t>
            </a:r>
            <a:endParaRPr lang="ar-SA" sz="1500" dirty="0"/>
          </a:p>
        </p:txBody>
      </p:sp>
      <p:sp>
        <p:nvSpPr>
          <p:cNvPr id="23" name="Text 20"/>
          <p:cNvSpPr txBox="1"/>
          <p:nvPr/>
        </p:nvSpPr>
        <p:spPr>
          <a:xfrm>
            <a:off x="566928" y="2267712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4</a:t>
            </a:r>
            <a:endParaRPr lang="en-US" sz="1100" dirty="0"/>
          </a:p>
        </p:txBody>
      </p:sp>
      <p:sp>
        <p:nvSpPr>
          <p:cNvPr id="24" name="Shape 21"/>
          <p:cNvSpPr/>
          <p:nvPr/>
        </p:nvSpPr>
        <p:spPr>
          <a:xfrm>
            <a:off x="457200" y="3054096"/>
            <a:ext cx="11274552" cy="731520"/>
          </a:xfrm>
          <a:prstGeom prst="roundRect">
            <a:avLst>
              <a:gd name="adj" fmla="val 6250"/>
            </a:avLst>
          </a:prstGeom>
          <a:solidFill>
            <a:srgbClr val="F4F1EA"/>
          </a:solidFill>
          <a:ln w="9525">
            <a:solidFill>
              <a:srgbClr val="D8D0BF"/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4343400" y="3072384"/>
            <a:ext cx="7296912" cy="4535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7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صَمَّمْتُ وَسِيلَةً جَدِيدَةً، لَجَعَلْتُهَا تَطِيرُ بِالطَّاقَةِ الشَّمْسِيَّةِ، فَتَكُونُ سَرِيعَةً وَنَظِيفَةً مَعًا.</a:t>
            </a:r>
            <a:endParaRPr lang="ar-SA" sz="1700" dirty="0"/>
          </a:p>
        </p:txBody>
      </p:sp>
      <p:sp>
        <p:nvSpPr>
          <p:cNvPr id="26" name="Text 23"/>
          <p:cNvSpPr txBox="1"/>
          <p:nvPr/>
        </p:nvSpPr>
        <p:spPr>
          <a:xfrm>
            <a:off x="4297680" y="3493008"/>
            <a:ext cx="7388352" cy="27797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i="1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If I designed a new one, I would make it fly on solar power, so it would be both fast and clean.</a:t>
            </a:r>
            <a:endParaRPr lang="en-US" sz="950" dirty="0"/>
          </a:p>
        </p:txBody>
      </p:sp>
      <p:sp>
        <p:nvSpPr>
          <p:cNvPr id="27" name="Text 24"/>
          <p:cNvSpPr txBox="1"/>
          <p:nvPr/>
        </p:nvSpPr>
        <p:spPr>
          <a:xfrm>
            <a:off x="1051560" y="3054096"/>
            <a:ext cx="310896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500" b="1" dirty="0">
                <a:solidFill>
                  <a:srgbClr val="1B3B6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لَوْ صَمَّمْتَ وَسِيلَةَ مُوَاصَلَاتٍ جَدِيدَةً، كَيْفَ تَكُونُ؟</a:t>
            </a:r>
            <a:endParaRPr lang="ar-SA" sz="1500" dirty="0"/>
          </a:p>
        </p:txBody>
      </p:sp>
      <p:sp>
        <p:nvSpPr>
          <p:cNvPr id="28" name="Text 25"/>
          <p:cNvSpPr txBox="1"/>
          <p:nvPr/>
        </p:nvSpPr>
        <p:spPr>
          <a:xfrm>
            <a:off x="566928" y="3054096"/>
            <a:ext cx="320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5A6472"/>
                </a:solidFill>
                <a:latin typeface="Calibri" pitchFamily="34" charset="0"/>
                <a:cs typeface="Amiri" pitchFamily="2" charset="-78"/>
              </a:rPr>
              <a:t>5</a:t>
            </a:r>
            <a:endParaRPr lang="en-US" sz="1100" dirty="0"/>
          </a:p>
        </p:txBody>
      </p:sp>
      <p:sp>
        <p:nvSpPr>
          <p:cNvPr id="29" name="Text 26"/>
          <p:cNvSpPr txBox="1"/>
          <p:nvPr/>
        </p:nvSpPr>
        <p:spPr>
          <a:xfrm>
            <a:off x="457200" y="5943600"/>
            <a:ext cx="112745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1B3B6F"/>
                </a:solidFill>
                <a:latin typeface="Calibri" pitchFamily="34" charset="0"/>
                <a:cs typeface="Amiri" pitchFamily="2" charset="-78"/>
              </a:rPr>
              <a:t>Stretch: comparatives and superlatives, kāna + present, ṣaḥīḥun anna … ghayra anna, law … la- — range is rewarded.</a:t>
            </a:r>
            <a:endParaRPr lang="en-US" sz="1150" dirty="0"/>
          </a:p>
        </p:txBody>
      </p:sp>
      <p:sp>
        <p:nvSpPr>
          <p:cNvPr id="30" name="Text 27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23 / 25</a:t>
            </a:r>
            <a:endParaRPr lang="en-US" sz="8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D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57200" y="237744"/>
            <a:ext cx="420624" cy="420624"/>
          </a:xfrm>
          <a:prstGeom prst="ellipse">
            <a:avLst/>
          </a:prstGeom>
          <a:solidFill>
            <a:srgbClr val="1B3B6F"/>
          </a:solidFill>
          <a:ln w="12700">
            <a:solidFill>
              <a:srgbClr val="D4AF37"/>
            </a:solidFill>
            <a:prstDash val="solid"/>
          </a:ln>
        </p:spPr>
      </p:sp>
      <p:sp>
        <p:nvSpPr>
          <p:cNvPr id="3" name="Text 1"/>
          <p:cNvSpPr txBox="1"/>
          <p:nvPr/>
        </p:nvSpPr>
        <p:spPr>
          <a:xfrm>
            <a:off x="457200" y="21945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ctr" indent="0" marL="0">
              <a:buNone/>
            </a:pPr>
            <a:r>
              <a:rPr lang="ar-SA" altLang="en-US" sz="18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م</a:t>
            </a:r>
            <a:endParaRPr lang="ar-SA" sz="1800" dirty="0"/>
          </a:p>
        </p:txBody>
      </p:sp>
      <p:sp>
        <p:nvSpPr>
          <p:cNvPr id="4" name="Text 2"/>
          <p:cNvSpPr txBox="1"/>
          <p:nvPr/>
        </p:nvSpPr>
        <p:spPr>
          <a:xfrm>
            <a:off x="960120" y="219456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Al Madina Online School</a:t>
            </a:r>
            <a:endParaRPr lang="en-US" sz="1200" dirty="0"/>
          </a:p>
        </p:txBody>
      </p:sp>
      <p:sp>
        <p:nvSpPr>
          <p:cNvPr id="5" name="Text 3"/>
          <p:cNvSpPr txBox="1"/>
          <p:nvPr/>
        </p:nvSpPr>
        <p:spPr>
          <a:xfrm>
            <a:off x="960120" y="457200"/>
            <a:ext cx="4572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spc="2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ARABIC DEPARTMENT · MIFTAH ARABIC · IGCSE 0544</a:t>
            </a:r>
            <a:endParaRPr lang="en-US" sz="800" dirty="0"/>
          </a:p>
        </p:txBody>
      </p:sp>
      <p:sp>
        <p:nvSpPr>
          <p:cNvPr id="6" name="Shape 4"/>
          <p:cNvSpPr/>
          <p:nvPr/>
        </p:nvSpPr>
        <p:spPr>
          <a:xfrm>
            <a:off x="8897112" y="274320"/>
            <a:ext cx="2834640" cy="329184"/>
          </a:xfrm>
          <a:prstGeom prst="roundRect">
            <a:avLst>
              <a:gd name="adj" fmla="val 50000"/>
            </a:avLst>
          </a:prstGeom>
          <a:solidFill>
            <a:srgbClr val="1B3B6F"/>
          </a:solidFill>
          <a:ln w="12700">
            <a:solidFill>
              <a:srgbClr val="1B3B6F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897112" y="274320"/>
            <a:ext cx="2834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AT-A-L09 · Speaking workshop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7143293" y="274320"/>
            <a:ext cx="1616659" cy="329184"/>
          </a:xfrm>
          <a:prstGeom prst="roundRect">
            <a:avLst>
              <a:gd name="adj" fmla="val 50000"/>
            </a:avLst>
          </a:prstGeom>
          <a:solidFill>
            <a:srgbClr val="8A6D1E"/>
          </a:solidFill>
          <a:ln w="12700">
            <a:solidFill>
              <a:srgbClr val="8A6D1E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7143293" y="274320"/>
            <a:ext cx="1616659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FEEDBACK · 1 MIN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457200" y="822960"/>
            <a:ext cx="6949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spc="300" kern="0" dirty="0">
                <a:solidFill>
                  <a:srgbClr val="8A6D1E"/>
                </a:solidFill>
                <a:latin typeface="Calibri" pitchFamily="34" charset="0"/>
                <a:cs typeface="Amiri" pitchFamily="2" charset="-78"/>
              </a:rPr>
              <a:t>FEEDBACK · SUCCESS CRITERIA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457200" y="1033272"/>
            <a:ext cx="694944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1B3B6F"/>
                </a:solidFill>
                <a:latin typeface="Cambria" pitchFamily="34" charset="0"/>
                <a:cs typeface="Amiri" pitchFamily="2" charset="-78"/>
              </a:rPr>
              <a:t>Check your work</a:t>
            </a:r>
            <a:endParaRPr lang="en-US" sz="2800" dirty="0"/>
          </a:p>
        </p:txBody>
      </p:sp>
      <p:sp>
        <p:nvSpPr>
          <p:cNvPr id="12" name="Text 10"/>
          <p:cNvSpPr txBox="1"/>
          <p:nvPr/>
        </p:nvSpPr>
        <p:spPr>
          <a:xfrm>
            <a:off x="7498080" y="868680"/>
            <a:ext cx="42336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r" indent="0" marL="0">
              <a:buNone/>
            </a:pPr>
            <a:r>
              <a:rPr lang="ar-SA" altLang="en-US" sz="2800" b="1" dirty="0">
                <a:solidFill>
                  <a:srgbClr val="8A6D1E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قَيِّمْ عَمَلَكَ</a:t>
            </a:r>
            <a:endParaRPr lang="ar-SA" sz="2800" dirty="0"/>
          </a:p>
        </p:txBody>
      </p:sp>
      <p:sp>
        <p:nvSpPr>
          <p:cNvPr id="13" name="Text 11"/>
          <p:cNvSpPr txBox="1"/>
          <p:nvPr/>
        </p:nvSpPr>
        <p:spPr>
          <a:xfrm>
            <a:off x="457200" y="6455664"/>
            <a:ext cx="64008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Miftah Arabic · Topic A · Speaking workshop · AT-A-L09</a:t>
            </a:r>
            <a:endParaRPr lang="en-US" sz="850" dirty="0"/>
          </a:p>
        </p:txBody>
      </p:sp>
      <p:sp>
        <p:nvSpPr>
          <p:cNvPr id="15" name="Shape 12"/>
          <p:cNvSpPr/>
          <p:nvPr/>
        </p:nvSpPr>
        <p:spPr>
          <a:xfrm>
            <a:off x="457200" y="181051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685800" y="2086661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17" name="Text 14"/>
          <p:cNvSpPr txBox="1"/>
          <p:nvPr/>
        </p:nvSpPr>
        <p:spPr>
          <a:xfrm>
            <a:off x="1097280" y="181051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said how I travel (bil-ḥāfila …) and how long it takes.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6583680" y="2068373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19" name="Text 16"/>
          <p:cNvSpPr txBox="1"/>
          <p:nvPr/>
        </p:nvSpPr>
        <p:spPr>
          <a:xfrm>
            <a:off x="6583680" y="2068373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0" name="Shape 17"/>
          <p:cNvSpPr/>
          <p:nvPr/>
        </p:nvSpPr>
        <p:spPr>
          <a:xfrm>
            <a:off x="457200" y="2710282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1" name="Shape 18"/>
          <p:cNvSpPr/>
          <p:nvPr/>
        </p:nvSpPr>
        <p:spPr>
          <a:xfrm>
            <a:off x="685800" y="298643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2E8B57"/>
            </a:solidFill>
            <a:prstDash val="solid"/>
          </a:ln>
        </p:spPr>
      </p:sp>
      <p:sp>
        <p:nvSpPr>
          <p:cNvPr id="22" name="Text 19"/>
          <p:cNvSpPr txBox="1"/>
          <p:nvPr/>
        </p:nvSpPr>
        <p:spPr>
          <a:xfrm>
            <a:off x="1097280" y="2710282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bought a ticket or asked the way politely.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6583680" y="296814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2E8B57"/>
          </a:solidFill>
          <a:ln w="12700">
            <a:solidFill>
              <a:srgbClr val="2E8B57"/>
            </a:solidFill>
            <a:prstDash val="solid"/>
          </a:ln>
        </p:spPr>
      </p:sp>
      <p:sp>
        <p:nvSpPr>
          <p:cNvPr id="24" name="Text 21"/>
          <p:cNvSpPr txBox="1"/>
          <p:nvPr/>
        </p:nvSpPr>
        <p:spPr>
          <a:xfrm>
            <a:off x="6583680" y="296814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CORE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57200" y="361005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26" name="Shape 23"/>
          <p:cNvSpPr/>
          <p:nvPr/>
        </p:nvSpPr>
        <p:spPr>
          <a:xfrm>
            <a:off x="685800" y="388620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097280" y="361005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compared transport with asraʿu / arkhaṣu min.</a:t>
            </a:r>
            <a:endParaRPr lang="en-US" sz="1300" dirty="0"/>
          </a:p>
        </p:txBody>
      </p:sp>
      <p:sp>
        <p:nvSpPr>
          <p:cNvPr id="28" name="Shape 25"/>
          <p:cNvSpPr/>
          <p:nvPr/>
        </p:nvSpPr>
        <p:spPr>
          <a:xfrm>
            <a:off x="6583680" y="386791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6583680" y="386791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0" name="Shape 27"/>
          <p:cNvSpPr/>
          <p:nvPr/>
        </p:nvSpPr>
        <p:spPr>
          <a:xfrm>
            <a:off x="457200" y="4509821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1" name="Shape 28"/>
          <p:cNvSpPr/>
          <p:nvPr/>
        </p:nvSpPr>
        <p:spPr>
          <a:xfrm>
            <a:off x="685800" y="4785970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C9780A"/>
            </a:solidFill>
            <a:prstDash val="solid"/>
          </a:ln>
        </p:spPr>
      </p:sp>
      <p:sp>
        <p:nvSpPr>
          <p:cNvPr id="32" name="Text 29"/>
          <p:cNvSpPr txBox="1"/>
          <p:nvPr/>
        </p:nvSpPr>
        <p:spPr>
          <a:xfrm>
            <a:off x="1097280" y="4509821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gave or repeated directions (right, left, straight on).</a:t>
            </a:r>
            <a:endParaRPr lang="en-US" sz="1300" dirty="0"/>
          </a:p>
        </p:txBody>
      </p:sp>
      <p:sp>
        <p:nvSpPr>
          <p:cNvPr id="33" name="Shape 30"/>
          <p:cNvSpPr/>
          <p:nvPr/>
        </p:nvSpPr>
        <p:spPr>
          <a:xfrm>
            <a:off x="6583680" y="4767682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C9780A"/>
          </a:solidFill>
          <a:ln w="12700">
            <a:solidFill>
              <a:srgbClr val="C9780A"/>
            </a:solidFill>
            <a:prstDash val="solid"/>
          </a:ln>
        </p:spPr>
      </p:sp>
      <p:sp>
        <p:nvSpPr>
          <p:cNvPr id="34" name="Text 31"/>
          <p:cNvSpPr txBox="1"/>
          <p:nvPr/>
        </p:nvSpPr>
        <p:spPr>
          <a:xfrm>
            <a:off x="6583680" y="476768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DEVELOP</a:t>
            </a:r>
            <a:endParaRPr lang="en-US" sz="800" dirty="0"/>
          </a:p>
        </p:txBody>
      </p:sp>
      <p:sp>
        <p:nvSpPr>
          <p:cNvPr id="35" name="Shape 32"/>
          <p:cNvSpPr/>
          <p:nvPr/>
        </p:nvSpPr>
        <p:spPr>
          <a:xfrm>
            <a:off x="457200" y="5409590"/>
            <a:ext cx="7406640" cy="771754"/>
          </a:xfrm>
          <a:prstGeom prst="roundRect">
            <a:avLst>
              <a:gd name="adj" fmla="val 9479"/>
            </a:avLst>
          </a:prstGeom>
          <a:solidFill>
            <a:srgbClr val="FFFFFF"/>
          </a:solidFill>
          <a:ln w="9525">
            <a:solidFill>
              <a:srgbClr val="D8D0BF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36" name="Shape 33"/>
          <p:cNvSpPr/>
          <p:nvPr/>
        </p:nvSpPr>
        <p:spPr>
          <a:xfrm>
            <a:off x="685800" y="5685739"/>
            <a:ext cx="219456" cy="219456"/>
          </a:xfrm>
          <a:prstGeom prst="rect">
            <a:avLst/>
          </a:prstGeom>
          <a:solidFill>
            <a:srgbClr val="FFFFFF"/>
          </a:solidFill>
          <a:ln w="19050">
            <a:solidFill>
              <a:srgbClr val="B83227"/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1097280" y="5409590"/>
            <a:ext cx="5394960" cy="77175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I used ammā … fa-, a concession or a conditional.</a:t>
            </a:r>
            <a:endParaRPr lang="en-US" sz="1300" dirty="0"/>
          </a:p>
        </p:txBody>
      </p:sp>
      <p:sp>
        <p:nvSpPr>
          <p:cNvPr id="38" name="Shape 35"/>
          <p:cNvSpPr/>
          <p:nvPr/>
        </p:nvSpPr>
        <p:spPr>
          <a:xfrm>
            <a:off x="6583680" y="5667451"/>
            <a:ext cx="1097280" cy="256032"/>
          </a:xfrm>
          <a:prstGeom prst="roundRect">
            <a:avLst>
              <a:gd name="adj" fmla="val 50000"/>
            </a:avLst>
          </a:prstGeom>
          <a:solidFill>
            <a:srgbClr val="B83227"/>
          </a:solidFill>
          <a:ln w="12700">
            <a:solidFill>
              <a:srgbClr val="B83227"/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6583680" y="5667451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spc="100" kern="0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STRETCH</a:t>
            </a:r>
            <a:endParaRPr lang="en-US" sz="800" dirty="0"/>
          </a:p>
        </p:txBody>
      </p:sp>
      <p:sp>
        <p:nvSpPr>
          <p:cNvPr id="40" name="Shape 37"/>
          <p:cNvSpPr/>
          <p:nvPr/>
        </p:nvSpPr>
        <p:spPr>
          <a:xfrm>
            <a:off x="8092440" y="1810512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E9F5EE"/>
          </a:solidFill>
          <a:ln w="9525">
            <a:solidFill>
              <a:srgbClr val="9CCFB0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1" name="Text 38"/>
          <p:cNvSpPr txBox="1"/>
          <p:nvPr/>
        </p:nvSpPr>
        <p:spPr>
          <a:xfrm>
            <a:off x="8275320" y="1920240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E8B57"/>
                </a:solidFill>
                <a:latin typeface="Calibri" pitchFamily="34" charset="0"/>
                <a:cs typeface="Amiri" pitchFamily="2" charset="-78"/>
              </a:rPr>
              <a:t>WWW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What went well? One thing you did accurately.</a:t>
            </a:r>
            <a:endParaRPr lang="en-US" sz="1800" dirty="0"/>
          </a:p>
        </p:txBody>
      </p:sp>
      <p:sp>
        <p:nvSpPr>
          <p:cNvPr id="42" name="Shape 39"/>
          <p:cNvSpPr/>
          <p:nvPr/>
        </p:nvSpPr>
        <p:spPr>
          <a:xfrm>
            <a:off x="8092440" y="4041648"/>
            <a:ext cx="3639312" cy="2084832"/>
          </a:xfrm>
          <a:prstGeom prst="roundRect">
            <a:avLst>
              <a:gd name="adj" fmla="val 3509"/>
            </a:avLst>
          </a:prstGeom>
          <a:solidFill>
            <a:srgbClr val="FFF4E0"/>
          </a:solidFill>
          <a:ln w="9525">
            <a:solidFill>
              <a:srgbClr val="E8D49A"/>
            </a:solidFill>
            <a:prstDash val="solid"/>
          </a:ln>
          <a:effectLst>
            <a:outerShdw sx="100000" sy="100000" kx="0" ky="0" algn="bl" rotWithShape="0" blurRad="50800" dist="19050" dir="5400000">
              <a:srgbClr val="000000">
                <a:alpha val="10000"/>
              </a:srgbClr>
            </a:outerShdw>
          </a:effectLst>
        </p:spPr>
      </p:sp>
      <p:sp>
        <p:nvSpPr>
          <p:cNvPr id="43" name="Text 40"/>
          <p:cNvSpPr txBox="1"/>
          <p:nvPr/>
        </p:nvSpPr>
        <p:spPr>
          <a:xfrm>
            <a:off x="8275320" y="4151376"/>
            <a:ext cx="3273552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C9780A"/>
                </a:solidFill>
                <a:latin typeface="Calibri" pitchFamily="34" charset="0"/>
                <a:cs typeface="Amiri" pitchFamily="2" charset="-78"/>
              </a:rPr>
              <a:t>EBI</a:t>
            </a:r>
            <a:endParaRPr lang="en-US" sz="1800" dirty="0"/>
          </a:p>
          <a:p>
            <a:pPr indent="0" marL="0">
              <a:buNone/>
            </a:pPr>
            <a:r>
              <a:rPr lang="en-US" sz="1200" dirty="0">
                <a:solidFill>
                  <a:srgbClr val="1F2A37"/>
                </a:solidFill>
                <a:latin typeface="Calibri" pitchFamily="34" charset="0"/>
                <a:cs typeface="Amiri" pitchFamily="2" charset="-78"/>
              </a:rPr>
              <a:t>Even better if… One thing you will fix or add.</a:t>
            </a:r>
            <a:endParaRPr lang="en-US" sz="1800" dirty="0"/>
          </a:p>
        </p:txBody>
      </p:sp>
      <p:sp>
        <p:nvSpPr>
          <p:cNvPr id="44" name="Text 41"/>
          <p:cNvSpPr txBox="1"/>
          <p:nvPr/>
        </p:nvSpPr>
        <p:spPr>
          <a:xfrm>
            <a:off x="10360152" y="6455664"/>
            <a:ext cx="1371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8A93A0"/>
                </a:solidFill>
                <a:latin typeface="Calibri" pitchFamily="34" charset="0"/>
                <a:cs typeface="Amiri" pitchFamily="2" charset="-78"/>
              </a:rPr>
              <a:t>24 / 25</a:t>
            </a:r>
            <a:endParaRPr lang="en-US" sz="8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0D1F3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863840" y="1097280"/>
            <a:ext cx="5852160" cy="5852160"/>
          </a:xfrm>
          <a:prstGeom prst="ellipse">
            <a:avLst/>
          </a:prstGeom>
          <a:solidFill>
            <a:srgbClr val="14315C"/>
          </a:solidFill>
          <a:ln w="12700">
            <a:solidFill>
              <a:srgbClr val="14315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372600" y="2606040"/>
            <a:ext cx="1737360" cy="1737360"/>
          </a:xfrm>
          <a:prstGeom prst="ellipse">
            <a:avLst/>
          </a:prstGeom>
          <a:solidFill>
            <a:srgbClr val="D4AF37"/>
          </a:solidFill>
          <a:ln w="12700">
            <a:solidFill>
              <a:srgbClr val="D4AF37"/>
            </a:solidFill>
            <a:prstDash val="solid"/>
          </a:ln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710928" y="2944368"/>
            <a:ext cx="1060704" cy="1060704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457200" y="1280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AT-A-L09 COMPLETE</a:t>
            </a:r>
            <a:endParaRPr lang="en-US" sz="1100" dirty="0"/>
          </a:p>
        </p:txBody>
      </p:sp>
      <p:sp>
        <p:nvSpPr>
          <p:cNvPr id="6" name="Text 3"/>
          <p:cNvSpPr txBox="1"/>
          <p:nvPr/>
        </p:nvSpPr>
        <p:spPr>
          <a:xfrm>
            <a:off x="457200" y="169164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4000" b="1" dirty="0">
                <a:solidFill>
                  <a:srgbClr val="FFFFFF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أَحْسَنْتُمْ! إِلَى اللِّقَاءِ</a:t>
            </a:r>
            <a:endParaRPr lang="ar-SA" sz="4000" dirty="0"/>
          </a:p>
        </p:txBody>
      </p:sp>
      <p:sp>
        <p:nvSpPr>
          <p:cNvPr id="7" name="Text 4"/>
          <p:cNvSpPr txBox="1"/>
          <p:nvPr/>
        </p:nvSpPr>
        <p:spPr>
          <a:xfrm>
            <a:off x="457200" y="26060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00" i="1" dirty="0">
                <a:solidFill>
                  <a:srgbClr val="C6D2E6"/>
                </a:solidFill>
                <a:latin typeface="Calibri" pitchFamily="34" charset="0"/>
                <a:cs typeface="Amiri" pitchFamily="2" charset="-78"/>
              </a:rPr>
              <a:t>Well done — great speaking practice today!</a:t>
            </a:r>
            <a:endParaRPr lang="en-US" sz="1600" dirty="0"/>
          </a:p>
        </p:txBody>
      </p:sp>
      <p:sp>
        <p:nvSpPr>
          <p:cNvPr id="8" name="Text 5"/>
          <p:cNvSpPr txBox="1"/>
          <p:nvPr/>
        </p:nvSpPr>
        <p:spPr>
          <a:xfrm>
            <a:off x="457200" y="356616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b="1" spc="300" kern="0" dirty="0">
                <a:solidFill>
                  <a:srgbClr val="D4AF37"/>
                </a:solidFill>
                <a:latin typeface="Calibri" pitchFamily="34" charset="0"/>
                <a:cs typeface="Amiri" pitchFamily="2" charset="-78"/>
              </a:rPr>
              <a:t>NEXT WORKSHOP</a:t>
            </a:r>
            <a:endParaRPr lang="en-US" sz="1100" dirty="0"/>
          </a:p>
        </p:txBody>
      </p:sp>
      <p:sp>
        <p:nvSpPr>
          <p:cNvPr id="9" name="Text 6"/>
          <p:cNvSpPr txBox="1"/>
          <p:nvPr/>
        </p:nvSpPr>
        <p:spPr>
          <a:xfrm>
            <a:off x="457200" y="388620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650" b="1" dirty="0">
                <a:solidFill>
                  <a:srgbClr val="FFFFFF"/>
                </a:solidFill>
                <a:latin typeface="Cambria" pitchFamily="34" charset="0"/>
                <a:cs typeface="Amiri" pitchFamily="2" charset="-78"/>
              </a:rPr>
              <a:t>AT-A-L09 · Writing workshop · Form filling, directed writing and extended writing</a:t>
            </a:r>
            <a:endParaRPr lang="en-US" sz="1650" dirty="0"/>
          </a:p>
        </p:txBody>
      </p:sp>
      <p:sp>
        <p:nvSpPr>
          <p:cNvPr id="10" name="Text 7"/>
          <p:cNvSpPr txBox="1"/>
          <p:nvPr/>
        </p:nvSpPr>
        <p:spPr>
          <a:xfrm>
            <a:off x="457200" y="443484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rtl="1" algn="l" indent="0" marL="0">
              <a:buNone/>
            </a:pPr>
            <a:r>
              <a:rPr lang="ar-SA" altLang="en-US" sz="2400" b="1" dirty="0">
                <a:solidFill>
                  <a:srgbClr val="D4AF37"/>
                </a:solidFill>
                <a:latin typeface="Amiri" pitchFamily="2" charset="-78"/>
                <a:ea typeface="Amiri" pitchFamily="2" charset="-78"/>
                <a:cs typeface="Amiri" pitchFamily="2" charset="-78"/>
              </a:rPr>
              <a:t>وَرْشَةُ الكِتَابَةِ</a:t>
            </a:r>
            <a:endParaRPr lang="ar-SA" sz="2400" dirty="0"/>
          </a:p>
        </p:txBody>
      </p:sp>
      <p:sp>
        <p:nvSpPr>
          <p:cNvPr id="11" name="Text 8"/>
          <p:cNvSpPr txBox="1"/>
          <p:nvPr/>
        </p:nvSpPr>
        <p:spPr>
          <a:xfrm>
            <a:off x="457200" y="53035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cs typeface="Amiri" pitchFamily="2" charset="-78"/>
              </a:rPr>
              <a:t>Remember: in the role play answer EVERY task; in the conversation, develop every answer.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Amiri" pitchFamily="2" charset="-78"/>
        <a:cs typeface="Amiri" pitchFamily="2" charset="-78"/>
        <a:font script="Arab" typeface="Amiri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Amiri" pitchFamily="2" charset="-78"/>
        <a:cs typeface="Amiri" pitchFamily="2" charset="-78"/>
        <a:font script="Arab" typeface="Amir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Al Madina Online School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AT-A-L09 · Speaking Workshop — Everyday Journeys</dc:title>
  <dc:subject>PptxGenJS Presentation</dc:subject>
  <dc:creator>Al Madina Online School · Arabic Department</dc:creator>
  <cp:lastModifiedBy>Al Madina Online School · Arabic Department</cp:lastModifiedBy>
  <cp:revision>1</cp:revision>
  <dcterms:created xsi:type="dcterms:W3CDTF">2026-10-11T08:28:47Z</dcterms:created>
  <dcterms:modified xsi:type="dcterms:W3CDTF">2026-10-11T08:28:47Z</dcterms:modified>
</cp:coreProperties>
</file>