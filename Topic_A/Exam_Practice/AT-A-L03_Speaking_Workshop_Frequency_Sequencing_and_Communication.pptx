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3 (Frequency, Sequencing and Communication, AT-A-L03), using that lesson’s language (frequency adverbs, connectors, قَبْلَ / بَعْدَ (أَنْ), عِنْدَمَا).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build a frequency ladder from دَائِمًا to لَا … أَبَدًا. Never: لَا أَتَأَخَّرُ أَبَدًا (the verb is negated with لَا). Once / twice / three times: مَرَّةً · مَرَّتَيْنِ · ثَلَاثَ مَرَّاتٍ.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communication verbs with four persons. Connectors: قَبْلَ أَنْ / بَعْدَ أَنْ + a verb in -a (قَبْلَ أَنْ أَنَامَ); عِنْدَمَا + an ordinary present or past verb. (The verb اتَّصَلَ takes the preposition bi- joined to the person: أَتَّصِلُ بِجَدَّتِي.)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survey at the youth club.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تَأْتِينَ · تَفْعَلِينَ · تَتَأَخَّرِينَ · تَتَوَاصَلِينَ · أَصْدِقَائِكِ.
Core: a frequency word in each answer. “Never” = لَا + verb + أَبَدًا.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phone call with your grandmother.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تَتَّصِلِينَ بِي · تَفْعَلِينَ · تَذْهَبِي · تَرْجِعِينَ · سَتَزُورِينَنِي.
The grandmother is female, so the candidate uses the feminine “you”: بِكِ · تَفْعَلِينَ · سَأَزُورُكِ. قَبْلَ أَنْ + subjunctive (أَذْهَبَ).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with a new classmate.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تَتَوَاصَلِينَ · عِنْدَكِ · تَفْعَلِينَ (if the classmate is a girl).
Develop: sequence words, frequency + a reason. “Quarter to one” = الوَاحِدَةُ إِلَّا رُبْعًا.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an interview for a school-magazine article.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تَسْتَعْمِلِينَ · كُنْتِ تَتَوَاصَلِينَ · رَأْيِكِ · فَعَلْتِ · تَنَامِي · نَصِيحَتُكِ.
Stretch: ʿindamā, ammā … fa-, past habit (kuntu + present), comparatives (أَسْرَعُ · أَدْفَأُ), لَمْ + jussive, and advice with أَنْ + subjunctive.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question, with a frequency word.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connectors and a reason.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reason and more than one time frame.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Frequency and Communication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التَّكْرَارُ وَالتَّوَاصُلُ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say how often you do things, put events in order with before / after / when, and talk about how you keep in touch.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HOW OFTEN?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Always, often, sometimes, never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always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dā-ʾi-man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غَالِبًا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often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ghā-li-ban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sometimes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aḥ-yā-nan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نَادِرًا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rarely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nā-di-ran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أَبَدًا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ar-SA" sz="1350" b="1" dirty="0">
                <a:solidFill>
                  <a:srgbClr val="1F2A37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never (لَا … أَبَدًا)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a-ba-dan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often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once, one time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 times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مَرَّاتٍ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twice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once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64008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</a:t>
            </a:r>
            <a:endParaRPr lang="ar-SA" sz="1350" dirty="0"/>
          </a:p>
        </p:txBody>
      </p:sp>
      <p:sp>
        <p:nvSpPr>
          <p:cNvPr id="78" name="Text 7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KEEPING IN TOUCH (I · HE · SHE · THEY) AND CONNECTORS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Keep in touch — and link your ideas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 وَالرَّبْطُ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keep in touch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a-ta-wā-ṣa-lu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يَتَوَاصَلُونَ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تَتَوَاصَلُ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يَتَوَاصَلُ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send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ur-si-lu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يُرْسِلُونَ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تُرْسِلُ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يُرْسِلُ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بِجَدِّي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call (my grandfather)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at-ta-ṣi-lu bi-jad-dī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يَتَّصِلُونَ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تَتَّصِلُ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يَتَّصِلُ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message, a letter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ri-sā-la-tun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رَسَائِلُ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رِسَالَتَانِ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sequence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· بَعْدَ أَنْ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before · after (+ a verb)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qab-la an · baʿ-da an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connector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ʿin-da-mā</a:t>
            </a:r>
            <a:endParaRPr lang="en-US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SURVEY AT THE YOUTH CLUB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The youth-club survey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اسْتِبْيَانُ نَادِي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آتِي … فِي الأُسْبُوعِ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often you come to the club.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تَأْتِي إِلَى النَّادِي فِي الأُسْبُوعِ؟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 أَلْعَبُ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usually do there.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هُنَا عَادَةً؟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لَا أَتَأَخَّرُ أَبَدًا / نَادِرًا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you are ever late.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تَتَأَخَّرُ أَحْيَانًا؟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 رَسَائِلَ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keep in touch with club friends.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أَصْدِقَائِكَ فِي النَّادِي؟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النَّادِي أَرْجِعُ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النَّادِي؟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member of the youth club  ·  The examiner is: the club leader doing a survey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PHONE CALL WITH YOUR GRANDMOTHER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Calling your grandmother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مُكَالَمَةٌ مَعَ جَدَّتِي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بِكِ … فِي الشَّهْرِ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often you call her.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تَتَّصِلُ بِي فِي الشَّهْرِ؟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أَذْهَبَ … أَتَنَاوَلُ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one thing you do before school.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قَبْلَ أَنْ تَذْهَبَ إِلَى المَدْرَسَةِ؟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أَرْجِعُ … ثُمَّ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do when you get home (two things in order).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تَفْعَلُ عِنْدَمَا تَرْجِعُ إِلَى البَيْتِ؟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she usually does in the evening (she then answers).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أُشَاهِدُ التِّلْفَازَ وَأَقْرَأُ القُرْآنَ.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سَأَزُورُكِ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سَتَزُورُنِي؟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grandchild  ·  The examiner is: your grandmother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WITH A NEW CLASSMATE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new classmate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زَمِيلٌ جَدِيدٌ فِي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بَعْدَ ذٰلِكَ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morning routine in order.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يَحْدُثُ فِي الصَّبَاحِ عِنْدَمَا نَصِلُ؟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وَاجِبٌ … مَرَّاتٍ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often there is Arabic homework.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عِنْدَنَا وَاجِبٌ فِي العَرَبِيَّةِ؟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 رِسَالَةً … أَوْ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how you contact the teacher.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المُعَلِّمِ إِذَا كَانَ عِنْدَكَ سُؤَالٌ؟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time lunch is (the examiner then answers).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السَّاعَةِ الوَاحِدَةِ إِلَّا رُبْعًا.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الامْتِحَانِ دَائِمًا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question, with a reason.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دَائِمًا قَبْلَ الامْتِحَانِ؟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helping a new classmate  ·  The examiner is: the new classmate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AN INTERVIEW FOR A SCHOOL-MAGAZINE ARTICLE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Screens and communication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الشَّاشَاتُ وَالتَّوَاصُلُ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أَرْجِعُ … أَمَّا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time and when you use it, with a connector.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تَسْتَعْمِلُ الهَاتِفَ يَوْمِيًّا؟ وَفِي أَيِّ أَوْقَاتٍ؟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أَتَّصِلُ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habit.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كُنْتَ تَتَوَاصَلُ مَعَ أَقَارِبِكَ عِنْدَمَا كُنْتَ صَغِيرًا؟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 لٰكِنَّ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with a reason and a contrast.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الرَّسَائِلُ أَفْضَلُ مِنَ المُكَالَمَاتِ فِي رَأْيِكَ؟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أَنَامَ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 yesterday before sleeping (past + qabla an).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أَمْسِ قَبْلَ أَنْ تَنَامَ؟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أَنْصَحُهُ بِأَنْ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advice.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لِطَالِبٍ يَسْتَعْمِلُ الهَاتِفَ كَثِيرًا؟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being interviewed  ·  The examiner is: a school-magazine reporter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frequency word in most answers (dā’iman · aḥyānan …)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linked ideas with thumma, qabla an, baʿda an or ʿindamā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آتِي إِلَى النَّادِي مَرَّتَيْنِ فِي الأُسْبُوعِ.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come to the club twice a week.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تَأْتِي إِلَى النَّادِي فِي الأُسْبُوعِ؟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عَادَةً أَلْعَبُ كُرَةَ الطَّاوِلَةِ مَعَ أَصْدِقَائِي.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play table tennis with my friends.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هُنَا عَادَةً؟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لَا أَتَأَخَّرُ أَبَدًا، لِأَنِّي أَسْكُنُ قَرِيبًا.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am never late, because I live nearby.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تَتَأَخَّرُ أَحْيَانًا؟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 رَسَائِلَ عَلَى الهَاتِفِ كُلَّ يَوْمٍ.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send messages on my phone every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أَصْدِقَائِكَ فِي النَّادِي؟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النَّادِي أَرْجِعُ إِلَى البَيْتِ وَأَتَنَاوَلُ العَشَاءَ.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 the club I go home and have dinner.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بَعْدَ النَّادِي؟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بِكِ مَرَّتَيْنِ فِي الشَّهْرِ، يَا جَدَّتِي.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call you twice a month, Grandma.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تَتَّصِلُ بِي فِي الشَّهْرِ؟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أَذْهَبَ إِلَى المَدْرَسَةِ، أَتَنَاوَلُ الإِفْطَارَ مَعَ أُمِّي.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I go to school, I have breakfast with my mother.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قَبْلَ أَنْ تَذْهَبَ إِلَى المَدْرَسَةِ؟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أَرْجِعُ إِلَى البَيْتِ، أَرْتَاحُ قَلِيلًا، ثُمَّ أُنْهِي وَاجِبَاتِي.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get home, I rest a little, then I finish my homework.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تَفْعَلُ عِنْدَمَا تَرْجِعُ إِلَى البَيْتِ؟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وَأَنْتِ يَا جَدَّتِي، مَاذَا تَفْعَلِينَ فِي المَسَاءِ عَادَةً؟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you, Grandma, what do you usually do in the evening?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أُشَاهِدُ التِّلْفَازَ وَأَقْرَأُ القُرْآنَ.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سَأَزُورُكِ يَوْمَ السَّبْتِ القَادِمِ بَعْدَ الظُّهْرِ، إِنْ شَاءَ اللّٰهُ.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visit you next Saturday afternoon, God willing.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سَتَزُورُنِي؟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نَذْهَبُ إِلَى التَّسْجِيلِ، ثُمَّ تَبْدَأُ الحِصَّةُ الأُولَى، وَبَعْدَ ذٰلِكَ نَأْخُذُ اسْتِرَاحَةً قَصِيرَةً.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we go to registration, then the first lesson starts, and after that we have a short break.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يَحْدُثُ فِي الصَّبَاحِ عِنْدَمَا نَصِلُ؟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وَاجِبٌ ثَلَاثَ مَرَّاتٍ فِي الأُسْبُوعِ عَادَةً، وَأَحْيَانًا امْتِحَانٌ قَصِيرٌ.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usually have homework three times a week, and sometimes a short test.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عِنْدَنَا وَاجِبٌ فِي العَرَبِيَّةِ؟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 لَهُ رِسَالَةً عَلَى المَنَصَّةِ، أَوْ أَسْأَلُهُ بَعْدَ الحِصَّةِ.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send him a message on the platform, or I ask him after the lesson.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المُعَلِّمِ إِذَا كَانَ عِنْدَكَ سُؤَالٌ؟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نَتَنَاوَلُ الغَدَاءَ؟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time do we have lunch?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السَّاعَةِ الوَاحِدَةِ إِلَّا رُبْعًا.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الامْتِحَانِ دَائِمًا أُرَاجِعُ مُلَاحَظَاتِي وَأَنَامُ مُبَكِّرًا، لِأَنَّ النَّوْمَ يُسَاعِدُنِي عَلَى التَّرْكِيزِ.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an exam I always revise my notes and sleep early, because sleep helps me concentrate.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دَائِمًا قَبْلَ الامْتِحَانِ؟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أَسْتَعْمِلُهُ سَاعَتَيْنِ تَقْرِيبًا؛ عِنْدَمَا أَرْجِعُ مِنَ المَدْرَسَةِ أُرْسِلُ رَسَائِلَ لِأَصْدِقَائِي، أَمَّا فِي اللَّيْلِ فَأُطْفِئُهُ.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About two hours; when I get back from school I message my friends, but at night I switch it off.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تَسْتَعْمِلُ الهَاتِفَ يَوْمِيًّا؟ وَفِي أَيِّ أَوْقَاتٍ؟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صَغِيرًا، كُنْتُ أَتَّصِلُ بِجَدِّي بِالهَاتِفِ الأَرْضِيِّ مَرَّةً فِي الأُسْبُوعِ فَقَطْ.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was little, I used to call my grandfather on the landline only once a week.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كُنْتَ تَتَوَاصَلُ مَعَ أَقَارِبِكَ عِنْدَمَا كُنْتَ صَغِيرًا؟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الرَّسَائِلُ أَسْرَعُ، لٰكِنَّ المُكَالَمَاتِ أَدْفَأُ، لِأَنَّنَا نَسْمَعُ الصَّوْتَ وَنَفْهَمُ المَشَاعِرَ.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 messages are quicker, but calls are warmer, because we hear the voice and understand the feelings.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الرَّسَائِلُ أَفْضَلُ مِنَ المُكَالَمَاتِ فِي رَأْيِكَ؟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أَمْسِ، قَبْلَ أَنْ أَنَامَ، قَرَأْتُ كِتَابًا نِصْفَ سَاعَةٍ، وَلَمْ أَسْتَعْمِلِ الهَاتِفَ أَبَدًا.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Yesterday, before I slept, I read a book for half an hour and did not use my phone at all.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أَمْسِ قَبْلَ أَنْ تَنَامَ؟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أَنْصَحُهُ بِأَنْ يُطْفِئَ الهَاتِفَ سَاعَةً قَبْلَ النَّوْمِ، وَأَنْ يَتَّصِلَ بِأَصْدِقَائِهِ بَدَلًا مِنَ الرَّسَائِلِ الكَثِيرَةِ.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advise him to switch off his phone an hour before bed, and to call his friends instead of sending lots of messages.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لِطَالِبٍ يَسْتَعْمِلُ الهَاتِفَ كَثِيرًا؟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connectors, a past habit, comparatives, a negative past (lam) and advice with an + verb in -a.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الرِّيَاضَةَ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often do you do sport?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تُمَارِسُ الرِّيَاضَةَ؟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أَقْرَأُ … أَحْيَانًا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read books?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تَقْرَأُ الكُتُبَ؟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 … / أَتَّصِلُ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keep in touch with friends?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أَصْدِقَائِكَ؟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النَّوْمِ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before sleeping?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قَبْلَ النَّوْمِ؟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… أَبَدًا / نَادِرًا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 ever late for school?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تَتَأَخَّرُ عَنِ المَدْرَسَةِ؟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and a frequency word in each.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التَّرْتِيبُ وَالتَّوَاصُلُ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أَرْجِعُ … ثُمَّ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what you do after school, in order.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مَاذَا تَفْعَلُ بَعْدَ المَدْرَسَةِ بِالتَّرْتِيبِ.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بِخَالَتِي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often do you call relatives? Why?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تَتَّصِلُ بِأَقَارِبِكَ؟ 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أَذْهَبَ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usually do before going to school?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عَادَةً قَبْلَ أَنْ تَذْهَبَ إِلَى المَدْرَسَةِ؟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… أَبَدًا،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something you never do?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لَا تَفْعَلُهُ أَبَدًا؟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أَنْ رَجَعْتُ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do yesterday after getting home?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أَمْسِ بَعْدَ أَنْ رَجَعْتَ إِلَى البَيْتِ؟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ʿindamā · qabla an · baʿda an · thumma — and a reason.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 اليَوْمَ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المَاضِي كَانَ … أَمَّا اليَوْمَ فَنَتَوَاصَلُ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communication between people changed?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التَّوَاصُلُ بَيْنَ النَّاسِ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young people spend too long on screens?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طَوِيلًا عَلَى الشَّاشَاتِ؟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 أَكْتُبُ … قَبْلَ 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always do to organise your 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تَفْعَلُهُ دَائِمًا لِتُنَظِّمَ يَوْمَكَ؟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العِيدِ اتَّصَلْتُ بِجَدِّي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important call you made.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مُكَالَمَةً مُهِمَّةً أَجْرَيْتَهَا.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يَكُنْ هُنَاكَ هَاتِفٌ، لَكَتَبْتُ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there were no phones, how would you communicate?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يَكُنْ هُنَاكَ هَاتِفٌ، كَيْفَ تَتَوَاصَلُ؟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past vs present (ammā … fa-), opinion, connectors and a conditional (law lam … la-).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الرِّيَاضَةَ ثَلَاثَ مَرَّاتٍ فِي الأُسْبُوعِ.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 sport three times a week.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تُمَارِسُ الرِّيَاضَةَ؟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أَقْرَأُ الكُتُبَ أَحْيَانًا فِي المَسَاءِ.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sometimes read books in the evening.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تَقْرَأُ الكُتُبَ؟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 رَسَائِلَ لِأَصْدِقَائِي كُلَّ يَوْمٍ.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send messages to my friends every 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أَصْدِقَائِكَ؟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النَّوْمِ أُنَظِّفُ أَسْنَانِي وَأَقْرَأُ قَلِيلًا.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sleeping I brush my teeth and read a little.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قَبْلَ النَّوْمِ؟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نَادِرًا مَا أَتَأَخَّرُ عَنِ المَدْرَسَةِ.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rarely late for school.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تَتَأَخَّرُ عَنِ المَدْرَسَةِ؟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frequency word = a secure Core answer. Note: nādiran mā + verb = rarely.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أَرْجِعُ مِنَ المَدْرَسَةِ أَتَنَاوَلُ الغَدَاءَ، ثُمَّ أُنْهِي وَاجِبَاتِي، وَبَعْدَ ذٰلِكَ أَلْعَبُ مَعَ أَخِي.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get back from school I have lunch, then I finish my homework, and after that I play with my brother.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مَاذَا تَفْعَلُ بَعْدَ المَدْرَسَةِ بِالتَّرْتِيبِ.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بِخَالَتِي مَرَّةً فِي الأُسْبُوعِ، لِأَنَّهَا تَسْكُنُ فِي بَاكِسْتَانَ وَنَشْتَاقُ إِلَيْهَا.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call my aunt once a week, because she lives in Pakistan and we miss 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تَتَّصِلُ بِأَقَارِبِكَ؟ 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أَنْ أَذْهَبَ إِلَى المَدْرَسَةِ، أُرَتِّبُ حَقِيبَتِي وَأَتَنَاوَلُ الإِفْطَارَ بِسُرْعَةٍ.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I go to school, I pack my bag and have breakfast quickly.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عَادَةً قَبْلَ أَنْ تَذْهَبَ إِلَى المَدْرَسَةِ؟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أَشْرَبُ المَشْرُوبَاتِ الغَازِيَّةَ أَبَدًا، لِأَنَّهَا غَيْرُ صِحِّيَّةٍ.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never drink fizzy drinks, because they are unhealthy.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لَا تَفْعَلُهُ أَبَدًا؟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أَنْ رَجَعْتُ إِلَى البَيْتِ، اتَّصَلْتُ بِصَدِيقِي، ثُمَّ ذَاكَرْنَا مَعًا عَلَى الإِنْتَرْنِتِ.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 I got home, I called my friend, then we studied together online.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أَمْسِ بَعْدَ أَنْ رَجَعْتَ إِلَى البَيْتِ؟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baʿda an + PAST verb (rajaʿtu); qabla an + verb in -a (adhhaba).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المَاضِي كَانَ النَّاسُ يَكْتُبُونَ رَسَائِلَ وَرَقِيَّةً، أَمَّا اليَوْمَ فَنَتَوَاصَلُ فَوْرًا بِالهَاتِفِ وَالإِنْتَرْنِتِ.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past people wrote paper letters; today we communicate instantly by phone and internet.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التَّوَاصُلُ بَيْنَ النَّاسِ فِي رَأْيِكَ؟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كَثِيرًا مِنَ الشَّبَابِ يَقْضُونَ وَقْتًا طَوِيلًا عَلَيْهَا، لِأَنَّهُمْ يَدْرُسُونَ وَيَلْعَبُونَ وَيَتَوَاصَلُونَ بِهَا.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many young people spend a long time on them, because they study, play and communicate with them.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يَقْضِي الشَّبَابُ وَقْتًا طَوِيلًا عَلَى الشَّاشَاتِ؟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 أَكْتُبُ قَائِمَةً بِالمَهَامِّ قَبْلَ أَنْ أَنَامَ، وَعِنْدَمَا أَسْتَيْقِظُ أَبْدَأُ بِأَصْعَبِهَا.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always write a to-do list before I sleep, and when I wake up I start with the hardest task.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تَفْعَلُهُ دَائِمًا لِتُنَظِّمَ يَوْمَكَ؟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 for past habits, ammā … fa-, qabla an / ʿindamā, and law lam yakun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العِيدِ المَاضِي اتَّصَلْتُ بِجَدِّي فِي مِصْرَ بِالفِيدْيُو، فَرَأَى أُسْرَتَنَا كُلَّهَا وَفَرِحَ كَثِيرًا.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Eid I video-called my grandfather in Egypt; he saw our whole family and was very happy.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مُكَالَمَةً مُهِمَّةً أَجْرَيْتَهَا.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يَكُنْ هُنَاكَ هَاتِفٌ، لَكَتَبْتُ رَسَائِلَ لِأَصْدِقَائِي، وَلَزُرْتُهُمْ أَكْثَرَ.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there were no phone, I would write letters to my friends and visit them more.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يَكُنْ هُنَاكَ هَاتِفٌ، كَيْفَ تَتَوَاصَلُ؟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 for past habits, ammā … fa-, qabla an / ʿindamā, and law lam yakun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frequency words (dā’iman, aḥyānan, lā … abadan).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linked ideas with ʿindamā, qabla an or baʿda an.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 question in the role play.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past and present, with an opinion and a reason.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AT-A-L03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AT-A-L03 · Speaking Workshop — Frequency and Communication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2026-10-11T07:50:47Z</dcterms:created>
  <dcterms:modified xsi:type="dcterms:W3CDTF">2026-10-11T07:50:47Z</dcterms:modified>
</cp:coreProperties>
</file>