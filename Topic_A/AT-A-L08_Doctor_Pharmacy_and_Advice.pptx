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A · AT-A-L08 — Doctor, Pharmacy and Advice. Website: Advanced Topics › Topic A (Everyday Activities) › Lesson 8.
The website builds this lesson on the F5-L09 lesson engine, with the Topic focus “Describe a health problem, understand a consultation and give appropriate general advice.” (grammar: Advice with أن; subjunctive; requests and health vocabulary; skills: Reading · Speaking) and the application challenge “Doctor and pharmacy role-play”. This deck follows the same engine, re-sequenced for Topic A: lesson references now point to Topic A codes (lessons outside Topic A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A › Lesson 8 (AT-A-L08), lesson engine Pathways › Foundation › F5 › AT-A-L08. The website lesson “At the Doctor and Pharmacy”: vocabulary, grammar rules and quiz, patterns, common mistakes, sorter, listening, reading, speaking prompts and model, writing task and model, differentiation, final check and the lesson mission. Picture match: website visual game “At the Doctor and Pharmacy”.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A consultation lesson. Core: say the problem + duration (AT-A-L07) and understand 3 instructions (rest, drink, take). Develop: advice with يَجِبُ أَنْ + verb, medicine “for” (دَوَاءٌ لِلصُّدَاعِ), and how often (مَرَّتَيْنِ فِي اليَوْمِ). Stretch (Topic A grammar): imperatives to a man / woman / group and a negative command (لَا تَأْخُذْ …).
• The instructions change with the listener, exactly like “please” in AT-A-L05: اِشْرَبْ (man) · اِشْرَبِي (woman) · اِشْرَبُوا (group).
• Safety note (website): advice is general language practice — professionals diagnose. Invented patients only.
• Urdu bridge: طبیب، دوا، مریض، ہسپتال (English) / مُسْتَشْفًى، علاج، نسخہ (Persian) / وَصْفَةٌ.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health-care words prepared at home at the end of AT-A-L07. Questions 3–5 retrieve AT-A-L07 (symptoms, duration, this + body part).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Advice: “you should” + a verb. Instructions change with the listener: to a man -Ø, to a woman -ī, to a group -ū.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طبیب، دوا، مریض and علاج are identical in meaning. CAREFUL: ہسپتال comes from English; Arabic is مُسْتَشْفًى (a place for getting well — root ش ف ي, like شفا). Urdu نسخہ (prescription) is Persian; Arabic is وَصْفَةٌ طِبِّيَّةٌ.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People and places (website vocabulary (1 of 2)). Hear → Say → See → Use. Transliteration is printed for Core students (cover it for Develop/Stretch).
FLEX: teach if time allows; otherwise these are on the website vocabulary tab for homework.
FLEX: prepared at home. Plurals: أَطِبَّاءُ (doctors), صَيَادِلَةٌ (pharmacists).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People and places (website vocabulary (2 of 2)). Hear → Say → See → Use. Transliteration is printed for Core students (cover it for Develop/Stretch).
FLEX: teach if time allows; otherwise these are on the website vocabulary tab for homework.
FLEX: prepared at home. Plurals: أَطِبَّاءُ (doctors), صَيَادِلَةٌ (pharmacists).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Treatment and appointment (website vocabulary (1 of 2)). Hear → Say → See → Use. Transliteration is printed for Core students (cover it for Develop/Stretch).
FLEX: teach if time allows; otherwise these are on the website vocabulary tab for homework.
FLEX: treatment words — دَوَاءٌ and مَوْعِدٌ were prepared; the others appear in the listening and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Treatment and appointment (website vocabulary (2 of 2)). Hear → Say → See → Use. Transliteration is printed for Core students (cover it for Develop/Stretch).
FLEX: teach if time allows; otherwise these are on the website vocabulary tab for homework.
FLEX: treatment words — دَوَاءٌ and مَوْعِدٌ were prepared; the others appear in the listening and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Advice and instructions (website vocabulary (1 of 2)). Hear → Say → See → Use. Transliteration is printed for Core students (cover it for Develop/Stretch).
CORE: every instruction card shows to a man · to a woman · to a group. Say all three aloud: ishrab – ishrabī – ishrabū.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Advice and instructions (website vocabulary (2 of 2)). Hear → Say → See → Use. Transliteration is printed for Core students (cover it for Develop/Stretch).
CORE: every instruction card shows to a man · to a woman · to a group. Say all three aloud: ishrab – ishrabī – ishrabū.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Medical language and care (website vocabulary). Hear → Say → See → Use. Transliteration is printed for Core students (cover it for Develop/Stretch).
FLEX: teach if time allows; otherwise these are on the website vocabulary tab for homework.
FLEX: جُرْعَةٌ (dose) and تَعْلِيمَاتٌ (instructions) are in the pharmacy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the website “Advice and instructions” vocabulary gives each instruction to a man and to a woman (اِسْتَرِحْ / اِسْتَرِيحِي …). The group column and the negative column are the Topic A layer (“imperatives, negative commands and advice structures”). The negative command comes from the website reading: لَا تَأْخُذِ الدَّوَاءَ عَلَى مَعِدَةٍ فَارِغَةٍ.
English meanings: rest · drink · take · open your mouth. Negatives: don’t go out · don’t drink · don’t take · don’t open. Core only needs the first two columns to UNDERSTAND the doctor.
Quick-fire: say an instruction; students type m / f / pl.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“Give essential advice” (يَجِبُ أَنْ + فِعْلٌ), “Join two actions” (… وَأَنْ …), “Request medicine” (أُرِيدُ دَوَاءً لِـ…) and “Give dosage frequency” (مَرَّةً / مَرَّتَيْنِ فِي اليَوْمِ).
Advice to a girl (website quiz): يَجِبُ أَنْ تَأْخُذِي الدَّوَاءَ — the same -ī as the imperative.
Link to AT-A-L06: يَجِبُ أَنْ and يُوصَى بِـ are both advice; يَجِبُ is personal and direct, يُوصَى is formal and impersonal.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lesson-plan grammar focus is the advice frame يَجِبُ أَنْ followed by a verb. The verb form after أَنْ is learned and practised as a complete useful chunk.”
• Give essential advice: Use this frame for an important medical or health recommendation.
• Join two actions: Repeat أَنْ before the second verb when joining two pieces of advice.
• Request medicine: The medicine is a direct object; لِـ introduces the symptom or purpose.
• Give dosage frequency: Use the accusative dual مَرَّتَيْنِ in this time expression.
Website common error: Keep أَنْ in the advice frame and use the taught ending: يَجِبُ أَنْ تَسْتَرِيحَ.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6, 8.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listening script shortened, plus the negative command from the website pharmacy reading. Then re-say the doctor’s lines to a GIRL together: اِفْتَحِي فَمَكِ، تَنَفَّسِي، تَسْتَرِيحِي، تَشْرَبِي، خُذِي.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At the Doctor and Pharmacy”)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word tells you the doctor is a woman? (الطَّبِيبَةِ). Other cards for homework: هُوَ فِي المُسْتَشْفَى، يَجِبُ أَنْ تَرْتَاحَ وَتَشْرَبَ المَاءَ، يَضَعُ ضِمَادًا عَلَى يَدِهِ.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At the Doctor and Pharmacy”)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which word tells you the doctor is a woman? (الطَّبِيبَةِ). Other cards for homework: هُوَ فِي المُسْتَشْفَى، يَجِبُ أَنْ تَرْتَاحَ وَتَشْرَبَ المَاءَ، يَضَعُ ضِمَادًا عَلَى يَدِهِ.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need by the most suitable first destination.
Then: say where to go as advice — يَجِبُ أَنْ تَذْهَبَ إِلَى الصَّيْدَلِيَّةِ.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need by the most suitable first destination.
Then: say where to go as advice — يَجِبُ أَنْ تَذْهَبَ إِلَى الصَّيْدَلِيَّةِ.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4, 5, 7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4 and 5. Develop / Stretch: all 5.
Listen 1: just listen. Listen 2: note answers. Then chat the letters.
Support: after the second listening, show the read-along slide (Arabic + English, line by line) for Core students.
SCRIPT (read aloud):
الطَّبِيبَةُ: مَا المُشْكِلَةُ؟ المَرِيضُ: عِنْدِي حُمَّى وَسُعَالٌ مُنْذُ يَوْمَيْنِ، وَأَشْعُرُ بِأَلَمٍ فِي الحَلْقِ. الطَّبِيبَةُ: سَأَفْحَصُ دَرَجَةَ حَرَارَتِكَ. اِفْتَحْ فَمَكَ وَتَنَفَّسْ بِعُمْقٍ. يَجِبُ أَنْ تَسْتَرِيحَ وَأَنْ تَشْرَبَ مَاءً كَثِيرًا. خُذْ هٰذَا الدَّوَاءَ مَرَّتَيْنِ فِي اليَوْمِ.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A APPLICATION CHALLENGE (3 min — it takes the speaking-rehearsal slot; the website speaking slide after it is FLEX) — from the website Topic page: “Take turns as patient and health professional: explain symptoms, ask questions, understand advice and finish with an appropriate request or response.”
Role cards (private chat): Patient 1 — سُعَالٌ وَحُمَّى مُنْذُ يَوْمَيْنِ. Patient 2 (girl) — صُدَاعٌ مُنْذُ أَمْسِ. Patient 3 — أَلَمٌ فِي المَعِدَةِ مُنْذُ الصَّبَاحِ. Pharmacist: دَوَاءٌ لِلسُّعَالِ، مَرَّتَيْنِ فِي اليَوْمِ، لَا تَأْخُذْهُ عَلَى مَعِدَةٍ فَارِغَةٍ.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Topic A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الطَّبِيبَةُ: يَجِبُ أَنْ تَسْتَرِيحِي وَأَنْ تَشْرَبِي المَاءَ. (You should rest and drink water.)
المَرِيضَةُ: شُكْرًا. كَمْ مَرَّةً آخُذُ الدَّوَاءَ؟ (Thank you. How many times do I take the medicine?)
The website prompts are role-play steps in English (state the problem and duration · where it hurts · repeat one instruction · ask how often · thank and close); the Arabic questions here are the key line for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Complete a doctor dialogue from a phrase bank and identify three instructions. · Develop — Perform a role play with symptom, duration, examination and advice. · Stretch — Switch between doctor and pharmacy contexts and handle an unplanned follow-up question.
Website writing task (Stretch): Write a complete 10-line consultation between a healthcare professional and patient. Include symptoms, duration, one examination instruction, two pieces of advice and medicine frequency.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عِنْدِي سُعَالٌ … مُنْذُ يَوْمَيْنِ · اِفْتَحْ فَمَكَ وَتَنَفَّسْ بِعُمْقٍ · يَجِبُ أَنْ تَسْتَرِيحَ وَأَنْ تَشْرَبَ · مَرَّتَيْنِ فِي اليَوْمِ. Stretch: rewrite the doctor’s lines for a girl.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(AT-A-L09 · Travel and Transport for Everyday Journeys) will spend class time USING this language, so students prepare it tonight — short, simple, easy to access (school guidance: “Simple, Short, Interesting, Relevant, Easy to access”). The five words come from the website AT-A-L09 vocabulary (the AT-A-L09 lesson engine).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AT-A-L08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750" b="1" dirty="0">
                <a:solidFill>
                  <a:srgbClr val="FFFFFF"/>
                </a:solidFill>
                <a:latin typeface="Cambria" pitchFamily="34" charset="0"/>
                <a:cs typeface="Amiri" pitchFamily="2" charset="-78"/>
              </a:rPr>
              <a:t>Doctor, Pharmacy and Advice</a:t>
            </a:r>
            <a:endParaRPr lang="en-US" sz="37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الطَّبِيبُ وَالصَّيْدَلِيَّةُ وَالنَّصِيحَةُ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a health problem, understand a consultation and give appropriate general advice.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AT-A-L08 · Advanced Topic A · Everyday Activities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Advice with “you should”, instructions to a man / woman, how often.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where to go,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AT-A-L09.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صَيْدَلِيَّةٌ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hospital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pharmacy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clinic</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دَوَاءٌ</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medicine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doctor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appointment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a headache.”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عِنْدَهُ صُدَاعٌ.</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صُدَاعٌ.</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عِنْدِي صُدَاعٌ.</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مُنْذُ يَوْمَيْنِ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two days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days a week</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two days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my hand.”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يَدِي.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يَدِي.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يَدُكَ.</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صَيْدَلِيَّةٌ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hospital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pharmacy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clinic</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(AT-A-L07).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دَوَاءٌ</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medicine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doctor</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appointment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(AT-A-L07).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have a headache.”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عِنْدَهُ صُدَاعٌ.</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صُدَاعٌ.</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عِنْدِي صُدَاعٌ.</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AT-A-L07: ‘indī.</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مُنْذُ يَوْمَيْنِ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two days</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days a week</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 two days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AT-A-L07: duration.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my hand.”</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يَدِي.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يَدِي.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يَدُكَ.</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AT-A-L07: feminine body part.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Advice: “you should” + a verb. Instructions change with the listener: to a man -Ø, to a woman -ī, to a group -ū.</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يَجِبُ أَنْ تَسْتَرِيحَ  ·  اِشْرَبْ · اِشْرَبِ</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ي</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اِشْرَبُ</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وا</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key people, places and objects in healthcare settings.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symptoms clearly to a doctor or pharmacist.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give simple advice with </a:t>
            </a:r>
            <a:pPr algn="l" indent="0" marL="0">
              <a:buNone/>
            </a:pPr>
            <a:r>
              <a:rPr lang="ar-SA" altLang="en-US" sz="1700" dirty="0">
                <a:solidFill>
                  <a:srgbClr val="1F2A37"/>
                </a:solidFill>
                <a:latin typeface="Amiri" pitchFamily="2" charset="-78"/>
                <a:ea typeface="Amiri" pitchFamily="2" charset="-78"/>
                <a:cs typeface="Amiri" pitchFamily="2" charset="-78"/>
              </a:rPr>
              <a:t>يَجِبُ أَنْ</a:t>
            </a:r>
            <a:pPr algn="l" indent="0" marL="0">
              <a:buNone/>
            </a:pPr>
            <a:r>
              <a:rPr lang="en-US" sz="1300" dirty="0">
                <a:solidFill>
                  <a:srgbClr val="1F2A37"/>
                </a:solidFill>
                <a:latin typeface="Calibri" pitchFamily="34" charset="0"/>
                <a:cs typeface="Amiri" pitchFamily="2" charset="-78"/>
              </a:rPr>
              <a:t> and imperatives.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Perform a structured doctor/pharmacy role play.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explain a problem and how long.</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understand three instructions from a doctor.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advice with “you should …”.</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for medicine and how often to take it.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instructions to a man, a woman and a group.</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a negative command: don’t take …</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27 health-care words from the website in 4 groups. People, places and treatment were prepared at home (FLEX check). Core today: the advice and instructions group.</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People and places · 7</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Treatment and appointment · 8</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Advice and instructions · 8</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Medical language and care · 4</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طَبِيبٌ</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‎طبیب‎ </a:t>
            </a:r>
            <a:pPr indent="0" marL="0">
              <a:buNone/>
            </a:pPr>
            <a:r>
              <a:rPr lang="en-US" sz="950" b="1" dirty="0">
                <a:solidFill>
                  <a:srgbClr val="2E8B57"/>
                </a:solidFill>
                <a:latin typeface="Calibri" pitchFamily="34" charset="0"/>
                <a:cs typeface="Amiri" pitchFamily="2" charset="-78"/>
              </a:rPr>
              <a:t> ṭabīb · doctor</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دَوَاءٌ</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‎دوا‎ </a:t>
            </a:r>
            <a:pPr indent="0" marL="0">
              <a:buNone/>
            </a:pPr>
            <a:r>
              <a:rPr lang="en-US" sz="950" b="1" dirty="0">
                <a:solidFill>
                  <a:srgbClr val="2E8B57"/>
                </a:solidFill>
                <a:latin typeface="Calibri" pitchFamily="34" charset="0"/>
                <a:cs typeface="Amiri" pitchFamily="2" charset="-78"/>
              </a:rPr>
              <a:t> dawā’ · medicine</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مَرِيضٌ</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‎مریض‎ </a:t>
            </a:r>
            <a:pPr indent="0" marL="0">
              <a:buNone/>
            </a:pPr>
            <a:r>
              <a:rPr lang="en-US" sz="950" b="1" dirty="0">
                <a:solidFill>
                  <a:srgbClr val="2E8B57"/>
                </a:solidFill>
                <a:latin typeface="Calibri" pitchFamily="34" charset="0"/>
                <a:cs typeface="Amiri" pitchFamily="2" charset="-78"/>
              </a:rPr>
              <a:t> marīḍ · ill, a patient</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عِلَاجٌ</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‎علاج‎ </a:t>
            </a:r>
            <a:pPr indent="0" marL="0">
              <a:buNone/>
            </a:pPr>
            <a:r>
              <a:rPr lang="en-US" sz="950" b="1" dirty="0">
                <a:solidFill>
                  <a:srgbClr val="2E8B57"/>
                </a:solidFill>
                <a:latin typeface="Calibri" pitchFamily="34" charset="0"/>
                <a:cs typeface="Amiri" pitchFamily="2" charset="-78"/>
              </a:rPr>
              <a:t> ‘ilāj · treatment</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مُسْتَشْفًى</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‎ہسپتال‎ </a:t>
            </a:r>
            <a:pPr indent="0" marL="0">
              <a:buNone/>
            </a:pPr>
            <a:r>
              <a:rPr lang="en-US" sz="950" b="1" dirty="0">
                <a:solidFill>
                  <a:srgbClr val="2E8B57"/>
                </a:solidFill>
                <a:latin typeface="Calibri" pitchFamily="34" charset="0"/>
                <a:cs typeface="Amiri" pitchFamily="2" charset="-78"/>
              </a:rPr>
              <a:t> mustashfā · hospital (not cognate)</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and places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طَبِيبٌ / طَبِيبَةٌ</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doctor m/f</a:t>
            </a:r>
            <a:endParaRPr lang="en-US" sz="1350" dirty="0"/>
          </a:p>
          <a:p>
            <a:pPr indent="0" marL="0">
              <a:buNone/>
            </a:pPr>
            <a:r>
              <a:rPr lang="en-US" sz="1100" i="1" dirty="0">
                <a:solidFill>
                  <a:srgbClr val="5A6472"/>
                </a:solidFill>
                <a:latin typeface="Calibri" pitchFamily="34" charset="0"/>
                <a:cs typeface="Amiri" pitchFamily="2" charset="-78"/>
              </a:rPr>
              <a:t>ṭa-bī-bun / ṭa-bī-ba-tun</a:t>
            </a:r>
            <a:endParaRPr lang="en-US" sz="1350" dirty="0"/>
          </a:p>
        </p:txBody>
      </p:sp>
      <p:sp>
        <p:nvSpPr>
          <p:cNvPr id="26" name="Shape 23"/>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8" name="Text 25"/>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أَطِبَّاءُ</a:t>
            </a:r>
            <a:endParaRPr lang="ar-SA" sz="1500" dirty="0"/>
          </a:p>
        </p:txBody>
      </p:sp>
      <p:sp>
        <p:nvSpPr>
          <p:cNvPr id="29" name="Shape 26"/>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1" name="Text 28"/>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طَبِيبَةٌ</a:t>
            </a:r>
            <a:endParaRPr lang="ar-SA" sz="1500" dirty="0"/>
          </a:p>
        </p:txBody>
      </p:sp>
      <p:sp>
        <p:nvSpPr>
          <p:cNvPr id="32" name="Shape 29"/>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4" name="Text 31"/>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a:t>
            </a:r>
            <a:endParaRPr lang="ar-SA" sz="1500" dirty="0"/>
          </a:p>
        </p:txBody>
      </p:sp>
      <p:sp>
        <p:nvSpPr>
          <p:cNvPr id="35" name="Shape 3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طَبِيبُ أَسْنَانٍ</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dentist</a:t>
            </a:r>
            <a:endParaRPr lang="en-US" sz="1350" dirty="0"/>
          </a:p>
          <a:p>
            <a:pPr indent="0" marL="0">
              <a:buNone/>
            </a:pPr>
            <a:r>
              <a:rPr lang="en-US" sz="1100" i="1" dirty="0">
                <a:solidFill>
                  <a:srgbClr val="5A6472"/>
                </a:solidFill>
                <a:latin typeface="Calibri" pitchFamily="34" charset="0"/>
                <a:cs typeface="Amiri" pitchFamily="2" charset="-78"/>
              </a:rPr>
              <a:t>ṭa-bī-bu as-nā-nin</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5" name="Text 4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مُمَرِّضٌ / مُمَرِّضَةٌ</a:t>
            </a:r>
            <a:endParaRPr lang="ar-SA" sz="3000" dirty="0"/>
          </a:p>
        </p:txBody>
      </p:sp>
      <p:sp>
        <p:nvSpPr>
          <p:cNvPr id="46" name="Text 4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nurse m/f</a:t>
            </a:r>
            <a:endParaRPr lang="en-US" sz="1350" dirty="0"/>
          </a:p>
          <a:p>
            <a:pPr indent="0" marL="0">
              <a:buNone/>
            </a:pPr>
            <a:r>
              <a:rPr lang="en-US" sz="1100" i="1" dirty="0">
                <a:solidFill>
                  <a:srgbClr val="5A6472"/>
                </a:solidFill>
                <a:latin typeface="Calibri" pitchFamily="34" charset="0"/>
                <a:cs typeface="Amiri" pitchFamily="2" charset="-78"/>
              </a:rPr>
              <a:t>mu-mar-ri-ḍun / mu-mar-ri-ḍa-tun</a:t>
            </a:r>
            <a:endParaRPr lang="en-US" sz="1350" dirty="0"/>
          </a:p>
        </p:txBody>
      </p:sp>
      <p:sp>
        <p:nvSpPr>
          <p:cNvPr id="47" name="Shape 44"/>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9" name="Text 46"/>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مُمَرِّضُونَ</a:t>
            </a:r>
            <a:endParaRPr lang="ar-SA" sz="1500" dirty="0"/>
          </a:p>
        </p:txBody>
      </p:sp>
      <p:sp>
        <p:nvSpPr>
          <p:cNvPr id="50" name="Shape 47"/>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2" name="Text 49"/>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مُمَرِّضَةٌ</a:t>
            </a:r>
            <a:endParaRPr lang="ar-SA" sz="1500" dirty="0"/>
          </a:p>
        </p:txBody>
      </p:sp>
      <p:sp>
        <p:nvSpPr>
          <p:cNvPr id="53" name="Shape 50"/>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5" name="Text 52"/>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a:t>
            </a:r>
            <a:endParaRPr lang="ar-SA" sz="150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9" name="Text 5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مُسْتَشْفًى</a:t>
            </a:r>
            <a:endParaRPr lang="ar-SA" sz="3000" dirty="0"/>
          </a:p>
        </p:txBody>
      </p:sp>
      <p:sp>
        <p:nvSpPr>
          <p:cNvPr id="60" name="Text 5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a:t>
            </a:r>
            <a:endParaRPr lang="en-US" sz="1350" dirty="0"/>
          </a:p>
          <a:p>
            <a:pPr indent="0" marL="0">
              <a:buNone/>
            </a:pPr>
            <a:r>
              <a:rPr lang="en-US" sz="1100" i="1" dirty="0">
                <a:solidFill>
                  <a:srgbClr val="5A6472"/>
                </a:solidFill>
                <a:latin typeface="Calibri" pitchFamily="34" charset="0"/>
                <a:cs typeface="Amiri" pitchFamily="2" charset="-78"/>
              </a:rPr>
              <a:t>mus-tash-fan</a:t>
            </a:r>
            <a:endParaRPr lang="en-US" sz="13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and places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عِيَادَةٌ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clinic</a:t>
            </a:r>
            <a:endParaRPr lang="en-US" sz="1350" dirty="0"/>
          </a:p>
          <a:p>
            <a:pPr indent="0" marL="0">
              <a:buNone/>
            </a:pPr>
            <a:r>
              <a:rPr lang="en-US" sz="1100" i="1" dirty="0">
                <a:solidFill>
                  <a:srgbClr val="5A6472"/>
                </a:solidFill>
                <a:latin typeface="Calibri" pitchFamily="34" charset="0"/>
                <a:cs typeface="Amiri" pitchFamily="2" charset="-78"/>
              </a:rPr>
              <a:t>ʿi-yā-da-tun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صَيْدَلِيَّةٌ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pharmacy</a:t>
            </a:r>
            <a:endParaRPr lang="en-US" sz="1350" dirty="0"/>
          </a:p>
          <a:p>
            <a:pPr indent="0" marL="0">
              <a:buNone/>
            </a:pPr>
            <a:r>
              <a:rPr lang="en-US" sz="1100" i="1" dirty="0">
                <a:solidFill>
                  <a:srgbClr val="5A6472"/>
                </a:solidFill>
                <a:latin typeface="Calibri" pitchFamily="34" charset="0"/>
                <a:cs typeface="Amiri" pitchFamily="2" charset="-78"/>
              </a:rPr>
              <a:t>ṣay-da-liy-ya-tun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2" name="Shape 2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صَيْدَلَانِيٌّ / صَيْدَلَانِيَّةٌ</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pharmacist m/f</a:t>
            </a:r>
            <a:endParaRPr lang="en-US" sz="1350" dirty="0"/>
          </a:p>
          <a:p>
            <a:pPr indent="0" marL="0">
              <a:buNone/>
            </a:pPr>
            <a:r>
              <a:rPr lang="en-US" sz="1100" i="1" dirty="0">
                <a:solidFill>
                  <a:srgbClr val="5A6472"/>
                </a:solidFill>
                <a:latin typeface="Calibri" pitchFamily="34" charset="0"/>
                <a:cs typeface="Amiri" pitchFamily="2" charset="-78"/>
              </a:rPr>
              <a:t>ṣay-da-lā-niy-yun / ṣay-da-lā-niy-ya-tun</a:t>
            </a:r>
            <a:endParaRPr lang="en-US" sz="1350" dirty="0"/>
          </a:p>
        </p:txBody>
      </p:sp>
      <p:sp>
        <p:nvSpPr>
          <p:cNvPr id="36" name="Shape 3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صَيَادِلَةٌ</a:t>
            </a:r>
            <a:endParaRPr lang="ar-SA" sz="1500" dirty="0"/>
          </a:p>
        </p:txBody>
      </p:sp>
      <p:sp>
        <p:nvSpPr>
          <p:cNvPr id="39" name="Shape 3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صَيْدَلَانِيَّةٌ</a:t>
            </a:r>
            <a:endParaRPr lang="ar-SA" sz="1500" dirty="0"/>
          </a:p>
        </p:txBody>
      </p:sp>
      <p:sp>
        <p:nvSpPr>
          <p:cNvPr id="42" name="Shape 3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صَيْدَلَانِيٌّ</a:t>
            </a:r>
            <a:endParaRPr lang="ar-SA" sz="15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Treatment and appointment (1 of 2)</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0" name="Shape 17"/>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دَوَاءٌ</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medicine</a:t>
            </a:r>
            <a:endParaRPr lang="en-US" sz="1350" dirty="0"/>
          </a:p>
          <a:p>
            <a:pPr indent="0" marL="0">
              <a:buNone/>
            </a:pPr>
            <a:r>
              <a:rPr lang="en-US" sz="1100" i="1" dirty="0">
                <a:solidFill>
                  <a:srgbClr val="5A6472"/>
                </a:solidFill>
                <a:latin typeface="Calibri" pitchFamily="34" charset="0"/>
                <a:cs typeface="Amiri" pitchFamily="2" charset="-78"/>
              </a:rPr>
              <a:t>da-wā-ʾun</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أَدْوِيَةٌ</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دَوَاءٌ</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5" name="Text 3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وَصْفَةٌ طِبِّيَّةٌ</a:t>
            </a:r>
            <a:endParaRPr lang="ar-SA" sz="3000" dirty="0"/>
          </a:p>
        </p:txBody>
      </p:sp>
      <p:sp>
        <p:nvSpPr>
          <p:cNvPr id="36" name="Text 3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prescription</a:t>
            </a:r>
            <a:endParaRPr lang="en-US" sz="1350" dirty="0"/>
          </a:p>
          <a:p>
            <a:pPr indent="0" marL="0">
              <a:buNone/>
            </a:pPr>
            <a:r>
              <a:rPr lang="en-US" sz="1100" i="1" dirty="0">
                <a:solidFill>
                  <a:srgbClr val="5A6472"/>
                </a:solidFill>
                <a:latin typeface="Calibri" pitchFamily="34" charset="0"/>
                <a:cs typeface="Amiri" pitchFamily="2" charset="-78"/>
              </a:rPr>
              <a:t>waṣ-fa-tun ṭib-biy-ya-tun</a:t>
            </a:r>
            <a:endParaRPr lang="en-US"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ضِمَادٌ</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bandage / dressing</a:t>
            </a:r>
            <a:endParaRPr lang="en-US" sz="1350" dirty="0"/>
          </a:p>
          <a:p>
            <a:pPr indent="0" marL="0">
              <a:buNone/>
            </a:pPr>
            <a:r>
              <a:rPr lang="en-US" sz="1100" i="1" dirty="0">
                <a:solidFill>
                  <a:srgbClr val="5A6472"/>
                </a:solidFill>
                <a:latin typeface="Calibri" pitchFamily="34" charset="0"/>
                <a:cs typeface="Amiri" pitchFamily="2" charset="-78"/>
              </a:rPr>
              <a:t>ḍi-mā-dun</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5" name="Shape 42"/>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7" name="Text 4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مَوْعِدٌ طِبِّيٌّ</a:t>
            </a:r>
            <a:endParaRPr lang="ar-SA" sz="3000" dirty="0"/>
          </a:p>
        </p:txBody>
      </p:sp>
      <p:sp>
        <p:nvSpPr>
          <p:cNvPr id="48" name="Text 4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medical appointment</a:t>
            </a:r>
            <a:endParaRPr lang="en-US" sz="1350" dirty="0"/>
          </a:p>
          <a:p>
            <a:pPr indent="0" marL="0">
              <a:buNone/>
            </a:pPr>
            <a:r>
              <a:rPr lang="en-US" sz="1100" i="1" dirty="0">
                <a:solidFill>
                  <a:srgbClr val="5A6472"/>
                </a:solidFill>
                <a:latin typeface="Calibri" pitchFamily="34" charset="0"/>
                <a:cs typeface="Amiri" pitchFamily="2" charset="-78"/>
              </a:rPr>
              <a:t>maw-ʿi-dun ṭib-biy-yun</a:t>
            </a:r>
            <a:endParaRPr lang="en-US" sz="1350" dirty="0"/>
          </a:p>
        </p:txBody>
      </p:sp>
      <p:sp>
        <p:nvSpPr>
          <p:cNvPr id="49" name="Shape 4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1" name="Text 4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مَوَاعِيدُ</a:t>
            </a:r>
            <a:endParaRPr lang="ar-SA" sz="1500" dirty="0"/>
          </a:p>
        </p:txBody>
      </p:sp>
      <p:sp>
        <p:nvSpPr>
          <p:cNvPr id="52" name="Shape 4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4" name="Text 5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مَوْعِدٌ</a:t>
            </a:r>
            <a:endParaRPr lang="ar-SA" sz="15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Treatment and appointment (2 of 2)</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حُبُوبٌ</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tablets</a:t>
            </a:r>
            <a:endParaRPr lang="en-US" sz="1350" dirty="0"/>
          </a:p>
          <a:p>
            <a:pPr indent="0" marL="0">
              <a:buNone/>
            </a:pPr>
            <a:r>
              <a:rPr lang="en-US" sz="1100" i="1" dirty="0">
                <a:solidFill>
                  <a:srgbClr val="5A6472"/>
                </a:solidFill>
                <a:latin typeface="Calibri" pitchFamily="34" charset="0"/>
                <a:cs typeface="Amiri" pitchFamily="2" charset="-78"/>
              </a:rPr>
              <a:t>ḥu-bū-bun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شَرَابُ السُّعَالِ</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cough syrup</a:t>
            </a:r>
            <a:endParaRPr lang="en-US" sz="1350" dirty="0"/>
          </a:p>
          <a:p>
            <a:pPr indent="0" marL="0">
              <a:buNone/>
            </a:pPr>
            <a:r>
              <a:rPr lang="en-US" sz="1100" i="1" dirty="0">
                <a:solidFill>
                  <a:srgbClr val="5A6472"/>
                </a:solidFill>
                <a:latin typeface="Calibri" pitchFamily="34" charset="0"/>
                <a:cs typeface="Amiri" pitchFamily="2" charset="-78"/>
              </a:rPr>
              <a:t>sha-rā-bu as-su-ʿā-li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فَحْصٌ</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examination / check</a:t>
            </a:r>
            <a:endParaRPr lang="en-US" sz="1350" dirty="0"/>
          </a:p>
          <a:p>
            <a:pPr indent="0" marL="0">
              <a:buNone/>
            </a:pPr>
            <a:r>
              <a:rPr lang="en-US" sz="1100" i="1" dirty="0">
                <a:solidFill>
                  <a:srgbClr val="5A6472"/>
                </a:solidFill>
                <a:latin typeface="Calibri" pitchFamily="34" charset="0"/>
                <a:cs typeface="Amiri" pitchFamily="2" charset="-78"/>
              </a:rPr>
              <a:t>faḥ-ṣun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دَرَجَةُ الحَرَارَةِ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temperature</a:t>
            </a:r>
            <a:endParaRPr lang="en-US" sz="1350" dirty="0"/>
          </a:p>
          <a:p>
            <a:pPr indent="0" marL="0">
              <a:buNone/>
            </a:pPr>
            <a:r>
              <a:rPr lang="en-US" sz="1100" i="1" dirty="0">
                <a:solidFill>
                  <a:srgbClr val="5A6472"/>
                </a:solidFill>
                <a:latin typeface="Calibri" pitchFamily="34" charset="0"/>
                <a:cs typeface="Amiri" pitchFamily="2" charset="-78"/>
              </a:rPr>
              <a:t>da-ra-ja-tu al-ḥa-rā-ra-ti</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Advice and instructions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أَنْ ...</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you should / one must ...</a:t>
            </a:r>
            <a:endParaRPr lang="en-US" sz="1350" dirty="0"/>
          </a:p>
          <a:p>
            <a:pPr indent="0" marL="0">
              <a:buNone/>
            </a:pPr>
            <a:r>
              <a:rPr lang="en-US" sz="1100" i="1" dirty="0">
                <a:solidFill>
                  <a:srgbClr val="5A6472"/>
                </a:solidFill>
                <a:latin typeface="Calibri" pitchFamily="34" charset="0"/>
                <a:cs typeface="Amiri" pitchFamily="2" charset="-78"/>
              </a:rPr>
              <a:t>ya-ji-bu an ...</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الأَفْضَلِ أَنْ ...</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better to ...</a:t>
            </a:r>
            <a:endParaRPr lang="en-US" sz="1350" dirty="0"/>
          </a:p>
          <a:p>
            <a:pPr indent="0" marL="0">
              <a:buNone/>
            </a:pPr>
            <a:r>
              <a:rPr lang="en-US" sz="1100" i="1" dirty="0">
                <a:solidFill>
                  <a:srgbClr val="5A6472"/>
                </a:solidFill>
                <a:latin typeface="Calibri" pitchFamily="34" charset="0"/>
                <a:cs typeface="Amiri" pitchFamily="2" charset="-78"/>
              </a:rPr>
              <a:t>mi-na al-af-ḍa-li an ...</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0" name="Shape 27"/>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اِسْتَرِحْ / اِسْتَرِيحِي</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 m/f</a:t>
            </a:r>
            <a:endParaRPr lang="en-US" sz="1350" dirty="0"/>
          </a:p>
          <a:p>
            <a:pPr indent="0" marL="0">
              <a:buNone/>
            </a:pPr>
            <a:r>
              <a:rPr lang="en-US" sz="1100" i="1" dirty="0">
                <a:solidFill>
                  <a:srgbClr val="5A6472"/>
                </a:solidFill>
                <a:latin typeface="Calibri" pitchFamily="34" charset="0"/>
                <a:cs typeface="Amiri" pitchFamily="2" charset="-78"/>
              </a:rPr>
              <a:t>is-ta-riḥ / is-ta-rī-ḥī</a:t>
            </a:r>
            <a:endParaRPr lang="en-US" sz="1350" dirty="0"/>
          </a:p>
        </p:txBody>
      </p:sp>
      <p:sp>
        <p:nvSpPr>
          <p:cNvPr id="36" name="Shape 3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38" name="Text 35"/>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اِسْتَرِيحُوا</a:t>
            </a:r>
            <a:endParaRPr lang="ar-SA" sz="1350" dirty="0"/>
          </a:p>
        </p:txBody>
      </p:sp>
      <p:sp>
        <p:nvSpPr>
          <p:cNvPr id="39" name="Shape 3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41" name="Text 38"/>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اِسْتَرِيحِي</a:t>
            </a:r>
            <a:endParaRPr lang="ar-SA" sz="1350" dirty="0"/>
          </a:p>
        </p:txBody>
      </p:sp>
      <p:sp>
        <p:nvSpPr>
          <p:cNvPr id="42" name="Shape 3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44" name="Text 41"/>
          <p:cNvSpPr txBox="1"/>
          <p:nvPr/>
        </p:nvSpPr>
        <p:spPr>
          <a:xfrm>
            <a:off x="64008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اِسْتَرِحْ</a:t>
            </a:r>
            <a:endParaRPr lang="ar-SA"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8" name="Shape 4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اِشْرَبْ / اِشْرَبِي</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drink! m/f</a:t>
            </a:r>
            <a:endParaRPr lang="en-US" sz="1350" dirty="0"/>
          </a:p>
          <a:p>
            <a:pPr indent="0" marL="0">
              <a:buNone/>
            </a:pPr>
            <a:r>
              <a:rPr lang="en-US" sz="1100" i="1" dirty="0">
                <a:solidFill>
                  <a:srgbClr val="5A6472"/>
                </a:solidFill>
                <a:latin typeface="Calibri" pitchFamily="34" charset="0"/>
                <a:cs typeface="Amiri" pitchFamily="2" charset="-78"/>
              </a:rPr>
              <a:t>ish-rab / ish-ra-bī</a:t>
            </a:r>
            <a:endParaRPr lang="en-US" sz="1350" dirty="0"/>
          </a:p>
        </p:txBody>
      </p:sp>
      <p:sp>
        <p:nvSpPr>
          <p:cNvPr id="54" name="Shape 5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56" name="Text 53"/>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اِشْرَبُوا</a:t>
            </a:r>
            <a:endParaRPr lang="ar-SA" sz="1350" dirty="0"/>
          </a:p>
        </p:txBody>
      </p:sp>
      <p:sp>
        <p:nvSpPr>
          <p:cNvPr id="57" name="Shape 5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59" name="Text 56"/>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اِشْرَبِي</a:t>
            </a:r>
            <a:endParaRPr lang="ar-SA" sz="1350" dirty="0"/>
          </a:p>
        </p:txBody>
      </p:sp>
      <p:sp>
        <p:nvSpPr>
          <p:cNvPr id="60" name="Shape 5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62" name="Text 59"/>
          <p:cNvSpPr txBox="1"/>
          <p:nvPr/>
        </p:nvSpPr>
        <p:spPr>
          <a:xfrm>
            <a:off x="828446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اِشْرَبْ</a:t>
            </a:r>
            <a:endParaRPr lang="ar-SA"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Advice and instructions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خُذْ / خُذِي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take! m/f</a:t>
            </a:r>
            <a:endParaRPr lang="en-US" sz="1350" dirty="0"/>
          </a:p>
          <a:p>
            <a:pPr indent="0" marL="0">
              <a:buNone/>
            </a:pPr>
            <a:r>
              <a:rPr lang="en-US" sz="1100" i="1" dirty="0">
                <a:solidFill>
                  <a:srgbClr val="5A6472"/>
                </a:solidFill>
                <a:latin typeface="Calibri" pitchFamily="34" charset="0"/>
                <a:cs typeface="Amiri" pitchFamily="2" charset="-78"/>
              </a:rPr>
              <a:t>khudh / khu-dhī</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خُذُوا</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خُذِي</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خُذْ</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اِسْتَلْقِ</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lie down</a:t>
            </a:r>
            <a:endParaRPr lang="en-US" sz="1350" dirty="0"/>
          </a:p>
          <a:p>
            <a:pPr indent="0" marL="0">
              <a:buNone/>
            </a:pPr>
            <a:r>
              <a:rPr lang="en-US" sz="1100" i="1" dirty="0">
                <a:solidFill>
                  <a:srgbClr val="5A6472"/>
                </a:solidFill>
                <a:latin typeface="Calibri" pitchFamily="34" charset="0"/>
                <a:cs typeface="Amiri" pitchFamily="2" charset="-78"/>
              </a:rPr>
              <a:t>is-tal-qi</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42" name="Text 39"/>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اِسْتَلْقُوا</a:t>
            </a:r>
            <a:endParaRPr lang="ar-SA" sz="135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45" name="Text 42"/>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اِسْتَلْقِي</a:t>
            </a:r>
            <a:endParaRPr lang="ar-SA" sz="135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48" name="Text 45"/>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اِسْتَلْقِ</a:t>
            </a:r>
            <a:endParaRPr lang="ar-SA" sz="135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اِفْتَحْ فَمَكَ / فَمَكِ</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open your mouth</a:t>
            </a:r>
            <a:endParaRPr lang="en-US" sz="1350" dirty="0"/>
          </a:p>
          <a:p>
            <a:pPr indent="0" marL="0">
              <a:buNone/>
            </a:pPr>
            <a:r>
              <a:rPr lang="en-US" sz="1100" i="1" dirty="0">
                <a:solidFill>
                  <a:srgbClr val="5A6472"/>
                </a:solidFill>
                <a:latin typeface="Calibri" pitchFamily="34" charset="0"/>
                <a:cs typeface="Amiri" pitchFamily="2" charset="-78"/>
              </a:rPr>
              <a:t>if-taḥ fa-ma-ka / fa-ma-ki</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58" name="Text 55"/>
          <p:cNvSpPr txBox="1"/>
          <p:nvPr/>
        </p:nvSpPr>
        <p:spPr>
          <a:xfrm>
            <a:off x="294436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اِفْتَحُوا أَفْوَاهَكُمْ</a:t>
            </a:r>
            <a:endParaRPr lang="ar-SA" sz="135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61" name="Text 58"/>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اِفْتَحِي فَمَكِ</a:t>
            </a:r>
            <a:endParaRPr lang="ar-SA" sz="135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64" name="Text 61"/>
          <p:cNvSpPr txBox="1"/>
          <p:nvPr/>
        </p:nvSpPr>
        <p:spPr>
          <a:xfrm>
            <a:off x="64008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اِفْتَحْ فَمَكَ</a:t>
            </a:r>
            <a:endParaRPr lang="ar-SA" sz="135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تَنَفَّسْ بِعُمْقٍ</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breathe deeply</a:t>
            </a:r>
            <a:endParaRPr lang="en-US" sz="1350" dirty="0"/>
          </a:p>
          <a:p>
            <a:pPr indent="0" marL="0">
              <a:buNone/>
            </a:pPr>
            <a:r>
              <a:rPr lang="en-US" sz="1100" i="1" dirty="0">
                <a:solidFill>
                  <a:srgbClr val="5A6472"/>
                </a:solidFill>
                <a:latin typeface="Calibri" pitchFamily="34" charset="0"/>
                <a:cs typeface="Amiri" pitchFamily="2" charset="-78"/>
              </a:rPr>
              <a:t>ta-naf-fas bi-ʿum-qin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74" name="Text 71"/>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تَنَفَّسُوا</a:t>
            </a:r>
            <a:endParaRPr lang="ar-SA" sz="135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77" name="Text 74"/>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تَنَفَّسِي</a:t>
            </a:r>
            <a:endParaRPr lang="ar-SA" sz="135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80" name="Text 77"/>
          <p:cNvSpPr txBox="1"/>
          <p:nvPr/>
        </p:nvSpPr>
        <p:spPr>
          <a:xfrm>
            <a:off x="828446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تَنَفَّسْ</a:t>
            </a:r>
            <a:endParaRPr lang="ar-SA" sz="135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4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Medical language and care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medicine / medical science</a:t>
            </a:r>
            <a:endParaRPr lang="en-US" sz="1350" dirty="0"/>
          </a:p>
          <a:p>
            <a:pPr indent="0" marL="0">
              <a:buNone/>
            </a:pPr>
            <a:r>
              <a:rPr lang="en-US" sz="1100" i="1" dirty="0">
                <a:solidFill>
                  <a:srgbClr val="5A6472"/>
                </a:solidFill>
                <a:latin typeface="Calibri" pitchFamily="34" charset="0"/>
                <a:cs typeface="Amiri" pitchFamily="2" charset="-78"/>
              </a:rPr>
              <a:t>ṭib-bun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مَوْعِدٌ مَعَ الطَّبِيبِ</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appointment with the doctor</a:t>
            </a:r>
            <a:endParaRPr lang="en-US" sz="1350" dirty="0"/>
          </a:p>
          <a:p>
            <a:pPr indent="0" marL="0">
              <a:buNone/>
            </a:pPr>
            <a:r>
              <a:rPr lang="en-US" sz="1100" i="1" dirty="0">
                <a:solidFill>
                  <a:srgbClr val="5A6472"/>
                </a:solidFill>
                <a:latin typeface="Calibri" pitchFamily="34" charset="0"/>
                <a:cs typeface="Amiri" pitchFamily="2" charset="-78"/>
              </a:rPr>
              <a:t>maw-ʿi-dun ma-ʿa aṭ-ṭa-bī-bi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جُرْعَةٌ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dose</a:t>
            </a:r>
            <a:endParaRPr lang="en-US" sz="1350" dirty="0"/>
          </a:p>
          <a:p>
            <a:pPr indent="0" marL="0">
              <a:buNone/>
            </a:pPr>
            <a:r>
              <a:rPr lang="en-US" sz="1100" i="1" dirty="0">
                <a:solidFill>
                  <a:srgbClr val="5A6472"/>
                </a:solidFill>
                <a:latin typeface="Calibri" pitchFamily="34" charset="0"/>
                <a:cs typeface="Amiri" pitchFamily="2" charset="-78"/>
              </a:rPr>
              <a:t>jur-ʿa-tun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تَعْلِيمَاتٌ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instructions</a:t>
            </a:r>
            <a:endParaRPr lang="en-US" sz="1350" dirty="0"/>
          </a:p>
          <a:p>
            <a:pPr indent="0" marL="0">
              <a:buNone/>
            </a:pPr>
            <a:r>
              <a:rPr lang="en-US" sz="1100" i="1" dirty="0">
                <a:solidFill>
                  <a:srgbClr val="5A6472"/>
                </a:solidFill>
                <a:latin typeface="Calibri" pitchFamily="34" charset="0"/>
                <a:cs typeface="Amiri" pitchFamily="2" charset="-78"/>
              </a:rPr>
              <a:t>taʿ-lī-mā-tun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B3B6F"/>
                </a:solidFill>
                <a:latin typeface="Calibri" pitchFamily="34" charset="0"/>
                <a:cs typeface="Amiri" pitchFamily="2" charset="-78"/>
              </a:rPr>
              <a:t>GRAMMAR FOCUS · PART 1 · INSTRUCTIONS (WEBSITE VOCABULARY + TOPIC A IMPERATIVES)</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Rest! Drink! 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فِعْلُ الأَمْرِ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153144"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man</a:t>
            </a:r>
            <a:endParaRPr lang="en-US" sz="1100" dirty="0"/>
          </a:p>
        </p:txBody>
      </p:sp>
      <p:sp>
        <p:nvSpPr>
          <p:cNvPr id="17" name="Text 14"/>
          <p:cNvSpPr txBox="1"/>
          <p:nvPr/>
        </p:nvSpPr>
        <p:spPr>
          <a:xfrm>
            <a:off x="6501384"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woman</a:t>
            </a:r>
            <a:endParaRPr lang="en-US" sz="1100" dirty="0"/>
          </a:p>
        </p:txBody>
      </p:sp>
      <p:sp>
        <p:nvSpPr>
          <p:cNvPr id="18" name="Text 15"/>
          <p:cNvSpPr txBox="1"/>
          <p:nvPr/>
        </p:nvSpPr>
        <p:spPr>
          <a:xfrm>
            <a:off x="375818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group</a:t>
            </a:r>
            <a:endParaRPr lang="en-US" sz="1100" dirty="0"/>
          </a:p>
        </p:txBody>
      </p:sp>
      <p:sp>
        <p:nvSpPr>
          <p:cNvPr id="19" name="Text 16"/>
          <p:cNvSpPr txBox="1"/>
          <p:nvPr/>
        </p:nvSpPr>
        <p:spPr>
          <a:xfrm>
            <a:off x="53035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Don’t … (to a man)</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171432" y="2267712"/>
            <a:ext cx="24688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اِسْتَرِحْ</a:t>
            </a:r>
            <a:endParaRPr lang="ar-SA" sz="2600" dirty="0"/>
          </a:p>
        </p:txBody>
      </p:sp>
      <p:sp>
        <p:nvSpPr>
          <p:cNvPr id="22" name="Text 19"/>
          <p:cNvSpPr txBox="1"/>
          <p:nvPr/>
        </p:nvSpPr>
        <p:spPr>
          <a:xfrm>
            <a:off x="6519672" y="2267712"/>
            <a:ext cx="24688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اِسْتَرِيحِ</a:t>
            </a:r>
            <a:pPr rtl="1" algn="ctr" indent="0" marL="0">
              <a:buNone/>
            </a:pPr>
            <a:r>
              <a:rPr lang="ar-SA" altLang="en-US" sz="2600" b="1" dirty="0">
                <a:solidFill>
                  <a:srgbClr val="D6336C"/>
                </a:solidFill>
                <a:latin typeface="Amiri" pitchFamily="2" charset="-78"/>
                <a:ea typeface="Amiri" pitchFamily="2" charset="-78"/>
                <a:cs typeface="Amiri" pitchFamily="2" charset="-78"/>
              </a:rPr>
              <a:t>ي</a:t>
            </a:r>
            <a:endParaRPr lang="ar-SA" sz="2600" dirty="0"/>
          </a:p>
        </p:txBody>
      </p:sp>
      <p:sp>
        <p:nvSpPr>
          <p:cNvPr id="23" name="Text 20"/>
          <p:cNvSpPr txBox="1"/>
          <p:nvPr/>
        </p:nvSpPr>
        <p:spPr>
          <a:xfrm>
            <a:off x="3776472" y="2267712"/>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اِسْتَرِيحُ</a:t>
            </a:r>
            <a:pPr rtl="1" algn="ctr" indent="0" marL="0">
              <a:buNone/>
            </a:pPr>
            <a:r>
              <a:rPr lang="ar-SA" altLang="en-US" sz="2600" b="1" dirty="0">
                <a:solidFill>
                  <a:srgbClr val="0E7C86"/>
                </a:solidFill>
                <a:latin typeface="Amiri" pitchFamily="2" charset="-78"/>
                <a:ea typeface="Amiri" pitchFamily="2" charset="-78"/>
                <a:cs typeface="Amiri" pitchFamily="2" charset="-78"/>
              </a:rPr>
              <a:t>وا</a:t>
            </a:r>
            <a:endParaRPr lang="ar-SA" sz="2600" dirty="0"/>
          </a:p>
        </p:txBody>
      </p:sp>
      <p:sp>
        <p:nvSpPr>
          <p:cNvPr id="24" name="Text 21"/>
          <p:cNvSpPr txBox="1"/>
          <p:nvPr/>
        </p:nvSpPr>
        <p:spPr>
          <a:xfrm>
            <a:off x="548640" y="2267712"/>
            <a:ext cx="3044952" cy="731520"/>
          </a:xfrm>
          <a:prstGeom prst="rect">
            <a:avLst/>
          </a:prstGeom>
          <a:noFill/>
          <a:ln/>
        </p:spPr>
        <p:txBody>
          <a:bodyPr wrap="square" lIns="0" tIns="0" rIns="0" bIns="0" rtlCol="0" anchor="ctr"/>
          <a:lstStyle/>
          <a:p>
            <a:pPr rtl="1" algn="ctr" indent="0" marL="0">
              <a:buNone/>
            </a:pPr>
            <a:r>
              <a:rPr lang="ar-SA" altLang="en-US" sz="2200" b="1" dirty="0">
                <a:solidFill>
                  <a:srgbClr val="C77700"/>
                </a:solidFill>
                <a:latin typeface="Amiri" pitchFamily="2" charset="-78"/>
                <a:ea typeface="Amiri" pitchFamily="2" charset="-78"/>
                <a:cs typeface="Amiri" pitchFamily="2" charset="-78"/>
              </a:rPr>
              <a:t>لَا</a:t>
            </a:r>
            <a:pPr rtl="1" algn="ctr" indent="0" marL="0">
              <a:buNone/>
            </a:pPr>
            <a:r>
              <a:rPr lang="ar-SA" altLang="en-US" sz="2200" b="1" dirty="0">
                <a:solidFill>
                  <a:srgbClr val="1B3B6F"/>
                </a:solidFill>
                <a:latin typeface="Amiri" pitchFamily="2" charset="-78"/>
                <a:ea typeface="Amiri" pitchFamily="2" charset="-78"/>
                <a:cs typeface="Amiri" pitchFamily="2" charset="-78"/>
              </a:rPr>
              <a:t> تَخْرُجْ</a:t>
            </a:r>
            <a:endParaRPr lang="ar-SA" sz="22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171432" y="3054096"/>
            <a:ext cx="24688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اِشْرَبْ</a:t>
            </a:r>
            <a:endParaRPr lang="ar-SA" sz="2600" dirty="0"/>
          </a:p>
        </p:txBody>
      </p:sp>
      <p:sp>
        <p:nvSpPr>
          <p:cNvPr id="29" name="Text 26"/>
          <p:cNvSpPr txBox="1"/>
          <p:nvPr/>
        </p:nvSpPr>
        <p:spPr>
          <a:xfrm>
            <a:off x="6519672" y="3054096"/>
            <a:ext cx="24688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اِشْرَبِ</a:t>
            </a:r>
            <a:pPr rtl="1" algn="ctr" indent="0" marL="0">
              <a:buNone/>
            </a:pPr>
            <a:r>
              <a:rPr lang="ar-SA" altLang="en-US" sz="2600" b="1" dirty="0">
                <a:solidFill>
                  <a:srgbClr val="D6336C"/>
                </a:solidFill>
                <a:latin typeface="Amiri" pitchFamily="2" charset="-78"/>
                <a:ea typeface="Amiri" pitchFamily="2" charset="-78"/>
                <a:cs typeface="Amiri" pitchFamily="2" charset="-78"/>
              </a:rPr>
              <a:t>ي</a:t>
            </a:r>
            <a:endParaRPr lang="ar-SA" sz="2600" dirty="0"/>
          </a:p>
        </p:txBody>
      </p:sp>
      <p:sp>
        <p:nvSpPr>
          <p:cNvPr id="30" name="Text 27"/>
          <p:cNvSpPr txBox="1"/>
          <p:nvPr/>
        </p:nvSpPr>
        <p:spPr>
          <a:xfrm>
            <a:off x="3776472" y="3054096"/>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اِشْرَبُ</a:t>
            </a:r>
            <a:pPr rtl="1" algn="ctr" indent="0" marL="0">
              <a:buNone/>
            </a:pPr>
            <a:r>
              <a:rPr lang="ar-SA" altLang="en-US" sz="2600" b="1" dirty="0">
                <a:solidFill>
                  <a:srgbClr val="0E7C86"/>
                </a:solidFill>
                <a:latin typeface="Amiri" pitchFamily="2" charset="-78"/>
                <a:ea typeface="Amiri" pitchFamily="2" charset="-78"/>
                <a:cs typeface="Amiri" pitchFamily="2" charset="-78"/>
              </a:rPr>
              <a:t>وا</a:t>
            </a:r>
            <a:endParaRPr lang="ar-SA" sz="2600" dirty="0"/>
          </a:p>
        </p:txBody>
      </p:sp>
      <p:sp>
        <p:nvSpPr>
          <p:cNvPr id="31" name="Text 28"/>
          <p:cNvSpPr txBox="1"/>
          <p:nvPr/>
        </p:nvSpPr>
        <p:spPr>
          <a:xfrm>
            <a:off x="548640" y="3054096"/>
            <a:ext cx="3044952" cy="731520"/>
          </a:xfrm>
          <a:prstGeom prst="rect">
            <a:avLst/>
          </a:prstGeom>
          <a:noFill/>
          <a:ln/>
        </p:spPr>
        <p:txBody>
          <a:bodyPr wrap="square" lIns="0" tIns="0" rIns="0" bIns="0" rtlCol="0" anchor="ctr"/>
          <a:lstStyle/>
          <a:p>
            <a:pPr rtl="1" algn="ctr" indent="0" marL="0">
              <a:buNone/>
            </a:pPr>
            <a:r>
              <a:rPr lang="ar-SA" altLang="en-US" sz="2200" b="1" dirty="0">
                <a:solidFill>
                  <a:srgbClr val="C77700"/>
                </a:solidFill>
                <a:latin typeface="Amiri" pitchFamily="2" charset="-78"/>
                <a:ea typeface="Amiri" pitchFamily="2" charset="-78"/>
                <a:cs typeface="Amiri" pitchFamily="2" charset="-78"/>
              </a:rPr>
              <a:t>لَا</a:t>
            </a:r>
            <a:pPr rtl="1" algn="ctr" indent="0" marL="0">
              <a:buNone/>
            </a:pPr>
            <a:r>
              <a:rPr lang="ar-SA" altLang="en-US" sz="2200" b="1" dirty="0">
                <a:solidFill>
                  <a:srgbClr val="1B3B6F"/>
                </a:solidFill>
                <a:latin typeface="Amiri" pitchFamily="2" charset="-78"/>
                <a:ea typeface="Amiri" pitchFamily="2" charset="-78"/>
                <a:cs typeface="Amiri" pitchFamily="2" charset="-78"/>
              </a:rPr>
              <a:t> تَشْرَبْ</a:t>
            </a:r>
            <a:endParaRPr lang="ar-SA" sz="22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171432" y="3840480"/>
            <a:ext cx="24688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خُذْ</a:t>
            </a:r>
            <a:endParaRPr lang="ar-SA" sz="2600" dirty="0"/>
          </a:p>
        </p:txBody>
      </p:sp>
      <p:sp>
        <p:nvSpPr>
          <p:cNvPr id="36" name="Text 33"/>
          <p:cNvSpPr txBox="1"/>
          <p:nvPr/>
        </p:nvSpPr>
        <p:spPr>
          <a:xfrm>
            <a:off x="6519672" y="3840480"/>
            <a:ext cx="24688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خُذِ</a:t>
            </a:r>
            <a:pPr rtl="1" algn="ctr" indent="0" marL="0">
              <a:buNone/>
            </a:pPr>
            <a:r>
              <a:rPr lang="ar-SA" altLang="en-US" sz="2600" b="1" dirty="0">
                <a:solidFill>
                  <a:srgbClr val="D6336C"/>
                </a:solidFill>
                <a:latin typeface="Amiri" pitchFamily="2" charset="-78"/>
                <a:ea typeface="Amiri" pitchFamily="2" charset="-78"/>
                <a:cs typeface="Amiri" pitchFamily="2" charset="-78"/>
              </a:rPr>
              <a:t>ي</a:t>
            </a:r>
            <a:endParaRPr lang="ar-SA" sz="2600" dirty="0"/>
          </a:p>
        </p:txBody>
      </p:sp>
      <p:sp>
        <p:nvSpPr>
          <p:cNvPr id="37" name="Text 34"/>
          <p:cNvSpPr txBox="1"/>
          <p:nvPr/>
        </p:nvSpPr>
        <p:spPr>
          <a:xfrm>
            <a:off x="3776472" y="3840480"/>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خُذُ</a:t>
            </a:r>
            <a:pPr rtl="1" algn="ctr" indent="0" marL="0">
              <a:buNone/>
            </a:pPr>
            <a:r>
              <a:rPr lang="ar-SA" altLang="en-US" sz="2600" b="1" dirty="0">
                <a:solidFill>
                  <a:srgbClr val="0E7C86"/>
                </a:solidFill>
                <a:latin typeface="Amiri" pitchFamily="2" charset="-78"/>
                <a:ea typeface="Amiri" pitchFamily="2" charset="-78"/>
                <a:cs typeface="Amiri" pitchFamily="2" charset="-78"/>
              </a:rPr>
              <a:t>وا</a:t>
            </a:r>
            <a:endParaRPr lang="ar-SA" sz="2600" dirty="0"/>
          </a:p>
        </p:txBody>
      </p:sp>
      <p:sp>
        <p:nvSpPr>
          <p:cNvPr id="38" name="Text 35"/>
          <p:cNvSpPr txBox="1"/>
          <p:nvPr/>
        </p:nvSpPr>
        <p:spPr>
          <a:xfrm>
            <a:off x="548640" y="3840480"/>
            <a:ext cx="3044952" cy="731520"/>
          </a:xfrm>
          <a:prstGeom prst="rect">
            <a:avLst/>
          </a:prstGeom>
          <a:noFill/>
          <a:ln/>
        </p:spPr>
        <p:txBody>
          <a:bodyPr wrap="square" lIns="0" tIns="0" rIns="0" bIns="0" rtlCol="0" anchor="ctr"/>
          <a:lstStyle/>
          <a:p>
            <a:pPr rtl="1" algn="ctr" indent="0" marL="0">
              <a:buNone/>
            </a:pPr>
            <a:r>
              <a:rPr lang="ar-SA" altLang="en-US" sz="2200" b="1" dirty="0">
                <a:solidFill>
                  <a:srgbClr val="C77700"/>
                </a:solidFill>
                <a:latin typeface="Amiri" pitchFamily="2" charset="-78"/>
                <a:ea typeface="Amiri" pitchFamily="2" charset="-78"/>
                <a:cs typeface="Amiri" pitchFamily="2" charset="-78"/>
              </a:rPr>
              <a:t>لَا</a:t>
            </a:r>
            <a:pPr rtl="1" algn="ctr" indent="0" marL="0">
              <a:buNone/>
            </a:pPr>
            <a:r>
              <a:rPr lang="ar-SA" altLang="en-US" sz="2200" b="1" dirty="0">
                <a:solidFill>
                  <a:srgbClr val="1B3B6F"/>
                </a:solidFill>
                <a:latin typeface="Amiri" pitchFamily="2" charset="-78"/>
                <a:ea typeface="Amiri" pitchFamily="2" charset="-78"/>
                <a:cs typeface="Amiri" pitchFamily="2" charset="-78"/>
              </a:rPr>
              <a:t> تَأْخُذْ</a:t>
            </a:r>
            <a:endParaRPr lang="ar-SA" sz="22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171432" y="4626864"/>
            <a:ext cx="24688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اِفْتَحْ فَمَكَ</a:t>
            </a:r>
            <a:endParaRPr lang="ar-SA" sz="2600" dirty="0"/>
          </a:p>
        </p:txBody>
      </p:sp>
      <p:sp>
        <p:nvSpPr>
          <p:cNvPr id="43" name="Text 40"/>
          <p:cNvSpPr txBox="1"/>
          <p:nvPr/>
        </p:nvSpPr>
        <p:spPr>
          <a:xfrm>
            <a:off x="6519672" y="4626864"/>
            <a:ext cx="246888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اِفْتَحِ</a:t>
            </a:r>
            <a:pPr rtl="1" algn="ctr" indent="0" marL="0">
              <a:buNone/>
            </a:pPr>
            <a:r>
              <a:rPr lang="ar-SA" altLang="en-US" sz="2600" b="1" dirty="0">
                <a:solidFill>
                  <a:srgbClr val="D6336C"/>
                </a:solidFill>
                <a:latin typeface="Amiri" pitchFamily="2" charset="-78"/>
                <a:ea typeface="Amiri" pitchFamily="2" charset="-78"/>
                <a:cs typeface="Amiri" pitchFamily="2" charset="-78"/>
              </a:rPr>
              <a:t>ي</a:t>
            </a:r>
            <a:pPr rtl="1" algn="ctr" indent="0" marL="0">
              <a:buNone/>
            </a:pPr>
            <a:r>
              <a:rPr lang="ar-SA" altLang="en-US" sz="2600" b="1" dirty="0">
                <a:solidFill>
                  <a:srgbClr val="1B3B6F"/>
                </a:solidFill>
                <a:latin typeface="Amiri" pitchFamily="2" charset="-78"/>
                <a:ea typeface="Amiri" pitchFamily="2" charset="-78"/>
                <a:cs typeface="Amiri" pitchFamily="2" charset="-78"/>
              </a:rPr>
              <a:t> فَمَكِ</a:t>
            </a:r>
            <a:endParaRPr lang="ar-SA" sz="2600" dirty="0"/>
          </a:p>
        </p:txBody>
      </p:sp>
      <p:sp>
        <p:nvSpPr>
          <p:cNvPr id="44" name="Text 41"/>
          <p:cNvSpPr txBox="1"/>
          <p:nvPr/>
        </p:nvSpPr>
        <p:spPr>
          <a:xfrm>
            <a:off x="3776472" y="4626864"/>
            <a:ext cx="256032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اِفْتَحُ</a:t>
            </a:r>
            <a:pPr rtl="1" algn="ctr" indent="0" marL="0">
              <a:buNone/>
            </a:pPr>
            <a:r>
              <a:rPr lang="ar-SA" altLang="en-US" sz="2600" b="1" dirty="0">
                <a:solidFill>
                  <a:srgbClr val="0E7C86"/>
                </a:solidFill>
                <a:latin typeface="Amiri" pitchFamily="2" charset="-78"/>
                <a:ea typeface="Amiri" pitchFamily="2" charset="-78"/>
                <a:cs typeface="Amiri" pitchFamily="2" charset="-78"/>
              </a:rPr>
              <a:t>وا</a:t>
            </a:r>
            <a:pPr rtl="1" algn="ctr" indent="0" marL="0">
              <a:buNone/>
            </a:pPr>
            <a:r>
              <a:rPr lang="ar-SA" altLang="en-US" sz="2600" b="1" dirty="0">
                <a:solidFill>
                  <a:srgbClr val="1B3B6F"/>
                </a:solidFill>
                <a:latin typeface="Amiri" pitchFamily="2" charset="-78"/>
                <a:ea typeface="Amiri" pitchFamily="2" charset="-78"/>
                <a:cs typeface="Amiri" pitchFamily="2" charset="-78"/>
              </a:rPr>
              <a:t> أَفْوَاهَكُمْ</a:t>
            </a:r>
            <a:endParaRPr lang="ar-SA" sz="2600" dirty="0"/>
          </a:p>
        </p:txBody>
      </p:sp>
      <p:sp>
        <p:nvSpPr>
          <p:cNvPr id="45" name="Text 42"/>
          <p:cNvSpPr txBox="1"/>
          <p:nvPr/>
        </p:nvSpPr>
        <p:spPr>
          <a:xfrm>
            <a:off x="548640" y="4626864"/>
            <a:ext cx="3044952" cy="731520"/>
          </a:xfrm>
          <a:prstGeom prst="rect">
            <a:avLst/>
          </a:prstGeom>
          <a:noFill/>
          <a:ln/>
        </p:spPr>
        <p:txBody>
          <a:bodyPr wrap="square" lIns="0" tIns="0" rIns="0" bIns="0" rtlCol="0" anchor="ctr"/>
          <a:lstStyle/>
          <a:p>
            <a:pPr rtl="1" algn="ctr" indent="0" marL="0">
              <a:buNone/>
            </a:pPr>
            <a:r>
              <a:rPr lang="ar-SA" altLang="en-US" sz="2200" b="1" dirty="0">
                <a:solidFill>
                  <a:srgbClr val="C77700"/>
                </a:solidFill>
                <a:latin typeface="Amiri" pitchFamily="2" charset="-78"/>
                <a:ea typeface="Amiri" pitchFamily="2" charset="-78"/>
                <a:cs typeface="Amiri" pitchFamily="2" charset="-78"/>
              </a:rPr>
              <a:t>لَا</a:t>
            </a:r>
            <a:pPr rtl="1" algn="ctr" indent="0" marL="0">
              <a:buNone/>
            </a:pPr>
            <a:r>
              <a:rPr lang="ar-SA" altLang="en-US" sz="2200" b="1" dirty="0">
                <a:solidFill>
                  <a:srgbClr val="1B3B6F"/>
                </a:solidFill>
                <a:latin typeface="Amiri" pitchFamily="2" charset="-78"/>
                <a:ea typeface="Amiri" pitchFamily="2" charset="-78"/>
                <a:cs typeface="Amiri" pitchFamily="2" charset="-78"/>
              </a:rPr>
              <a:t> تَفْتَحْ</a:t>
            </a:r>
            <a:endParaRPr lang="ar-SA" sz="2200" dirty="0"/>
          </a:p>
        </p:txBody>
      </p:sp>
      <p:sp>
        <p:nvSpPr>
          <p:cNvPr id="46" name="Text 4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Woman: add -ī. Group: add -ū (written </a:t>
            </a:r>
            <a:pPr algn="l" indent="0" marL="0">
              <a:buNone/>
            </a:pPr>
            <a:r>
              <a:rPr lang="ar-SA" altLang="en-US" sz="1500" b="1" dirty="0">
                <a:solidFill>
                  <a:srgbClr val="1B3B6F"/>
                </a:solidFill>
                <a:latin typeface="Amiri" pitchFamily="2" charset="-78"/>
                <a:ea typeface="Amiri" pitchFamily="2" charset="-78"/>
                <a:cs typeface="Amiri" pitchFamily="2" charset="-78"/>
              </a:rPr>
              <a:t>ـوا</a:t>
            </a:r>
            <a:pPr algn="l" indent="0" marL="0">
              <a:buNone/>
            </a:pPr>
            <a:r>
              <a:rPr lang="en-US" sz="1150" b="1" dirty="0">
                <a:solidFill>
                  <a:srgbClr val="1B3B6F"/>
                </a:solidFill>
                <a:latin typeface="Calibri" pitchFamily="34" charset="0"/>
                <a:cs typeface="Amiri" pitchFamily="2" charset="-78"/>
              </a:rPr>
              <a:t>). Don’t: lā + the “you” verb with no ending vowel.</a:t>
            </a:r>
            <a:endParaRPr lang="en-US" sz="11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ADVICE, MEDICINE AND HOW OFTEN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You should … medicine for … twice a day</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يَجِبُ أَنْ · لِـ · مَرَّتَيْنِ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E7B4F"/>
          </a:solidFill>
          <a:ln w="12700">
            <a:solidFill>
              <a:srgbClr val="1E7B4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ADVICE · CORE</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يَجِبُ أَنْ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يَجِبُ أَنْ تَسْتَرِيحَ وَأَنْ تَشْرَبَ المَاءَ.</a:t>
            </a:r>
            <a:endParaRPr lang="ar-SA" sz="22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You should rest and drink water.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Repeat an before the 2nd verb.</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REQUEST · DEVELOP</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دَوَاءً لِـ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أُرِيدُ دَوَاءً لِلصُّدَاعِ، مِنْ فَضْلِكَ.</a:t>
            </a:r>
            <a:endParaRPr lang="ar-SA" sz="25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would like medicine for a headache, please.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li- = for (the purpose).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C77700"/>
          </a:solidFill>
          <a:ln w="12700">
            <a:solidFill>
              <a:srgbClr val="C77700"/>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HOW OFTEN · DEVELOP</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مَرَّةً · مَرَّتَيْنِ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خُذِ الدَّوَاءَ مَرَّتَيْنِ فِي اليَوْمِ.</a:t>
            </a:r>
            <a:endParaRPr lang="ar-SA" sz="26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Take the medicine twice a day.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marratayni = twice.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keep the -a ending after “an”.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يَجِبُ أَنْ تَسْتَرِيحَ.</a:t>
            </a:r>
            <a:endParaRPr lang="ar-SA" sz="23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B83227"/>
                </a:solidFill>
                <a:latin typeface="Amiri" pitchFamily="2" charset="-78"/>
                <a:ea typeface="Amiri" pitchFamily="2" charset="-78"/>
                <a:cs typeface="Amiri" pitchFamily="2" charset="-78"/>
              </a:rPr>
              <a:t>يَجِبُ أَنْ تَسْتَرِيحُ.</a:t>
            </a:r>
            <a:endParaRPr lang="ar-SA" sz="23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النَّصِيحَةُ بِـ يَجِبُ أَنْ</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Give essential advice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يَجِبُ أَنْ + فِعْلٌ</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يَجِبُ أَنْ تَسْتَرِيحَ.   ·   يَجِبُ أَنْ تَشْرَبَ المَاءَ.</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Join two actions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يَجِبُ أَنْ... وَأَنْ...</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يَجِبُ أَنْ تَسْتَرِيحَ وَأَنْ تَنَامَ مُبَكِّرًا.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Request medicine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أُرِيدُ دَوَاءً لِـ...</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أُرِيدُ دَوَاءً لِلصُّدَاعِ.   ·   أُرِيدُ دَوَاءً لِلسُّعَالِ.</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Give dosage frequency</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مَرَّةً / مَرَّتَيْنِ فِي اليَوْمِ</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خُذِ الدَّوَاءَ مَرَّتَيْنِ فِي اليَوْمِ.</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advice: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يَجِبُ أَنْ ___ المَاءَ.</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تَشْرَبُ</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شَرَابٌ</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تَشْرَبَ</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“medicine for a headache”.</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دَوَاءٌ لِلصُّدَاعِ</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دَوَاءٌ فِي الصُّدَاعِ</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دَوَاءٌ مِنَ الصُّدَاعِ</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advice to a girl.</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تَأْخُذَ الدَّوَاءَ.</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تَأْخُذِي الدَّوَاءَ.</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يَجِبُ أَنْ آخُذَ الدَّوَاءَ.</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dosage phrase is accurate?</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مَرَّتَيْنِ فِي اليَوْمِ</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مَرَّةَانِ فِي اليَوْمِ</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اثْنَانِ مَرَّةً</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advice: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يَجِبُ أَنْ ___ المَاءَ.</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تَشْرَبُ</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شَرَابٌ</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تَشْرَبَ</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modelled verb form 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“medicine for a headache”.</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دَوَاءٌ لِلصُّدَاعِ</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دَوَاءٌ فِي الصُّدَاعِ</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دَوَاءٌ مِنَ الصُّدَاعِ</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to state the purpose.</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advice to a girl.</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أَنْ تَأْخُذَ الدَّوَاءَ.</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يَجِبُ أَنْ تَأْخُذِي الدَّوَاءَ.</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يَجِبُ أَنْ آخُذَ الدَّوَاءَ.</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female listener form ends in </a:t>
            </a:r>
            <a:pPr algn="l" indent="0" marL="0">
              <a:buNone/>
            </a:pPr>
            <a:r>
              <a:rPr lang="ar-SA" altLang="en-US" sz="1350" dirty="0">
                <a:solidFill>
                  <a:srgbClr val="8A6D1E"/>
                </a:solidFill>
                <a:latin typeface="Amiri" pitchFamily="2" charset="-78"/>
                <a:ea typeface="Amiri" pitchFamily="2" charset="-78"/>
                <a:cs typeface="Amiri" pitchFamily="2" charset="-78"/>
              </a:rPr>
              <a:t>ـِي</a:t>
            </a:r>
            <a:pPr algn="l" indent="0" marL="0">
              <a:buNone/>
            </a:pPr>
            <a:r>
              <a:rPr lang="en-US" sz="1050" i="1" dirty="0">
                <a:solidFill>
                  <a:srgbClr val="8A6D1E"/>
                </a:solidFill>
                <a:latin typeface="Calibri" pitchFamily="34" charset="0"/>
                <a:cs typeface="Amiri" pitchFamily="2" charset="-78"/>
              </a:rPr>
              <a:t> in this chunk.</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dosage phrase is accurate?</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مَرَّتَيْنِ فِي اليَوْمِ</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مَرَّةَانِ فِي اليَوْمِ</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اثْنَانِ مَرَّةً</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accusative dual </a:t>
            </a:r>
            <a:pPr algn="l" indent="0" marL="0">
              <a:buNone/>
            </a:pPr>
            <a:r>
              <a:rPr lang="ar-SA" altLang="en-US" sz="1350" dirty="0">
                <a:solidFill>
                  <a:srgbClr val="8A6D1E"/>
                </a:solidFill>
                <a:latin typeface="Amiri" pitchFamily="2" charset="-78"/>
                <a:ea typeface="Amiri" pitchFamily="2" charset="-78"/>
                <a:cs typeface="Amiri" pitchFamily="2" charset="-78"/>
              </a:rPr>
              <a:t>مَرَّتَيْنِ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run a consultation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Patient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عِنْدِي حُمَّى وَسُعَالٌ مُنْذُ يَوْمَيْنِ.</a:t>
            </a:r>
            <a:endParaRPr lang="ar-SA" sz="19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Problem + duration (AT-A-L07).</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Examine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اِفْتَحْ فَمَكَ وَتَنَفَّسْ بِعُمْقٍ.</a:t>
            </a:r>
            <a:endParaRPr lang="ar-SA" sz="24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Patient is a man → no ending.</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Advice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يَجِبُ أَنْ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تَسْتَرِيحَ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وَأَنْ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تَشْرَبَ مَاءً كَثِيرًا.</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pieces of advice: an … wa-an …</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Medicine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خُذْ هٰذَا الدَّوَاءَ مَرَّتَيْنِ فِي اليَوْمِ، وَ</a:t>
            </a:r>
            <a:pPr rtl="1" algn="ctr" indent="0" marL="0">
              <a:lnSpc>
                <a:spcPct val="120000"/>
              </a:lnSpc>
              <a:buNone/>
            </a:pPr>
            <a:r>
              <a:rPr lang="ar-SA" altLang="en-US" sz="1650" b="1" dirty="0">
                <a:solidFill>
                  <a:srgbClr val="C77700"/>
                </a:solidFill>
                <a:latin typeface="Amiri" pitchFamily="2" charset="-78"/>
                <a:ea typeface="Amiri" pitchFamily="2" charset="-78"/>
                <a:cs typeface="Amiri" pitchFamily="2" charset="-78"/>
              </a:rPr>
              <a:t>لَا</a:t>
            </a:r>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 تَأْخُذْهُ عَلَى مَعِدَةٍ فَارِغَةٍ.</a:t>
            </a:r>
            <a:endParaRPr lang="ar-SA" sz="16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Do and don’t.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ADVICE</a:t>
            </a:r>
            <a:endParaRPr lang="en-US" sz="800" dirty="0"/>
          </a:p>
        </p:txBody>
      </p:sp>
      <p:sp>
        <p:nvSpPr>
          <p:cNvPr id="47" name="Shape 43"/>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DON’T</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المَرِيضُ: عِنْدِي حُمَّى وَسُعَالٌ مُنْذُ يَوْمَيْنِ. الطَّبِيبَةُ: اِفْتَحْ فَمَكَ وَتَنَفَّسْ بِعُمْقٍ.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يَجِبُ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تَسْتَرِيحَ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وَأَنْ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تَشْرَبَ مَاءً كَثِيرًا. خُذْ هٰذَا الدَّوَاءَ مَرَّتَيْنِ فِي اليَوْمِ، وَ</a:t>
            </a:r>
            <a:pPr rtl="1" algn="r" indent="0" marL="0">
              <a:lnSpc>
                <a:spcPct val="120000"/>
              </a:lnSpc>
              <a:buNone/>
            </a:pPr>
            <a:r>
              <a:rPr lang="ar-SA" altLang="en-US" sz="1400" b="1" dirty="0">
                <a:solidFill>
                  <a:srgbClr val="C77700"/>
                </a:solidFill>
                <a:latin typeface="Amiri" pitchFamily="2" charset="-78"/>
                <a:ea typeface="Amiri" pitchFamily="2" charset="-78"/>
                <a:cs typeface="Amiri" pitchFamily="2" charset="-78"/>
              </a:rPr>
              <a:t>لَا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تَأْخُذْهُ عَلَى مَعِدَةٍ فَارِغَةٍ.</a:t>
            </a:r>
            <a:endParaRPr lang="ar-SA" sz="14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Patient: I have had a fever and a cough for two days. Doctor: Open your mouth and breathe deeply. You should rest and drink a lot of water. Take this medicine twice a day, and don’t take it on an empty stomach.</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عِنْدِي حُمَّى وَسُعَالٌ مُنْذُ يَوْمَيْنِ.</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have a fever and cough for two days.</a:t>
            </a:r>
            <a:endParaRPr lang="en-US" sz="1250" dirty="0"/>
          </a:p>
          <a:p>
            <a:pPr indent="0" marL="0">
              <a:buNone/>
            </a:pPr>
            <a:r>
              <a:rPr lang="en-US" sz="1050" i="1" dirty="0">
                <a:solidFill>
                  <a:srgbClr val="8A6D1E"/>
                </a:solidFill>
                <a:latin typeface="Calibri" pitchFamily="34" charset="0"/>
                <a:cs typeface="Amiri" pitchFamily="2" charset="-78"/>
              </a:rPr>
              <a:t>Give symptom + duration clearly.</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يَجِبُ أَنْ تَسْتَرِيحَ وَأَنْ تَشْرَبَ المَاءَ.</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You should rest and drink water.</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After أَنْ, use the appropriate subjunctive form; at Foundation, learn the whole advice chunk.</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أُرِيدُ دَوَاءً لِلصُّدَاعِ، مِنْ فَضْلِكَ.</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would like medicine for a headache, please.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Use لِـ to state what the medicine is for.</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أُرِيدُ أَنْ أَحْجِزَ مَوْعِدًا مَعَ طَبِيبِ الأَسْنَانِ.</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would like to book an appointment with the dentist.</a:t>
            </a:r>
            <a:endParaRPr lang="en-US" sz="1250" dirty="0"/>
          </a:p>
          <a:p>
            <a:pPr indent="0" marL="0">
              <a:buNone/>
            </a:pPr>
            <a:r>
              <a:rPr lang="en-US" sz="1050" i="1" dirty="0">
                <a:solidFill>
                  <a:srgbClr val="8A6D1E"/>
                </a:solidFill>
                <a:latin typeface="Calibri" pitchFamily="34" charset="0"/>
                <a:cs typeface="Amiri" pitchFamily="2" charset="-78"/>
              </a:rPr>
              <a:t>This is a useful complete appointment phrase.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2F6FB0"/>
                </a:solidFill>
                <a:latin typeface="Calibri" pitchFamily="34" charset="0"/>
                <a:cs typeface="Amiri" pitchFamily="2" charset="-78"/>
              </a:rPr>
              <a:t>WE DO · PICTURE MATCH · WEBSITE GAME “VISUAL GAME — AT THE DOCTOR AND PHARMACY”</a:t>
            </a:r>
            <a:endParaRPr lang="en-US" sz="87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Where are they? Match the picture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الطَّبِيبُ وَالعِلَاجُ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doctor, stethoscope</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tablets, clock</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medicine, shop</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آخُذُ الدَّوَاءَ مَرَّتَيْنِ فِي اليَوْمِ.</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أَشْتَرِي الدَّوَاءَ مِنَ الصَّيْدَلِيَّةِ.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أَذْهَبُ إِلَى الطَّبِيبَةِ.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الطَّبِيبُ وَالعِلَاجُ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doctor, stethoscope</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أَذْهَبُ إِلَى الطَّبِيبَةِ.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go to the (female) doctor.</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tablets, clock</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آخُذُ الدَّوَاءَ مَرَّتَيْنِ فِي اليَوْمِ.</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take the medicine twice a day.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medicine, shop</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أَشْتَرِي الدَّوَاءَ مِنَ الصَّيْدَلِيَّةِ.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buy the medicine from the pharmacy.</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 should the person go?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أَلَمُ الأَسْنَانِ</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طَلَبُ دَوَاءٍ لِلصُّدَاعِ</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ذِرَاعٌ مَكْسُورَةٌ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شِرَاءُ ضِمَادٍ</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فَحْصُ سِنٍّ</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حُمَّى شَدِيدَةٌ</a:t>
            </a:r>
            <a:endParaRPr lang="ar-SA" sz="1800" dirty="0"/>
          </a:p>
        </p:txBody>
      </p:sp>
      <p:sp>
        <p:nvSpPr>
          <p:cNvPr id="27" name="Shape 24"/>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28" name="Shape 25"/>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29" name="Text 26"/>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Clinic / hospital</a:t>
            </a:r>
            <a:endParaRPr lang="en-US" sz="950" dirty="0"/>
          </a:p>
        </p:txBody>
      </p:sp>
      <p:sp>
        <p:nvSpPr>
          <p:cNvPr id="30" name="Shape 27"/>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1" name="Shape 28"/>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2" name="Text 29"/>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Pharmacy</a:t>
            </a:r>
            <a:endParaRPr lang="en-US" sz="950" dirty="0"/>
          </a:p>
        </p:txBody>
      </p:sp>
      <p:sp>
        <p:nvSpPr>
          <p:cNvPr id="33" name="Shape 30"/>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4" name="Shape 31"/>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Dentist</a:t>
            </a:r>
            <a:endParaRPr lang="en-US" sz="9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Clinic / hospital</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ذِرَاعٌ مَكْسُورَةٌ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حُمَّى شَدِيدَةٌ</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Pharmacy</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طَلَبُ دَوَاءٍ لِلصُّدَاعِ</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شِرَاءُ ضِمَادٍ</a:t>
            </a:r>
            <a:endParaRPr lang="ar-SA" sz="1800" dirty="0"/>
          </a:p>
        </p:txBody>
      </p:sp>
      <p:sp>
        <p:nvSpPr>
          <p:cNvPr id="29" name="Shape 26"/>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0" name="Shape 27"/>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Dentist</a:t>
            </a:r>
            <a:endParaRPr lang="en-US" sz="950" dirty="0"/>
          </a:p>
        </p:txBody>
      </p:sp>
      <p:sp>
        <p:nvSpPr>
          <p:cNvPr id="32" name="Shape 29"/>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أَلَمُ الأَسْنَانِ</a:t>
            </a:r>
            <a:endParaRPr lang="ar-SA" sz="1800" dirty="0"/>
          </a:p>
        </p:txBody>
      </p:sp>
      <p:sp>
        <p:nvSpPr>
          <p:cNvPr id="34" name="Shape 31"/>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فَحْصُ سِنٍّ</a:t>
            </a:r>
            <a:endParaRPr lang="ar-SA" sz="1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4, 5, 7</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a clear duration?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يَوْمَيْنِ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يَوْمَيْنِ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مُنْذُ يَوْمَيْنِ</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complete appointment request?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أَحْجِزُ طَبِيبٌ.</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أَنْ أَحْجِزَ مَوْعِدًا.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مَوْعِدٌ أَيْنَ؟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detail should follow a symptom?</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favourite colour</a:t>
            </a:r>
            <a:endParaRPr lang="en-US" sz="12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location or duration</a:t>
            </a:r>
            <a:endParaRPr lang="en-US" sz="12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 subject</a:t>
            </a:r>
            <a:endParaRPr lang="en-US" sz="12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يَجِبُ أَنْ تَشْرَبَ ___.</a:t>
            </a:r>
            <a:endParaRPr lang="ar-SA" sz="15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المَاءُ</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المَاءِ</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المَاءَ</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a clear duration?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يَوْمَيْنِ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 يَوْمَيْنِ</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مُنْذُ يَوْمَيْنِ</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مُنْذُ</a:t>
            </a:r>
            <a:pPr algn="l" indent="0" marL="0">
              <a:buNone/>
            </a:pPr>
            <a:r>
              <a:rPr lang="en-US" sz="1050" i="1" dirty="0">
                <a:solidFill>
                  <a:srgbClr val="8A6D1E"/>
                </a:solidFill>
                <a:latin typeface="Calibri" pitchFamily="34" charset="0"/>
                <a:cs typeface="Amiri" pitchFamily="2" charset="-78"/>
              </a:rPr>
              <a:t> introduces the duration.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complete appointment request?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أَحْجِزُ طَبِيبٌ.</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أُرِيدُ أَنْ أَحْجِزَ مَوْعِدًا.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مَوْعِدٌ أَيْنَ؟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uses </a:t>
            </a:r>
            <a:pPr algn="l" indent="0" marL="0">
              <a:buNone/>
            </a:pPr>
            <a:r>
              <a:rPr lang="ar-SA" altLang="en-US" sz="1350" dirty="0">
                <a:solidFill>
                  <a:srgbClr val="8A6D1E"/>
                </a:solidFill>
                <a:latin typeface="Amiri" pitchFamily="2" charset="-78"/>
                <a:ea typeface="Amiri" pitchFamily="2" charset="-78"/>
                <a:cs typeface="Amiri" pitchFamily="2" charset="-78"/>
              </a:rPr>
              <a:t>أُرِيدُ أَنْ</a:t>
            </a:r>
            <a:pPr algn="l" indent="0" marL="0">
              <a:buNone/>
            </a:pPr>
            <a:r>
              <a:rPr lang="en-US" sz="1050" i="1" dirty="0">
                <a:solidFill>
                  <a:srgbClr val="8A6D1E"/>
                </a:solidFill>
                <a:latin typeface="Calibri" pitchFamily="34" charset="0"/>
                <a:cs typeface="Amiri" pitchFamily="2" charset="-78"/>
              </a:rPr>
              <a:t> + verb + object.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detail should follow a symptom?</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favourite colour</a:t>
            </a:r>
            <a:endParaRPr lang="en-US" sz="125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location or duration</a:t>
            </a:r>
            <a:endParaRPr lang="en-US" sz="125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 subject</a:t>
            </a:r>
            <a:endParaRPr lang="en-US" sz="125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Healthcare communication needs precise symptom details.</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يَجِبُ أَنْ تَشْرَبَ ___.</a:t>
            </a:r>
            <a:endParaRPr lang="ar-SA" sz="150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المَاءُ</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المَاءِ</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المَاءَ</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المَاءَ</a:t>
            </a:r>
            <a:pPr algn="l" indent="0" marL="0">
              <a:buNone/>
            </a:pPr>
            <a:r>
              <a:rPr lang="en-US" sz="1050" i="1" dirty="0">
                <a:solidFill>
                  <a:srgbClr val="8A6D1E"/>
                </a:solidFill>
                <a:latin typeface="Calibri" pitchFamily="34" charset="0"/>
                <a:cs typeface="Amiri" pitchFamily="2" charset="-78"/>
              </a:rPr>
              <a:t> is the direct object of </a:t>
            </a:r>
            <a:pPr algn="l" indent="0" marL="0">
              <a:buNone/>
            </a:pPr>
            <a:r>
              <a:rPr lang="ar-SA" altLang="en-US" sz="1350" dirty="0">
                <a:solidFill>
                  <a:srgbClr val="8A6D1E"/>
                </a:solidFill>
                <a:latin typeface="Amiri" pitchFamily="2" charset="-78"/>
                <a:ea typeface="Amiri" pitchFamily="2" charset="-78"/>
                <a:cs typeface="Amiri" pitchFamily="2" charset="-78"/>
              </a:rPr>
              <a:t>تَشْرَبَ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أَنْ تَسْتَرِيحُ.</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“an”: which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أُرِيدُ دَوَاءٌ لِلصُّدَاعِ.</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Medicine is the object: which ending?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خُذْ هٰذَا الدَّوَاءَ مَرَّةَانِ.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Twice: which form?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أَنْ تَسْتَرِيحُ.</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تَسْتَرِيحَ.</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model uses the subjunctive ending 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أُرِيدُ دَوَاءٌ لِلصُّدَاعِ.</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أُرِيدُ دَوَاءً لِلصُّدَاعِ.</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requested medicine is a direct object.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خُذْ هٰذَا الدَّوَاءَ مَرَّةَانِ.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خُذْ هٰذَا الدَّوَاءَ مَرَّتَيْنِ.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the verb in this phrase, use the accusative dual form </a:t>
            </a:r>
            <a:pPr algn="l" indent="0" marL="0">
              <a:buNone/>
            </a:pPr>
            <a:r>
              <a:rPr lang="ar-SA" altLang="en-US" sz="1500" b="1" dirty="0">
                <a:solidFill>
                  <a:srgbClr val="1B3B6F"/>
                </a:solidFill>
                <a:latin typeface="Amiri" pitchFamily="2" charset="-78"/>
                <a:ea typeface="Amiri" pitchFamily="2" charset="-78"/>
                <a:cs typeface="Amiri" pitchFamily="2" charset="-78"/>
              </a:rPr>
              <a:t>مَرَّتَيْنِ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Doctor–patient consultation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has the patient been ill?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days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day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week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pain?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stomach</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teeth</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throat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doctor check?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blood pressure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eyes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temperature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lifestyle instructions are given?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rest and drink water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exercise and eat sweets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 to school and walk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should the medicine be taken?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day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a day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 times a day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4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مُنْذُ يَوْمَيْنِ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تَسْتَرِيحَ</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مَرَّتَيْنِ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الطَّبِيبَةُ: مَا المُشْكِلَةُ؟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Doctor (f.): What is the problem?</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المَرِيضُ: عِنْدِي حُمَّى وَسُعَالٌ مُنْذُ يَوْمَيْنِ، وَأَشْعُرُ بِأَلَمٍ فِي الحَلْقِ.</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Patient: I have had a fever and a cough for two days, and I feel pain in my throat.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الطَّبِيبَةُ: سَأَفْحَصُ دَرَجَةَ حَرَارَتِكَ. اِفْتَحْ فَمَكَ وَتَنَفَّسْ بِعُمْقٍ.</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Doctor: I will check your temperature. Open your mouth and breathe deeply.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يَجِبُ أَنْ تَسْتَرِيحَ وَأَنْ تَشْرَبَ مَاءً كَثِيرًا.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 should rest and drink a lot of water.</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خُذْ هٰذَا الدَّوَاءَ مَرَّتَيْنِ فِي اليَوْمِ.</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Take this medicine twice a day.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has the patient been ill?</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days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day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week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مُنْذُ يَوْمَيْنِ.</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pain?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stomach</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teeth</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throat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الحَلْقِ.</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doctor check?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blood pressure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eyes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temperature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دَرَجَةَ حَرَارَتِكَ.</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two lifestyle instructions are given?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rest and drink water</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exercise and eat sweets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 to school and walk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تَسْتَرِيحَ ... تَشْرَبَ مَاءً.</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should the medicine be taken?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day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twice a day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 times a day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مَرَّتَيْنِ فِي اليَوْمِ.</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4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مُنْذُ يَوْمَيْنِ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تَسْتَرِيحَ</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مَرَّتَيْنِ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A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Doctor and pharmacy role-play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A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Doctor and pharmacy role-play</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Take turns as patient and health professional: explain symptoms, ask questions, understand advice and finish with an appropriate request or response.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A is the patient, B the doctor (then swap: B the pharmacist).</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Patient: symptom + where + how long. Doctor: one question.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Doctor: one instruction and one piece of advice. Patient repeats it.</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Patient asks how often and thanks. Two pairs perform on the mic.</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Patient only: ‘indī … mundhu … — then repeat the doctor’s instruction.</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Doctor: examination instruction + advice with yajibu an … and how often.</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Patient is a girl: all instructions with -ī; pharmacist adds a “don’t” (lā ta’khudh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مَا المُشْكِلَةُ؟</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what is the problem?</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يَجِبُ أَنْ تَسْتَرِيحَ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 should rest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خُذِي الدَّوَاءَ</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take the medicine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كَمْ مَرَّةً؟</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how many times?</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Doctor or pharmacy role play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المُشْكِلَةُ؟ مُنْذُ مَتَى؟</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الأَلَمُ؟ كَيْفَ تَشْعُرُ؟</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مَرَّةً آخُذُ الدَّوَاءَ؟</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بِمَاذَا تَنْصَحُنِي؟</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عِنْدِي ___ مُنْذُ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عِنْدِي أَلَمٌ فِي ___ . أَشْعُرُ بِالتَّعَبِ.</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خُذْهُ / خُذِيهِ ___ فِي اليَوْمِ.</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يَجِبُ أَنْ ___ وَأَنْ ___ ، وَلَا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Amiri" pitchFamily="2" charset="-78"/>
                <a:ea typeface="Amiri" pitchFamily="2" charset="-78"/>
                <a:cs typeface="Amiri" pitchFamily="2" charset="-78"/>
              </a:rPr>
              <a:t>الطَّبِيبَةُ</a:t>
            </a:r>
            <a:endParaRPr lang="ar-SA"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المُشْكِلَةُ؟</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the problem?</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Amiri" pitchFamily="2" charset="-78"/>
                <a:ea typeface="Amiri" pitchFamily="2" charset="-78"/>
                <a:cs typeface="Amiri" pitchFamily="2" charset="-78"/>
              </a:rPr>
              <a:t>المَرِيضَةُ</a:t>
            </a:r>
            <a:endParaRPr lang="ar-SA"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عِنْدِي صُدَاعٌ وَحُمَّى مُنْذُ أَمْسِ.</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have a headache and fever since yesterday.</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Core: complete a doctor dialogue from the phrase bank.</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Problem + duration → one instruction → one piece of advice → thanks.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10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a complete consultation.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Symptoms, duration, one examination instruction, two pieces of advice, how often.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10–12 lines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Stretch: doctor, then pharmacy.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The patient is a girl (all instructions with -ī) and the pharmacist adds a negative command.</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اِفْتَحِي فَمَكِ.</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Open your mouth (to a girl).</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______ وَأَنْ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should … and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دَوَاءً لِـ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would like medicine for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مَرَّةً آخُذُهُ؟</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many times do I take it?</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مَرَّتَيْنِ فِي اليَوْمِ.</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Twice a day.</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المُشْكِلَةُ؟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What is the problem?</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______ مُنْذُ يَوْمَيْنِ.</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 for two days.</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تَسْتَرِيحَ.</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 should rest.</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خُذْ هٰذَا الدَّوَاءَ.</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Take this medicine.</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شُكْرًا جَزِيلًا.</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Thank you very much.</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يَجِبُ أَنْ  ·  تَسْتَرِيحَ  ·  تَشْرَبَ  ·  اِسْتَرِحْ / اِسْتَرِيحِي  ·  اِشْرَبْ / اِشْرَبِي  ·  خُذْ / خُذِي  ·  دَوَاءٌ  ·  مَرَّتَيْنِ  ·  مُنْذُ  ·  عِنْدِي  ·  لَا تَأْخُذْ  ·  صَيْدَلِيَّةٌ</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complete 10-line consultation between a healthcare professional and patient. Include symptoms, duration, one examination instruction, two pieces of advice and medicine frequency.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professional roles and greetings accurately.</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عِنْدِي / أَشْعُرُ بِـ</a:t>
            </a:r>
            <a:pPr algn="l" indent="0" marL="0">
              <a:buNone/>
            </a:pPr>
            <a:r>
              <a:rPr lang="en-US" sz="1200" dirty="0">
                <a:solidFill>
                  <a:srgbClr val="1F2A37"/>
                </a:solidFill>
                <a:latin typeface="Calibri" pitchFamily="34" charset="0"/>
                <a:cs typeface="Amiri" pitchFamily="2" charset="-78"/>
              </a:rPr>
              <a:t> for symptoms.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يَجِبُ أَنْ</a:t>
            </a:r>
            <a:pPr algn="l" indent="0" marL="0">
              <a:buNone/>
            </a:pPr>
            <a:r>
              <a:rPr lang="en-US" sz="1200" dirty="0">
                <a:solidFill>
                  <a:srgbClr val="1F2A37"/>
                </a:solidFill>
                <a:latin typeface="Calibri" pitchFamily="34" charset="0"/>
                <a:cs typeface="Amiri" pitchFamily="2" charset="-78"/>
              </a:rPr>
              <a:t> or an imperative for advice.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a:r>
            <a:pPr algn="l" indent="0" marL="0">
              <a:buNone/>
            </a:pPr>
            <a:r>
              <a:rPr lang="ar-SA" altLang="en-US" sz="1550" dirty="0">
                <a:solidFill>
                  <a:srgbClr val="1F2A37"/>
                </a:solidFill>
                <a:latin typeface="Amiri" pitchFamily="2" charset="-78"/>
                <a:ea typeface="Amiri" pitchFamily="2" charset="-78"/>
                <a:cs typeface="Amiri" pitchFamily="2" charset="-78"/>
              </a:rPr>
              <a:t>كَمْ مَرَّةً؟</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مَتَى آخُذُ الدَّوَاءَ؟</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سَأَفْحَصُ دَرَجَةَ حَرَارَتِكَ</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check your temperature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تَأْخُذِ الدَّوَاءَ عَلَى مَعِدَةٍ فَارِغَةٍ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don’t take the medicine on an empty stomach</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لَمْ تَتَحَسَّنْ فَتَحَدَّثْ مَعَ الطَّبِيبِ</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if you don’t improve, speak to the doctor</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أَحْجِزَ مَوْعِدًا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would like to book an appointment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اِقْرَأِ التَّعْلِيمَاتِ عَلَى العُلْبَةِ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read the instructions on the box</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الطَّبِيبُ: مَا المُشْكِلَةُ؟</a:t>
            </a:r>
            <a:endParaRPr lang="ar-SA" sz="1300" dirty="0"/>
          </a:p>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المَرِيضُ: عِنْدِي سُعَالٌ وَأَلَمٌ فِي الحَلْقِ مُنْذُ يَوْمَيْنِ.</a:t>
            </a:r>
            <a:endParaRPr lang="ar-SA" sz="1300" dirty="0"/>
          </a:p>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الطَّبِيبُ: هَلْ عِنْدَكَ حُمَّى؟</a:t>
            </a:r>
            <a:endParaRPr lang="ar-SA" sz="1300" dirty="0"/>
          </a:p>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المَرِيضُ: نَعَمْ، وَأَشْعُرُ بِالتَّعَبِ.</a:t>
            </a:r>
            <a:endParaRPr lang="ar-SA" sz="1300" dirty="0"/>
          </a:p>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الطَّبِيبُ: اِفْتَحْ فَمَكَ وَتَنَفَّسْ بِعُمْقٍ.</a:t>
            </a:r>
            <a:endParaRPr lang="ar-SA" sz="1300" dirty="0"/>
          </a:p>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المَرِيضُ: حَسَنًا.</a:t>
            </a:r>
            <a:endParaRPr lang="ar-SA" sz="1300" dirty="0"/>
          </a:p>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الطَّبِيبُ: يَجِبُ أَنْ تَسْتَرِيحَ وَأَنْ تَشْرَبَ المَاءَ. خُذْ هٰذَا الدَّوَاءَ.</a:t>
            </a:r>
            <a:endParaRPr lang="ar-SA" sz="1300" dirty="0"/>
          </a:p>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المَرِيضُ: كَمْ مَرَّةً آخُذُهُ؟</a:t>
            </a:r>
            <a:endParaRPr lang="ar-SA" sz="1300" dirty="0"/>
          </a:p>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الطَّبِيبُ: مَرَّتَيْنِ فِي اليَوْمِ.</a:t>
            </a:r>
            <a:endParaRPr lang="ar-SA" sz="1300" dirty="0"/>
          </a:p>
          <a:p>
            <a:pPr rtl="1" algn="r" indent="0" marL="0">
              <a:lnSpc>
                <a:spcPct val="120000"/>
              </a:lnSpc>
              <a:buNone/>
            </a:pPr>
            <a:r>
              <a:rPr lang="ar-SA" altLang="en-US" sz="1300" dirty="0">
                <a:solidFill>
                  <a:srgbClr val="1F2A37"/>
                </a:solidFill>
                <a:latin typeface="Amiri" pitchFamily="2" charset="-78"/>
                <a:ea typeface="Amiri" pitchFamily="2" charset="-78"/>
                <a:cs typeface="Amiri" pitchFamily="2" charset="-78"/>
              </a:rPr>
              <a:t>المَرِيضُ: شُكْرًا جَزِيلًا.</a:t>
            </a:r>
            <a:endParaRPr lang="ar-SA" sz="1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Doctor: What is the problem? · Patient: I have had a cough and a sore throat for two days. · Doctor: Do you have a fever? · Patient: Yes, and I feel tired. · Doctor: Open your mouth and breathe deeply. · Patient: OK. · Doctor: You should rest and drink water. Take this medicine. · Patient: How many times do I take it? · Doctor: Twice a day. · Patient: Thank you very much.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symptom with a duration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examination instruction</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advice with “you should”</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how often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patient says the problem and how long.</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doctor gives one instruction.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“an” the verb ends in -a.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asked how often (kam marratan?).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instructions match the listener (-ī / -ū) and include a “don’t”.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you buy medicine?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صَيْدَلِيَّةٌ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مَطْعَمٌ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مَكْتَبَةٌ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يَجِبُ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تَشْرَبُ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تَشْرَبَ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شَرِبَ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imperative means rest (to a female)?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اِسْتَرِيحِي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اِسْتَرِحْ</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اِشْرَبِي</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 you buy medicine?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صَيْدَلِيَّةٌ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مَطْعَمٌ</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مَكْتَبَةٌ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pharmacy is </a:t>
            </a:r>
            <a:pPr algn="l" indent="0" marL="0">
              <a:buNone/>
            </a:pPr>
            <a:r>
              <a:rPr lang="ar-SA" altLang="en-US" sz="1350" dirty="0">
                <a:solidFill>
                  <a:srgbClr val="8A6D1E"/>
                </a:solidFill>
                <a:latin typeface="Amiri" pitchFamily="2" charset="-78"/>
                <a:ea typeface="Amiri" pitchFamily="2" charset="-78"/>
                <a:cs typeface="Amiri" pitchFamily="2" charset="-78"/>
              </a:rPr>
              <a:t>صَيْدَلِيَّةٌ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يَجِبُ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تَشْرَبُ</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تَشْرَبَ</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شَرِبَ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in this model, use </a:t>
            </a:r>
            <a:pPr algn="l" indent="0" marL="0">
              <a:buNone/>
            </a:pPr>
            <a:r>
              <a:rPr lang="ar-SA" altLang="en-US" sz="1350" dirty="0">
                <a:solidFill>
                  <a:srgbClr val="8A6D1E"/>
                </a:solidFill>
                <a:latin typeface="Amiri" pitchFamily="2" charset="-78"/>
                <a:ea typeface="Amiri" pitchFamily="2" charset="-78"/>
                <a:cs typeface="Amiri" pitchFamily="2" charset="-78"/>
              </a:rPr>
              <a:t>تَشْرَبَ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imperative means rest (to a female)?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اِسْتَرِيحِي</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اِسْتَرِحْ</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اِشْرَبِي</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اِسْتَرِيحِي</a:t>
            </a:r>
            <a:pPr algn="l" indent="0" marL="0">
              <a:buNone/>
            </a:pPr>
            <a:r>
              <a:rPr lang="en-US" sz="1050" i="1" dirty="0">
                <a:solidFill>
                  <a:srgbClr val="8A6D1E"/>
                </a:solidFill>
                <a:latin typeface="Calibri" pitchFamily="34" charset="0"/>
                <a:cs typeface="Amiri" pitchFamily="2" charset="-78"/>
              </a:rPr>
              <a:t> is addressed to a female.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Pharmacy instructions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مَرْحَبًا. هٰذَا الدَّوَاءُ لِلزُّكَامِ وَالسُّعَالِ. خُذْ حَبَّةً وَاحِدَةً بَعْدَ الفُطُورِ وَحَبَّةً أُخْرَى بَعْدَ العَشَاءِ. لَا تَأْخُذِ الدَّوَاءَ عَلَى مَعِدَةٍ فَارِغَةٍ. اِشْرَبْ مَاءً كَثِيرًا، وَإِذَا لَمْ تَتَحَسَّنْ فَتَحَدَّثْ مَعَ الطَّبِيبِ. اِقْرَأِ التَّعْلِيمَاتِ عَلَى العُلْبَةِ.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لِلزُّكَامِ وَالسُّعَالِ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a cold and a cough</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حَبَّةً وَاحِدَةً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one tablet</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بَعْدَ الفُطُورِ</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after breakfast</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حَبَّةً أُخْرَى</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another tablet</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بَعْدَ العَشَاءِ</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after dinner</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تَأْخُذْ</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don’t take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عَلَى مَعِدَةٍ فَارِغَةٍ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 an empty stomach</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إِذَا لَمْ تَتَحَسَّنْ</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if you don’t get better</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فَتَحَدَّثْ مَعَ</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then speak with</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العُلْبَةِ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box</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medicine for?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toothache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cold and cough</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allergy only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the first tablet taken?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breakfast</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lunch</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breakfast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tablets per day are described?</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not happen?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drinking water</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taking it on an empty stomach</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instructions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person do if not improving?</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talk to the doctor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buy sweets</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exercise harder</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medicine for?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toothache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cold and cough</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allergy only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لِلزُّكَامِ وَالسُّعَالِ.</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the first tablet taken?</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before breakfast</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lunch</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breakfast</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بَعْدَ الفُطُورِ.</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tablets per day are described?</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One after breakfast and one after dinner.</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not happen?</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drinking water</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taking it on an empty stomach</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 instructions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تَأْخُذِ الدَّوَاءَ عَلَى مَعِدَةٍ فَارِغَةٍ.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person do if not improving?</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talk to the doctor</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buy sweets</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exercise harder</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فَتَحَدَّثْ مَعَ الطَّبِيبِ.</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AT-A-L08 · Doctor and Pharmacy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Before AT-A-L09: get ready at home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AT-A-L09 · Travel and Transport for Everyday Journeys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حَافِلَةٌ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bus</a:t>
            </a:r>
            <a:pPr indent="0" marL="0">
              <a:buNone/>
            </a:pPr>
            <a:r>
              <a:rPr lang="ar-SA" sz="1000" i="1" dirty="0">
                <a:solidFill>
                  <a:srgbClr val="5A6472"/>
                </a:solidFill>
                <a:latin typeface="Calibri" pitchFamily="34" charset="0"/>
                <a:ea typeface="Amiri" pitchFamily="2" charset="-78"/>
                <a:cs typeface="Amiri" pitchFamily="2" charset="-78"/>
              </a:rPr>
              <a:t>  pl. حَافِلَاتٌ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قِطَارٌ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train</a:t>
            </a:r>
            <a:pPr indent="0" marL="0">
              <a:buNone/>
            </a:pPr>
            <a:r>
              <a:rPr lang="ar-SA" sz="1000" i="1" dirty="0">
                <a:solidFill>
                  <a:srgbClr val="5A6472"/>
                </a:solidFill>
                <a:latin typeface="Calibri" pitchFamily="34" charset="0"/>
                <a:ea typeface="Amiri" pitchFamily="2" charset="-78"/>
                <a:cs typeface="Amiri" pitchFamily="2" charset="-78"/>
              </a:rPr>
              <a:t>  pl. قِطَارَاتٌ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سَيَّارَةٌ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car</a:t>
            </a:r>
            <a:pPr indent="0" marL="0">
              <a:buNone/>
            </a:pPr>
            <a:r>
              <a:rPr lang="ar-SA" sz="1000" i="1" dirty="0">
                <a:solidFill>
                  <a:srgbClr val="5A6472"/>
                </a:solidFill>
                <a:latin typeface="Calibri" pitchFamily="34" charset="0"/>
                <a:ea typeface="Amiri" pitchFamily="2" charset="-78"/>
                <a:cs typeface="Amiri" pitchFamily="2" charset="-78"/>
              </a:rPr>
              <a:t>  pl. سَيَّارَاتٌ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دَرَّاجَةٌ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bicycle</a:t>
            </a:r>
            <a:pPr indent="0" marL="0">
              <a:buNone/>
            </a:pPr>
            <a:r>
              <a:rPr lang="ar-SA" sz="1000" i="1" dirty="0">
                <a:solidFill>
                  <a:srgbClr val="5A6472"/>
                </a:solidFill>
                <a:latin typeface="Calibri" pitchFamily="34" charset="0"/>
                <a:ea typeface="Amiri" pitchFamily="2" charset="-78"/>
                <a:cs typeface="Amiri" pitchFamily="2" charset="-78"/>
              </a:rPr>
              <a:t>  pl. دَرَّاجَاتٌ</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مَشْيًا</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on foot</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do you get to school or the mosque? Write one sentence.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كَيْفَ تَذْهَبُ إِلَى المَدْرَسَةِ؟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AT-A-L08: the picture game and the advice vocabulary — learn rest / drink / take (m. and f.).</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10-line consultation.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doctor-then-pharmacy dialogue for a girl patient, with one negative command.</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AT-A-L09 · Travel and Transport for Everyday Journeys</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السَّفَرُ وَوَسَائِلُ النَّقْلِ فِي الرِّحْلَاتِ الْيَوْمِيَّةِ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transport words + how you get to school.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AT-A-L08 · Doctor, Pharmacy and Advice</dc:title>
  <dc:subject>PptxGenJS Presentation</dc:subject>
  <dc:creator>Al Madina Online School · Arabic Department</dc:creator>
  <cp:lastModifiedBy>Al Madina Online School · Arabic Department</cp:lastModifiedBy>
  <cp:revision>1</cp:revision>
  <dcterms:created xsi:type="dcterms:W3CDTF">2026-10-11T06:43:44Z</dcterms:created>
  <dcterms:modified xsi:type="dcterms:W3CDTF">2026-10-11T06:43:44Z</dcterms:modified>
</cp:coreProperties>
</file>