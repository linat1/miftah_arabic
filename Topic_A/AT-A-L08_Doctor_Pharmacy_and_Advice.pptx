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AT-A-L08 — Doctor, Pharmacy and Advice. Website: Advanced Topics › Topic A (Everyday Activities) › Lesson 8.
The website builds this lesson on the F5-L09 lesson engine, with the Topic focus “Describe a health problem, understand a consultation and give appropriate general advice.” (grammar: Advice with أن; subjunctive; requests and health vocabulary; skills: Reading · Speaking) and the application challenge “Doctor and pharmacy role-play”.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8 (AT-A-L08), lesson engine Pathways › Foundation › F5 › AT-A-L08. The website lesson “At the Doctor and Pharmacy”: vocabulary, grammar rules and quiz, patterns, common mistakes, sorter, listening, reading, speaking prompts and model, writing task and model, differentiation, final check and the lesson mission. Picture match: website visual game “At the Doctor and Pharmacy”.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consultation lesson. Core: say the problem + duration (AT-A-L07) and understand 3 instructions (rest, drink, take). Develop: advice with يَجِبُ أَنْ + verb, medicine “for” (دَوَاءٌ لِلصُّدَاعِ), and how often (مَرَّتَيْنِ فِي اليَوْمِ). Stretch (Topic A grammar): imperatives to a man / woman / group and a negative command (لَا تَأْخُذْ …).
• The instructions change with the listener, exactly like “please” in AT-A-L05: اِشْرَبْ (man) · اِشْرَبِي (woman) · اِشْرَبُوا (group).
• Safety note (website): advice is general language practice — professionals diagnose. Invented patients only.
• Urdu bridge: طبیب، دوا، مریض، ہسپتال (English) / مُسْتَشْفًى، علاج، نسخہ (Persian) / وَصْفَةٌ.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health-care words prepared at home at the end of AT-A-L07. Questions 3–5 retrieve AT-A-L07 (symptoms, duration, this + body part).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Advice: “you should” + a verb. Instructions change with the listener: to a man -Ø, to a woman -ī, to a group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دوا، مریض and علاج are identical in meaning. CAREFUL: ہسپتال comes from English; Arabic is مُسْتَشْفًى (a place for getting well — root ش ف ي, like شفا). Urdu نسخہ (prescription) is Persian; Arabic is وَصْفَةٌ طِبِّيَّةٌ.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(1 of 2)). Hear → Say → See → Use. Transliteration is printed for Core students (cover it for Develop/Stretch).
FLEX: teach if time allows; otherwise these are on the website vocabulary tab for homework.
FLEX: prepared at home. Plurals: أَطِبَّاءُ (doctors), صَيَادِلَةٌ (pharmacists).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(2 of 2)). Hear → Say → See → Use. Transliteration is printed for Core students (cover it for Develop/Stretch).
FLEX: teach if time allows; otherwise these are on the website vocabulary tab for homework.
FLEX: prepared at home. Plurals: أَطِبَّاءُ (doctors), صَيَادِلَةٌ (pharmacists).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(1 of 2)). Hear → Say → See → Use. Transliteration is printed for Core students (cover it for Develop/Stretch).
FLEX: teach if time allows; otherwise these are on the website vocabulary tab for homework.
FLEX: treatment words — دَوَاءٌ and مَوْعِدٌ were prepared; the others appear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(2 of 2)). Hear → Say → See → Use. Transliteration is printed for Core students (cover it for Develop/Stretch).
FLEX: teach if time allows; otherwise these are on the website vocabulary tab for homework.
FLEX: treatment words — دَوَاءٌ and مَوْعِدٌ were prepared; the others appear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(1 of 2)). Hear → Say → See → Use. Transliteration is printed for Core students (cover it for Develop/Stretch).
CORE: every instruction card shows to a man · to a woman · to a group. Say all three aloud: ishrab – ishrabī – ishrabū.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(2 of 2)). Hear → Say → See → Use. Transliteration is printed for Core students (cover it for Develop/Stretch).
CORE: every instruction card shows to a man · to a woman · to a group. Say all three aloud: ishrab – ishrabī – ishrabū.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Medical language and care (website vocabulary). Hear → Say → See → Use. Transliteration is printed for Core students (cover it for Develop/Stretch).
FLEX: teach if time allows; otherwise these are on the website vocabulary tab for homework.
FLEX: جُرْعَةٌ (dose) and تَعْلِيمَاتٌ (instructions) are in the pharmacy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“Advice and instructions” vocabulary gives each instruction to a man and to a woman (اِسْتَرِحْ / اِسْتَرِيحِي …). The group column and the negative column are the Topic A layer (“imperatives, negative commands and advice structures”). The negative command comes from the website reading: لَا تَأْخُذِ الدَّوَاءَ عَلَى مَعِدَةٍ فَارِغَةٍ.
English meanings: rest · drink · take · open your mouth. Negatives: don’t go out · don’t drink · don’t take · don’t open. Core only needs the first two columns to UNDERSTAND the doctor.
Quick-fire: say an instruction; students type m / f /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“Give essential advice” (يَجِبُ أَنْ + فِعْلٌ), “Join two actions” (… وَأَنْ …), “Request medicine” (أُرِيدُ دَوَاءً لِـ…) and “Give dosage frequency” (مَرَّةً / مَرَّتَيْنِ فِي اليَوْمِ).
Advice to a girl (website quiz): يَجِبُ أَنْ تَأْخُذِي الدَّوَاءَ — the same -ī as the imperative.
Link to AT-A-L06: يَجِبُ أَنْ and يُوصَى بِـ are both advice; يَجِبُ is personal and direct, يُوصَى is formal and impersonal.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advice frame يَجِبُ أَنْ followed by a verb. The verb form after أَنْ is learned and practised as a complete useful chunk.”
• Give essential advice: Use this frame for an important medical or health recommendation.
• Join two actions: Repeat أَنْ before the second verb when joining two pieces of advice.
• Request medicine: The medicine is a direct object; لِـ introduces the symptom or purpose.
• Give dosage frequency: Use the accusative dual مَرَّتَيْنِ in this time expression.
Website common error: Keep أَنْ in the advice frame and use the taught ending: يَجِبُ أَنْ تَسْتَرِيحَ.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shortened, plus the negative command from the website pharmacy reading. Then re-say the doctor’s lines to a GIRL together: اِفْتَحِي فَمَكِ، تَنَفَّسِي، تَسْتَرِيحِي، تَشْرَبِي، خُذِي.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the doctor is a woman? (الطَّبِيبَةِ). Other cards for homework: هُوَ فِي المُسْتَشْفَى، يَجِبُ أَنْ تَرْتَاحَ وَتَشْرَبَ المَاءَ،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the doctor is a woman? (الطَّبِيبَةِ). Other cards for homework: هُوَ فِي المُسْتَشْفَى، يَجِبُ أَنْ تَرْتَاحَ وَتَشْرَبَ المَاءَ،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Then: say where to go as advice — يَجِبُ أَنْ تَذْهَبَ إِلَى الصَّيْدَلِيَّةِ.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Then: say where to go as advice — يَجِبُ أَنْ تَذْهَبَ إِلَى الصَّيْدَلِيَّةِ.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5. Develop / Stretch: all 5.
Listen 1: just listen. Listen 2: note answers. Then chat the letters.
Support: after the second listening, show the read-along slide (Arabic + English, line by line) for Core students.
SCRIPT (read aloud):
الطَّبِيبَةُ: مَا المُشْكِلَةُ؟ المَرِيضُ: عِنْدِي حُمَّى وَسُعَالٌ مُنْذُ يَوْمَيْنِ، وَأَشْعُرُ بِأَلَمٍ فِي الحَلْقِ. الطَّبِيبَةُ: سَأَفْحَصُ دَرَجَةَ حَرَارَتِكَ. اِفْتَحْ فَمَكَ وَتَنَفَّسْ بِعُمْقٍ. يَجِبُ أَنْ تَسْتَرِيحَ وَأَنْ تَشْرَبَ مَاءً كَثِيرًا. خُذْ هٰذَا الدَّوَاءَ مَرَّتَيْنِ فِي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“Take turns as patient and health professional: explain symptoms, ask questions, understand advice and finish with an appropriate request or response.”
Role cards (private chat): Patient 1 — سُعَالٌ وَحُمَّى مُنْذُ يَوْمَيْنِ. Patient 2 (girl) — صُدَاعٌ مُنْذُ أَمْسِ. Patient 3 — أَلَمٌ فِي المَعِدَةِ مُنْذُ الصَّبَاحِ. Pharmacist: دَوَاءٌ لِلسُّعَالِ، مَرَّتَيْنِ فِي اليَوْمِ، لَا تَأْخُذْهُ عَلَى مَعِدَةٍ فَارِغَةٍ.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الطَّبِيبَةُ: يَجِبُ أَنْ تَسْتَرِيحِي وَأَنْ تَشْرَبِي المَاءَ. (You should rest and drink water.)
المَرِيضَةُ: شُكْرًا. كَمْ مَرَّةً آخُذُ الدَّوَاءَ؟ (Thank you. How many times do I take the medicine?)
The website prompts are role-play steps in English (state the problem and duration · where it hurts · repeat one instruction · ask how often · thank and close); the Arabic questions here are the key line for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a doctor dialogue from a phrase bank and identify three instructions. · Develop — Perform a role play with symptom, duration, examination and advice. · Stretch — Switch between doctor and pharmacy contexts and handle an unplanned follow-up question.
Website writing task (Stretch): Write a complete 10-line consultation between a healthcare professional and patient. Include symptoms, duration, one examination instruction, two pieces of advice and medicine frequency.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عِنْدِي سُعَالٌ … مُنْذُ يَوْمَيْنِ · اِفْتَحْ فَمَكَ وَتَنَفَّسْ بِعُمْقٍ · يَجِبُ أَنْ تَسْتَرِيحَ وَأَنْ تَشْرَبَ · مَرَّتَيْنِ فِي اليَوْمِ. Stretch: rewrite the doctor’s lines for a girl.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(AT-A-L09 · Travel and Transport for Everyday Journeys) will spend class time USING this language, so students prepare it tonight — short, simple, easy to access (school guidance: “Simple, Short, Interesting, Relevant, Easy to access”). The five words come from the website AT-A-L09 vocabulary (the AT-A-L09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cs typeface="Amiri" pitchFamily="2" charset="-78"/>
              </a:rPr>
              <a:t>Doctor, Pharmacy and Advice</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الطَّبِيبُ وَالصَّيْدَلِيَّةُ وَالنَّصِيحَةُ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 health problem, understand a consultation and give appropriate general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AT-A-L08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Advice with “you should”, instructions to a man / woman, how often.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where to go,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صَيْدَلِيَّةٌ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pharmacy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clinic</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دَوَاءٌ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appointment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headache.”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عِنْدَهُ صُدَاعٌ.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صُدَاعٌ.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صُدَاعٌ.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مُنْذُ يَوْمَيْنِ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two days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 a week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two days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يَدِي.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يَدِي.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يَدُكَ.</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صَيْدَلِيَّةٌ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hospital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pharmacy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clinic</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دَوَاءٌ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medicine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doctor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appointment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headache.”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عِنْدَهُ صُدَاعٌ.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صُدَاعٌ.</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عِنْدِي صُدَاعٌ.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AT-A-L07: ‘indī.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مُنْذُ يَوْمَيْنِ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two days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days a week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two days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AT-A-L07: duration.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يَدِي.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يَدِي.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يَدُكَ.</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AT-A-L07: feminine body part.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Advice: “you should” + a verb. Instructions change with the listener: to a man -Ø, to a woman -ī, to a group -ū.</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يَجِبُ أَنْ تَسْتَرِيحَ  ·  اِشْرَبْ · اِشْرَبِ</a:t>
            </a:r>
            <a:pPr rtl="1" algn="ctr" indent="0" marL="0">
              <a:lnSpc>
                <a:spcPct val="120000"/>
              </a:lnSpc>
              <a:buNone/>
            </a:pPr>
            <a:r>
              <a:rPr lang="ar-SA" altLang="en-US" sz="1950" b="1" dirty="0">
                <a:solidFill>
                  <a:srgbClr val="D6336C"/>
                </a:solidFill>
                <a:latin typeface="Amiri" pitchFamily="2" charset="-78"/>
                <a:cs typeface="Amiri" pitchFamily="2" charset="-78"/>
              </a:rPr>
              <a:t>ي</a:t>
            </a:r>
            <a:pPr rtl="1" algn="ctr" indent="0" marL="0">
              <a:lnSpc>
                <a:spcPct val="120000"/>
              </a:lnSpc>
              <a:buNone/>
            </a:pPr>
            <a:r>
              <a:rPr lang="ar-SA" altLang="en-US" sz="1950" b="1" dirty="0">
                <a:solidFill>
                  <a:srgbClr val="1B3B6F"/>
                </a:solidFill>
                <a:latin typeface="Amiri" pitchFamily="2" charset="-78"/>
                <a:cs typeface="Amiri" pitchFamily="2" charset="-78"/>
              </a:rPr>
              <a:t> · اِشْرَبُ</a:t>
            </a:r>
            <a:pPr rtl="1" algn="ctr" indent="0" marL="0">
              <a:lnSpc>
                <a:spcPct val="120000"/>
              </a:lnSpc>
              <a:buNone/>
            </a:pPr>
            <a:r>
              <a:rPr lang="ar-SA" altLang="en-US" sz="1950" b="1" dirty="0">
                <a:solidFill>
                  <a:srgbClr val="0E7C86"/>
                </a:solidFill>
                <a:latin typeface="Amiri" pitchFamily="2" charset="-78"/>
                <a:cs typeface="Amiri" pitchFamily="2" charset="-78"/>
              </a:rPr>
              <a:t>وا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key people, places and objects in healthcare settings.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symptoms clearly to a doctor or pharmacist.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give simple advice with </a:t>
            </a:r>
            <a:pPr algn="l" indent="0" marL="0">
              <a:buNone/>
            </a:pPr>
            <a:r>
              <a:rPr lang="ar-SA" altLang="en-US" sz="1700" dirty="0">
                <a:solidFill>
                  <a:srgbClr val="1F2A37"/>
                </a:solidFill>
                <a:latin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 and imperatives.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Perform a structured doctor/pharmacy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explain a problem and how 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understand three instructions from a doctor.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advice with “you should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for medicine and how often to take 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instructions to a man, a woman and a group.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 negative command: don’t take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health-care words from the website in 4 groups. People, places and treatment were prepared at home (FLEX check). Core today: the advice and instructions group.</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and places · 7</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Treatment and appointment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Advice and instructions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Medical language and care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طَبِيبٌ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ṭabīb · doctor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دَوَاءٌ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‎دوا‎ </a:t>
            </a:r>
            <a:pPr indent="0" marL="0">
              <a:buNone/>
            </a:pPr>
            <a:r>
              <a:rPr lang="en-US" sz="950" b="1" dirty="0">
                <a:solidFill>
                  <a:srgbClr val="2E8B57"/>
                </a:solidFill>
                <a:latin typeface="Calibri" pitchFamily="34" charset="0"/>
                <a:cs typeface="Amiri" pitchFamily="2" charset="-78"/>
              </a:rPr>
              <a:t> dawā’ · medicine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مَرِيضٌ</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‎مریض‎ </a:t>
            </a:r>
            <a:pPr indent="0" marL="0">
              <a:buNone/>
            </a:pPr>
            <a:r>
              <a:rPr lang="en-US" sz="950" b="1" dirty="0">
                <a:solidFill>
                  <a:srgbClr val="2E8B57"/>
                </a:solidFill>
                <a:latin typeface="Calibri" pitchFamily="34" charset="0"/>
                <a:cs typeface="Amiri" pitchFamily="2" charset="-78"/>
              </a:rPr>
              <a:t> marīḍ · ill, a patient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عِلَاجٌ</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‎علاج‎ </a:t>
            </a:r>
            <a:pPr indent="0" marL="0">
              <a:buNone/>
            </a:pPr>
            <a:r>
              <a:rPr lang="en-US" sz="950" b="1" dirty="0">
                <a:solidFill>
                  <a:srgbClr val="2E8B57"/>
                </a:solidFill>
                <a:latin typeface="Calibri" pitchFamily="34" charset="0"/>
                <a:cs typeface="Amiri" pitchFamily="2" charset="-78"/>
              </a:rPr>
              <a:t> ‘ilāj · treatment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مُسْتَشْفًى</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‎ہسپتال‎ </a:t>
            </a:r>
            <a:pPr indent="0" marL="0">
              <a:buNone/>
            </a:pPr>
            <a:r>
              <a:rPr lang="en-US" sz="950" b="1" dirty="0">
                <a:solidFill>
                  <a:srgbClr val="2E8B57"/>
                </a:solidFill>
                <a:latin typeface="Calibri" pitchFamily="34" charset="0"/>
                <a:cs typeface="Amiri" pitchFamily="2" charset="-78"/>
              </a:rPr>
              <a:t> mustashfā · hospital (not cognate)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 طَبِيبَةٌ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 m/f</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أَطِبَّاءُ</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أَسْنَانٍ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dentist</a:t>
            </a:r>
            <a:endParaRPr lang="en-US" sz="1350" dirty="0"/>
          </a:p>
          <a:p>
            <a:pPr indent="0" marL="0">
              <a:buNone/>
            </a:pPr>
            <a:r>
              <a:rPr lang="en-US" sz="1100" i="1" dirty="0">
                <a:solidFill>
                  <a:srgbClr val="5A6472"/>
                </a:solidFill>
                <a:latin typeface="Calibri" pitchFamily="34" charset="0"/>
                <a:cs typeface="Amiri" pitchFamily="2" charset="-78"/>
              </a:rPr>
              <a:t>ṭa-bī-bu as-nā-nin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مُمَرِّضٌ / مُمَرِّضَةٌ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 m/f</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مُمَرِّضُونَ</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مُمَرِّضَةٌ</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مُسْتَشْفًى</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clinic</a:t>
            </a:r>
            <a:endParaRPr lang="en-US" sz="1350" dirty="0"/>
          </a:p>
          <a:p>
            <a:pPr indent="0" marL="0">
              <a:buNone/>
            </a:pPr>
            <a:r>
              <a:rPr lang="en-US" sz="1100" i="1" dirty="0">
                <a:solidFill>
                  <a:srgbClr val="5A6472"/>
                </a:solidFill>
                <a:latin typeface="Calibri" pitchFamily="34" charset="0"/>
                <a:cs typeface="Amiri" pitchFamily="2" charset="-78"/>
              </a:rPr>
              <a:t>ʿi-yā-da-tun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صَيْدَلِيَّةٌ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صَيْدَلَانِيٌّ / صَيْدَلَانِيَّةٌ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pharmacist m/f</a:t>
            </a:r>
            <a:endParaRPr lang="en-US" sz="1350" dirty="0"/>
          </a:p>
          <a:p>
            <a:pPr indent="0" marL="0">
              <a:buNone/>
            </a:pPr>
            <a:r>
              <a:rPr lang="en-US" sz="1100" i="1" dirty="0">
                <a:solidFill>
                  <a:srgbClr val="5A6472"/>
                </a:solidFill>
                <a:latin typeface="Calibri" pitchFamily="34" charset="0"/>
                <a:cs typeface="Amiri" pitchFamily="2" charset="-78"/>
              </a:rPr>
              <a:t>ṣay-da-lā-niy-yun / ṣay-da-lā-niy-ya-tun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صَيَادِلَةٌ</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صَيْدَلَانِيَّةٌ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صَيْدَلَانِيٌّ</a:t>
            </a:r>
            <a:endParaRPr lang="ar-SA" sz="15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Treatment and appointment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دَوَاءٌ</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medicine</a:t>
            </a:r>
            <a:endParaRPr lang="en-US" sz="1350" dirty="0"/>
          </a:p>
          <a:p>
            <a:pPr indent="0" marL="0">
              <a:buNone/>
            </a:pPr>
            <a:r>
              <a:rPr lang="en-US" sz="1100" i="1" dirty="0">
                <a:solidFill>
                  <a:srgbClr val="5A6472"/>
                </a:solidFill>
                <a:latin typeface="Calibri" pitchFamily="34" charset="0"/>
                <a:cs typeface="Amiri" pitchFamily="2" charset="-78"/>
              </a:rPr>
              <a:t>da-wā-ʾun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أَدْوِيَةٌ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دَوَاءٌ</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وَصْفَةٌ طِبِّيَّةٌ</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prescription</a:t>
            </a:r>
            <a:endParaRPr lang="en-US" sz="1350" dirty="0"/>
          </a:p>
          <a:p>
            <a:pPr indent="0" marL="0">
              <a:buNone/>
            </a:pPr>
            <a:r>
              <a:rPr lang="en-US" sz="1100" i="1" dirty="0">
                <a:solidFill>
                  <a:srgbClr val="5A6472"/>
                </a:solidFill>
                <a:latin typeface="Calibri" pitchFamily="34" charset="0"/>
                <a:cs typeface="Amiri" pitchFamily="2" charset="-78"/>
              </a:rPr>
              <a:t>waṣ-fa-tun ṭib-biy-ya-tun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ضِمَادٌ</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bandage / dressing</a:t>
            </a:r>
            <a:endParaRPr lang="en-US" sz="1350" dirty="0"/>
          </a:p>
          <a:p>
            <a:pPr indent="0" marL="0">
              <a:buNone/>
            </a:pPr>
            <a:r>
              <a:rPr lang="en-US" sz="1100" i="1" dirty="0">
                <a:solidFill>
                  <a:srgbClr val="5A6472"/>
                </a:solidFill>
                <a:latin typeface="Calibri" pitchFamily="34" charset="0"/>
                <a:cs typeface="Amiri" pitchFamily="2" charset="-78"/>
              </a:rPr>
              <a:t>ḍi-mā-dun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طِبِّيٌّ</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medical appointment</a:t>
            </a:r>
            <a:endParaRPr lang="en-US" sz="1350" dirty="0"/>
          </a:p>
          <a:p>
            <a:pPr indent="0" marL="0">
              <a:buNone/>
            </a:pPr>
            <a:r>
              <a:rPr lang="en-US" sz="1100" i="1" dirty="0">
                <a:solidFill>
                  <a:srgbClr val="5A6472"/>
                </a:solidFill>
                <a:latin typeface="Calibri" pitchFamily="34" charset="0"/>
                <a:cs typeface="Amiri" pitchFamily="2" charset="-78"/>
              </a:rPr>
              <a:t>maw-ʿi-dun ṭib-biy-yun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مَوَاعِيدُ</a:t>
            </a:r>
            <a:endParaRPr lang="ar-SA" sz="150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مَوْعِدٌ</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Treatment and appointment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حُبُوبٌ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tablets</a:t>
            </a:r>
            <a:endParaRPr lang="en-US" sz="1350" dirty="0"/>
          </a:p>
          <a:p>
            <a:pPr indent="0" marL="0">
              <a:buNone/>
            </a:pPr>
            <a:r>
              <a:rPr lang="en-US" sz="1100" i="1" dirty="0">
                <a:solidFill>
                  <a:srgbClr val="5A6472"/>
                </a:solidFill>
                <a:latin typeface="Calibri" pitchFamily="34" charset="0"/>
                <a:cs typeface="Amiri" pitchFamily="2" charset="-78"/>
              </a:rPr>
              <a:t>ḥu-bū-bun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شَرَابُ السُّعَالِ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cough syrup</a:t>
            </a:r>
            <a:endParaRPr lang="en-US" sz="1350" dirty="0"/>
          </a:p>
          <a:p>
            <a:pPr indent="0" marL="0">
              <a:buNone/>
            </a:pPr>
            <a:r>
              <a:rPr lang="en-US" sz="1100" i="1" dirty="0">
                <a:solidFill>
                  <a:srgbClr val="5A6472"/>
                </a:solidFill>
                <a:latin typeface="Calibri" pitchFamily="34" charset="0"/>
                <a:cs typeface="Amiri" pitchFamily="2" charset="-78"/>
              </a:rPr>
              <a:t>sha-rā-bu as-su-ʿā-li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فَحْصٌ</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examination / check</a:t>
            </a:r>
            <a:endParaRPr lang="en-US" sz="1350" dirty="0"/>
          </a:p>
          <a:p>
            <a:pPr indent="0" marL="0">
              <a:buNone/>
            </a:pPr>
            <a:r>
              <a:rPr lang="en-US" sz="1100" i="1" dirty="0">
                <a:solidFill>
                  <a:srgbClr val="5A6472"/>
                </a:solidFill>
                <a:latin typeface="Calibri" pitchFamily="34" charset="0"/>
                <a:cs typeface="Amiri" pitchFamily="2" charset="-78"/>
              </a:rPr>
              <a:t>faḥ-ṣun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دَرَجَةُ الحَرَارَةِ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temperature</a:t>
            </a:r>
            <a:endParaRPr lang="en-US" sz="1350" dirty="0"/>
          </a:p>
          <a:p>
            <a:pPr indent="0" marL="0">
              <a:buNone/>
            </a:pPr>
            <a:r>
              <a:rPr lang="en-US" sz="1100" i="1" dirty="0">
                <a:solidFill>
                  <a:srgbClr val="5A6472"/>
                </a:solidFill>
                <a:latin typeface="Calibri" pitchFamily="34" charset="0"/>
                <a:cs typeface="Amiri" pitchFamily="2" charset="-78"/>
              </a:rPr>
              <a:t>da-ra-ja-tu al-ḥa-rā-ra-ti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instructions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يَجِبُ أَنْ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should / one must ...</a:t>
            </a:r>
            <a:endParaRPr lang="en-US" sz="1350" dirty="0"/>
          </a:p>
          <a:p>
            <a:pPr indent="0" marL="0">
              <a:buNone/>
            </a:pPr>
            <a:r>
              <a:rPr lang="en-US" sz="1100" i="1" dirty="0">
                <a:solidFill>
                  <a:srgbClr val="5A6472"/>
                </a:solidFill>
                <a:latin typeface="Calibri" pitchFamily="34" charset="0"/>
                <a:cs typeface="Amiri" pitchFamily="2" charset="-78"/>
              </a:rPr>
              <a:t>ya-ji-bu an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الأَفْضَلِ أَنْ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better to ...</a:t>
            </a:r>
            <a:endParaRPr lang="en-US" sz="1350" dirty="0"/>
          </a:p>
          <a:p>
            <a:pPr indent="0" marL="0">
              <a:buNone/>
            </a:pPr>
            <a:r>
              <a:rPr lang="en-US" sz="1100" i="1" dirty="0">
                <a:solidFill>
                  <a:srgbClr val="5A6472"/>
                </a:solidFill>
                <a:latin typeface="Calibri" pitchFamily="34" charset="0"/>
                <a:cs typeface="Amiri" pitchFamily="2" charset="-78"/>
              </a:rPr>
              <a:t>mi-na al-af-ḍa-li an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اِسْتَرِحْ / اِسْتَرِيحِي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 m/f</a:t>
            </a:r>
            <a:endParaRPr lang="en-US" sz="1350" dirty="0"/>
          </a:p>
          <a:p>
            <a:pPr indent="0" marL="0">
              <a:buNone/>
            </a:pPr>
            <a:r>
              <a:rPr lang="en-US" sz="1100" i="1" dirty="0">
                <a:solidFill>
                  <a:srgbClr val="5A6472"/>
                </a:solidFill>
                <a:latin typeface="Calibri" pitchFamily="34" charset="0"/>
                <a:cs typeface="Amiri" pitchFamily="2" charset="-78"/>
              </a:rPr>
              <a:t>is-ta-riḥ / is-ta-rī-ḥī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8" name="Text 3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اِسْتَرِيحُوا</a:t>
            </a:r>
            <a:endParaRPr lang="ar-SA" sz="13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41" name="Text 3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اِسْتَرِيحِي</a:t>
            </a:r>
            <a:endParaRPr lang="ar-SA" sz="135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44" name="Text 41"/>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اِسْتَرِحْ</a:t>
            </a:r>
            <a:endParaRPr lang="ar-SA"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اِشْرَبْ / اِشْرَبِي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 m/f</a:t>
            </a:r>
            <a:endParaRPr lang="en-US" sz="1350" dirty="0"/>
          </a:p>
          <a:p>
            <a:pPr indent="0" marL="0">
              <a:buNone/>
            </a:pPr>
            <a:r>
              <a:rPr lang="en-US" sz="1100" i="1" dirty="0">
                <a:solidFill>
                  <a:srgbClr val="5A6472"/>
                </a:solidFill>
                <a:latin typeface="Calibri" pitchFamily="34" charset="0"/>
                <a:cs typeface="Amiri" pitchFamily="2" charset="-78"/>
              </a:rPr>
              <a:t>ish-rab / ish-ra-bī</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اِشْرَبُوا</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اِشْرَبِي</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62" name="Text 59"/>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اِشْرَبْ</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instructions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خُذْ / خُذِي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 m/f</a:t>
            </a:r>
            <a:endParaRPr lang="en-US" sz="1350" dirty="0"/>
          </a:p>
          <a:p>
            <a:pPr indent="0" marL="0">
              <a:buNone/>
            </a:pPr>
            <a:r>
              <a:rPr lang="en-US" sz="1100" i="1" dirty="0">
                <a:solidFill>
                  <a:srgbClr val="5A6472"/>
                </a:solidFill>
                <a:latin typeface="Calibri" pitchFamily="34" charset="0"/>
                <a:cs typeface="Amiri" pitchFamily="2" charset="-78"/>
              </a:rPr>
              <a:t>khudh / khu-dhī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خُذُوا</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خُذِي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خُذْ</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اِسْتَلْقِ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lie down</a:t>
            </a:r>
            <a:endParaRPr lang="en-US" sz="1350" dirty="0"/>
          </a:p>
          <a:p>
            <a:pPr indent="0" marL="0">
              <a:buNone/>
            </a:pPr>
            <a:r>
              <a:rPr lang="en-US" sz="1100" i="1" dirty="0">
                <a:solidFill>
                  <a:srgbClr val="5A6472"/>
                </a:solidFill>
                <a:latin typeface="Calibri" pitchFamily="34" charset="0"/>
                <a:cs typeface="Amiri" pitchFamily="2" charset="-78"/>
              </a:rPr>
              <a:t>is-tal-qi</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اِسْتَلْقُوا</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اِسْتَلْقِي</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48" name="Text 45"/>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اِسْتَلْقِ</a:t>
            </a:r>
            <a:endParaRPr lang="ar-SA" sz="135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اِفْتَحْ فَمَكَ / فَمَكِ</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open your mouth</a:t>
            </a:r>
            <a:endParaRPr lang="en-US" sz="1350" dirty="0"/>
          </a:p>
          <a:p>
            <a:pPr indent="0" marL="0">
              <a:buNone/>
            </a:pPr>
            <a:r>
              <a:rPr lang="en-US" sz="1100" i="1" dirty="0">
                <a:solidFill>
                  <a:srgbClr val="5A6472"/>
                </a:solidFill>
                <a:latin typeface="Calibri" pitchFamily="34" charset="0"/>
                <a:cs typeface="Amiri" pitchFamily="2" charset="-78"/>
              </a:rPr>
              <a:t>if-taḥ fa-ma-ka / fa-ma-ki</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اِفْتَحُوا أَفْوَاهَكُمْ</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اِفْتَحِي فَمَكِ</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64" name="Text 61"/>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اِفْتَحْ فَمَكَ</a:t>
            </a:r>
            <a:endParaRPr lang="ar-SA" sz="135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تَنَفَّسْ بِعُمْقٍ</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breathe deeply</a:t>
            </a:r>
            <a:endParaRPr lang="en-US" sz="1350" dirty="0"/>
          </a:p>
          <a:p>
            <a:pPr indent="0" marL="0">
              <a:buNone/>
            </a:pPr>
            <a:r>
              <a:rPr lang="en-US" sz="1100" i="1" dirty="0">
                <a:solidFill>
                  <a:srgbClr val="5A6472"/>
                </a:solidFill>
                <a:latin typeface="Calibri" pitchFamily="34" charset="0"/>
                <a:cs typeface="Amiri" pitchFamily="2" charset="-78"/>
              </a:rPr>
              <a:t>ta-naf-fas bi-ʿum-qin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تَنَفَّسُوا</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تَنَفَّسِي</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80" name="Text 77"/>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تَنَفَّسْ</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Medical language and care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medicine / medical science</a:t>
            </a:r>
            <a:endParaRPr lang="en-US" sz="1350" dirty="0"/>
          </a:p>
          <a:p>
            <a:pPr indent="0" marL="0">
              <a:buNone/>
            </a:pPr>
            <a:r>
              <a:rPr lang="en-US" sz="1100" i="1" dirty="0">
                <a:solidFill>
                  <a:srgbClr val="5A6472"/>
                </a:solidFill>
                <a:latin typeface="Calibri" pitchFamily="34" charset="0"/>
                <a:cs typeface="Amiri" pitchFamily="2" charset="-78"/>
              </a:rPr>
              <a:t>ṭib-bun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مَعَ الطَّبِيبِ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appointment with the doctor</a:t>
            </a:r>
            <a:endParaRPr lang="en-US" sz="1350" dirty="0"/>
          </a:p>
          <a:p>
            <a:pPr indent="0" marL="0">
              <a:buNone/>
            </a:pPr>
            <a:r>
              <a:rPr lang="en-US" sz="1100" i="1" dirty="0">
                <a:solidFill>
                  <a:srgbClr val="5A6472"/>
                </a:solidFill>
                <a:latin typeface="Calibri" pitchFamily="34" charset="0"/>
                <a:cs typeface="Amiri" pitchFamily="2" charset="-78"/>
              </a:rPr>
              <a:t>maw-ʿi-dun ma-ʿa aṭ-ṭa-bī-bi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جُرْعَةٌ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dose</a:t>
            </a:r>
            <a:endParaRPr lang="en-US" sz="1350" dirty="0"/>
          </a:p>
          <a:p>
            <a:pPr indent="0" marL="0">
              <a:buNone/>
            </a:pPr>
            <a:r>
              <a:rPr lang="en-US" sz="1100" i="1" dirty="0">
                <a:solidFill>
                  <a:srgbClr val="5A6472"/>
                </a:solidFill>
                <a:latin typeface="Calibri" pitchFamily="34" charset="0"/>
                <a:cs typeface="Amiri" pitchFamily="2" charset="-78"/>
              </a:rPr>
              <a:t>jur-ʿa-tun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تَعْلِيمَاتٌ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instructions</a:t>
            </a:r>
            <a:endParaRPr lang="en-US" sz="1350" dirty="0"/>
          </a:p>
          <a:p>
            <a:pPr indent="0" marL="0">
              <a:buNone/>
            </a:pPr>
            <a:r>
              <a:rPr lang="en-US" sz="1100" i="1" dirty="0">
                <a:solidFill>
                  <a:srgbClr val="5A6472"/>
                </a:solidFill>
                <a:latin typeface="Calibri" pitchFamily="34" charset="0"/>
                <a:cs typeface="Amiri" pitchFamily="2" charset="-78"/>
              </a:rPr>
              <a:t>taʿ-lī-mā-tun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INSTRUCTIONS (WEBSITE VOCABULARY + TOPIC A IMPERATIVES)</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 Drink! 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man</a:t>
            </a:r>
            <a:endParaRPr lang="en-US" sz="1100" dirty="0"/>
          </a:p>
        </p:txBody>
      </p:sp>
      <p:sp>
        <p:nvSpPr>
          <p:cNvPr id="17" name="Text 14"/>
          <p:cNvSpPr txBox="1"/>
          <p:nvPr/>
        </p:nvSpPr>
        <p:spPr>
          <a:xfrm>
            <a:off x="650138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woman</a:t>
            </a:r>
            <a:endParaRPr lang="en-US" sz="1100" dirty="0"/>
          </a:p>
        </p:txBody>
      </p:sp>
      <p:sp>
        <p:nvSpPr>
          <p:cNvPr id="18" name="Text 15"/>
          <p:cNvSpPr txBox="1"/>
          <p:nvPr/>
        </p:nvSpPr>
        <p:spPr>
          <a:xfrm>
            <a:off x="375818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group</a:t>
            </a:r>
            <a:endParaRPr lang="en-US" sz="1100" dirty="0"/>
          </a:p>
        </p:txBody>
      </p:sp>
      <p:sp>
        <p:nvSpPr>
          <p:cNvPr id="19" name="Text 16"/>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Don’t … (to a man)</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67712"/>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اِسْتَرِحْ</a:t>
            </a:r>
            <a:endParaRPr lang="ar-SA" sz="2600" dirty="0"/>
          </a:p>
        </p:txBody>
      </p:sp>
      <p:sp>
        <p:nvSpPr>
          <p:cNvPr id="22" name="Text 19"/>
          <p:cNvSpPr txBox="1"/>
          <p:nvPr/>
        </p:nvSpPr>
        <p:spPr>
          <a:xfrm>
            <a:off x="6519672" y="2267712"/>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اِسْتَرِيحِ</a:t>
            </a:r>
            <a:pPr rtl="1" algn="ctr" indent="0" marL="0">
              <a:buNone/>
            </a:pPr>
            <a:r>
              <a:rPr lang="ar-SA" altLang="en-US" sz="2600" b="1" dirty="0">
                <a:solidFill>
                  <a:srgbClr val="D6336C"/>
                </a:solidFill>
                <a:latin typeface="Amiri" pitchFamily="2" charset="-78"/>
                <a:cs typeface="Amiri" pitchFamily="2" charset="-78"/>
              </a:rPr>
              <a:t>ي</a:t>
            </a:r>
            <a:endParaRPr lang="ar-SA" sz="2600" dirty="0"/>
          </a:p>
        </p:txBody>
      </p:sp>
      <p:sp>
        <p:nvSpPr>
          <p:cNvPr id="23" name="Text 20"/>
          <p:cNvSpPr txBox="1"/>
          <p:nvPr/>
        </p:nvSpPr>
        <p:spPr>
          <a:xfrm>
            <a:off x="3776472"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اِسْتَرِيحُ</a:t>
            </a:r>
            <a:pPr rtl="1" algn="ctr" indent="0" marL="0">
              <a:buNone/>
            </a:pPr>
            <a:r>
              <a:rPr lang="ar-SA" altLang="en-US" sz="2600" b="1" dirty="0">
                <a:solidFill>
                  <a:srgbClr val="0E7C86"/>
                </a:solidFill>
                <a:latin typeface="Amiri" pitchFamily="2" charset="-78"/>
                <a:cs typeface="Amiri" pitchFamily="2" charset="-78"/>
              </a:rPr>
              <a:t>وا</a:t>
            </a:r>
            <a:endParaRPr lang="ar-SA" sz="2600" dirty="0"/>
          </a:p>
        </p:txBody>
      </p:sp>
      <p:sp>
        <p:nvSpPr>
          <p:cNvPr id="24" name="Text 21"/>
          <p:cNvSpPr txBox="1"/>
          <p:nvPr/>
        </p:nvSpPr>
        <p:spPr>
          <a:xfrm>
            <a:off x="548640" y="2267712"/>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لَا</a:t>
            </a:r>
            <a:pPr rtl="1" algn="ctr" indent="0" marL="0">
              <a:buNone/>
            </a:pPr>
            <a:r>
              <a:rPr lang="ar-SA" altLang="en-US" sz="2200" b="1" dirty="0">
                <a:solidFill>
                  <a:srgbClr val="1B3B6F"/>
                </a:solidFill>
                <a:latin typeface="Amiri" pitchFamily="2" charset="-78"/>
                <a:cs typeface="Amiri" pitchFamily="2" charset="-78"/>
              </a:rPr>
              <a:t> تَخْرُجْ</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71432" y="3054096"/>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اِشْرَبْ</a:t>
            </a:r>
            <a:endParaRPr lang="ar-SA" sz="2600" dirty="0"/>
          </a:p>
        </p:txBody>
      </p:sp>
      <p:sp>
        <p:nvSpPr>
          <p:cNvPr id="29" name="Text 26"/>
          <p:cNvSpPr txBox="1"/>
          <p:nvPr/>
        </p:nvSpPr>
        <p:spPr>
          <a:xfrm>
            <a:off x="6519672" y="3054096"/>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اِشْرَبِ</a:t>
            </a:r>
            <a:pPr rtl="1" algn="ctr" indent="0" marL="0">
              <a:buNone/>
            </a:pPr>
            <a:r>
              <a:rPr lang="ar-SA" altLang="en-US" sz="2600" b="1" dirty="0">
                <a:solidFill>
                  <a:srgbClr val="D6336C"/>
                </a:solidFill>
                <a:latin typeface="Amiri" pitchFamily="2" charset="-78"/>
                <a:cs typeface="Amiri" pitchFamily="2" charset="-78"/>
              </a:rPr>
              <a:t>ي</a:t>
            </a:r>
            <a:endParaRPr lang="ar-SA" sz="2600" dirty="0"/>
          </a:p>
        </p:txBody>
      </p:sp>
      <p:sp>
        <p:nvSpPr>
          <p:cNvPr id="30" name="Text 27"/>
          <p:cNvSpPr txBox="1"/>
          <p:nvPr/>
        </p:nvSpPr>
        <p:spPr>
          <a:xfrm>
            <a:off x="3776472"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اِشْرَبُ</a:t>
            </a:r>
            <a:pPr rtl="1" algn="ctr" indent="0" marL="0">
              <a:buNone/>
            </a:pPr>
            <a:r>
              <a:rPr lang="ar-SA" altLang="en-US" sz="2600" b="1" dirty="0">
                <a:solidFill>
                  <a:srgbClr val="0E7C86"/>
                </a:solidFill>
                <a:latin typeface="Amiri" pitchFamily="2" charset="-78"/>
                <a:cs typeface="Amiri" pitchFamily="2" charset="-78"/>
              </a:rPr>
              <a:t>وا</a:t>
            </a:r>
            <a:endParaRPr lang="ar-SA" sz="2600" dirty="0"/>
          </a:p>
        </p:txBody>
      </p:sp>
      <p:sp>
        <p:nvSpPr>
          <p:cNvPr id="31" name="Text 28"/>
          <p:cNvSpPr txBox="1"/>
          <p:nvPr/>
        </p:nvSpPr>
        <p:spPr>
          <a:xfrm>
            <a:off x="548640" y="3054096"/>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لَا</a:t>
            </a:r>
            <a:pPr rtl="1" algn="ctr" indent="0" marL="0">
              <a:buNone/>
            </a:pPr>
            <a:r>
              <a:rPr lang="ar-SA" altLang="en-US" sz="2200" b="1" dirty="0">
                <a:solidFill>
                  <a:srgbClr val="1B3B6F"/>
                </a:solidFill>
                <a:latin typeface="Amiri" pitchFamily="2" charset="-78"/>
                <a:cs typeface="Amiri" pitchFamily="2" charset="-78"/>
              </a:rPr>
              <a:t> تَشْرَبْ</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71432" y="3840480"/>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خُذْ</a:t>
            </a:r>
            <a:endParaRPr lang="ar-SA" sz="2600" dirty="0"/>
          </a:p>
        </p:txBody>
      </p:sp>
      <p:sp>
        <p:nvSpPr>
          <p:cNvPr id="36" name="Text 33"/>
          <p:cNvSpPr txBox="1"/>
          <p:nvPr/>
        </p:nvSpPr>
        <p:spPr>
          <a:xfrm>
            <a:off x="6519672" y="3840480"/>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خُذِ</a:t>
            </a:r>
            <a:pPr rtl="1" algn="ctr" indent="0" marL="0">
              <a:buNone/>
            </a:pPr>
            <a:r>
              <a:rPr lang="ar-SA" altLang="en-US" sz="2600" b="1" dirty="0">
                <a:solidFill>
                  <a:srgbClr val="D6336C"/>
                </a:solidFill>
                <a:latin typeface="Amiri" pitchFamily="2" charset="-78"/>
                <a:cs typeface="Amiri" pitchFamily="2" charset="-78"/>
              </a:rPr>
              <a:t>ي</a:t>
            </a:r>
            <a:endParaRPr lang="ar-SA" sz="2600" dirty="0"/>
          </a:p>
        </p:txBody>
      </p:sp>
      <p:sp>
        <p:nvSpPr>
          <p:cNvPr id="37" name="Text 34"/>
          <p:cNvSpPr txBox="1"/>
          <p:nvPr/>
        </p:nvSpPr>
        <p:spPr>
          <a:xfrm>
            <a:off x="3776472"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خُذُ</a:t>
            </a:r>
            <a:pPr rtl="1" algn="ctr" indent="0" marL="0">
              <a:buNone/>
            </a:pPr>
            <a:r>
              <a:rPr lang="ar-SA" altLang="en-US" sz="2600" b="1" dirty="0">
                <a:solidFill>
                  <a:srgbClr val="0E7C86"/>
                </a:solidFill>
                <a:latin typeface="Amiri" pitchFamily="2" charset="-78"/>
                <a:cs typeface="Amiri" pitchFamily="2" charset="-78"/>
              </a:rPr>
              <a:t>وا</a:t>
            </a:r>
            <a:endParaRPr lang="ar-SA" sz="2600" dirty="0"/>
          </a:p>
        </p:txBody>
      </p:sp>
      <p:sp>
        <p:nvSpPr>
          <p:cNvPr id="38" name="Text 35"/>
          <p:cNvSpPr txBox="1"/>
          <p:nvPr/>
        </p:nvSpPr>
        <p:spPr>
          <a:xfrm>
            <a:off x="548640" y="3840480"/>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لَا</a:t>
            </a:r>
            <a:pPr rtl="1" algn="ctr" indent="0" marL="0">
              <a:buNone/>
            </a:pPr>
            <a:r>
              <a:rPr lang="ar-SA" altLang="en-US" sz="2200" b="1" dirty="0">
                <a:solidFill>
                  <a:srgbClr val="1B3B6F"/>
                </a:solidFill>
                <a:latin typeface="Amiri" pitchFamily="2" charset="-78"/>
                <a:cs typeface="Amiri" pitchFamily="2" charset="-78"/>
              </a:rPr>
              <a:t> تَأْخُذْ</a:t>
            </a:r>
            <a:endParaRPr lang="ar-SA" sz="22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171432" y="4626864"/>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اِفْتَحْ فَمَكَ</a:t>
            </a:r>
            <a:endParaRPr lang="ar-SA" sz="2600" dirty="0"/>
          </a:p>
        </p:txBody>
      </p:sp>
      <p:sp>
        <p:nvSpPr>
          <p:cNvPr id="43" name="Text 40"/>
          <p:cNvSpPr txBox="1"/>
          <p:nvPr/>
        </p:nvSpPr>
        <p:spPr>
          <a:xfrm>
            <a:off x="6519672" y="4626864"/>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اِفْتَحِ</a:t>
            </a:r>
            <a:pPr rtl="1" algn="ctr" indent="0" marL="0">
              <a:buNone/>
            </a:pPr>
            <a:r>
              <a:rPr lang="ar-SA" altLang="en-US" sz="2600" b="1" dirty="0">
                <a:solidFill>
                  <a:srgbClr val="D6336C"/>
                </a:solidFill>
                <a:latin typeface="Amiri" pitchFamily="2" charset="-78"/>
                <a:cs typeface="Amiri" pitchFamily="2" charset="-78"/>
              </a:rPr>
              <a:t>ي</a:t>
            </a:r>
            <a:pPr rtl="1" algn="ctr" indent="0" marL="0">
              <a:buNone/>
            </a:pPr>
            <a:r>
              <a:rPr lang="ar-SA" altLang="en-US" sz="2600" b="1" dirty="0">
                <a:solidFill>
                  <a:srgbClr val="1B3B6F"/>
                </a:solidFill>
                <a:latin typeface="Amiri" pitchFamily="2" charset="-78"/>
                <a:cs typeface="Amiri" pitchFamily="2" charset="-78"/>
              </a:rPr>
              <a:t> فَمَكِ</a:t>
            </a:r>
            <a:endParaRPr lang="ar-SA" sz="2600" dirty="0"/>
          </a:p>
        </p:txBody>
      </p:sp>
      <p:sp>
        <p:nvSpPr>
          <p:cNvPr id="44" name="Text 41"/>
          <p:cNvSpPr txBox="1"/>
          <p:nvPr/>
        </p:nvSpPr>
        <p:spPr>
          <a:xfrm>
            <a:off x="3776472"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اِفْتَحُ</a:t>
            </a:r>
            <a:pPr rtl="1" algn="ctr" indent="0" marL="0">
              <a:buNone/>
            </a:pPr>
            <a:r>
              <a:rPr lang="ar-SA" altLang="en-US" sz="2600" b="1" dirty="0">
                <a:solidFill>
                  <a:srgbClr val="0E7C86"/>
                </a:solidFill>
                <a:latin typeface="Amiri" pitchFamily="2" charset="-78"/>
                <a:cs typeface="Amiri" pitchFamily="2" charset="-78"/>
              </a:rPr>
              <a:t>وا</a:t>
            </a:r>
            <a:pPr rtl="1" algn="ctr" indent="0" marL="0">
              <a:buNone/>
            </a:pPr>
            <a:r>
              <a:rPr lang="ar-SA" altLang="en-US" sz="2600" b="1" dirty="0">
                <a:solidFill>
                  <a:srgbClr val="1B3B6F"/>
                </a:solidFill>
                <a:latin typeface="Amiri" pitchFamily="2" charset="-78"/>
                <a:cs typeface="Amiri" pitchFamily="2" charset="-78"/>
              </a:rPr>
              <a:t> أَفْوَاهَكُمْ</a:t>
            </a:r>
            <a:endParaRPr lang="ar-SA" sz="2600" dirty="0"/>
          </a:p>
        </p:txBody>
      </p:sp>
      <p:sp>
        <p:nvSpPr>
          <p:cNvPr id="45" name="Text 42"/>
          <p:cNvSpPr txBox="1"/>
          <p:nvPr/>
        </p:nvSpPr>
        <p:spPr>
          <a:xfrm>
            <a:off x="548640" y="4626864"/>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لَا</a:t>
            </a:r>
            <a:pPr rtl="1" algn="ctr" indent="0" marL="0">
              <a:buNone/>
            </a:pPr>
            <a:r>
              <a:rPr lang="ar-SA" altLang="en-US" sz="2200" b="1" dirty="0">
                <a:solidFill>
                  <a:srgbClr val="1B3B6F"/>
                </a:solidFill>
                <a:latin typeface="Amiri" pitchFamily="2" charset="-78"/>
                <a:cs typeface="Amiri" pitchFamily="2" charset="-78"/>
              </a:rPr>
              <a:t> تَفْتَحْ</a:t>
            </a:r>
            <a:endParaRPr lang="ar-SA" sz="22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Woman: add -ī. Group: add -ū (written </a:t>
            </a:r>
            <a:pPr algn="l" indent="0" marL="0">
              <a:buNone/>
            </a:pPr>
            <a:r>
              <a:rPr lang="ar-SA" altLang="en-US" sz="1500" b="1" dirty="0">
                <a:solidFill>
                  <a:srgbClr val="1B3B6F"/>
                </a:solidFill>
                <a:latin typeface="Amiri" pitchFamily="2" charset="-78"/>
                <a:cs typeface="Amiri" pitchFamily="2" charset="-78"/>
              </a:rPr>
              <a:t>ـوا</a:t>
            </a:r>
            <a:pPr algn="l" indent="0" marL="0">
              <a:buNone/>
            </a:pPr>
            <a:r>
              <a:rPr lang="en-US" sz="1150" b="1" dirty="0">
                <a:solidFill>
                  <a:srgbClr val="1B3B6F"/>
                </a:solidFill>
                <a:latin typeface="Calibri" pitchFamily="34" charset="0"/>
                <a:cs typeface="Amiri" pitchFamily="2" charset="-78"/>
              </a:rPr>
              <a:t>). Don’t: lā + the “you” verb with no ending vowel.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ADVICE, MEDICINE AND HOW OFTEN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You should … medicine for … twice a day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يَجِبُ أَنْ · لِـ · مَرَّتَيْنِ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ADVICE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يَجِبُ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يَجِبُ أَنْ تَسْتَرِيحَ وَأَنْ تَشْرَبَ المَاءَ.</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 should rest and drink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Repeat an before the 2nd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REQUEST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دَوَاءً لِـ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أُرِيدُ دَوَاءً لِلصُّدَاعِ، مِنْ فَضْلِكَ.</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medicine for a headache, please.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 = for (the purpose).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 · DEVELOP</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مَرَّةً · مَرَّتَيْنِ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خُذِ الدَّوَاءَ مَرَّتَيْنِ فِي اليَوْمِ.</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Take the medicine twice a 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marratayni = twice.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keep the -a ending after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يَجِبُ أَنْ تَسْتَرِيحَ.</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يَجِبُ أَنْ تَسْتَرِيحُ.</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النَّصِيحَةُ بِـ يَجِبُ أَنْ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Give essential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أَنْ تَسْتَرِيحَ.   ·   يَجِبُ أَنْ تَشْرَبَ المَاءَ.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Join two actions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يَجِبُ أَنْ... وَأَنْ...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أَنْ تَسْتَرِيحَ وَأَنْ تَنَامَ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Request medicine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أُرِيدُ دَوَاءً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أُرِيدُ دَوَاءً لِلصُّدَاعِ.   ·   أُرِيدُ دَوَاءً لِلسُّعَالِ.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Give dosage frequency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مَرَّةً / مَرَّتَيْنِ فِي اليَوْمِ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خُذِ الدَّوَاءَ مَرَّتَيْنِ فِي اليَوْمِ.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advice: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___ المَاءَ.</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تَشْرَبُ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شَرَابٌ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تَشْرَبَ</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“medicine for a headache”.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دَوَاءٌ لِلصُّدَاعِ</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دَوَاءٌ فِي الصُّدَاعِ</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دَوَاءٌ مِنَ الصُّدَاعِ</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تَأْخُذَ الدَّوَاءَ.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تَأْخُذِي الدَّوَاءَ.</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آخُذَ الدَّوَاءَ.</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dosage phrase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 فِي اليَوْمِ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مَرَّةَانِ فِي اليَوْمِ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اثْنَانِ مَرَّةً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advice: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___ المَاءَ.</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تَشْرَبُ</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شَرَابٌ</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تَشْرَبَ</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modelled verb form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“medicine for a headache”.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دَوَاءٌ لِلصُّدَاعِ</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دَوَاءٌ فِي الصُّدَاعِ</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دَوَاءٌ مِنَ الصُّدَاعِ</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to state the purpose.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تَأْخُذَ الدَّوَاءَ.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 تَأْخُذِي الدَّوَاءَ.</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آخُذَ الدَّوَاءَ.</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in this chunk.</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dosage phrase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مَرَّتَيْنِ فِي اليَوْمِ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مَرَّةَانِ فِي اليَوْمِ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اثْنَانِ مَرَّةً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accusative dual </a:t>
            </a:r>
            <a:pPr algn="l" indent="0" marL="0">
              <a:buNone/>
            </a:pPr>
            <a:r>
              <a:rPr lang="ar-SA" altLang="en-US" sz="1350" dirty="0">
                <a:solidFill>
                  <a:srgbClr val="8A6D1E"/>
                </a:solidFill>
                <a:latin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run a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Patient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عِنْدِي حُمَّى وَسُعَالٌ مُنْذُ يَوْمَيْنِ.</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Problem + duration (AT-A-L07).</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Examine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اِفْتَحْ فَمَكَ وَتَنَفَّسْ بِعُمْقٍ.</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is a man → no ending.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cs typeface="Amiri" pitchFamily="2" charset="-78"/>
              </a:rPr>
              <a:t> تَسْتَرِيحَ </a:t>
            </a:r>
            <a:pPr rtl="1" algn="ctr" indent="0" marL="0">
              <a:lnSpc>
                <a:spcPct val="120000"/>
              </a:lnSpc>
              <a:buNone/>
            </a:pPr>
            <a:r>
              <a:rPr lang="ar-SA" altLang="en-US" sz="1750" b="1" dirty="0">
                <a:solidFill>
                  <a:srgbClr val="0E7C86"/>
                </a:solidFill>
                <a:latin typeface="Amiri" pitchFamily="2" charset="-78"/>
                <a:cs typeface="Amiri" pitchFamily="2" charset="-78"/>
              </a:rPr>
              <a:t>وَأَنْ</a:t>
            </a:r>
            <a:pPr rtl="1" algn="ctr" indent="0" marL="0">
              <a:lnSpc>
                <a:spcPct val="120000"/>
              </a:lnSpc>
              <a:buNone/>
            </a:pPr>
            <a:r>
              <a:rPr lang="ar-SA" altLang="en-US" sz="1750" b="1" dirty="0">
                <a:solidFill>
                  <a:srgbClr val="1B3B6F"/>
                </a:solidFill>
                <a:latin typeface="Amiri" pitchFamily="2" charset="-78"/>
                <a:cs typeface="Amiri" pitchFamily="2" charset="-78"/>
              </a:rPr>
              <a:t> تَشْرَبَ مَاءً كَثِيرًا.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pieces of advice: an … wa-an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Medicine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خُذْ هٰذَا الدَّوَاءَ مَرَّتَيْنِ فِي اليَوْمِ، وَ</a:t>
            </a:r>
            <a:pPr rtl="1" algn="ctr" indent="0" marL="0">
              <a:lnSpc>
                <a:spcPct val="120000"/>
              </a:lnSpc>
              <a:buNone/>
            </a:pPr>
            <a:r>
              <a:rPr lang="ar-SA" altLang="en-US" sz="1650" b="1" dirty="0">
                <a:solidFill>
                  <a:srgbClr val="C77700"/>
                </a:solidFill>
                <a:latin typeface="Amiri" pitchFamily="2" charset="-78"/>
                <a:cs typeface="Amiri" pitchFamily="2" charset="-78"/>
              </a:rPr>
              <a:t>لَا</a:t>
            </a:r>
            <a:pPr rtl="1" algn="ctr" indent="0" marL="0">
              <a:lnSpc>
                <a:spcPct val="120000"/>
              </a:lnSpc>
              <a:buNone/>
            </a:pPr>
            <a:r>
              <a:rPr lang="ar-SA" altLang="en-US" sz="1650" b="1" dirty="0">
                <a:solidFill>
                  <a:srgbClr val="1B3B6F"/>
                </a:solidFill>
                <a:latin typeface="Amiri" pitchFamily="2" charset="-78"/>
                <a:cs typeface="Amiri" pitchFamily="2" charset="-78"/>
              </a:rPr>
              <a:t> تَأْخُذْهُ عَلَى مَعِدَةٍ فَارِغَةٍ.</a:t>
            </a:r>
            <a:endParaRPr lang="ar-SA" sz="16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 and don’t.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DON’T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المَرِيضُ: عِنْدِي حُمَّى وَسُعَالٌ مُنْذُ يَوْمَيْنِ. الطَّبِيبَةُ: اِفْتَحْ فَمَكَ وَتَنَفَّسْ بِعُمْقٍ. </a:t>
            </a:r>
            <a:pPr rtl="1" algn="r" indent="0" marL="0">
              <a:lnSpc>
                <a:spcPct val="120000"/>
              </a:lnSpc>
              <a:buNone/>
            </a:pPr>
            <a:r>
              <a:rPr lang="ar-SA" altLang="en-US" sz="1400" b="1" dirty="0">
                <a:solidFill>
                  <a:srgbClr val="0E7C86"/>
                </a:solidFill>
                <a:latin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cs typeface="Amiri" pitchFamily="2" charset="-78"/>
              </a:rPr>
              <a:t> تَسْتَرِيحَ </a:t>
            </a:r>
            <a:pPr rtl="1" algn="r" indent="0" marL="0">
              <a:lnSpc>
                <a:spcPct val="120000"/>
              </a:lnSpc>
              <a:buNone/>
            </a:pPr>
            <a:r>
              <a:rPr lang="ar-SA" altLang="en-US" sz="1400" b="1" dirty="0">
                <a:solidFill>
                  <a:srgbClr val="0E7C86"/>
                </a:solidFill>
                <a:latin typeface="Amiri" pitchFamily="2" charset="-78"/>
                <a:cs typeface="Amiri" pitchFamily="2" charset="-78"/>
              </a:rPr>
              <a:t>وَأَنْ</a:t>
            </a:r>
            <a:pPr rtl="1" algn="r" indent="0" marL="0">
              <a:lnSpc>
                <a:spcPct val="120000"/>
              </a:lnSpc>
              <a:buNone/>
            </a:pPr>
            <a:r>
              <a:rPr lang="ar-SA" altLang="en-US" sz="1400" b="1" dirty="0">
                <a:solidFill>
                  <a:srgbClr val="1B3B6F"/>
                </a:solidFill>
                <a:latin typeface="Amiri" pitchFamily="2" charset="-78"/>
                <a:cs typeface="Amiri" pitchFamily="2" charset="-78"/>
              </a:rPr>
              <a:t> تَشْرَبَ مَاءً كَثِيرًا. خُذْ هٰذَا الدَّوَاءَ مَرَّتَيْنِ فِي اليَوْمِ، وَ</a:t>
            </a:r>
            <a:pPr rtl="1" algn="r" indent="0" marL="0">
              <a:lnSpc>
                <a:spcPct val="120000"/>
              </a:lnSpc>
              <a:buNone/>
            </a:pPr>
            <a:r>
              <a:rPr lang="ar-SA" altLang="en-US" sz="1400" b="1" dirty="0">
                <a:solidFill>
                  <a:srgbClr val="C77700"/>
                </a:solidFill>
                <a:latin typeface="Amiri" pitchFamily="2" charset="-78"/>
                <a:cs typeface="Amiri" pitchFamily="2" charset="-78"/>
              </a:rPr>
              <a:t>لَا</a:t>
            </a:r>
            <a:pPr rtl="1" algn="r" indent="0" marL="0">
              <a:lnSpc>
                <a:spcPct val="120000"/>
              </a:lnSpc>
              <a:buNone/>
            </a:pPr>
            <a:r>
              <a:rPr lang="ar-SA" altLang="en-US" sz="1400" b="1" dirty="0">
                <a:solidFill>
                  <a:srgbClr val="1B3B6F"/>
                </a:solidFill>
                <a:latin typeface="Amiri" pitchFamily="2" charset="-78"/>
                <a:cs typeface="Amiri" pitchFamily="2" charset="-78"/>
              </a:rPr>
              <a:t> تَأْخُذْهُ عَلَى مَعِدَةٍ فَارِغَةٍ.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Patient: I have had a fever and a cough for two days. Doctor: Open your mouth and breathe deeply. You should rest and drink a lot of water. Take this medicine twice a day, and don’t take it on an empty stomach.</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عِنْدِي حُمَّى وَسُعَالٌ مُنْذُ يَوْمَيْنِ.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a fever and cough for two days.</a:t>
            </a:r>
            <a:endParaRPr lang="en-US" sz="1250" dirty="0"/>
          </a:p>
          <a:p>
            <a:pPr indent="0" marL="0">
              <a:buNone/>
            </a:pPr>
            <a:r>
              <a:rPr lang="en-US" sz="1050" i="1" dirty="0">
                <a:solidFill>
                  <a:srgbClr val="8A6D1E"/>
                </a:solidFill>
                <a:latin typeface="Calibri" pitchFamily="34" charset="0"/>
                <a:cs typeface="Amiri" pitchFamily="2" charset="-78"/>
              </a:rPr>
              <a:t>Give symptom + duration clearly.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يَجِبُ أَنْ تَسْتَرِيحَ وَأَنْ تَشْرَبَ المَاءَ.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You should rest and drink water.</a:t>
            </a:r>
            <a:endParaRPr lang="en-US" sz="1250" dirty="0"/>
          </a:p>
          <a:p>
            <a:pPr indent="0" marL="0">
              <a:buNone/>
            </a:pPr>
            <a:r>
              <a:rPr lang="en-US" sz="1050" i="1" dirty="0">
                <a:solidFill>
                  <a:srgbClr val="8A6D1E"/>
                </a:solidFill>
                <a:latin typeface="Calibri" pitchFamily="34" charset="0"/>
                <a:cs typeface="Amiri" pitchFamily="2" charset="-78"/>
              </a:rPr>
              <a:t>After أَنْ, use the appropriate subjunctive form; at Foundation, learn the whole advice chunk.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دَوَاءً لِلصُّدَاعِ،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medicine for a headache, please.</a:t>
            </a:r>
            <a:endParaRPr lang="en-US" sz="1250" dirty="0"/>
          </a:p>
          <a:p>
            <a:pPr indent="0" marL="0">
              <a:buNone/>
            </a:pPr>
            <a:r>
              <a:rPr lang="en-US" sz="1050" i="1" dirty="0">
                <a:solidFill>
                  <a:srgbClr val="8A6D1E"/>
                </a:solidFill>
                <a:latin typeface="Calibri" pitchFamily="34" charset="0"/>
                <a:cs typeface="Amiri" pitchFamily="2" charset="-78"/>
              </a:rPr>
              <a:t>Use لِـ to state what the medicine is for.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أَنْ أَحْجِزَ مَوْعِدًا مَعَ طَبِيبِ الأَسْنَانِ.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to book an appointment with the dentist.</a:t>
            </a:r>
            <a:endParaRPr lang="en-US" sz="1250" dirty="0"/>
          </a:p>
          <a:p>
            <a:pPr indent="0" marL="0">
              <a:buNone/>
            </a:pPr>
            <a:r>
              <a:rPr lang="en-US" sz="1050" i="1" dirty="0">
                <a:solidFill>
                  <a:srgbClr val="8A6D1E"/>
                </a:solidFill>
                <a:latin typeface="Calibri" pitchFamily="34" charset="0"/>
                <a:cs typeface="Amiri" pitchFamily="2" charset="-78"/>
              </a:rPr>
              <a:t>This is a useful complete appointment phrase.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PICTURE MATCH · WEBSITE GAME “VISUAL GAME — AT THE DOCTOR AND PHARMACY”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Where are they?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stethoscope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tablets,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medicine, shop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آخُذُ الدَّوَاءَ مَرَّتَيْنِ فِي اليَوْمِ.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أَشْتَرِي الدَّوَاءَ مِنَ الصَّيْدَلِيَّةِ.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إِلَى الطَّبِيبَةِ.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stethoscope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أَذْهَبُ إِلَى الطَّبِيبَةِ.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to the (female) doctor.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tablets,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medicine, shop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should the person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أَلَمُ الأَسْنَانِ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طَلَبُ دَوَاءٍ لِلصُّدَاعِ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ذِرَاعٌ مَكْسُورَةٌ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شِرَاءُ ضِمَادٍ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فَحْصُ سِنٍّ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حُمَّى شَدِيدَةٌ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Clinic / hospital</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Pharmacy</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Dentist</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Clinic / hospital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ذِرَاعٌ مَكْسُورَةٌ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حُمَّى شَدِيدَةٌ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Pharmacy</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طَلَبُ دَوَاءٍ لِلصُّدَاعِ</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شِرَاءُ ضِمَادٍ</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Dentist</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أَلَمُ الأَسْنَانِ</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فَحْصُ سِنٍّ</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clear duration?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يَوْمَيْنِ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يَوْمَيْنِ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مُنْذُ يَوْمَيْنِ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appointment request?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 طَبِيبٌ.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أَحْجِزَ مَوْعِدًا.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مَوْعِدٌ أَيْنَ؟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should follow a symptom?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favourite colour</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location or duration</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subject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تَشْرَبَ ___.</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المَاءُ</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المَاءِ</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المَاءَ</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clear duration?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يَوْمَيْنِ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يَوْمَيْنِ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مُنْذُ يَوْمَيْنِ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مُنْذُ</a:t>
            </a:r>
            <a:pPr algn="l" indent="0" marL="0">
              <a:buNone/>
            </a:pPr>
            <a:r>
              <a:rPr lang="en-US" sz="1050" i="1" dirty="0">
                <a:solidFill>
                  <a:srgbClr val="8A6D1E"/>
                </a:solidFill>
                <a:latin typeface="Calibri" pitchFamily="34" charset="0"/>
                <a:cs typeface="Amiri" pitchFamily="2" charset="-78"/>
              </a:rPr>
              <a:t> introduces the duration.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appointment request?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أَحْجِزُ طَبِيبٌ.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أَنْ أَحْجِزَ مَوْعِدًا.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مَوْعِدٌ أَيْنَ؟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uses </a:t>
            </a:r>
            <a:pPr algn="l" indent="0" marL="0">
              <a:buNone/>
            </a:pPr>
            <a:r>
              <a:rPr lang="ar-SA" altLang="en-US" sz="1350" dirty="0">
                <a:solidFill>
                  <a:srgbClr val="8A6D1E"/>
                </a:solidFill>
                <a:latin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verb + object.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should follow a symptom?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favourite colour</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location or duration</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subject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Healthcare communication needs precise symptom details.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تَشْرَبَ ___.</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المَاءُ</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المَاءِ</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المَاءَ</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المَاءَ</a:t>
            </a:r>
            <a:pPr algn="l" indent="0" marL="0">
              <a:buNone/>
            </a:pPr>
            <a:r>
              <a:rPr lang="en-US" sz="1050" i="1" dirty="0">
                <a:solidFill>
                  <a:srgbClr val="8A6D1E"/>
                </a:solidFill>
                <a:latin typeface="Calibri" pitchFamily="34" charset="0"/>
                <a:cs typeface="Amiri" pitchFamily="2" charset="-78"/>
              </a:rPr>
              <a:t> is the direct object of </a:t>
            </a:r>
            <a:pPr algn="l" indent="0" marL="0">
              <a:buNone/>
            </a:pPr>
            <a:r>
              <a:rPr lang="ar-SA" altLang="en-US" sz="1350" dirty="0">
                <a:solidFill>
                  <a:srgbClr val="8A6D1E"/>
                </a:solidFill>
                <a:latin typeface="Amiri" pitchFamily="2" charset="-78"/>
                <a:cs typeface="Amiri" pitchFamily="2" charset="-78"/>
              </a:rPr>
              <a:t>تَشْرَبَ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أَنْ تَسْتَرِيحُ.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أُرِيدُ دَوَاءٌ لِلصُّدَاعِ.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Medicine is the object: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خُذْ هٰذَا الدَّوَاءَ مَرَّةَانِ.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Twice: which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أَنْ تَسْتَرِيحُ.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أَنْ تَسْتَرِيحَ.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model uses the subjunctive ending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أُرِيدُ دَوَاءٌ لِلصُّدَاعِ.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 دَوَاءً لِلصُّدَاعِ.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requested medicine is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خُذْ هٰذَا الدَّوَاءَ مَرَّةَانِ.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خُذْ هٰذَا الدَّوَاءَ مَرَّتَيْنِ.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verb in this phrase, use the accusative dual form </a:t>
            </a:r>
            <a:pPr algn="l" indent="0" marL="0">
              <a:buNone/>
            </a:pPr>
            <a:r>
              <a:rPr lang="ar-SA" altLang="en-US" sz="1500" b="1" dirty="0">
                <a:solidFill>
                  <a:srgbClr val="1B3B6F"/>
                </a:solidFill>
                <a:latin typeface="Amiri" pitchFamily="2" charset="-78"/>
                <a:cs typeface="Amiri" pitchFamily="2" charset="-78"/>
              </a:rPr>
              <a:t>مَرَّتَيْنِ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Doctor–patient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patient been ill?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week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stomach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teeth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check?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blood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temperature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lifestyle instructions are given?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and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and eat sweets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school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should the medicine be taken?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مُنْذُ يَوْمَيْنِ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تَسْتَرِيحَ</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الطَّبِيبَةُ: مَا المُشْكِلَةُ؟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 (f.): What is the problem?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المَرِيضُ: عِنْدِي حُمَّى وَسُعَالٌ مُنْذُ يَوْمَيْنِ، وَأَشْعُرُ بِأَلَمٍ فِي الحَلْقِ.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Patient: I have had a fever and a cough for two days, and I feel pain in my throat.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الطَّبِيبَةُ: سَأَفْحَصُ دَرَجَةَ حَرَارَتِكَ. اِفْتَحْ فَمَكَ وَتَنَفَّسْ بِعُمْقٍ.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 I will check your temperature. Open your mouth and breathe deeply.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تَسْتَرِيحَ وَأَنْ تَشْرَبَ مَاءً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should rest and drink a lot of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خُذْ هٰذَا الدَّوَاءَ مَرَّتَيْنِ فِي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this medicine twice a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patient been ill?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days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week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مُنْذُ يَوْمَيْنِ.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pain?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stomach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teeth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throat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الحَلْقِ.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check?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blood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temperature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دَرَجَةَ حَرَارَتِكَ.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lifestyle instructions are given?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rest and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and eat sweets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to school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تَسْتَرِيحَ ... تَشْرَبَ مَاءً.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should the medicine be taken?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times a 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مَرَّتَيْنِ فِي اليَوْمِ.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مُنْذُ يَوْمَيْنِ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تَسْتَرِيحَ</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 and pharmacy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Doctor and pharmacy role-play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Take turns as patient and health professional: explain symptoms, ask questions, understand advice and finish with an appropriate request or response.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A is the patient, B the doctor (then swap: B the pharmacist).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symptom + where + how long. Doctor: one question.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Doctor: one instruction and one piece of advice. Patient repeats it.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asks how often and thanks. Two pairs perform on the mic.</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only: ‘indī … mundhu … — then repeat the doctor’s instruction.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Doctor: examination instruction + advice with yajibu an … and how often.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is a girl: all instructions with -ī; pharmacist adds a “don’t” (lā ta’khudh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مَا المُشْكِلَةُ؟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what is the problem?</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يَجِبُ أَنْ تَسْتَرِيحَ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 should rest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خُذِي الدَّوَاءَ</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take the medicine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كَمْ مَرَّةً؟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how many times?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 or pharmacy role play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المُشْكِلَةُ؟ مُنْذُ مَتَى؟</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الأَلَمُ؟ كَيْفَ تَشْعُرُ؟</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مَرَّةً آخُذُ الدَّوَاءَ؟</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بِمَاذَا تَنْصَحُنِي؟</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عِنْدِي ___ مُنْذُ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عِنْدِي أَلَمٌ فِي ___ . أَشْعُرُ بِالتَّعَبِ.</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خُذْهُ / خُذِيهِ ___ فِي اليَوْمِ.</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يَجِبُ أَنْ ___ وَأَنْ ___ ، وَلَا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الطَّبِيبَةُ</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المُشْكِلَةُ؟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المَرِيضَةُ</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عِنْدِي صُدَاعٌ وَحُمَّى مُنْذُ أَمْسِ.</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have a headache and fever since yesterday.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complete a doctor dialogue from the phrase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Problem + duration → one instruction → one piece of advice →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complete consultation.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Symptoms, duration, one examination instruction, two pieces of advice, how often.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Stretch: doctor, then pharmacy.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patient is a girl (all instructions with -ī) and the pharmacist adds a negative command.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اِفْتَحِي فَمَكِ.</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Open your mouth (to a girl).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______ وَأَنْ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should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دَوَاءً لِـ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medicine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مَرَّةً آخُذُهُ؟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many times do I take it?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مَرَّتَيْنِ فِي اليَوْمِ.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Twice a day.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المُشْكِلَةُ؟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the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______ مُنْذُ يَوْمَيْنِ.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for two days.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تَسْتَرِيحَ.</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should rest.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خُذْ هٰذَا الدَّوَاءَ.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Take this medicine.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يَجِبُ أَنْ  ·  تَسْتَرِيحَ  ·  تَشْرَبَ  ·  اِسْتَرِحْ / اِسْتَرِيحِي  ·  اِشْرَبْ / اِشْرَبِي  ·  خُذْ / خُذِي  ·  دَوَاءٌ  ·  مَرَّتَيْنِ  ·  مُنْذُ  ·  عِنْدِي  ·  لَا تَأْخُذْ  ·  صَيْدَلِيَّةٌ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complete 10-line consultation between a healthcare professional and patient. Include symptoms, duration, one examination instruction, two pieces of advice and medicine frequency.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professional roles and greetings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عِنْدِي / أَشْعُرُ بِـ</a:t>
            </a:r>
            <a:pPr algn="l" indent="0" marL="0">
              <a:buNone/>
            </a:pPr>
            <a:r>
              <a:rPr lang="en-US" sz="1200" dirty="0">
                <a:solidFill>
                  <a:srgbClr val="1F2A37"/>
                </a:solidFill>
                <a:latin typeface="Calibri" pitchFamily="34" charset="0"/>
                <a:cs typeface="Amiri" pitchFamily="2" charset="-78"/>
              </a:rPr>
              <a:t> for symptoms.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or an imperative for advice.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cs typeface="Amiri" pitchFamily="2" charset="-78"/>
              </a:rPr>
              <a:t>كَمْ مَرَّةً؟</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مَتَى آخُذُ الدَّوَاءَ؟</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سَأَفْحَصُ دَرَجَةَ حَرَارَتِكَ</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check your temperature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تَأْخُذِ الدَّوَاءَ عَلَى مَعِدَةٍ فَارِغَةٍ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take the medicine on an empty stomach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لَمْ تَتَحَسَّنْ فَتَحَدَّثْ مَعَ الطَّبِيبِ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don’t improve, speak to the doctor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أَحْجِزَ مَوْعِدًا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like to book an appointment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التَّعْلِيمَاتِ عَلَى العُلْبَةِ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read the instructions on the box</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300" dirty="0">
                <a:solidFill>
                  <a:srgbClr val="1F2A37"/>
                </a:solidFill>
                <a:latin typeface="Amiri" pitchFamily="2" charset="-78"/>
                <a:cs typeface="Amiri" pitchFamily="2" charset="-78"/>
              </a:rPr>
              <a:t>الطَّبِيبُ: مَا المُشْكِلَةُ؟</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عِنْدِي سُعَالٌ وَأَلَمٌ فِي الحَلْقِ مُنْذُ يَوْمَيْنِ.</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الطَّبِيبُ: هَلْ عِنْدَكَ حُمَّى؟</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نَعَمْ، وَأَشْعُرُ بِالتَّعَبِ.</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الطَّبِيبُ: اِفْتَحْ فَمَكَ وَتَنَفَّسْ بِعُمْقٍ.</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حَسَنًا.</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الطَّبِيبُ: يَجِبُ أَنْ تَسْتَرِيحَ وَأَنْ تَشْرَبَ المَاءَ. خُذْ هٰذَا الدَّوَاءَ.</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كَمْ مَرَّةً آخُذُهُ؟</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الطَّبِيبُ: مَرَّتَيْنِ فِي اليَوْمِ.</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شُكْرًا جَزِيلًا.</a:t>
            </a:r>
            <a:endParaRPr lang="ar-SA" sz="1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Doctor: What is the problem? · Patient: I have had a cough and a sore throat for two days. · Doctor: Do you have a fever? · Patient: Yes, and I feel tired. · Doctor: Open your mouth and breathe deeply. · Patient: OK. · Doctor: You should rest and drink water. Take this medicine. · Patient: How many times do I take it? · Doctor: Twice a day. · Patient: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symptom with a duration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examination instruction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advice with “you should”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how often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patient says the problem and how long.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doctor gives one instruction.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the verb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how often (kam marratan?).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instructions match the listener (-ī / -ū) and include a “don’t”.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صَيْدَلِيَّةٌ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مَطْعَمٌ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تَشْرَبَ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imperative means rest (to a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اِسْتَرِيحِي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اِسْتَرِحْ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اِشْرَبِي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صَيْدَلِيَّةٌ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مَطْعَمٌ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مَكْتَبَةٌ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pharmacy is </a:t>
            </a:r>
            <a:pPr algn="l" indent="0" marL="0">
              <a:buNone/>
            </a:pPr>
            <a:r>
              <a:rPr lang="ar-SA" altLang="en-US" sz="1350" dirty="0">
                <a:solidFill>
                  <a:srgbClr val="8A6D1E"/>
                </a:solidFill>
                <a:latin typeface="Amiri" pitchFamily="2" charset="-78"/>
                <a:cs typeface="Amiri" pitchFamily="2" charset="-78"/>
              </a:rPr>
              <a:t>صَيْدَلِيَّةٌ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تَشْرَبُ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تَشْرَبَ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شَرِبَ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in this model, use </a:t>
            </a:r>
            <a:pPr algn="l" indent="0" marL="0">
              <a:buNone/>
            </a:pPr>
            <a:r>
              <a:rPr lang="ar-SA" altLang="en-US" sz="1350" dirty="0">
                <a:solidFill>
                  <a:srgbClr val="8A6D1E"/>
                </a:solidFill>
                <a:latin typeface="Amiri" pitchFamily="2" charset="-78"/>
                <a:cs typeface="Amiri" pitchFamily="2" charset="-78"/>
              </a:rPr>
              <a:t>تَشْرَبَ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imperative means rest (to a female)?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اِسْتَرِيحِي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اِسْتَرِحْ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اِشْرَبِي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اِسْتَرِيحِي</a:t>
            </a:r>
            <a:pPr algn="l" indent="0" marL="0">
              <a:buNone/>
            </a:pPr>
            <a:r>
              <a:rPr lang="en-US" sz="1050" i="1" dirty="0">
                <a:solidFill>
                  <a:srgbClr val="8A6D1E"/>
                </a:solidFill>
                <a:latin typeface="Calibri" pitchFamily="34" charset="0"/>
                <a:cs typeface="Amiri" pitchFamily="2" charset="-78"/>
              </a:rPr>
              <a:t> is addressed to a female.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Pharmacy instructions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مَرْحَبًا. هٰذَا الدَّوَاءُ لِلزُّكَامِ وَالسُّعَالِ. خُذْ حَبَّةً وَاحِدَةً بَعْدَ الفُطُورِ وَحَبَّةً أُخْرَى بَعْدَ العَشَاءِ. لَا تَأْخُذِ الدَّوَاءَ عَلَى مَعِدَةٍ فَارِغَةٍ. اِشْرَبْ مَاءً كَثِيرًا، وَإِذَا لَمْ تَتَحَسَّنْ فَتَحَدَّثْ مَعَ الطَّبِيبِ. اِقْرَأِ التَّعْلِيمَاتِ عَلَى العُلْبَةِ.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لِلزُّكَامِ وَالسُّعَالِ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a cold and a cough</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حَبَّةً وَاحِدَةً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tablet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بَعْدَ 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حَبَّةً أُخْرَى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another tablet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بَعْدَ العَشَاءِ</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dinner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تَأْخُذْ</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take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عَلَى مَعِدَةٍ فَارِغَةٍ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an empty stomach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إِذَا لَمْ تَتَحَسَّنْ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you don’t get better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فَتَحَدَّثْ مَعَ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speak with</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العُلْبَةِ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box</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medicine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toothache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allergy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first tablet taken?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breakfast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lunch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breakfast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tablets per day are described?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happen?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drinking water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taking it on an empty stomach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instructions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person do if not improving?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talk to the doctor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sweets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harder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medicine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toothache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allergy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لِلزُّكَامِ وَالسُّعَالِ.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first tablet taken?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breakfast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lunch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breakfast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بَعْدَ الفُطُورِ.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tablets per day are described?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after breakfast and one after dinner.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happen?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drinking water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taking it on an empty stomach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instructions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تَأْخُذِ الدَّوَاءَ عَلَى مَعِدَةٍ فَارِغَةٍ.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person do if not improving?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talk to the doctor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sweets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harder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فَتَحَدَّثْ مَعَ الطَّبِيبِ.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AT-A-L09: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AT-A-L09 · Travel and Transport for Everyday Journeys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حَافِلَةٌ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bus</a:t>
            </a:r>
            <a:pPr indent="0" marL="0">
              <a:buNone/>
            </a:pPr>
            <a:r>
              <a:rPr lang="en-US" sz="1000" i="1" dirty="0">
                <a:solidFill>
                  <a:srgbClr val="5A6472"/>
                </a:solidFill>
                <a:latin typeface="Calibri" pitchFamily="34" charset="0"/>
                <a:cs typeface="Amiri" pitchFamily="2" charset="-78"/>
              </a:rPr>
              <a:t>  pl. حَافِلَاتٌ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قِطَارٌ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train</a:t>
            </a:r>
            <a:pPr indent="0" marL="0">
              <a:buNone/>
            </a:pPr>
            <a:r>
              <a:rPr lang="en-US" sz="1000" i="1" dirty="0">
                <a:solidFill>
                  <a:srgbClr val="5A6472"/>
                </a:solidFill>
                <a:latin typeface="Calibri" pitchFamily="34" charset="0"/>
                <a:cs typeface="Amiri" pitchFamily="2" charset="-78"/>
              </a:rPr>
              <a:t>  pl. قِطَارَاتٌ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سَيَّارَةٌ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a:t>
            </a:r>
            <a:pPr indent="0" marL="0">
              <a:buNone/>
            </a:pPr>
            <a:r>
              <a:rPr lang="en-US" sz="1000" i="1" dirty="0">
                <a:solidFill>
                  <a:srgbClr val="5A6472"/>
                </a:solidFill>
                <a:latin typeface="Calibri" pitchFamily="34" charset="0"/>
                <a:cs typeface="Amiri" pitchFamily="2" charset="-78"/>
              </a:rPr>
              <a:t>  pl. سَيَّارَاتٌ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دَرَّاجَةٌ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bicycle</a:t>
            </a:r>
            <a:pPr indent="0" marL="0">
              <a:buNone/>
            </a:pPr>
            <a:r>
              <a:rPr lang="en-US" sz="1000" i="1" dirty="0">
                <a:solidFill>
                  <a:srgbClr val="5A6472"/>
                </a:solidFill>
                <a:latin typeface="Calibri" pitchFamily="34" charset="0"/>
                <a:cs typeface="Amiri" pitchFamily="2" charset="-78"/>
              </a:rPr>
              <a:t>  pl. دَرَّاجَاتٌ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مَشْيًا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 foot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get to school or the mosque?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كَيْفَ تَذْهَبُ إِلَى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AT-A-L08: the picture game and the advice vocabulary — learn rest / drink / take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10-line consultation.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doctor-then-pharmacy dialogue for a girl patient, with one negative command.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AT-A-L09 · Travel and Transport for Everyday Journeys</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السَّفَرُ وَوَسَائِلُ النَّقْلِ فِي الرِّحْلَاتِ الْيَوْمِيَّةِ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transport words + how you get to school.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AT-A-L08 · Doctor, Pharmacy and Advice</dc:title>
  <dc:subject>PptxGenJS Presentation</dc:subject>
  <dc:creator>Al Madina Online School · Arabic Department</dc:creator>
  <cp:lastModifiedBy>Al Madina Online School · Arabic Department</cp:lastModifiedBy>
  <cp:revision>1</cp:revision>
  <dcterms:created xsi:type="dcterms:W3CDTF">2026-10-11T06:43:44Z</dcterms:created>
  <dcterms:modified xsi:type="dcterms:W3CDTF">2026-10-11T06:43:44Z</dcterms:modified>
</cp:coreProperties>
</file>