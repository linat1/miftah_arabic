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A · AT-A-L04 — Food and Drink — Meals and Preferences. Website: Advanced Topics › Topic A (Everyday Activities) › Lesson 4.
The website builds this lesson on the F5-L01 lesson engine, with the Topic focus “Describe meals, food and drink, express preferences and explain your choices.” (grammar: Idāfa; adjective agreement; plurals; skills: Reading · Speaking) and the application challenge “Food preference survey”.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4 (AT-A-L04), lesson engine Pathways › Foundation › F5 › AT-A-L04. The website lesson “Food and Drinks”: vocabulary, grammar rules and quiz, patterns, common mistakes, sorter, listening, reading, speaking prompts and model, writing task and model, differentiation, final check and the lesson mission. Picture match: website visual game “Food and Drinks”.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Topic A moves from the day (AT-A-L01–L03) to meals. Core: 10 food and drink words + أُحِبُّ / لَا أُحِبُّ + آكُلُ / أَشْرَبُ. Develop: ask a partner (هَلْ تُحِبُّ؟ / هَلْ تُحِبِّينَ؟) and report (هُوَ يُحِبُّ … / هِيَ تُحِبُّ …). Stretch (Topic A grammar): adjective agreement — الخُبْزُ طَازَجٌ، القَهْوَةُ مُرَّةٌ — and collective / one forms (تُفَّاحٌ / تُفَّاحَةٌ).
• The engine is a Foundation lesson, so most of the class can succeed; the Topic challenge (food survey) is where Develop and Stretch move up to B1 reporting.
• Link to AT-A-L03: frequency words come straight back (دَائِمًا آكُلُ … · لَا أَشْرَبُ القَهْوَةَ أَبَدًا).
• Urdu bridge: many food words are shared — چاول is not, but گوشت / لحم, دودھ / حلیب (no), چائے ← شَايٌ, قہوہ ← قَهْوَةٌ, شکر ← سُكَّرٌ, نمک / مِلْحٌ (no), سلاد ← سَلَطَةٌ.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food and drink words prepared at home at the end of AT-A-L03. Questions 3–5 retrieve AT-A-L03 (frequency), AT-A-L01 (routine) and AT-A-L02 (clock time).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Food follows the verb directly — no “to”: I like bread = uḥibbu l-khubza. Drinks take “I drink”, food takes “I 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چائے، قہوہ، شکر and سلاد sound almost the same. لحم is known from Urdu religious vocabulary (لحم حلال); everyday Urdu uses گوشت. CAREFUL: حلیب is not used in Urdu — milk is دودھ.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Staples and proteins (website vocabulary (1 of 2)). Hear → Say → See → Use. Transliteration is printed for Core students (cover it for Develop/Stretch).
Collective nouns: دَجَاجٌ (chicken as food), دَجَاجَةٌ (one chicken). Core just learns the food word; Stretch notes the “one”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Staples and proteins (website vocabulary (2 of 2)). Hear → Say → See → Use. Transliteration is printed for Core students (cover it for Develop/Stretch).
Collective nouns: دَجَاجٌ (chicken as food), دَجَاجَةٌ (one chicken). Core just learns the food word; Stretch notes the “one”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Fruit and vegetables (website vocabulary (1 of 2)). Hear → Say → See → Use. Transliteration is printed for Core students (cover it for Develop/Stretch).
FLEX: teach if time allows; otherwise these are on the website vocabulary tab for homework.
FLEX. Fruit are collective too: تُفَّاحٌ (apples) → تُفَّاحَةٌ (one apple). طَمَاطِمُ and بَطَاطِسُ are plural-looking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Fruit and vegetables (website vocabulary (2 of 2)). Hear → Say → See → Use. Transliteration is printed for Core students (cover it for Develop/Stretch).
FLEX: teach if time allows; otherwise these are on the website vocabulary tab for homework.
FLEX. Fruit are collective too: تُفَّاحٌ (apples) → تُفَّاحَةٌ (one apple). طَمَاطِمُ and بَطَاطِسُ are plural-looking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Drinks and extras (website vocabulary (1 of 2)). Hear → Say → See → Use. Transliteration is printed for Core students (cover it for Develop/Stretch).
Drinks go with أَشْرَبُ. قَهْوَةٌ is feminine (ـةٌ) — its adjective will be feminine too: قَهْوَةٌ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Drinks and extras (website vocabulary (2 of 2)). Hear → Say → See → Use. Transliteration is printed for Core students (cover it for Develop/Stretch).
Drinks go with أَشْرَبُ. قَهْوَةٌ is feminine (ـةٌ) — its adjective will be feminine too: قَهْوَةٌ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Ingredients, snacks and seafood (website vocabulary (1 of 2)). Hear → Say → See → Use. Transliteration is printed for Core students (cover it for Develop/Stretch).
FLEX: teach if time allows; otherwise these are on the website vocabulary tab for homework.
FLEX: ingredients and snacks — they appear in the reading text (the shopping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Ingredients, snacks and seafood (website vocabulary (2 of 2)). Hear → Say → See → Use. Transliteration is printed for Core students (cover it for Develop/Stretch).
FLEX: teach if time allows; otherwise these are on the website vocabulary tab for homework.
FLEX: ingredients and snacks — they appear in the reading text (the shopping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“Say what you like” (أُحِبُّ + food, no preposition) and “Make the opinion negative” (لَا + أُحِبُّ). The he / she / we columns are the Topic A person-prefix skill (AT-A-L01) applied to food verbs — Develop needs them for the survey report.
Website common error: أُحِبُّ إِلَى الخُبْزِ ✗ → أُحِبُّ الخُبْزَ ✓. Note آكُلُ starts with a long ā (آ).
Quick-fire: say a food; students answer with the right verb: خُبْزٌ → آكُلُ الخُبْزَ · مَاءٌ → أَشْرَبُ المَاءَ.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“Ask another person” (تُحِبُّ to a boy, تُحِبِّينَ to a girl) and “Notice noun gender” (الخُبْزُ طَازَجٌ · القَهْوَةُ مُرَّةٌ · السَّلَطَةُ صِحِّيَّةٌ). The Topic A page lists adjective agreement and plurals as this lesson’s grammar — Stretch students use them in the survey report.
Useful adjectives (teacher list, for Stretch): لَذِيذٌ / لَذِيذَةٌ (delicious), صِحِّيٌّ / صِحِّيَّةٌ (healthy), طَازَجٌ / طَازَجَةٌ (fresh), حُلْوٌ / حُلْوَةٌ (sweet), مُرٌّ / مُرَّةٌ (bitter), سَاخِنٌ / سَاخِنَةٌ (hot), بَارِدٌ / بَارِدَةٌ (cold).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lesson-plan grammar focus is the opinion frame أُحِبُّ / لَا أُحِبُّ. Build a complete sentence by placing the food or drink directly after the verb, then notice the gender of the noun so later adjectives can agree accurately.”
• Say what you like: أُحِبُّ means “I like”. The food or drink follows directly; do not add a preposition between the verb and the noun.
• Make the opinion negative: Put لَا immediately before أُحِبُّ. The rest of the sentence stays in the same order.
• Notice noun gender: Many food words are masculine, but some are feminine. Learn the noun with its gender because later description words must agree.
• Ask another person: Use تُحِبُّ for a male listener and تُحِبِّينَ for a female listener.
Website common error: Do not write أُحِبُّ إِلَى الخُبْزِ. أُحِبُّ takes the food or drink directly: أُحِبُّ الخُبْزَ.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website patterns (أُحِبُّ الخُبْزَ وَالجُبْنَ · لَا أُحِبُّ القَهْوَةَ · أَشْرَبُ المَاءَ وَالعَصِيرَ) joined into a profile, with AT-A-L03 frequency added. Think aloud: “food or drink? which verb?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Food and Drinks”)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apple and the salad but هٰذَا for milk? (تُفَّاحَةٌ and سَلَطَةٌ are feminine.) Other cards for homework: هٰذَا خُبْزٌ، هٰذَا أَرُزٌّ، هٰذَا سَمَكٌ.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Food and Drinks”)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apple and the salad but هٰذَا for milk? (تُفَّاحَةٌ and سَلَطَةٌ are feminine.) Other cards for homework: هٰذَا خُبْزٌ، هٰذَا أَرُزٌّ، هٰذَا سَمَكٌ.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Choose the correct category for each item.
Then: say the right verb for each card — آكُلُ or أَشْرَبُ.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Choose the correct category for each item.
Then: say the right verb for each card — آكُلُ or أَشْرَبُ.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اِسْمِي هُدَى. أُحِبُّ الخُبْزَ وَالجُبْنَ وَالتُّفَّاحَ. فِي الوَجْبَةِ الخَفِيفَةِ آكُلُ المُكَسَّرَاتِ أَوِ البِسْكُوِيتَ. لَا أُحِبُّ السَّمَكَ، وَلَا أَشْرَبُ القَهْوَةَ. أَشْرَبُ المَاءَ وَعَصِيرَ البُرْتُقَالِ كُلَّ 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A APPLICATION CHALLENGE (3 min — it takes the speaking-rehearsal slot; the website speaking slide after it is FLEX) — from the website Topic page: “Interview a partner about meals, food and drink. Record preferences and reasons, then report the results with accurate adjective and noun agreement.”
Meal words for the survey (teacher-added, recycled in AT-A-L06): الفُطُورُ / الإِفْطَارُ (breakfast), الغَدَاءُ (lunch), العَشَاءُ (dinner). Core students may report in English plus the Arabic food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A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وَمَاذَا تَشْرَبِينَ؟ (And what do you drink?)
ب: أَشْرَبُ المَاءَ وَالعَصِيرَ. (I drink water and juice.)
Website prompts (order changed so Core starts with a yes/no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Name eight foods and four drinks with picture or English support. · Develop — Ask and answer four preference questions, then report one classmate’s answer. · Stretch — Add collective/singular contrasts such as تُفَّاحٌ / تُفَّاحَةٌ and produce an 8-sentence food profile.
Website writing task (Stretch): Write 5–6 sentences about foods and drinks you like and dislike. Include at least four food words, two drinks, وَ and one negative sentence.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أُحِبُّ الخُبْزَ وَالجُبْنَ · لَا أُحِبُّ السَّمَكَ · آكُلُ الأَرُزَّ / أَشْرَبُ المَاءَ · وَلٰكِنِّي. Stretch: rewrite one sentence with an adjective (الدَّجَاجُ لَذِيذٌ) and one with a “one” form (آكُلُ تُفَّاحَةً).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(AT-A-L05 · Eating Out — Café, Menu and Prices) will spend class time USING this language, so students prepare it tonight — short, simple, easy to access (school guidance: “Simple, Short, Interesting, Relevant, Easy to access”). The five words come from the website AT-A-L05 vocabulary (the AT-A-L05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AT-A-L04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cs typeface="Amiri" pitchFamily="2" charset="-78"/>
              </a:rPr>
              <a:t>Food and Drink — Meals and Preferences</a:t>
            </a:r>
            <a:endParaRPr lang="en-US" sz="2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الطَّعَامُ وَالشَّرَابُ وَالْوَجَبَاتُ وَالتَّفْضِيلَاتُ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meals, food and drink, express preferences and explain your choices.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AT-A-L04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Food and drink words, then I like / I don’t like + I eat / I drink.</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food and drink,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AT-A-L05.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أَرُزٌّ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chicken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عَصِيرٌ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juice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always wake up early.”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 مُبَكِّرًا أَبَدًا.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يَسْتَيْقِظُ مُبَكِّرًا دَائِمًا.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 مُبَكِّرًا دَائِمًا.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أَتَنَاوَلُ الإِفْطَارَ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get dressed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go to school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have breakfast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السَّاعَةُ السَّابِعَةُ وَالنِّصْفُ = ?</a:t>
            </a:r>
            <a:endParaRPr lang="ar-SA"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7:30</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7:15</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6:45</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أَرُزٌّ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bread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chicken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عَصِيرٌ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juice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milk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always wake up early.”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أَسْتَيْقِظُ مُبَكِّرًا أَبَدًا.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يَسْتَيْقِظُ مُبَكِّرًا دَائِمًا.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أَسْتَيْقِظُ مُبَكِّرًا دَائِمًا.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AT-A-L03: frequency.</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أَتَنَاوَلُ الإِفْطَارَ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get dressed</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go to school</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have breakfast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AT-A-L01: routine verbs.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السَّاعَةُ السَّابِعَةُ وَالنِّصْفُ = ?</a:t>
            </a:r>
            <a:endParaRPr lang="ar-SA"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7:30</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7:15</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6:45</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AT-A-L02: clock time.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Food follows the verb directly — no “to”: I like bread = uḥibbu l-khubza. Drinks take “I drink”, food takes “I eat”.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أُحِبُّ</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الخُبْزَ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آكُلُ</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الأَرُزَّ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أَشْرَبُ</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المَاءَ</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pronounce common food and drink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Separate foods from drinks and notice noun gender where it supports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Express a like and a dislike using complete Arabic sentences.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 short food-and-drink description.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10 foods and drinks.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 like and don’t like.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a boy or a girl what they like.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report a partner’s answers (he likes … / she likes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food with an agreeing adjective.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collective and “one” forms (tuffāḥ / tuffāḥa).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40 food and drink words from the website in 4 groups. Today: staples and drinks (CORE). Fruit, vegetables and ingredients are FLEX / homework.</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Staples and proteins · 9</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Fruit and vegetables · 11</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Drinks and extras · 9</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Ingredients, snacks and seafood · 11</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شَايٌ</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‎چائے‎ </a:t>
            </a:r>
            <a:pPr indent="0" marL="0">
              <a:buNone/>
            </a:pPr>
            <a:r>
              <a:rPr lang="en-US" sz="950" b="1" dirty="0">
                <a:solidFill>
                  <a:srgbClr val="2E8B57"/>
                </a:solidFill>
                <a:latin typeface="Calibri" pitchFamily="34" charset="0"/>
                <a:cs typeface="Amiri" pitchFamily="2" charset="-78"/>
              </a:rPr>
              <a:t> shāy · tea</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قَهْوَةٌ</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‎قہوہ‎ </a:t>
            </a:r>
            <a:pPr indent="0" marL="0">
              <a:buNone/>
            </a:pPr>
            <a:r>
              <a:rPr lang="en-US" sz="950" b="1" dirty="0">
                <a:solidFill>
                  <a:srgbClr val="2E8B57"/>
                </a:solidFill>
                <a:latin typeface="Calibri" pitchFamily="34" charset="0"/>
                <a:cs typeface="Amiri" pitchFamily="2" charset="-78"/>
              </a:rPr>
              <a:t> qahwa · coffee</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سُكَّرٌ</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‎شکر‎ </a:t>
            </a:r>
            <a:pPr indent="0" marL="0">
              <a:buNone/>
            </a:pPr>
            <a:r>
              <a:rPr lang="en-US" sz="950" b="1" dirty="0">
                <a:solidFill>
                  <a:srgbClr val="2E8B57"/>
                </a:solidFill>
                <a:latin typeface="Calibri" pitchFamily="34" charset="0"/>
                <a:cs typeface="Amiri" pitchFamily="2" charset="-78"/>
              </a:rPr>
              <a:t> sukkar · sugar</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سَلَطَةٌ</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‎سلاد‎ </a:t>
            </a:r>
            <a:pPr indent="0" marL="0">
              <a:buNone/>
            </a:pPr>
            <a:r>
              <a:rPr lang="en-US" sz="950" b="1" dirty="0">
                <a:solidFill>
                  <a:srgbClr val="2E8B57"/>
                </a:solidFill>
                <a:latin typeface="Calibri" pitchFamily="34" charset="0"/>
                <a:cs typeface="Amiri" pitchFamily="2" charset="-78"/>
              </a:rPr>
              <a:t> salaṭa · salad</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لَحْمٌ</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‎لحم (گوشت)‎ </a:t>
            </a:r>
            <a:pPr indent="0" marL="0">
              <a:buNone/>
            </a:pPr>
            <a:r>
              <a:rPr lang="en-US" sz="950" b="1" dirty="0">
                <a:solidFill>
                  <a:srgbClr val="2E8B57"/>
                </a:solidFill>
                <a:latin typeface="Calibri" pitchFamily="34" charset="0"/>
                <a:cs typeface="Amiri" pitchFamily="2" charset="-78"/>
              </a:rPr>
              <a:t> laḥm · meat</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Staples and proteins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خُبْزٌ</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bread</a:t>
            </a:r>
            <a:endParaRPr lang="en-US" sz="1350" dirty="0"/>
          </a:p>
          <a:p>
            <a:pPr indent="0" marL="0">
              <a:buNone/>
            </a:pPr>
            <a:r>
              <a:rPr lang="en-US" sz="1100" i="1" dirty="0">
                <a:solidFill>
                  <a:srgbClr val="5A6472"/>
                </a:solidFill>
                <a:latin typeface="Calibri" pitchFamily="34" charset="0"/>
                <a:cs typeface="Amiri" pitchFamily="2" charset="-78"/>
              </a:rPr>
              <a:t>khub-zun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أَخْبَازٌ</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 loaf</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رَغِيفٌ</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أَرُزٌّ</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rice</a:t>
            </a:r>
            <a:endParaRPr lang="en-US" sz="1350" dirty="0"/>
          </a:p>
          <a:p>
            <a:pPr indent="0" marL="0">
              <a:buNone/>
            </a:pPr>
            <a:r>
              <a:rPr lang="en-US" sz="1100" i="1" dirty="0">
                <a:solidFill>
                  <a:srgbClr val="5A6472"/>
                </a:solidFill>
                <a:latin typeface="Calibri" pitchFamily="34" charset="0"/>
                <a:cs typeface="Amiri" pitchFamily="2" charset="-78"/>
              </a:rPr>
              <a:t>a-ruz-zun</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مَعْكَرُونَةٌ</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pasta</a:t>
            </a:r>
            <a:endParaRPr lang="en-US" sz="1350" dirty="0"/>
          </a:p>
          <a:p>
            <a:pPr indent="0" marL="0">
              <a:buNone/>
            </a:pPr>
            <a:r>
              <a:rPr lang="en-US" sz="1100" i="1" dirty="0">
                <a:solidFill>
                  <a:srgbClr val="5A6472"/>
                </a:solidFill>
                <a:latin typeface="Calibri" pitchFamily="34" charset="0"/>
                <a:cs typeface="Amiri" pitchFamily="2" charset="-78"/>
              </a:rPr>
              <a:t>maʿ-ka-rū-na-tun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5" name="Shape 42"/>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coll. · one · pl</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بَيْضٌ</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eggs</a:t>
            </a:r>
            <a:endParaRPr lang="en-US" sz="1350" dirty="0"/>
          </a:p>
          <a:p>
            <a:pPr indent="0" marL="0">
              <a:buNone/>
            </a:pPr>
            <a:r>
              <a:rPr lang="en-US" sz="1100" i="1" dirty="0">
                <a:solidFill>
                  <a:srgbClr val="5A6472"/>
                </a:solidFill>
                <a:latin typeface="Calibri" pitchFamily="34" charset="0"/>
                <a:cs typeface="Amiri" pitchFamily="2" charset="-78"/>
              </a:rPr>
              <a:t>bay-ḍun</a:t>
            </a:r>
            <a:endParaRPr lang="en-US" sz="1350" dirty="0"/>
          </a:p>
        </p:txBody>
      </p:sp>
      <p:sp>
        <p:nvSpPr>
          <p:cNvPr id="51" name="Shape 4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بَيْضَاتٌ</a:t>
            </a:r>
            <a:endParaRPr lang="ar-SA" sz="1500" dirty="0"/>
          </a:p>
        </p:txBody>
      </p:sp>
      <p:sp>
        <p:nvSpPr>
          <p:cNvPr id="54" name="Shape 5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6" name="Text 5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بَيْضَةٌ</a:t>
            </a:r>
            <a:endParaRPr lang="ar-SA" sz="1500" dirty="0"/>
          </a:p>
        </p:txBody>
      </p:sp>
      <p:sp>
        <p:nvSpPr>
          <p:cNvPr id="57" name="Shape 5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4389120"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0" name="Text 5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جُبْنٌ</a:t>
            </a:r>
            <a:endParaRPr lang="ar-SA" sz="3000" dirty="0"/>
          </a:p>
        </p:txBody>
      </p:sp>
      <p:sp>
        <p:nvSpPr>
          <p:cNvPr id="61" name="Text 5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cheese</a:t>
            </a:r>
            <a:endParaRPr lang="en-US" sz="1350" dirty="0"/>
          </a:p>
          <a:p>
            <a:pPr indent="0" marL="0">
              <a:buNone/>
            </a:pPr>
            <a:r>
              <a:rPr lang="en-US" sz="1100" i="1" dirty="0">
                <a:solidFill>
                  <a:srgbClr val="5A6472"/>
                </a:solidFill>
                <a:latin typeface="Calibri" pitchFamily="34" charset="0"/>
                <a:cs typeface="Amiri" pitchFamily="2" charset="-78"/>
              </a:rPr>
              <a:t>jub-nun</a:t>
            </a:r>
            <a:endParaRPr lang="en-US" sz="13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Staples and proteins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لَحْمٌ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meat</a:t>
            </a:r>
            <a:endParaRPr lang="en-US" sz="1350" dirty="0"/>
          </a:p>
          <a:p>
            <a:pPr indent="0" marL="0">
              <a:buNone/>
            </a:pPr>
            <a:r>
              <a:rPr lang="en-US" sz="1100" i="1" dirty="0">
                <a:solidFill>
                  <a:srgbClr val="5A6472"/>
                </a:solidFill>
                <a:latin typeface="Calibri" pitchFamily="34" charset="0"/>
                <a:cs typeface="Amiri" pitchFamily="2" charset="-78"/>
              </a:rPr>
              <a:t>laḥ-mun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4782312" y="1938528"/>
            <a:ext cx="1269187"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coll. · one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دَجَاجٌ</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chicken</a:t>
            </a:r>
            <a:endParaRPr lang="en-US" sz="1350" dirty="0"/>
          </a:p>
          <a:p>
            <a:pPr indent="0" marL="0">
              <a:buNone/>
            </a:pPr>
            <a:r>
              <a:rPr lang="en-US" sz="1100" i="1" dirty="0">
                <a:solidFill>
                  <a:srgbClr val="5A6472"/>
                </a:solidFill>
                <a:latin typeface="Calibri" pitchFamily="34" charset="0"/>
                <a:cs typeface="Amiri" pitchFamily="2" charset="-78"/>
              </a:rPr>
              <a:t>da-jā-jun</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دَجَاجَاتٌ</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6" name="Text 3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دَجَاجَةٌ</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0" name="Shape 37"/>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coll. · one · pl</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سَمَكٌ</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fish</a:t>
            </a:r>
            <a:endParaRPr lang="en-US" sz="1350" dirty="0"/>
          </a:p>
          <a:p>
            <a:pPr indent="0" marL="0">
              <a:buNone/>
            </a:pPr>
            <a:r>
              <a:rPr lang="en-US" sz="1100" i="1" dirty="0">
                <a:solidFill>
                  <a:srgbClr val="5A6472"/>
                </a:solidFill>
                <a:latin typeface="Calibri" pitchFamily="34" charset="0"/>
                <a:cs typeface="Amiri" pitchFamily="2" charset="-78"/>
              </a:rPr>
              <a:t>sa-ma-kun</a:t>
            </a:r>
            <a:endParaRPr lang="en-US" sz="1350" dirty="0"/>
          </a:p>
        </p:txBody>
      </p:sp>
      <p:sp>
        <p:nvSpPr>
          <p:cNvPr id="46" name="Shape 4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أَسْمَاكٌ</a:t>
            </a:r>
            <a:endParaRPr lang="ar-SA" sz="1500" dirty="0"/>
          </a:p>
        </p:txBody>
      </p:sp>
      <p:sp>
        <p:nvSpPr>
          <p:cNvPr id="49" name="Shape 4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1" name="Text 4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سَمَكَةٌ</a:t>
            </a:r>
            <a:endParaRPr lang="ar-SA" sz="150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5" name="Text 5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فَاصُولِيَاءُ</a:t>
            </a:r>
            <a:endParaRPr lang="ar-SA" sz="3000" dirty="0"/>
          </a:p>
        </p:txBody>
      </p:sp>
      <p:sp>
        <p:nvSpPr>
          <p:cNvPr id="56" name="Text 5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beans</a:t>
            </a:r>
            <a:endParaRPr lang="en-US" sz="1350" dirty="0"/>
          </a:p>
          <a:p>
            <a:pPr indent="0" marL="0">
              <a:buNone/>
            </a:pPr>
            <a:r>
              <a:rPr lang="en-US" sz="1100" i="1" dirty="0">
                <a:solidFill>
                  <a:srgbClr val="5A6472"/>
                </a:solidFill>
                <a:latin typeface="Calibri" pitchFamily="34" charset="0"/>
                <a:cs typeface="Amiri" pitchFamily="2" charset="-78"/>
              </a:rPr>
              <a:t>fā-ṣū-li-yā-ʾu</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Fruit and vegetables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0" name="Shape 17"/>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coll. · one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تُفَّاحٌ</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apples</a:t>
            </a:r>
            <a:endParaRPr lang="en-US" sz="1350" dirty="0"/>
          </a:p>
          <a:p>
            <a:pPr indent="0" marL="0">
              <a:buNone/>
            </a:pPr>
            <a:r>
              <a:rPr lang="en-US" sz="1100" i="1" dirty="0">
                <a:solidFill>
                  <a:srgbClr val="5A6472"/>
                </a:solidFill>
                <a:latin typeface="Calibri" pitchFamily="34" charset="0"/>
                <a:cs typeface="Amiri" pitchFamily="2" charset="-78"/>
              </a:rPr>
              <a:t>tuf-fā-ḥun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تُفَّاحَاتٌ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تُفَّاحَةٌ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3" name="Shape 30"/>
          <p:cNvSpPr/>
          <p:nvPr/>
        </p:nvSpPr>
        <p:spPr>
          <a:xfrm>
            <a:off x="4782312" y="1938528"/>
            <a:ext cx="1269187"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coll. · one · pl</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مَوْزٌ</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bananas</a:t>
            </a:r>
            <a:endParaRPr lang="en-US" sz="1350" dirty="0"/>
          </a:p>
          <a:p>
            <a:pPr indent="0" marL="0">
              <a:buNone/>
            </a:pPr>
            <a:r>
              <a:rPr lang="en-US" sz="1100" i="1" dirty="0">
                <a:solidFill>
                  <a:srgbClr val="5A6472"/>
                </a:solidFill>
                <a:latin typeface="Calibri" pitchFamily="34" charset="0"/>
                <a:cs typeface="Amiri" pitchFamily="2" charset="-78"/>
              </a:rPr>
              <a:t>maw-zun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مَوْزَاتٌ</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مَوْزَةٌ</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6" name="Shape 43"/>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coll. · one · pl</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بُرْتُقَالٌ</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oranges</a:t>
            </a:r>
            <a:endParaRPr lang="en-US" sz="1350" dirty="0"/>
          </a:p>
          <a:p>
            <a:pPr indent="0" marL="0">
              <a:buNone/>
            </a:pPr>
            <a:r>
              <a:rPr lang="en-US" sz="1100" i="1" dirty="0">
                <a:solidFill>
                  <a:srgbClr val="5A6472"/>
                </a:solidFill>
                <a:latin typeface="Calibri" pitchFamily="34" charset="0"/>
                <a:cs typeface="Amiri" pitchFamily="2" charset="-78"/>
              </a:rPr>
              <a:t>bur-tu-qā-lun</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بُرْتُقَالَاتٌ</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بُرْتُقَالَةٌ</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9" name="Shape 56"/>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coll. · one · pl</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عِنَبٌ</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grapes</a:t>
            </a:r>
            <a:endParaRPr lang="en-US" sz="1350" dirty="0"/>
          </a:p>
          <a:p>
            <a:pPr indent="0" marL="0">
              <a:buNone/>
            </a:pPr>
            <a:r>
              <a:rPr lang="en-US" sz="1100" i="1" dirty="0">
                <a:solidFill>
                  <a:srgbClr val="5A6472"/>
                </a:solidFill>
                <a:latin typeface="Calibri" pitchFamily="34" charset="0"/>
                <a:cs typeface="Amiri" pitchFamily="2" charset="-78"/>
              </a:rPr>
              <a:t>ʿi-na-bun</a:t>
            </a:r>
            <a:endParaRPr lang="en-US" sz="1350" dirty="0"/>
          </a:p>
        </p:txBody>
      </p:sp>
      <p:sp>
        <p:nvSpPr>
          <p:cNvPr id="63" name="Shape 6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5" name="Text 6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أَعْنَابٌ</a:t>
            </a:r>
            <a:endParaRPr lang="ar-SA" sz="1500" dirty="0"/>
          </a:p>
        </p:txBody>
      </p:sp>
      <p:sp>
        <p:nvSpPr>
          <p:cNvPr id="66" name="Shape 6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68" name="Text 6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عِنَبَةٌ</a:t>
            </a:r>
            <a:endParaRPr lang="ar-SA" sz="15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72" name="Text 6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فَرَاوِلَةٌ</a:t>
            </a:r>
            <a:endParaRPr lang="ar-SA" sz="3000" dirty="0"/>
          </a:p>
        </p:txBody>
      </p:sp>
      <p:sp>
        <p:nvSpPr>
          <p:cNvPr id="73" name="Text 7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strawberries</a:t>
            </a:r>
            <a:endParaRPr lang="en-US" sz="1350" dirty="0"/>
          </a:p>
          <a:p>
            <a:pPr indent="0" marL="0">
              <a:buNone/>
            </a:pPr>
            <a:r>
              <a:rPr lang="en-US" sz="1100" i="1" dirty="0">
                <a:solidFill>
                  <a:srgbClr val="5A6472"/>
                </a:solidFill>
                <a:latin typeface="Calibri" pitchFamily="34" charset="0"/>
                <a:cs typeface="Amiri" pitchFamily="2" charset="-78"/>
              </a:rPr>
              <a:t>fa-rā-wi-la-tun</a:t>
            </a:r>
            <a:endParaRPr lang="en-US" sz="1350" dirty="0"/>
          </a:p>
        </p:txBody>
      </p:sp>
      <p:sp>
        <p:nvSpPr>
          <p:cNvPr id="74" name="Shape 7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566928"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77" name="Shape 74"/>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78" name="Text 75"/>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coll. · one · pl</a:t>
            </a:r>
            <a:endParaRPr lang="en-US" sz="800" dirty="0"/>
          </a:p>
        </p:txBody>
      </p:sp>
      <p:sp>
        <p:nvSpPr>
          <p:cNvPr id="79" name="Text 7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تَمْرٌ</a:t>
            </a:r>
            <a:endParaRPr lang="ar-SA" sz="3000" dirty="0"/>
          </a:p>
        </p:txBody>
      </p:sp>
      <p:sp>
        <p:nvSpPr>
          <p:cNvPr id="80" name="Text 7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dates</a:t>
            </a:r>
            <a:endParaRPr lang="en-US" sz="1350" dirty="0"/>
          </a:p>
          <a:p>
            <a:pPr indent="0" marL="0">
              <a:buNone/>
            </a:pPr>
            <a:r>
              <a:rPr lang="en-US" sz="1100" i="1" dirty="0">
                <a:solidFill>
                  <a:srgbClr val="5A6472"/>
                </a:solidFill>
                <a:latin typeface="Calibri" pitchFamily="34" charset="0"/>
                <a:cs typeface="Amiri" pitchFamily="2" charset="-78"/>
              </a:rPr>
              <a:t>tam-run</a:t>
            </a:r>
            <a:endParaRPr lang="en-US" sz="1350" dirty="0"/>
          </a:p>
        </p:txBody>
      </p:sp>
      <p:sp>
        <p:nvSpPr>
          <p:cNvPr id="81" name="Shape 78"/>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3" name="Text 80"/>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تُمُورٌ</a:t>
            </a:r>
            <a:endParaRPr lang="ar-SA" sz="1500" dirty="0"/>
          </a:p>
        </p:txBody>
      </p:sp>
      <p:sp>
        <p:nvSpPr>
          <p:cNvPr id="84" name="Shape 81"/>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86" name="Text 83"/>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تَمْرَةٌ</a:t>
            </a:r>
            <a:endParaRPr lang="ar-SA" sz="15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Fruit and vegetables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طَمَاطِمُ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tomatoes</a:t>
            </a:r>
            <a:endParaRPr lang="en-US" sz="1350" dirty="0"/>
          </a:p>
          <a:p>
            <a:pPr indent="0" marL="0">
              <a:buNone/>
            </a:pPr>
            <a:r>
              <a:rPr lang="en-US" sz="1100" i="1" dirty="0">
                <a:solidFill>
                  <a:srgbClr val="5A6472"/>
                </a:solidFill>
                <a:latin typeface="Calibri" pitchFamily="34" charset="0"/>
                <a:cs typeface="Amiri" pitchFamily="2" charset="-78"/>
              </a:rPr>
              <a:t>ṭa-mā-ṭi-mu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خِيَارٌ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cucumber</a:t>
            </a:r>
            <a:endParaRPr lang="en-US" sz="1350" dirty="0"/>
          </a:p>
          <a:p>
            <a:pPr indent="0" marL="0">
              <a:buNone/>
            </a:pPr>
            <a:r>
              <a:rPr lang="en-US" sz="1100" i="1" dirty="0">
                <a:solidFill>
                  <a:srgbClr val="5A6472"/>
                </a:solidFill>
                <a:latin typeface="Calibri" pitchFamily="34" charset="0"/>
                <a:cs typeface="Amiri" pitchFamily="2" charset="-78"/>
              </a:rPr>
              <a:t>khi-yā-run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جَزَرٌ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carrots</a:t>
            </a:r>
            <a:endParaRPr lang="en-US" sz="1350" dirty="0"/>
          </a:p>
          <a:p>
            <a:pPr indent="0" marL="0">
              <a:buNone/>
            </a:pPr>
            <a:r>
              <a:rPr lang="en-US" sz="1100" i="1" dirty="0">
                <a:solidFill>
                  <a:srgbClr val="5A6472"/>
                </a:solidFill>
                <a:latin typeface="Calibri" pitchFamily="34" charset="0"/>
                <a:cs typeface="Amiri" pitchFamily="2" charset="-78"/>
              </a:rPr>
              <a:t>ja-za-run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بَطَاطِسُ</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potatoes</a:t>
            </a:r>
            <a:endParaRPr lang="en-US" sz="1350" dirty="0"/>
          </a:p>
          <a:p>
            <a:pPr indent="0" marL="0">
              <a:buNone/>
            </a:pPr>
            <a:r>
              <a:rPr lang="en-US" sz="1100" i="1" dirty="0">
                <a:solidFill>
                  <a:srgbClr val="5A6472"/>
                </a:solidFill>
                <a:latin typeface="Calibri" pitchFamily="34" charset="0"/>
                <a:cs typeface="Amiri" pitchFamily="2" charset="-78"/>
              </a:rPr>
              <a:t>ba-ṭā-ṭi-su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سَلَطَةٌ</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salad</a:t>
            </a:r>
            <a:endParaRPr lang="en-US" sz="1350" dirty="0"/>
          </a:p>
          <a:p>
            <a:pPr indent="0" marL="0">
              <a:buNone/>
            </a:pPr>
            <a:r>
              <a:rPr lang="en-US" sz="1100" i="1" dirty="0">
                <a:solidFill>
                  <a:srgbClr val="5A6472"/>
                </a:solidFill>
                <a:latin typeface="Calibri" pitchFamily="34" charset="0"/>
                <a:cs typeface="Amiri" pitchFamily="2" charset="-78"/>
              </a:rPr>
              <a:t>sa-la-ṭa-tun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Drinks and extras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مَاءٌ</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a:t>
            </a:r>
            <a:endParaRPr lang="en-US" sz="1350" dirty="0"/>
          </a:p>
          <a:p>
            <a:pPr indent="0" marL="0">
              <a:buNone/>
            </a:pPr>
            <a:r>
              <a:rPr lang="en-US" sz="1100" i="1" dirty="0">
                <a:solidFill>
                  <a:srgbClr val="5A6472"/>
                </a:solidFill>
                <a:latin typeface="Calibri" pitchFamily="34" charset="0"/>
                <a:cs typeface="Amiri" pitchFamily="2" charset="-78"/>
              </a:rPr>
              <a:t>mā-ʾun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مِيَاهٌ</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مَاءٌ</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حَلِيبٌ</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milk</a:t>
            </a:r>
            <a:endParaRPr lang="en-US" sz="1350" dirty="0"/>
          </a:p>
          <a:p>
            <a:pPr indent="0" marL="0">
              <a:buNone/>
            </a:pPr>
            <a:r>
              <a:rPr lang="en-US" sz="1100" i="1" dirty="0">
                <a:solidFill>
                  <a:srgbClr val="5A6472"/>
                </a:solidFill>
                <a:latin typeface="Calibri" pitchFamily="34" charset="0"/>
                <a:cs typeface="Amiri" pitchFamily="2" charset="-78"/>
              </a:rPr>
              <a:t>ḥa-lī-bun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 (m.)</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بَارِدٌ</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حَلِيبٌ</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عَصِيرٌ</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juice</a:t>
            </a:r>
            <a:endParaRPr lang="en-US" sz="1350" dirty="0"/>
          </a:p>
          <a:p>
            <a:pPr indent="0" marL="0">
              <a:buNone/>
            </a:pPr>
            <a:r>
              <a:rPr lang="en-US" sz="1100" i="1" dirty="0">
                <a:solidFill>
                  <a:srgbClr val="5A6472"/>
                </a:solidFill>
                <a:latin typeface="Calibri" pitchFamily="34" charset="0"/>
                <a:cs typeface="Amiri" pitchFamily="2" charset="-78"/>
              </a:rPr>
              <a:t>ʿa-ṣī-run</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عَصَائِرُ</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عَصِيرٌ</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شَايٌ</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a:t>
            </a:r>
            <a:endParaRPr lang="en-US" sz="1350" dirty="0"/>
          </a:p>
          <a:p>
            <a:pPr indent="0" marL="0">
              <a:buNone/>
            </a:pPr>
            <a:r>
              <a:rPr lang="en-US" sz="1100" i="1" dirty="0">
                <a:solidFill>
                  <a:srgbClr val="5A6472"/>
                </a:solidFill>
                <a:latin typeface="Calibri" pitchFamily="34" charset="0"/>
                <a:cs typeface="Amiri" pitchFamily="2" charset="-78"/>
              </a:rPr>
              <a:t>shā-yun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 (m.)</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سَاخِنٌ</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شَايٌ</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قَهْوَةٌ</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coffee</a:t>
            </a:r>
            <a:endParaRPr lang="en-US" sz="1350" dirty="0"/>
          </a:p>
          <a:p>
            <a:pPr indent="0" marL="0">
              <a:buNone/>
            </a:pPr>
            <a:r>
              <a:rPr lang="en-US" sz="1100" i="1" dirty="0">
                <a:solidFill>
                  <a:srgbClr val="5A6472"/>
                </a:solidFill>
                <a:latin typeface="Calibri" pitchFamily="34" charset="0"/>
                <a:cs typeface="Amiri" pitchFamily="2" charset="-78"/>
              </a:rPr>
              <a:t>qah-wa-tun</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 (f.)</a:t>
            </a:r>
            <a:endParaRPr lang="en-US" sz="700" dirty="0"/>
          </a:p>
        </p:txBody>
      </p:sp>
      <p:sp>
        <p:nvSpPr>
          <p:cNvPr id="86" name="Text 83"/>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مُرَّةٌ</a:t>
            </a:r>
            <a:endParaRPr lang="ar-SA" sz="135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قَهْوَةٌ</a:t>
            </a:r>
            <a:endParaRPr lang="ar-SA" sz="150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Drinks and extras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عَصِيرُ اللَّيْمُونِ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lemon juice</a:t>
            </a:r>
            <a:endParaRPr lang="en-US" sz="1350" dirty="0"/>
          </a:p>
          <a:p>
            <a:pPr indent="0" marL="0">
              <a:buNone/>
            </a:pPr>
            <a:r>
              <a:rPr lang="en-US" sz="1100" i="1" dirty="0">
                <a:solidFill>
                  <a:srgbClr val="5A6472"/>
                </a:solidFill>
                <a:latin typeface="Calibri" pitchFamily="34" charset="0"/>
                <a:cs typeface="Amiri" pitchFamily="2" charset="-78"/>
              </a:rPr>
              <a:t>ʿa-ṣī-ru all-lay-mū-ni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3" name="Shape 2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5" name="Text 2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حَسَاءٌ</a:t>
            </a:r>
            <a:endParaRPr lang="ar-SA" sz="3000" dirty="0"/>
          </a:p>
        </p:txBody>
      </p:sp>
      <p:sp>
        <p:nvSpPr>
          <p:cNvPr id="26" name="Text 2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soup</a:t>
            </a:r>
            <a:endParaRPr lang="en-US" sz="1350" dirty="0"/>
          </a:p>
          <a:p>
            <a:pPr indent="0" marL="0">
              <a:buNone/>
            </a:pPr>
            <a:r>
              <a:rPr lang="en-US" sz="1100" i="1" dirty="0">
                <a:solidFill>
                  <a:srgbClr val="5A6472"/>
                </a:solidFill>
                <a:latin typeface="Calibri" pitchFamily="34" charset="0"/>
                <a:cs typeface="Amiri" pitchFamily="2" charset="-78"/>
              </a:rPr>
              <a:t>ḥa-sā-ʾun</a:t>
            </a:r>
            <a:endParaRPr lang="en-US" sz="1350" dirty="0"/>
          </a:p>
        </p:txBody>
      </p:sp>
      <p:sp>
        <p:nvSpPr>
          <p:cNvPr id="27" name="Shape 2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 (m.)</a:t>
            </a:r>
            <a:endParaRPr lang="en-US" sz="700" dirty="0"/>
          </a:p>
        </p:txBody>
      </p:sp>
      <p:sp>
        <p:nvSpPr>
          <p:cNvPr id="29" name="Text 26"/>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سَاخِنٌ</a:t>
            </a:r>
            <a:endParaRPr lang="ar-SA" sz="1350" dirty="0"/>
          </a:p>
        </p:txBody>
      </p:sp>
      <p:sp>
        <p:nvSpPr>
          <p:cNvPr id="30" name="Shape 2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حَسَاءٌ</a:t>
            </a:r>
            <a:endParaRPr lang="ar-SA" sz="15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زَبَادِي</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yoghurt</a:t>
            </a:r>
            <a:endParaRPr lang="en-US" sz="1350" dirty="0"/>
          </a:p>
          <a:p>
            <a:pPr indent="0" marL="0">
              <a:buNone/>
            </a:pPr>
            <a:r>
              <a:rPr lang="en-US" sz="1100" i="1" dirty="0">
                <a:solidFill>
                  <a:srgbClr val="5A6472"/>
                </a:solidFill>
                <a:latin typeface="Calibri" pitchFamily="34" charset="0"/>
                <a:cs typeface="Amiri" pitchFamily="2" charset="-78"/>
              </a:rPr>
              <a:t>za-bā-dī</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شُوكُولَاتَةٌ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chocolate</a:t>
            </a:r>
            <a:endParaRPr lang="en-US" sz="1350" dirty="0"/>
          </a:p>
          <a:p>
            <a:pPr indent="0" marL="0">
              <a:buNone/>
            </a:pPr>
            <a:r>
              <a:rPr lang="en-US" sz="1100" i="1" dirty="0">
                <a:solidFill>
                  <a:srgbClr val="5A6472"/>
                </a:solidFill>
                <a:latin typeface="Calibri" pitchFamily="34" charset="0"/>
                <a:cs typeface="Amiri" pitchFamily="2" charset="-78"/>
              </a:rPr>
              <a:t>shū-kū-lā-ta-tun</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Ingredients, snacks and seafood (1 of 2)</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زَيْتٌ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oil</a:t>
            </a:r>
            <a:endParaRPr lang="en-US" sz="1350" dirty="0"/>
          </a:p>
          <a:p>
            <a:pPr indent="0" marL="0">
              <a:buNone/>
            </a:pPr>
            <a:r>
              <a:rPr lang="en-US" sz="1100" i="1" dirty="0">
                <a:solidFill>
                  <a:srgbClr val="5A6472"/>
                </a:solidFill>
                <a:latin typeface="Calibri" pitchFamily="34" charset="0"/>
                <a:cs typeface="Amiri" pitchFamily="2" charset="-78"/>
              </a:rPr>
              <a:t>zay-tun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مِلْحٌ</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salt</a:t>
            </a:r>
            <a:endParaRPr lang="en-US" sz="1350" dirty="0"/>
          </a:p>
          <a:p>
            <a:pPr indent="0" marL="0">
              <a:buNone/>
            </a:pPr>
            <a:r>
              <a:rPr lang="en-US" sz="1100" i="1" dirty="0">
                <a:solidFill>
                  <a:srgbClr val="5A6472"/>
                </a:solidFill>
                <a:latin typeface="Calibri" pitchFamily="34" charset="0"/>
                <a:cs typeface="Amiri" pitchFamily="2" charset="-78"/>
              </a:rPr>
              <a:t>mil-ḥun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سُكَّرٌ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sugar</a:t>
            </a:r>
            <a:endParaRPr lang="en-US" sz="1350" dirty="0"/>
          </a:p>
          <a:p>
            <a:pPr indent="0" marL="0">
              <a:buNone/>
            </a:pPr>
            <a:r>
              <a:rPr lang="en-US" sz="1100" i="1" dirty="0">
                <a:solidFill>
                  <a:srgbClr val="5A6472"/>
                </a:solidFill>
                <a:latin typeface="Calibri" pitchFamily="34" charset="0"/>
                <a:cs typeface="Amiri" pitchFamily="2" charset="-78"/>
              </a:rPr>
              <a:t>suk-ka-run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بَصَلٌ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onions</a:t>
            </a:r>
            <a:endParaRPr lang="en-US" sz="1350" dirty="0"/>
          </a:p>
          <a:p>
            <a:pPr indent="0" marL="0">
              <a:buNone/>
            </a:pPr>
            <a:r>
              <a:rPr lang="en-US" sz="1100" i="1" dirty="0">
                <a:solidFill>
                  <a:srgbClr val="5A6472"/>
                </a:solidFill>
                <a:latin typeface="Calibri" pitchFamily="34" charset="0"/>
                <a:cs typeface="Amiri" pitchFamily="2" charset="-78"/>
              </a:rPr>
              <a:t>ba-ṣa-lun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خَسٌّ</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lettuce</a:t>
            </a:r>
            <a:endParaRPr lang="en-US" sz="1350" dirty="0"/>
          </a:p>
          <a:p>
            <a:pPr indent="0" marL="0">
              <a:buNone/>
            </a:pPr>
            <a:r>
              <a:rPr lang="en-US" sz="1100" i="1" dirty="0">
                <a:solidFill>
                  <a:srgbClr val="5A6472"/>
                </a:solidFill>
                <a:latin typeface="Calibri" pitchFamily="34" charset="0"/>
                <a:cs typeface="Amiri" pitchFamily="2" charset="-78"/>
              </a:rPr>
              <a:t>khas-sun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فَاكِهَةٌ / فَوَاكِهُ</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fruit / fruits</a:t>
            </a:r>
            <a:endParaRPr lang="en-US" sz="1350" dirty="0"/>
          </a:p>
          <a:p>
            <a:pPr indent="0" marL="0">
              <a:buNone/>
            </a:pPr>
            <a:r>
              <a:rPr lang="en-US" sz="1100" i="1" dirty="0">
                <a:solidFill>
                  <a:srgbClr val="5A6472"/>
                </a:solidFill>
                <a:latin typeface="Calibri" pitchFamily="34" charset="0"/>
                <a:cs typeface="Amiri" pitchFamily="2" charset="-78"/>
              </a:rPr>
              <a:t>fā-ki-ha-tun / fa-wā-ki-hu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Ingredients, snacks and seafood (2 of 2)</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خَضْرَوَاتٌ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vegetables</a:t>
            </a:r>
            <a:endParaRPr lang="en-US" sz="1350" dirty="0"/>
          </a:p>
          <a:p>
            <a:pPr indent="0" marL="0">
              <a:buNone/>
            </a:pPr>
            <a:r>
              <a:rPr lang="en-US" sz="1100" i="1" dirty="0">
                <a:solidFill>
                  <a:srgbClr val="5A6472"/>
                </a:solidFill>
                <a:latin typeface="Calibri" pitchFamily="34" charset="0"/>
                <a:cs typeface="Amiri" pitchFamily="2" charset="-78"/>
              </a:rPr>
              <a:t>khaḍ-ra-wā-tun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رُوبِيَانٌ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prawns / shrimp</a:t>
            </a:r>
            <a:endParaRPr lang="en-US" sz="1350" dirty="0"/>
          </a:p>
          <a:p>
            <a:pPr indent="0" marL="0">
              <a:buNone/>
            </a:pPr>
            <a:r>
              <a:rPr lang="en-US" sz="1100" i="1" dirty="0">
                <a:solidFill>
                  <a:srgbClr val="5A6472"/>
                </a:solidFill>
                <a:latin typeface="Calibri" pitchFamily="34" charset="0"/>
                <a:cs typeface="Amiri" pitchFamily="2" charset="-78"/>
              </a:rPr>
              <a:t>rū-bi-yā-nun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مَأْكُولَاتٌ بَحْرِيَّةٌ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seafood</a:t>
            </a:r>
            <a:endParaRPr lang="en-US" sz="1350" dirty="0"/>
          </a:p>
          <a:p>
            <a:pPr indent="0" marL="0">
              <a:buNone/>
            </a:pPr>
            <a:r>
              <a:rPr lang="en-US" sz="1100" i="1" dirty="0">
                <a:solidFill>
                  <a:srgbClr val="5A6472"/>
                </a:solidFill>
                <a:latin typeface="Calibri" pitchFamily="34" charset="0"/>
                <a:cs typeface="Amiri" pitchFamily="2" charset="-78"/>
              </a:rPr>
              <a:t>maʾ-kū-lā-tun baḥ-riy-ya-tun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مُكَسَّرَاتٌ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nuts</a:t>
            </a:r>
            <a:endParaRPr lang="en-US" sz="1350" dirty="0"/>
          </a:p>
          <a:p>
            <a:pPr indent="0" marL="0">
              <a:buNone/>
            </a:pPr>
            <a:r>
              <a:rPr lang="en-US" sz="1100" i="1" dirty="0">
                <a:solidFill>
                  <a:srgbClr val="5A6472"/>
                </a:solidFill>
                <a:latin typeface="Calibri" pitchFamily="34" charset="0"/>
                <a:cs typeface="Amiri" pitchFamily="2" charset="-78"/>
              </a:rPr>
              <a:t>mu-kas-sa-rā-tun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بِسْكُوِيتٌ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biscuits</a:t>
            </a:r>
            <a:endParaRPr lang="en-US" sz="1350" dirty="0"/>
          </a:p>
          <a:p>
            <a:pPr indent="0" marL="0">
              <a:buNone/>
            </a:pPr>
            <a:r>
              <a:rPr lang="en-US" sz="1100" i="1" dirty="0">
                <a:solidFill>
                  <a:srgbClr val="5A6472"/>
                </a:solidFill>
                <a:latin typeface="Calibri" pitchFamily="34" charset="0"/>
                <a:cs typeface="Amiri" pitchFamily="2" charset="-78"/>
              </a:rPr>
              <a:t>bis-ku-wī-tun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LIKE, EAT, DRINK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like … He likes … She likes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أُحِبُّ · يُحِبُّ · تُحِبُّ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18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 </a:t>
            </a:r>
            <a:pPr algn="ctr" indent="0" marL="0">
              <a:buNone/>
            </a:pPr>
            <a:r>
              <a:rPr lang="ar-SA" altLang="en-US" sz="1450" b="1" dirty="0">
                <a:solidFill>
                  <a:srgbClr val="FFFFFF"/>
                </a:solidFill>
                <a:latin typeface="Amiri" pitchFamily="2" charset="-78"/>
                <a:ea typeface="Amiri" pitchFamily="2" charset="-78"/>
                <a:cs typeface="Amiri" pitchFamily="2" charset="-78"/>
              </a:rPr>
              <a:t>أَنَا</a:t>
            </a:r>
            <a:endParaRPr lang="en-US" sz="1100" dirty="0"/>
          </a:p>
        </p:txBody>
      </p:sp>
      <p:sp>
        <p:nvSpPr>
          <p:cNvPr id="17" name="Text 14"/>
          <p:cNvSpPr txBox="1"/>
          <p:nvPr/>
        </p:nvSpPr>
        <p:spPr>
          <a:xfrm>
            <a:off x="7232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 </a:t>
            </a:r>
            <a:pPr algn="ctr" indent="0" marL="0">
              <a:buNone/>
            </a:pPr>
            <a:r>
              <a:rPr lang="ar-SA" altLang="en-US" sz="1450" b="1" dirty="0">
                <a:solidFill>
                  <a:srgbClr val="FFFFFF"/>
                </a:solidFill>
                <a:latin typeface="Amiri" pitchFamily="2" charset="-78"/>
                <a:ea typeface="Amiri" pitchFamily="2" charset="-78"/>
                <a:cs typeface="Amiri" pitchFamily="2" charset="-78"/>
              </a:rPr>
              <a:t>هُوَ</a:t>
            </a:r>
            <a:endParaRPr lang="en-US" sz="1100" dirty="0"/>
          </a:p>
        </p:txBody>
      </p:sp>
      <p:sp>
        <p:nvSpPr>
          <p:cNvPr id="18" name="Text 15"/>
          <p:cNvSpPr txBox="1"/>
          <p:nvPr/>
        </p:nvSpPr>
        <p:spPr>
          <a:xfrm>
            <a:off x="4946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 </a:t>
            </a:r>
            <a:pPr algn="ctr" indent="0" marL="0">
              <a:buNone/>
            </a:pPr>
            <a:r>
              <a:rPr lang="ar-SA" altLang="en-US" sz="1450" b="1" dirty="0">
                <a:solidFill>
                  <a:srgbClr val="FFFFFF"/>
                </a:solidFill>
                <a:latin typeface="Amiri" pitchFamily="2" charset="-78"/>
                <a:ea typeface="Amiri" pitchFamily="2" charset="-78"/>
                <a:cs typeface="Amiri" pitchFamily="2" charset="-78"/>
              </a:rPr>
              <a:t>هِيَ</a:t>
            </a:r>
            <a:endParaRPr lang="en-US" sz="1100" dirty="0"/>
          </a:p>
        </p:txBody>
      </p:sp>
      <p:sp>
        <p:nvSpPr>
          <p:cNvPr id="19" name="Text 16"/>
          <p:cNvSpPr txBox="1"/>
          <p:nvPr/>
        </p:nvSpPr>
        <p:spPr>
          <a:xfrm>
            <a:off x="2660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 · </a:t>
            </a:r>
            <a:pPr algn="ctr" indent="0" marL="0">
              <a:buNone/>
            </a:pPr>
            <a:r>
              <a:rPr lang="ar-SA" altLang="en-US" sz="1450" b="1" dirty="0">
                <a:solidFill>
                  <a:srgbClr val="FFFFFF"/>
                </a:solidFill>
                <a:latin typeface="Amiri" pitchFamily="2" charset="-78"/>
                <a:ea typeface="Amiri" pitchFamily="2" charset="-78"/>
                <a:cs typeface="Amiri" pitchFamily="2" charset="-78"/>
              </a:rPr>
              <a:t>نَحْنُ</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537192" y="2267712"/>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أُ</a:t>
            </a:r>
            <a:pPr rtl="1" algn="ctr" indent="0" marL="0">
              <a:buNone/>
            </a:pPr>
            <a:r>
              <a:rPr lang="ar-SA" altLang="en-US" sz="2400" b="1" dirty="0">
                <a:solidFill>
                  <a:srgbClr val="1B3B6F"/>
                </a:solidFill>
                <a:latin typeface="Amiri" pitchFamily="2" charset="-78"/>
                <a:ea typeface="Amiri" pitchFamily="2" charset="-78"/>
                <a:cs typeface="Amiri" pitchFamily="2" charset="-78"/>
              </a:rPr>
              <a:t>حِبُّ</a:t>
            </a:r>
            <a:endParaRPr lang="ar-SA" sz="2400" dirty="0"/>
          </a:p>
        </p:txBody>
      </p:sp>
      <p:sp>
        <p:nvSpPr>
          <p:cNvPr id="23" name="Text 20"/>
          <p:cNvSpPr txBox="1"/>
          <p:nvPr/>
        </p:nvSpPr>
        <p:spPr>
          <a:xfrm>
            <a:off x="7251192" y="2267712"/>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a:t>
            </a:r>
            <a:pPr rtl="1" algn="ctr" indent="0" marL="0">
              <a:buNone/>
            </a:pPr>
            <a:r>
              <a:rPr lang="ar-SA" altLang="en-US" sz="2400" b="1" dirty="0">
                <a:solidFill>
                  <a:srgbClr val="1B3B6F"/>
                </a:solidFill>
                <a:latin typeface="Amiri" pitchFamily="2" charset="-78"/>
                <a:ea typeface="Amiri" pitchFamily="2" charset="-78"/>
                <a:cs typeface="Amiri" pitchFamily="2" charset="-78"/>
              </a:rPr>
              <a:t>حِبُّ</a:t>
            </a:r>
            <a:endParaRPr lang="ar-SA" sz="2400" dirty="0"/>
          </a:p>
        </p:txBody>
      </p:sp>
      <p:sp>
        <p:nvSpPr>
          <p:cNvPr id="24" name="Text 21"/>
          <p:cNvSpPr txBox="1"/>
          <p:nvPr/>
        </p:nvSpPr>
        <p:spPr>
          <a:xfrm>
            <a:off x="4965192" y="2267712"/>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تُ</a:t>
            </a:r>
            <a:pPr rtl="1" algn="ctr" indent="0" marL="0">
              <a:buNone/>
            </a:pPr>
            <a:r>
              <a:rPr lang="ar-SA" altLang="en-US" sz="2400" b="1" dirty="0">
                <a:solidFill>
                  <a:srgbClr val="1B3B6F"/>
                </a:solidFill>
                <a:latin typeface="Amiri" pitchFamily="2" charset="-78"/>
                <a:ea typeface="Amiri" pitchFamily="2" charset="-78"/>
                <a:cs typeface="Amiri" pitchFamily="2" charset="-78"/>
              </a:rPr>
              <a:t>حِبُّ</a:t>
            </a:r>
            <a:endParaRPr lang="ar-SA" sz="2400" dirty="0"/>
          </a:p>
        </p:txBody>
      </p:sp>
      <p:sp>
        <p:nvSpPr>
          <p:cNvPr id="25" name="Text 22"/>
          <p:cNvSpPr txBox="1"/>
          <p:nvPr/>
        </p:nvSpPr>
        <p:spPr>
          <a:xfrm>
            <a:off x="2679192" y="2267712"/>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نُ</a:t>
            </a:r>
            <a:pPr rtl="1" algn="ctr" indent="0" marL="0">
              <a:buNone/>
            </a:pPr>
            <a:r>
              <a:rPr lang="ar-SA" altLang="en-US" sz="2400" b="1" dirty="0">
                <a:solidFill>
                  <a:srgbClr val="1B3B6F"/>
                </a:solidFill>
                <a:latin typeface="Amiri" pitchFamily="2" charset="-78"/>
                <a:ea typeface="Amiri" pitchFamily="2" charset="-78"/>
                <a:cs typeface="Amiri" pitchFamily="2" charset="-78"/>
              </a:rPr>
              <a:t>حِبُّ</a:t>
            </a:r>
            <a:endParaRPr lang="ar-SA" sz="2400" dirty="0"/>
          </a:p>
        </p:txBody>
      </p:sp>
      <p:sp>
        <p:nvSpPr>
          <p:cNvPr id="26" name="Text 23"/>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like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537192" y="3054096"/>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آ</a:t>
            </a:r>
            <a:pPr rtl="1" algn="ctr" indent="0" marL="0">
              <a:buNone/>
            </a:pPr>
            <a:r>
              <a:rPr lang="ar-SA" altLang="en-US" sz="2400" b="1" dirty="0">
                <a:solidFill>
                  <a:srgbClr val="1B3B6F"/>
                </a:solidFill>
                <a:latin typeface="Amiri" pitchFamily="2" charset="-78"/>
                <a:ea typeface="Amiri" pitchFamily="2" charset="-78"/>
                <a:cs typeface="Amiri" pitchFamily="2" charset="-78"/>
              </a:rPr>
              <a:t>كُلُ</a:t>
            </a:r>
            <a:endParaRPr lang="ar-SA" sz="2400" dirty="0"/>
          </a:p>
        </p:txBody>
      </p:sp>
      <p:sp>
        <p:nvSpPr>
          <p:cNvPr id="31" name="Text 28"/>
          <p:cNvSpPr txBox="1"/>
          <p:nvPr/>
        </p:nvSpPr>
        <p:spPr>
          <a:xfrm>
            <a:off x="7251192" y="3054096"/>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a:t>
            </a:r>
            <a:pPr rtl="1" algn="ctr" indent="0" marL="0">
              <a:buNone/>
            </a:pPr>
            <a:r>
              <a:rPr lang="ar-SA" altLang="en-US" sz="2400" b="1" dirty="0">
                <a:solidFill>
                  <a:srgbClr val="1B3B6F"/>
                </a:solidFill>
                <a:latin typeface="Amiri" pitchFamily="2" charset="-78"/>
                <a:ea typeface="Amiri" pitchFamily="2" charset="-78"/>
                <a:cs typeface="Amiri" pitchFamily="2" charset="-78"/>
              </a:rPr>
              <a:t>أْكُلُ</a:t>
            </a:r>
            <a:endParaRPr lang="ar-SA" sz="2400" dirty="0"/>
          </a:p>
        </p:txBody>
      </p:sp>
      <p:sp>
        <p:nvSpPr>
          <p:cNvPr id="32" name="Text 29"/>
          <p:cNvSpPr txBox="1"/>
          <p:nvPr/>
        </p:nvSpPr>
        <p:spPr>
          <a:xfrm>
            <a:off x="4965192" y="3054096"/>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تَ</a:t>
            </a:r>
            <a:pPr rtl="1" algn="ctr" indent="0" marL="0">
              <a:buNone/>
            </a:pPr>
            <a:r>
              <a:rPr lang="ar-SA" altLang="en-US" sz="2400" b="1" dirty="0">
                <a:solidFill>
                  <a:srgbClr val="1B3B6F"/>
                </a:solidFill>
                <a:latin typeface="Amiri" pitchFamily="2" charset="-78"/>
                <a:ea typeface="Amiri" pitchFamily="2" charset="-78"/>
                <a:cs typeface="Amiri" pitchFamily="2" charset="-78"/>
              </a:rPr>
              <a:t>أْكُلُ</a:t>
            </a:r>
            <a:endParaRPr lang="ar-SA" sz="2400" dirty="0"/>
          </a:p>
        </p:txBody>
      </p:sp>
      <p:sp>
        <p:nvSpPr>
          <p:cNvPr id="33" name="Text 30"/>
          <p:cNvSpPr txBox="1"/>
          <p:nvPr/>
        </p:nvSpPr>
        <p:spPr>
          <a:xfrm>
            <a:off x="2679192" y="3054096"/>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نَ</a:t>
            </a:r>
            <a:pPr rtl="1" algn="ctr" indent="0" marL="0">
              <a:buNone/>
            </a:pPr>
            <a:r>
              <a:rPr lang="ar-SA" altLang="en-US" sz="2400" b="1" dirty="0">
                <a:solidFill>
                  <a:srgbClr val="1B3B6F"/>
                </a:solidFill>
                <a:latin typeface="Amiri" pitchFamily="2" charset="-78"/>
                <a:ea typeface="Amiri" pitchFamily="2" charset="-78"/>
                <a:cs typeface="Amiri" pitchFamily="2" charset="-78"/>
              </a:rPr>
              <a:t>أْكُلُ</a:t>
            </a:r>
            <a:endParaRPr lang="ar-SA" sz="2400" dirty="0"/>
          </a:p>
        </p:txBody>
      </p:sp>
      <p:sp>
        <p:nvSpPr>
          <p:cNvPr id="34" name="Text 31"/>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eat</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9537192" y="3840480"/>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أَ</a:t>
            </a:r>
            <a:pPr rtl="1" algn="ctr" indent="0" marL="0">
              <a:buNone/>
            </a:pPr>
            <a:r>
              <a:rPr lang="ar-SA" altLang="en-US" sz="2400" b="1" dirty="0">
                <a:solidFill>
                  <a:srgbClr val="1B3B6F"/>
                </a:solidFill>
                <a:latin typeface="Amiri" pitchFamily="2" charset="-78"/>
                <a:ea typeface="Amiri" pitchFamily="2" charset="-78"/>
                <a:cs typeface="Amiri" pitchFamily="2" charset="-78"/>
              </a:rPr>
              <a:t>شْرَبُ</a:t>
            </a:r>
            <a:endParaRPr lang="ar-SA" sz="2400" dirty="0"/>
          </a:p>
        </p:txBody>
      </p:sp>
      <p:sp>
        <p:nvSpPr>
          <p:cNvPr id="39" name="Text 36"/>
          <p:cNvSpPr txBox="1"/>
          <p:nvPr/>
        </p:nvSpPr>
        <p:spPr>
          <a:xfrm>
            <a:off x="7251192" y="3840480"/>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a:t>
            </a:r>
            <a:pPr rtl="1" algn="ctr" indent="0" marL="0">
              <a:buNone/>
            </a:pPr>
            <a:r>
              <a:rPr lang="ar-SA" altLang="en-US" sz="2400" b="1" dirty="0">
                <a:solidFill>
                  <a:srgbClr val="1B3B6F"/>
                </a:solidFill>
                <a:latin typeface="Amiri" pitchFamily="2" charset="-78"/>
                <a:ea typeface="Amiri" pitchFamily="2" charset="-78"/>
                <a:cs typeface="Amiri" pitchFamily="2" charset="-78"/>
              </a:rPr>
              <a:t>شْرَبُ</a:t>
            </a:r>
            <a:endParaRPr lang="ar-SA" sz="2400" dirty="0"/>
          </a:p>
        </p:txBody>
      </p:sp>
      <p:sp>
        <p:nvSpPr>
          <p:cNvPr id="40" name="Text 37"/>
          <p:cNvSpPr txBox="1"/>
          <p:nvPr/>
        </p:nvSpPr>
        <p:spPr>
          <a:xfrm>
            <a:off x="4965192" y="3840480"/>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تَ</a:t>
            </a:r>
            <a:pPr rtl="1" algn="ctr" indent="0" marL="0">
              <a:buNone/>
            </a:pPr>
            <a:r>
              <a:rPr lang="ar-SA" altLang="en-US" sz="2400" b="1" dirty="0">
                <a:solidFill>
                  <a:srgbClr val="1B3B6F"/>
                </a:solidFill>
                <a:latin typeface="Amiri" pitchFamily="2" charset="-78"/>
                <a:ea typeface="Amiri" pitchFamily="2" charset="-78"/>
                <a:cs typeface="Amiri" pitchFamily="2" charset="-78"/>
              </a:rPr>
              <a:t>شْرَبُ</a:t>
            </a:r>
            <a:endParaRPr lang="ar-SA" sz="2400" dirty="0"/>
          </a:p>
        </p:txBody>
      </p:sp>
      <p:sp>
        <p:nvSpPr>
          <p:cNvPr id="41" name="Text 38"/>
          <p:cNvSpPr txBox="1"/>
          <p:nvPr/>
        </p:nvSpPr>
        <p:spPr>
          <a:xfrm>
            <a:off x="2679192" y="3840480"/>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نَ</a:t>
            </a:r>
            <a:pPr rtl="1" algn="ctr" indent="0" marL="0">
              <a:buNone/>
            </a:pPr>
            <a:r>
              <a:rPr lang="ar-SA" altLang="en-US" sz="2400" b="1" dirty="0">
                <a:solidFill>
                  <a:srgbClr val="1B3B6F"/>
                </a:solidFill>
                <a:latin typeface="Amiri" pitchFamily="2" charset="-78"/>
                <a:ea typeface="Amiri" pitchFamily="2" charset="-78"/>
                <a:cs typeface="Amiri" pitchFamily="2" charset="-78"/>
              </a:rPr>
              <a:t>شْرَبُ</a:t>
            </a:r>
            <a:endParaRPr lang="ar-SA" sz="2400" dirty="0"/>
          </a:p>
        </p:txBody>
      </p:sp>
      <p:sp>
        <p:nvSpPr>
          <p:cNvPr id="42" name="Text 39"/>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drink</a:t>
            </a:r>
            <a:endParaRPr lang="en-US" sz="11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537192" y="4626864"/>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لَا</a:t>
            </a:r>
            <a:pPr rtl="1" algn="ctr" indent="0" marL="0">
              <a:buNone/>
            </a:pPr>
            <a:r>
              <a:rPr lang="ar-SA" altLang="en-US" sz="2400" b="1" dirty="0">
                <a:solidFill>
                  <a:srgbClr val="1B3B6F"/>
                </a:solidFill>
                <a:latin typeface="Amiri" pitchFamily="2" charset="-78"/>
                <a:ea typeface="Amiri" pitchFamily="2" charset="-78"/>
                <a:cs typeface="Amiri" pitchFamily="2" charset="-78"/>
              </a:rPr>
              <a:t> أُحِبُّ</a:t>
            </a:r>
            <a:endParaRPr lang="ar-SA" sz="2400" dirty="0"/>
          </a:p>
        </p:txBody>
      </p:sp>
      <p:sp>
        <p:nvSpPr>
          <p:cNvPr id="47" name="Text 44"/>
          <p:cNvSpPr txBox="1"/>
          <p:nvPr/>
        </p:nvSpPr>
        <p:spPr>
          <a:xfrm>
            <a:off x="7251192" y="4626864"/>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لَا</a:t>
            </a:r>
            <a:pPr rtl="1" algn="ctr" indent="0" marL="0">
              <a:buNone/>
            </a:pPr>
            <a:r>
              <a:rPr lang="ar-SA" altLang="en-US" sz="2400" b="1" dirty="0">
                <a:solidFill>
                  <a:srgbClr val="1B3B6F"/>
                </a:solidFill>
                <a:latin typeface="Amiri" pitchFamily="2" charset="-78"/>
                <a:ea typeface="Amiri" pitchFamily="2" charset="-78"/>
                <a:cs typeface="Amiri" pitchFamily="2" charset="-78"/>
              </a:rPr>
              <a:t> يُحِبُّ</a:t>
            </a:r>
            <a:endParaRPr lang="ar-SA" sz="2400" dirty="0"/>
          </a:p>
        </p:txBody>
      </p:sp>
      <p:sp>
        <p:nvSpPr>
          <p:cNvPr id="48" name="Text 45"/>
          <p:cNvSpPr txBox="1"/>
          <p:nvPr/>
        </p:nvSpPr>
        <p:spPr>
          <a:xfrm>
            <a:off x="4965192" y="4626864"/>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لَا</a:t>
            </a:r>
            <a:pPr rtl="1" algn="ctr" indent="0" marL="0">
              <a:buNone/>
            </a:pPr>
            <a:r>
              <a:rPr lang="ar-SA" altLang="en-US" sz="2400" b="1" dirty="0">
                <a:solidFill>
                  <a:srgbClr val="1B3B6F"/>
                </a:solidFill>
                <a:latin typeface="Amiri" pitchFamily="2" charset="-78"/>
                <a:ea typeface="Amiri" pitchFamily="2" charset="-78"/>
                <a:cs typeface="Amiri" pitchFamily="2" charset="-78"/>
              </a:rPr>
              <a:t> تُحِبُّ</a:t>
            </a:r>
            <a:endParaRPr lang="ar-SA" sz="2400" dirty="0"/>
          </a:p>
        </p:txBody>
      </p:sp>
      <p:sp>
        <p:nvSpPr>
          <p:cNvPr id="49" name="Text 46"/>
          <p:cNvSpPr txBox="1"/>
          <p:nvPr/>
        </p:nvSpPr>
        <p:spPr>
          <a:xfrm>
            <a:off x="2679192" y="4626864"/>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لَا</a:t>
            </a:r>
            <a:pPr rtl="1" algn="ctr" indent="0" marL="0">
              <a:buNone/>
            </a:pPr>
            <a:r>
              <a:rPr lang="ar-SA" altLang="en-US" sz="2400" b="1" dirty="0">
                <a:solidFill>
                  <a:srgbClr val="1B3B6F"/>
                </a:solidFill>
                <a:latin typeface="Amiri" pitchFamily="2" charset="-78"/>
                <a:ea typeface="Amiri" pitchFamily="2" charset="-78"/>
                <a:cs typeface="Amiri" pitchFamily="2" charset="-78"/>
              </a:rPr>
              <a:t> نُحِبُّ</a:t>
            </a:r>
            <a:endParaRPr lang="ar-SA" sz="2400" dirty="0"/>
          </a:p>
        </p:txBody>
      </p:sp>
      <p:sp>
        <p:nvSpPr>
          <p:cNvPr id="50" name="Text 47"/>
          <p:cNvSpPr txBox="1"/>
          <p:nvPr/>
        </p:nvSpPr>
        <p:spPr>
          <a:xfrm>
            <a:off x="566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don’t like</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food comes straight after the verb: uḥibbu l-khubza (no “to”). Negative: put lā before the verb.</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B3B6F"/>
                </a:solidFill>
                <a:latin typeface="Calibri" pitchFamily="34" charset="0"/>
                <a:cs typeface="Amiri" pitchFamily="2" charset="-78"/>
              </a:rPr>
              <a:t>GRAMMAR FOCUS · PART 2 · ASKING AND DESCRIBING (WEBSITE RULES + TOPIC A AGREEMENT)</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 you like …? What is it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هَلْ تُحِبُّ؟ · صِفَةٌ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ASK A BOY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هَلْ تُحِبُّ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هَلْ تُحِبُّ السَّمَكَ؟</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Do you (m.) like fish?</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hal = yes / no question.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B83280"/>
          </a:solidFill>
          <a:ln w="12700">
            <a:solidFill>
              <a:srgbClr val="B8328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ASK A GIRL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هَلْ تُحِبِّينَ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هَلْ تُحِبِّينَ السَّلَطَةَ؟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Do you (f.) like salad?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Girl → -īna.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m. · f.</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الخُبْزُ طَازَجٌ. القَهْوَةُ مُرَّةٌ.</a:t>
            </a:r>
            <a:endParaRPr lang="ar-SA" sz="28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bread is fresh. The coffee is bitter.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Feminine food → -a adjective.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rule: notice noun gender — the adjective must agree.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السَّلَطَةُ صِحِّيَّةٌ.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السَّلَطَةُ صِحِّيٌّ.</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50" b="1" dirty="0">
                <a:solidFill>
                  <a:srgbClr val="8A6D1E"/>
                </a:solidFill>
                <a:latin typeface="Amiri" pitchFamily="2" charset="-78"/>
                <a:ea typeface="Amiri" pitchFamily="2" charset="-78"/>
                <a:cs typeface="Amiri" pitchFamily="2" charset="-78"/>
              </a:rPr>
              <a:t>اِسْتِعْمَالُ أُحِبُّ وَلَا أُحِبُّ مَعَ أَسْمَاءِ الطَّعَامِ</a:t>
            </a:r>
            <a:endParaRPr lang="ar-SA" sz="23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Say what you like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أُحِبُّ + الطَّعَامَ / الشَّرَابَ</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أُحِبُّ الخُبْزَ.   ·   أُحِبُّ العَصِيرَ.   ·   أُحِبُّ التُّفَّاحَ وَالمَوْزَ.</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Make the opinion negative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لَا + أُحِبُّ + الاِسْمَ</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لَا أُحِبُّ السَّمَكَ.   ·   لَا أُحِبُّ القَهْوَةَ.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Notice noun gender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مُذَكَّرٌ: خُبْزٌ · مُؤَنَّثٌ: قَهْوَةٌ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الخُبْزُ طَازَجٌ.   ·   القَهْوَةُ مُرَّةٌ.   ·   السَّلَطَةُ صِحِّيَّةٌ.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Ask another person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هَلْ تُحِبُّ...؟ / هَلْ تُحِبِّينَ...؟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هَلْ تُحِبُّ الجُبْنَ؟   ·   هَلْ تُحِبِّينَ السَّلَطَةَ؟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drink the juice.”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آكُلُ العَصِيرَ.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يَشْرَبُ العَصِيرَ.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أَشْرَبُ العَصِيرَ.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Make the sentence negative: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أُحِبُّ القَهْوَةَ.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أُحِبُّ القَهْوَةَ.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أُحِبُّ القَهْوَةَ؟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القَهْوَةَ أُحِبُّ.</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“Do you like fish?”</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تُحِبِّينَ السَّمَكَ؟</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تُحِبُّ السَّمَكَ؟</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السَّمَكُ؟</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the correct action?</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أَشْرَبُ الحَلِيبَ.</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آكُلُ الحَلِيبَ.</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أَشْرَبُ الخُبْزَ.</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drink the juice.”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آكُلُ العَصِيرَ.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يَشْرَبُ العَصِيرَ.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أَشْرَبُ العَصِيرَ.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أَشْرَبُ</a:t>
            </a:r>
            <a:pPr algn="l" indent="0" marL="0">
              <a:buNone/>
            </a:pPr>
            <a:r>
              <a:rPr lang="en-US" sz="1050" i="1" dirty="0">
                <a:solidFill>
                  <a:srgbClr val="8A6D1E"/>
                </a:solidFill>
                <a:latin typeface="Calibri" pitchFamily="34" charset="0"/>
                <a:cs typeface="Amiri" pitchFamily="2" charset="-78"/>
              </a:rPr>
              <a:t> is the first-person verb for drinking.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Make the sentence negative: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أُحِبُّ القَهْوَةَ.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أُحِبُّ القَهْوَةَ.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أُحِبُّ القَهْوَةَ؟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القَهْوَةَ أُحِبُّ.</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Put </a:t>
            </a:r>
            <a:pPr algn="l" indent="0" marL="0">
              <a:buNone/>
            </a:pPr>
            <a:r>
              <a:rPr lang="ar-SA" altLang="en-US" sz="1350" dirty="0">
                <a:solidFill>
                  <a:srgbClr val="8A6D1E"/>
                </a:solidFill>
                <a:latin typeface="Amiri" pitchFamily="2" charset="-78"/>
                <a:ea typeface="Amiri" pitchFamily="2" charset="-78"/>
                <a:cs typeface="Amiri" pitchFamily="2" charset="-78"/>
              </a:rPr>
              <a:t>لَا</a:t>
            </a:r>
            <a:pPr algn="l" indent="0" marL="0">
              <a:buNone/>
            </a:pPr>
            <a:r>
              <a:rPr lang="en-US" sz="1050" i="1" dirty="0">
                <a:solidFill>
                  <a:srgbClr val="8A6D1E"/>
                </a:solidFill>
                <a:latin typeface="Calibri" pitchFamily="34" charset="0"/>
                <a:cs typeface="Amiri" pitchFamily="2" charset="-78"/>
              </a:rPr>
              <a:t> immediately before the present-tense verb.</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“Do you like fish?”</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تُحِبِّينَ السَّمَكَ؟</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تُحِبُّ السَّمَكَ؟</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السَّمَكُ؟</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تُحِبُّ</a:t>
            </a:r>
            <a:pPr algn="l" indent="0" marL="0">
              <a:buNone/>
            </a:pPr>
            <a:r>
              <a:rPr lang="en-US" sz="1050" i="1" dirty="0">
                <a:solidFill>
                  <a:srgbClr val="8A6D1E"/>
                </a:solidFill>
                <a:latin typeface="Calibri" pitchFamily="34" charset="0"/>
                <a:cs typeface="Amiri" pitchFamily="2" charset="-78"/>
              </a:rPr>
              <a:t> addresses a male listener.</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the correct action?</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أَشْرَبُ الحَلِيبَ.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آكُلُ الحَلِيبَ.</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أَشْرَبُ الخُبْزَ.</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Milk is a drink, so use </a:t>
            </a:r>
            <a:pPr algn="l" indent="0" marL="0">
              <a:buNone/>
            </a:pPr>
            <a:r>
              <a:rPr lang="ar-SA" altLang="en-US" sz="1350" dirty="0">
                <a:solidFill>
                  <a:srgbClr val="8A6D1E"/>
                </a:solidFill>
                <a:latin typeface="Amiri" pitchFamily="2" charset="-78"/>
                <a:ea typeface="Amiri" pitchFamily="2" charset="-78"/>
                <a:cs typeface="Amiri" pitchFamily="2" charset="-78"/>
              </a:rPr>
              <a:t>أَشْرَبُ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a food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Like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أُ</a:t>
            </a:r>
            <a:pPr rtl="1" algn="ctr" indent="0" marL="0">
              <a:buNone/>
            </a:pPr>
            <a:r>
              <a:rPr lang="ar-SA" altLang="en-US" sz="2800" b="1" dirty="0">
                <a:solidFill>
                  <a:srgbClr val="1B3B6F"/>
                </a:solidFill>
                <a:latin typeface="Amiri" pitchFamily="2" charset="-78"/>
                <a:ea typeface="Amiri" pitchFamily="2" charset="-78"/>
                <a:cs typeface="Amiri" pitchFamily="2" charset="-78"/>
              </a:rPr>
              <a:t>حِبُّ الخُبْزَ وَالجُبْنَ.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Food straight after the verb.</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Eat / drink</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آ</a:t>
            </a:r>
            <a:pPr rtl="1" algn="ctr" indent="0" marL="0">
              <a:buNone/>
            </a:pPr>
            <a:r>
              <a:rPr lang="ar-SA" altLang="en-US" sz="2100" b="1" dirty="0">
                <a:solidFill>
                  <a:srgbClr val="1B3B6F"/>
                </a:solidFill>
                <a:latin typeface="Amiri" pitchFamily="2" charset="-78"/>
                <a:ea typeface="Amiri" pitchFamily="2" charset="-78"/>
                <a:cs typeface="Amiri" pitchFamily="2" charset="-78"/>
              </a:rPr>
              <a:t>كُلُ الأَرُزَّ، وَ</a:t>
            </a:r>
            <a:pPr rtl="1" algn="ctr" indent="0" marL="0">
              <a:buNone/>
            </a:pPr>
            <a:r>
              <a:rPr lang="ar-SA" altLang="en-US" sz="2100" b="1" dirty="0">
                <a:solidFill>
                  <a:srgbClr val="1D5FBF"/>
                </a:solidFill>
                <a:latin typeface="Amiri" pitchFamily="2" charset="-78"/>
                <a:ea typeface="Amiri" pitchFamily="2" charset="-78"/>
                <a:cs typeface="Amiri" pitchFamily="2" charset="-78"/>
              </a:rPr>
              <a:t>أَ</a:t>
            </a:r>
            <a:pPr rtl="1" algn="ctr" indent="0" marL="0">
              <a:buNone/>
            </a:pPr>
            <a:r>
              <a:rPr lang="ar-SA" altLang="en-US" sz="2100" b="1" dirty="0">
                <a:solidFill>
                  <a:srgbClr val="1B3B6F"/>
                </a:solidFill>
                <a:latin typeface="Amiri" pitchFamily="2" charset="-78"/>
                <a:ea typeface="Amiri" pitchFamily="2" charset="-78"/>
                <a:cs typeface="Amiri" pitchFamily="2" charset="-78"/>
              </a:rPr>
              <a:t>شْرَبُ المَاءَ.</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Food → eat. Drink → drink.</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Don’t like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0E7C86"/>
                </a:solidFill>
                <a:latin typeface="Amiri" pitchFamily="2" charset="-78"/>
                <a:ea typeface="Amiri" pitchFamily="2" charset="-78"/>
                <a:cs typeface="Amiri" pitchFamily="2" charset="-78"/>
              </a:rPr>
              <a:t>لَا</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أُحِبُّ القَهْوَةَ لِأَنَّهَا مُرَّ</a:t>
            </a:r>
            <a:pPr rtl="1" algn="ctr" indent="0" marL="0">
              <a:lnSpc>
                <a:spcPct val="120000"/>
              </a:lnSpc>
              <a:buNone/>
            </a:pPr>
            <a:r>
              <a:rPr lang="ar-SA" altLang="en-US" sz="200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2000" b="1" dirty="0">
                <a:solidFill>
                  <a:srgbClr val="1B3B6F"/>
                </a:solidFill>
                <a:latin typeface="Amiri" pitchFamily="2" charset="-78"/>
                <a:cs typeface="Amiri" pitchFamily="2" charset="-78"/>
              </a:rPr>
              <a:t>.</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Coffee is feminine → murra.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 often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دَائِمًا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آكُلُ الفَاكِهَةَ فِي المَسَاءِ.</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AT-A-L03 frequency.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WHO (I)</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NEGATIVE / FREQUENCY</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50" b="1" dirty="0">
                <a:solidFill>
                  <a:srgbClr val="1D5FBF"/>
                </a:solidFill>
                <a:latin typeface="Amiri" pitchFamily="2" charset="-78"/>
                <a:ea typeface="Amiri" pitchFamily="2" charset="-78"/>
                <a:cs typeface="Amiri" pitchFamily="2" charset="-78"/>
              </a:rPr>
              <a:t>أُ</a:t>
            </a:r>
            <a:pPr rtl="1" algn="r" indent="0" marL="0">
              <a:buNone/>
            </a:pPr>
            <a:r>
              <a:rPr lang="ar-SA" altLang="en-US" sz="1750" b="1" dirty="0">
                <a:solidFill>
                  <a:srgbClr val="1B3B6F"/>
                </a:solidFill>
                <a:latin typeface="Amiri" pitchFamily="2" charset="-78"/>
                <a:ea typeface="Amiri" pitchFamily="2" charset="-78"/>
                <a:cs typeface="Amiri" pitchFamily="2" charset="-78"/>
              </a:rPr>
              <a:t>حِبُّ الخُبْزَ وَالجُبْنَ، وَ</a:t>
            </a:r>
            <a:pPr rtl="1" algn="r" indent="0" marL="0">
              <a:buNone/>
            </a:pPr>
            <a:r>
              <a:rPr lang="ar-SA" altLang="en-US" sz="1750" b="1" dirty="0">
                <a:solidFill>
                  <a:srgbClr val="1D5FBF"/>
                </a:solidFill>
                <a:latin typeface="Amiri" pitchFamily="2" charset="-78"/>
                <a:ea typeface="Amiri" pitchFamily="2" charset="-78"/>
                <a:cs typeface="Amiri" pitchFamily="2" charset="-78"/>
              </a:rPr>
              <a:t>آ</a:t>
            </a:r>
            <a:pPr rtl="1" algn="r" indent="0" marL="0">
              <a:buNone/>
            </a:pPr>
            <a:r>
              <a:rPr lang="ar-SA" altLang="en-US" sz="1750" b="1" dirty="0">
                <a:solidFill>
                  <a:srgbClr val="1B3B6F"/>
                </a:solidFill>
                <a:latin typeface="Amiri" pitchFamily="2" charset="-78"/>
                <a:ea typeface="Amiri" pitchFamily="2" charset="-78"/>
                <a:cs typeface="Amiri" pitchFamily="2" charset="-78"/>
              </a:rPr>
              <a:t>كُلُ الأَرُزَّ كَثِيرًا. </a:t>
            </a:r>
            <a:pPr rtl="1" algn="r" indent="0" marL="0">
              <a:buNone/>
            </a:pPr>
            <a:r>
              <a:rPr lang="ar-SA" altLang="en-US" sz="1750" b="1" dirty="0">
                <a:solidFill>
                  <a:srgbClr val="1D5FBF"/>
                </a:solidFill>
                <a:latin typeface="Amiri" pitchFamily="2" charset="-78"/>
                <a:ea typeface="Amiri" pitchFamily="2" charset="-78"/>
                <a:cs typeface="Amiri" pitchFamily="2" charset="-78"/>
              </a:rPr>
              <a:t>أَ</a:t>
            </a:r>
            <a:pPr rtl="1" algn="r" indent="0" marL="0">
              <a:buNone/>
            </a:pPr>
            <a:r>
              <a:rPr lang="ar-SA" altLang="en-US" sz="1750" b="1" dirty="0">
                <a:solidFill>
                  <a:srgbClr val="1B3B6F"/>
                </a:solidFill>
                <a:latin typeface="Amiri" pitchFamily="2" charset="-78"/>
                <a:ea typeface="Amiri" pitchFamily="2" charset="-78"/>
                <a:cs typeface="Amiri" pitchFamily="2" charset="-78"/>
              </a:rPr>
              <a:t>شْرَبُ المَاءَ وَالعَصِيرَ كُلَّ يَوْمٍ. </a:t>
            </a:r>
            <a:pPr rtl="1" algn="r" indent="0" marL="0">
              <a:buNone/>
            </a:pPr>
            <a:r>
              <a:rPr lang="ar-SA" altLang="en-US" sz="1750" b="1" dirty="0">
                <a:solidFill>
                  <a:srgbClr val="0E7C86"/>
                </a:solidFill>
                <a:latin typeface="Amiri" pitchFamily="2" charset="-78"/>
                <a:ea typeface="Amiri" pitchFamily="2" charset="-78"/>
                <a:cs typeface="Amiri" pitchFamily="2" charset="-78"/>
              </a:rPr>
              <a:t>لَا</a:t>
            </a:r>
            <a:pPr rtl="1" algn="r" indent="0" marL="0">
              <a:buNone/>
            </a:pPr>
            <a:r>
              <a:rPr lang="ar-SA" altLang="en-US" sz="1750" b="1" dirty="0">
                <a:solidFill>
                  <a:srgbClr val="1B3B6F"/>
                </a:solidFill>
                <a:latin typeface="Amiri" pitchFamily="2" charset="-78"/>
                <a:ea typeface="Amiri" pitchFamily="2" charset="-78"/>
                <a:cs typeface="Amiri" pitchFamily="2" charset="-78"/>
              </a:rPr>
              <a:t> أُحِبُّ القَهْوَةَ لِأَنَّهَا مُرَّ</a:t>
            </a:r>
            <a:pPr rtl="1" algn="r" indent="0" marL="0">
              <a:buNone/>
            </a:pPr>
            <a:r>
              <a:rPr lang="ar-SA" altLang="en-US" sz="1750" b="1" dirty="0">
                <a:solidFill>
                  <a:srgbClr val="D6336C"/>
                </a:solidFill>
                <a:latin typeface="Amiri" pitchFamily="2" charset="-78"/>
                <a:ea typeface="Amiri" pitchFamily="2" charset="-78"/>
                <a:cs typeface="Amiri" pitchFamily="2" charset="-78"/>
              </a:rPr>
              <a:t>ةٌ</a:t>
            </a:r>
            <a:pPr rtl="1" algn="r" indent="0" marL="0">
              <a:buNone/>
            </a:pPr>
            <a:r>
              <a:rPr lang="ar-SA" altLang="en-US" sz="1750" b="1" dirty="0">
                <a:solidFill>
                  <a:srgbClr val="1B3B6F"/>
                </a:solidFill>
                <a:latin typeface="Amiri" pitchFamily="2" charset="-78"/>
                <a:ea typeface="Amiri" pitchFamily="2" charset="-78"/>
                <a:cs typeface="Amiri" pitchFamily="2" charset="-78"/>
              </a:rPr>
              <a:t>، وَلٰكِنِّي </a:t>
            </a:r>
            <a:pPr rtl="1" algn="r" indent="0" marL="0">
              <a:buNone/>
            </a:pPr>
            <a:r>
              <a:rPr lang="ar-SA" altLang="en-US" sz="1750" b="1" dirty="0">
                <a:solidFill>
                  <a:srgbClr val="0E7C86"/>
                </a:solidFill>
                <a:latin typeface="Amiri" pitchFamily="2" charset="-78"/>
                <a:ea typeface="Amiri" pitchFamily="2" charset="-78"/>
                <a:cs typeface="Amiri" pitchFamily="2" charset="-78"/>
              </a:rPr>
              <a:t>دَائِمًا</a:t>
            </a:r>
            <a:pPr rtl="1" algn="r" indent="0" marL="0">
              <a:buNone/>
            </a:pPr>
            <a:r>
              <a:rPr lang="ar-SA" altLang="en-US" sz="1750" b="1" dirty="0">
                <a:solidFill>
                  <a:srgbClr val="1B3B6F"/>
                </a:solidFill>
                <a:latin typeface="Amiri" pitchFamily="2" charset="-78"/>
                <a:ea typeface="Amiri" pitchFamily="2" charset="-78"/>
                <a:cs typeface="Amiri" pitchFamily="2" charset="-78"/>
              </a:rPr>
              <a:t> آكُلُ الفَاكِهَةَ فِي المَسَاءِ.</a:t>
            </a:r>
            <a:endParaRPr lang="ar-SA" sz="17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I like bread and cheese, and I eat rice a lot. I drink water and juice every day. I don’t like coffee because it is bitter, but I always eat fruit in the evening.</a:t>
            </a:r>
            <a:endParaRPr lang="en-US" sz="11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أُحِبُّ الخُبْزَ وَالجُبْنَ.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like bread and cheese.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After أُحِبُّ, use the food as the object.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لَا أُحِبُّ القَهْوَةَ.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do not like coffee.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Put لَا directly before the present-tense verb.</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أَشْرَبُ المَاءَ وَالعَصِيرَ.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drink water and juice.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أَشْرَبُ with drinks.</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هَلْ تُحِبُّ السَّمَكَ؟</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Do you like fish?</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هَلْ to make a yes/no question.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FOOD AND DRINKS”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صُوَرُ الطَّعَامِ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an apple</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glass of milk</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4" name="Shape 27"/>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bowl of salad</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حَلِيبٌ.</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سَلَطَةٌ.</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تُفَّاحَةٌ.</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صُوَرُ الطَّعَامِ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an apple</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تُفَّاحَةٌ.</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an apple.</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glass of milk</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حَلِيبٌ.</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milk.</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4" name="Shape 37"/>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bowl of salad</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سَلَطَةٌ.</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salad.</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Food or drink?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حَلِيبٌ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دَجَاجٌ</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عَصِيرٌ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خِيَارٌ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قَهْوَةٌ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أَرُزٌّ</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مَاءٌ</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سَمَكٌ</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Food · طَعَامٌ</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Drink · شَرَابٌ</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Food · طَعَامٌ</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دَجَاجٌ</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خِيَارٌ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أَرُزٌّ</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سَمَكٌ</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Drink · شَرَابٌ</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حَلِيبٌ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عَصِيرٌ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قَهْوَةٌ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مَاءٌ</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normally begins with </a:t>
            </a:r>
            <a:pPr algn="l" indent="0" marL="0">
              <a:buNone/>
            </a:pPr>
            <a:r>
              <a:rPr lang="ar-SA" altLang="en-US" sz="1650" b="1" dirty="0">
                <a:solidFill>
                  <a:srgbClr val="1B3B6F"/>
                </a:solidFill>
                <a:latin typeface="Amiri" pitchFamily="2" charset="-78"/>
                <a:ea typeface="Amiri" pitchFamily="2" charset="-78"/>
                <a:cs typeface="Amiri" pitchFamily="2" charset="-78"/>
              </a:rPr>
              <a:t>أَـ</a:t>
            </a:r>
            <a:pPr algn="l" indent="0" marL="0">
              <a:buNone/>
            </a:pPr>
            <a:r>
              <a:rPr lang="en-US" sz="1250" b="1" dirty="0">
                <a:solidFill>
                  <a:srgbClr val="1B3B6F"/>
                </a:solidFill>
                <a:latin typeface="Calibri" pitchFamily="34" charset="0"/>
                <a:cs typeface="Amiri" pitchFamily="2" charset="-78"/>
              </a:rPr>
              <a:t> because the speaker is “I”?</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يَأْكُلُ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تَأْكُلُ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آكُلُ</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هَلْ ___ التُّفَّاحَ؟</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تُحِبُّ</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يُحِبُّ</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الخُبْزُ</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القَهْوَةُ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العَصِيرُ</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negative opinion.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أَحِبُّ السَّمَكَ.</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لَا السَّمَكَ.</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أُحِبُّ السَّمَكَ.</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normally begins with </a:t>
            </a:r>
            <a:pPr algn="l" indent="0" marL="0">
              <a:buNone/>
            </a:pPr>
            <a:r>
              <a:rPr lang="ar-SA" altLang="en-US" sz="1650" b="1" dirty="0">
                <a:solidFill>
                  <a:srgbClr val="1B3B6F"/>
                </a:solidFill>
                <a:latin typeface="Amiri" pitchFamily="2" charset="-78"/>
                <a:ea typeface="Amiri" pitchFamily="2" charset="-78"/>
                <a:cs typeface="Amiri" pitchFamily="2" charset="-78"/>
              </a:rPr>
              <a:t>أَـ</a:t>
            </a:r>
            <a:pPr algn="l" indent="0" marL="0">
              <a:buNone/>
            </a:pPr>
            <a:r>
              <a:rPr lang="en-US" sz="1250" b="1" dirty="0">
                <a:solidFill>
                  <a:srgbClr val="1B3B6F"/>
                </a:solidFill>
                <a:latin typeface="Calibri" pitchFamily="34" charset="0"/>
                <a:cs typeface="Amiri" pitchFamily="2" charset="-78"/>
              </a:rPr>
              <a:t> because the speaker is “I”?</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يَأْكُلُ</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تَأْكُلُ</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آكُلُ</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آكُلُ</a:t>
            </a:r>
            <a:pPr algn="l" indent="0" marL="0">
              <a:buNone/>
            </a:pPr>
            <a:r>
              <a:rPr lang="en-US" sz="1050" i="1" dirty="0">
                <a:solidFill>
                  <a:srgbClr val="8A6D1E"/>
                </a:solidFill>
                <a:latin typeface="Calibri" pitchFamily="34" charset="0"/>
                <a:cs typeface="Amiri" pitchFamily="2" charset="-78"/>
              </a:rPr>
              <a:t> means “I eat”.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هَلْ ___ التُّفَّاحَ؟</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تُحِبُّ</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يُحِبُّ</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تُحِبُّ</a:t>
            </a:r>
            <a:pPr algn="l" indent="0" marL="0">
              <a:buNone/>
            </a:pPr>
            <a:r>
              <a:rPr lang="en-US" sz="1050" i="1" dirty="0">
                <a:solidFill>
                  <a:srgbClr val="8A6D1E"/>
                </a:solidFill>
                <a:latin typeface="Calibri" pitchFamily="34" charset="0"/>
                <a:cs typeface="Amiri" pitchFamily="2" charset="-78"/>
              </a:rPr>
              <a:t> when asking a male listener.</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الخُبْزُ</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القَهْوَةُ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العَصِيرُ</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قَهْوَةٌ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negative opinion.</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أَحِبُّ السَّمَكَ.</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لَا السَّمَكَ.</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أُحِبُّ السَّمَكَ.</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لَا</a:t>
            </a:r>
            <a:pPr algn="l" indent="0" marL="0">
              <a:buNone/>
            </a:pPr>
            <a:r>
              <a:rPr lang="en-US" sz="1050" i="1" dirty="0">
                <a:solidFill>
                  <a:srgbClr val="8A6D1E"/>
                </a:solidFill>
                <a:latin typeface="Calibri" pitchFamily="34" charset="0"/>
                <a:cs typeface="Amiri" pitchFamily="2" charset="-78"/>
              </a:rPr>
              <a:t> comes immediately before the correct first-person form </a:t>
            </a:r>
            <a:pPr algn="l" indent="0" marL="0">
              <a:buNone/>
            </a:pPr>
            <a:r>
              <a:rPr lang="ar-SA" altLang="en-US" sz="1350" dirty="0">
                <a:solidFill>
                  <a:srgbClr val="8A6D1E"/>
                </a:solidFill>
                <a:latin typeface="Amiri" pitchFamily="2" charset="-78"/>
                <a:ea typeface="Amiri" pitchFamily="2" charset="-78"/>
                <a:cs typeface="Amiri" pitchFamily="2" charset="-78"/>
              </a:rPr>
              <a:t>أُحِبُّ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أُحِبُّ إِلَى الخُبْزِ.</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Like + food: is a preposition needed?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لَا أَحِبُّ السَّمَكَ.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vowel starts “I like”?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أَكُلُ الخُبْزَ.</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 eat” starts with which letter?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أُحِبُّ إِلَى الخُبْزِ.</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أُحِبُّ الخُبْزَ.</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أُحِبُّ</a:t>
            </a:r>
            <a:pPr algn="l" indent="0" marL="0">
              <a:buNone/>
            </a:pPr>
            <a:r>
              <a:rPr lang="en-US" sz="1150" b="1" dirty="0">
                <a:solidFill>
                  <a:srgbClr val="1B3B6F"/>
                </a:solidFill>
                <a:latin typeface="Calibri" pitchFamily="34" charset="0"/>
                <a:cs typeface="Amiri" pitchFamily="2" charset="-78"/>
              </a:rPr>
              <a:t> takes a direct object; do not add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لَا أَحِبُّ السَّمَكَ.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لَا أُحِبُّ السَّمَكَ.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first-person form is </a:t>
            </a:r>
            <a:pPr algn="l" indent="0" marL="0">
              <a:buNone/>
            </a:pPr>
            <a:r>
              <a:rPr lang="ar-SA" altLang="en-US" sz="1500" b="1" dirty="0">
                <a:solidFill>
                  <a:srgbClr val="1B3B6F"/>
                </a:solidFill>
                <a:latin typeface="Amiri" pitchFamily="2" charset="-78"/>
                <a:ea typeface="Amiri" pitchFamily="2" charset="-78"/>
                <a:cs typeface="Amiri" pitchFamily="2" charset="-78"/>
              </a:rPr>
              <a:t>أُحِبُّ</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أَكُلُ الخُبْزَ.</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آكُلُ الخُبْزَ.</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آكُلُ</a:t>
            </a:r>
            <a:pPr algn="l" indent="0" marL="0">
              <a:buNone/>
            </a:pPr>
            <a:r>
              <a:rPr lang="en-US" sz="1150" b="1" dirty="0">
                <a:solidFill>
                  <a:srgbClr val="1B3B6F"/>
                </a:solidFill>
                <a:latin typeface="Calibri" pitchFamily="34" charset="0"/>
                <a:cs typeface="Amiri" pitchFamily="2" charset="-78"/>
              </a:rPr>
              <a:t> begins with a long ā written </a:t>
            </a:r>
            <a:pPr algn="l" indent="0" marL="0">
              <a:buNone/>
            </a:pPr>
            <a:r>
              <a:rPr lang="ar-SA" altLang="en-US" sz="1500" b="1" dirty="0">
                <a:solidFill>
                  <a:srgbClr val="1B3B6F"/>
                </a:solidFill>
                <a:latin typeface="Amiri" pitchFamily="2" charset="-78"/>
                <a:ea typeface="Amiri" pitchFamily="2" charset="-78"/>
                <a:cs typeface="Amiri" pitchFamily="2" charset="-78"/>
              </a:rPr>
              <a:t>آ</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does Huda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foods does Huda like together?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bread and cheese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 and rice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pasta and beans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fruit does she 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bananas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grapes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not drink?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coffee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drinks does she have every day?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and orange juice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 and milk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coffee and lemon juice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Huda have as a snack?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lettuce and onions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nuts or biscuits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prawns and rice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الخُبْزَ وَالجُبْنَ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القَهْوَةَ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المَاءَ</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هُدَى.</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Huda.</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الخُبْزَ وَالجُبْنَ وَالتُّفَّاحَ.</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like bread, cheese and apples.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الوَجْبَةِ الخَفِيفَةِ آكُلُ المُكَسَّرَاتِ أَوِ البِسْكُوِيتَ.</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a snack I eat nuts or biscuits.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أُحِبُّ السَّمَكَ، وَلَا أَشْرَبُ القَهْوَةَ.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don’t like fish, and I don’t drink coffee.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أَشْرَبُ المَاءَ وَعَصِيرَ البُرْتُقَالِ كُلَّ يَوْمٍ.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drink water and orange juice every 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foods does Huda like together?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bread and cheese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fish and rice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pasta and beans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الخُبْزَ وَالجُبْنَ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fruit does she like?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bananas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grapes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apples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mentions </a:t>
            </a:r>
            <a:pPr algn="l" indent="0" marL="0">
              <a:buNone/>
            </a:pPr>
            <a:r>
              <a:rPr lang="ar-SA" altLang="en-US" sz="1350" dirty="0">
                <a:solidFill>
                  <a:srgbClr val="8A6D1E"/>
                </a:solidFill>
                <a:latin typeface="Amiri" pitchFamily="2" charset="-78"/>
                <a:ea typeface="Amiri" pitchFamily="2" charset="-78"/>
                <a:cs typeface="Amiri" pitchFamily="2" charset="-78"/>
              </a:rPr>
              <a:t>التُّفَّاحَ</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not drink?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milk</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coffee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وَلَا أَشْرَبُ القَهْوَةَ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drinks does she have every day?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 and orange juice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 and milk</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coffee and lemon juice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drinks </a:t>
            </a:r>
            <a:pPr algn="l" indent="0" marL="0">
              <a:buNone/>
            </a:pPr>
            <a:r>
              <a:rPr lang="ar-SA" altLang="en-US" sz="1350" dirty="0">
                <a:solidFill>
                  <a:srgbClr val="8A6D1E"/>
                </a:solidFill>
                <a:latin typeface="Amiri" pitchFamily="2" charset="-78"/>
                <a:ea typeface="Amiri" pitchFamily="2" charset="-78"/>
                <a:cs typeface="Amiri" pitchFamily="2" charset="-78"/>
              </a:rPr>
              <a:t>المَاءَ وَعَصِيرَ البُرْتُقَالِ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Huda have as a snack?</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lettuce and onions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nuts or biscuits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prawns and rice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آكُلُ المُكَسَّرَاتِ أَوِ البِسْكُوِيتَ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الخُبْزَ وَالجُبْنَ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القَهْوَةَ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المَاءَ</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Food preference survey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Food preference survey</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Interview a partner about meals, food and drink. Record preferences and reasons, then report the results with accurate adjective and noun agreement.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pairs students (A interviews B, then swap).</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Ask three questions from the useful-language panel; note answers in English.</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Report back on the mic: he likes … / she doesn’t like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Class tallies the most popular food in the chat.</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Ask “hal tuḥibbu …?” about 3 foods. Report: “he likes …” or “she likes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Ask about meals and drinks, record a reason, report with because (li’annahu / li’annahā).</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Report the results with agreeing adjectives: the salad is fresh (f.), the bread is delicious (m.).</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ea typeface="Amiri" pitchFamily="2" charset="-78"/>
                <a:cs typeface="Amiri" pitchFamily="2" charset="-78"/>
              </a:rPr>
              <a:t>هَلْ تُحِبُّ الأَرُزَّ؟</a:t>
            </a:r>
            <a:endParaRPr lang="ar-SA" sz="1050" dirty="0"/>
          </a:p>
        </p:txBody>
      </p:sp>
      <p:sp>
        <p:nvSpPr>
          <p:cNvPr id="48" name="Text 45"/>
          <p:cNvSpPr txBox="1"/>
          <p:nvPr/>
        </p:nvSpPr>
        <p:spPr>
          <a:xfrm>
            <a:off x="6492240" y="5138928"/>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do you (m.) like rice?</a:t>
            </a:r>
            <a:endParaRPr lang="en-US" sz="1000" dirty="0"/>
          </a:p>
        </p:txBody>
      </p:sp>
      <p:sp>
        <p:nvSpPr>
          <p:cNvPr id="49" name="Text 46"/>
          <p:cNvSpPr txBox="1"/>
          <p:nvPr/>
        </p:nvSpPr>
        <p:spPr>
          <a:xfrm>
            <a:off x="8732520" y="5365699"/>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ea typeface="Amiri" pitchFamily="2" charset="-78"/>
                <a:cs typeface="Amiri" pitchFamily="2" charset="-78"/>
              </a:rPr>
              <a:t>هَلْ تُحِبِّينَ الأَرُزَّ؟</a:t>
            </a:r>
            <a:endParaRPr lang="ar-SA" sz="1050" dirty="0"/>
          </a:p>
        </p:txBody>
      </p:sp>
      <p:sp>
        <p:nvSpPr>
          <p:cNvPr id="50" name="Text 47"/>
          <p:cNvSpPr txBox="1"/>
          <p:nvPr/>
        </p:nvSpPr>
        <p:spPr>
          <a:xfrm>
            <a:off x="6492240" y="5365699"/>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do you (f.) like rice?</a:t>
            </a:r>
            <a:endParaRPr lang="en-US" sz="1000" dirty="0"/>
          </a:p>
        </p:txBody>
      </p:sp>
      <p:sp>
        <p:nvSpPr>
          <p:cNvPr id="51" name="Text 48"/>
          <p:cNvSpPr txBox="1"/>
          <p:nvPr/>
        </p:nvSpPr>
        <p:spPr>
          <a:xfrm>
            <a:off x="8732520" y="5592470"/>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ea typeface="Amiri" pitchFamily="2" charset="-78"/>
                <a:cs typeface="Amiri" pitchFamily="2" charset="-78"/>
              </a:rPr>
              <a:t>مَاذَا تَأْكُلُ فِي الغَدَاءِ؟</a:t>
            </a:r>
            <a:endParaRPr lang="ar-SA" sz="1050" dirty="0"/>
          </a:p>
        </p:txBody>
      </p:sp>
      <p:sp>
        <p:nvSpPr>
          <p:cNvPr id="52" name="Text 49"/>
          <p:cNvSpPr txBox="1"/>
          <p:nvPr/>
        </p:nvSpPr>
        <p:spPr>
          <a:xfrm>
            <a:off x="6492240" y="5592470"/>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what do you eat for lunch?</a:t>
            </a:r>
            <a:endParaRPr lang="en-US" sz="1000" dirty="0"/>
          </a:p>
        </p:txBody>
      </p:sp>
      <p:sp>
        <p:nvSpPr>
          <p:cNvPr id="53" name="Text 50"/>
          <p:cNvSpPr txBox="1"/>
          <p:nvPr/>
        </p:nvSpPr>
        <p:spPr>
          <a:xfrm>
            <a:off x="8732520" y="5819242"/>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ea typeface="Amiri" pitchFamily="2" charset="-78"/>
                <a:cs typeface="Amiri" pitchFamily="2" charset="-78"/>
              </a:rPr>
              <a:t>هُوَ يُحِبُّ الدَّجَاجَ</a:t>
            </a:r>
            <a:endParaRPr lang="ar-SA" sz="1050" dirty="0"/>
          </a:p>
        </p:txBody>
      </p:sp>
      <p:sp>
        <p:nvSpPr>
          <p:cNvPr id="54" name="Text 51"/>
          <p:cNvSpPr txBox="1"/>
          <p:nvPr/>
        </p:nvSpPr>
        <p:spPr>
          <a:xfrm>
            <a:off x="6492240" y="5819242"/>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 likes chicken</a:t>
            </a:r>
            <a:endParaRPr lang="en-US" sz="1000" dirty="0"/>
          </a:p>
        </p:txBody>
      </p:sp>
      <p:sp>
        <p:nvSpPr>
          <p:cNvPr id="55" name="Text 52"/>
          <p:cNvSpPr txBox="1"/>
          <p:nvPr/>
        </p:nvSpPr>
        <p:spPr>
          <a:xfrm>
            <a:off x="8732520" y="6046013"/>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ea typeface="Amiri" pitchFamily="2" charset="-78"/>
                <a:cs typeface="Amiri" pitchFamily="2" charset="-78"/>
              </a:rPr>
              <a:t>لِأَنَّهُ لَذِيذٌ</a:t>
            </a:r>
            <a:endParaRPr lang="ar-SA" sz="1050" dirty="0"/>
          </a:p>
        </p:txBody>
      </p:sp>
      <p:sp>
        <p:nvSpPr>
          <p:cNvPr id="56" name="Text 53"/>
          <p:cNvSpPr txBox="1"/>
          <p:nvPr/>
        </p:nvSpPr>
        <p:spPr>
          <a:xfrm>
            <a:off x="6492240" y="6046013"/>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it is delicious</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Food survey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تُحِبُّ السَّمَكَ؟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تَشْرَبُ كُلَّ يَوْمٍ؟</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الطَّعَامُ الَّذِي لَا تُحِبُّهُ؟</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طَعَامُكَ المُفَضَّلُ؟ / مَا طَعَامُكِ المُفَضَّلُ؟</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نَعَمْ، أُحِبُّ ___ . / لَا، لَا أُحِبُّ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أَشْرَبُ ___ وَ ___ كُلَّ يَوْمٍ.</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لَا أُحِبُّ ___ لِأَنَّهُ / لِأَنَّهَا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طَعَامِي المُفَضَّلُ ___ لِأَنَّهُ ___ جِدًّا.</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أ</a:t>
            </a:r>
            <a:endParaRPr lang="ar-SA"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تُحِبِّينَ السَّلَطَةَ؟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 you (f.) like salad?</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ب</a:t>
            </a:r>
            <a:endParaRPr lang="ar-SA"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نَعَمْ، أُحِبُّ السَّلَطَةَ كَثِيرًا.</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Yes, I like salad a lot.</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Say what you like, don’t like and drink — with the word bank.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things you like, one thing you don’t like, one thing you drink every day.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Likes and dislikes, then report one partner’s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four food words, two drinks, wa (and) and one negative — plus one sentence about a partner (he / she likes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 8-sentence food profile with adjectives and “one” forms.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Stretch: a food profile with agreeing adjectives, a frequency word and collective / one forms (tuffāḥ / tuffāḥa).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صَدِيقِي يُحِبُّ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partner (m.) likes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صَدِيقَتِي لَا تُحِبُّ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partner (f.) doesn’t like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لِأَنَّهُ لَذِيذٌ / لِأَنَّهَا لَذِيذَةٌ.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because it is delicious.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دَائِمًا / أَحْيَانًا آكُلُ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always / sometimes eat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 وَلٰكِنِّي لَا أُحِبُّ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but I don’t like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and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أُحِبُّ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like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آكُلُ ______ كُلَّ يَوْمٍ.</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eat … every day.</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أَشْرَبُ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drink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تُحِبُّ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like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خُبْزٌ  ·  أَرُزٌّ  ·  دَجَاجٌ  ·  سَمَكٌ  ·  بَيْضٌ  ·  جُبْنٌ  ·  مَاءٌ  ·  حَلِيبٌ  ·  عَصِيرٌ  ·  شَايٌ  ·  قَهْوَةٌ  ·  لَذِيذٌ / لَذِيذَةٌ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5–6 sentences about foods and drinks you like and dislike. Include at least four food words, two drinks, </a:t>
            </a:r>
            <a:pPr algn="l" indent="0" marL="0">
              <a:buNone/>
            </a:pPr>
            <a:r>
              <a:rPr lang="ar-SA" altLang="en-US" sz="1750" b="1" dirty="0">
                <a:solidFill>
                  <a:srgbClr val="1F2A37"/>
                </a:solidFill>
                <a:latin typeface="Amiri" pitchFamily="2" charset="-78"/>
                <a:ea typeface="Amiri" pitchFamily="2" charset="-78"/>
                <a:cs typeface="Amiri" pitchFamily="2" charset="-78"/>
              </a:rPr>
              <a:t>وَ</a:t>
            </a:r>
            <a:pPr algn="l" indent="0" marL="0">
              <a:buNone/>
            </a:pPr>
            <a:r>
              <a:rPr lang="en-US" sz="1350" b="1" dirty="0">
                <a:solidFill>
                  <a:srgbClr val="1F2A37"/>
                </a:solidFill>
                <a:latin typeface="Calibri" pitchFamily="34" charset="0"/>
                <a:cs typeface="Amiri" pitchFamily="2" charset="-78"/>
              </a:rPr>
              <a:t> and one negative sentence.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أُحِبُّ</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لَا أُحِبُّ</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least one sentence with </a:t>
            </a:r>
            <a:pPr algn="l" indent="0" marL="0">
              <a:buNone/>
            </a:pPr>
            <a:r>
              <a:rPr lang="ar-SA" altLang="en-US" sz="1550" dirty="0">
                <a:solidFill>
                  <a:srgbClr val="1F2A37"/>
                </a:solidFill>
                <a:latin typeface="Amiri" pitchFamily="2" charset="-78"/>
                <a:ea typeface="Amiri" pitchFamily="2" charset="-78"/>
                <a:cs typeface="Amiri" pitchFamily="2" charset="-78"/>
              </a:rPr>
              <a:t>آكُلُ</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أَشْرَبُ</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Join ideas with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وَلٰكِنْ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the Arabic spelling against the lesson bank.</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التُّفَّاحَ، وَآكُلُ تُفَّاحَةً كُلَّ يَوْمٍ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like apples, and I eat an apple every day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القَهْوَةُ مُرَّةٌ، وَلٰكِنَّ الشَّايَ حُلْوٌ</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coffee is bitter, but tea is sweet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السَّلَطَةُ صِحِّيَّةٌ وَطَازَجَةٌ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salad is healthy and fresh</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الوَجْبَةِ الخَفِيفَةِ آكُلُ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a snack I eat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أَشْرَبُ القَهْوَةَ أَبَدًا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never drink coffee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أُحِبُّ الخُبْزَ وَالجُبْنَ، وَأُحِبُّ التُّفَّاحَ أَيْضًا. لَا أُحِبُّ السَّمَكَ، وَلٰكِنِّي أُحِبُّ الدَّجَاجَ. آكُلُ الأَرُزَّ كَثِيرًا، وَأَشْرَبُ المَاءَ وَالعَصِيرَ كُلَّ يَوْمٍ.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like bread and cheese, and I also like apples. I don’t like fish, but I like chicken. I eat rice a lot, and I drink water and juice every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“I like” sentences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one negative sentence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sentence with “I eat” or “I drink”</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drink</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food comes straight after I like / I eat.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“lā” before the verb for “don’t”.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he likes / she likes for my partner.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Food → I eat; drink → I drink.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adjective agrees with a feminine food (-a).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water?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حَلِيبٌ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عَصِيرٌ</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لَا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القَهْوَةَ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أَشْرَبُ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آكُلُ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drink”?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أَشْرَبُ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آكُلُ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water?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حَلِيبٌ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عَصِيرٌ</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مَاءٌ</a:t>
            </a:r>
            <a:pPr algn="l" indent="0" marL="0">
              <a:buNone/>
            </a:pPr>
            <a:r>
              <a:rPr lang="en-US" sz="1050" i="1" dirty="0">
                <a:solidFill>
                  <a:srgbClr val="8A6D1E"/>
                </a:solidFill>
                <a:latin typeface="Calibri" pitchFamily="34" charset="0"/>
                <a:cs typeface="Amiri" pitchFamily="2" charset="-78"/>
              </a:rPr>
              <a:t> means water.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لَا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القَهْوَةَ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أَشْرَبُ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أُحِبُّ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آكُلُ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لَا أُحِبُّ</a:t>
            </a:r>
            <a:pPr algn="l" indent="0" marL="0">
              <a:buNone/>
            </a:pPr>
            <a:r>
              <a:rPr lang="en-US" sz="1050" i="1" dirty="0">
                <a:solidFill>
                  <a:srgbClr val="8A6D1E"/>
                </a:solidFill>
                <a:latin typeface="Calibri" pitchFamily="34" charset="0"/>
                <a:cs typeface="Amiri" pitchFamily="2" charset="-78"/>
              </a:rPr>
              <a:t> = I do not like.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drink”?</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أَشْرَبُ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آكُلُ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أُفَضِّلُ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أَشْرَبُ</a:t>
            </a:r>
            <a:pPr algn="l" indent="0" marL="0">
              <a:buNone/>
            </a:pPr>
            <a:r>
              <a:rPr lang="en-US" sz="1050" i="1" dirty="0">
                <a:solidFill>
                  <a:srgbClr val="8A6D1E"/>
                </a:solidFill>
                <a:latin typeface="Calibri" pitchFamily="34" charset="0"/>
                <a:cs typeface="Amiri" pitchFamily="2" charset="-78"/>
              </a:rPr>
              <a:t> means I drink.</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family shopping note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نَحْنُ نَشْتَرِي خُبْزًا وَأَرُزًّا وَدَجَاجًا لِلْعَشَاءِ. نَحْتَاجُ أَيْضًا إِلَى زَيْتٍ وَمِلْحٍ وَقَلِيلٍ مِنَ السُّكَّرِ. أُمِّي تُحِبُّ السَّلَطَةَ مَعَ الخَسِّ وَالطَّمَاطِمِ وَالبَصَلِ، وَأَبِي يُحِبُّ الحَسَاءَ. أَخِي لَا يُحِبُّ الخَضْرَوَاتِ، وَلٰكِنَّهُ يُحِبُّ الفَاكِهَةَ، خُصُوصًا المَوْزَ وَالعِنَبَ. نَشْتَرِي أَحْيَانًا الرُّوبِيَانَ وَمَأْكُولَاتٍ بَحْرِيَّةً، وَنَشْتَرِي أَيْضًا حَلِيبًا وَمَاءً.</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نَشْتَرِي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buy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لِلْعَشَاءِ</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dinner</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نَحْتَاجُ إِلَى</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need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قَلِيلٍ مِنَ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little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أُمِّي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mother</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أَبِي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father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أَخِي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brother</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خُصُوصًا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especially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أَحْيَانًا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sometimes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أَيْضًا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also</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family buying for dinner?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 potatoes and soup</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bread, rice and chicken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pasta, eggs and cheese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likes salad?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father</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brother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mother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brother dislike?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vegetables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fruit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milk</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fruit does he especially like?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oranges and dates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bananas and grapes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apples and strawberries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drinks are bought?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milk and water</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juice and tea</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coffee and milk</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Which three ingredients are needed in addition to the main foods?</a:t>
            </a:r>
            <a:endParaRPr lang="en-US" sz="9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cheese, yoghurt and milk</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 coffee and juice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oil, salt and a little sugar</a:t>
            </a:r>
            <a:endParaRPr lang="en-US" sz="1250" dirty="0"/>
          </a:p>
        </p:txBody>
      </p:sp>
      <p:sp>
        <p:nvSpPr>
          <p:cNvPr id="95" name="Shape 9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6313932" y="4288536"/>
            <a:ext cx="310896" cy="310896"/>
          </a:xfrm>
          <a:prstGeom prst="ellipse">
            <a:avLst/>
          </a:prstGeom>
          <a:solidFill>
            <a:srgbClr val="1B3B6F"/>
          </a:solidFill>
          <a:ln w="12700">
            <a:solidFill>
              <a:srgbClr val="1B3B6F"/>
            </a:solidFill>
            <a:prstDash val="solid"/>
          </a:ln>
        </p:spPr>
      </p:sp>
      <p:sp>
        <p:nvSpPr>
          <p:cNvPr id="97" name="Text 9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98" name="Text 9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included in the mother’s salad?</a:t>
            </a:r>
            <a:endParaRPr lang="en-US" sz="1250" dirty="0"/>
          </a:p>
        </p:txBody>
      </p:sp>
      <p:sp>
        <p:nvSpPr>
          <p:cNvPr id="99" name="Shape 96"/>
          <p:cNvSpPr/>
          <p:nvPr/>
        </p:nvSpPr>
        <p:spPr>
          <a:xfrm>
            <a:off x="6368796" y="4873752"/>
            <a:ext cx="256032" cy="256032"/>
          </a:xfrm>
          <a:prstGeom prst="ellipse">
            <a:avLst/>
          </a:prstGeom>
          <a:solidFill>
            <a:srgbClr val="F4F1EA"/>
          </a:solidFill>
          <a:ln w="12700">
            <a:solidFill>
              <a:srgbClr val="F4F1EA"/>
            </a:solidFill>
            <a:prstDash val="solid"/>
          </a:ln>
        </p:spPr>
      </p:sp>
      <p:sp>
        <p:nvSpPr>
          <p:cNvPr id="100" name="Text 9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1" name="Text 98"/>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potatoes, carrots and beans</a:t>
            </a:r>
            <a:endParaRPr lang="en-US" sz="1250" dirty="0"/>
          </a:p>
        </p:txBody>
      </p:sp>
      <p:sp>
        <p:nvSpPr>
          <p:cNvPr id="102" name="Shape 99"/>
          <p:cNvSpPr/>
          <p:nvPr/>
        </p:nvSpPr>
        <p:spPr>
          <a:xfrm>
            <a:off x="6368796" y="5330952"/>
            <a:ext cx="256032" cy="256032"/>
          </a:xfrm>
          <a:prstGeom prst="ellipse">
            <a:avLst/>
          </a:prstGeom>
          <a:solidFill>
            <a:srgbClr val="F4F1EA"/>
          </a:solidFill>
          <a:ln w="12700">
            <a:solidFill>
              <a:srgbClr val="F4F1EA"/>
            </a:solidFill>
            <a:prstDash val="solid"/>
          </a:ln>
        </p:spPr>
      </p:sp>
      <p:sp>
        <p:nvSpPr>
          <p:cNvPr id="103" name="Text 10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4" name="Text 101"/>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rice, chicken and fish</a:t>
            </a:r>
            <a:endParaRPr lang="en-US" sz="1250" dirty="0"/>
          </a:p>
        </p:txBody>
      </p:sp>
      <p:sp>
        <p:nvSpPr>
          <p:cNvPr id="105" name="Shape 102"/>
          <p:cNvSpPr/>
          <p:nvPr/>
        </p:nvSpPr>
        <p:spPr>
          <a:xfrm>
            <a:off x="6368796" y="5788152"/>
            <a:ext cx="256032" cy="256032"/>
          </a:xfrm>
          <a:prstGeom prst="ellipse">
            <a:avLst/>
          </a:prstGeom>
          <a:solidFill>
            <a:srgbClr val="F4F1EA"/>
          </a:solidFill>
          <a:ln w="12700">
            <a:solidFill>
              <a:srgbClr val="F4F1EA"/>
            </a:solidFill>
            <a:prstDash val="solid"/>
          </a:ln>
        </p:spPr>
      </p:sp>
      <p:sp>
        <p:nvSpPr>
          <p:cNvPr id="106" name="Text 10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7" name="Text 104"/>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lettuce, tomatoes and onions</a:t>
            </a:r>
            <a:endParaRPr lang="en-US" sz="1250" dirty="0"/>
          </a:p>
        </p:txBody>
      </p:sp>
      <p:sp>
        <p:nvSpPr>
          <p:cNvPr id="108" name="Shape 105"/>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9" name="Shape 106"/>
          <p:cNvSpPr/>
          <p:nvPr/>
        </p:nvSpPr>
        <p:spPr>
          <a:xfrm>
            <a:off x="9178290" y="4288536"/>
            <a:ext cx="310896" cy="310896"/>
          </a:xfrm>
          <a:prstGeom prst="ellipse">
            <a:avLst/>
          </a:prstGeom>
          <a:solidFill>
            <a:srgbClr val="1B3B6F"/>
          </a:solidFill>
          <a:ln w="12700">
            <a:solidFill>
              <a:srgbClr val="1B3B6F"/>
            </a:solidFill>
            <a:prstDash val="solid"/>
          </a:ln>
        </p:spPr>
      </p:sp>
      <p:sp>
        <p:nvSpPr>
          <p:cNvPr id="110" name="Text 107"/>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11" name="Text 108"/>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seafood is mentioned specifically?</a:t>
            </a:r>
            <a:endParaRPr lang="en-US" sz="1250" dirty="0"/>
          </a:p>
        </p:txBody>
      </p:sp>
      <p:sp>
        <p:nvSpPr>
          <p:cNvPr id="112" name="Shape 109"/>
          <p:cNvSpPr/>
          <p:nvPr/>
        </p:nvSpPr>
        <p:spPr>
          <a:xfrm>
            <a:off x="9233154" y="4873752"/>
            <a:ext cx="256032" cy="256032"/>
          </a:xfrm>
          <a:prstGeom prst="ellipse">
            <a:avLst/>
          </a:prstGeom>
          <a:solidFill>
            <a:srgbClr val="F4F1EA"/>
          </a:solidFill>
          <a:ln w="12700">
            <a:solidFill>
              <a:srgbClr val="F4F1EA"/>
            </a:solidFill>
            <a:prstDash val="solid"/>
          </a:ln>
        </p:spPr>
      </p:sp>
      <p:sp>
        <p:nvSpPr>
          <p:cNvPr id="113" name="Text 110"/>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4" name="Text 111"/>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prawns</a:t>
            </a:r>
            <a:endParaRPr lang="en-US" sz="1250" dirty="0"/>
          </a:p>
        </p:txBody>
      </p:sp>
      <p:sp>
        <p:nvSpPr>
          <p:cNvPr id="115" name="Shape 112"/>
          <p:cNvSpPr/>
          <p:nvPr/>
        </p:nvSpPr>
        <p:spPr>
          <a:xfrm>
            <a:off x="9233154" y="5330952"/>
            <a:ext cx="256032" cy="256032"/>
          </a:xfrm>
          <a:prstGeom prst="ellipse">
            <a:avLst/>
          </a:prstGeom>
          <a:solidFill>
            <a:srgbClr val="F4F1EA"/>
          </a:solidFill>
          <a:ln w="12700">
            <a:solidFill>
              <a:srgbClr val="F4F1EA"/>
            </a:solidFill>
            <a:prstDash val="solid"/>
          </a:ln>
        </p:spPr>
      </p:sp>
      <p:sp>
        <p:nvSpPr>
          <p:cNvPr id="116" name="Text 113"/>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7" name="Text 114"/>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tuna</a:t>
            </a:r>
            <a:endParaRPr lang="en-US" sz="1250" dirty="0"/>
          </a:p>
        </p:txBody>
      </p:sp>
      <p:sp>
        <p:nvSpPr>
          <p:cNvPr id="118" name="Shape 115"/>
          <p:cNvSpPr/>
          <p:nvPr/>
        </p:nvSpPr>
        <p:spPr>
          <a:xfrm>
            <a:off x="9233154" y="5788152"/>
            <a:ext cx="256032" cy="256032"/>
          </a:xfrm>
          <a:prstGeom prst="ellipse">
            <a:avLst/>
          </a:prstGeom>
          <a:solidFill>
            <a:srgbClr val="F4F1EA"/>
          </a:solidFill>
          <a:ln w="12700">
            <a:solidFill>
              <a:srgbClr val="F4F1EA"/>
            </a:solidFill>
            <a:prstDash val="solid"/>
          </a:ln>
        </p:spPr>
      </p:sp>
      <p:sp>
        <p:nvSpPr>
          <p:cNvPr id="119" name="Text 116"/>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20" name="Text 117"/>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crab</a:t>
            </a:r>
            <a:endParaRPr lang="en-US" sz="1250" dirty="0"/>
          </a:p>
        </p:txBody>
      </p:sp>
      <p:sp>
        <p:nvSpPr>
          <p:cNvPr id="121" name="Text 1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family buying for dinner?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fish, potatoes and soup</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bread, rice and chicken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pasta, eggs and cheese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opening sentence lists </a:t>
            </a:r>
            <a:pPr algn="l" indent="0" marL="0">
              <a:buNone/>
            </a:pPr>
            <a:r>
              <a:rPr lang="ar-SA" altLang="en-US" sz="1350" dirty="0">
                <a:solidFill>
                  <a:srgbClr val="8A6D1E"/>
                </a:solidFill>
                <a:latin typeface="Amiri" pitchFamily="2" charset="-78"/>
                <a:ea typeface="Amiri" pitchFamily="2" charset="-78"/>
                <a:cs typeface="Amiri" pitchFamily="2" charset="-78"/>
              </a:rPr>
              <a:t>خُبْزًا وَأَرُزًّا وَدَجَاجًا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likes salad?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father</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brother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mother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أُمِّي تُحِبُّ السَّلَطَةَ.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brother dislike?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vegetables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fruit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milk</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does not like </a:t>
            </a:r>
            <a:pPr algn="l" indent="0" marL="0">
              <a:buNone/>
            </a:pPr>
            <a:r>
              <a:rPr lang="ar-SA" altLang="en-US" sz="1350" dirty="0">
                <a:solidFill>
                  <a:srgbClr val="8A6D1E"/>
                </a:solidFill>
                <a:latin typeface="Amiri" pitchFamily="2" charset="-78"/>
                <a:ea typeface="Amiri" pitchFamily="2" charset="-78"/>
                <a:cs typeface="Amiri" pitchFamily="2" charset="-78"/>
              </a:rPr>
              <a:t>الخَضْرَوَاتِ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fruit does he especially like?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oranges and dates</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bananas and grapes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apples and strawberries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ea typeface="Amiri" pitchFamily="2" charset="-78"/>
                <a:cs typeface="Amiri" pitchFamily="2" charset="-78"/>
              </a:rPr>
              <a:t>خُصُوصًا المَوْزَ وَالعِنَبَ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drinks are bought?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milk and water</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juice and tea</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coffee and milk</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gives </a:t>
            </a:r>
            <a:pPr algn="l" indent="0" marL="0">
              <a:buNone/>
            </a:pPr>
            <a:r>
              <a:rPr lang="ar-SA" altLang="en-US" sz="1350" dirty="0">
                <a:solidFill>
                  <a:srgbClr val="8A6D1E"/>
                </a:solidFill>
                <a:latin typeface="Amiri" pitchFamily="2" charset="-78"/>
                <a:ea typeface="Amiri" pitchFamily="2" charset="-78"/>
                <a:cs typeface="Amiri" pitchFamily="2" charset="-78"/>
              </a:rPr>
              <a:t>حَلِيبًا وَمَاءً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Which three ingredients are needed in addition to the main foods?</a:t>
            </a:r>
            <a:endParaRPr lang="en-US" sz="9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cheese, yoghurt and milk</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 coffee and juice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oil, salt and a little sugar</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lists </a:t>
            </a:r>
            <a:pPr algn="l" indent="0" marL="0">
              <a:buNone/>
            </a:pPr>
            <a:r>
              <a:rPr lang="ar-SA" altLang="en-US" sz="1350" dirty="0">
                <a:solidFill>
                  <a:srgbClr val="8A6D1E"/>
                </a:solidFill>
                <a:latin typeface="Amiri" pitchFamily="2" charset="-78"/>
                <a:ea typeface="Amiri" pitchFamily="2" charset="-78"/>
                <a:cs typeface="Amiri" pitchFamily="2" charset="-78"/>
              </a:rPr>
              <a:t>زَيْتٍ وَمِلْحٍ وَقَلِيلٍ مِنَ السُّكَّرِ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8" name="Shape 105"/>
          <p:cNvSpPr/>
          <p:nvPr/>
        </p:nvSpPr>
        <p:spPr>
          <a:xfrm>
            <a:off x="6313932" y="4288536"/>
            <a:ext cx="310896" cy="310896"/>
          </a:xfrm>
          <a:prstGeom prst="ellipse">
            <a:avLst/>
          </a:prstGeom>
          <a:solidFill>
            <a:srgbClr val="1B3B6F"/>
          </a:solidFill>
          <a:ln w="12700">
            <a:solidFill>
              <a:srgbClr val="1B3B6F"/>
            </a:solidFill>
            <a:prstDash val="solid"/>
          </a:ln>
        </p:spPr>
      </p:sp>
      <p:sp>
        <p:nvSpPr>
          <p:cNvPr id="109" name="Text 10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110" name="Text 107"/>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included in the mother’s salad?</a:t>
            </a:r>
            <a:endParaRPr lang="en-US" sz="1250" dirty="0"/>
          </a:p>
        </p:txBody>
      </p:sp>
      <p:sp>
        <p:nvSpPr>
          <p:cNvPr id="111" name="Shape 108"/>
          <p:cNvSpPr/>
          <p:nvPr/>
        </p:nvSpPr>
        <p:spPr>
          <a:xfrm>
            <a:off x="6368796" y="4831080"/>
            <a:ext cx="256032" cy="256032"/>
          </a:xfrm>
          <a:prstGeom prst="ellipse">
            <a:avLst/>
          </a:prstGeom>
          <a:solidFill>
            <a:srgbClr val="C9CED6"/>
          </a:solidFill>
          <a:ln w="12700">
            <a:solidFill>
              <a:srgbClr val="C9CED6"/>
            </a:solidFill>
            <a:prstDash val="solid"/>
          </a:ln>
        </p:spPr>
      </p:sp>
      <p:sp>
        <p:nvSpPr>
          <p:cNvPr id="112" name="Text 109"/>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3" name="Text 110"/>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potatoes, carrots and beans</a:t>
            </a:r>
            <a:endParaRPr lang="en-US" sz="1150" dirty="0"/>
          </a:p>
        </p:txBody>
      </p:sp>
      <p:sp>
        <p:nvSpPr>
          <p:cNvPr id="114" name="Shape 111"/>
          <p:cNvSpPr/>
          <p:nvPr/>
        </p:nvSpPr>
        <p:spPr>
          <a:xfrm>
            <a:off x="6368796" y="5202936"/>
            <a:ext cx="256032" cy="256032"/>
          </a:xfrm>
          <a:prstGeom prst="ellipse">
            <a:avLst/>
          </a:prstGeom>
          <a:solidFill>
            <a:srgbClr val="C9CED6"/>
          </a:solidFill>
          <a:ln w="12700">
            <a:solidFill>
              <a:srgbClr val="C9CED6"/>
            </a:solidFill>
            <a:prstDash val="solid"/>
          </a:ln>
        </p:spPr>
      </p:sp>
      <p:sp>
        <p:nvSpPr>
          <p:cNvPr id="115" name="Text 112"/>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6" name="Text 113"/>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rice, chicken and fish</a:t>
            </a:r>
            <a:endParaRPr lang="en-US" sz="1250" dirty="0"/>
          </a:p>
        </p:txBody>
      </p:sp>
      <p:sp>
        <p:nvSpPr>
          <p:cNvPr id="117" name="Shape 114"/>
          <p:cNvSpPr/>
          <p:nvPr/>
        </p:nvSpPr>
        <p:spPr>
          <a:xfrm>
            <a:off x="6277356" y="5538216"/>
            <a:ext cx="2498598" cy="347472"/>
          </a:xfrm>
          <a:prstGeom prst="roundRect">
            <a:avLst>
              <a:gd name="adj" fmla="val 15789"/>
            </a:avLst>
          </a:prstGeom>
          <a:solidFill>
            <a:srgbClr val="E6F4EC"/>
          </a:solidFill>
          <a:ln w="9525">
            <a:solidFill>
              <a:srgbClr val="2E8B57"/>
            </a:solidFill>
            <a:prstDash val="solid"/>
          </a:ln>
        </p:spPr>
      </p:sp>
      <p:sp>
        <p:nvSpPr>
          <p:cNvPr id="118" name="Shape 115"/>
          <p:cNvSpPr/>
          <p:nvPr/>
        </p:nvSpPr>
        <p:spPr>
          <a:xfrm>
            <a:off x="6368796" y="5574792"/>
            <a:ext cx="256032" cy="256032"/>
          </a:xfrm>
          <a:prstGeom prst="ellipse">
            <a:avLst/>
          </a:prstGeom>
          <a:solidFill>
            <a:srgbClr val="2E8B57"/>
          </a:solidFill>
          <a:ln w="12700">
            <a:solidFill>
              <a:srgbClr val="2E8B57"/>
            </a:solidFill>
            <a:prstDash val="solid"/>
          </a:ln>
        </p:spPr>
      </p:sp>
      <p:sp>
        <p:nvSpPr>
          <p:cNvPr id="119" name="Text 116"/>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20" name="Text 117"/>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lettuce, tomatoes and onions</a:t>
            </a:r>
            <a:endParaRPr lang="en-US" sz="1150" dirty="0"/>
          </a:p>
        </p:txBody>
      </p:sp>
      <p:sp>
        <p:nvSpPr>
          <p:cNvPr id="121" name="Text 118"/>
          <p:cNvSpPr txBox="1"/>
          <p:nvPr/>
        </p:nvSpPr>
        <p:spPr>
          <a:xfrm>
            <a:off x="6313932"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salad contains </a:t>
            </a:r>
            <a:pPr algn="l" indent="0" marL="0">
              <a:buNone/>
            </a:pPr>
            <a:r>
              <a:rPr lang="ar-SA" altLang="en-US" sz="1350" dirty="0">
                <a:solidFill>
                  <a:srgbClr val="8A6D1E"/>
                </a:solidFill>
                <a:latin typeface="Amiri" pitchFamily="2" charset="-78"/>
                <a:ea typeface="Amiri" pitchFamily="2" charset="-78"/>
                <a:cs typeface="Amiri" pitchFamily="2" charset="-78"/>
              </a:rPr>
              <a:t>الخَسِّ وَالطَّمَاطِمِ وَالبَصَلِ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22" name="Shape 119"/>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3" name="Shape 120"/>
          <p:cNvSpPr/>
          <p:nvPr/>
        </p:nvSpPr>
        <p:spPr>
          <a:xfrm>
            <a:off x="9178290" y="4288536"/>
            <a:ext cx="310896" cy="310896"/>
          </a:xfrm>
          <a:prstGeom prst="ellipse">
            <a:avLst/>
          </a:prstGeom>
          <a:solidFill>
            <a:srgbClr val="1B3B6F"/>
          </a:solidFill>
          <a:ln w="12700">
            <a:solidFill>
              <a:srgbClr val="1B3B6F"/>
            </a:solidFill>
            <a:prstDash val="solid"/>
          </a:ln>
        </p:spPr>
      </p:sp>
      <p:sp>
        <p:nvSpPr>
          <p:cNvPr id="124" name="Text 121"/>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25" name="Text 122"/>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seafood is mentioned specifically?</a:t>
            </a:r>
            <a:endParaRPr lang="en-US" sz="1250" dirty="0"/>
          </a:p>
        </p:txBody>
      </p:sp>
      <p:sp>
        <p:nvSpPr>
          <p:cNvPr id="126" name="Shape 123"/>
          <p:cNvSpPr/>
          <p:nvPr/>
        </p:nvSpPr>
        <p:spPr>
          <a:xfrm>
            <a:off x="9141714" y="4794504"/>
            <a:ext cx="2498598" cy="347472"/>
          </a:xfrm>
          <a:prstGeom prst="roundRect">
            <a:avLst>
              <a:gd name="adj" fmla="val 15789"/>
            </a:avLst>
          </a:prstGeom>
          <a:solidFill>
            <a:srgbClr val="E6F4EC"/>
          </a:solidFill>
          <a:ln w="9525">
            <a:solidFill>
              <a:srgbClr val="2E8B57"/>
            </a:solidFill>
            <a:prstDash val="solid"/>
          </a:ln>
        </p:spPr>
      </p:sp>
      <p:sp>
        <p:nvSpPr>
          <p:cNvPr id="127" name="Shape 124"/>
          <p:cNvSpPr/>
          <p:nvPr/>
        </p:nvSpPr>
        <p:spPr>
          <a:xfrm>
            <a:off x="9233154" y="4831080"/>
            <a:ext cx="256032" cy="256032"/>
          </a:xfrm>
          <a:prstGeom prst="ellipse">
            <a:avLst/>
          </a:prstGeom>
          <a:solidFill>
            <a:srgbClr val="2E8B57"/>
          </a:solidFill>
          <a:ln w="12700">
            <a:solidFill>
              <a:srgbClr val="2E8B57"/>
            </a:solidFill>
            <a:prstDash val="solid"/>
          </a:ln>
        </p:spPr>
      </p:sp>
      <p:sp>
        <p:nvSpPr>
          <p:cNvPr id="128" name="Text 125"/>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129" name="Text 126"/>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prawns</a:t>
            </a:r>
            <a:endParaRPr lang="en-US" sz="1250" dirty="0"/>
          </a:p>
        </p:txBody>
      </p:sp>
      <p:sp>
        <p:nvSpPr>
          <p:cNvPr id="130" name="Shape 127"/>
          <p:cNvSpPr/>
          <p:nvPr/>
        </p:nvSpPr>
        <p:spPr>
          <a:xfrm>
            <a:off x="9233154" y="5202936"/>
            <a:ext cx="256032" cy="256032"/>
          </a:xfrm>
          <a:prstGeom prst="ellipse">
            <a:avLst/>
          </a:prstGeom>
          <a:solidFill>
            <a:srgbClr val="C9CED6"/>
          </a:solidFill>
          <a:ln w="12700">
            <a:solidFill>
              <a:srgbClr val="C9CED6"/>
            </a:solidFill>
            <a:prstDash val="solid"/>
          </a:ln>
        </p:spPr>
      </p:sp>
      <p:sp>
        <p:nvSpPr>
          <p:cNvPr id="131" name="Text 128"/>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32" name="Text 129"/>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tuna</a:t>
            </a:r>
            <a:endParaRPr lang="en-US" sz="1250" dirty="0"/>
          </a:p>
        </p:txBody>
      </p:sp>
      <p:sp>
        <p:nvSpPr>
          <p:cNvPr id="133" name="Shape 130"/>
          <p:cNvSpPr/>
          <p:nvPr/>
        </p:nvSpPr>
        <p:spPr>
          <a:xfrm>
            <a:off x="9233154" y="5574792"/>
            <a:ext cx="256032" cy="256032"/>
          </a:xfrm>
          <a:prstGeom prst="ellipse">
            <a:avLst/>
          </a:prstGeom>
          <a:solidFill>
            <a:srgbClr val="C9CED6"/>
          </a:solidFill>
          <a:ln w="12700">
            <a:solidFill>
              <a:srgbClr val="C9CED6"/>
            </a:solidFill>
            <a:prstDash val="solid"/>
          </a:ln>
        </p:spPr>
      </p:sp>
      <p:sp>
        <p:nvSpPr>
          <p:cNvPr id="134" name="Text 131"/>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35" name="Text 132"/>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crab</a:t>
            </a:r>
            <a:endParaRPr lang="en-US" sz="1250" dirty="0"/>
          </a:p>
        </p:txBody>
      </p:sp>
      <p:sp>
        <p:nvSpPr>
          <p:cNvPr id="136" name="Text 133"/>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الرُّوبِيَانُ</a:t>
            </a:r>
            <a:pPr algn="l" indent="0" marL="0">
              <a:buNone/>
            </a:pPr>
            <a:r>
              <a:rPr lang="en-US" sz="1050" i="1" dirty="0">
                <a:solidFill>
                  <a:srgbClr val="8A6D1E"/>
                </a:solidFill>
                <a:latin typeface="Calibri" pitchFamily="34" charset="0"/>
                <a:cs typeface="Amiri" pitchFamily="2" charset="-78"/>
              </a:rPr>
              <a:t> means prawns or shrimp.</a:t>
            </a:r>
            <a:endParaRPr lang="en-US" sz="1050" dirty="0"/>
          </a:p>
        </p:txBody>
      </p:sp>
      <p:sp>
        <p:nvSpPr>
          <p:cNvPr id="137" name="Text 1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AT-A-L04 · Food and Drink</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Before AT-A-L05: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AT-A-L05 · Eating Out — Café, Menu and Prices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مَطْعَمٌ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restaurant</a:t>
            </a:r>
            <a:pPr indent="0" marL="0">
              <a:buNone/>
            </a:pPr>
            <a:r>
              <a:rPr lang="ar-SA" sz="1000" i="1" dirty="0">
                <a:solidFill>
                  <a:srgbClr val="5A6472"/>
                </a:solidFill>
                <a:latin typeface="Calibri" pitchFamily="34" charset="0"/>
                <a:ea typeface="Amiri" pitchFamily="2" charset="-78"/>
                <a:cs typeface="Amiri" pitchFamily="2" charset="-78"/>
              </a:rPr>
              <a:t>  pl. مَطَاعِمُ</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نَادِلٌ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waiter</a:t>
            </a:r>
            <a:pPr indent="0" marL="0">
              <a:buNone/>
            </a:pPr>
            <a:r>
              <a:rPr lang="ar-SA" sz="1000" i="1" dirty="0">
                <a:solidFill>
                  <a:srgbClr val="5A6472"/>
                </a:solidFill>
                <a:latin typeface="Calibri" pitchFamily="34" charset="0"/>
                <a:ea typeface="Amiri" pitchFamily="2" charset="-78"/>
                <a:cs typeface="Amiri" pitchFamily="2" charset="-78"/>
              </a:rPr>
              <a:t>  f. نَادِلَةٌ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قَائِمَةُ الطَّعَامِ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menu</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الحِسَابُ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bill</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فَضْلِكَ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please (to a man)</a:t>
            </a:r>
            <a:pPr indent="0" marL="0">
              <a:buNone/>
            </a:pPr>
            <a:r>
              <a:rPr lang="ar-SA" sz="1000" i="1" dirty="0">
                <a:solidFill>
                  <a:srgbClr val="5A6472"/>
                </a:solidFill>
                <a:latin typeface="Calibri" pitchFamily="34" charset="0"/>
                <a:ea typeface="Amiri" pitchFamily="2" charset="-78"/>
                <a:cs typeface="Amiri" pitchFamily="2" charset="-78"/>
              </a:rPr>
              <a:t>  f. مِنْ فَضْلِكِ</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how you would ask for water politely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مَاذَا تَطْلُبُ فِي المَطْعَمِ؟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AT-A-L04: the picture game and the vocabulary tab — learn 10 foods and drinks.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5–6 sentences about foods and drinks you like and dislike.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an 8-sentence food profile of a family member, with adjectives and frequency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AT-A-L05 · Eating Out — Café, Menu and Prices</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تَنَاوُلُ الطَّعَامِ خَارِجَ الْبَيْتِ: الْمَقْهَى وَقَائِمَةُ الطَّعَامِ وَالْأَسْعَارُ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café words + one polite request.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AT-A-L04 · Food and Drink — Meals and Preferences</dc:title>
  <dc:subject>PptxGenJS Presentation</dc:subject>
  <dc:creator>Al Madina Online School · Arabic Department</dc:creator>
  <cp:lastModifiedBy>Al Madina Online School · Arabic Department</cp:lastModifiedBy>
  <cp:revision>1</cp:revision>
  <dcterms:created xsi:type="dcterms:W3CDTF">2026-10-11T06:43:42Z</dcterms:created>
  <dcterms:modified xsi:type="dcterms:W3CDTF">2026-10-11T06:43:42Z</dcterms:modified>
</cp:coreProperties>
</file>