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AT-A-L04 — Food and Drink — Meals and Preferences. Website: Advanced Topics › Topic A (Everyday Activities) › Lesson 4.
The website builds this lesson on the F5-L01 lesson engine, with the Topic focus “Describe meals, food and drink, express preferences and explain your choices.” (grammar: Idāfa; adjective agreement; plurals; skills: Reading · Speaking) and the application challenge “Food preference survey”.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4 (AT-A-L04), lesson engine Pathways › Foundation › F5 › AT-A-L04. The website lesson “Food and Drinks”: vocabulary, grammar rules and quiz, patterns, common mistakes, sorter, listening, reading, speaking prompts and model, writing task and model, differentiation, final check and the lesson mission. Picture match: website visual game “Food and Drinks”.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Topic A moves from the day (AT-A-L01–L03) to meals. Core: 10 food and drink words + أُحِبُّ / لَا أُحِبُّ + آكُلُ / أَشْرَبُ. Develop: ask a partner (هَلْ تُحِبُّ؟ / هَلْ تُحِبِّينَ؟) and report (هُوَ يُحِبُّ … / هِيَ تُحِبُّ …). Stretch (Topic A grammar): adjective agreement — الخُبْزُ طَازَجٌ، القَهْوَةُ مُرَّةٌ — and collective / one forms (تُفَّاحٌ / تُفَّاحَةٌ).
• The engine is a Foundation lesson, so most of the class can succeed; the Topic challenge (food survey) is where Develop and Stretch move up to B1 reporting.
• Link to AT-A-L03: frequency words come straight back (دَائِمًا آكُلُ … · لَا أَشْرَبُ القَهْوَةَ أَبَدًا).
• Urdu bridge: many food words are shared — چاول is not, but گوشت / لحم, دودھ / حلیب (no), چائے ← شَايٌ, قہوہ ← قَهْوَةٌ, شکر ← سُكَّرٌ, نمک / مِلْحٌ (no), سلاد ← سَلَطَةٌ.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food and drink words prepared at home at the end of AT-A-L03. Questions 3–5 retrieve AT-A-L03 (frequency), AT-A-L01 (routine) and AT-A-L02 (clock time).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Food follows the verb directly — no “to”: I like bread = uḥibbu l-khubza. Drinks take “I drink”, food takes “I 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چائے، قہوہ، شکر and سلاد sound almost the same. لحم is known from Urdu religious vocabulary (لحم حلال); everyday Urdu uses گوشت. CAREFUL: حلیب is not used in Urdu — milk is دودھ.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(1 of 2)). Hear → Say → See → Use. Transliteration is printed for Core students (cover it for Develop/Stretch).
Collective nouns: دَجَاجٌ (chicken as food), دَجَاجَةٌ (one chicken). Core just learns the food word; Stretch notes the “one”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Staples and proteins (website vocabulary (2 of 2)). Hear → Say → See → Use. Transliteration is printed for Core students (cover it for Develop/Stretch).
Collective nouns: دَجَاجٌ (chicken as food), دَجَاجَةٌ (one chicken). Core just learns the food word; Stretch notes the “one”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(1 of 2)). Hear → Say → See → Use. Transliteration is printed for Core students (cover it for Develop/Stretch).
FLEX: teach if time allows; otherwise these are on the website vocabulary tab for homework.
FLEX. Fruit are collective too: تُفَّاحٌ (apples) → تُفَّاحَةٌ (one apple). طَمَاطِمُ and بَطَاطِسُ are plural-looking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Fruit and vegetables (website vocabulary (2 of 2)). Hear → Say → See → Use. Transliteration is printed for Core students (cover it for Develop/Stretch).
FLEX: teach if time allows; otherwise these are on the website vocabulary tab for homework.
FLEX. Fruit are collective too: تُفَّاحٌ (apples) → تُفَّاحَةٌ (one apple). طَمَاطِمُ and بَطَاطِسُ are plural-looking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(1 of 2)). Hear → Say → See → Use. Transliteration is printed for Core students (cover it for Develop/Stretch).
Drinks go with أَشْرَبُ. قَهْوَةٌ is feminine (ـةٌ) — its adjective will be feminine too: قَهْوَةٌ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Drinks and extras (website vocabulary (2 of 2)). Hear → Say → See → Use. Transliteration is printed for Core students (cover it for Develop/Stretch).
Drinks go with أَشْرَبُ. قَهْوَةٌ is feminine (ـةٌ) — its adjective will be feminine too: قَهْوَةٌ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Ingredients, snacks and seafood (website vocabulary (1 of 2)). Hear → Say → See → Use. Transliteration is printed for Core students (cover it for Develop/Stretch).
FLEX: teach if time allows; otherwise these are on the website vocabulary tab for homework.
FLEX: ingredients and snacks — they appear in the reading text (the shopping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Ingredients, snacks and seafood (website vocabulary (2 of 2)). Hear → Say → See → Use. Transliteration is printed for Core students (cover it for Develop/Stretch).
FLEX: teach if time allows; otherwise these are on the website vocabulary tab for homework.
FLEX: ingredients and snacks — they appear in the reading text (the shopping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“Say what you like” (أُحِبُّ + food, no preposition) and “Make the opinion negative” (لَا + أُحِبُّ). The he / she / we columns are the Topic A person-prefix skill (AT-A-L01) applied to food verbs — Develop needs them for the survey report.
Website common error: أُحِبُّ إِلَى الخُبْزِ ✗ → أُحِبُّ الخُبْزَ ✓. Note آكُلُ starts with a long ā (آ).
Quick-fire: say a food; students answer with the right verb: خُبْزٌ → آكُلُ الخُبْزَ · مَاءٌ → أَشْرَبُ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“Ask another person” (تُحِبُّ to a boy, تُحِبِّينَ to a girl) and “Notice noun gender” (الخُبْزُ طَازَجٌ · القَهْوَةُ مُرَّةٌ · السَّلَطَةُ صِحِّيَّةٌ). The Topic A page lists adjective agreement and plurals as this lesson’s grammar — Stretch students use them in the survey report.
Useful adjectives (teacher list, for Stretch): لَذِيذٌ / لَذِيذَةٌ (delicious), صِحِّيٌّ / صِحِّيَّةٌ (healthy), طَازَجٌ / طَازَجَةٌ (fresh), حُلْوٌ / حُلْوَةٌ (sweet), مُرٌّ / مُرَّةٌ (bitter), سَاخِنٌ / سَاخِنَةٌ (hot), بَارِدٌ / بَارِدَةٌ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opinion frame أُحِبُّ / لَا أُحِبُّ. Build a complete sentence by placing the food or drink directly after the verb, then notice the gender of the noun so later adjectives can agree accurately.”
• Say what you like: أُحِبُّ means “I like”. The food or drink follows directly; do not add a preposition between the verb and the noun.
• Make the opinion negative: Put لَا immediately before أُحِبُّ. The rest of the sentence stays in the same order.
• Notice noun gender: Many food words are masculine, but some are feminine. Learn the noun with its gender because later description words must agree.
• Ask another person: Use تُحِبُّ for a male listener and تُحِبِّينَ for a female listener.
Website common error: Do not write أُحِبُّ إِلَى الخُبْزِ. أُحِبُّ takes the food or drink directly: أُحِبُّ الخُبْزَ.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(أُحِبُّ الخُبْزَ وَالجُبْنَ · لَا أُحِبُّ القَهْوَةَ · أَشْرَبُ المَاءَ وَالعَصِيرَ) joined into a profile, with AT-A-L03 frequency added. Think aloud: “food or drink? which verb?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apple and the salad but هٰذَا for milk? (تُفَّاحَةٌ and سَلَطَةٌ are feminine.) Other cards for homework: هٰذَا خُبْزٌ، هٰذَا أَرُزٌّ، هٰذَا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Food and Drinks”)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apple and the salad but هٰذَا for milk? (تُفَّاحَةٌ and سَلَطَةٌ are feminine.) Other cards for homework: هٰذَا خُبْزٌ، هٰذَا أَرُزٌّ، هٰذَا 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Then: say the right verb for each card — آكُلُ or أَشْرَبُ.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Choose the correct category for each item.
Then: say the right verb for each card — آكُلُ or أَشْرَبُ.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اِسْمِي هُدَى. أُحِبُّ الخُبْزَ وَالجُبْنَ وَالتُّفَّاحَ. فِي الوَجْبَةِ الخَفِيفَةِ آكُلُ المُكَسَّرَاتِ أَوِ البِسْكُوِيتَ. لَا أُحِبُّ السَّمَكَ، وَلَا أَشْرَبُ القَهْوَةَ. أَشْرَبُ المَاءَ وَعَصِيرَ البُرْتُقَالِ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“Interview a partner about meals, food and drink. Record preferences and reasons, then report the results with accurate adjective and noun agreement.”
Meal words for the survey (teacher-added, recycled in AT-A-L06): الفُطُورُ / الإِفْطَارُ (breakfast), الغَدَاءُ (lunch), العَشَاءُ (dinner). Core students may report in English plus the Arabic food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وَمَاذَا تَشْرَبِينَ؟ (And what do you drink?)
ب: أَشْرَبُ المَاءَ وَالعَصِيرَ. (I drink water and juice.)
Website prompts (order changed so Core starts with a yes/no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eight foods and four drinks with picture or English support. · Develop — Ask and answer four preference questions, then report one classmate’s answer. · Stretch — Add collective/singular contrasts such as تُفَّاحٌ / تُفَّاحَةٌ and produce an 8-sentence food profile.
Website writing task (Stretch): Write 5–6 sentences about foods and drinks you like and dislike. Include at least four food words, two drinks, وَ and one negative sentence.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أُحِبُّ الخُبْزَ وَالجُبْنَ · لَا أُحِبُّ السَّمَكَ · آكُلُ الأَرُزَّ / أَشْرَبُ المَاءَ · وَلٰكِنِّي. Stretch: rewrite one sentence with an adjective (الدَّجَاجُ لَذِيذٌ) and one with a “one” form (آكُلُ تُفَّاحَةً).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(AT-A-L05 · Eating Out — Café, Menu and Prices) will spend class time USING this language, so students prepare it tonight — short, simple, easy to access (school guidance: “Simple, Short, Interesting, Relevant, Easy to access”). The five words come from the website AT-A-L05 vocabulary (the AT-A-L05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Food and Drink — Meals and Preferences</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الطَّعَامُ وَالشَّرَابُ وَالْوَجَبَاتُ وَالتَّفْضِيلَاتُ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meals, food and drink, express preferences and explain your choices.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AT-A-L04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Food and drink words, then I like / I don’t like + I eat / I drink.</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food and drink,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عَصِيرٌ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always wake up early.”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مُبَكِّرًا أَبَدًا.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مُبَكِّرًا دَائِمًا.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مُبَكِّرًا دَائِمًا.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أَتَنَاوَلُ الإِفْطَارَ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get dressed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to school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have breakfast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السَّاعَةُ السَّابِعَةُ وَالنِّصْفُ = ?</a:t>
            </a:r>
            <a:endParaRPr lang="ar-SA"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عَصِيرٌ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juice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always wake up early.”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مُبَكِّرًا أَبَدًا.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 مُبَكِّرًا دَائِمًا.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 مُبَكِّرًا دَائِمًا.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AT-A-L03: frequency.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أَتَنَاوَلُ الإِفْطَارَ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get dressed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go to school</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have breakfast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 routine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السَّاعَةُ السَّابِعَةُ وَالنِّصْفُ = ?</a:t>
            </a:r>
            <a:endParaRPr lang="ar-SA"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7:30</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clock time.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Food follows the verb directly — no “to”: I like bread = uḥibbu l-khubza. Drinks take “I drink”, food takes “I eat”.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أُحِبُّ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الخُبْزَ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آكُلُ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الأَرُزَّ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أَشْرَبُ</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and pronounce common food and drink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Separate foods from drinks and notice noun gender where it supports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a like and a dislike using complete Arabic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 short food-and-drink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foods and drinks.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like and don’t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like.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report a partner’s answers (he likes … / she likes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food with an agreeing adjective.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collective and “one” forms (tuffāḥ / tuffāḥa).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40 food and drink words from the website in 4 groups. Today: staples and drinks (CORE). Fruit, vegetables and ingredients are FLEX / homework.</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Staples and proteins · 9</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Fruit and vegetables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Drinks and extras · 9</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Ingredients, snacks and seafood · 11</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شَايٌ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‎چائے‎ </a:t>
            </a:r>
            <a:pPr indent="0" marL="0">
              <a:buNone/>
            </a:pPr>
            <a:r>
              <a:rPr lang="en-US" sz="950" b="1" dirty="0">
                <a:solidFill>
                  <a:srgbClr val="2E8B57"/>
                </a:solidFill>
                <a:latin typeface="Calibri" pitchFamily="34" charset="0"/>
                <a:ea typeface="Calibri" pitchFamily="34" charset="-122"/>
                <a:cs typeface="Calibri" pitchFamily="34" charset="-120"/>
              </a:rPr>
              <a:t> shāy · tea</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قَهْوَةٌ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‎قہوہ‎ </a:t>
            </a:r>
            <a:pPr indent="0" marL="0">
              <a:buNone/>
            </a:pPr>
            <a:r>
              <a:rPr lang="en-US" sz="950" b="1" dirty="0">
                <a:solidFill>
                  <a:srgbClr val="2E8B57"/>
                </a:solidFill>
                <a:latin typeface="Calibri" pitchFamily="34" charset="0"/>
                <a:ea typeface="Calibri" pitchFamily="34" charset="-122"/>
                <a:cs typeface="Calibri" pitchFamily="34" charset="-120"/>
              </a:rPr>
              <a:t> qahwa · coffee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سُكَّرٌ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 </a:t>
            </a:r>
            <a:pPr indent="0" marL="0">
              <a:buNone/>
            </a:pPr>
            <a:r>
              <a:rPr lang="en-US" sz="950" b="1" dirty="0">
                <a:solidFill>
                  <a:srgbClr val="2E8B57"/>
                </a:solidFill>
                <a:latin typeface="Calibri" pitchFamily="34" charset="0"/>
                <a:ea typeface="Calibri" pitchFamily="34" charset="-122"/>
                <a:cs typeface="Calibri" pitchFamily="34" charset="-120"/>
              </a:rPr>
              <a:t> sukkar · sugar</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سَلَطَةٌ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‎سلاد‎ </a:t>
            </a:r>
            <a:pPr indent="0" marL="0">
              <a:buNone/>
            </a:pPr>
            <a:r>
              <a:rPr lang="en-US" sz="950" b="1" dirty="0">
                <a:solidFill>
                  <a:srgbClr val="2E8B57"/>
                </a:solidFill>
                <a:latin typeface="Calibri" pitchFamily="34" charset="0"/>
                <a:ea typeface="Calibri" pitchFamily="34" charset="-122"/>
                <a:cs typeface="Calibri" pitchFamily="34" charset="-120"/>
              </a:rPr>
              <a:t> salaṭa · salad</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لَحْمٌ</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‎لحم (گوشت)‎ </a:t>
            </a:r>
            <a:pPr indent="0" marL="0">
              <a:buNone/>
            </a:pPr>
            <a:r>
              <a:rPr lang="en-US" sz="950" b="1" dirty="0">
                <a:solidFill>
                  <a:srgbClr val="2E8B57"/>
                </a:solidFill>
                <a:latin typeface="Calibri" pitchFamily="34" charset="0"/>
                <a:ea typeface="Calibri" pitchFamily="34" charset="-122"/>
                <a:cs typeface="Calibri" pitchFamily="34" charset="-120"/>
              </a:rPr>
              <a:t> laḥm · meat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Staples and proteins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khub-zun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أَخْبَازٌ</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 loaf</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رَغِيفٌ</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أَرُزٌّ</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a-ruz-zun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مَعْكَرُونَةٌ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maʿ-ka-rū-na-tun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بَيْضٌ</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eggs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bay-ḍun</a:t>
            </a:r>
            <a:endParaRPr lang="en-US" sz="1350" dirty="0"/>
          </a:p>
        </p:txBody>
      </p:sp>
      <p:sp>
        <p:nvSpPr>
          <p:cNvPr id="51" name="Shape 4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بَيْضَاتٌ</a:t>
            </a:r>
            <a:endParaRPr lang="ar-SA" sz="1500" dirty="0"/>
          </a:p>
        </p:txBody>
      </p:sp>
      <p:sp>
        <p:nvSpPr>
          <p:cNvPr id="54" name="Shape 5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6" name="Text 5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بَيْضَةٌ</a:t>
            </a:r>
            <a:endParaRPr lang="ar-SA" sz="1500" dirty="0"/>
          </a:p>
        </p:txBody>
      </p:sp>
      <p:sp>
        <p:nvSpPr>
          <p:cNvPr id="57" name="Shape 5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389120"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0" name="Text 5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جُبْنٌ</a:t>
            </a:r>
            <a:endParaRPr lang="ar-SA" sz="3000" dirty="0"/>
          </a:p>
        </p:txBody>
      </p:sp>
      <p:sp>
        <p:nvSpPr>
          <p:cNvPr id="61" name="Text 5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jub-nun</a:t>
            </a:r>
            <a:endParaRPr lang="en-US" sz="13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Staples and proteins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لَحْمٌ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laḥ-mun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دَجَاجٌ</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chicken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da-jā-jun</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دَجَاجَاتٌ</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دَجَاجَةٌ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سَمَكٌ</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sa-ma-kun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أَسْمَاكٌ</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سَمَكَةٌ</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فَاصُولِيَاءُ</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beans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fā-ṣū-li-yā-ʾu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Fruit and vegetables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0" name="Shape 17"/>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تُفَّاحٌ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tuf-fā-ḥun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تُفَّاحَاتٌ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تُفَّاحَةٌ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مَوْزٌ</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bananas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maw-zun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مَوْزَاتٌ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مَوْزَةٌ</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6" name="Shape 43"/>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بُرْتُقَالٌ</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oranges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bur-tu-qā-lun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بُرْتُقَالَاتٌ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بُرْتُقَالَةٌ</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9" name="Shape 5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عِنَبٌ</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grapes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ʿi-na-bun</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أَعْنَابٌ</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عِنَبَةٌ</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فَرَاوِلَةٌ</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strawberries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fa-rā-wi-la-tun</a:t>
            </a:r>
            <a:endParaRPr lang="en-US"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7" name="Shape 74"/>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coll. · one · pl</a:t>
            </a:r>
            <a:endParaRPr lang="en-US" sz="800" dirty="0"/>
          </a:p>
        </p:txBody>
      </p:sp>
      <p:sp>
        <p:nvSpPr>
          <p:cNvPr id="79" name="Text 7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تَمْرٌ</a:t>
            </a:r>
            <a:endParaRPr lang="ar-SA" sz="3000" dirty="0"/>
          </a:p>
        </p:txBody>
      </p:sp>
      <p:sp>
        <p:nvSpPr>
          <p:cNvPr id="80" name="Text 7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tam-run</a:t>
            </a:r>
            <a:endParaRPr lang="en-US" sz="1350" dirty="0"/>
          </a:p>
        </p:txBody>
      </p:sp>
      <p:sp>
        <p:nvSpPr>
          <p:cNvPr id="81" name="Shape 7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3" name="Text 8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تُمُورٌ</a:t>
            </a:r>
            <a:endParaRPr lang="ar-SA" sz="1500" dirty="0"/>
          </a:p>
        </p:txBody>
      </p:sp>
      <p:sp>
        <p:nvSpPr>
          <p:cNvPr id="84" name="Shape 8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86" name="Text 83"/>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تَمْرَةٌ</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Fruit and vegetables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طَمَاطِمُ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tomatoes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ṭa-mā-ṭi-mu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خِيَارٌ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cucumber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khi-yā-run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جَزَرٌ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carrots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ja-za-run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بَطَاطِسُ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potatoes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ba-ṭā-ṭi-su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سَلَطَةٌ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salad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sa-la-ṭa-tun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Drinks and extras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مَاءٌ</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مِيَاهٌ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مَاءٌ</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حَلِيبٌ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milk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ḥa-lī-bun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 (m.)</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بَارِدٌ</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حَلِيبٌ</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عَصِيرٌ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juice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ʿa-ṣī-run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عَصَائِرُ</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عَصِيرٌ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shā-yun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 (m.)</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سَاخِنٌ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شَايٌ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قَهْوَةٌ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coffee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qah-wa-tun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 (f.)</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مُرَّةٌ</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قَهْوَةٌ</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Drinks and extras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عَصِيرُ اللَّيْمُونِ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lemon juice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ʿa-ṣī-ru all-lay-mū-ni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حَسَاءٌ</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ḥa-sā-ʾun</a:t>
            </a:r>
            <a:endParaRPr lang="en-US" sz="1350" dirty="0"/>
          </a:p>
        </p:txBody>
      </p:sp>
      <p:sp>
        <p:nvSpPr>
          <p:cNvPr id="27" name="Shape 2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adj. (m.)</a:t>
            </a:r>
            <a:endParaRPr lang="en-US" sz="700" dirty="0"/>
          </a:p>
        </p:txBody>
      </p:sp>
      <p:sp>
        <p:nvSpPr>
          <p:cNvPr id="29" name="Text 2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سَاخِنٌ</a:t>
            </a:r>
            <a:endParaRPr lang="ar-SA" sz="1350" dirty="0"/>
          </a:p>
        </p:txBody>
      </p:sp>
      <p:sp>
        <p:nvSpPr>
          <p:cNvPr id="30" name="Shape 2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حَسَاءٌ</a:t>
            </a:r>
            <a:endParaRPr lang="ar-SA" sz="15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زَبَادِي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yoghurt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za-bā-dī</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شُوكُولَاتَةٌ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chocolate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shū-kū-lā-ta-tun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Ingredients, snacks and seafood (1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zay-tun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مِلْحٌ</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mil-ḥun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سُكَّرٌ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sugar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suk-ka-run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ba-ṣa-lun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خَسٌّ</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lettuce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khas-sun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فَاكِهَةٌ / فَوَاكِهُ</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fruit / fruits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fā-ki-ha-tun / fa-wā-ki-hu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Ingredients, snacks and seafood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خَضْرَوَاتٌ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vegetables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khaḍ-ra-wā-tun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رُوبِيَانٌ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prawns / shrimp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rū-bi-yā-nun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مَأْكُولَاتٌ بَحْرِيَّةٌ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seafood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maʾ-kū-lā-tun baḥ-riy-ya-tun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مُكَسَّرَاتٌ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mu-kas-sa-rā-tun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بِسْكُوِيتٌ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biscuits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bis-ku-wī-tun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LIKE, EAT, DRINK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like … He likes … She likes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أُحِبُّ · يُحِبُّ · تُحِبُّ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 </a:t>
            </a:r>
            <a:pPr algn="ctr" indent="0" marL="0">
              <a:buNone/>
            </a:pPr>
            <a:r>
              <a:rPr lang="ar-SA" altLang="en-US" sz="1450" b="1" dirty="0">
                <a:solidFill>
                  <a:srgbClr val="FFFFFF"/>
                </a:solidFill>
                <a:latin typeface="Amiri" pitchFamily="34" charset="0"/>
                <a:ea typeface="Amiri" pitchFamily="34" charset="-122"/>
                <a:cs typeface="Amiri" pitchFamily="34" charset="-120"/>
              </a:rPr>
              <a:t>أَنَا</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 · </a:t>
            </a:r>
            <a:pPr algn="ctr" indent="0" marL="0">
              <a:buNone/>
            </a:pPr>
            <a:r>
              <a:rPr lang="ar-SA" altLang="en-US" sz="1450" b="1" dirty="0">
                <a:solidFill>
                  <a:srgbClr val="FFFFFF"/>
                </a:solidFill>
                <a:latin typeface="Amiri" pitchFamily="34" charset="0"/>
                <a:ea typeface="Amiri" pitchFamily="34" charset="-122"/>
                <a:cs typeface="Amiri" pitchFamily="34" charset="-120"/>
              </a:rPr>
              <a:t>نَحْنُ</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537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23" name="Text 20"/>
          <p:cNvSpPr txBox="1"/>
          <p:nvPr/>
        </p:nvSpPr>
        <p:spPr>
          <a:xfrm>
            <a:off x="7251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24" name="Text 21"/>
          <p:cNvSpPr txBox="1"/>
          <p:nvPr/>
        </p:nvSpPr>
        <p:spPr>
          <a:xfrm>
            <a:off x="4965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25" name="Text 22"/>
          <p:cNvSpPr txBox="1"/>
          <p:nvPr/>
        </p:nvSpPr>
        <p:spPr>
          <a:xfrm>
            <a:off x="2679192" y="2267712"/>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نُ</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26" name="Text 23"/>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like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537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آ</a:t>
            </a:r>
            <a:pPr rtl="1" algn="ctr" indent="0" marL="0">
              <a:buNone/>
            </a:pPr>
            <a:r>
              <a:rPr lang="ar-SA" altLang="en-US" sz="2400" b="1" dirty="0">
                <a:solidFill>
                  <a:srgbClr val="1B3B6F"/>
                </a:solidFill>
                <a:latin typeface="Amiri" pitchFamily="34" charset="0"/>
                <a:ea typeface="Amiri" pitchFamily="34" charset="-122"/>
                <a:cs typeface="Amiri" pitchFamily="34" charset="-120"/>
              </a:rPr>
              <a:t>كُلُ</a:t>
            </a:r>
            <a:endParaRPr lang="ar-SA" sz="2400" dirty="0"/>
          </a:p>
        </p:txBody>
      </p:sp>
      <p:sp>
        <p:nvSpPr>
          <p:cNvPr id="31" name="Text 28"/>
          <p:cNvSpPr txBox="1"/>
          <p:nvPr/>
        </p:nvSpPr>
        <p:spPr>
          <a:xfrm>
            <a:off x="7251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أْكُلُ</a:t>
            </a:r>
            <a:endParaRPr lang="ar-SA" sz="2400" dirty="0"/>
          </a:p>
        </p:txBody>
      </p:sp>
      <p:sp>
        <p:nvSpPr>
          <p:cNvPr id="32" name="Text 29"/>
          <p:cNvSpPr txBox="1"/>
          <p:nvPr/>
        </p:nvSpPr>
        <p:spPr>
          <a:xfrm>
            <a:off x="4965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أْكُلُ</a:t>
            </a:r>
            <a:endParaRPr lang="ar-SA" sz="2400" dirty="0"/>
          </a:p>
        </p:txBody>
      </p:sp>
      <p:sp>
        <p:nvSpPr>
          <p:cNvPr id="33" name="Text 30"/>
          <p:cNvSpPr txBox="1"/>
          <p:nvPr/>
        </p:nvSpPr>
        <p:spPr>
          <a:xfrm>
            <a:off x="2679192" y="3054096"/>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نَ</a:t>
            </a:r>
            <a:pPr rtl="1" algn="ctr" indent="0" marL="0">
              <a:buNone/>
            </a:pPr>
            <a:r>
              <a:rPr lang="ar-SA" altLang="en-US" sz="2400" b="1" dirty="0">
                <a:solidFill>
                  <a:srgbClr val="1B3B6F"/>
                </a:solidFill>
                <a:latin typeface="Amiri" pitchFamily="34" charset="0"/>
                <a:ea typeface="Amiri" pitchFamily="34" charset="-122"/>
                <a:cs typeface="Amiri" pitchFamily="34" charset="-120"/>
              </a:rPr>
              <a:t>أْكُلُ</a:t>
            </a:r>
            <a:endParaRPr lang="ar-SA" sz="2400" dirty="0"/>
          </a:p>
        </p:txBody>
      </p:sp>
      <p:sp>
        <p:nvSpPr>
          <p:cNvPr id="34" name="Text 31"/>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537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شْرَبُ</a:t>
            </a:r>
            <a:endParaRPr lang="ar-SA" sz="2400" dirty="0"/>
          </a:p>
        </p:txBody>
      </p:sp>
      <p:sp>
        <p:nvSpPr>
          <p:cNvPr id="39" name="Text 36"/>
          <p:cNvSpPr txBox="1"/>
          <p:nvPr/>
        </p:nvSpPr>
        <p:spPr>
          <a:xfrm>
            <a:off x="7251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شْرَبُ</a:t>
            </a:r>
            <a:endParaRPr lang="ar-SA" sz="2400" dirty="0"/>
          </a:p>
        </p:txBody>
      </p:sp>
      <p:sp>
        <p:nvSpPr>
          <p:cNvPr id="40" name="Text 37"/>
          <p:cNvSpPr txBox="1"/>
          <p:nvPr/>
        </p:nvSpPr>
        <p:spPr>
          <a:xfrm>
            <a:off x="4965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شْرَبُ</a:t>
            </a:r>
            <a:endParaRPr lang="ar-SA" sz="2400" dirty="0"/>
          </a:p>
        </p:txBody>
      </p:sp>
      <p:sp>
        <p:nvSpPr>
          <p:cNvPr id="41" name="Text 38"/>
          <p:cNvSpPr txBox="1"/>
          <p:nvPr/>
        </p:nvSpPr>
        <p:spPr>
          <a:xfrm>
            <a:off x="2679192" y="3840480"/>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نَ</a:t>
            </a:r>
            <a:pPr rtl="1" algn="ctr" indent="0" marL="0">
              <a:buNone/>
            </a:pPr>
            <a:r>
              <a:rPr lang="ar-SA" altLang="en-US" sz="2400" b="1" dirty="0">
                <a:solidFill>
                  <a:srgbClr val="1B3B6F"/>
                </a:solidFill>
                <a:latin typeface="Amiri" pitchFamily="34" charset="0"/>
                <a:ea typeface="Amiri" pitchFamily="34" charset="-122"/>
                <a:cs typeface="Amiri" pitchFamily="34" charset="-120"/>
              </a:rPr>
              <a:t>شْرَبُ</a:t>
            </a:r>
            <a:endParaRPr lang="ar-SA" sz="2400" dirty="0"/>
          </a:p>
        </p:txBody>
      </p:sp>
      <p:sp>
        <p:nvSpPr>
          <p:cNvPr id="42" name="Text 39"/>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drink</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537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أُحِبُّ</a:t>
            </a:r>
            <a:endParaRPr lang="ar-SA" sz="2400" dirty="0"/>
          </a:p>
        </p:txBody>
      </p:sp>
      <p:sp>
        <p:nvSpPr>
          <p:cNvPr id="47" name="Text 44"/>
          <p:cNvSpPr txBox="1"/>
          <p:nvPr/>
        </p:nvSpPr>
        <p:spPr>
          <a:xfrm>
            <a:off x="7251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يُحِبُّ</a:t>
            </a:r>
            <a:endParaRPr lang="ar-SA" sz="2400" dirty="0"/>
          </a:p>
        </p:txBody>
      </p:sp>
      <p:sp>
        <p:nvSpPr>
          <p:cNvPr id="48" name="Text 45"/>
          <p:cNvSpPr txBox="1"/>
          <p:nvPr/>
        </p:nvSpPr>
        <p:spPr>
          <a:xfrm>
            <a:off x="4965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تُحِبُّ</a:t>
            </a:r>
            <a:endParaRPr lang="ar-SA" sz="2400" dirty="0"/>
          </a:p>
        </p:txBody>
      </p:sp>
      <p:sp>
        <p:nvSpPr>
          <p:cNvPr id="49" name="Text 46"/>
          <p:cNvSpPr txBox="1"/>
          <p:nvPr/>
        </p:nvSpPr>
        <p:spPr>
          <a:xfrm>
            <a:off x="2679192" y="4626864"/>
            <a:ext cx="210312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نُحِبُّ</a:t>
            </a:r>
            <a:endParaRPr lang="ar-SA" sz="2400" dirty="0"/>
          </a:p>
        </p:txBody>
      </p:sp>
      <p:sp>
        <p:nvSpPr>
          <p:cNvPr id="50" name="Text 47"/>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don’t like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food comes straight after the verb: uḥibbu l-khubza (no “to”). Negative: put lā before the verb.</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ea typeface="Calibri" pitchFamily="34" charset="-122"/>
                <a:cs typeface="Calibri" pitchFamily="34" charset="-120"/>
              </a:rPr>
              <a:t>GRAMMAR FOCUS · PART 2 · ASKING AND DESCRIBING (WEBSITE RULES + TOPIC A AGREEMENT)</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 you like …? What is it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هَلْ تُحِبُّ؟ · 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ASK A BOY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تُحِبُّ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هَلْ تُحِبُّ السَّمَكَ؟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 you (m.) like fish?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hal = yes / no question.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ASK A GIRL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تُحِبِّينَ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هَلْ تُحِبِّينَ السَّلَطَةَ؟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 you (f.) like salad?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Girl → -īna.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m. · f.</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الخُبْزُ طَازَجٌ. القَهْوَةُ مُرَّةٌ.</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bread is fresh. The coffee is bitter.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Feminine food → -a adjective.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rule: notice noun gender — the adjective must agree.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السَّلَطَةُ صِحِّيَّةٌ.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السَّلَطَةُ صِحِّيٌّ.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Using </a:t>
            </a:r>
            <a:pPr algn="l" indent="0" marL="0">
              <a:buNone/>
            </a:pPr>
            <a:r>
              <a:rPr lang="ar-SA" altLang="en-US" sz="3100" b="1" dirty="0">
                <a:solidFill>
                  <a:srgbClr val="1B3B6F"/>
                </a:solidFill>
                <a:latin typeface="Amiri" pitchFamily="34" charset="0"/>
                <a:ea typeface="Amiri" pitchFamily="34" charset="-122"/>
                <a:cs typeface="Amiri" pitchFamily="34" charset="-120"/>
              </a:rPr>
              <a:t>أُحِبُّ / لَا أُحِبُّ</a:t>
            </a:r>
            <a:pPr algn="l" indent="0" marL="0">
              <a:buNone/>
            </a:pPr>
            <a:r>
              <a:rPr lang="en-US" sz="2400" b="1" dirty="0">
                <a:solidFill>
                  <a:srgbClr val="1B3B6F"/>
                </a:solidFill>
                <a:latin typeface="Cambria" pitchFamily="34" charset="0"/>
                <a:ea typeface="Cambria" pitchFamily="34" charset="-122"/>
                <a:cs typeface="Cambria" pitchFamily="34" charset="-120"/>
              </a:rPr>
              <a:t> with food nouns</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34" charset="0"/>
                <a:ea typeface="Amiri" pitchFamily="34" charset="-122"/>
                <a:cs typeface="Amiri" pitchFamily="34" charset="-120"/>
              </a:rPr>
              <a:t>اِسْتِعْمَالُ أُحِبُّ وَلَا أُحِبُّ مَعَ أَسْمَاءِ الطَّعَامِ</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Say what you like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أُحِبُّ + الطَّعَامَ / الشَّرَابَ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الخُبْزَ.   ·   أُحِبُّ العَصِيرَ.   ·   أُحِبُّ التُّفَّاحَ وَالمَوْزَ.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Make the opinion negative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 أُحِبُّ + الاِسْمَ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أُحِبُّ السَّمَكَ.   ·   لَا أُحِبُّ القَهْوَةَ.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Notice noun gender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مُذَكَّرٌ: خُبْزٌ · مُؤَنَّثٌ: قَهْوَةٌ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الخُبْزُ طَازَجٌ.   ·   القَهْوَةُ مُرَّةٌ.   ·   السَّلَطَةُ صِحِّيَّةٌ.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Ask another person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هَلْ تُحِبُّ...؟ / هَلْ تُحِبِّينَ...؟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تُحِبُّ الجُبْنَ؟   ·   هَلْ تُحِبِّينَ السَّلَطَةَ؟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drink the juice.”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العَصِيرَ.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يَشْرَبُ العَصِيرَ.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العَصِيرَ.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the sentence negative: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القَهْوَةَ.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القَهْوَةَ.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أُحِبُّ القَهْوَةَ؟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القَهْوَةَ أُحِبُّ.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“Do you like fish?”</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السَّمَكَ؟</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السَّمَكَ؟</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السَّمَكُ؟</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correct action?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الحَلِيبَ.</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الحَلِيبَ.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الخُبْزَ.</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drink the juice.”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العَصِيرَ.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يَشْرَبُ العَصِيرَ.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أَشْرَبُ العَصِيرَ.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verb for drinking.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the sentence negative: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أُحِبُّ القَهْوَةَ.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أُحِبُّ القَهْوَةَ.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أُحِبُّ القَهْوَةَ؟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القَهْوَةَ أُحِبُّ.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Put </a:t>
            </a:r>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immediately before the present-tense verb.</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“Do you like fish?”</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تُحِبِّينَ السَّمَكَ؟</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 السَّمَكَ؟</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السَّمَكُ؟</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تُحِبُّ</a:t>
            </a:r>
            <a:pPr algn="l" indent="0" marL="0">
              <a:buNone/>
            </a:pPr>
            <a:r>
              <a:rPr lang="en-US" sz="1050" i="1" dirty="0">
                <a:solidFill>
                  <a:srgbClr val="8A6D1E"/>
                </a:solidFill>
                <a:latin typeface="Calibri" pitchFamily="34" charset="0"/>
                <a:ea typeface="Calibri" pitchFamily="34" charset="-122"/>
                <a:cs typeface="Calibri" pitchFamily="34" charset="-120"/>
              </a:rPr>
              <a:t> addresses a male listener.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correct action?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أَشْرَبُ الحَلِيبَ.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الحَلِيبَ.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أَشْرَبُ الخُبْزَ.</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Milk is a drink, so use </a:t>
            </a:r>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food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Like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أُ</a:t>
            </a:r>
            <a:pPr rtl="1" algn="ctr" indent="0" marL="0">
              <a:buNone/>
            </a:pPr>
            <a:r>
              <a:rPr lang="ar-SA" altLang="en-US" sz="2800" b="1" dirty="0">
                <a:solidFill>
                  <a:srgbClr val="1B3B6F"/>
                </a:solidFill>
                <a:latin typeface="Amiri" pitchFamily="34" charset="0"/>
                <a:ea typeface="Amiri" pitchFamily="34" charset="-122"/>
                <a:cs typeface="Amiri" pitchFamily="34" charset="-120"/>
              </a:rPr>
              <a:t>حِبُّ الخُبْزَ وَالجُبْنَ.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Food straight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Eat / drink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آ</a:t>
            </a:r>
            <a:pPr rtl="1" algn="ctr" indent="0" marL="0">
              <a:buNone/>
            </a:pPr>
            <a:r>
              <a:rPr lang="ar-SA" altLang="en-US" sz="2100" b="1" dirty="0">
                <a:solidFill>
                  <a:srgbClr val="1B3B6F"/>
                </a:solidFill>
                <a:latin typeface="Amiri" pitchFamily="34" charset="0"/>
                <a:ea typeface="Amiri" pitchFamily="34" charset="-122"/>
                <a:cs typeface="Amiri" pitchFamily="34" charset="-120"/>
              </a:rPr>
              <a:t>كُلُ الأَرُزَّ، وَ</a:t>
            </a:r>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شْرَبُ المَاءَ.</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Food → eat. Drink → drink.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Don’t 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لَا</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أُحِبُّ القَهْوَةَ لِأَنَّهَا مُرَّ</a:t>
            </a:r>
            <a:pPr rtl="1" algn="ctr" indent="0" marL="0">
              <a:lnSpc>
                <a:spcPct val="120000"/>
              </a:lnSpc>
              <a:buNone/>
            </a:pPr>
            <a:r>
              <a:rPr lang="ar-SA" altLang="en-US" sz="200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Coffee is feminine → murra.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دَائِمًا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آكُلُ الفَاكِهَةَ فِي المَسَاءِ.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AT-A-L03 frequency.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 (I)</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NEGATIVE / FREQUENCY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D5FBF"/>
                </a:solidFill>
                <a:latin typeface="Amiri" pitchFamily="34" charset="0"/>
                <a:ea typeface="Amiri" pitchFamily="34" charset="-122"/>
                <a:cs typeface="Amiri" pitchFamily="34" charset="-120"/>
              </a:rPr>
              <a:t>أُ</a:t>
            </a:r>
            <a:pPr rtl="1" algn="r" indent="0" marL="0">
              <a:buNone/>
            </a:pPr>
            <a:r>
              <a:rPr lang="ar-SA" altLang="en-US" sz="1750" b="1" dirty="0">
                <a:solidFill>
                  <a:srgbClr val="1B3B6F"/>
                </a:solidFill>
                <a:latin typeface="Amiri" pitchFamily="34" charset="0"/>
                <a:ea typeface="Amiri" pitchFamily="34" charset="-122"/>
                <a:cs typeface="Amiri" pitchFamily="34" charset="-120"/>
              </a:rPr>
              <a:t>حِبُّ الخُبْزَ وَالجُبْنَ، وَ</a:t>
            </a:r>
            <a:pPr rtl="1" algn="r" indent="0" marL="0">
              <a:buNone/>
            </a:pPr>
            <a:r>
              <a:rPr lang="ar-SA" altLang="en-US" sz="1750" b="1" dirty="0">
                <a:solidFill>
                  <a:srgbClr val="1D5FBF"/>
                </a:solidFill>
                <a:latin typeface="Amiri" pitchFamily="34" charset="0"/>
                <a:ea typeface="Amiri" pitchFamily="34" charset="-122"/>
                <a:cs typeface="Amiri" pitchFamily="34" charset="-120"/>
              </a:rPr>
              <a:t>آ</a:t>
            </a:r>
            <a:pPr rtl="1" algn="r" indent="0" marL="0">
              <a:buNone/>
            </a:pPr>
            <a:r>
              <a:rPr lang="ar-SA" altLang="en-US" sz="1750" b="1" dirty="0">
                <a:solidFill>
                  <a:srgbClr val="1B3B6F"/>
                </a:solidFill>
                <a:latin typeface="Amiri" pitchFamily="34" charset="0"/>
                <a:ea typeface="Amiri" pitchFamily="34" charset="-122"/>
                <a:cs typeface="Amiri" pitchFamily="34" charset="-120"/>
              </a:rPr>
              <a:t>كُلُ الأَرُزَّ كَثِيرًا. </a:t>
            </a:r>
            <a:pPr rtl="1" algn="r" indent="0" marL="0">
              <a:buNone/>
            </a:pPr>
            <a:r>
              <a:rPr lang="ar-SA" altLang="en-US" sz="1750" b="1" dirty="0">
                <a:solidFill>
                  <a:srgbClr val="1D5FBF"/>
                </a:solidFill>
                <a:latin typeface="Amiri" pitchFamily="34" charset="0"/>
                <a:ea typeface="Amiri" pitchFamily="34" charset="-122"/>
                <a:cs typeface="Amiri" pitchFamily="34" charset="-120"/>
              </a:rPr>
              <a:t>أَ</a:t>
            </a:r>
            <a:pPr rtl="1" algn="r" indent="0" marL="0">
              <a:buNone/>
            </a:pPr>
            <a:r>
              <a:rPr lang="ar-SA" altLang="en-US" sz="1750" b="1" dirty="0">
                <a:solidFill>
                  <a:srgbClr val="1B3B6F"/>
                </a:solidFill>
                <a:latin typeface="Amiri" pitchFamily="34" charset="0"/>
                <a:ea typeface="Amiri" pitchFamily="34" charset="-122"/>
                <a:cs typeface="Amiri" pitchFamily="34" charset="-120"/>
              </a:rPr>
              <a:t>شْرَبُ المَاءَ وَالعَصِيرَ كُلَّ يَوْمٍ. </a:t>
            </a:r>
            <a:pPr rtl="1" algn="r" indent="0" marL="0">
              <a:buNone/>
            </a:pPr>
            <a:r>
              <a:rPr lang="ar-SA" altLang="en-US" sz="1750" b="1" dirty="0">
                <a:solidFill>
                  <a:srgbClr val="0E7C86"/>
                </a:solidFill>
                <a:latin typeface="Amiri" pitchFamily="34" charset="0"/>
                <a:ea typeface="Amiri" pitchFamily="34" charset="-122"/>
                <a:cs typeface="Amiri" pitchFamily="34" charset="-120"/>
              </a:rPr>
              <a:t>لَا</a:t>
            </a:r>
            <a:pPr rtl="1" algn="r" indent="0" marL="0">
              <a:buNone/>
            </a:pPr>
            <a:r>
              <a:rPr lang="ar-SA" altLang="en-US" sz="1750" b="1" dirty="0">
                <a:solidFill>
                  <a:srgbClr val="1B3B6F"/>
                </a:solidFill>
                <a:latin typeface="Amiri" pitchFamily="34" charset="0"/>
                <a:ea typeface="Amiri" pitchFamily="34" charset="-122"/>
                <a:cs typeface="Amiri" pitchFamily="34" charset="-120"/>
              </a:rPr>
              <a:t> أُحِبُّ القَهْوَةَ لِأَنَّهَا مُرَّ</a:t>
            </a:r>
            <a:pPr rtl="1" algn="r" indent="0" marL="0">
              <a:buNone/>
            </a:pPr>
            <a:r>
              <a:rPr lang="ar-SA" altLang="en-US" sz="1750" b="1" dirty="0">
                <a:solidFill>
                  <a:srgbClr val="D6336C"/>
                </a:solidFill>
                <a:latin typeface="Amiri" pitchFamily="34" charset="0"/>
                <a:ea typeface="Amiri" pitchFamily="34" charset="-122"/>
                <a:cs typeface="Amiri" pitchFamily="34" charset="-120"/>
              </a:rPr>
              <a:t>ةٌ</a:t>
            </a:r>
            <a:pPr rtl="1" algn="r" indent="0" marL="0">
              <a:buNone/>
            </a:pPr>
            <a:r>
              <a:rPr lang="ar-SA" altLang="en-US" sz="1750" b="1" dirty="0">
                <a:solidFill>
                  <a:srgbClr val="1B3B6F"/>
                </a:solidFill>
                <a:latin typeface="Amiri" pitchFamily="34" charset="0"/>
                <a:ea typeface="Amiri" pitchFamily="34" charset="-122"/>
                <a:cs typeface="Amiri" pitchFamily="34" charset="-120"/>
              </a:rPr>
              <a:t>، وَلٰكِنِّي </a:t>
            </a:r>
            <a:pPr rtl="1" algn="r" indent="0" marL="0">
              <a:buNone/>
            </a:pPr>
            <a:r>
              <a:rPr lang="ar-SA" altLang="en-US" sz="1750" b="1" dirty="0">
                <a:solidFill>
                  <a:srgbClr val="0E7C86"/>
                </a:solidFill>
                <a:latin typeface="Amiri" pitchFamily="34" charset="0"/>
                <a:ea typeface="Amiri" pitchFamily="34" charset="-122"/>
                <a:cs typeface="Amiri" pitchFamily="34" charset="-120"/>
              </a:rPr>
              <a:t>دَائِمًا</a:t>
            </a:r>
            <a:pPr rtl="1" algn="r" indent="0" marL="0">
              <a:buNone/>
            </a:pPr>
            <a:r>
              <a:rPr lang="ar-SA" altLang="en-US" sz="1750" b="1" dirty="0">
                <a:solidFill>
                  <a:srgbClr val="1B3B6F"/>
                </a:solidFill>
                <a:latin typeface="Amiri" pitchFamily="34" charset="0"/>
                <a:ea typeface="Amiri" pitchFamily="34" charset="-122"/>
                <a:cs typeface="Amiri" pitchFamily="34" charset="-120"/>
              </a:rPr>
              <a:t> آكُلُ الفَاكِهَةَ فِي المَسَاءِ.</a:t>
            </a:r>
            <a:endParaRPr lang="ar-SA" sz="17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like bread and cheese, and I eat rice a lot. I drink water and juice every day. I don’t like coffee because it is bitter, but I always eat fruit in the evening.</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أُحِبُّ الخُبْزَ وَالجُبْنَ.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like bread and cheese.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أُحِبُّ, use the food as the object.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أُحِبُّ القَهْوَةَ.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do not like coffee.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Put لَا directly before the present-tense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أَشْرَبُ المَاءَ وَالعَصِيرَ.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drink water and juice.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أَشْرَبُ with drinks.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تُحِبُّ السَّمَكَ؟</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 you like fish?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هَلْ to make a yes/no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FOOD AND DRINKS”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apple</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glass of milk</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bowl of salad</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حَلِيبٌ.</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سَلَطَةٌ.</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تُفَّاحَةٌ.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 الطَّعَامِ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apple</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تُفَّاحَةٌ.</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an apple.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glass of milk</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حَلِيبٌ.</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milk.</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bowl of salad</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سَلَطَةٌ.</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salad.</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or drink?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حَلِيبٌ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دَجَاجٌ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خِيَارٌ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قَهْوَةٌ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أَرُزٌّ</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Food · طَعَامٌ</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Drink · شَرَابٌ</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Food · طَعَامٌ</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دَجَاجٌ</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خِيَارٌ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Drink · شَرَابٌ</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حَلِيبٌ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عَصِيرٌ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قَهْوَةٌ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normally begins with </a:t>
            </a:r>
            <a:pPr algn="l" indent="0" marL="0">
              <a:buNone/>
            </a:pPr>
            <a:r>
              <a:rPr lang="ar-SA" altLang="en-US" sz="1650" b="1" dirty="0">
                <a:solidFill>
                  <a:srgbClr val="1B3B6F"/>
                </a:solidFill>
                <a:latin typeface="Amiri" pitchFamily="34" charset="0"/>
                <a:ea typeface="Amiri" pitchFamily="34" charset="-122"/>
                <a:cs typeface="Amiri" pitchFamily="34" charset="-120"/>
              </a:rPr>
              <a:t>أَـ</a:t>
            </a:r>
            <a:pPr algn="l" indent="0" marL="0">
              <a:buNone/>
            </a:pPr>
            <a:r>
              <a:rPr lang="en-US" sz="1250" b="1" dirty="0">
                <a:solidFill>
                  <a:srgbClr val="1B3B6F"/>
                </a:solidFill>
                <a:latin typeface="Calibri" pitchFamily="34" charset="0"/>
                <a:ea typeface="Calibri" pitchFamily="34" charset="-122"/>
                <a:cs typeface="Calibri" pitchFamily="34" charset="-120"/>
              </a:rPr>
              <a:t> because the speaker is “I”?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يَأْكُلُ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تَأْكُلُ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___ التُّفَّاحَ؟</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تُحِبُّ</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العَصِيرُ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opinion.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السَّمَكَ.</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لَا السَّمَكَ.</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السَّمَكَ.</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normally begins with </a:t>
            </a:r>
            <a:pPr algn="l" indent="0" marL="0">
              <a:buNone/>
            </a:pPr>
            <a:r>
              <a:rPr lang="ar-SA" altLang="en-US" sz="1650" b="1" dirty="0">
                <a:solidFill>
                  <a:srgbClr val="1B3B6F"/>
                </a:solidFill>
                <a:latin typeface="Amiri" pitchFamily="34" charset="0"/>
                <a:ea typeface="Amiri" pitchFamily="34" charset="-122"/>
                <a:cs typeface="Amiri" pitchFamily="34" charset="-120"/>
              </a:rPr>
              <a:t>أَـ</a:t>
            </a:r>
            <a:pPr algn="l" indent="0" marL="0">
              <a:buNone/>
            </a:pPr>
            <a:r>
              <a:rPr lang="en-US" sz="1250" b="1" dirty="0">
                <a:solidFill>
                  <a:srgbClr val="1B3B6F"/>
                </a:solidFill>
                <a:latin typeface="Calibri" pitchFamily="34" charset="0"/>
                <a:ea typeface="Calibri" pitchFamily="34" charset="-122"/>
                <a:cs typeface="Calibri" pitchFamily="34" charset="-120"/>
              </a:rPr>
              <a:t> because the speaker is “I”?</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يَأْكُلُ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تَأْكُلُ</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آكُلُ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آكُلُ</a:t>
            </a:r>
            <a:pPr algn="l" indent="0" marL="0">
              <a:buNone/>
            </a:pPr>
            <a:r>
              <a:rPr lang="en-US" sz="1050" i="1" dirty="0">
                <a:solidFill>
                  <a:srgbClr val="8A6D1E"/>
                </a:solidFill>
                <a:latin typeface="Calibri" pitchFamily="34" charset="0"/>
                <a:ea typeface="Calibri" pitchFamily="34" charset="-122"/>
                <a:cs typeface="Calibri" pitchFamily="34" charset="-120"/>
              </a:rPr>
              <a:t> means “I eat”.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___ التُّفَّاحَ؟</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تُحِبُّ</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تُحِبُّ</a:t>
            </a:r>
            <a:pPr algn="l" indent="0" marL="0">
              <a:buNone/>
            </a:pPr>
            <a:r>
              <a:rPr lang="en-US" sz="1050" i="1" dirty="0">
                <a:solidFill>
                  <a:srgbClr val="8A6D1E"/>
                </a:solidFill>
                <a:latin typeface="Calibri" pitchFamily="34" charset="0"/>
                <a:ea typeface="Calibri" pitchFamily="34" charset="-122"/>
                <a:cs typeface="Calibri" pitchFamily="34" charset="-120"/>
              </a:rPr>
              <a:t> when asking a male listener.</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الخُبْزُ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القَهْوَةُ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العَصِيرُ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قَهْوَةٌ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opinion.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أَحِبُّ السَّمَكَ.</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لَا السَّمَكَ.</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أُحِبُّ السَّمَكَ.</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comes immediately before the correct first-person form </a:t>
            </a:r>
            <a:pPr algn="l" indent="0" marL="0">
              <a:buNone/>
            </a:pPr>
            <a:r>
              <a:rPr lang="ar-SA" altLang="en-US" sz="1350" dirty="0">
                <a:solidFill>
                  <a:srgbClr val="8A6D1E"/>
                </a:solidFill>
                <a:latin typeface="Amiri" pitchFamily="34" charset="0"/>
                <a:ea typeface="Amiri" pitchFamily="34" charset="-122"/>
                <a:cs typeface="Amiri" pitchFamily="34" charset="-120"/>
              </a:rPr>
              <a:t>أُحِبُّ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أُحِبُّ إِلَى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Like + food: is a preposition needed?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أَحِبُّ السَّمَكَ.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vowel starts “I like”?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أَكُلُ الخُبْزَ.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 eat” starts with which letter?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أُحِبُّ إِلَى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أُحِبُّ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أُحِبُّ</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do not add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أَحِبُّ السَّمَكَ.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أُحِبُّ السَّمَكَ.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first-person form is </a:t>
            </a:r>
            <a:pPr algn="l" indent="0" marL="0">
              <a:buNone/>
            </a:pPr>
            <a:r>
              <a:rPr lang="ar-SA" altLang="en-US" sz="1500" b="1" dirty="0">
                <a:solidFill>
                  <a:srgbClr val="1B3B6F"/>
                </a:solidFill>
                <a:latin typeface="Amiri" pitchFamily="34" charset="0"/>
                <a:ea typeface="Amiri" pitchFamily="34" charset="-122"/>
                <a:cs typeface="Amiri" pitchFamily="34" charset="-120"/>
              </a:rPr>
              <a:t>أُحِبُّ</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أَكُلُ الخُبْزَ.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آكُلُ الخُبْزَ.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آكُلُ</a:t>
            </a:r>
            <a:pPr algn="l" indent="0" marL="0">
              <a:buNone/>
            </a:pPr>
            <a:r>
              <a:rPr lang="en-US" sz="1150" b="1" dirty="0">
                <a:solidFill>
                  <a:srgbClr val="1B3B6F"/>
                </a:solidFill>
                <a:latin typeface="Calibri" pitchFamily="34" charset="0"/>
                <a:ea typeface="Calibri" pitchFamily="34" charset="-122"/>
                <a:cs typeface="Calibri" pitchFamily="34" charset="-120"/>
              </a:rPr>
              <a:t> begins with a long ā written </a:t>
            </a:r>
            <a:pPr algn="l" indent="0" marL="0">
              <a:buNone/>
            </a:pPr>
            <a:r>
              <a:rPr lang="ar-SA" altLang="en-US" sz="1500" b="1" dirty="0">
                <a:solidFill>
                  <a:srgbClr val="1B3B6F"/>
                </a:solidFill>
                <a:latin typeface="Amiri" pitchFamily="34" charset="0"/>
                <a:ea typeface="Amiri" pitchFamily="34" charset="-122"/>
                <a:cs typeface="Amiri" pitchFamily="34" charset="-120"/>
              </a:rPr>
              <a:t>آ</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does Huda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foods does Huda like together?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 and beans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she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bananas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drinks does she have every 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and orange juice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 and milk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 and lemon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have as a snack?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lettuce and onions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nuts or biscuits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prawns and rice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الخُبْزَ وَالجُبْنَ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القَهْوَةَ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Huda.</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الخُبْزَ وَالجُبْنَ وَالتُّفَّاحَ.</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bread, cheese and apples.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الوَجْبَةِ الخَفِيفَةِ آكُلُ المُكَسَّرَاتِ أَوِ البِسْكُوِيتَ.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a snack I eat nuts or biscuits.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السَّمَكَ، وَلَا أَشْرَبُ القَهْوَةَ.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like fish, and I don’t drink coffee.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أَشْرَبُ المَاءَ وَعَصِيرَ البُرْتُقَالِ كُلَّ 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drink water and orange juice every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foods does Huda like together?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bread and cheese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and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 and beans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الخُبْزَ وَالجُبْنَ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she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bananas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grapes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apples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mentions </a:t>
            </a:r>
            <a:pPr algn="l" indent="0" marL="0">
              <a:buNone/>
            </a:pPr>
            <a:r>
              <a:rPr lang="ar-SA" altLang="en-US" sz="1350" dirty="0">
                <a:solidFill>
                  <a:srgbClr val="8A6D1E"/>
                </a:solidFill>
                <a:latin typeface="Amiri" pitchFamily="34" charset="0"/>
                <a:ea typeface="Amiri" pitchFamily="34" charset="-122"/>
                <a:cs typeface="Amiri" pitchFamily="34" charset="-120"/>
              </a:rPr>
              <a:t>التُّفَّاحَ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drink?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coffee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وَلَا أَشْرَبُ القَهْوَةَ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drinks does she have every 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and orange juice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 and milk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 and lemon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drinks </a:t>
            </a:r>
            <a:pPr algn="l" indent="0" marL="0">
              <a:buNone/>
            </a:pPr>
            <a:r>
              <a:rPr lang="ar-SA" altLang="en-US" sz="1350" dirty="0">
                <a:solidFill>
                  <a:srgbClr val="8A6D1E"/>
                </a:solidFill>
                <a:latin typeface="Amiri" pitchFamily="34" charset="0"/>
                <a:ea typeface="Amiri" pitchFamily="34" charset="-122"/>
                <a:cs typeface="Amiri" pitchFamily="34" charset="-120"/>
              </a:rPr>
              <a:t>المَاءَ وَعَصِيرَ البُرْتُقَالِ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have as a snack?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lettuce and onions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nuts or biscuits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prawns and rice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آكُلُ المُكَسَّرَاتِ أَوِ البِسْكُوِيتَ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الخُبْزَ وَالجُبْنَ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القَهْوَةَ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المَاءَ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preference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Food preference survey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Interview a partner about meals, food and drink. Record preferences and reasons, then report the results with accurate adjective and noun agreement.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pairs students (A interviews B, then swap).</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three questions from the useful-language panel; note answers in English.</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 back on the mic: he likes … / she doesn’t like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Class tallies the most popular food in the chat.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“hal tuḥibbu …?” about 3 foods. Report: “he likes …” or “she likes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about meals and drinks, record a reason, report with because (li’annahu / li’annahā).</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 the results with agreeing adjectives: the salad is fresh (f.), the bread is delicious (m.).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هَلْ تُحِبُّ الأَرُزَّ؟</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do you (m.) like rice?</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هَلْ تُحِبِّينَ الأَرُزَّ؟</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do you (f.) like rice?</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مَاذَا تَأْكُلُ فِي الغَدَاءِ؟</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what do you eat for lunch?</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هُوَ يُحِبُّ الدَّجَاجَ</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likes chicken</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لِأَنَّهُ لَذِيذٌ</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because it is delicious</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Food survey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السَّمَكَ؟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تَشْرَبُ كُلَّ يَوْمٍ؟</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الطَّعَامُ الَّذِي لَا تُحِبُّهُ؟</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طَعَامُكَ المُفَضَّلُ؟ / مَا طَعَامُكِ المُفَضَّلُ؟</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أُحِبُّ ___ . / لَا، لَا أُحِبُّ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أَشْرَبُ ___ وَ ___ كُلَّ يَوْمٍ.</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أُحِبُّ ___ لِأَنَّهُ / لِأَنَّهَا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طَعَامِي المُفَضَّلُ ___ لِأَنَّهُ ___ جِدًّا.</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تُحِبِّينَ السَّلَطَةَ؟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(f.) like salad?</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أُحِبُّ السَّلَطَةَ كَثِيرًا.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I like salad a lot.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Say what you like, don’t like and drink — with the word bank.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things you like, one thing you don’t like, one thing you drink every 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Likes and dislikes, then report one partner’s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food words, two drinks, wa (and) and one negative — plus one sentence about a partner (he / she likes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8-sentence food profile with adjectives and “one”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Stretch: a food profile with agreeing adjectives, a frequency word and collective / one forms (tuffāḥ / tuffāḥa).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صَدِيقِي يُحِبُّ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partner (m.) likes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صَدِيقَتِي لَا تُحِبُّ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partner (f.) doesn’t like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لِأَنَّهُ لَذِيذٌ / لِأَنَّهَا لَذِيذَةٌ.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is delicious.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دَائِمًا / أَحْيَانًا آكُلُ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always / sometimes eat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 وَلٰكِنِّي لَا أُحِبُّ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but I don’t like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آكُلُ ______ كُلَّ يَوْمٍ.</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eat … every day.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أَشْرَبُ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drink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like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خُبْزٌ  ·  أَرُزٌّ  ·  دَجَاجٌ  ·  سَمَكٌ  ·  بَيْضٌ  ·  جُبْنٌ  ·  مَاءٌ  ·  حَلِيبٌ  ·  عَصِيرٌ  ·  شَايٌ  ·  قَهْوَةٌ  ·  لَذِيذٌ / لَذِيذَةٌ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5–6 sentences about foods and drinks you like and dislike. Include at least four food words, two drinks, </a:t>
            </a:r>
            <a:pPr algn="l" indent="0" marL="0">
              <a:buNone/>
            </a:pPr>
            <a:r>
              <a:rPr lang="ar-SA" altLang="en-US" sz="1750" b="1" dirty="0">
                <a:solidFill>
                  <a:srgbClr val="1F2A37"/>
                </a:solidFill>
                <a:latin typeface="Amiri" pitchFamily="34" charset="0"/>
                <a:ea typeface="Amiri" pitchFamily="34" charset="-122"/>
                <a:cs typeface="Amiri" pitchFamily="34" charset="-120"/>
              </a:rPr>
              <a:t>وَ</a:t>
            </a:r>
            <a:pPr algn="l" indent="0" marL="0">
              <a:buNone/>
            </a:pPr>
            <a:r>
              <a:rPr lang="en-US" sz="1350" b="1" dirty="0">
                <a:solidFill>
                  <a:srgbClr val="1F2A37"/>
                </a:solidFill>
                <a:latin typeface="Calibri" pitchFamily="34" charset="0"/>
                <a:ea typeface="Calibri" pitchFamily="34" charset="-122"/>
                <a:cs typeface="Calibri" pitchFamily="34" charset="-120"/>
              </a:rPr>
              <a:t> and one negative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أُحِبُّ</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لَا أُحِبُّ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آكُلُ</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أَشْرَبُ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Join ideas with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وَلٰكِنْ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the Arabic spelling against the lesson bank.</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التُّفَّاحَ، وَآكُلُ تُفَّاحَةً كُلَّ 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like apples, and I eat an apple every 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القَهْوَةُ مُرَّةٌ، وَلٰكِنَّ الشَّايَ حُلْوٌ</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coffee is bitter, but tea is sweet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السَّلَطَةُ صِحِّيَّةٌ وَطَازَجَةٌ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salad is healthy and fresh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الوَجْبَةِ الخَفِيفَةِ آكُلُ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a snack I eat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أَشْرَبُ القَهْوَةَ أَبَدًا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never drink coffee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الخُبْزَ وَالجُبْنَ، وَأُحِبُّ التُّفَّاحَ أَيْضًا. لَا أُحِبُّ السَّمَكَ، وَلٰكِنِّي أُحِبُّ الدَّجَاجَ. آكُلُ الأَرُزَّ كَثِيرًا، وَأَشْرَبُ المَاءَ وَالعَصِيرَ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like bread and cheese, and I also like apples. I don’t like fish, but I like chicken. I eat rice a lot, and I drink water and juice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“I like” sentences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one negative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sentence with “I eat” or “I drink”</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drink</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food comes straight after I like / I eat.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“lā” before the verb for “don’t”.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he likes / she likes for my partner.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Food → I eat; drink → I drink.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 agrees with a feminine food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عَصِيرٌ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القَهْوَةَ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drink”?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water?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حَلِيبٌ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عَصِيرٌ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مَاءٌ</a:t>
            </a:r>
            <a:pPr algn="l" indent="0" marL="0">
              <a:buNone/>
            </a:pPr>
            <a:r>
              <a:rPr lang="en-US" sz="1050" i="1" dirty="0">
                <a:solidFill>
                  <a:srgbClr val="8A6D1E"/>
                </a:solidFill>
                <a:latin typeface="Calibri" pitchFamily="34" charset="0"/>
                <a:ea typeface="Calibri" pitchFamily="34" charset="-122"/>
                <a:cs typeface="Calibri" pitchFamily="34" charset="-120"/>
              </a:rPr>
              <a:t> means water.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القَهْوَةَ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أَشْرَبُ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أُحِبُّ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آكُلُ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أُحِبُّ</a:t>
            </a:r>
            <a:pPr algn="l" indent="0" marL="0">
              <a:buNone/>
            </a:pPr>
            <a:r>
              <a:rPr lang="en-US" sz="1050" i="1" dirty="0">
                <a:solidFill>
                  <a:srgbClr val="8A6D1E"/>
                </a:solidFill>
                <a:latin typeface="Calibri" pitchFamily="34" charset="0"/>
                <a:ea typeface="Calibri" pitchFamily="34" charset="-122"/>
                <a:cs typeface="Calibri" pitchFamily="34" charset="-120"/>
              </a:rPr>
              <a:t> = I do not like.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drink”?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أَشْرَبُ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آكُلُ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أُفَضِّلُ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أَشْرَبُ</a:t>
            </a:r>
            <a:pPr algn="l" indent="0" marL="0">
              <a:buNone/>
            </a:pPr>
            <a:r>
              <a:rPr lang="en-US" sz="1050" i="1" dirty="0">
                <a:solidFill>
                  <a:srgbClr val="8A6D1E"/>
                </a:solidFill>
                <a:latin typeface="Calibri" pitchFamily="34" charset="0"/>
                <a:ea typeface="Calibri" pitchFamily="34" charset="-122"/>
                <a:cs typeface="Calibri" pitchFamily="34" charset="-120"/>
              </a:rPr>
              <a:t> means I drink.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shopping note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نَحْنُ نَشْتَرِي خُبْزًا وَأَرُزًّا وَدَجَاجًا لِلْعَشَاءِ. نَحْتَاجُ أَيْضًا إِلَى زَيْتٍ وَمِلْحٍ وَقَلِيلٍ مِنَ السُّكَّرِ. أُمِّي تُحِبُّ السَّلَطَةَ مَعَ الخَسِّ وَالطَّمَاطِمِ وَالبَصَلِ، وَأَبِي يُحِبُّ الحَسَاءَ. أَخِي لَا يُحِبُّ الخَضْرَوَاتِ، وَلٰكِنَّهُ يُحِبُّ الفَاكِهَةَ، خُصُوصًا المَوْزَ وَالعِنَبَ. نَشْتَرِي أَحْيَانًا الرُّوبِيَانَ وَمَأْكُولَاتٍ بَحْرِيَّةً، وَنَشْتَرِي أَيْضًا حَلِيبًا وَمَاءً.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نَشْتَرِي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buy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لِلْعَشَاءِ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dinner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نَحْتَاجُ إِلَى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need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قَلِيلٍ مِنَ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little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mother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father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brother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خُصُوصًا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especially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أَحْيَانًا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sometimes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أَيْضًا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also</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family buying for dinner?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potatoes and soup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rice and chicken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pasta, eggs and cheese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salad?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dislike?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fruit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he especially like?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oranges and dates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bananas and grapes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apples and strawberries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drinks are bought?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 and water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 and tea</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 and milk</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three ingredients are needed in addition to the main foods?</a:t>
            </a:r>
            <a:endParaRPr lang="en-US" sz="9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cheese, yoghurt and milk</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 coffee and juice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oil, salt and a little sugar</a:t>
            </a:r>
            <a:endParaRPr lang="en-US" sz="1250" dirty="0"/>
          </a:p>
        </p:txBody>
      </p:sp>
      <p:sp>
        <p:nvSpPr>
          <p:cNvPr id="95" name="Shape 9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6313932" y="4288536"/>
            <a:ext cx="310896" cy="310896"/>
          </a:xfrm>
          <a:prstGeom prst="ellipse">
            <a:avLst/>
          </a:prstGeom>
          <a:solidFill>
            <a:srgbClr val="1B3B6F"/>
          </a:solidFill>
          <a:ln w="12700">
            <a:solidFill>
              <a:srgbClr val="1B3B6F"/>
            </a:solidFill>
            <a:prstDash val="solid"/>
          </a:ln>
        </p:spPr>
      </p:sp>
      <p:sp>
        <p:nvSpPr>
          <p:cNvPr id="97" name="Text 9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8" name="Text 9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included in the mother’s salad?</a:t>
            </a:r>
            <a:endParaRPr lang="en-US" sz="1250" dirty="0"/>
          </a:p>
        </p:txBody>
      </p:sp>
      <p:sp>
        <p:nvSpPr>
          <p:cNvPr id="99" name="Shape 96"/>
          <p:cNvSpPr/>
          <p:nvPr/>
        </p:nvSpPr>
        <p:spPr>
          <a:xfrm>
            <a:off x="6368796" y="4873752"/>
            <a:ext cx="256032" cy="256032"/>
          </a:xfrm>
          <a:prstGeom prst="ellipse">
            <a:avLst/>
          </a:prstGeom>
          <a:solidFill>
            <a:srgbClr val="F4F1EA"/>
          </a:solidFill>
          <a:ln w="12700">
            <a:solidFill>
              <a:srgbClr val="F4F1EA"/>
            </a:solidFill>
            <a:prstDash val="solid"/>
          </a:ln>
        </p:spPr>
      </p:sp>
      <p:sp>
        <p:nvSpPr>
          <p:cNvPr id="100" name="Text 9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1" name="Text 98"/>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potatoes, carrots and beans</a:t>
            </a:r>
            <a:endParaRPr lang="en-US" sz="1250" dirty="0"/>
          </a:p>
        </p:txBody>
      </p:sp>
      <p:sp>
        <p:nvSpPr>
          <p:cNvPr id="102" name="Shape 99"/>
          <p:cNvSpPr/>
          <p:nvPr/>
        </p:nvSpPr>
        <p:spPr>
          <a:xfrm>
            <a:off x="6368796" y="5330952"/>
            <a:ext cx="256032" cy="256032"/>
          </a:xfrm>
          <a:prstGeom prst="ellipse">
            <a:avLst/>
          </a:prstGeom>
          <a:solidFill>
            <a:srgbClr val="F4F1EA"/>
          </a:solidFill>
          <a:ln w="12700">
            <a:solidFill>
              <a:srgbClr val="F4F1EA"/>
            </a:solidFill>
            <a:prstDash val="solid"/>
          </a:ln>
        </p:spPr>
      </p:sp>
      <p:sp>
        <p:nvSpPr>
          <p:cNvPr id="103" name="Text 10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4" name="Text 101"/>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 chicken and fish</a:t>
            </a:r>
            <a:endParaRPr lang="en-US" sz="1250" dirty="0"/>
          </a:p>
        </p:txBody>
      </p:sp>
      <p:sp>
        <p:nvSpPr>
          <p:cNvPr id="105" name="Shape 102"/>
          <p:cNvSpPr/>
          <p:nvPr/>
        </p:nvSpPr>
        <p:spPr>
          <a:xfrm>
            <a:off x="6368796" y="5788152"/>
            <a:ext cx="256032" cy="256032"/>
          </a:xfrm>
          <a:prstGeom prst="ellipse">
            <a:avLst/>
          </a:prstGeom>
          <a:solidFill>
            <a:srgbClr val="F4F1EA"/>
          </a:solidFill>
          <a:ln w="12700">
            <a:solidFill>
              <a:srgbClr val="F4F1EA"/>
            </a:solidFill>
            <a:prstDash val="solid"/>
          </a:ln>
        </p:spPr>
      </p:sp>
      <p:sp>
        <p:nvSpPr>
          <p:cNvPr id="106" name="Text 10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4"/>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lettuce, tomatoes and onions</a:t>
            </a:r>
            <a:endParaRPr lang="en-US" sz="1250" dirty="0"/>
          </a:p>
        </p:txBody>
      </p:sp>
      <p:sp>
        <p:nvSpPr>
          <p:cNvPr id="108" name="Shape 105"/>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9" name="Shape 106"/>
          <p:cNvSpPr/>
          <p:nvPr/>
        </p:nvSpPr>
        <p:spPr>
          <a:xfrm>
            <a:off x="9178290" y="4288536"/>
            <a:ext cx="310896" cy="310896"/>
          </a:xfrm>
          <a:prstGeom prst="ellipse">
            <a:avLst/>
          </a:prstGeom>
          <a:solidFill>
            <a:srgbClr val="1B3B6F"/>
          </a:solidFill>
          <a:ln w="12700">
            <a:solidFill>
              <a:srgbClr val="1B3B6F"/>
            </a:solidFill>
            <a:prstDash val="solid"/>
          </a:ln>
        </p:spPr>
      </p:sp>
      <p:sp>
        <p:nvSpPr>
          <p:cNvPr id="110" name="Text 107"/>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11" name="Text 108"/>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seafood is mentioned specifically?</a:t>
            </a:r>
            <a:endParaRPr lang="en-US" sz="1250" dirty="0"/>
          </a:p>
        </p:txBody>
      </p:sp>
      <p:sp>
        <p:nvSpPr>
          <p:cNvPr id="112" name="Shape 109"/>
          <p:cNvSpPr/>
          <p:nvPr/>
        </p:nvSpPr>
        <p:spPr>
          <a:xfrm>
            <a:off x="9233154" y="4873752"/>
            <a:ext cx="256032" cy="256032"/>
          </a:xfrm>
          <a:prstGeom prst="ellipse">
            <a:avLst/>
          </a:prstGeom>
          <a:solidFill>
            <a:srgbClr val="F4F1EA"/>
          </a:solidFill>
          <a:ln w="12700">
            <a:solidFill>
              <a:srgbClr val="F4F1EA"/>
            </a:solidFill>
            <a:prstDash val="solid"/>
          </a:ln>
        </p:spPr>
      </p:sp>
      <p:sp>
        <p:nvSpPr>
          <p:cNvPr id="113" name="Text 110"/>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4" name="Text 111"/>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prawns</a:t>
            </a:r>
            <a:endParaRPr lang="en-US" sz="1250" dirty="0"/>
          </a:p>
        </p:txBody>
      </p:sp>
      <p:sp>
        <p:nvSpPr>
          <p:cNvPr id="115" name="Shape 112"/>
          <p:cNvSpPr/>
          <p:nvPr/>
        </p:nvSpPr>
        <p:spPr>
          <a:xfrm>
            <a:off x="9233154" y="5330952"/>
            <a:ext cx="256032" cy="256032"/>
          </a:xfrm>
          <a:prstGeom prst="ellipse">
            <a:avLst/>
          </a:prstGeom>
          <a:solidFill>
            <a:srgbClr val="F4F1EA"/>
          </a:solidFill>
          <a:ln w="12700">
            <a:solidFill>
              <a:srgbClr val="F4F1EA"/>
            </a:solidFill>
            <a:prstDash val="solid"/>
          </a:ln>
        </p:spPr>
      </p:sp>
      <p:sp>
        <p:nvSpPr>
          <p:cNvPr id="116" name="Text 113"/>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7" name="Text 114"/>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tuna</a:t>
            </a:r>
            <a:endParaRPr lang="en-US" sz="1250" dirty="0"/>
          </a:p>
        </p:txBody>
      </p:sp>
      <p:sp>
        <p:nvSpPr>
          <p:cNvPr id="118" name="Shape 115"/>
          <p:cNvSpPr/>
          <p:nvPr/>
        </p:nvSpPr>
        <p:spPr>
          <a:xfrm>
            <a:off x="9233154" y="5788152"/>
            <a:ext cx="256032" cy="256032"/>
          </a:xfrm>
          <a:prstGeom prst="ellipse">
            <a:avLst/>
          </a:prstGeom>
          <a:solidFill>
            <a:srgbClr val="F4F1EA"/>
          </a:solidFill>
          <a:ln w="12700">
            <a:solidFill>
              <a:srgbClr val="F4F1EA"/>
            </a:solidFill>
            <a:prstDash val="solid"/>
          </a:ln>
        </p:spPr>
      </p:sp>
      <p:sp>
        <p:nvSpPr>
          <p:cNvPr id="119" name="Text 116"/>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20" name="Text 117"/>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crab</a:t>
            </a:r>
            <a:endParaRPr lang="en-US" sz="125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family buying for dinner?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potatoes and soup</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bread, rice and chicken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pasta, eggs and cheese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sentence lists </a:t>
            </a:r>
            <a:pPr algn="l" indent="0" marL="0">
              <a:buNone/>
            </a:pPr>
            <a:r>
              <a:rPr lang="ar-SA" altLang="en-US" sz="1350" dirty="0">
                <a:solidFill>
                  <a:srgbClr val="8A6D1E"/>
                </a:solidFill>
                <a:latin typeface="Amiri" pitchFamily="34" charset="0"/>
                <a:ea typeface="Amiri" pitchFamily="34" charset="-122"/>
                <a:cs typeface="Amiri" pitchFamily="34" charset="-120"/>
              </a:rPr>
              <a:t>خُبْزًا وَأَرُزًّا وَدَجَاجًا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likes salad?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father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أُمِّي تُحِبُّ السَّلَطَةَ.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dislike?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vegetables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fruit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milk</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does not like </a:t>
            </a:r>
            <a:pPr algn="l" indent="0" marL="0">
              <a:buNone/>
            </a:pPr>
            <a:r>
              <a:rPr lang="ar-SA" altLang="en-US" sz="1350" dirty="0">
                <a:solidFill>
                  <a:srgbClr val="8A6D1E"/>
                </a:solidFill>
                <a:latin typeface="Amiri" pitchFamily="34" charset="0"/>
                <a:ea typeface="Amiri" pitchFamily="34" charset="-122"/>
                <a:cs typeface="Amiri" pitchFamily="34" charset="-120"/>
              </a:rPr>
              <a:t>الخَضْرَوَاتِ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fruit does he especially like?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oranges and dates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bananas and grapes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apples and strawberries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خُصُوصًا المَوْزَ وَالعِنَبَ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drinks are bought?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milk and water</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 and tea</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 and milk</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gives </a:t>
            </a:r>
            <a:pPr algn="l" indent="0" marL="0">
              <a:buNone/>
            </a:pPr>
            <a:r>
              <a:rPr lang="ar-SA" altLang="en-US" sz="1350" dirty="0">
                <a:solidFill>
                  <a:srgbClr val="8A6D1E"/>
                </a:solidFill>
                <a:latin typeface="Amiri" pitchFamily="34" charset="0"/>
                <a:ea typeface="Amiri" pitchFamily="34" charset="-122"/>
                <a:cs typeface="Amiri" pitchFamily="34" charset="-120"/>
              </a:rPr>
              <a:t>حَلِيبًا وَمَاءً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Which three ingredients are needed in addition to the main foods?</a:t>
            </a:r>
            <a:endParaRPr lang="en-US" sz="9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cheese, yoghurt and milk</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 coffee and juice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oil, salt and a little sugar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lists </a:t>
            </a:r>
            <a:pPr algn="l" indent="0" marL="0">
              <a:buNone/>
            </a:pPr>
            <a:r>
              <a:rPr lang="ar-SA" altLang="en-US" sz="1350" dirty="0">
                <a:solidFill>
                  <a:srgbClr val="8A6D1E"/>
                </a:solidFill>
                <a:latin typeface="Amiri" pitchFamily="34" charset="0"/>
                <a:ea typeface="Amiri" pitchFamily="34" charset="-122"/>
                <a:cs typeface="Amiri" pitchFamily="34" charset="-120"/>
              </a:rPr>
              <a:t>زَيْتٍ وَمِلْحٍ وَقَلِيلٍ مِنَ السُّكَّرِ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8" name="Shape 105"/>
          <p:cNvSpPr/>
          <p:nvPr/>
        </p:nvSpPr>
        <p:spPr>
          <a:xfrm>
            <a:off x="6313932" y="4288536"/>
            <a:ext cx="310896" cy="310896"/>
          </a:xfrm>
          <a:prstGeom prst="ellipse">
            <a:avLst/>
          </a:prstGeom>
          <a:solidFill>
            <a:srgbClr val="1B3B6F"/>
          </a:solidFill>
          <a:ln w="12700">
            <a:solidFill>
              <a:srgbClr val="1B3B6F"/>
            </a:solidFill>
            <a:prstDash val="solid"/>
          </a:ln>
        </p:spPr>
      </p:sp>
      <p:sp>
        <p:nvSpPr>
          <p:cNvPr id="109" name="Text 10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0" name="Text 107"/>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included in the mother’s salad?</a:t>
            </a:r>
            <a:endParaRPr lang="en-US" sz="1250" dirty="0"/>
          </a:p>
        </p:txBody>
      </p:sp>
      <p:sp>
        <p:nvSpPr>
          <p:cNvPr id="111" name="Shape 108"/>
          <p:cNvSpPr/>
          <p:nvPr/>
        </p:nvSpPr>
        <p:spPr>
          <a:xfrm>
            <a:off x="6368796" y="4831080"/>
            <a:ext cx="256032" cy="256032"/>
          </a:xfrm>
          <a:prstGeom prst="ellipse">
            <a:avLst/>
          </a:prstGeom>
          <a:solidFill>
            <a:srgbClr val="C9CED6"/>
          </a:solidFill>
          <a:ln w="12700">
            <a:solidFill>
              <a:srgbClr val="C9CED6"/>
            </a:solidFill>
            <a:prstDash val="solid"/>
          </a:ln>
        </p:spPr>
      </p:sp>
      <p:sp>
        <p:nvSpPr>
          <p:cNvPr id="112" name="Text 109"/>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3" name="Text 110"/>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potatoes, carrots and beans</a:t>
            </a:r>
            <a:endParaRPr lang="en-US" sz="1150" dirty="0"/>
          </a:p>
        </p:txBody>
      </p:sp>
      <p:sp>
        <p:nvSpPr>
          <p:cNvPr id="114" name="Shape 111"/>
          <p:cNvSpPr/>
          <p:nvPr/>
        </p:nvSpPr>
        <p:spPr>
          <a:xfrm>
            <a:off x="6368796" y="5202936"/>
            <a:ext cx="256032" cy="256032"/>
          </a:xfrm>
          <a:prstGeom prst="ellipse">
            <a:avLst/>
          </a:prstGeom>
          <a:solidFill>
            <a:srgbClr val="C9CED6"/>
          </a:solidFill>
          <a:ln w="12700">
            <a:solidFill>
              <a:srgbClr val="C9CED6"/>
            </a:solidFill>
            <a:prstDash val="solid"/>
          </a:ln>
        </p:spPr>
      </p:sp>
      <p:sp>
        <p:nvSpPr>
          <p:cNvPr id="115" name="Text 112"/>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6" name="Text 113"/>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 chicken and fish</a:t>
            </a:r>
            <a:endParaRPr lang="en-US" sz="1250" dirty="0"/>
          </a:p>
        </p:txBody>
      </p:sp>
      <p:sp>
        <p:nvSpPr>
          <p:cNvPr id="117" name="Shape 114"/>
          <p:cNvSpPr/>
          <p:nvPr/>
        </p:nvSpPr>
        <p:spPr>
          <a:xfrm>
            <a:off x="6277356" y="5538216"/>
            <a:ext cx="2498598" cy="347472"/>
          </a:xfrm>
          <a:prstGeom prst="roundRect">
            <a:avLst>
              <a:gd name="adj" fmla="val 15789"/>
            </a:avLst>
          </a:prstGeom>
          <a:solidFill>
            <a:srgbClr val="E6F4EC"/>
          </a:solidFill>
          <a:ln w="9525">
            <a:solidFill>
              <a:srgbClr val="2E8B57"/>
            </a:solidFill>
            <a:prstDash val="solid"/>
          </a:ln>
        </p:spPr>
      </p:sp>
      <p:sp>
        <p:nvSpPr>
          <p:cNvPr id="118" name="Shape 115"/>
          <p:cNvSpPr/>
          <p:nvPr/>
        </p:nvSpPr>
        <p:spPr>
          <a:xfrm>
            <a:off x="6368796" y="5574792"/>
            <a:ext cx="256032" cy="256032"/>
          </a:xfrm>
          <a:prstGeom prst="ellipse">
            <a:avLst/>
          </a:prstGeom>
          <a:solidFill>
            <a:srgbClr val="2E8B57"/>
          </a:solidFill>
          <a:ln w="12700">
            <a:solidFill>
              <a:srgbClr val="2E8B57"/>
            </a:solidFill>
            <a:prstDash val="solid"/>
          </a:ln>
        </p:spPr>
      </p:sp>
      <p:sp>
        <p:nvSpPr>
          <p:cNvPr id="119" name="Text 11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20" name="Text 117"/>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lettuce, tomatoes and onions</a:t>
            </a:r>
            <a:endParaRPr lang="en-US" sz="1150" dirty="0"/>
          </a:p>
        </p:txBody>
      </p:sp>
      <p:sp>
        <p:nvSpPr>
          <p:cNvPr id="121" name="Text 118"/>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salad contains </a:t>
            </a:r>
            <a:pPr algn="l" indent="0" marL="0">
              <a:buNone/>
            </a:pPr>
            <a:r>
              <a:rPr lang="ar-SA" altLang="en-US" sz="1350" dirty="0">
                <a:solidFill>
                  <a:srgbClr val="8A6D1E"/>
                </a:solidFill>
                <a:latin typeface="Amiri" pitchFamily="34" charset="0"/>
                <a:ea typeface="Amiri" pitchFamily="34" charset="-122"/>
                <a:cs typeface="Amiri" pitchFamily="34" charset="-120"/>
              </a:rPr>
              <a:t>الخَسِّ وَالطَّمَاطِمِ وَالبَصَلِ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22" name="Shape 119"/>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3" name="Shape 120"/>
          <p:cNvSpPr/>
          <p:nvPr/>
        </p:nvSpPr>
        <p:spPr>
          <a:xfrm>
            <a:off x="9178290" y="4288536"/>
            <a:ext cx="310896" cy="310896"/>
          </a:xfrm>
          <a:prstGeom prst="ellipse">
            <a:avLst/>
          </a:prstGeom>
          <a:solidFill>
            <a:srgbClr val="1B3B6F"/>
          </a:solidFill>
          <a:ln w="12700">
            <a:solidFill>
              <a:srgbClr val="1B3B6F"/>
            </a:solidFill>
            <a:prstDash val="solid"/>
          </a:ln>
        </p:spPr>
      </p:sp>
      <p:sp>
        <p:nvSpPr>
          <p:cNvPr id="124" name="Text 121"/>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5" name="Text 122"/>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seafood is mentioned specifically?</a:t>
            </a:r>
            <a:endParaRPr lang="en-US" sz="1250" dirty="0"/>
          </a:p>
        </p:txBody>
      </p:sp>
      <p:sp>
        <p:nvSpPr>
          <p:cNvPr id="126" name="Shape 123"/>
          <p:cNvSpPr/>
          <p:nvPr/>
        </p:nvSpPr>
        <p:spPr>
          <a:xfrm>
            <a:off x="9141714" y="4794504"/>
            <a:ext cx="2498598" cy="347472"/>
          </a:xfrm>
          <a:prstGeom prst="roundRect">
            <a:avLst>
              <a:gd name="adj" fmla="val 15789"/>
            </a:avLst>
          </a:prstGeom>
          <a:solidFill>
            <a:srgbClr val="E6F4EC"/>
          </a:solidFill>
          <a:ln w="9525">
            <a:solidFill>
              <a:srgbClr val="2E8B57"/>
            </a:solidFill>
            <a:prstDash val="solid"/>
          </a:ln>
        </p:spPr>
      </p:sp>
      <p:sp>
        <p:nvSpPr>
          <p:cNvPr id="127" name="Shape 124"/>
          <p:cNvSpPr/>
          <p:nvPr/>
        </p:nvSpPr>
        <p:spPr>
          <a:xfrm>
            <a:off x="9233154" y="4831080"/>
            <a:ext cx="256032" cy="256032"/>
          </a:xfrm>
          <a:prstGeom prst="ellipse">
            <a:avLst/>
          </a:prstGeom>
          <a:solidFill>
            <a:srgbClr val="2E8B57"/>
          </a:solidFill>
          <a:ln w="12700">
            <a:solidFill>
              <a:srgbClr val="2E8B57"/>
            </a:solidFill>
            <a:prstDash val="solid"/>
          </a:ln>
        </p:spPr>
      </p:sp>
      <p:sp>
        <p:nvSpPr>
          <p:cNvPr id="128" name="Text 125"/>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29" name="Text 126"/>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prawns</a:t>
            </a:r>
            <a:endParaRPr lang="en-US" sz="1250" dirty="0"/>
          </a:p>
        </p:txBody>
      </p:sp>
      <p:sp>
        <p:nvSpPr>
          <p:cNvPr id="130" name="Shape 127"/>
          <p:cNvSpPr/>
          <p:nvPr/>
        </p:nvSpPr>
        <p:spPr>
          <a:xfrm>
            <a:off x="9233154" y="5202936"/>
            <a:ext cx="256032" cy="256032"/>
          </a:xfrm>
          <a:prstGeom prst="ellipse">
            <a:avLst/>
          </a:prstGeom>
          <a:solidFill>
            <a:srgbClr val="C9CED6"/>
          </a:solidFill>
          <a:ln w="12700">
            <a:solidFill>
              <a:srgbClr val="C9CED6"/>
            </a:solidFill>
            <a:prstDash val="solid"/>
          </a:ln>
        </p:spPr>
      </p:sp>
      <p:sp>
        <p:nvSpPr>
          <p:cNvPr id="131" name="Text 128"/>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32" name="Text 129"/>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tuna</a:t>
            </a:r>
            <a:endParaRPr lang="en-US" sz="1250" dirty="0"/>
          </a:p>
        </p:txBody>
      </p:sp>
      <p:sp>
        <p:nvSpPr>
          <p:cNvPr id="133" name="Shape 130"/>
          <p:cNvSpPr/>
          <p:nvPr/>
        </p:nvSpPr>
        <p:spPr>
          <a:xfrm>
            <a:off x="9233154" y="5574792"/>
            <a:ext cx="256032" cy="256032"/>
          </a:xfrm>
          <a:prstGeom prst="ellipse">
            <a:avLst/>
          </a:prstGeom>
          <a:solidFill>
            <a:srgbClr val="C9CED6"/>
          </a:solidFill>
          <a:ln w="12700">
            <a:solidFill>
              <a:srgbClr val="C9CED6"/>
            </a:solidFill>
            <a:prstDash val="solid"/>
          </a:ln>
        </p:spPr>
      </p:sp>
      <p:sp>
        <p:nvSpPr>
          <p:cNvPr id="134" name="Text 131"/>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35" name="Text 132"/>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crab</a:t>
            </a:r>
            <a:endParaRPr lang="en-US" sz="1250" dirty="0"/>
          </a:p>
        </p:txBody>
      </p:sp>
      <p:sp>
        <p:nvSpPr>
          <p:cNvPr id="136" name="Text 133"/>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الرُّوبِيَانُ</a:t>
            </a:r>
            <a:pPr algn="l" indent="0" marL="0">
              <a:buNone/>
            </a:pPr>
            <a:r>
              <a:rPr lang="en-US" sz="1050" i="1" dirty="0">
                <a:solidFill>
                  <a:srgbClr val="8A6D1E"/>
                </a:solidFill>
                <a:latin typeface="Calibri" pitchFamily="34" charset="0"/>
                <a:ea typeface="Calibri" pitchFamily="34" charset="-122"/>
                <a:cs typeface="Calibri" pitchFamily="34" charset="-120"/>
              </a:rPr>
              <a:t> means prawns or shrimp.</a:t>
            </a:r>
            <a:endParaRPr lang="en-US" sz="1050" dirty="0"/>
          </a:p>
        </p:txBody>
      </p:sp>
      <p:sp>
        <p:nvSpPr>
          <p:cNvPr id="137" name="Text 1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AT-A-L04 · Food and Drink</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AT-A-L05: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AT-A-L05 · Eating Out — Café, Menu and Prices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مَطْعَمٌ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restaurant</a:t>
            </a:r>
            <a:pPr indent="0" marL="0">
              <a:buNone/>
            </a:pPr>
            <a:r>
              <a:rPr lang="en-US" sz="1000" i="1" dirty="0">
                <a:solidFill>
                  <a:srgbClr val="5A6472"/>
                </a:solidFill>
                <a:latin typeface="Calibri" pitchFamily="34" charset="0"/>
                <a:ea typeface="Calibri" pitchFamily="34" charset="-122"/>
                <a:cs typeface="Calibri" pitchFamily="34" charset="-120"/>
              </a:rPr>
              <a:t>  pl. مَطَاعِمُ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نَادِلٌ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waiter</a:t>
            </a:r>
            <a:pPr indent="0" marL="0">
              <a:buNone/>
            </a:pPr>
            <a:r>
              <a:rPr lang="en-US" sz="1000" i="1" dirty="0">
                <a:solidFill>
                  <a:srgbClr val="5A6472"/>
                </a:solidFill>
                <a:latin typeface="Calibri" pitchFamily="34" charset="0"/>
                <a:ea typeface="Calibri" pitchFamily="34" charset="-122"/>
                <a:cs typeface="Calibri" pitchFamily="34" charset="-120"/>
              </a:rPr>
              <a:t>  f. نَادِلَةٌ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قَائِمَةُ الطَّعَامِ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menu</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الحِسَابُ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bill</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فَضْلِكَ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please (to a man)</a:t>
            </a:r>
            <a:pPr indent="0" marL="0">
              <a:buNone/>
            </a:pPr>
            <a:r>
              <a:rPr lang="en-US" sz="1000" i="1" dirty="0">
                <a:solidFill>
                  <a:srgbClr val="5A6472"/>
                </a:solidFill>
                <a:latin typeface="Calibri" pitchFamily="34" charset="0"/>
                <a:ea typeface="Calibri" pitchFamily="34" charset="-122"/>
                <a:cs typeface="Calibri" pitchFamily="34" charset="-120"/>
              </a:rPr>
              <a:t>  f. مِنْ فَضْلِكِ</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how you would ask for water politely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تَطْلُبُ فِي المَطْعَمِ؟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AT-A-L04: the picture game and the vocabulary tab — learn 10 foods and drinks.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5–6 sentences about foods and drinks you like and dislike.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an 8-sentence food profile of a family member, with adjectives and frequency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AT-A-L05 · Eating Out — Café, Menu and Prices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تَنَاوُلُ الطَّعَامِ خَارِجَ الْبَيْتِ: الْمَقْهَى وَقَائِمَةُ الطَّعَامِ وَالْأَسْعَارُ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café words + one polite request.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AT-A-L04 · Food and Drink — Meals and Preferences</dc:title>
  <dc:subject>PptxGenJS Presentation</dc:subject>
  <dc:creator>Al Madina Online School · Arabic Department</dc:creator>
  <cp:lastModifiedBy>Al Madina Online School · Arabic Department</cp:lastModifiedBy>
  <cp:revision>1</cp:revision>
  <dcterms:created xsi:type="dcterms:W3CDTF">2026-09-27T12:25:50Z</dcterms:created>
  <dcterms:modified xsi:type="dcterms:W3CDTF">2026-09-27T12:25:50Z</dcterms:modified>
</cp:coreProperties>
</file>