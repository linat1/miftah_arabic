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AT-A-L04 — Food and Drink — Meals and Preferences. Website: Advanced Topics › Topic A (Everyday Activities) › Lesson 4.
The website builds this lesson on the F5-L01 lesson engine, with the Topic focus “Describe meals, food and drink, express preferences and explain your choices.” (grammar: Idāfa; adjective agreement; plurals; skills: Reading · Speaking) and the application challenge “Food preference survey”.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4 (AT-A-L04), lesson engine Pathways › Foundation › F5 › AT-A-L04.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A moves from the day (AT-A-L01–L03) to meals. Core: 10 food and drink words + أُحِبُّ / لَا أُحِبُّ + آكُلُ / أَشْرَبُ. Develop: ask a partner (هَلْ تُحِبُّ؟ / هَلْ تُحِبِّينَ؟) and report (هُوَ يُحِبُّ … / هِيَ تُحِبُّ …). Stretch (Topic A grammar): adjective agreement — الخُبْزُ طَازَجٌ، القَهْوَةُ مُرَّةٌ — and collective / one forms (تُفَّاحٌ / تُفَّاحَةٌ).
• The engine is a Foundation lesson, so most of the class can succeed; the Topic challenge (food survey) is where Develop and Stretch move up to B1 reporting.
• Link to AT-A-L03: frequency words come straight back (دَائِمًا آكُلُ … · لَا أَشْرَبُ القَهْوَةَ أَبَدًا).
• Urdu bridge: many food words are shared — چاول is not, but گوشت / لحم, دودھ / حلیب (no), چائے ← شَايٌ, قہوہ ← قَهْوَةٌ, شکر ← سُكَّرٌ, نمک / مِلْحٌ (no), سلاد ← سَلَطَةٌ.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and drink words prepared at home at the end of AT-A-L03. Questions 3–5 retrieve AT-A-L03 (frequency), AT-A-L01 (routine) and AT-A-L02 (clock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Food follows the verb directly — no “to”: I like bread = uḥibbu l-khubza. Drinks take “I drink”, food takes “I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قہوہ، شکر and سلاد sound almost the same. لحم is known from Urdu religious vocabulary (لحم حلال); everyday Urdu uses گوشت. CAREFUL: حلیب is not used in Urdu — milk is دودھ.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(1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(2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no preposition) and “Make the opinion negative” (لَا + أُحِبُّ). The he / she / we columns are the Topic A person-prefix skill (AT-A-L01) applied to food verbs — Develop needs them for the survey report.
Website common error: أُحِبُّ إِلَى الخُبْزِ ✗ → أُحِبُّ الخُبْزَ ✓. Note آكُلُ starts with a long ā (آ).
Quick-fire: say a food; students answer with the right verb: خُبْزٌ → آكُلُ الخُبْزَ · مَاءٌ → 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another person” (تُحِبُّ to a boy, تُحِبِّينَ to a girl) and “Notice noun gender” (الخُبْزُ طَازَجٌ · القَهْوَةُ مُرَّةٌ · السَّلَطَةُ صِحِّيَّةٌ). The Topic A page lists adjective agreement and plurals as this lesson’s grammar — Stretch students use them in the survey report.
Useful adjectives (teacher list, for Stretch): لَذِيذٌ / لَذِيذَةٌ (delicious), صِحِّيٌّ / صِحِّيَّةٌ (healthy), طَازَجٌ / طَازَجَةٌ (fresh), حُلْوٌ / حُلْوَةٌ (sweet), مُرٌّ / مُرَّةٌ (bitter), سَاخِنٌ / سَاخِنَةٌ (hot), بَارِدٌ / بَارِدَةٌ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(أُحِبُّ الخُبْزَ وَالجُبْنَ · لَا أُحِبُّ القَهْوَةَ · أَشْرَبُ المَاءَ وَالعَصِيرَ) joined into a profile, with AT-A-L03 frequency added. Think aloud: “food or drink? which verb?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“Interview a partner about meals, food and drink. Record preferences and reasons, then report the results with accurate adjective and noun agreement.”
Meal words for the survey (teacher-added, recycled in AT-A-L06): الفُطُورُ / الإِفْطَارُ (breakfast), الغَدَاءُ (lunch), العَشَاءُ (dinner). Core students may report in English plus the Arabic food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prompts (order changed so Core starts with a yes/no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collective/singular contrasts such as تُفَّاحٌ / تُفَّاحَةٌ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وَالجُبْنَ · لَا أُحِبُّ السَّمَكَ · آكُلُ الأَرُزَّ / أَشْرَبُ المَاءَ · وَلٰكِنِّي. Stretch: rewrite one sentence with an adjective (الدَّجَاجُ لَذِيذٌ) and one with a “one” form (آكُلُ تُفَّاحَةً).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(AT-A-L05 · Eating Out — Café, Menu and Prices) will spend class time USING this language, so students prepare it tonight — short, simple, easy to access (school guidance: “Simple, Short, Interesting, Relevant, Easy to access”). The five words come from the website AT-A-L05 vocabulary (the AT-A-L05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Food and Drink — Meals and Preferences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الطَّعَامُ وَالشَّرَابُ وَالْوَجَبَاتُ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meals, food and drink, express preferences and explain your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AT-A-L04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Food and drink words, then I like / I don’t like + I eat / I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food and drink,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عَصِيرٌ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always wake up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مُبَكِّرًا أَبَدًا.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 مُبَكِّرًا دَائِمًا.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مُبَكِّرًا دَائِمًا.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أَتَنَاوَلُ 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get dressed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have breakfast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السَّاعَةُ السَّابِعَةُ وَالنِّصْفُ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عَصِيرٌ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always wake up early.”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أَسْتَيْقِظُ مُبَكِّرًا أَبَدًا.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 مُبَكِّرًا دَائِمًا.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 مُبَكِّرًا دَائِمًا.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AT-A-L03: frequency.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أَتَنَاوَلُ 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get dressed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go to school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have breakfast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routine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السَّاعَةُ السَّابِعَةُ وَالنِّصْفُ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clock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Food follows the verb directly — no “to”: I like bread = uḥibbu l-khubza. Drinks take “I drink”, food takes “I eat”.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أُحِبُّ</a:t>
            </a:r>
            <a:pPr rtl="1" algn="ctr" indent="0" marL="0">
              <a:lnSpc>
                <a:spcPct val="120000"/>
              </a:lnSpc>
              <a:buNone/>
            </a:pPr>
            <a:r>
              <a:rPr lang="ar-SA" altLang="en-US" sz="1950" b="1" dirty="0">
                <a:solidFill>
                  <a:srgbClr val="1B3B6F"/>
                </a:solidFill>
                <a:latin typeface="Amiri" pitchFamily="2" charset="-78"/>
                <a:cs typeface="Amiri" pitchFamily="2" charset="-78"/>
              </a:rPr>
              <a:t> الخُبْزَ  ·  </a:t>
            </a:r>
            <a:pPr rtl="1" algn="ctr" indent="0" marL="0">
              <a:lnSpc>
                <a:spcPct val="120000"/>
              </a:lnSpc>
              <a:buNone/>
            </a:pPr>
            <a:r>
              <a:rPr lang="ar-SA" altLang="en-US" sz="1950" b="1" dirty="0">
                <a:solidFill>
                  <a:srgbClr val="1D5FBF"/>
                </a:solidFill>
                <a:latin typeface="Amiri" pitchFamily="2" charset="-78"/>
                <a:cs typeface="Amiri" pitchFamily="2" charset="-78"/>
              </a:rPr>
              <a:t>آكُلُ</a:t>
            </a:r>
            <a:pPr rtl="1" algn="ctr" indent="0" marL="0">
              <a:lnSpc>
                <a:spcPct val="120000"/>
              </a:lnSpc>
              <a:buNone/>
            </a:pPr>
            <a:r>
              <a:rPr lang="ar-SA" altLang="en-US" sz="1950" b="1" dirty="0">
                <a:solidFill>
                  <a:srgbClr val="1B3B6F"/>
                </a:solidFill>
                <a:latin typeface="Amiri" pitchFamily="2" charset="-78"/>
                <a:cs typeface="Amiri" pitchFamily="2" charset="-78"/>
              </a:rPr>
              <a:t> الأَرُزَّ  ·  </a:t>
            </a:r>
            <a:pPr rtl="1" algn="ctr" indent="0" marL="0">
              <a:lnSpc>
                <a:spcPct val="120000"/>
              </a:lnSpc>
              <a:buNone/>
            </a:pPr>
            <a:r>
              <a:rPr lang="ar-SA" altLang="en-US" sz="1950" b="1" dirty="0">
                <a:solidFill>
                  <a:srgbClr val="1D5FBF"/>
                </a:solidFill>
                <a:latin typeface="Amiri" pitchFamily="2" charset="-78"/>
                <a:cs typeface="Amiri" pitchFamily="2" charset="-78"/>
              </a:rPr>
              <a:t>أَشْرَبُ</a:t>
            </a:r>
            <a:pPr rtl="1" algn="ctr" indent="0" marL="0">
              <a:lnSpc>
                <a:spcPct val="120000"/>
              </a:lnSpc>
              <a:buNone/>
            </a:pPr>
            <a:r>
              <a:rPr lang="ar-SA" altLang="en-US" sz="1950" b="1" dirty="0">
                <a:solidFill>
                  <a:srgbClr val="1B3B6F"/>
                </a:solidFill>
                <a:latin typeface="Amiri" pitchFamily="2" charset="-78"/>
                <a:cs typeface="Amiri" pitchFamily="2" charset="-78"/>
              </a:rPr>
              <a:t> المَاءَ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foods and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like and don’t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a partner’s answers (he likes … / she likes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food with an agreeing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collective and “one” forms (tuffāḥ / tuffāḥa).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40 food and drink words from the website in 4 groups. Today: staples and drinks (CORE). Fruit, vegetables and ingredients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‎چائے‎ </a:t>
            </a:r>
            <a:pPr indent="0" marL="0">
              <a:buNone/>
            </a:pPr>
            <a:r>
              <a:rPr lang="en-US" sz="950" b="1" dirty="0">
                <a:solidFill>
                  <a:srgbClr val="2E8B57"/>
                </a:solidFill>
                <a:latin typeface="Calibri" pitchFamily="34" charset="0"/>
                <a:cs typeface="Amiri" pitchFamily="2" charset="-78"/>
              </a:rPr>
              <a:t> shāy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coffee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sukkar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سَلَطَةٌ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‎سلاد‎ </a:t>
            </a:r>
            <a:pPr indent="0" marL="0">
              <a:buNone/>
            </a:pPr>
            <a:r>
              <a:rPr lang="en-US" sz="950" b="1" dirty="0">
                <a:solidFill>
                  <a:srgbClr val="2E8B57"/>
                </a:solidFill>
                <a:latin typeface="Calibri" pitchFamily="34" charset="0"/>
                <a:cs typeface="Amiri" pitchFamily="2" charset="-78"/>
              </a:rPr>
              <a:t> salaṭa · salad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لَحْمٌ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‎لحم (گوشت)‎ </a:t>
            </a:r>
            <a:pPr indent="0" marL="0">
              <a:buNone/>
            </a:pPr>
            <a:r>
              <a:rPr lang="en-US" sz="950" b="1" dirty="0">
                <a:solidFill>
                  <a:srgbClr val="2E8B57"/>
                </a:solidFill>
                <a:latin typeface="Calibri" pitchFamily="34" charset="0"/>
                <a:cs typeface="Amiri" pitchFamily="2" charset="-78"/>
              </a:rPr>
              <a:t> laḥm · meat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أَخْبَازٌ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 loaf</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رَغِيفٌ</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أَرُزٌّ</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rice</a:t>
            </a:r>
            <a:endParaRPr lang="en-US" sz="1350" dirty="0"/>
          </a:p>
          <a:p>
            <a:pPr indent="0" marL="0">
              <a:buNone/>
            </a:pPr>
            <a:r>
              <a:rPr lang="en-US" sz="1100" i="1" dirty="0">
                <a:solidFill>
                  <a:srgbClr val="5A6472"/>
                </a:solidFill>
                <a:latin typeface="Calibri" pitchFamily="34" charset="0"/>
                <a:cs typeface="Amiri" pitchFamily="2" charset="-78"/>
              </a:rPr>
              <a:t>a-ruz-zun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مَعْكَرُونَةٌ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a:t>
            </a:r>
            <a:endParaRPr lang="en-US" sz="1350" dirty="0"/>
          </a:p>
          <a:p>
            <a:pPr indent="0" marL="0">
              <a:buNone/>
            </a:pPr>
            <a:r>
              <a:rPr lang="en-US" sz="1100" i="1" dirty="0">
                <a:solidFill>
                  <a:srgbClr val="5A6472"/>
                </a:solidFill>
                <a:latin typeface="Calibri" pitchFamily="34" charset="0"/>
                <a:cs typeface="Amiri" pitchFamily="2" charset="-78"/>
              </a:rPr>
              <a:t>maʿ-ka-rū-na-tun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بَيْضٌ</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eggs</a:t>
            </a:r>
            <a:endParaRPr lang="en-US" sz="1350" dirty="0"/>
          </a:p>
          <a:p>
            <a:pPr indent="0" marL="0">
              <a:buNone/>
            </a:pPr>
            <a:r>
              <a:rPr lang="en-US" sz="1100" i="1" dirty="0">
                <a:solidFill>
                  <a:srgbClr val="5A6472"/>
                </a:solidFill>
                <a:latin typeface="Calibri" pitchFamily="34" charset="0"/>
                <a:cs typeface="Amiri" pitchFamily="2" charset="-78"/>
              </a:rPr>
              <a:t>bay-ḍun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بَيْضَاتٌ</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بَيْضَةٌ</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جُبْنٌ</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لَحْمٌ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meat</a:t>
            </a:r>
            <a:endParaRPr lang="en-US" sz="1350" dirty="0"/>
          </a:p>
          <a:p>
            <a:pPr indent="0" marL="0">
              <a:buNone/>
            </a:pPr>
            <a:r>
              <a:rPr lang="en-US" sz="1100" i="1" dirty="0">
                <a:solidFill>
                  <a:srgbClr val="5A6472"/>
                </a:solidFill>
                <a:latin typeface="Calibri" pitchFamily="34" charset="0"/>
                <a:cs typeface="Amiri" pitchFamily="2" charset="-78"/>
              </a:rPr>
              <a:t>laḥ-mun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دَجَاجٌ</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chicken</a:t>
            </a:r>
            <a:endParaRPr lang="en-US" sz="1350" dirty="0"/>
          </a:p>
          <a:p>
            <a:pPr indent="0" marL="0">
              <a:buNone/>
            </a:pPr>
            <a:r>
              <a:rPr lang="en-US" sz="1100" i="1" dirty="0">
                <a:solidFill>
                  <a:srgbClr val="5A6472"/>
                </a:solidFill>
                <a:latin typeface="Calibri" pitchFamily="34" charset="0"/>
                <a:cs typeface="Amiri" pitchFamily="2" charset="-78"/>
              </a:rPr>
              <a:t>da-jā-jun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دَجَاجَاتٌ</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دَجَاجَةٌ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سَمَكٌ</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أَسْمَاكٌ</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سَمَكَةٌ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فَاصُولِيَاءُ</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beans</a:t>
            </a:r>
            <a:endParaRPr lang="en-US" sz="1350" dirty="0"/>
          </a:p>
          <a:p>
            <a:pPr indent="0" marL="0">
              <a:buNone/>
            </a:pPr>
            <a:r>
              <a:rPr lang="en-US" sz="1100" i="1" dirty="0">
                <a:solidFill>
                  <a:srgbClr val="5A6472"/>
                </a:solidFill>
                <a:latin typeface="Calibri" pitchFamily="34" charset="0"/>
                <a:cs typeface="Amiri" pitchFamily="2" charset="-78"/>
              </a:rPr>
              <a:t>fā-ṣū-li-yā-ʾu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0" name="Shape 17"/>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apples</a:t>
            </a:r>
            <a:endParaRPr lang="en-US" sz="1350" dirty="0"/>
          </a:p>
          <a:p>
            <a:pPr indent="0" marL="0">
              <a:buNone/>
            </a:pPr>
            <a:r>
              <a:rPr lang="en-US" sz="1100" i="1" dirty="0">
                <a:solidFill>
                  <a:srgbClr val="5A6472"/>
                </a:solidFill>
                <a:latin typeface="Calibri" pitchFamily="34" charset="0"/>
                <a:cs typeface="Amiri" pitchFamily="2" charset="-78"/>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تُفَّاحَاتٌ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تُفَّاحَةٌ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مَوْزٌ</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bananas</a:t>
            </a:r>
            <a:endParaRPr lang="en-US" sz="1350" dirty="0"/>
          </a:p>
          <a:p>
            <a:pPr indent="0" marL="0">
              <a:buNone/>
            </a:pPr>
            <a:r>
              <a:rPr lang="en-US" sz="1100" i="1" dirty="0">
                <a:solidFill>
                  <a:srgbClr val="5A6472"/>
                </a:solidFill>
                <a:latin typeface="Calibri" pitchFamily="34" charset="0"/>
                <a:cs typeface="Amiri" pitchFamily="2" charset="-78"/>
              </a:rPr>
              <a:t>maw-zun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مَوْزَاتٌ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مَوْزَةٌ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6" name="Shape 43"/>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بُرْتُقَالٌ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بُرْتُقَالَةٌ</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Shape 5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عِنَبٌ</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grapes</a:t>
            </a:r>
            <a:endParaRPr lang="en-US" sz="1350" dirty="0"/>
          </a:p>
          <a:p>
            <a:pPr indent="0" marL="0">
              <a:buNone/>
            </a:pPr>
            <a:r>
              <a:rPr lang="en-US" sz="1100" i="1" dirty="0">
                <a:solidFill>
                  <a:srgbClr val="5A6472"/>
                </a:solidFill>
                <a:latin typeface="Calibri" pitchFamily="34" charset="0"/>
                <a:cs typeface="Amiri" pitchFamily="2" charset="-78"/>
              </a:rPr>
              <a:t>ʿi-na-bun</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أَعْنَابٌ</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عِنَبَةٌ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فَرَاوِلَةٌ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strawberries</a:t>
            </a:r>
            <a:endParaRPr lang="en-US" sz="1350" dirty="0"/>
          </a:p>
          <a:p>
            <a:pPr indent="0" marL="0">
              <a:buNone/>
            </a:pPr>
            <a:r>
              <a:rPr lang="en-US" sz="1100" i="1" dirty="0">
                <a:solidFill>
                  <a:srgbClr val="5A6472"/>
                </a:solidFill>
                <a:latin typeface="Calibri" pitchFamily="34" charset="0"/>
                <a:cs typeface="Amiri" pitchFamily="2" charset="-78"/>
              </a:rPr>
              <a:t>fa-rā-wi-la-tun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7" name="Shape 7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تَمْرٌ</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dates</a:t>
            </a:r>
            <a:endParaRPr lang="en-US" sz="1350" dirty="0"/>
          </a:p>
          <a:p>
            <a:pPr indent="0" marL="0">
              <a:buNone/>
            </a:pPr>
            <a:r>
              <a:rPr lang="en-US" sz="1100" i="1" dirty="0">
                <a:solidFill>
                  <a:srgbClr val="5A6472"/>
                </a:solidFill>
                <a:latin typeface="Calibri" pitchFamily="34" charset="0"/>
                <a:cs typeface="Amiri" pitchFamily="2" charset="-78"/>
              </a:rPr>
              <a:t>tam-run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3" name="Text 8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تُمُورٌ</a:t>
            </a:r>
            <a:endParaRPr lang="ar-SA" sz="150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6" name="Text 8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تَمْرَةٌ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tomatoes</a:t>
            </a:r>
            <a:endParaRPr lang="en-US" sz="1350" dirty="0"/>
          </a:p>
          <a:p>
            <a:pPr indent="0" marL="0">
              <a:buNone/>
            </a:pPr>
            <a:r>
              <a:rPr lang="en-US" sz="1100" i="1" dirty="0">
                <a:solidFill>
                  <a:srgbClr val="5A6472"/>
                </a:solidFill>
                <a:latin typeface="Calibri" pitchFamily="34" charset="0"/>
                <a:cs typeface="Amiri" pitchFamily="2" charset="-78"/>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cucumber</a:t>
            </a:r>
            <a:endParaRPr lang="en-US" sz="1350" dirty="0"/>
          </a:p>
          <a:p>
            <a:pPr indent="0" marL="0">
              <a:buNone/>
            </a:pPr>
            <a:r>
              <a:rPr lang="en-US" sz="1100" i="1" dirty="0">
                <a:solidFill>
                  <a:srgbClr val="5A6472"/>
                </a:solidFill>
                <a:latin typeface="Calibri" pitchFamily="34" charset="0"/>
                <a:cs typeface="Amiri" pitchFamily="2" charset="-78"/>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carrots</a:t>
            </a:r>
            <a:endParaRPr lang="en-US" sz="1350" dirty="0"/>
          </a:p>
          <a:p>
            <a:pPr indent="0" marL="0">
              <a:buNone/>
            </a:pPr>
            <a:r>
              <a:rPr lang="en-US" sz="1100" i="1" dirty="0">
                <a:solidFill>
                  <a:srgbClr val="5A6472"/>
                </a:solidFill>
                <a:latin typeface="Calibri" pitchFamily="34" charset="0"/>
                <a:cs typeface="Amiri" pitchFamily="2" charset="-78"/>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بَطَاطِسُ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potatoes</a:t>
            </a:r>
            <a:endParaRPr lang="en-US" sz="1350" dirty="0"/>
          </a:p>
          <a:p>
            <a:pPr indent="0" marL="0">
              <a:buNone/>
            </a:pPr>
            <a:r>
              <a:rPr lang="en-US" sz="1100" i="1" dirty="0">
                <a:solidFill>
                  <a:srgbClr val="5A6472"/>
                </a:solidFill>
                <a:latin typeface="Calibri" pitchFamily="34" charset="0"/>
                <a:cs typeface="Amiri" pitchFamily="2" charset="-78"/>
              </a:rPr>
              <a:t>ba-ṭā-ṭi-su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سَلَطَةٌ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a:t>
            </a:r>
            <a:endParaRPr lang="en-US" sz="1350" dirty="0"/>
          </a:p>
          <a:p>
            <a:pPr indent="0" marL="0">
              <a:buNone/>
            </a:pPr>
            <a:r>
              <a:rPr lang="en-US" sz="1100" i="1" dirty="0">
                <a:solidFill>
                  <a:srgbClr val="5A6472"/>
                </a:solidFill>
                <a:latin typeface="Calibri" pitchFamily="34" charset="0"/>
                <a:cs typeface="Amiri" pitchFamily="2" charset="-78"/>
              </a:rPr>
              <a:t>mā-ʾun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مِيَاهٌ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مَاءٌ</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حَلِيبٌ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milk</a:t>
            </a:r>
            <a:endParaRPr lang="en-US" sz="1350" dirty="0"/>
          </a:p>
          <a:p>
            <a:pPr indent="0" marL="0">
              <a:buNone/>
            </a:pPr>
            <a:r>
              <a:rPr lang="en-US" sz="1100" i="1" dirty="0">
                <a:solidFill>
                  <a:srgbClr val="5A6472"/>
                </a:solidFill>
                <a:latin typeface="Calibri" pitchFamily="34" charset="0"/>
                <a:cs typeface="Amiri" pitchFamily="2" charset="-78"/>
              </a:rPr>
              <a:t>ḥa-lī-bun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بَارِدٌ</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حَلِيبٌ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عَصَائِرُ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a:t>
            </a:r>
            <a:endParaRPr lang="en-US" sz="1350" dirty="0"/>
          </a:p>
          <a:p>
            <a:pPr indent="0" marL="0">
              <a:buNone/>
            </a:pPr>
            <a:r>
              <a:rPr lang="en-US" sz="1100" i="1" dirty="0">
                <a:solidFill>
                  <a:srgbClr val="5A6472"/>
                </a:solidFill>
                <a:latin typeface="Calibri" pitchFamily="34" charset="0"/>
                <a:cs typeface="Amiri" pitchFamily="2" charset="-78"/>
              </a:rPr>
              <a:t>shā-yun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سَاخِنٌ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شَايٌ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قَهْوَةٌ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(f.)</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مُرَّةٌ</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قَهْوَةٌ</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عَصِيرُ اللَّيْمُونِ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lemon juice</a:t>
            </a:r>
            <a:endParaRPr lang="en-US" sz="1350" dirty="0"/>
          </a:p>
          <a:p>
            <a:pPr indent="0" marL="0">
              <a:buNone/>
            </a:pPr>
            <a:r>
              <a:rPr lang="en-US" sz="1100" i="1" dirty="0">
                <a:solidFill>
                  <a:srgbClr val="5A6472"/>
                </a:solidFill>
                <a:latin typeface="Calibri" pitchFamily="34" charset="0"/>
                <a:cs typeface="Amiri" pitchFamily="2" charset="-78"/>
              </a:rPr>
              <a:t>ʿa-ṣī-ru all-lay-mū-ni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حَسَاءٌ</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soup</a:t>
            </a:r>
            <a:endParaRPr lang="en-US" sz="1350" dirty="0"/>
          </a:p>
          <a:p>
            <a:pPr indent="0" marL="0">
              <a:buNone/>
            </a:pPr>
            <a:r>
              <a:rPr lang="en-US" sz="1100" i="1" dirty="0">
                <a:solidFill>
                  <a:srgbClr val="5A6472"/>
                </a:solidFill>
                <a:latin typeface="Calibri" pitchFamily="34" charset="0"/>
                <a:cs typeface="Amiri" pitchFamily="2" charset="-78"/>
              </a:rPr>
              <a:t>ḥa-sā-ʾun</a:t>
            </a:r>
            <a:endParaRPr lang="en-US" sz="1350" dirty="0"/>
          </a:p>
        </p:txBody>
      </p:sp>
      <p:sp>
        <p:nvSpPr>
          <p:cNvPr id="27" name="Shape 2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29" name="Text 2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سَاخِنٌ</a:t>
            </a:r>
            <a:endParaRPr lang="ar-SA" sz="1350" dirty="0"/>
          </a:p>
        </p:txBody>
      </p:sp>
      <p:sp>
        <p:nvSpPr>
          <p:cNvPr id="30" name="Shape 2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حَسَاءٌ</a:t>
            </a:r>
            <a:endParaRPr lang="ar-SA" sz="15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زَبَادِي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yoghurt</a:t>
            </a:r>
            <a:endParaRPr lang="en-US" sz="1350" dirty="0"/>
          </a:p>
          <a:p>
            <a:pPr indent="0" marL="0">
              <a:buNone/>
            </a:pPr>
            <a:r>
              <a:rPr lang="en-US" sz="1100" i="1" dirty="0">
                <a:solidFill>
                  <a:srgbClr val="5A6472"/>
                </a:solidFill>
                <a:latin typeface="Calibri" pitchFamily="34" charset="0"/>
                <a:cs typeface="Amiri" pitchFamily="2" charset="-78"/>
              </a:rPr>
              <a:t>za-bā-dī</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شُوكُولَاتَةٌ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chocolate</a:t>
            </a:r>
            <a:endParaRPr lang="en-US" sz="1350" dirty="0"/>
          </a:p>
          <a:p>
            <a:pPr indent="0" marL="0">
              <a:buNone/>
            </a:pPr>
            <a:r>
              <a:rPr lang="en-US" sz="1100" i="1" dirty="0">
                <a:solidFill>
                  <a:srgbClr val="5A6472"/>
                </a:solidFill>
                <a:latin typeface="Calibri" pitchFamily="34" charset="0"/>
                <a:cs typeface="Amiri" pitchFamily="2" charset="-78"/>
              </a:rPr>
              <a:t>shū-kū-lā-ta-tun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Ingredients, snacks and seafood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oil</a:t>
            </a:r>
            <a:endParaRPr lang="en-US" sz="1350" dirty="0"/>
          </a:p>
          <a:p>
            <a:pPr indent="0" marL="0">
              <a:buNone/>
            </a:pPr>
            <a:r>
              <a:rPr lang="en-US" sz="1100" i="1" dirty="0">
                <a:solidFill>
                  <a:srgbClr val="5A6472"/>
                </a:solidFill>
                <a:latin typeface="Calibri" pitchFamily="34" charset="0"/>
                <a:cs typeface="Amiri" pitchFamily="2" charset="-78"/>
              </a:rPr>
              <a:t>zay-tun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a:t>
            </a:r>
            <a:endParaRPr lang="en-US" sz="1350" dirty="0"/>
          </a:p>
          <a:p>
            <a:pPr indent="0" marL="0">
              <a:buNone/>
            </a:pPr>
            <a:r>
              <a:rPr lang="en-US" sz="1100" i="1" dirty="0">
                <a:solidFill>
                  <a:srgbClr val="5A6472"/>
                </a:solidFill>
                <a:latin typeface="Calibri" pitchFamily="34" charset="0"/>
                <a:cs typeface="Amiri" pitchFamily="2" charset="-78"/>
              </a:rPr>
              <a:t>mil-ḥun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سُكَّرٌ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بَصَلٌ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onions</a:t>
            </a:r>
            <a:endParaRPr lang="en-US" sz="1350" dirty="0"/>
          </a:p>
          <a:p>
            <a:pPr indent="0" marL="0">
              <a:buNone/>
            </a:pPr>
            <a:r>
              <a:rPr lang="en-US" sz="1100" i="1" dirty="0">
                <a:solidFill>
                  <a:srgbClr val="5A6472"/>
                </a:solidFill>
                <a:latin typeface="Calibri" pitchFamily="34" charset="0"/>
                <a:cs typeface="Amiri" pitchFamily="2" charset="-78"/>
              </a:rPr>
              <a:t>ba-ṣa-lun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lettuce</a:t>
            </a:r>
            <a:endParaRPr lang="en-US" sz="1350" dirty="0"/>
          </a:p>
          <a:p>
            <a:pPr indent="0" marL="0">
              <a:buNone/>
            </a:pPr>
            <a:r>
              <a:rPr lang="en-US" sz="1100" i="1" dirty="0">
                <a:solidFill>
                  <a:srgbClr val="5A6472"/>
                </a:solidFill>
                <a:latin typeface="Calibri" pitchFamily="34" charset="0"/>
                <a:cs typeface="Amiri" pitchFamily="2" charset="-78"/>
              </a:rPr>
              <a:t>khas-sun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فَاكِهَةٌ / فَوَاكِهُ</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fruit / fruits</a:t>
            </a:r>
            <a:endParaRPr lang="en-US" sz="1350" dirty="0"/>
          </a:p>
          <a:p>
            <a:pPr indent="0" marL="0">
              <a:buNone/>
            </a:pPr>
            <a:r>
              <a:rPr lang="en-US" sz="1100" i="1" dirty="0">
                <a:solidFill>
                  <a:srgbClr val="5A6472"/>
                </a:solidFill>
                <a:latin typeface="Calibri" pitchFamily="34" charset="0"/>
                <a:cs typeface="Amiri" pitchFamily="2" charset="-78"/>
              </a:rPr>
              <a:t>fā-ki-ha-tun / fa-wā-ki-hu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Ingredients, snacks and seafood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خَضْرَوَاتٌ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vegetables</a:t>
            </a:r>
            <a:endParaRPr lang="en-US" sz="1350" dirty="0"/>
          </a:p>
          <a:p>
            <a:pPr indent="0" marL="0">
              <a:buNone/>
            </a:pPr>
            <a:r>
              <a:rPr lang="en-US" sz="1100" i="1" dirty="0">
                <a:solidFill>
                  <a:srgbClr val="5A6472"/>
                </a:solidFill>
                <a:latin typeface="Calibri" pitchFamily="34" charset="0"/>
                <a:cs typeface="Amiri" pitchFamily="2" charset="-78"/>
              </a:rPr>
              <a:t>khaḍ-ra-wā-tun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رُوبِيَانٌ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prawns / shrimp</a:t>
            </a:r>
            <a:endParaRPr lang="en-US" sz="1350" dirty="0"/>
          </a:p>
          <a:p>
            <a:pPr indent="0" marL="0">
              <a:buNone/>
            </a:pPr>
            <a:r>
              <a:rPr lang="en-US" sz="1100" i="1" dirty="0">
                <a:solidFill>
                  <a:srgbClr val="5A6472"/>
                </a:solidFill>
                <a:latin typeface="Calibri" pitchFamily="34" charset="0"/>
                <a:cs typeface="Amiri" pitchFamily="2" charset="-78"/>
              </a:rPr>
              <a:t>rū-bi-yā-nun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مَأْكُولَاتٌ بَحْرِيَّةٌ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seafood</a:t>
            </a:r>
            <a:endParaRPr lang="en-US" sz="1350" dirty="0"/>
          </a:p>
          <a:p>
            <a:pPr indent="0" marL="0">
              <a:buNone/>
            </a:pPr>
            <a:r>
              <a:rPr lang="en-US" sz="1100" i="1" dirty="0">
                <a:solidFill>
                  <a:srgbClr val="5A6472"/>
                </a:solidFill>
                <a:latin typeface="Calibri" pitchFamily="34" charset="0"/>
                <a:cs typeface="Amiri" pitchFamily="2" charset="-78"/>
              </a:rPr>
              <a:t>maʾ-kū-lā-tun baḥ-riy-ya-tun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مُكَسَّرَاتٌ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nuts</a:t>
            </a:r>
            <a:endParaRPr lang="en-US" sz="1350" dirty="0"/>
          </a:p>
          <a:p>
            <a:pPr indent="0" marL="0">
              <a:buNone/>
            </a:pPr>
            <a:r>
              <a:rPr lang="en-US" sz="1100" i="1" dirty="0">
                <a:solidFill>
                  <a:srgbClr val="5A6472"/>
                </a:solidFill>
                <a:latin typeface="Calibri" pitchFamily="34" charset="0"/>
                <a:cs typeface="Amiri" pitchFamily="2" charset="-78"/>
              </a:rPr>
              <a:t>mu-kas-sa-rā-tun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بِسْكُوِيتٌ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biscuits</a:t>
            </a:r>
            <a:endParaRPr lang="en-US" sz="1350" dirty="0"/>
          </a:p>
          <a:p>
            <a:pPr indent="0" marL="0">
              <a:buNone/>
            </a:pPr>
            <a:r>
              <a:rPr lang="en-US" sz="1100" i="1" dirty="0">
                <a:solidFill>
                  <a:srgbClr val="5A6472"/>
                </a:solidFill>
                <a:latin typeface="Calibri" pitchFamily="34" charset="0"/>
                <a:cs typeface="Amiri" pitchFamily="2" charset="-78"/>
              </a:rPr>
              <a:t>bis-ku-wī-tun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LIKE, EAT, DRINK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like … He likes … She likes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أُحِبُّ · يُحِبُّ ·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a:t>
            </a:r>
            <a:pPr algn="ctr" indent="0" marL="0">
              <a:buNone/>
            </a:pPr>
            <a:r>
              <a:rPr lang="ar-SA" altLang="en-US" sz="1450" b="1" dirty="0">
                <a:solidFill>
                  <a:srgbClr val="FFFFFF"/>
                </a:solidFill>
                <a:latin typeface="Amiri" pitchFamily="2" charset="-78"/>
                <a:cs typeface="Amiri" pitchFamily="2" charset="-78"/>
              </a:rPr>
              <a:t>أَنَا</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cs typeface="Amiri" pitchFamily="2" charset="-78"/>
              </a:rPr>
              <a:t>هُوَ</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cs typeface="Amiri" pitchFamily="2" charset="-78"/>
              </a:rPr>
              <a:t>هِيَ</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 </a:t>
            </a:r>
            <a:pPr algn="ctr" indent="0" marL="0">
              <a:buNone/>
            </a:pPr>
            <a:r>
              <a:rPr lang="ar-SA" altLang="en-US" sz="1450" b="1" dirty="0">
                <a:solidFill>
                  <a:srgbClr val="FFFFFF"/>
                </a:solidFill>
                <a:latin typeface="Amiri" pitchFamily="2" charset="-78"/>
                <a:cs typeface="Amiri" pitchFamily="2" charset="-78"/>
              </a:rPr>
              <a:t>نَحْنُ</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23" name="Text 20"/>
          <p:cNvSpPr txBox="1"/>
          <p:nvPr/>
        </p:nvSpPr>
        <p:spPr>
          <a:xfrm>
            <a:off x="7251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24" name="Text 21"/>
          <p:cNvSpPr txBox="1"/>
          <p:nvPr/>
        </p:nvSpPr>
        <p:spPr>
          <a:xfrm>
            <a:off x="4965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25" name="Text 22"/>
          <p:cNvSpPr txBox="1"/>
          <p:nvPr/>
        </p:nvSpPr>
        <p:spPr>
          <a:xfrm>
            <a:off x="2679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نُ</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26" name="Text 23"/>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537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آ</a:t>
            </a:r>
            <a:pPr rtl="1" algn="ctr" indent="0" marL="0">
              <a:buNone/>
            </a:pPr>
            <a:r>
              <a:rPr lang="ar-SA" altLang="en-US" sz="2400" b="1" dirty="0">
                <a:solidFill>
                  <a:srgbClr val="1B3B6F"/>
                </a:solidFill>
                <a:latin typeface="Amiri" pitchFamily="2" charset="-78"/>
                <a:cs typeface="Amiri" pitchFamily="2" charset="-78"/>
              </a:rPr>
              <a:t>كُلُ</a:t>
            </a:r>
            <a:endParaRPr lang="ar-SA" sz="2400" dirty="0"/>
          </a:p>
        </p:txBody>
      </p:sp>
      <p:sp>
        <p:nvSpPr>
          <p:cNvPr id="31" name="Text 28"/>
          <p:cNvSpPr txBox="1"/>
          <p:nvPr/>
        </p:nvSpPr>
        <p:spPr>
          <a:xfrm>
            <a:off x="7251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أْكُلُ</a:t>
            </a:r>
            <a:endParaRPr lang="ar-SA" sz="2400" dirty="0"/>
          </a:p>
        </p:txBody>
      </p:sp>
      <p:sp>
        <p:nvSpPr>
          <p:cNvPr id="32" name="Text 29"/>
          <p:cNvSpPr txBox="1"/>
          <p:nvPr/>
        </p:nvSpPr>
        <p:spPr>
          <a:xfrm>
            <a:off x="4965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أْكُلُ</a:t>
            </a:r>
            <a:endParaRPr lang="ar-SA" sz="2400" dirty="0"/>
          </a:p>
        </p:txBody>
      </p:sp>
      <p:sp>
        <p:nvSpPr>
          <p:cNvPr id="33" name="Text 30"/>
          <p:cNvSpPr txBox="1"/>
          <p:nvPr/>
        </p:nvSpPr>
        <p:spPr>
          <a:xfrm>
            <a:off x="2679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نَ</a:t>
            </a:r>
            <a:pPr rtl="1" algn="ctr" indent="0" marL="0">
              <a:buNone/>
            </a:pPr>
            <a:r>
              <a:rPr lang="ar-SA" altLang="en-US" sz="2400" b="1" dirty="0">
                <a:solidFill>
                  <a:srgbClr val="1B3B6F"/>
                </a:solidFill>
                <a:latin typeface="Amiri" pitchFamily="2" charset="-78"/>
                <a:cs typeface="Amiri" pitchFamily="2" charset="-78"/>
              </a:rPr>
              <a:t>أْكُلُ</a:t>
            </a:r>
            <a:endParaRPr lang="ar-SA" sz="2400" dirty="0"/>
          </a:p>
        </p:txBody>
      </p:sp>
      <p:sp>
        <p:nvSpPr>
          <p:cNvPr id="34" name="Text 31"/>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537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شْرَبُ</a:t>
            </a:r>
            <a:endParaRPr lang="ar-SA" sz="2400" dirty="0"/>
          </a:p>
        </p:txBody>
      </p:sp>
      <p:sp>
        <p:nvSpPr>
          <p:cNvPr id="39" name="Text 36"/>
          <p:cNvSpPr txBox="1"/>
          <p:nvPr/>
        </p:nvSpPr>
        <p:spPr>
          <a:xfrm>
            <a:off x="7251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شْرَبُ</a:t>
            </a:r>
            <a:endParaRPr lang="ar-SA" sz="2400" dirty="0"/>
          </a:p>
        </p:txBody>
      </p:sp>
      <p:sp>
        <p:nvSpPr>
          <p:cNvPr id="40" name="Text 37"/>
          <p:cNvSpPr txBox="1"/>
          <p:nvPr/>
        </p:nvSpPr>
        <p:spPr>
          <a:xfrm>
            <a:off x="4965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شْرَبُ</a:t>
            </a:r>
            <a:endParaRPr lang="ar-SA" sz="2400" dirty="0"/>
          </a:p>
        </p:txBody>
      </p:sp>
      <p:sp>
        <p:nvSpPr>
          <p:cNvPr id="41" name="Text 38"/>
          <p:cNvSpPr txBox="1"/>
          <p:nvPr/>
        </p:nvSpPr>
        <p:spPr>
          <a:xfrm>
            <a:off x="2679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نَ</a:t>
            </a:r>
            <a:pPr rtl="1" algn="ctr" indent="0" marL="0">
              <a:buNone/>
            </a:pPr>
            <a:r>
              <a:rPr lang="ar-SA" altLang="en-US" sz="2400" b="1" dirty="0">
                <a:solidFill>
                  <a:srgbClr val="1B3B6F"/>
                </a:solidFill>
                <a:latin typeface="Amiri" pitchFamily="2" charset="-78"/>
                <a:cs typeface="Amiri" pitchFamily="2" charset="-78"/>
              </a:rPr>
              <a:t>شْرَبُ</a:t>
            </a:r>
            <a:endParaRPr lang="ar-SA" sz="2400" dirty="0"/>
          </a:p>
        </p:txBody>
      </p:sp>
      <p:sp>
        <p:nvSpPr>
          <p:cNvPr id="42" name="Text 3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drink</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537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أُحِبُّ</a:t>
            </a:r>
            <a:endParaRPr lang="ar-SA" sz="2400" dirty="0"/>
          </a:p>
        </p:txBody>
      </p:sp>
      <p:sp>
        <p:nvSpPr>
          <p:cNvPr id="47" name="Text 44"/>
          <p:cNvSpPr txBox="1"/>
          <p:nvPr/>
        </p:nvSpPr>
        <p:spPr>
          <a:xfrm>
            <a:off x="7251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يُحِبُّ</a:t>
            </a:r>
            <a:endParaRPr lang="ar-SA" sz="2400" dirty="0"/>
          </a:p>
        </p:txBody>
      </p:sp>
      <p:sp>
        <p:nvSpPr>
          <p:cNvPr id="48" name="Text 45"/>
          <p:cNvSpPr txBox="1"/>
          <p:nvPr/>
        </p:nvSpPr>
        <p:spPr>
          <a:xfrm>
            <a:off x="4965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تُحِبُّ</a:t>
            </a:r>
            <a:endParaRPr lang="ar-SA" sz="2400" dirty="0"/>
          </a:p>
        </p:txBody>
      </p:sp>
      <p:sp>
        <p:nvSpPr>
          <p:cNvPr id="49" name="Text 46"/>
          <p:cNvSpPr txBox="1"/>
          <p:nvPr/>
        </p:nvSpPr>
        <p:spPr>
          <a:xfrm>
            <a:off x="2679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نُحِبُّ</a:t>
            </a:r>
            <a:endParaRPr lang="ar-SA" sz="2400" dirty="0"/>
          </a:p>
        </p:txBody>
      </p:sp>
      <p:sp>
        <p:nvSpPr>
          <p:cNvPr id="50" name="Text 47"/>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like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food comes straight after the verb: uḥibbu l-khubza (no “to”). Negative: put lā before the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ASKING AND DESCRIBING (WEBSITE RULES + TOPIC A AGREEMENT)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 you like …? What is it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هَلْ تُحِبُّ؟ · 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BOY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تُحِبُّ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هَلْ تُحِبُّ السَّمَكَ؟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(m.) like fish?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hal = yes / no question.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GIRL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تُحِبِّينَ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هَلْ تُحِبِّينَ السَّلَطَةَ؟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(f.) like salad?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Girl →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m. · f.</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الخُبْزُ طَازَجٌ. القَهْوَةُ مُرَّةٌ.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bread is fresh. The coffee is bitter.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food → -a adjective.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rule: notice noun gender — the adjective must agree.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السَّلَطَةُ صِحِّيَّةٌ.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السَّلَطَةُ صِحِّيٌّ.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a:t>
            </a:r>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Milk is a drink, so use </a:t>
            </a:r>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food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a:t>
            </a:r>
            <a:pPr rtl="1" algn="ctr" indent="0" marL="0">
              <a:buNone/>
            </a:pPr>
            <a:r>
              <a:rPr lang="ar-SA" altLang="en-US" sz="2800" b="1" dirty="0">
                <a:solidFill>
                  <a:srgbClr val="1B3B6F"/>
                </a:solidFill>
                <a:latin typeface="Amiri" pitchFamily="2" charset="-78"/>
                <a:cs typeface="Amiri" pitchFamily="2" charset="-78"/>
              </a:rPr>
              <a:t>حِبُّ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Food straight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Eat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آ</a:t>
            </a:r>
            <a:pPr rtl="1" algn="ctr" indent="0" marL="0">
              <a:buNone/>
            </a:pPr>
            <a:r>
              <a:rPr lang="ar-SA" altLang="en-US" sz="2100" b="1" dirty="0">
                <a:solidFill>
                  <a:srgbClr val="1B3B6F"/>
                </a:solidFill>
                <a:latin typeface="Amiri" pitchFamily="2" charset="-78"/>
                <a:cs typeface="Amiri" pitchFamily="2" charset="-78"/>
              </a:rPr>
              <a:t>كُلُ الأَرُزَّ، وَ</a:t>
            </a:r>
            <a:pPr rtl="1" algn="ctr" indent="0" marL="0">
              <a:buNone/>
            </a:pPr>
            <a:r>
              <a:rPr lang="ar-SA" altLang="en-US" sz="2100" b="1" dirty="0">
                <a:solidFill>
                  <a:srgbClr val="1D5FBF"/>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شْرَبُ المَاءَ.</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Food → eat. Drink → drink.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cs typeface="Amiri" pitchFamily="2" charset="-78"/>
              </a:rPr>
              <a:t> أُحِبُّ القَهْوَةَ لِأَنَّهَا مُرَّ</a:t>
            </a:r>
            <a:pPr rtl="1" algn="ctr" indent="0" marL="0">
              <a:lnSpc>
                <a:spcPct val="120000"/>
              </a:lnSpc>
              <a:buNone/>
            </a:pPr>
            <a:r>
              <a:rPr lang="ar-SA" altLang="en-US" sz="2000" b="1" dirty="0">
                <a:solidFill>
                  <a:srgbClr val="D6336C"/>
                </a:solidFill>
                <a:latin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Coffee is feminine → murra.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دَائِمًا</a:t>
            </a:r>
            <a:pPr rtl="1" algn="ctr" indent="0" marL="0">
              <a:lnSpc>
                <a:spcPct val="120000"/>
              </a:lnSpc>
              <a:buNone/>
            </a:pPr>
            <a:r>
              <a:rPr lang="ar-SA" altLang="en-US" sz="1750" b="1" dirty="0">
                <a:solidFill>
                  <a:srgbClr val="1B3B6F"/>
                </a:solidFill>
                <a:latin typeface="Amiri" pitchFamily="2" charset="-78"/>
                <a:cs typeface="Amiri" pitchFamily="2" charset="-78"/>
              </a:rPr>
              <a:t> آكُلُ الفَاكِهَةَ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AT-A-L03 frequency.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(I)</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 / 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D5FBF"/>
                </a:solidFill>
                <a:latin typeface="Amiri" pitchFamily="2" charset="-78"/>
                <a:cs typeface="Amiri" pitchFamily="2" charset="-78"/>
              </a:rPr>
              <a:t>أُ</a:t>
            </a:r>
            <a:pPr rtl="1" algn="r" indent="0" marL="0">
              <a:buNone/>
            </a:pPr>
            <a:r>
              <a:rPr lang="ar-SA" altLang="en-US" sz="1750" b="1" dirty="0">
                <a:solidFill>
                  <a:srgbClr val="1B3B6F"/>
                </a:solidFill>
                <a:latin typeface="Amiri" pitchFamily="2" charset="-78"/>
                <a:cs typeface="Amiri" pitchFamily="2" charset="-78"/>
              </a:rPr>
              <a:t>حِبُّ الخُبْزَ وَالجُبْنَ، وَ</a:t>
            </a:r>
            <a:pPr rtl="1" algn="r" indent="0" marL="0">
              <a:buNone/>
            </a:pPr>
            <a:r>
              <a:rPr lang="ar-SA" altLang="en-US" sz="1750" b="1" dirty="0">
                <a:solidFill>
                  <a:srgbClr val="1D5FBF"/>
                </a:solidFill>
                <a:latin typeface="Amiri" pitchFamily="2" charset="-78"/>
                <a:cs typeface="Amiri" pitchFamily="2" charset="-78"/>
              </a:rPr>
              <a:t>آ</a:t>
            </a:r>
            <a:pPr rtl="1" algn="r" indent="0" marL="0">
              <a:buNone/>
            </a:pPr>
            <a:r>
              <a:rPr lang="ar-SA" altLang="en-US" sz="1750" b="1" dirty="0">
                <a:solidFill>
                  <a:srgbClr val="1B3B6F"/>
                </a:solidFill>
                <a:latin typeface="Amiri" pitchFamily="2" charset="-78"/>
                <a:cs typeface="Amiri" pitchFamily="2" charset="-78"/>
              </a:rPr>
              <a:t>كُلُ الأَرُزَّ كَثِيرًا. </a:t>
            </a:r>
            <a:pPr rtl="1" algn="r" indent="0" marL="0">
              <a:buNone/>
            </a:pPr>
            <a:r>
              <a:rPr lang="ar-SA" altLang="en-US" sz="1750" b="1" dirty="0">
                <a:solidFill>
                  <a:srgbClr val="1D5FBF"/>
                </a:solidFill>
                <a:latin typeface="Amiri" pitchFamily="2" charset="-78"/>
                <a:cs typeface="Amiri" pitchFamily="2" charset="-78"/>
              </a:rPr>
              <a:t>أَ</a:t>
            </a:r>
            <a:pPr rtl="1" algn="r" indent="0" marL="0">
              <a:buNone/>
            </a:pPr>
            <a:r>
              <a:rPr lang="ar-SA" altLang="en-US" sz="1750" b="1" dirty="0">
                <a:solidFill>
                  <a:srgbClr val="1B3B6F"/>
                </a:solidFill>
                <a:latin typeface="Amiri" pitchFamily="2" charset="-78"/>
                <a:cs typeface="Amiri" pitchFamily="2" charset="-78"/>
              </a:rPr>
              <a:t>شْرَبُ المَاءَ وَالعَصِيرَ كُلَّ يَوْمٍ. </a:t>
            </a:r>
            <a:pPr rtl="1" algn="r" indent="0" marL="0">
              <a:buNone/>
            </a:pPr>
            <a:r>
              <a:rPr lang="ar-SA" altLang="en-US" sz="1750" b="1" dirty="0">
                <a:solidFill>
                  <a:srgbClr val="0E7C86"/>
                </a:solidFill>
                <a:latin typeface="Amiri" pitchFamily="2" charset="-78"/>
                <a:cs typeface="Amiri" pitchFamily="2" charset="-78"/>
              </a:rPr>
              <a:t>لَا</a:t>
            </a:r>
            <a:pPr rtl="1" algn="r" indent="0" marL="0">
              <a:buNone/>
            </a:pPr>
            <a:r>
              <a:rPr lang="ar-SA" altLang="en-US" sz="1750" b="1" dirty="0">
                <a:solidFill>
                  <a:srgbClr val="1B3B6F"/>
                </a:solidFill>
                <a:latin typeface="Amiri" pitchFamily="2" charset="-78"/>
                <a:cs typeface="Amiri" pitchFamily="2" charset="-78"/>
              </a:rPr>
              <a:t> أُحِبُّ القَهْوَةَ لِأَنَّهَا مُرَّ</a:t>
            </a:r>
            <a:pPr rtl="1" algn="r" indent="0" marL="0">
              <a:buNone/>
            </a:pPr>
            <a:r>
              <a:rPr lang="ar-SA" altLang="en-US" sz="1750" b="1" dirty="0">
                <a:solidFill>
                  <a:srgbClr val="D6336C"/>
                </a:solidFill>
                <a:latin typeface="Amiri" pitchFamily="2" charset="-78"/>
                <a:cs typeface="Amiri" pitchFamily="2" charset="-78"/>
              </a:rPr>
              <a:t>ةٌ</a:t>
            </a:r>
            <a:pPr rtl="1" algn="r" indent="0" marL="0">
              <a:buNone/>
            </a:pPr>
            <a:r>
              <a:rPr lang="ar-SA" altLang="en-US" sz="1750" b="1" dirty="0">
                <a:solidFill>
                  <a:srgbClr val="1B3B6F"/>
                </a:solidFill>
                <a:latin typeface="Amiri" pitchFamily="2" charset="-78"/>
                <a:cs typeface="Amiri" pitchFamily="2" charset="-78"/>
              </a:rPr>
              <a:t>، وَلٰكِنِّي </a:t>
            </a:r>
            <a:pPr rtl="1" algn="r" indent="0" marL="0">
              <a:buNone/>
            </a:pPr>
            <a:r>
              <a:rPr lang="ar-SA" altLang="en-US" sz="1750" b="1" dirty="0">
                <a:solidFill>
                  <a:srgbClr val="0E7C86"/>
                </a:solidFill>
                <a:latin typeface="Amiri" pitchFamily="2" charset="-78"/>
                <a:cs typeface="Amiri" pitchFamily="2" charset="-78"/>
              </a:rPr>
              <a:t>دَائِمًا</a:t>
            </a:r>
            <a:pPr rtl="1" algn="r" indent="0" marL="0">
              <a:buNone/>
            </a:pPr>
            <a:r>
              <a:rPr lang="ar-SA" altLang="en-US" sz="1750" b="1" dirty="0">
                <a:solidFill>
                  <a:srgbClr val="1B3B6F"/>
                </a:solidFill>
                <a:latin typeface="Amiri" pitchFamily="2" charset="-78"/>
                <a:cs typeface="Amiri" pitchFamily="2" charset="-78"/>
              </a:rPr>
              <a:t> آكُلُ الفَاكِهَةَ فِي المَسَاءِ.</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like bread and cheese, and I eat rice a lot. I drink water and juice every day. I don’t like coffee because it is bitter, but I always eat fruit in the evening.</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bread and cheese.</a:t>
            </a:r>
            <a:endParaRPr lang="en-US" sz="1250" dirty="0"/>
          </a:p>
          <a:p>
            <a:pPr indent="0" marL="0">
              <a:buNone/>
            </a:pPr>
            <a:r>
              <a:rPr lang="en-US" sz="1050" i="1" dirty="0">
                <a:solidFill>
                  <a:srgbClr val="8A6D1E"/>
                </a:solidFill>
                <a:latin typeface="Calibri" pitchFamily="34" charset="0"/>
                <a:cs typeface="Amiri" pitchFamily="2" charset="-78"/>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a:t>
            </a:r>
            <a:endParaRPr lang="en-US" sz="1250" dirty="0"/>
          </a:p>
          <a:p>
            <a:pPr indent="0" marL="0">
              <a:buNone/>
            </a:pPr>
            <a:r>
              <a:rPr lang="en-US" sz="1050" i="1" dirty="0">
                <a:solidFill>
                  <a:srgbClr val="8A6D1E"/>
                </a:solidFill>
                <a:latin typeface="Calibri" pitchFamily="34" charset="0"/>
                <a:cs typeface="Amiri" pitchFamily="2" charset="-78"/>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water and juice.</a:t>
            </a:r>
            <a:endParaRPr lang="en-US" sz="1250" dirty="0"/>
          </a:p>
          <a:p>
            <a:pPr indent="0" marL="0">
              <a:buNone/>
            </a:pPr>
            <a:r>
              <a:rPr lang="en-US" sz="1050" i="1" dirty="0">
                <a:solidFill>
                  <a:srgbClr val="8A6D1E"/>
                </a:solidFill>
                <a:latin typeface="Calibri" pitchFamily="34" charset="0"/>
                <a:cs typeface="Amiri" pitchFamily="2" charset="-78"/>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like fish?</a:t>
            </a:r>
            <a:endParaRPr lang="en-US" sz="1250" dirty="0"/>
          </a:p>
          <a:p>
            <a:pPr indent="0" marL="0">
              <a:buNone/>
            </a:pPr>
            <a:r>
              <a:rPr lang="en-US" sz="1050" i="1" dirty="0">
                <a:solidFill>
                  <a:srgbClr val="8A6D1E"/>
                </a:solidFill>
                <a:latin typeface="Calibri" pitchFamily="34" charset="0"/>
                <a:cs typeface="Amiri" pitchFamily="2" charset="-78"/>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glass of 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bowl of 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glass of 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bowl of 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Food · طَعَامٌ</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Drink · شَرَابٌ</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Food · طَعَامٌ</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Drink · شَرَابٌ</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___ التُّفَّاحَ؟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العَصِيرُ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opinion.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السَّمَكَ.</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لَا السَّمَكَ.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السَّمَكَ.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تَأْكُلُ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آكُلُ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آكُلُ</a:t>
            </a:r>
            <a:pPr algn="l" indent="0" marL="0">
              <a:buNone/>
            </a:pPr>
            <a:r>
              <a:rPr lang="en-US" sz="1050" i="1" dirty="0">
                <a:solidFill>
                  <a:srgbClr val="8A6D1E"/>
                </a:solidFill>
                <a:latin typeface="Calibri" pitchFamily="34" charset="0"/>
                <a:cs typeface="Amiri" pitchFamily="2" charset="-78"/>
              </a:rPr>
              <a:t> means “I eat”.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___ التُّفَّاحَ؟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when asking a male listener.</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الخُبْزُ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القَهْوَةُ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العَصِيرُ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قَهْوَةٌ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opinion.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أَحِبُّ السَّمَكَ.</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لَا السَّمَكَ.</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أُحِبُّ السَّمَكَ.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comes immediately before the correct first-person form </a:t>
            </a:r>
            <a:pPr algn="l" indent="0" marL="0">
              <a:buNone/>
            </a:pPr>
            <a:r>
              <a:rPr lang="ar-SA" altLang="en-US" sz="1350" dirty="0">
                <a:solidFill>
                  <a:srgbClr val="8A6D1E"/>
                </a:solidFill>
                <a:latin typeface="Amiri" pitchFamily="2" charset="-78"/>
                <a:cs typeface="Amiri" pitchFamily="2" charset="-78"/>
              </a:rPr>
              <a:t>أُحِبُّ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Like + food: is a preposition needed?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eat” starts with which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 takes a direct object; do not add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form is </a:t>
            </a:r>
            <a:pPr algn="l" indent="0" marL="0">
              <a:buNone/>
            </a:pPr>
            <a:r>
              <a:rPr lang="ar-SA" altLang="en-US" sz="1500" b="1" dirty="0">
                <a:solidFill>
                  <a:srgbClr val="1B3B6F"/>
                </a:solidFill>
                <a:latin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 begins with a long ā written </a:t>
            </a:r>
            <a:pPr algn="l" indent="0" marL="0">
              <a:buNone/>
            </a:pPr>
            <a:r>
              <a:rPr lang="ar-SA" altLang="en-US" sz="1500" b="1" dirty="0">
                <a:solidFill>
                  <a:srgbClr val="1B3B6F"/>
                </a:solidFill>
                <a:latin typeface="Amiri" pitchFamily="2" charset="-78"/>
                <a:cs typeface="Amiri" pitchFamily="2" charset="-78"/>
              </a:rPr>
              <a:t>آ</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الخُبْزَ وَالجُبْنَ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القَهْوَةَ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الخُبْزَ وَالجُبْنَ وَالتُّفَّاحَ.</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bread, cheese and apples.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الوَجْبَةِ الخَفِيفَةِ آكُلُ المُكَسَّرَاتِ أَوِ البِسْكُوِيتَ.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snack I eat nuts or biscuits.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السَّمَكَ، وَلَا أَشْرَبُ القَهْوَةَ.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fish, and I don’t drink coffee.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أَشْرَبُ المَاءَ وَعَصِيرَ البُرْتُقَالِ كُلَّ 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 water and orange juice every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الخُبْزَ وَالجُبْنَ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cs typeface="Amiri" pitchFamily="2" charset="-78"/>
              </a:rPr>
              <a:t>التُّفَّاحَ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وَلَا أَشْرَبُ القَهْوَةَ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drinks </a:t>
            </a:r>
            <a:pPr algn="l" indent="0" marL="0">
              <a:buNone/>
            </a:pPr>
            <a:r>
              <a:rPr lang="ar-SA" altLang="en-US" sz="1350" dirty="0">
                <a:solidFill>
                  <a:srgbClr val="8A6D1E"/>
                </a:solidFill>
                <a:latin typeface="Amiri" pitchFamily="2" charset="-78"/>
                <a:cs typeface="Amiri" pitchFamily="2" charset="-78"/>
              </a:rPr>
              <a:t>المَاءَ وَعَصِيرَ البُرْتُقَالِ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آكُلُ المُكَسَّرَاتِ أَوِ البِسْكُوِيتَ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الخُبْزَ وَالجُبْنَ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القَهْوَةَ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preference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Food preference survey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Interview a partner about meals, food and drink. Record preferences and reasons, then report the results with accurate adjective and noun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pairs students (A interviews B,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three questions from the useful-language panel; note answers in English.</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back on the mic: he likes … / she doesn’t like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Class tallies the most popular food in the chat.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“hal tuḥibbu …?” about 3 foods. Report: “he likes …” or “she likes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about meals and drinks, record a reason, report with because (li’annahu / li’annahā).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the results with agreeing adjectives: the salad is fresh (f.), the bread is delicious (m.).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هَلْ تُحِبُّ الأَرُزَّ؟</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(m.) like rice?</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هَلْ تُحِبِّينَ الأَرُزَّ؟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(f.) like rice?</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مَاذَا تَأْكُلُ فِي الغَدَاءِ؟</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do you eat for lunch?</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هُوَ يُحِبُّ الدَّجَاجَ</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likes chicken</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لِأَنَّهُ لَذِيذٌ</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is delicious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تُحِبُّ السَّمَكَ؟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تَشْرَبُ كُلَّ يَوْمٍ؟</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الطَّعَامُ الَّذِي لَا تُحِبُّهُ؟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طَعَامُكَ المُفَضَّلُ؟ / مَا طَعَامُكِ المُفَضَّلُ؟</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أُحِبُّ ___ . / لَا، لَا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أَشْرَبُ ___ وَ ___ كُلَّ يَوْمٍ.</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طَعَامِي المُفَضَّلُ ___ لِأَنَّهُ ___ جِدًّا.</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تُحِبِّينَ السَّلَطَةَ؟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أُحِبُّ السَّلَطَةَ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like salad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Say what you like, don’t like and drink — with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things you like, one thing you don’t like, one thing you drink every 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Likes and dislikes, then report one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food words, two drinks, wa (and) and one negative — plus one sentence about a partner (he / she likes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8-sentence food profile with adjectives and “one”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a food profile with agreeing adjectives, a frequency word and collective / one forms (tuffāḥ / tuffāḥa).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صَدِيقِي يُحِبُّ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partner (m.) likes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صَدِيقَتِي لَا تُحِبُّ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partner (f.) doesn’t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لِأَنَّهُ لَذِيذٌ / لِأَنَّهَا لَذِيذَةٌ.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delicious.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دَائِمًا / أَحْيَانًا آكُلُ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 sometimes eat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 وَلٰكِنِّي لَا أُحِبُّ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but I don’t like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______ كُلَّ يَوْمٍ.</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every day.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like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خُبْزٌ  ·  أَرُزٌّ  ·  دَجَاجٌ  ·  سَمَكٌ  ·  بَيْضٌ  ·  جُبْنٌ  ·  مَاءٌ  ·  حَلِيبٌ  ·  عَصِيرٌ  ·  شَايٌ  ·  قَهْوَةٌ  ·  لَذِيذٌ / لَذِيذَةٌ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5–6 sentences about foods and drinks you like and dislike. Include at least four food words, two drinks, </a:t>
            </a:r>
            <a:pPr algn="l" indent="0" marL="0">
              <a:buNone/>
            </a:pPr>
            <a:r>
              <a:rPr lang="ar-SA" altLang="en-US" sz="1750" b="1" dirty="0">
                <a:solidFill>
                  <a:srgbClr val="1F2A37"/>
                </a:solidFill>
                <a:latin typeface="Amiri" pitchFamily="2" charset="-78"/>
                <a:cs typeface="Amiri" pitchFamily="2" charset="-78"/>
              </a:rPr>
              <a:t>وَ</a:t>
            </a:r>
            <a:pPr algn="l" indent="0" marL="0">
              <a:buNone/>
            </a:pPr>
            <a:r>
              <a:rPr lang="en-US" sz="1350" b="1" dirty="0">
                <a:solidFill>
                  <a:srgbClr val="1F2A37"/>
                </a:solidFill>
                <a:latin typeface="Calibri" pitchFamily="34" charset="0"/>
                <a:cs typeface="Amiri" pitchFamily="2" charset="-78"/>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لَا أُحِبُّ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sentence with </a:t>
            </a:r>
            <a:pPr algn="l" indent="0" marL="0">
              <a:buNone/>
            </a:pPr>
            <a:r>
              <a:rPr lang="ar-SA" altLang="en-US" sz="1550" dirty="0">
                <a:solidFill>
                  <a:srgbClr val="1F2A37"/>
                </a:solidFill>
                <a:latin typeface="Amiri" pitchFamily="2" charset="-78"/>
                <a:cs typeface="Amiri" pitchFamily="2" charset="-78"/>
              </a:rPr>
              <a:t>آكُلُ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أَشْرَبُ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ideas with </a:t>
            </a:r>
            <a:pPr algn="l" indent="0" marL="0">
              <a:buNone/>
            </a:pPr>
            <a:r>
              <a:rPr lang="ar-SA" altLang="en-US" sz="1550" dirty="0">
                <a:solidFill>
                  <a:srgbClr val="1F2A37"/>
                </a:solidFill>
                <a:latin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التُّفَّاحَ، وَآكُلُ تُفَّاحَةً كُلَّ 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apples, and I eat an apple every 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القَهْوَةُ مُرَّةٌ، وَلٰكِنَّ الشَّايَ حُلْوٌ</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coffee is bitter, but tea is sweet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السَّلَطَةُ صِحِّيَّةٌ وَطَازَجَةٌ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salad is healthy and fresh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الوَجْبَةِ الخَفِيفَةِ آكُلُ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a snack I eat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أَشْرَبُ القَهْوَةَ أَبَدًا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never drink coffee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bread and cheese, and I also like apples.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 like” sentences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negative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sentence with “I eat” or “I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drink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food comes straight after I like / I eat.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before the verb for “don’t”.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he likes / she likes for my partner.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 I eat; drink → I drink.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 agrees with a feminine food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القَهْوَةَ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مَاءٌ</a:t>
            </a:r>
            <a:pPr algn="l" indent="0" marL="0">
              <a:buNone/>
            </a:pPr>
            <a:r>
              <a:rPr lang="en-US" sz="1050" i="1" dirty="0">
                <a:solidFill>
                  <a:srgbClr val="8A6D1E"/>
                </a:solidFill>
                <a:latin typeface="Calibri" pitchFamily="34" charset="0"/>
                <a:cs typeface="Amiri" pitchFamily="2" charset="-78"/>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القَهْوَةَ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آكُلُ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أُحِبُّ</a:t>
            </a:r>
            <a:pPr algn="l" indent="0" marL="0">
              <a:buNone/>
            </a:pPr>
            <a:r>
              <a:rPr lang="en-US" sz="1050" i="1" dirty="0">
                <a:solidFill>
                  <a:srgbClr val="8A6D1E"/>
                </a:solidFill>
                <a:latin typeface="Calibri" pitchFamily="34" charset="0"/>
                <a:cs typeface="Amiri" pitchFamily="2" charset="-78"/>
              </a:rPr>
              <a:t> = I do not like.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أَشْرَبُ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آكُلُ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أُفَضِّلُ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means I drink.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قَلِيلٍ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mother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father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brother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خُصُوصًا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especially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أَحْيَانًا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أَيْضًا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also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sentence lists </a:t>
            </a:r>
            <a:pPr algn="l" indent="0" marL="0">
              <a:buNone/>
            </a:pPr>
            <a:r>
              <a:rPr lang="ar-SA" altLang="en-US" sz="1350" dirty="0">
                <a:solidFill>
                  <a:srgbClr val="8A6D1E"/>
                </a:solidFill>
                <a:latin typeface="Amiri" pitchFamily="2" charset="-78"/>
                <a:cs typeface="Amiri" pitchFamily="2" charset="-78"/>
              </a:rPr>
              <a:t>خُبْزًا وَأَرُزًّا وَدَجَاجًا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a:t>
            </a:r>
            <a:pPr algn="l" indent="0" marL="0">
              <a:buNone/>
            </a:pPr>
            <a:r>
              <a:rPr lang="ar-SA" altLang="en-US" sz="1350" dirty="0">
                <a:solidFill>
                  <a:srgbClr val="8A6D1E"/>
                </a:solidFill>
                <a:latin typeface="Amiri" pitchFamily="2" charset="-78"/>
                <a:cs typeface="Amiri" pitchFamily="2" charset="-78"/>
              </a:rPr>
              <a:t>الخَضْرَوَاتِ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خُصُوصًا المَوْزَ وَالعِنَبَ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a:t>
            </a:r>
            <a:pPr algn="l" indent="0" marL="0">
              <a:buNone/>
            </a:pPr>
            <a:r>
              <a:rPr lang="ar-SA" altLang="en-US" sz="1350" dirty="0">
                <a:solidFill>
                  <a:srgbClr val="8A6D1E"/>
                </a:solidFill>
                <a:latin typeface="Amiri" pitchFamily="2" charset="-78"/>
                <a:cs typeface="Amiri" pitchFamily="2" charset="-78"/>
              </a:rPr>
              <a:t>حَلِيبًا وَمَاءً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lists </a:t>
            </a:r>
            <a:pPr algn="l" indent="0" marL="0">
              <a:buNone/>
            </a:pPr>
            <a:r>
              <a:rPr lang="ar-SA" altLang="en-US" sz="1350" dirty="0">
                <a:solidFill>
                  <a:srgbClr val="8A6D1E"/>
                </a:solidFill>
                <a:latin typeface="Amiri" pitchFamily="2" charset="-78"/>
                <a:cs typeface="Amiri" pitchFamily="2" charset="-78"/>
              </a:rPr>
              <a:t>زَيْتٍ وَمِلْحٍ وَقَلِيلٍ مِنَ السُّكَّرِ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salad contains </a:t>
            </a:r>
            <a:pPr algn="l" indent="0" marL="0">
              <a:buNone/>
            </a:pPr>
            <a:r>
              <a:rPr lang="ar-SA" altLang="en-US" sz="1350" dirty="0">
                <a:solidFill>
                  <a:srgbClr val="8A6D1E"/>
                </a:solidFill>
                <a:latin typeface="Amiri" pitchFamily="2" charset="-78"/>
                <a:cs typeface="Amiri" pitchFamily="2" charset="-78"/>
              </a:rPr>
              <a:t>الخَسِّ وَالطَّمَاطِمِ وَالبَصَلِ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الرُّوبِيَانُ</a:t>
            </a:r>
            <a:pPr algn="l" indent="0" marL="0">
              <a:buNone/>
            </a:pPr>
            <a:r>
              <a:rPr lang="en-US" sz="1050" i="1" dirty="0">
                <a:solidFill>
                  <a:srgbClr val="8A6D1E"/>
                </a:solidFill>
                <a:latin typeface="Calibri" pitchFamily="34" charset="0"/>
                <a:cs typeface="Amiri" pitchFamily="2" charset="-78"/>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AT-A-L05: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AT-A-L05 · Eating Out — Café, Menu and Prices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مَطْعَمٌ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restaurant</a:t>
            </a:r>
            <a:pPr indent="0" marL="0">
              <a:buNone/>
            </a:pPr>
            <a:r>
              <a:rPr lang="en-US" sz="1000" i="1" dirty="0">
                <a:solidFill>
                  <a:srgbClr val="5A6472"/>
                </a:solidFill>
                <a:latin typeface="Calibri" pitchFamily="34" charset="0"/>
                <a:cs typeface="Amiri" pitchFamily="2" charset="-78"/>
              </a:rPr>
              <a:t>  pl. مَطَاعِمُ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نَادِلٌ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waiter</a:t>
            </a:r>
            <a:pPr indent="0" marL="0">
              <a:buNone/>
            </a:pPr>
            <a:r>
              <a:rPr lang="en-US" sz="1000" i="1" dirty="0">
                <a:solidFill>
                  <a:srgbClr val="5A6472"/>
                </a:solidFill>
                <a:latin typeface="Calibri" pitchFamily="34" charset="0"/>
                <a:cs typeface="Amiri" pitchFamily="2" charset="-78"/>
              </a:rPr>
              <a:t>  f. نَادِلَةٌ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menu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الحِسَابُ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bill</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(to a man)</a:t>
            </a:r>
            <a:pPr indent="0" marL="0">
              <a:buNone/>
            </a:pPr>
            <a:r>
              <a:rPr lang="en-US" sz="1000" i="1" dirty="0">
                <a:solidFill>
                  <a:srgbClr val="5A6472"/>
                </a:solidFill>
                <a:latin typeface="Calibri" pitchFamily="34" charset="0"/>
                <a:cs typeface="Amiri" pitchFamily="2" charset="-78"/>
              </a:rPr>
              <a:t>  f. مِنْ فَضْلِكِ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how you would ask for water politely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تَطْلُبُ فِي المَطْعَمِ؟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AT-A-L04: the picture game and the vocabulary tab — learn 10 foods and drinks.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5–6 sentences about foods and drinks you like and dislike.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food profile of a family member, with adjectives and frequency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AT-A-L05 · Eating Out — Café, Menu and Prices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تَنَاوُلُ الطَّعَامِ خَارِجَ الْبَيْتِ: الْمَقْهَى وَقَائِمَةُ الطَّعَامِ وَالْأَسْعَارُ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café words + one polite request.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Food and Drink — Meals and Preferences</dc:title>
  <dc:subject>PptxGenJS Presentation</dc:subject>
  <dc:creator>Al Madina Online School · Arabic Department</dc:creator>
  <cp:lastModifiedBy>Al Madina Online School · Arabic Department</cp:lastModifiedBy>
  <cp:revision>1</cp:revision>
  <dcterms:created xsi:type="dcterms:W3CDTF">2026-10-11T06:43:42Z</dcterms:created>
  <dcterms:modified xsi:type="dcterms:W3CDTF">2026-10-11T06:43:42Z</dcterms:modified>
</cp:coreProperties>
</file>