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A · AT-A-L04 — Food and Drink — Meals and Preferences. Website: Advanced Topics › Topic A (Everyday Activities) › Lesson 4.
The website builds this lesson on the F5-L01 lesson engine, with the Topic focus “Describe meals, food and drink, express preferences and explain your choices.” (grammar: Idāfa; adjective agreement; plurals; skills: Reading · Speaking) and the application challenge “Food preference survey”. This deck follows the same engine, re-sequenced for Topic A: lesson references now point to Topic A codes (lessons outside Topic A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10–17 Key words · 17–23 Grammar · 23–25 Quick check · 25–28 I Do · 28–37 We Do · 37–49 You Do (speaking 3 + writing 9, with live feedback) · 49–54 Feedback (model, self-check, exit ticket) · 54–56 Preparation for next lesson.
FLEX slides are optional. Use them if the class is moving quickly; otherwise the same activities are on the website for homework.
Content source: Miftah Arabic website, Advanced Topics › Topic A › Lesson 4 (AT-A-L04), lesson engine Pathways › Foundation › F5 › AT-A-L04. The website lesson “Food and Drinks”: vocabulary, grammar rules and quiz, patterns, common mistakes, sorter, listening, reading, speaking prompts and model, writing task and model, differentiation, final check and the lesson mission. Picture match: website visual game “Food and Drinks”.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Topic A moves from the day (AT-A-L01–L03) to meals. Core: 10 food and drink words + أُحِبُّ / لَا أُحِبُّ + آكُلُ / أَشْرَبُ. Develop: ask a partner (هَلْ تُحِبُّ؟ / هَلْ تُحِبِّينَ؟) and report (هُوَ يُحِبُّ … / هِيَ تُحِبُّ …). Stretch (Topic A grammar): adjective agreement — الخُبْزُ طَازَجٌ، القَهْوَةُ مُرَّةٌ — and collective / one forms (تُفَّاحٌ / تُفَّاحَةٌ).
• The engine is a Foundation lesson, so most of the class can succeed; the Topic challenge (food survey) is where Develop and Stretch move up to B1 reporting.
• Link to AT-A-L03: frequency words come straight back (دَائِمًا آكُلُ … · لَا أَشْرَبُ القَهْوَةَ أَبَدًا).
• Urdu bridge: many food words are shared — چاول is not, but گوشت / لحم, دودھ / حلیب (no), چائے ← شَايٌ, قہوہ ← قَهْوَةٌ, شکر ← سُكَّرٌ, نمک / مِلْحٌ (no), سلاد ← سَلَطَةٌ.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1–2 test two of the five food and drink words prepared at home at the end of AT-A-L03. Questions 3–5 retrieve AT-A-L03 (frequency), AT-A-L01 (routine) and AT-A-L02 (clock time).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Food follows the verb directly — no “to”: I like bread = uḥibbu l-khubza. Drinks take “I drink”, food takes “I 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The route statements turn the website objectives into this lesson’s concrete targets.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چائے، قہوہ، شکر and سلاد sound almost the same. لحم is known from Urdu religious vocabulary (لحم حلال); everyday Urdu uses گوشت. CAREFUL: حلیب is not used in Urdu — milk is دودھ.</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Staples and proteins (website vocabulary (1 of 2)). Hear → Say → See → Use. Transliteration is printed for Core students (cover it for Develop/Stretch).
Collective nouns: دَجَاجٌ (chicken as food), دَجَاجَةٌ (one chicken). Core just learns the food word; Stretch notes the “one”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Staples and proteins (website vocabulary (2 of 2)). Hear → Say → See → Use. Transliteration is printed for Core students (cover it for Develop/Stretch).
Collective nouns: دَجَاجٌ (chicken as food), دَجَاجَةٌ (one chicken). Core just learns the food word; Stretch notes the “one” 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Fruit and vegetables (website vocabulary (1 of 2)). Hear → Say → See → Use. Transliteration is printed for Core students (cover it for Develop/Stretch).
FLEX: teach if time allows; otherwise these are on the website vocabulary tab for homework.
FLEX. Fruit are collective too: تُفَّاحٌ (apples) → تُفَّاحَةٌ (one apple). طَمَاطِمُ and بَطَاطِسُ are plural-looking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Fruit and vegetables (website vocabulary (2 of 2)). Hear → Say → See → Use. Transliteration is printed for Core students (cover it for Develop/Stretch).
FLEX: teach if time allows; otherwise these are on the website vocabulary tab for homework.
FLEX. Fruit are collective too: تُفَّاحٌ (apples) → تُفَّاحَةٌ (one apple). طَمَاطِمُ and بَطَاطِسُ are plural-looking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Drinks and extras (website vocabulary (1 of 2)). Hear → Say → See → Use. Transliteration is printed for Core students (cover it for Develop/Stretch).
Drinks go with أَشْرَبُ. قَهْوَةٌ is feminine (ـةٌ) — its adjective will be feminine too: قَهْوَةٌ مُرَّةٌ.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Drinks and extras (website vocabulary (2 of 2)). Hear → Say → See → Use. Transliteration is printed for Core students (cover it for Develop/Stretch).
Drinks go with أَشْرَبُ. قَهْوَةٌ is feminine (ـةٌ) — its adjective will be feminine too: قَهْوَةٌ مُرَّةٌ.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Ingredients, snacks and seafood (website vocabulary (1 of 2)). Hear → Say → See → Use. Transliteration is printed for Core students (cover it for Develop/Stretch).
FLEX: teach if time allows; otherwise these are on the website vocabulary tab for homework.
FLEX: ingredients and snacks — they appear in the reading text (the shopping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Ingredients, snacks and seafood (website vocabulary (2 of 2)). Hear → Say → See → Use. Transliteration is printed for Core students (cover it for Develop/Stretch).
FLEX: teach if time allows; otherwise these are on the website vocabulary tab for homework.
FLEX: ingredients and snacks — they appear in the reading text (the shopping note).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1 — website rules “Say what you like” (أُحِبُّ + food, no preposition) and “Make the opinion negative” (لَا + أُحِبُّ). The he / she / we columns are the Topic A person-prefix skill (AT-A-L01) applied to food verbs — Develop needs them for the survey report.
Website common error: أُحِبُّ إِلَى الخُبْزِ ✗ → أُحِبُّ الخُبْزَ ✓. Note آكُلُ starts with a long ā (آ).
Quick-fire: say a food; students answer with the right verb: خُبْزٌ → آكُلُ الخُبْزَ · مَاءٌ → أَشْرَبُ المَاءَ.</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GRAMMAR PART 2 — website rules “Ask another person” (تُحِبُّ to a boy, تُحِبِّينَ to a girl) and “Notice noun gender” (الخُبْزُ طَازَجٌ · القَهْوَةُ مُرَّةٌ · السَّلَطَةُ صِحِّيَّةٌ). The Topic A page lists adjective agreement and plurals as this lesson’s grammar — Stretch students use them in the survey report.
Useful adjectives (teacher list, for Stretch): لَذِيذٌ / لَذِيذَةٌ (delicious), صِحِّيٌّ / صِحِّيَّةٌ (healthy), طَازَجٌ / طَازَجَةٌ (fresh), حُلْوٌ / حُلْوَةٌ (sweet), مُرٌّ / مُرَّةٌ (bitter), سَاخِنٌ / سَاخِنَةٌ (hot), بَارِدٌ / بَارِدَةٌ (cold).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WEBSITE GRAMMAR RULES AND EXAMPLES (FLEX — revision or homework). Website overview: “The lesson-plan grammar focus is the opinion frame أُحِبُّ / لَا أُحِبُّ. Build a complete sentence by placing the food or drink directly after the verb, then notice the gender of the noun so later adjectives can agree accurately.”
• Say what you like: أُحِبُّ means “I like”. The food or drink follows directly; do not add a preposition between the verb and the noun.
• Make the opinion negative: Put لَا immediately before أُحِبُّ. The rest of the sentence stays in the same order.
• Notice noun gender: Many food words are masculine, but some are feminine. Learn the noun with its gender because later description words must agree.
• Ask another person: Use تُحِبُّ for a male listener and تُحِبِّينَ for a female listener.
Website common error: Do not write أُحِبُّ إِلَى الخُبْزِ. أُحِبُّ takes the food or drink directly: أُحِبُّ الخُبْزَ.</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grammar quiz questions 1, 2, 3, 4.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website patterns (أُحِبُّ الخُبْزَ وَالجُبْنَ · لَا أُحِبُّ القَهْوَةَ · أَشْرَبُ المَاءَ وَالعَصِيرَ) joined into a profile, with AT-A-L03 frequency added. Think aloud: “food or drink? which verb? masculine or feminine?”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SENTENCES (1 min) — website patterns. Students copy TWO that are useful for them.
• Core: copy one and change one word. • Develop: copy two and change the subject. • Stretch: combine two into one longer sentence with a connector.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Food and Drinks”)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هٰذِهِ for the apple and the salad but هٰذَا for milk? (تُفَّاحَةٌ and سَلَطَةٌ are feminine.) Other cards for homework: هٰذَا خُبْزٌ، هٰذَا أَرُزٌّ، هٰذَا سَمَكٌ.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Food and Drinks”)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Ask: why هٰذِهِ for the apple and the salad but هٰذَا for milk? (تُفَّاحَةٌ and سَلَطَةٌ are feminine.) Other cards for homework: هٰذَا خُبْزٌ، هٰذَا أَرُزٌّ، هٰذَا سَمَكٌ.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Choose the correct category for each item.
Then: say the right verb for each card — آكُلُ or أَشْرَبُ.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website sorter (2 min). Website instruction: Choose the correct category for each item.
Then: say the right verb for each card — آكُلُ or أَشْرَبُ.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quiz questions 5, 6, 7, 8 (FLEX, 2 min). If time is short these are homework on the website.
“Show me” alternative: students hold up A/B/C fingers to camera.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link each to the grammar rule or vocabulary card it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common mistakes (2 min).
● 20s think: find the mistake → ↔ 30s: agree with a partner (chat DM or whisper) → ◎ share.
Core prompts are printed on each card. Stretch: explain each fix with a grammar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اِسْمِي هُدَى. أُحِبُّ الخُبْزَ وَالجُبْنَ وَالتُّفَّاحَ. فِي الوَجْبَةِ الخَفِيفَةِ آكُلُ المُكَسَّرَاتِ أَوِ البِسْكُوِيتَ. لَا أُحِبُّ السَّمَكَ، وَلَا أَشْرَبُ القَهْوَةَ. أَشْرَبُ المَاءَ وَعَصِيرَ البُرْتُقَالِ كُلَّ يَوْمٍ.</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TOPIC A APPLICATION CHALLENGE (3 min — it takes the speaking-rehearsal slot; the website speaking slide after it is FLEX) — from the website Topic page: “Interview a partner about meals, food and drink. Record preferences and reasons, then report the results with accurate adjective and noun agreement.”
Meal words for the survey (teacher-added, recycled in AT-A-L06): الفُطُورُ / الإِفْطَارُ (breakfast), الغَدَاءُ (lunch), العَشَاءُ (dinner). Core students may report in English plus the Arabic food word.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A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أ: وَمَاذَا تَشْرَبِينَ؟ (And what do you drink?)
ب: أَشْرَبُ المَاءَ وَالعَصِيرَ. (I drink water and juice.)
Website prompts (order changed so Core starts with a yes/no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Name eight foods and four drinks with picture or English support. · Develop — Ask and answer four preference questions, then report one classmate’s answer. · Stretch — Add collective/singular contrasts such as تُفَّاحٌ / تُفَّاحَةٌ and produce an 8-sentence food profile.
Website writing task (Stretch): Write 5–6 sentences about foods and drinks you like and dislike. Include at least four food words, two drinks, وَ and one negative sentence.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Stretch students work from this slide. Checklist = website writing checklist; phrase bank = phrases from the website model, reading text and listening script. Live feedback for Stretch: check the target structures appear and are accurate.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Evidence: أُحِبُّ الخُبْزَ وَالجُبْنَ · لَا أُحِبُّ السَّمَكَ · آكُلُ الأَرُزَّ / أَشْرَبُ المَاءَ · وَلٰكِنِّي. Stretch: rewrite one sentence with an adjective (الدَّجَاجُ لَذِيذٌ) and one with a “one” form (آكُلُ تُفَّاحَةً).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8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EXTENSION — website reading text. For fast finishers during You Do, or Stretch homework. “You don’t need every word; find the words the question asks about.”
The green key-words panel is a teacher-made glossary so Develop students can also attempt it.
SEND reading strategy (Toolkit 1): cover the text with a piece of paper and uncover one sentence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from the website. The detective steps follow the SEND “modular reading” strategy: read one part at a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from the website, with the evidence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(AT-A-L05 · Eating Out — Café, Menu and Prices) will spend class time USING this language, so students prepare it tonight — short, simple, easy to access (school guidance: “Simple, Short, Interesting, Relevant, Easy to access”). The five words come from the website AT-A-L05 vocabulary (the AT-A-L05 lesson engine).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image" Target="../media/image-23-5.png"/><Relationship Id="rId6" Type="http://schemas.openxmlformats.org/officeDocument/2006/relationships/slideLayout" Target="../slideLayouts/slideLayout1.xml"/><Relationship Id="rId7"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image" Target="../media/image-24-4.png"/><Relationship Id="rId5" Type="http://schemas.openxmlformats.org/officeDocument/2006/relationships/image" Target="../media/image-24-5.png"/><Relationship Id="rId6" Type="http://schemas.openxmlformats.org/officeDocument/2006/relationships/slideLayout" Target="../slideLayouts/slideLayout1.xml"/><Relationship Id="rId7"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1.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1.xml"/><Relationship Id="rId3"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AT-A-L04</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AT-A-L04</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750" b="1" dirty="0">
                <a:solidFill>
                  <a:srgbClr val="FFFFFF"/>
                </a:solidFill>
                <a:latin typeface="Cambria" pitchFamily="34" charset="0"/>
                <a:cs typeface="Amiri" pitchFamily="2" charset="-78"/>
              </a:rPr>
              <a:t>Food and Drink — Meals and Preferences</a:t>
            </a:r>
            <a:endParaRPr lang="en-US" sz="27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الطَّعَامُ وَالشَّرَابُ وَالْوَجَبَاتُ وَالتَّفْضِيلَاتُ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Describe meals, food and drink, express preferences and explain your choices.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AT-A-L04 · Advanced Topic A · Everyday Activities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AT-A-L04</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47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Food and drink words, then I like / I don’t like + I eat / I drink.</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sort food and drink, fix and listen.</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AT-A-L05.</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47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أَرُزٌّ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bread</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chicken</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عَصِيرٌ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juice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milk</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always wake up early.”</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أَسْتَيْقِظُ مُبَكِّرًا أَبَدًا.</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يَسْتَيْقِظُ مُبَكِّرًا دَائِمًا.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أَسْتَيْقِظُ مُبَكِّرًا دَائِمًا.</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أَتَنَاوَلُ الإِفْطَارَ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get dressed</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go to school</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have breakfast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السَّاعَةُ السَّابِعَةُ وَالنِّصْفُ = ?</a:t>
            </a:r>
            <a:endParaRPr lang="ar-SA"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7:30</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7:15</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6:45</a:t>
            </a:r>
            <a:endParaRPr lang="en-US" sz="12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47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أَرُزٌّ</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bread</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rice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chicken</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(AT-A-L03).</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عَصِيرٌ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juice</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milk</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(AT-A-L03).</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always wake up early.”</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أَسْتَيْقِظُ مُبَكِّرًا أَبَدًا.</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يَسْتَيْقِظُ مُبَكِّرًا دَائِمًا.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أَسْتَيْقِظُ مُبَكِّرًا دَائِمًا.</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AT-A-L03: frequency.</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أَتَنَاوَلُ الإِفْطَارَ</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get dressed</a:t>
            </a:r>
            <a:endParaRPr lang="en-US" sz="125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 go to school</a:t>
            </a:r>
            <a:endParaRPr lang="en-US" sz="125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I have breakfast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AT-A-L01: routine verbs.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rtl="1" algn="r" indent="0" marL="0">
              <a:buNone/>
            </a:pPr>
            <a:r>
              <a:rPr lang="ar-SA" altLang="en-US" sz="1250" b="1" dirty="0">
                <a:solidFill>
                  <a:srgbClr val="1B3B6F"/>
                </a:solidFill>
                <a:latin typeface="Amiri" pitchFamily="2" charset="-78"/>
                <a:ea typeface="Amiri" pitchFamily="2" charset="-78"/>
                <a:cs typeface="Amiri" pitchFamily="2" charset="-78"/>
              </a:rPr>
              <a:t>السَّاعَةُ السَّابِعَةُ وَالنِّصْفُ = ?</a:t>
            </a:r>
            <a:endParaRPr lang="ar-SA"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7:30</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7:15</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6:45</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AT-A-L02: clock time.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Food follows the verb directly — no “to”: I like bread = uḥibbu l-khubza. Drinks take “I drink”, food takes “I eat”.</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أُحِبُّ</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الخُبْزَ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آكُلُ</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الأَرُزَّ  ·  </a:t>
            </a:r>
            <a:pPr rtl="1" algn="ctr" indent="0" marL="0">
              <a:lnSpc>
                <a:spcPct val="120000"/>
              </a:lnSpc>
              <a:buNone/>
            </a:pPr>
            <a:r>
              <a:rPr lang="ar-SA" altLang="en-US" sz="1950" b="1" dirty="0">
                <a:solidFill>
                  <a:srgbClr val="1D5FBF"/>
                </a:solidFill>
                <a:latin typeface="Amiri" pitchFamily="2" charset="-78"/>
                <a:ea typeface="Amiri" pitchFamily="2" charset="-78"/>
                <a:cs typeface="Amiri" pitchFamily="2" charset="-78"/>
              </a:rPr>
              <a:t>أَشْرَبُ</a:t>
            </a:r>
            <a:pPr rtl="1" algn="ctr" indent="0" marL="0">
              <a:lnSpc>
                <a:spcPct val="120000"/>
              </a:lnSpc>
              <a:buNone/>
            </a:pPr>
            <a:r>
              <a:rPr lang="ar-SA" altLang="en-US" sz="1950" b="1" dirty="0">
                <a:solidFill>
                  <a:srgbClr val="1B3B6F"/>
                </a:solidFill>
                <a:latin typeface="Amiri" pitchFamily="2" charset="-78"/>
                <a:ea typeface="Amiri" pitchFamily="2" charset="-78"/>
                <a:cs typeface="Amiri" pitchFamily="2" charset="-78"/>
              </a:rPr>
              <a:t> المَاءَ</a:t>
            </a:r>
            <a:endParaRPr lang="ar-SA" sz="19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47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and pronounce common food and drink vocabulary.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Separate foods from drinks and notice noun gender where it supports agreement.</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Express a like and a dislike using complete Arabic sentences.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Understand a short food-and-drink description.</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name 10 foods and drinks.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say what I like and don’t like.</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ask a boy or a girl what they like.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report a partner’s answers (he likes … / she likes …).</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food with an agreeing adjective.</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use collective and “one” forms (tuffāḥ / tuffāḥa).</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47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40 food and drink words from the website in 4 groups. Today: staples and drinks (CORE). Fruit, vegetables and ingredients are FLEX / homework.</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Staples and proteins · 9</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Fruit and vegetables · 11</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Drinks and extras · 9</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4</a:t>
            </a:r>
            <a:endParaRPr lang="en-US" sz="900" dirty="0"/>
          </a:p>
          <a:p>
            <a:pPr indent="0" marL="0">
              <a:buNone/>
            </a:pPr>
            <a:r>
              <a:rPr lang="en-US" sz="1200" b="1" dirty="0">
                <a:solidFill>
                  <a:srgbClr val="FFFFFF"/>
                </a:solidFill>
                <a:latin typeface="Calibri" pitchFamily="34" charset="0"/>
                <a:cs typeface="Amiri" pitchFamily="2" charset="-78"/>
              </a:rPr>
              <a:t>Ingredients, snacks and seafood · 11</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شَايٌ</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‎چائے‎ </a:t>
            </a:r>
            <a:pPr indent="0" marL="0">
              <a:buNone/>
            </a:pPr>
            <a:r>
              <a:rPr lang="en-US" sz="950" b="1" dirty="0">
                <a:solidFill>
                  <a:srgbClr val="2E8B57"/>
                </a:solidFill>
                <a:latin typeface="Calibri" pitchFamily="34" charset="0"/>
                <a:cs typeface="Amiri" pitchFamily="2" charset="-78"/>
              </a:rPr>
              <a:t> shāy · tea</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قَهْوَةٌ</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‎قہوہ‎ </a:t>
            </a:r>
            <a:pPr indent="0" marL="0">
              <a:buNone/>
            </a:pPr>
            <a:r>
              <a:rPr lang="en-US" sz="950" b="1" dirty="0">
                <a:solidFill>
                  <a:srgbClr val="2E8B57"/>
                </a:solidFill>
                <a:latin typeface="Calibri" pitchFamily="34" charset="0"/>
                <a:cs typeface="Amiri" pitchFamily="2" charset="-78"/>
              </a:rPr>
              <a:t> qahwa · coffee</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سُكَّرٌ</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‎شکر‎ </a:t>
            </a:r>
            <a:pPr indent="0" marL="0">
              <a:buNone/>
            </a:pPr>
            <a:r>
              <a:rPr lang="en-US" sz="950" b="1" dirty="0">
                <a:solidFill>
                  <a:srgbClr val="2E8B57"/>
                </a:solidFill>
                <a:latin typeface="Calibri" pitchFamily="34" charset="0"/>
                <a:cs typeface="Amiri" pitchFamily="2" charset="-78"/>
              </a:rPr>
              <a:t> sukkar · sugar</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سَلَطَةٌ</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‎سلاد‎ </a:t>
            </a:r>
            <a:pPr indent="0" marL="0">
              <a:buNone/>
            </a:pPr>
            <a:r>
              <a:rPr lang="en-US" sz="950" b="1" dirty="0">
                <a:solidFill>
                  <a:srgbClr val="2E8B57"/>
                </a:solidFill>
                <a:latin typeface="Calibri" pitchFamily="34" charset="0"/>
                <a:cs typeface="Amiri" pitchFamily="2" charset="-78"/>
              </a:rPr>
              <a:t> salaṭa · salad</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لَحْمٌ</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‎لحم (گوشت)‎ </a:t>
            </a:r>
            <a:pPr indent="0" marL="0">
              <a:buNone/>
            </a:pPr>
            <a:r>
              <a:rPr lang="en-US" sz="950" b="1" dirty="0">
                <a:solidFill>
                  <a:srgbClr val="2E8B57"/>
                </a:solidFill>
                <a:latin typeface="Calibri" pitchFamily="34" charset="0"/>
                <a:cs typeface="Amiri" pitchFamily="2" charset="-78"/>
              </a:rPr>
              <a:t> laḥm · meat</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47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Staples and proteins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خُبْزٌ</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bread</a:t>
            </a:r>
            <a:endParaRPr lang="en-US" sz="1350" dirty="0"/>
          </a:p>
          <a:p>
            <a:pPr indent="0" marL="0">
              <a:buNone/>
            </a:pPr>
            <a:r>
              <a:rPr lang="en-US" sz="1100" i="1" dirty="0">
                <a:solidFill>
                  <a:srgbClr val="5A6472"/>
                </a:solidFill>
                <a:latin typeface="Calibri" pitchFamily="34" charset="0"/>
                <a:cs typeface="Amiri" pitchFamily="2" charset="-78"/>
              </a:rPr>
              <a:t>khub-zun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أَخْبَازٌ</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 loaf</a:t>
            </a:r>
            <a:endParaRPr lang="en-US" sz="700" dirty="0"/>
          </a:p>
        </p:txBody>
      </p:sp>
      <p:sp>
        <p:nvSpPr>
          <p:cNvPr id="29" name="Text 26"/>
          <p:cNvSpPr txBox="1"/>
          <p:nvPr/>
        </p:nvSpPr>
        <p:spPr>
          <a:xfrm>
            <a:off x="8284464"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رَغِيفٌ</a:t>
            </a:r>
            <a:endParaRPr lang="ar-SA" sz="135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3" name="Shape 30"/>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أَرُزٌّ</a:t>
            </a:r>
            <a:endParaRPr lang="ar-SA" sz="3000" dirty="0"/>
          </a:p>
        </p:txBody>
      </p:sp>
      <p:sp>
        <p:nvSpPr>
          <p:cNvPr id="36" name="Text 3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rice</a:t>
            </a:r>
            <a:endParaRPr lang="en-US" sz="1350" dirty="0"/>
          </a:p>
          <a:p>
            <a:pPr indent="0" marL="0">
              <a:buNone/>
            </a:pPr>
            <a:r>
              <a:rPr lang="en-US" sz="1100" i="1" dirty="0">
                <a:solidFill>
                  <a:srgbClr val="5A6472"/>
                </a:solidFill>
                <a:latin typeface="Calibri" pitchFamily="34" charset="0"/>
                <a:cs typeface="Amiri" pitchFamily="2" charset="-78"/>
              </a:rPr>
              <a:t>a-ruz-zun</a:t>
            </a:r>
            <a:endParaRPr lang="en-US" sz="135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40" name="Text 3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مَعْكَرُونَةٌ</a:t>
            </a:r>
            <a:endParaRPr lang="ar-SA" sz="3000" dirty="0"/>
          </a:p>
        </p:txBody>
      </p:sp>
      <p:sp>
        <p:nvSpPr>
          <p:cNvPr id="41" name="Text 3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pasta</a:t>
            </a:r>
            <a:endParaRPr lang="en-US" sz="1350" dirty="0"/>
          </a:p>
          <a:p>
            <a:pPr indent="0" marL="0">
              <a:buNone/>
            </a:pPr>
            <a:r>
              <a:rPr lang="en-US" sz="1100" i="1" dirty="0">
                <a:solidFill>
                  <a:srgbClr val="5A6472"/>
                </a:solidFill>
                <a:latin typeface="Calibri" pitchFamily="34" charset="0"/>
                <a:cs typeface="Amiri" pitchFamily="2" charset="-78"/>
              </a:rPr>
              <a:t>maʿ-ka-rū-na-tun</a:t>
            </a:r>
            <a:endParaRPr lang="en-US" sz="1350" dirty="0"/>
          </a:p>
        </p:txBody>
      </p:sp>
      <p:sp>
        <p:nvSpPr>
          <p:cNvPr id="42" name="Shape 3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11312"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45" name="Shape 42"/>
          <p:cNvSpPr/>
          <p:nvPr/>
        </p:nvSpPr>
        <p:spPr>
          <a:xfrm>
            <a:off x="8604504" y="4279392"/>
            <a:ext cx="1269187" cy="256032"/>
          </a:xfrm>
          <a:prstGeom prst="roundRect">
            <a:avLst>
              <a:gd name="adj" fmla="val 50000"/>
            </a:avLst>
          </a:prstGeom>
          <a:solidFill>
            <a:srgbClr val="EFE7D2"/>
          </a:solidFill>
          <a:ln w="12700">
            <a:solidFill>
              <a:srgbClr val="EFE7D2"/>
            </a:solidFill>
            <a:prstDash val="solid"/>
          </a:ln>
        </p:spPr>
      </p:sp>
      <p:sp>
        <p:nvSpPr>
          <p:cNvPr id="46" name="Text 43"/>
          <p:cNvSpPr txBox="1"/>
          <p:nvPr/>
        </p:nvSpPr>
        <p:spPr>
          <a:xfrm>
            <a:off x="8604504"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coll. · one · pl</a:t>
            </a:r>
            <a:endParaRPr lang="en-US" sz="800" dirty="0"/>
          </a:p>
        </p:txBody>
      </p:sp>
      <p:sp>
        <p:nvSpPr>
          <p:cNvPr id="47" name="Shape 44"/>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9" name="Text 46"/>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بَيْضٌ</a:t>
            </a:r>
            <a:endParaRPr lang="ar-SA" sz="3000" dirty="0"/>
          </a:p>
        </p:txBody>
      </p:sp>
      <p:sp>
        <p:nvSpPr>
          <p:cNvPr id="50" name="Text 47"/>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eggs</a:t>
            </a:r>
            <a:endParaRPr lang="en-US" sz="1350" dirty="0"/>
          </a:p>
          <a:p>
            <a:pPr indent="0" marL="0">
              <a:buNone/>
            </a:pPr>
            <a:r>
              <a:rPr lang="en-US" sz="1100" i="1" dirty="0">
                <a:solidFill>
                  <a:srgbClr val="5A6472"/>
                </a:solidFill>
                <a:latin typeface="Calibri" pitchFamily="34" charset="0"/>
                <a:cs typeface="Amiri" pitchFamily="2" charset="-78"/>
              </a:rPr>
              <a:t>bay-ḍun</a:t>
            </a:r>
            <a:endParaRPr lang="en-US" sz="1350" dirty="0"/>
          </a:p>
        </p:txBody>
      </p:sp>
      <p:sp>
        <p:nvSpPr>
          <p:cNvPr id="51" name="Shape 48"/>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52" name="Text 49"/>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3" name="Text 50"/>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بَيْضَاتٌ</a:t>
            </a:r>
            <a:endParaRPr lang="ar-SA" sz="1500" dirty="0"/>
          </a:p>
        </p:txBody>
      </p:sp>
      <p:sp>
        <p:nvSpPr>
          <p:cNvPr id="54" name="Shape 51"/>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6" name="Text 53"/>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بَيْضَةٌ</a:t>
            </a:r>
            <a:endParaRPr lang="ar-SA" sz="1500" dirty="0"/>
          </a:p>
        </p:txBody>
      </p:sp>
      <p:sp>
        <p:nvSpPr>
          <p:cNvPr id="57" name="Shape 5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4389120" y="4261104"/>
            <a:ext cx="310896" cy="310896"/>
          </a:xfrm>
          <a:prstGeom prst="ellipse">
            <a:avLst/>
          </a:prstGeom>
          <a:solidFill>
            <a:srgbClr val="F4F1EA"/>
          </a:solidFill>
          <a:ln w="12700">
            <a:solidFill>
              <a:srgbClr val="F4F1EA"/>
            </a:solidFill>
            <a:prstDash val="solid"/>
          </a:ln>
        </p:spPr>
      </p:sp>
      <p:sp>
        <p:nvSpPr>
          <p:cNvPr id="59" name="Text 5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0" name="Text 5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جُبْنٌ</a:t>
            </a:r>
            <a:endParaRPr lang="ar-SA" sz="3000" dirty="0"/>
          </a:p>
        </p:txBody>
      </p:sp>
      <p:sp>
        <p:nvSpPr>
          <p:cNvPr id="61" name="Text 5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cheese</a:t>
            </a:r>
            <a:endParaRPr lang="en-US" sz="1350" dirty="0"/>
          </a:p>
          <a:p>
            <a:pPr indent="0" marL="0">
              <a:buNone/>
            </a:pPr>
            <a:r>
              <a:rPr lang="en-US" sz="1100" i="1" dirty="0">
                <a:solidFill>
                  <a:srgbClr val="5A6472"/>
                </a:solidFill>
                <a:latin typeface="Calibri" pitchFamily="34" charset="0"/>
                <a:cs typeface="Amiri" pitchFamily="2" charset="-78"/>
              </a:rPr>
              <a:t>jub-nun</a:t>
            </a:r>
            <a:endParaRPr lang="en-US" sz="1350" dirty="0"/>
          </a:p>
        </p:txBody>
      </p:sp>
      <p:sp>
        <p:nvSpPr>
          <p:cNvPr id="62" name="Text 5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47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Staples and proteins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لَحْمٌ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meat</a:t>
            </a:r>
            <a:endParaRPr lang="en-US" sz="1350" dirty="0"/>
          </a:p>
          <a:p>
            <a:pPr indent="0" marL="0">
              <a:buNone/>
            </a:pPr>
            <a:r>
              <a:rPr lang="en-US" sz="1100" i="1" dirty="0">
                <a:solidFill>
                  <a:srgbClr val="5A6472"/>
                </a:solidFill>
                <a:latin typeface="Calibri" pitchFamily="34" charset="0"/>
                <a:cs typeface="Amiri" pitchFamily="2" charset="-78"/>
              </a:rPr>
              <a:t>laḥ-mun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25" name="Shape 22"/>
          <p:cNvSpPr/>
          <p:nvPr/>
        </p:nvSpPr>
        <p:spPr>
          <a:xfrm>
            <a:off x="4782312" y="1938528"/>
            <a:ext cx="1269187" cy="256032"/>
          </a:xfrm>
          <a:prstGeom prst="roundRect">
            <a:avLst>
              <a:gd name="adj" fmla="val 50000"/>
            </a:avLst>
          </a:prstGeom>
          <a:solidFill>
            <a:srgbClr val="EFE7D2"/>
          </a:solidFill>
          <a:ln w="12700">
            <a:solidFill>
              <a:srgbClr val="EFE7D2"/>
            </a:solidFill>
            <a:prstDash val="solid"/>
          </a:ln>
        </p:spPr>
      </p:sp>
      <p:sp>
        <p:nvSpPr>
          <p:cNvPr id="26" name="Text 23"/>
          <p:cNvSpPr txBox="1"/>
          <p:nvPr/>
        </p:nvSpPr>
        <p:spPr>
          <a:xfrm>
            <a:off x="4782312"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coll. · one · pl</a:t>
            </a:r>
            <a:endParaRPr lang="en-US" sz="800" dirty="0"/>
          </a:p>
        </p:txBody>
      </p:sp>
      <p:sp>
        <p:nvSpPr>
          <p:cNvPr id="27" name="Shape 24"/>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9" name="Text 26"/>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دَجَاجٌ</a:t>
            </a:r>
            <a:endParaRPr lang="ar-SA" sz="3000" dirty="0"/>
          </a:p>
        </p:txBody>
      </p:sp>
      <p:sp>
        <p:nvSpPr>
          <p:cNvPr id="30" name="Text 27"/>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chicken</a:t>
            </a:r>
            <a:endParaRPr lang="en-US" sz="1350" dirty="0"/>
          </a:p>
          <a:p>
            <a:pPr indent="0" marL="0">
              <a:buNone/>
            </a:pPr>
            <a:r>
              <a:rPr lang="en-US" sz="1100" i="1" dirty="0">
                <a:solidFill>
                  <a:srgbClr val="5A6472"/>
                </a:solidFill>
                <a:latin typeface="Calibri" pitchFamily="34" charset="0"/>
                <a:cs typeface="Amiri" pitchFamily="2" charset="-78"/>
              </a:rPr>
              <a:t>da-jā-jun</a:t>
            </a:r>
            <a:endParaRPr lang="en-US" sz="1350" dirty="0"/>
          </a:p>
        </p:txBody>
      </p:sp>
      <p:sp>
        <p:nvSpPr>
          <p:cNvPr id="31" name="Shape 28"/>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2" name="Text 29"/>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3" name="Text 30"/>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دَجَاجَاتٌ</a:t>
            </a:r>
            <a:endParaRPr lang="ar-SA" sz="1500" dirty="0"/>
          </a:p>
        </p:txBody>
      </p:sp>
      <p:sp>
        <p:nvSpPr>
          <p:cNvPr id="34" name="Shape 31"/>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5" name="Text 32"/>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36" name="Text 33"/>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دَجَاجَةٌ</a:t>
            </a:r>
            <a:endParaRPr lang="ar-SA" sz="1500" dirty="0"/>
          </a:p>
        </p:txBody>
      </p:sp>
      <p:sp>
        <p:nvSpPr>
          <p:cNvPr id="37" name="Shape 3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566928" y="1920240"/>
            <a:ext cx="310896" cy="310896"/>
          </a:xfrm>
          <a:prstGeom prst="ellipse">
            <a:avLst/>
          </a:prstGeom>
          <a:solidFill>
            <a:srgbClr val="F4F1EA"/>
          </a:solidFill>
          <a:ln w="12700">
            <a:solidFill>
              <a:srgbClr val="F4F1EA"/>
            </a:solidFill>
            <a:prstDash val="solid"/>
          </a:ln>
        </p:spPr>
      </p:sp>
      <p:sp>
        <p:nvSpPr>
          <p:cNvPr id="39" name="Text 3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40" name="Shape 37"/>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41" name="Text 38"/>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coll. · one · pl</a:t>
            </a:r>
            <a:endParaRPr lang="en-US" sz="800" dirty="0"/>
          </a:p>
        </p:txBody>
      </p:sp>
      <p:sp>
        <p:nvSpPr>
          <p:cNvPr id="42" name="Shape 3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3" name="Text 4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4" name="Text 41"/>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سَمَكٌ</a:t>
            </a:r>
            <a:endParaRPr lang="ar-SA" sz="3000" dirty="0"/>
          </a:p>
        </p:txBody>
      </p:sp>
      <p:sp>
        <p:nvSpPr>
          <p:cNvPr id="45" name="Text 42"/>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fish</a:t>
            </a:r>
            <a:endParaRPr lang="en-US" sz="1350" dirty="0"/>
          </a:p>
          <a:p>
            <a:pPr indent="0" marL="0">
              <a:buNone/>
            </a:pPr>
            <a:r>
              <a:rPr lang="en-US" sz="1100" i="1" dirty="0">
                <a:solidFill>
                  <a:srgbClr val="5A6472"/>
                </a:solidFill>
                <a:latin typeface="Calibri" pitchFamily="34" charset="0"/>
                <a:cs typeface="Amiri" pitchFamily="2" charset="-78"/>
              </a:rPr>
              <a:t>sa-ma-kun</a:t>
            </a:r>
            <a:endParaRPr lang="en-US" sz="1350" dirty="0"/>
          </a:p>
        </p:txBody>
      </p:sp>
      <p:sp>
        <p:nvSpPr>
          <p:cNvPr id="46" name="Shape 43"/>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47" name="Text 44"/>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8" name="Text 45"/>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أَسْمَاكٌ</a:t>
            </a:r>
            <a:endParaRPr lang="ar-SA" sz="1500" dirty="0"/>
          </a:p>
        </p:txBody>
      </p:sp>
      <p:sp>
        <p:nvSpPr>
          <p:cNvPr id="49" name="Shape 46"/>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0" name="Text 47"/>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1" name="Text 48"/>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سَمَكَةٌ</a:t>
            </a:r>
            <a:endParaRPr lang="ar-SA" sz="1500" dirty="0"/>
          </a:p>
        </p:txBody>
      </p:sp>
      <p:sp>
        <p:nvSpPr>
          <p:cNvPr id="52" name="Shape 4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3" name="Shape 50"/>
          <p:cNvSpPr/>
          <p:nvPr/>
        </p:nvSpPr>
        <p:spPr>
          <a:xfrm>
            <a:off x="8211312" y="4261104"/>
            <a:ext cx="310896" cy="310896"/>
          </a:xfrm>
          <a:prstGeom prst="ellipse">
            <a:avLst/>
          </a:prstGeom>
          <a:solidFill>
            <a:srgbClr val="F4F1EA"/>
          </a:solidFill>
          <a:ln w="12700">
            <a:solidFill>
              <a:srgbClr val="F4F1EA"/>
            </a:solidFill>
            <a:prstDash val="solid"/>
          </a:ln>
        </p:spPr>
      </p:sp>
      <p:sp>
        <p:nvSpPr>
          <p:cNvPr id="54" name="Text 5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55" name="Text 5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فَاصُولِيَاءُ</a:t>
            </a:r>
            <a:endParaRPr lang="ar-SA" sz="3000" dirty="0"/>
          </a:p>
        </p:txBody>
      </p:sp>
      <p:sp>
        <p:nvSpPr>
          <p:cNvPr id="56" name="Text 5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beans</a:t>
            </a:r>
            <a:endParaRPr lang="en-US" sz="1350" dirty="0"/>
          </a:p>
          <a:p>
            <a:pPr indent="0" marL="0">
              <a:buNone/>
            </a:pPr>
            <a:r>
              <a:rPr lang="en-US" sz="1100" i="1" dirty="0">
                <a:solidFill>
                  <a:srgbClr val="5A6472"/>
                </a:solidFill>
                <a:latin typeface="Calibri" pitchFamily="34" charset="0"/>
                <a:cs typeface="Amiri" pitchFamily="2" charset="-78"/>
              </a:rPr>
              <a:t>fā-ṣū-li-yā-ʾu</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47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Fruit and vegetables (1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20" name="Shape 17"/>
          <p:cNvSpPr/>
          <p:nvPr/>
        </p:nvSpPr>
        <p:spPr>
          <a:xfrm>
            <a:off x="8604504" y="1938528"/>
            <a:ext cx="1269187" cy="256032"/>
          </a:xfrm>
          <a:prstGeom prst="roundRect">
            <a:avLst>
              <a:gd name="adj" fmla="val 50000"/>
            </a:avLst>
          </a:prstGeom>
          <a:solidFill>
            <a:srgbClr val="EFE7D2"/>
          </a:solidFill>
          <a:ln w="12700">
            <a:solidFill>
              <a:srgbClr val="EFE7D2"/>
            </a:solidFill>
            <a:prstDash val="solid"/>
          </a:ln>
        </p:spPr>
      </p:sp>
      <p:sp>
        <p:nvSpPr>
          <p:cNvPr id="21" name="Text 18"/>
          <p:cNvSpPr txBox="1"/>
          <p:nvPr/>
        </p:nvSpPr>
        <p:spPr>
          <a:xfrm>
            <a:off x="8604504"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coll. · one · pl</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تُفَّاحٌ</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apples</a:t>
            </a:r>
            <a:endParaRPr lang="en-US" sz="1350" dirty="0"/>
          </a:p>
          <a:p>
            <a:pPr indent="0" marL="0">
              <a:buNone/>
            </a:pPr>
            <a:r>
              <a:rPr lang="en-US" sz="1100" i="1" dirty="0">
                <a:solidFill>
                  <a:srgbClr val="5A6472"/>
                </a:solidFill>
                <a:latin typeface="Calibri" pitchFamily="34" charset="0"/>
                <a:cs typeface="Amiri" pitchFamily="2" charset="-78"/>
              </a:rPr>
              <a:t>tuf-fā-ḥun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تُفَّاحَاتٌ</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تُفَّاحَةٌ</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33" name="Shape 30"/>
          <p:cNvSpPr/>
          <p:nvPr/>
        </p:nvSpPr>
        <p:spPr>
          <a:xfrm>
            <a:off x="4782312" y="1938528"/>
            <a:ext cx="1269187"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coll. · one · pl</a:t>
            </a:r>
            <a:endParaRPr lang="en-US" sz="800" dirty="0"/>
          </a:p>
        </p:txBody>
      </p:sp>
      <p:sp>
        <p:nvSpPr>
          <p:cNvPr id="35" name="Text 3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مَوْزٌ</a:t>
            </a:r>
            <a:endParaRPr lang="ar-SA" sz="3000" dirty="0"/>
          </a:p>
        </p:txBody>
      </p:sp>
      <p:sp>
        <p:nvSpPr>
          <p:cNvPr id="36" name="Text 3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bananas</a:t>
            </a:r>
            <a:endParaRPr lang="en-US" sz="1350" dirty="0"/>
          </a:p>
          <a:p>
            <a:pPr indent="0" marL="0">
              <a:buNone/>
            </a:pPr>
            <a:r>
              <a:rPr lang="en-US" sz="1100" i="1" dirty="0">
                <a:solidFill>
                  <a:srgbClr val="5A6472"/>
                </a:solidFill>
                <a:latin typeface="Calibri" pitchFamily="34" charset="0"/>
                <a:cs typeface="Amiri" pitchFamily="2" charset="-78"/>
              </a:rPr>
              <a:t>maw-zun</a:t>
            </a:r>
            <a:endParaRPr lang="en-US" sz="1350" dirty="0"/>
          </a:p>
        </p:txBody>
      </p:sp>
      <p:sp>
        <p:nvSpPr>
          <p:cNvPr id="37" name="Shape 3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38" name="Text 3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9" name="Text 36"/>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مَوْزَاتٌ</a:t>
            </a:r>
            <a:endParaRPr lang="ar-SA" sz="1500" dirty="0"/>
          </a:p>
        </p:txBody>
      </p:sp>
      <p:sp>
        <p:nvSpPr>
          <p:cNvPr id="40" name="Shape 3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1" name="Text 3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2" name="Text 3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مَوْزَةٌ</a:t>
            </a:r>
            <a:endParaRPr lang="ar-SA" sz="1500" dirty="0"/>
          </a:p>
        </p:txBody>
      </p:sp>
      <p:sp>
        <p:nvSpPr>
          <p:cNvPr id="43" name="Shape 4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566928" y="1920240"/>
            <a:ext cx="310896" cy="310896"/>
          </a:xfrm>
          <a:prstGeom prst="ellipse">
            <a:avLst/>
          </a:prstGeom>
          <a:solidFill>
            <a:srgbClr val="F4F1EA"/>
          </a:solidFill>
          <a:ln w="12700">
            <a:solidFill>
              <a:srgbClr val="F4F1EA"/>
            </a:solidFill>
            <a:prstDash val="solid"/>
          </a:ln>
        </p:spPr>
      </p:sp>
      <p:sp>
        <p:nvSpPr>
          <p:cNvPr id="45" name="Text 4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46" name="Shape 43"/>
          <p:cNvSpPr/>
          <p:nvPr/>
        </p:nvSpPr>
        <p:spPr>
          <a:xfrm>
            <a:off x="960120" y="1938528"/>
            <a:ext cx="1269187" cy="256032"/>
          </a:xfrm>
          <a:prstGeom prst="roundRect">
            <a:avLst>
              <a:gd name="adj" fmla="val 50000"/>
            </a:avLst>
          </a:prstGeom>
          <a:solidFill>
            <a:srgbClr val="EFE7D2"/>
          </a:solidFill>
          <a:ln w="12700">
            <a:solidFill>
              <a:srgbClr val="EFE7D2"/>
            </a:solidFill>
            <a:prstDash val="solid"/>
          </a:ln>
        </p:spPr>
      </p:sp>
      <p:sp>
        <p:nvSpPr>
          <p:cNvPr id="47" name="Text 44"/>
          <p:cNvSpPr txBox="1"/>
          <p:nvPr/>
        </p:nvSpPr>
        <p:spPr>
          <a:xfrm>
            <a:off x="960120" y="1938528"/>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coll. · one · pl</a:t>
            </a:r>
            <a:endParaRPr lang="en-US" sz="800" dirty="0"/>
          </a:p>
        </p:txBody>
      </p:sp>
      <p:sp>
        <p:nvSpPr>
          <p:cNvPr id="48" name="Text 45"/>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بُرْتُقَالٌ</a:t>
            </a:r>
            <a:endParaRPr lang="ar-SA" sz="3000" dirty="0"/>
          </a:p>
        </p:txBody>
      </p:sp>
      <p:sp>
        <p:nvSpPr>
          <p:cNvPr id="49" name="Text 46"/>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oranges</a:t>
            </a:r>
            <a:endParaRPr lang="en-US" sz="1350" dirty="0"/>
          </a:p>
          <a:p>
            <a:pPr indent="0" marL="0">
              <a:buNone/>
            </a:pPr>
            <a:r>
              <a:rPr lang="en-US" sz="1100" i="1" dirty="0">
                <a:solidFill>
                  <a:srgbClr val="5A6472"/>
                </a:solidFill>
                <a:latin typeface="Calibri" pitchFamily="34" charset="0"/>
                <a:cs typeface="Amiri" pitchFamily="2" charset="-78"/>
              </a:rPr>
              <a:t>bur-tu-qā-lun</a:t>
            </a:r>
            <a:endParaRPr lang="en-US" sz="1350" dirty="0"/>
          </a:p>
        </p:txBody>
      </p:sp>
      <p:sp>
        <p:nvSpPr>
          <p:cNvPr id="50" name="Shape 47"/>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2" name="Text 49"/>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بُرْتُقَالَاتٌ</a:t>
            </a:r>
            <a:endParaRPr lang="ar-SA" sz="1500" dirty="0"/>
          </a:p>
        </p:txBody>
      </p:sp>
      <p:sp>
        <p:nvSpPr>
          <p:cNvPr id="53" name="Shape 50"/>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4" name="Text 51"/>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55" name="Text 52"/>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بُرْتُقَالَةٌ</a:t>
            </a:r>
            <a:endParaRPr lang="ar-SA" sz="1500" dirty="0"/>
          </a:p>
        </p:txBody>
      </p:sp>
      <p:sp>
        <p:nvSpPr>
          <p:cNvPr id="56" name="Shape 5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8211312" y="4261104"/>
            <a:ext cx="310896" cy="310896"/>
          </a:xfrm>
          <a:prstGeom prst="ellipse">
            <a:avLst/>
          </a:prstGeom>
          <a:solidFill>
            <a:srgbClr val="F4F1EA"/>
          </a:solidFill>
          <a:ln w="12700">
            <a:solidFill>
              <a:srgbClr val="F4F1EA"/>
            </a:solidFill>
            <a:prstDash val="solid"/>
          </a:ln>
        </p:spPr>
      </p:sp>
      <p:sp>
        <p:nvSpPr>
          <p:cNvPr id="58" name="Text 5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13</a:t>
            </a:r>
            <a:endParaRPr lang="en-US" sz="1000" dirty="0"/>
          </a:p>
        </p:txBody>
      </p:sp>
      <p:sp>
        <p:nvSpPr>
          <p:cNvPr id="59" name="Shape 56"/>
          <p:cNvSpPr/>
          <p:nvPr/>
        </p:nvSpPr>
        <p:spPr>
          <a:xfrm>
            <a:off x="8604504" y="4279392"/>
            <a:ext cx="1269187" cy="256032"/>
          </a:xfrm>
          <a:prstGeom prst="roundRect">
            <a:avLst>
              <a:gd name="adj" fmla="val 50000"/>
            </a:avLst>
          </a:prstGeom>
          <a:solidFill>
            <a:srgbClr val="EFE7D2"/>
          </a:solidFill>
          <a:ln w="12700">
            <a:solidFill>
              <a:srgbClr val="EFE7D2"/>
            </a:solidFill>
            <a:prstDash val="solid"/>
          </a:ln>
        </p:spPr>
      </p:sp>
      <p:sp>
        <p:nvSpPr>
          <p:cNvPr id="60" name="Text 57"/>
          <p:cNvSpPr txBox="1"/>
          <p:nvPr/>
        </p:nvSpPr>
        <p:spPr>
          <a:xfrm>
            <a:off x="8604504"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coll. · one · pl</a:t>
            </a:r>
            <a:endParaRPr lang="en-US" sz="800" dirty="0"/>
          </a:p>
        </p:txBody>
      </p:sp>
      <p:sp>
        <p:nvSpPr>
          <p:cNvPr id="61" name="Text 58"/>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عِنَبٌ</a:t>
            </a:r>
            <a:endParaRPr lang="ar-SA" sz="3000" dirty="0"/>
          </a:p>
        </p:txBody>
      </p:sp>
      <p:sp>
        <p:nvSpPr>
          <p:cNvPr id="62" name="Text 59"/>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grapes</a:t>
            </a:r>
            <a:endParaRPr lang="en-US" sz="1350" dirty="0"/>
          </a:p>
          <a:p>
            <a:pPr indent="0" marL="0">
              <a:buNone/>
            </a:pPr>
            <a:r>
              <a:rPr lang="en-US" sz="1100" i="1" dirty="0">
                <a:solidFill>
                  <a:srgbClr val="5A6472"/>
                </a:solidFill>
                <a:latin typeface="Calibri" pitchFamily="34" charset="0"/>
                <a:cs typeface="Amiri" pitchFamily="2" charset="-78"/>
              </a:rPr>
              <a:t>ʿi-na-bun</a:t>
            </a:r>
            <a:endParaRPr lang="en-US" sz="1350" dirty="0"/>
          </a:p>
        </p:txBody>
      </p:sp>
      <p:sp>
        <p:nvSpPr>
          <p:cNvPr id="63" name="Shape 60"/>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5" name="Text 62"/>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أَعْنَابٌ</a:t>
            </a:r>
            <a:endParaRPr lang="ar-SA" sz="1500" dirty="0"/>
          </a:p>
        </p:txBody>
      </p:sp>
      <p:sp>
        <p:nvSpPr>
          <p:cNvPr id="66" name="Shape 63"/>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68" name="Text 65"/>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عِنَبَةٌ</a:t>
            </a:r>
            <a:endParaRPr lang="ar-SA" sz="15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14</a:t>
            </a:r>
            <a:endParaRPr lang="en-US" sz="1000" dirty="0"/>
          </a:p>
        </p:txBody>
      </p:sp>
      <p:sp>
        <p:nvSpPr>
          <p:cNvPr id="72" name="Text 69"/>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فَرَاوِلَةٌ</a:t>
            </a:r>
            <a:endParaRPr lang="ar-SA" sz="3000" dirty="0"/>
          </a:p>
        </p:txBody>
      </p:sp>
      <p:sp>
        <p:nvSpPr>
          <p:cNvPr id="73" name="Text 70"/>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strawberries</a:t>
            </a:r>
            <a:endParaRPr lang="en-US" sz="1350" dirty="0"/>
          </a:p>
          <a:p>
            <a:pPr indent="0" marL="0">
              <a:buNone/>
            </a:pPr>
            <a:r>
              <a:rPr lang="en-US" sz="1100" i="1" dirty="0">
                <a:solidFill>
                  <a:srgbClr val="5A6472"/>
                </a:solidFill>
                <a:latin typeface="Calibri" pitchFamily="34" charset="0"/>
                <a:cs typeface="Amiri" pitchFamily="2" charset="-78"/>
              </a:rPr>
              <a:t>fa-rā-wi-la-tun</a:t>
            </a:r>
            <a:endParaRPr lang="en-US" sz="135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15</a:t>
            </a:r>
            <a:endParaRPr lang="en-US" sz="1000" dirty="0"/>
          </a:p>
        </p:txBody>
      </p:sp>
      <p:sp>
        <p:nvSpPr>
          <p:cNvPr id="77" name="Shape 74"/>
          <p:cNvSpPr/>
          <p:nvPr/>
        </p:nvSpPr>
        <p:spPr>
          <a:xfrm>
            <a:off x="960120" y="4279392"/>
            <a:ext cx="1269187" cy="256032"/>
          </a:xfrm>
          <a:prstGeom prst="roundRect">
            <a:avLst>
              <a:gd name="adj" fmla="val 50000"/>
            </a:avLst>
          </a:prstGeom>
          <a:solidFill>
            <a:srgbClr val="EFE7D2"/>
          </a:solidFill>
          <a:ln w="12700">
            <a:solidFill>
              <a:srgbClr val="EFE7D2"/>
            </a:solidFill>
            <a:prstDash val="solid"/>
          </a:ln>
        </p:spPr>
      </p:sp>
      <p:sp>
        <p:nvSpPr>
          <p:cNvPr id="78" name="Text 75"/>
          <p:cNvSpPr txBox="1"/>
          <p:nvPr/>
        </p:nvSpPr>
        <p:spPr>
          <a:xfrm>
            <a:off x="960120" y="4279392"/>
            <a:ext cx="1269187"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coll. · one · pl</a:t>
            </a:r>
            <a:endParaRPr lang="en-US" sz="800" dirty="0"/>
          </a:p>
        </p:txBody>
      </p:sp>
      <p:sp>
        <p:nvSpPr>
          <p:cNvPr id="79" name="Text 76"/>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تَمْرٌ</a:t>
            </a:r>
            <a:endParaRPr lang="ar-SA" sz="3000" dirty="0"/>
          </a:p>
        </p:txBody>
      </p:sp>
      <p:sp>
        <p:nvSpPr>
          <p:cNvPr id="80" name="Text 77"/>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dates</a:t>
            </a:r>
            <a:endParaRPr lang="en-US" sz="1350" dirty="0"/>
          </a:p>
          <a:p>
            <a:pPr indent="0" marL="0">
              <a:buNone/>
            </a:pPr>
            <a:r>
              <a:rPr lang="en-US" sz="1100" i="1" dirty="0">
                <a:solidFill>
                  <a:srgbClr val="5A6472"/>
                </a:solidFill>
                <a:latin typeface="Calibri" pitchFamily="34" charset="0"/>
                <a:cs typeface="Amiri" pitchFamily="2" charset="-78"/>
              </a:rPr>
              <a:t>tam-run</a:t>
            </a:r>
            <a:endParaRPr lang="en-US" sz="1350" dirty="0"/>
          </a:p>
        </p:txBody>
      </p:sp>
      <p:sp>
        <p:nvSpPr>
          <p:cNvPr id="81" name="Shape 78"/>
          <p:cNvSpPr/>
          <p:nvPr/>
        </p:nvSpPr>
        <p:spPr>
          <a:xfrm>
            <a:off x="2322576" y="5779008"/>
            <a:ext cx="1636776" cy="438912"/>
          </a:xfrm>
          <a:prstGeom prst="roundRect">
            <a:avLst>
              <a:gd name="adj" fmla="val 10417"/>
            </a:avLst>
          </a:prstGeom>
          <a:solidFill>
            <a:srgbClr val="F4F1EA"/>
          </a:solidFill>
          <a:ln w="9525">
            <a:solidFill>
              <a:srgbClr val="F4F1EA"/>
            </a:solidFill>
            <a:prstDash val="solid"/>
          </a:ln>
        </p:spPr>
      </p:sp>
      <p:sp>
        <p:nvSpPr>
          <p:cNvPr id="82" name="Text 79"/>
          <p:cNvSpPr txBox="1"/>
          <p:nvPr/>
        </p:nvSpPr>
        <p:spPr>
          <a:xfrm>
            <a:off x="2377440"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83" name="Text 80"/>
          <p:cNvSpPr txBox="1"/>
          <p:nvPr/>
        </p:nvSpPr>
        <p:spPr>
          <a:xfrm>
            <a:off x="2368296"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تُمُورٌ</a:t>
            </a:r>
            <a:endParaRPr lang="ar-SA" sz="1500" dirty="0"/>
          </a:p>
        </p:txBody>
      </p:sp>
      <p:sp>
        <p:nvSpPr>
          <p:cNvPr id="84" name="Shape 81"/>
          <p:cNvSpPr/>
          <p:nvPr/>
        </p:nvSpPr>
        <p:spPr>
          <a:xfrm>
            <a:off x="594360"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492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86" name="Text 83"/>
          <p:cNvSpPr txBox="1"/>
          <p:nvPr/>
        </p:nvSpPr>
        <p:spPr>
          <a:xfrm>
            <a:off x="6400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تَمْرَةٌ</a:t>
            </a:r>
            <a:endParaRPr lang="ar-SA" sz="1500" dirty="0"/>
          </a:p>
        </p:txBody>
      </p:sp>
      <p:sp>
        <p:nvSpPr>
          <p:cNvPr id="87" name="Text 8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47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2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Fruit and vegetables (2 of 2)</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16</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طَمَاطِمُ</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tomatoes</a:t>
            </a:r>
            <a:endParaRPr lang="en-US" sz="1350" dirty="0"/>
          </a:p>
          <a:p>
            <a:pPr indent="0" marL="0">
              <a:buNone/>
            </a:pPr>
            <a:r>
              <a:rPr lang="en-US" sz="1100" i="1" dirty="0">
                <a:solidFill>
                  <a:srgbClr val="5A6472"/>
                </a:solidFill>
                <a:latin typeface="Calibri" pitchFamily="34" charset="0"/>
                <a:cs typeface="Amiri" pitchFamily="2" charset="-78"/>
              </a:rPr>
              <a:t>ṭa-mā-ṭi-mu</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خِيَارٌ</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cucumber</a:t>
            </a:r>
            <a:endParaRPr lang="en-US" sz="1350" dirty="0"/>
          </a:p>
          <a:p>
            <a:pPr indent="0" marL="0">
              <a:buNone/>
            </a:pPr>
            <a:r>
              <a:rPr lang="en-US" sz="1100" i="1" dirty="0">
                <a:solidFill>
                  <a:srgbClr val="5A6472"/>
                </a:solidFill>
                <a:latin typeface="Calibri" pitchFamily="34" charset="0"/>
                <a:cs typeface="Amiri" pitchFamily="2" charset="-78"/>
              </a:rPr>
              <a:t>khi-yā-run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جَزَرٌ</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carrots</a:t>
            </a:r>
            <a:endParaRPr lang="en-US" sz="1350" dirty="0"/>
          </a:p>
          <a:p>
            <a:pPr indent="0" marL="0">
              <a:buNone/>
            </a:pPr>
            <a:r>
              <a:rPr lang="en-US" sz="1100" i="1" dirty="0">
                <a:solidFill>
                  <a:srgbClr val="5A6472"/>
                </a:solidFill>
                <a:latin typeface="Calibri" pitchFamily="34" charset="0"/>
                <a:cs typeface="Amiri" pitchFamily="2" charset="-78"/>
              </a:rPr>
              <a:t>ja-za-run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بَطَاطِسُ</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potatoes</a:t>
            </a:r>
            <a:endParaRPr lang="en-US" sz="1350" dirty="0"/>
          </a:p>
          <a:p>
            <a:pPr indent="0" marL="0">
              <a:buNone/>
            </a:pPr>
            <a:r>
              <a:rPr lang="en-US" sz="1100" i="1" dirty="0">
                <a:solidFill>
                  <a:srgbClr val="5A6472"/>
                </a:solidFill>
                <a:latin typeface="Calibri" pitchFamily="34" charset="0"/>
                <a:cs typeface="Amiri" pitchFamily="2" charset="-78"/>
              </a:rPr>
              <a:t>ba-ṭā-ṭi-su</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20</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سَلَطَةٌ</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salad</a:t>
            </a:r>
            <a:endParaRPr lang="en-US" sz="1350" dirty="0"/>
          </a:p>
          <a:p>
            <a:pPr indent="0" marL="0">
              <a:buNone/>
            </a:pPr>
            <a:r>
              <a:rPr lang="en-US" sz="1100" i="1" dirty="0">
                <a:solidFill>
                  <a:srgbClr val="5A6472"/>
                </a:solidFill>
                <a:latin typeface="Calibri" pitchFamily="34" charset="0"/>
                <a:cs typeface="Amiri" pitchFamily="2" charset="-78"/>
              </a:rPr>
              <a:t>sa-la-ṭa-tun</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47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Drinks and extras (1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21</a:t>
            </a:r>
            <a:endParaRPr lang="en-US" sz="1000" dirty="0"/>
          </a:p>
        </p:txBody>
      </p:sp>
      <p:sp>
        <p:nvSpPr>
          <p:cNvPr id="18" name="Shape 15"/>
          <p:cNvSpPr/>
          <p:nvPr/>
        </p:nvSpPr>
        <p:spPr>
          <a:xfrm>
            <a:off x="8604504" y="1938528"/>
            <a:ext cx="704088"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مَاءٌ</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water</a:t>
            </a:r>
            <a:endParaRPr lang="en-US" sz="1350" dirty="0"/>
          </a:p>
          <a:p>
            <a:pPr indent="0" marL="0">
              <a:buNone/>
            </a:pPr>
            <a:r>
              <a:rPr lang="en-US" sz="1100" i="1" dirty="0">
                <a:solidFill>
                  <a:srgbClr val="5A6472"/>
                </a:solidFill>
                <a:latin typeface="Calibri" pitchFamily="34" charset="0"/>
                <a:cs typeface="Amiri" pitchFamily="2" charset="-78"/>
              </a:rPr>
              <a:t>mā-ʾun</a:t>
            </a:r>
            <a:endParaRPr lang="en-US" sz="1350" dirty="0"/>
          </a:p>
        </p:txBody>
      </p:sp>
      <p:sp>
        <p:nvSpPr>
          <p:cNvPr id="24" name="Shape 21"/>
          <p:cNvSpPr/>
          <p:nvPr/>
        </p:nvSpPr>
        <p:spPr>
          <a:xfrm>
            <a:off x="9966960" y="3438144"/>
            <a:ext cx="1636776"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0218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26" name="Text 23"/>
          <p:cNvSpPr txBox="1"/>
          <p:nvPr/>
        </p:nvSpPr>
        <p:spPr>
          <a:xfrm>
            <a:off x="100126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مِيَاهٌ</a:t>
            </a:r>
            <a:endParaRPr lang="ar-SA" sz="1500" dirty="0"/>
          </a:p>
        </p:txBody>
      </p:sp>
      <p:sp>
        <p:nvSpPr>
          <p:cNvPr id="27" name="Shape 24"/>
          <p:cNvSpPr/>
          <p:nvPr/>
        </p:nvSpPr>
        <p:spPr>
          <a:xfrm>
            <a:off x="8238744"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8293608"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29" name="Text 26"/>
          <p:cNvSpPr txBox="1"/>
          <p:nvPr/>
        </p:nvSpPr>
        <p:spPr>
          <a:xfrm>
            <a:off x="8284464"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مَاءٌ</a:t>
            </a:r>
            <a:endParaRPr lang="ar-SA" sz="1500" dirty="0"/>
          </a:p>
        </p:txBody>
      </p:sp>
      <p:sp>
        <p:nvSpPr>
          <p:cNvPr id="30" name="Shape 2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389120" y="1920240"/>
            <a:ext cx="310896" cy="310896"/>
          </a:xfrm>
          <a:prstGeom prst="ellipse">
            <a:avLst/>
          </a:prstGeom>
          <a:solidFill>
            <a:srgbClr val="F4F1EA"/>
          </a:solidFill>
          <a:ln w="12700">
            <a:solidFill>
              <a:srgbClr val="F4F1EA"/>
            </a:solidFill>
            <a:prstDash val="solid"/>
          </a:ln>
        </p:spPr>
      </p:sp>
      <p:sp>
        <p:nvSpPr>
          <p:cNvPr id="32" name="Text 2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22</a:t>
            </a:r>
            <a:endParaRPr lang="en-US" sz="1000" dirty="0"/>
          </a:p>
        </p:txBody>
      </p:sp>
      <p:sp>
        <p:nvSpPr>
          <p:cNvPr id="33" name="Shape 3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34" name="Text 3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35" name="Shape 3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7" name="Text 34"/>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حَلِيبٌ</a:t>
            </a:r>
            <a:endParaRPr lang="ar-SA" sz="3000" dirty="0"/>
          </a:p>
        </p:txBody>
      </p:sp>
      <p:sp>
        <p:nvSpPr>
          <p:cNvPr id="38" name="Text 35"/>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milk</a:t>
            </a:r>
            <a:endParaRPr lang="en-US" sz="1350" dirty="0"/>
          </a:p>
          <a:p>
            <a:pPr indent="0" marL="0">
              <a:buNone/>
            </a:pPr>
            <a:r>
              <a:rPr lang="en-US" sz="1100" i="1" dirty="0">
                <a:solidFill>
                  <a:srgbClr val="5A6472"/>
                </a:solidFill>
                <a:latin typeface="Calibri" pitchFamily="34" charset="0"/>
                <a:cs typeface="Amiri" pitchFamily="2" charset="-78"/>
              </a:rPr>
              <a:t>ḥa-lī-bun</a:t>
            </a:r>
            <a:endParaRPr lang="en-US" sz="1350" dirty="0"/>
          </a:p>
        </p:txBody>
      </p:sp>
      <p:sp>
        <p:nvSpPr>
          <p:cNvPr id="39" name="Shape 36"/>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0" name="Text 37"/>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 (m.)</a:t>
            </a:r>
            <a:endParaRPr lang="en-US" sz="700" dirty="0"/>
          </a:p>
        </p:txBody>
      </p:sp>
      <p:sp>
        <p:nvSpPr>
          <p:cNvPr id="41" name="Text 38"/>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بَارِدٌ</a:t>
            </a:r>
            <a:endParaRPr lang="ar-SA" sz="1350" dirty="0"/>
          </a:p>
        </p:txBody>
      </p:sp>
      <p:sp>
        <p:nvSpPr>
          <p:cNvPr id="42" name="Shape 39"/>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44" name="Text 41"/>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حَلِيبٌ</a:t>
            </a:r>
            <a:endParaRPr lang="ar-SA" sz="1500" dirty="0"/>
          </a:p>
        </p:txBody>
      </p:sp>
      <p:sp>
        <p:nvSpPr>
          <p:cNvPr id="45" name="Shape 4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66928" y="1920240"/>
            <a:ext cx="310896" cy="310896"/>
          </a:xfrm>
          <a:prstGeom prst="ellipse">
            <a:avLst/>
          </a:prstGeom>
          <a:solidFill>
            <a:srgbClr val="F4F1EA"/>
          </a:solidFill>
          <a:ln w="12700">
            <a:solidFill>
              <a:srgbClr val="F4F1EA"/>
            </a:solidFill>
            <a:prstDash val="solid"/>
          </a:ln>
        </p:spPr>
      </p:sp>
      <p:sp>
        <p:nvSpPr>
          <p:cNvPr id="47" name="Text 4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23</a:t>
            </a:r>
            <a:endParaRPr lang="en-US" sz="1000" dirty="0"/>
          </a:p>
        </p:txBody>
      </p:sp>
      <p:sp>
        <p:nvSpPr>
          <p:cNvPr id="48" name="Shape 45"/>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49" name="Text 46"/>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50" name="Shape 4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عَصِيرٌ</a:t>
            </a:r>
            <a:endParaRPr lang="ar-SA" sz="3000" dirty="0"/>
          </a:p>
        </p:txBody>
      </p:sp>
      <p:sp>
        <p:nvSpPr>
          <p:cNvPr id="53" name="Text 5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juice</a:t>
            </a:r>
            <a:endParaRPr lang="en-US" sz="1350" dirty="0"/>
          </a:p>
          <a:p>
            <a:pPr indent="0" marL="0">
              <a:buNone/>
            </a:pPr>
            <a:r>
              <a:rPr lang="en-US" sz="1100" i="1" dirty="0">
                <a:solidFill>
                  <a:srgbClr val="5A6472"/>
                </a:solidFill>
                <a:latin typeface="Calibri" pitchFamily="34" charset="0"/>
                <a:cs typeface="Amiri" pitchFamily="2" charset="-78"/>
              </a:rPr>
              <a:t>ʿa-ṣī-run</a:t>
            </a:r>
            <a:endParaRPr lang="en-US" sz="1350" dirty="0"/>
          </a:p>
        </p:txBody>
      </p:sp>
      <p:sp>
        <p:nvSpPr>
          <p:cNvPr id="54" name="Shape 51"/>
          <p:cNvSpPr/>
          <p:nvPr/>
        </p:nvSpPr>
        <p:spPr>
          <a:xfrm>
            <a:off x="2322576" y="3438144"/>
            <a:ext cx="1636776" cy="438912"/>
          </a:xfrm>
          <a:prstGeom prst="roundRect">
            <a:avLst>
              <a:gd name="adj" fmla="val 10417"/>
            </a:avLst>
          </a:prstGeom>
          <a:solidFill>
            <a:srgbClr val="F4F1EA"/>
          </a:solidFill>
          <a:ln w="9525">
            <a:solidFill>
              <a:srgbClr val="F4F1EA"/>
            </a:solidFill>
            <a:prstDash val="solid"/>
          </a:ln>
        </p:spPr>
      </p:sp>
      <p:sp>
        <p:nvSpPr>
          <p:cNvPr id="55" name="Text 52"/>
          <p:cNvSpPr txBox="1"/>
          <p:nvPr/>
        </p:nvSpPr>
        <p:spPr>
          <a:xfrm>
            <a:off x="2377440"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56" name="Text 53"/>
          <p:cNvSpPr txBox="1"/>
          <p:nvPr/>
        </p:nvSpPr>
        <p:spPr>
          <a:xfrm>
            <a:off x="2368296"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عَصَائِرُ</a:t>
            </a:r>
            <a:endParaRPr lang="ar-SA" sz="1500" dirty="0"/>
          </a:p>
        </p:txBody>
      </p:sp>
      <p:sp>
        <p:nvSpPr>
          <p:cNvPr id="57" name="Shape 54"/>
          <p:cNvSpPr/>
          <p:nvPr/>
        </p:nvSpPr>
        <p:spPr>
          <a:xfrm>
            <a:off x="594360" y="3438144"/>
            <a:ext cx="1636776" cy="438912"/>
          </a:xfrm>
          <a:prstGeom prst="roundRect">
            <a:avLst>
              <a:gd name="adj" fmla="val 10417"/>
            </a:avLst>
          </a:prstGeom>
          <a:solidFill>
            <a:srgbClr val="F4F1EA"/>
          </a:solidFill>
          <a:ln w="9525">
            <a:solidFill>
              <a:srgbClr val="F4F1EA"/>
            </a:solidFill>
            <a:prstDash val="solid"/>
          </a:ln>
        </p:spPr>
      </p:sp>
      <p:sp>
        <p:nvSpPr>
          <p:cNvPr id="58" name="Text 55"/>
          <p:cNvSpPr txBox="1"/>
          <p:nvPr/>
        </p:nvSpPr>
        <p:spPr>
          <a:xfrm>
            <a:off x="649224"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59" name="Text 56"/>
          <p:cNvSpPr txBox="1"/>
          <p:nvPr/>
        </p:nvSpPr>
        <p:spPr>
          <a:xfrm>
            <a:off x="640080"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عَصِيرٌ</a:t>
            </a:r>
            <a:endParaRPr lang="ar-SA" sz="1500" dirty="0"/>
          </a:p>
        </p:txBody>
      </p:sp>
      <p:sp>
        <p:nvSpPr>
          <p:cNvPr id="60" name="Shape 57"/>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8211312" y="4261104"/>
            <a:ext cx="310896" cy="310896"/>
          </a:xfrm>
          <a:prstGeom prst="ellipse">
            <a:avLst/>
          </a:prstGeom>
          <a:solidFill>
            <a:srgbClr val="F4F1EA"/>
          </a:solidFill>
          <a:ln w="12700">
            <a:solidFill>
              <a:srgbClr val="F4F1EA"/>
            </a:solidFill>
            <a:prstDash val="solid"/>
          </a:ln>
        </p:spPr>
      </p:sp>
      <p:sp>
        <p:nvSpPr>
          <p:cNvPr id="62" name="Text 59"/>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24</a:t>
            </a:r>
            <a:endParaRPr lang="en-US" sz="1000" dirty="0"/>
          </a:p>
        </p:txBody>
      </p:sp>
      <p:sp>
        <p:nvSpPr>
          <p:cNvPr id="63" name="Shape 60"/>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4" name="Text 61"/>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65" name="Shape 62"/>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6" name="Text 63"/>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7" name="Text 64"/>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شَايٌ</a:t>
            </a:r>
            <a:endParaRPr lang="ar-SA" sz="3000" dirty="0"/>
          </a:p>
        </p:txBody>
      </p:sp>
      <p:sp>
        <p:nvSpPr>
          <p:cNvPr id="68" name="Text 65"/>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tea</a:t>
            </a:r>
            <a:endParaRPr lang="en-US" sz="1350" dirty="0"/>
          </a:p>
          <a:p>
            <a:pPr indent="0" marL="0">
              <a:buNone/>
            </a:pPr>
            <a:r>
              <a:rPr lang="en-US" sz="1100" i="1" dirty="0">
                <a:solidFill>
                  <a:srgbClr val="5A6472"/>
                </a:solidFill>
                <a:latin typeface="Calibri" pitchFamily="34" charset="0"/>
                <a:cs typeface="Amiri" pitchFamily="2" charset="-78"/>
              </a:rPr>
              <a:t>shā-yun</a:t>
            </a:r>
            <a:endParaRPr lang="en-US" sz="1350" dirty="0"/>
          </a:p>
        </p:txBody>
      </p:sp>
      <p:sp>
        <p:nvSpPr>
          <p:cNvPr id="69" name="Shape 66"/>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70" name="Text 67"/>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 (m.)</a:t>
            </a:r>
            <a:endParaRPr lang="en-US" sz="700" dirty="0"/>
          </a:p>
        </p:txBody>
      </p:sp>
      <p:sp>
        <p:nvSpPr>
          <p:cNvPr id="71" name="Text 68"/>
          <p:cNvSpPr txBox="1"/>
          <p:nvPr/>
        </p:nvSpPr>
        <p:spPr>
          <a:xfrm>
            <a:off x="10012680"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سَاخِنٌ</a:t>
            </a:r>
            <a:endParaRPr lang="ar-SA" sz="1350" dirty="0"/>
          </a:p>
        </p:txBody>
      </p:sp>
      <p:sp>
        <p:nvSpPr>
          <p:cNvPr id="72" name="Shape 69"/>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73" name="Text 70"/>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74" name="Text 71"/>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شَايٌ</a:t>
            </a:r>
            <a:endParaRPr lang="ar-SA" sz="1500" dirty="0"/>
          </a:p>
        </p:txBody>
      </p:sp>
      <p:sp>
        <p:nvSpPr>
          <p:cNvPr id="75" name="Shape 72"/>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389120" y="4261104"/>
            <a:ext cx="310896" cy="310896"/>
          </a:xfrm>
          <a:prstGeom prst="ellipse">
            <a:avLst/>
          </a:prstGeom>
          <a:solidFill>
            <a:srgbClr val="F4F1EA"/>
          </a:solidFill>
          <a:ln w="12700">
            <a:solidFill>
              <a:srgbClr val="F4F1EA"/>
            </a:solidFill>
            <a:prstDash val="solid"/>
          </a:ln>
        </p:spPr>
      </p:sp>
      <p:sp>
        <p:nvSpPr>
          <p:cNvPr id="77" name="Text 74"/>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25</a:t>
            </a:r>
            <a:endParaRPr lang="en-US" sz="1000" dirty="0"/>
          </a:p>
        </p:txBody>
      </p:sp>
      <p:sp>
        <p:nvSpPr>
          <p:cNvPr id="78" name="Shape 75"/>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9" name="Text 76"/>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a:t>
            </a:r>
            <a:endParaRPr lang="en-US" sz="800" dirty="0"/>
          </a:p>
        </p:txBody>
      </p:sp>
      <p:sp>
        <p:nvSpPr>
          <p:cNvPr id="80" name="Shape 77"/>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81" name="Text 78"/>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2" name="Text 79"/>
          <p:cNvSpPr txBox="1"/>
          <p:nvPr/>
        </p:nvSpPr>
        <p:spPr>
          <a:xfrm>
            <a:off x="4389120"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قَهْوَةٌ</a:t>
            </a:r>
            <a:endParaRPr lang="ar-SA" sz="3000" dirty="0"/>
          </a:p>
        </p:txBody>
      </p:sp>
      <p:sp>
        <p:nvSpPr>
          <p:cNvPr id="83" name="Text 80"/>
          <p:cNvSpPr txBox="1"/>
          <p:nvPr/>
        </p:nvSpPr>
        <p:spPr>
          <a:xfrm>
            <a:off x="4416552"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coffee</a:t>
            </a:r>
            <a:endParaRPr lang="en-US" sz="1350" dirty="0"/>
          </a:p>
          <a:p>
            <a:pPr indent="0" marL="0">
              <a:buNone/>
            </a:pPr>
            <a:r>
              <a:rPr lang="en-US" sz="1100" i="1" dirty="0">
                <a:solidFill>
                  <a:srgbClr val="5A6472"/>
                </a:solidFill>
                <a:latin typeface="Calibri" pitchFamily="34" charset="0"/>
                <a:cs typeface="Amiri" pitchFamily="2" charset="-78"/>
              </a:rPr>
              <a:t>qah-wa-tun</a:t>
            </a:r>
            <a:endParaRPr lang="en-US" sz="1350" dirty="0"/>
          </a:p>
        </p:txBody>
      </p:sp>
      <p:sp>
        <p:nvSpPr>
          <p:cNvPr id="84" name="Shape 81"/>
          <p:cNvSpPr/>
          <p:nvPr/>
        </p:nvSpPr>
        <p:spPr>
          <a:xfrm>
            <a:off x="6144768" y="5779008"/>
            <a:ext cx="1636776" cy="438912"/>
          </a:xfrm>
          <a:prstGeom prst="roundRect">
            <a:avLst>
              <a:gd name="adj" fmla="val 10417"/>
            </a:avLst>
          </a:prstGeom>
          <a:solidFill>
            <a:srgbClr val="F4F1EA"/>
          </a:solidFill>
          <a:ln w="9525">
            <a:solidFill>
              <a:srgbClr val="F4F1EA"/>
            </a:solidFill>
            <a:prstDash val="solid"/>
          </a:ln>
        </p:spPr>
      </p:sp>
      <p:sp>
        <p:nvSpPr>
          <p:cNvPr id="85" name="Text 82"/>
          <p:cNvSpPr txBox="1"/>
          <p:nvPr/>
        </p:nvSpPr>
        <p:spPr>
          <a:xfrm>
            <a:off x="6199632" y="5788152"/>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 (f.)</a:t>
            </a:r>
            <a:endParaRPr lang="en-US" sz="700" dirty="0"/>
          </a:p>
        </p:txBody>
      </p:sp>
      <p:sp>
        <p:nvSpPr>
          <p:cNvPr id="86" name="Text 83"/>
          <p:cNvSpPr txBox="1"/>
          <p:nvPr/>
        </p:nvSpPr>
        <p:spPr>
          <a:xfrm>
            <a:off x="6190488" y="5916168"/>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مُرَّةٌ</a:t>
            </a:r>
            <a:endParaRPr lang="ar-SA" sz="1350" dirty="0"/>
          </a:p>
        </p:txBody>
      </p:sp>
      <p:sp>
        <p:nvSpPr>
          <p:cNvPr id="87" name="Shape 84"/>
          <p:cNvSpPr/>
          <p:nvPr/>
        </p:nvSpPr>
        <p:spPr>
          <a:xfrm>
            <a:off x="4416552" y="5779008"/>
            <a:ext cx="1636776"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4471416"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89" name="Text 86"/>
          <p:cNvSpPr txBox="1"/>
          <p:nvPr/>
        </p:nvSpPr>
        <p:spPr>
          <a:xfrm>
            <a:off x="4462272"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قَهْوَةٌ</a:t>
            </a:r>
            <a:endParaRPr lang="ar-SA" sz="1500" dirty="0"/>
          </a:p>
        </p:txBody>
      </p:sp>
      <p:sp>
        <p:nvSpPr>
          <p:cNvPr id="90" name="Text 8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47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3</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Drinks and extras (2 of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26</a:t>
            </a:r>
            <a:endParaRPr lang="en-US" sz="1000" dirty="0"/>
          </a:p>
        </p:txBody>
      </p:sp>
      <p:sp>
        <p:nvSpPr>
          <p:cNvPr id="18" name="Text 15"/>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عَصِيرُ اللَّيْمُونِ</a:t>
            </a:r>
            <a:endParaRPr lang="ar-SA" sz="3000" dirty="0"/>
          </a:p>
        </p:txBody>
      </p:sp>
      <p:sp>
        <p:nvSpPr>
          <p:cNvPr id="19" name="Text 16"/>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lemon juice</a:t>
            </a:r>
            <a:endParaRPr lang="en-US" sz="1350" dirty="0"/>
          </a:p>
          <a:p>
            <a:pPr indent="0" marL="0">
              <a:buNone/>
            </a:pPr>
            <a:r>
              <a:rPr lang="en-US" sz="1100" i="1" dirty="0">
                <a:solidFill>
                  <a:srgbClr val="5A6472"/>
                </a:solidFill>
                <a:latin typeface="Calibri" pitchFamily="34" charset="0"/>
                <a:cs typeface="Amiri" pitchFamily="2" charset="-78"/>
              </a:rPr>
              <a:t>ʿa-ṣī-ru all-lay-mū-ni</a:t>
            </a:r>
            <a:endParaRPr lang="en-US" sz="1350" dirty="0"/>
          </a:p>
        </p:txBody>
      </p:sp>
      <p:sp>
        <p:nvSpPr>
          <p:cNvPr id="20" name="Shape 17"/>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4389120" y="1920240"/>
            <a:ext cx="310896" cy="310896"/>
          </a:xfrm>
          <a:prstGeom prst="ellipse">
            <a:avLst/>
          </a:prstGeom>
          <a:solidFill>
            <a:srgbClr val="F4F1EA"/>
          </a:solidFill>
          <a:ln w="12700">
            <a:solidFill>
              <a:srgbClr val="F4F1EA"/>
            </a:solidFill>
            <a:prstDash val="solid"/>
          </a:ln>
        </p:spPr>
      </p:sp>
      <p:sp>
        <p:nvSpPr>
          <p:cNvPr id="22" name="Text 19"/>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27</a:t>
            </a:r>
            <a:endParaRPr lang="en-US" sz="1000" dirty="0"/>
          </a:p>
        </p:txBody>
      </p:sp>
      <p:sp>
        <p:nvSpPr>
          <p:cNvPr id="23" name="Shape 20"/>
          <p:cNvSpPr/>
          <p:nvPr/>
        </p:nvSpPr>
        <p:spPr>
          <a:xfrm>
            <a:off x="4782312" y="1938528"/>
            <a:ext cx="704088" cy="256032"/>
          </a:xfrm>
          <a:prstGeom prst="roundRect">
            <a:avLst>
              <a:gd name="adj" fmla="val 50000"/>
            </a:avLst>
          </a:prstGeom>
          <a:solidFill>
            <a:srgbClr val="EFE7D2"/>
          </a:solidFill>
          <a:ln w="12700">
            <a:solidFill>
              <a:srgbClr val="EFE7D2"/>
            </a:solidFill>
            <a:prstDash val="solid"/>
          </a:ln>
        </p:spPr>
      </p:sp>
      <p:sp>
        <p:nvSpPr>
          <p:cNvPr id="24" name="Text 21"/>
          <p:cNvSpPr txBox="1"/>
          <p:nvPr/>
        </p:nvSpPr>
        <p:spPr>
          <a:xfrm>
            <a:off x="4782312"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a:t>
            </a:r>
            <a:endParaRPr lang="en-US" sz="800" dirty="0"/>
          </a:p>
        </p:txBody>
      </p:sp>
      <p:sp>
        <p:nvSpPr>
          <p:cNvPr id="25" name="Text 22"/>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حَسَاءٌ</a:t>
            </a:r>
            <a:endParaRPr lang="ar-SA" sz="3000" dirty="0"/>
          </a:p>
        </p:txBody>
      </p:sp>
      <p:sp>
        <p:nvSpPr>
          <p:cNvPr id="26" name="Text 23"/>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soup</a:t>
            </a:r>
            <a:endParaRPr lang="en-US" sz="1350" dirty="0"/>
          </a:p>
          <a:p>
            <a:pPr indent="0" marL="0">
              <a:buNone/>
            </a:pPr>
            <a:r>
              <a:rPr lang="en-US" sz="1100" i="1" dirty="0">
                <a:solidFill>
                  <a:srgbClr val="5A6472"/>
                </a:solidFill>
                <a:latin typeface="Calibri" pitchFamily="34" charset="0"/>
                <a:cs typeface="Amiri" pitchFamily="2" charset="-78"/>
              </a:rPr>
              <a:t>ḥa-sā-ʾun</a:t>
            </a:r>
            <a:endParaRPr lang="en-US" sz="1350" dirty="0"/>
          </a:p>
        </p:txBody>
      </p:sp>
      <p:sp>
        <p:nvSpPr>
          <p:cNvPr id="27" name="Shape 24"/>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00" b="1" dirty="0">
                <a:solidFill>
                  <a:srgbClr val="8A6D1E"/>
                </a:solidFill>
                <a:latin typeface="Calibri" pitchFamily="34" charset="0"/>
                <a:cs typeface="Amiri" pitchFamily="2" charset="-78"/>
              </a:rPr>
              <a:t>adj. (m.)</a:t>
            </a:r>
            <a:endParaRPr lang="en-US" sz="700" dirty="0"/>
          </a:p>
        </p:txBody>
      </p:sp>
      <p:sp>
        <p:nvSpPr>
          <p:cNvPr id="29" name="Text 26"/>
          <p:cNvSpPr txBox="1"/>
          <p:nvPr/>
        </p:nvSpPr>
        <p:spPr>
          <a:xfrm>
            <a:off x="6190488" y="3575304"/>
            <a:ext cx="1545336" cy="292608"/>
          </a:xfrm>
          <a:prstGeom prst="rect">
            <a:avLst/>
          </a:prstGeom>
          <a:noFill/>
          <a:ln/>
        </p:spPr>
        <p:txBody>
          <a:bodyPr wrap="square" lIns="0" tIns="0" rIns="0" bIns="0" rtlCol="0" anchor="ctr"/>
          <a:lstStyle/>
          <a:p>
            <a:pPr rtl="1" algn="ctr" indent="0" marL="0">
              <a:buNone/>
            </a:pPr>
            <a:r>
              <a:rPr lang="ar-SA" altLang="en-US" sz="1350" b="1" dirty="0">
                <a:solidFill>
                  <a:srgbClr val="1B3B6F"/>
                </a:solidFill>
                <a:latin typeface="Amiri" pitchFamily="2" charset="-78"/>
                <a:ea typeface="Amiri" pitchFamily="2" charset="-78"/>
                <a:cs typeface="Amiri" pitchFamily="2" charset="-78"/>
              </a:rPr>
              <a:t>سَاخِنٌ</a:t>
            </a:r>
            <a:endParaRPr lang="ar-SA" sz="1350" dirty="0"/>
          </a:p>
        </p:txBody>
      </p:sp>
      <p:sp>
        <p:nvSpPr>
          <p:cNvPr id="30" name="Shape 27"/>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32" name="Text 29"/>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حَسَاءٌ</a:t>
            </a:r>
            <a:endParaRPr lang="ar-SA" sz="150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28</a:t>
            </a:r>
            <a:endParaRPr lang="en-US" sz="1000" dirty="0"/>
          </a:p>
        </p:txBody>
      </p:sp>
      <p:sp>
        <p:nvSpPr>
          <p:cNvPr id="36" name="Text 33"/>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زَبَادِي</a:t>
            </a:r>
            <a:endParaRPr lang="ar-SA" sz="3000" dirty="0"/>
          </a:p>
        </p:txBody>
      </p:sp>
      <p:sp>
        <p:nvSpPr>
          <p:cNvPr id="37" name="Text 34"/>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yoghurt</a:t>
            </a:r>
            <a:endParaRPr lang="en-US" sz="1350" dirty="0"/>
          </a:p>
          <a:p>
            <a:pPr indent="0" marL="0">
              <a:buNone/>
            </a:pPr>
            <a:r>
              <a:rPr lang="en-US" sz="1100" i="1" dirty="0">
                <a:solidFill>
                  <a:srgbClr val="5A6472"/>
                </a:solidFill>
                <a:latin typeface="Calibri" pitchFamily="34" charset="0"/>
                <a:cs typeface="Amiri" pitchFamily="2" charset="-78"/>
              </a:rPr>
              <a:t>za-bā-dī</a:t>
            </a:r>
            <a:endParaRPr lang="en-US" sz="1350" dirty="0"/>
          </a:p>
        </p:txBody>
      </p:sp>
      <p:sp>
        <p:nvSpPr>
          <p:cNvPr id="38" name="Shape 3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11312" y="4261104"/>
            <a:ext cx="310896" cy="310896"/>
          </a:xfrm>
          <a:prstGeom prst="ellipse">
            <a:avLst/>
          </a:prstGeom>
          <a:solidFill>
            <a:srgbClr val="F4F1EA"/>
          </a:solidFill>
          <a:ln w="12700">
            <a:solidFill>
              <a:srgbClr val="F4F1EA"/>
            </a:solidFill>
            <a:prstDash val="solid"/>
          </a:ln>
        </p:spPr>
      </p:sp>
      <p:sp>
        <p:nvSpPr>
          <p:cNvPr id="40" name="Text 3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29</a:t>
            </a:r>
            <a:endParaRPr lang="en-US" sz="10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شُوكُولَاتَةٌ</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chocolate</a:t>
            </a:r>
            <a:endParaRPr lang="en-US" sz="1350" dirty="0"/>
          </a:p>
          <a:p>
            <a:pPr indent="0" marL="0">
              <a:buNone/>
            </a:pPr>
            <a:r>
              <a:rPr lang="en-US" sz="1100" i="1" dirty="0">
                <a:solidFill>
                  <a:srgbClr val="5A6472"/>
                </a:solidFill>
                <a:latin typeface="Calibri" pitchFamily="34" charset="0"/>
                <a:cs typeface="Amiri" pitchFamily="2" charset="-78"/>
              </a:rPr>
              <a:t>shū-kū-lā-ta-tun</a:t>
            </a:r>
            <a:endParaRPr lang="en-US" sz="13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47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Ingredients, snacks and seafood (1 of 2)</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30</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زَيْتٌ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oil</a:t>
            </a:r>
            <a:endParaRPr lang="en-US" sz="1350" dirty="0"/>
          </a:p>
          <a:p>
            <a:pPr indent="0" marL="0">
              <a:buNone/>
            </a:pPr>
            <a:r>
              <a:rPr lang="en-US" sz="1100" i="1" dirty="0">
                <a:solidFill>
                  <a:srgbClr val="5A6472"/>
                </a:solidFill>
                <a:latin typeface="Calibri" pitchFamily="34" charset="0"/>
                <a:cs typeface="Amiri" pitchFamily="2" charset="-78"/>
              </a:rPr>
              <a:t>zay-tun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31</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مِلْحٌ</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salt</a:t>
            </a:r>
            <a:endParaRPr lang="en-US" sz="1350" dirty="0"/>
          </a:p>
          <a:p>
            <a:pPr indent="0" marL="0">
              <a:buNone/>
            </a:pPr>
            <a:r>
              <a:rPr lang="en-US" sz="1100" i="1" dirty="0">
                <a:solidFill>
                  <a:srgbClr val="5A6472"/>
                </a:solidFill>
                <a:latin typeface="Calibri" pitchFamily="34" charset="0"/>
                <a:cs typeface="Amiri" pitchFamily="2" charset="-78"/>
              </a:rPr>
              <a:t>mil-ḥun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32</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سُكَّرٌ</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sugar</a:t>
            </a:r>
            <a:endParaRPr lang="en-US" sz="1350" dirty="0"/>
          </a:p>
          <a:p>
            <a:pPr indent="0" marL="0">
              <a:buNone/>
            </a:pPr>
            <a:r>
              <a:rPr lang="en-US" sz="1100" i="1" dirty="0">
                <a:solidFill>
                  <a:srgbClr val="5A6472"/>
                </a:solidFill>
                <a:latin typeface="Calibri" pitchFamily="34" charset="0"/>
                <a:cs typeface="Amiri" pitchFamily="2" charset="-78"/>
              </a:rPr>
              <a:t>suk-ka-run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33</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بَصَلٌ</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onions</a:t>
            </a:r>
            <a:endParaRPr lang="en-US" sz="1350" dirty="0"/>
          </a:p>
          <a:p>
            <a:pPr indent="0" marL="0">
              <a:buNone/>
            </a:pPr>
            <a:r>
              <a:rPr lang="en-US" sz="1100" i="1" dirty="0">
                <a:solidFill>
                  <a:srgbClr val="5A6472"/>
                </a:solidFill>
                <a:latin typeface="Calibri" pitchFamily="34" charset="0"/>
                <a:cs typeface="Amiri" pitchFamily="2" charset="-78"/>
              </a:rPr>
              <a:t>ba-ṣa-lun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34</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خَسٌّ</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lettuce</a:t>
            </a:r>
            <a:endParaRPr lang="en-US" sz="1350" dirty="0"/>
          </a:p>
          <a:p>
            <a:pPr indent="0" marL="0">
              <a:buNone/>
            </a:pPr>
            <a:r>
              <a:rPr lang="en-US" sz="1100" i="1" dirty="0">
                <a:solidFill>
                  <a:srgbClr val="5A6472"/>
                </a:solidFill>
                <a:latin typeface="Calibri" pitchFamily="34" charset="0"/>
                <a:cs typeface="Amiri" pitchFamily="2" charset="-78"/>
              </a:rPr>
              <a:t>khas-sun</a:t>
            </a:r>
            <a:endParaRPr lang="en-US" sz="1350" dirty="0"/>
          </a:p>
        </p:txBody>
      </p:sp>
      <p:sp>
        <p:nvSpPr>
          <p:cNvPr id="42" name="Shape 39"/>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66928" y="4261104"/>
            <a:ext cx="310896" cy="310896"/>
          </a:xfrm>
          <a:prstGeom prst="ellipse">
            <a:avLst/>
          </a:prstGeom>
          <a:solidFill>
            <a:srgbClr val="F4F1EA"/>
          </a:solidFill>
          <a:ln w="12700">
            <a:solidFill>
              <a:srgbClr val="F4F1EA"/>
            </a:solidFill>
            <a:prstDash val="solid"/>
          </a:ln>
        </p:spPr>
      </p:sp>
      <p:sp>
        <p:nvSpPr>
          <p:cNvPr id="44" name="Text 41"/>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35</a:t>
            </a:r>
            <a:endParaRPr lang="en-US" sz="1000" dirty="0"/>
          </a:p>
        </p:txBody>
      </p:sp>
      <p:sp>
        <p:nvSpPr>
          <p:cNvPr id="45" name="Text 4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فَاكِهَةٌ / فَوَاكِهُ</a:t>
            </a:r>
            <a:endParaRPr lang="ar-SA" sz="3000" dirty="0"/>
          </a:p>
        </p:txBody>
      </p:sp>
      <p:sp>
        <p:nvSpPr>
          <p:cNvPr id="46" name="Text 4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fruit / fruits</a:t>
            </a:r>
            <a:endParaRPr lang="en-US" sz="1350" dirty="0"/>
          </a:p>
          <a:p>
            <a:pPr indent="0" marL="0">
              <a:buNone/>
            </a:pPr>
            <a:r>
              <a:rPr lang="en-US" sz="1100" i="1" dirty="0">
                <a:solidFill>
                  <a:srgbClr val="5A6472"/>
                </a:solidFill>
                <a:latin typeface="Calibri" pitchFamily="34" charset="0"/>
                <a:cs typeface="Amiri" pitchFamily="2" charset="-78"/>
              </a:rPr>
              <a:t>fā-ki-ha-tun / fa-wā-ki-hu</a:t>
            </a:r>
            <a:endParaRPr lang="en-US" sz="1350" dirty="0"/>
          </a:p>
        </p:txBody>
      </p:sp>
      <p:sp>
        <p:nvSpPr>
          <p:cNvPr id="47"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47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4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Ingredients, snacks and seafood (2 of 2)</a:t>
            </a:r>
            <a:endParaRPr lang="en-US" sz="23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7" name="Shape 14"/>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8211312" y="1920240"/>
            <a:ext cx="310896" cy="310896"/>
          </a:xfrm>
          <a:prstGeom prst="ellipse">
            <a:avLst/>
          </a:prstGeom>
          <a:solidFill>
            <a:srgbClr val="F4F1EA"/>
          </a:solidFill>
          <a:ln w="12700">
            <a:solidFill>
              <a:srgbClr val="F4F1EA"/>
            </a:solidFill>
            <a:prstDash val="solid"/>
          </a:ln>
        </p:spPr>
      </p:sp>
      <p:sp>
        <p:nvSpPr>
          <p:cNvPr id="19" name="Text 16"/>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36</a:t>
            </a:r>
            <a:endParaRPr lang="en-US" sz="10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خَضْرَوَاتٌ</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vegetables</a:t>
            </a:r>
            <a:endParaRPr lang="en-US" sz="1350" dirty="0"/>
          </a:p>
          <a:p>
            <a:pPr indent="0" marL="0">
              <a:buNone/>
            </a:pPr>
            <a:r>
              <a:rPr lang="en-US" sz="1100" i="1" dirty="0">
                <a:solidFill>
                  <a:srgbClr val="5A6472"/>
                </a:solidFill>
                <a:latin typeface="Calibri" pitchFamily="34" charset="0"/>
                <a:cs typeface="Amiri" pitchFamily="2" charset="-78"/>
              </a:rPr>
              <a:t>khaḍ-ra-wā-tun</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37</a:t>
            </a:r>
            <a:endParaRPr lang="en-US" sz="1000" dirty="0"/>
          </a:p>
        </p:txBody>
      </p:sp>
      <p:sp>
        <p:nvSpPr>
          <p:cNvPr id="25" name="Text 22"/>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رُوبِيَانٌ</a:t>
            </a:r>
            <a:endParaRPr lang="ar-SA" sz="3000" dirty="0"/>
          </a:p>
        </p:txBody>
      </p:sp>
      <p:sp>
        <p:nvSpPr>
          <p:cNvPr id="26" name="Text 23"/>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prawns / shrimp</a:t>
            </a:r>
            <a:endParaRPr lang="en-US" sz="1350" dirty="0"/>
          </a:p>
          <a:p>
            <a:pPr indent="0" marL="0">
              <a:buNone/>
            </a:pPr>
            <a:r>
              <a:rPr lang="en-US" sz="1100" i="1" dirty="0">
                <a:solidFill>
                  <a:srgbClr val="5A6472"/>
                </a:solidFill>
                <a:latin typeface="Calibri" pitchFamily="34" charset="0"/>
                <a:cs typeface="Amiri" pitchFamily="2" charset="-78"/>
              </a:rPr>
              <a:t>rū-bi-yā-nun</a:t>
            </a:r>
            <a:endParaRPr lang="en-US" sz="1350" dirty="0"/>
          </a:p>
        </p:txBody>
      </p:sp>
      <p:sp>
        <p:nvSpPr>
          <p:cNvPr id="27" name="Shape 24"/>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566928" y="1920240"/>
            <a:ext cx="310896" cy="310896"/>
          </a:xfrm>
          <a:prstGeom prst="ellipse">
            <a:avLst/>
          </a:prstGeom>
          <a:solidFill>
            <a:srgbClr val="F4F1EA"/>
          </a:solidFill>
          <a:ln w="12700">
            <a:solidFill>
              <a:srgbClr val="F4F1EA"/>
            </a:solidFill>
            <a:prstDash val="solid"/>
          </a:ln>
        </p:spPr>
      </p:sp>
      <p:sp>
        <p:nvSpPr>
          <p:cNvPr id="29" name="Text 26"/>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38</a:t>
            </a:r>
            <a:endParaRPr lang="en-US" sz="1000" dirty="0"/>
          </a:p>
        </p:txBody>
      </p:sp>
      <p:sp>
        <p:nvSpPr>
          <p:cNvPr id="30" name="Text 27"/>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مَأْكُولَاتٌ بَحْرِيَّةٌ</a:t>
            </a:r>
            <a:endParaRPr lang="ar-SA" sz="3000" dirty="0"/>
          </a:p>
        </p:txBody>
      </p:sp>
      <p:sp>
        <p:nvSpPr>
          <p:cNvPr id="31" name="Text 28"/>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seafood</a:t>
            </a:r>
            <a:endParaRPr lang="en-US" sz="1350" dirty="0"/>
          </a:p>
          <a:p>
            <a:pPr indent="0" marL="0">
              <a:buNone/>
            </a:pPr>
            <a:r>
              <a:rPr lang="en-US" sz="1100" i="1" dirty="0">
                <a:solidFill>
                  <a:srgbClr val="5A6472"/>
                </a:solidFill>
                <a:latin typeface="Calibri" pitchFamily="34" charset="0"/>
                <a:cs typeface="Amiri" pitchFamily="2" charset="-78"/>
              </a:rPr>
              <a:t>maʾ-kū-lā-tun baḥ-riy-ya-tun</a:t>
            </a:r>
            <a:endParaRPr lang="en-US" sz="1350" dirty="0"/>
          </a:p>
        </p:txBody>
      </p:sp>
      <p:sp>
        <p:nvSpPr>
          <p:cNvPr id="32" name="Shape 29"/>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8211312" y="4261104"/>
            <a:ext cx="310896" cy="310896"/>
          </a:xfrm>
          <a:prstGeom prst="ellipse">
            <a:avLst/>
          </a:prstGeom>
          <a:solidFill>
            <a:srgbClr val="F4F1EA"/>
          </a:solidFill>
          <a:ln w="12700">
            <a:solidFill>
              <a:srgbClr val="F4F1EA"/>
            </a:solidFill>
            <a:prstDash val="solid"/>
          </a:ln>
        </p:spPr>
      </p:sp>
      <p:sp>
        <p:nvSpPr>
          <p:cNvPr id="34" name="Text 31"/>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39</a:t>
            </a:r>
            <a:endParaRPr lang="en-US" sz="1000" dirty="0"/>
          </a:p>
        </p:txBody>
      </p:sp>
      <p:sp>
        <p:nvSpPr>
          <p:cNvPr id="35" name="Text 3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مُكَسَّرَاتٌ</a:t>
            </a:r>
            <a:endParaRPr lang="ar-SA" sz="3000" dirty="0"/>
          </a:p>
        </p:txBody>
      </p:sp>
      <p:sp>
        <p:nvSpPr>
          <p:cNvPr id="36" name="Text 3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nuts</a:t>
            </a:r>
            <a:endParaRPr lang="en-US" sz="1350" dirty="0"/>
          </a:p>
          <a:p>
            <a:pPr indent="0" marL="0">
              <a:buNone/>
            </a:pPr>
            <a:r>
              <a:rPr lang="en-US" sz="1100" i="1" dirty="0">
                <a:solidFill>
                  <a:srgbClr val="5A6472"/>
                </a:solidFill>
                <a:latin typeface="Calibri" pitchFamily="34" charset="0"/>
                <a:cs typeface="Amiri" pitchFamily="2" charset="-78"/>
              </a:rPr>
              <a:t>mu-kas-sa-rā-tun</a:t>
            </a:r>
            <a:endParaRPr lang="en-US" sz="1350" dirty="0"/>
          </a:p>
        </p:txBody>
      </p:sp>
      <p:sp>
        <p:nvSpPr>
          <p:cNvPr id="37" name="Shape 34"/>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4389120" y="4261104"/>
            <a:ext cx="310896" cy="310896"/>
          </a:xfrm>
          <a:prstGeom prst="ellipse">
            <a:avLst/>
          </a:prstGeom>
          <a:solidFill>
            <a:srgbClr val="F4F1EA"/>
          </a:solidFill>
          <a:ln w="12700">
            <a:solidFill>
              <a:srgbClr val="F4F1EA"/>
            </a:solidFill>
            <a:prstDash val="solid"/>
          </a:ln>
        </p:spPr>
      </p:sp>
      <p:sp>
        <p:nvSpPr>
          <p:cNvPr id="39" name="Text 36"/>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40</a:t>
            </a:r>
            <a:endParaRPr lang="en-US" sz="1000" dirty="0"/>
          </a:p>
        </p:txBody>
      </p:sp>
      <p:sp>
        <p:nvSpPr>
          <p:cNvPr id="40" name="Text 37"/>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بِسْكُوِيتٌ</a:t>
            </a:r>
            <a:endParaRPr lang="ar-SA" sz="3000" dirty="0"/>
          </a:p>
        </p:txBody>
      </p:sp>
      <p:sp>
        <p:nvSpPr>
          <p:cNvPr id="41" name="Text 38"/>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biscuits</a:t>
            </a:r>
            <a:endParaRPr lang="en-US" sz="1350" dirty="0"/>
          </a:p>
          <a:p>
            <a:pPr indent="0" marL="0">
              <a:buNone/>
            </a:pPr>
            <a:r>
              <a:rPr lang="en-US" sz="1100" i="1" dirty="0">
                <a:solidFill>
                  <a:srgbClr val="5A6472"/>
                </a:solidFill>
                <a:latin typeface="Calibri" pitchFamily="34" charset="0"/>
                <a:cs typeface="Amiri" pitchFamily="2" charset="-78"/>
              </a:rPr>
              <a:t>bis-ku-wī-tun</a:t>
            </a:r>
            <a:endParaRPr lang="en-US" sz="135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47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PART 1 · LIKE, EAT, DRINK (WEBSITE RULES)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 like … He likes … She likes …</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أُحِبُّ · يُحِبُّ · تُحِبُّ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518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 · </a:t>
            </a:r>
            <a:pPr algn="ctr" indent="0" marL="0">
              <a:buNone/>
            </a:pPr>
            <a:r>
              <a:rPr lang="ar-SA" altLang="en-US" sz="1450" b="1" dirty="0">
                <a:solidFill>
                  <a:srgbClr val="FFFFFF"/>
                </a:solidFill>
                <a:latin typeface="Amiri" pitchFamily="2" charset="-78"/>
                <a:ea typeface="Amiri" pitchFamily="2" charset="-78"/>
                <a:cs typeface="Amiri" pitchFamily="2" charset="-78"/>
              </a:rPr>
              <a:t>أَنَا</a:t>
            </a:r>
            <a:endParaRPr lang="en-US" sz="1100" dirty="0"/>
          </a:p>
        </p:txBody>
      </p:sp>
      <p:sp>
        <p:nvSpPr>
          <p:cNvPr id="17" name="Text 14"/>
          <p:cNvSpPr txBox="1"/>
          <p:nvPr/>
        </p:nvSpPr>
        <p:spPr>
          <a:xfrm>
            <a:off x="7232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He · </a:t>
            </a:r>
            <a:pPr algn="ctr" indent="0" marL="0">
              <a:buNone/>
            </a:pPr>
            <a:r>
              <a:rPr lang="ar-SA" altLang="en-US" sz="1450" b="1" dirty="0">
                <a:solidFill>
                  <a:srgbClr val="FFFFFF"/>
                </a:solidFill>
                <a:latin typeface="Amiri" pitchFamily="2" charset="-78"/>
                <a:ea typeface="Amiri" pitchFamily="2" charset="-78"/>
                <a:cs typeface="Amiri" pitchFamily="2" charset="-78"/>
              </a:rPr>
              <a:t>هُوَ</a:t>
            </a:r>
            <a:endParaRPr lang="en-US" sz="1100" dirty="0"/>
          </a:p>
        </p:txBody>
      </p:sp>
      <p:sp>
        <p:nvSpPr>
          <p:cNvPr id="18" name="Text 15"/>
          <p:cNvSpPr txBox="1"/>
          <p:nvPr/>
        </p:nvSpPr>
        <p:spPr>
          <a:xfrm>
            <a:off x="4946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She · </a:t>
            </a:r>
            <a:pPr algn="ctr" indent="0" marL="0">
              <a:buNone/>
            </a:pPr>
            <a:r>
              <a:rPr lang="ar-SA" altLang="en-US" sz="1450" b="1" dirty="0">
                <a:solidFill>
                  <a:srgbClr val="FFFFFF"/>
                </a:solidFill>
                <a:latin typeface="Amiri" pitchFamily="2" charset="-78"/>
                <a:ea typeface="Amiri" pitchFamily="2" charset="-78"/>
                <a:cs typeface="Amiri" pitchFamily="2" charset="-78"/>
              </a:rPr>
              <a:t>هِيَ</a:t>
            </a:r>
            <a:endParaRPr lang="en-US" sz="1100" dirty="0"/>
          </a:p>
        </p:txBody>
      </p:sp>
      <p:sp>
        <p:nvSpPr>
          <p:cNvPr id="19" name="Text 16"/>
          <p:cNvSpPr txBox="1"/>
          <p:nvPr/>
        </p:nvSpPr>
        <p:spPr>
          <a:xfrm>
            <a:off x="2660904" y="1810512"/>
            <a:ext cx="2139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We · </a:t>
            </a:r>
            <a:pPr algn="ctr" indent="0" marL="0">
              <a:buNone/>
            </a:pPr>
            <a:r>
              <a:rPr lang="ar-SA" altLang="en-US" sz="1450" b="1" dirty="0">
                <a:solidFill>
                  <a:srgbClr val="FFFFFF"/>
                </a:solidFill>
                <a:latin typeface="Amiri" pitchFamily="2" charset="-78"/>
                <a:ea typeface="Amiri" pitchFamily="2" charset="-78"/>
                <a:cs typeface="Amiri" pitchFamily="2" charset="-78"/>
              </a:rPr>
              <a:t>نَحْنُ</a:t>
            </a:r>
            <a:endParaRPr lang="en-US" sz="1100" dirty="0"/>
          </a:p>
        </p:txBody>
      </p:sp>
      <p:sp>
        <p:nvSpPr>
          <p:cNvPr id="20" name="Text 17"/>
          <p:cNvSpPr txBox="1"/>
          <p:nvPr/>
        </p:nvSpPr>
        <p:spPr>
          <a:xfrm>
            <a:off x="530352" y="1810512"/>
            <a:ext cx="19842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21" name="Shape 18"/>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2" name="Text 19"/>
          <p:cNvSpPr txBox="1"/>
          <p:nvPr/>
        </p:nvSpPr>
        <p:spPr>
          <a:xfrm>
            <a:off x="9537192" y="2267712"/>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أُ</a:t>
            </a:r>
            <a:pPr rtl="1" algn="ctr" indent="0" marL="0">
              <a:buNone/>
            </a:pPr>
            <a:r>
              <a:rPr lang="ar-SA" altLang="en-US" sz="2400" b="1" dirty="0">
                <a:solidFill>
                  <a:srgbClr val="1B3B6F"/>
                </a:solidFill>
                <a:latin typeface="Amiri" pitchFamily="2" charset="-78"/>
                <a:ea typeface="Amiri" pitchFamily="2" charset="-78"/>
                <a:cs typeface="Amiri" pitchFamily="2" charset="-78"/>
              </a:rPr>
              <a:t>حِبُّ</a:t>
            </a:r>
            <a:endParaRPr lang="ar-SA" sz="2400" dirty="0"/>
          </a:p>
        </p:txBody>
      </p:sp>
      <p:sp>
        <p:nvSpPr>
          <p:cNvPr id="23" name="Text 20"/>
          <p:cNvSpPr txBox="1"/>
          <p:nvPr/>
        </p:nvSpPr>
        <p:spPr>
          <a:xfrm>
            <a:off x="7251192" y="2267712"/>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ea typeface="Amiri" pitchFamily="2" charset="-78"/>
                <a:cs typeface="Amiri" pitchFamily="2" charset="-78"/>
              </a:rPr>
              <a:t>حِبُّ</a:t>
            </a:r>
            <a:endParaRPr lang="ar-SA" sz="2400" dirty="0"/>
          </a:p>
        </p:txBody>
      </p:sp>
      <p:sp>
        <p:nvSpPr>
          <p:cNvPr id="24" name="Text 21"/>
          <p:cNvSpPr txBox="1"/>
          <p:nvPr/>
        </p:nvSpPr>
        <p:spPr>
          <a:xfrm>
            <a:off x="4965192" y="2267712"/>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تُ</a:t>
            </a:r>
            <a:pPr rtl="1" algn="ctr" indent="0" marL="0">
              <a:buNone/>
            </a:pPr>
            <a:r>
              <a:rPr lang="ar-SA" altLang="en-US" sz="2400" b="1" dirty="0">
                <a:solidFill>
                  <a:srgbClr val="1B3B6F"/>
                </a:solidFill>
                <a:latin typeface="Amiri" pitchFamily="2" charset="-78"/>
                <a:ea typeface="Amiri" pitchFamily="2" charset="-78"/>
                <a:cs typeface="Amiri" pitchFamily="2" charset="-78"/>
              </a:rPr>
              <a:t>حِبُّ</a:t>
            </a:r>
            <a:endParaRPr lang="ar-SA" sz="2400" dirty="0"/>
          </a:p>
        </p:txBody>
      </p:sp>
      <p:sp>
        <p:nvSpPr>
          <p:cNvPr id="25" name="Text 22"/>
          <p:cNvSpPr txBox="1"/>
          <p:nvPr/>
        </p:nvSpPr>
        <p:spPr>
          <a:xfrm>
            <a:off x="2679192" y="2267712"/>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نُ</a:t>
            </a:r>
            <a:pPr rtl="1" algn="ctr" indent="0" marL="0">
              <a:buNone/>
            </a:pPr>
            <a:r>
              <a:rPr lang="ar-SA" altLang="en-US" sz="2400" b="1" dirty="0">
                <a:solidFill>
                  <a:srgbClr val="1B3B6F"/>
                </a:solidFill>
                <a:latin typeface="Amiri" pitchFamily="2" charset="-78"/>
                <a:ea typeface="Amiri" pitchFamily="2" charset="-78"/>
                <a:cs typeface="Amiri" pitchFamily="2" charset="-78"/>
              </a:rPr>
              <a:t>حِبُّ</a:t>
            </a:r>
            <a:endParaRPr lang="ar-SA" sz="2400" dirty="0"/>
          </a:p>
        </p:txBody>
      </p:sp>
      <p:sp>
        <p:nvSpPr>
          <p:cNvPr id="26" name="Text 23"/>
          <p:cNvSpPr txBox="1"/>
          <p:nvPr/>
        </p:nvSpPr>
        <p:spPr>
          <a:xfrm>
            <a:off x="566928" y="2267712"/>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like</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30" name="Text 27"/>
          <p:cNvSpPr txBox="1"/>
          <p:nvPr/>
        </p:nvSpPr>
        <p:spPr>
          <a:xfrm>
            <a:off x="9537192" y="3054096"/>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آ</a:t>
            </a:r>
            <a:pPr rtl="1" algn="ctr" indent="0" marL="0">
              <a:buNone/>
            </a:pPr>
            <a:r>
              <a:rPr lang="ar-SA" altLang="en-US" sz="2400" b="1" dirty="0">
                <a:solidFill>
                  <a:srgbClr val="1B3B6F"/>
                </a:solidFill>
                <a:latin typeface="Amiri" pitchFamily="2" charset="-78"/>
                <a:ea typeface="Amiri" pitchFamily="2" charset="-78"/>
                <a:cs typeface="Amiri" pitchFamily="2" charset="-78"/>
              </a:rPr>
              <a:t>كُلُ</a:t>
            </a:r>
            <a:endParaRPr lang="ar-SA" sz="2400" dirty="0"/>
          </a:p>
        </p:txBody>
      </p:sp>
      <p:sp>
        <p:nvSpPr>
          <p:cNvPr id="31" name="Text 28"/>
          <p:cNvSpPr txBox="1"/>
          <p:nvPr/>
        </p:nvSpPr>
        <p:spPr>
          <a:xfrm>
            <a:off x="7251192" y="3054096"/>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ea typeface="Amiri" pitchFamily="2" charset="-78"/>
                <a:cs typeface="Amiri" pitchFamily="2" charset="-78"/>
              </a:rPr>
              <a:t>أْكُلُ</a:t>
            </a:r>
            <a:endParaRPr lang="ar-SA" sz="2400" dirty="0"/>
          </a:p>
        </p:txBody>
      </p:sp>
      <p:sp>
        <p:nvSpPr>
          <p:cNvPr id="32" name="Text 29"/>
          <p:cNvSpPr txBox="1"/>
          <p:nvPr/>
        </p:nvSpPr>
        <p:spPr>
          <a:xfrm>
            <a:off x="4965192" y="3054096"/>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تَ</a:t>
            </a:r>
            <a:pPr rtl="1" algn="ctr" indent="0" marL="0">
              <a:buNone/>
            </a:pPr>
            <a:r>
              <a:rPr lang="ar-SA" altLang="en-US" sz="2400" b="1" dirty="0">
                <a:solidFill>
                  <a:srgbClr val="1B3B6F"/>
                </a:solidFill>
                <a:latin typeface="Amiri" pitchFamily="2" charset="-78"/>
                <a:ea typeface="Amiri" pitchFamily="2" charset="-78"/>
                <a:cs typeface="Amiri" pitchFamily="2" charset="-78"/>
              </a:rPr>
              <a:t>أْكُلُ</a:t>
            </a:r>
            <a:endParaRPr lang="ar-SA" sz="2400" dirty="0"/>
          </a:p>
        </p:txBody>
      </p:sp>
      <p:sp>
        <p:nvSpPr>
          <p:cNvPr id="33" name="Text 30"/>
          <p:cNvSpPr txBox="1"/>
          <p:nvPr/>
        </p:nvSpPr>
        <p:spPr>
          <a:xfrm>
            <a:off x="2679192" y="3054096"/>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نَ</a:t>
            </a:r>
            <a:pPr rtl="1" algn="ctr" indent="0" marL="0">
              <a:buNone/>
            </a:pPr>
            <a:r>
              <a:rPr lang="ar-SA" altLang="en-US" sz="2400" b="1" dirty="0">
                <a:solidFill>
                  <a:srgbClr val="1B3B6F"/>
                </a:solidFill>
                <a:latin typeface="Amiri" pitchFamily="2" charset="-78"/>
                <a:ea typeface="Amiri" pitchFamily="2" charset="-78"/>
                <a:cs typeface="Amiri" pitchFamily="2" charset="-78"/>
              </a:rPr>
              <a:t>أْكُلُ</a:t>
            </a:r>
            <a:endParaRPr lang="ar-SA" sz="2400" dirty="0"/>
          </a:p>
        </p:txBody>
      </p:sp>
      <p:sp>
        <p:nvSpPr>
          <p:cNvPr id="34" name="Text 31"/>
          <p:cNvSpPr txBox="1"/>
          <p:nvPr/>
        </p:nvSpPr>
        <p:spPr>
          <a:xfrm>
            <a:off x="566928" y="3054096"/>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eat</a:t>
            </a:r>
            <a:endParaRPr lang="en-US" sz="1100" dirty="0"/>
          </a:p>
        </p:txBody>
      </p:sp>
      <p:sp>
        <p:nvSpPr>
          <p:cNvPr id="35" name="Shape 32"/>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8" name="Text 35"/>
          <p:cNvSpPr txBox="1"/>
          <p:nvPr/>
        </p:nvSpPr>
        <p:spPr>
          <a:xfrm>
            <a:off x="9537192" y="3840480"/>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أَ</a:t>
            </a:r>
            <a:pPr rtl="1" algn="ctr" indent="0" marL="0">
              <a:buNone/>
            </a:pPr>
            <a:r>
              <a:rPr lang="ar-SA" altLang="en-US" sz="2400" b="1" dirty="0">
                <a:solidFill>
                  <a:srgbClr val="1B3B6F"/>
                </a:solidFill>
                <a:latin typeface="Amiri" pitchFamily="2" charset="-78"/>
                <a:ea typeface="Amiri" pitchFamily="2" charset="-78"/>
                <a:cs typeface="Amiri" pitchFamily="2" charset="-78"/>
              </a:rPr>
              <a:t>شْرَبُ</a:t>
            </a:r>
            <a:endParaRPr lang="ar-SA" sz="2400" dirty="0"/>
          </a:p>
        </p:txBody>
      </p:sp>
      <p:sp>
        <p:nvSpPr>
          <p:cNvPr id="39" name="Text 36"/>
          <p:cNvSpPr txBox="1"/>
          <p:nvPr/>
        </p:nvSpPr>
        <p:spPr>
          <a:xfrm>
            <a:off x="7251192" y="3840480"/>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يَ</a:t>
            </a:r>
            <a:pPr rtl="1" algn="ctr" indent="0" marL="0">
              <a:buNone/>
            </a:pPr>
            <a:r>
              <a:rPr lang="ar-SA" altLang="en-US" sz="2400" b="1" dirty="0">
                <a:solidFill>
                  <a:srgbClr val="1B3B6F"/>
                </a:solidFill>
                <a:latin typeface="Amiri" pitchFamily="2" charset="-78"/>
                <a:ea typeface="Amiri" pitchFamily="2" charset="-78"/>
                <a:cs typeface="Amiri" pitchFamily="2" charset="-78"/>
              </a:rPr>
              <a:t>شْرَبُ</a:t>
            </a:r>
            <a:endParaRPr lang="ar-SA" sz="2400" dirty="0"/>
          </a:p>
        </p:txBody>
      </p:sp>
      <p:sp>
        <p:nvSpPr>
          <p:cNvPr id="40" name="Text 37"/>
          <p:cNvSpPr txBox="1"/>
          <p:nvPr/>
        </p:nvSpPr>
        <p:spPr>
          <a:xfrm>
            <a:off x="4965192" y="3840480"/>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D6336C"/>
                </a:solidFill>
                <a:latin typeface="Amiri" pitchFamily="2" charset="-78"/>
                <a:ea typeface="Amiri" pitchFamily="2" charset="-78"/>
                <a:cs typeface="Amiri" pitchFamily="2" charset="-78"/>
              </a:rPr>
              <a:t>تَ</a:t>
            </a:r>
            <a:pPr rtl="1" algn="ctr" indent="0" marL="0">
              <a:buNone/>
            </a:pPr>
            <a:r>
              <a:rPr lang="ar-SA" altLang="en-US" sz="2400" b="1" dirty="0">
                <a:solidFill>
                  <a:srgbClr val="1B3B6F"/>
                </a:solidFill>
                <a:latin typeface="Amiri" pitchFamily="2" charset="-78"/>
                <a:ea typeface="Amiri" pitchFamily="2" charset="-78"/>
                <a:cs typeface="Amiri" pitchFamily="2" charset="-78"/>
              </a:rPr>
              <a:t>شْرَبُ</a:t>
            </a:r>
            <a:endParaRPr lang="ar-SA" sz="2400" dirty="0"/>
          </a:p>
        </p:txBody>
      </p:sp>
      <p:sp>
        <p:nvSpPr>
          <p:cNvPr id="41" name="Text 38"/>
          <p:cNvSpPr txBox="1"/>
          <p:nvPr/>
        </p:nvSpPr>
        <p:spPr>
          <a:xfrm>
            <a:off x="2679192" y="3840480"/>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1D5FBF"/>
                </a:solidFill>
                <a:latin typeface="Amiri" pitchFamily="2" charset="-78"/>
                <a:ea typeface="Amiri" pitchFamily="2" charset="-78"/>
                <a:cs typeface="Amiri" pitchFamily="2" charset="-78"/>
              </a:rPr>
              <a:t>نَ</a:t>
            </a:r>
            <a:pPr rtl="1" algn="ctr" indent="0" marL="0">
              <a:buNone/>
            </a:pPr>
            <a:r>
              <a:rPr lang="ar-SA" altLang="en-US" sz="2400" b="1" dirty="0">
                <a:solidFill>
                  <a:srgbClr val="1B3B6F"/>
                </a:solidFill>
                <a:latin typeface="Amiri" pitchFamily="2" charset="-78"/>
                <a:ea typeface="Amiri" pitchFamily="2" charset="-78"/>
                <a:cs typeface="Amiri" pitchFamily="2" charset="-78"/>
              </a:rPr>
              <a:t>شْرَبُ</a:t>
            </a:r>
            <a:endParaRPr lang="ar-SA" sz="2400" dirty="0"/>
          </a:p>
        </p:txBody>
      </p:sp>
      <p:sp>
        <p:nvSpPr>
          <p:cNvPr id="42" name="Text 39"/>
          <p:cNvSpPr txBox="1"/>
          <p:nvPr/>
        </p:nvSpPr>
        <p:spPr>
          <a:xfrm>
            <a:off x="566928" y="3840480"/>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drink</a:t>
            </a:r>
            <a:endParaRPr lang="en-US" sz="1100" dirty="0"/>
          </a:p>
        </p:txBody>
      </p:sp>
      <p:sp>
        <p:nvSpPr>
          <p:cNvPr id="43" name="Shape 40"/>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6" name="Text 43"/>
          <p:cNvSpPr txBox="1"/>
          <p:nvPr/>
        </p:nvSpPr>
        <p:spPr>
          <a:xfrm>
            <a:off x="9537192" y="4626864"/>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لَا</a:t>
            </a:r>
            <a:pPr rtl="1" algn="ctr" indent="0" marL="0">
              <a:buNone/>
            </a:pPr>
            <a:r>
              <a:rPr lang="ar-SA" altLang="en-US" sz="2400" b="1" dirty="0">
                <a:solidFill>
                  <a:srgbClr val="1B3B6F"/>
                </a:solidFill>
                <a:latin typeface="Amiri" pitchFamily="2" charset="-78"/>
                <a:ea typeface="Amiri" pitchFamily="2" charset="-78"/>
                <a:cs typeface="Amiri" pitchFamily="2" charset="-78"/>
              </a:rPr>
              <a:t> أُحِبُّ</a:t>
            </a:r>
            <a:endParaRPr lang="ar-SA" sz="2400" dirty="0"/>
          </a:p>
        </p:txBody>
      </p:sp>
      <p:sp>
        <p:nvSpPr>
          <p:cNvPr id="47" name="Text 44"/>
          <p:cNvSpPr txBox="1"/>
          <p:nvPr/>
        </p:nvSpPr>
        <p:spPr>
          <a:xfrm>
            <a:off x="7251192" y="4626864"/>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لَا</a:t>
            </a:r>
            <a:pPr rtl="1" algn="ctr" indent="0" marL="0">
              <a:buNone/>
            </a:pPr>
            <a:r>
              <a:rPr lang="ar-SA" altLang="en-US" sz="2400" b="1" dirty="0">
                <a:solidFill>
                  <a:srgbClr val="1B3B6F"/>
                </a:solidFill>
                <a:latin typeface="Amiri" pitchFamily="2" charset="-78"/>
                <a:ea typeface="Amiri" pitchFamily="2" charset="-78"/>
                <a:cs typeface="Amiri" pitchFamily="2" charset="-78"/>
              </a:rPr>
              <a:t> يُحِبُّ</a:t>
            </a:r>
            <a:endParaRPr lang="ar-SA" sz="2400" dirty="0"/>
          </a:p>
        </p:txBody>
      </p:sp>
      <p:sp>
        <p:nvSpPr>
          <p:cNvPr id="48" name="Text 45"/>
          <p:cNvSpPr txBox="1"/>
          <p:nvPr/>
        </p:nvSpPr>
        <p:spPr>
          <a:xfrm>
            <a:off x="4965192" y="4626864"/>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لَا</a:t>
            </a:r>
            <a:pPr rtl="1" algn="ctr" indent="0" marL="0">
              <a:buNone/>
            </a:pPr>
            <a:r>
              <a:rPr lang="ar-SA" altLang="en-US" sz="2400" b="1" dirty="0">
                <a:solidFill>
                  <a:srgbClr val="1B3B6F"/>
                </a:solidFill>
                <a:latin typeface="Amiri" pitchFamily="2" charset="-78"/>
                <a:ea typeface="Amiri" pitchFamily="2" charset="-78"/>
                <a:cs typeface="Amiri" pitchFamily="2" charset="-78"/>
              </a:rPr>
              <a:t> تُحِبُّ</a:t>
            </a:r>
            <a:endParaRPr lang="ar-SA" sz="2400" dirty="0"/>
          </a:p>
        </p:txBody>
      </p:sp>
      <p:sp>
        <p:nvSpPr>
          <p:cNvPr id="49" name="Text 46"/>
          <p:cNvSpPr txBox="1"/>
          <p:nvPr/>
        </p:nvSpPr>
        <p:spPr>
          <a:xfrm>
            <a:off x="2679192" y="4626864"/>
            <a:ext cx="2103120" cy="731520"/>
          </a:xfrm>
          <a:prstGeom prst="rect">
            <a:avLst/>
          </a:prstGeom>
          <a:noFill/>
          <a:ln/>
        </p:spPr>
        <p:txBody>
          <a:bodyPr wrap="square" lIns="0" tIns="0" rIns="0" bIns="0" rtlCol="0" anchor="ctr"/>
          <a:lstStyle/>
          <a:p>
            <a:pPr rtl="1" algn="ctr" indent="0" marL="0">
              <a:buNone/>
            </a:pPr>
            <a:r>
              <a:rPr lang="ar-SA" altLang="en-US" sz="2400" b="1" dirty="0">
                <a:solidFill>
                  <a:srgbClr val="0E7C86"/>
                </a:solidFill>
                <a:latin typeface="Amiri" pitchFamily="2" charset="-78"/>
                <a:ea typeface="Amiri" pitchFamily="2" charset="-78"/>
                <a:cs typeface="Amiri" pitchFamily="2" charset="-78"/>
              </a:rPr>
              <a:t>لَا</a:t>
            </a:r>
            <a:pPr rtl="1" algn="ctr" indent="0" marL="0">
              <a:buNone/>
            </a:pPr>
            <a:r>
              <a:rPr lang="ar-SA" altLang="en-US" sz="2400" b="1" dirty="0">
                <a:solidFill>
                  <a:srgbClr val="1B3B6F"/>
                </a:solidFill>
                <a:latin typeface="Amiri" pitchFamily="2" charset="-78"/>
                <a:ea typeface="Amiri" pitchFamily="2" charset="-78"/>
                <a:cs typeface="Amiri" pitchFamily="2" charset="-78"/>
              </a:rPr>
              <a:t> نُحِبُّ</a:t>
            </a:r>
            <a:endParaRPr lang="ar-SA" sz="2400" dirty="0"/>
          </a:p>
        </p:txBody>
      </p:sp>
      <p:sp>
        <p:nvSpPr>
          <p:cNvPr id="50" name="Text 47"/>
          <p:cNvSpPr txBox="1"/>
          <p:nvPr/>
        </p:nvSpPr>
        <p:spPr>
          <a:xfrm>
            <a:off x="566928" y="4626864"/>
            <a:ext cx="1947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don’t like</a:t>
            </a:r>
            <a:endParaRPr lang="en-US" sz="1100" dirty="0"/>
          </a:p>
        </p:txBody>
      </p:sp>
      <p:sp>
        <p:nvSpPr>
          <p:cNvPr id="51" name="Text 48"/>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food comes straight after the verb: uḥibbu l-khubza (no “to”). Negative: put lā before the verb.</a:t>
            </a:r>
            <a:endParaRPr lang="en-US" sz="1150" dirty="0"/>
          </a:p>
        </p:txBody>
      </p:sp>
      <p:sp>
        <p:nvSpPr>
          <p:cNvPr id="52"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47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33" b="1" spc="150" kern="0" dirty="0">
                <a:solidFill>
                  <a:srgbClr val="1B3B6F"/>
                </a:solidFill>
                <a:latin typeface="Calibri" pitchFamily="34" charset="0"/>
                <a:cs typeface="Amiri" pitchFamily="2" charset="-78"/>
              </a:rPr>
              <a:t>GRAMMAR FOCUS · PART 2 · ASKING AND DESCRIBING (WEBSITE RULES + TOPIC A AGREEMENT)</a:t>
            </a:r>
            <a:endParaRPr lang="en-US" sz="833"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Do you like …? What is it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هَلْ تُحِبُّ؟ · صِفَةٌ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7160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716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ASK A BOY · CORE</a:t>
            </a:r>
            <a:endParaRPr lang="en-US" sz="850" dirty="0"/>
          </a:p>
        </p:txBody>
      </p:sp>
      <p:sp>
        <p:nvSpPr>
          <p:cNvPr id="18" name="Text 15"/>
          <p:cNvSpPr txBox="1"/>
          <p:nvPr/>
        </p:nvSpPr>
        <p:spPr>
          <a:xfrm>
            <a:off x="9649968" y="1874520"/>
            <a:ext cx="194462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هَلْ تُحِبُّ …؟</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هَلْ تُحِبُّ السَّمَكَ؟</a:t>
            </a:r>
            <a:endParaRPr lang="ar-SA" sz="32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Do you (m.) like fish?</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hal = yes / no question.</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645920" cy="274320"/>
          </a:xfrm>
          <a:prstGeom prst="roundRect">
            <a:avLst>
              <a:gd name="adj" fmla="val 50000"/>
            </a:avLst>
          </a:prstGeom>
          <a:solidFill>
            <a:srgbClr val="B83280"/>
          </a:solidFill>
          <a:ln w="12700">
            <a:solidFill>
              <a:srgbClr val="B83280"/>
            </a:solidFill>
            <a:prstDash val="solid"/>
          </a:ln>
        </p:spPr>
      </p:sp>
      <p:sp>
        <p:nvSpPr>
          <p:cNvPr id="25" name="Text 22"/>
          <p:cNvSpPr txBox="1"/>
          <p:nvPr/>
        </p:nvSpPr>
        <p:spPr>
          <a:xfrm>
            <a:off x="4413504" y="1920240"/>
            <a:ext cx="16459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ASK A GIRL · DEVELOP</a:t>
            </a:r>
            <a:endParaRPr lang="en-US" sz="850" dirty="0"/>
          </a:p>
        </p:txBody>
      </p:sp>
      <p:sp>
        <p:nvSpPr>
          <p:cNvPr id="26" name="Text 23"/>
          <p:cNvSpPr txBox="1"/>
          <p:nvPr/>
        </p:nvSpPr>
        <p:spPr>
          <a:xfrm>
            <a:off x="6105144" y="1874520"/>
            <a:ext cx="16703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هَلْ تُحِبِّينَ …؟</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buNone/>
            </a:pPr>
            <a:r>
              <a:rPr lang="ar-SA" altLang="en-US" sz="3200" b="1" dirty="0">
                <a:solidFill>
                  <a:srgbClr val="1B3B6F"/>
                </a:solidFill>
                <a:latin typeface="Amiri" pitchFamily="2" charset="-78"/>
                <a:ea typeface="Amiri" pitchFamily="2" charset="-78"/>
                <a:cs typeface="Amiri" pitchFamily="2" charset="-78"/>
              </a:rPr>
              <a:t>هَلْ تُحِبِّينَ السَّلَطَةَ؟</a:t>
            </a:r>
            <a:endParaRPr lang="ar-SA" sz="320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Do you (f.) like salad?</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Girl → -īna.</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754380" cy="274320"/>
          </a:xfrm>
          <a:prstGeom prst="roundRect">
            <a:avLst>
              <a:gd name="adj" fmla="val 50000"/>
            </a:avLst>
          </a:prstGeom>
          <a:solidFill>
            <a:srgbClr val="6B4C9A"/>
          </a:solidFill>
          <a:ln w="12700">
            <a:solidFill>
              <a:srgbClr val="6B4C9A"/>
            </a:solidFill>
            <a:prstDash val="solid"/>
          </a:ln>
        </p:spPr>
      </p:sp>
      <p:sp>
        <p:nvSpPr>
          <p:cNvPr id="33" name="Text 30"/>
          <p:cNvSpPr txBox="1"/>
          <p:nvPr/>
        </p:nvSpPr>
        <p:spPr>
          <a:xfrm>
            <a:off x="594360" y="1920240"/>
            <a:ext cx="75438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34" name="Text 31"/>
          <p:cNvSpPr txBox="1"/>
          <p:nvPr/>
        </p:nvSpPr>
        <p:spPr>
          <a:xfrm>
            <a:off x="1394460" y="1874520"/>
            <a:ext cx="2561844" cy="365760"/>
          </a:xfrm>
          <a:prstGeom prst="rect">
            <a:avLst/>
          </a:prstGeom>
          <a:noFill/>
          <a:ln/>
        </p:spPr>
        <p:txBody>
          <a:bodyPr wrap="square" lIns="0" tIns="0" rIns="0" bIns="0" rtlCol="0" anchor="ctr"/>
          <a:lstStyle/>
          <a:p>
            <a:pPr algn="l" indent="0" marL="0">
              <a:buNone/>
            </a:pPr>
            <a:r>
              <a:rPr lang="en-US" sz="1600" b="1" dirty="0">
                <a:solidFill>
                  <a:srgbClr val="8A6D1E"/>
                </a:solidFill>
                <a:latin typeface="Calibri" pitchFamily="34" charset="0"/>
                <a:cs typeface="Amiri" pitchFamily="2" charset="-78"/>
              </a:rPr>
              <a:t>m. · f.</a:t>
            </a:r>
            <a:endParaRPr lang="en-US"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buNone/>
            </a:pPr>
            <a:r>
              <a:rPr lang="ar-SA" altLang="en-US" sz="2850" b="1" dirty="0">
                <a:solidFill>
                  <a:srgbClr val="1B3B6F"/>
                </a:solidFill>
                <a:latin typeface="Amiri" pitchFamily="2" charset="-78"/>
                <a:ea typeface="Amiri" pitchFamily="2" charset="-78"/>
                <a:cs typeface="Amiri" pitchFamily="2" charset="-78"/>
              </a:rPr>
              <a:t>الخُبْزُ طَازَجٌ. القَهْوَةُ مُرَّةٌ.</a:t>
            </a:r>
            <a:endParaRPr lang="ar-SA" sz="285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The bread is fresh. The coffee is bitter.</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Feminine food → -a adjective.</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Website rule: notice noun gender — the adjective must agree.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2" charset="-78"/>
                <a:ea typeface="Amiri" pitchFamily="2" charset="-78"/>
                <a:cs typeface="Amiri" pitchFamily="2" charset="-78"/>
              </a:rPr>
              <a:t>السَّلَطَةُ صِحِّيَّةٌ.</a:t>
            </a:r>
            <a:endParaRPr lang="ar-SA" sz="26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600" b="1" dirty="0">
                <a:solidFill>
                  <a:srgbClr val="B83227"/>
                </a:solidFill>
                <a:latin typeface="Amiri" pitchFamily="2" charset="-78"/>
                <a:ea typeface="Amiri" pitchFamily="2" charset="-78"/>
                <a:cs typeface="Amiri" pitchFamily="2" charset="-78"/>
              </a:rPr>
              <a:t>السَّلَطَةُ صِحِّيٌّ.</a:t>
            </a:r>
            <a:endParaRPr lang="ar-SA" sz="26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47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6915607" y="274320"/>
            <a:ext cx="1844345"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a:t>
            </a:r>
            <a:endParaRPr lang="en-US" sz="900" dirty="0"/>
          </a:p>
        </p:txBody>
      </p:sp>
      <p:sp>
        <p:nvSpPr>
          <p:cNvPr id="10" name="Shape 8"/>
          <p:cNvSpPr/>
          <p:nvPr/>
        </p:nvSpPr>
        <p:spPr>
          <a:xfrm>
            <a:off x="5818327"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5818327"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THE WEBSITE RULES WITH EXAMPLES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The website grammar rules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350" b="1" dirty="0">
                <a:solidFill>
                  <a:srgbClr val="8A6D1E"/>
                </a:solidFill>
                <a:latin typeface="Amiri" pitchFamily="2" charset="-78"/>
                <a:ea typeface="Amiri" pitchFamily="2" charset="-78"/>
                <a:cs typeface="Amiri" pitchFamily="2" charset="-78"/>
              </a:rPr>
              <a:t>اِسْتِعْمَالُ أُحِبُّ وَلَا أُحِبُّ مَعَ أَسْمَاءِ الطَّعَامِ</a:t>
            </a:r>
            <a:endParaRPr lang="ar-SA" sz="235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7" name="Shape 14"/>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40080" y="1883664"/>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1. Say what you like</a:t>
            </a:r>
            <a:endParaRPr lang="en-US" sz="1250" dirty="0"/>
          </a:p>
        </p:txBody>
      </p:sp>
      <p:sp>
        <p:nvSpPr>
          <p:cNvPr id="19" name="Text 16"/>
          <p:cNvSpPr txBox="1"/>
          <p:nvPr/>
        </p:nvSpPr>
        <p:spPr>
          <a:xfrm>
            <a:off x="640080" y="2345436"/>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أُحِبُّ + الطَّعَامَ / الشَّرَابَ</a:t>
            </a:r>
            <a:endParaRPr lang="ar-SA" sz="1350" dirty="0"/>
          </a:p>
        </p:txBody>
      </p:sp>
      <p:sp>
        <p:nvSpPr>
          <p:cNvPr id="20" name="Text 17"/>
          <p:cNvSpPr txBox="1"/>
          <p:nvPr/>
        </p:nvSpPr>
        <p:spPr>
          <a:xfrm>
            <a:off x="4297680" y="1847088"/>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أُحِبُّ الخُبْزَ.   ·   أُحِبُّ العَصِيرَ.   ·   أُحِبُّ التُّفَّاحَ وَالمَوْزَ.</a:t>
            </a:r>
            <a:endParaRPr lang="ar-SA" sz="2000" dirty="0"/>
          </a:p>
        </p:txBody>
      </p:sp>
      <p:sp>
        <p:nvSpPr>
          <p:cNvPr id="21" name="Shape 18"/>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640080" y="3040380"/>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2. Make the opinion negative</a:t>
            </a:r>
            <a:endParaRPr lang="en-US" sz="1250" dirty="0"/>
          </a:p>
        </p:txBody>
      </p:sp>
      <p:sp>
        <p:nvSpPr>
          <p:cNvPr id="23" name="Text 20"/>
          <p:cNvSpPr txBox="1"/>
          <p:nvPr/>
        </p:nvSpPr>
        <p:spPr>
          <a:xfrm>
            <a:off x="640080" y="3502152"/>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لَا + أُحِبُّ + الاِسْمَ</a:t>
            </a:r>
            <a:endParaRPr lang="ar-SA" sz="1350" dirty="0"/>
          </a:p>
        </p:txBody>
      </p:sp>
      <p:sp>
        <p:nvSpPr>
          <p:cNvPr id="24" name="Text 21"/>
          <p:cNvSpPr txBox="1"/>
          <p:nvPr/>
        </p:nvSpPr>
        <p:spPr>
          <a:xfrm>
            <a:off x="4297680" y="3003804"/>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لَا أُحِبُّ السَّمَكَ.   ·   لَا أُحِبُّ القَهْوَةَ.</a:t>
            </a:r>
            <a:endParaRPr lang="ar-SA" sz="200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40080" y="4197096"/>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3. Notice noun gender</a:t>
            </a:r>
            <a:endParaRPr lang="en-US" sz="1250" dirty="0"/>
          </a:p>
        </p:txBody>
      </p:sp>
      <p:sp>
        <p:nvSpPr>
          <p:cNvPr id="27" name="Text 24"/>
          <p:cNvSpPr txBox="1"/>
          <p:nvPr/>
        </p:nvSpPr>
        <p:spPr>
          <a:xfrm>
            <a:off x="640080" y="4658868"/>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مُذَكَّرٌ: خُبْزٌ · مُؤَنَّثٌ: قَهْوَةٌ</a:t>
            </a:r>
            <a:endParaRPr lang="ar-SA" sz="1350" dirty="0"/>
          </a:p>
        </p:txBody>
      </p:sp>
      <p:sp>
        <p:nvSpPr>
          <p:cNvPr id="28" name="Text 25"/>
          <p:cNvSpPr txBox="1"/>
          <p:nvPr/>
        </p:nvSpPr>
        <p:spPr>
          <a:xfrm>
            <a:off x="4297680" y="4160520"/>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الخُبْزُ طَازَجٌ.   ·   القَهْوَةُ مُرَّةٌ.   ·   السَّلَطَةُ صِحِّيَّةٌ.</a:t>
            </a:r>
            <a:endParaRPr lang="ar-SA" sz="2000" dirty="0"/>
          </a:p>
        </p:txBody>
      </p:sp>
      <p:sp>
        <p:nvSpPr>
          <p:cNvPr id="29" name="Shape 26"/>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40080" y="5353812"/>
            <a:ext cx="3566160" cy="514350"/>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4. Ask another person</a:t>
            </a:r>
            <a:endParaRPr lang="en-US" sz="1250" dirty="0"/>
          </a:p>
        </p:txBody>
      </p:sp>
      <p:sp>
        <p:nvSpPr>
          <p:cNvPr id="31" name="Text 28"/>
          <p:cNvSpPr txBox="1"/>
          <p:nvPr/>
        </p:nvSpPr>
        <p:spPr>
          <a:xfrm>
            <a:off x="640080" y="5815584"/>
            <a:ext cx="3566160" cy="432054"/>
          </a:xfrm>
          <a:prstGeom prst="rect">
            <a:avLst/>
          </a:prstGeom>
          <a:noFill/>
          <a:ln/>
        </p:spPr>
        <p:txBody>
          <a:bodyPr wrap="square" lIns="0" tIns="0" rIns="0" bIns="0" rtlCol="0" anchor="ctr"/>
          <a:lstStyle/>
          <a:p>
            <a:pPr rtl="1" algn="r" indent="0" marL="0">
              <a:buNone/>
            </a:pPr>
            <a:r>
              <a:rPr lang="ar-SA" altLang="en-US" sz="1350" dirty="0">
                <a:solidFill>
                  <a:srgbClr val="5A6472"/>
                </a:solidFill>
                <a:latin typeface="Amiri" pitchFamily="2" charset="-78"/>
                <a:ea typeface="Amiri" pitchFamily="2" charset="-78"/>
                <a:cs typeface="Amiri" pitchFamily="2" charset="-78"/>
              </a:rPr>
              <a:t>هَلْ تُحِبُّ...؟ / هَلْ تُحِبِّينَ...؟</a:t>
            </a:r>
            <a:endParaRPr lang="ar-SA" sz="1350" dirty="0"/>
          </a:p>
        </p:txBody>
      </p:sp>
      <p:sp>
        <p:nvSpPr>
          <p:cNvPr id="32" name="Text 29"/>
          <p:cNvSpPr txBox="1"/>
          <p:nvPr/>
        </p:nvSpPr>
        <p:spPr>
          <a:xfrm>
            <a:off x="4297680" y="5317236"/>
            <a:ext cx="7269480" cy="955548"/>
          </a:xfrm>
          <a:prstGeom prst="rect">
            <a:avLst/>
          </a:prstGeom>
          <a:noFill/>
          <a:ln/>
        </p:spPr>
        <p:txBody>
          <a:bodyPr wrap="square" lIns="0" tIns="0" rIns="0" bIns="0" rtlCol="0" anchor="ctr"/>
          <a:lstStyle/>
          <a:p>
            <a:pPr rtl="1" algn="r" indent="0" marL="0">
              <a:buNone/>
            </a:pPr>
            <a:r>
              <a:rPr lang="ar-SA" altLang="en-US" sz="2000" b="1" dirty="0">
                <a:solidFill>
                  <a:srgbClr val="1F2A37"/>
                </a:solidFill>
                <a:latin typeface="Amiri" pitchFamily="2" charset="-78"/>
                <a:ea typeface="Amiri" pitchFamily="2" charset="-78"/>
                <a:cs typeface="Amiri" pitchFamily="2" charset="-78"/>
              </a:rPr>
              <a:t>هَلْ تُحِبُّ الجُبْنَ؟   ·   هَلْ تُحِبِّينَ السَّلَطَةَ؟</a:t>
            </a:r>
            <a:endParaRPr lang="ar-SA" sz="200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47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drink the juice.”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آكُلُ العَصِيرَ.</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يَشْرَبُ العَصِيرَ.</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أَشْرَبُ العَصِيرَ.</a:t>
            </a:r>
            <a:endParaRPr lang="ar-SA" sz="20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Make the sentence negative:</a:t>
            </a:r>
            <a:endParaRPr lang="en-US" sz="1200" dirty="0"/>
          </a:p>
        </p:txBody>
      </p:sp>
      <p:sp>
        <p:nvSpPr>
          <p:cNvPr id="32" name="Text 29"/>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أُحِبُّ القَهْوَةَ.</a:t>
            </a:r>
            <a:endParaRPr lang="ar-SA" sz="1500" dirty="0"/>
          </a:p>
        </p:txBody>
      </p:sp>
      <p:sp>
        <p:nvSpPr>
          <p:cNvPr id="33" name="Shape 30"/>
          <p:cNvSpPr/>
          <p:nvPr/>
        </p:nvSpPr>
        <p:spPr>
          <a:xfrm>
            <a:off x="6368796" y="2532888"/>
            <a:ext cx="256032" cy="256032"/>
          </a:xfrm>
          <a:prstGeom prst="ellipse">
            <a:avLst/>
          </a:prstGeom>
          <a:solidFill>
            <a:srgbClr val="F4F1EA"/>
          </a:solidFill>
          <a:ln w="12700">
            <a:solidFill>
              <a:srgbClr val="F4F1EA"/>
            </a:solidFill>
            <a:prstDash val="solid"/>
          </a:ln>
        </p:spPr>
      </p:sp>
      <p:sp>
        <p:nvSpPr>
          <p:cNvPr id="34" name="Text 31"/>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5" name="Text 32"/>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أُحِبُّ القَهْوَةَ.</a:t>
            </a:r>
            <a:endParaRPr lang="ar-SA" sz="2050" dirty="0"/>
          </a:p>
        </p:txBody>
      </p:sp>
      <p:sp>
        <p:nvSpPr>
          <p:cNvPr id="36" name="Shape 33"/>
          <p:cNvSpPr/>
          <p:nvPr/>
        </p:nvSpPr>
        <p:spPr>
          <a:xfrm>
            <a:off x="6368796" y="2990088"/>
            <a:ext cx="256032" cy="256032"/>
          </a:xfrm>
          <a:prstGeom prst="ellipse">
            <a:avLst/>
          </a:prstGeom>
          <a:solidFill>
            <a:srgbClr val="F4F1EA"/>
          </a:solidFill>
          <a:ln w="12700">
            <a:solidFill>
              <a:srgbClr val="F4F1EA"/>
            </a:solidFill>
            <a:prstDash val="solid"/>
          </a:ln>
        </p:spPr>
      </p:sp>
      <p:sp>
        <p:nvSpPr>
          <p:cNvPr id="37" name="Text 34"/>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8" name="Text 35"/>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أُحِبُّ القَهْوَةَ؟</a:t>
            </a:r>
            <a:endParaRPr lang="ar-SA" sz="2050" dirty="0"/>
          </a:p>
        </p:txBody>
      </p:sp>
      <p:sp>
        <p:nvSpPr>
          <p:cNvPr id="39" name="Shape 36"/>
          <p:cNvSpPr/>
          <p:nvPr/>
        </p:nvSpPr>
        <p:spPr>
          <a:xfrm>
            <a:off x="6368796" y="3447288"/>
            <a:ext cx="256032" cy="256032"/>
          </a:xfrm>
          <a:prstGeom prst="ellipse">
            <a:avLst/>
          </a:prstGeom>
          <a:solidFill>
            <a:srgbClr val="F4F1EA"/>
          </a:solidFill>
          <a:ln w="12700">
            <a:solidFill>
              <a:srgbClr val="F4F1EA"/>
            </a:solidFill>
            <a:prstDash val="solid"/>
          </a:ln>
        </p:spPr>
      </p:sp>
      <p:sp>
        <p:nvSpPr>
          <p:cNvPr id="40" name="Text 37"/>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1" name="Text 38"/>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القَهْوَةَ أُحِبُّ.</a:t>
            </a:r>
            <a:endParaRPr lang="ar-SA" sz="2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boy “Do you like fish?”</a:t>
            </a:r>
            <a:endParaRPr lang="en-US" sz="1250" dirty="0"/>
          </a:p>
        </p:txBody>
      </p:sp>
      <p:sp>
        <p:nvSpPr>
          <p:cNvPr id="46" name="Shape 43"/>
          <p:cNvSpPr/>
          <p:nvPr/>
        </p:nvSpPr>
        <p:spPr>
          <a:xfrm>
            <a:off x="640080" y="4873752"/>
            <a:ext cx="256032" cy="256032"/>
          </a:xfrm>
          <a:prstGeom prst="ellipse">
            <a:avLst/>
          </a:prstGeom>
          <a:solidFill>
            <a:srgbClr val="F4F1EA"/>
          </a:solidFill>
          <a:ln w="12700">
            <a:solidFill>
              <a:srgbClr val="F4F1EA"/>
            </a:solidFill>
            <a:prstDash val="solid"/>
          </a:ln>
        </p:spPr>
      </p:sp>
      <p:sp>
        <p:nvSpPr>
          <p:cNvPr id="47" name="Text 44"/>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8" name="Text 45"/>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تُحِبِّينَ السَّمَكَ؟</a:t>
            </a:r>
            <a:endParaRPr lang="ar-SA" sz="2050" dirty="0"/>
          </a:p>
        </p:txBody>
      </p:sp>
      <p:sp>
        <p:nvSpPr>
          <p:cNvPr id="49" name="Shape 46"/>
          <p:cNvSpPr/>
          <p:nvPr/>
        </p:nvSpPr>
        <p:spPr>
          <a:xfrm>
            <a:off x="640080" y="5330952"/>
            <a:ext cx="256032" cy="256032"/>
          </a:xfrm>
          <a:prstGeom prst="ellipse">
            <a:avLst/>
          </a:prstGeom>
          <a:solidFill>
            <a:srgbClr val="F4F1EA"/>
          </a:solidFill>
          <a:ln w="12700">
            <a:solidFill>
              <a:srgbClr val="F4F1EA"/>
            </a:solidFill>
            <a:prstDash val="solid"/>
          </a:ln>
        </p:spPr>
      </p:sp>
      <p:sp>
        <p:nvSpPr>
          <p:cNvPr id="50" name="Text 47"/>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1" name="Text 48"/>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هَلْ تُحِبُّ السَّمَكَ؟</a:t>
            </a:r>
            <a:endParaRPr lang="ar-SA" sz="2050" dirty="0"/>
          </a:p>
        </p:txBody>
      </p:sp>
      <p:sp>
        <p:nvSpPr>
          <p:cNvPr id="52" name="Shape 49"/>
          <p:cNvSpPr/>
          <p:nvPr/>
        </p:nvSpPr>
        <p:spPr>
          <a:xfrm>
            <a:off x="640080" y="57881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4" name="Text 51"/>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مَاذَا السَّمَكُ؟</a:t>
            </a:r>
            <a:endParaRPr lang="ar-SA" sz="2050" dirty="0"/>
          </a:p>
        </p:txBody>
      </p:sp>
      <p:sp>
        <p:nvSpPr>
          <p:cNvPr id="55" name="Shape 52"/>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6313932" y="4288536"/>
            <a:ext cx="310896" cy="310896"/>
          </a:xfrm>
          <a:prstGeom prst="ellipse">
            <a:avLst/>
          </a:prstGeom>
          <a:solidFill>
            <a:srgbClr val="1B3B6F"/>
          </a:solidFill>
          <a:ln w="12700">
            <a:solidFill>
              <a:srgbClr val="1B3B6F"/>
            </a:solidFill>
            <a:prstDash val="solid"/>
          </a:ln>
        </p:spPr>
      </p:sp>
      <p:sp>
        <p:nvSpPr>
          <p:cNvPr id="57" name="Text 5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8" name="Text 55"/>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the correct action?</a:t>
            </a:r>
            <a:endParaRPr lang="en-US" sz="1250" dirty="0"/>
          </a:p>
        </p:txBody>
      </p:sp>
      <p:sp>
        <p:nvSpPr>
          <p:cNvPr id="59" name="Shape 56"/>
          <p:cNvSpPr/>
          <p:nvPr/>
        </p:nvSpPr>
        <p:spPr>
          <a:xfrm>
            <a:off x="6368796" y="4873752"/>
            <a:ext cx="256032" cy="256032"/>
          </a:xfrm>
          <a:prstGeom prst="ellipse">
            <a:avLst/>
          </a:prstGeom>
          <a:solidFill>
            <a:srgbClr val="F4F1EA"/>
          </a:solidFill>
          <a:ln w="12700">
            <a:solidFill>
              <a:srgbClr val="F4F1EA"/>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أَشْرَبُ الحَلِيبَ.</a:t>
            </a:r>
            <a:endParaRPr lang="ar-SA" sz="2050" dirty="0"/>
          </a:p>
        </p:txBody>
      </p:sp>
      <p:sp>
        <p:nvSpPr>
          <p:cNvPr id="62" name="Shape 59"/>
          <p:cNvSpPr/>
          <p:nvPr/>
        </p:nvSpPr>
        <p:spPr>
          <a:xfrm>
            <a:off x="6368796" y="53309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آكُلُ الحَلِيبَ.</a:t>
            </a:r>
            <a:endParaRPr lang="ar-SA" sz="2050" dirty="0"/>
          </a:p>
        </p:txBody>
      </p:sp>
      <p:sp>
        <p:nvSpPr>
          <p:cNvPr id="65" name="Shape 62"/>
          <p:cNvSpPr/>
          <p:nvPr/>
        </p:nvSpPr>
        <p:spPr>
          <a:xfrm>
            <a:off x="6368796" y="57881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7" name="Text 64"/>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أَشْرَبُ الخُبْزَ.</a:t>
            </a:r>
            <a:endParaRPr lang="ar-SA" sz="2050" dirty="0"/>
          </a:p>
        </p:txBody>
      </p:sp>
      <p:sp>
        <p:nvSpPr>
          <p:cNvPr id="68" name="Text 6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47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“I drink the juice.”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آكُلُ العَصِيرَ.</a:t>
            </a:r>
            <a:endParaRPr lang="ar-SA" sz="170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يَشْرَبُ العَصِيرَ.</a:t>
            </a:r>
            <a:endParaRPr lang="ar-SA" sz="170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أَشْرَبُ العَصِيرَ.</a:t>
            </a:r>
            <a:endParaRPr lang="ar-SA" sz="170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أَشْرَبُ</a:t>
            </a:r>
            <a:pPr algn="l" indent="0" marL="0">
              <a:buNone/>
            </a:pPr>
            <a:r>
              <a:rPr lang="en-US" sz="1050" i="1" dirty="0">
                <a:solidFill>
                  <a:srgbClr val="8A6D1E"/>
                </a:solidFill>
                <a:latin typeface="Calibri" pitchFamily="34" charset="0"/>
                <a:cs typeface="Amiri" pitchFamily="2" charset="-78"/>
              </a:rPr>
              <a:t> is the first-person verb for drinking.</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Make the sentence negative: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أُحِبُّ القَهْوَةَ.</a:t>
            </a:r>
            <a:endParaRPr lang="ar-SA" sz="1500" dirty="0"/>
          </a:p>
        </p:txBody>
      </p:sp>
      <p:sp>
        <p:nvSpPr>
          <p:cNvPr id="35" name="Shape 32"/>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6" name="Shape 33"/>
          <p:cNvSpPr/>
          <p:nvPr/>
        </p:nvSpPr>
        <p:spPr>
          <a:xfrm>
            <a:off x="6368796" y="2490216"/>
            <a:ext cx="256032" cy="256032"/>
          </a:xfrm>
          <a:prstGeom prst="ellipse">
            <a:avLst/>
          </a:prstGeom>
          <a:solidFill>
            <a:srgbClr val="2E8B57"/>
          </a:solidFill>
          <a:ln w="12700">
            <a:solidFill>
              <a:srgbClr val="2E8B57"/>
            </a:solidFill>
            <a:prstDash val="solid"/>
          </a:ln>
        </p:spPr>
      </p:sp>
      <p:sp>
        <p:nvSpPr>
          <p:cNvPr id="37" name="Text 34"/>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8" name="Text 35"/>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أُحِبُّ القَهْوَةَ.</a:t>
            </a:r>
            <a:endParaRPr lang="ar-SA" sz="1700" dirty="0"/>
          </a:p>
        </p:txBody>
      </p:sp>
      <p:sp>
        <p:nvSpPr>
          <p:cNvPr id="39" name="Shape 36"/>
          <p:cNvSpPr/>
          <p:nvPr/>
        </p:nvSpPr>
        <p:spPr>
          <a:xfrm>
            <a:off x="6368796"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أُحِبُّ القَهْوَةَ؟</a:t>
            </a:r>
            <a:endParaRPr lang="ar-SA" sz="1700" dirty="0"/>
          </a:p>
        </p:txBody>
      </p:sp>
      <p:sp>
        <p:nvSpPr>
          <p:cNvPr id="42" name="Shape 39"/>
          <p:cNvSpPr/>
          <p:nvPr/>
        </p:nvSpPr>
        <p:spPr>
          <a:xfrm>
            <a:off x="6368796" y="3233928"/>
            <a:ext cx="256032" cy="256032"/>
          </a:xfrm>
          <a:prstGeom prst="ellipse">
            <a:avLst/>
          </a:prstGeom>
          <a:solidFill>
            <a:srgbClr val="C9CED6"/>
          </a:solidFill>
          <a:ln w="12700">
            <a:solidFill>
              <a:srgbClr val="C9CED6"/>
            </a:solidFill>
            <a:prstDash val="solid"/>
          </a:ln>
        </p:spPr>
      </p:sp>
      <p:sp>
        <p:nvSpPr>
          <p:cNvPr id="43" name="Text 40"/>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4" name="Text 41"/>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القَهْوَةَ أُحِبُّ.</a:t>
            </a:r>
            <a:endParaRPr lang="ar-SA" sz="1700" dirty="0"/>
          </a:p>
        </p:txBody>
      </p:sp>
      <p:sp>
        <p:nvSpPr>
          <p:cNvPr id="45" name="Text 42"/>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Put </a:t>
            </a:r>
            <a:pPr algn="l" indent="0" marL="0">
              <a:buNone/>
            </a:pPr>
            <a:r>
              <a:rPr lang="ar-SA" altLang="en-US" sz="1350" dirty="0">
                <a:solidFill>
                  <a:srgbClr val="8A6D1E"/>
                </a:solidFill>
                <a:latin typeface="Amiri" pitchFamily="2" charset="-78"/>
                <a:ea typeface="Amiri" pitchFamily="2" charset="-78"/>
                <a:cs typeface="Amiri" pitchFamily="2" charset="-78"/>
              </a:rPr>
              <a:t>لَا</a:t>
            </a:r>
            <a:pPr algn="l" indent="0" marL="0">
              <a:buNone/>
            </a:pPr>
            <a:r>
              <a:rPr lang="en-US" sz="1050" i="1" dirty="0">
                <a:solidFill>
                  <a:srgbClr val="8A6D1E"/>
                </a:solidFill>
                <a:latin typeface="Calibri" pitchFamily="34" charset="0"/>
                <a:cs typeface="Amiri" pitchFamily="2" charset="-78"/>
              </a:rPr>
              <a:t> immediately before the present-tense verb.</a:t>
            </a:r>
            <a:endParaRPr lang="en-US" sz="1050" dirty="0"/>
          </a:p>
        </p:txBody>
      </p:sp>
      <p:sp>
        <p:nvSpPr>
          <p:cNvPr id="46" name="Shape 43"/>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7" name="Shape 44"/>
          <p:cNvSpPr/>
          <p:nvPr/>
        </p:nvSpPr>
        <p:spPr>
          <a:xfrm>
            <a:off x="585216" y="4288536"/>
            <a:ext cx="310896" cy="310896"/>
          </a:xfrm>
          <a:prstGeom prst="ellipse">
            <a:avLst/>
          </a:prstGeom>
          <a:solidFill>
            <a:srgbClr val="1B3B6F"/>
          </a:solidFill>
          <a:ln w="12700">
            <a:solidFill>
              <a:srgbClr val="1B3B6F"/>
            </a:solidFill>
            <a:prstDash val="solid"/>
          </a:ln>
        </p:spPr>
      </p:sp>
      <p:sp>
        <p:nvSpPr>
          <p:cNvPr id="48" name="Text 45"/>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9" name="Text 46"/>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Ask a boy “Do you like fish?”</a:t>
            </a:r>
            <a:endParaRPr lang="en-US" sz="1250" dirty="0"/>
          </a:p>
        </p:txBody>
      </p:sp>
      <p:sp>
        <p:nvSpPr>
          <p:cNvPr id="50" name="Shape 47"/>
          <p:cNvSpPr/>
          <p:nvPr/>
        </p:nvSpPr>
        <p:spPr>
          <a:xfrm>
            <a:off x="640080" y="4831080"/>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2" name="Text 49"/>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هَلْ تُحِبِّينَ السَّمَكَ؟</a:t>
            </a:r>
            <a:endParaRPr lang="ar-SA" sz="1700" dirty="0"/>
          </a:p>
        </p:txBody>
      </p:sp>
      <p:sp>
        <p:nvSpPr>
          <p:cNvPr id="53" name="Shape 50"/>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4" name="Shape 51"/>
          <p:cNvSpPr/>
          <p:nvPr/>
        </p:nvSpPr>
        <p:spPr>
          <a:xfrm>
            <a:off x="640080" y="5202936"/>
            <a:ext cx="256032" cy="256032"/>
          </a:xfrm>
          <a:prstGeom prst="ellipse">
            <a:avLst/>
          </a:prstGeom>
          <a:solidFill>
            <a:srgbClr val="2E8B57"/>
          </a:solidFill>
          <a:ln w="12700">
            <a:solidFill>
              <a:srgbClr val="2E8B57"/>
            </a:solidFill>
            <a:prstDash val="solid"/>
          </a:ln>
        </p:spPr>
      </p:sp>
      <p:sp>
        <p:nvSpPr>
          <p:cNvPr id="55" name="Text 52"/>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6" name="Text 53"/>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هَلْ تُحِبُّ السَّمَكَ؟</a:t>
            </a:r>
            <a:endParaRPr lang="ar-SA" sz="1700" dirty="0"/>
          </a:p>
        </p:txBody>
      </p:sp>
      <p:sp>
        <p:nvSpPr>
          <p:cNvPr id="57" name="Shape 54"/>
          <p:cNvSpPr/>
          <p:nvPr/>
        </p:nvSpPr>
        <p:spPr>
          <a:xfrm>
            <a:off x="640080" y="5574792"/>
            <a:ext cx="256032" cy="256032"/>
          </a:xfrm>
          <a:prstGeom prst="ellipse">
            <a:avLst/>
          </a:prstGeom>
          <a:solidFill>
            <a:srgbClr val="C9CED6"/>
          </a:solidFill>
          <a:ln w="12700">
            <a:solidFill>
              <a:srgbClr val="C9CED6"/>
            </a:solidFill>
            <a:prstDash val="solid"/>
          </a:ln>
        </p:spPr>
      </p:sp>
      <p:sp>
        <p:nvSpPr>
          <p:cNvPr id="58" name="Text 55"/>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9" name="Text 56"/>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مَاذَا السَّمَكُ؟</a:t>
            </a:r>
            <a:endParaRPr lang="ar-SA" sz="1700" dirty="0"/>
          </a:p>
        </p:txBody>
      </p:sp>
      <p:sp>
        <p:nvSpPr>
          <p:cNvPr id="60" name="Text 57"/>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تُحِبُّ</a:t>
            </a:r>
            <a:pPr algn="l" indent="0" marL="0">
              <a:buNone/>
            </a:pPr>
            <a:r>
              <a:rPr lang="en-US" sz="1050" i="1" dirty="0">
                <a:solidFill>
                  <a:srgbClr val="8A6D1E"/>
                </a:solidFill>
                <a:latin typeface="Calibri" pitchFamily="34" charset="0"/>
                <a:cs typeface="Amiri" pitchFamily="2" charset="-78"/>
              </a:rPr>
              <a:t> addresses a male listener.</a:t>
            </a:r>
            <a:endParaRPr lang="en-US" sz="1050" dirty="0"/>
          </a:p>
        </p:txBody>
      </p:sp>
      <p:sp>
        <p:nvSpPr>
          <p:cNvPr id="61" name="Shape 58"/>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2" name="Shape 59"/>
          <p:cNvSpPr/>
          <p:nvPr/>
        </p:nvSpPr>
        <p:spPr>
          <a:xfrm>
            <a:off x="6313932" y="4288536"/>
            <a:ext cx="310896" cy="310896"/>
          </a:xfrm>
          <a:prstGeom prst="ellipse">
            <a:avLst/>
          </a:prstGeom>
          <a:solidFill>
            <a:srgbClr val="1B3B6F"/>
          </a:solidFill>
          <a:ln w="12700">
            <a:solidFill>
              <a:srgbClr val="1B3B6F"/>
            </a:solidFill>
            <a:prstDash val="solid"/>
          </a:ln>
        </p:spPr>
      </p:sp>
      <p:sp>
        <p:nvSpPr>
          <p:cNvPr id="63" name="Text 60"/>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4" name="Text 61"/>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uses the correct action?</a:t>
            </a:r>
            <a:endParaRPr lang="en-US" sz="1250" dirty="0"/>
          </a:p>
        </p:txBody>
      </p:sp>
      <p:sp>
        <p:nvSpPr>
          <p:cNvPr id="65" name="Shape 62"/>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6" name="Shape 63"/>
          <p:cNvSpPr/>
          <p:nvPr/>
        </p:nvSpPr>
        <p:spPr>
          <a:xfrm>
            <a:off x="6368796" y="4831080"/>
            <a:ext cx="256032" cy="256032"/>
          </a:xfrm>
          <a:prstGeom prst="ellipse">
            <a:avLst/>
          </a:prstGeom>
          <a:solidFill>
            <a:srgbClr val="2E8B57"/>
          </a:solidFill>
          <a:ln w="12700">
            <a:solidFill>
              <a:srgbClr val="2E8B57"/>
            </a:solidFill>
            <a:prstDash val="solid"/>
          </a:ln>
        </p:spPr>
      </p:sp>
      <p:sp>
        <p:nvSpPr>
          <p:cNvPr id="67" name="Text 64"/>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8" name="Text 65"/>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أَشْرَبُ الحَلِيبَ.</a:t>
            </a:r>
            <a:endParaRPr lang="ar-SA" sz="1700" dirty="0"/>
          </a:p>
        </p:txBody>
      </p:sp>
      <p:sp>
        <p:nvSpPr>
          <p:cNvPr id="69" name="Shape 66"/>
          <p:cNvSpPr/>
          <p:nvPr/>
        </p:nvSpPr>
        <p:spPr>
          <a:xfrm>
            <a:off x="6368796" y="5202936"/>
            <a:ext cx="256032" cy="256032"/>
          </a:xfrm>
          <a:prstGeom prst="ellipse">
            <a:avLst/>
          </a:prstGeom>
          <a:solidFill>
            <a:srgbClr val="C9CED6"/>
          </a:solidFill>
          <a:ln w="12700">
            <a:solidFill>
              <a:srgbClr val="C9CED6"/>
            </a:solidFill>
            <a:prstDash val="solid"/>
          </a:ln>
        </p:spPr>
      </p:sp>
      <p:sp>
        <p:nvSpPr>
          <p:cNvPr id="70" name="Text 67"/>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1" name="Text 68"/>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آكُلُ الحَلِيبَ.</a:t>
            </a:r>
            <a:endParaRPr lang="ar-SA" sz="1700" dirty="0"/>
          </a:p>
        </p:txBody>
      </p:sp>
      <p:sp>
        <p:nvSpPr>
          <p:cNvPr id="72" name="Shape 69"/>
          <p:cNvSpPr/>
          <p:nvPr/>
        </p:nvSpPr>
        <p:spPr>
          <a:xfrm>
            <a:off x="6368796" y="5574792"/>
            <a:ext cx="256032" cy="256032"/>
          </a:xfrm>
          <a:prstGeom prst="ellipse">
            <a:avLst/>
          </a:prstGeom>
          <a:solidFill>
            <a:srgbClr val="C9CED6"/>
          </a:solidFill>
          <a:ln w="12700">
            <a:solidFill>
              <a:srgbClr val="C9CED6"/>
            </a:solidFill>
            <a:prstDash val="solid"/>
          </a:ln>
        </p:spPr>
      </p:sp>
      <p:sp>
        <p:nvSpPr>
          <p:cNvPr id="73" name="Text 70"/>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4" name="Text 71"/>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أَشْرَبُ الخُبْزَ.</a:t>
            </a:r>
            <a:endParaRPr lang="ar-SA" sz="1700" dirty="0"/>
          </a:p>
        </p:txBody>
      </p:sp>
      <p:sp>
        <p:nvSpPr>
          <p:cNvPr id="75" name="Text 7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Milk is a drink, so use </a:t>
            </a:r>
            <a:pPr algn="l" indent="0" marL="0">
              <a:buNone/>
            </a:pPr>
            <a:r>
              <a:rPr lang="ar-SA" altLang="en-US" sz="1350" dirty="0">
                <a:solidFill>
                  <a:srgbClr val="8A6D1E"/>
                </a:solidFill>
                <a:latin typeface="Amiri" pitchFamily="2" charset="-78"/>
                <a:ea typeface="Amiri" pitchFamily="2" charset="-78"/>
                <a:cs typeface="Amiri" pitchFamily="2" charset="-78"/>
              </a:rPr>
              <a:t>أَشْرَبُ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6" name="Text 7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47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Watch me build a food profile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Like</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buNone/>
            </a:pPr>
            <a:r>
              <a:rPr lang="ar-SA" altLang="en-US" sz="2800" b="1" dirty="0">
                <a:solidFill>
                  <a:srgbClr val="1D5FBF"/>
                </a:solidFill>
                <a:latin typeface="Amiri" pitchFamily="2" charset="-78"/>
                <a:ea typeface="Amiri" pitchFamily="2" charset="-78"/>
                <a:cs typeface="Amiri" pitchFamily="2" charset="-78"/>
              </a:rPr>
              <a:t>أُ</a:t>
            </a:r>
            <a:pPr rtl="1" algn="ctr" indent="0" marL="0">
              <a:buNone/>
            </a:pPr>
            <a:r>
              <a:rPr lang="ar-SA" altLang="en-US" sz="2800" b="1" dirty="0">
                <a:solidFill>
                  <a:srgbClr val="1B3B6F"/>
                </a:solidFill>
                <a:latin typeface="Amiri" pitchFamily="2" charset="-78"/>
                <a:ea typeface="Amiri" pitchFamily="2" charset="-78"/>
                <a:cs typeface="Amiri" pitchFamily="2" charset="-78"/>
              </a:rPr>
              <a:t>حِبُّ الخُبْزَ وَالجُبْنَ.</a:t>
            </a:r>
            <a:endParaRPr lang="ar-SA" sz="280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Food straight after the verb.</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Eat / drink</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buNone/>
            </a:pPr>
            <a:r>
              <a:rPr lang="ar-SA" altLang="en-US" sz="2100" b="1" dirty="0">
                <a:solidFill>
                  <a:srgbClr val="1D5FBF"/>
                </a:solidFill>
                <a:latin typeface="Amiri" pitchFamily="2" charset="-78"/>
                <a:ea typeface="Amiri" pitchFamily="2" charset="-78"/>
                <a:cs typeface="Amiri" pitchFamily="2" charset="-78"/>
              </a:rPr>
              <a:t>آ</a:t>
            </a:r>
            <a:pPr rtl="1" algn="ctr" indent="0" marL="0">
              <a:buNone/>
            </a:pPr>
            <a:r>
              <a:rPr lang="ar-SA" altLang="en-US" sz="2100" b="1" dirty="0">
                <a:solidFill>
                  <a:srgbClr val="1B3B6F"/>
                </a:solidFill>
                <a:latin typeface="Amiri" pitchFamily="2" charset="-78"/>
                <a:ea typeface="Amiri" pitchFamily="2" charset="-78"/>
                <a:cs typeface="Amiri" pitchFamily="2" charset="-78"/>
              </a:rPr>
              <a:t>كُلُ الأَرُزَّ، وَ</a:t>
            </a:r>
            <a:pPr rtl="1" algn="ctr" indent="0" marL="0">
              <a:buNone/>
            </a:pPr>
            <a:r>
              <a:rPr lang="ar-SA" altLang="en-US" sz="2100" b="1" dirty="0">
                <a:solidFill>
                  <a:srgbClr val="1D5FBF"/>
                </a:solidFill>
                <a:latin typeface="Amiri" pitchFamily="2" charset="-78"/>
                <a:ea typeface="Amiri" pitchFamily="2" charset="-78"/>
                <a:cs typeface="Amiri" pitchFamily="2" charset="-78"/>
              </a:rPr>
              <a:t>أَ</a:t>
            </a:r>
            <a:pPr rtl="1" algn="ctr" indent="0" marL="0">
              <a:buNone/>
            </a:pPr>
            <a:r>
              <a:rPr lang="ar-SA" altLang="en-US" sz="2100" b="1" dirty="0">
                <a:solidFill>
                  <a:srgbClr val="1B3B6F"/>
                </a:solidFill>
                <a:latin typeface="Amiri" pitchFamily="2" charset="-78"/>
                <a:ea typeface="Amiri" pitchFamily="2" charset="-78"/>
                <a:cs typeface="Amiri" pitchFamily="2" charset="-78"/>
              </a:rPr>
              <a:t>شْرَبُ المَاءَ.</a:t>
            </a:r>
            <a:endParaRPr lang="ar-SA" sz="210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Food → eat. Drink → drink.</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Don’t like</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2000" b="1" dirty="0">
                <a:solidFill>
                  <a:srgbClr val="0E7C86"/>
                </a:solidFill>
                <a:latin typeface="Amiri" pitchFamily="2" charset="-78"/>
                <a:ea typeface="Amiri" pitchFamily="2" charset="-78"/>
                <a:cs typeface="Amiri" pitchFamily="2" charset="-78"/>
              </a:rPr>
              <a:t>لَا</a:t>
            </a:r>
            <a:pPr rtl="1" algn="ct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 أُحِبُّ القَهْوَةَ لِأَنَّهَا مُرَّ</a:t>
            </a:r>
            <a:pPr rtl="1" algn="ctr" indent="0" marL="0">
              <a:lnSpc>
                <a:spcPct val="120000"/>
              </a:lnSpc>
              <a:buNone/>
            </a:pPr>
            <a:r>
              <a:rPr lang="ar-SA" altLang="en-US" sz="2000" b="1" dirty="0">
                <a:solidFill>
                  <a:srgbClr val="D6336C"/>
                </a:solidFill>
                <a:latin typeface="Amiri" pitchFamily="2" charset="-78"/>
                <a:ea typeface="Amiri" pitchFamily="2" charset="-78"/>
                <a:cs typeface="Amiri" pitchFamily="2" charset="-78"/>
              </a:rPr>
              <a:t>ةٌ</a:t>
            </a:r>
            <a:pPr rtl="1" algn="ctr" indent="0" marL="0">
              <a:lnSpc>
                <a:spcPct val="120000"/>
              </a:lnSpc>
              <a:buNone/>
            </a:pPr>
            <a:r>
              <a:rPr lang="ar-SA" altLang="en-US" sz="2000" b="1" dirty="0">
                <a:solidFill>
                  <a:srgbClr val="1B3B6F"/>
                </a:solidFill>
                <a:latin typeface="Amiri" pitchFamily="2" charset="-78"/>
                <a:cs typeface="Amiri" pitchFamily="2" charset="-78"/>
              </a:rPr>
              <a:t>.</a:t>
            </a:r>
            <a:endParaRPr lang="ar-SA" sz="20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Coffee is feminine → murra.</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How often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دَائِمًا</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آكُلُ الفَاكِهَةَ فِي المَسَاءِ.</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AT-A-L03 frequency.</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8540496" y="4736592"/>
            <a:ext cx="914400" cy="237744"/>
          </a:xfrm>
          <a:prstGeom prst="roundRect">
            <a:avLst>
              <a:gd name="adj" fmla="val 50000"/>
            </a:avLst>
          </a:prstGeom>
          <a:solidFill>
            <a:srgbClr val="1D5FBF"/>
          </a:solidFill>
          <a:ln w="12700">
            <a:solidFill>
              <a:srgbClr val="1D5FBF"/>
            </a:solidFill>
            <a:prstDash val="solid"/>
          </a:ln>
        </p:spPr>
      </p:sp>
      <p:sp>
        <p:nvSpPr>
          <p:cNvPr id="46" name="Text 42"/>
          <p:cNvSpPr txBox="1"/>
          <p:nvPr/>
        </p:nvSpPr>
        <p:spPr>
          <a:xfrm>
            <a:off x="8540496"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WHO (I)</a:t>
            </a:r>
            <a:endParaRPr lang="en-US" sz="800" dirty="0"/>
          </a:p>
        </p:txBody>
      </p:sp>
      <p:sp>
        <p:nvSpPr>
          <p:cNvPr id="47" name="Shape 43"/>
          <p:cNvSpPr/>
          <p:nvPr/>
        </p:nvSpPr>
        <p:spPr>
          <a:xfrm>
            <a:off x="9528048" y="4736592"/>
            <a:ext cx="914400" cy="237744"/>
          </a:xfrm>
          <a:prstGeom prst="roundRect">
            <a:avLst>
              <a:gd name="adj" fmla="val 50000"/>
            </a:avLst>
          </a:prstGeom>
          <a:solidFill>
            <a:srgbClr val="D6336C"/>
          </a:solidFill>
          <a:ln w="12700">
            <a:solidFill>
              <a:srgbClr val="D6336C"/>
            </a:solidFill>
            <a:prstDash val="solid"/>
          </a:ln>
        </p:spPr>
      </p:sp>
      <p:sp>
        <p:nvSpPr>
          <p:cNvPr id="48" name="Text 44"/>
          <p:cNvSpPr txBox="1"/>
          <p:nvPr/>
        </p:nvSpPr>
        <p:spPr>
          <a:xfrm>
            <a:off x="9528048"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FEMININE</a:t>
            </a:r>
            <a:endParaRPr lang="en-US" sz="800" dirty="0"/>
          </a:p>
        </p:txBody>
      </p:sp>
      <p:sp>
        <p:nvSpPr>
          <p:cNvPr id="49" name="Shape 45"/>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50" name="Text 46"/>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NEGATIVE / FREQUENCY</a:t>
            </a:r>
            <a:endParaRPr lang="en-US" sz="800" dirty="0"/>
          </a:p>
        </p:txBody>
      </p:sp>
      <p:sp>
        <p:nvSpPr>
          <p:cNvPr id="51" name="Text 47"/>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50" b="1" dirty="0">
                <a:solidFill>
                  <a:srgbClr val="1D5FBF"/>
                </a:solidFill>
                <a:latin typeface="Amiri" pitchFamily="2" charset="-78"/>
                <a:ea typeface="Amiri" pitchFamily="2" charset="-78"/>
                <a:cs typeface="Amiri" pitchFamily="2" charset="-78"/>
              </a:rPr>
              <a:t>أُ</a:t>
            </a:r>
            <a:pPr rtl="1" algn="r" indent="0" marL="0">
              <a:buNone/>
            </a:pPr>
            <a:r>
              <a:rPr lang="ar-SA" altLang="en-US" sz="1750" b="1" dirty="0">
                <a:solidFill>
                  <a:srgbClr val="1B3B6F"/>
                </a:solidFill>
                <a:latin typeface="Amiri" pitchFamily="2" charset="-78"/>
                <a:ea typeface="Amiri" pitchFamily="2" charset="-78"/>
                <a:cs typeface="Amiri" pitchFamily="2" charset="-78"/>
              </a:rPr>
              <a:t>حِبُّ الخُبْزَ وَالجُبْنَ، وَ</a:t>
            </a:r>
            <a:pPr rtl="1" algn="r" indent="0" marL="0">
              <a:buNone/>
            </a:pPr>
            <a:r>
              <a:rPr lang="ar-SA" altLang="en-US" sz="1750" b="1" dirty="0">
                <a:solidFill>
                  <a:srgbClr val="1D5FBF"/>
                </a:solidFill>
                <a:latin typeface="Amiri" pitchFamily="2" charset="-78"/>
                <a:ea typeface="Amiri" pitchFamily="2" charset="-78"/>
                <a:cs typeface="Amiri" pitchFamily="2" charset="-78"/>
              </a:rPr>
              <a:t>آ</a:t>
            </a:r>
            <a:pPr rtl="1" algn="r" indent="0" marL="0">
              <a:buNone/>
            </a:pPr>
            <a:r>
              <a:rPr lang="ar-SA" altLang="en-US" sz="1750" b="1" dirty="0">
                <a:solidFill>
                  <a:srgbClr val="1B3B6F"/>
                </a:solidFill>
                <a:latin typeface="Amiri" pitchFamily="2" charset="-78"/>
                <a:ea typeface="Amiri" pitchFamily="2" charset="-78"/>
                <a:cs typeface="Amiri" pitchFamily="2" charset="-78"/>
              </a:rPr>
              <a:t>كُلُ الأَرُزَّ كَثِيرًا. </a:t>
            </a:r>
            <a:pPr rtl="1" algn="r" indent="0" marL="0">
              <a:buNone/>
            </a:pPr>
            <a:r>
              <a:rPr lang="ar-SA" altLang="en-US" sz="1750" b="1" dirty="0">
                <a:solidFill>
                  <a:srgbClr val="1D5FBF"/>
                </a:solidFill>
                <a:latin typeface="Amiri" pitchFamily="2" charset="-78"/>
                <a:ea typeface="Amiri" pitchFamily="2" charset="-78"/>
                <a:cs typeface="Amiri" pitchFamily="2" charset="-78"/>
              </a:rPr>
              <a:t>أَ</a:t>
            </a:r>
            <a:pPr rtl="1" algn="r" indent="0" marL="0">
              <a:buNone/>
            </a:pPr>
            <a:r>
              <a:rPr lang="ar-SA" altLang="en-US" sz="1750" b="1" dirty="0">
                <a:solidFill>
                  <a:srgbClr val="1B3B6F"/>
                </a:solidFill>
                <a:latin typeface="Amiri" pitchFamily="2" charset="-78"/>
                <a:ea typeface="Amiri" pitchFamily="2" charset="-78"/>
                <a:cs typeface="Amiri" pitchFamily="2" charset="-78"/>
              </a:rPr>
              <a:t>شْرَبُ المَاءَ وَالعَصِيرَ كُلَّ يَوْمٍ. </a:t>
            </a:r>
            <a:pPr rtl="1" algn="r" indent="0" marL="0">
              <a:buNone/>
            </a:pPr>
            <a:r>
              <a:rPr lang="ar-SA" altLang="en-US" sz="1750" b="1" dirty="0">
                <a:solidFill>
                  <a:srgbClr val="0E7C86"/>
                </a:solidFill>
                <a:latin typeface="Amiri" pitchFamily="2" charset="-78"/>
                <a:ea typeface="Amiri" pitchFamily="2" charset="-78"/>
                <a:cs typeface="Amiri" pitchFamily="2" charset="-78"/>
              </a:rPr>
              <a:t>لَا</a:t>
            </a:r>
            <a:pPr rtl="1" algn="r" indent="0" marL="0">
              <a:buNone/>
            </a:pPr>
            <a:r>
              <a:rPr lang="ar-SA" altLang="en-US" sz="1750" b="1" dirty="0">
                <a:solidFill>
                  <a:srgbClr val="1B3B6F"/>
                </a:solidFill>
                <a:latin typeface="Amiri" pitchFamily="2" charset="-78"/>
                <a:ea typeface="Amiri" pitchFamily="2" charset="-78"/>
                <a:cs typeface="Amiri" pitchFamily="2" charset="-78"/>
              </a:rPr>
              <a:t> أُحِبُّ القَهْوَةَ لِأَنَّهَا مُرَّ</a:t>
            </a:r>
            <a:pPr rtl="1" algn="r" indent="0" marL="0">
              <a:buNone/>
            </a:pPr>
            <a:r>
              <a:rPr lang="ar-SA" altLang="en-US" sz="1750" b="1" dirty="0">
                <a:solidFill>
                  <a:srgbClr val="D6336C"/>
                </a:solidFill>
                <a:latin typeface="Amiri" pitchFamily="2" charset="-78"/>
                <a:ea typeface="Amiri" pitchFamily="2" charset="-78"/>
                <a:cs typeface="Amiri" pitchFamily="2" charset="-78"/>
              </a:rPr>
              <a:t>ةٌ</a:t>
            </a:r>
            <a:pPr rtl="1" algn="r" indent="0" marL="0">
              <a:buNone/>
            </a:pPr>
            <a:r>
              <a:rPr lang="ar-SA" altLang="en-US" sz="1750" b="1" dirty="0">
                <a:solidFill>
                  <a:srgbClr val="1B3B6F"/>
                </a:solidFill>
                <a:latin typeface="Amiri" pitchFamily="2" charset="-78"/>
                <a:ea typeface="Amiri" pitchFamily="2" charset="-78"/>
                <a:cs typeface="Amiri" pitchFamily="2" charset="-78"/>
              </a:rPr>
              <a:t>، وَلٰكِنِّي </a:t>
            </a:r>
            <a:pPr rtl="1" algn="r" indent="0" marL="0">
              <a:buNone/>
            </a:pPr>
            <a:r>
              <a:rPr lang="ar-SA" altLang="en-US" sz="1750" b="1" dirty="0">
                <a:solidFill>
                  <a:srgbClr val="0E7C86"/>
                </a:solidFill>
                <a:latin typeface="Amiri" pitchFamily="2" charset="-78"/>
                <a:ea typeface="Amiri" pitchFamily="2" charset="-78"/>
                <a:cs typeface="Amiri" pitchFamily="2" charset="-78"/>
              </a:rPr>
              <a:t>دَائِمًا</a:t>
            </a:r>
            <a:pPr rtl="1" algn="r" indent="0" marL="0">
              <a:buNone/>
            </a:pPr>
            <a:r>
              <a:rPr lang="ar-SA" altLang="en-US" sz="1750" b="1" dirty="0">
                <a:solidFill>
                  <a:srgbClr val="1B3B6F"/>
                </a:solidFill>
                <a:latin typeface="Amiri" pitchFamily="2" charset="-78"/>
                <a:ea typeface="Amiri" pitchFamily="2" charset="-78"/>
                <a:cs typeface="Amiri" pitchFamily="2" charset="-78"/>
              </a:rPr>
              <a:t> آكُلُ الفَاكِهَةَ فِي المَسَاءِ.</a:t>
            </a:r>
            <a:endParaRPr lang="ar-SA" sz="1750" dirty="0"/>
          </a:p>
        </p:txBody>
      </p:sp>
      <p:sp>
        <p:nvSpPr>
          <p:cNvPr id="52" name="Text 48"/>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50" i="1" dirty="0">
                <a:solidFill>
                  <a:srgbClr val="5A6472"/>
                </a:solidFill>
                <a:latin typeface="Calibri" pitchFamily="34" charset="0"/>
                <a:cs typeface="Amiri" pitchFamily="2" charset="-78"/>
              </a:rPr>
              <a:t>I like bread and cheese, and I eat rice a lot. I drink water and juice every day. I don’t like coffee because it is bitter, but I always eat fruit in the evening.</a:t>
            </a:r>
            <a:endParaRPr lang="en-US" sz="1150" dirty="0"/>
          </a:p>
        </p:txBody>
      </p:sp>
      <p:sp>
        <p:nvSpPr>
          <p:cNvPr id="53" name="Text 4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47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MODEL SENTENCES FROM THE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Sentences to borrow</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جُمَلٌ نَمُوذَجِيَّةٌ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أُحِبُّ الخُبْزَ وَالجُبْنَ.</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like bread and cheese.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After أُحِبُّ, use the food as the object.</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لَا أُحِبُّ القَهْوَةَ.</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do not like coffee.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Put لَا directly before the present-tense verb.</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أَشْرَبُ المَاءَ وَالعَصِيرَ.</a:t>
            </a:r>
            <a:endParaRPr lang="ar-SA" sz="26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I drink water and juice.</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أَشْرَبُ with drinks.</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هَلْ تُحِبُّ السَّمَكَ؟</a:t>
            </a:r>
            <a:endParaRPr lang="ar-SA" sz="260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Do you like fish?</a:t>
            </a:r>
            <a:endParaRPr lang="en-US" sz="1250" dirty="0"/>
          </a:p>
          <a:p>
            <a:pPr indent="0" marL="0">
              <a:buNone/>
            </a:pPr>
            <a:r>
              <a:rPr lang="ar-SA" sz="1050" i="1" dirty="0">
                <a:solidFill>
                  <a:srgbClr val="8A6D1E"/>
                </a:solidFill>
                <a:latin typeface="Calibri" pitchFamily="34" charset="0"/>
                <a:ea typeface="Amiri" pitchFamily="2" charset="-78"/>
                <a:cs typeface="Amiri" pitchFamily="2" charset="-78"/>
              </a:rPr>
              <a:t>Use هَلْ to make a yes/no question.</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47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PICTURE MATCH · WEBSITE GAME “VISUAL GAME — FOOD AND DRINKS”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is it?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صُوَرُ الطَّعَامِ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an apple</a:t>
            </a:r>
            <a:endParaRPr lang="en-US" sz="1100" dirty="0"/>
          </a:p>
        </p:txBody>
      </p:sp>
      <p:sp>
        <p:nvSpPr>
          <p:cNvPr id="21" name="Shape 17"/>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4404360" y="1938528"/>
            <a:ext cx="365760" cy="365760"/>
          </a:xfrm>
          <a:prstGeom prst="ellipse">
            <a:avLst/>
          </a:prstGeom>
          <a:solidFill>
            <a:srgbClr val="1B3B6F"/>
          </a:solidFill>
          <a:ln w="12700">
            <a:solidFill>
              <a:srgbClr val="1B3B6F"/>
            </a:solidFill>
            <a:prstDash val="solid"/>
          </a:ln>
        </p:spPr>
      </p:sp>
      <p:sp>
        <p:nvSpPr>
          <p:cNvPr id="23" name="Text 19"/>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4" name="Shape 20"/>
          <p:cNvSpPr/>
          <p:nvPr/>
        </p:nvSpPr>
        <p:spPr>
          <a:xfrm>
            <a:off x="4992624" y="2066544"/>
            <a:ext cx="1014984" cy="1014984"/>
          </a:xfrm>
          <a:prstGeom prst="ellipse">
            <a:avLst/>
          </a:prstGeom>
          <a:solidFill>
            <a:srgbClr val="F4F1EA"/>
          </a:solidFill>
          <a:ln w="12700">
            <a:solidFill>
              <a:srgbClr val="F4F1EA"/>
            </a:solidFill>
            <a:prstDash val="solid"/>
          </a:ln>
        </p:spPr>
      </p:sp>
      <p:pic>
        <p:nvPicPr>
          <p:cNvPr id="25"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26" name="Shape 21"/>
          <p:cNvSpPr/>
          <p:nvPr/>
        </p:nvSpPr>
        <p:spPr>
          <a:xfrm>
            <a:off x="618134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28" name="Text 22"/>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glass of milk</a:t>
            </a:r>
            <a:endParaRPr lang="en-US" sz="1100" dirty="0"/>
          </a:p>
        </p:txBody>
      </p:sp>
      <p:sp>
        <p:nvSpPr>
          <p:cNvPr id="29" name="Shape 2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4"/>
          <p:cNvSpPr/>
          <p:nvPr/>
        </p:nvSpPr>
        <p:spPr>
          <a:xfrm>
            <a:off x="585216" y="1938528"/>
            <a:ext cx="365760" cy="365760"/>
          </a:xfrm>
          <a:prstGeom prst="ellipse">
            <a:avLst/>
          </a:prstGeom>
          <a:solidFill>
            <a:srgbClr val="1B3B6F"/>
          </a:solidFill>
          <a:ln w="12700">
            <a:solidFill>
              <a:srgbClr val="1B3B6F"/>
            </a:solidFill>
            <a:prstDash val="solid"/>
          </a:ln>
        </p:spPr>
      </p:sp>
      <p:sp>
        <p:nvSpPr>
          <p:cNvPr id="31" name="Text 2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Shape 26"/>
          <p:cNvSpPr/>
          <p:nvPr/>
        </p:nvSpPr>
        <p:spPr>
          <a:xfrm>
            <a:off x="1173480" y="2066544"/>
            <a:ext cx="1014984" cy="1014984"/>
          </a:xfrm>
          <a:prstGeom prst="ellipse">
            <a:avLst/>
          </a:prstGeom>
          <a:solidFill>
            <a:srgbClr val="F4F1EA"/>
          </a:solidFill>
          <a:ln w="12700">
            <a:solidFill>
              <a:srgbClr val="F4F1EA"/>
            </a:solidFill>
            <a:prstDash val="solid"/>
          </a:ln>
        </p:spPr>
      </p:sp>
      <p:pic>
        <p:nvPicPr>
          <p:cNvPr id="33"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34" name="Shape 27"/>
          <p:cNvSpPr/>
          <p:nvPr/>
        </p:nvSpPr>
        <p:spPr>
          <a:xfrm>
            <a:off x="236220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36" name="Text 2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bowl of salad</a:t>
            </a:r>
            <a:endParaRPr lang="en-US" sz="1100" dirty="0"/>
          </a:p>
        </p:txBody>
      </p:sp>
      <p:sp>
        <p:nvSpPr>
          <p:cNvPr id="37" name="Shape 29"/>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8" name="Shape 30"/>
          <p:cNvSpPr/>
          <p:nvPr/>
        </p:nvSpPr>
        <p:spPr>
          <a:xfrm>
            <a:off x="11247120" y="3831336"/>
            <a:ext cx="292608" cy="292608"/>
          </a:xfrm>
          <a:prstGeom prst="ellipse">
            <a:avLst/>
          </a:prstGeom>
          <a:solidFill>
            <a:srgbClr val="2F6FB0"/>
          </a:solidFill>
          <a:ln w="12700">
            <a:solidFill>
              <a:srgbClr val="2F6FB0"/>
            </a:solidFill>
            <a:prstDash val="solid"/>
          </a:ln>
        </p:spPr>
      </p:sp>
      <p:sp>
        <p:nvSpPr>
          <p:cNvPr id="39" name="Text 31"/>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0" name="Text 32"/>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هٰذَا حَلِيبٌ.</a:t>
            </a:r>
            <a:endParaRPr lang="ar-SA" sz="2000" dirty="0"/>
          </a:p>
        </p:txBody>
      </p:sp>
      <p:sp>
        <p:nvSpPr>
          <p:cNvPr id="41" name="Shape 33"/>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2" name="Shape 34"/>
          <p:cNvSpPr/>
          <p:nvPr/>
        </p:nvSpPr>
        <p:spPr>
          <a:xfrm>
            <a:off x="11247120" y="4398264"/>
            <a:ext cx="292608" cy="292608"/>
          </a:xfrm>
          <a:prstGeom prst="ellipse">
            <a:avLst/>
          </a:prstGeom>
          <a:solidFill>
            <a:srgbClr val="2F6FB0"/>
          </a:solidFill>
          <a:ln w="12700">
            <a:solidFill>
              <a:srgbClr val="2F6FB0"/>
            </a:solidFill>
            <a:prstDash val="solid"/>
          </a:ln>
        </p:spPr>
      </p:sp>
      <p:sp>
        <p:nvSpPr>
          <p:cNvPr id="43" name="Text 35"/>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4" name="Text 36"/>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سَلَطَةٌ.</a:t>
            </a:r>
            <a:endParaRPr lang="ar-SA" sz="2000" dirty="0"/>
          </a:p>
        </p:txBody>
      </p:sp>
      <p:sp>
        <p:nvSpPr>
          <p:cNvPr id="45" name="Shape 37"/>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6" name="Shape 38"/>
          <p:cNvSpPr/>
          <p:nvPr/>
        </p:nvSpPr>
        <p:spPr>
          <a:xfrm>
            <a:off x="11247120" y="4965192"/>
            <a:ext cx="292608" cy="292608"/>
          </a:xfrm>
          <a:prstGeom prst="ellipse">
            <a:avLst/>
          </a:prstGeom>
          <a:solidFill>
            <a:srgbClr val="2F6FB0"/>
          </a:solidFill>
          <a:ln w="12700">
            <a:solidFill>
              <a:srgbClr val="2F6FB0"/>
            </a:solidFill>
            <a:prstDash val="solid"/>
          </a:ln>
        </p:spPr>
      </p:sp>
      <p:sp>
        <p:nvSpPr>
          <p:cNvPr id="47" name="Text 39"/>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48" name="Text 40"/>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هٰذِهِ تُفَّاحَةٌ.</a:t>
            </a:r>
            <a:endParaRPr lang="ar-SA" sz="2000" dirty="0"/>
          </a:p>
        </p:txBody>
      </p:sp>
      <p:sp>
        <p:nvSpPr>
          <p:cNvPr id="49" name="Text 41"/>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0" name="Text 42"/>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1"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47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صُوَرُ الطَّعَامِ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Text 16"/>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an apple</a:t>
            </a:r>
            <a:endParaRPr lang="en-US" sz="1100" dirty="0"/>
          </a:p>
        </p:txBody>
      </p:sp>
      <p:sp>
        <p:nvSpPr>
          <p:cNvPr id="21" name="Shape 17"/>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Shape 18"/>
          <p:cNvSpPr/>
          <p:nvPr/>
        </p:nvSpPr>
        <p:spPr>
          <a:xfrm>
            <a:off x="11256264" y="3785616"/>
            <a:ext cx="329184" cy="329184"/>
          </a:xfrm>
          <a:prstGeom prst="ellipse">
            <a:avLst/>
          </a:prstGeom>
          <a:solidFill>
            <a:srgbClr val="2E8B57"/>
          </a:solidFill>
          <a:ln w="12700">
            <a:solidFill>
              <a:srgbClr val="2E8B57"/>
            </a:solidFill>
            <a:prstDash val="solid"/>
          </a:ln>
        </p:spPr>
      </p:sp>
      <p:sp>
        <p:nvSpPr>
          <p:cNvPr id="23" name="Text 19"/>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4" name="Text 20"/>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تُفَّاحَةٌ.</a:t>
            </a:r>
            <a:endParaRPr lang="ar-SA" sz="2200" dirty="0"/>
          </a:p>
        </p:txBody>
      </p:sp>
      <p:sp>
        <p:nvSpPr>
          <p:cNvPr id="25" name="Text 21"/>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an apple.</a:t>
            </a:r>
            <a:endParaRPr lang="en-US" sz="1200" dirty="0"/>
          </a:p>
        </p:txBody>
      </p:sp>
      <p:sp>
        <p:nvSpPr>
          <p:cNvPr id="26" name="Shape 22"/>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7" name="Shape 23"/>
          <p:cNvSpPr/>
          <p:nvPr/>
        </p:nvSpPr>
        <p:spPr>
          <a:xfrm>
            <a:off x="4404360" y="1938528"/>
            <a:ext cx="365760" cy="365760"/>
          </a:xfrm>
          <a:prstGeom prst="ellipse">
            <a:avLst/>
          </a:prstGeom>
          <a:solidFill>
            <a:srgbClr val="1B3B6F"/>
          </a:solidFill>
          <a:ln w="12700">
            <a:solidFill>
              <a:srgbClr val="1B3B6F"/>
            </a:solidFill>
            <a:prstDash val="solid"/>
          </a:ln>
        </p:spPr>
      </p:sp>
      <p:sp>
        <p:nvSpPr>
          <p:cNvPr id="28" name="Text 24"/>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9" name="Shape 25"/>
          <p:cNvSpPr/>
          <p:nvPr/>
        </p:nvSpPr>
        <p:spPr>
          <a:xfrm>
            <a:off x="4992624" y="2066544"/>
            <a:ext cx="1014984" cy="1014984"/>
          </a:xfrm>
          <a:prstGeom prst="ellipse">
            <a:avLst/>
          </a:prstGeom>
          <a:solidFill>
            <a:srgbClr val="F4F1EA"/>
          </a:solidFill>
          <a:ln w="12700">
            <a:solidFill>
              <a:srgbClr val="F4F1EA"/>
            </a:solidFill>
            <a:prstDash val="solid"/>
          </a:ln>
        </p:spPr>
      </p:sp>
      <p:pic>
        <p:nvPicPr>
          <p:cNvPr id="30" name="Image 1" descr="preencoded.png">    </p:cNvPr>
          <p:cNvPicPr>
            <a:picLocks noChangeAspect="1"/>
          </p:cNvPicPr>
          <p:nvPr/>
        </p:nvPicPr>
        <p:blipFill>
          <a:blip r:embed="rId2"/>
          <a:stretch>
            <a:fillRect/>
          </a:stretch>
        </p:blipFill>
        <p:spPr>
          <a:xfrm>
            <a:off x="5175504" y="2249424"/>
            <a:ext cx="649224" cy="649224"/>
          </a:xfrm>
          <a:prstGeom prst="rect">
            <a:avLst/>
          </a:prstGeom>
        </p:spPr>
      </p:pic>
      <p:sp>
        <p:nvSpPr>
          <p:cNvPr id="31" name="Shape 26"/>
          <p:cNvSpPr/>
          <p:nvPr/>
        </p:nvSpPr>
        <p:spPr>
          <a:xfrm>
            <a:off x="618134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6364224" y="2249424"/>
            <a:ext cx="649224" cy="649224"/>
          </a:xfrm>
          <a:prstGeom prst="rect">
            <a:avLst/>
          </a:prstGeom>
        </p:spPr>
      </p:pic>
      <p:sp>
        <p:nvSpPr>
          <p:cNvPr id="33" name="Text 27"/>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glass of milk</a:t>
            </a:r>
            <a:endParaRPr lang="en-US" sz="1100" dirty="0"/>
          </a:p>
        </p:txBody>
      </p:sp>
      <p:sp>
        <p:nvSpPr>
          <p:cNvPr id="34" name="Shape 28"/>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5" name="Shape 29"/>
          <p:cNvSpPr/>
          <p:nvPr/>
        </p:nvSpPr>
        <p:spPr>
          <a:xfrm>
            <a:off x="7437120" y="3785616"/>
            <a:ext cx="329184" cy="329184"/>
          </a:xfrm>
          <a:prstGeom prst="ellipse">
            <a:avLst/>
          </a:prstGeom>
          <a:solidFill>
            <a:srgbClr val="2E8B57"/>
          </a:solidFill>
          <a:ln w="12700">
            <a:solidFill>
              <a:srgbClr val="2E8B57"/>
            </a:solidFill>
            <a:prstDash val="solid"/>
          </a:ln>
        </p:spPr>
      </p:sp>
      <p:sp>
        <p:nvSpPr>
          <p:cNvPr id="36" name="Text 30"/>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7" name="Text 31"/>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هٰذَا حَلِيبٌ.</a:t>
            </a:r>
            <a:endParaRPr lang="ar-SA" sz="2200" dirty="0"/>
          </a:p>
        </p:txBody>
      </p:sp>
      <p:sp>
        <p:nvSpPr>
          <p:cNvPr id="38" name="Text 32"/>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milk.</a:t>
            </a:r>
            <a:endParaRPr lang="en-US" sz="1200" dirty="0"/>
          </a:p>
        </p:txBody>
      </p:sp>
      <p:sp>
        <p:nvSpPr>
          <p:cNvPr id="39" name="Shape 33"/>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4"/>
          <p:cNvSpPr/>
          <p:nvPr/>
        </p:nvSpPr>
        <p:spPr>
          <a:xfrm>
            <a:off x="585216" y="1938528"/>
            <a:ext cx="365760" cy="365760"/>
          </a:xfrm>
          <a:prstGeom prst="ellipse">
            <a:avLst/>
          </a:prstGeom>
          <a:solidFill>
            <a:srgbClr val="1B3B6F"/>
          </a:solidFill>
          <a:ln w="12700">
            <a:solidFill>
              <a:srgbClr val="1B3B6F"/>
            </a:solidFill>
            <a:prstDash val="solid"/>
          </a:ln>
        </p:spPr>
      </p:sp>
      <p:sp>
        <p:nvSpPr>
          <p:cNvPr id="41" name="Text 35"/>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2" name="Shape 36"/>
          <p:cNvSpPr/>
          <p:nvPr/>
        </p:nvSpPr>
        <p:spPr>
          <a:xfrm>
            <a:off x="1173480" y="2066544"/>
            <a:ext cx="1014984" cy="1014984"/>
          </a:xfrm>
          <a:prstGeom prst="ellipse">
            <a:avLst/>
          </a:prstGeom>
          <a:solidFill>
            <a:srgbClr val="F4F1EA"/>
          </a:solidFill>
          <a:ln w="12700">
            <a:solidFill>
              <a:srgbClr val="F4F1EA"/>
            </a:solidFill>
            <a:prstDash val="solid"/>
          </a:ln>
        </p:spPr>
      </p:sp>
      <p:pic>
        <p:nvPicPr>
          <p:cNvPr id="43" name="Image 3" descr="preencoded.png">    </p:cNvPr>
          <p:cNvPicPr>
            <a:picLocks noChangeAspect="1"/>
          </p:cNvPicPr>
          <p:nvPr/>
        </p:nvPicPr>
        <p:blipFill>
          <a:blip r:embed="rId4"/>
          <a:stretch>
            <a:fillRect/>
          </a:stretch>
        </p:blipFill>
        <p:spPr>
          <a:xfrm>
            <a:off x="1356360" y="2249424"/>
            <a:ext cx="649224" cy="649224"/>
          </a:xfrm>
          <a:prstGeom prst="rect">
            <a:avLst/>
          </a:prstGeom>
        </p:spPr>
      </p:pic>
      <p:sp>
        <p:nvSpPr>
          <p:cNvPr id="44" name="Shape 37"/>
          <p:cNvSpPr/>
          <p:nvPr/>
        </p:nvSpPr>
        <p:spPr>
          <a:xfrm>
            <a:off x="236220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2545080" y="2249424"/>
            <a:ext cx="649224" cy="649224"/>
          </a:xfrm>
          <a:prstGeom prst="rect">
            <a:avLst/>
          </a:prstGeom>
        </p:spPr>
      </p:pic>
      <p:sp>
        <p:nvSpPr>
          <p:cNvPr id="46" name="Text 38"/>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a bowl of salad</a:t>
            </a:r>
            <a:endParaRPr lang="en-US" sz="1100" dirty="0"/>
          </a:p>
        </p:txBody>
      </p:sp>
      <p:sp>
        <p:nvSpPr>
          <p:cNvPr id="47" name="Shape 39"/>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8" name="Shape 40"/>
          <p:cNvSpPr/>
          <p:nvPr/>
        </p:nvSpPr>
        <p:spPr>
          <a:xfrm>
            <a:off x="3617976" y="3785616"/>
            <a:ext cx="329184" cy="329184"/>
          </a:xfrm>
          <a:prstGeom prst="ellipse">
            <a:avLst/>
          </a:prstGeom>
          <a:solidFill>
            <a:srgbClr val="2E8B57"/>
          </a:solidFill>
          <a:ln w="12700">
            <a:solidFill>
              <a:srgbClr val="2E8B57"/>
            </a:solidFill>
            <a:prstDash val="solid"/>
          </a:ln>
        </p:spPr>
      </p:sp>
      <p:sp>
        <p:nvSpPr>
          <p:cNvPr id="49" name="Text 41"/>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0" name="Text 42"/>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هٰذِهِ سَلَطَةٌ.</a:t>
            </a:r>
            <a:endParaRPr lang="ar-SA" sz="2200" dirty="0"/>
          </a:p>
        </p:txBody>
      </p:sp>
      <p:sp>
        <p:nvSpPr>
          <p:cNvPr id="51" name="Text 43"/>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This is a salad.</a:t>
            </a:r>
            <a:endParaRPr lang="en-US" sz="1200" dirty="0"/>
          </a:p>
        </p:txBody>
      </p:sp>
      <p:sp>
        <p:nvSpPr>
          <p:cNvPr id="52"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47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SORTER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Food or drink?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صَنِّفْ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9015984"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9107424"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حَلِيبٌ</a:t>
            </a:r>
            <a:endParaRPr lang="ar-SA" sz="1800" dirty="0"/>
          </a:p>
        </p:txBody>
      </p:sp>
      <p:sp>
        <p:nvSpPr>
          <p:cNvPr id="17" name="Shape 14"/>
          <p:cNvSpPr/>
          <p:nvPr/>
        </p:nvSpPr>
        <p:spPr>
          <a:xfrm>
            <a:off x="6163056"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254496"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دَجَاجٌ</a:t>
            </a:r>
            <a:endParaRPr lang="ar-SA" sz="1800" dirty="0"/>
          </a:p>
        </p:txBody>
      </p:sp>
      <p:sp>
        <p:nvSpPr>
          <p:cNvPr id="19" name="Shape 16"/>
          <p:cNvSpPr/>
          <p:nvPr/>
        </p:nvSpPr>
        <p:spPr>
          <a:xfrm>
            <a:off x="3310128"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3401568"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عَصِيرٌ</a:t>
            </a:r>
            <a:endParaRPr lang="ar-SA" sz="1800" dirty="0"/>
          </a:p>
        </p:txBody>
      </p:sp>
      <p:sp>
        <p:nvSpPr>
          <p:cNvPr id="21" name="Shape 18"/>
          <p:cNvSpPr/>
          <p:nvPr/>
        </p:nvSpPr>
        <p:spPr>
          <a:xfrm>
            <a:off x="457200" y="1810512"/>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548640" y="1810512"/>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خِيَارٌ</a:t>
            </a:r>
            <a:endParaRPr lang="ar-SA" sz="1800" dirty="0"/>
          </a:p>
        </p:txBody>
      </p:sp>
      <p:sp>
        <p:nvSpPr>
          <p:cNvPr id="23" name="Shape 20"/>
          <p:cNvSpPr/>
          <p:nvPr/>
        </p:nvSpPr>
        <p:spPr>
          <a:xfrm>
            <a:off x="9015984"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9107424"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قَهْوَةٌ</a:t>
            </a:r>
            <a:endParaRPr lang="ar-SA" sz="1800" dirty="0"/>
          </a:p>
        </p:txBody>
      </p:sp>
      <p:sp>
        <p:nvSpPr>
          <p:cNvPr id="25" name="Shape 22"/>
          <p:cNvSpPr/>
          <p:nvPr/>
        </p:nvSpPr>
        <p:spPr>
          <a:xfrm>
            <a:off x="6163056"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6" name="Text 23"/>
          <p:cNvSpPr txBox="1"/>
          <p:nvPr/>
        </p:nvSpPr>
        <p:spPr>
          <a:xfrm>
            <a:off x="6254496"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أَرُزٌّ</a:t>
            </a:r>
            <a:endParaRPr lang="ar-SA" sz="1800" dirty="0"/>
          </a:p>
        </p:txBody>
      </p:sp>
      <p:sp>
        <p:nvSpPr>
          <p:cNvPr id="27" name="Shape 24"/>
          <p:cNvSpPr/>
          <p:nvPr/>
        </p:nvSpPr>
        <p:spPr>
          <a:xfrm>
            <a:off x="3310128"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3401568"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مَاءٌ</a:t>
            </a:r>
            <a:endParaRPr lang="ar-SA" sz="1800" dirty="0"/>
          </a:p>
        </p:txBody>
      </p:sp>
      <p:sp>
        <p:nvSpPr>
          <p:cNvPr id="29" name="Shape 26"/>
          <p:cNvSpPr/>
          <p:nvPr/>
        </p:nvSpPr>
        <p:spPr>
          <a:xfrm>
            <a:off x="457200" y="2322576"/>
            <a:ext cx="2715768" cy="438912"/>
          </a:xfrm>
          <a:prstGeom prst="roundRect">
            <a:avLst>
              <a:gd name="adj" fmla="val 12500"/>
            </a:avLst>
          </a:prstGeom>
          <a:solidFill>
            <a:srgbClr val="FFF4DC"/>
          </a:solidFill>
          <a:ln w="9525">
            <a:solidFill>
              <a:srgbClr val="E6C98A"/>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548640" y="2322576"/>
            <a:ext cx="2532888"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سَمَكٌ</a:t>
            </a:r>
            <a:endParaRPr lang="ar-SA" sz="1800" dirty="0"/>
          </a:p>
        </p:txBody>
      </p:sp>
      <p:sp>
        <p:nvSpPr>
          <p:cNvPr id="31" name="Shape 28"/>
          <p:cNvSpPr/>
          <p:nvPr/>
        </p:nvSpPr>
        <p:spPr>
          <a:xfrm>
            <a:off x="6185916" y="3017520"/>
            <a:ext cx="5545836" cy="3291840"/>
          </a:xfrm>
          <a:prstGeom prst="roundRect">
            <a:avLst>
              <a:gd name="adj" fmla="val 2222"/>
            </a:avLst>
          </a:prstGeom>
          <a:solidFill>
            <a:srgbClr val="EEF3FA"/>
          </a:solidFill>
          <a:ln w="9525">
            <a:solidFill>
              <a:srgbClr val="C9D6EA"/>
            </a:solidFill>
            <a:prstDash val="solid"/>
          </a:ln>
        </p:spPr>
      </p:sp>
      <p:sp>
        <p:nvSpPr>
          <p:cNvPr id="32" name="Shape 29"/>
          <p:cNvSpPr/>
          <p:nvPr/>
        </p:nvSpPr>
        <p:spPr>
          <a:xfrm>
            <a:off x="6323076" y="3127248"/>
            <a:ext cx="5271516" cy="310896"/>
          </a:xfrm>
          <a:prstGeom prst="roundRect">
            <a:avLst>
              <a:gd name="adj" fmla="val 50000"/>
            </a:avLst>
          </a:prstGeom>
          <a:solidFill>
            <a:srgbClr val="2F6FB0"/>
          </a:solidFill>
          <a:ln w="12700">
            <a:solidFill>
              <a:srgbClr val="2F6FB0"/>
            </a:solidFill>
            <a:prstDash val="solid"/>
          </a:ln>
        </p:spPr>
      </p:sp>
      <p:sp>
        <p:nvSpPr>
          <p:cNvPr id="33" name="Text 30"/>
          <p:cNvSpPr txBox="1"/>
          <p:nvPr/>
        </p:nvSpPr>
        <p:spPr>
          <a:xfrm>
            <a:off x="6323076"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Food · طَعَامٌ</a:t>
            </a:r>
            <a:endParaRPr lang="en-US" sz="950" dirty="0"/>
          </a:p>
        </p:txBody>
      </p:sp>
      <p:sp>
        <p:nvSpPr>
          <p:cNvPr id="34" name="Shape 31"/>
          <p:cNvSpPr/>
          <p:nvPr/>
        </p:nvSpPr>
        <p:spPr>
          <a:xfrm>
            <a:off x="457200" y="3017520"/>
            <a:ext cx="5545836" cy="3291840"/>
          </a:xfrm>
          <a:prstGeom prst="roundRect">
            <a:avLst>
              <a:gd name="adj" fmla="val 2222"/>
            </a:avLst>
          </a:prstGeom>
          <a:solidFill>
            <a:srgbClr val="EEF3FA"/>
          </a:solidFill>
          <a:ln w="9525">
            <a:solidFill>
              <a:srgbClr val="C9D6EA"/>
            </a:solidFill>
            <a:prstDash val="solid"/>
          </a:ln>
        </p:spPr>
      </p:sp>
      <p:sp>
        <p:nvSpPr>
          <p:cNvPr id="35" name="Shape 32"/>
          <p:cNvSpPr/>
          <p:nvPr/>
        </p:nvSpPr>
        <p:spPr>
          <a:xfrm>
            <a:off x="594360" y="3127248"/>
            <a:ext cx="5271516" cy="310896"/>
          </a:xfrm>
          <a:prstGeom prst="roundRect">
            <a:avLst>
              <a:gd name="adj" fmla="val 50000"/>
            </a:avLst>
          </a:prstGeom>
          <a:solidFill>
            <a:srgbClr val="2F6FB0"/>
          </a:solidFill>
          <a:ln w="12700">
            <a:solidFill>
              <a:srgbClr val="2F6FB0"/>
            </a:solidFill>
            <a:prstDash val="solid"/>
          </a:ln>
        </p:spPr>
      </p:sp>
      <p:sp>
        <p:nvSpPr>
          <p:cNvPr id="36" name="Text 33"/>
          <p:cNvSpPr txBox="1"/>
          <p:nvPr/>
        </p:nvSpPr>
        <p:spPr>
          <a:xfrm>
            <a:off x="594360" y="3127248"/>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Drink · شَرَابٌ</a:t>
            </a:r>
            <a:endParaRPr lang="en-US" sz="95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47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SORTER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Sorted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6185916" y="1810512"/>
            <a:ext cx="5545836" cy="4498848"/>
          </a:xfrm>
          <a:prstGeom prst="roundRect">
            <a:avLst>
              <a:gd name="adj" fmla="val 1626"/>
            </a:avLst>
          </a:prstGeom>
          <a:solidFill>
            <a:srgbClr val="EEF3FA"/>
          </a:solidFill>
          <a:ln w="9525">
            <a:solidFill>
              <a:srgbClr val="C9D6EA"/>
            </a:solidFill>
            <a:prstDash val="solid"/>
          </a:ln>
        </p:spPr>
      </p:sp>
      <p:sp>
        <p:nvSpPr>
          <p:cNvPr id="16" name="Shape 13"/>
          <p:cNvSpPr/>
          <p:nvPr/>
        </p:nvSpPr>
        <p:spPr>
          <a:xfrm>
            <a:off x="6323076" y="1920240"/>
            <a:ext cx="5271516" cy="310896"/>
          </a:xfrm>
          <a:prstGeom prst="roundRect">
            <a:avLst>
              <a:gd name="adj" fmla="val 50000"/>
            </a:avLst>
          </a:prstGeom>
          <a:solidFill>
            <a:srgbClr val="2F6FB0"/>
          </a:solidFill>
          <a:ln w="12700">
            <a:solidFill>
              <a:srgbClr val="2F6FB0"/>
            </a:solidFill>
            <a:prstDash val="solid"/>
          </a:ln>
        </p:spPr>
      </p:sp>
      <p:sp>
        <p:nvSpPr>
          <p:cNvPr id="17" name="Text 14"/>
          <p:cNvSpPr txBox="1"/>
          <p:nvPr/>
        </p:nvSpPr>
        <p:spPr>
          <a:xfrm>
            <a:off x="6323076"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1 · Food · طَعَامٌ</a:t>
            </a:r>
            <a:endParaRPr lang="en-US" sz="950" dirty="0"/>
          </a:p>
        </p:txBody>
      </p:sp>
      <p:sp>
        <p:nvSpPr>
          <p:cNvPr id="18" name="Shape 15"/>
          <p:cNvSpPr/>
          <p:nvPr/>
        </p:nvSpPr>
        <p:spPr>
          <a:xfrm>
            <a:off x="6323076" y="2377440"/>
            <a:ext cx="5271516" cy="438912"/>
          </a:xfrm>
          <a:prstGeom prst="roundRect">
            <a:avLst>
              <a:gd name="adj" fmla="val 12500"/>
            </a:avLst>
          </a:prstGeom>
          <a:solidFill>
            <a:srgbClr val="FFF4DC"/>
          </a:solidFill>
          <a:ln w="9525">
            <a:solidFill>
              <a:srgbClr val="E6C98A"/>
            </a:solidFill>
            <a:prstDash val="solid"/>
          </a:ln>
        </p:spPr>
      </p:sp>
      <p:sp>
        <p:nvSpPr>
          <p:cNvPr id="19" name="Text 16"/>
          <p:cNvSpPr txBox="1"/>
          <p:nvPr/>
        </p:nvSpPr>
        <p:spPr>
          <a:xfrm>
            <a:off x="6414516"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دَجَاجٌ</a:t>
            </a:r>
            <a:endParaRPr lang="ar-SA" sz="1800" dirty="0"/>
          </a:p>
        </p:txBody>
      </p:sp>
      <p:sp>
        <p:nvSpPr>
          <p:cNvPr id="20" name="Shape 17"/>
          <p:cNvSpPr/>
          <p:nvPr/>
        </p:nvSpPr>
        <p:spPr>
          <a:xfrm>
            <a:off x="6323076" y="2889504"/>
            <a:ext cx="5271516" cy="438912"/>
          </a:xfrm>
          <a:prstGeom prst="roundRect">
            <a:avLst>
              <a:gd name="adj" fmla="val 12500"/>
            </a:avLst>
          </a:prstGeom>
          <a:solidFill>
            <a:srgbClr val="FFF4DC"/>
          </a:solidFill>
          <a:ln w="9525">
            <a:solidFill>
              <a:srgbClr val="E6C98A"/>
            </a:solidFill>
            <a:prstDash val="solid"/>
          </a:ln>
        </p:spPr>
      </p:sp>
      <p:sp>
        <p:nvSpPr>
          <p:cNvPr id="21" name="Text 18"/>
          <p:cNvSpPr txBox="1"/>
          <p:nvPr/>
        </p:nvSpPr>
        <p:spPr>
          <a:xfrm>
            <a:off x="6414516"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خِيَارٌ</a:t>
            </a:r>
            <a:endParaRPr lang="ar-SA" sz="1800" dirty="0"/>
          </a:p>
        </p:txBody>
      </p:sp>
      <p:sp>
        <p:nvSpPr>
          <p:cNvPr id="22" name="Shape 19"/>
          <p:cNvSpPr/>
          <p:nvPr/>
        </p:nvSpPr>
        <p:spPr>
          <a:xfrm>
            <a:off x="6323076" y="3401568"/>
            <a:ext cx="5271516" cy="438912"/>
          </a:xfrm>
          <a:prstGeom prst="roundRect">
            <a:avLst>
              <a:gd name="adj" fmla="val 12500"/>
            </a:avLst>
          </a:prstGeom>
          <a:solidFill>
            <a:srgbClr val="FFF4DC"/>
          </a:solidFill>
          <a:ln w="9525">
            <a:solidFill>
              <a:srgbClr val="E6C98A"/>
            </a:solidFill>
            <a:prstDash val="solid"/>
          </a:ln>
        </p:spPr>
      </p:sp>
      <p:sp>
        <p:nvSpPr>
          <p:cNvPr id="23" name="Text 20"/>
          <p:cNvSpPr txBox="1"/>
          <p:nvPr/>
        </p:nvSpPr>
        <p:spPr>
          <a:xfrm>
            <a:off x="6414516"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أَرُزٌّ</a:t>
            </a:r>
            <a:endParaRPr lang="ar-SA" sz="1800" dirty="0"/>
          </a:p>
        </p:txBody>
      </p:sp>
      <p:sp>
        <p:nvSpPr>
          <p:cNvPr id="24" name="Shape 21"/>
          <p:cNvSpPr/>
          <p:nvPr/>
        </p:nvSpPr>
        <p:spPr>
          <a:xfrm>
            <a:off x="6323076" y="3913632"/>
            <a:ext cx="5271516" cy="438912"/>
          </a:xfrm>
          <a:prstGeom prst="roundRect">
            <a:avLst>
              <a:gd name="adj" fmla="val 12500"/>
            </a:avLst>
          </a:prstGeom>
          <a:solidFill>
            <a:srgbClr val="FFF4DC"/>
          </a:solidFill>
          <a:ln w="9525">
            <a:solidFill>
              <a:srgbClr val="E6C98A"/>
            </a:solidFill>
            <a:prstDash val="solid"/>
          </a:ln>
        </p:spPr>
      </p:sp>
      <p:sp>
        <p:nvSpPr>
          <p:cNvPr id="25" name="Text 22"/>
          <p:cNvSpPr txBox="1"/>
          <p:nvPr/>
        </p:nvSpPr>
        <p:spPr>
          <a:xfrm>
            <a:off x="6414516"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سَمَكٌ</a:t>
            </a:r>
            <a:endParaRPr lang="ar-SA" sz="1800" dirty="0"/>
          </a:p>
        </p:txBody>
      </p:sp>
      <p:sp>
        <p:nvSpPr>
          <p:cNvPr id="26" name="Shape 23"/>
          <p:cNvSpPr/>
          <p:nvPr/>
        </p:nvSpPr>
        <p:spPr>
          <a:xfrm>
            <a:off x="457200" y="1810512"/>
            <a:ext cx="5545836" cy="4498848"/>
          </a:xfrm>
          <a:prstGeom prst="roundRect">
            <a:avLst>
              <a:gd name="adj" fmla="val 1626"/>
            </a:avLst>
          </a:prstGeom>
          <a:solidFill>
            <a:srgbClr val="EEF3FA"/>
          </a:solidFill>
          <a:ln w="9525">
            <a:solidFill>
              <a:srgbClr val="C9D6EA"/>
            </a:solidFill>
            <a:prstDash val="solid"/>
          </a:ln>
        </p:spPr>
      </p:sp>
      <p:sp>
        <p:nvSpPr>
          <p:cNvPr id="27" name="Shape 24"/>
          <p:cNvSpPr/>
          <p:nvPr/>
        </p:nvSpPr>
        <p:spPr>
          <a:xfrm>
            <a:off x="594360" y="1920240"/>
            <a:ext cx="5271516" cy="310896"/>
          </a:xfrm>
          <a:prstGeom prst="roundRect">
            <a:avLst>
              <a:gd name="adj" fmla="val 50000"/>
            </a:avLst>
          </a:prstGeom>
          <a:solidFill>
            <a:srgbClr val="2F6FB0"/>
          </a:solidFill>
          <a:ln w="12700">
            <a:solidFill>
              <a:srgbClr val="2F6FB0"/>
            </a:solidFill>
            <a:prstDash val="solid"/>
          </a:ln>
        </p:spPr>
      </p:sp>
      <p:sp>
        <p:nvSpPr>
          <p:cNvPr id="28" name="Text 25"/>
          <p:cNvSpPr txBox="1"/>
          <p:nvPr/>
        </p:nvSpPr>
        <p:spPr>
          <a:xfrm>
            <a:off x="594360" y="1920240"/>
            <a:ext cx="5271516" cy="310896"/>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2 · Drink · شَرَابٌ</a:t>
            </a:r>
            <a:endParaRPr lang="en-US" sz="950" dirty="0"/>
          </a:p>
        </p:txBody>
      </p:sp>
      <p:sp>
        <p:nvSpPr>
          <p:cNvPr id="29" name="Shape 26"/>
          <p:cNvSpPr/>
          <p:nvPr/>
        </p:nvSpPr>
        <p:spPr>
          <a:xfrm>
            <a:off x="594360" y="2377440"/>
            <a:ext cx="5271516" cy="438912"/>
          </a:xfrm>
          <a:prstGeom prst="roundRect">
            <a:avLst>
              <a:gd name="adj" fmla="val 12500"/>
            </a:avLst>
          </a:prstGeom>
          <a:solidFill>
            <a:srgbClr val="FFF4DC"/>
          </a:solidFill>
          <a:ln w="9525">
            <a:solidFill>
              <a:srgbClr val="E6C98A"/>
            </a:solidFill>
            <a:prstDash val="solid"/>
          </a:ln>
        </p:spPr>
      </p:sp>
      <p:sp>
        <p:nvSpPr>
          <p:cNvPr id="30" name="Text 27"/>
          <p:cNvSpPr txBox="1"/>
          <p:nvPr/>
        </p:nvSpPr>
        <p:spPr>
          <a:xfrm>
            <a:off x="685800" y="2377440"/>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حَلِيبٌ</a:t>
            </a:r>
            <a:endParaRPr lang="ar-SA" sz="1800" dirty="0"/>
          </a:p>
        </p:txBody>
      </p:sp>
      <p:sp>
        <p:nvSpPr>
          <p:cNvPr id="31" name="Shape 28"/>
          <p:cNvSpPr/>
          <p:nvPr/>
        </p:nvSpPr>
        <p:spPr>
          <a:xfrm>
            <a:off x="594360" y="2889504"/>
            <a:ext cx="5271516" cy="438912"/>
          </a:xfrm>
          <a:prstGeom prst="roundRect">
            <a:avLst>
              <a:gd name="adj" fmla="val 12500"/>
            </a:avLst>
          </a:prstGeom>
          <a:solidFill>
            <a:srgbClr val="FFF4DC"/>
          </a:solidFill>
          <a:ln w="9525">
            <a:solidFill>
              <a:srgbClr val="E6C98A"/>
            </a:solidFill>
            <a:prstDash val="solid"/>
          </a:ln>
        </p:spPr>
      </p:sp>
      <p:sp>
        <p:nvSpPr>
          <p:cNvPr id="32" name="Text 29"/>
          <p:cNvSpPr txBox="1"/>
          <p:nvPr/>
        </p:nvSpPr>
        <p:spPr>
          <a:xfrm>
            <a:off x="685800" y="2889504"/>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عَصِيرٌ</a:t>
            </a:r>
            <a:endParaRPr lang="ar-SA" sz="1800" dirty="0"/>
          </a:p>
        </p:txBody>
      </p:sp>
      <p:sp>
        <p:nvSpPr>
          <p:cNvPr id="33" name="Shape 30"/>
          <p:cNvSpPr/>
          <p:nvPr/>
        </p:nvSpPr>
        <p:spPr>
          <a:xfrm>
            <a:off x="594360" y="3401568"/>
            <a:ext cx="5271516" cy="438912"/>
          </a:xfrm>
          <a:prstGeom prst="roundRect">
            <a:avLst>
              <a:gd name="adj" fmla="val 12500"/>
            </a:avLst>
          </a:prstGeom>
          <a:solidFill>
            <a:srgbClr val="FFF4DC"/>
          </a:solidFill>
          <a:ln w="9525">
            <a:solidFill>
              <a:srgbClr val="E6C98A"/>
            </a:solidFill>
            <a:prstDash val="solid"/>
          </a:ln>
        </p:spPr>
      </p:sp>
      <p:sp>
        <p:nvSpPr>
          <p:cNvPr id="34" name="Text 31"/>
          <p:cNvSpPr txBox="1"/>
          <p:nvPr/>
        </p:nvSpPr>
        <p:spPr>
          <a:xfrm>
            <a:off x="685800" y="3401568"/>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قَهْوَةٌ</a:t>
            </a:r>
            <a:endParaRPr lang="ar-SA" sz="1800" dirty="0"/>
          </a:p>
        </p:txBody>
      </p:sp>
      <p:sp>
        <p:nvSpPr>
          <p:cNvPr id="35" name="Shape 32"/>
          <p:cNvSpPr/>
          <p:nvPr/>
        </p:nvSpPr>
        <p:spPr>
          <a:xfrm>
            <a:off x="594360" y="3913632"/>
            <a:ext cx="5271516" cy="438912"/>
          </a:xfrm>
          <a:prstGeom prst="roundRect">
            <a:avLst>
              <a:gd name="adj" fmla="val 12500"/>
            </a:avLst>
          </a:prstGeom>
          <a:solidFill>
            <a:srgbClr val="FFF4DC"/>
          </a:solidFill>
          <a:ln w="9525">
            <a:solidFill>
              <a:srgbClr val="E6C98A"/>
            </a:solidFill>
            <a:prstDash val="solid"/>
          </a:ln>
        </p:spPr>
      </p:sp>
      <p:sp>
        <p:nvSpPr>
          <p:cNvPr id="36" name="Text 33"/>
          <p:cNvSpPr txBox="1"/>
          <p:nvPr/>
        </p:nvSpPr>
        <p:spPr>
          <a:xfrm>
            <a:off x="685800" y="3913632"/>
            <a:ext cx="5088636" cy="43891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مَاءٌ</a:t>
            </a:r>
            <a:endParaRPr lang="ar-SA" sz="1800" dirty="0"/>
          </a:p>
        </p:txBody>
      </p:sp>
      <p:sp>
        <p:nvSpPr>
          <p:cNvPr id="37" name="Text 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47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GUIDED PRACTICE · WEBSITE QUIZ QUESTIONS 5, 6, 7, 8</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More practice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تَدْرِيبٌ إِضَافِيٌّ</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normally begins with </a:t>
            </a:r>
            <a:pPr algn="l" indent="0" marL="0">
              <a:buNone/>
            </a:pPr>
            <a:r>
              <a:rPr lang="ar-SA" altLang="en-US" sz="1650" b="1" dirty="0">
                <a:solidFill>
                  <a:srgbClr val="1B3B6F"/>
                </a:solidFill>
                <a:latin typeface="Amiri" pitchFamily="2" charset="-78"/>
                <a:ea typeface="Amiri" pitchFamily="2" charset="-78"/>
                <a:cs typeface="Amiri" pitchFamily="2" charset="-78"/>
              </a:rPr>
              <a:t>أَـ</a:t>
            </a:r>
            <a:pPr algn="l" indent="0" marL="0">
              <a:buNone/>
            </a:pPr>
            <a:r>
              <a:rPr lang="en-US" sz="1250" b="1" dirty="0">
                <a:solidFill>
                  <a:srgbClr val="1B3B6F"/>
                </a:solidFill>
                <a:latin typeface="Calibri" pitchFamily="34" charset="0"/>
                <a:cs typeface="Amiri" pitchFamily="2" charset="-78"/>
              </a:rPr>
              <a:t> because the speaker is “I”?</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يَأْكُلُ</a:t>
            </a:r>
            <a:endParaRPr lang="ar-SA" sz="20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تَأْكُلُ</a:t>
            </a:r>
            <a:endParaRPr lang="ar-SA" sz="20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آكُلُ</a:t>
            </a:r>
            <a:endParaRPr lang="ar-SA" sz="2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3" name="Text 30"/>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4" name="Text 31"/>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هَلْ ___ التُّفَّاحَ؟</a:t>
            </a:r>
            <a:endParaRPr lang="ar-SA" sz="1500" dirty="0"/>
          </a:p>
        </p:txBody>
      </p:sp>
      <p:sp>
        <p:nvSpPr>
          <p:cNvPr id="35" name="Shape 32"/>
          <p:cNvSpPr/>
          <p:nvPr/>
        </p:nvSpPr>
        <p:spPr>
          <a:xfrm>
            <a:off x="6368796" y="25328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a:t>
            </a:r>
            <a:endParaRPr lang="ar-SA" sz="2050" dirty="0"/>
          </a:p>
        </p:txBody>
      </p:sp>
      <p:sp>
        <p:nvSpPr>
          <p:cNvPr id="38" name="Shape 35"/>
          <p:cNvSpPr/>
          <p:nvPr/>
        </p:nvSpPr>
        <p:spPr>
          <a:xfrm>
            <a:off x="6368796" y="29900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تُحِبُّ</a:t>
            </a:r>
            <a:endParaRPr lang="ar-SA" sz="2050" dirty="0"/>
          </a:p>
        </p:txBody>
      </p:sp>
      <p:sp>
        <p:nvSpPr>
          <p:cNvPr id="41" name="Shape 38"/>
          <p:cNvSpPr/>
          <p:nvPr/>
        </p:nvSpPr>
        <p:spPr>
          <a:xfrm>
            <a:off x="6368796" y="3447288"/>
            <a:ext cx="256032" cy="256032"/>
          </a:xfrm>
          <a:prstGeom prst="ellipse">
            <a:avLst/>
          </a:prstGeom>
          <a:solidFill>
            <a:srgbClr val="F4F1EA"/>
          </a:solidFill>
          <a:ln w="12700">
            <a:solidFill>
              <a:srgbClr val="F4F1EA"/>
            </a:solidFill>
            <a:prstDash val="solid"/>
          </a:ln>
        </p:spPr>
      </p:sp>
      <p:sp>
        <p:nvSpPr>
          <p:cNvPr id="42" name="Text 39"/>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يُحِبُّ</a:t>
            </a:r>
            <a:endParaRPr lang="ar-SA" sz="2050" dirty="0"/>
          </a:p>
        </p:txBody>
      </p:sp>
      <p:sp>
        <p:nvSpPr>
          <p:cNvPr id="44" name="Shape 41"/>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585216" y="4288536"/>
            <a:ext cx="310896" cy="310896"/>
          </a:xfrm>
          <a:prstGeom prst="ellipse">
            <a:avLst/>
          </a:prstGeom>
          <a:solidFill>
            <a:srgbClr val="1B3B6F"/>
          </a:solidFill>
          <a:ln w="12700">
            <a:solidFill>
              <a:srgbClr val="1B3B6F"/>
            </a:solidFill>
            <a:prstDash val="solid"/>
          </a:ln>
        </p:spPr>
      </p:sp>
      <p:sp>
        <p:nvSpPr>
          <p:cNvPr id="46" name="Text 4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47" name="Text 44"/>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feminine?</a:t>
            </a:r>
            <a:endParaRPr lang="en-US" sz="1250" dirty="0"/>
          </a:p>
        </p:txBody>
      </p:sp>
      <p:sp>
        <p:nvSpPr>
          <p:cNvPr id="48" name="Shape 45"/>
          <p:cNvSpPr/>
          <p:nvPr/>
        </p:nvSpPr>
        <p:spPr>
          <a:xfrm>
            <a:off x="640080" y="48737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0" name="Text 47"/>
          <p:cNvSpPr txBox="1"/>
          <p:nvPr/>
        </p:nvSpPr>
        <p:spPr>
          <a:xfrm>
            <a:off x="969264"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الخُبْزُ</a:t>
            </a:r>
            <a:endParaRPr lang="ar-SA" sz="2050" dirty="0"/>
          </a:p>
        </p:txBody>
      </p:sp>
      <p:sp>
        <p:nvSpPr>
          <p:cNvPr id="51" name="Shape 48"/>
          <p:cNvSpPr/>
          <p:nvPr/>
        </p:nvSpPr>
        <p:spPr>
          <a:xfrm>
            <a:off x="640080" y="53309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3" name="Text 50"/>
          <p:cNvSpPr txBox="1"/>
          <p:nvPr/>
        </p:nvSpPr>
        <p:spPr>
          <a:xfrm>
            <a:off x="969264"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القَهْوَةُ</a:t>
            </a:r>
            <a:endParaRPr lang="ar-SA" sz="2050" dirty="0"/>
          </a:p>
        </p:txBody>
      </p:sp>
      <p:sp>
        <p:nvSpPr>
          <p:cNvPr id="54" name="Shape 51"/>
          <p:cNvSpPr/>
          <p:nvPr/>
        </p:nvSpPr>
        <p:spPr>
          <a:xfrm>
            <a:off x="640080" y="5788152"/>
            <a:ext cx="256032" cy="256032"/>
          </a:xfrm>
          <a:prstGeom prst="ellipse">
            <a:avLst/>
          </a:prstGeom>
          <a:solidFill>
            <a:srgbClr val="F4F1EA"/>
          </a:solidFill>
          <a:ln w="12700">
            <a:solidFill>
              <a:srgbClr val="F4F1EA"/>
            </a:solidFill>
            <a:prstDash val="solid"/>
          </a:ln>
        </p:spPr>
      </p:sp>
      <p:sp>
        <p:nvSpPr>
          <p:cNvPr id="55" name="Text 5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6" name="Text 53"/>
          <p:cNvSpPr txBox="1"/>
          <p:nvPr/>
        </p:nvSpPr>
        <p:spPr>
          <a:xfrm>
            <a:off x="969264"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العَصِيرُ</a:t>
            </a:r>
            <a:endParaRPr lang="ar-SA" sz="2050" dirty="0"/>
          </a:p>
        </p:txBody>
      </p:sp>
      <p:sp>
        <p:nvSpPr>
          <p:cNvPr id="57" name="Shape 54"/>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6313932"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0" name="Text 57"/>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negative opinion.</a:t>
            </a:r>
            <a:endParaRPr lang="en-US" sz="1250" dirty="0"/>
          </a:p>
        </p:txBody>
      </p:sp>
      <p:sp>
        <p:nvSpPr>
          <p:cNvPr id="61" name="Shape 58"/>
          <p:cNvSpPr/>
          <p:nvPr/>
        </p:nvSpPr>
        <p:spPr>
          <a:xfrm>
            <a:off x="6368796" y="48737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3" name="Text 60"/>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أَحِبُّ السَّمَكَ.</a:t>
            </a:r>
            <a:endParaRPr lang="ar-SA" sz="2050" dirty="0"/>
          </a:p>
        </p:txBody>
      </p:sp>
      <p:sp>
        <p:nvSpPr>
          <p:cNvPr id="64" name="Shape 61"/>
          <p:cNvSpPr/>
          <p:nvPr/>
        </p:nvSpPr>
        <p:spPr>
          <a:xfrm>
            <a:off x="6368796" y="53309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6" name="Text 63"/>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 لَا السَّمَكَ.</a:t>
            </a:r>
            <a:endParaRPr lang="ar-SA" sz="2050" dirty="0"/>
          </a:p>
        </p:txBody>
      </p:sp>
      <p:sp>
        <p:nvSpPr>
          <p:cNvPr id="67" name="Shape 64"/>
          <p:cNvSpPr/>
          <p:nvPr/>
        </p:nvSpPr>
        <p:spPr>
          <a:xfrm>
            <a:off x="6368796" y="5788152"/>
            <a:ext cx="256032" cy="256032"/>
          </a:xfrm>
          <a:prstGeom prst="ellipse">
            <a:avLst/>
          </a:prstGeom>
          <a:solidFill>
            <a:srgbClr val="F4F1EA"/>
          </a:solidFill>
          <a:ln w="12700">
            <a:solidFill>
              <a:srgbClr val="F4F1EA"/>
            </a:solidFill>
            <a:prstDash val="solid"/>
          </a:ln>
        </p:spPr>
      </p:sp>
      <p:sp>
        <p:nvSpPr>
          <p:cNvPr id="68" name="Text 65"/>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9" name="Text 66"/>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 أُحِبُّ السَّمَكَ.</a:t>
            </a:r>
            <a:endParaRPr lang="ar-SA" sz="20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47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7" name="Shape 14"/>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20" name="Text 17"/>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normally begins with </a:t>
            </a:r>
            <a:pPr algn="l" indent="0" marL="0">
              <a:buNone/>
            </a:pPr>
            <a:r>
              <a:rPr lang="ar-SA" altLang="en-US" sz="1650" b="1" dirty="0">
                <a:solidFill>
                  <a:srgbClr val="1B3B6F"/>
                </a:solidFill>
                <a:latin typeface="Amiri" pitchFamily="2" charset="-78"/>
                <a:ea typeface="Amiri" pitchFamily="2" charset="-78"/>
                <a:cs typeface="Amiri" pitchFamily="2" charset="-78"/>
              </a:rPr>
              <a:t>أَـ</a:t>
            </a:r>
            <a:pPr algn="l" indent="0" marL="0">
              <a:buNone/>
            </a:pPr>
            <a:r>
              <a:rPr lang="en-US" sz="1250" b="1" dirty="0">
                <a:solidFill>
                  <a:srgbClr val="1B3B6F"/>
                </a:solidFill>
                <a:latin typeface="Calibri" pitchFamily="34" charset="0"/>
                <a:cs typeface="Amiri" pitchFamily="2" charset="-78"/>
              </a:rPr>
              <a:t> because the speaker is “I”?</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يَأْكُلُ</a:t>
            </a:r>
            <a:endParaRPr lang="ar-SA" sz="1700" dirty="0"/>
          </a:p>
        </p:txBody>
      </p:sp>
      <p:sp>
        <p:nvSpPr>
          <p:cNvPr id="24" name="Shape 21"/>
          <p:cNvSpPr/>
          <p:nvPr/>
        </p:nvSpPr>
        <p:spPr>
          <a:xfrm>
            <a:off x="640080" y="2862072"/>
            <a:ext cx="256032" cy="256032"/>
          </a:xfrm>
          <a:prstGeom prst="ellipse">
            <a:avLst/>
          </a:prstGeom>
          <a:solidFill>
            <a:srgbClr val="C9CED6"/>
          </a:solidFill>
          <a:ln w="12700">
            <a:solidFill>
              <a:srgbClr val="C9CED6"/>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تَأْكُلُ</a:t>
            </a:r>
            <a:endParaRPr lang="ar-SA" sz="1700" dirty="0"/>
          </a:p>
        </p:txBody>
      </p:sp>
      <p:sp>
        <p:nvSpPr>
          <p:cNvPr id="27" name="Shape 24"/>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8" name="Shape 25"/>
          <p:cNvSpPr/>
          <p:nvPr/>
        </p:nvSpPr>
        <p:spPr>
          <a:xfrm>
            <a:off x="640080" y="3233928"/>
            <a:ext cx="256032" cy="256032"/>
          </a:xfrm>
          <a:prstGeom prst="ellipse">
            <a:avLst/>
          </a:prstGeom>
          <a:solidFill>
            <a:srgbClr val="2E8B57"/>
          </a:solidFill>
          <a:ln w="12700">
            <a:solidFill>
              <a:srgbClr val="2E8B57"/>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30" name="Text 27"/>
          <p:cNvSpPr txBox="1"/>
          <p:nvPr/>
        </p:nvSpPr>
        <p:spPr>
          <a:xfrm>
            <a:off x="969264" y="3176016"/>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آكُلُ</a:t>
            </a:r>
            <a:endParaRPr lang="ar-SA" sz="1700" dirty="0"/>
          </a:p>
        </p:txBody>
      </p:sp>
      <p:sp>
        <p:nvSpPr>
          <p:cNvPr id="31" name="Text 28"/>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آكُلُ</a:t>
            </a:r>
            <a:pPr algn="l" indent="0" marL="0">
              <a:buNone/>
            </a:pPr>
            <a:r>
              <a:rPr lang="en-US" sz="1050" i="1" dirty="0">
                <a:solidFill>
                  <a:srgbClr val="8A6D1E"/>
                </a:solidFill>
                <a:latin typeface="Calibri" pitchFamily="34" charset="0"/>
                <a:cs typeface="Amiri" pitchFamily="2" charset="-78"/>
              </a:rPr>
              <a:t> means “I eat”.</a:t>
            </a:r>
            <a:endParaRPr lang="en-US" sz="1050" dirty="0"/>
          </a:p>
        </p:txBody>
      </p:sp>
      <p:sp>
        <p:nvSpPr>
          <p:cNvPr id="32" name="Shape 29"/>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6313932"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35" name="Text 32"/>
          <p:cNvSpPr txBox="1"/>
          <p:nvPr/>
        </p:nvSpPr>
        <p:spPr>
          <a:xfrm>
            <a:off x="6679692" y="1883664"/>
            <a:ext cx="2273473"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Complete:</a:t>
            </a:r>
            <a:endParaRPr lang="en-US" sz="1200" dirty="0"/>
          </a:p>
        </p:txBody>
      </p:sp>
      <p:sp>
        <p:nvSpPr>
          <p:cNvPr id="36" name="Text 33"/>
          <p:cNvSpPr txBox="1"/>
          <p:nvPr/>
        </p:nvSpPr>
        <p:spPr>
          <a:xfrm>
            <a:off x="9052011" y="1883664"/>
            <a:ext cx="2570013" cy="475488"/>
          </a:xfrm>
          <a:prstGeom prst="rect">
            <a:avLst/>
          </a:prstGeom>
          <a:noFill/>
          <a:ln/>
        </p:spPr>
        <p:txBody>
          <a:bodyPr wrap="square" lIns="0" tIns="0" rIns="0" bIns="0" rtlCol="0" anchor="ctr"/>
          <a:lstStyle/>
          <a:p>
            <a:pPr rtl="1" algn="r" indent="0" marL="0">
              <a:buNone/>
            </a:pPr>
            <a:r>
              <a:rPr lang="ar-SA" altLang="en-US" sz="1500" b="1" dirty="0">
                <a:solidFill>
                  <a:srgbClr val="1F2A37"/>
                </a:solidFill>
                <a:latin typeface="Amiri" pitchFamily="2" charset="-78"/>
                <a:ea typeface="Amiri" pitchFamily="2" charset="-78"/>
                <a:cs typeface="Amiri" pitchFamily="2" charset="-78"/>
              </a:rPr>
              <a:t>هَلْ ___ التُّفَّاحَ؟</a:t>
            </a:r>
            <a:endParaRPr lang="ar-SA" sz="1500" dirty="0"/>
          </a:p>
        </p:txBody>
      </p:sp>
      <p:sp>
        <p:nvSpPr>
          <p:cNvPr id="37" name="Shape 34"/>
          <p:cNvSpPr/>
          <p:nvPr/>
        </p:nvSpPr>
        <p:spPr>
          <a:xfrm>
            <a:off x="6368796" y="2490216"/>
            <a:ext cx="256032" cy="256032"/>
          </a:xfrm>
          <a:prstGeom prst="ellipse">
            <a:avLst/>
          </a:prstGeom>
          <a:solidFill>
            <a:srgbClr val="C9CED6"/>
          </a:solidFill>
          <a:ln w="12700">
            <a:solidFill>
              <a:srgbClr val="C9CED6"/>
            </a:solidFill>
            <a:prstDash val="solid"/>
          </a:ln>
        </p:spPr>
      </p:sp>
      <p:sp>
        <p:nvSpPr>
          <p:cNvPr id="38" name="Text 35"/>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9" name="Text 36"/>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a:t>
            </a:r>
            <a:endParaRPr lang="ar-SA" sz="1700" dirty="0"/>
          </a:p>
        </p:txBody>
      </p:sp>
      <p:sp>
        <p:nvSpPr>
          <p:cNvPr id="40" name="Shape 37"/>
          <p:cNvSpPr/>
          <p:nvPr/>
        </p:nvSpPr>
        <p:spPr>
          <a:xfrm>
            <a:off x="6277356" y="2825496"/>
            <a:ext cx="5362956"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6368796" y="2862072"/>
            <a:ext cx="256032" cy="256032"/>
          </a:xfrm>
          <a:prstGeom prst="ellipse">
            <a:avLst/>
          </a:prstGeom>
          <a:solidFill>
            <a:srgbClr val="2E8B57"/>
          </a:solidFill>
          <a:ln w="12700">
            <a:solidFill>
              <a:srgbClr val="2E8B57"/>
            </a:solidFill>
            <a:prstDash val="solid"/>
          </a:ln>
        </p:spPr>
      </p:sp>
      <p:sp>
        <p:nvSpPr>
          <p:cNvPr id="42" name="Text 39"/>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3" name="Text 40"/>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تُحِبُّ</a:t>
            </a:r>
            <a:endParaRPr lang="ar-SA" sz="1700" dirty="0"/>
          </a:p>
        </p:txBody>
      </p:sp>
      <p:sp>
        <p:nvSpPr>
          <p:cNvPr id="44" name="Shape 41"/>
          <p:cNvSpPr/>
          <p:nvPr/>
        </p:nvSpPr>
        <p:spPr>
          <a:xfrm>
            <a:off x="6368796" y="3233928"/>
            <a:ext cx="256032" cy="256032"/>
          </a:xfrm>
          <a:prstGeom prst="ellipse">
            <a:avLst/>
          </a:prstGeom>
          <a:solidFill>
            <a:srgbClr val="C9CED6"/>
          </a:solidFill>
          <a:ln w="12700">
            <a:solidFill>
              <a:srgbClr val="C9CED6"/>
            </a:solidFill>
            <a:prstDash val="solid"/>
          </a:ln>
        </p:spPr>
      </p:sp>
      <p:sp>
        <p:nvSpPr>
          <p:cNvPr id="45" name="Text 42"/>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6" name="Text 43"/>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يُحِبُّ</a:t>
            </a:r>
            <a:endParaRPr lang="ar-SA" sz="1700" dirty="0"/>
          </a:p>
        </p:txBody>
      </p:sp>
      <p:sp>
        <p:nvSpPr>
          <p:cNvPr id="47" name="Text 44"/>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Use </a:t>
            </a:r>
            <a:pPr algn="l" indent="0" marL="0">
              <a:buNone/>
            </a:pPr>
            <a:r>
              <a:rPr lang="ar-SA" altLang="en-US" sz="1350" dirty="0">
                <a:solidFill>
                  <a:srgbClr val="8A6D1E"/>
                </a:solidFill>
                <a:latin typeface="Amiri" pitchFamily="2" charset="-78"/>
                <a:ea typeface="Amiri" pitchFamily="2" charset="-78"/>
                <a:cs typeface="Amiri" pitchFamily="2" charset="-78"/>
              </a:rPr>
              <a:t>تُحِبُّ</a:t>
            </a:r>
            <a:pPr algn="l" indent="0" marL="0">
              <a:buNone/>
            </a:pPr>
            <a:r>
              <a:rPr lang="en-US" sz="1050" i="1" dirty="0">
                <a:solidFill>
                  <a:srgbClr val="8A6D1E"/>
                </a:solidFill>
                <a:latin typeface="Calibri" pitchFamily="34" charset="0"/>
                <a:cs typeface="Amiri" pitchFamily="2" charset="-78"/>
              </a:rPr>
              <a:t> when asking a male listener.</a:t>
            </a:r>
            <a:endParaRPr lang="en-US" sz="1050" dirty="0"/>
          </a:p>
        </p:txBody>
      </p:sp>
      <p:sp>
        <p:nvSpPr>
          <p:cNvPr id="48" name="Shape 4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85216"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51" name="Text 4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noun is feminine?</a:t>
            </a:r>
            <a:endParaRPr lang="en-US" sz="1250" dirty="0"/>
          </a:p>
        </p:txBody>
      </p:sp>
      <p:sp>
        <p:nvSpPr>
          <p:cNvPr id="52" name="Shape 49"/>
          <p:cNvSpPr/>
          <p:nvPr/>
        </p:nvSpPr>
        <p:spPr>
          <a:xfrm>
            <a:off x="640080" y="4831080"/>
            <a:ext cx="256032" cy="256032"/>
          </a:xfrm>
          <a:prstGeom prst="ellipse">
            <a:avLst/>
          </a:prstGeom>
          <a:solidFill>
            <a:srgbClr val="C9CED6"/>
          </a:solidFill>
          <a:ln w="12700">
            <a:solidFill>
              <a:srgbClr val="C9CED6"/>
            </a:solidFill>
            <a:prstDash val="solid"/>
          </a:ln>
        </p:spPr>
      </p:sp>
      <p:sp>
        <p:nvSpPr>
          <p:cNvPr id="53" name="Text 5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4" name="Text 51"/>
          <p:cNvSpPr txBox="1"/>
          <p:nvPr/>
        </p:nvSpPr>
        <p:spPr>
          <a:xfrm>
            <a:off x="969264"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الخُبْزُ</a:t>
            </a:r>
            <a:endParaRPr lang="ar-SA" sz="1700" dirty="0"/>
          </a:p>
        </p:txBody>
      </p:sp>
      <p:sp>
        <p:nvSpPr>
          <p:cNvPr id="55" name="Shape 52"/>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640080" y="5202936"/>
            <a:ext cx="256032" cy="256032"/>
          </a:xfrm>
          <a:prstGeom prst="ellipse">
            <a:avLst/>
          </a:prstGeom>
          <a:solidFill>
            <a:srgbClr val="2E8B57"/>
          </a:solidFill>
          <a:ln w="12700">
            <a:solidFill>
              <a:srgbClr val="2E8B57"/>
            </a:solidFill>
            <a:prstDash val="solid"/>
          </a:ln>
        </p:spPr>
      </p:sp>
      <p:sp>
        <p:nvSpPr>
          <p:cNvPr id="57" name="Text 54"/>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8" name="Text 55"/>
          <p:cNvSpPr txBox="1"/>
          <p:nvPr/>
        </p:nvSpPr>
        <p:spPr>
          <a:xfrm>
            <a:off x="969264" y="514502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القَهْوَةُ</a:t>
            </a:r>
            <a:endParaRPr lang="ar-SA" sz="1700" dirty="0"/>
          </a:p>
        </p:txBody>
      </p:sp>
      <p:sp>
        <p:nvSpPr>
          <p:cNvPr id="59" name="Shape 56"/>
          <p:cNvSpPr/>
          <p:nvPr/>
        </p:nvSpPr>
        <p:spPr>
          <a:xfrm>
            <a:off x="640080" y="5574792"/>
            <a:ext cx="256032" cy="256032"/>
          </a:xfrm>
          <a:prstGeom prst="ellipse">
            <a:avLst/>
          </a:prstGeom>
          <a:solidFill>
            <a:srgbClr val="C9CED6"/>
          </a:solidFill>
          <a:ln w="12700">
            <a:solidFill>
              <a:srgbClr val="C9CED6"/>
            </a:solidFill>
            <a:prstDash val="solid"/>
          </a:ln>
        </p:spPr>
      </p:sp>
      <p:sp>
        <p:nvSpPr>
          <p:cNvPr id="60" name="Text 57"/>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1" name="Text 58"/>
          <p:cNvSpPr txBox="1"/>
          <p:nvPr/>
        </p:nvSpPr>
        <p:spPr>
          <a:xfrm>
            <a:off x="969264"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العَصِيرُ</a:t>
            </a:r>
            <a:endParaRPr lang="ar-SA" sz="1700" dirty="0"/>
          </a:p>
        </p:txBody>
      </p:sp>
      <p:sp>
        <p:nvSpPr>
          <p:cNvPr id="62" name="Text 59"/>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قَهْوَةٌ</a:t>
            </a:r>
            <a:pPr algn="l" indent="0" marL="0">
              <a:buNone/>
            </a:pPr>
            <a:r>
              <a:rPr lang="en-US" sz="1050" i="1" dirty="0">
                <a:solidFill>
                  <a:srgbClr val="8A6D1E"/>
                </a:solidFill>
                <a:latin typeface="Calibri" pitchFamily="34" charset="0"/>
                <a:cs typeface="Amiri" pitchFamily="2" charset="-78"/>
              </a:rPr>
              <a:t> is feminine.</a:t>
            </a:r>
            <a:endParaRPr lang="en-US" sz="1050" dirty="0"/>
          </a:p>
        </p:txBody>
      </p:sp>
      <p:sp>
        <p:nvSpPr>
          <p:cNvPr id="63" name="Shape 60"/>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6313932"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66" name="Text 63"/>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accurate negative opinion.</a:t>
            </a:r>
            <a:endParaRPr lang="en-US" sz="1250" dirty="0"/>
          </a:p>
        </p:txBody>
      </p:sp>
      <p:sp>
        <p:nvSpPr>
          <p:cNvPr id="67" name="Shape 64"/>
          <p:cNvSpPr/>
          <p:nvPr/>
        </p:nvSpPr>
        <p:spPr>
          <a:xfrm>
            <a:off x="6368796" y="4831080"/>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9" name="Text 66"/>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 أَحِبُّ السَّمَكَ.</a:t>
            </a:r>
            <a:endParaRPr lang="ar-SA" sz="1700" dirty="0"/>
          </a:p>
        </p:txBody>
      </p:sp>
      <p:sp>
        <p:nvSpPr>
          <p:cNvPr id="70" name="Shape 67"/>
          <p:cNvSpPr/>
          <p:nvPr/>
        </p:nvSpPr>
        <p:spPr>
          <a:xfrm>
            <a:off x="6368796" y="5202936"/>
            <a:ext cx="256032" cy="256032"/>
          </a:xfrm>
          <a:prstGeom prst="ellipse">
            <a:avLst/>
          </a:prstGeom>
          <a:solidFill>
            <a:srgbClr val="C9CED6"/>
          </a:solidFill>
          <a:ln w="12700">
            <a:solidFill>
              <a:srgbClr val="C9CED6"/>
            </a:solidFill>
            <a:prstDash val="solid"/>
          </a:ln>
        </p:spPr>
      </p:sp>
      <p:sp>
        <p:nvSpPr>
          <p:cNvPr id="71" name="Text 68"/>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2" name="Text 69"/>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أُحِبُّ لَا السَّمَكَ.</a:t>
            </a:r>
            <a:endParaRPr lang="ar-SA" sz="1700" dirty="0"/>
          </a:p>
        </p:txBody>
      </p:sp>
      <p:sp>
        <p:nvSpPr>
          <p:cNvPr id="73" name="Shape 70"/>
          <p:cNvSpPr/>
          <p:nvPr/>
        </p:nvSpPr>
        <p:spPr>
          <a:xfrm>
            <a:off x="6277356" y="5538216"/>
            <a:ext cx="5362956" cy="347472"/>
          </a:xfrm>
          <a:prstGeom prst="roundRect">
            <a:avLst>
              <a:gd name="adj" fmla="val 15789"/>
            </a:avLst>
          </a:prstGeom>
          <a:solidFill>
            <a:srgbClr val="E6F4EC"/>
          </a:solidFill>
          <a:ln w="9525">
            <a:solidFill>
              <a:srgbClr val="2E8B57"/>
            </a:solidFill>
            <a:prstDash val="solid"/>
          </a:ln>
        </p:spPr>
      </p:sp>
      <p:sp>
        <p:nvSpPr>
          <p:cNvPr id="74" name="Shape 71"/>
          <p:cNvSpPr/>
          <p:nvPr/>
        </p:nvSpPr>
        <p:spPr>
          <a:xfrm>
            <a:off x="6368796" y="5574792"/>
            <a:ext cx="256032" cy="256032"/>
          </a:xfrm>
          <a:prstGeom prst="ellipse">
            <a:avLst/>
          </a:prstGeom>
          <a:solidFill>
            <a:srgbClr val="2E8B57"/>
          </a:solidFill>
          <a:ln w="12700">
            <a:solidFill>
              <a:srgbClr val="2E8B57"/>
            </a:solidFill>
            <a:prstDash val="solid"/>
          </a:ln>
        </p:spPr>
      </p:sp>
      <p:sp>
        <p:nvSpPr>
          <p:cNvPr id="75" name="Text 72"/>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6" name="Text 73"/>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لَا أُحِبُّ السَّمَكَ.</a:t>
            </a:r>
            <a:endParaRPr lang="ar-SA" sz="1700" dirty="0"/>
          </a:p>
        </p:txBody>
      </p:sp>
      <p:sp>
        <p:nvSpPr>
          <p:cNvPr id="77" name="Text 74"/>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لَا</a:t>
            </a:r>
            <a:pPr algn="l" indent="0" marL="0">
              <a:buNone/>
            </a:pPr>
            <a:r>
              <a:rPr lang="en-US" sz="1050" i="1" dirty="0">
                <a:solidFill>
                  <a:srgbClr val="8A6D1E"/>
                </a:solidFill>
                <a:latin typeface="Calibri" pitchFamily="34" charset="0"/>
                <a:cs typeface="Amiri" pitchFamily="2" charset="-78"/>
              </a:rPr>
              <a:t> comes immediately before the correct first-person form </a:t>
            </a:r>
            <a:pPr algn="l" indent="0" marL="0">
              <a:buNone/>
            </a:pPr>
            <a:r>
              <a:rPr lang="ar-SA" altLang="en-US" sz="1350" dirty="0">
                <a:solidFill>
                  <a:srgbClr val="8A6D1E"/>
                </a:solidFill>
                <a:latin typeface="Amiri" pitchFamily="2" charset="-78"/>
                <a:ea typeface="Amiri" pitchFamily="2" charset="-78"/>
                <a:cs typeface="Amiri" pitchFamily="2" charset="-78"/>
              </a:rPr>
              <a:t>أُحِبُّ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8" name="Text 7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47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SPOT AND FIX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Repair the mistake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صَحِّحِ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أَنَا أُحِبُّ إِلَى الخُبْزِ.</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Like + food: is a preposition needed?</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لَا أَحِبُّ السَّمَكَ.</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vowel starts “I like”?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أَكُلُ الخُبْزَ.</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“I eat” starts with which letter?</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47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Fixed — and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التَّصْحِيحُ وَالسَّبَبُ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أَنَا أُحِبُّ إِلَى الخُبْزِ.</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أَنَا أُحِبُّ الخُبْزَ.</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أُحِبُّ</a:t>
            </a:r>
            <a:pPr algn="l" indent="0" marL="0">
              <a:buNone/>
            </a:pPr>
            <a:r>
              <a:rPr lang="en-US" sz="1150" b="1" dirty="0">
                <a:solidFill>
                  <a:srgbClr val="1B3B6F"/>
                </a:solidFill>
                <a:latin typeface="Calibri" pitchFamily="34" charset="0"/>
                <a:cs typeface="Amiri" pitchFamily="2" charset="-78"/>
              </a:rPr>
              <a:t> takes a direct object; do not add </a:t>
            </a:r>
            <a:pPr algn="l" indent="0" marL="0">
              <a:buNone/>
            </a:pPr>
            <a:r>
              <a:rPr lang="ar-SA" altLang="en-US" sz="1500" b="1" dirty="0">
                <a:solidFill>
                  <a:srgbClr val="1B3B6F"/>
                </a:solidFill>
                <a:latin typeface="Amiri" pitchFamily="2" charset="-78"/>
                <a:ea typeface="Amiri" pitchFamily="2" charset="-78"/>
                <a:cs typeface="Amiri" pitchFamily="2" charset="-78"/>
              </a:rPr>
              <a:t>إِلَى</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لَا أَحِبُّ السَّمَكَ.</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أُحِبُّ السَّمَكَ.</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The first-person form is </a:t>
            </a:r>
            <a:pPr algn="l" indent="0" marL="0">
              <a:buNone/>
            </a:pPr>
            <a:r>
              <a:rPr lang="ar-SA" altLang="en-US" sz="1500" b="1" dirty="0">
                <a:solidFill>
                  <a:srgbClr val="1B3B6F"/>
                </a:solidFill>
                <a:latin typeface="Amiri" pitchFamily="2" charset="-78"/>
                <a:ea typeface="Amiri" pitchFamily="2" charset="-78"/>
                <a:cs typeface="Amiri" pitchFamily="2" charset="-78"/>
              </a:rPr>
              <a:t>أُحِبُّ</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أَكُلُ الخُبْزَ.</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آكُلُ الخُبْزَ.</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آكُلُ</a:t>
            </a:r>
            <a:pPr algn="l" indent="0" marL="0">
              <a:buNone/>
            </a:pPr>
            <a:r>
              <a:rPr lang="en-US" sz="1150" b="1" dirty="0">
                <a:solidFill>
                  <a:srgbClr val="1B3B6F"/>
                </a:solidFill>
                <a:latin typeface="Calibri" pitchFamily="34" charset="0"/>
                <a:cs typeface="Amiri" pitchFamily="2" charset="-78"/>
              </a:rPr>
              <a:t> begins with a long ā written </a:t>
            </a:r>
            <a:pPr algn="l" indent="0" marL="0">
              <a:buNone/>
            </a:pPr>
            <a:r>
              <a:rPr lang="ar-SA" altLang="en-US" sz="1500" b="1" dirty="0">
                <a:solidFill>
                  <a:srgbClr val="1B3B6F"/>
                </a:solidFill>
                <a:latin typeface="Amiri" pitchFamily="2" charset="-78"/>
                <a:ea typeface="Amiri" pitchFamily="2" charset="-78"/>
                <a:cs typeface="Amiri" pitchFamily="2" charset="-78"/>
              </a:rPr>
              <a:t>آ</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47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does Huda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foods does Huda like together?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bread and cheese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 and rice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pasta and beans</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fruit does she like?</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bananas</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grapes</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apples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not drink?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milk</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coffee</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drinks does she have every day?</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water and orange juice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 and milk</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coffee and lemon juice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Huda have as a snack?</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lettuce and onions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nuts or biscuits</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prawns and rice</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الخُبْزَ وَالجُبْنَ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القَهْوَةَ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المَاءَ</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47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اِسْمِي هُدَى.</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My name is Huda.</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أُحِبُّ الخُبْزَ وَالجُبْنَ وَالتُّفَّاحَ.</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like bread, cheese and apples.</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فِي الوَجْبَةِ الخَفِيفَةِ آكُلُ المُكَسَّرَاتِ أَوِ البِسْكُوِيتَ.</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For a snack I eat nuts or biscuits.</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لَا أُحِبُّ السَّمَكَ، وَلَا أَشْرَبُ القَهْوَةَ.</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don’t like fish, and I don’t drink coffee.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أَشْرَبُ المَاءَ وَعَصِيرَ البُرْتُقَالِ كُلَّ يَوْمٍ.</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drink water and orange juice every day.</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47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foods does Huda like together?</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bread and cheese</a:t>
            </a:r>
            <a:endParaRPr lang="en-US" sz="125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fish and rice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pasta and beans</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الخُبْزَ وَالجُبْنَ</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fruit does she like?</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bananas</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grapes</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apples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mentions </a:t>
            </a:r>
            <a:pPr algn="l" indent="0" marL="0">
              <a:buNone/>
            </a:pPr>
            <a:r>
              <a:rPr lang="ar-SA" altLang="en-US" sz="1350" dirty="0">
                <a:solidFill>
                  <a:srgbClr val="8A6D1E"/>
                </a:solidFill>
                <a:latin typeface="Amiri" pitchFamily="2" charset="-78"/>
                <a:ea typeface="Amiri" pitchFamily="2" charset="-78"/>
                <a:cs typeface="Amiri" pitchFamily="2" charset="-78"/>
              </a:rPr>
              <a:t>التُّفَّاحَ</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she not drink?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milk</a:t>
            </a:r>
            <a:endParaRPr lang="en-US" sz="125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water</a:t>
            </a:r>
            <a:endParaRPr lang="en-US" sz="125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coffee</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وَلَا أَشْرَبُ القَهْوَةَ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drinks does she have every day?</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water and orange juice</a:t>
            </a:r>
            <a:endParaRPr lang="en-US" sz="12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 and milk</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coffee and lemon juice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drinks </a:t>
            </a:r>
            <a:pPr algn="l" indent="0" marL="0">
              <a:buNone/>
            </a:pPr>
            <a:r>
              <a:rPr lang="ar-SA" altLang="en-US" sz="1350" dirty="0">
                <a:solidFill>
                  <a:srgbClr val="8A6D1E"/>
                </a:solidFill>
                <a:latin typeface="Amiri" pitchFamily="2" charset="-78"/>
                <a:ea typeface="Amiri" pitchFamily="2" charset="-78"/>
                <a:cs typeface="Amiri" pitchFamily="2" charset="-78"/>
              </a:rPr>
              <a:t>المَاءَ وَعَصِيرَ البُرْتُقَالِ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Huda have as a snack?</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lettuce and onions</a:t>
            </a:r>
            <a:endParaRPr lang="en-US" sz="12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nuts or biscuits</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prawns and rice</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آكُلُ المُكَسَّرَاتِ أَوِ البِسْكُوِيتَ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lnSpc>
                <a:spcPct val="115000"/>
              </a:lnSpc>
              <a:buNone/>
            </a:pPr>
            <a:r>
              <a:rPr lang="en-US" sz="1250" dirty="0">
                <a:solidFill>
                  <a:srgbClr val="1E6B52"/>
                </a:solidFill>
                <a:latin typeface="Calibri" pitchFamily="34" charset="0"/>
                <a:cs typeface="Amiri" pitchFamily="2" charset="-78"/>
              </a:rPr>
              <a:t>Listen twice. Core: questions 1, 3 and 4.</a:t>
            </a:r>
            <a:endParaRPr lang="en-US" sz="1250" dirty="0"/>
          </a:p>
          <a:p>
            <a:pPr algn="l" indent="0" marL="0">
              <a:lnSpc>
                <a:spcPct val="115000"/>
              </a:lnSpc>
              <a:buNone/>
            </a:pPr>
            <a:r>
              <a:rPr lang="en-US" sz="1250" dirty="0">
                <a:solidFill>
                  <a:srgbClr val="1E6B52"/>
                </a:solidFill>
                <a:latin typeface="Calibri" pitchFamily="34" charset="0"/>
                <a:cs typeface="Amiri" pitchFamily="2" charset="-78"/>
              </a:rPr>
              <a:t>Listen for: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الخُبْزَ وَالجُبْنَ</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القَهْوَةَ</a:t>
            </a:r>
            <a:pPr algn="l" indent="0" marL="0">
              <a:lnSpc>
                <a:spcPct val="115000"/>
              </a:lnSpc>
              <a:buNone/>
            </a:pPr>
            <a:r>
              <a:rPr lang="en-US" sz="1250" dirty="0">
                <a:solidFill>
                  <a:srgbClr val="1E6B52"/>
                </a:solidFill>
                <a:latin typeface="Calibri" pitchFamily="34" charset="0"/>
                <a:cs typeface="Amiri" pitchFamily="2" charset="-78"/>
              </a:rPr>
              <a:t> · </a:t>
            </a:r>
            <a:pPr algn="l" indent="0" marL="0">
              <a:lnSpc>
                <a:spcPct val="115000"/>
              </a:lnSpc>
              <a:buNone/>
            </a:pPr>
            <a:r>
              <a:rPr lang="ar-SA" altLang="en-US" sz="1650" dirty="0">
                <a:solidFill>
                  <a:srgbClr val="1E6B52"/>
                </a:solidFill>
                <a:latin typeface="Amiri" pitchFamily="2" charset="-78"/>
                <a:ea typeface="Amiri" pitchFamily="2" charset="-78"/>
                <a:cs typeface="Amiri" pitchFamily="2" charset="-78"/>
              </a:rPr>
              <a:t>المَاءَ</a:t>
            </a:r>
            <a:pPr algn="l" indent="0" marL="0">
              <a:lnSpc>
                <a:spcPct val="115000"/>
              </a:lnSpc>
              <a:buNone/>
            </a:pPr>
            <a:r>
              <a:rPr lang="en-US" sz="1250" dirty="0">
                <a:solidFill>
                  <a:srgbClr val="1E6B52"/>
                </a:solidFill>
                <a:latin typeface="Calibri" pitchFamily="34" charset="0"/>
                <a:cs typeface="Amiri" pitchFamily="2" charset="-78"/>
              </a:rPr>
              <a:t>.</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47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A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Food preference survey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A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Food preference survey</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Interview a partner about meals, food and drink. Record preferences and reasons, then report the results with accurate adjective and noun agreement.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pairs students (A interviews B, then swap).</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Ask three questions from the useful-language panel; note answers in English.</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Report back on the mic: he likes … / she doesn’t like …</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Class tallies the most popular food in the chat.</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Ask “hal tuḥibbu …?” about 3 foods. Report: “he likes …” or “she likes …”.</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Ask about meals and drinks, record a reason, report with because (li’annahu / li’annahā).</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Report the results with agreeing adjectives: the salad is fresh (f.), the bread is delicious (m.).</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هَلْ تُحِبُّ الأَرُزَّ؟</a:t>
            </a:r>
            <a:endParaRPr lang="ar-SA" sz="1050" dirty="0"/>
          </a:p>
        </p:txBody>
      </p:sp>
      <p:sp>
        <p:nvSpPr>
          <p:cNvPr id="48" name="Text 45"/>
          <p:cNvSpPr txBox="1"/>
          <p:nvPr/>
        </p:nvSpPr>
        <p:spPr>
          <a:xfrm>
            <a:off x="6492240" y="5138928"/>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do you (m.) like rice?</a:t>
            </a:r>
            <a:endParaRPr lang="en-US" sz="1000" dirty="0"/>
          </a:p>
        </p:txBody>
      </p:sp>
      <p:sp>
        <p:nvSpPr>
          <p:cNvPr id="49" name="Text 46"/>
          <p:cNvSpPr txBox="1"/>
          <p:nvPr/>
        </p:nvSpPr>
        <p:spPr>
          <a:xfrm>
            <a:off x="8732520" y="5365699"/>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هَلْ تُحِبِّينَ الأَرُزَّ؟</a:t>
            </a:r>
            <a:endParaRPr lang="ar-SA" sz="1050" dirty="0"/>
          </a:p>
        </p:txBody>
      </p:sp>
      <p:sp>
        <p:nvSpPr>
          <p:cNvPr id="50" name="Text 47"/>
          <p:cNvSpPr txBox="1"/>
          <p:nvPr/>
        </p:nvSpPr>
        <p:spPr>
          <a:xfrm>
            <a:off x="6492240" y="5365699"/>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do you (f.) like rice?</a:t>
            </a:r>
            <a:endParaRPr lang="en-US" sz="1000" dirty="0"/>
          </a:p>
        </p:txBody>
      </p:sp>
      <p:sp>
        <p:nvSpPr>
          <p:cNvPr id="51" name="Text 48"/>
          <p:cNvSpPr txBox="1"/>
          <p:nvPr/>
        </p:nvSpPr>
        <p:spPr>
          <a:xfrm>
            <a:off x="8732520" y="5592470"/>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مَاذَا تَأْكُلُ فِي الغَدَاءِ؟</a:t>
            </a:r>
            <a:endParaRPr lang="ar-SA" sz="1050" dirty="0"/>
          </a:p>
        </p:txBody>
      </p:sp>
      <p:sp>
        <p:nvSpPr>
          <p:cNvPr id="52" name="Text 49"/>
          <p:cNvSpPr txBox="1"/>
          <p:nvPr/>
        </p:nvSpPr>
        <p:spPr>
          <a:xfrm>
            <a:off x="6492240" y="5592470"/>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what do you eat for lunch?</a:t>
            </a:r>
            <a:endParaRPr lang="en-US" sz="1000" dirty="0"/>
          </a:p>
        </p:txBody>
      </p:sp>
      <p:sp>
        <p:nvSpPr>
          <p:cNvPr id="53" name="Text 50"/>
          <p:cNvSpPr txBox="1"/>
          <p:nvPr/>
        </p:nvSpPr>
        <p:spPr>
          <a:xfrm>
            <a:off x="8732520" y="5819242"/>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هُوَ يُحِبُّ الدَّجَاجَ</a:t>
            </a:r>
            <a:endParaRPr lang="ar-SA" sz="1050" dirty="0"/>
          </a:p>
        </p:txBody>
      </p:sp>
      <p:sp>
        <p:nvSpPr>
          <p:cNvPr id="54" name="Text 51"/>
          <p:cNvSpPr txBox="1"/>
          <p:nvPr/>
        </p:nvSpPr>
        <p:spPr>
          <a:xfrm>
            <a:off x="6492240" y="5819242"/>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likes chicken</a:t>
            </a:r>
            <a:endParaRPr lang="en-US" sz="1000" dirty="0"/>
          </a:p>
        </p:txBody>
      </p:sp>
      <p:sp>
        <p:nvSpPr>
          <p:cNvPr id="55" name="Text 52"/>
          <p:cNvSpPr txBox="1"/>
          <p:nvPr/>
        </p:nvSpPr>
        <p:spPr>
          <a:xfrm>
            <a:off x="8732520" y="6046013"/>
            <a:ext cx="2880360" cy="226771"/>
          </a:xfrm>
          <a:prstGeom prst="rect">
            <a:avLst/>
          </a:prstGeom>
          <a:noFill/>
          <a:ln/>
        </p:spPr>
        <p:txBody>
          <a:bodyPr wrap="square" lIns="0" tIns="0" rIns="0" bIns="0" rtlCol="0" anchor="ctr"/>
          <a:lstStyle/>
          <a:p>
            <a:pPr rtl="1" algn="r" indent="0" marL="0">
              <a:buNone/>
            </a:pPr>
            <a:r>
              <a:rPr lang="ar-SA" altLang="en-US" sz="1050" b="1" dirty="0">
                <a:solidFill>
                  <a:srgbClr val="1B3B6F"/>
                </a:solidFill>
                <a:latin typeface="Amiri" pitchFamily="2" charset="-78"/>
                <a:ea typeface="Amiri" pitchFamily="2" charset="-78"/>
                <a:cs typeface="Amiri" pitchFamily="2" charset="-78"/>
              </a:rPr>
              <a:t>لِأَنَّهُ لَذِيذٌ</a:t>
            </a:r>
            <a:endParaRPr lang="ar-SA" sz="1050" dirty="0"/>
          </a:p>
        </p:txBody>
      </p:sp>
      <p:sp>
        <p:nvSpPr>
          <p:cNvPr id="56" name="Text 53"/>
          <p:cNvSpPr txBox="1"/>
          <p:nvPr/>
        </p:nvSpPr>
        <p:spPr>
          <a:xfrm>
            <a:off x="6492240" y="6046013"/>
            <a:ext cx="2194560" cy="226771"/>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it is delicious</a:t>
            </a:r>
            <a:endParaRPr lang="en-US" sz="100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47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Food survey</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تُحِبُّ السَّمَكَ؟</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مَاذَا تَشْرَبُ كُلَّ يَوْمٍ؟</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الطَّعَامُ الَّذِي لَا تُحِبُّهُ؟</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طَعَامُكَ المُفَضَّلُ؟ / مَا طَعَامُكِ المُفَضَّلُ؟</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نَعَمْ، أُحِبُّ ___ . / لَا، لَا أُحِبُّ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أَشْرَبُ ___ وَ ___ كُلَّ يَوْمٍ.</a:t>
            </a:r>
            <a:endParaRPr lang="ar-SA" sz="1600" dirty="0"/>
          </a:p>
        </p:txBody>
      </p:sp>
      <p:sp>
        <p:nvSpPr>
          <p:cNvPr id="56" name="Shape 53"/>
          <p:cNvSpPr/>
          <p:nvPr/>
        </p:nvSpPr>
        <p:spPr>
          <a:xfrm>
            <a:off x="640080" y="4123944"/>
            <a:ext cx="1051560" cy="256032"/>
          </a:xfrm>
          <a:prstGeom prst="roundRect">
            <a:avLst>
              <a:gd name="adj" fmla="val 50000"/>
            </a:avLst>
          </a:prstGeom>
          <a:solidFill>
            <a:srgbClr val="C9780A"/>
          </a:solidFill>
          <a:ln w="12700">
            <a:solidFill>
              <a:srgbClr val="C9780A"/>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لَا أُحِبُّ ___ لِأَنَّهُ / لِأَنَّهَا ___ .</a:t>
            </a:r>
            <a:endParaRPr lang="ar-SA" sz="1600" dirty="0"/>
          </a:p>
        </p:txBody>
      </p:sp>
      <p:sp>
        <p:nvSpPr>
          <p:cNvPr id="59" name="Shape 56"/>
          <p:cNvSpPr/>
          <p:nvPr/>
        </p:nvSpPr>
        <p:spPr>
          <a:xfrm>
            <a:off x="640080" y="4681728"/>
            <a:ext cx="1051560" cy="256032"/>
          </a:xfrm>
          <a:prstGeom prst="roundRect">
            <a:avLst>
              <a:gd name="adj" fmla="val 50000"/>
            </a:avLst>
          </a:prstGeom>
          <a:solidFill>
            <a:srgbClr val="B83227"/>
          </a:solidFill>
          <a:ln w="12700">
            <a:solidFill>
              <a:srgbClr val="B83227"/>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طَعَامِي المُفَضَّلُ ___ لِأَنَّهُ ___ جِدًّا.</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Amiri" pitchFamily="2" charset="-78"/>
                <a:ea typeface="Amiri" pitchFamily="2" charset="-78"/>
                <a:cs typeface="Amiri" pitchFamily="2" charset="-78"/>
              </a:rPr>
              <a:t>أ</a:t>
            </a:r>
            <a:endParaRPr lang="ar-SA"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هَلْ تُحِبِّينَ السَّلَطَةَ؟</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Do you (f.) like salad?</a:t>
            </a:r>
            <a:endParaRPr lang="en-US" sz="95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rtl="1" algn="ctr" indent="0" marL="0">
              <a:buNone/>
            </a:pPr>
            <a:r>
              <a:rPr lang="ar-SA" altLang="en-US" sz="1000" b="1" dirty="0">
                <a:solidFill>
                  <a:srgbClr val="FFFFFF"/>
                </a:solidFill>
                <a:latin typeface="Amiri" pitchFamily="2" charset="-78"/>
                <a:ea typeface="Amiri" pitchFamily="2" charset="-78"/>
                <a:cs typeface="Amiri" pitchFamily="2" charset="-78"/>
              </a:rPr>
              <a:t>ب</a:t>
            </a:r>
            <a:endParaRPr lang="ar-SA"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نَعَمْ، أُحِبُّ السَّلَطَةَ كَثِيرًا.</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Yes, I like salad a lot.</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47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Say what you like, don’t like and drink — with the word bank.</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Two things you like, one thing you don’t like, one thing you drink every day.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Likes and dislikes, then report one partner’s answers.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task: four food words, two drinks, wa (and) and one negative — plus one sentence about a partner (he / she likes …).</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8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An 8-sentence food profile with adjectives and “one” forms.</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Website Stretch: a food profile with agreeing adjectives, a frequency word and collective / one forms (tuffāḥ / tuffāḥa).</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47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يُحِبُّ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partner (m.) likes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صَدِيقَتِي لَا تُحِبُّ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partner (f.) doesn’t like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لِأَنَّهُ لَذِيذٌ / لِأَنَّهَا لَذِيذَةٌ.</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because it is delicious.</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دَائِمًا / أَحْيَانًا آكُلُ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always / sometimes eat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 وَلٰكِنِّي لَا أُحِبُّ ______ .</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but I don’t like …</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______ وَ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 and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أُحِبُّ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don’t like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آكُلُ ______ كُلَّ يَوْمٍ.</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eat … every day.</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أَشْرَبُ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drink …</a:t>
            </a:r>
            <a:endParaRPr lang="en-US" sz="1050" dirty="0"/>
          </a:p>
        </p:txBody>
      </p:sp>
      <p:sp>
        <p:nvSpPr>
          <p:cNvPr id="39" name="Text 36"/>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تُحِبُّ ______ ؟</a:t>
            </a:r>
            <a:endParaRPr lang="ar-SA" sz="1800" dirty="0"/>
          </a:p>
        </p:txBody>
      </p:sp>
      <p:sp>
        <p:nvSpPr>
          <p:cNvPr id="40" name="Text 37"/>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Do you like …?</a:t>
            </a:r>
            <a:endParaRPr lang="en-US" sz="1050" dirty="0"/>
          </a:p>
        </p:txBody>
      </p:sp>
      <p:sp>
        <p:nvSpPr>
          <p:cNvPr id="41" name="Shape 38"/>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Text 39"/>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3" name="Text 40"/>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خُبْزٌ  ·  أَرُزٌّ  ·  دَجَاجٌ  ·  سَمَكٌ  ·  بَيْضٌ  ·  جُبْنٌ  ·  مَاءٌ  ·  حَلِيبٌ  ·  عَصِيرٌ  ·  شَايٌ  ·  قَهْوَةٌ  ·  لَذِيذٌ / لَذِيذَةٌ</a:t>
            </a:r>
            <a:endParaRPr lang="ar-SA" sz="16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37 / 47</a:t>
            </a:r>
            <a:endParaRPr lang="en-US" sz="8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STRETCH · THE WEBSITE WRITING TASK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Stretch: the full writing task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التَّحَدِّي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5577840" cy="4498848"/>
          </a:xfrm>
          <a:prstGeom prst="roundRect">
            <a:avLst>
              <a:gd name="adj" fmla="val 1626"/>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292608"/>
          </a:xfrm>
          <a:prstGeom prst="roundRect">
            <a:avLst>
              <a:gd name="adj" fmla="val 50000"/>
            </a:avLst>
          </a:prstGeom>
          <a:solidFill>
            <a:srgbClr val="B83227"/>
          </a:solidFill>
          <a:ln w="12700">
            <a:solidFill>
              <a:srgbClr val="B83227"/>
            </a:solidFill>
            <a:prstDash val="solid"/>
          </a:ln>
        </p:spPr>
      </p:sp>
      <p:sp>
        <p:nvSpPr>
          <p:cNvPr id="17" name="Text 14"/>
          <p:cNvSpPr txBox="1"/>
          <p:nvPr/>
        </p:nvSpPr>
        <p:spPr>
          <a:xfrm>
            <a:off x="640080" y="1938528"/>
            <a:ext cx="118872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5–6 sentences about foods and drinks you like and dislike. Include at least four food words, two drinks, </a:t>
            </a:r>
            <a:pPr algn="l" indent="0" marL="0">
              <a:buNone/>
            </a:pPr>
            <a:r>
              <a:rPr lang="ar-SA" altLang="en-US" sz="1750" b="1" dirty="0">
                <a:solidFill>
                  <a:srgbClr val="1F2A37"/>
                </a:solidFill>
                <a:latin typeface="Amiri" pitchFamily="2" charset="-78"/>
                <a:ea typeface="Amiri" pitchFamily="2" charset="-78"/>
                <a:cs typeface="Amiri" pitchFamily="2" charset="-78"/>
              </a:rPr>
              <a:t>وَ</a:t>
            </a:r>
            <a:pPr algn="l" indent="0" marL="0">
              <a:buNone/>
            </a:pPr>
            <a:r>
              <a:rPr lang="en-US" sz="1350" b="1" dirty="0">
                <a:solidFill>
                  <a:srgbClr val="1F2A37"/>
                </a:solidFill>
                <a:latin typeface="Calibri" pitchFamily="34" charset="0"/>
                <a:cs typeface="Amiri" pitchFamily="2" charset="-78"/>
              </a:rPr>
              <a:t> and one negative sentence.</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Use </a:t>
            </a:r>
            <a:pPr algn="l" indent="0" marL="0">
              <a:buNone/>
            </a:pPr>
            <a:r>
              <a:rPr lang="ar-SA" altLang="en-US" sz="1550" dirty="0">
                <a:solidFill>
                  <a:srgbClr val="1F2A37"/>
                </a:solidFill>
                <a:latin typeface="Amiri" pitchFamily="2" charset="-78"/>
                <a:ea typeface="Amiri" pitchFamily="2" charset="-78"/>
                <a:cs typeface="Amiri" pitchFamily="2" charset="-78"/>
              </a:rPr>
              <a:t>أُحِبُّ</a:t>
            </a:r>
            <a:pPr algn="l" indent="0" marL="0">
              <a:buNone/>
            </a:pPr>
            <a:r>
              <a:rPr lang="en-US" sz="1200" dirty="0">
                <a:solidFill>
                  <a:srgbClr val="1F2A37"/>
                </a:solidFill>
                <a:latin typeface="Calibri" pitchFamily="34" charset="0"/>
                <a:cs typeface="Amiri" pitchFamily="2" charset="-78"/>
              </a:rPr>
              <a:t> and </a:t>
            </a:r>
            <a:pPr algn="l" indent="0" marL="0">
              <a:buNone/>
            </a:pPr>
            <a:r>
              <a:rPr lang="ar-SA" altLang="en-US" sz="1550" dirty="0">
                <a:solidFill>
                  <a:srgbClr val="1F2A37"/>
                </a:solidFill>
                <a:latin typeface="Amiri" pitchFamily="2" charset="-78"/>
                <a:ea typeface="Amiri" pitchFamily="2" charset="-78"/>
                <a:cs typeface="Amiri" pitchFamily="2" charset="-78"/>
              </a:rPr>
              <a:t>لَا أُحِبُّ</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Include at least one sentence with </a:t>
            </a:r>
            <a:pPr algn="l" indent="0" marL="0">
              <a:buNone/>
            </a:pPr>
            <a:r>
              <a:rPr lang="ar-SA" altLang="en-US" sz="1550" dirty="0">
                <a:solidFill>
                  <a:srgbClr val="1F2A37"/>
                </a:solidFill>
                <a:latin typeface="Amiri" pitchFamily="2" charset="-78"/>
                <a:ea typeface="Amiri" pitchFamily="2" charset="-78"/>
                <a:cs typeface="Amiri" pitchFamily="2" charset="-78"/>
              </a:rPr>
              <a:t>آكُلُ</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أَشْرَبُ</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Join ideas with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وَلٰكِنْ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Check the Arabic spelling against the lesson bank.</a:t>
            </a:r>
            <a:endParaRPr lang="en-US" sz="1200" dirty="0"/>
          </a:p>
        </p:txBody>
      </p:sp>
      <p:sp>
        <p:nvSpPr>
          <p:cNvPr id="23" name="Shape 20"/>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Text 21"/>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PHRASE BANK — FROM THE WEBSITE TEXTS</a:t>
            </a:r>
            <a:endParaRPr lang="en-US" sz="950" dirty="0"/>
          </a:p>
        </p:txBody>
      </p:sp>
      <p:sp>
        <p:nvSpPr>
          <p:cNvPr id="25" name="Text 22"/>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 التُّفَّاحَ، وَآكُلُ تُفَّاحَةً كُلَّ يَوْمٍ</a:t>
            </a:r>
            <a:endParaRPr lang="ar-SA" sz="1800" dirty="0"/>
          </a:p>
        </p:txBody>
      </p:sp>
      <p:sp>
        <p:nvSpPr>
          <p:cNvPr id="26" name="Text 23"/>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like apples, and I eat an apple every day</a:t>
            </a:r>
            <a:endParaRPr lang="en-US" sz="1050" dirty="0"/>
          </a:p>
        </p:txBody>
      </p:sp>
      <p:sp>
        <p:nvSpPr>
          <p:cNvPr id="27" name="Text 24"/>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القَهْوَةُ مُرَّةٌ، وَلٰكِنَّ الشَّايَ حُلْوٌ</a:t>
            </a:r>
            <a:endParaRPr lang="ar-SA" sz="1800" dirty="0"/>
          </a:p>
        </p:txBody>
      </p:sp>
      <p:sp>
        <p:nvSpPr>
          <p:cNvPr id="28" name="Text 25"/>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coffee is bitter, but tea is sweet</a:t>
            </a:r>
            <a:endParaRPr lang="en-US" sz="1050" dirty="0"/>
          </a:p>
        </p:txBody>
      </p:sp>
      <p:sp>
        <p:nvSpPr>
          <p:cNvPr id="29" name="Text 26"/>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السَّلَطَةُ صِحِّيَّةٌ وَطَازَجَةٌ</a:t>
            </a:r>
            <a:endParaRPr lang="ar-SA" sz="1800" dirty="0"/>
          </a:p>
        </p:txBody>
      </p:sp>
      <p:sp>
        <p:nvSpPr>
          <p:cNvPr id="30" name="Text 27"/>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salad is healthy and fresh</a:t>
            </a:r>
            <a:endParaRPr lang="en-US" sz="1050" dirty="0"/>
          </a:p>
        </p:txBody>
      </p:sp>
      <p:sp>
        <p:nvSpPr>
          <p:cNvPr id="31" name="Text 28"/>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الوَجْبَةِ الخَفِيفَةِ آكُلُ …</a:t>
            </a:r>
            <a:endParaRPr lang="ar-SA" sz="1800" dirty="0"/>
          </a:p>
        </p:txBody>
      </p:sp>
      <p:sp>
        <p:nvSpPr>
          <p:cNvPr id="32" name="Text 29"/>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for a snack I eat …</a:t>
            </a:r>
            <a:endParaRPr lang="en-US" sz="1050" dirty="0"/>
          </a:p>
        </p:txBody>
      </p:sp>
      <p:sp>
        <p:nvSpPr>
          <p:cNvPr id="33" name="Text 30"/>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لَا أَشْرَبُ القَهْوَةَ أَبَدًا</a:t>
            </a:r>
            <a:endParaRPr lang="ar-SA" sz="1800" dirty="0"/>
          </a:p>
        </p:txBody>
      </p:sp>
      <p:sp>
        <p:nvSpPr>
          <p:cNvPr id="34" name="Text 31"/>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never drink coffee</a:t>
            </a:r>
            <a:endParaRPr lang="en-US" sz="10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38 / 47</a:t>
            </a:r>
            <a:endParaRPr lang="en-US" sz="8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أُحِبُّ الخُبْزَ وَالجُبْنَ، وَأُحِبُّ التُّفَّاحَ أَيْضًا. لَا أُحِبُّ السَّمَكَ، وَلٰكِنِّي أُحِبُّ الدَّجَاجَ. آكُلُ الأَرُزَّ كَثِيرًا، وَأَشْرَبُ المَاءَ وَالعَصِيرَ كُلَّ يَوْمٍ.</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 like bread and cheese, and I also like apples. I don’t like fish, but I like chicken. I eat rice a lot, and I drink water and juice every day.</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two “I like” sentences</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one negative sentence</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sentence with “I eat” or “I drink”</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drink</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39 / 47</a:t>
            </a:r>
            <a:endParaRPr lang="en-US" sz="85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The food comes straight after I like / I eat.</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“lā” before the verb for “don’t”.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he likes / she likes for my partner.</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Food → I eat; drink → I drink.</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adjective agrees with a feminine food (-a).</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40 / 47</a:t>
            </a:r>
            <a:endParaRPr lang="en-US" sz="8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water?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مَاءٌ</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حَلِيبٌ</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عَصِيرٌ</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لَا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القَهْوَةَ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أَشْرَبُ</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أُحِبُّ</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آكُلُ</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“I drink”?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أَشْرَبُ</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آكُلُ</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أُفَضِّلُ</a:t>
            </a:r>
            <a:endParaRPr lang="ar-SA" sz="20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41 / 47</a:t>
            </a:r>
            <a:endParaRPr lang="en-US" sz="85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water?</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مَاءٌ</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حَلِيبٌ</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عَصِيرٌ</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مَاءٌ</a:t>
            </a:r>
            <a:pPr algn="l" indent="0" marL="0">
              <a:buNone/>
            </a:pPr>
            <a:r>
              <a:rPr lang="en-US" sz="1050" i="1" dirty="0">
                <a:solidFill>
                  <a:srgbClr val="8A6D1E"/>
                </a:solidFill>
                <a:latin typeface="Calibri" pitchFamily="34" charset="0"/>
                <a:cs typeface="Amiri" pitchFamily="2" charset="-78"/>
              </a:rPr>
              <a:t> means water.</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Complete: </a:t>
            </a:r>
            <a:pPr algn="l" indent="0" marL="0">
              <a:buNone/>
            </a:pPr>
            <a:r>
              <a:rPr lang="ar-SA" altLang="en-US" sz="1650" b="1" dirty="0">
                <a:solidFill>
                  <a:srgbClr val="1B3B6F"/>
                </a:solidFill>
                <a:latin typeface="Amiri" pitchFamily="2" charset="-78"/>
                <a:ea typeface="Amiri" pitchFamily="2" charset="-78"/>
                <a:cs typeface="Amiri" pitchFamily="2" charset="-78"/>
              </a:rPr>
              <a:t>لَا</a:t>
            </a:r>
            <a:pPr algn="l" indent="0" marL="0">
              <a:buNone/>
            </a:pPr>
            <a:r>
              <a:rPr lang="en-US" sz="1250" b="1" dirty="0">
                <a:solidFill>
                  <a:srgbClr val="1B3B6F"/>
                </a:solidFill>
                <a:latin typeface="Calibri" pitchFamily="34" charset="0"/>
                <a:cs typeface="Amiri" pitchFamily="2" charset="-78"/>
              </a:rPr>
              <a:t> ___ </a:t>
            </a:r>
            <a:pPr algn="l" indent="0" marL="0">
              <a:buNone/>
            </a:pPr>
            <a:r>
              <a:rPr lang="ar-SA" altLang="en-US" sz="1650" b="1" dirty="0">
                <a:solidFill>
                  <a:srgbClr val="1B3B6F"/>
                </a:solidFill>
                <a:latin typeface="Amiri" pitchFamily="2" charset="-78"/>
                <a:ea typeface="Amiri" pitchFamily="2" charset="-78"/>
                <a:cs typeface="Amiri" pitchFamily="2" charset="-78"/>
              </a:rPr>
              <a:t>القَهْوَةَ</a:t>
            </a:r>
            <a:pPr algn="l" indent="0" marL="0">
              <a:buNone/>
            </a:pPr>
            <a:r>
              <a:rPr lang="en-US" sz="1250" b="1" dirty="0">
                <a:solidFill>
                  <a:srgbClr val="1B3B6F"/>
                </a:solidFill>
                <a:latin typeface="Calibri" pitchFamily="34" charset="0"/>
                <a:cs typeface="Amiri" pitchFamily="2" charset="-78"/>
              </a:rPr>
              <a:t>.</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أَشْرَبُ</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أُحِبُّ</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آكُلُ</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لَا أُحِبُّ</a:t>
            </a:r>
            <a:pPr algn="l" indent="0" marL="0">
              <a:buNone/>
            </a:pPr>
            <a:r>
              <a:rPr lang="en-US" sz="1050" i="1" dirty="0">
                <a:solidFill>
                  <a:srgbClr val="8A6D1E"/>
                </a:solidFill>
                <a:latin typeface="Calibri" pitchFamily="34" charset="0"/>
                <a:cs typeface="Amiri" pitchFamily="2" charset="-78"/>
              </a:rPr>
              <a:t> = I do not like.</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verb means “I drink”?</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أَشْرَبُ</a:t>
            </a:r>
            <a:endParaRPr lang="ar-SA" sz="20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آكُلُ</a:t>
            </a:r>
            <a:endParaRPr lang="ar-SA" sz="20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أُفَضِّلُ</a:t>
            </a:r>
            <a:endParaRPr lang="ar-SA" sz="20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أَشْرَبُ</a:t>
            </a:r>
            <a:pPr algn="l" indent="0" marL="0">
              <a:buNone/>
            </a:pPr>
            <a:r>
              <a:rPr lang="en-US" sz="1050" i="1" dirty="0">
                <a:solidFill>
                  <a:srgbClr val="8A6D1E"/>
                </a:solidFill>
                <a:latin typeface="Calibri" pitchFamily="34" charset="0"/>
                <a:cs typeface="Amiri" pitchFamily="2" charset="-78"/>
              </a:rPr>
              <a:t> means I drink.</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42 / 47</a:t>
            </a:r>
            <a:endParaRPr lang="en-US" sz="85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FAST FINISHERS OR HOMEWORK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family shopping note</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7" name="Shape 14"/>
          <p:cNvSpPr/>
          <p:nvPr/>
        </p:nvSpPr>
        <p:spPr>
          <a:xfrm>
            <a:off x="457200" y="1810512"/>
            <a:ext cx="807415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Text 15"/>
          <p:cNvSpPr txBox="1"/>
          <p:nvPr/>
        </p:nvSpPr>
        <p:spPr>
          <a:xfrm>
            <a:off x="685800" y="1965960"/>
            <a:ext cx="7616952" cy="4206240"/>
          </a:xfrm>
          <a:prstGeom prst="rect">
            <a:avLst/>
          </a:prstGeom>
          <a:noFill/>
          <a:ln/>
        </p:spPr>
        <p:txBody>
          <a:bodyPr wrap="square" lIns="0" tIns="0" rIns="0" bIns="0" rtlCol="0" anchor="t"/>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نَحْنُ نَشْتَرِي خُبْزًا وَأَرُزًّا وَدَجَاجًا لِلْعَشَاءِ. نَحْتَاجُ أَيْضًا إِلَى زَيْتٍ وَمِلْحٍ وَقَلِيلٍ مِنَ السُّكَّرِ. أُمِّي تُحِبُّ السَّلَطَةَ مَعَ الخَسِّ وَالطَّمَاطِمِ وَالبَصَلِ، وَأَبِي يُحِبُّ الحَسَاءَ. أَخِي لَا يُحِبُّ الخَضْرَوَاتِ، وَلٰكِنَّهُ يُحِبُّ الفَاكِهَةَ، خُصُوصًا المَوْزَ وَالعِنَبَ. نَشْتَرِي أَحْيَانًا الرُّوبِيَانَ وَمَأْكُولَاتٍ بَحْرِيَّةً، وَنَشْتَرِي أَيْضًا حَلِيبًا وَمَاءً.</a:t>
            </a:r>
            <a:endParaRPr lang="ar-SA" sz="2600" dirty="0"/>
          </a:p>
        </p:txBody>
      </p:sp>
      <p:sp>
        <p:nvSpPr>
          <p:cNvPr id="19" name="Shape 16"/>
          <p:cNvSpPr/>
          <p:nvPr/>
        </p:nvSpPr>
        <p:spPr>
          <a:xfrm>
            <a:off x="8714232" y="1810512"/>
            <a:ext cx="3017520" cy="4498848"/>
          </a:xfrm>
          <a:prstGeom prst="roundRect">
            <a:avLst>
              <a:gd name="adj" fmla="val 2424"/>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0" name="Text 17"/>
          <p:cNvSpPr txBox="1"/>
          <p:nvPr/>
        </p:nvSpPr>
        <p:spPr>
          <a:xfrm>
            <a:off x="8897112" y="1883664"/>
            <a:ext cx="2651760" cy="292608"/>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KEY WORDS</a:t>
            </a:r>
            <a:endParaRPr lang="en-US" sz="1000" dirty="0"/>
          </a:p>
        </p:txBody>
      </p:sp>
      <p:sp>
        <p:nvSpPr>
          <p:cNvPr id="21" name="Text 18"/>
          <p:cNvSpPr txBox="1"/>
          <p:nvPr/>
        </p:nvSpPr>
        <p:spPr>
          <a:xfrm>
            <a:off x="10102291" y="221284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نَشْتَرِي</a:t>
            </a:r>
            <a:endParaRPr lang="ar-SA" sz="1600" dirty="0"/>
          </a:p>
        </p:txBody>
      </p:sp>
      <p:sp>
        <p:nvSpPr>
          <p:cNvPr id="22" name="Text 19"/>
          <p:cNvSpPr txBox="1"/>
          <p:nvPr/>
        </p:nvSpPr>
        <p:spPr>
          <a:xfrm>
            <a:off x="8851392" y="221284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buy</a:t>
            </a:r>
            <a:endParaRPr lang="en-US" sz="1050" dirty="0"/>
          </a:p>
        </p:txBody>
      </p:sp>
      <p:sp>
        <p:nvSpPr>
          <p:cNvPr id="23" name="Text 20"/>
          <p:cNvSpPr txBox="1"/>
          <p:nvPr/>
        </p:nvSpPr>
        <p:spPr>
          <a:xfrm>
            <a:off x="10102291" y="261518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لِلْعَشَاءِ</a:t>
            </a:r>
            <a:endParaRPr lang="ar-SA" sz="1600" dirty="0"/>
          </a:p>
        </p:txBody>
      </p:sp>
      <p:sp>
        <p:nvSpPr>
          <p:cNvPr id="24" name="Text 21"/>
          <p:cNvSpPr txBox="1"/>
          <p:nvPr/>
        </p:nvSpPr>
        <p:spPr>
          <a:xfrm>
            <a:off x="8851392" y="261518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for dinner</a:t>
            </a:r>
            <a:endParaRPr lang="en-US" sz="1050" dirty="0"/>
          </a:p>
        </p:txBody>
      </p:sp>
      <p:sp>
        <p:nvSpPr>
          <p:cNvPr id="25" name="Text 22"/>
          <p:cNvSpPr txBox="1"/>
          <p:nvPr/>
        </p:nvSpPr>
        <p:spPr>
          <a:xfrm>
            <a:off x="10102291" y="301752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نَحْتَاجُ إِلَى</a:t>
            </a:r>
            <a:endParaRPr lang="ar-SA" sz="1600" dirty="0"/>
          </a:p>
        </p:txBody>
      </p:sp>
      <p:sp>
        <p:nvSpPr>
          <p:cNvPr id="26" name="Text 23"/>
          <p:cNvSpPr txBox="1"/>
          <p:nvPr/>
        </p:nvSpPr>
        <p:spPr>
          <a:xfrm>
            <a:off x="8851392" y="301752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we need</a:t>
            </a:r>
            <a:endParaRPr lang="en-US" sz="1050" dirty="0"/>
          </a:p>
        </p:txBody>
      </p:sp>
      <p:sp>
        <p:nvSpPr>
          <p:cNvPr id="27" name="Text 24"/>
          <p:cNvSpPr txBox="1"/>
          <p:nvPr/>
        </p:nvSpPr>
        <p:spPr>
          <a:xfrm>
            <a:off x="10102291" y="341985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قَلِيلٍ مِنَ</a:t>
            </a:r>
            <a:endParaRPr lang="ar-SA" sz="1600" dirty="0"/>
          </a:p>
        </p:txBody>
      </p:sp>
      <p:sp>
        <p:nvSpPr>
          <p:cNvPr id="28" name="Text 25"/>
          <p:cNvSpPr txBox="1"/>
          <p:nvPr/>
        </p:nvSpPr>
        <p:spPr>
          <a:xfrm>
            <a:off x="8851392" y="341985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 little</a:t>
            </a:r>
            <a:endParaRPr lang="en-US" sz="1050" dirty="0"/>
          </a:p>
        </p:txBody>
      </p:sp>
      <p:sp>
        <p:nvSpPr>
          <p:cNvPr id="29" name="Text 26"/>
          <p:cNvSpPr txBox="1"/>
          <p:nvPr/>
        </p:nvSpPr>
        <p:spPr>
          <a:xfrm>
            <a:off x="10102291" y="382219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أُمِّي</a:t>
            </a:r>
            <a:endParaRPr lang="ar-SA" sz="1600" dirty="0"/>
          </a:p>
        </p:txBody>
      </p:sp>
      <p:sp>
        <p:nvSpPr>
          <p:cNvPr id="30" name="Text 27"/>
          <p:cNvSpPr txBox="1"/>
          <p:nvPr/>
        </p:nvSpPr>
        <p:spPr>
          <a:xfrm>
            <a:off x="8851392" y="382219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mother</a:t>
            </a:r>
            <a:endParaRPr lang="en-US" sz="1050" dirty="0"/>
          </a:p>
        </p:txBody>
      </p:sp>
      <p:sp>
        <p:nvSpPr>
          <p:cNvPr id="31" name="Text 28"/>
          <p:cNvSpPr txBox="1"/>
          <p:nvPr/>
        </p:nvSpPr>
        <p:spPr>
          <a:xfrm>
            <a:off x="10102291" y="4224528"/>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أَبِي</a:t>
            </a:r>
            <a:endParaRPr lang="ar-SA" sz="1600" dirty="0"/>
          </a:p>
        </p:txBody>
      </p:sp>
      <p:sp>
        <p:nvSpPr>
          <p:cNvPr id="32" name="Text 29"/>
          <p:cNvSpPr txBox="1"/>
          <p:nvPr/>
        </p:nvSpPr>
        <p:spPr>
          <a:xfrm>
            <a:off x="8851392" y="4224528"/>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father</a:t>
            </a:r>
            <a:endParaRPr lang="en-US" sz="1050" dirty="0"/>
          </a:p>
        </p:txBody>
      </p:sp>
      <p:sp>
        <p:nvSpPr>
          <p:cNvPr id="33" name="Text 30"/>
          <p:cNvSpPr txBox="1"/>
          <p:nvPr/>
        </p:nvSpPr>
        <p:spPr>
          <a:xfrm>
            <a:off x="10102291" y="4626864"/>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أَخِي</a:t>
            </a:r>
            <a:endParaRPr lang="ar-SA" sz="1600" dirty="0"/>
          </a:p>
        </p:txBody>
      </p:sp>
      <p:sp>
        <p:nvSpPr>
          <p:cNvPr id="34" name="Text 31"/>
          <p:cNvSpPr txBox="1"/>
          <p:nvPr/>
        </p:nvSpPr>
        <p:spPr>
          <a:xfrm>
            <a:off x="8851392" y="4626864"/>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my brother</a:t>
            </a:r>
            <a:endParaRPr lang="en-US" sz="1050" dirty="0"/>
          </a:p>
        </p:txBody>
      </p:sp>
      <p:sp>
        <p:nvSpPr>
          <p:cNvPr id="35" name="Text 32"/>
          <p:cNvSpPr txBox="1"/>
          <p:nvPr/>
        </p:nvSpPr>
        <p:spPr>
          <a:xfrm>
            <a:off x="10102291" y="5029200"/>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خُصُوصًا</a:t>
            </a:r>
            <a:endParaRPr lang="ar-SA" sz="1600" dirty="0"/>
          </a:p>
        </p:txBody>
      </p:sp>
      <p:sp>
        <p:nvSpPr>
          <p:cNvPr id="36" name="Text 33"/>
          <p:cNvSpPr txBox="1"/>
          <p:nvPr/>
        </p:nvSpPr>
        <p:spPr>
          <a:xfrm>
            <a:off x="8851392" y="5029200"/>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especially</a:t>
            </a:r>
            <a:endParaRPr lang="en-US" sz="1050" dirty="0"/>
          </a:p>
        </p:txBody>
      </p:sp>
      <p:sp>
        <p:nvSpPr>
          <p:cNvPr id="37" name="Text 34"/>
          <p:cNvSpPr txBox="1"/>
          <p:nvPr/>
        </p:nvSpPr>
        <p:spPr>
          <a:xfrm>
            <a:off x="10102291" y="5431536"/>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أَحْيَانًا</a:t>
            </a:r>
            <a:endParaRPr lang="ar-SA" sz="1600" dirty="0"/>
          </a:p>
        </p:txBody>
      </p:sp>
      <p:sp>
        <p:nvSpPr>
          <p:cNvPr id="38" name="Text 35"/>
          <p:cNvSpPr txBox="1"/>
          <p:nvPr/>
        </p:nvSpPr>
        <p:spPr>
          <a:xfrm>
            <a:off x="8851392" y="5431536"/>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sometimes</a:t>
            </a:r>
            <a:endParaRPr lang="en-US" sz="1050" dirty="0"/>
          </a:p>
        </p:txBody>
      </p:sp>
      <p:sp>
        <p:nvSpPr>
          <p:cNvPr id="39" name="Text 36"/>
          <p:cNvSpPr txBox="1"/>
          <p:nvPr/>
        </p:nvSpPr>
        <p:spPr>
          <a:xfrm>
            <a:off x="10102291" y="5833872"/>
            <a:ext cx="1508760" cy="402336"/>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أَيْضًا</a:t>
            </a:r>
            <a:endParaRPr lang="ar-SA" sz="1600" dirty="0"/>
          </a:p>
        </p:txBody>
      </p:sp>
      <p:sp>
        <p:nvSpPr>
          <p:cNvPr id="40" name="Text 37"/>
          <p:cNvSpPr txBox="1"/>
          <p:nvPr/>
        </p:nvSpPr>
        <p:spPr>
          <a:xfrm>
            <a:off x="8851392" y="5833872"/>
            <a:ext cx="1388059" cy="402336"/>
          </a:xfrm>
          <a:prstGeom prst="rect">
            <a:avLst/>
          </a:prstGeom>
          <a:noFill/>
          <a:ln/>
        </p:spPr>
        <p:txBody>
          <a:bodyPr wrap="square" lIns="0" tIns="0" rIns="0" bIns="0" rtlCol="0" anchor="ctr"/>
          <a:lstStyle/>
          <a:p>
            <a:pPr algn="l" indent="0" marL="0">
              <a:buNone/>
            </a:pPr>
            <a:r>
              <a:rPr lang="en-US" sz="1050" dirty="0">
                <a:solidFill>
                  <a:srgbClr val="1F2A37"/>
                </a:solidFill>
                <a:latin typeface="Calibri" pitchFamily="34" charset="0"/>
                <a:cs typeface="Amiri" pitchFamily="2" charset="-78"/>
              </a:rPr>
              <a:t>also</a:t>
            </a:r>
            <a:endParaRPr lang="en-US" sz="1050" dirty="0"/>
          </a:p>
        </p:txBody>
      </p:sp>
      <p:sp>
        <p:nvSpPr>
          <p:cNvPr id="41"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43 / 47</a:t>
            </a:r>
            <a:endParaRPr lang="en-US" sz="85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QUESTIONS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questions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family buying for dinner?</a:t>
            </a:r>
            <a:endParaRPr lang="en-US" sz="1250" dirty="0"/>
          </a:p>
        </p:txBody>
      </p:sp>
      <p:sp>
        <p:nvSpPr>
          <p:cNvPr id="21" name="Shape 18"/>
          <p:cNvSpPr/>
          <p:nvPr/>
        </p:nvSpPr>
        <p:spPr>
          <a:xfrm>
            <a:off x="640080" y="2532888"/>
            <a:ext cx="256032" cy="256032"/>
          </a:xfrm>
          <a:prstGeom prst="ellipse">
            <a:avLst/>
          </a:prstGeom>
          <a:solidFill>
            <a:srgbClr val="F4F1EA"/>
          </a:solidFill>
          <a:ln w="12700">
            <a:solidFill>
              <a:srgbClr val="F4F1EA"/>
            </a:solidFill>
            <a:prstDash val="solid"/>
          </a:ln>
        </p:spPr>
      </p:sp>
      <p:sp>
        <p:nvSpPr>
          <p:cNvPr id="22" name="Text 19"/>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fish, potatoes and soup</a:t>
            </a:r>
            <a:endParaRPr lang="en-US" sz="1250" dirty="0"/>
          </a:p>
        </p:txBody>
      </p:sp>
      <p:sp>
        <p:nvSpPr>
          <p:cNvPr id="24" name="Shape 21"/>
          <p:cNvSpPr/>
          <p:nvPr/>
        </p:nvSpPr>
        <p:spPr>
          <a:xfrm>
            <a:off x="640080" y="2990088"/>
            <a:ext cx="256032" cy="256032"/>
          </a:xfrm>
          <a:prstGeom prst="ellipse">
            <a:avLst/>
          </a:prstGeom>
          <a:solidFill>
            <a:srgbClr val="F4F1EA"/>
          </a:solidFill>
          <a:ln w="12700">
            <a:solidFill>
              <a:srgbClr val="F4F1EA"/>
            </a:solidFill>
            <a:prstDash val="solid"/>
          </a:ln>
        </p:spPr>
      </p:sp>
      <p:sp>
        <p:nvSpPr>
          <p:cNvPr id="25" name="Text 22"/>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6" name="Text 23"/>
          <p:cNvSpPr txBox="1"/>
          <p:nvPr/>
        </p:nvSpPr>
        <p:spPr>
          <a:xfrm>
            <a:off x="969264"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bread, rice and chicken</a:t>
            </a:r>
            <a:endParaRPr lang="en-US" sz="1250" dirty="0"/>
          </a:p>
        </p:txBody>
      </p:sp>
      <p:sp>
        <p:nvSpPr>
          <p:cNvPr id="27" name="Shape 24"/>
          <p:cNvSpPr/>
          <p:nvPr/>
        </p:nvSpPr>
        <p:spPr>
          <a:xfrm>
            <a:off x="640080" y="3447288"/>
            <a:ext cx="256032" cy="256032"/>
          </a:xfrm>
          <a:prstGeom prst="ellipse">
            <a:avLst/>
          </a:prstGeom>
          <a:solidFill>
            <a:srgbClr val="F4F1EA"/>
          </a:solidFill>
          <a:ln w="12700">
            <a:solidFill>
              <a:srgbClr val="F4F1EA"/>
            </a:solidFill>
            <a:prstDash val="solid"/>
          </a:ln>
        </p:spPr>
      </p:sp>
      <p:sp>
        <p:nvSpPr>
          <p:cNvPr id="28" name="Text 25"/>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9" name="Text 26"/>
          <p:cNvSpPr txBox="1"/>
          <p:nvPr/>
        </p:nvSpPr>
        <p:spPr>
          <a:xfrm>
            <a:off x="969264"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pasta, eggs and cheese</a:t>
            </a:r>
            <a:endParaRPr lang="en-US" sz="1250" dirty="0"/>
          </a:p>
        </p:txBody>
      </p:sp>
      <p:sp>
        <p:nvSpPr>
          <p:cNvPr id="30" name="Shape 27"/>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3449574"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likes salad?</a:t>
            </a:r>
            <a:endParaRPr lang="en-US" sz="1250" dirty="0"/>
          </a:p>
        </p:txBody>
      </p:sp>
      <p:sp>
        <p:nvSpPr>
          <p:cNvPr id="34" name="Shape 31"/>
          <p:cNvSpPr/>
          <p:nvPr/>
        </p:nvSpPr>
        <p:spPr>
          <a:xfrm>
            <a:off x="3504438"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350443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3833622"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father</a:t>
            </a:r>
            <a:endParaRPr lang="en-US" sz="1250" dirty="0"/>
          </a:p>
        </p:txBody>
      </p:sp>
      <p:sp>
        <p:nvSpPr>
          <p:cNvPr id="37" name="Shape 34"/>
          <p:cNvSpPr/>
          <p:nvPr/>
        </p:nvSpPr>
        <p:spPr>
          <a:xfrm>
            <a:off x="3504438"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350443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3833622"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brother</a:t>
            </a:r>
            <a:endParaRPr lang="en-US" sz="1250" dirty="0"/>
          </a:p>
        </p:txBody>
      </p:sp>
      <p:sp>
        <p:nvSpPr>
          <p:cNvPr id="40" name="Shape 37"/>
          <p:cNvSpPr/>
          <p:nvPr/>
        </p:nvSpPr>
        <p:spPr>
          <a:xfrm>
            <a:off x="3504438"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350443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2" name="Text 39"/>
          <p:cNvSpPr txBox="1"/>
          <p:nvPr/>
        </p:nvSpPr>
        <p:spPr>
          <a:xfrm>
            <a:off x="3833622"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 mother</a:t>
            </a:r>
            <a:endParaRPr lang="en-US" sz="1250" dirty="0"/>
          </a:p>
        </p:txBody>
      </p:sp>
      <p:sp>
        <p:nvSpPr>
          <p:cNvPr id="43" name="Shape 40"/>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6313932"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6" name="Text 43"/>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brother dislike?</a:t>
            </a:r>
            <a:endParaRPr lang="en-US" sz="1250" dirty="0"/>
          </a:p>
        </p:txBody>
      </p:sp>
      <p:sp>
        <p:nvSpPr>
          <p:cNvPr id="47" name="Shape 44"/>
          <p:cNvSpPr/>
          <p:nvPr/>
        </p:nvSpPr>
        <p:spPr>
          <a:xfrm>
            <a:off x="6368796" y="2532888"/>
            <a:ext cx="256032" cy="256032"/>
          </a:xfrm>
          <a:prstGeom prst="ellipse">
            <a:avLst/>
          </a:prstGeom>
          <a:solidFill>
            <a:srgbClr val="F4F1EA"/>
          </a:solidFill>
          <a:ln w="12700">
            <a:solidFill>
              <a:srgbClr val="F4F1EA"/>
            </a:solidFill>
            <a:prstDash val="solid"/>
          </a:ln>
        </p:spPr>
      </p:sp>
      <p:sp>
        <p:nvSpPr>
          <p:cNvPr id="48" name="Text 45"/>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9" name="Text 46"/>
          <p:cNvSpPr txBox="1"/>
          <p:nvPr/>
        </p:nvSpPr>
        <p:spPr>
          <a:xfrm>
            <a:off x="6697980"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vegetables</a:t>
            </a:r>
            <a:endParaRPr lang="en-US" sz="1250" dirty="0"/>
          </a:p>
        </p:txBody>
      </p:sp>
      <p:sp>
        <p:nvSpPr>
          <p:cNvPr id="50" name="Shape 47"/>
          <p:cNvSpPr/>
          <p:nvPr/>
        </p:nvSpPr>
        <p:spPr>
          <a:xfrm>
            <a:off x="6368796" y="2990088"/>
            <a:ext cx="256032" cy="256032"/>
          </a:xfrm>
          <a:prstGeom prst="ellipse">
            <a:avLst/>
          </a:prstGeom>
          <a:solidFill>
            <a:srgbClr val="F4F1EA"/>
          </a:solidFill>
          <a:ln w="12700">
            <a:solidFill>
              <a:srgbClr val="F4F1EA"/>
            </a:solidFill>
            <a:prstDash val="solid"/>
          </a:ln>
        </p:spPr>
      </p:sp>
      <p:sp>
        <p:nvSpPr>
          <p:cNvPr id="51" name="Text 48"/>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2" name="Text 49"/>
          <p:cNvSpPr txBox="1"/>
          <p:nvPr/>
        </p:nvSpPr>
        <p:spPr>
          <a:xfrm>
            <a:off x="6697980"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fruit</a:t>
            </a:r>
            <a:endParaRPr lang="en-US" sz="1250" dirty="0"/>
          </a:p>
        </p:txBody>
      </p:sp>
      <p:sp>
        <p:nvSpPr>
          <p:cNvPr id="53" name="Shape 50"/>
          <p:cNvSpPr/>
          <p:nvPr/>
        </p:nvSpPr>
        <p:spPr>
          <a:xfrm>
            <a:off x="6368796" y="3447288"/>
            <a:ext cx="256032" cy="256032"/>
          </a:xfrm>
          <a:prstGeom prst="ellipse">
            <a:avLst/>
          </a:prstGeom>
          <a:solidFill>
            <a:srgbClr val="F4F1EA"/>
          </a:solidFill>
          <a:ln w="12700">
            <a:solidFill>
              <a:srgbClr val="F4F1EA"/>
            </a:solidFill>
            <a:prstDash val="solid"/>
          </a:ln>
        </p:spPr>
      </p:sp>
      <p:sp>
        <p:nvSpPr>
          <p:cNvPr id="54" name="Text 51"/>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5" name="Text 52"/>
          <p:cNvSpPr txBox="1"/>
          <p:nvPr/>
        </p:nvSpPr>
        <p:spPr>
          <a:xfrm>
            <a:off x="6697980"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milk</a:t>
            </a:r>
            <a:endParaRPr lang="en-US" sz="1250" dirty="0"/>
          </a:p>
        </p:txBody>
      </p:sp>
      <p:sp>
        <p:nvSpPr>
          <p:cNvPr id="56" name="Shape 53"/>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7" name="Shape 54"/>
          <p:cNvSpPr/>
          <p:nvPr/>
        </p:nvSpPr>
        <p:spPr>
          <a:xfrm>
            <a:off x="9178290" y="1947672"/>
            <a:ext cx="310896" cy="310896"/>
          </a:xfrm>
          <a:prstGeom prst="ellipse">
            <a:avLst/>
          </a:prstGeom>
          <a:solidFill>
            <a:srgbClr val="1B3B6F"/>
          </a:solidFill>
          <a:ln w="12700">
            <a:solidFill>
              <a:srgbClr val="1B3B6F"/>
            </a:solidFill>
            <a:prstDash val="solid"/>
          </a:ln>
        </p:spPr>
      </p:sp>
      <p:sp>
        <p:nvSpPr>
          <p:cNvPr id="58" name="Text 55"/>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9" name="Text 56"/>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fruit does he especially like?</a:t>
            </a:r>
            <a:endParaRPr lang="en-US" sz="1250" dirty="0"/>
          </a:p>
        </p:txBody>
      </p:sp>
      <p:sp>
        <p:nvSpPr>
          <p:cNvPr id="60" name="Shape 57"/>
          <p:cNvSpPr/>
          <p:nvPr/>
        </p:nvSpPr>
        <p:spPr>
          <a:xfrm>
            <a:off x="9233154" y="2532888"/>
            <a:ext cx="256032" cy="256032"/>
          </a:xfrm>
          <a:prstGeom prst="ellipse">
            <a:avLst/>
          </a:prstGeom>
          <a:solidFill>
            <a:srgbClr val="F4F1EA"/>
          </a:solidFill>
          <a:ln w="12700">
            <a:solidFill>
              <a:srgbClr val="F4F1EA"/>
            </a:solidFill>
            <a:prstDash val="solid"/>
          </a:ln>
        </p:spPr>
      </p:sp>
      <p:sp>
        <p:nvSpPr>
          <p:cNvPr id="61" name="Text 58"/>
          <p:cNvSpPr txBox="1"/>
          <p:nvPr/>
        </p:nvSpPr>
        <p:spPr>
          <a:xfrm>
            <a:off x="923315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2" name="Text 59"/>
          <p:cNvSpPr txBox="1"/>
          <p:nvPr/>
        </p:nvSpPr>
        <p:spPr>
          <a:xfrm>
            <a:off x="9562338" y="24323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oranges and dates</a:t>
            </a:r>
            <a:endParaRPr lang="en-US" sz="1250" dirty="0"/>
          </a:p>
        </p:txBody>
      </p:sp>
      <p:sp>
        <p:nvSpPr>
          <p:cNvPr id="63" name="Shape 60"/>
          <p:cNvSpPr/>
          <p:nvPr/>
        </p:nvSpPr>
        <p:spPr>
          <a:xfrm>
            <a:off x="9233154" y="2990088"/>
            <a:ext cx="256032" cy="256032"/>
          </a:xfrm>
          <a:prstGeom prst="ellipse">
            <a:avLst/>
          </a:prstGeom>
          <a:solidFill>
            <a:srgbClr val="F4F1EA"/>
          </a:solidFill>
          <a:ln w="12700">
            <a:solidFill>
              <a:srgbClr val="F4F1EA"/>
            </a:solidFill>
            <a:prstDash val="solid"/>
          </a:ln>
        </p:spPr>
      </p:sp>
      <p:sp>
        <p:nvSpPr>
          <p:cNvPr id="64" name="Text 61"/>
          <p:cNvSpPr txBox="1"/>
          <p:nvPr/>
        </p:nvSpPr>
        <p:spPr>
          <a:xfrm>
            <a:off x="923315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5" name="Text 62"/>
          <p:cNvSpPr txBox="1"/>
          <p:nvPr/>
        </p:nvSpPr>
        <p:spPr>
          <a:xfrm>
            <a:off x="9562338" y="28895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bananas and grapes</a:t>
            </a:r>
            <a:endParaRPr lang="en-US" sz="1250" dirty="0"/>
          </a:p>
        </p:txBody>
      </p:sp>
      <p:sp>
        <p:nvSpPr>
          <p:cNvPr id="66" name="Shape 63"/>
          <p:cNvSpPr/>
          <p:nvPr/>
        </p:nvSpPr>
        <p:spPr>
          <a:xfrm>
            <a:off x="9233154" y="3447288"/>
            <a:ext cx="256032" cy="256032"/>
          </a:xfrm>
          <a:prstGeom prst="ellipse">
            <a:avLst/>
          </a:prstGeom>
          <a:solidFill>
            <a:srgbClr val="F4F1EA"/>
          </a:solidFill>
          <a:ln w="12700">
            <a:solidFill>
              <a:srgbClr val="F4F1EA"/>
            </a:solidFill>
            <a:prstDash val="solid"/>
          </a:ln>
        </p:spPr>
      </p:sp>
      <p:sp>
        <p:nvSpPr>
          <p:cNvPr id="67" name="Text 64"/>
          <p:cNvSpPr txBox="1"/>
          <p:nvPr/>
        </p:nvSpPr>
        <p:spPr>
          <a:xfrm>
            <a:off x="923315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8" name="Text 65"/>
          <p:cNvSpPr txBox="1"/>
          <p:nvPr/>
        </p:nvSpPr>
        <p:spPr>
          <a:xfrm>
            <a:off x="9562338" y="3346704"/>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apples and strawberries</a:t>
            </a:r>
            <a:endParaRPr lang="en-US" sz="1250" dirty="0"/>
          </a:p>
        </p:txBody>
      </p:sp>
      <p:sp>
        <p:nvSpPr>
          <p:cNvPr id="69" name="Shape 66"/>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585216" y="4288536"/>
            <a:ext cx="310896" cy="310896"/>
          </a:xfrm>
          <a:prstGeom prst="ellipse">
            <a:avLst/>
          </a:prstGeom>
          <a:solidFill>
            <a:srgbClr val="1B3B6F"/>
          </a:solidFill>
          <a:ln w="12700">
            <a:solidFill>
              <a:srgbClr val="1B3B6F"/>
            </a:solidFill>
            <a:prstDash val="solid"/>
          </a:ln>
        </p:spPr>
      </p:sp>
      <p:sp>
        <p:nvSpPr>
          <p:cNvPr id="71" name="Text 68"/>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2" name="Text 69"/>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drinks are bought?</a:t>
            </a:r>
            <a:endParaRPr lang="en-US" sz="1250" dirty="0"/>
          </a:p>
        </p:txBody>
      </p:sp>
      <p:sp>
        <p:nvSpPr>
          <p:cNvPr id="73" name="Shape 70"/>
          <p:cNvSpPr/>
          <p:nvPr/>
        </p:nvSpPr>
        <p:spPr>
          <a:xfrm>
            <a:off x="640080" y="4873752"/>
            <a:ext cx="256032" cy="256032"/>
          </a:xfrm>
          <a:prstGeom prst="ellipse">
            <a:avLst/>
          </a:prstGeom>
          <a:solidFill>
            <a:srgbClr val="F4F1EA"/>
          </a:solidFill>
          <a:ln w="12700">
            <a:solidFill>
              <a:srgbClr val="F4F1EA"/>
            </a:solidFill>
            <a:prstDash val="solid"/>
          </a:ln>
        </p:spPr>
      </p:sp>
      <p:sp>
        <p:nvSpPr>
          <p:cNvPr id="74" name="Text 71"/>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5" name="Text 72"/>
          <p:cNvSpPr txBox="1"/>
          <p:nvPr/>
        </p:nvSpPr>
        <p:spPr>
          <a:xfrm>
            <a:off x="969264"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milk and water</a:t>
            </a:r>
            <a:endParaRPr lang="en-US" sz="1250" dirty="0"/>
          </a:p>
        </p:txBody>
      </p:sp>
      <p:sp>
        <p:nvSpPr>
          <p:cNvPr id="76" name="Shape 73"/>
          <p:cNvSpPr/>
          <p:nvPr/>
        </p:nvSpPr>
        <p:spPr>
          <a:xfrm>
            <a:off x="640080" y="53309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8" name="Text 75"/>
          <p:cNvSpPr txBox="1"/>
          <p:nvPr/>
        </p:nvSpPr>
        <p:spPr>
          <a:xfrm>
            <a:off x="969264"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juice and tea</a:t>
            </a:r>
            <a:endParaRPr lang="en-US" sz="1250" dirty="0"/>
          </a:p>
        </p:txBody>
      </p:sp>
      <p:sp>
        <p:nvSpPr>
          <p:cNvPr id="79" name="Shape 76"/>
          <p:cNvSpPr/>
          <p:nvPr/>
        </p:nvSpPr>
        <p:spPr>
          <a:xfrm>
            <a:off x="640080" y="57881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1" name="Text 78"/>
          <p:cNvSpPr txBox="1"/>
          <p:nvPr/>
        </p:nvSpPr>
        <p:spPr>
          <a:xfrm>
            <a:off x="969264"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coffee and milk</a:t>
            </a:r>
            <a:endParaRPr lang="en-US" sz="1250" dirty="0"/>
          </a:p>
        </p:txBody>
      </p:sp>
      <p:sp>
        <p:nvSpPr>
          <p:cNvPr id="82" name="Shape 7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3" name="Shape 80"/>
          <p:cNvSpPr/>
          <p:nvPr/>
        </p:nvSpPr>
        <p:spPr>
          <a:xfrm>
            <a:off x="3449574" y="4288536"/>
            <a:ext cx="310896" cy="310896"/>
          </a:xfrm>
          <a:prstGeom prst="ellipse">
            <a:avLst/>
          </a:prstGeom>
          <a:solidFill>
            <a:srgbClr val="1B3B6F"/>
          </a:solidFill>
          <a:ln w="12700">
            <a:solidFill>
              <a:srgbClr val="1B3B6F"/>
            </a:solidFill>
            <a:prstDash val="solid"/>
          </a:ln>
        </p:spPr>
      </p:sp>
      <p:sp>
        <p:nvSpPr>
          <p:cNvPr id="84" name="Text 8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85" name="Text 8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Which three ingredients are needed in addition to the main foods?</a:t>
            </a:r>
            <a:endParaRPr lang="en-US" sz="950" dirty="0"/>
          </a:p>
        </p:txBody>
      </p:sp>
      <p:sp>
        <p:nvSpPr>
          <p:cNvPr id="86" name="Shape 83"/>
          <p:cNvSpPr/>
          <p:nvPr/>
        </p:nvSpPr>
        <p:spPr>
          <a:xfrm>
            <a:off x="3504438" y="4873752"/>
            <a:ext cx="256032" cy="256032"/>
          </a:xfrm>
          <a:prstGeom prst="ellipse">
            <a:avLst/>
          </a:prstGeom>
          <a:solidFill>
            <a:srgbClr val="F4F1EA"/>
          </a:solidFill>
          <a:ln w="12700">
            <a:solidFill>
              <a:srgbClr val="F4F1EA"/>
            </a:solidFill>
            <a:prstDash val="solid"/>
          </a:ln>
        </p:spPr>
      </p:sp>
      <p:sp>
        <p:nvSpPr>
          <p:cNvPr id="87" name="Text 84"/>
          <p:cNvSpPr txBox="1"/>
          <p:nvPr/>
        </p:nvSpPr>
        <p:spPr>
          <a:xfrm>
            <a:off x="3504438"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8" name="Text 85"/>
          <p:cNvSpPr txBox="1"/>
          <p:nvPr/>
        </p:nvSpPr>
        <p:spPr>
          <a:xfrm>
            <a:off x="3833622"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cheese, yoghurt and milk</a:t>
            </a:r>
            <a:endParaRPr lang="en-US" sz="1250" dirty="0"/>
          </a:p>
        </p:txBody>
      </p:sp>
      <p:sp>
        <p:nvSpPr>
          <p:cNvPr id="89" name="Shape 86"/>
          <p:cNvSpPr/>
          <p:nvPr/>
        </p:nvSpPr>
        <p:spPr>
          <a:xfrm>
            <a:off x="3504438" y="5330952"/>
            <a:ext cx="256032" cy="256032"/>
          </a:xfrm>
          <a:prstGeom prst="ellipse">
            <a:avLst/>
          </a:prstGeom>
          <a:solidFill>
            <a:srgbClr val="F4F1EA"/>
          </a:solidFill>
          <a:ln w="12700">
            <a:solidFill>
              <a:srgbClr val="F4F1EA"/>
            </a:solidFill>
            <a:prstDash val="solid"/>
          </a:ln>
        </p:spPr>
      </p:sp>
      <p:sp>
        <p:nvSpPr>
          <p:cNvPr id="90" name="Text 87"/>
          <p:cNvSpPr txBox="1"/>
          <p:nvPr/>
        </p:nvSpPr>
        <p:spPr>
          <a:xfrm>
            <a:off x="3504438"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91" name="Text 88"/>
          <p:cNvSpPr txBox="1"/>
          <p:nvPr/>
        </p:nvSpPr>
        <p:spPr>
          <a:xfrm>
            <a:off x="3833622"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 coffee and juice</a:t>
            </a:r>
            <a:endParaRPr lang="en-US" sz="1250" dirty="0"/>
          </a:p>
        </p:txBody>
      </p:sp>
      <p:sp>
        <p:nvSpPr>
          <p:cNvPr id="92" name="Shape 89"/>
          <p:cNvSpPr/>
          <p:nvPr/>
        </p:nvSpPr>
        <p:spPr>
          <a:xfrm>
            <a:off x="3504438" y="5788152"/>
            <a:ext cx="256032" cy="256032"/>
          </a:xfrm>
          <a:prstGeom prst="ellipse">
            <a:avLst/>
          </a:prstGeom>
          <a:solidFill>
            <a:srgbClr val="F4F1EA"/>
          </a:solidFill>
          <a:ln w="12700">
            <a:solidFill>
              <a:srgbClr val="F4F1EA"/>
            </a:solidFill>
            <a:prstDash val="solid"/>
          </a:ln>
        </p:spPr>
      </p:sp>
      <p:sp>
        <p:nvSpPr>
          <p:cNvPr id="93" name="Text 90"/>
          <p:cNvSpPr txBox="1"/>
          <p:nvPr/>
        </p:nvSpPr>
        <p:spPr>
          <a:xfrm>
            <a:off x="3504438"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4" name="Text 91"/>
          <p:cNvSpPr txBox="1"/>
          <p:nvPr/>
        </p:nvSpPr>
        <p:spPr>
          <a:xfrm>
            <a:off x="3833622"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oil, salt and a little sugar</a:t>
            </a:r>
            <a:endParaRPr lang="en-US" sz="1250" dirty="0"/>
          </a:p>
        </p:txBody>
      </p:sp>
      <p:sp>
        <p:nvSpPr>
          <p:cNvPr id="95" name="Shape 92"/>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6313932" y="4288536"/>
            <a:ext cx="310896" cy="310896"/>
          </a:xfrm>
          <a:prstGeom prst="ellipse">
            <a:avLst/>
          </a:prstGeom>
          <a:solidFill>
            <a:srgbClr val="1B3B6F"/>
          </a:solidFill>
          <a:ln w="12700">
            <a:solidFill>
              <a:srgbClr val="1B3B6F"/>
            </a:solidFill>
            <a:prstDash val="solid"/>
          </a:ln>
        </p:spPr>
      </p:sp>
      <p:sp>
        <p:nvSpPr>
          <p:cNvPr id="97" name="Text 94"/>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98" name="Text 95"/>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included in the mother’s salad?</a:t>
            </a:r>
            <a:endParaRPr lang="en-US" sz="1250" dirty="0"/>
          </a:p>
        </p:txBody>
      </p:sp>
      <p:sp>
        <p:nvSpPr>
          <p:cNvPr id="99" name="Shape 96"/>
          <p:cNvSpPr/>
          <p:nvPr/>
        </p:nvSpPr>
        <p:spPr>
          <a:xfrm>
            <a:off x="6368796" y="4873752"/>
            <a:ext cx="256032" cy="256032"/>
          </a:xfrm>
          <a:prstGeom prst="ellipse">
            <a:avLst/>
          </a:prstGeom>
          <a:solidFill>
            <a:srgbClr val="F4F1EA"/>
          </a:solidFill>
          <a:ln w="12700">
            <a:solidFill>
              <a:srgbClr val="F4F1EA"/>
            </a:solidFill>
            <a:prstDash val="solid"/>
          </a:ln>
        </p:spPr>
      </p:sp>
      <p:sp>
        <p:nvSpPr>
          <p:cNvPr id="100" name="Text 9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01" name="Text 98"/>
          <p:cNvSpPr txBox="1"/>
          <p:nvPr/>
        </p:nvSpPr>
        <p:spPr>
          <a:xfrm>
            <a:off x="6697980"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potatoes, carrots and beans</a:t>
            </a:r>
            <a:endParaRPr lang="en-US" sz="1250" dirty="0"/>
          </a:p>
        </p:txBody>
      </p:sp>
      <p:sp>
        <p:nvSpPr>
          <p:cNvPr id="102" name="Shape 99"/>
          <p:cNvSpPr/>
          <p:nvPr/>
        </p:nvSpPr>
        <p:spPr>
          <a:xfrm>
            <a:off x="6368796" y="5330952"/>
            <a:ext cx="256032" cy="256032"/>
          </a:xfrm>
          <a:prstGeom prst="ellipse">
            <a:avLst/>
          </a:prstGeom>
          <a:solidFill>
            <a:srgbClr val="F4F1EA"/>
          </a:solidFill>
          <a:ln w="12700">
            <a:solidFill>
              <a:srgbClr val="F4F1EA"/>
            </a:solidFill>
            <a:prstDash val="solid"/>
          </a:ln>
        </p:spPr>
      </p:sp>
      <p:sp>
        <p:nvSpPr>
          <p:cNvPr id="103" name="Text 10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4" name="Text 101"/>
          <p:cNvSpPr txBox="1"/>
          <p:nvPr/>
        </p:nvSpPr>
        <p:spPr>
          <a:xfrm>
            <a:off x="6697980"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rice, chicken and fish</a:t>
            </a:r>
            <a:endParaRPr lang="en-US" sz="1250" dirty="0"/>
          </a:p>
        </p:txBody>
      </p:sp>
      <p:sp>
        <p:nvSpPr>
          <p:cNvPr id="105" name="Shape 102"/>
          <p:cNvSpPr/>
          <p:nvPr/>
        </p:nvSpPr>
        <p:spPr>
          <a:xfrm>
            <a:off x="6368796" y="5788152"/>
            <a:ext cx="256032" cy="256032"/>
          </a:xfrm>
          <a:prstGeom prst="ellipse">
            <a:avLst/>
          </a:prstGeom>
          <a:solidFill>
            <a:srgbClr val="F4F1EA"/>
          </a:solidFill>
          <a:ln w="12700">
            <a:solidFill>
              <a:srgbClr val="F4F1EA"/>
            </a:solidFill>
            <a:prstDash val="solid"/>
          </a:ln>
        </p:spPr>
      </p:sp>
      <p:sp>
        <p:nvSpPr>
          <p:cNvPr id="106" name="Text 103"/>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07" name="Text 104"/>
          <p:cNvSpPr txBox="1"/>
          <p:nvPr/>
        </p:nvSpPr>
        <p:spPr>
          <a:xfrm>
            <a:off x="6697980"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lettuce, tomatoes and onions</a:t>
            </a:r>
            <a:endParaRPr lang="en-US" sz="1250" dirty="0"/>
          </a:p>
        </p:txBody>
      </p:sp>
      <p:sp>
        <p:nvSpPr>
          <p:cNvPr id="108" name="Shape 105"/>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9" name="Shape 106"/>
          <p:cNvSpPr/>
          <p:nvPr/>
        </p:nvSpPr>
        <p:spPr>
          <a:xfrm>
            <a:off x="9178290" y="4288536"/>
            <a:ext cx="310896" cy="310896"/>
          </a:xfrm>
          <a:prstGeom prst="ellipse">
            <a:avLst/>
          </a:prstGeom>
          <a:solidFill>
            <a:srgbClr val="1B3B6F"/>
          </a:solidFill>
          <a:ln w="12700">
            <a:solidFill>
              <a:srgbClr val="1B3B6F"/>
            </a:solidFill>
            <a:prstDash val="solid"/>
          </a:ln>
        </p:spPr>
      </p:sp>
      <p:sp>
        <p:nvSpPr>
          <p:cNvPr id="110" name="Text 107"/>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11" name="Text 108"/>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seafood is mentioned specifically?</a:t>
            </a:r>
            <a:endParaRPr lang="en-US" sz="1250" dirty="0"/>
          </a:p>
        </p:txBody>
      </p:sp>
      <p:sp>
        <p:nvSpPr>
          <p:cNvPr id="112" name="Shape 109"/>
          <p:cNvSpPr/>
          <p:nvPr/>
        </p:nvSpPr>
        <p:spPr>
          <a:xfrm>
            <a:off x="9233154" y="4873752"/>
            <a:ext cx="256032" cy="256032"/>
          </a:xfrm>
          <a:prstGeom prst="ellipse">
            <a:avLst/>
          </a:prstGeom>
          <a:solidFill>
            <a:srgbClr val="F4F1EA"/>
          </a:solidFill>
          <a:ln w="12700">
            <a:solidFill>
              <a:srgbClr val="F4F1EA"/>
            </a:solidFill>
            <a:prstDash val="solid"/>
          </a:ln>
        </p:spPr>
      </p:sp>
      <p:sp>
        <p:nvSpPr>
          <p:cNvPr id="113" name="Text 110"/>
          <p:cNvSpPr txBox="1"/>
          <p:nvPr/>
        </p:nvSpPr>
        <p:spPr>
          <a:xfrm>
            <a:off x="923315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14" name="Text 111"/>
          <p:cNvSpPr txBox="1"/>
          <p:nvPr/>
        </p:nvSpPr>
        <p:spPr>
          <a:xfrm>
            <a:off x="9562338" y="47731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prawns</a:t>
            </a:r>
            <a:endParaRPr lang="en-US" sz="1250" dirty="0"/>
          </a:p>
        </p:txBody>
      </p:sp>
      <p:sp>
        <p:nvSpPr>
          <p:cNvPr id="115" name="Shape 112"/>
          <p:cNvSpPr/>
          <p:nvPr/>
        </p:nvSpPr>
        <p:spPr>
          <a:xfrm>
            <a:off x="9233154" y="5330952"/>
            <a:ext cx="256032" cy="256032"/>
          </a:xfrm>
          <a:prstGeom prst="ellipse">
            <a:avLst/>
          </a:prstGeom>
          <a:solidFill>
            <a:srgbClr val="F4F1EA"/>
          </a:solidFill>
          <a:ln w="12700">
            <a:solidFill>
              <a:srgbClr val="F4F1EA"/>
            </a:solidFill>
            <a:prstDash val="solid"/>
          </a:ln>
        </p:spPr>
      </p:sp>
      <p:sp>
        <p:nvSpPr>
          <p:cNvPr id="116" name="Text 113"/>
          <p:cNvSpPr txBox="1"/>
          <p:nvPr/>
        </p:nvSpPr>
        <p:spPr>
          <a:xfrm>
            <a:off x="923315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7" name="Text 114"/>
          <p:cNvSpPr txBox="1"/>
          <p:nvPr/>
        </p:nvSpPr>
        <p:spPr>
          <a:xfrm>
            <a:off x="9562338" y="52303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tuna</a:t>
            </a:r>
            <a:endParaRPr lang="en-US" sz="1250" dirty="0"/>
          </a:p>
        </p:txBody>
      </p:sp>
      <p:sp>
        <p:nvSpPr>
          <p:cNvPr id="118" name="Shape 115"/>
          <p:cNvSpPr/>
          <p:nvPr/>
        </p:nvSpPr>
        <p:spPr>
          <a:xfrm>
            <a:off x="9233154" y="5788152"/>
            <a:ext cx="256032" cy="256032"/>
          </a:xfrm>
          <a:prstGeom prst="ellipse">
            <a:avLst/>
          </a:prstGeom>
          <a:solidFill>
            <a:srgbClr val="F4F1EA"/>
          </a:solidFill>
          <a:ln w="12700">
            <a:solidFill>
              <a:srgbClr val="F4F1EA"/>
            </a:solidFill>
            <a:prstDash val="solid"/>
          </a:ln>
        </p:spPr>
      </p:sp>
      <p:sp>
        <p:nvSpPr>
          <p:cNvPr id="119" name="Text 116"/>
          <p:cNvSpPr txBox="1"/>
          <p:nvPr/>
        </p:nvSpPr>
        <p:spPr>
          <a:xfrm>
            <a:off x="923315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20" name="Text 117"/>
          <p:cNvSpPr txBox="1"/>
          <p:nvPr/>
        </p:nvSpPr>
        <p:spPr>
          <a:xfrm>
            <a:off x="9562338" y="5687568"/>
            <a:ext cx="2023110"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crab</a:t>
            </a:r>
            <a:endParaRPr lang="en-US" sz="1250" dirty="0"/>
          </a:p>
        </p:txBody>
      </p:sp>
      <p:sp>
        <p:nvSpPr>
          <p:cNvPr id="121" name="Text 11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44 / 47</a:t>
            </a:r>
            <a:endParaRPr lang="en-US" sz="85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EXTENSION · READING ANSWERS</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القِرَاءَةِ</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7" name="Shape 14"/>
          <p:cNvSpPr/>
          <p:nvPr/>
        </p:nvSpPr>
        <p:spPr>
          <a:xfrm>
            <a:off x="457200"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8" name="Shape 15"/>
          <p:cNvSpPr/>
          <p:nvPr/>
        </p:nvSpPr>
        <p:spPr>
          <a:xfrm>
            <a:off x="585216" y="1947672"/>
            <a:ext cx="310896" cy="310896"/>
          </a:xfrm>
          <a:prstGeom prst="ellipse">
            <a:avLst/>
          </a:prstGeom>
          <a:solidFill>
            <a:srgbClr val="1B3B6F"/>
          </a:solidFill>
          <a:ln w="12700">
            <a:solidFill>
              <a:srgbClr val="1B3B6F"/>
            </a:solidFill>
            <a:prstDash val="solid"/>
          </a:ln>
        </p:spPr>
      </p:sp>
      <p:sp>
        <p:nvSpPr>
          <p:cNvPr id="19" name="Text 16"/>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20" name="Text 17"/>
          <p:cNvSpPr txBox="1"/>
          <p:nvPr/>
        </p:nvSpPr>
        <p:spPr>
          <a:xfrm>
            <a:off x="950976"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family buying for dinner?</a:t>
            </a:r>
            <a:endParaRPr lang="en-US" sz="1250" dirty="0"/>
          </a:p>
        </p:txBody>
      </p:sp>
      <p:sp>
        <p:nvSpPr>
          <p:cNvPr id="21" name="Shape 18"/>
          <p:cNvSpPr/>
          <p:nvPr/>
        </p:nvSpPr>
        <p:spPr>
          <a:xfrm>
            <a:off x="640080" y="2490216"/>
            <a:ext cx="256032" cy="256032"/>
          </a:xfrm>
          <a:prstGeom prst="ellipse">
            <a:avLst/>
          </a:prstGeom>
          <a:solidFill>
            <a:srgbClr val="C9CED6"/>
          </a:solidFill>
          <a:ln w="12700">
            <a:solidFill>
              <a:srgbClr val="C9CED6"/>
            </a:solidFill>
            <a:prstDash val="solid"/>
          </a:ln>
        </p:spPr>
      </p:sp>
      <p:sp>
        <p:nvSpPr>
          <p:cNvPr id="22" name="Text 19"/>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3" name="Text 20"/>
          <p:cNvSpPr txBox="1"/>
          <p:nvPr/>
        </p:nvSpPr>
        <p:spPr>
          <a:xfrm>
            <a:off x="969264"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fish, potatoes and soup</a:t>
            </a:r>
            <a:endParaRPr lang="en-US" sz="1250" dirty="0"/>
          </a:p>
        </p:txBody>
      </p:sp>
      <p:sp>
        <p:nvSpPr>
          <p:cNvPr id="24" name="Shape 21"/>
          <p:cNvSpPr/>
          <p:nvPr/>
        </p:nvSpPr>
        <p:spPr>
          <a:xfrm>
            <a:off x="548640" y="2825496"/>
            <a:ext cx="2498598" cy="347472"/>
          </a:xfrm>
          <a:prstGeom prst="roundRect">
            <a:avLst>
              <a:gd name="adj" fmla="val 15789"/>
            </a:avLst>
          </a:prstGeom>
          <a:solidFill>
            <a:srgbClr val="E6F4EC"/>
          </a:solidFill>
          <a:ln w="9525">
            <a:solidFill>
              <a:srgbClr val="2E8B57"/>
            </a:solidFill>
            <a:prstDash val="solid"/>
          </a:ln>
        </p:spPr>
      </p:sp>
      <p:sp>
        <p:nvSpPr>
          <p:cNvPr id="25" name="Shape 22"/>
          <p:cNvSpPr/>
          <p:nvPr/>
        </p:nvSpPr>
        <p:spPr>
          <a:xfrm>
            <a:off x="640080" y="2862072"/>
            <a:ext cx="256032" cy="256032"/>
          </a:xfrm>
          <a:prstGeom prst="ellipse">
            <a:avLst/>
          </a:prstGeom>
          <a:solidFill>
            <a:srgbClr val="2E8B57"/>
          </a:solidFill>
          <a:ln w="12700">
            <a:solidFill>
              <a:srgbClr val="2E8B57"/>
            </a:solidFill>
            <a:prstDash val="solid"/>
          </a:ln>
        </p:spPr>
      </p:sp>
      <p:sp>
        <p:nvSpPr>
          <p:cNvPr id="26" name="Text 23"/>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7" name="Text 24"/>
          <p:cNvSpPr txBox="1"/>
          <p:nvPr/>
        </p:nvSpPr>
        <p:spPr>
          <a:xfrm>
            <a:off x="969264"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bread, rice and chicken</a:t>
            </a:r>
            <a:endParaRPr lang="en-US" sz="1250" dirty="0"/>
          </a:p>
        </p:txBody>
      </p:sp>
      <p:sp>
        <p:nvSpPr>
          <p:cNvPr id="28" name="Shape 25"/>
          <p:cNvSpPr/>
          <p:nvPr/>
        </p:nvSpPr>
        <p:spPr>
          <a:xfrm>
            <a:off x="640080" y="3233928"/>
            <a:ext cx="256032" cy="256032"/>
          </a:xfrm>
          <a:prstGeom prst="ellipse">
            <a:avLst/>
          </a:prstGeom>
          <a:solidFill>
            <a:srgbClr val="C9CED6"/>
          </a:solidFill>
          <a:ln w="12700">
            <a:solidFill>
              <a:srgbClr val="C9CED6"/>
            </a:solidFill>
            <a:prstDash val="solid"/>
          </a:ln>
        </p:spPr>
      </p:sp>
      <p:sp>
        <p:nvSpPr>
          <p:cNvPr id="29" name="Text 26"/>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30" name="Text 27"/>
          <p:cNvSpPr txBox="1"/>
          <p:nvPr/>
        </p:nvSpPr>
        <p:spPr>
          <a:xfrm>
            <a:off x="969264"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pasta, eggs and cheese</a:t>
            </a:r>
            <a:endParaRPr lang="en-US" sz="1250" dirty="0"/>
          </a:p>
        </p:txBody>
      </p:sp>
      <p:sp>
        <p:nvSpPr>
          <p:cNvPr id="31" name="Text 28"/>
          <p:cNvSpPr txBox="1"/>
          <p:nvPr/>
        </p:nvSpPr>
        <p:spPr>
          <a:xfrm>
            <a:off x="585216"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opening sentence lists </a:t>
            </a:r>
            <a:pPr algn="l" indent="0" marL="0">
              <a:buNone/>
            </a:pPr>
            <a:r>
              <a:rPr lang="ar-SA" altLang="en-US" sz="1350" dirty="0">
                <a:solidFill>
                  <a:srgbClr val="8A6D1E"/>
                </a:solidFill>
                <a:latin typeface="Amiri" pitchFamily="2" charset="-78"/>
                <a:ea typeface="Amiri" pitchFamily="2" charset="-78"/>
                <a:cs typeface="Amiri" pitchFamily="2" charset="-78"/>
              </a:rPr>
              <a:t>خُبْزًا وَأَرُزًّا وَدَجَاجًا</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2" name="Shape 29"/>
          <p:cNvSpPr/>
          <p:nvPr/>
        </p:nvSpPr>
        <p:spPr>
          <a:xfrm>
            <a:off x="3321558"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3449574" y="1947672"/>
            <a:ext cx="310896" cy="310896"/>
          </a:xfrm>
          <a:prstGeom prst="ellipse">
            <a:avLst/>
          </a:prstGeom>
          <a:solidFill>
            <a:srgbClr val="1B3B6F"/>
          </a:solidFill>
          <a:ln w="12700">
            <a:solidFill>
              <a:srgbClr val="1B3B6F"/>
            </a:solidFill>
            <a:prstDash val="solid"/>
          </a:ln>
        </p:spPr>
      </p:sp>
      <p:sp>
        <p:nvSpPr>
          <p:cNvPr id="34" name="Text 31"/>
          <p:cNvSpPr txBox="1"/>
          <p:nvPr/>
        </p:nvSpPr>
        <p:spPr>
          <a:xfrm>
            <a:off x="344957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5" name="Text 32"/>
          <p:cNvSpPr txBox="1"/>
          <p:nvPr/>
        </p:nvSpPr>
        <p:spPr>
          <a:xfrm>
            <a:off x="3815334"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likes salad?</a:t>
            </a:r>
            <a:endParaRPr lang="en-US" sz="1250" dirty="0"/>
          </a:p>
        </p:txBody>
      </p:sp>
      <p:sp>
        <p:nvSpPr>
          <p:cNvPr id="36" name="Shape 33"/>
          <p:cNvSpPr/>
          <p:nvPr/>
        </p:nvSpPr>
        <p:spPr>
          <a:xfrm>
            <a:off x="3504438"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350443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8" name="Text 35"/>
          <p:cNvSpPr txBox="1"/>
          <p:nvPr/>
        </p:nvSpPr>
        <p:spPr>
          <a:xfrm>
            <a:off x="3833622"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father</a:t>
            </a:r>
            <a:endParaRPr lang="en-US" sz="1250" dirty="0"/>
          </a:p>
        </p:txBody>
      </p:sp>
      <p:sp>
        <p:nvSpPr>
          <p:cNvPr id="39" name="Shape 36"/>
          <p:cNvSpPr/>
          <p:nvPr/>
        </p:nvSpPr>
        <p:spPr>
          <a:xfrm>
            <a:off x="3504438"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350443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1" name="Text 38"/>
          <p:cNvSpPr txBox="1"/>
          <p:nvPr/>
        </p:nvSpPr>
        <p:spPr>
          <a:xfrm>
            <a:off x="3833622"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 brother</a:t>
            </a:r>
            <a:endParaRPr lang="en-US" sz="1250" dirty="0"/>
          </a:p>
        </p:txBody>
      </p:sp>
      <p:sp>
        <p:nvSpPr>
          <p:cNvPr id="42" name="Shape 39"/>
          <p:cNvSpPr/>
          <p:nvPr/>
        </p:nvSpPr>
        <p:spPr>
          <a:xfrm>
            <a:off x="3412998" y="3197352"/>
            <a:ext cx="2498598"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3504438"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350443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5" name="Text 42"/>
          <p:cNvSpPr txBox="1"/>
          <p:nvPr/>
        </p:nvSpPr>
        <p:spPr>
          <a:xfrm>
            <a:off x="3833622" y="3176016"/>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 mother</a:t>
            </a:r>
            <a:endParaRPr lang="en-US" sz="1250" dirty="0"/>
          </a:p>
        </p:txBody>
      </p:sp>
      <p:sp>
        <p:nvSpPr>
          <p:cNvPr id="46" name="Text 43"/>
          <p:cNvSpPr txBox="1"/>
          <p:nvPr/>
        </p:nvSpPr>
        <p:spPr>
          <a:xfrm>
            <a:off x="3449574" y="3566160"/>
            <a:ext cx="2425446"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أُمِّي تُحِبُّ السَّلَطَةَ.</a:t>
            </a:r>
            <a:endParaRPr lang="ar-SA" sz="1350" dirty="0"/>
          </a:p>
        </p:txBody>
      </p:sp>
      <p:sp>
        <p:nvSpPr>
          <p:cNvPr id="47" name="Shape 44"/>
          <p:cNvSpPr/>
          <p:nvPr/>
        </p:nvSpPr>
        <p:spPr>
          <a:xfrm>
            <a:off x="6185916"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6313932"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50" name="Text 47"/>
          <p:cNvSpPr txBox="1"/>
          <p:nvPr/>
        </p:nvSpPr>
        <p:spPr>
          <a:xfrm>
            <a:off x="6679692"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the brother dislike?</a:t>
            </a:r>
            <a:endParaRPr lang="en-US" sz="1250" dirty="0"/>
          </a:p>
        </p:txBody>
      </p:sp>
      <p:sp>
        <p:nvSpPr>
          <p:cNvPr id="51" name="Shape 48"/>
          <p:cNvSpPr/>
          <p:nvPr/>
        </p:nvSpPr>
        <p:spPr>
          <a:xfrm>
            <a:off x="6277356" y="2453640"/>
            <a:ext cx="2498598" cy="347472"/>
          </a:xfrm>
          <a:prstGeom prst="roundRect">
            <a:avLst>
              <a:gd name="adj" fmla="val 15789"/>
            </a:avLst>
          </a:prstGeom>
          <a:solidFill>
            <a:srgbClr val="E6F4EC"/>
          </a:solidFill>
          <a:ln w="9525">
            <a:solidFill>
              <a:srgbClr val="2E8B57"/>
            </a:solidFill>
            <a:prstDash val="solid"/>
          </a:ln>
        </p:spPr>
      </p:sp>
      <p:sp>
        <p:nvSpPr>
          <p:cNvPr id="52" name="Shape 49"/>
          <p:cNvSpPr/>
          <p:nvPr/>
        </p:nvSpPr>
        <p:spPr>
          <a:xfrm>
            <a:off x="6368796" y="2490216"/>
            <a:ext cx="256032" cy="256032"/>
          </a:xfrm>
          <a:prstGeom prst="ellipse">
            <a:avLst/>
          </a:prstGeom>
          <a:solidFill>
            <a:srgbClr val="2E8B57"/>
          </a:solidFill>
          <a:ln w="12700">
            <a:solidFill>
              <a:srgbClr val="2E8B57"/>
            </a:solidFill>
            <a:prstDash val="solid"/>
          </a:ln>
        </p:spPr>
      </p:sp>
      <p:sp>
        <p:nvSpPr>
          <p:cNvPr id="53" name="Text 5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4" name="Text 51"/>
          <p:cNvSpPr txBox="1"/>
          <p:nvPr/>
        </p:nvSpPr>
        <p:spPr>
          <a:xfrm>
            <a:off x="6697980" y="2432304"/>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vegetables</a:t>
            </a:r>
            <a:endParaRPr lang="en-US" sz="1250" dirty="0"/>
          </a:p>
        </p:txBody>
      </p:sp>
      <p:sp>
        <p:nvSpPr>
          <p:cNvPr id="55" name="Shape 52"/>
          <p:cNvSpPr/>
          <p:nvPr/>
        </p:nvSpPr>
        <p:spPr>
          <a:xfrm>
            <a:off x="6368796" y="2862072"/>
            <a:ext cx="256032" cy="256032"/>
          </a:xfrm>
          <a:prstGeom prst="ellipse">
            <a:avLst/>
          </a:prstGeom>
          <a:solidFill>
            <a:srgbClr val="C9CED6"/>
          </a:solidFill>
          <a:ln w="12700">
            <a:solidFill>
              <a:srgbClr val="C9CED6"/>
            </a:solidFill>
            <a:prstDash val="solid"/>
          </a:ln>
        </p:spPr>
      </p:sp>
      <p:sp>
        <p:nvSpPr>
          <p:cNvPr id="56" name="Text 5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7" name="Text 54"/>
          <p:cNvSpPr txBox="1"/>
          <p:nvPr/>
        </p:nvSpPr>
        <p:spPr>
          <a:xfrm>
            <a:off x="6697980" y="280416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fruit</a:t>
            </a:r>
            <a:endParaRPr lang="en-US" sz="1250" dirty="0"/>
          </a:p>
        </p:txBody>
      </p:sp>
      <p:sp>
        <p:nvSpPr>
          <p:cNvPr id="58" name="Shape 55"/>
          <p:cNvSpPr/>
          <p:nvPr/>
        </p:nvSpPr>
        <p:spPr>
          <a:xfrm>
            <a:off x="6368796" y="3233928"/>
            <a:ext cx="256032" cy="256032"/>
          </a:xfrm>
          <a:prstGeom prst="ellipse">
            <a:avLst/>
          </a:prstGeom>
          <a:solidFill>
            <a:srgbClr val="C9CED6"/>
          </a:solidFill>
          <a:ln w="12700">
            <a:solidFill>
              <a:srgbClr val="C9CED6"/>
            </a:solidFill>
            <a:prstDash val="solid"/>
          </a:ln>
        </p:spPr>
      </p:sp>
      <p:sp>
        <p:nvSpPr>
          <p:cNvPr id="59" name="Text 5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0" name="Text 57"/>
          <p:cNvSpPr txBox="1"/>
          <p:nvPr/>
        </p:nvSpPr>
        <p:spPr>
          <a:xfrm>
            <a:off x="6697980"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milk</a:t>
            </a:r>
            <a:endParaRPr lang="en-US" sz="1250" dirty="0"/>
          </a:p>
        </p:txBody>
      </p:sp>
      <p:sp>
        <p:nvSpPr>
          <p:cNvPr id="61" name="Text 58"/>
          <p:cNvSpPr txBox="1"/>
          <p:nvPr/>
        </p:nvSpPr>
        <p:spPr>
          <a:xfrm>
            <a:off x="6313932"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He does not like </a:t>
            </a:r>
            <a:pPr algn="l" indent="0" marL="0">
              <a:buNone/>
            </a:pPr>
            <a:r>
              <a:rPr lang="ar-SA" altLang="en-US" sz="1350" dirty="0">
                <a:solidFill>
                  <a:srgbClr val="8A6D1E"/>
                </a:solidFill>
                <a:latin typeface="Amiri" pitchFamily="2" charset="-78"/>
                <a:ea typeface="Amiri" pitchFamily="2" charset="-78"/>
                <a:cs typeface="Amiri" pitchFamily="2" charset="-78"/>
              </a:rPr>
              <a:t>الخَضْرَوَاتِ</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62" name="Shape 59"/>
          <p:cNvSpPr/>
          <p:nvPr/>
        </p:nvSpPr>
        <p:spPr>
          <a:xfrm>
            <a:off x="9050274" y="1810512"/>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9178290" y="1947672"/>
            <a:ext cx="310896" cy="310896"/>
          </a:xfrm>
          <a:prstGeom prst="ellipse">
            <a:avLst/>
          </a:prstGeom>
          <a:solidFill>
            <a:srgbClr val="1B3B6F"/>
          </a:solidFill>
          <a:ln w="12700">
            <a:solidFill>
              <a:srgbClr val="1B3B6F"/>
            </a:solidFill>
            <a:prstDash val="solid"/>
          </a:ln>
        </p:spPr>
      </p:sp>
      <p:sp>
        <p:nvSpPr>
          <p:cNvPr id="64" name="Text 61"/>
          <p:cNvSpPr txBox="1"/>
          <p:nvPr/>
        </p:nvSpPr>
        <p:spPr>
          <a:xfrm>
            <a:off x="917829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5" name="Text 62"/>
          <p:cNvSpPr txBox="1"/>
          <p:nvPr/>
        </p:nvSpPr>
        <p:spPr>
          <a:xfrm>
            <a:off x="9544050" y="1883664"/>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fruit does he especially like?</a:t>
            </a:r>
            <a:endParaRPr lang="en-US" sz="1250" dirty="0"/>
          </a:p>
        </p:txBody>
      </p:sp>
      <p:sp>
        <p:nvSpPr>
          <p:cNvPr id="66" name="Shape 63"/>
          <p:cNvSpPr/>
          <p:nvPr/>
        </p:nvSpPr>
        <p:spPr>
          <a:xfrm>
            <a:off x="9233154" y="2490216"/>
            <a:ext cx="256032" cy="256032"/>
          </a:xfrm>
          <a:prstGeom prst="ellipse">
            <a:avLst/>
          </a:prstGeom>
          <a:solidFill>
            <a:srgbClr val="C9CED6"/>
          </a:solidFill>
          <a:ln w="12700">
            <a:solidFill>
              <a:srgbClr val="C9CED6"/>
            </a:solidFill>
            <a:prstDash val="solid"/>
          </a:ln>
        </p:spPr>
      </p:sp>
      <p:sp>
        <p:nvSpPr>
          <p:cNvPr id="67" name="Text 64"/>
          <p:cNvSpPr txBox="1"/>
          <p:nvPr/>
        </p:nvSpPr>
        <p:spPr>
          <a:xfrm>
            <a:off x="923315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8" name="Text 65"/>
          <p:cNvSpPr txBox="1"/>
          <p:nvPr/>
        </p:nvSpPr>
        <p:spPr>
          <a:xfrm>
            <a:off x="9562338" y="243230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oranges and dates</a:t>
            </a:r>
            <a:endParaRPr lang="en-US" sz="1250" dirty="0"/>
          </a:p>
        </p:txBody>
      </p:sp>
      <p:sp>
        <p:nvSpPr>
          <p:cNvPr id="69" name="Shape 66"/>
          <p:cNvSpPr/>
          <p:nvPr/>
        </p:nvSpPr>
        <p:spPr>
          <a:xfrm>
            <a:off x="9141714" y="2825496"/>
            <a:ext cx="2498598" cy="347472"/>
          </a:xfrm>
          <a:prstGeom prst="roundRect">
            <a:avLst>
              <a:gd name="adj" fmla="val 15789"/>
            </a:avLst>
          </a:prstGeom>
          <a:solidFill>
            <a:srgbClr val="E6F4EC"/>
          </a:solidFill>
          <a:ln w="9525">
            <a:solidFill>
              <a:srgbClr val="2E8B57"/>
            </a:solidFill>
            <a:prstDash val="solid"/>
          </a:ln>
        </p:spPr>
      </p:sp>
      <p:sp>
        <p:nvSpPr>
          <p:cNvPr id="70" name="Shape 67"/>
          <p:cNvSpPr/>
          <p:nvPr/>
        </p:nvSpPr>
        <p:spPr>
          <a:xfrm>
            <a:off x="9233154" y="2862072"/>
            <a:ext cx="256032" cy="256032"/>
          </a:xfrm>
          <a:prstGeom prst="ellipse">
            <a:avLst/>
          </a:prstGeom>
          <a:solidFill>
            <a:srgbClr val="2E8B57"/>
          </a:solidFill>
          <a:ln w="12700">
            <a:solidFill>
              <a:srgbClr val="2E8B57"/>
            </a:solidFill>
            <a:prstDash val="solid"/>
          </a:ln>
        </p:spPr>
      </p:sp>
      <p:sp>
        <p:nvSpPr>
          <p:cNvPr id="71" name="Text 68"/>
          <p:cNvSpPr txBox="1"/>
          <p:nvPr/>
        </p:nvSpPr>
        <p:spPr>
          <a:xfrm>
            <a:off x="9233154"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2" name="Text 69"/>
          <p:cNvSpPr txBox="1"/>
          <p:nvPr/>
        </p:nvSpPr>
        <p:spPr>
          <a:xfrm>
            <a:off x="9562338" y="280416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bananas and grapes</a:t>
            </a:r>
            <a:endParaRPr lang="en-US" sz="1250" dirty="0"/>
          </a:p>
        </p:txBody>
      </p:sp>
      <p:sp>
        <p:nvSpPr>
          <p:cNvPr id="73" name="Shape 70"/>
          <p:cNvSpPr/>
          <p:nvPr/>
        </p:nvSpPr>
        <p:spPr>
          <a:xfrm>
            <a:off x="9233154" y="3233928"/>
            <a:ext cx="256032" cy="256032"/>
          </a:xfrm>
          <a:prstGeom prst="ellipse">
            <a:avLst/>
          </a:prstGeom>
          <a:solidFill>
            <a:srgbClr val="C9CED6"/>
          </a:solidFill>
          <a:ln w="12700">
            <a:solidFill>
              <a:srgbClr val="C9CED6"/>
            </a:solidFill>
            <a:prstDash val="solid"/>
          </a:ln>
        </p:spPr>
      </p:sp>
      <p:sp>
        <p:nvSpPr>
          <p:cNvPr id="74" name="Text 71"/>
          <p:cNvSpPr txBox="1"/>
          <p:nvPr/>
        </p:nvSpPr>
        <p:spPr>
          <a:xfrm>
            <a:off x="923315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5" name="Text 72"/>
          <p:cNvSpPr txBox="1"/>
          <p:nvPr/>
        </p:nvSpPr>
        <p:spPr>
          <a:xfrm>
            <a:off x="9562338" y="3176016"/>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apples and strawberries</a:t>
            </a:r>
            <a:endParaRPr lang="en-US" sz="1250" dirty="0"/>
          </a:p>
        </p:txBody>
      </p:sp>
      <p:sp>
        <p:nvSpPr>
          <p:cNvPr id="76" name="Text 73"/>
          <p:cNvSpPr txBox="1"/>
          <p:nvPr/>
        </p:nvSpPr>
        <p:spPr>
          <a:xfrm>
            <a:off x="9178290" y="3566160"/>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says </a:t>
            </a:r>
            <a:pPr algn="l" indent="0" marL="0">
              <a:buNone/>
            </a:pPr>
            <a:r>
              <a:rPr lang="ar-SA" altLang="en-US" sz="1350" dirty="0">
                <a:solidFill>
                  <a:srgbClr val="8A6D1E"/>
                </a:solidFill>
                <a:latin typeface="Amiri" pitchFamily="2" charset="-78"/>
                <a:ea typeface="Amiri" pitchFamily="2" charset="-78"/>
                <a:cs typeface="Amiri" pitchFamily="2" charset="-78"/>
              </a:rPr>
              <a:t>خُصُوصًا المَوْزَ وَالعِنَبَ</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77" name="Shape 74"/>
          <p:cNvSpPr/>
          <p:nvPr/>
        </p:nvSpPr>
        <p:spPr>
          <a:xfrm>
            <a:off x="457200"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85216" y="4288536"/>
            <a:ext cx="310896" cy="310896"/>
          </a:xfrm>
          <a:prstGeom prst="ellipse">
            <a:avLst/>
          </a:prstGeom>
          <a:solidFill>
            <a:srgbClr val="1B3B6F"/>
          </a:solidFill>
          <a:ln w="12700">
            <a:solidFill>
              <a:srgbClr val="1B3B6F"/>
            </a:solidFill>
            <a:prstDash val="solid"/>
          </a:ln>
        </p:spPr>
      </p:sp>
      <p:sp>
        <p:nvSpPr>
          <p:cNvPr id="79" name="Text 7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80" name="Text 77"/>
          <p:cNvSpPr txBox="1"/>
          <p:nvPr/>
        </p:nvSpPr>
        <p:spPr>
          <a:xfrm>
            <a:off x="950976"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two drinks are bought?</a:t>
            </a:r>
            <a:endParaRPr lang="en-US" sz="1250" dirty="0"/>
          </a:p>
        </p:txBody>
      </p:sp>
      <p:sp>
        <p:nvSpPr>
          <p:cNvPr id="81" name="Shape 78"/>
          <p:cNvSpPr/>
          <p:nvPr/>
        </p:nvSpPr>
        <p:spPr>
          <a:xfrm>
            <a:off x="548640" y="4794504"/>
            <a:ext cx="2498598" cy="347472"/>
          </a:xfrm>
          <a:prstGeom prst="roundRect">
            <a:avLst>
              <a:gd name="adj" fmla="val 15789"/>
            </a:avLst>
          </a:prstGeom>
          <a:solidFill>
            <a:srgbClr val="E6F4EC"/>
          </a:solidFill>
          <a:ln w="9525">
            <a:solidFill>
              <a:srgbClr val="2E8B57"/>
            </a:solidFill>
            <a:prstDash val="solid"/>
          </a:ln>
        </p:spPr>
      </p:sp>
      <p:sp>
        <p:nvSpPr>
          <p:cNvPr id="82" name="Shape 79"/>
          <p:cNvSpPr/>
          <p:nvPr/>
        </p:nvSpPr>
        <p:spPr>
          <a:xfrm>
            <a:off x="640080" y="4831080"/>
            <a:ext cx="256032" cy="256032"/>
          </a:xfrm>
          <a:prstGeom prst="ellipse">
            <a:avLst/>
          </a:prstGeom>
          <a:solidFill>
            <a:srgbClr val="2E8B57"/>
          </a:solidFill>
          <a:ln w="12700">
            <a:solidFill>
              <a:srgbClr val="2E8B57"/>
            </a:solidFill>
            <a:prstDash val="solid"/>
          </a:ln>
        </p:spPr>
      </p:sp>
      <p:sp>
        <p:nvSpPr>
          <p:cNvPr id="83" name="Text 80"/>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4" name="Text 81"/>
          <p:cNvSpPr txBox="1"/>
          <p:nvPr/>
        </p:nvSpPr>
        <p:spPr>
          <a:xfrm>
            <a:off x="969264"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milk and water</a:t>
            </a:r>
            <a:endParaRPr lang="en-US" sz="1250" dirty="0"/>
          </a:p>
        </p:txBody>
      </p:sp>
      <p:sp>
        <p:nvSpPr>
          <p:cNvPr id="85" name="Shape 82"/>
          <p:cNvSpPr/>
          <p:nvPr/>
        </p:nvSpPr>
        <p:spPr>
          <a:xfrm>
            <a:off x="640080" y="5202936"/>
            <a:ext cx="256032" cy="256032"/>
          </a:xfrm>
          <a:prstGeom prst="ellipse">
            <a:avLst/>
          </a:prstGeom>
          <a:solidFill>
            <a:srgbClr val="C9CED6"/>
          </a:solidFill>
          <a:ln w="12700">
            <a:solidFill>
              <a:srgbClr val="C9CED6"/>
            </a:solidFill>
            <a:prstDash val="solid"/>
          </a:ln>
        </p:spPr>
      </p:sp>
      <p:sp>
        <p:nvSpPr>
          <p:cNvPr id="86" name="Text 83"/>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7" name="Text 84"/>
          <p:cNvSpPr txBox="1"/>
          <p:nvPr/>
        </p:nvSpPr>
        <p:spPr>
          <a:xfrm>
            <a:off x="969264"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juice and tea</a:t>
            </a:r>
            <a:endParaRPr lang="en-US" sz="1250" dirty="0"/>
          </a:p>
        </p:txBody>
      </p:sp>
      <p:sp>
        <p:nvSpPr>
          <p:cNvPr id="88" name="Shape 85"/>
          <p:cNvSpPr/>
          <p:nvPr/>
        </p:nvSpPr>
        <p:spPr>
          <a:xfrm>
            <a:off x="640080" y="5574792"/>
            <a:ext cx="256032" cy="256032"/>
          </a:xfrm>
          <a:prstGeom prst="ellipse">
            <a:avLst/>
          </a:prstGeom>
          <a:solidFill>
            <a:srgbClr val="C9CED6"/>
          </a:solidFill>
          <a:ln w="12700">
            <a:solidFill>
              <a:srgbClr val="C9CED6"/>
            </a:solidFill>
            <a:prstDash val="solid"/>
          </a:ln>
        </p:spPr>
      </p:sp>
      <p:sp>
        <p:nvSpPr>
          <p:cNvPr id="89" name="Text 86"/>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90" name="Text 87"/>
          <p:cNvSpPr txBox="1"/>
          <p:nvPr/>
        </p:nvSpPr>
        <p:spPr>
          <a:xfrm>
            <a:off x="969264"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coffee and milk</a:t>
            </a:r>
            <a:endParaRPr lang="en-US" sz="1250" dirty="0"/>
          </a:p>
        </p:txBody>
      </p:sp>
      <p:sp>
        <p:nvSpPr>
          <p:cNvPr id="91" name="Text 88"/>
          <p:cNvSpPr txBox="1"/>
          <p:nvPr/>
        </p:nvSpPr>
        <p:spPr>
          <a:xfrm>
            <a:off x="585216"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sentence gives </a:t>
            </a:r>
            <a:pPr algn="l" indent="0" marL="0">
              <a:buNone/>
            </a:pPr>
            <a:r>
              <a:rPr lang="ar-SA" altLang="en-US" sz="1350" dirty="0">
                <a:solidFill>
                  <a:srgbClr val="8A6D1E"/>
                </a:solidFill>
                <a:latin typeface="Amiri" pitchFamily="2" charset="-78"/>
                <a:ea typeface="Amiri" pitchFamily="2" charset="-78"/>
                <a:cs typeface="Amiri" pitchFamily="2" charset="-78"/>
              </a:rPr>
              <a:t>حَلِيبًا وَمَاءً</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92" name="Shape 89"/>
          <p:cNvSpPr/>
          <p:nvPr/>
        </p:nvSpPr>
        <p:spPr>
          <a:xfrm>
            <a:off x="3321558"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93" name="Shape 90"/>
          <p:cNvSpPr/>
          <p:nvPr/>
        </p:nvSpPr>
        <p:spPr>
          <a:xfrm>
            <a:off x="3449574" y="4288536"/>
            <a:ext cx="310896" cy="310896"/>
          </a:xfrm>
          <a:prstGeom prst="ellipse">
            <a:avLst/>
          </a:prstGeom>
          <a:solidFill>
            <a:srgbClr val="1B3B6F"/>
          </a:solidFill>
          <a:ln w="12700">
            <a:solidFill>
              <a:srgbClr val="1B3B6F"/>
            </a:solidFill>
            <a:prstDash val="solid"/>
          </a:ln>
        </p:spPr>
      </p:sp>
      <p:sp>
        <p:nvSpPr>
          <p:cNvPr id="94" name="Text 91"/>
          <p:cNvSpPr txBox="1"/>
          <p:nvPr/>
        </p:nvSpPr>
        <p:spPr>
          <a:xfrm>
            <a:off x="3449574"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6</a:t>
            </a:r>
            <a:endParaRPr lang="en-US" sz="1100" dirty="0"/>
          </a:p>
        </p:txBody>
      </p:sp>
      <p:sp>
        <p:nvSpPr>
          <p:cNvPr id="95" name="Text 92"/>
          <p:cNvSpPr txBox="1"/>
          <p:nvPr/>
        </p:nvSpPr>
        <p:spPr>
          <a:xfrm>
            <a:off x="3815334" y="4224528"/>
            <a:ext cx="2077974" cy="475488"/>
          </a:xfrm>
          <a:prstGeom prst="rect">
            <a:avLst/>
          </a:prstGeom>
          <a:noFill/>
          <a:ln/>
        </p:spPr>
        <p:txBody>
          <a:bodyPr wrap="square" lIns="0" tIns="0" rIns="0" bIns="0" rtlCol="0" anchor="ctr"/>
          <a:lstStyle/>
          <a:p>
            <a:pPr algn="l" indent="0" marL="0">
              <a:buNone/>
            </a:pPr>
            <a:r>
              <a:rPr lang="en-US" sz="950" b="1" dirty="0">
                <a:solidFill>
                  <a:srgbClr val="1B3B6F"/>
                </a:solidFill>
                <a:latin typeface="Calibri" pitchFamily="34" charset="0"/>
                <a:cs typeface="Amiri" pitchFamily="2" charset="-78"/>
              </a:rPr>
              <a:t>Which three ingredients are needed in addition to the main foods?</a:t>
            </a:r>
            <a:endParaRPr lang="en-US" sz="950" dirty="0"/>
          </a:p>
        </p:txBody>
      </p:sp>
      <p:sp>
        <p:nvSpPr>
          <p:cNvPr id="96" name="Shape 93"/>
          <p:cNvSpPr/>
          <p:nvPr/>
        </p:nvSpPr>
        <p:spPr>
          <a:xfrm>
            <a:off x="3504438" y="4831080"/>
            <a:ext cx="256032" cy="256032"/>
          </a:xfrm>
          <a:prstGeom prst="ellipse">
            <a:avLst/>
          </a:prstGeom>
          <a:solidFill>
            <a:srgbClr val="C9CED6"/>
          </a:solidFill>
          <a:ln w="12700">
            <a:solidFill>
              <a:srgbClr val="C9CED6"/>
            </a:solidFill>
            <a:prstDash val="solid"/>
          </a:ln>
        </p:spPr>
      </p:sp>
      <p:sp>
        <p:nvSpPr>
          <p:cNvPr id="97" name="Text 94"/>
          <p:cNvSpPr txBox="1"/>
          <p:nvPr/>
        </p:nvSpPr>
        <p:spPr>
          <a:xfrm>
            <a:off x="3504438"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98" name="Text 95"/>
          <p:cNvSpPr txBox="1"/>
          <p:nvPr/>
        </p:nvSpPr>
        <p:spPr>
          <a:xfrm>
            <a:off x="3833622" y="4773168"/>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cheese, yoghurt and milk</a:t>
            </a:r>
            <a:endParaRPr lang="en-US" sz="1250" dirty="0"/>
          </a:p>
        </p:txBody>
      </p:sp>
      <p:sp>
        <p:nvSpPr>
          <p:cNvPr id="99" name="Shape 96"/>
          <p:cNvSpPr/>
          <p:nvPr/>
        </p:nvSpPr>
        <p:spPr>
          <a:xfrm>
            <a:off x="3504438" y="5202936"/>
            <a:ext cx="256032" cy="256032"/>
          </a:xfrm>
          <a:prstGeom prst="ellipse">
            <a:avLst/>
          </a:prstGeom>
          <a:solidFill>
            <a:srgbClr val="C9CED6"/>
          </a:solidFill>
          <a:ln w="12700">
            <a:solidFill>
              <a:srgbClr val="C9CED6"/>
            </a:solidFill>
            <a:prstDash val="solid"/>
          </a:ln>
        </p:spPr>
      </p:sp>
      <p:sp>
        <p:nvSpPr>
          <p:cNvPr id="100" name="Text 97"/>
          <p:cNvSpPr txBox="1"/>
          <p:nvPr/>
        </p:nvSpPr>
        <p:spPr>
          <a:xfrm>
            <a:off x="3504438"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01" name="Text 98"/>
          <p:cNvSpPr txBox="1"/>
          <p:nvPr/>
        </p:nvSpPr>
        <p:spPr>
          <a:xfrm>
            <a:off x="3833622"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tea, coffee and juice</a:t>
            </a:r>
            <a:endParaRPr lang="en-US" sz="1250" dirty="0"/>
          </a:p>
        </p:txBody>
      </p:sp>
      <p:sp>
        <p:nvSpPr>
          <p:cNvPr id="102" name="Shape 99"/>
          <p:cNvSpPr/>
          <p:nvPr/>
        </p:nvSpPr>
        <p:spPr>
          <a:xfrm>
            <a:off x="3412998" y="5538216"/>
            <a:ext cx="2498598" cy="347472"/>
          </a:xfrm>
          <a:prstGeom prst="roundRect">
            <a:avLst>
              <a:gd name="adj" fmla="val 15789"/>
            </a:avLst>
          </a:prstGeom>
          <a:solidFill>
            <a:srgbClr val="E6F4EC"/>
          </a:solidFill>
          <a:ln w="9525">
            <a:solidFill>
              <a:srgbClr val="2E8B57"/>
            </a:solidFill>
            <a:prstDash val="solid"/>
          </a:ln>
        </p:spPr>
      </p:sp>
      <p:sp>
        <p:nvSpPr>
          <p:cNvPr id="103" name="Shape 100"/>
          <p:cNvSpPr/>
          <p:nvPr/>
        </p:nvSpPr>
        <p:spPr>
          <a:xfrm>
            <a:off x="3504438" y="5574792"/>
            <a:ext cx="256032" cy="256032"/>
          </a:xfrm>
          <a:prstGeom prst="ellipse">
            <a:avLst/>
          </a:prstGeom>
          <a:solidFill>
            <a:srgbClr val="2E8B57"/>
          </a:solidFill>
          <a:ln w="12700">
            <a:solidFill>
              <a:srgbClr val="2E8B57"/>
            </a:solidFill>
            <a:prstDash val="solid"/>
          </a:ln>
        </p:spPr>
      </p:sp>
      <p:sp>
        <p:nvSpPr>
          <p:cNvPr id="104" name="Text 101"/>
          <p:cNvSpPr txBox="1"/>
          <p:nvPr/>
        </p:nvSpPr>
        <p:spPr>
          <a:xfrm>
            <a:off x="3504438"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05" name="Text 102"/>
          <p:cNvSpPr txBox="1"/>
          <p:nvPr/>
        </p:nvSpPr>
        <p:spPr>
          <a:xfrm>
            <a:off x="3833622" y="5516880"/>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oil, salt and a little sugar</a:t>
            </a:r>
            <a:endParaRPr lang="en-US" sz="1250" dirty="0"/>
          </a:p>
        </p:txBody>
      </p:sp>
      <p:sp>
        <p:nvSpPr>
          <p:cNvPr id="106" name="Text 103"/>
          <p:cNvSpPr txBox="1"/>
          <p:nvPr/>
        </p:nvSpPr>
        <p:spPr>
          <a:xfrm>
            <a:off x="3449574"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text lists </a:t>
            </a:r>
            <a:pPr algn="l" indent="0" marL="0">
              <a:buNone/>
            </a:pPr>
            <a:r>
              <a:rPr lang="ar-SA" altLang="en-US" sz="1350" dirty="0">
                <a:solidFill>
                  <a:srgbClr val="8A6D1E"/>
                </a:solidFill>
                <a:latin typeface="Amiri" pitchFamily="2" charset="-78"/>
                <a:ea typeface="Amiri" pitchFamily="2" charset="-78"/>
                <a:cs typeface="Amiri" pitchFamily="2" charset="-78"/>
              </a:rPr>
              <a:t>زَيْتٍ وَمِلْحٍ وَقَلِيلٍ مِنَ السُّكَّرِ</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07" name="Shape 104"/>
          <p:cNvSpPr/>
          <p:nvPr/>
        </p:nvSpPr>
        <p:spPr>
          <a:xfrm>
            <a:off x="6185916"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08" name="Shape 105"/>
          <p:cNvSpPr/>
          <p:nvPr/>
        </p:nvSpPr>
        <p:spPr>
          <a:xfrm>
            <a:off x="6313932" y="4288536"/>
            <a:ext cx="310896" cy="310896"/>
          </a:xfrm>
          <a:prstGeom prst="ellipse">
            <a:avLst/>
          </a:prstGeom>
          <a:solidFill>
            <a:srgbClr val="1B3B6F"/>
          </a:solidFill>
          <a:ln w="12700">
            <a:solidFill>
              <a:srgbClr val="1B3B6F"/>
            </a:solidFill>
            <a:prstDash val="solid"/>
          </a:ln>
        </p:spPr>
      </p:sp>
      <p:sp>
        <p:nvSpPr>
          <p:cNvPr id="109" name="Text 106"/>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7</a:t>
            </a:r>
            <a:endParaRPr lang="en-US" sz="1100" dirty="0"/>
          </a:p>
        </p:txBody>
      </p:sp>
      <p:sp>
        <p:nvSpPr>
          <p:cNvPr id="110" name="Text 107"/>
          <p:cNvSpPr txBox="1"/>
          <p:nvPr/>
        </p:nvSpPr>
        <p:spPr>
          <a:xfrm>
            <a:off x="6679692"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included in the mother’s salad?</a:t>
            </a:r>
            <a:endParaRPr lang="en-US" sz="1250" dirty="0"/>
          </a:p>
        </p:txBody>
      </p:sp>
      <p:sp>
        <p:nvSpPr>
          <p:cNvPr id="111" name="Shape 108"/>
          <p:cNvSpPr/>
          <p:nvPr/>
        </p:nvSpPr>
        <p:spPr>
          <a:xfrm>
            <a:off x="6368796" y="4831080"/>
            <a:ext cx="256032" cy="256032"/>
          </a:xfrm>
          <a:prstGeom prst="ellipse">
            <a:avLst/>
          </a:prstGeom>
          <a:solidFill>
            <a:srgbClr val="C9CED6"/>
          </a:solidFill>
          <a:ln w="12700">
            <a:solidFill>
              <a:srgbClr val="C9CED6"/>
            </a:solidFill>
            <a:prstDash val="solid"/>
          </a:ln>
        </p:spPr>
      </p:sp>
      <p:sp>
        <p:nvSpPr>
          <p:cNvPr id="112" name="Text 109"/>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113" name="Text 110"/>
          <p:cNvSpPr txBox="1"/>
          <p:nvPr/>
        </p:nvSpPr>
        <p:spPr>
          <a:xfrm>
            <a:off x="6697980" y="4773168"/>
            <a:ext cx="2023110"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potatoes, carrots and beans</a:t>
            </a:r>
            <a:endParaRPr lang="en-US" sz="1150" dirty="0"/>
          </a:p>
        </p:txBody>
      </p:sp>
      <p:sp>
        <p:nvSpPr>
          <p:cNvPr id="114" name="Shape 111"/>
          <p:cNvSpPr/>
          <p:nvPr/>
        </p:nvSpPr>
        <p:spPr>
          <a:xfrm>
            <a:off x="6368796" y="5202936"/>
            <a:ext cx="256032" cy="256032"/>
          </a:xfrm>
          <a:prstGeom prst="ellipse">
            <a:avLst/>
          </a:prstGeom>
          <a:solidFill>
            <a:srgbClr val="C9CED6"/>
          </a:solidFill>
          <a:ln w="12700">
            <a:solidFill>
              <a:srgbClr val="C9CED6"/>
            </a:solidFill>
            <a:prstDash val="solid"/>
          </a:ln>
        </p:spPr>
      </p:sp>
      <p:sp>
        <p:nvSpPr>
          <p:cNvPr id="115" name="Text 112"/>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16" name="Text 113"/>
          <p:cNvSpPr txBox="1"/>
          <p:nvPr/>
        </p:nvSpPr>
        <p:spPr>
          <a:xfrm>
            <a:off x="6697980"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rice, chicken and fish</a:t>
            </a:r>
            <a:endParaRPr lang="en-US" sz="1250" dirty="0"/>
          </a:p>
        </p:txBody>
      </p:sp>
      <p:sp>
        <p:nvSpPr>
          <p:cNvPr id="117" name="Shape 114"/>
          <p:cNvSpPr/>
          <p:nvPr/>
        </p:nvSpPr>
        <p:spPr>
          <a:xfrm>
            <a:off x="6277356" y="5538216"/>
            <a:ext cx="2498598" cy="347472"/>
          </a:xfrm>
          <a:prstGeom prst="roundRect">
            <a:avLst>
              <a:gd name="adj" fmla="val 15789"/>
            </a:avLst>
          </a:prstGeom>
          <a:solidFill>
            <a:srgbClr val="E6F4EC"/>
          </a:solidFill>
          <a:ln w="9525">
            <a:solidFill>
              <a:srgbClr val="2E8B57"/>
            </a:solidFill>
            <a:prstDash val="solid"/>
          </a:ln>
        </p:spPr>
      </p:sp>
      <p:sp>
        <p:nvSpPr>
          <p:cNvPr id="118" name="Shape 115"/>
          <p:cNvSpPr/>
          <p:nvPr/>
        </p:nvSpPr>
        <p:spPr>
          <a:xfrm>
            <a:off x="6368796" y="5574792"/>
            <a:ext cx="256032" cy="256032"/>
          </a:xfrm>
          <a:prstGeom prst="ellipse">
            <a:avLst/>
          </a:prstGeom>
          <a:solidFill>
            <a:srgbClr val="2E8B57"/>
          </a:solidFill>
          <a:ln w="12700">
            <a:solidFill>
              <a:srgbClr val="2E8B57"/>
            </a:solidFill>
            <a:prstDash val="solid"/>
          </a:ln>
        </p:spPr>
      </p:sp>
      <p:sp>
        <p:nvSpPr>
          <p:cNvPr id="119" name="Text 116"/>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120" name="Text 117"/>
          <p:cNvSpPr txBox="1"/>
          <p:nvPr/>
        </p:nvSpPr>
        <p:spPr>
          <a:xfrm>
            <a:off x="6697980" y="5516880"/>
            <a:ext cx="2023110"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lettuce, tomatoes and onions</a:t>
            </a:r>
            <a:endParaRPr lang="en-US" sz="1150" dirty="0"/>
          </a:p>
        </p:txBody>
      </p:sp>
      <p:sp>
        <p:nvSpPr>
          <p:cNvPr id="121" name="Text 118"/>
          <p:cNvSpPr txBox="1"/>
          <p:nvPr/>
        </p:nvSpPr>
        <p:spPr>
          <a:xfrm>
            <a:off x="6313932" y="5907024"/>
            <a:ext cx="2425446"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salad contains </a:t>
            </a:r>
            <a:pPr algn="l" indent="0" marL="0">
              <a:buNone/>
            </a:pPr>
            <a:r>
              <a:rPr lang="ar-SA" altLang="en-US" sz="1350" dirty="0">
                <a:solidFill>
                  <a:srgbClr val="8A6D1E"/>
                </a:solidFill>
                <a:latin typeface="Amiri" pitchFamily="2" charset="-78"/>
                <a:ea typeface="Amiri" pitchFamily="2" charset="-78"/>
                <a:cs typeface="Amiri" pitchFamily="2" charset="-78"/>
              </a:rPr>
              <a:t>الخَسِّ وَالطَّمَاطِمِ وَالبَصَلِ</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122" name="Shape 119"/>
          <p:cNvSpPr/>
          <p:nvPr/>
        </p:nvSpPr>
        <p:spPr>
          <a:xfrm>
            <a:off x="9050274" y="4151376"/>
            <a:ext cx="2681478"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23" name="Shape 120"/>
          <p:cNvSpPr/>
          <p:nvPr/>
        </p:nvSpPr>
        <p:spPr>
          <a:xfrm>
            <a:off x="9178290" y="4288536"/>
            <a:ext cx="310896" cy="310896"/>
          </a:xfrm>
          <a:prstGeom prst="ellipse">
            <a:avLst/>
          </a:prstGeom>
          <a:solidFill>
            <a:srgbClr val="1B3B6F"/>
          </a:solidFill>
          <a:ln w="12700">
            <a:solidFill>
              <a:srgbClr val="1B3B6F"/>
            </a:solidFill>
            <a:prstDash val="solid"/>
          </a:ln>
        </p:spPr>
      </p:sp>
      <p:sp>
        <p:nvSpPr>
          <p:cNvPr id="124" name="Text 121"/>
          <p:cNvSpPr txBox="1"/>
          <p:nvPr/>
        </p:nvSpPr>
        <p:spPr>
          <a:xfrm>
            <a:off x="917829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8</a:t>
            </a:r>
            <a:endParaRPr lang="en-US" sz="1100" dirty="0"/>
          </a:p>
        </p:txBody>
      </p:sp>
      <p:sp>
        <p:nvSpPr>
          <p:cNvPr id="125" name="Text 122"/>
          <p:cNvSpPr txBox="1"/>
          <p:nvPr/>
        </p:nvSpPr>
        <p:spPr>
          <a:xfrm>
            <a:off x="9544050" y="4224528"/>
            <a:ext cx="2077974"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seafood is mentioned specifically?</a:t>
            </a:r>
            <a:endParaRPr lang="en-US" sz="1250" dirty="0"/>
          </a:p>
        </p:txBody>
      </p:sp>
      <p:sp>
        <p:nvSpPr>
          <p:cNvPr id="126" name="Shape 123"/>
          <p:cNvSpPr/>
          <p:nvPr/>
        </p:nvSpPr>
        <p:spPr>
          <a:xfrm>
            <a:off x="9141714" y="4794504"/>
            <a:ext cx="2498598" cy="347472"/>
          </a:xfrm>
          <a:prstGeom prst="roundRect">
            <a:avLst>
              <a:gd name="adj" fmla="val 15789"/>
            </a:avLst>
          </a:prstGeom>
          <a:solidFill>
            <a:srgbClr val="E6F4EC"/>
          </a:solidFill>
          <a:ln w="9525">
            <a:solidFill>
              <a:srgbClr val="2E8B57"/>
            </a:solidFill>
            <a:prstDash val="solid"/>
          </a:ln>
        </p:spPr>
      </p:sp>
      <p:sp>
        <p:nvSpPr>
          <p:cNvPr id="127" name="Shape 124"/>
          <p:cNvSpPr/>
          <p:nvPr/>
        </p:nvSpPr>
        <p:spPr>
          <a:xfrm>
            <a:off x="9233154" y="4831080"/>
            <a:ext cx="256032" cy="256032"/>
          </a:xfrm>
          <a:prstGeom prst="ellipse">
            <a:avLst/>
          </a:prstGeom>
          <a:solidFill>
            <a:srgbClr val="2E8B57"/>
          </a:solidFill>
          <a:ln w="12700">
            <a:solidFill>
              <a:srgbClr val="2E8B57"/>
            </a:solidFill>
            <a:prstDash val="solid"/>
          </a:ln>
        </p:spPr>
      </p:sp>
      <p:sp>
        <p:nvSpPr>
          <p:cNvPr id="128" name="Text 125"/>
          <p:cNvSpPr txBox="1"/>
          <p:nvPr/>
        </p:nvSpPr>
        <p:spPr>
          <a:xfrm>
            <a:off x="923315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129" name="Text 126"/>
          <p:cNvSpPr txBox="1"/>
          <p:nvPr/>
        </p:nvSpPr>
        <p:spPr>
          <a:xfrm>
            <a:off x="9562338" y="4773168"/>
            <a:ext cx="2023110"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prawns</a:t>
            </a:r>
            <a:endParaRPr lang="en-US" sz="1250" dirty="0"/>
          </a:p>
        </p:txBody>
      </p:sp>
      <p:sp>
        <p:nvSpPr>
          <p:cNvPr id="130" name="Shape 127"/>
          <p:cNvSpPr/>
          <p:nvPr/>
        </p:nvSpPr>
        <p:spPr>
          <a:xfrm>
            <a:off x="9233154" y="5202936"/>
            <a:ext cx="256032" cy="256032"/>
          </a:xfrm>
          <a:prstGeom prst="ellipse">
            <a:avLst/>
          </a:prstGeom>
          <a:solidFill>
            <a:srgbClr val="C9CED6"/>
          </a:solidFill>
          <a:ln w="12700">
            <a:solidFill>
              <a:srgbClr val="C9CED6"/>
            </a:solidFill>
            <a:prstDash val="solid"/>
          </a:ln>
        </p:spPr>
      </p:sp>
      <p:sp>
        <p:nvSpPr>
          <p:cNvPr id="131" name="Text 128"/>
          <p:cNvSpPr txBox="1"/>
          <p:nvPr/>
        </p:nvSpPr>
        <p:spPr>
          <a:xfrm>
            <a:off x="923315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132" name="Text 129"/>
          <p:cNvSpPr txBox="1"/>
          <p:nvPr/>
        </p:nvSpPr>
        <p:spPr>
          <a:xfrm>
            <a:off x="9562338" y="5145024"/>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tuna</a:t>
            </a:r>
            <a:endParaRPr lang="en-US" sz="1250" dirty="0"/>
          </a:p>
        </p:txBody>
      </p:sp>
      <p:sp>
        <p:nvSpPr>
          <p:cNvPr id="133" name="Shape 130"/>
          <p:cNvSpPr/>
          <p:nvPr/>
        </p:nvSpPr>
        <p:spPr>
          <a:xfrm>
            <a:off x="9233154" y="5574792"/>
            <a:ext cx="256032" cy="256032"/>
          </a:xfrm>
          <a:prstGeom prst="ellipse">
            <a:avLst/>
          </a:prstGeom>
          <a:solidFill>
            <a:srgbClr val="C9CED6"/>
          </a:solidFill>
          <a:ln w="12700">
            <a:solidFill>
              <a:srgbClr val="C9CED6"/>
            </a:solidFill>
            <a:prstDash val="solid"/>
          </a:ln>
        </p:spPr>
      </p:sp>
      <p:sp>
        <p:nvSpPr>
          <p:cNvPr id="134" name="Text 131"/>
          <p:cNvSpPr txBox="1"/>
          <p:nvPr/>
        </p:nvSpPr>
        <p:spPr>
          <a:xfrm>
            <a:off x="923315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135" name="Text 132"/>
          <p:cNvSpPr txBox="1"/>
          <p:nvPr/>
        </p:nvSpPr>
        <p:spPr>
          <a:xfrm>
            <a:off x="9562338" y="5516880"/>
            <a:ext cx="2023110"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crab</a:t>
            </a:r>
            <a:endParaRPr lang="en-US" sz="1250" dirty="0"/>
          </a:p>
        </p:txBody>
      </p:sp>
      <p:sp>
        <p:nvSpPr>
          <p:cNvPr id="136" name="Text 133"/>
          <p:cNvSpPr txBox="1"/>
          <p:nvPr/>
        </p:nvSpPr>
        <p:spPr>
          <a:xfrm>
            <a:off x="9178290" y="5907024"/>
            <a:ext cx="2425446"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الرُّوبِيَانُ</a:t>
            </a:r>
            <a:pPr algn="l" indent="0" marL="0">
              <a:buNone/>
            </a:pPr>
            <a:r>
              <a:rPr lang="en-US" sz="1050" i="1" dirty="0">
                <a:solidFill>
                  <a:srgbClr val="8A6D1E"/>
                </a:solidFill>
                <a:latin typeface="Calibri" pitchFamily="34" charset="0"/>
                <a:cs typeface="Amiri" pitchFamily="2" charset="-78"/>
              </a:rPr>
              <a:t> means prawns or shrimp.</a:t>
            </a:r>
            <a:endParaRPr lang="en-US" sz="1050" dirty="0"/>
          </a:p>
        </p:txBody>
      </p:sp>
      <p:sp>
        <p:nvSpPr>
          <p:cNvPr id="137" name="Text 13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45 / 47</a:t>
            </a:r>
            <a:endParaRPr lang="en-US" sz="8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AT-A-L04 · Food and Drink</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Before AT-A-L05: get ready at home</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A · Everyday Activities · AT-A-L04</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AT-A-L05 · Eating Out — Café, Menu and Prices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مَطْعَمٌ</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restaurant</a:t>
            </a:r>
            <a:pPr indent="0" marL="0">
              <a:buNone/>
            </a:pPr>
            <a:r>
              <a:rPr lang="ar-SA" sz="1000" i="1" dirty="0">
                <a:solidFill>
                  <a:srgbClr val="5A6472"/>
                </a:solidFill>
                <a:latin typeface="Calibri" pitchFamily="34" charset="0"/>
                <a:ea typeface="Amiri" pitchFamily="2" charset="-78"/>
                <a:cs typeface="Amiri" pitchFamily="2" charset="-78"/>
              </a:rPr>
              <a:t>  pl. مَطَاعِمُ</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نَادِلٌ</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waiter</a:t>
            </a:r>
            <a:pPr indent="0" marL="0">
              <a:buNone/>
            </a:pPr>
            <a:r>
              <a:rPr lang="ar-SA" sz="1000" i="1" dirty="0">
                <a:solidFill>
                  <a:srgbClr val="5A6472"/>
                </a:solidFill>
                <a:latin typeface="Calibri" pitchFamily="34" charset="0"/>
                <a:ea typeface="Amiri" pitchFamily="2" charset="-78"/>
                <a:cs typeface="Amiri" pitchFamily="2" charset="-78"/>
              </a:rPr>
              <a:t>  f. نَادِلَةٌ</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قَائِمَةُ الطَّعَامِ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menu</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الحِسَابُ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the bill</a:t>
            </a:r>
            <a:pPr indent="0" marL="0">
              <a:buNone/>
            </a:pP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فَضْلِكَ</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please (to a man)</a:t>
            </a:r>
            <a:pPr indent="0" marL="0">
              <a:buNone/>
            </a:pPr>
            <a:r>
              <a:rPr lang="ar-SA" sz="1000" i="1" dirty="0">
                <a:solidFill>
                  <a:srgbClr val="5A6472"/>
                </a:solidFill>
                <a:latin typeface="Calibri" pitchFamily="34" charset="0"/>
                <a:ea typeface="Amiri" pitchFamily="2" charset="-78"/>
                <a:cs typeface="Amiri" pitchFamily="2" charset="-78"/>
              </a:rPr>
              <a:t>  f. مِنْ فَضْلِكِ</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Write how you would ask for water politely in Arabic.</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مَاذَا تَطْلُبُ فِي المَطْعَمِ؟</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AT-A-L04: the picture game and the vocabulary tab — learn 10 foods and drinks.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writing task: 5–6 sentences about foods and drinks you like and dislike.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an 8-sentence food profile of a family member, with adjectives and frequency words.</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46 / 47</a:t>
            </a:r>
            <a:endParaRPr lang="en-US" sz="85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AT-A-L04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100" b="1" dirty="0">
                <a:solidFill>
                  <a:srgbClr val="FFFFFF"/>
                </a:solidFill>
                <a:latin typeface="Cambria" pitchFamily="34" charset="0"/>
                <a:cs typeface="Amiri" pitchFamily="2" charset="-78"/>
              </a:rPr>
              <a:t>AT-A-L05 · Eating Out — Café, Menu and Prices</a:t>
            </a:r>
            <a:endParaRPr lang="en-US" sz="21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تَنَاوُلُ الطَّعَامِ خَارِجَ الْبَيْتِ: الْمَقْهَى وَقَائِمَةُ الطَّعَامِ وَالْأَسْعَارُ</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5 café words + one polite request.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AT-A-L04 · Food and Drink — Meals and Preferences</dc:title>
  <dc:subject>PptxGenJS Presentation</dc:subject>
  <dc:creator>Al Madina Online School · Arabic Department</dc:creator>
  <cp:lastModifiedBy>Al Madina Online School · Arabic Department</cp:lastModifiedBy>
  <cp:revision>1</cp:revision>
  <dcterms:created xsi:type="dcterms:W3CDTF">2026-10-11T06:43:42Z</dcterms:created>
  <dcterms:modified xsi:type="dcterms:W3CDTF">2026-10-11T06:43:42Z</dcterms:modified>
</cp:coreProperties>
</file>