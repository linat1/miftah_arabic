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A · AT-A-L12 — Topic A Review and Assessment. Website: Advanced Topics › Topic A (Everyday Activities) › Lesson 12.
The website builds this lesson on the D1-L12 lesson engine, with the Topic focus “Retrieve the complete Topic A language, practise all four skills and identify your next revision target.” (grammar: Cumulative Topic A grammar and four-skills review; skills: All four skills) and the application challenge “Topic A four-skills relay”.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2–7 Readiness check (not marked) · 7–8 Assessment map · 8–22 Listening (20: three texts) · 22–31 Reading (10) · 31–44 Writing (20: form + article) · 44–53 Speaking (10: role-play + topic conversation, pairs / one-to-one) · 53–56 Score profile, strength and Topic B target.
FLEX slides are optional. Use them if the class is moving quickly; otherwise the same activities are on the website for homework.
Content source: Miftah Arabic website, Pathways › Development › Topic A Daily Routine and Time › AT-A-L12. The website AT-A-L12 is a 60-mark Development profile (not an external exam paper): listening 20 (Maryam’s school day 8 · Yusuf and Huda 6 · interview with Samir 6) · reading 10 (a school-day and weekend routine) · writing 20 (routine form 5 + article or email 15, marked for task, range and accuracy) · speaking 10 (role-play 4 + topic conversation 6). The readiness check (12) and grammar laboratory (12) are practice and do not count. Every item, script, text and mark allocation is the website’s.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is one-to-one or in trusted pairs with the teacher listening (it can move to the start of the next lesson).
• The website allows the assessment over more than one session — if time is short: listening + reading in class; writing and speaking next lesson.
• Scripts: the website has recorded audio; if it is unavailable, read each text twice at natural pace. The scripts are in the notes of each listening slide — do NOT show them until the section is submitted.
• Answer slides follow each part — mark live, or hide them and mark later.
• The readiness check is the warm-up: students who score below 8/12 revise the Topic A grammar vault (D1-L11, website) before writing.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structure: 01 Readiness check · 02 Language vault · 03 Grammar laboratory · 04 60-mark profile · 05 Listening · 06 Reading · 07 Writing · 08 Speaking · 09 Reflection and Topic B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CHECK (5 min + 2 min answers, not marked) — the five Topic A structures prepared at home at the end of AT-A-L11, one from each subtopic (AT-A-L01–L02 routine and time · AT-A-L05 café · AT-A-L07 health · AT-A-L08 advice · AT-A-L09 transport). Students who score 3/5 or less use the FLEX relay station next for the subtopic they missed.
The website engine’s own readiness check (routine grammar) is in the FLEX grammar laboratory on the next slide.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It samples the Topic A system: person · time · before/after · asking a girl · as for … 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six of the twelve website grammar-laboratory questions (person · after أَنْ · he / she · أَمَّا … فَـ · asking a girl · reference). Use it if the readiness check showed gaps; otherwise it is homework on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A APPLICATION CHALLENGE (3 min — it takes the speaking-rehearsal slot; the website speaking slide after it is FLEX) — from the website Topic page: “Complete one short listening, reading, speaking and writing station. At every station, retrieve language from a different Topic A subtopic.”
Station prompts (teacher reads or pastes):
LISTEN — أُرِيدُ حَسَاءً وَعَصِيرَ بُرْتُقَالٍ صَغِيرًا، مِنْ فَضْلِكِ. (soup + a small orange juice; to a woman)
READ — عِنْدَ أُخْتِي سُعَالٌ وَحُمَّى مُنْذُ ثَلَاثَةِ أَيَّامٍ. (cough and fever, three days)
SPEAK — كَيْفَ تَذْهَبُ إِلَى المَدْرَسَةِ؟ وَلِمَاذَا؟
WRITE — a routine sentence with a time and a frequency word (أَحْيَانًا / دَائِمًا).
FLEX: the website sets this relay as the Topic A application challenge; in an assessment lesson use it only if the assessment is split over two sessions, or as the next lesson’s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“Your 60-mark Topic A profile”). The website saves marks per skill and generates guidance once all four components are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(website, 8 marks). Students read the questions (30 s). Read the script twice at natural pace.
SCRIPT: فِي أَيَّامِ الدِّرَاسَةِ أَسْتَيْقِظُ فِي السَّادِسَةِ وَالنِّصْفِ. أَوَّلًا أَغْتَسِلُ، ثُمَّ أَرْتَدِي مَلَابِسِي وَأَتَنَاوَلُ الإِفْطَارَ. أُحَضِّرُ حَقِيبَتِي قَبْلَ أَنْ أَخْرُجَ مِنَ البَيْتِ فِي الثَّامِنَةِ إِلَّا الرُّبْعَ. عَادَةً أَسْتَقِلُّ الحَافِلَةَ، وَيَبْدَأُ الدَّرْسُ الأَوَّلُ فِي الثَّامِنَةِ وَالثُّلُثِ. أَذْهَبُ إِلَى نَادِي المَدْرَسَةِ مَرَّتَيْنِ فِي الأُسْبُوعِ، يَوْمَ الثُّلَاثَاءِ وَيَوْمَ الخَمِيسِ. فِي المَسَاءِ أُكْمِلُ وَاجِبِي قَبْلَ أَنْ أَسْتَعْمِلَ هَاتِفِي، وَأَنَامُ عَادَةً فِي العَاشِرَةِ وَالنِّصْفِ.
Private chat: 1_ 2_ 3_ 4_ 5_ 6_ 7_ 8_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 /8. Watch Q3: الثَّامِنَةِ إِلَّا الرُّبْعَ = 7:45 (not 8:15). Q5: الثَّامِنَةِ وَالثُّلُثِ = 8:20.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(website, 6 marks). Read twice.
SCRIPT: يَعُودُ يُوسُفُ إِلَى البَيْتِ فِي الثَّالِثَةِ وَالثُّلُثِ، أَمَّا هُدَى فَتَعُودُ فِي الرَّابِعَةِ. يَلْعَبُ يُوسُفُ كُرَةَ القَدَمِ ثَلَاثَ مَرَّاتٍ فِي الأُسْبُوعِ: يَوْمَ الاِثْنَيْنِ وَالأَرْبِعَاءِ وَالجُمُعَةِ. هُدَى تَدْرُسُ سَاعَةً قَبْلَ أَنْ تَتَنَاوَلَ العَشَاءَ، وَتَذْهَبُ إِلَى نَادِي اللُّغَةِ العَرَبِيَّةِ يَوْمَ الخَمِيسِ. قَبْلَ أَنْ يَنَامَا، يُحَضِّرُ كُلٌّ مِنْهُمَا حَقِيبَتَهُ وَمَلَابِسَهُ لِلْيَوْمِ التَّالِي. يَوْمَ السَّبْتِ يَزُورُ يُوسُفُ أَقَارِبَهُ، بَيْنَمَا تَلْتَقِي هُدَى بِصَدِيقَاتِهَا.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3 (website, 6 marks). Read twice; use two voices if possible.
SCRIPT: المُحَاوِرُ: مَتَى تَسْتَيْقِظُ فِي أَيَّامِ الدِّرَاسَةِ يَا سَمِيرُ؟ سَمِيرٌ: أَسْتَيْقِظُ فِي السَّادِسَةِ وَالرُّبْعِ. المُحَاوِرُ: كَمْ مَرَّةً تَتَمَرَّنُ فِي الأُسْبُوعِ؟ سَمِيرٌ: أَتَمَرَّنُ أَرْبَعَ مَرَّاتٍ. يَوْمُ الثُّلَاثَاءِ مُخْتَلِفٌ لِأَنَّ نَادِي العُلُومِ يَنْتَهِي فِي الخَامِسَةِ وَالرُّبْعِ. بَعْدَ أَنْ أَعُودَ إِلَى البَيْتِ أَتَنَاوَلُ العَشَاءَ، ثُمَّ أُكْمِلُ وَاجِبِي. فِي نِهَايَةِ الأُسْبُوعِ أَسْتَيْقِظُ حَوَالَيْ الثَّامِنَةِ وَالنِّصْفِ. رُوتِينِي فِي أَيَّامِ الدِّرَاسَةِ مُنَظَّمٌ، أَمَّا فِي نِهَايَةِ الأُسْبُوعِ فَهُوَ أَكْثَرُ مَرُونَةً.
Listening total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Students add up Listening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Website instruction: “Read once for the overall pattern, then return to exact details, time expressions, references and contrasts.” No English support on assessment texts (access arrangement: questions may be read aloud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1–5 (website). Show the text slide again whenever students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 /5. Q2: السَّادِسَةِ وَخَمْسٍ وَعِشْرِينَ دَقِيقَةً = 6:25.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6–10 (website). Reading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Students add up Reading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(website, 20 marks). Three routes (website): type, write or draw on screen, or on paper.
MARK SCHEME (website): Form /5 — one mark for each field completed in Arabic with a precise word, phrase or sentence. Article /15 — Task 5 (all six content points with relevant detail) · Range 5 (time, frequency, sequence, questions or answers, person change, contrast) · Accuracy 5 (present-tense prefixes, feminine forms, possessive reference, verbs after أَنْ).
Core access: the D1-L11 (website) sentence frames may be used for Question 1 only; Question 2 is independent. Teacher model on the next slide — show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 (the website does not print a model for this task; this is the D1-L11 (website) model, shortened). Students compare with their own writing and find ONE thing to add in green pen (self-assessment only — the mark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(website, 10 marks). “Prepare key words only; do not memorise a full script.”
Development standard (website): respond directly, then add a precise time or frequency, reason, example and contrast where useful.
MARK SCHEME: Role-play /4 (one mark per task completed intelligibly). Topic conversation /6 — reward direct answers, precise detail, reasons/examples, a contrast and accuracy of person and time.
ORGANISATION: one-to-one with the teacher (others finish writing), or in trusted pairs with the teacher listening. Ask ONE unseen follow-up to Stretch students (وَلِمَاذَا؟ / أَعْطِ مِثَالًا).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PROFILE (website “Evidence · priority · next action — Topic A reflection and Topic B readiness”): “Use a result, sentence or speaking example — not a general feeling.”
The bands are a teacher guide in line with the F1 / F2 assessments (the website totals the four scores but does not print bands).
A precise action = rule + task + frequency (D1-L11, website), e.g. “Verb after an: five sentences every two days; check in D2-L03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(TB-L01 · Identity and Personal Profiles) will spend class time USING this language, so students prepare it tonight — short, simple, easy to access (school guidance: “Simple, Short, Interesting, Relevant, Easy to access”). Topic B begins with identity and personal profiles (TB-L01, lesson engine F2-L10 — the five words come from its preparation list).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50" b="1" dirty="0">
                <a:solidFill>
                  <a:srgbClr val="FFFFFF"/>
                </a:solidFill>
                <a:latin typeface="Cambria" pitchFamily="34" charset="0"/>
                <a:cs typeface="Amiri" pitchFamily="2" charset="-78"/>
              </a:rPr>
              <a:t>Topic A Review and Assessment</a:t>
            </a:r>
            <a:endParaRPr lang="en-US" sz="34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مُرَاجَعَةُ الْمَوْضُوعِ أ وَالتَّقْيِيمُ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Retrieve the complete Topic A language, practise all four skills and identify your next revision target.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AT-A-L12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end of topic</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Readiness check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الاِسْتِعْدَادُ</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my strength, my Topic B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Topic B: identity.</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Each section starts with the easier questions. Leave a blank and come back. The readiness check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wake up at seven o’clock.”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يَسْتَيْقِظُ فِي السَّاعَةِ السَّابِعَةِ.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 فِي السَّاعَةِ السَّابِعَةِ.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 السَّابِعَةَ سَاعَةً.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Order politely from a WAITRESS.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شَايًا، مِنْ فَضْلِكِ.</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شَايًا، مِنْ فَضْلِكَ.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أَعْطِنِي شَايًا.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had pain in my back for two days.”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عِنْدِي أَلَمٌ فِي ظَهْرِي فِي يَوْمَيْنِ.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عِنْدَهُ أَلَمٌ فِي ظَهْرِي مُنْذُ يَوْمَيْنِ.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عِنْدِي أَلَمٌ فِي ظَهْرِي مُنْذُ يَوْمَيْنِ.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advice: </a:t>
            </a:r>
            <a:pPr algn="l" indent="0" marL="0">
              <a:buNone/>
            </a:pPr>
            <a:r>
              <a:rPr lang="ar-SA" altLang="en-US" sz="1650" b="1" dirty="0">
                <a:solidFill>
                  <a:srgbClr val="1B3B6F"/>
                </a:solidFill>
                <a:latin typeface="Amiri" pitchFamily="2" charset="-78"/>
                <a:ea typeface="Amiri" pitchFamily="2" charset="-78"/>
                <a:cs typeface="Amiri" pitchFamily="2" charset="-78"/>
              </a:rPr>
              <a:t>يَجِبُ أَنْ</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تَسْتَرِيحُ</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اِسْتَرِحْ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تَسْتَرِيحَ</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goes to school by bike.”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تَذْهَبُ إِلَى المَدْرَسَةِ عَلَى الدَّرَّاجَةِ.</a:t>
            </a:r>
            <a:endParaRPr lang="ar-SA" sz="20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تَذْهَبُ إِلَى المَدْرَسَةِ بِمَشْيًا.</a:t>
            </a:r>
            <a:endParaRPr lang="ar-SA" sz="20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يَذْهَبُ إِلَى المَدْرَسَةِ عَلَى الدَّرَّاجَةِ.</a:t>
            </a:r>
            <a:endParaRPr lang="ar-SA" sz="200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wake up at seven o’clock.”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يَسْتَيْقِظُ فِي السَّاعَةِ السَّابِعَةِ.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أَسْتَيْقِظُ فِي السَّاعَةِ السَّابِعَةِ.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أَسْتَيْقِظُ السَّابِعَةَ سَاعَةً.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AT-A-L01–L02: I + time.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Order politely from a WAITRESS.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شَايًا، مِنْ فَضْلِكِ.</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شَايًا، مِنْ فَضْلِكَ.</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أَعْطِنِي شَايًا.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AT-A-L05: -ki to a woman.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had pain in my back for two days.”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عِنْدِي أَلَمٌ فِي ظَهْرِي فِي يَوْمَيْنِ.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عِنْدَهُ أَلَمٌ فِي ظَهْرِي مُنْذُ يَوْمَيْنِ.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عِنْدِي أَلَمٌ فِي ظَهْرِي مُنْذُ يَوْمَيْنِ.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AT-A-L07: ‘indī + mundhu.</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advice: </a:t>
            </a:r>
            <a:pPr algn="l" indent="0" marL="0">
              <a:buNone/>
            </a:pPr>
            <a:r>
              <a:rPr lang="ar-SA" altLang="en-US" sz="1650" b="1" dirty="0">
                <a:solidFill>
                  <a:srgbClr val="1B3B6F"/>
                </a:solidFill>
                <a:latin typeface="Amiri" pitchFamily="2" charset="-78"/>
                <a:ea typeface="Amiri" pitchFamily="2" charset="-78"/>
                <a:cs typeface="Amiri" pitchFamily="2" charset="-78"/>
              </a:rPr>
              <a:t>يَجِبُ أَنْ</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تَسْتَرِيحُ</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اِسْتَرِحْ</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تَسْتَرِيحَ</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AT-A-L08: -a after “an”.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goes to school by bike.”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تَذْهَبُ إِلَى المَدْرَسَةِ عَلَى الدَّرَّاجَةِ.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تَذْهَبُ إِلَى المَدْرَسَةِ بِمَشْيًا.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يَذْهَبُ إِلَى المَدْرَسَةِ عَلَى الدَّرَّاجَةِ.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AT-A-L09: ‘alā + she = ta-.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It samples all of Topic A: routine and time · café · health · advice · transport.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مُرَاجَعَةٌ ثُمَّ تَقْيِيمٌ</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WEBSITE GRAMMAR LABORATORY · FLEX (NOT MARKED)</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laboratory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مُخْتَبَرُ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breakfast at half past seven”.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هِيَ يَتَنَاوَلُ الإِفْطَارَ فِي السَّابِعَةِ وَالنِّصْفِ.</a:t>
            </a:r>
            <a:endParaRPr lang="ar-SA" sz="160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هِيَ تَتَنَاوَلُ الإِفْطَارَ فِي السَّابِعَةِ وَالنِّصْفِ.</a:t>
            </a:r>
            <a:endParaRPr lang="ar-SA" sz="16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هِيَ أَتَنَاوَلُ الإِفْطَارَ فِي السَّابِعَةِ وَالنِّصْفِ.</a:t>
            </a:r>
            <a:endParaRPr lang="ar-SA" sz="16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بَعْدَ أَنْ ___ وَاجِبِي، أَسْتَرِيحُ.</a:t>
            </a:r>
            <a:endParaRPr lang="ar-SA" sz="12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أُكْمِلَ</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أُكْمِلُ</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أَكْمَلْتُ</a:t>
            </a:r>
            <a:endParaRPr lang="ar-SA" sz="2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 about Ali and his sister.</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عَلِيٌّ تَدْرُسُ، وَأُخْتُهُ يَقْرَأُ.</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عَلِيٌّ أَدْرُسُ، وَأُخْتُهُ نَقْرَأُ.</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عَلِيٌّ يَدْرُسُ، وَأُخْتُهُ تَقْرَأُ.</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weekend comparison.</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فِي الأُسْبُوعِ أَدْرُسُ، أَمَّا يَوْمَ السَّبْتِ أَسْتَرِيحُ فَـ.</a:t>
            </a:r>
            <a:endParaRPr lang="ar-SA" sz="12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أَمَّا أَدْرُسُ فِي السَّبْتِ كُلَّ يَوْمٍ.</a:t>
            </a:r>
            <a:endParaRPr lang="ar-SA" sz="12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فِي الأُسْبُوعِ أَدْرُسُ كُلَّ يَوْمٍ، أَمَّا يَوْمَ السَّبْتِ فَأَسْتَرِيحُ.</a:t>
            </a:r>
            <a:endParaRPr lang="ar-SA" sz="12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Correct the error:</a:t>
            </a:r>
            <a:endParaRPr lang="en-US" sz="12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أَنْتِ تَسْتَيْقِظُ فِي السَّابِعَةِ.</a:t>
            </a:r>
            <a:endParaRPr lang="ar-SA" sz="14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أَنْتِ تَسْتَيْقِظِينَ فِي السَّابِعَةِ.</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أَنْتِ يَسْتَيْقِظُ فِي السَّابِعَةِ.</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أَنْتِ أَسْتَيْقِظُ فِي السَّابِعَةِ.</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accurate sequence and reference.</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يَعُودُ مَرْيَمُ إِلَى البَيْتِ، ثُمَّ يُكْمِلُ وَاجِبَهُ.</a:t>
            </a:r>
            <a:endParaRPr lang="ar-SA" sz="160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تَعُودُ مَرْيَمُ إِلَى البَيْتِ، ثُمَّ تُكْمِلُ وَاجِبَهَا.</a:t>
            </a:r>
            <a:endParaRPr lang="ar-SA" sz="160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تَعُودُ مَرْيَمُ، ثُمَّ أُكْمِلُ وَاجِبِي.</a:t>
            </a:r>
            <a:endParaRPr lang="ar-SA" sz="16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laboratory: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breakfast at half past seven”.</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هِيَ يَتَنَاوَلُ الإِفْطَارَ فِي السَّابِعَةِ وَالنِّصْفِ.</a:t>
            </a:r>
            <a:endParaRPr lang="ar-SA" sz="16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هِيَ تَتَنَاوَلُ الإِفْطَارَ فِي السَّابِعَةِ وَالنِّصْفِ.</a:t>
            </a:r>
            <a:endParaRPr lang="ar-SA" sz="16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هِيَ أَتَنَاوَلُ الإِفْطَارَ فِي السَّابِعَةِ وَالنِّصْفِ.</a:t>
            </a:r>
            <a:endParaRPr lang="ar-SA" sz="16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تَتَنَاوَلُ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بَعْدَ أَنْ ___ وَاجِبِي، أَسْتَرِيحُ.</a:t>
            </a:r>
            <a:endParaRPr lang="ar-SA" sz="120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أُكْمِلَ</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أُكْمِلُ</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أَكْمَلْتُ</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present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أُكْمِلَ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 about Ali and his sister.</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عَلِيٌّ تَدْرُسُ، وَأُخْتُهُ يَقْرَأُ.</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عَلِيٌّ أَدْرُسُ، وَأُخْتُهُ نَقْرَأُ.</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عَلِيٌّ يَدْرُسُ، وَأُخْتُهُ تَقْرَأُ.</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singular uses </a:t>
            </a:r>
            <a:pPr algn="l" indent="0" marL="0">
              <a:buNone/>
            </a:pPr>
            <a:r>
              <a:rPr lang="ar-SA" altLang="en-US" sz="1350" dirty="0">
                <a:solidFill>
                  <a:srgbClr val="8A6D1E"/>
                </a:solidFill>
                <a:latin typeface="Amiri" pitchFamily="2" charset="-78"/>
                <a:ea typeface="Amiri" pitchFamily="2" charset="-78"/>
                <a:cs typeface="Amiri" pitchFamily="2" charset="-78"/>
              </a:rPr>
              <a:t>يَـ</a:t>
            </a:r>
            <a:pPr algn="l" indent="0" marL="0">
              <a:buNone/>
            </a:pPr>
            <a:r>
              <a:rPr lang="en-US" sz="1050" i="1" dirty="0">
                <a:solidFill>
                  <a:srgbClr val="8A6D1E"/>
                </a:solidFill>
                <a:latin typeface="Calibri" pitchFamily="34" charset="0"/>
                <a:cs typeface="Amiri" pitchFamily="2" charset="-78"/>
              </a:rPr>
              <a:t>; feminine singular uses </a:t>
            </a:r>
            <a:pPr algn="l" indent="0" marL="0">
              <a:buNone/>
            </a:pPr>
            <a:r>
              <a:rPr lang="ar-SA" altLang="en-US" sz="1350" dirty="0">
                <a:solidFill>
                  <a:srgbClr val="8A6D1E"/>
                </a:solidFill>
                <a:latin typeface="Amiri" pitchFamily="2" charset="-78"/>
                <a:ea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weekend comparison.</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فِي الأُسْبُوعِ أَدْرُسُ، أَمَّا يَوْمَ السَّبْتِ أَسْتَرِيحُ فَـ.</a:t>
            </a:r>
            <a:endParaRPr lang="ar-SA" sz="125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أَمَّا أَدْرُسُ فِي السَّبْتِ كُلَّ يَوْمٍ.</a:t>
            </a:r>
            <a:endParaRPr lang="ar-SA" sz="125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فِي الأُسْبُوعِ أَدْرُسُ كُلَّ يَوْمٍ، أَمَّا يَوْمَ السَّبْتِ فَأَسْتَرِيحُ.</a:t>
            </a:r>
            <a:endParaRPr lang="ar-SA" sz="125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introduces the topic and </a:t>
            </a:r>
            <a:pPr algn="l" indent="0" marL="0">
              <a:buNone/>
            </a:pPr>
            <a:r>
              <a:rPr lang="ar-SA" altLang="en-US" sz="1350" dirty="0">
                <a:solidFill>
                  <a:srgbClr val="8A6D1E"/>
                </a:solidFill>
                <a:latin typeface="Amiri" pitchFamily="2" charset="-78"/>
                <a:ea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introduces the comment.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Correct the error:</a:t>
            </a:r>
            <a:endParaRPr lang="en-US" sz="1200" dirty="0"/>
          </a:p>
        </p:txBody>
      </p:sp>
      <p:sp>
        <p:nvSpPr>
          <p:cNvPr id="81" name="Text 7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أَنْتِ تَسْتَيْقِظُ فِي السَّابِعَةِ.</a:t>
            </a:r>
            <a:endParaRPr lang="ar-SA" sz="140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أَنْتِ تَسْتَيْقِظِينَ فِي السَّابِعَةِ.</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أَنْتِ يَسْتَيْقِظُ فِي السَّابِعَةِ.</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أَنْتِ أَسْتَيْقِظُ فِي السَّابِعَةِ.</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female listener takes </a:t>
            </a:r>
            <a:pPr algn="l" indent="0" marL="0">
              <a:buNone/>
            </a:pPr>
            <a:r>
              <a:rPr lang="ar-SA" altLang="en-US" sz="1350" dirty="0">
                <a:solidFill>
                  <a:srgbClr val="8A6D1E"/>
                </a:solidFill>
                <a:latin typeface="Amiri" pitchFamily="2" charset="-78"/>
                <a:ea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accurate sequence and reference.</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يَعُودُ مَرْيَمُ إِلَى البَيْتِ، ثُمَّ يُكْمِلُ وَاجِبَهُ.</a:t>
            </a:r>
            <a:endParaRPr lang="ar-SA" sz="16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تَعُودُ مَرْيَمُ إِلَى البَيْتِ، ثُمَّ تُكْمِلُ وَاجِبَهَا.</a:t>
            </a:r>
            <a:endParaRPr lang="ar-SA" sz="16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تَعُودُ مَرْيَمُ، ثُمَّ أُكْمِلُ وَاجِبِي.</a:t>
            </a:r>
            <a:endParaRPr lang="ar-SA" sz="16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subject and possessive suffix remain consistent.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TOPIC A APPLICATION CHALLENGE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A four-skills relay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7" name="Shape 14"/>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9" name="Text 16"/>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20" name="Text 17"/>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Topic A four-skills relay</a:t>
            </a:r>
            <a:endParaRPr lang="en-US" sz="2200" dirty="0"/>
          </a:p>
        </p:txBody>
      </p:sp>
      <p:sp>
        <p:nvSpPr>
          <p:cNvPr id="21" name="Text 18"/>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Complete one short listening, reading, speaking and writing station. At every station, retrieve language from a different Topic A subtopic.</a:t>
            </a:r>
            <a:endParaRPr lang="en-US" sz="1350" dirty="0"/>
          </a:p>
        </p:txBody>
      </p:sp>
      <p:sp>
        <p:nvSpPr>
          <p:cNvPr id="22" name="Text 19"/>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3" name="Shape 20"/>
          <p:cNvSpPr/>
          <p:nvPr/>
        </p:nvSpPr>
        <p:spPr>
          <a:xfrm>
            <a:off x="658368" y="4407408"/>
            <a:ext cx="274320" cy="274320"/>
          </a:xfrm>
          <a:prstGeom prst="ellipse">
            <a:avLst/>
          </a:prstGeom>
          <a:solidFill>
            <a:srgbClr val="1B3B6F"/>
          </a:solidFill>
          <a:ln w="12700">
            <a:solidFill>
              <a:srgbClr val="1B3B6F"/>
            </a:solidFill>
            <a:prstDash val="solid"/>
          </a:ln>
        </p:spPr>
      </p:sp>
      <p:sp>
        <p:nvSpPr>
          <p:cNvPr id="24" name="Text 21"/>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5" name="Text 22"/>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stations, 1 minute each (FLEX: use before the assessment or as a revision lesson).</a:t>
            </a:r>
            <a:endParaRPr lang="en-US" sz="1150" dirty="0"/>
          </a:p>
        </p:txBody>
      </p:sp>
      <p:sp>
        <p:nvSpPr>
          <p:cNvPr id="26" name="Shape 23"/>
          <p:cNvSpPr/>
          <p:nvPr/>
        </p:nvSpPr>
        <p:spPr>
          <a:xfrm>
            <a:off x="658368" y="4864608"/>
            <a:ext cx="274320" cy="274320"/>
          </a:xfrm>
          <a:prstGeom prst="ellipse">
            <a:avLst/>
          </a:prstGeom>
          <a:solidFill>
            <a:srgbClr val="1B3B6F"/>
          </a:solidFill>
          <a:ln w="12700">
            <a:solidFill>
              <a:srgbClr val="1B3B6F"/>
            </a:solidFill>
            <a:prstDash val="solid"/>
          </a:ln>
        </p:spPr>
      </p:sp>
      <p:sp>
        <p:nvSpPr>
          <p:cNvPr id="27" name="Text 24"/>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8" name="Text 25"/>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LISTEN: teacher reads a café line — students type what was ordered.</a:t>
            </a:r>
            <a:endParaRPr lang="en-US" sz="1150" dirty="0"/>
          </a:p>
        </p:txBody>
      </p:sp>
      <p:sp>
        <p:nvSpPr>
          <p:cNvPr id="29" name="Shape 26"/>
          <p:cNvSpPr/>
          <p:nvPr/>
        </p:nvSpPr>
        <p:spPr>
          <a:xfrm>
            <a:off x="658368" y="5321808"/>
            <a:ext cx="274320" cy="274320"/>
          </a:xfrm>
          <a:prstGeom prst="ellipse">
            <a:avLst/>
          </a:prstGeom>
          <a:solidFill>
            <a:srgbClr val="1B3B6F"/>
          </a:solidFill>
          <a:ln w="12700">
            <a:solidFill>
              <a:srgbClr val="1B3B6F"/>
            </a:solidFill>
            <a:prstDash val="solid"/>
          </a:ln>
        </p:spPr>
      </p:sp>
      <p:sp>
        <p:nvSpPr>
          <p:cNvPr id="30" name="Text 27"/>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31" name="Text 28"/>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 health sentence on screen — students give symptom + duration. SPEAK: 20s on your journey to school.</a:t>
            </a:r>
            <a:endParaRPr lang="en-US" sz="1150" dirty="0"/>
          </a:p>
        </p:txBody>
      </p:sp>
      <p:sp>
        <p:nvSpPr>
          <p:cNvPr id="32" name="Shape 29"/>
          <p:cNvSpPr/>
          <p:nvPr/>
        </p:nvSpPr>
        <p:spPr>
          <a:xfrm>
            <a:off x="658368" y="5779008"/>
            <a:ext cx="274320" cy="274320"/>
          </a:xfrm>
          <a:prstGeom prst="ellipse">
            <a:avLst/>
          </a:prstGeom>
          <a:solidFill>
            <a:srgbClr val="1B3B6F"/>
          </a:solidFill>
          <a:ln w="12700">
            <a:solidFill>
              <a:srgbClr val="1B3B6F"/>
            </a:solidFill>
            <a:prstDash val="solid"/>
          </a:ln>
        </p:spPr>
      </p:sp>
      <p:sp>
        <p:nvSpPr>
          <p:cNvPr id="33" name="Text 30"/>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4" name="Text 31"/>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WRITE: one routine sentence with a time and a frequency word. Then note your weakest station.</a:t>
            </a:r>
            <a:endParaRPr lang="en-US" sz="1150" dirty="0"/>
          </a:p>
        </p:txBody>
      </p:sp>
      <p:sp>
        <p:nvSpPr>
          <p:cNvPr id="35" name="Shape 32"/>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8" name="Text 35"/>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sentence per station — use the five structures you prepared.</a:t>
            </a:r>
            <a:endParaRPr lang="en-US" sz="1150" dirty="0"/>
          </a:p>
        </p:txBody>
      </p:sp>
      <p:sp>
        <p:nvSpPr>
          <p:cNvPr id="39" name="Shape 36"/>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41" name="Text 38"/>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2" name="Text 39"/>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per station, each from a different Topic A subtopic.</a:t>
            </a:r>
            <a:endParaRPr lang="en-US" sz="1150" dirty="0"/>
          </a:p>
        </p:txBody>
      </p:sp>
      <p:sp>
        <p:nvSpPr>
          <p:cNvPr id="43" name="Shape 40"/>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5" name="Text 42"/>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6" name="Text 43"/>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Connect the stations: a day with a café, a health problem and a journey, using time words.</a:t>
            </a:r>
            <a:endParaRPr lang="en-US" sz="1150" dirty="0"/>
          </a:p>
        </p:txBody>
      </p:sp>
      <p:sp>
        <p:nvSpPr>
          <p:cNvPr id="47" name="Shape 44"/>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Text 45"/>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9" name="Text 46"/>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أُرِيدُ … مِنْ فَضْلِكَ</a:t>
            </a:r>
            <a:endParaRPr lang="ar-SA" sz="1300" dirty="0"/>
          </a:p>
        </p:txBody>
      </p:sp>
      <p:sp>
        <p:nvSpPr>
          <p:cNvPr id="50" name="Text 47"/>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café (AT-A-L05)</a:t>
            </a:r>
            <a:endParaRPr lang="en-US" sz="1000" dirty="0"/>
          </a:p>
        </p:txBody>
      </p:sp>
      <p:sp>
        <p:nvSpPr>
          <p:cNvPr id="51" name="Text 48"/>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 مُنْذُ …</a:t>
            </a:r>
            <a:endParaRPr lang="ar-SA" sz="1300" dirty="0"/>
          </a:p>
        </p:txBody>
      </p:sp>
      <p:sp>
        <p:nvSpPr>
          <p:cNvPr id="52" name="Text 49"/>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health (AT-A-L07)</a:t>
            </a:r>
            <a:endParaRPr lang="en-US" sz="1000" dirty="0"/>
          </a:p>
        </p:txBody>
      </p:sp>
      <p:sp>
        <p:nvSpPr>
          <p:cNvPr id="53" name="Text 50"/>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أَذْهَبُ بِـ … / عَلَى …</a:t>
            </a:r>
            <a:endParaRPr lang="ar-SA" sz="1300" dirty="0"/>
          </a:p>
        </p:txBody>
      </p:sp>
      <p:sp>
        <p:nvSpPr>
          <p:cNvPr id="54" name="Text 51"/>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transport (AT-A-L09)</a:t>
            </a:r>
            <a:endParaRPr lang="en-US" sz="1000" dirty="0"/>
          </a:p>
        </p:txBody>
      </p:sp>
      <p:sp>
        <p:nvSpPr>
          <p:cNvPr id="55" name="Text 52"/>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دَائِمًا أَسْتَيْقِظُ فِي …</a:t>
            </a:r>
            <a:endParaRPr lang="ar-SA" sz="1300" dirty="0"/>
          </a:p>
        </p:txBody>
      </p:sp>
      <p:sp>
        <p:nvSpPr>
          <p:cNvPr id="56" name="Text 53"/>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routine (AT-A-L01–L03)</a:t>
            </a:r>
            <a:endParaRPr lang="en-US" sz="10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60-mark Topic A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3941064"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561320"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1" name="Text 18"/>
          <p:cNvSpPr txBox="1"/>
          <p:nvPr/>
        </p:nvSpPr>
        <p:spPr>
          <a:xfrm>
            <a:off x="3977640"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texts, each heard twice: Maryam’s school day (8) · Yusuf and Huda (6) · an interview with Samir (6)</a:t>
            </a:r>
            <a:endParaRPr lang="en-US" sz="1100" dirty="0"/>
          </a:p>
        </p:txBody>
      </p:sp>
      <p:sp>
        <p:nvSpPr>
          <p:cNvPr id="22" name="Text 19"/>
          <p:cNvSpPr txBox="1"/>
          <p:nvPr/>
        </p:nvSpPr>
        <p:spPr>
          <a:xfrm>
            <a:off x="56692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Listening · </a:t>
            </a:r>
            <a:pPr algn="l" indent="0" marL="0">
              <a:buNone/>
            </a:pPr>
            <a:r>
              <a:rPr lang="ar-SA" altLang="en-US" sz="1450" dirty="0">
                <a:solidFill>
                  <a:srgbClr val="5A6472"/>
                </a:solidFill>
                <a:latin typeface="Amiri" pitchFamily="2" charset="-78"/>
                <a:ea typeface="Amiri" pitchFamily="2" charset="-78"/>
                <a:cs typeface="Amiri" pitchFamily="2" charset="-78"/>
              </a:rPr>
              <a:t>الاِسْتِمَاعُ</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561320"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7" name="Text 24"/>
          <p:cNvSpPr txBox="1"/>
          <p:nvPr/>
        </p:nvSpPr>
        <p:spPr>
          <a:xfrm>
            <a:off x="3977640"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school-day and weekend routine: ten questions — locate, interpret, prove</a:t>
            </a:r>
            <a:endParaRPr lang="en-US" sz="1100" dirty="0"/>
          </a:p>
        </p:txBody>
      </p:sp>
      <p:sp>
        <p:nvSpPr>
          <p:cNvPr id="28" name="Text 25"/>
          <p:cNvSpPr txBox="1"/>
          <p:nvPr/>
        </p:nvSpPr>
        <p:spPr>
          <a:xfrm>
            <a:off x="56692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Reading · </a:t>
            </a:r>
            <a:pPr algn="l" indent="0" marL="0">
              <a:buNone/>
            </a:pPr>
            <a:r>
              <a:rPr lang="ar-SA" altLang="en-US" sz="1450" dirty="0">
                <a:solidFill>
                  <a:srgbClr val="5A6472"/>
                </a:solidFill>
                <a:latin typeface="Amiri" pitchFamily="2" charset="-78"/>
                <a:ea typeface="Amiri" pitchFamily="2" charset="-78"/>
                <a:cs typeface="Amiri" pitchFamily="2" charset="-78"/>
              </a:rPr>
              <a:t>القِرَاءَةُ</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561320"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3" name="Text 30"/>
          <p:cNvSpPr txBox="1"/>
          <p:nvPr/>
        </p:nvSpPr>
        <p:spPr>
          <a:xfrm>
            <a:off x="3977640"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Routine form: five fields (5) · article or email, 100–120 words (15)</a:t>
            </a:r>
            <a:endParaRPr lang="en-US" sz="1100" dirty="0"/>
          </a:p>
        </p:txBody>
      </p:sp>
      <p:sp>
        <p:nvSpPr>
          <p:cNvPr id="34" name="Text 31"/>
          <p:cNvSpPr txBox="1"/>
          <p:nvPr/>
        </p:nvSpPr>
        <p:spPr>
          <a:xfrm>
            <a:off x="56692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Writing · </a:t>
            </a:r>
            <a:pPr algn="l" indent="0" marL="0">
              <a:buNone/>
            </a:pPr>
            <a:r>
              <a:rPr lang="ar-SA" altLang="en-US" sz="1450" dirty="0">
                <a:solidFill>
                  <a:srgbClr val="5A6472"/>
                </a:solidFill>
                <a:latin typeface="Amiri" pitchFamily="2" charset="-78"/>
                <a:ea typeface="Amiri" pitchFamily="2" charset="-78"/>
                <a:cs typeface="Amiri" pitchFamily="2" charset="-78"/>
              </a:rPr>
              <a:t>الكِتَابَةُ</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561320"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39" name="Text 36"/>
          <p:cNvSpPr txBox="1"/>
          <p:nvPr/>
        </p:nvSpPr>
        <p:spPr>
          <a:xfrm>
            <a:off x="3977640"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Role-play (4) · topic conversation (6) — prepare cue words only</a:t>
            </a:r>
            <a:endParaRPr lang="en-US" sz="1100" dirty="0"/>
          </a:p>
        </p:txBody>
      </p:sp>
      <p:sp>
        <p:nvSpPr>
          <p:cNvPr id="40" name="Text 37"/>
          <p:cNvSpPr txBox="1"/>
          <p:nvPr/>
        </p:nvSpPr>
        <p:spPr>
          <a:xfrm>
            <a:off x="56692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Speaking · </a:t>
            </a:r>
            <a:pPr algn="l" indent="0" marL="0">
              <a:buNone/>
            </a:pPr>
            <a:r>
              <a:rPr lang="ar-SA" altLang="en-US" sz="1450" dirty="0">
                <a:solidFill>
                  <a:srgbClr val="5A6472"/>
                </a:solidFill>
                <a:latin typeface="Amiri" pitchFamily="2" charset="-78"/>
                <a:ea typeface="Amiri" pitchFamily="2" charset="-78"/>
                <a:cs typeface="Amiri" pitchFamily="2" charset="-78"/>
              </a:rPr>
              <a:t>التَّحَدُّثُ</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8 MARKS · HEARD TWICE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Text 1 · Maryam describes a school day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Maryam wake on school days?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6:10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7:00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immediately after waking?</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checks messages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showers</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leaves home</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she leave home?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7:45</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usually travel?</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train</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starts at 8:20?</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lesson</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registration</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breakfast</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she attend the school club?</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month</a:t>
            </a:r>
            <a:endParaRPr lang="en-US" sz="1250" dirty="0"/>
          </a:p>
        </p:txBody>
      </p:sp>
      <p:sp>
        <p:nvSpPr>
          <p:cNvPr id="93" name="Shape 90"/>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313932" y="4288536"/>
            <a:ext cx="310896" cy="310896"/>
          </a:xfrm>
          <a:prstGeom prst="ellipse">
            <a:avLst/>
          </a:prstGeom>
          <a:solidFill>
            <a:srgbClr val="1B3B6F"/>
          </a:solidFill>
          <a:ln w="12700">
            <a:solidFill>
              <a:srgbClr val="1B3B6F"/>
            </a:solidFill>
            <a:prstDash val="solid"/>
          </a:ln>
        </p:spPr>
      </p:sp>
      <p:sp>
        <p:nvSpPr>
          <p:cNvPr id="95" name="Text 9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96" name="Text 93"/>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What does she do before using her phone in the evening?</a:t>
            </a:r>
            <a:endParaRPr lang="en-US" sz="1100" dirty="0"/>
          </a:p>
        </p:txBody>
      </p:sp>
      <p:sp>
        <p:nvSpPr>
          <p:cNvPr id="97" name="Shape 94"/>
          <p:cNvSpPr/>
          <p:nvPr/>
        </p:nvSpPr>
        <p:spPr>
          <a:xfrm>
            <a:off x="6368796" y="4873752"/>
            <a:ext cx="256032" cy="256032"/>
          </a:xfrm>
          <a:prstGeom prst="ellipse">
            <a:avLst/>
          </a:prstGeom>
          <a:solidFill>
            <a:srgbClr val="F4F1EA"/>
          </a:solidFill>
          <a:ln w="12700">
            <a:solidFill>
              <a:srgbClr val="F4F1EA"/>
            </a:solidFill>
            <a:prstDash val="solid"/>
          </a:ln>
        </p:spPr>
      </p:sp>
      <p:sp>
        <p:nvSpPr>
          <p:cNvPr id="98" name="Text 95"/>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6"/>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finishes homework</a:t>
            </a:r>
            <a:endParaRPr lang="en-US" sz="1250" dirty="0"/>
          </a:p>
        </p:txBody>
      </p:sp>
      <p:sp>
        <p:nvSpPr>
          <p:cNvPr id="100" name="Shape 97"/>
          <p:cNvSpPr/>
          <p:nvPr/>
        </p:nvSpPr>
        <p:spPr>
          <a:xfrm>
            <a:off x="6368796" y="5330952"/>
            <a:ext cx="256032" cy="256032"/>
          </a:xfrm>
          <a:prstGeom prst="ellipse">
            <a:avLst/>
          </a:prstGeom>
          <a:solidFill>
            <a:srgbClr val="F4F1EA"/>
          </a:solidFill>
          <a:ln w="12700">
            <a:solidFill>
              <a:srgbClr val="F4F1EA"/>
            </a:solidFill>
            <a:prstDash val="solid"/>
          </a:ln>
        </p:spPr>
      </p:sp>
      <p:sp>
        <p:nvSpPr>
          <p:cNvPr id="101" name="Text 98"/>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2" name="Text 99"/>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visits a friend</a:t>
            </a:r>
            <a:endParaRPr lang="en-US" sz="1250" dirty="0"/>
          </a:p>
        </p:txBody>
      </p:sp>
      <p:sp>
        <p:nvSpPr>
          <p:cNvPr id="103" name="Shape 100"/>
          <p:cNvSpPr/>
          <p:nvPr/>
        </p:nvSpPr>
        <p:spPr>
          <a:xfrm>
            <a:off x="6368796" y="5788152"/>
            <a:ext cx="256032" cy="256032"/>
          </a:xfrm>
          <a:prstGeom prst="ellipse">
            <a:avLst/>
          </a:prstGeom>
          <a:solidFill>
            <a:srgbClr val="F4F1EA"/>
          </a:solidFill>
          <a:ln w="12700">
            <a:solidFill>
              <a:srgbClr val="F4F1EA"/>
            </a:solidFill>
            <a:prstDash val="solid"/>
          </a:ln>
        </p:spPr>
      </p:sp>
      <p:sp>
        <p:nvSpPr>
          <p:cNvPr id="104" name="Text 101"/>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2"/>
          <p:cNvSpPr txBox="1"/>
          <p:nvPr/>
        </p:nvSpPr>
        <p:spPr>
          <a:xfrm>
            <a:off x="6697980"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goes shopping</a:t>
            </a:r>
            <a:endParaRPr lang="en-US" sz="1250" dirty="0"/>
          </a:p>
        </p:txBody>
      </p:sp>
      <p:sp>
        <p:nvSpPr>
          <p:cNvPr id="106" name="Shape 103"/>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7" name="Shape 104"/>
          <p:cNvSpPr/>
          <p:nvPr/>
        </p:nvSpPr>
        <p:spPr>
          <a:xfrm>
            <a:off x="9178290" y="4288536"/>
            <a:ext cx="310896" cy="310896"/>
          </a:xfrm>
          <a:prstGeom prst="ellipse">
            <a:avLst/>
          </a:prstGeom>
          <a:solidFill>
            <a:srgbClr val="1B3B6F"/>
          </a:solidFill>
          <a:ln w="12700">
            <a:solidFill>
              <a:srgbClr val="1B3B6F"/>
            </a:solidFill>
            <a:prstDash val="solid"/>
          </a:ln>
        </p:spPr>
      </p:sp>
      <p:sp>
        <p:nvSpPr>
          <p:cNvPr id="108" name="Text 105"/>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09" name="Text 106"/>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she usually sleep?</a:t>
            </a:r>
            <a:endParaRPr lang="en-US" sz="1250" dirty="0"/>
          </a:p>
        </p:txBody>
      </p:sp>
      <p:sp>
        <p:nvSpPr>
          <p:cNvPr id="110" name="Shape 107"/>
          <p:cNvSpPr/>
          <p:nvPr/>
        </p:nvSpPr>
        <p:spPr>
          <a:xfrm>
            <a:off x="9233154" y="4873752"/>
            <a:ext cx="256032" cy="256032"/>
          </a:xfrm>
          <a:prstGeom prst="ellipse">
            <a:avLst/>
          </a:prstGeom>
          <a:solidFill>
            <a:srgbClr val="F4F1EA"/>
          </a:solidFill>
          <a:ln w="12700">
            <a:solidFill>
              <a:srgbClr val="F4F1EA"/>
            </a:solidFill>
            <a:prstDash val="solid"/>
          </a:ln>
        </p:spPr>
      </p:sp>
      <p:sp>
        <p:nvSpPr>
          <p:cNvPr id="111" name="Text 108"/>
          <p:cNvSpPr txBox="1"/>
          <p:nvPr/>
        </p:nvSpPr>
        <p:spPr>
          <a:xfrm>
            <a:off x="923315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2" name="Text 109"/>
          <p:cNvSpPr txBox="1"/>
          <p:nvPr/>
        </p:nvSpPr>
        <p:spPr>
          <a:xfrm>
            <a:off x="9562338"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9:30</a:t>
            </a:r>
            <a:endParaRPr lang="en-US" sz="1250" dirty="0"/>
          </a:p>
        </p:txBody>
      </p:sp>
      <p:sp>
        <p:nvSpPr>
          <p:cNvPr id="113" name="Shape 110"/>
          <p:cNvSpPr/>
          <p:nvPr/>
        </p:nvSpPr>
        <p:spPr>
          <a:xfrm>
            <a:off x="9233154" y="5330952"/>
            <a:ext cx="256032" cy="256032"/>
          </a:xfrm>
          <a:prstGeom prst="ellipse">
            <a:avLst/>
          </a:prstGeom>
          <a:solidFill>
            <a:srgbClr val="F4F1EA"/>
          </a:solidFill>
          <a:ln w="12700">
            <a:solidFill>
              <a:srgbClr val="F4F1EA"/>
            </a:solidFill>
            <a:prstDash val="solid"/>
          </a:ln>
        </p:spPr>
      </p:sp>
      <p:sp>
        <p:nvSpPr>
          <p:cNvPr id="114" name="Text 111"/>
          <p:cNvSpPr txBox="1"/>
          <p:nvPr/>
        </p:nvSpPr>
        <p:spPr>
          <a:xfrm>
            <a:off x="923315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5" name="Text 112"/>
          <p:cNvSpPr txBox="1"/>
          <p:nvPr/>
        </p:nvSpPr>
        <p:spPr>
          <a:xfrm>
            <a:off x="9562338"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11:30</a:t>
            </a:r>
            <a:endParaRPr lang="en-US" sz="1250" dirty="0"/>
          </a:p>
        </p:txBody>
      </p:sp>
      <p:sp>
        <p:nvSpPr>
          <p:cNvPr id="116" name="Shape 113"/>
          <p:cNvSpPr/>
          <p:nvPr/>
        </p:nvSpPr>
        <p:spPr>
          <a:xfrm>
            <a:off x="9233154" y="5788152"/>
            <a:ext cx="256032" cy="256032"/>
          </a:xfrm>
          <a:prstGeom prst="ellipse">
            <a:avLst/>
          </a:prstGeom>
          <a:solidFill>
            <a:srgbClr val="F4F1EA"/>
          </a:solidFill>
          <a:ln w="12700">
            <a:solidFill>
              <a:srgbClr val="F4F1EA"/>
            </a:solidFill>
            <a:prstDash val="solid"/>
          </a:ln>
        </p:spPr>
      </p:sp>
      <p:sp>
        <p:nvSpPr>
          <p:cNvPr id="117" name="Text 114"/>
          <p:cNvSpPr txBox="1"/>
          <p:nvPr/>
        </p:nvSpPr>
        <p:spPr>
          <a:xfrm>
            <a:off x="923315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18" name="Text 115"/>
          <p:cNvSpPr txBox="1"/>
          <p:nvPr/>
        </p:nvSpPr>
        <p:spPr>
          <a:xfrm>
            <a:off x="9562338"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10:30</a:t>
            </a:r>
            <a:endParaRPr lang="en-US" sz="1250" dirty="0"/>
          </a:p>
        </p:txBody>
      </p:sp>
      <p:sp>
        <p:nvSpPr>
          <p:cNvPr id="119" name="Text 11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Maryam wake on school days?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6:10</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7:00</a:t>
            </a:r>
            <a:endParaRPr lang="en-US" sz="1250" dirty="0"/>
          </a:p>
        </p:txBody>
      </p:sp>
      <p:sp>
        <p:nvSpPr>
          <p:cNvPr id="25" name="Shape 22"/>
          <p:cNvSpPr/>
          <p:nvPr/>
        </p:nvSpPr>
        <p:spPr>
          <a:xfrm>
            <a:off x="548640" y="3197352"/>
            <a:ext cx="2498598"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6:30</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فِي السَّادِسَةِ وَالنِّصْفِ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immediately after waking?</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checks messages</a:t>
            </a:r>
            <a:endParaRPr lang="en-US" sz="1250" dirty="0"/>
          </a:p>
        </p:txBody>
      </p:sp>
      <p:sp>
        <p:nvSpPr>
          <p:cNvPr id="37" name="Shape 34"/>
          <p:cNvSpPr/>
          <p:nvPr/>
        </p:nvSpPr>
        <p:spPr>
          <a:xfrm>
            <a:off x="3412998" y="2825496"/>
            <a:ext cx="2498598"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3504438"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showers</a:t>
            </a:r>
            <a:endParaRPr lang="en-US" sz="125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leaves home</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showers before getting dressed.</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she leave home?</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7:15</a:t>
            </a:r>
            <a:endParaRPr lang="en-US" sz="1250" dirty="0"/>
          </a:p>
        </p:txBody>
      </p:sp>
      <p:sp>
        <p:nvSpPr>
          <p:cNvPr id="52" name="Shape 49"/>
          <p:cNvSpPr/>
          <p:nvPr/>
        </p:nvSpPr>
        <p:spPr>
          <a:xfrm>
            <a:off x="6277356" y="2825496"/>
            <a:ext cx="2498598"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368796"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7:45</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7:30</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leaves at a quarter to eight.</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usually travel?</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foot</a:t>
            </a:r>
            <a:endParaRPr lang="en-US" sz="1250" dirty="0"/>
          </a:p>
        </p:txBody>
      </p:sp>
      <p:sp>
        <p:nvSpPr>
          <p:cNvPr id="67" name="Shape 64"/>
          <p:cNvSpPr/>
          <p:nvPr/>
        </p:nvSpPr>
        <p:spPr>
          <a:xfrm>
            <a:off x="9233154" y="2862072"/>
            <a:ext cx="256032" cy="256032"/>
          </a:xfrm>
          <a:prstGeom prst="ellipse">
            <a:avLst/>
          </a:prstGeom>
          <a:solidFill>
            <a:srgbClr val="C9CED6"/>
          </a:solidFill>
          <a:ln w="12700">
            <a:solidFill>
              <a:srgbClr val="C9CED6"/>
            </a:solidFill>
            <a:prstDash val="solid"/>
          </a:ln>
        </p:spPr>
      </p:sp>
      <p:sp>
        <p:nvSpPr>
          <p:cNvPr id="68" name="Text 65"/>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train</a:t>
            </a:r>
            <a:endParaRPr lang="en-US" sz="1250" dirty="0"/>
          </a:p>
        </p:txBody>
      </p:sp>
      <p:sp>
        <p:nvSpPr>
          <p:cNvPr id="70" name="Shape 67"/>
          <p:cNvSpPr/>
          <p:nvPr/>
        </p:nvSpPr>
        <p:spPr>
          <a:xfrm>
            <a:off x="9141714" y="3197352"/>
            <a:ext cx="2498598"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9233154" y="3233928"/>
            <a:ext cx="256032" cy="256032"/>
          </a:xfrm>
          <a:prstGeom prst="ellipse">
            <a:avLst/>
          </a:prstGeom>
          <a:solidFill>
            <a:srgbClr val="2E8B57"/>
          </a:solidFill>
          <a:ln w="12700">
            <a:solidFill>
              <a:srgbClr val="2E8B57"/>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bus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usually takes the bus.</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starts at 8:20?</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first lesson</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registration</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breakfast</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lesson starts at twenty past eight.</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she attend the school club?</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97" name="Shape 94"/>
          <p:cNvSpPr/>
          <p:nvPr/>
        </p:nvSpPr>
        <p:spPr>
          <a:xfrm>
            <a:off x="3412998" y="5166360"/>
            <a:ext cx="2498598"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350443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week</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month</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attends on Tuesday and Thursday.</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313932" y="4288536"/>
            <a:ext cx="310896" cy="310896"/>
          </a:xfrm>
          <a:prstGeom prst="ellipse">
            <a:avLst/>
          </a:prstGeom>
          <a:solidFill>
            <a:srgbClr val="1B3B6F"/>
          </a:solidFill>
          <a:ln w="12700">
            <a:solidFill>
              <a:srgbClr val="1B3B6F"/>
            </a:solidFill>
            <a:prstDash val="solid"/>
          </a:ln>
        </p:spPr>
      </p:sp>
      <p:sp>
        <p:nvSpPr>
          <p:cNvPr id="107" name="Text 10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108" name="Text 105"/>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What does she do before using her phone in the evening?</a:t>
            </a:r>
            <a:endParaRPr lang="en-US" sz="1100" dirty="0"/>
          </a:p>
        </p:txBody>
      </p:sp>
      <p:sp>
        <p:nvSpPr>
          <p:cNvPr id="109" name="Shape 106"/>
          <p:cNvSpPr/>
          <p:nvPr/>
        </p:nvSpPr>
        <p:spPr>
          <a:xfrm>
            <a:off x="6277356" y="4794504"/>
            <a:ext cx="2498598" cy="347472"/>
          </a:xfrm>
          <a:prstGeom prst="roundRect">
            <a:avLst>
              <a:gd name="adj" fmla="val 15789"/>
            </a:avLst>
          </a:prstGeom>
          <a:solidFill>
            <a:srgbClr val="E6F4EC"/>
          </a:solidFill>
          <a:ln w="9525">
            <a:solidFill>
              <a:srgbClr val="2E8B57"/>
            </a:solidFill>
            <a:prstDash val="solid"/>
          </a:ln>
        </p:spPr>
      </p:sp>
      <p:sp>
        <p:nvSpPr>
          <p:cNvPr id="110" name="Shape 107"/>
          <p:cNvSpPr/>
          <p:nvPr/>
        </p:nvSpPr>
        <p:spPr>
          <a:xfrm>
            <a:off x="6368796" y="4831080"/>
            <a:ext cx="256032" cy="256032"/>
          </a:xfrm>
          <a:prstGeom prst="ellipse">
            <a:avLst/>
          </a:prstGeom>
          <a:solidFill>
            <a:srgbClr val="2E8B57"/>
          </a:solidFill>
          <a:ln w="12700">
            <a:solidFill>
              <a:srgbClr val="2E8B57"/>
            </a:solidFill>
            <a:prstDash val="solid"/>
          </a:ln>
        </p:spPr>
      </p:sp>
      <p:sp>
        <p:nvSpPr>
          <p:cNvPr id="111" name="Text 108"/>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112" name="Text 109"/>
          <p:cNvSpPr txBox="1"/>
          <p:nvPr/>
        </p:nvSpPr>
        <p:spPr>
          <a:xfrm>
            <a:off x="6697980"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finishes homework</a:t>
            </a:r>
            <a:endParaRPr lang="en-US" sz="1250" dirty="0"/>
          </a:p>
        </p:txBody>
      </p:sp>
      <p:sp>
        <p:nvSpPr>
          <p:cNvPr id="113" name="Shape 110"/>
          <p:cNvSpPr/>
          <p:nvPr/>
        </p:nvSpPr>
        <p:spPr>
          <a:xfrm>
            <a:off x="6368796" y="5202936"/>
            <a:ext cx="256032" cy="256032"/>
          </a:xfrm>
          <a:prstGeom prst="ellipse">
            <a:avLst/>
          </a:prstGeom>
          <a:solidFill>
            <a:srgbClr val="C9CED6"/>
          </a:solidFill>
          <a:ln w="12700">
            <a:solidFill>
              <a:srgbClr val="C9CED6"/>
            </a:solidFill>
            <a:prstDash val="solid"/>
          </a:ln>
        </p:spPr>
      </p:sp>
      <p:sp>
        <p:nvSpPr>
          <p:cNvPr id="114" name="Text 111"/>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5" name="Text 112"/>
          <p:cNvSpPr txBox="1"/>
          <p:nvPr/>
        </p:nvSpPr>
        <p:spPr>
          <a:xfrm>
            <a:off x="6697980"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visits a friend</a:t>
            </a:r>
            <a:endParaRPr lang="en-US" sz="1250" dirty="0"/>
          </a:p>
        </p:txBody>
      </p:sp>
      <p:sp>
        <p:nvSpPr>
          <p:cNvPr id="116" name="Shape 113"/>
          <p:cNvSpPr/>
          <p:nvPr/>
        </p:nvSpPr>
        <p:spPr>
          <a:xfrm>
            <a:off x="6368796" y="5574792"/>
            <a:ext cx="256032" cy="256032"/>
          </a:xfrm>
          <a:prstGeom prst="ellipse">
            <a:avLst/>
          </a:prstGeom>
          <a:solidFill>
            <a:srgbClr val="C9CED6"/>
          </a:solidFill>
          <a:ln w="12700">
            <a:solidFill>
              <a:srgbClr val="C9CED6"/>
            </a:solidFill>
            <a:prstDash val="solid"/>
          </a:ln>
        </p:spPr>
      </p:sp>
      <p:sp>
        <p:nvSpPr>
          <p:cNvPr id="117" name="Text 11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18" name="Text 115"/>
          <p:cNvSpPr txBox="1"/>
          <p:nvPr/>
        </p:nvSpPr>
        <p:spPr>
          <a:xfrm>
            <a:off x="6697980"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goes shopping</a:t>
            </a:r>
            <a:endParaRPr lang="en-US" sz="1250" dirty="0"/>
          </a:p>
        </p:txBody>
      </p:sp>
      <p:sp>
        <p:nvSpPr>
          <p:cNvPr id="119" name="Text 116"/>
          <p:cNvSpPr txBox="1"/>
          <p:nvPr/>
        </p:nvSpPr>
        <p:spPr>
          <a:xfrm>
            <a:off x="6313932"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completes homework first.</a:t>
            </a:r>
            <a:endParaRPr lang="en-US" sz="1050" dirty="0"/>
          </a:p>
        </p:txBody>
      </p:sp>
      <p:sp>
        <p:nvSpPr>
          <p:cNvPr id="120" name="Shape 117"/>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21" name="Shape 118"/>
          <p:cNvSpPr/>
          <p:nvPr/>
        </p:nvSpPr>
        <p:spPr>
          <a:xfrm>
            <a:off x="9178290" y="4288536"/>
            <a:ext cx="310896" cy="310896"/>
          </a:xfrm>
          <a:prstGeom prst="ellipse">
            <a:avLst/>
          </a:prstGeom>
          <a:solidFill>
            <a:srgbClr val="1B3B6F"/>
          </a:solidFill>
          <a:ln w="12700">
            <a:solidFill>
              <a:srgbClr val="1B3B6F"/>
            </a:solidFill>
            <a:prstDash val="solid"/>
          </a:ln>
        </p:spPr>
      </p:sp>
      <p:sp>
        <p:nvSpPr>
          <p:cNvPr id="122" name="Text 119"/>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23" name="Text 120"/>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she usually sleep?</a:t>
            </a:r>
            <a:endParaRPr lang="en-US" sz="1250" dirty="0"/>
          </a:p>
        </p:txBody>
      </p:sp>
      <p:sp>
        <p:nvSpPr>
          <p:cNvPr id="124" name="Shape 121"/>
          <p:cNvSpPr/>
          <p:nvPr/>
        </p:nvSpPr>
        <p:spPr>
          <a:xfrm>
            <a:off x="9233154" y="4831080"/>
            <a:ext cx="256032" cy="256032"/>
          </a:xfrm>
          <a:prstGeom prst="ellipse">
            <a:avLst/>
          </a:prstGeom>
          <a:solidFill>
            <a:srgbClr val="C9CED6"/>
          </a:solidFill>
          <a:ln w="12700">
            <a:solidFill>
              <a:srgbClr val="C9CED6"/>
            </a:solidFill>
            <a:prstDash val="solid"/>
          </a:ln>
        </p:spPr>
      </p:sp>
      <p:sp>
        <p:nvSpPr>
          <p:cNvPr id="125" name="Text 122"/>
          <p:cNvSpPr txBox="1"/>
          <p:nvPr/>
        </p:nvSpPr>
        <p:spPr>
          <a:xfrm>
            <a:off x="923315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26" name="Text 123"/>
          <p:cNvSpPr txBox="1"/>
          <p:nvPr/>
        </p:nvSpPr>
        <p:spPr>
          <a:xfrm>
            <a:off x="9562338"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9:30</a:t>
            </a:r>
            <a:endParaRPr lang="en-US" sz="1250" dirty="0"/>
          </a:p>
        </p:txBody>
      </p:sp>
      <p:sp>
        <p:nvSpPr>
          <p:cNvPr id="127" name="Shape 124"/>
          <p:cNvSpPr/>
          <p:nvPr/>
        </p:nvSpPr>
        <p:spPr>
          <a:xfrm>
            <a:off x="9233154" y="5202936"/>
            <a:ext cx="256032" cy="256032"/>
          </a:xfrm>
          <a:prstGeom prst="ellipse">
            <a:avLst/>
          </a:prstGeom>
          <a:solidFill>
            <a:srgbClr val="C9CED6"/>
          </a:solidFill>
          <a:ln w="12700">
            <a:solidFill>
              <a:srgbClr val="C9CED6"/>
            </a:solidFill>
            <a:prstDash val="solid"/>
          </a:ln>
        </p:spPr>
      </p:sp>
      <p:sp>
        <p:nvSpPr>
          <p:cNvPr id="128" name="Text 125"/>
          <p:cNvSpPr txBox="1"/>
          <p:nvPr/>
        </p:nvSpPr>
        <p:spPr>
          <a:xfrm>
            <a:off x="923315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29" name="Text 126"/>
          <p:cNvSpPr txBox="1"/>
          <p:nvPr/>
        </p:nvSpPr>
        <p:spPr>
          <a:xfrm>
            <a:off x="9562338"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11:30</a:t>
            </a:r>
            <a:endParaRPr lang="en-US" sz="1250" dirty="0"/>
          </a:p>
        </p:txBody>
      </p:sp>
      <p:sp>
        <p:nvSpPr>
          <p:cNvPr id="130" name="Shape 127"/>
          <p:cNvSpPr/>
          <p:nvPr/>
        </p:nvSpPr>
        <p:spPr>
          <a:xfrm>
            <a:off x="9141714" y="5538216"/>
            <a:ext cx="2498598" cy="347472"/>
          </a:xfrm>
          <a:prstGeom prst="roundRect">
            <a:avLst>
              <a:gd name="adj" fmla="val 15789"/>
            </a:avLst>
          </a:prstGeom>
          <a:solidFill>
            <a:srgbClr val="E6F4EC"/>
          </a:solidFill>
          <a:ln w="9525">
            <a:solidFill>
              <a:srgbClr val="2E8B57"/>
            </a:solidFill>
            <a:prstDash val="solid"/>
          </a:ln>
        </p:spPr>
      </p:sp>
      <p:sp>
        <p:nvSpPr>
          <p:cNvPr id="131" name="Shape 128"/>
          <p:cNvSpPr/>
          <p:nvPr/>
        </p:nvSpPr>
        <p:spPr>
          <a:xfrm>
            <a:off x="9233154" y="5574792"/>
            <a:ext cx="256032" cy="256032"/>
          </a:xfrm>
          <a:prstGeom prst="ellipse">
            <a:avLst/>
          </a:prstGeom>
          <a:solidFill>
            <a:srgbClr val="2E8B57"/>
          </a:solidFill>
          <a:ln w="12700">
            <a:solidFill>
              <a:srgbClr val="2E8B57"/>
            </a:solidFill>
            <a:prstDash val="solid"/>
          </a:ln>
        </p:spPr>
      </p:sp>
      <p:sp>
        <p:nvSpPr>
          <p:cNvPr id="132" name="Text 129"/>
          <p:cNvSpPr txBox="1"/>
          <p:nvPr/>
        </p:nvSpPr>
        <p:spPr>
          <a:xfrm>
            <a:off x="923315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33" name="Text 130"/>
          <p:cNvSpPr txBox="1"/>
          <p:nvPr/>
        </p:nvSpPr>
        <p:spPr>
          <a:xfrm>
            <a:off x="9562338"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10:30</a:t>
            </a:r>
            <a:endParaRPr lang="en-US" sz="1250" dirty="0"/>
          </a:p>
        </p:txBody>
      </p:sp>
      <p:sp>
        <p:nvSpPr>
          <p:cNvPr id="134" name="Text 131"/>
          <p:cNvSpPr txBox="1"/>
          <p:nvPr/>
        </p:nvSpPr>
        <p:spPr>
          <a:xfrm>
            <a:off x="9178290"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sleeps at half past ten.</a:t>
            </a:r>
            <a:endParaRPr lang="en-US" sz="1050" dirty="0"/>
          </a:p>
        </p:txBody>
      </p:sp>
      <p:sp>
        <p:nvSpPr>
          <p:cNvPr id="135" name="Text 1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MARKS · HEARD TWICE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Text 2 · Yusuf and Huda compare their routines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returns home earlier?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at the same time</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studies before eating?</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Yusuf play football?</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week</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evening</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week</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do on Thursday?</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attends an Arabic club</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football</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visits her grandmother</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gets ready for the next day before sleeping?</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 only</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 only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the main difference between their weekends?</a:t>
            </a:r>
            <a:endParaRPr lang="en-US" sz="12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Yusuf visits family; Huda meets friends</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 studies; Yusuf works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stay home all weekend</a:t>
            </a:r>
            <a:endParaRPr lang="en-US" sz="1250" dirty="0"/>
          </a:p>
        </p:txBody>
      </p:sp>
      <p:sp>
        <p:nvSpPr>
          <p:cNvPr id="93" name="Shape 90"/>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TWO PEOPLE</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for ya- (Yusuf) and ta- (Huda).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returns home earlier?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Huda</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Yusuf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at the same time</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Yusuf returns at 3:20; Huda returns at 4:00.</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studies before eating?</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a:t>
            </a:r>
            <a:endParaRPr lang="en-US" sz="1250" dirty="0"/>
          </a:p>
        </p:txBody>
      </p:sp>
      <p:sp>
        <p:nvSpPr>
          <p:cNvPr id="37" name="Shape 34"/>
          <p:cNvSpPr/>
          <p:nvPr/>
        </p:nvSpPr>
        <p:spPr>
          <a:xfrm>
            <a:off x="3412998" y="2825496"/>
            <a:ext cx="2498598"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3504438"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Huda</a:t>
            </a:r>
            <a:endParaRPr lang="en-US" sz="125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Huda studies for an hour before dinner.</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Yusuf play football?</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week</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evening</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times a week</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plays on Monday, Wednesday and Friday.</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do on Thursday?</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attends an Arabic club</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plays football</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visits her grandmother</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Thursday is her Arabic-club day.</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gets ready for the next day before sleeping?</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Yusuf only</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Huda only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prepare their bags and clothes.</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the main difference between their weekends?</a:t>
            </a:r>
            <a:endParaRPr lang="en-US" sz="12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Yusuf visits family; Huda meets friends</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Huda studies; Yusuf works</a:t>
            </a:r>
            <a:endParaRPr lang="en-US" sz="120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both stay home all weekend</a:t>
            </a:r>
            <a:endParaRPr lang="en-US" sz="120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Their Saturday activities are different.</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TWO PEOPLE</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for ya- (Yusuf) and ta- (Huda).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MARKS · HEARD TWICE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Text 3 · Interview about routine and time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interviewer ask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favourite subject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wake-up time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 address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Samir exercise?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month</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morning</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 times a week</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different?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has a late science club</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is closed</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visits family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the club?</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goes straight to sleep</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eats, then completes homework</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football</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he wake at the weekend?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8:30</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 exactly</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midday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contrast does he make?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weekends are busier than school days</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routine never changes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school days are organised; weekends are more flexible</a:t>
            </a:r>
            <a:endParaRPr lang="en-US" sz="1200" dirty="0"/>
          </a:p>
        </p:txBody>
      </p:sp>
      <p:sp>
        <p:nvSpPr>
          <p:cNvPr id="93" name="Shape 90"/>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AN INTERVIEW</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Keep listening after “as for …”.</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3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interviewer ask first?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favourite subject</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wake-up time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home address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interview begins with </a:t>
            </a:r>
            <a:pPr algn="l" indent="0" marL="0">
              <a:buNone/>
            </a:pPr>
            <a:r>
              <a:rPr lang="ar-SA" altLang="en-US" sz="1350" dirty="0">
                <a:solidFill>
                  <a:srgbClr val="8A6D1E"/>
                </a:solidFill>
                <a:latin typeface="Amiri" pitchFamily="2" charset="-78"/>
                <a:ea typeface="Amiri" pitchFamily="2" charset="-78"/>
                <a:cs typeface="Amiri" pitchFamily="2" charset="-78"/>
              </a:rPr>
              <a:t>مَتَى تَسْتَيْقِظُ؟</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Samir exercise?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twice a month</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morning</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 times a week</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أَرْبَعَ مَرَّاتٍ فِي الأُسْبُوعِ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different?</a:t>
            </a:r>
            <a:endParaRPr lang="en-US" sz="1250" dirty="0"/>
          </a:p>
        </p:txBody>
      </p:sp>
      <p:sp>
        <p:nvSpPr>
          <p:cNvPr id="49" name="Shape 46"/>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368796"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has a late science club</a:t>
            </a:r>
            <a:endParaRPr lang="en-US" sz="1250" dirty="0"/>
          </a:p>
        </p:txBody>
      </p:sp>
      <p:sp>
        <p:nvSpPr>
          <p:cNvPr id="53" name="Shape 50"/>
          <p:cNvSpPr/>
          <p:nvPr/>
        </p:nvSpPr>
        <p:spPr>
          <a:xfrm>
            <a:off x="6368796"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 is closed</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visits family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science club finishes at 5:15.</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the club?</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goes straight to sleep</a:t>
            </a:r>
            <a:endParaRPr lang="en-US" sz="1250" dirty="0"/>
          </a:p>
        </p:txBody>
      </p:sp>
      <p:sp>
        <p:nvSpPr>
          <p:cNvPr id="67" name="Shape 64"/>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9233154" y="286207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eats, then completes homework</a:t>
            </a:r>
            <a:endParaRPr lang="en-US" sz="11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plays football</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eats first and then completes his homework.</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he wake at the weekend?</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8:30</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6:00 exactly</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midday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حَوَالَيْ الثَّامِنَةِ وَالنِّصْفِ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contrast does he make?</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weekends are busier than school days</a:t>
            </a:r>
            <a:endParaRPr lang="en-US" sz="1150" dirty="0"/>
          </a:p>
        </p:txBody>
      </p:sp>
      <p:sp>
        <p:nvSpPr>
          <p:cNvPr id="97" name="Shape 94"/>
          <p:cNvSpPr/>
          <p:nvPr/>
        </p:nvSpPr>
        <p:spPr>
          <a:xfrm>
            <a:off x="350443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routine never changes</a:t>
            </a:r>
            <a:endParaRPr lang="en-US" sz="1250" dirty="0"/>
          </a:p>
        </p:txBody>
      </p:sp>
      <p:sp>
        <p:nvSpPr>
          <p:cNvPr id="100" name="Shape 97"/>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350443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school days are organised; weekends are more flexible</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contrasts an organised school routine with a more flexible weekend.</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AN INTERVIEW</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Keep listening after “as for …”.</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2F6FB0"/>
                </a:solidFill>
                <a:latin typeface="Calibri" pitchFamily="34" charset="0"/>
                <a:cs typeface="Amiri" pitchFamily="2" charset="-78"/>
              </a:rPr>
              <a:t>READING · 10 MARKS · READ ONCE FOR THE PATTERN, THEN FOR EXACT DETAILS (WEBSITE)</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Reading · A school-day and weekend routine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250" dirty="0">
                <a:solidFill>
                  <a:srgbClr val="1F2A37"/>
                </a:solidFill>
                <a:latin typeface="Amiri" pitchFamily="2" charset="-78"/>
                <a:ea typeface="Amiri" pitchFamily="2" charset="-78"/>
                <a:cs typeface="Amiri" pitchFamily="2" charset="-78"/>
              </a:rPr>
              <a:t>أَكْتُبُ عَنْ رُوتِينِي فِي أَيَّامِ الدِّرَاسَةِ وَفِي نِهَايَةِ الأُسْبُوعِ. مِنَ الاِثْنَيْنِ إِلَى الجُمُعَةِ أَسْتَيْقِظُ فِي السَّادِسَةِ وَخَمْسٍ وَعِشْرِينَ دَقِيقَةً. أَرْتَدِي مَلَابِسِي وَأُحَضِّرُ حَقِيبَتِي قَبْلَ أَنْ أَتَنَاوَلَ الإِفْطَارَ. أَخْرُجُ فِي السَّابِعَةِ وَالنِّصْفِ، وَتَسْتَغْرِقُ رِحْلَتِي إِلَى المَدْرَسَةِ حَوَالَيْ عِشْرِينَ دَقِيقَةً. بَعْدَ المَدْرَسَةِ أَذْهَبُ إِلَى السِّبَاحَةِ مَرَّتَيْنِ فِي الأُسْبُوعِ، يَوْمَ الاِثْنَيْنِ وَالأَرْبِعَاءِ. فِي الأَيَّامِ الأُخْرَى أُكْمِلُ وَاجِبِي فِي المَكْتَبَةِ، بَيْنَمَا يَلْعَبُ أَخِي أَلْعَابَ الحَاسُوبِ فِي البَيْتِ. يَوْمُ الخَمِيسِ مُخْتَلِفٌ لِأَنَّ لَدَيَّ دَرْسًا عَبْرَ الإِنْتَرْنِتِ فِي اللُّغَةِ العَرَبِيَّةِ، وَهُوَ يَبْدَأُ فِي السَّادِسَةِ وَيَنْتَهِي فِي السَّابِعَةِ إِلَّا الرُّبْعَ. أَمَّا يَوْمَ السَّبْتِ فَأَسْتَيْقِظُ مُتَأَخِّرًا، وَأُسَاعِدُ أُسْرَتِي فِي البَيْتِ قَبْلَ أَنْ أَلْتَقِيَ بِصَدِيقَاتِي. فِي رَأْيِي، التَّنْظِيمُ فِي أَيَّامِ الدِّرَاسَةِ يُسَاعِدُنِي عَلَى إِنْجَازِ عَمَلِي، وَلٰكِنَّ الوَقْتَ الأَكْثَرَ مَرُونَةً فِي نِهَايَةِ الأُسْبُوعِ مُهِمٌّ أَيْضًا، لِأَنَّهُ يَسْمَحُ لِي بِالرَّاحَةِ وَقَضَاءِ الوَقْتِ مَعَ الآخَرِينَ.</a:t>
            </a:r>
            <a:endParaRPr lang="ar-SA" sz="225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 (١–٥)</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 describing?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holiday journey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town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school-day and weekend routines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she wake on school days?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6:25</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6:45</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before breakfast?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does homework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gets dressed and prepares her bag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meets friends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journey to school take?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twenty minutes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 minutes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after-school activity happens twice weekly?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library study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visit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Go back to the text for every answer.</a:t>
            </a:r>
            <a:endParaRPr lang="en-US" sz="1250" dirty="0"/>
          </a:p>
          <a:p>
            <a:pPr algn="l" indent="0" marL="0">
              <a:buNone/>
            </a:pPr>
            <a:r>
              <a:rPr lang="en-US" sz="1250" dirty="0">
                <a:solidFill>
                  <a:srgbClr val="1F2A37"/>
                </a:solidFill>
                <a:latin typeface="Calibri" pitchFamily="34" charset="0"/>
                <a:cs typeface="Amiri" pitchFamily="2" charset="-78"/>
              </a:rPr>
              <a:t>Chat: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1–5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 describing?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holiday journey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town</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school-day and weekend routines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compares two routine patterns.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she wake on school days?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6:25</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6:45</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7:15</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السَّادِسَةِ وَخَمْسٍ وَعِشْرِينَ دَقِيقَةً = 6:25.</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before breakfast?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does homework</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gets dressed and prepares her bag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meets friends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actions happen before breakfast.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journey to school take?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twenty minutes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hour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five minutes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تَسْتَغْرِقُ الرِّحْلَةُ حَوَالَيْ عِشْرِينَ دَقِيقَةً.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after-school activity happens twice weekly?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library study</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family visit</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swimming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swims on Monday and Wednesday.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Go back to the text for every answer.</a:t>
            </a:r>
            <a:endParaRPr lang="en-US" sz="1250" dirty="0"/>
          </a:p>
          <a:p>
            <a:pPr algn="l" indent="0" marL="0">
              <a:buNone/>
            </a:pPr>
            <a:r>
              <a:rPr lang="en-US" sz="1250" dirty="0">
                <a:solidFill>
                  <a:srgbClr val="1F2A37"/>
                </a:solidFill>
                <a:latin typeface="Calibri" pitchFamily="34" charset="0"/>
                <a:cs typeface="Amiri" pitchFamily="2" charset="-78"/>
              </a:rPr>
              <a:t>Chat: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 (٦–١٠)</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her brother do while she studies?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computer games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cooks dinner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Thursday evening different?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finishes school early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attends an online Arabic lesson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works in a shop</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first on Saturday?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helps at home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meets friends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goes to school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هٰذَا</a:t>
            </a:r>
            <a:pPr algn="l" indent="0" marL="0">
              <a:buNone/>
            </a:pPr>
            <a:r>
              <a:rPr lang="en-US" sz="1250" b="1" dirty="0">
                <a:solidFill>
                  <a:srgbClr val="1B3B6F"/>
                </a:solidFill>
                <a:latin typeface="Calibri" pitchFamily="34" charset="0"/>
                <a:cs typeface="Amiri" pitchFamily="2" charset="-78"/>
              </a:rPr>
              <a:t> refer to in the final paragraph?</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waking early for school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journey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having more flexible time at the weekend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best summarises her opinion?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dislikes every part of her routine.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wants the same timetable every day.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values organisation on school days and flexibility at weekends.</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Q9: what does “this” refer to?</a:t>
            </a:r>
            <a:endParaRPr lang="en-US" sz="1250" dirty="0"/>
          </a:p>
          <a:p>
            <a:pPr algn="l" indent="0" marL="0">
              <a:buNone/>
            </a:pPr>
            <a:r>
              <a:rPr lang="en-US" sz="1250" dirty="0">
                <a:solidFill>
                  <a:srgbClr val="1F2A37"/>
                </a:solidFill>
                <a:latin typeface="Calibri" pitchFamily="34" charset="0"/>
                <a:cs typeface="Amiri" pitchFamily="2" charset="-78"/>
              </a:rPr>
              <a:t>Chat: 6_ 7_ 8_ 9_ 10_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6–10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her brother do while she studies?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plays computer games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cooks dinner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contrast is introduced by </a:t>
            </a:r>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Thursday evening different?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finishes school early</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attends an online Arabic lesson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works in a shop</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online lesson changes the usual evening sequence.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first on Saturday?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helps at home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meets friends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goes to school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helps at home before going out.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هٰذَا</a:t>
            </a:r>
            <a:pPr algn="l" indent="0" marL="0">
              <a:buNone/>
            </a:pPr>
            <a:r>
              <a:rPr lang="en-US" sz="1250" b="1" dirty="0">
                <a:solidFill>
                  <a:srgbClr val="1B3B6F"/>
                </a:solidFill>
                <a:latin typeface="Calibri" pitchFamily="34" charset="0"/>
                <a:cs typeface="Amiri" pitchFamily="2" charset="-78"/>
              </a:rPr>
              <a:t> refer to in the final paragraph?</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waking early for school</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 journey</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having more flexible time at the weekend</a:t>
            </a:r>
            <a:endParaRPr lang="en-US"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demonstrative refers to the more flexible weekend routine.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best summarises her opinion?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dislikes every part of her routine.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She wants the same timetable every day.</a:t>
            </a:r>
            <a:endParaRPr lang="en-US" sz="11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values organisation on school days and flexibility at weekends.</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conclusion is balanced and compares the benefits of both routines.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Q9: what does “this” refer to?</a:t>
            </a:r>
            <a:endParaRPr lang="en-US" sz="1250" dirty="0"/>
          </a:p>
          <a:p>
            <a:pPr algn="l" indent="0" marL="0">
              <a:buNone/>
            </a:pPr>
            <a:r>
              <a:rPr lang="en-US" sz="1250" dirty="0">
                <a:solidFill>
                  <a:srgbClr val="1F2A37"/>
                </a:solidFill>
                <a:latin typeface="Calibri" pitchFamily="34" charset="0"/>
                <a:cs typeface="Amiri" pitchFamily="2" charset="-78"/>
              </a:rPr>
              <a:t>Chat: 6_ 7_ 8_ 9_ 10_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WRITING · 20 MARKS · FORM (5) + ARTICLE OR EMAIL (15)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15784"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1 · routine form (5)</a:t>
            </a:r>
            <a:endParaRPr lang="en-US" sz="1100" dirty="0"/>
          </a:p>
        </p:txBody>
      </p:sp>
      <p:sp>
        <p:nvSpPr>
          <p:cNvPr id="17" name="Text 14"/>
          <p:cNvSpPr txBox="1"/>
          <p:nvPr/>
        </p:nvSpPr>
        <p:spPr>
          <a:xfrm>
            <a:off x="530352" y="1810512"/>
            <a:ext cx="6739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2 · article or email, 100–120 words (15)</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7434072" y="2267712"/>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وَقْتُ الاِسْتِيقَاظِ: ______</a:t>
            </a:r>
            <a:endParaRPr lang="ar-SA" sz="2200" dirty="0"/>
          </a:p>
        </p:txBody>
      </p:sp>
      <p:sp>
        <p:nvSpPr>
          <p:cNvPr id="20" name="Text 17"/>
          <p:cNvSpPr txBox="1"/>
          <p:nvPr/>
        </p:nvSpPr>
        <p:spPr>
          <a:xfrm>
            <a:off x="566928" y="2267712"/>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a young Arabic-speaking reader, include: 1 a school-day routine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434072" y="300471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مَاذَا تَفْعَلُ قَبْلَ الإِفْطَارِ؟ ______</a:t>
            </a:r>
            <a:endParaRPr lang="ar-SA" sz="2200" dirty="0"/>
          </a:p>
        </p:txBody>
      </p:sp>
      <p:sp>
        <p:nvSpPr>
          <p:cNvPr id="25" name="Text 22"/>
          <p:cNvSpPr txBox="1"/>
          <p:nvPr/>
        </p:nvSpPr>
        <p:spPr>
          <a:xfrm>
            <a:off x="566928" y="3004718"/>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exact times and frequency · 3 before and after school</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7434072" y="3741725"/>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كَمْ مَرَّةً تَتَمَرَّنُ؟ ______</a:t>
            </a:r>
            <a:endParaRPr lang="ar-SA" sz="2200" dirty="0"/>
          </a:p>
        </p:txBody>
      </p:sp>
      <p:sp>
        <p:nvSpPr>
          <p:cNvPr id="30" name="Text 27"/>
          <p:cNvSpPr txBox="1"/>
          <p:nvPr/>
        </p:nvSpPr>
        <p:spPr>
          <a:xfrm>
            <a:off x="566928" y="3741725"/>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another person’s routine · 5 a weekend comparison</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7434072" y="4478731"/>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مَاذَا تَفْعَلُ بَعْدَ المَدْرَسَةِ؟ ______</a:t>
            </a:r>
            <a:endParaRPr lang="ar-SA" sz="2200" dirty="0"/>
          </a:p>
        </p:txBody>
      </p:sp>
      <p:sp>
        <p:nvSpPr>
          <p:cNvPr id="35" name="Text 32"/>
          <p:cNvSpPr txBox="1"/>
          <p:nvPr/>
        </p:nvSpPr>
        <p:spPr>
          <a:xfrm>
            <a:off x="566928" y="4478731"/>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 a reasoned opinion</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7434072" y="521573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وَقْتُ النَّوْمِ: ______</a:t>
            </a:r>
            <a:endParaRPr lang="ar-SA" sz="2200" dirty="0"/>
          </a:p>
        </p:txBody>
      </p:sp>
      <p:sp>
        <p:nvSpPr>
          <p:cNvPr id="40" name="Text 37"/>
          <p:cNvSpPr txBox="1"/>
          <p:nvPr/>
        </p:nvSpPr>
        <p:spPr>
          <a:xfrm>
            <a:off x="566928" y="5215738"/>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Marked for Task (5) · Range (5) · Accuracy (5)</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Check before you finish: I / he / she prefixes · she → -hā · verb after “an” · past / to the hour.</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8A6D1E"/>
                </a:solidFill>
                <a:latin typeface="Calibri" pitchFamily="34" charset="0"/>
                <a:cs typeface="Amiri" pitchFamily="2" charset="-78"/>
              </a:rPr>
              <a:t>WRITING · A STRONG ANSWER (TEACHER MODEL, AS IN D1-L11, WEBSITE) · SHOW AFTER WRITING</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article includes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إِجَابَةٍ قَوِيَّةٍ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أَسْتَيْقِظُ فِي أَيَّامِ الدِّرَاسَةِ فِي السَّادِسَةِ وَالنِّصْفِ، وَأَتَنَاوَلُ الإِفْطَارَ قَبْلَ أَنْ أَخْرُجَ فِي السَّابِعَةِ وَالرُّبْعِ.</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 school-day routine · exact times · before + verb</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أَسْتَقِلُّ الحَافِلَةَ لِأَنَّ المَدْرَسَةَ بَعِيدَةٌ. بَعْدَ أَنْ أَعُودَ، أَسْتَرِيحُ نِصْفَ سَاعَةٍ، ثُمَّ أُكْمِلُ وَاجِبِي.</a:t>
            </a:r>
            <a:endParaRPr lang="ar-SA" sz="17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 after school · reason · after + verb</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أَتَمَرَّنُ مَرَّتَيْنِ فِي الأُسْبُوعِ، بَيْنَمَا تَتَمَرَّنُ أُخْتِي كُلَّ يَوْمٍ تَقْرِيبًا.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 frequency · 4 another person (ta-)</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فِي نِهَايَةِ الأُسْبُوعِ فَأَنَامُ وَقْتًا أَطْوَلَ، وَغَالِبًا مَا أَزُورُ أَقَارِبِي.</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 weekend comparison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رَأْيِي، رُوتِينِي مُتَوَازِنٌ، وَلٰكِنَّنِي أُرِيدُ أَنْ أَنَامَ مُبَكِّرًا.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 reasoned opinion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SPEAKING · 10 MARKS · ROLE-PLAY (4) + TOPIC CONVERSATION (6)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312664" y="1810512"/>
            <a:ext cx="6345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Topic conversation · possible questions (6)</a:t>
            </a:r>
            <a:endParaRPr lang="en-US" sz="1100" dirty="0"/>
          </a:p>
        </p:txBody>
      </p:sp>
      <p:sp>
        <p:nvSpPr>
          <p:cNvPr id="17" name="Text 14"/>
          <p:cNvSpPr txBox="1"/>
          <p:nvPr/>
        </p:nvSpPr>
        <p:spPr>
          <a:xfrm>
            <a:off x="530352" y="1810512"/>
            <a:ext cx="4636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Role-play (4) · ask and answer about …</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5330952" y="2267712"/>
            <a:ext cx="63093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رُوتِينَكَ فِي يَوْمٍ دِرَاسِيٍّ، وَاذْكُرْ أَوْقَاتًا دَقِيقَةً.</a:t>
            </a:r>
            <a:endParaRPr lang="ar-SA" sz="2000" dirty="0"/>
          </a:p>
        </p:txBody>
      </p:sp>
      <p:sp>
        <p:nvSpPr>
          <p:cNvPr id="20" name="Text 17"/>
          <p:cNvSpPr txBox="1"/>
          <p:nvPr/>
        </p:nvSpPr>
        <p:spPr>
          <a:xfrm>
            <a:off x="566928" y="2267712"/>
            <a:ext cx="4599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wake-up time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5330952" y="3054096"/>
            <a:ext cx="63093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يَفْعَلُ شَخْصٌ آخَرُ فِي أُسْرَتِكَ بَعْدَ المَدْرَسَةِ أَوِ العَمَلِ؟</a:t>
            </a:r>
            <a:endParaRPr lang="ar-SA" sz="2000" dirty="0"/>
          </a:p>
        </p:txBody>
      </p:sp>
      <p:sp>
        <p:nvSpPr>
          <p:cNvPr id="25" name="Text 22"/>
          <p:cNvSpPr txBox="1"/>
          <p:nvPr/>
        </p:nvSpPr>
        <p:spPr>
          <a:xfrm>
            <a:off x="566928" y="3054096"/>
            <a:ext cx="4599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an after-school activity</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5330952" y="3840480"/>
            <a:ext cx="63093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مَرَّةً تَقُومُ بِنَشَاطٍ مُعَيَّنٍ فِي الأُسْبُوعِ، وَلِمَاذَا؟</a:t>
            </a:r>
            <a:endParaRPr lang="ar-SA" sz="2000" dirty="0"/>
          </a:p>
        </p:txBody>
      </p:sp>
      <p:sp>
        <p:nvSpPr>
          <p:cNvPr id="30" name="Text 27"/>
          <p:cNvSpPr txBox="1"/>
          <p:nvPr/>
        </p:nvSpPr>
        <p:spPr>
          <a:xfrm>
            <a:off x="566928" y="3840480"/>
            <a:ext cx="4599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how often</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5330952" y="4626864"/>
            <a:ext cx="63093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قَارِنْ بَيْنَ رُوتِينِكَ فِي أَيَّامِ الدِّرَاسَةِ وَرُوتِينِكَ فِي نِهَايَةِ الأُسْبُوعِ.</a:t>
            </a:r>
            <a:endParaRPr lang="ar-SA" sz="2000" dirty="0"/>
          </a:p>
        </p:txBody>
      </p:sp>
      <p:sp>
        <p:nvSpPr>
          <p:cNvPr id="35" name="Text 32"/>
          <p:cNvSpPr txBox="1"/>
          <p:nvPr/>
        </p:nvSpPr>
        <p:spPr>
          <a:xfrm>
            <a:off x="566928" y="4626864"/>
            <a:ext cx="4599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 changed timetable detail</a:t>
            </a:r>
            <a:endParaRPr lang="en-US" sz="1100" dirty="0"/>
          </a:p>
        </p:txBody>
      </p:sp>
      <p:sp>
        <p:nvSpPr>
          <p:cNvPr id="36" name="Shape 3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Text 3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Prepare cue words only (website): direct answer + exact time · frequency + reason or example · another person + weekend contrast.</a:t>
            </a:r>
            <a:endParaRPr lang="en-US" sz="11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8A6D1E"/>
                </a:solidFill>
                <a:latin typeface="Calibri" pitchFamily="34" charset="0"/>
                <a:cs typeface="Amiri" pitchFamily="2" charset="-78"/>
              </a:rPr>
              <a:t>RESULTS · RECORD YOUR PROFILE AND SET ONE TOPIC B TARGET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Topic A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سَجِّلْ دَرَجَتَكَ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46811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Guide (total /60) · teacher guide, not an exam grade</a:t>
            </a:r>
            <a:endParaRPr lang="en-US" sz="1100" dirty="0"/>
          </a:p>
        </p:txBody>
      </p:sp>
      <p:sp>
        <p:nvSpPr>
          <p:cNvPr id="17" name="Text 14"/>
          <p:cNvSpPr txBox="1"/>
          <p:nvPr/>
        </p:nvSpPr>
        <p:spPr>
          <a:xfrm>
            <a:off x="36393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50468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secure Topic A foundation</a:t>
            </a:r>
            <a:endParaRPr lang="en-US" sz="1100" dirty="0"/>
          </a:p>
        </p:txBody>
      </p:sp>
      <p:sp>
        <p:nvSpPr>
          <p:cNvPr id="21" name="Text 18"/>
          <p:cNvSpPr txBox="1"/>
          <p:nvPr/>
        </p:nvSpPr>
        <p:spPr>
          <a:xfrm>
            <a:off x="367588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Listening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50468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ready for Topic B with one practice target</a:t>
            </a:r>
            <a:endParaRPr lang="en-US" sz="1100" dirty="0"/>
          </a:p>
        </p:txBody>
      </p:sp>
      <p:sp>
        <p:nvSpPr>
          <p:cNvPr id="27" name="Text 24"/>
          <p:cNvSpPr txBox="1"/>
          <p:nvPr/>
        </p:nvSpPr>
        <p:spPr>
          <a:xfrm>
            <a:off x="367588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Reading</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550468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targeted Topic A retrieval early in Topic B</a:t>
            </a:r>
            <a:endParaRPr lang="en-US" sz="1100" dirty="0"/>
          </a:p>
        </p:txBody>
      </p:sp>
      <p:sp>
        <p:nvSpPr>
          <p:cNvPr id="33" name="Text 30"/>
          <p:cNvSpPr txBox="1"/>
          <p:nvPr/>
        </p:nvSpPr>
        <p:spPr>
          <a:xfrm>
            <a:off x="367588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Writing</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550468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catch-up on the lowest skill before Topic B</a:t>
            </a:r>
            <a:endParaRPr lang="en-US" sz="1100" dirty="0"/>
          </a:p>
        </p:txBody>
      </p:sp>
      <p:sp>
        <p:nvSpPr>
          <p:cNvPr id="39" name="Text 36"/>
          <p:cNvSpPr txBox="1"/>
          <p:nvPr/>
        </p:nvSpPr>
        <p:spPr>
          <a:xfrm>
            <a:off x="367588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Speaking</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in your book (website reflection): My strongest Topic A evidence was … · My precise next action is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my school day with exact times.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I / he / she verbs correctly.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before/after + a verb with the correct ending.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ask a boy or a girl about their routine.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compare school days and the weekend with a reason.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AT-A-L12 · Topic A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TB-L01 · Identity and Personal Profiles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ثَقَافَةٌ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culture</a:t>
            </a:r>
            <a:pPr indent="0" marL="0">
              <a:buNone/>
            </a:pPr>
            <a:r>
              <a:rPr lang="ar-SA" sz="1000" i="1" dirty="0">
                <a:solidFill>
                  <a:srgbClr val="5A6472"/>
                </a:solidFill>
                <a:latin typeface="Calibri" pitchFamily="34" charset="0"/>
                <a:ea typeface="Amiri" pitchFamily="2" charset="-78"/>
                <a:cs typeface="Amiri" pitchFamily="2" charset="-78"/>
              </a:rPr>
              <a:t>  pl. ثَقَافَاتٌ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عَادَاتٌ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customs, habits</a:t>
            </a:r>
            <a:pPr indent="0" marL="0">
              <a:buNone/>
            </a:pPr>
            <a:r>
              <a:rPr lang="ar-SA" sz="1000" i="1" dirty="0">
                <a:solidFill>
                  <a:srgbClr val="5A6472"/>
                </a:solidFill>
                <a:latin typeface="Calibri" pitchFamily="34" charset="0"/>
                <a:ea typeface="Amiri" pitchFamily="2" charset="-78"/>
                <a:cs typeface="Amiri" pitchFamily="2" charset="-78"/>
              </a:rPr>
              <a:t>  sg. عَادَةٌ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اِحْتِرَامٌ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respect</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identity</a:t>
            </a:r>
            <a:pPr indent="0" marL="0">
              <a:buNone/>
            </a:pPr>
            <a:r>
              <a:rPr lang="ar-SA" sz="1000" i="1" dirty="0">
                <a:solidFill>
                  <a:srgbClr val="5A6472"/>
                </a:solidFill>
                <a:latin typeface="Calibri" pitchFamily="34" charset="0"/>
                <a:ea typeface="Amiri" pitchFamily="2" charset="-78"/>
                <a:cs typeface="Amiri" pitchFamily="2" charset="-78"/>
              </a:rPr>
              <a:t>  pl. هُوِيَّاتٌ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فَخُورٌ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proud</a:t>
            </a:r>
            <a:pPr indent="0" marL="0">
              <a:buNone/>
            </a:pPr>
            <a:r>
              <a:rPr lang="ar-SA" sz="1000" i="1" dirty="0">
                <a:solidFill>
                  <a:srgbClr val="5A6472"/>
                </a:solidFill>
                <a:latin typeface="Calibri" pitchFamily="34" charset="0"/>
                <a:ea typeface="Amiri" pitchFamily="2" charset="-78"/>
                <a:cs typeface="Amiri" pitchFamily="2" charset="-78"/>
              </a:rPr>
              <a:t>  f. فَخُورَةٌ · pl. فَخُورُونَ</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makes up your identity? Name two things (languages, family, faith, places …).</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هُوِيَّتُكَ؟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readiness check on the website; learn the five Topic B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assessment section with your lowest score; then learn the Topic B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Topic A reflection (strongest evidence + one precise next action) and 3 sentences about your identity.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TB-L01 · Identity and Personal Profiles</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الهُوِيَّةُ وَالمَلَفَّاتُ الشَّخْصِيَّةُ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Topic A complete — well done! Learn 5 identity words for Topic B.</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AT-A-L12 · Topic A Review and Assessment</dc:title>
  <dc:subject>PptxGenJS Presentation</dc:subject>
  <dc:creator>Al Madina Online School · Arabic Department</dc:creator>
  <cp:lastModifiedBy>Al Madina Online School · Arabic Department</cp:lastModifiedBy>
  <cp:revision>1</cp:revision>
  <dcterms:created xsi:type="dcterms:W3CDTF">2026-10-11T06:43:47Z</dcterms:created>
  <dcterms:modified xsi:type="dcterms:W3CDTF">2026-10-11T06:43:47Z</dcterms:modified>
</cp:coreProperties>
</file>