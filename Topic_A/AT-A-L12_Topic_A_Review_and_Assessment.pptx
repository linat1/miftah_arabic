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AT-A-L12 — Topic A Review and Assessment. Website: Advanced Topics › Topic A (Everyday Activities) › Lesson 12.
The website builds this lesson on the D1-L12 lesson engine, with the Topic focus “Retrieve the complete Topic A language, practise all four skills and identify your next revision target.” (grammar: Cumulative Topic A grammar and four-skills review; skills: All four skills) and the application challenge “Topic A four-skills relay”.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Topic B target.
FLEX slides are optional. Use them if the class is moving quickly; otherwise the same activities are on the website for homework.
Content source: Miftah Arabic website, Pathways › Development › Topic A Daily Routine and Time › AT-A-L12. The website AT-A-L12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Topic A grammar vault (D1-L11, website)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Topic B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READINESS CHECK (5 min + 2 min answers, not marked) — the five Topic A structures prepared at home at the end of AT-A-L11, one from each subtopic (AT-A-L01–L02 routine and time · AT-A-L05 café · AT-A-L07 health · AT-A-L08 advice · AT-A-L09 transport). Students who score 3/5 or less use the FLEX relay station next for the subtopic they missed.
The website engine’s own readiness check (routine grammar) is in the FLEX grammar laboratory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Topic A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“Complete one short listening, reading, speaking and writing station. At every station, retrieve language from a different Topic A subtopic.”
Station prompts (teacher reads or pastes):
LISTEN — أُرِيدُ حَسَاءً وَعَصِيرَ بُرْتُقَالٍ صَغِيرًا، مِنْ فَضْلِكِ. (soup + a small orange juice; to a woman)
READ — عِنْدَ أُخْتِي سُعَالٌ وَحُمَّى مُنْذُ ثَلَاثَةِ أَيَّامٍ. (cough and fever, three days)
SPEAK — كَيْفَ تَذْهَبُ إِلَى المَدْرَسَةِ؟ وَلِمَاذَا؟
WRITE — a routine sentence with a time and a frequency word (أَحْيَانًا / دَائِمًا).
FLEX: the website sets this relay as the Topic A application challenge; in an assessment lesson use it only if the assessment is split over two sessions, or as the next lesson’s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A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(website)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(website)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Topic A reflection and Topic B readiness”): “Use a result, sentence or speaking example — not a general feeling.”
The bands are a teacher guide in line with the F1 / F2 assessments (the website totals the four scores but does not print bands).
A precise action = rule + task + frequency (D1-L11, website), e.g. “Verb after an: five sentences every two days; check in D2-L03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(TB-L01 · Identity and Personal Profiles) will spend class time USING this language, so students prepare it tonight — short, simple, easy to access (school guidance: “Simple, Short, Interesting, Relevant, Easy to access”). Topic B begins with identity and personal profiles (TB-L01, lesson engine F2-L10 — the five words come from its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Topic A Review and Assessment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مُرَاجَعَةُ الْمَوْضُوعِ أ وَالتَّقْيِيمُ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Retrieve the complete Topic A language, practise all four skills and identify your next revision target.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my strength, my Topic B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Topic B: identity.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 seven o’clock.”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يَسْتَيْقِظُ فِي السَّاعَةِ السَّابِعَةِ.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فِي السَّاعَةِ السَّابِعَةِ.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أَسْتَيْقِظُ السَّابِعَةَ سَاعَةً.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Order politely from a WAITRESS.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شَايًا،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شَايًا،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أَعْطِنِي شَايًا.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had pain in my back for two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أَلَمٌ فِي ظَهْرِي فِي يَوْمَيْنِ.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عِنْدَهُ أَلَمٌ فِي ظَهْرِي مُنْذُ يَوْمَيْنِ.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أَلَمٌ فِي ظَهْرِي مُنْذُ يَوْمَيْنِ.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advice: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تَسْتَرِيحُ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اِسْتَرِحْ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تَسْتَرِيحَ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goes to school by bike.”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تَذْهَبُ إِلَى المَدْرَسَةِ عَلَى الدَّرَّاجَةِ.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تَذْهَبُ إِلَى المَدْرَسَةِ بِمَشْيًا.</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يَذْهَبُ إِلَى المَدْرَسَةِ عَلَى الدَّرَّاجَةِ.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 seven o’clock.”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يَسْتَيْقِظُ فِي السَّاعَةِ السَّابِعَةِ.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أَسْتَيْقِظُ فِي السَّاعَةِ السَّابِعَةِ.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أَسْتَيْقِظُ السَّابِعَةَ سَاعَةً.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AT-A-L01–L02: I +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Order politely from a WAITRESS.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شَايًا،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شَايًا،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أَعْطِنِي شَايًا.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AT-A-L05: -ki to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had pain in my back for two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أَلَمٌ فِي ظَهْرِي فِي يَوْمَيْنِ.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عِنْدَهُ أَلَمٌ فِي ظَهْرِي مُنْذُ يَوْمَيْنِ.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 أَلَمٌ فِي ظَهْرِي مُنْذُ يَوْمَيْنِ.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AT-A-L07: ‘indī + mundhu.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advice: </a:t>
            </a:r>
            <a:pPr algn="l" indent="0" marL="0">
              <a:buNone/>
            </a:pPr>
            <a:r>
              <a:rPr lang="ar-SA" altLang="en-US" sz="1650" b="1" dirty="0">
                <a:solidFill>
                  <a:srgbClr val="1B3B6F"/>
                </a:solidFill>
                <a:latin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تَسْتَرِيحُ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اِسْتَرِحْ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تَسْتَرِيحَ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AT-A-L08: -a after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goes to school by bike.”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تَذْهَبُ إِلَى المَدْرَسَةِ عَلَى الدَّرَّاجَةِ.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تَذْهَبُ إِلَى المَدْرَسَةِ بِمَشْيًا.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يَذْهَبُ إِلَى المَدْرَسَةِ عَلَى الدَّرَّاجَةِ.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AT-A-L09: ‘alā + she = ta-.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It samples all of Topic A: routine and time · café · health · advice ·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present verb is subjunctive: </a:t>
            </a:r>
            <a:pPr algn="l" indent="0" marL="0">
              <a:buNone/>
            </a:pPr>
            <a:r>
              <a:rPr lang="ar-SA" altLang="en-US" sz="1350" dirty="0">
                <a:solidFill>
                  <a:srgbClr val="8A6D1E"/>
                </a:solidFill>
                <a:latin typeface="Amiri" pitchFamily="2" charset="-78"/>
                <a:cs typeface="Amiri" pitchFamily="2" charset="-78"/>
              </a:rPr>
              <a:t>أُكْمِلَ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singular uses </a:t>
            </a:r>
            <a:pPr algn="l" indent="0" marL="0">
              <a:buNone/>
            </a:pPr>
            <a:r>
              <a:rPr lang="ar-SA" altLang="en-US" sz="1350" dirty="0">
                <a:solidFill>
                  <a:srgbClr val="8A6D1E"/>
                </a:solidFill>
                <a:latin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 feminine singular uses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introduces the topic and </a:t>
            </a:r>
            <a:pPr algn="l" indent="0" marL="0">
              <a:buNone/>
            </a:pPr>
            <a:r>
              <a:rPr lang="ar-SA" altLang="en-US" sz="1350" dirty="0">
                <a:solidFill>
                  <a:srgbClr val="8A6D1E"/>
                </a:solidFill>
                <a:latin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female listener takes </a:t>
            </a:r>
            <a:pPr algn="l" indent="0" marL="0">
              <a:buNone/>
            </a:pPr>
            <a:r>
              <a:rPr lang="ar-SA" altLang="en-US" sz="1350" dirty="0">
                <a:solidFill>
                  <a:srgbClr val="8A6D1E"/>
                </a:solidFill>
                <a:latin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REVISION · TOPIC A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A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Topic A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Complete one short listening, reading, speaking and writing station. At every station, retrieve language from a different Topic A subtopic.</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stations, 1 minute each (FLEX: use before the assessment or as a revision lesson).</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LISTEN: teacher reads a café line — students type what was ordered.</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a health sentence on screen — students give symptom + duration. SPEAK: 20s on your journey to school.</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WRITE: one routine sentence with a time and a frequency word. Then note your weakest station.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sentence per station — use the five structures you prepared.</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per station, each from a different Topic A subtopic.</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Connect the stations: a day with a café, a health problem and a journey, using time words.</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أُرِيدُ … مِنْ فَضْلِكَ</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café (AT-A-L05)</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عِنْدِي … مُنْذُ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health (AT-A-L07)</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أَذْهَبُ بِـ … / عَلَى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transport (AT-A-L09)</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دَائِمًا أَسْتَيْقِظُ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routine (AT-A-L01–L03)</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60-mark Topic A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 · </a:t>
            </a:r>
            <a:pPr algn="l" indent="0" marL="0">
              <a:buNone/>
            </a:pPr>
            <a:r>
              <a:rPr lang="ar-SA" altLang="en-US" sz="1450" dirty="0">
                <a:solidFill>
                  <a:srgbClr val="5A6472"/>
                </a:solidFill>
                <a:latin typeface="Amiri" pitchFamily="2" charset="-78"/>
                <a:cs typeface="Amiri" pitchFamily="2" charset="-78"/>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 · </a:t>
            </a:r>
            <a:pPr algn="l" indent="0" marL="0">
              <a:buNone/>
            </a:pPr>
            <a:r>
              <a:rPr lang="ar-SA" altLang="en-US" sz="1450" dirty="0">
                <a:solidFill>
                  <a:srgbClr val="5A6472"/>
                </a:solidFill>
                <a:latin typeface="Amiri" pitchFamily="2" charset="-78"/>
                <a:cs typeface="Amiri" pitchFamily="2" charset="-78"/>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 · </a:t>
            </a:r>
            <a:pPr algn="l" indent="0" marL="0">
              <a:buNone/>
            </a:pPr>
            <a:r>
              <a:rPr lang="ar-SA" altLang="en-US" sz="1450" dirty="0">
                <a:solidFill>
                  <a:srgbClr val="5A6472"/>
                </a:solidFill>
                <a:latin typeface="Amiri" pitchFamily="2" charset="-78"/>
                <a:cs typeface="Amiri" pitchFamily="2" charset="-78"/>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 · </a:t>
            </a:r>
            <a:pPr algn="l" indent="0" marL="0">
              <a:buNone/>
            </a:pPr>
            <a:r>
              <a:rPr lang="ar-SA" altLang="en-US" sz="1450" dirty="0">
                <a:solidFill>
                  <a:srgbClr val="5A6472"/>
                </a:solidFill>
                <a:latin typeface="Amiri" pitchFamily="2" charset="-78"/>
                <a:cs typeface="Amiri" pitchFamily="2" charset="-78"/>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فِي السَّادِسَةِ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Listen for ya- (Yusuf) and ta- (Huda).</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interview begins with </a:t>
            </a:r>
            <a:pPr algn="l" indent="0" marL="0">
              <a:buNone/>
            </a:pPr>
            <a:r>
              <a:rPr lang="ar-SA" altLang="en-US" sz="1350" dirty="0">
                <a:solidFill>
                  <a:srgbClr val="8A6D1E"/>
                </a:solidFill>
                <a:latin typeface="Amiri" pitchFamily="2" charset="-78"/>
                <a:cs typeface="Amiri" pitchFamily="2" charset="-78"/>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أَرْبَعَ مَرَّاتٍ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حَوَالَيْ الثَّامِنَةِ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Keep listening after “as for …”.</a:t>
            </a:r>
            <a:endParaRPr lang="en-US" sz="1250" dirty="0"/>
          </a:p>
          <a:p>
            <a:pPr algn="l" indent="0" marL="0">
              <a:buNone/>
            </a:pPr>
            <a:r>
              <a:rPr lang="en-US" sz="1250" dirty="0">
                <a:solidFill>
                  <a:srgbClr val="1F2A37"/>
                </a:solidFill>
                <a:latin typeface="Calibri" pitchFamily="34" charset="0"/>
                <a:cs typeface="Amiri" pitchFamily="2" charset="-78"/>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cs typeface="Amiri" pitchFamily="2" charset="-78"/>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cs typeface="Amiri" pitchFamily="2" charset="-78"/>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Go back to the text for every answer.</a:t>
            </a:r>
            <a:endParaRPr lang="en-US" sz="1250" dirty="0"/>
          </a:p>
          <a:p>
            <a:pPr algn="l" indent="0" marL="0">
              <a:buNone/>
            </a:pPr>
            <a:r>
              <a:rPr lang="en-US" sz="1250" dirty="0">
                <a:solidFill>
                  <a:srgbClr val="1F2A37"/>
                </a:solidFill>
                <a:latin typeface="Calibri" pitchFamily="34" charset="0"/>
                <a:cs typeface="Amiri" pitchFamily="2" charset="-78"/>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contrast is introduced by </a:t>
            </a:r>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هٰذَا</a:t>
            </a:r>
            <a:pPr algn="l" indent="0" marL="0">
              <a:buNone/>
            </a:pPr>
            <a:r>
              <a:rPr lang="en-US" sz="1250" b="1" dirty="0">
                <a:solidFill>
                  <a:srgbClr val="1B3B6F"/>
                </a:solidFill>
                <a:latin typeface="Calibri" pitchFamily="34" charset="0"/>
                <a:cs typeface="Amiri" pitchFamily="2" charset="-78"/>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Q9: what does “this” refer to?</a:t>
            </a:r>
            <a:endParaRPr lang="en-US" sz="1250" dirty="0"/>
          </a:p>
          <a:p>
            <a:pPr algn="l" indent="0" marL="0">
              <a:buNone/>
            </a:pPr>
            <a:r>
              <a:rPr lang="en-US" sz="1250" dirty="0">
                <a:solidFill>
                  <a:srgbClr val="1F2A37"/>
                </a:solidFill>
                <a:latin typeface="Calibri" pitchFamily="34" charset="0"/>
                <a:cs typeface="Amiri" pitchFamily="2" charset="-78"/>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8A6D1E"/>
                </a:solidFill>
                <a:latin typeface="Calibri" pitchFamily="34" charset="0"/>
                <a:cs typeface="Amiri" pitchFamily="2" charset="-78"/>
              </a:rPr>
              <a:t>WRITING · A STRONG ANSWER (TEACHER MODEL, AS IN D1-L11, WEBSITE) · SHOW AFTER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RESULTS · RECORD YOUR PROFILE AND SET ONE TOPIC B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Topic A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secure Topic A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ready for Topic B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targeted Topic A retrieval early in Topic B</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catch-up on the lowest skill before Topic B</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in your book (website reflection): My strongest Topic A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Topic A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TB-L01 · Identity and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a:t>
            </a:r>
            <a:pPr indent="0" marL="0">
              <a:buNone/>
            </a:pPr>
            <a:r>
              <a:rPr lang="en-US" sz="1000" i="1" dirty="0">
                <a:solidFill>
                  <a:srgbClr val="5A6472"/>
                </a:solidFill>
                <a:latin typeface="Calibri" pitchFamily="34" charset="0"/>
                <a:cs typeface="Amiri" pitchFamily="2" charset="-78"/>
              </a:rPr>
              <a:t>  pl. ثَقَافَاتٌ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customs, habits</a:t>
            </a:r>
            <a:pPr indent="0" marL="0">
              <a:buNone/>
            </a:pPr>
            <a:r>
              <a:rPr lang="en-US" sz="1000" i="1" dirty="0">
                <a:solidFill>
                  <a:srgbClr val="5A6472"/>
                </a:solidFill>
                <a:latin typeface="Calibri" pitchFamily="34" charset="0"/>
                <a:cs typeface="Amiri" pitchFamily="2" charset="-78"/>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identity</a:t>
            </a:r>
            <a:pPr indent="0" marL="0">
              <a:buNone/>
            </a:pPr>
            <a:r>
              <a:rPr lang="en-US" sz="1000" i="1" dirty="0">
                <a:solidFill>
                  <a:srgbClr val="5A6472"/>
                </a:solidFill>
                <a:latin typeface="Calibri" pitchFamily="34" charset="0"/>
                <a:cs typeface="Amiri" pitchFamily="2" charset="-78"/>
              </a:rPr>
              <a:t>  pl. هُوِيَّاتٌ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proud</a:t>
            </a:r>
            <a:pPr indent="0" marL="0">
              <a:buNone/>
            </a:pPr>
            <a:r>
              <a:rPr lang="en-US" sz="1000" i="1" dirty="0">
                <a:solidFill>
                  <a:srgbClr val="5A6472"/>
                </a:solidFill>
                <a:latin typeface="Calibri" pitchFamily="34" charset="0"/>
                <a:cs typeface="Amiri" pitchFamily="2" charset="-78"/>
              </a:rPr>
              <a:t>  f. فَخُورَةٌ · pl. فَخُورُونَ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makes up your identity? Name two things (languages, family, faith, places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 هُوِيَّتُكَ؟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readiness check on the website; learn the five Topic B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assessment section with your lowest score; then learn the Topic B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Topic A reflection (strongest evidence + one precise next action) and 3 sentences about your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TB-L01 · Identity and Personal Profiles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الهُوِيَّةُ وَالمَلَفَّاتُ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A complete — well done! Learn 5 identity words for Topic 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AT-A-L12 · Topic A Review and Assessment</dc:title>
  <dc:subject>PptxGenJS Presentation</dc:subject>
  <dc:creator>Al Madina Online School · Arabic Department</dc:creator>
  <cp:lastModifiedBy>Al Madina Online School · Arabic Department</cp:lastModifiedBy>
  <cp:revision>1</cp:revision>
  <dcterms:created xsi:type="dcterms:W3CDTF">2026-10-11T06:43:47Z</dcterms:created>
  <dcterms:modified xsi:type="dcterms:W3CDTF">2026-10-11T06:43:47Z</dcterms:modified>
</cp:coreProperties>
</file>