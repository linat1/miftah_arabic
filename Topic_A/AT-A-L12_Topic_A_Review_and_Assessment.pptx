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A · AT-A-L12 — Topic A Review and Assessment. Website: Advanced Topics › Topic A (Everyday Activities) › Lesson 12.
The website builds this lesson on the D1-L12 lesson engine, with the Topic focus “Retrieve the complete Topic A language, practise all four skills and identify your next revision target.” (grammar: Cumulative Topic A grammar and four-skills review; skills: All four skills) and the application challenge “Topic A four-skills relay”. This deck follows the same engine, re-sequenced for Topic A: lesson references now point to Topic A codes (lessons outside Topic A keep their website code), and the challenge is added before the speaking task.
No year group: Topic lessons are taught to any class following the Advanced Topics route.
LESSON AT A GLANCE — planned for 56 minutes, leaving about 4 minutes for Teams delays.
0–1 Welcome · 1–2 Lesson map · 2–7 Readiness check (not marked) · 7–8 Assessment map · 8–22 Listening (20: three texts) · 22–31 Reading (10) · 31–44 Writing (20: form + article) · 44–53 Speaking (10: role-play + topic conversation, pairs / one-to-one) · 53–56 Score profile, strength and Topic B target.
FLEX slides are optional. Use them if the class is moving quickly; otherwise the same activities are on the website for homework.
Content source: Miftah Arabic website, Pathways › Development › Topic A Daily Routine and Time › AT-A-L12. The website AT-A-L12 is a 60-mark Development profile (not an external exam paper): listening 20 (Maryam’s school day 8 · Yusuf and Huda 6 · interview with Samir 6) · reading 10 (a school-day and weekend routine) · writing 20 (routine form 5 + article or email 15, marked for task, range and accuracy) · speaking 10 (role-play 4 + topic conversation 6). The readiness check (12) and grammar laboratory (12) are practice and do not count.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is one-to-one or in trusted pairs with the teacher listening (it can move to the start of the next lesson).
• The website allows the assessment over more than one session — if time is short: listening + reading in class; writing and speaking next lesson.
• Scripts: the website has recorded audio; if it is unavailable, read each text twice at natural pace. The scripts are in the notes of each listening slide — do NOT show them until the section is submitted.
• Answer slides follow each part — mark live, or hide them and mark later.
• The readiness check is the warm-up: students who score below 8/12 revise the Topic A grammar vault (D1-L11 (website)) before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Readiness check · 02 Language vault · 03 Grammar laboratory · 04 60-mark profile · 05 Listening · 06 Reading · 07 Writing · 08 Speaking · 09 Reflection and Topic B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READINESS CHECK (5 min + 2 min answers, not marked) — the five Topic A structures prepared at home at the end of AT-A-L11, one from each subtopic (AT-A-L01–L02 routine and time · AT-A-L05 café · AT-A-L07 health · AT-A-L08 advice · AT-A-L09 transport). Students who score 3/5 or less use the FLEX relay station next for the subtopic they missed.
The website engine’s own readiness check (routine grammar) is in the FLEX grammar laboratory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the Topic A system: person · time · before/after · asking a girl · as for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of the twelve website grammar-laboratory questions (person · after أَنْ · he / she · أَمَّا … فَـ · asking a girl · reference). Use it if the readiness check showed gaps; otherwise it is homework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A APPLICATION CHALLENGE (3 min — it takes the speaking-rehearsal slot; the website speaking slide after it is FLEX) — from the website Topic page: “Complete one short listening, reading, speaking and writing station. At every station, retrieve language from a different Topic A subtopic.”
Station prompts (teacher reads or pastes):
LISTEN — أُرِيدُ حَسَاءً وَعَصِيرَ بُرْتُقَالٍ صَغِيرًا، مِنْ فَضْلِكِ. (soup + a small orange juice; to a woman)
READ — عِنْدَ أُخْتِي سُعَالٌ وَحُمَّى مُنْذُ ثَلَاثَةِ أَيَّامٍ. (cough and fever, three days)
SPEAK — كَيْفَ تَذْهَبُ إِلَى المَدْرَسَةِ؟ وَلِمَاذَا؟
WRITE — a routine sentence with a time and a frequency word (أَحْيَانًا / دَائِمًا).
FLEX: the website sets this relay as the Topic A application challenge; in an assessment lesson use it only if the assessment is split over two sessions, or as the next lesson’s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Topic A profile”). The website saves marks per skill and generates guidance once all four components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Students read the questions (30 s). Read the script twice at natural pace.
SCRIPT: فِي أَيَّامِ الدِّرَاسَةِ أَسْتَيْقِظُ فِي السَّادِسَةِ وَالنِّصْفِ. أَوَّلًا أَغْتَسِلُ، ثُمَّ أَرْتَدِي مَلَابِسِي وَأَتَنَاوَلُ الإِفْطَارَ. أُحَضِّرُ حَقِيبَتِي قَبْلَ أَنْ أَخْرُجَ مِنَ البَيْتِ فِي الثَّامِنَةِ إِلَّا الرُّبْعَ. عَادَةً أَسْتَقِلُّ الحَافِلَةَ، وَيَبْدَأُ الدَّرْسُ الأَوَّلُ فِي الثَّامِنَةِ وَالثُّلُثِ. أَذْهَبُ إِلَى نَادِي المَدْرَسَةِ مَرَّتَيْنِ فِي الأُسْبُوعِ، يَوْمَ الثُّلَاثَاءِ وَيَوْمَ الخَمِيسِ. فِي المَسَاءِ أُكْمِلُ وَاجِبِي قَبْلَ أَنْ أَسْتَعْمِلَ هَاتِفِي، وَأَنَامُ عَادَةً فِي العَاشِرَةِ وَالنِّصْفِ.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 Watch Q3: الثَّامِنَةِ إِلَّا الرُّبْعَ = 7:45 (not 8:15). Q5: الثَّامِنَةِ وَالثُّلُثِ =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6 marks). Read twice.
SCRIPT: يَعُودُ يُوسُفُ إِلَى البَيْتِ فِي الثَّالِثَةِ وَالثُّلُثِ، أَمَّا هُدَى فَتَعُودُ فِي الرَّابِعَةِ. يَلْعَبُ يُوسُفُ كُرَةَ القَدَمِ ثَلَاثَ مَرَّاتٍ فِي الأُسْبُوعِ: يَوْمَ الاِثْنَيْنِ وَالأَرْبِعَاءِ وَالجُمُعَةِ. هُدَى تَدْرُسُ سَاعَةً قَبْلَ أَنْ تَتَنَاوَلَ العَشَاءَ، وَتَذْهَبُ إِلَى نَادِي اللُّغَةِ العَرَبِيَّةِ يَوْمَ الخَمِيسِ. قَبْلَ أَنْ يَنَامَا، يُحَضِّرُ كُلٌّ مِنْهُمَا حَقِيبَتَهُ وَمَلَابِسَهُ لِلْيَوْمِ التَّالِي. يَوْمَ السَّبْتِ يَزُورُ يُوسُفُ أَقَارِبَهُ، بَيْنَمَا تَلْتَقِي هُدَى بِصَدِيقَاتِهَا.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(website, 6 marks). Read twice; use two voices if possible.
SCRIPT: المُحَاوِرُ: مَتَى تَسْتَيْقِظُ فِي أَيَّامِ الدِّرَاسَةِ يَا سَمِيرُ؟ سَمِيرٌ: أَسْتَيْقِظُ فِي السَّادِسَةِ وَالرُّبْعِ. المُحَاوِرُ: كَمْ مَرَّةً تَتَمَرَّنُ فِي الأُسْبُوعِ؟ سَمِيرٌ: أَتَمَرَّنُ أَرْبَعَ مَرَّاتٍ. يَوْمُ الثُّلَاثَاءِ مُخْتَلِفٌ لِأَنَّ نَادِي العُلُومِ يَنْتَهِي فِي الخَامِسَةِ وَالرُّبْعِ. بَعْدَ أَنْ أَعُودَ إِلَى البَيْتِ أَتَنَاوَلُ العَشَاءَ، ثُمَّ أُكْمِلُ وَاجِبِي. فِي نِهَايَةِ الأُسْبُوعِ أَسْتَيْقِظُ حَوَالَيْ الثَّامِنَةِ وَالنِّصْفِ. رُوتِينِي فِي أَيَّامِ الدِّرَاسَةِ مُنَظَّمٌ، أَمَّا فِي نِهَايَةِ الأُسْبُوعِ فَهُوَ أَكْثَرُ مَرُونَةً.
Listening total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instruction: “Read once for the overall pattern, then return to exact details, time expressions, references and contrasts.” No English support on assessment texts (access arrangement: questions may be read aloud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 Show the text slide again whenever students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Q2: السَّادِسَةِ وَخَمْسٍ وَعِشْرِينَ دَقِيقَةً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for each field completed in Arabic with a precise word, phrase or sentence. Article /15 — Task 5 (all six content points with relevant detail) · Range 5 (time, frequency, sequence, questions or answers, person change, contrast) · Accuracy 5 (present-tense prefixes, feminine forms, possessive reference, verbs after أَنْ).
Core access: the D1-L11 (website) sentence frames may be used for Question 1 only; Question 2 is independent.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MODEL (the website does not print a model for this task; this is the D1-L11 (website) model, shortened).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“Prepare key words only; do not memorise a full script.”
Development standard (website): respond directly, then add a precise time or frequency, reason, example and contrast where useful.
MARK SCHEME: Role-play /4 (one mark per task completed intelligibly). Topic conversation /6 — reward direct answers, precise detail, reasons/examples, a contrast and accuracy of person and time.
ORGANISATION: one-to-one with the teacher (others finish writing), or in trusted pairs with the teacher listening. Ask ONE unseen follow-up to Stretch students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priority · next action — Topic A reflection and Topic B readiness”): “Use a result, sentence or speaking example — not a general feeling.”
The bands are a teacher guide in line with the F1 / F2 assessments (the website totals the four scores but does not print bands).
A precise action = rule + task + frequency (D1-L11 (website)), e.g. “Verb after an: five sentences every two days; check in D2-L03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(TB-L01 · Identity and Personal Profiles) will spend class time USING this language, so students prepare it tonight — short, simple, easy to access (school guidance: “Simple, Short, Interesting, Relevant, Easy to access”). Topic B begins with identity and personal profiles (TB-L01, lesson engine F2-L10 — the five words come from its preparation list).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A  ·  AT-A-L12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AT-A-L12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Topic A Review and Assessment</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مُرَاجَعَةُ الْمَوْضُوعِ أ وَالتَّقْيِيمُ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Retrieve the complete Topic A language, practise all four skills and identify your next revision target.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AT-A-L12 · Advanced Topic A · Everyday Activities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A · end of topic</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A › AT-A-L12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الاِسْتِعْدَادُ</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my strength, my Topic B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Topic B: identity.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easier questions.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at seven o’clock.”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يَسْتَيْقِظُ فِي السَّاعَةِ السَّابِعَةِ.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فِي السَّاعَةِ السَّابِعَةِ.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أَسْتَيْقِظُ السَّابِعَةَ سَاعَةً.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Order politely from a WAITRESS.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شَايًا،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أُرِيدُ شَايًا،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أَعْطِنِي شَايًا.</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had pain in my back for two days.”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فِي ظَهْرِي فِي يَوْمَيْنِ.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 أَلَمٌ فِي ظَهْرِي مُنْذُ يَوْمَيْنِ.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أَلَمٌ فِي ظَهْرِي مُنْذُ يَوْمَيْنِ.</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advice: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تَسْتَرِيحُ</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اِسْتَرِحْ</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تَسْتَرِيحَ</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goes to school by bike.”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تَذْهَبُ إِلَى المَدْرَسَةِ عَلَى الدَّرَّاجَةِ.</a:t>
            </a:r>
            <a:endParaRPr lang="ar-SA" sz="20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تَذْهَبُ إِلَى المَدْرَسَةِ بِمَشْيًا.</a:t>
            </a:r>
            <a:endParaRPr lang="ar-SA" sz="20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يَذْهَبُ إِلَى المَدْرَسَةِ عَلَى الدَّرَّاجَةِ.</a:t>
            </a:r>
            <a:endParaRPr lang="ar-SA" sz="20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wake up at seven o’clock.”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يَسْتَيْقِظُ فِي السَّاعَةِ السَّابِعَةِ.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أَسْتَيْقِظُ فِي السَّاعَةِ السَّابِعَةِ.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أَسْتَيْقِظُ السَّابِعَةَ سَاعَةً.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AT-A-L01–L02: I + time.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Order politely from a WAITRESS.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أُرِيدُ شَايًا، مِنْ فَضْلِكِ.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أُرِيدُ شَايًا، مِنْ فَضْلِكَ.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أَعْطِنِي شَايًا.</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AT-A-L05: -ki to a woman.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have had pain in my back for two days.”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أَلَمٌ فِي ظَهْرِي فِي يَوْمَيْنِ.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 أَلَمٌ فِي ظَهْرِي مُنْذُ يَوْمَيْنِ.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 أَلَمٌ فِي ظَهْرِي مُنْذُ يَوْمَيْنِ.</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AT-A-L07: ‘indī + mundhu.</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the advice: </a:t>
            </a:r>
            <a:pPr algn="l" indent="0" marL="0">
              <a:buNone/>
            </a:pPr>
            <a:r>
              <a:rPr lang="ar-SA" altLang="en-US" sz="1650" b="1" dirty="0">
                <a:solidFill>
                  <a:srgbClr val="1B3B6F"/>
                </a:solidFill>
                <a:latin typeface="Amiri" pitchFamily="34" charset="0"/>
                <a:ea typeface="Amiri" pitchFamily="34" charset="-122"/>
                <a:cs typeface="Amiri" pitchFamily="34" charset="-120"/>
              </a:rPr>
              <a:t>يَجِبُ أَنْ</a:t>
            </a:r>
            <a:pPr algn="l" indent="0" marL="0">
              <a:buNone/>
            </a:pPr>
            <a:r>
              <a:rPr lang="en-US" sz="1250" b="1" dirty="0">
                <a:solidFill>
                  <a:srgbClr val="1B3B6F"/>
                </a:solidFill>
                <a:latin typeface="Calibri" pitchFamily="34" charset="0"/>
                <a:ea typeface="Calibri" pitchFamily="34" charset="-122"/>
                <a:cs typeface="Calibri" pitchFamily="34" charset="-120"/>
              </a:rPr>
              <a:t> ___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تَسْتَرِيحُ</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اِسْتَرِحْ</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تَسْتَرِيحَ</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AT-A-L08: -a after “an”.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goes to school by bike.”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تَذْهَبُ إِلَى المَدْرَسَةِ عَلَى الدَّرَّاجَةِ.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تَذْهَبُ إِلَى المَدْرَسَةِ بِمَشْيًا.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يَذْهَبُ إِلَى المَدْرَسَةِ عَلَى الدَّرَّاجَةِ.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AT-A-L09: ‘alā + she = ta-.</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It samples all of Topic A: routine and time · café · health · advice · transport.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 at half past seven”.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يَتَنَاوَلُ الإِفْطَارَ فِي السَّابِعَةِ وَالنِّصْفِ.</a:t>
            </a:r>
            <a:endParaRPr lang="ar-SA" sz="16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تَتَنَاوَلُ الإِفْطَارَ فِي السَّابِعَةِ وَالنِّصْفِ.</a:t>
            </a:r>
            <a:endParaRPr lang="ar-SA" sz="16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أَتَنَاوَلُ الإِفْطَارَ فِي السَّابِعَةِ وَالنِّصْفِ.</a:t>
            </a:r>
            <a:endParaRPr lang="ar-SA" sz="16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بَعْدَ أَنْ ___ وَاجِبِي، أَسْتَرِيحُ.</a:t>
            </a:r>
            <a:endParaRPr lang="ar-SA" sz="12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أَكْمَلْتُ</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about Ali and his sister.</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تَدْرُسُ، وَأُخْتُهُ يَقْرَأُ.</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أَدْرُسُ، وَأُخْتُهُ نَقْرَأُ.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يَدْرُسُ، وَأُخْتُهُ تَقْرَأُ.</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weekend comparison.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الأُسْبُوعِ أَدْرُسُ، أَمَّا يَوْمَ السَّبْتِ أَسْتَرِيحُ فَـ.</a:t>
            </a:r>
            <a:endParaRPr lang="ar-SA"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أَمَّا أَدْرُسُ فِي السَّبْتِ كُلَّ يَوْمٍ.</a:t>
            </a:r>
            <a:endParaRPr lang="ar-SA"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الأُسْبُوعِ أَدْرُسُ كُلَّ يَوْمٍ، أَمَّا يَوْمَ السَّبْتِ فَأَسْتَرِيحُ.</a:t>
            </a:r>
            <a:endParaRPr lang="ar-SA"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 the error: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أَنْتِ تَسْتَيْقِظُ فِي السَّابِعَةِ.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تَسْتَيْقِظِينَ فِي السَّابِعَةِ.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يَسْتَيْقِظُ فِي السَّابِعَةِ.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أَسْتَيْقِظُ فِي السَّابِعَةِ.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sequence and reference.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يَعُودُ مَرْيَمُ إِلَى البَيْتِ، ثُمَّ يُكْمِلُ وَاجِبَهُ.</a:t>
            </a:r>
            <a:endParaRPr lang="ar-SA" sz="160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تَعُودُ مَرْيَمُ إِلَى البَيْتِ، ثُمَّ تُكْمِلُ وَاجِبَهَا.</a:t>
            </a:r>
            <a:endParaRPr lang="ar-SA" sz="160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تَعُودُ مَرْيَمُ، ثُمَّ أُكْمِلُ وَاجِبِي.</a:t>
            </a:r>
            <a:endParaRPr lang="ar-SA" sz="16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 at half past seven”.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يَتَنَاوَلُ الإِفْطَارَ فِي السَّابِعَةِ وَالنِّصْفِ.</a:t>
            </a:r>
            <a:endParaRPr lang="ar-SA" sz="16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هِيَ تَتَنَاوَلُ الإِفْطَارَ فِي السَّابِعَةِ وَالنِّصْفِ.</a:t>
            </a:r>
            <a:endParaRPr lang="ar-SA" sz="16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أَتَنَاوَلُ الإِفْطَارَ فِي السَّابِعَةِ وَالنِّصْفِ.</a:t>
            </a:r>
            <a:endParaRPr lang="ar-SA" sz="16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بَعْدَ أَنْ ___ وَاجِبِي، أَسْتَرِيحُ.</a:t>
            </a:r>
            <a:endParaRPr lang="ar-SA" sz="12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أَكْمَلْتُ</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أُكْمِلَ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about Ali and his sister.</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تَدْرُسُ، وَأُخْتُهُ يَقْرَأُ.</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أَدْرُسُ، وَأُخْتُهُ نَقْرَأُ.</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يَدْرُسُ، وَأُخْتُهُ تَقْرَأُ.</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uses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 feminine singular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weekend comparison.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الأُسْبُوعِ أَدْرُسُ، أَمَّا يَوْمَ السَّبْتِ أَسْتَرِيحُ فَـ.</a:t>
            </a:r>
            <a:endParaRPr lang="ar-SA"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أَمَّا أَدْرُسُ فِي السَّبْتِ كُلَّ يَوْمٍ.</a:t>
            </a:r>
            <a:endParaRPr lang="ar-SA"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فِي الأُسْبُوعِ أَدْرُسُ كُلَّ يَوْمٍ، أَمَّا يَوْمَ السَّبْتِ فَأَسْتَرِيحُ.</a:t>
            </a:r>
            <a:endParaRPr lang="ar-SA"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comment.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 the error: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أَنْتِ تَسْتَيْقِظُ فِي السَّابِعَةِ.</a:t>
            </a:r>
            <a:endParaRPr lang="ar-SA" sz="14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 تَسْتَيْقِظِينَ فِي السَّابِعَةِ.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يَسْتَيْقِظُ فِي السَّابِعَةِ.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أَسْتَيْقِظُ فِي السَّابِعَةِ.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sequence and reference.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يَعُودُ مَرْيَمُ إِلَى البَيْتِ، ثُمَّ يُكْمِلُ وَاجِبَهُ.</a:t>
            </a:r>
            <a:endParaRPr lang="ar-SA" sz="16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تَعُودُ مَرْيَمُ إِلَى البَيْتِ، ثُمَّ تُكْمِلُ وَاجِبَهَا.</a:t>
            </a:r>
            <a:endParaRPr lang="ar-SA" sz="16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تَعُودُ مَرْيَمُ، ثُمَّ أُكْمِلُ وَاجِبِي.</a:t>
            </a:r>
            <a:endParaRPr lang="ar-SA" sz="16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and possessive suffix remain consistent.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TOPIC A APPLICATION CHALLENGE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Topic A four-skills relay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7" name="Shape 14"/>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9" name="Text 16"/>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A CHALLENGE · WEBSITE</a:t>
            </a:r>
            <a:endParaRPr lang="en-US" sz="900" dirty="0"/>
          </a:p>
        </p:txBody>
      </p:sp>
      <p:sp>
        <p:nvSpPr>
          <p:cNvPr id="20" name="Text 17"/>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Topic A four-skills relay</a:t>
            </a:r>
            <a:endParaRPr lang="en-US" sz="2200" dirty="0"/>
          </a:p>
        </p:txBody>
      </p:sp>
      <p:sp>
        <p:nvSpPr>
          <p:cNvPr id="21" name="Text 18"/>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Complete one short listening, reading, speaking and writing station. At every station, retrieve language from a different Topic A subtopic.</a:t>
            </a:r>
            <a:endParaRPr lang="en-US" sz="1350" dirty="0"/>
          </a:p>
        </p:txBody>
      </p:sp>
      <p:sp>
        <p:nvSpPr>
          <p:cNvPr id="22" name="Text 19"/>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3" name="Shape 20"/>
          <p:cNvSpPr/>
          <p:nvPr/>
        </p:nvSpPr>
        <p:spPr>
          <a:xfrm>
            <a:off x="658368" y="4407408"/>
            <a:ext cx="274320" cy="274320"/>
          </a:xfrm>
          <a:prstGeom prst="ellipse">
            <a:avLst/>
          </a:prstGeom>
          <a:solidFill>
            <a:srgbClr val="1B3B6F"/>
          </a:solidFill>
          <a:ln w="12700">
            <a:solidFill>
              <a:srgbClr val="1B3B6F"/>
            </a:solidFill>
            <a:prstDash val="solid"/>
          </a:ln>
        </p:spPr>
      </p:sp>
      <p:sp>
        <p:nvSpPr>
          <p:cNvPr id="24" name="Text 21"/>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5" name="Text 22"/>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Four stations, 1 minute each (FLEX: use before the assessment or as a revision lesson).</a:t>
            </a:r>
            <a:endParaRPr lang="en-US" sz="1150" dirty="0"/>
          </a:p>
        </p:txBody>
      </p:sp>
      <p:sp>
        <p:nvSpPr>
          <p:cNvPr id="26" name="Shape 23"/>
          <p:cNvSpPr/>
          <p:nvPr/>
        </p:nvSpPr>
        <p:spPr>
          <a:xfrm>
            <a:off x="658368" y="4864608"/>
            <a:ext cx="274320" cy="274320"/>
          </a:xfrm>
          <a:prstGeom prst="ellipse">
            <a:avLst/>
          </a:prstGeom>
          <a:solidFill>
            <a:srgbClr val="1B3B6F"/>
          </a:solidFill>
          <a:ln w="12700">
            <a:solidFill>
              <a:srgbClr val="1B3B6F"/>
            </a:solidFill>
            <a:prstDash val="solid"/>
          </a:ln>
        </p:spPr>
      </p:sp>
      <p:sp>
        <p:nvSpPr>
          <p:cNvPr id="27" name="Text 24"/>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8" name="Text 25"/>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LISTEN: teacher reads a café line — students type what was ordered.</a:t>
            </a:r>
            <a:endParaRPr lang="en-US" sz="1150" dirty="0"/>
          </a:p>
        </p:txBody>
      </p:sp>
      <p:sp>
        <p:nvSpPr>
          <p:cNvPr id="29" name="Shape 26"/>
          <p:cNvSpPr/>
          <p:nvPr/>
        </p:nvSpPr>
        <p:spPr>
          <a:xfrm>
            <a:off x="658368" y="5321808"/>
            <a:ext cx="274320" cy="274320"/>
          </a:xfrm>
          <a:prstGeom prst="ellipse">
            <a:avLst/>
          </a:prstGeom>
          <a:solidFill>
            <a:srgbClr val="1B3B6F"/>
          </a:solidFill>
          <a:ln w="12700">
            <a:solidFill>
              <a:srgbClr val="1B3B6F"/>
            </a:solidFill>
            <a:prstDash val="solid"/>
          </a:ln>
        </p:spPr>
      </p:sp>
      <p:sp>
        <p:nvSpPr>
          <p:cNvPr id="30" name="Text 27"/>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31" name="Text 28"/>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READ: a health sentence on screen — students give symptom + duration. SPEAK: 20s on your journey to school.</a:t>
            </a:r>
            <a:endParaRPr lang="en-US" sz="1150" dirty="0"/>
          </a:p>
        </p:txBody>
      </p:sp>
      <p:sp>
        <p:nvSpPr>
          <p:cNvPr id="32" name="Shape 29"/>
          <p:cNvSpPr/>
          <p:nvPr/>
        </p:nvSpPr>
        <p:spPr>
          <a:xfrm>
            <a:off x="658368" y="5779008"/>
            <a:ext cx="274320" cy="274320"/>
          </a:xfrm>
          <a:prstGeom prst="ellipse">
            <a:avLst/>
          </a:prstGeom>
          <a:solidFill>
            <a:srgbClr val="1B3B6F"/>
          </a:solidFill>
          <a:ln w="12700">
            <a:solidFill>
              <a:srgbClr val="1B3B6F"/>
            </a:solidFill>
            <a:prstDash val="solid"/>
          </a:ln>
        </p:spPr>
      </p:sp>
      <p:sp>
        <p:nvSpPr>
          <p:cNvPr id="33" name="Text 30"/>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4" name="Text 31"/>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WRITE: one routine sentence with a time and a frequency word. Then note your weakest station.</a:t>
            </a:r>
            <a:endParaRPr lang="en-US" sz="1150" dirty="0"/>
          </a:p>
        </p:txBody>
      </p:sp>
      <p:sp>
        <p:nvSpPr>
          <p:cNvPr id="35" name="Shape 32"/>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8" name="Text 35"/>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sentence per station — use the five structures you prepared.</a:t>
            </a:r>
            <a:endParaRPr lang="en-US" sz="1150" dirty="0"/>
          </a:p>
        </p:txBody>
      </p:sp>
      <p:sp>
        <p:nvSpPr>
          <p:cNvPr id="39" name="Shape 36"/>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41" name="Text 38"/>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2" name="Text 39"/>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sentences per station, each from a different Topic A subtopic.</a:t>
            </a:r>
            <a:endParaRPr lang="en-US" sz="1150" dirty="0"/>
          </a:p>
        </p:txBody>
      </p:sp>
      <p:sp>
        <p:nvSpPr>
          <p:cNvPr id="43" name="Shape 40"/>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5" name="Text 42"/>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6" name="Text 43"/>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Connect the stations: a day with a café, a health problem and a journey, using time words.</a:t>
            </a:r>
            <a:endParaRPr lang="en-US" sz="1150" dirty="0"/>
          </a:p>
        </p:txBody>
      </p:sp>
      <p:sp>
        <p:nvSpPr>
          <p:cNvPr id="47" name="Shape 44"/>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Text 45"/>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9" name="Text 46"/>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أُرِيدُ … مِنْ فَضْلِكَ</a:t>
            </a:r>
            <a:endParaRPr lang="ar-SA" sz="1300" dirty="0"/>
          </a:p>
        </p:txBody>
      </p:sp>
      <p:sp>
        <p:nvSpPr>
          <p:cNvPr id="50" name="Text 47"/>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café (AT-A-L05)</a:t>
            </a:r>
            <a:endParaRPr lang="en-US" sz="1000" dirty="0"/>
          </a:p>
        </p:txBody>
      </p:sp>
      <p:sp>
        <p:nvSpPr>
          <p:cNvPr id="51" name="Text 48"/>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عِنْدِي … مُنْذُ …</a:t>
            </a:r>
            <a:endParaRPr lang="ar-SA" sz="1300" dirty="0"/>
          </a:p>
        </p:txBody>
      </p:sp>
      <p:sp>
        <p:nvSpPr>
          <p:cNvPr id="52" name="Text 49"/>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health (AT-A-L07)</a:t>
            </a:r>
            <a:endParaRPr lang="en-US" sz="1000" dirty="0"/>
          </a:p>
        </p:txBody>
      </p:sp>
      <p:sp>
        <p:nvSpPr>
          <p:cNvPr id="53" name="Text 50"/>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أَذْهَبُ بِـ … / عَلَى …</a:t>
            </a:r>
            <a:endParaRPr lang="ar-SA" sz="1300" dirty="0"/>
          </a:p>
        </p:txBody>
      </p:sp>
      <p:sp>
        <p:nvSpPr>
          <p:cNvPr id="54" name="Text 51"/>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transport (AT-A-L09)</a:t>
            </a:r>
            <a:endParaRPr lang="en-US" sz="1000" dirty="0"/>
          </a:p>
        </p:txBody>
      </p:sp>
      <p:sp>
        <p:nvSpPr>
          <p:cNvPr id="55" name="Text 52"/>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دَائِمًا أَسْتَيْقِظُ فِي …</a:t>
            </a:r>
            <a:endParaRPr lang="ar-SA" sz="1300" dirty="0"/>
          </a:p>
        </p:txBody>
      </p:sp>
      <p:sp>
        <p:nvSpPr>
          <p:cNvPr id="56" name="Text 53"/>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routine (AT-A-L01–L03)</a:t>
            </a:r>
            <a:endParaRPr lang="en-US" sz="100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60-mark Topic A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Maryam’s school day (8) · Yusuf and Huda (6) · an interview with Samir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school-day and weekend routine: ten questions — locate, interpret, prove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Routine form: five fields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Role-play (4) · topic conversation (6) — prepare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8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Text 1 · Maryam describes a school 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 on school days?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 after waking?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checks messages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leaves home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leave home?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7:45</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usually travel?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starts at 8:20?</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registration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attend the school club?</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does she do before using her phone in the evening?</a:t>
            </a:r>
            <a:endParaRPr lang="en-US" sz="110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finishes homework</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a friend</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shopping</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usually sleep?</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9:30</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11:30</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 on school days?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6:10</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 after waking?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checks messages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leaves home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showers before getting dressed.</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leave home?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7:45</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leaves at a quarter to eight.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usually travel?</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usually takes the bus.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starts at 8:20?</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first lesson</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registration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lesson starts at twenty past eight.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attend the school club?</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attends on Tuesday and Thursday.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does she do before using her phone in the evening?</a:t>
            </a:r>
            <a:endParaRPr lang="en-US" sz="110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finishes homework</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a friend</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shopping</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completes homework first.</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usually sleep?</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9:30</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11:30</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sleeps at half past ten.</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Text 2 · Yusuf and Huda compare their routines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home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the same time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studies before eating?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Yusuf play football?</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evening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on Thursday?</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attends an Arabic club</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her grandmother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gets ready for the next day before sleeping?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only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the main difference between their weekends?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visits family; Huda meets friends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studies; Yusuf works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stay home all weekend</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for ya- (Yusuf) and ta- (Huda).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home earlier?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at the same time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returns at 3:20; Huda returns at 4:00.</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studies before eating?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Huda studies for an hour before dinner.</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Yusuf play football?</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evening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plays on Monday, Wednesday and Friday.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on Thursday?</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attends an Arabic club</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her grandmother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Thursday is her Arabic-club day.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gets ready for the next day before sleeping?</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 only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prepare their bags and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the main difference between their weekends?</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Yusuf visits family; Huda meets friends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Huda studies; Yusuf works</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both stay home all weekend</a:t>
            </a:r>
            <a:endParaRPr lang="en-US" sz="12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Their Saturday activities are different.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for ya- (Yusuf) and ta- (Huda).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Text 3 · Interview about routine and time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interviewer ask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 address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Samir exercise?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month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different?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late science club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closed</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club?</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sleep</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then completes homework</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wake at the weekend?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8:30</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 exactly</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midday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contrast does he make?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are busier than school days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routine never changes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school days are organised; weekends are more flexible</a:t>
            </a:r>
            <a:endParaRPr lang="en-US" sz="120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AN INTERVIEW</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after “as for …”.</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interviewer ask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favourite subject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 address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interview begins with </a:t>
            </a:r>
            <a:pPr algn="l" indent="0" marL="0">
              <a:buNone/>
            </a:pPr>
            <a:r>
              <a:rPr lang="ar-SA" altLang="en-US" sz="1350" dirty="0">
                <a:solidFill>
                  <a:srgbClr val="8A6D1E"/>
                </a:solidFill>
                <a:latin typeface="Amiri" pitchFamily="34" charset="0"/>
                <a:ea typeface="Amiri" pitchFamily="34" charset="-122"/>
                <a:cs typeface="Amiri" pitchFamily="34" charset="-120"/>
              </a:rPr>
              <a:t>مَتَى تَسْتَيْقِظُ؟</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Samir exercise?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month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different?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has a late science club</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closed</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science club finishes at 5:15.</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club?</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sleep</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eats, then completes homework</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eats first and then completes his homework.</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wake at the weekend?</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8:30</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 exactly</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midday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حَوَالَيْ الثَّامِنَةِ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contrast does he make?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weekends are busier than school days</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routine never changes</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school days are organised; weekends are more flexible</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contrasts an organised school routine with a more flexible weekend.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AN INTERVIEW</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after “as for …”.</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ea typeface="Calibri" pitchFamily="34" charset="-122"/>
                <a:cs typeface="Calibri" pitchFamily="34" charset="-120"/>
              </a:rPr>
              <a:t>READING · 10 MARKS · READ ONCE FOR THE PATTERN, THEN FOR EXACT DETAILS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 A school-day and weekend routine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أَكْتُبُ عَنْ رُوتِينِي فِي أَيَّامِ الدِّرَاسَةِ وَفِي نِهَايَةِ الأُسْبُوعِ. مِنَ الاِثْنَيْنِ إِلَى الجُمُعَةِ أَسْتَيْقِظُ فِي السَّادِسَةِ وَخَمْسٍ وَعِشْرِينَ دَقِيقَةً. أَرْتَدِي مَلَابِسِي وَأُحَضِّرُ حَقِيبَتِي قَبْلَ أَنْ أَتَنَاوَلَ الإِفْطَارَ. أَخْرُجُ فِي السَّابِعَةِ وَالنِّصْفِ، وَتَسْتَغْرِقُ رِحْلَتِي إِلَى المَدْرَسَةِ حَوَالَيْ عِشْرِينَ دَقِيقَةً. بَعْدَ المَدْرَسَةِ أَذْهَبُ إِلَى السِّبَاحَةِ مَرَّتَيْنِ فِي الأُسْبُوعِ، يَوْمَ الاِثْنَيْنِ وَالأَرْبِعَاءِ. فِي الأَيَّامِ الأُخْرَى أُكْمِلُ وَاجِبِي فِي المَكْتَبَةِ، بَيْنَمَا يَلْعَبُ أَخِي أَلْعَابَ الحَاسُوبِ فِي البَيْتِ. يَوْمُ الخَمِيسِ مُخْتَلِفٌ لِأَنَّ لَدَيَّ دَرْسًا عَبْرَ الإِنْتَرْنِتِ فِي اللُّغَةِ العَرَبِيَّةِ، وَهُوَ يَبْدَأُ فِي السَّادِسَةِ وَيَنْتَهِي فِي السَّابِعَةِ إِلَّا الرُّبْعَ. أَمَّا يَوْمَ السَّبْتِ فَأَسْتَيْقِظُ مُتَأَخِّرًا، وَأُسَاعِدُ أُسْرَتِي فِي البَيْتِ قَبْلَ أَنْ أَلْتَقِيَ بِصَدِيقَاتِي. فِي رَأْيِي، التَّنْظِيمُ فِي أَيَّامِ الدِّرَاسَةِ يُسَاعِدُنِي عَلَى إِنْجَازِ عَمَلِي، وَلٰكِنَّ الوَقْتَ الأَكْثَرَ مَرُونَةً فِي نِهَايَةِ الأُسْبُوعِ مُهِمٌّ أَيْضًا، لِأَنَّهُ يَسْمَحُ لِي بِالرَّاحَةِ وَقَضَاءِ الوَقْتِ مَعَ الآخَرِينَ.</a:t>
            </a:r>
            <a:endParaRPr lang="ar-SA" sz="225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describing?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 journey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school-day and weekend routines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wake on school days?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6:25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before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homework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gets dressed and prepares her bag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meets friends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to school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twenty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minutes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after-school activity happens twice weekly?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 study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describing?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 journey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town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school-day and weekend routines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compares two routine patterns.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wake on school days?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6:25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السَّادِسَةِ وَخَمْسٍ وَعِشْرِينَ دَقِيقَةً = 6:25.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before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does homework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gets dressed and prepares her bag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meets friends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actions happen before breakfast.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to school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twenty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minutes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تَسْتَغْرِقُ الرِّحْلَةُ حَوَالَيْ 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after-school activity happens twice weekly?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library study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swims on Monday and Wednesday.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brother do while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computer games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cooks dinner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Thursday evening different?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finishes school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attends an online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works in a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on Saturday?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helps 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meets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goes to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refer to in the final paragraph?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early for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journey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having more flexible time at the weekend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best summarises her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every part of her routine.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the same timetable every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values organisation on school days and flexibility at weekends.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Q9: what does “this” refer to?</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brother do while she studies?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plays computer games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cooks dinner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is introduced by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Thursday evening different?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finishes school early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attends an online Arabic lesson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works in a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online lesson changes the usual evening sequence.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on Saturday?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helps at home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meets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goes to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helps at home before going out.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refer to in the final paragraph?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waking early for school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journey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having more flexible time at the weekend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demonstrative refers to the more flexible weekend routine.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best summarises her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every part of her routine.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She wants the same timetable every day.</a:t>
            </a:r>
            <a:endParaRPr lang="en-US" sz="11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values organisation on school days and flexibility at weekends.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conclusion is balanced and compares the benefits of both routines.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Q9: what does “this” refer to?</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20 MARKS ·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1 · routine form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وَقْتُ الاِسْتِيقَاظِ: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a young Arabic-speaking reader, include: 1 a school-day routine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تَفْعَلُ قَبْلَ الإِفْطَارِ؟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exact times and frequency · 3 before and after school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مَرَّةً تَتَمَرَّنُ؟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another person’s routine · 5 a weekend comparison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تَفْعَلُ بَعْدَ المَدْرَسَةِ؟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a reasoned opinion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وَقْتُ النَّوْمِ: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Marked for Task (5) · Range (5) · Accuracy (5)</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Check before you finish: I / he / she prefixes · she → -hā · verb after “an” · past / to the hour.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8A6D1E"/>
                </a:solidFill>
                <a:latin typeface="Calibri" pitchFamily="34" charset="0"/>
                <a:ea typeface="Calibri" pitchFamily="34" charset="-122"/>
                <a:cs typeface="Calibri" pitchFamily="34" charset="-120"/>
              </a:rPr>
              <a:t>WRITING · A STRONG ANSWER (TEACHER MODEL, AS IN D1-L11 (WEBSITE)) · SHOW AFTER WRITING</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أَسْتَيْقِظُ فِي أَيَّامِ الدِّرَاسَةِ فِي السَّادِسَةِ وَالنِّصْفِ، وَأَتَنَاوَلُ الإِفْطَارَ قَبْلَ أَنْ أَخْرُجَ فِي السَّابِعَةِ وَالرُّبْعِ.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school-day routine · exact times · before +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لِأَنَّ المَدْرَسَةَ بَعِيدَةٌ. بَعْدَ أَنْ أَعُودَ، أَسْتَرِيحُ نِصْفَ سَاعَةٍ، ثُمَّ أُكْمِلُ وَاجِبِي.</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after school · reason · after + verb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أَتَمَرَّنُ مَرَّتَيْنِ فِي الأُسْبُوعِ، بَيْنَمَا تَتَمَرَّنُ أُخْتِي كُلَّ يَوْمٍ تَقْرِيبًا.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frequency · 4 another person (ta-)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نِهَايَةِ الأُسْبُوعِ فَأَنَامُ وَقْتًا أَطْوَلَ، وَغَالِبًا مَا أَزُورُ أَقَارِبِي.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weekend comparison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رُوتِينِي مُتَوَازِنٌ، وَلٰكِنَّنِي أُرِيدُ أَنْ أَنَامَ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 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10 MARKS · ROLE-PLAY (4) + TOPIC CONVERSATION (6)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conversation · possible questions (6)</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Role-play (4) · ask and answer about …</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330952" y="2267712"/>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رُوتِينَكَ فِي يَوْمٍ دِرَاسِيٍّ، وَاذْكُرْ أَوْقَاتًا دَقِيقَةً.</a:t>
            </a:r>
            <a:endParaRPr lang="ar-SA" sz="2000" dirty="0"/>
          </a:p>
        </p:txBody>
      </p:sp>
      <p:sp>
        <p:nvSpPr>
          <p:cNvPr id="20" name="Text 17"/>
          <p:cNvSpPr txBox="1"/>
          <p:nvPr/>
        </p:nvSpPr>
        <p:spPr>
          <a:xfrm>
            <a:off x="566928" y="2267712"/>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wake-up time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330952" y="3054096"/>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مَاذَا يَفْعَلُ شَخْصٌ آخَرُ فِي أُسْرَتِكَ بَعْدَ المَدْرَسَةِ أَوِ العَمَلِ؟</a:t>
            </a:r>
            <a:endParaRPr lang="ar-SA" sz="2000" dirty="0"/>
          </a:p>
        </p:txBody>
      </p:sp>
      <p:sp>
        <p:nvSpPr>
          <p:cNvPr id="25" name="Text 22"/>
          <p:cNvSpPr txBox="1"/>
          <p:nvPr/>
        </p:nvSpPr>
        <p:spPr>
          <a:xfrm>
            <a:off x="566928" y="3054096"/>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an after-school activity</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330952" y="3840480"/>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كَمْ مَرَّةً تَقُومُ بِنَشَاطٍ مُعَيَّنٍ فِي الأُسْبُوعِ، وَلِمَاذَا؟</a:t>
            </a:r>
            <a:endParaRPr lang="ar-SA" sz="2000" dirty="0"/>
          </a:p>
        </p:txBody>
      </p:sp>
      <p:sp>
        <p:nvSpPr>
          <p:cNvPr id="30" name="Text 27"/>
          <p:cNvSpPr txBox="1"/>
          <p:nvPr/>
        </p:nvSpPr>
        <p:spPr>
          <a:xfrm>
            <a:off x="566928" y="3840480"/>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how often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30952" y="4626864"/>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قَارِنْ بَيْنَ رُوتِينِكَ فِي أَيَّامِ الدِّرَاسَةِ وَرُوتِينِكَ فِي نِهَايَةِ الأُسْبُوعِ.</a:t>
            </a:r>
            <a:endParaRPr lang="ar-SA" sz="2000" dirty="0"/>
          </a:p>
        </p:txBody>
      </p:sp>
      <p:sp>
        <p:nvSpPr>
          <p:cNvPr id="35" name="Text 32"/>
          <p:cNvSpPr txBox="1"/>
          <p:nvPr/>
        </p:nvSpPr>
        <p:spPr>
          <a:xfrm>
            <a:off x="566928" y="4626864"/>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changed timetable detail</a:t>
            </a:r>
            <a:endParaRPr lang="en-US" sz="11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Prepare cue words only (website): direct answer + exact time · frequency + reason or example · another person + weekend contrast.</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RESULTS · RECORD YOUR PROFILE AND SET ONE TOPIC B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Topic A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Topic A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for Topic B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Topic A retrieval early in Topic B</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before Topic B</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(website reflection): My strongest Topic A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my school day with exact times.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I / he / she verbs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before/after + a verb with the correct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a boy or a girl about their routine.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school days and the weekend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AT-A-L12 · Topic A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A · Everyday Activities · AT-A-L12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TB-L01 · Identity and Personal Profiles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ثَقَافَةٌ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culture</a:t>
            </a:r>
            <a:pPr indent="0" marL="0">
              <a:buNone/>
            </a:pPr>
            <a:r>
              <a:rPr lang="en-US" sz="1000" i="1" dirty="0">
                <a:solidFill>
                  <a:srgbClr val="5A6472"/>
                </a:solidFill>
                <a:latin typeface="Calibri" pitchFamily="34" charset="0"/>
                <a:ea typeface="Calibri" pitchFamily="34" charset="-122"/>
                <a:cs typeface="Calibri" pitchFamily="34" charset="-120"/>
              </a:rPr>
              <a:t>  pl. ثَقَافَاتٌ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عَادَاتٌ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customs, habits</a:t>
            </a:r>
            <a:pPr indent="0" marL="0">
              <a:buNone/>
            </a:pPr>
            <a:r>
              <a:rPr lang="en-US" sz="1000" i="1" dirty="0">
                <a:solidFill>
                  <a:srgbClr val="5A6472"/>
                </a:solidFill>
                <a:latin typeface="Calibri" pitchFamily="34" charset="0"/>
                <a:ea typeface="Calibri" pitchFamily="34" charset="-122"/>
                <a:cs typeface="Calibri" pitchFamily="34" charset="-120"/>
              </a:rPr>
              <a:t>  sg. عَادَةٌ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اِحْتِرَامٌ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respect</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identity</a:t>
            </a:r>
            <a:pPr indent="0" marL="0">
              <a:buNone/>
            </a:pPr>
            <a:r>
              <a:rPr lang="en-US" sz="1000" i="1" dirty="0">
                <a:solidFill>
                  <a:srgbClr val="5A6472"/>
                </a:solidFill>
                <a:latin typeface="Calibri" pitchFamily="34" charset="0"/>
                <a:ea typeface="Calibri" pitchFamily="34" charset="-122"/>
                <a:cs typeface="Calibri" pitchFamily="34" charset="-120"/>
              </a:rPr>
              <a:t>  pl. هُوِيَّاتٌ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فَخُورٌ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proud</a:t>
            </a:r>
            <a:pPr indent="0" marL="0">
              <a:buNone/>
            </a:pPr>
            <a:r>
              <a:rPr lang="en-US" sz="1000" i="1" dirty="0">
                <a:solidFill>
                  <a:srgbClr val="5A6472"/>
                </a:solidFill>
                <a:latin typeface="Calibri" pitchFamily="34" charset="0"/>
                <a:ea typeface="Calibri" pitchFamily="34" charset="-122"/>
                <a:cs typeface="Calibri" pitchFamily="34" charset="-120"/>
              </a:rPr>
              <a:t>  f. فَخُورَةٌ · pl. فَخُورُونَ</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makes up your identity? Name two things (languages, family, faith, places …).</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هُوِيَّتُكَ؟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readiness check on the website; learn the five Topic B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then learn the Topic B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Topic A reflection (strongest evidence + one precise next action) and 3 sentences about your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AT-A-L12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TB-L01 · Identity and Personal Profiles</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الهُوِيَّةُ وَالمَلَفَّاتُ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Topic A complete — well done! Learn 5 identity words for Topic 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AT-A-L12 · Topic A Review and Assessment</dc:title>
  <dc:subject>PptxGenJS Presentation</dc:subject>
  <dc:creator>Al Madina Online School · Arabic Department</dc:creator>
  <cp:lastModifiedBy>Al Madina Online School · Arabic Department</cp:lastModifiedBy>
  <cp:revision>1</cp:revision>
  <dcterms:created xsi:type="dcterms:W3CDTF">2026-09-27T12:43:36Z</dcterms:created>
  <dcterms:modified xsi:type="dcterms:W3CDTF">2026-09-27T12:43:36Z</dcterms:modified>
</cp:coreProperties>
</file>