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AT-A-L12 — Topic A Review and Assessment. Website: Advanced Topics › Topic A (Everyday Activities) › Lesson 12.
The website builds this lesson on the D1-L12 lesson engine, with the Topic focus “Retrieve the complete Topic A language, practise all four skills and identify your next revision target.” (grammar: Cumulative Topic A grammar and four-skills review; skills: All four skills) and the application challenge “Topic A four-skills relay”.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2–7 Readiness check (not marked) · 7–8 Assessment map · 8–22 Listening (20: three texts) · 22–31 Reading (10) · 31–44 Writing (20: form + article) · 44–53 Speaking (10: role-play + topic conversation, pairs / one-to-one) · 53–56 Score profile, strength and Topic B target.
FLEX slides are optional. Use them if the class is moving quickly; otherwise the same activities are on the website for homework.
Content source: Miftah Arabic website, Pathways › Development › Topic A Daily Routine and Time › AT-A-L12. The website AT-A-L12 is a 60-mark Development profile (not an external exam paper): listening 20 (Maryam’s school day 8 · Yusuf and Huda 6 · interview with Samir 6) · reading 10 (a school-day and weekend routine) · writing 20 (routine form 5 + article or email 15, marked for task, range and accuracy) · speaking 10 (role-play 4 + topic conversation 6). The readiness check (12) and grammar laboratory (12) are practice and do not count.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is one-to-one or in trusted pairs with the teacher listening (it can move to the start of the next lesson).
• The website allows the assessment over more than one session — if time is short: listening + reading in class; writing and speaking next lesson.
• Scripts: the website has recorded audio; if it is unavailable, read each text twice at natural pace. The scripts are in the notes of each listening slide — do NOT show them until the section is submitted.
• Answer slides follow each part — mark live, or hide them and mark later.
• The readiness check is the warm-up: students who score below 8/12 revise the Topic A grammar vault (D1-L11, website) before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Readiness check · 02 Language vault · 03 Grammar laboratory · 04 60-mark profile · 05 Listening · 06 Reading · 07 Writing · 08 Speaking · 09 Reflection and Topic B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READINESS CHECK (5 min + 2 min answers, not marked) — the five Topic A structures prepared at home at the end of AT-A-L11, one from each subtopic (AT-A-L01–L02 routine and time · AT-A-L05 café · AT-A-L07 health · AT-A-L08 advice · AT-A-L09 transport). Students who score 3/5 or less use the FLEX relay station next for the subtopic they missed.
The website engine’s own readiness check (routine grammar) is in the FLEX grammar laboratory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the Topic A system: person · time · before/after · asking a girl · as for …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six of the twelve website grammar-laboratory questions (person · after أَنْ · he / she · أَمَّا … فَـ · asking a girl · reference). Use it if the readiness check showed gaps; otherwise it is homework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“Complete one short listening, reading, speaking and writing station. At every station, retrieve language from a different Topic A subtopic.”
Station prompts (teacher reads or pastes):
LISTEN — أُرِيدُ حَسَاءً وَعَصِيرَ بُرْتُقَالٍ صَغِيرًا، مِنْ فَضْلِكِ. (soup + a small orange juice; to a woman)
READ — عِنْدَ أُخْتِي سُعَالٌ وَحُمَّى مُنْذُ ثَلَاثَةِ أَيَّامٍ. (cough and fever, three days)
SPEAK — كَيْفَ تَذْهَبُ إِلَى المَدْرَسَةِ؟ وَلِمَاذَا؟
WRITE — a routine sentence with a time and a frequency word (أَحْيَانًا / دَائِمًا).
FLEX: the website sets this relay as the Topic A application challenge; in an assessment lesson use it only if the assessment is split over two sessions, or as the next lesson’s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Topic A profile”). The website saves marks per skill and generates guidance once all four components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(website, 8 marks). Students read the questions (30 s). Read the script twice at natural pace.
SCRIPT: فِي أَيَّامِ الدِّرَاسَةِ أَسْتَيْقِظُ فِي السَّادِسَةِ وَالنِّصْفِ. أَوَّلًا أَغْتَسِلُ، ثُمَّ أَرْتَدِي مَلَابِسِي وَأَتَنَاوَلُ الإِفْطَارَ. أُحَضِّرُ حَقِيبَتِي قَبْلَ أَنْ أَخْرُجَ مِنَ البَيْتِ فِي الثَّامِنَةِ إِلَّا الرُّبْعَ. عَادَةً أَسْتَقِلُّ الحَافِلَةَ، وَيَبْدَأُ الدَّرْسُ الأَوَّلُ فِي الثَّامِنَةِ وَالثُّلُثِ. أَذْهَبُ إِلَى نَادِي المَدْرَسَةِ مَرَّتَيْنِ فِي الأُسْبُوعِ، يَوْمَ الثُّلَاثَاءِ وَيَوْمَ الخَمِيسِ. فِي المَسَاءِ أُكْمِلُ وَاجِبِي قَبْلَ أَنْ أَسْتَعْمِلَ هَاتِفِي، وَأَنَامُ عَادَةً فِي العَاشِرَةِ وَالنِّصْفِ.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/8. Watch Q3: الثَّامِنَةِ إِلَّا الرُّبْعَ = 7:45 (not 8:15). Q5: الثَّامِنَةِ وَالثُّلُثِ =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(website, 6 marks). Read twice.
SCRIPT: يَعُودُ يُوسُفُ إِلَى البَيْتِ فِي الثَّالِثَةِ وَالثُّلُثِ، أَمَّا هُدَى فَتَعُودُ فِي الرَّابِعَةِ. يَلْعَبُ يُوسُفُ كُرَةَ القَدَمِ ثَلَاثَ مَرَّاتٍ فِي الأُسْبُوعِ: يَوْمَ الاِثْنَيْنِ وَالأَرْبِعَاءِ وَالجُمُعَةِ. هُدَى تَدْرُسُ سَاعَةً قَبْلَ أَنْ تَتَنَاوَلَ العَشَاءَ، وَتَذْهَبُ إِلَى نَادِي اللُّغَةِ العَرَبِيَّةِ يَوْمَ الخَمِيسِ. قَبْلَ أَنْ يَنَامَا، يُحَضِّرُ كُلٌّ مِنْهُمَا حَقِيبَتَهُ وَمَلَابِسَهُ لِلْيَوْمِ التَّالِي. يَوْمَ السَّبْتِ يَزُورُ يُوسُفُ أَقَارِبَهُ، بَيْنَمَا تَلْتَقِي هُدَى بِصَدِيقَاتِهَا.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(website, 6 marks). Read twice; use two voices if possible.
SCRIPT: المُحَاوِرُ: مَتَى تَسْتَيْقِظُ فِي أَيَّامِ الدِّرَاسَةِ يَا سَمِيرُ؟ سَمِيرٌ: أَسْتَيْقِظُ فِي السَّادِسَةِ وَالرُّبْعِ. المُحَاوِرُ: كَمْ مَرَّةً تَتَمَرَّنُ فِي الأُسْبُوعِ؟ سَمِيرٌ: أَتَمَرَّنُ أَرْبَعَ مَرَّاتٍ. يَوْمُ الثُّلَاثَاءِ مُخْتَلِفٌ لِأَنَّ نَادِي العُلُومِ يَنْتَهِي فِي الخَامِسَةِ وَالرُّبْعِ. بَعْدَ أَنْ أَعُودَ إِلَى البَيْتِ أَتَنَاوَلُ العَشَاءَ، ثُمَّ أُكْمِلُ وَاجِبِي. فِي نِهَايَةِ الأُسْبُوعِ أَسْتَيْقِظُ حَوَالَيْ الثَّامِنَةِ وَالنِّصْفِ. رُوتِينِي فِي أَيَّامِ الدِّرَاسَةِ مُنَظَّمٌ، أَمَّا فِي نِهَايَةِ الأُسْبُوعِ فَهُوَ أَكْثَرُ مَرُونَةً.
Listening total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instruction: “Read once for the overall pattern, then return to exact details, time expressions, references and contrasts.” No English support on assessment texts (access arrangement: questions may be read aloud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 Show the text slide again whenever students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/5. Q2: السَّادِسَةِ وَخَمْسٍ وَعِشْرِينَ دَقِيقَةً =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(website, 20 marks). Three routes (website): type, write or draw on screen, or on paper.
MARK SCHEME (website): Form /5 — one mark for each field completed in Arabic with a precise word, phrase or sentence. Article /15 — Task 5 (all six content points with relevant detail) · Range 5 (time, frequency, sequence, questions or answers, person change, contrast) · Accuracy 5 (present-tense prefixes, feminine forms, possessive reference, verbs after أَنْ).
Core access: the D1-L11 (website) sentence frames may be used for Question 1 only; Question 2 is independent.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MODEL (the website does not print a model for this task; this is the D1-L11 (website) model, shortened).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10 marks). “Prepare key words only; do not memorise a full script.”
Development standard (website): respond directly, then add a precise time or frequency, reason, example and contrast where useful.
MARK SCHEME: Role-play /4 (one mark per task completed intelligibly). Topic conversation /6 — reward direct answers, precise detail, reasons/examples, a contrast and accuracy of person and time.
ORGANISATION: one-to-one with the teacher (others finish writing), or in trusted pairs with the teacher listening. Ask ONE unseen follow-up to Stretch students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priority · next action — Topic A reflection and Topic B readiness”): “Use a result, sentence or speaking example — not a general feeling.”
The bands are a teacher guide in line with the F1 / F2 assessments (the website totals the four scores but does not print bands).
A precise action = rule + task + frequency (D1-L11, website), e.g. “Verb after an: five sentences every two days; check in D2-L03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(TB-L01 · Identity and Personal Profiles) will spend class time USING this language, so students prepare it tonight — short, simple, easy to access (school guidance: “Simple, Short, Interesting, Relevant, Easy to access”). Topic B begins with identity and personal profiles (TB-L01, lesson engine F2-L10 — the five words come from its preparation list).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Topic A Review and Assessment</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مُرَاجَعَةُ الْمَوْضُوعِ أ وَالتَّقْيِيمُ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Retrieve the complete Topic A language, practise all four skills and identify your next revision target.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AT-A-L12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Readiness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الاِسْتِعْدَادُ</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my strength, my Topic B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Topic B: identity.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Each section starts with the easier questions. Leave a blank and come back. The readiness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at seven o’clock.”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 فِي السَّاعَةِ السَّابِعَةِ.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فِي السَّاعَةِ السَّابِعَةِ.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السَّابِعَةَ سَاعَةً.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Order politely from a WAITRESS.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شَايًا، مِنْ فَضْلِكِ.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شَايًا، مِنْ فَضْلِكَ.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أَعْطِنِي شَايًا.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had pain in my back for two days.”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أَلَمٌ فِي ظَهْرِي فِي يَوْمَيْنِ.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 أَلَمٌ فِي ظَهْرِي مُنْذُ يَوْمَيْنِ.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أَلَمٌ فِي ظَهْرِي مُنْذُ يَوْمَيْنِ.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advice: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تَسْتَرِيحُ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اِسْتَرِحْ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تَسْتَرِيحَ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goes to school by bike.”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تَذْهَبُ إِلَى المَدْرَسَةِ عَلَى الدَّرَّاجَةِ.</a:t>
            </a:r>
            <a:endParaRPr lang="ar-SA" sz="2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تَذْهَبُ إِلَى المَدْرَسَةِ بِمَشْيًا.</a:t>
            </a:r>
            <a:endParaRPr lang="ar-SA" sz="2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يَذْهَبُ إِلَى المَدْرَسَةِ عَلَى الدَّرَّاجَةِ.</a:t>
            </a:r>
            <a:endParaRPr lang="ar-SA" sz="20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at seven o’clock.”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 فِي السَّاعَةِ السَّابِعَةِ.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 فِي السَّاعَةِ السَّابِعَةِ.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 السَّابِعَةَ سَاعَةً.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AT-A-L01–L02: I + time.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Order politely from a WAITRESS.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شَايًا، مِنْ فَضْلِكِ.</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شَايًا، مِنْ فَضْلِكَ.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أَعْطِنِي شَايًا.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AT-A-L05: -ki to a woman.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had pain in my back for two days.”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أَلَمٌ فِي ظَهْرِي فِي يَوْمَيْنِ.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عِنْدَهُ أَلَمٌ فِي ظَهْرِي مُنْذُ يَوْمَيْنِ.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أَلَمٌ فِي ظَهْرِي مُنْذُ يَوْمَيْنِ.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AT-A-L07: ‘indī + mundhu.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advice: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تَسْتَرِيحُ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اِسْتَرِحْ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تَسْتَرِيحَ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AT-A-L08: -a after “an”.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goes to school by bike.”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تَذْهَبُ إِلَى المَدْرَسَةِ عَلَى الدَّرَّاجَةِ.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تَذْهَبُ إِلَى المَدْرَسَةِ بِمَشْيًا.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يَذْهَبُ إِلَى المَدْرَسَةِ عَلَى الدَّرَّاجَةِ.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AT-A-L09: ‘alā + she = ta-.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It samples all of Topic A: routine and time · café · health · advice · transport.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مُرَاجَعَةٌ ثُمَّ تَقْيِيمٌ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 at half past seven”.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هِيَ يَتَنَاوَلُ الإِفْطَارَ فِي السَّابِعَةِ وَالنِّصْفِ.</a:t>
            </a:r>
            <a:endParaRPr lang="ar-SA" sz="16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هِيَ تَتَنَاوَلُ الإِفْطَارَ فِي السَّابِعَةِ وَالنِّصْفِ.</a:t>
            </a:r>
            <a:endParaRPr lang="ar-SA" sz="16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هِيَ أَتَنَاوَلُ الإِفْطَارَ فِي السَّابِعَةِ وَالنِّصْفِ.</a:t>
            </a:r>
            <a:endParaRPr lang="ar-SA" sz="16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بَعْدَ أَنْ ___ وَاجِبِي، أَسْتَرِيحُ.</a:t>
            </a:r>
            <a:endParaRPr lang="ar-SA" sz="12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أَكْمَلْتُ</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about Ali and his sister.</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تَدْرُسُ، وَأُخْتُهُ يَقْرَأُ.</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أَدْرُسُ، وَأُخْتُهُ نَقْرَأُ.</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يَدْرُسُ، وَأُخْتُهُ تَقْرَأُ.</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weekend comparison.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فِي الأُسْبُوعِ أَدْرُسُ، أَمَّا يَوْمَ السَّبْتِ أَسْتَرِيحُ فَـ.</a:t>
            </a:r>
            <a:endParaRPr lang="ar-SA"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أَمَّا أَدْرُسُ فِي السَّبْتِ كُلَّ يَوْمٍ.</a:t>
            </a:r>
            <a:endParaRPr lang="ar-SA"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فِي الأُسْبُوعِ أَدْرُسُ كُلَّ يَوْمٍ، أَمَّا يَوْمَ السَّبْتِ فَأَسْتَرِيحُ.</a:t>
            </a:r>
            <a:endParaRPr lang="ar-SA"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 the error:</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أَنْتِ تَسْتَيْقِظُ فِي السَّابِعَةِ.</a:t>
            </a:r>
            <a:endParaRPr lang="ar-SA" sz="14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 تَسْتَيْقِظِينَ فِي السَّابِعَةِ.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 يَسْتَيْقِظُ فِي السَّابِعَةِ.</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 أَسْتَيْقِظُ فِي السَّابِعَةِ.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sequence and reference.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يَعُودُ مَرْيَمُ إِلَى البَيْتِ، ثُمَّ يُكْمِلُ وَاجِبَهُ.</a:t>
            </a:r>
            <a:endParaRPr lang="ar-SA" sz="160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تَعُودُ مَرْيَمُ إِلَى البَيْتِ، ثُمَّ تُكْمِلُ وَاجِبَهَا.</a:t>
            </a:r>
            <a:endParaRPr lang="ar-SA" sz="160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تَعُودُ مَرْيَمُ، ثُمَّ أُكْمِلُ وَاجِبِي.</a:t>
            </a:r>
            <a:endParaRPr lang="ar-SA" sz="16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 at half past seven”.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هِيَ يَتَنَاوَلُ الإِفْطَارَ فِي السَّابِعَةِ وَالنِّصْفِ.</a:t>
            </a:r>
            <a:endParaRPr lang="ar-SA" sz="16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هِيَ تَتَنَاوَلُ الإِفْطَارَ فِي السَّابِعَةِ وَالنِّصْفِ.</a:t>
            </a:r>
            <a:endParaRPr lang="ar-SA" sz="16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هِيَ أَتَنَاوَلُ الإِفْطَارَ فِي السَّابِعَةِ وَالنِّصْفِ.</a:t>
            </a:r>
            <a:endParaRPr lang="ar-SA" sz="16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تَتَنَاوَلُ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بَعْدَ أَنْ ___ وَاجِبِي، أَسْتَرِيحُ.</a:t>
            </a:r>
            <a:endParaRPr lang="ar-SA" sz="12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أُكْمِلَ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أُكْمِلُ</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أَكْمَلْتُ</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present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أُكْمِلَ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about Ali and his sister.</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 تَدْرُسُ، وَأُخْتُهُ يَقْرَأُ.</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 أَدْرُسُ، وَأُخْتُهُ نَقْرَأُ.</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عَلِيٌّ يَدْرُسُ، وَأُخْتُهُ تَقْرَأُ.</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singular uses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 feminine singular uses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weekend comparison.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فِي الأُسْبُوعِ أَدْرُسُ، أَمَّا يَوْمَ السَّبْتِ أَسْتَرِيحُ فَـ.</a:t>
            </a:r>
            <a:endParaRPr lang="ar-SA"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أَمَّا أَدْرُسُ فِي السَّبْتِ كُلَّ يَوْمٍ.</a:t>
            </a:r>
            <a:endParaRPr lang="ar-SA"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فِي الأُسْبُوعِ أَدْرُسُ كُلَّ يَوْمٍ، أَمَّا يَوْمَ السَّبْتِ فَأَسْتَرِيحُ.</a:t>
            </a:r>
            <a:endParaRPr lang="ar-SA"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topic and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introduces the comment.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 the error:</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أَنْتِ تَسْتَيْقِظُ فِي السَّابِعَةِ.</a:t>
            </a:r>
            <a:endParaRPr lang="ar-SA" sz="14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أَنْتِ تَسْتَيْقِظِينَ فِي السَّابِعَةِ.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 يَسْتَيْقِظُ فِي السَّابِعَةِ.</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 أَسْتَيْقِظُ فِي السَّابِعَةِ.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listener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sequence and reference.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يَعُودُ مَرْيَمُ إِلَى البَيْتِ، ثُمَّ يُكْمِلُ وَاجِبَهُ.</a:t>
            </a:r>
            <a:endParaRPr lang="ar-SA" sz="16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تَعُودُ مَرْيَمُ إِلَى البَيْتِ، ثُمَّ تُكْمِلُ وَاجِبَهَا.</a:t>
            </a:r>
            <a:endParaRPr lang="ar-SA" sz="16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تَعُودُ مَرْيَمُ، ثُمَّ أُكْمِلُ وَاجِبِي.</a:t>
            </a:r>
            <a:endParaRPr lang="ar-SA" sz="16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subject and possessive suffix remain consistent.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TOPIC A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A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Topic A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Complete one short listening, reading, speaking and writing station. At every station, retrieve language from a different Topic A subtopic.</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stations, 1 minute each (FLEX: use before the assessment or as a revision lesson).</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LISTEN: teacher reads a café line — students type what was ordered.</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a health sentence on screen — students give symptom + duration. SPEAK: 20s on your journey to school.</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one routine sentence with a time and a frequency word. Then note your weakest station.</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per station — use the five structures you prepared.</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per station, each from a different Topic A subtopic.</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Connect the stations: a day with a café, a health problem and a journey, using time words.</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أُرِيدُ … مِنْ فَضْلِكَ</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café (AT-A-L05)</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 مُنْذُ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health (AT-A-L07)</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أَذْهَبُ بِـ … / عَلَى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transport (AT-A-L09)</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دَائِمًا أَسْتَيْقِظُ فِي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routine (AT-A-L01–L03)</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60-mark Topic A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Maryam’s school day (8) · Yusuf and Huda (6) · an interview with Samir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 · </a:t>
            </a:r>
            <a:pPr algn="l" indent="0" marL="0">
              <a:buNone/>
            </a:pPr>
            <a:r>
              <a:rPr lang="ar-SA" altLang="en-US" sz="1450" dirty="0">
                <a:solidFill>
                  <a:srgbClr val="5A6472"/>
                </a:solidFill>
                <a:latin typeface="Amiri" pitchFamily="2" charset="-78"/>
                <a:ea typeface="Amiri" pitchFamily="2" charset="-78"/>
                <a:cs typeface="Amiri" pitchFamily="2" charset="-78"/>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school-day and weekend routine: ten questions — locate, interpret, prove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 · </a:t>
            </a:r>
            <a:pPr algn="l" indent="0" marL="0">
              <a:buNone/>
            </a:pPr>
            <a:r>
              <a:rPr lang="ar-SA" altLang="en-US" sz="1450" dirty="0">
                <a:solidFill>
                  <a:srgbClr val="5A6472"/>
                </a:solidFill>
                <a:latin typeface="Amiri" pitchFamily="2" charset="-78"/>
                <a:ea typeface="Amiri" pitchFamily="2" charset="-78"/>
                <a:cs typeface="Amiri" pitchFamily="2" charset="-78"/>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Routine form: five fields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 · </a:t>
            </a:r>
            <a:pPr algn="l" indent="0" marL="0">
              <a:buNone/>
            </a:pPr>
            <a:r>
              <a:rPr lang="ar-SA" altLang="en-US" sz="1450" dirty="0">
                <a:solidFill>
                  <a:srgbClr val="5A6472"/>
                </a:solidFill>
                <a:latin typeface="Amiri" pitchFamily="2" charset="-78"/>
                <a:ea typeface="Amiri" pitchFamily="2" charset="-78"/>
                <a:cs typeface="Amiri" pitchFamily="2" charset="-78"/>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Role-play (4) · topic conversation (6) — prepare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 · </a:t>
            </a:r>
            <a:pPr algn="l" indent="0" marL="0">
              <a:buNone/>
            </a:pPr>
            <a:r>
              <a:rPr lang="ar-SA" altLang="en-US" sz="1450" dirty="0">
                <a:solidFill>
                  <a:srgbClr val="5A6472"/>
                </a:solidFill>
                <a:latin typeface="Amiri" pitchFamily="2" charset="-78"/>
                <a:ea typeface="Amiri" pitchFamily="2" charset="-78"/>
                <a:cs typeface="Amiri" pitchFamily="2" charset="-78"/>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8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Text 1 · Maryam describes a school day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 on school days?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 after waking?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checks messages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showers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leaves home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leave home?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7:45</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usually travel?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starts at 8:20?</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registration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attend the school club?</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does she do before using her phone in the evening?</a:t>
            </a:r>
            <a:endParaRPr lang="en-US" sz="110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finishes homework</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a friend</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shopping</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usually sleep?</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9:30</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11:30</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10:30</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 on school days?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6:10</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السَّادِسَةِ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 after waking?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checks messages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showers</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leaves home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showers before getting dressed.</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leave home?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7:45</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leaves at a quarter to eight.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usually travel?</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usually takes the bus.</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starts at 8:20?</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first lesson</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registration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lesson starts at twenty past eight.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attend the school club?</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attends on Tuesday and Thursday.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does she do before using her phone in the evening?</a:t>
            </a:r>
            <a:endParaRPr lang="en-US" sz="110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finishes homework</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a friend</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shopping</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completes homework first.</a:t>
            </a:r>
            <a:endParaRPr lang="en-US" sz="10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usually sleep?</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9:30</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11:30</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10:30</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sleeps at half past ten.</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Text 2 · Yusuf and Huda compare their routines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home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at the same time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studies before eating?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Yusuf play football?</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evening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do on Thursday?</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attends an Arabic club</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her grandmother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gets ready for the next day before sleeping?</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 only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the main difference between their weekends?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 visits family; Huda meets friends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studies; Yusuf works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stay home all weekend</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for ya- (Yusuf) and ta- (Huda).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home earlier?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at the same time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returns at 3:20; Huda returns at 4:00.</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studies before eating?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Huda studies for an hour before dinner.</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Yusuf play football?</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evening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plays on Monday, Wednesday and Friday.</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do on Thursday?</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attends an Arabic club</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her grandmother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Thursday is her Arabic-club day.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gets ready for the next day before sleeping?</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 only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prepare their bags and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the main difference between their weekends?</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Yusuf visits family; Huda meets friends</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Huda studies; Yusuf works</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both stay home all weekend</a:t>
            </a:r>
            <a:endParaRPr lang="en-US" sz="12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Their Saturday activities are different.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for ya- (Yusuf) and ta- (Huda).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Text 3 · Interview about routine and time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interviewer ask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wake-up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 address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Samir exercise?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month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morning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times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different?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 a late science club</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closed</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club?</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straight to sleep</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then completes homework</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wake at the weekend?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8:30</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 exactly</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midday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contrast does he make?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weekends are busier than school days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routine never changes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school days are organised; weekends are more flexible</a:t>
            </a:r>
            <a:endParaRPr lang="en-US" sz="120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AN INTERVIEW</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Keep listening after “as for …”.</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interviewer ask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favourite subject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wake-up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 address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interview begins with </a:t>
            </a:r>
            <a:pPr algn="l" indent="0" marL="0">
              <a:buNone/>
            </a:pPr>
            <a:r>
              <a:rPr lang="ar-SA" altLang="en-US" sz="1350" dirty="0">
                <a:solidFill>
                  <a:srgbClr val="8A6D1E"/>
                </a:solidFill>
                <a:latin typeface="Amiri" pitchFamily="2" charset="-78"/>
                <a:ea typeface="Amiri" pitchFamily="2" charset="-78"/>
                <a:cs typeface="Amiri" pitchFamily="2" charset="-78"/>
              </a:rPr>
              <a:t>مَتَى تَسْتَيْقِظُ؟</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Samir exercise?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a month</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morning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times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أَرْبَعَ مَرَّاتٍ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different?</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has a late science club</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is closed</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science club finishes at 5:15.</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club?</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straight to sleep</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eats, then completes homework</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eats first and then completes his homework.</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wake at the weekend?</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8:30</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6:00 exactly</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midday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حَوَالَيْ الثَّامِنَةِ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contrast does he make?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weekends are busier than school days</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routine never changes</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school days are organised; weekends are more flexible</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contrasts an organised school routine with a more flexible weekend.</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AN INTERVIEW</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Keep listening after “as for …”.</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cs typeface="Amiri" pitchFamily="2" charset="-78"/>
              </a:rPr>
              <a:t>READING · 10 MARKS · READ ONCE FOR THE PATTERN, THEN FOR EXACT DETAILS (WEBSITE)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 A school-day and weekend routine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2" charset="-78"/>
                <a:ea typeface="Amiri" pitchFamily="2" charset="-78"/>
                <a:cs typeface="Amiri" pitchFamily="2" charset="-78"/>
              </a:rPr>
              <a:t>أَكْتُبُ عَنْ رُوتِينِي فِي أَيَّامِ الدِّرَاسَةِ وَفِي نِهَايَةِ الأُسْبُوعِ. مِنَ الاِثْنَيْنِ إِلَى الجُمُعَةِ أَسْتَيْقِظُ فِي السَّادِسَةِ وَخَمْسٍ وَعِشْرِينَ دَقِيقَةً. أَرْتَدِي مَلَابِسِي وَأُحَضِّرُ حَقِيبَتِي قَبْلَ أَنْ أَتَنَاوَلَ الإِفْطَارَ. أَخْرُجُ فِي السَّابِعَةِ وَالنِّصْفِ، وَتَسْتَغْرِقُ رِحْلَتِي إِلَى المَدْرَسَةِ حَوَالَيْ عِشْرِينَ دَقِيقَةً. بَعْدَ المَدْرَسَةِ أَذْهَبُ إِلَى السِّبَاحَةِ مَرَّتَيْنِ فِي الأُسْبُوعِ، يَوْمَ الاِثْنَيْنِ وَالأَرْبِعَاءِ. فِي الأَيَّامِ الأُخْرَى أُكْمِلُ وَاجِبِي فِي المَكْتَبَةِ، بَيْنَمَا يَلْعَبُ أَخِي أَلْعَابَ الحَاسُوبِ فِي البَيْتِ. يَوْمُ الخَمِيسِ مُخْتَلِفٌ لِأَنَّ لَدَيَّ دَرْسًا عَبْرَ الإِنْتَرْنِتِ فِي اللُّغَةِ العَرَبِيَّةِ، وَهُوَ يَبْدَأُ فِي السَّادِسَةِ وَيَنْتَهِي فِي السَّابِعَةِ إِلَّا الرُّبْعَ. أَمَّا يَوْمَ السَّبْتِ فَأَسْتَيْقِظُ مُتَأَخِّرًا، وَأُسَاعِدُ أُسْرَتِي فِي البَيْتِ قَبْلَ أَنْ أَلْتَقِيَ بِصَدِيقَاتِي. فِي رَأْيِي، التَّنْظِيمُ فِي أَيَّامِ الدِّرَاسَةِ يُسَاعِدُنِي عَلَى إِنْجَازِ عَمَلِي، وَلٰكِنَّ الوَقْتَ الأَكْثَرَ مَرُونَةً فِي نِهَايَةِ الأُسْبُوعِ مُهِمٌّ أَيْضًا، لِأَنَّهُ يَسْمَحُ لِي بِالرَّاحَةِ وَقَضَاءِ الوَقْتِ مَعَ الآخَرِينَ.</a:t>
            </a:r>
            <a:endParaRPr lang="ar-SA" sz="225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describing?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holiday journey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school-day and weekend routines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wake on school days?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6:25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before breakfast?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does homework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gets dressed and prepares her bag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meets friends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to school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twenty minutes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minutes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after-school activity happens twice weekly?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library study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visit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describing?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holiday journey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town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school-day and weekend routines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compares two routine patterns.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wake on school days?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6:25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6:45</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السَّادِسَةِ وَخَمْسٍ وَعِشْرِينَ دَقِيقَةً = 6:25.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before breakfast?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does homework</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gets dressed and prepares her bag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meets friends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actions happen before breakfast.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to school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twenty minutes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minutes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تَسْتَغْرِقُ الرِّحْلَةُ حَوَالَيْ عِشْرِينَ دَقِيقَةً.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after-school activity happens twice weekly?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library study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visit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swims on Monday and Wednesday.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brother do while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computer games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cooks dinner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Thursday evening different?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finishes school early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attends an online Arabic lesson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works in a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on Saturday?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helps at home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meets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goes to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refer to in the final paragraph?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waking early for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journey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having more flexible time at the weekend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best summarises her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every part of her routine.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wants the same timetable every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values organisation on school days and flexibility at weekends.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Q9: what does “this” refer to?</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brother do while she studies?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plays computer games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cooks dinner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contrast is introduced by </a:t>
            </a:r>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Thursday evening different?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finishes school early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attends an online Arabic lesson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works in a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online lesson changes the usual evening sequence.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on Saturday?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helps at home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meets friends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goes to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helps at home before going out.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refer to in the final paragraph?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waking early for school</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journey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having more flexible time at the weekend</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demonstrative refers to the more flexible weekend routine.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best summarises her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dislikes every part of her routine.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She wants the same timetable every day.</a:t>
            </a:r>
            <a:endParaRPr lang="en-US" sz="11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values organisation on school days and flexibility at weekends.</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conclusion is balanced and compares the benefits of both routines.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Q9: what does “this” refer to?</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20 MARKS ·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1 · routine form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وَقْتُ الاِسْتِيقَاظِ: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a young Arabic-speaking reader, include: 1 a school-day routine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تَفْعَلُ قَبْلَ الإِفْطَارِ؟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exact times and frequency · 3 before and after school</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مَرَّةً تَتَمَرَّنُ؟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another person’s routine · 5 a weekend comparison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تَفْعَلُ بَعْدَ المَدْرَسَةِ؟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a reasoned opinion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وَقْتُ النَّوْمِ: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Marked for Task (5) · Range (5) · Accuracy (5)</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Check before you finish: I / he / she prefixes · she → -hā · verb after “an” · past / to the hour.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8A6D1E"/>
                </a:solidFill>
                <a:latin typeface="Calibri" pitchFamily="34" charset="0"/>
                <a:cs typeface="Amiri" pitchFamily="2" charset="-78"/>
              </a:rPr>
              <a:t>WRITING · A STRONG ANSWER (TEACHER MODEL, AS IN D1-L11, WEBSITE) · SHOW AFTER WRITING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أَسْتَيْقِظُ فِي أَيَّامِ الدِّرَاسَةِ فِي السَّادِسَةِ وَالنِّصْفِ، وَأَتَنَاوَلُ الإِفْطَارَ قَبْلَ أَنْ أَخْرُجَ فِي السَّابِعَةِ وَالرُّبْعِ.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school-day routine · exact times · before + verb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أَسْتَقِلُّ الحَافِلَةَ لِأَنَّ المَدْرَسَةَ بَعِيدَةٌ. بَعْدَ أَنْ أَعُودَ، أَسْتَرِيحُ نِصْفَ سَاعَةٍ، ثُمَّ أُكْمِلُ وَاجِبِي.</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after school · reason · after + verb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أَتَمَرَّنُ مَرَّتَيْنِ فِي الأُسْبُوعِ، بَيْنَمَا تَتَمَرَّنُ أُخْتِي كُلَّ يَوْمٍ تَقْرِيبًا.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frequency · 4 another person (ta-)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فِي نِهَايَةِ الأُسْبُوعِ فَأَنَامُ وَقْتًا أَطْوَلَ، وَغَالِبًا مَا أَزُورُ أَقَارِبِي.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weekend comparison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 رُوتِينِي مُتَوَازِنٌ، وَلٰكِنَّنِي أُرِيدُ أَنْ أَنَامَ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 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SPEAKING · 10 MARKS · ROLE-PLAY (4) + TOPIC CONVERSATION (6)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Topic conversation · possible questions (6)</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Role-play (4) · ask and answer about …</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330952" y="2267712"/>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رُوتِينَكَ فِي يَوْمٍ دِرَاسِيٍّ، وَاذْكُرْ أَوْقَاتًا دَقِيقَةً.</a:t>
            </a:r>
            <a:endParaRPr lang="ar-SA" sz="2000" dirty="0"/>
          </a:p>
        </p:txBody>
      </p:sp>
      <p:sp>
        <p:nvSpPr>
          <p:cNvPr id="20" name="Text 17"/>
          <p:cNvSpPr txBox="1"/>
          <p:nvPr/>
        </p:nvSpPr>
        <p:spPr>
          <a:xfrm>
            <a:off x="566928" y="2267712"/>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wake-up time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330952" y="3054096"/>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يَفْعَلُ شَخْصٌ آخَرُ فِي أُسْرَتِكَ بَعْدَ المَدْرَسَةِ أَوِ العَمَلِ؟</a:t>
            </a:r>
            <a:endParaRPr lang="ar-SA" sz="2000" dirty="0"/>
          </a:p>
        </p:txBody>
      </p:sp>
      <p:sp>
        <p:nvSpPr>
          <p:cNvPr id="25" name="Text 22"/>
          <p:cNvSpPr txBox="1"/>
          <p:nvPr/>
        </p:nvSpPr>
        <p:spPr>
          <a:xfrm>
            <a:off x="566928" y="3054096"/>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an after-school activity</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330952" y="3840480"/>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كَمْ مَرَّةً تَقُومُ بِنَشَاطٍ مُعَيَّنٍ فِي الأُسْبُوعِ، وَلِمَاذَا؟</a:t>
            </a:r>
            <a:endParaRPr lang="ar-SA" sz="2000" dirty="0"/>
          </a:p>
        </p:txBody>
      </p:sp>
      <p:sp>
        <p:nvSpPr>
          <p:cNvPr id="30" name="Text 27"/>
          <p:cNvSpPr txBox="1"/>
          <p:nvPr/>
        </p:nvSpPr>
        <p:spPr>
          <a:xfrm>
            <a:off x="566928" y="3840480"/>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how often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330952" y="4626864"/>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قَارِنْ بَيْنَ رُوتِينِكَ فِي أَيَّامِ الدِّرَاسَةِ وَرُوتِينِكَ فِي نِهَايَةِ الأُسْبُوعِ.</a:t>
            </a:r>
            <a:endParaRPr lang="ar-SA" sz="2000" dirty="0"/>
          </a:p>
        </p:txBody>
      </p:sp>
      <p:sp>
        <p:nvSpPr>
          <p:cNvPr id="35" name="Text 32"/>
          <p:cNvSpPr txBox="1"/>
          <p:nvPr/>
        </p:nvSpPr>
        <p:spPr>
          <a:xfrm>
            <a:off x="566928" y="4626864"/>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changed timetable detail</a:t>
            </a:r>
            <a:endParaRPr lang="en-US" sz="11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Prepare cue words only (website): direct answer + exact time · frequency + reason or example · another person + weekend contrast.</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RESULTS · RECORD YOUR PROFILE AND SET ONE TOPIC B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Topic A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Topic A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ready for Topic B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targeted Topic A retrieval early in Topic B</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on the lowest skill before Topic B</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in your book (website reflection): My strongest Topic A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my school day with exact times.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I / he / she verbs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before/after + a verb with the correct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ask a boy or a girl about their routine.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school days and the weekend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TB-L01 · Identity and Personal Profiles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ثَقَافَةٌ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culture</a:t>
            </a:r>
            <a:pPr indent="0" marL="0">
              <a:buNone/>
            </a:pPr>
            <a:r>
              <a:rPr lang="ar-SA" sz="1000" i="1" dirty="0">
                <a:solidFill>
                  <a:srgbClr val="5A6472"/>
                </a:solidFill>
                <a:latin typeface="Calibri" pitchFamily="34" charset="0"/>
                <a:ea typeface="Amiri" pitchFamily="2" charset="-78"/>
                <a:cs typeface="Amiri" pitchFamily="2" charset="-78"/>
              </a:rPr>
              <a:t>  pl. ثَقَافَاتٌ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customs, habits</a:t>
            </a:r>
            <a:pPr indent="0" marL="0">
              <a:buNone/>
            </a:pPr>
            <a:r>
              <a:rPr lang="ar-SA" sz="1000" i="1" dirty="0">
                <a:solidFill>
                  <a:srgbClr val="5A6472"/>
                </a:solidFill>
                <a:latin typeface="Calibri" pitchFamily="34" charset="0"/>
                <a:ea typeface="Amiri" pitchFamily="2" charset="-78"/>
                <a:cs typeface="Amiri" pitchFamily="2" charset="-78"/>
              </a:rPr>
              <a:t>  sg. عَادَةٌ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اِحْتِرَامٌ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respect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identity</a:t>
            </a:r>
            <a:pPr indent="0" marL="0">
              <a:buNone/>
            </a:pPr>
            <a:r>
              <a:rPr lang="ar-SA" sz="1000" i="1" dirty="0">
                <a:solidFill>
                  <a:srgbClr val="5A6472"/>
                </a:solidFill>
                <a:latin typeface="Calibri" pitchFamily="34" charset="0"/>
                <a:ea typeface="Amiri" pitchFamily="2" charset="-78"/>
                <a:cs typeface="Amiri" pitchFamily="2" charset="-78"/>
              </a:rPr>
              <a:t>  pl. هُوِيَّاتٌ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فَخُورٌ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proud</a:t>
            </a:r>
            <a:pPr indent="0" marL="0">
              <a:buNone/>
            </a:pPr>
            <a:r>
              <a:rPr lang="ar-SA" sz="1000" i="1" dirty="0">
                <a:solidFill>
                  <a:srgbClr val="5A6472"/>
                </a:solidFill>
                <a:latin typeface="Calibri" pitchFamily="34" charset="0"/>
                <a:ea typeface="Amiri" pitchFamily="2" charset="-78"/>
                <a:cs typeface="Amiri" pitchFamily="2" charset="-78"/>
              </a:rPr>
              <a:t>  f. فَخُورَةٌ · pl. فَخُورُونَ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makes up your identity? Name two things (languages, family, faith, places …).</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هُوِيَّتُكَ؟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readiness check on the website; learn the five Topic B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then learn the Topic B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Topic A reflection (strongest evidence + one precise next action) and 3 sentences about your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TB-L01 · Identity and Personal Profiles</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الهُوِيَّةُ وَالمَلَفَّاتُ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A complete — well done! Learn 5 identity words for Topic 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AT-A-L12 · Topic A Review and Assessment</dc:title>
  <dc:subject>PptxGenJS Presentation</dc:subject>
  <dc:creator>Al Madina Online School · Arabic Department</dc:creator>
  <cp:lastModifiedBy>Al Madina Online School · Arabic Department</cp:lastModifiedBy>
  <cp:revision>1</cp:revision>
  <dcterms:created xsi:type="dcterms:W3CDTF">2026-10-11T06:43:47Z</dcterms:created>
  <dcterms:modified xsi:type="dcterms:W3CDTF">2026-10-11T06:43:47Z</dcterms:modified>
</cp:coreProperties>
</file>