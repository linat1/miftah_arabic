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A · AT-A-L01 — Time and Daily Routine. Website: Advanced Topics › Topic A (Everyday Activities) › Lesson 1.
The website builds this lesson on the D1-L01 lesson engine, with the Topic focus “Describe your daily routine using accurate present-tense verbs, times and connected sentences.” (grammar: Present tense; subject–verb agreement; skills: Speaking · Writing) and the application challenge “Routine sequencing race”. This deck follows the same engine, re-sequenced for Topic A: lesson references now point to Topic A codes (lessons outside Topic A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A Daily Routine and Time › AT-A-L01. The website lesson “My Morning Routine”: vocabulary, grammar rules and quiz, patterns, common mistakes, sorter, listening, reading, speaking prompts and model, writing task and model, differentiation, final check and the lesson mission. Picture match: website visual game “My Morning Routine”.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First Development lesson (Year 8): the class moves from Foundation chunks to CONTROLLING verbs. Core: ten routine verbs as whole chunks in the “I” form + أَوَّلًا / ثُمَّ. Develop: change the person prefix (أَ / يَ / تَ / نَ). Stretch: name the derived pattern (V, VI, VIII, X) and keep it whole.
• Weak / mixed class: the verb table (I · he · she · we) is the anchor for the whole lesson — keep it visible in You Do.
• Core supports: transliteration on every card, English on every model, picture match with icons, frames and a word bank.
• Urdu bridge: صبح، ناشتہ (not Arabic!), غسل، وضو، تیار — many students already use وضو and غسل.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Retrieval from Foundation (pronouns, the present-tense prefix, time words) — the building blocks for today’s routine verbs.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first letter of a present verb tells you WHO: أَـ I · يَـ he · تَـ she · نَـ 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صبح (subah → الصَّبَاحُ), غسل (ghusl → أَغْتَسِلُ I shower), وضو (wuzu → أَتَوَضَّأُ), مستعد (mustaid → أَسْتَعِدُّ I get ready), عادت (ādat → عَادَةً usually). Warning: Urdu ناشتہ (breakfast) is NOT Arabic — the Arabic is الإِفْطَارُ.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Morning routine verbs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Morning routine verbs (website vocabulary (2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Sequence and frequency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Sequence and frequency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Useful detail (website vocabulary).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“Match the person prefix to the subject” (أَنَا أَـ · هُوَ يَـ · هِيَ تَـ · نَحْنُ نَـ). Blue = I / he / we; pink = she.
Read each row across; students repeat. Website examples: أَنَا أَسْتَيْقِظُ مُبَكِّرًا · أَخِي يَسْتَعِدُّ بِسُرْعَةٍ · أُخْتِي تَتَنَاوَلُ الإِفْطَارَ · نَحْنُ نَخْرُجُ مَعًا.
Website tip: in connected writing, vary the subject instead of keeping every sentence in the first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“Recognise Form V” and “Distinguish Forms VI, VIII and X”. Development Arabic moves beyond memorising isolated verbs: notice each derived pattern, preserve its added letters, then change the person prefix.
Website common error: do not reduce أَسْتَيْقِظُ to أَيْقِظُ, change أَتَنَاوَلُ to أَنَاوَلُ, or treat all derived verbs as one pattern.
Core: recognition only — “the long verbs keep all their letters”. Stretch: name the form of each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“Build a connected routine, not a list” with the website examples. Sequence markers turn separate actions into a coherent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“Development Arabic moves beyond memorising isolated verbs. Notice each derived pattern, preserve its added letters, and then change the person prefix. In this lesson, Form V includes تَوَضَّأَ and تَمَرَّنَ; Form VI includes تَنَاوَلَ; Form VIII includes اِغْتَسَلَ and اِرْتَدَى; and Form X includes اِسْتَيْقَظَ, اِسْتَعَدَّ and اِسْتَقَلَّ.”
• Recognise Form V as a patterned verb: Many Form V verbs carry a reflexive or developed meaning. In the present tense, the initial person marker changes but the internal ت and shadda remain.
• Distinguish Forms VI, VIII and X: These patterns look different and should not be merged. تَنَاوَلَ is Form VI; اِغْتَسَلَ and اِرْتَدَى are Form VIII; اِسْتَيْقَظَ and اِسْتَعَدَّ are Form X. Preserve the full internal pattern when the person prefix changes.
• Match the person prefix to the subject: The verb must identify who performs the action. In connected writing, vary the subject instead of keeping every sentence in the first person.
• Build a connected routine, not a list: Sequence markers turn separate actions into a coherent account. Frequency adverbs normally follow the verb or stand near the start for emphasis.
Website common error: Do not reduce أَسْتَيْقِظُ to أَيْقِظُ, change أَتَنَاوَلُ to أَنَاوَلُ, or treat all derived verbs as one pattern. The added letters identify the form and must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(website patterns 1–3); students watch, then COPY. Say each decision aloud: “Who? → prefix. Which pattern? → keep the letters. When / how often? → add a time or frequency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My Morning Routine”)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أَسْتَيْقِظُ (wake up) · أَسْنَانِي (my teeth) · الإِفْطَارَ (breakfast). All three start with أَـ / أُـ =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My Morning Routine”)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أَسْتَيْقِظُ (wake up) · أَسْنَانِي (my teeth) · الإِفْطَارَ (breakfast). All three start with أَـ / أُـ =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Read each Arabic action and place it in the stage where it belongs. This supports listening, reading and connected writing.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Read each Arabic action and place it in the stage where it belongs. This supports listening, reading and connected writing.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5,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أَسْتَيْقِظُ عَادَةً فِي السَّادِسَةِ وَالرُّبْعِ، وَلٰكِنَّ أَخِي يَسْتَيْقِظُ بَعْدِي بِنِصْفِ سَاعَةٍ. أَوَّلًا أَغْتَسِلُ وَأَتَوَضَّأُ، ثُمَّ أَرْتَدِي زِيَّ المَدْرَسَةِ وَأُمَشِّطُ شَعْرِي. فِي السَّابِعَةِ إِلَّا عَشْرَ دَقَائِقَ أَتَنَاوَلُ إِفْطَارًا خَفِيفًا، وَبَعْدَ ذٰلِكَ أَسْتَعِدُّ لِلْخُرُوجِ. أَسْتَقِلُّ الحَافِلَةَ فِي السَّابِعَةِ وَالنِّصْفِ، وَأَصِلُ إِلَى المَدْرَسَةِ قَبْلَ بَدْءِ الدِّرَاسَةِ بِعَشْرِ دَقَائِقَ. أَحْيَانًا أَشْعُرُ بِالنُّعَاسِ، لٰكِنَّ الإِفْطَارَ يُسَاعِدُنِي عَلَى التَّرْكِيزِ.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A APPLICATION CHALLENGE (3 min — it takes the speaking-rehearsal slot; the website speaking slide after it is FLEX) — from the website Topic page: “Reorder mixed-up routine cards, add realistic times, then retell the day with accurate present-tense verbs and sequencing expressions.”
Cards to paste (mixed order): أَتَنَاوَلُ الإِفْطَارَ · أَسْتَيْقِظُ · أَرْتَدِي مَلَابِسِي · أَغْتَسِلُ · أَذْهَبُ إِلَى المَدْرَسَةِ · أُنَظِّفُ أَسْنَانِي. One sensible order: wake · wash · brush teeth · dress · breakfast · school (accept any order students can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A challenge before this slide is the main speaking task; use these website prompts if time allows or as homework rehearsal.
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“What do you do in the morning?” — answered with the Core stem. Summarise (↺): report your partner’s routine with يَـ / تَـ.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Build six accurate routine sentences using the model chunks. · Develop — Compare two routines and vary the subject pronouns. · Stretch — Explain how routine affects concentration or wellbeing using a developed opinion.
Website writing task (Stretch): Write 90–110 words comparing your real morning routine with an improved routine you would like to follow.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أَسْتَيْقِظُ، أَغْتَسِلُ، أَتَوَضَّأُ، أَرْتَدِي، أَتَنَاوَلُ، أَسْتَعِدُّ · Form X: أَسْتَيْقِظُ / أَسْتَعِدُّ · عَادَةً، أَحْيَانًا، أَوَّلًا، ثُمَّ، بَعْدَ ذٰلِكَ · فِي رَأْيِي … يَجْعَلُ.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(AT-A-L02 · Calendar, Dates and the School Week) will spend class time USING this language, so students prepare it tonight — short, simple, easy to access (school guidance: “Simple, Short, Interesting, Relevant, Easy to access”). The five words come from the website AT-A-L02 vocabulary (minutes past and to).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AT-A-L01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Time and Daily Routine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الْوَقْتُ وَالرُّوتِينُ الْيَوْمِيُّ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your daily routine using accurate present-tense verbs, times and connected sentences.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AT-A-L01 · Advanced Topic A · Everyday Activities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Morning verbs, then who is doing it: </a:t>
            </a:r>
            <a:pPr algn="ctr" indent="0" marL="0">
              <a:buNone/>
            </a:pPr>
            <a:r>
              <a:rPr lang="ar-SA" altLang="en-US" sz="1550" dirty="0">
                <a:solidFill>
                  <a:srgbClr val="1F2A37"/>
                </a:solidFill>
                <a:latin typeface="Amiri" pitchFamily="2" charset="-78"/>
                <a:cs typeface="Amiri" pitchFamily="2" charset="-78"/>
              </a:rPr>
              <a:t>أَ / يَ / تَ / نَ</a:t>
            </a:r>
            <a:pPr algn="ctr" indent="0" marL="0">
              <a:buNone/>
            </a:pPr>
            <a:r>
              <a:rPr lang="en-US" sz="1200" dirty="0">
                <a:solidFill>
                  <a:srgbClr val="1F2A37"/>
                </a:solidFill>
                <a:latin typeface="Calibri" pitchFamily="34" charset="0"/>
                <a:cs typeface="Amiri" pitchFamily="2" charset="-78"/>
              </a:rPr>
              <a: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morning,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AT-A-L02.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means “she”?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نَحْنُ</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sentence mean?</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أَذْهَبُ إِلَى المَدْرَسَةِ.</a:t>
            </a:r>
            <a:endParaRPr lang="ar-SA" sz="18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go to school.</a:t>
            </a:r>
            <a:endParaRPr lang="en-US" sz="12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goes to school.</a:t>
            </a:r>
            <a:endParaRPr lang="en-US" sz="12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go to school.</a:t>
            </a:r>
            <a:endParaRPr lang="en-US" sz="12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“the morning”?</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المَسَاءُ</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اللَّيْلُ</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الصَّبَاحُ</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“every day”?</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الصَّبَاحِ</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السَّاعَةِ السَّابِعَةِ</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كُلَّ يَوْمٍ</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“we eat”?</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نَأْكُلُ</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آكُلُ</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يَأْكُلُ</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means “she”?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نَحْنُ</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Foundation: </a:t>
            </a:r>
            <a:pPr algn="l" indent="0" marL="0">
              <a:buNone/>
            </a:pPr>
            <a:r>
              <a:rPr lang="ar-SA" altLang="en-US" sz="1350" dirty="0">
                <a:solidFill>
                  <a:srgbClr val="8A6D1E"/>
                </a:solidFill>
                <a:latin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 she · </a:t>
            </a:r>
            <a:pPr algn="l" indent="0" marL="0">
              <a:buNone/>
            </a:pPr>
            <a:r>
              <a:rPr lang="ar-SA" altLang="en-US" sz="1350" dirty="0">
                <a:solidFill>
                  <a:srgbClr val="8A6D1E"/>
                </a:solidFill>
                <a:latin typeface="Amiri" pitchFamily="2" charset="-78"/>
                <a:cs typeface="Amiri" pitchFamily="2" charset="-78"/>
              </a:rPr>
              <a:t>هُوَ</a:t>
            </a:r>
            <a:pPr algn="l" indent="0" marL="0">
              <a:buNone/>
            </a:pPr>
            <a:r>
              <a:rPr lang="en-US" sz="1050" i="1" dirty="0">
                <a:solidFill>
                  <a:srgbClr val="8A6D1E"/>
                </a:solidFill>
                <a:latin typeface="Calibri" pitchFamily="34" charset="0"/>
                <a:cs typeface="Amiri" pitchFamily="2" charset="-78"/>
              </a:rPr>
              <a:t> = he · </a:t>
            </a:r>
            <a:pPr algn="l" indent="0" marL="0">
              <a:buNone/>
            </a:pPr>
            <a:r>
              <a:rPr lang="ar-SA" altLang="en-US" sz="1350" dirty="0">
                <a:solidFill>
                  <a:srgbClr val="8A6D1E"/>
                </a:solidFill>
                <a:latin typeface="Amiri" pitchFamily="2" charset="-78"/>
                <a:cs typeface="Amiri" pitchFamily="2" charset="-78"/>
              </a:rPr>
              <a:t>نَحْنُ</a:t>
            </a:r>
            <a:pPr algn="l" indent="0" marL="0">
              <a:buNone/>
            </a:pPr>
            <a:r>
              <a:rPr lang="en-US" sz="1050" i="1" dirty="0">
                <a:solidFill>
                  <a:srgbClr val="8A6D1E"/>
                </a:solidFill>
                <a:latin typeface="Calibri" pitchFamily="34" charset="0"/>
                <a:cs typeface="Amiri" pitchFamily="2" charset="-78"/>
              </a:rPr>
              <a:t> = we.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sentence mean?</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أَذْهَبُ إِلَى المَدْرَسَةِ.</a:t>
            </a:r>
            <a:endParaRPr lang="ar-SA" sz="180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go to school.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goes to school.</a:t>
            </a:r>
            <a:endParaRPr lang="en-US" sz="125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 go to school.</a:t>
            </a:r>
            <a:endParaRPr lang="en-US" sz="125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 at the start = I.</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“the morning”?</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المَسَاءُ</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اللَّيْلُ</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الصَّبَاحُ</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الصَّبَاحُ</a:t>
            </a:r>
            <a:pPr algn="l" indent="0" marL="0">
              <a:buNone/>
            </a:pPr>
            <a:r>
              <a:rPr lang="en-US" sz="1050" i="1" dirty="0">
                <a:solidFill>
                  <a:srgbClr val="8A6D1E"/>
                </a:solidFill>
                <a:latin typeface="Calibri" pitchFamily="34" charset="0"/>
                <a:cs typeface="Amiri" pitchFamily="2" charset="-78"/>
              </a:rPr>
              <a:t> = the morning (Urdu: subah).</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“every day”?</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الصَّبَاحِ</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السَّاعَةِ السَّابِعَةِ</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كُلَّ يَوْمٍ</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كُلَّ</a:t>
            </a:r>
            <a:pPr algn="l" indent="0" marL="0">
              <a:buNone/>
            </a:pPr>
            <a:r>
              <a:rPr lang="en-US" sz="1050" i="1" dirty="0">
                <a:solidFill>
                  <a:srgbClr val="8A6D1E"/>
                </a:solidFill>
                <a:latin typeface="Calibri" pitchFamily="34" charset="0"/>
                <a:cs typeface="Amiri" pitchFamily="2" charset="-78"/>
              </a:rPr>
              <a:t> = every · </a:t>
            </a:r>
            <a:pPr algn="l" indent="0" marL="0">
              <a:buNone/>
            </a:pPr>
            <a:r>
              <a:rPr lang="ar-SA" altLang="en-US" sz="1350" dirty="0">
                <a:solidFill>
                  <a:srgbClr val="8A6D1E"/>
                </a:solidFill>
                <a:latin typeface="Amiri" pitchFamily="2" charset="-78"/>
                <a:cs typeface="Amiri" pitchFamily="2" charset="-78"/>
              </a:rPr>
              <a:t>يَوْمٌ</a:t>
            </a:r>
            <a:pPr algn="l" indent="0" marL="0">
              <a:buNone/>
            </a:pPr>
            <a:r>
              <a:rPr lang="en-US" sz="1050" i="1" dirty="0">
                <a:solidFill>
                  <a:srgbClr val="8A6D1E"/>
                </a:solidFill>
                <a:latin typeface="Calibri" pitchFamily="34" charset="0"/>
                <a:cs typeface="Amiri" pitchFamily="2" charset="-78"/>
              </a:rPr>
              <a:t> = day.</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“we eat”?</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نَأْكُلُ</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آكُلُ</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يَأْكُلُ</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نَـ</a:t>
            </a:r>
            <a:pPr algn="l" indent="0" marL="0">
              <a:buNone/>
            </a:pPr>
            <a:r>
              <a:rPr lang="en-US" sz="1050" i="1" dirty="0">
                <a:solidFill>
                  <a:srgbClr val="8A6D1E"/>
                </a:solidFill>
                <a:latin typeface="Calibri" pitchFamily="34" charset="0"/>
                <a:cs typeface="Amiri" pitchFamily="2" charset="-78"/>
              </a:rPr>
              <a:t> at the start = we.</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first letter of a present verb tells you WHO: </a:t>
            </a:r>
            <a:pPr algn="l" indent="0" marL="0">
              <a:buNone/>
            </a:pPr>
            <a:r>
              <a:rPr lang="ar-SA" altLang="en-US" sz="1700" b="1" dirty="0">
                <a:solidFill>
                  <a:srgbClr val="1F2A37"/>
                </a:solidFill>
                <a:latin typeface="Amiri" pitchFamily="2" charset="-78"/>
                <a:cs typeface="Amiri" pitchFamily="2" charset="-78"/>
              </a:rPr>
              <a:t>أَـ</a:t>
            </a:r>
            <a:pPr algn="l" indent="0" marL="0">
              <a:buNone/>
            </a:pPr>
            <a:r>
              <a:rPr lang="en-US" sz="1300" b="1" dirty="0">
                <a:solidFill>
                  <a:srgbClr val="1F2A37"/>
                </a:solidFill>
                <a:latin typeface="Calibri" pitchFamily="34" charset="0"/>
                <a:cs typeface="Amiri" pitchFamily="2" charset="-78"/>
              </a:rPr>
              <a:t> I · </a:t>
            </a:r>
            <a:pPr algn="l" indent="0" marL="0">
              <a:buNone/>
            </a:pPr>
            <a:r>
              <a:rPr lang="ar-SA" altLang="en-US" sz="1700" b="1" dirty="0">
                <a:solidFill>
                  <a:srgbClr val="1F2A37"/>
                </a:solidFill>
                <a:latin typeface="Amiri" pitchFamily="2" charset="-78"/>
                <a:cs typeface="Amiri" pitchFamily="2" charset="-78"/>
              </a:rPr>
              <a:t>يَـ</a:t>
            </a:r>
            <a:pPr algn="l" indent="0" marL="0">
              <a:buNone/>
            </a:pPr>
            <a:r>
              <a:rPr lang="en-US" sz="1300" b="1" dirty="0">
                <a:solidFill>
                  <a:srgbClr val="1F2A37"/>
                </a:solidFill>
                <a:latin typeface="Calibri" pitchFamily="34" charset="0"/>
                <a:cs typeface="Amiri" pitchFamily="2" charset="-78"/>
              </a:rPr>
              <a:t> he · </a:t>
            </a:r>
            <a:pPr algn="l" indent="0" marL="0">
              <a:buNone/>
            </a:pPr>
            <a:r>
              <a:rPr lang="ar-SA" altLang="en-US" sz="1700" b="1" dirty="0">
                <a:solidFill>
                  <a:srgbClr val="1F2A37"/>
                </a:solidFill>
                <a:latin typeface="Amiri" pitchFamily="2" charset="-78"/>
                <a:cs typeface="Amiri" pitchFamily="2" charset="-78"/>
              </a:rPr>
              <a:t>تَـ</a:t>
            </a:r>
            <a:pPr algn="l" indent="0" marL="0">
              <a:buNone/>
            </a:pPr>
            <a:r>
              <a:rPr lang="en-US" sz="1300" b="1" dirty="0">
                <a:solidFill>
                  <a:srgbClr val="1F2A37"/>
                </a:solidFill>
                <a:latin typeface="Calibri" pitchFamily="34" charset="0"/>
                <a:cs typeface="Amiri" pitchFamily="2" charset="-78"/>
              </a:rPr>
              <a:t> she · </a:t>
            </a:r>
            <a:pPr algn="l" indent="0" marL="0">
              <a:buNone/>
            </a:pPr>
            <a:r>
              <a:rPr lang="ar-SA" altLang="en-US" sz="1700" b="1" dirty="0">
                <a:solidFill>
                  <a:srgbClr val="1F2A37"/>
                </a:solidFill>
                <a:latin typeface="Amiri" pitchFamily="2" charset="-78"/>
                <a:cs typeface="Amiri" pitchFamily="2" charset="-78"/>
              </a:rPr>
              <a:t>نَـ</a:t>
            </a:r>
            <a:pPr algn="l" indent="0" marL="0">
              <a:buNone/>
            </a:pPr>
            <a:r>
              <a:rPr lang="en-US" sz="1300" b="1" dirty="0">
                <a:solidFill>
                  <a:srgbClr val="1F2A37"/>
                </a:solidFill>
                <a:latin typeface="Calibri" pitchFamily="34" charset="0"/>
                <a:cs typeface="Amiri" pitchFamily="2" charset="-78"/>
              </a:rPr>
              <a:t> we.</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cs typeface="Amiri" pitchFamily="2" charset="-78"/>
              </a:rPr>
              <a:t>أَ</a:t>
            </a:r>
            <a:pPr rtl="1" algn="ctr" indent="0" marL="0">
              <a:lnSpc>
                <a:spcPct val="120000"/>
              </a:lnSpc>
              <a:buNone/>
            </a:pPr>
            <a:r>
              <a:rPr lang="ar-SA" altLang="en-US" sz="1950" b="1" dirty="0">
                <a:solidFill>
                  <a:srgbClr val="1B3B6F"/>
                </a:solidFill>
                <a:latin typeface="Amiri" pitchFamily="2" charset="-78"/>
                <a:cs typeface="Amiri" pitchFamily="2" charset="-78"/>
              </a:rPr>
              <a:t>سْتَيْقِظُ · </a:t>
            </a:r>
            <a:pPr rtl="1" algn="ctr" indent="0" marL="0">
              <a:lnSpc>
                <a:spcPct val="120000"/>
              </a:lnSpc>
              <a:buNone/>
            </a:pPr>
            <a:r>
              <a:rPr lang="ar-SA" altLang="en-US" sz="1950" b="1" dirty="0">
                <a:solidFill>
                  <a:srgbClr val="1D5FBF"/>
                </a:solidFill>
                <a:latin typeface="Amiri" pitchFamily="2" charset="-78"/>
                <a:cs typeface="Amiri" pitchFamily="2" charset="-78"/>
              </a:rPr>
              <a:t>يَ</a:t>
            </a:r>
            <a:pPr rtl="1" algn="ctr" indent="0" marL="0">
              <a:lnSpc>
                <a:spcPct val="120000"/>
              </a:lnSpc>
              <a:buNone/>
            </a:pPr>
            <a:r>
              <a:rPr lang="ar-SA" altLang="en-US" sz="1950" b="1" dirty="0">
                <a:solidFill>
                  <a:srgbClr val="1B3B6F"/>
                </a:solidFill>
                <a:latin typeface="Amiri" pitchFamily="2" charset="-78"/>
                <a:cs typeface="Amiri" pitchFamily="2" charset="-78"/>
              </a:rPr>
              <a:t>سْتَيْقِظُ · </a:t>
            </a:r>
            <a:pPr rtl="1" algn="ctr" indent="0" marL="0">
              <a:lnSpc>
                <a:spcPct val="120000"/>
              </a:lnSpc>
              <a:buNone/>
            </a:pPr>
            <a:r>
              <a:rPr lang="ar-SA" altLang="en-US" sz="1950" b="1" dirty="0">
                <a:solidFill>
                  <a:srgbClr val="D6336C"/>
                </a:solidFill>
                <a:latin typeface="Amiri" pitchFamily="2" charset="-78"/>
                <a:cs typeface="Amiri" pitchFamily="2" charset="-78"/>
              </a:rPr>
              <a:t>تَ</a:t>
            </a:r>
            <a:pPr rtl="1" algn="ctr" indent="0" marL="0">
              <a:lnSpc>
                <a:spcPct val="120000"/>
              </a:lnSpc>
              <a:buNone/>
            </a:pPr>
            <a:r>
              <a:rPr lang="ar-SA" altLang="en-US" sz="1950" b="1" dirty="0">
                <a:solidFill>
                  <a:srgbClr val="1B3B6F"/>
                </a:solidFill>
                <a:latin typeface="Amiri" pitchFamily="2" charset="-78"/>
                <a:cs typeface="Amiri" pitchFamily="2" charset="-78"/>
              </a:rPr>
              <a:t>سْتَيْقِظُ · </a:t>
            </a:r>
            <a:pPr rtl="1" algn="ctr" indent="0" marL="0">
              <a:lnSpc>
                <a:spcPct val="120000"/>
              </a:lnSpc>
              <a:buNone/>
            </a:pPr>
            <a:r>
              <a:rPr lang="ar-SA" altLang="en-US" sz="1950" b="1" dirty="0">
                <a:solidFill>
                  <a:srgbClr val="1D5FBF"/>
                </a:solidFill>
                <a:latin typeface="Amiri" pitchFamily="2" charset="-78"/>
                <a:cs typeface="Amiri" pitchFamily="2" charset="-78"/>
              </a:rPr>
              <a:t>نَ</a:t>
            </a:r>
            <a:pPr rtl="1" algn="ctr" indent="0" marL="0">
              <a:lnSpc>
                <a:spcPct val="120000"/>
              </a:lnSpc>
              <a:buNone/>
            </a:pPr>
            <a:r>
              <a:rPr lang="ar-SA" altLang="en-US" sz="1950" b="1" dirty="0">
                <a:solidFill>
                  <a:srgbClr val="1B3B6F"/>
                </a:solidFill>
                <a:latin typeface="Amiri" pitchFamily="2" charset="-78"/>
                <a:cs typeface="Amiri" pitchFamily="2" charset="-78"/>
              </a:rPr>
              <a:t>سْتَيْقِظُ</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least ten daily-routine verbs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preserve key Form V, VI, VIII and X patterns.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Change present-tense prefixes for different subjects.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a connected morning routine with time and frequency.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six morning actions in the “I” form.</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order them with </a:t>
            </a:r>
            <a:pPr algn="l" indent="0" marL="0">
              <a:buNone/>
            </a:pPr>
            <a:r>
              <a:rPr lang="ar-SA" altLang="en-US" sz="1700" b="1" dirty="0">
                <a:solidFill>
                  <a:srgbClr val="2E8B57"/>
                </a:solidFill>
                <a:latin typeface="Amiri" pitchFamily="2" charset="-78"/>
                <a:cs typeface="Amiri" pitchFamily="2" charset="-78"/>
              </a:rPr>
              <a:t>أَوَّلًا</a:t>
            </a:r>
            <a:pPr algn="l" indent="0" marL="0">
              <a:buNone/>
            </a:pPr>
            <a:r>
              <a:rPr lang="en-US" sz="1300" b="1" dirty="0">
                <a:solidFill>
                  <a:srgbClr val="2E8B57"/>
                </a:solidFill>
                <a:latin typeface="Calibri" pitchFamily="34" charset="0"/>
                <a:cs typeface="Amiri" pitchFamily="2" charset="-78"/>
              </a:rPr>
              <a:t> and </a:t>
            </a:r>
            <a:pPr algn="l" indent="0" marL="0">
              <a:buNone/>
            </a:pPr>
            <a:r>
              <a:rPr lang="ar-SA" altLang="en-US" sz="1700" b="1" dirty="0">
                <a:solidFill>
                  <a:srgbClr val="2E8B57"/>
                </a:solidFill>
                <a:latin typeface="Amiri" pitchFamily="2" charset="-78"/>
                <a:cs typeface="Amiri" pitchFamily="2" charset="-78"/>
              </a:rPr>
              <a:t>ثُمَّ</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change the verb for he / she / we.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time and a frequency word.</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keep derived patterns whole (</a:t>
            </a:r>
            <a:pPr algn="l" indent="0" marL="0">
              <a:buNone/>
            </a:pPr>
            <a:r>
              <a:rPr lang="ar-SA" altLang="en-US" sz="1700" b="1" dirty="0">
                <a:solidFill>
                  <a:srgbClr val="B83227"/>
                </a:solidFill>
                <a:latin typeface="Amiri" pitchFamily="2" charset="-78"/>
                <a:cs typeface="Amiri" pitchFamily="2" charset="-78"/>
              </a:rPr>
              <a:t>أَسْتَيْقِظُ</a:t>
            </a:r>
            <a:pPr algn="l" indent="0" marL="0">
              <a:buNone/>
            </a:pPr>
            <a:r>
              <a:rPr lang="en-US" sz="1300" b="1" dirty="0">
                <a:solidFill>
                  <a:srgbClr val="B83227"/>
                </a:solidFill>
                <a:latin typeface="Calibri" pitchFamily="34" charset="0"/>
                <a:cs typeface="Amiri" pitchFamily="2" charset="-78"/>
              </a:rPr>
              <a:t>, </a:t>
            </a:r>
            <a:pPr algn="l" indent="0" marL="0">
              <a:buNone/>
            </a:pPr>
            <a:r>
              <a:rPr lang="ar-SA" altLang="en-US" sz="1700" b="1" dirty="0">
                <a:solidFill>
                  <a:srgbClr val="B83227"/>
                </a:solidFill>
                <a:latin typeface="Amiri" pitchFamily="2" charset="-78"/>
                <a:cs typeface="Amiri" pitchFamily="2" charset="-78"/>
              </a:rPr>
              <a:t>أَتَنَاوَلُ</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routines with a reason.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Morning routine verbs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Sequence and frequency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Useful detail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الصَّبَاحُ</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‎صبح‎ </a:t>
            </a:r>
            <a:pPr indent="0" marL="0">
              <a:buNone/>
            </a:pPr>
            <a:r>
              <a:rPr lang="en-US" sz="950" b="1" dirty="0">
                <a:solidFill>
                  <a:srgbClr val="2E8B57"/>
                </a:solidFill>
                <a:latin typeface="Calibri" pitchFamily="34" charset="0"/>
                <a:cs typeface="Amiri" pitchFamily="2" charset="-78"/>
              </a:rPr>
              <a:t> subah · morning</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أَغْتَسِلُ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‎غسل‎ </a:t>
            </a:r>
            <a:pPr indent="0" marL="0">
              <a:buNone/>
            </a:pPr>
            <a:r>
              <a:rPr lang="en-US" sz="950" b="1" dirty="0">
                <a:solidFill>
                  <a:srgbClr val="2E8B57"/>
                </a:solidFill>
                <a:latin typeface="Calibri" pitchFamily="34" charset="0"/>
                <a:cs typeface="Amiri" pitchFamily="2" charset="-78"/>
              </a:rPr>
              <a:t> ghusl · washing, bath</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أَتَوَضَّأُ</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‎وضو‎ </a:t>
            </a:r>
            <a:pPr indent="0" marL="0">
              <a:buNone/>
            </a:pPr>
            <a:r>
              <a:rPr lang="en-US" sz="950" b="1" dirty="0">
                <a:solidFill>
                  <a:srgbClr val="2E8B57"/>
                </a:solidFill>
                <a:latin typeface="Calibri" pitchFamily="34" charset="0"/>
                <a:cs typeface="Amiri" pitchFamily="2" charset="-78"/>
              </a:rPr>
              <a:t> wuzu · ablution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أَسْتَعِدُّ</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‎مستعد‎ </a:t>
            </a:r>
            <a:pPr indent="0" marL="0">
              <a:buNone/>
            </a:pPr>
            <a:r>
              <a:rPr lang="en-US" sz="950" b="1" dirty="0">
                <a:solidFill>
                  <a:srgbClr val="2E8B57"/>
                </a:solidFill>
                <a:latin typeface="Calibri" pitchFamily="34" charset="0"/>
                <a:cs typeface="Amiri" pitchFamily="2" charset="-78"/>
              </a:rPr>
              <a:t> mustaid · ready, prepared</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عَادَةً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‎عادت‎ </a:t>
            </a:r>
            <a:pPr indent="0" marL="0">
              <a:buNone/>
            </a:pPr>
            <a:r>
              <a:rPr lang="en-US" sz="950" b="1" dirty="0">
                <a:solidFill>
                  <a:srgbClr val="2E8B57"/>
                </a:solidFill>
                <a:latin typeface="Calibri" pitchFamily="34" charset="0"/>
                <a:cs typeface="Amiri" pitchFamily="2" charset="-78"/>
              </a:rPr>
              <a:t> ādat · habit (→ usually)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Morning routine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أَسْتَيْقِظُ</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wake up</a:t>
            </a:r>
            <a:endParaRPr lang="en-US" sz="1350" dirty="0"/>
          </a:p>
          <a:p>
            <a:pPr indent="0" marL="0">
              <a:buNone/>
            </a:pPr>
            <a:r>
              <a:rPr lang="en-US" sz="1100" i="1" dirty="0">
                <a:solidFill>
                  <a:srgbClr val="5A6472"/>
                </a:solidFill>
                <a:latin typeface="Calibri" pitchFamily="34" charset="0"/>
                <a:cs typeface="Amiri" pitchFamily="2" charset="-78"/>
              </a:rPr>
              <a:t>as-tay-qi-ẓu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أَسْتَيْقِظُ</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يَسْتَيْقِظُ</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تَسْتَيْقِظُ</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Text 3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أَصْحُو</a:t>
            </a:r>
            <a:endParaRPr lang="ar-SA" sz="3000" dirty="0"/>
          </a:p>
        </p:txBody>
      </p:sp>
      <p:sp>
        <p:nvSpPr>
          <p:cNvPr id="37" name="Text 3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wake up / become awake</a:t>
            </a:r>
            <a:endParaRPr lang="en-US" sz="1350" dirty="0"/>
          </a:p>
          <a:p>
            <a:pPr indent="0" marL="0">
              <a:buNone/>
            </a:pPr>
            <a:r>
              <a:rPr lang="en-US" sz="1100" i="1" dirty="0">
                <a:solidFill>
                  <a:srgbClr val="5A6472"/>
                </a:solidFill>
                <a:latin typeface="Calibri" pitchFamily="34" charset="0"/>
                <a:cs typeface="Amiri" pitchFamily="2" charset="-78"/>
              </a:rPr>
              <a:t>aṣ-ḥū</a:t>
            </a:r>
            <a:endParaRPr lang="en-US" sz="1350" dirty="0"/>
          </a:p>
        </p:txBody>
      </p:sp>
      <p:sp>
        <p:nvSpPr>
          <p:cNvPr id="38" name="Text 3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alternative syllabus verb</a:t>
            </a:r>
            <a:endParaRPr lang="en-US" sz="10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أَغْتَسِلُ</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shower / wash myself</a:t>
            </a:r>
            <a:endParaRPr lang="en-US" sz="1350" dirty="0"/>
          </a:p>
          <a:p>
            <a:pPr indent="0" marL="0">
              <a:buNone/>
            </a:pPr>
            <a:r>
              <a:rPr lang="en-US" sz="1100" i="1" dirty="0">
                <a:solidFill>
                  <a:srgbClr val="5A6472"/>
                </a:solidFill>
                <a:latin typeface="Calibri" pitchFamily="34" charset="0"/>
                <a:cs typeface="Amiri" pitchFamily="2" charset="-78"/>
              </a:rPr>
              <a:t>agh-ta-si-lu</a:t>
            </a:r>
            <a:endParaRPr lang="en-US" sz="1350" dirty="0"/>
          </a:p>
        </p:txBody>
      </p:sp>
      <p:sp>
        <p:nvSpPr>
          <p:cNvPr id="48" name="Shape 4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أَغْتَسِلُ</a:t>
            </a:r>
            <a:endParaRPr lang="ar-SA" sz="1500" dirty="0"/>
          </a:p>
        </p:txBody>
      </p:sp>
      <p:sp>
        <p:nvSpPr>
          <p:cNvPr id="51" name="Shape 4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3" name="Text 5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يَغْتَسِلُ</a:t>
            </a:r>
            <a:endParaRPr lang="ar-SA" sz="1500" dirty="0"/>
          </a:p>
        </p:txBody>
      </p:sp>
      <p:sp>
        <p:nvSpPr>
          <p:cNvPr id="54" name="Shape 5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تَغْتَسِلُ</a:t>
            </a:r>
            <a:endParaRPr lang="ar-SA" sz="1500" dirty="0"/>
          </a:p>
        </p:txBody>
      </p:sp>
      <p:sp>
        <p:nvSpPr>
          <p:cNvPr id="57" name="Shape 5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8211312"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0" name="Shape 57"/>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a:t>
            </a:r>
            <a:endParaRPr lang="en-US" sz="800" dirty="0"/>
          </a:p>
        </p:txBody>
      </p:sp>
      <p:sp>
        <p:nvSpPr>
          <p:cNvPr id="62" name="Text 5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أَتَوَضَّأُ</a:t>
            </a:r>
            <a:endParaRPr lang="ar-SA" sz="3000" dirty="0"/>
          </a:p>
        </p:txBody>
      </p:sp>
      <p:sp>
        <p:nvSpPr>
          <p:cNvPr id="63" name="Text 6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perform wudu</a:t>
            </a:r>
            <a:endParaRPr lang="en-US" sz="1350" dirty="0"/>
          </a:p>
          <a:p>
            <a:pPr indent="0" marL="0">
              <a:buNone/>
            </a:pPr>
            <a:r>
              <a:rPr lang="en-US" sz="1100" i="1" dirty="0">
                <a:solidFill>
                  <a:srgbClr val="5A6472"/>
                </a:solidFill>
                <a:latin typeface="Calibri" pitchFamily="34" charset="0"/>
                <a:cs typeface="Amiri" pitchFamily="2" charset="-78"/>
              </a:rPr>
              <a:t>a-ta-waḍ-ḍa-ʾu</a:t>
            </a:r>
            <a:endParaRPr lang="en-US" sz="135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7" name="Shape 64"/>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VIII</a:t>
            </a:r>
            <a:endParaRPr lang="en-US" sz="800" dirty="0"/>
          </a:p>
        </p:txBody>
      </p:sp>
      <p:sp>
        <p:nvSpPr>
          <p:cNvPr id="69" name="Shape 6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أَرْتَدِي مَلَابِسِي</a:t>
            </a:r>
            <a:endParaRPr lang="ar-SA" sz="3000" dirty="0"/>
          </a:p>
        </p:txBody>
      </p:sp>
      <p:sp>
        <p:nvSpPr>
          <p:cNvPr id="72" name="Text 6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dressed</a:t>
            </a:r>
            <a:endParaRPr lang="en-US" sz="1350" dirty="0"/>
          </a:p>
          <a:p>
            <a:pPr indent="0" marL="0">
              <a:buNone/>
            </a:pPr>
            <a:r>
              <a:rPr lang="en-US" sz="1100" i="1" dirty="0">
                <a:solidFill>
                  <a:srgbClr val="5A6472"/>
                </a:solidFill>
                <a:latin typeface="Calibri" pitchFamily="34" charset="0"/>
                <a:cs typeface="Amiri" pitchFamily="2" charset="-78"/>
              </a:rPr>
              <a:t>ar-ta-dī ma-lā-bi-sī</a:t>
            </a:r>
            <a:endParaRPr lang="en-US" sz="135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6" name="Text 7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أُمَشِّطُ شَعْرِي</a:t>
            </a:r>
            <a:endParaRPr lang="ar-SA" sz="3000" dirty="0"/>
          </a:p>
        </p:txBody>
      </p:sp>
      <p:sp>
        <p:nvSpPr>
          <p:cNvPr id="77" name="Text 7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comb my hair</a:t>
            </a:r>
            <a:endParaRPr lang="en-US" sz="1350" dirty="0"/>
          </a:p>
          <a:p>
            <a:pPr indent="0" marL="0">
              <a:buNone/>
            </a:pPr>
            <a:r>
              <a:rPr lang="en-US" sz="1100" i="1" dirty="0">
                <a:solidFill>
                  <a:srgbClr val="5A6472"/>
                </a:solidFill>
                <a:latin typeface="Calibri" pitchFamily="34" charset="0"/>
                <a:cs typeface="Amiri" pitchFamily="2" charset="-78"/>
              </a:rPr>
              <a:t>u-mash-shi-ṭu shaʿ-rī</a:t>
            </a:r>
            <a:endParaRPr lang="en-US" sz="13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Morning routine verbs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أُنَظِّفُ أَسْنَانِي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brush my teeth</a:t>
            </a:r>
            <a:endParaRPr lang="en-US" sz="1350" dirty="0"/>
          </a:p>
          <a:p>
            <a:pPr indent="0" marL="0">
              <a:buNone/>
            </a:pPr>
            <a:r>
              <a:rPr lang="en-US" sz="1100" i="1" dirty="0">
                <a:solidFill>
                  <a:srgbClr val="5A6472"/>
                </a:solidFill>
                <a:latin typeface="Calibri" pitchFamily="34" charset="0"/>
                <a:cs typeface="Amiri" pitchFamily="2" charset="-78"/>
              </a:rPr>
              <a:t>u-naẓ-ẓi-fu as-nā-nī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X</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أَسْتَعِدُّ</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ready</a:t>
            </a:r>
            <a:endParaRPr lang="en-US" sz="1350" dirty="0"/>
          </a:p>
          <a:p>
            <a:pPr indent="0" marL="0">
              <a:buNone/>
            </a:pPr>
            <a:r>
              <a:rPr lang="en-US" sz="1100" i="1" dirty="0">
                <a:solidFill>
                  <a:srgbClr val="5A6472"/>
                </a:solidFill>
                <a:latin typeface="Calibri" pitchFamily="34" charset="0"/>
                <a:cs typeface="Amiri" pitchFamily="2" charset="-78"/>
              </a:rPr>
              <a:t>as-ta-ʿid-du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أَتَنَاوَلُ الإِفْطَارَ</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breakfast</a:t>
            </a:r>
            <a:endParaRPr lang="en-US" sz="1350" dirty="0"/>
          </a:p>
          <a:p>
            <a:pPr indent="0" marL="0">
              <a:buNone/>
            </a:pPr>
            <a:r>
              <a:rPr lang="en-US" sz="1100" i="1" dirty="0">
                <a:solidFill>
                  <a:srgbClr val="5A6472"/>
                </a:solidFill>
                <a:latin typeface="Calibri" pitchFamily="34" charset="0"/>
                <a:cs typeface="Amiri" pitchFamily="2" charset="-78"/>
              </a:rPr>
              <a:t>a-ta-nā-wa-lu al-if-ṭā-ra</a:t>
            </a:r>
            <a:endParaRPr lang="en-US" sz="1350" dirty="0"/>
          </a:p>
        </p:txBody>
      </p:sp>
      <p:sp>
        <p:nvSpPr>
          <p:cNvPr id="38" name="Shape 3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0" name="Text 3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أَتَنَاوَلُ</a:t>
            </a:r>
            <a:endParaRPr lang="ar-SA" sz="1500" dirty="0"/>
          </a:p>
        </p:txBody>
      </p:sp>
      <p:sp>
        <p:nvSpPr>
          <p:cNvPr id="41" name="Shape 3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3" name="Text 4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يَتَنَاوَلُ</a:t>
            </a:r>
            <a:endParaRPr lang="ar-SA" sz="1500" dirty="0"/>
          </a:p>
        </p:txBody>
      </p:sp>
      <p:sp>
        <p:nvSpPr>
          <p:cNvPr id="44" name="Shape 4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6" name="Text 4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تَتَنَاوَلُ</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أَخْرُجُ مِنَ البَيْتِ</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leave the house</a:t>
            </a:r>
            <a:endParaRPr lang="en-US" sz="1350" dirty="0"/>
          </a:p>
          <a:p>
            <a:pPr indent="0" marL="0">
              <a:buNone/>
            </a:pPr>
            <a:r>
              <a:rPr lang="en-US" sz="1100" i="1" dirty="0">
                <a:solidFill>
                  <a:srgbClr val="5A6472"/>
                </a:solidFill>
                <a:latin typeface="Calibri" pitchFamily="34" charset="0"/>
                <a:cs typeface="Amiri" pitchFamily="2" charset="-78"/>
              </a:rPr>
              <a:t>akh-ru-ju mi-na al-bay-ti</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7" name="Shape 54"/>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X</a:t>
            </a:r>
            <a:endParaRPr lang="en-US" sz="8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أَسْتَقِلُّ الحَافِلَةَ</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take the bus</a:t>
            </a:r>
            <a:endParaRPr lang="en-US" sz="1350" dirty="0"/>
          </a:p>
          <a:p>
            <a:pPr indent="0" marL="0">
              <a:buNone/>
            </a:pPr>
            <a:r>
              <a:rPr lang="en-US" sz="1100" i="1" dirty="0">
                <a:solidFill>
                  <a:srgbClr val="5A6472"/>
                </a:solidFill>
                <a:latin typeface="Calibri" pitchFamily="34" charset="0"/>
                <a:cs typeface="Amiri" pitchFamily="2" charset="-78"/>
              </a:rPr>
              <a:t>as-ta-qil-lu al-ḥā-fi-la-ta</a:t>
            </a:r>
            <a:endParaRPr lang="en-US" sz="135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4" name="Text 6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أَصِلُ إِلَى المَدْرَسَةِ</a:t>
            </a:r>
            <a:endParaRPr lang="ar-SA" sz="3000" dirty="0"/>
          </a:p>
        </p:txBody>
      </p:sp>
      <p:sp>
        <p:nvSpPr>
          <p:cNvPr id="65" name="Text 6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arrive at school</a:t>
            </a:r>
            <a:endParaRPr lang="en-US" sz="1350" dirty="0"/>
          </a:p>
          <a:p>
            <a:pPr indent="0" marL="0">
              <a:buNone/>
            </a:pPr>
            <a:r>
              <a:rPr lang="en-US" sz="1100" i="1" dirty="0">
                <a:solidFill>
                  <a:srgbClr val="5A6472"/>
                </a:solidFill>
                <a:latin typeface="Calibri" pitchFamily="34" charset="0"/>
                <a:cs typeface="Amiri" pitchFamily="2" charset="-78"/>
              </a:rPr>
              <a:t>a-ṣi-lu i-lā al-mad-ra-sa-ti</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Sequence and frequency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أَوَّلًا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a:t>
            </a:r>
            <a:endParaRPr lang="en-US" sz="1350" dirty="0"/>
          </a:p>
          <a:p>
            <a:pPr indent="0" marL="0">
              <a:buNone/>
            </a:pPr>
            <a:r>
              <a:rPr lang="en-US" sz="1100" i="1" dirty="0">
                <a:solidFill>
                  <a:srgbClr val="5A6472"/>
                </a:solidFill>
                <a:latin typeface="Calibri" pitchFamily="34" charset="0"/>
                <a:cs typeface="Amiri" pitchFamily="2" charset="-78"/>
              </a:rPr>
              <a:t>aw-wa-lan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ثُمَّ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بَعْدَ ذٰلِكَ</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that</a:t>
            </a:r>
            <a:endParaRPr lang="en-US" sz="1350" dirty="0"/>
          </a:p>
          <a:p>
            <a:pPr indent="0" marL="0">
              <a:buNone/>
            </a:pPr>
            <a:r>
              <a:rPr lang="en-US" sz="1100" i="1" dirty="0">
                <a:solidFill>
                  <a:srgbClr val="5A6472"/>
                </a:solidFill>
                <a:latin typeface="Calibri" pitchFamily="34" charset="0"/>
                <a:cs typeface="Amiri" pitchFamily="2" charset="-78"/>
              </a:rPr>
              <a:t>baʿ-da dhā-li-ka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أَخِيرًا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finally</a:t>
            </a:r>
            <a:endParaRPr lang="en-US" sz="1350" dirty="0"/>
          </a:p>
          <a:p>
            <a:pPr indent="0" marL="0">
              <a:buNone/>
            </a:pPr>
            <a:r>
              <a:rPr lang="en-US" sz="1100" i="1" dirty="0">
                <a:solidFill>
                  <a:srgbClr val="5A6472"/>
                </a:solidFill>
                <a:latin typeface="Calibri" pitchFamily="34" charset="0"/>
                <a:cs typeface="Amiri" pitchFamily="2" charset="-78"/>
              </a:rPr>
              <a:t>a-khī-ran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عَادَةً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a:t>
            </a:r>
            <a:endParaRPr lang="en-US" sz="1350" dirty="0"/>
          </a:p>
          <a:p>
            <a:pPr indent="0" marL="0">
              <a:buNone/>
            </a:pPr>
            <a:r>
              <a:rPr lang="en-US" sz="1100" i="1" dirty="0">
                <a:solidFill>
                  <a:srgbClr val="5A6472"/>
                </a:solidFill>
                <a:latin typeface="Calibri" pitchFamily="34" charset="0"/>
                <a:cs typeface="Amiri" pitchFamily="2" charset="-78"/>
              </a:rPr>
              <a:t>ʿā-da-tan</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Sequence and frequency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دَائِمًا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always</a:t>
            </a:r>
            <a:endParaRPr lang="en-US" sz="1350" dirty="0"/>
          </a:p>
          <a:p>
            <a:pPr indent="0" marL="0">
              <a:buNone/>
            </a:pPr>
            <a:r>
              <a:rPr lang="en-US" sz="1100" i="1" dirty="0">
                <a:solidFill>
                  <a:srgbClr val="5A6472"/>
                </a:solidFill>
                <a:latin typeface="Calibri" pitchFamily="34" charset="0"/>
                <a:cs typeface="Amiri" pitchFamily="2" charset="-78"/>
              </a:rPr>
              <a:t>dā-ʾi-man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أَحْيَانًا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نَادِرًا</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rarely</a:t>
            </a:r>
            <a:endParaRPr lang="en-US" sz="1350" dirty="0"/>
          </a:p>
          <a:p>
            <a:pPr indent="0" marL="0">
              <a:buNone/>
            </a:pPr>
            <a:r>
              <a:rPr lang="en-US" sz="1100" i="1" dirty="0">
                <a:solidFill>
                  <a:srgbClr val="5A6472"/>
                </a:solidFill>
                <a:latin typeface="Calibri" pitchFamily="34" charset="0"/>
                <a:cs typeface="Amiri" pitchFamily="2" charset="-78"/>
              </a:rPr>
              <a:t>nā-di-ran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كُلَّ يَوْمٍ</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every day</a:t>
            </a:r>
            <a:endParaRPr lang="en-US" sz="1350" dirty="0"/>
          </a:p>
          <a:p>
            <a:pPr indent="0" marL="0">
              <a:buNone/>
            </a:pPr>
            <a:r>
              <a:rPr lang="en-US" sz="1100" i="1" dirty="0">
                <a:solidFill>
                  <a:srgbClr val="5A6472"/>
                </a:solidFill>
                <a:latin typeface="Calibri" pitchFamily="34" charset="0"/>
                <a:cs typeface="Amiri" pitchFamily="2" charset="-78"/>
              </a:rPr>
              <a:t>kul-la yaw-min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الصَّبَاحِ البَاكِرِ</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early in the morning</a:t>
            </a:r>
            <a:endParaRPr lang="en-US" sz="1350" dirty="0"/>
          </a:p>
          <a:p>
            <a:pPr indent="0" marL="0">
              <a:buNone/>
            </a:pPr>
            <a:r>
              <a:rPr lang="en-US" sz="1100" i="1" dirty="0">
                <a:solidFill>
                  <a:srgbClr val="5A6472"/>
                </a:solidFill>
                <a:latin typeface="Calibri" pitchFamily="34" charset="0"/>
                <a:cs typeface="Amiri" pitchFamily="2" charset="-78"/>
              </a:rPr>
              <a:t>fī aṣ-ṣa-bā-ḥi al-bā-ki-ri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Useful detail</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مُنَبِّهٌ</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alarm clock</a:t>
            </a:r>
            <a:endParaRPr lang="en-US" sz="1350" dirty="0"/>
          </a:p>
          <a:p>
            <a:pPr indent="0" marL="0">
              <a:buNone/>
            </a:pPr>
            <a:r>
              <a:rPr lang="en-US" sz="1100" i="1" dirty="0">
                <a:solidFill>
                  <a:srgbClr val="5A6472"/>
                </a:solidFill>
                <a:latin typeface="Calibri" pitchFamily="34" charset="0"/>
                <a:cs typeface="Amiri" pitchFamily="2" charset="-78"/>
              </a:rPr>
              <a:t>mu-nab-bi-hun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مُنَبِّهٌ</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مُنَبِّهَاتٌ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عَجَلَةٌ</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haste</a:t>
            </a:r>
            <a:endParaRPr lang="en-US" sz="1350" dirty="0"/>
          </a:p>
          <a:p>
            <a:pPr indent="0" marL="0">
              <a:buNone/>
            </a:pPr>
            <a:r>
              <a:rPr lang="en-US" sz="1100" i="1" dirty="0">
                <a:solidFill>
                  <a:srgbClr val="5A6472"/>
                </a:solidFill>
                <a:latin typeface="Calibri" pitchFamily="34" charset="0"/>
                <a:cs typeface="Amiri" pitchFamily="2" charset="-78"/>
              </a:rPr>
              <a:t>ʿa-ja-la-tun</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8" name="Shape 3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نَشِيطٌ / نَشِيطَةٌ</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energetic</a:t>
            </a:r>
            <a:endParaRPr lang="en-US" sz="1350" dirty="0"/>
          </a:p>
          <a:p>
            <a:pPr indent="0" marL="0">
              <a:buNone/>
            </a:pPr>
            <a:r>
              <a:rPr lang="en-US" sz="1100" i="1" dirty="0">
                <a:solidFill>
                  <a:srgbClr val="5A6472"/>
                </a:solidFill>
                <a:latin typeface="Calibri" pitchFamily="34" charset="0"/>
                <a:cs typeface="Amiri" pitchFamily="2" charset="-78"/>
              </a:rPr>
              <a:t>na-shī-ṭun / na-shī-ṭa-tun</a:t>
            </a:r>
            <a:endParaRPr lang="en-US" sz="1350" dirty="0"/>
          </a:p>
        </p:txBody>
      </p:sp>
      <p:sp>
        <p:nvSpPr>
          <p:cNvPr id="42" name="Shape 39"/>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نَشِيطٌ</a:t>
            </a:r>
            <a:endParaRPr lang="ar-SA" sz="1500" dirty="0"/>
          </a:p>
        </p:txBody>
      </p:sp>
      <p:sp>
        <p:nvSpPr>
          <p:cNvPr id="45" name="Shape 42"/>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نَشِيطَةٌ</a:t>
            </a:r>
            <a:endParaRPr lang="ar-SA" sz="1500" dirty="0"/>
          </a:p>
        </p:txBody>
      </p:sp>
      <p:sp>
        <p:nvSpPr>
          <p:cNvPr id="48" name="Shape 45"/>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نَشِيطُونَ</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54" name="Shape 5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نَاعِسٌ / نَاعِسَةٌ</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sleepy</a:t>
            </a:r>
            <a:endParaRPr lang="en-US" sz="1350" dirty="0"/>
          </a:p>
          <a:p>
            <a:pPr indent="0" marL="0">
              <a:buNone/>
            </a:pPr>
            <a:r>
              <a:rPr lang="en-US" sz="1100" i="1" dirty="0">
                <a:solidFill>
                  <a:srgbClr val="5A6472"/>
                </a:solidFill>
                <a:latin typeface="Calibri" pitchFamily="34" charset="0"/>
                <a:cs typeface="Amiri" pitchFamily="2" charset="-78"/>
              </a:rPr>
              <a:t>nā-ʿi-sun / nā-ʿi-sa-tun</a:t>
            </a:r>
            <a:endParaRPr lang="en-US" sz="1350" dirty="0"/>
          </a:p>
        </p:txBody>
      </p:sp>
      <p:sp>
        <p:nvSpPr>
          <p:cNvPr id="58" name="Shape 5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0" name="Text 5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نَاعِسٌ</a:t>
            </a:r>
            <a:endParaRPr lang="ar-SA" sz="1500" dirty="0"/>
          </a:p>
        </p:txBody>
      </p:sp>
      <p:sp>
        <p:nvSpPr>
          <p:cNvPr id="61" name="Shape 5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3" name="Text 6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نَاعِسَةٌ</a:t>
            </a:r>
            <a:endParaRPr lang="ar-SA" sz="1500" dirty="0"/>
          </a:p>
        </p:txBody>
      </p:sp>
      <p:sp>
        <p:nvSpPr>
          <p:cNvPr id="64" name="Shape 6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6" name="Text 6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نَاعِسُونَ</a:t>
            </a:r>
            <a:endParaRPr lang="ar-SA" sz="150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مُبَكِّرًا</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early</a:t>
            </a:r>
            <a:endParaRPr lang="en-US" sz="1350" dirty="0"/>
          </a:p>
          <a:p>
            <a:pPr indent="0" marL="0">
              <a:buNone/>
            </a:pPr>
            <a:r>
              <a:rPr lang="en-US" sz="1100" i="1" dirty="0">
                <a:solidFill>
                  <a:srgbClr val="5A6472"/>
                </a:solidFill>
                <a:latin typeface="Calibri" pitchFamily="34" charset="0"/>
                <a:cs typeface="Amiri" pitchFamily="2" charset="-78"/>
              </a:rPr>
              <a:t>mu-bak-ki-ran</a:t>
            </a:r>
            <a:endParaRPr lang="en-US"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75" name="Text 7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مُتَأَخِّرًا</a:t>
            </a:r>
            <a:endParaRPr lang="ar-SA" sz="3000" dirty="0"/>
          </a:p>
        </p:txBody>
      </p:sp>
      <p:sp>
        <p:nvSpPr>
          <p:cNvPr id="76" name="Text 7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late</a:t>
            </a:r>
            <a:endParaRPr lang="en-US" sz="1350" dirty="0"/>
          </a:p>
          <a:p>
            <a:pPr indent="0" marL="0">
              <a:buNone/>
            </a:pPr>
            <a:r>
              <a:rPr lang="en-US" sz="1100" i="1" dirty="0">
                <a:solidFill>
                  <a:srgbClr val="5A6472"/>
                </a:solidFill>
                <a:latin typeface="Calibri" pitchFamily="34" charset="0"/>
                <a:cs typeface="Amiri" pitchFamily="2" charset="-78"/>
              </a:rPr>
              <a:t>mu-ta-ʾakh-khi-ran</a:t>
            </a:r>
            <a:endParaRPr lang="en-US" sz="13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MATCH THE PREFIX TO THE SUBJECT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Who is doing it? Change only the first letter</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أَنَا · هُوَ · هِيَ · نَحْنُ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18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a:t>
            </a:r>
            <a:pPr algn="ctr" indent="0" marL="0">
              <a:buNone/>
            </a:pPr>
            <a:r>
              <a:rPr lang="ar-SA" altLang="en-US" sz="1450" b="1" dirty="0">
                <a:solidFill>
                  <a:srgbClr val="FFFFFF"/>
                </a:solidFill>
                <a:latin typeface="Amiri" pitchFamily="2" charset="-78"/>
                <a:cs typeface="Amiri" pitchFamily="2" charset="-78"/>
              </a:rPr>
              <a:t>أَنَا</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7" name="Text 14"/>
          <p:cNvSpPr txBox="1"/>
          <p:nvPr/>
        </p:nvSpPr>
        <p:spPr>
          <a:xfrm>
            <a:off x="7232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a:t>
            </a:r>
            <a:pPr algn="ctr" indent="0" marL="0">
              <a:buNone/>
            </a:pPr>
            <a:r>
              <a:rPr lang="ar-SA" altLang="en-US" sz="1450" b="1" dirty="0">
                <a:solidFill>
                  <a:srgbClr val="FFFFFF"/>
                </a:solidFill>
                <a:latin typeface="Amiri" pitchFamily="2" charset="-78"/>
                <a:cs typeface="Amiri" pitchFamily="2" charset="-78"/>
              </a:rPr>
              <a:t>هُوَ</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8" name="Text 15"/>
          <p:cNvSpPr txBox="1"/>
          <p:nvPr/>
        </p:nvSpPr>
        <p:spPr>
          <a:xfrm>
            <a:off x="4946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a:t>
            </a:r>
            <a:pPr algn="ctr" indent="0" marL="0">
              <a:buNone/>
            </a:pPr>
            <a:r>
              <a:rPr lang="ar-SA" altLang="en-US" sz="1450" b="1" dirty="0">
                <a:solidFill>
                  <a:srgbClr val="FFFFFF"/>
                </a:solidFill>
                <a:latin typeface="Amiri" pitchFamily="2" charset="-78"/>
                <a:cs typeface="Amiri" pitchFamily="2" charset="-78"/>
              </a:rPr>
              <a:t>هِيَ</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Text 16"/>
          <p:cNvSpPr txBox="1"/>
          <p:nvPr/>
        </p:nvSpPr>
        <p:spPr>
          <a:xfrm>
            <a:off x="2660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 (</a:t>
            </a:r>
            <a:pPr algn="ctr" indent="0" marL="0">
              <a:buNone/>
            </a:pPr>
            <a:r>
              <a:rPr lang="ar-SA" altLang="en-US" sz="1450" b="1" dirty="0">
                <a:solidFill>
                  <a:srgbClr val="FFFFFF"/>
                </a:solidFill>
                <a:latin typeface="Amiri" pitchFamily="2" charset="-78"/>
                <a:cs typeface="Amiri" pitchFamily="2" charset="-78"/>
              </a:rPr>
              <a:t>نَحْنُ</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Text 17"/>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537192" y="2267712"/>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أَ</a:t>
            </a:r>
            <a:pPr rtl="1" algn="ctr" indent="0" marL="0">
              <a:buNone/>
            </a:pPr>
            <a:r>
              <a:rPr lang="ar-SA" altLang="en-US" sz="2000" b="1" dirty="0">
                <a:solidFill>
                  <a:srgbClr val="1B3B6F"/>
                </a:solidFill>
                <a:latin typeface="Amiri" pitchFamily="2" charset="-78"/>
                <a:cs typeface="Amiri" pitchFamily="2" charset="-78"/>
              </a:rPr>
              <a:t>سْتَيْقِظُ</a:t>
            </a:r>
            <a:endParaRPr lang="ar-SA" sz="2000" dirty="0"/>
          </a:p>
        </p:txBody>
      </p:sp>
      <p:sp>
        <p:nvSpPr>
          <p:cNvPr id="23" name="Text 20"/>
          <p:cNvSpPr txBox="1"/>
          <p:nvPr/>
        </p:nvSpPr>
        <p:spPr>
          <a:xfrm>
            <a:off x="7251192" y="2267712"/>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يَ</a:t>
            </a:r>
            <a:pPr rtl="1" algn="ctr" indent="0" marL="0">
              <a:buNone/>
            </a:pPr>
            <a:r>
              <a:rPr lang="ar-SA" altLang="en-US" sz="2000" b="1" dirty="0">
                <a:solidFill>
                  <a:srgbClr val="1B3B6F"/>
                </a:solidFill>
                <a:latin typeface="Amiri" pitchFamily="2" charset="-78"/>
                <a:cs typeface="Amiri" pitchFamily="2" charset="-78"/>
              </a:rPr>
              <a:t>سْتَيْقِظُ</a:t>
            </a:r>
            <a:endParaRPr lang="ar-SA" sz="2000" dirty="0"/>
          </a:p>
        </p:txBody>
      </p:sp>
      <p:sp>
        <p:nvSpPr>
          <p:cNvPr id="24" name="Text 21"/>
          <p:cNvSpPr txBox="1"/>
          <p:nvPr/>
        </p:nvSpPr>
        <p:spPr>
          <a:xfrm>
            <a:off x="4965192" y="2267712"/>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تَ</a:t>
            </a:r>
            <a:pPr rtl="1" algn="ctr" indent="0" marL="0">
              <a:buNone/>
            </a:pPr>
            <a:r>
              <a:rPr lang="ar-SA" altLang="en-US" sz="2000" b="1" dirty="0">
                <a:solidFill>
                  <a:srgbClr val="1B3B6F"/>
                </a:solidFill>
                <a:latin typeface="Amiri" pitchFamily="2" charset="-78"/>
                <a:cs typeface="Amiri" pitchFamily="2" charset="-78"/>
              </a:rPr>
              <a:t>سْتَيْقِظُ</a:t>
            </a:r>
            <a:endParaRPr lang="ar-SA" sz="2000" dirty="0"/>
          </a:p>
        </p:txBody>
      </p:sp>
      <p:sp>
        <p:nvSpPr>
          <p:cNvPr id="25" name="Text 22"/>
          <p:cNvSpPr txBox="1"/>
          <p:nvPr/>
        </p:nvSpPr>
        <p:spPr>
          <a:xfrm>
            <a:off x="2679192" y="2267712"/>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نَ</a:t>
            </a:r>
            <a:pPr rtl="1" algn="ctr" indent="0" marL="0">
              <a:buNone/>
            </a:pPr>
            <a:r>
              <a:rPr lang="ar-SA" altLang="en-US" sz="2000" b="1" dirty="0">
                <a:solidFill>
                  <a:srgbClr val="1B3B6F"/>
                </a:solidFill>
                <a:latin typeface="Amiri" pitchFamily="2" charset="-78"/>
                <a:cs typeface="Amiri" pitchFamily="2" charset="-78"/>
              </a:rPr>
              <a:t>سْتَيْقِظُ</a:t>
            </a:r>
            <a:endParaRPr lang="ar-SA" sz="2000" dirty="0"/>
          </a:p>
        </p:txBody>
      </p:sp>
      <p:sp>
        <p:nvSpPr>
          <p:cNvPr id="26" name="Text 23"/>
          <p:cNvSpPr txBox="1"/>
          <p:nvPr/>
        </p:nvSpPr>
        <p:spPr>
          <a:xfrm>
            <a:off x="566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wake up</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537192" y="300471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أَ</a:t>
            </a:r>
            <a:pPr rtl="1" algn="ctr" indent="0" marL="0">
              <a:buNone/>
            </a:pPr>
            <a:r>
              <a:rPr lang="ar-SA" altLang="en-US" sz="2000" b="1" dirty="0">
                <a:solidFill>
                  <a:srgbClr val="1B3B6F"/>
                </a:solidFill>
                <a:latin typeface="Amiri" pitchFamily="2" charset="-78"/>
                <a:cs typeface="Amiri" pitchFamily="2" charset="-78"/>
              </a:rPr>
              <a:t>غْتَسِلُ</a:t>
            </a:r>
            <a:endParaRPr lang="ar-SA" sz="2000" dirty="0"/>
          </a:p>
        </p:txBody>
      </p:sp>
      <p:sp>
        <p:nvSpPr>
          <p:cNvPr id="31" name="Text 28"/>
          <p:cNvSpPr txBox="1"/>
          <p:nvPr/>
        </p:nvSpPr>
        <p:spPr>
          <a:xfrm>
            <a:off x="7251192" y="300471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يَ</a:t>
            </a:r>
            <a:pPr rtl="1" algn="ctr" indent="0" marL="0">
              <a:buNone/>
            </a:pPr>
            <a:r>
              <a:rPr lang="ar-SA" altLang="en-US" sz="2000" b="1" dirty="0">
                <a:solidFill>
                  <a:srgbClr val="1B3B6F"/>
                </a:solidFill>
                <a:latin typeface="Amiri" pitchFamily="2" charset="-78"/>
                <a:cs typeface="Amiri" pitchFamily="2" charset="-78"/>
              </a:rPr>
              <a:t>غْتَسِلُ</a:t>
            </a:r>
            <a:endParaRPr lang="ar-SA" sz="2000" dirty="0"/>
          </a:p>
        </p:txBody>
      </p:sp>
      <p:sp>
        <p:nvSpPr>
          <p:cNvPr id="32" name="Text 29"/>
          <p:cNvSpPr txBox="1"/>
          <p:nvPr/>
        </p:nvSpPr>
        <p:spPr>
          <a:xfrm>
            <a:off x="4965192" y="300471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تَ</a:t>
            </a:r>
            <a:pPr rtl="1" algn="ctr" indent="0" marL="0">
              <a:buNone/>
            </a:pPr>
            <a:r>
              <a:rPr lang="ar-SA" altLang="en-US" sz="2000" b="1" dirty="0">
                <a:solidFill>
                  <a:srgbClr val="1B3B6F"/>
                </a:solidFill>
                <a:latin typeface="Amiri" pitchFamily="2" charset="-78"/>
                <a:cs typeface="Amiri" pitchFamily="2" charset="-78"/>
              </a:rPr>
              <a:t>غْتَسِلُ</a:t>
            </a:r>
            <a:endParaRPr lang="ar-SA" sz="2000" dirty="0"/>
          </a:p>
        </p:txBody>
      </p:sp>
      <p:sp>
        <p:nvSpPr>
          <p:cNvPr id="33" name="Text 30"/>
          <p:cNvSpPr txBox="1"/>
          <p:nvPr/>
        </p:nvSpPr>
        <p:spPr>
          <a:xfrm>
            <a:off x="2679192" y="300471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نَ</a:t>
            </a:r>
            <a:pPr rtl="1" algn="ctr" indent="0" marL="0">
              <a:buNone/>
            </a:pPr>
            <a:r>
              <a:rPr lang="ar-SA" altLang="en-US" sz="2000" b="1" dirty="0">
                <a:solidFill>
                  <a:srgbClr val="1B3B6F"/>
                </a:solidFill>
                <a:latin typeface="Amiri" pitchFamily="2" charset="-78"/>
                <a:cs typeface="Amiri" pitchFamily="2" charset="-78"/>
              </a:rPr>
              <a:t>غْتَسِلُ</a:t>
            </a:r>
            <a:endParaRPr lang="ar-SA" sz="2000" dirty="0"/>
          </a:p>
        </p:txBody>
      </p:sp>
      <p:sp>
        <p:nvSpPr>
          <p:cNvPr id="34" name="Text 31"/>
          <p:cNvSpPr txBox="1"/>
          <p:nvPr/>
        </p:nvSpPr>
        <p:spPr>
          <a:xfrm>
            <a:off x="566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shower</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537192" y="3741725"/>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أَ</a:t>
            </a:r>
            <a:pPr rtl="1" algn="ctr" indent="0" marL="0">
              <a:buNone/>
            </a:pPr>
            <a:r>
              <a:rPr lang="ar-SA" altLang="en-US" sz="2000" b="1" dirty="0">
                <a:solidFill>
                  <a:srgbClr val="1B3B6F"/>
                </a:solidFill>
                <a:latin typeface="Amiri" pitchFamily="2" charset="-78"/>
                <a:cs typeface="Amiri" pitchFamily="2" charset="-78"/>
              </a:rPr>
              <a:t>تَنَاوَلُ</a:t>
            </a:r>
            <a:endParaRPr lang="ar-SA" sz="2000" dirty="0"/>
          </a:p>
        </p:txBody>
      </p:sp>
      <p:sp>
        <p:nvSpPr>
          <p:cNvPr id="39" name="Text 36"/>
          <p:cNvSpPr txBox="1"/>
          <p:nvPr/>
        </p:nvSpPr>
        <p:spPr>
          <a:xfrm>
            <a:off x="7251192" y="3741725"/>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يَ</a:t>
            </a:r>
            <a:pPr rtl="1" algn="ctr" indent="0" marL="0">
              <a:buNone/>
            </a:pPr>
            <a:r>
              <a:rPr lang="ar-SA" altLang="en-US" sz="2000" b="1" dirty="0">
                <a:solidFill>
                  <a:srgbClr val="1B3B6F"/>
                </a:solidFill>
                <a:latin typeface="Amiri" pitchFamily="2" charset="-78"/>
                <a:cs typeface="Amiri" pitchFamily="2" charset="-78"/>
              </a:rPr>
              <a:t>تَنَاوَلُ</a:t>
            </a:r>
            <a:endParaRPr lang="ar-SA" sz="2000" dirty="0"/>
          </a:p>
        </p:txBody>
      </p:sp>
      <p:sp>
        <p:nvSpPr>
          <p:cNvPr id="40" name="Text 37"/>
          <p:cNvSpPr txBox="1"/>
          <p:nvPr/>
        </p:nvSpPr>
        <p:spPr>
          <a:xfrm>
            <a:off x="4965192" y="3741725"/>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تَ</a:t>
            </a:r>
            <a:pPr rtl="1" algn="ctr" indent="0" marL="0">
              <a:buNone/>
            </a:pPr>
            <a:r>
              <a:rPr lang="ar-SA" altLang="en-US" sz="2000" b="1" dirty="0">
                <a:solidFill>
                  <a:srgbClr val="1B3B6F"/>
                </a:solidFill>
                <a:latin typeface="Amiri" pitchFamily="2" charset="-78"/>
                <a:cs typeface="Amiri" pitchFamily="2" charset="-78"/>
              </a:rPr>
              <a:t>تَنَاوَلُ</a:t>
            </a:r>
            <a:endParaRPr lang="ar-SA" sz="2000" dirty="0"/>
          </a:p>
        </p:txBody>
      </p:sp>
      <p:sp>
        <p:nvSpPr>
          <p:cNvPr id="41" name="Text 38"/>
          <p:cNvSpPr txBox="1"/>
          <p:nvPr/>
        </p:nvSpPr>
        <p:spPr>
          <a:xfrm>
            <a:off x="2679192" y="3741725"/>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نَ</a:t>
            </a:r>
            <a:pPr rtl="1" algn="ctr" indent="0" marL="0">
              <a:buNone/>
            </a:pPr>
            <a:r>
              <a:rPr lang="ar-SA" altLang="en-US" sz="2000" b="1" dirty="0">
                <a:solidFill>
                  <a:srgbClr val="1B3B6F"/>
                </a:solidFill>
                <a:latin typeface="Amiri" pitchFamily="2" charset="-78"/>
                <a:cs typeface="Amiri" pitchFamily="2" charset="-78"/>
              </a:rPr>
              <a:t>تَنَاوَلُ</a:t>
            </a:r>
            <a:endParaRPr lang="ar-SA" sz="2000" dirty="0"/>
          </a:p>
        </p:txBody>
      </p:sp>
      <p:sp>
        <p:nvSpPr>
          <p:cNvPr id="42" name="Text 39"/>
          <p:cNvSpPr txBox="1"/>
          <p:nvPr/>
        </p:nvSpPr>
        <p:spPr>
          <a:xfrm>
            <a:off x="566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(a meal)</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537192" y="4478731"/>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أَ</a:t>
            </a:r>
            <a:pPr rtl="1" algn="ctr" indent="0" marL="0">
              <a:buNone/>
            </a:pPr>
            <a:r>
              <a:rPr lang="ar-SA" altLang="en-US" sz="2000" b="1" dirty="0">
                <a:solidFill>
                  <a:srgbClr val="1B3B6F"/>
                </a:solidFill>
                <a:latin typeface="Amiri" pitchFamily="2" charset="-78"/>
                <a:cs typeface="Amiri" pitchFamily="2" charset="-78"/>
              </a:rPr>
              <a:t>رْتَدِي</a:t>
            </a:r>
            <a:endParaRPr lang="ar-SA" sz="2000" dirty="0"/>
          </a:p>
        </p:txBody>
      </p:sp>
      <p:sp>
        <p:nvSpPr>
          <p:cNvPr id="47" name="Text 44"/>
          <p:cNvSpPr txBox="1"/>
          <p:nvPr/>
        </p:nvSpPr>
        <p:spPr>
          <a:xfrm>
            <a:off x="7251192" y="4478731"/>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يَ</a:t>
            </a:r>
            <a:pPr rtl="1" algn="ctr" indent="0" marL="0">
              <a:buNone/>
            </a:pPr>
            <a:r>
              <a:rPr lang="ar-SA" altLang="en-US" sz="2000" b="1" dirty="0">
                <a:solidFill>
                  <a:srgbClr val="1B3B6F"/>
                </a:solidFill>
                <a:latin typeface="Amiri" pitchFamily="2" charset="-78"/>
                <a:cs typeface="Amiri" pitchFamily="2" charset="-78"/>
              </a:rPr>
              <a:t>رْتَدِي</a:t>
            </a:r>
            <a:endParaRPr lang="ar-SA" sz="2000" dirty="0"/>
          </a:p>
        </p:txBody>
      </p:sp>
      <p:sp>
        <p:nvSpPr>
          <p:cNvPr id="48" name="Text 45"/>
          <p:cNvSpPr txBox="1"/>
          <p:nvPr/>
        </p:nvSpPr>
        <p:spPr>
          <a:xfrm>
            <a:off x="4965192" y="4478731"/>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تَ</a:t>
            </a:r>
            <a:pPr rtl="1" algn="ctr" indent="0" marL="0">
              <a:buNone/>
            </a:pPr>
            <a:r>
              <a:rPr lang="ar-SA" altLang="en-US" sz="2000" b="1" dirty="0">
                <a:solidFill>
                  <a:srgbClr val="1B3B6F"/>
                </a:solidFill>
                <a:latin typeface="Amiri" pitchFamily="2" charset="-78"/>
                <a:cs typeface="Amiri" pitchFamily="2" charset="-78"/>
              </a:rPr>
              <a:t>رْتَدِي</a:t>
            </a:r>
            <a:endParaRPr lang="ar-SA" sz="2000" dirty="0"/>
          </a:p>
        </p:txBody>
      </p:sp>
      <p:sp>
        <p:nvSpPr>
          <p:cNvPr id="49" name="Text 46"/>
          <p:cNvSpPr txBox="1"/>
          <p:nvPr/>
        </p:nvSpPr>
        <p:spPr>
          <a:xfrm>
            <a:off x="2679192" y="4478731"/>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نَ</a:t>
            </a:r>
            <a:pPr rtl="1" algn="ctr" indent="0" marL="0">
              <a:buNone/>
            </a:pPr>
            <a:r>
              <a:rPr lang="ar-SA" altLang="en-US" sz="2000" b="1" dirty="0">
                <a:solidFill>
                  <a:srgbClr val="1B3B6F"/>
                </a:solidFill>
                <a:latin typeface="Amiri" pitchFamily="2" charset="-78"/>
                <a:cs typeface="Amiri" pitchFamily="2" charset="-78"/>
              </a:rPr>
              <a:t>رْتَدِي</a:t>
            </a:r>
            <a:endParaRPr lang="ar-SA" sz="2000" dirty="0"/>
          </a:p>
        </p:txBody>
      </p:sp>
      <p:sp>
        <p:nvSpPr>
          <p:cNvPr id="50" name="Text 47"/>
          <p:cNvSpPr txBox="1"/>
          <p:nvPr/>
        </p:nvSpPr>
        <p:spPr>
          <a:xfrm>
            <a:off x="566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wear, put on</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537192" y="521573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أَ</a:t>
            </a:r>
            <a:pPr rtl="1" algn="ctr" indent="0" marL="0">
              <a:buNone/>
            </a:pPr>
            <a:r>
              <a:rPr lang="ar-SA" altLang="en-US" sz="2000" b="1" dirty="0">
                <a:solidFill>
                  <a:srgbClr val="1B3B6F"/>
                </a:solidFill>
                <a:latin typeface="Amiri" pitchFamily="2" charset="-78"/>
                <a:cs typeface="Amiri" pitchFamily="2" charset="-78"/>
              </a:rPr>
              <a:t>خْرُجُ</a:t>
            </a:r>
            <a:endParaRPr lang="ar-SA" sz="2000" dirty="0"/>
          </a:p>
        </p:txBody>
      </p:sp>
      <p:sp>
        <p:nvSpPr>
          <p:cNvPr id="53" name="Text 50"/>
          <p:cNvSpPr txBox="1"/>
          <p:nvPr/>
        </p:nvSpPr>
        <p:spPr>
          <a:xfrm>
            <a:off x="7251192" y="521573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يَ</a:t>
            </a:r>
            <a:pPr rtl="1" algn="ctr" indent="0" marL="0">
              <a:buNone/>
            </a:pPr>
            <a:r>
              <a:rPr lang="ar-SA" altLang="en-US" sz="2000" b="1" dirty="0">
                <a:solidFill>
                  <a:srgbClr val="1B3B6F"/>
                </a:solidFill>
                <a:latin typeface="Amiri" pitchFamily="2" charset="-78"/>
                <a:cs typeface="Amiri" pitchFamily="2" charset="-78"/>
              </a:rPr>
              <a:t>خْرُجُ</a:t>
            </a:r>
            <a:endParaRPr lang="ar-SA" sz="2000" dirty="0"/>
          </a:p>
        </p:txBody>
      </p:sp>
      <p:sp>
        <p:nvSpPr>
          <p:cNvPr id="54" name="Text 51"/>
          <p:cNvSpPr txBox="1"/>
          <p:nvPr/>
        </p:nvSpPr>
        <p:spPr>
          <a:xfrm>
            <a:off x="4965192" y="521573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تَ</a:t>
            </a:r>
            <a:pPr rtl="1" algn="ctr" indent="0" marL="0">
              <a:buNone/>
            </a:pPr>
            <a:r>
              <a:rPr lang="ar-SA" altLang="en-US" sz="2000" b="1" dirty="0">
                <a:solidFill>
                  <a:srgbClr val="1B3B6F"/>
                </a:solidFill>
                <a:latin typeface="Amiri" pitchFamily="2" charset="-78"/>
                <a:cs typeface="Amiri" pitchFamily="2" charset="-78"/>
              </a:rPr>
              <a:t>خْرُجُ</a:t>
            </a:r>
            <a:endParaRPr lang="ar-SA" sz="2000" dirty="0"/>
          </a:p>
        </p:txBody>
      </p:sp>
      <p:sp>
        <p:nvSpPr>
          <p:cNvPr id="55" name="Text 52"/>
          <p:cNvSpPr txBox="1"/>
          <p:nvPr/>
        </p:nvSpPr>
        <p:spPr>
          <a:xfrm>
            <a:off x="2679192" y="521573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نَ</a:t>
            </a:r>
            <a:pPr rtl="1" algn="ctr" indent="0" marL="0">
              <a:buNone/>
            </a:pPr>
            <a:r>
              <a:rPr lang="ar-SA" altLang="en-US" sz="2000" b="1" dirty="0">
                <a:solidFill>
                  <a:srgbClr val="1B3B6F"/>
                </a:solidFill>
                <a:latin typeface="Amiri" pitchFamily="2" charset="-78"/>
                <a:cs typeface="Amiri" pitchFamily="2" charset="-78"/>
              </a:rPr>
              <a:t>خْرُجُ</a:t>
            </a:r>
            <a:endParaRPr lang="ar-SA" sz="2000" dirty="0"/>
          </a:p>
        </p:txBody>
      </p:sp>
      <p:sp>
        <p:nvSpPr>
          <p:cNvPr id="56" name="Text 53"/>
          <p:cNvSpPr txBox="1"/>
          <p:nvPr/>
        </p:nvSpPr>
        <p:spPr>
          <a:xfrm>
            <a:off x="566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 out, leave</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rest of the verb NEVER changes — only the first letter.</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GRAMMAR FOCUS · PART 2 · DERIVED VERB PATTERNS (WEBSITE) · DEVELOP / STRETCH</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Keep the pattern letters!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أَوْزَانُ الأَفْعَالِ المَزِيدَةِ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445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 (past)</a:t>
            </a:r>
            <a:endParaRPr lang="en-US" sz="1100" dirty="0"/>
          </a:p>
        </p:txBody>
      </p:sp>
      <p:sp>
        <p:nvSpPr>
          <p:cNvPr id="17" name="Text 14"/>
          <p:cNvSpPr txBox="1"/>
          <p:nvPr/>
        </p:nvSpPr>
        <p:spPr>
          <a:xfrm>
            <a:off x="503834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Today’s verbs (I)</a:t>
            </a:r>
            <a:endParaRPr lang="en-US" sz="1100" dirty="0"/>
          </a:p>
        </p:txBody>
      </p:sp>
      <p:sp>
        <p:nvSpPr>
          <p:cNvPr id="18" name="Text 15"/>
          <p:cNvSpPr txBox="1"/>
          <p:nvPr/>
        </p:nvSpPr>
        <p:spPr>
          <a:xfrm>
            <a:off x="53035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Letters that must stay</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262872" y="2286000"/>
            <a:ext cx="237744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تَفَعَّلَ</a:t>
            </a:r>
            <a:endParaRPr lang="ar-SA" sz="2000" dirty="0"/>
          </a:p>
        </p:txBody>
      </p:sp>
      <p:sp>
        <p:nvSpPr>
          <p:cNvPr id="21" name="Text 18"/>
          <p:cNvSpPr txBox="1"/>
          <p:nvPr/>
        </p:nvSpPr>
        <p:spPr>
          <a:xfrm>
            <a:off x="9217152" y="2706624"/>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Form V</a:t>
            </a:r>
            <a:endParaRPr lang="en-US" sz="950" dirty="0"/>
          </a:p>
        </p:txBody>
      </p:sp>
      <p:sp>
        <p:nvSpPr>
          <p:cNvPr id="22" name="Text 19"/>
          <p:cNvSpPr txBox="1"/>
          <p:nvPr/>
        </p:nvSpPr>
        <p:spPr>
          <a:xfrm>
            <a:off x="5056632" y="2267712"/>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أَتَوَضَّأُ</a:t>
            </a:r>
            <a:endParaRPr lang="ar-SA" sz="2200" dirty="0"/>
          </a:p>
        </p:txBody>
      </p:sp>
      <p:sp>
        <p:nvSpPr>
          <p:cNvPr id="23" name="Text 20"/>
          <p:cNvSpPr txBox="1"/>
          <p:nvPr/>
        </p:nvSpPr>
        <p:spPr>
          <a:xfrm>
            <a:off x="566928" y="2267712"/>
            <a:ext cx="432511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ت</a:t>
            </a:r>
            <a:pPr algn="l" indent="0" marL="0">
              <a:buNone/>
            </a:pPr>
            <a:r>
              <a:rPr lang="en-US" sz="1100" dirty="0">
                <a:solidFill>
                  <a:srgbClr val="5A6472"/>
                </a:solidFill>
                <a:latin typeface="Calibri" pitchFamily="34" charset="0"/>
                <a:cs typeface="Amiri" pitchFamily="2" charset="-78"/>
              </a:rPr>
              <a:t> + the doubled middle letter (shadda)</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262872" y="3072384"/>
            <a:ext cx="237744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تَفَاعَلَ</a:t>
            </a:r>
            <a:endParaRPr lang="ar-SA" sz="2000" dirty="0"/>
          </a:p>
        </p:txBody>
      </p:sp>
      <p:sp>
        <p:nvSpPr>
          <p:cNvPr id="28" name="Text 25"/>
          <p:cNvSpPr txBox="1"/>
          <p:nvPr/>
        </p:nvSpPr>
        <p:spPr>
          <a:xfrm>
            <a:off x="9217152" y="3493008"/>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Form VI</a:t>
            </a:r>
            <a:endParaRPr lang="en-US" sz="950" dirty="0"/>
          </a:p>
        </p:txBody>
      </p:sp>
      <p:sp>
        <p:nvSpPr>
          <p:cNvPr id="29" name="Text 26"/>
          <p:cNvSpPr txBox="1"/>
          <p:nvPr/>
        </p:nvSpPr>
        <p:spPr>
          <a:xfrm>
            <a:off x="5056632" y="3054096"/>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أَتَنَاوَلُ</a:t>
            </a:r>
            <a:endParaRPr lang="ar-SA" sz="2200" dirty="0"/>
          </a:p>
        </p:txBody>
      </p:sp>
      <p:sp>
        <p:nvSpPr>
          <p:cNvPr id="30" name="Text 27"/>
          <p:cNvSpPr txBox="1"/>
          <p:nvPr/>
        </p:nvSpPr>
        <p:spPr>
          <a:xfrm>
            <a:off x="566928" y="3054096"/>
            <a:ext cx="432511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ت</a:t>
            </a:r>
            <a:pPr algn="l" indent="0" marL="0">
              <a:buNone/>
            </a:pPr>
            <a:r>
              <a:rPr lang="en-US" sz="1100" dirty="0">
                <a:solidFill>
                  <a:srgbClr val="5A6472"/>
                </a:solidFill>
                <a:latin typeface="Calibri" pitchFamily="34" charset="0"/>
                <a:cs typeface="Amiri" pitchFamily="2" charset="-78"/>
              </a:rPr>
              <a:t> + the long ā (</a:t>
            </a:r>
            <a:pPr algn="l" indent="0" marL="0">
              <a:buNone/>
            </a:pPr>
            <a:r>
              <a:rPr lang="ar-SA" altLang="en-US" sz="1450" dirty="0">
                <a:solidFill>
                  <a:srgbClr val="5A6472"/>
                </a:solidFill>
                <a:latin typeface="Amiri" pitchFamily="2" charset="-78"/>
                <a:cs typeface="Amiri" pitchFamily="2" charset="-78"/>
              </a:rPr>
              <a:t>ـَا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9262872" y="3858768"/>
            <a:ext cx="237744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اِفْتَعَلَ</a:t>
            </a:r>
            <a:endParaRPr lang="ar-SA" sz="2000" dirty="0"/>
          </a:p>
        </p:txBody>
      </p:sp>
      <p:sp>
        <p:nvSpPr>
          <p:cNvPr id="35" name="Text 32"/>
          <p:cNvSpPr txBox="1"/>
          <p:nvPr/>
        </p:nvSpPr>
        <p:spPr>
          <a:xfrm>
            <a:off x="9217152" y="4279392"/>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Form VIII</a:t>
            </a:r>
            <a:endParaRPr lang="en-US" sz="950" dirty="0"/>
          </a:p>
        </p:txBody>
      </p:sp>
      <p:sp>
        <p:nvSpPr>
          <p:cNvPr id="36" name="Text 33"/>
          <p:cNvSpPr txBox="1"/>
          <p:nvPr/>
        </p:nvSpPr>
        <p:spPr>
          <a:xfrm>
            <a:off x="5056632" y="3840480"/>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أَغْتَسِلُ · أَرْتَدِي</a:t>
            </a:r>
            <a:endParaRPr lang="ar-SA" sz="2200" dirty="0"/>
          </a:p>
        </p:txBody>
      </p:sp>
      <p:sp>
        <p:nvSpPr>
          <p:cNvPr id="37" name="Text 34"/>
          <p:cNvSpPr txBox="1"/>
          <p:nvPr/>
        </p:nvSpPr>
        <p:spPr>
          <a:xfrm>
            <a:off x="566928" y="3840480"/>
            <a:ext cx="4325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t>
            </a:r>
            <a:pPr algn="l" indent="0" marL="0">
              <a:buNone/>
            </a:pPr>
            <a:r>
              <a:rPr lang="ar-SA" altLang="en-US" sz="1450" dirty="0">
                <a:solidFill>
                  <a:srgbClr val="5A6472"/>
                </a:solidFill>
                <a:latin typeface="Amiri" pitchFamily="2" charset="-78"/>
                <a:cs typeface="Amiri" pitchFamily="2" charset="-78"/>
              </a:rPr>
              <a:t>ت</a:t>
            </a:r>
            <a:pPr algn="l" indent="0" marL="0">
              <a:buNone/>
            </a:pPr>
            <a:r>
              <a:rPr lang="en-US" sz="1100" dirty="0">
                <a:solidFill>
                  <a:srgbClr val="5A6472"/>
                </a:solidFill>
                <a:latin typeface="Calibri" pitchFamily="34" charset="0"/>
                <a:cs typeface="Amiri" pitchFamily="2" charset="-78"/>
              </a:rPr>
              <a:t> after the first root letter</a:t>
            </a:r>
            <a:endParaRPr lang="en-US" sz="1100" dirty="0"/>
          </a:p>
        </p:txBody>
      </p:sp>
      <p:sp>
        <p:nvSpPr>
          <p:cNvPr id="38" name="Shape 3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9" name="Text 36"/>
          <p:cNvSpPr txBox="1"/>
          <p:nvPr/>
        </p:nvSpPr>
        <p:spPr>
          <a:xfrm>
            <a:off x="9262872" y="4645152"/>
            <a:ext cx="237744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اِسْتَفْعَلَ</a:t>
            </a:r>
            <a:endParaRPr lang="ar-SA" sz="2000" dirty="0"/>
          </a:p>
        </p:txBody>
      </p:sp>
      <p:sp>
        <p:nvSpPr>
          <p:cNvPr id="40" name="Text 37"/>
          <p:cNvSpPr txBox="1"/>
          <p:nvPr/>
        </p:nvSpPr>
        <p:spPr>
          <a:xfrm>
            <a:off x="9217152" y="5065776"/>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Form X</a:t>
            </a:r>
            <a:endParaRPr lang="en-US" sz="950" dirty="0"/>
          </a:p>
        </p:txBody>
      </p:sp>
      <p:sp>
        <p:nvSpPr>
          <p:cNvPr id="41" name="Text 38"/>
          <p:cNvSpPr txBox="1"/>
          <p:nvPr/>
        </p:nvSpPr>
        <p:spPr>
          <a:xfrm>
            <a:off x="5056632" y="4626864"/>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أَسْتَيْقِظُ · أَسْتَعِدُّ · أَسْتَقِلُّ</a:t>
            </a:r>
            <a:endParaRPr lang="ar-SA" sz="2200" dirty="0"/>
          </a:p>
        </p:txBody>
      </p:sp>
      <p:sp>
        <p:nvSpPr>
          <p:cNvPr id="42" name="Text 39"/>
          <p:cNvSpPr txBox="1"/>
          <p:nvPr/>
        </p:nvSpPr>
        <p:spPr>
          <a:xfrm>
            <a:off x="566928" y="4626864"/>
            <a:ext cx="4325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t>
            </a:r>
            <a:pPr algn="l" indent="0" marL="0">
              <a:buNone/>
            </a:pPr>
            <a:r>
              <a:rPr lang="ar-SA" altLang="en-US" sz="1450" dirty="0">
                <a:solidFill>
                  <a:srgbClr val="5A6472"/>
                </a:solidFill>
                <a:latin typeface="Amiri" pitchFamily="2" charset="-78"/>
                <a:cs typeface="Amiri" pitchFamily="2" charset="-78"/>
              </a:rPr>
              <a:t>سْتَ</a:t>
            </a:r>
            <a:pPr algn="l" indent="0" marL="0">
              <a:buNone/>
            </a:pPr>
            <a:r>
              <a:rPr lang="en-US" sz="1100" dirty="0">
                <a:solidFill>
                  <a:srgbClr val="5A6472"/>
                </a:solidFill>
                <a:latin typeface="Calibri" pitchFamily="34" charset="0"/>
                <a:cs typeface="Amiri" pitchFamily="2" charset="-78"/>
              </a:rPr>
              <a:t> at the start</a:t>
            </a:r>
            <a:endParaRPr lang="en-US" sz="11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FOCUS · PART 3 · BUILD A CONNECTED ROUTINE, NOT A LIST (WEBSITE)</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Connector + verb + time / detail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رَابِطٌ + فِعْلٌ + وَقْتٌ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رَابِطٌ</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connector</a:t>
            </a:r>
            <a:endParaRPr lang="en-US" sz="900" dirty="0"/>
          </a:p>
        </p:txBody>
      </p:sp>
      <p:sp>
        <p:nvSpPr>
          <p:cNvPr id="19" name="Shape 16"/>
          <p:cNvSpPr/>
          <p:nvPr/>
        </p:nvSpPr>
        <p:spPr>
          <a:xfrm>
            <a:off x="6336792" y="1810512"/>
            <a:ext cx="2642616" cy="566928"/>
          </a:xfrm>
          <a:prstGeom prst="roundRect">
            <a:avLst>
              <a:gd name="adj" fmla="val 9677"/>
            </a:avLst>
          </a:prstGeom>
          <a:solidFill>
            <a:srgbClr val="1D5FBF"/>
          </a:solidFill>
          <a:ln w="12700">
            <a:solidFill>
              <a:srgbClr val="1D5FB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فِعْلٌ</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verb (who?)</a:t>
            </a:r>
            <a:endParaRPr lang="en-US" sz="900" dirty="0"/>
          </a:p>
        </p:txBody>
      </p:sp>
      <p:sp>
        <p:nvSpPr>
          <p:cNvPr id="22" name="Shape 19"/>
          <p:cNvSpPr/>
          <p:nvPr/>
        </p:nvSpPr>
        <p:spPr>
          <a:xfrm>
            <a:off x="3584448" y="1810512"/>
            <a:ext cx="2642616" cy="566928"/>
          </a:xfrm>
          <a:prstGeom prst="roundRect">
            <a:avLst>
              <a:gd name="adj" fmla="val 9677"/>
            </a:avLst>
          </a:prstGeom>
          <a:solidFill>
            <a:srgbClr val="C77700"/>
          </a:solidFill>
          <a:ln w="12700">
            <a:solidFill>
              <a:srgbClr val="C77700"/>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cs typeface="Amiri" pitchFamily="2" charset="-78"/>
              </a:rPr>
              <a:t>وَقْتٌ / تَفْصِيلٌ</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time / detail</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First I wake up at six.</a:t>
            </a:r>
            <a:endParaRPr lang="en-US" sz="1200" dirty="0"/>
          </a:p>
        </p:txBody>
      </p:sp>
      <p:sp>
        <p:nvSpPr>
          <p:cNvPr id="26" name="Shape 23"/>
          <p:cNvSpPr/>
          <p:nvPr/>
        </p:nvSpPr>
        <p:spPr>
          <a:xfrm>
            <a:off x="9089136" y="2487168"/>
            <a:ext cx="2642616" cy="768096"/>
          </a:xfrm>
          <a:prstGeom prst="roundRect">
            <a:avLst>
              <a:gd name="adj" fmla="val 7143"/>
            </a:avLst>
          </a:prstGeom>
          <a:solidFill>
            <a:srgbClr val="E3F2F3"/>
          </a:solidFill>
          <a:ln w="9525">
            <a:solidFill>
              <a:srgbClr val="E3F2F3"/>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أَوَّلًا</a:t>
            </a:r>
            <a:endParaRPr lang="ar-SA" sz="2400" dirty="0"/>
          </a:p>
        </p:txBody>
      </p:sp>
      <p:sp>
        <p:nvSpPr>
          <p:cNvPr id="28" name="Shape 25"/>
          <p:cNvSpPr/>
          <p:nvPr/>
        </p:nvSpPr>
        <p:spPr>
          <a:xfrm>
            <a:off x="6336792"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أَسْتَيْقِظُ</a:t>
            </a:r>
            <a:endParaRPr lang="ar-SA" sz="2400" dirty="0"/>
          </a:p>
        </p:txBody>
      </p:sp>
      <p:sp>
        <p:nvSpPr>
          <p:cNvPr id="30" name="Shape 27"/>
          <p:cNvSpPr/>
          <p:nvPr/>
        </p:nvSpPr>
        <p:spPr>
          <a:xfrm>
            <a:off x="3584448" y="2487168"/>
            <a:ext cx="2642616" cy="768096"/>
          </a:xfrm>
          <a:prstGeom prst="roundRect">
            <a:avLst>
              <a:gd name="adj" fmla="val 7143"/>
            </a:avLst>
          </a:prstGeom>
          <a:solidFill>
            <a:srgbClr val="FDF3E3"/>
          </a:solidFill>
          <a:ln w="9525">
            <a:solidFill>
              <a:srgbClr val="FDF3E3"/>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فِي السَّادِسَةِ.</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Then I shower and get dressed.</a:t>
            </a:r>
            <a:endParaRPr lang="en-US" sz="1200" dirty="0"/>
          </a:p>
        </p:txBody>
      </p:sp>
      <p:sp>
        <p:nvSpPr>
          <p:cNvPr id="33" name="Shape 30"/>
          <p:cNvSpPr/>
          <p:nvPr/>
        </p:nvSpPr>
        <p:spPr>
          <a:xfrm>
            <a:off x="9089136" y="3364992"/>
            <a:ext cx="2642616" cy="768096"/>
          </a:xfrm>
          <a:prstGeom prst="roundRect">
            <a:avLst>
              <a:gd name="adj" fmla="val 7143"/>
            </a:avLst>
          </a:prstGeom>
          <a:solidFill>
            <a:srgbClr val="E3F2F3"/>
          </a:solidFill>
          <a:ln w="9525">
            <a:solidFill>
              <a:srgbClr val="E3F2F3"/>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ثُمَّ</a:t>
            </a:r>
            <a:endParaRPr lang="ar-SA" sz="2400" dirty="0"/>
          </a:p>
        </p:txBody>
      </p:sp>
      <p:sp>
        <p:nvSpPr>
          <p:cNvPr id="35" name="Shape 32"/>
          <p:cNvSpPr/>
          <p:nvPr/>
        </p:nvSpPr>
        <p:spPr>
          <a:xfrm>
            <a:off x="6336792"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أَغْتَسِلُ</a:t>
            </a:r>
            <a:endParaRPr lang="ar-SA" sz="2400" dirty="0"/>
          </a:p>
        </p:txBody>
      </p:sp>
      <p:sp>
        <p:nvSpPr>
          <p:cNvPr id="37" name="Shape 34"/>
          <p:cNvSpPr/>
          <p:nvPr/>
        </p:nvSpPr>
        <p:spPr>
          <a:xfrm>
            <a:off x="3584448" y="3364992"/>
            <a:ext cx="2642616" cy="768096"/>
          </a:xfrm>
          <a:prstGeom prst="roundRect">
            <a:avLst>
              <a:gd name="adj" fmla="val 7143"/>
            </a:avLst>
          </a:prstGeom>
          <a:solidFill>
            <a:srgbClr val="FDF3E3"/>
          </a:solidFill>
          <a:ln w="9525">
            <a:solidFill>
              <a:srgbClr val="FDF3E3"/>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وَأَرْتَدِي مَلَابِسِي.</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Usually I have breakfast with my family.</a:t>
            </a:r>
            <a:endParaRPr lang="en-US" sz="1200" dirty="0"/>
          </a:p>
        </p:txBody>
      </p:sp>
      <p:sp>
        <p:nvSpPr>
          <p:cNvPr id="40" name="Shape 37"/>
          <p:cNvSpPr/>
          <p:nvPr/>
        </p:nvSpPr>
        <p:spPr>
          <a:xfrm>
            <a:off x="9089136" y="4242816"/>
            <a:ext cx="2642616" cy="768096"/>
          </a:xfrm>
          <a:prstGeom prst="roundRect">
            <a:avLst>
              <a:gd name="adj" fmla="val 7143"/>
            </a:avLst>
          </a:prstGeom>
          <a:solidFill>
            <a:srgbClr val="E3F2F3"/>
          </a:solidFill>
          <a:ln w="9525">
            <a:solidFill>
              <a:srgbClr val="E3F2F3"/>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عَادَةً</a:t>
            </a:r>
            <a:endParaRPr lang="ar-SA" sz="2400" dirty="0"/>
          </a:p>
        </p:txBody>
      </p:sp>
      <p:sp>
        <p:nvSpPr>
          <p:cNvPr id="42" name="Shape 39"/>
          <p:cNvSpPr/>
          <p:nvPr/>
        </p:nvSpPr>
        <p:spPr>
          <a:xfrm>
            <a:off x="6336792"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أَتَنَاوَلُ الإِفْطَارَ</a:t>
            </a:r>
            <a:endParaRPr lang="ar-SA" sz="2400" dirty="0"/>
          </a:p>
        </p:txBody>
      </p:sp>
      <p:sp>
        <p:nvSpPr>
          <p:cNvPr id="44" name="Shape 41"/>
          <p:cNvSpPr/>
          <p:nvPr/>
        </p:nvSpPr>
        <p:spPr>
          <a:xfrm>
            <a:off x="3584448" y="4242816"/>
            <a:ext cx="2642616" cy="768096"/>
          </a:xfrm>
          <a:prstGeom prst="roundRect">
            <a:avLst>
              <a:gd name="adj" fmla="val 7143"/>
            </a:avLst>
          </a:prstGeom>
          <a:solidFill>
            <a:srgbClr val="FDF3E3"/>
          </a:solidFill>
          <a:ln w="9525">
            <a:solidFill>
              <a:srgbClr val="FDF3E3"/>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 أُسْرَتِي.</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Finally I leave the house.</a:t>
            </a:r>
            <a:endParaRPr lang="en-US" sz="1200" dirty="0"/>
          </a:p>
        </p:txBody>
      </p:sp>
      <p:sp>
        <p:nvSpPr>
          <p:cNvPr id="47" name="Shape 44"/>
          <p:cNvSpPr/>
          <p:nvPr/>
        </p:nvSpPr>
        <p:spPr>
          <a:xfrm>
            <a:off x="9089136" y="5120640"/>
            <a:ext cx="2642616" cy="768096"/>
          </a:xfrm>
          <a:prstGeom prst="roundRect">
            <a:avLst>
              <a:gd name="adj" fmla="val 7143"/>
            </a:avLst>
          </a:prstGeom>
          <a:solidFill>
            <a:srgbClr val="E3F2F3"/>
          </a:solidFill>
          <a:ln w="9525">
            <a:solidFill>
              <a:srgbClr val="E3F2F3"/>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أَخِيرًا</a:t>
            </a:r>
            <a:endParaRPr lang="ar-SA" sz="2400" dirty="0"/>
          </a:p>
        </p:txBody>
      </p:sp>
      <p:sp>
        <p:nvSpPr>
          <p:cNvPr id="49" name="Shape 46"/>
          <p:cNvSpPr/>
          <p:nvPr/>
        </p:nvSpPr>
        <p:spPr>
          <a:xfrm>
            <a:off x="6336792"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أَخْرُجُ</a:t>
            </a:r>
            <a:endParaRPr lang="ar-SA" sz="2400" dirty="0"/>
          </a:p>
        </p:txBody>
      </p:sp>
      <p:sp>
        <p:nvSpPr>
          <p:cNvPr id="51" name="Shape 48"/>
          <p:cNvSpPr/>
          <p:nvPr/>
        </p:nvSpPr>
        <p:spPr>
          <a:xfrm>
            <a:off x="3584448" y="5120640"/>
            <a:ext cx="2642616" cy="768096"/>
          </a:xfrm>
          <a:prstGeom prst="roundRect">
            <a:avLst>
              <a:gd name="adj" fmla="val 7143"/>
            </a:avLst>
          </a:prstGeom>
          <a:solidFill>
            <a:srgbClr val="FDF3E3"/>
          </a:solidFill>
          <a:ln w="9525">
            <a:solidFill>
              <a:srgbClr val="FDF3E3"/>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مِنَ البَيْتِ.</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Frequency words (</a:t>
            </a:r>
            <a:pPr algn="l" indent="0" marL="0">
              <a:buNone/>
            </a:pPr>
            <a:r>
              <a:rPr lang="ar-SA" altLang="en-US" sz="1550" b="1" dirty="0">
                <a:solidFill>
                  <a:srgbClr val="8A6D1E"/>
                </a:solidFill>
                <a:latin typeface="Amiri" pitchFamily="2" charset="-78"/>
                <a:cs typeface="Amiri" pitchFamily="2" charset="-78"/>
              </a:rPr>
              <a:t>عَادَةً، دَائِمًا، أَحْيَانًا</a:t>
            </a:r>
            <a:pPr algn="l" indent="0" marL="0">
              <a:buNone/>
            </a:pPr>
            <a:r>
              <a:rPr lang="en-US" sz="1200" b="1" dirty="0">
                <a:solidFill>
                  <a:srgbClr val="8A6D1E"/>
                </a:solidFill>
                <a:latin typeface="Calibri" pitchFamily="34" charset="0"/>
                <a:cs typeface="Amiri" pitchFamily="2" charset="-78"/>
              </a:rPr>
              <a:t>) can go at the start or after the verb.</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Derived verb patterns in a morning routine</a:t>
            </a:r>
            <a:endParaRPr lang="en-US" sz="22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050" b="1" dirty="0">
                <a:solidFill>
                  <a:srgbClr val="8A6D1E"/>
                </a:solidFill>
                <a:latin typeface="Amiri" pitchFamily="2" charset="-78"/>
                <a:cs typeface="Amiri" pitchFamily="2" charset="-78"/>
              </a:rPr>
              <a:t>أَوْزَانُ الأَفْعَالِ المَزِيدَةِ فِي الرُّوتِينِ الصَّبَاحِيِّ</a:t>
            </a:r>
            <a:endParaRPr lang="ar-SA" sz="20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Recognise Form V as a patterned verb</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يَتَفَعَّلُ ← أَتَفَعَّلُ</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هُوَ يَتَوَضَّأُ.   ·   أَنَا أَتَوَضَّأُ.   ·   هِيَ تَتَوَضَّأُ.</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Distinguish Forms VI, VIII and X</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تَفَاعَلَ · اِفْتَعَلَ · اِسْتَفْعَلَ</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أَتَنَاوَلُ الإِفْطَارَ.   ·   أَغْتَسِلُ وَأَرْتَدِي مَلَابِسِي.   ·   أَسْتَيْقِظُ ثُمَّ أَسْتَعِدُّ.</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Match the person prefix to the subject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أَنا أَـ · أَنْتَ تَـ · هُوَ يَـ · هِيَ تَـ · نَحْنُ نَـ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F2A37"/>
                </a:solidFill>
                <a:latin typeface="Amiri" pitchFamily="2" charset="-78"/>
                <a:cs typeface="Amiri" pitchFamily="2" charset="-78"/>
              </a:rPr>
              <a:t>أَنَا أَسْتَيْقِظُ مُبَكِّرًا.   ·   أَخِي يَسْتَعِدُّ بِسُرْعَةٍ.   ·   أُخْتِي تَتَنَاوَلُ الإِفْطَارَ.   ·   نَحْنُ نَخْرُجُ مَعًا.</a:t>
            </a:r>
            <a:endParaRPr lang="ar-SA" sz="19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Build a connected routine, not a list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رَابِطٌ + فِعْلٌ + وَقْتٌ / تَفْصِيلٌ</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أَوَّلًا أَسْتَيْقِظُ فِي السَّادِسَةِ.   ·   ثُمَّ أَغْتَسِلُ وَأَرْتَدِي مَلَابِسِي.   ·   عَادَةً أَتَنَاوَلُ الإِفْطَارَ مَعَ أُسْرَتِي.   ·   أَخِيرًا أَخْرُجُ مِنَ البَيْتِ.</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 wake up”.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يَسْتَيْقِظُ</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تَسْتَيْقِظُ</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أَسْتَيْقِظُ</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هِيَ ___ فِي السَّادِسَةِ.</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تَسْتَيْقِظُ</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يَسْتَيْقِظُ</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أَسْتَيْقِظُ</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connected sequence.</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أَسْتَيْقِظُ. أَغْتَسِلُ. أَخْرُجُ.</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أَوَّلًا أَسْتَيْقِظُ، ثُمَّ أَغْتَسِلُ، وَأَخِيرًا أَخْرُجُ.</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 أَسْتَيْقِظُ أَوَّلًا أَخْرُجُ.</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sentence.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أُخْتِي تَتَوَضَّأُ.</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أُخْتِي يَتَوَضَّأُ.</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أُخْتِي أَتَوَضَّأُ.</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 wake up”.</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يَسْتَيْقِظُ</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تَسْتَيْقِظُ</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أَسْتَيْقِظُ</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أَنَا</a:t>
            </a:r>
            <a:pPr algn="l" indent="0" marL="0">
              <a:buNone/>
            </a:pPr>
            <a:r>
              <a:rPr lang="en-US" sz="1050" i="1" dirty="0">
                <a:solidFill>
                  <a:srgbClr val="8A6D1E"/>
                </a:solidFill>
                <a:latin typeface="Calibri" pitchFamily="34" charset="0"/>
                <a:cs typeface="Amiri" pitchFamily="2" charset="-78"/>
              </a:rPr>
              <a:t> takes the prefix </a:t>
            </a:r>
            <a:pPr algn="l" indent="0" marL="0">
              <a:buNone/>
            </a:pPr>
            <a:r>
              <a:rPr lang="ar-SA" altLang="en-US" sz="1350" dirty="0">
                <a:solidFill>
                  <a:srgbClr val="8A6D1E"/>
                </a:solidFill>
                <a:latin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cs typeface="Amiri" pitchFamily="2" charset="-78"/>
              </a:rPr>
              <a:t>أَسْتَيْقِظُ</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هِيَ ___ فِي السَّادِسَةِ.</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تَسْتَيْقِظُ</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يَسْتَيْقِظُ</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أَسْتَيْقِظُ</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uses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 in the present tense.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connected sequence.</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أَسْتَيْقِظُ. أَغْتَسِلُ. أَخْرُجُ.</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أَوَّلًا أَسْتَيْقِظُ، ثُمَّ أَغْتَسِلُ، وَأَخِيرًا أَخْرُجُ.</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 أَسْتَيْقِظُ أَوَّلًا أَخْرُجُ.</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sequence markers create a logical order.</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sentence.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أُخْتِي تَتَوَضَّأُ.</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أُخْتِي يَتَوَضَّأُ.</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أُخْتِي أَتَوَضَّأُ.</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third-person subject takes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my morning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Wake up + time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أَوَّلًا</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1D5FBF"/>
                </a:solidFill>
                <a:latin typeface="Amiri" pitchFamily="2" charset="-78"/>
                <a:cs typeface="Amiri" pitchFamily="2" charset="-78"/>
              </a:rPr>
              <a:t>أَ</a:t>
            </a:r>
            <a:pPr rtl="1" algn="ctr" indent="0" marL="0">
              <a:buNone/>
            </a:pPr>
            <a:r>
              <a:rPr lang="ar-SA" altLang="en-US" sz="2100" b="1" dirty="0">
                <a:solidFill>
                  <a:srgbClr val="1B3B6F"/>
                </a:solidFill>
                <a:latin typeface="Amiri" pitchFamily="2" charset="-78"/>
                <a:cs typeface="Amiri" pitchFamily="2" charset="-78"/>
              </a:rPr>
              <a:t>سْتَيْقِظُ فِي السَّادِسَةِ.</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 </a:t>
            </a:r>
            <a:pPr algn="l" indent="0" marL="0">
              <a:buNone/>
            </a:pPr>
            <a:r>
              <a:rPr lang="ar-SA" altLang="en-US" sz="1500" dirty="0">
                <a:solidFill>
                  <a:srgbClr val="1F2A37"/>
                </a:solidFill>
                <a:latin typeface="Amiri" pitchFamily="2" charset="-78"/>
                <a:cs typeface="Amiri" pitchFamily="2" charset="-78"/>
              </a:rPr>
              <a:t>أَـ</a:t>
            </a:r>
            <a:pPr algn="l" indent="0" marL="0">
              <a:buNone/>
            </a:pPr>
            <a:r>
              <a:rPr lang="en-US" sz="1150" dirty="0">
                <a:solidFill>
                  <a:srgbClr val="1F2A37"/>
                </a:solidFill>
                <a:latin typeface="Calibri" pitchFamily="34" charset="0"/>
                <a:cs typeface="Amiri" pitchFamily="2" charset="-78"/>
              </a:rPr>
              <a:t>. Keep </a:t>
            </a:r>
            <a:pPr algn="l" indent="0" marL="0">
              <a:buNone/>
            </a:pPr>
            <a:r>
              <a:rPr lang="ar-SA" altLang="en-US" sz="1500" dirty="0">
                <a:solidFill>
                  <a:srgbClr val="1F2A37"/>
                </a:solidFill>
                <a:latin typeface="Amiri" pitchFamily="2" charset="-78"/>
                <a:cs typeface="Amiri" pitchFamily="2" charset="-78"/>
              </a:rPr>
              <a:t>سْتَ</a:t>
            </a:r>
            <a:pPr algn="l" indent="0" marL="0">
              <a:buNone/>
            </a:pPr>
            <a:r>
              <a:rPr lang="en-US" sz="1150" dirty="0">
                <a:solidFill>
                  <a:srgbClr val="1F2A37"/>
                </a:solidFill>
                <a:latin typeface="Calibri" pitchFamily="34" charset="0"/>
                <a:cs typeface="Amiri" pitchFamily="2" charset="-78"/>
              </a:rPr>
              <a:t> (Form X).</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Wash + dress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ثُمَّ</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1D5FBF"/>
                </a:solidFill>
                <a:latin typeface="Amiri" pitchFamily="2" charset="-78"/>
                <a:cs typeface="Amiri" pitchFamily="2" charset="-78"/>
              </a:rPr>
              <a:t>أَ</a:t>
            </a:r>
            <a:pPr rtl="1" algn="ctr" indent="0" marL="0">
              <a:buNone/>
            </a:pPr>
            <a:r>
              <a:rPr lang="ar-SA" altLang="en-US" sz="2100" b="1" dirty="0">
                <a:solidFill>
                  <a:srgbClr val="1B3B6F"/>
                </a:solidFill>
                <a:latin typeface="Amiri" pitchFamily="2" charset="-78"/>
                <a:cs typeface="Amiri" pitchFamily="2" charset="-78"/>
              </a:rPr>
              <a:t>غْتَسِلُ وَ</a:t>
            </a:r>
            <a:pPr rtl="1" algn="ctr" indent="0" marL="0">
              <a:buNone/>
            </a:pPr>
            <a:r>
              <a:rPr lang="ar-SA" altLang="en-US" sz="2100" b="1" dirty="0">
                <a:solidFill>
                  <a:srgbClr val="1D5FBF"/>
                </a:solidFill>
                <a:latin typeface="Amiri" pitchFamily="2" charset="-78"/>
                <a:cs typeface="Amiri" pitchFamily="2" charset="-78"/>
              </a:rPr>
              <a:t>أَ</a:t>
            </a:r>
            <a:pPr rtl="1" algn="ctr" indent="0" marL="0">
              <a:buNone/>
            </a:pPr>
            <a:r>
              <a:rPr lang="ar-SA" altLang="en-US" sz="2100" b="1" dirty="0">
                <a:solidFill>
                  <a:srgbClr val="1B3B6F"/>
                </a:solidFill>
                <a:latin typeface="Amiri" pitchFamily="2" charset="-78"/>
                <a:cs typeface="Amiri" pitchFamily="2" charset="-78"/>
              </a:rPr>
              <a:t>رْتَدِي مَلَابِسِي.</a:t>
            </a:r>
            <a:endParaRPr lang="ar-SA" sz="21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actions joined with </a:t>
            </a:r>
            <a:pPr algn="l" indent="0" marL="0">
              <a:buNone/>
            </a:pPr>
            <a:r>
              <a:rPr lang="ar-SA" altLang="en-US" sz="1500" dirty="0">
                <a:solidFill>
                  <a:srgbClr val="1F2A37"/>
                </a:solidFill>
                <a:latin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Someone else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أُخْتِي </a:t>
            </a:r>
            <a:pPr rtl="1" algn="ctr" indent="0" marL="0">
              <a:lnSpc>
                <a:spcPct val="120000"/>
              </a:lnSpc>
              <a:buNone/>
            </a:pPr>
            <a:r>
              <a:rPr lang="ar-SA" altLang="en-US" sz="1900" b="1" dirty="0">
                <a:solidFill>
                  <a:srgbClr val="D6336C"/>
                </a:solidFill>
                <a:latin typeface="Amiri" pitchFamily="2" charset="-78"/>
                <a:cs typeface="Amiri" pitchFamily="2" charset="-78"/>
              </a:rPr>
              <a:t>تَ</a:t>
            </a:r>
            <a:pPr rtl="1" algn="ctr" indent="0" marL="0">
              <a:lnSpc>
                <a:spcPct val="120000"/>
              </a:lnSpc>
              <a:buNone/>
            </a:pPr>
            <a:r>
              <a:rPr lang="ar-SA" altLang="en-US" sz="1900" b="1" dirty="0">
                <a:solidFill>
                  <a:srgbClr val="1B3B6F"/>
                </a:solidFill>
                <a:latin typeface="Amiri" pitchFamily="2" charset="-78"/>
                <a:cs typeface="Amiri" pitchFamily="2" charset="-78"/>
              </a:rPr>
              <a:t>تَنَاوَلُ الإِفْطَارَ قَبْلِي.</a:t>
            </a:r>
            <a:endParaRPr lang="ar-SA" sz="19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My sister → she → </a:t>
            </a:r>
            <a:pPr algn="l" indent="0" marL="0">
              <a:buNone/>
            </a:pPr>
            <a:r>
              <a:rPr lang="ar-SA" altLang="en-US" sz="1500" dirty="0">
                <a:solidFill>
                  <a:srgbClr val="1F2A37"/>
                </a:solidFill>
                <a:latin typeface="Amiri" pitchFamily="2" charset="-78"/>
                <a:cs typeface="Amiri" pitchFamily="2" charset="-78"/>
              </a:rPr>
              <a:t>تَـ</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Frequency + finish</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عَادَةً</a:t>
            </a:r>
            <a:pPr rtl="1" algn="ctr" indent="0" marL="0">
              <a:lnSpc>
                <a:spcPct val="120000"/>
              </a:lnSpc>
              <a:buNone/>
            </a:pPr>
            <a:r>
              <a:rPr lang="ar-SA" altLang="en-US" sz="1750" b="1" dirty="0">
                <a:solidFill>
                  <a:srgbClr val="1B3B6F"/>
                </a:solidFill>
                <a:latin typeface="Amiri" pitchFamily="2" charset="-78"/>
                <a:cs typeface="Amiri" pitchFamily="2" charset="-78"/>
              </a:rPr>
              <a:t> </a:t>
            </a:r>
            <a:pPr rtl="1" algn="ctr" indent="0" marL="0">
              <a:lnSpc>
                <a:spcPct val="120000"/>
              </a:lnSpc>
              <a:buNone/>
            </a:pPr>
            <a:r>
              <a:rPr lang="ar-SA" altLang="en-US" sz="1750" b="1" dirty="0">
                <a:solidFill>
                  <a:srgbClr val="1D5FBF"/>
                </a:solidFill>
                <a:latin typeface="Amiri" pitchFamily="2" charset="-78"/>
                <a:cs typeface="Amiri" pitchFamily="2" charset="-78"/>
              </a:rPr>
              <a:t>أَ</a:t>
            </a:r>
            <a:pPr rtl="1" algn="ctr" indent="0" marL="0">
              <a:lnSpc>
                <a:spcPct val="120000"/>
              </a:lnSpc>
              <a:buNone/>
            </a:pPr>
            <a:r>
              <a:rPr lang="ar-SA" altLang="en-US" sz="1750" b="1" dirty="0">
                <a:solidFill>
                  <a:srgbClr val="1B3B6F"/>
                </a:solidFill>
                <a:latin typeface="Amiri" pitchFamily="2" charset="-78"/>
                <a:cs typeface="Amiri" pitchFamily="2" charset="-78"/>
              </a:rPr>
              <a:t>خْرُجُ فِي السَّابِعَةِ وَالنِّصْفِ.</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frequency word and an exact time.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CONNECTOR</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00" b="1" dirty="0">
                <a:solidFill>
                  <a:srgbClr val="0E7C86"/>
                </a:solidFill>
                <a:latin typeface="Amiri" pitchFamily="2" charset="-78"/>
                <a:cs typeface="Amiri" pitchFamily="2" charset="-78"/>
              </a:rPr>
              <a:t>أَوَّلًا</a:t>
            </a:r>
            <a:pPr rtl="1" algn="r" indent="0" marL="0">
              <a:buNone/>
            </a:pPr>
            <a:r>
              <a:rPr lang="ar-SA" altLang="en-US" sz="1900" b="1" dirty="0">
                <a:solidFill>
                  <a:srgbClr val="1B3B6F"/>
                </a:solidFill>
                <a:latin typeface="Amiri" pitchFamily="2" charset="-78"/>
                <a:cs typeface="Amiri" pitchFamily="2" charset="-78"/>
              </a:rPr>
              <a:t> </a:t>
            </a:r>
            <a:pPr rtl="1" algn="r" indent="0" marL="0">
              <a:buNone/>
            </a:pPr>
            <a:r>
              <a:rPr lang="ar-SA" altLang="en-US" sz="1900" b="1" dirty="0">
                <a:solidFill>
                  <a:srgbClr val="1D5FBF"/>
                </a:solidFill>
                <a:latin typeface="Amiri" pitchFamily="2" charset="-78"/>
                <a:cs typeface="Amiri" pitchFamily="2" charset="-78"/>
              </a:rPr>
              <a:t>أَ</a:t>
            </a:r>
            <a:pPr rtl="1" algn="r" indent="0" marL="0">
              <a:buNone/>
            </a:pPr>
            <a:r>
              <a:rPr lang="ar-SA" altLang="en-US" sz="1900" b="1" dirty="0">
                <a:solidFill>
                  <a:srgbClr val="1B3B6F"/>
                </a:solidFill>
                <a:latin typeface="Amiri" pitchFamily="2" charset="-78"/>
                <a:cs typeface="Amiri" pitchFamily="2" charset="-78"/>
              </a:rPr>
              <a:t>سْتَيْقِظُ فِي السَّادِسَةِ، </a:t>
            </a:r>
            <a:pPr rtl="1" algn="r" indent="0" marL="0">
              <a:buNone/>
            </a:pPr>
            <a:r>
              <a:rPr lang="ar-SA" altLang="en-US" sz="1900" b="1" dirty="0">
                <a:solidFill>
                  <a:srgbClr val="0E7C86"/>
                </a:solidFill>
                <a:latin typeface="Amiri" pitchFamily="2" charset="-78"/>
                <a:cs typeface="Amiri" pitchFamily="2" charset="-78"/>
              </a:rPr>
              <a:t>ثُمَّ</a:t>
            </a:r>
            <a:pPr rtl="1" algn="r" indent="0" marL="0">
              <a:buNone/>
            </a:pPr>
            <a:r>
              <a:rPr lang="ar-SA" altLang="en-US" sz="1900" b="1" dirty="0">
                <a:solidFill>
                  <a:srgbClr val="1B3B6F"/>
                </a:solidFill>
                <a:latin typeface="Amiri" pitchFamily="2" charset="-78"/>
                <a:cs typeface="Amiri" pitchFamily="2" charset="-78"/>
              </a:rPr>
              <a:t> </a:t>
            </a:r>
            <a:pPr rtl="1" algn="r" indent="0" marL="0">
              <a:buNone/>
            </a:pPr>
            <a:r>
              <a:rPr lang="ar-SA" altLang="en-US" sz="1900" b="1" dirty="0">
                <a:solidFill>
                  <a:srgbClr val="1D5FBF"/>
                </a:solidFill>
                <a:latin typeface="Amiri" pitchFamily="2" charset="-78"/>
                <a:cs typeface="Amiri" pitchFamily="2" charset="-78"/>
              </a:rPr>
              <a:t>أَ</a:t>
            </a:r>
            <a:pPr rtl="1" algn="r" indent="0" marL="0">
              <a:buNone/>
            </a:pPr>
            <a:r>
              <a:rPr lang="ar-SA" altLang="en-US" sz="1900" b="1" dirty="0">
                <a:solidFill>
                  <a:srgbClr val="1B3B6F"/>
                </a:solidFill>
                <a:latin typeface="Amiri" pitchFamily="2" charset="-78"/>
                <a:cs typeface="Amiri" pitchFamily="2" charset="-78"/>
              </a:rPr>
              <a:t>غْتَسِلُ وَ</a:t>
            </a:r>
            <a:pPr rtl="1" algn="r" indent="0" marL="0">
              <a:buNone/>
            </a:pPr>
            <a:r>
              <a:rPr lang="ar-SA" altLang="en-US" sz="1900" b="1" dirty="0">
                <a:solidFill>
                  <a:srgbClr val="1D5FBF"/>
                </a:solidFill>
                <a:latin typeface="Amiri" pitchFamily="2" charset="-78"/>
                <a:cs typeface="Amiri" pitchFamily="2" charset="-78"/>
              </a:rPr>
              <a:t>أَ</a:t>
            </a:r>
            <a:pPr rtl="1" algn="r" indent="0" marL="0">
              <a:buNone/>
            </a:pPr>
            <a:r>
              <a:rPr lang="ar-SA" altLang="en-US" sz="1900" b="1" dirty="0">
                <a:solidFill>
                  <a:srgbClr val="1B3B6F"/>
                </a:solidFill>
                <a:latin typeface="Amiri" pitchFamily="2" charset="-78"/>
                <a:cs typeface="Amiri" pitchFamily="2" charset="-78"/>
              </a:rPr>
              <a:t>رْتَدِي مَلَابِسِي. أُخْتِي </a:t>
            </a:r>
            <a:pPr rtl="1" algn="r" indent="0" marL="0">
              <a:buNone/>
            </a:pPr>
            <a:r>
              <a:rPr lang="ar-SA" altLang="en-US" sz="1900" b="1" dirty="0">
                <a:solidFill>
                  <a:srgbClr val="D6336C"/>
                </a:solidFill>
                <a:latin typeface="Amiri" pitchFamily="2" charset="-78"/>
                <a:cs typeface="Amiri" pitchFamily="2" charset="-78"/>
              </a:rPr>
              <a:t>تَ</a:t>
            </a:r>
            <a:pPr rtl="1" algn="r" indent="0" marL="0">
              <a:buNone/>
            </a:pPr>
            <a:r>
              <a:rPr lang="ar-SA" altLang="en-US" sz="1900" b="1" dirty="0">
                <a:solidFill>
                  <a:srgbClr val="1B3B6F"/>
                </a:solidFill>
                <a:latin typeface="Amiri" pitchFamily="2" charset="-78"/>
                <a:cs typeface="Amiri" pitchFamily="2" charset="-78"/>
              </a:rPr>
              <a:t>تَنَاوَلُ الإِفْطَارَ قَبْلِي. </a:t>
            </a:r>
            <a:pPr rtl="1" algn="r" indent="0" marL="0">
              <a:buNone/>
            </a:pPr>
            <a:r>
              <a:rPr lang="ar-SA" altLang="en-US" sz="1900" b="1" dirty="0">
                <a:solidFill>
                  <a:srgbClr val="0E7C86"/>
                </a:solidFill>
                <a:latin typeface="Amiri" pitchFamily="2" charset="-78"/>
                <a:cs typeface="Amiri" pitchFamily="2" charset="-78"/>
              </a:rPr>
              <a:t>عَادَةً</a:t>
            </a:r>
            <a:pPr rtl="1" algn="r" indent="0" marL="0">
              <a:buNone/>
            </a:pPr>
            <a:r>
              <a:rPr lang="ar-SA" altLang="en-US" sz="1900" b="1" dirty="0">
                <a:solidFill>
                  <a:srgbClr val="1B3B6F"/>
                </a:solidFill>
                <a:latin typeface="Amiri" pitchFamily="2" charset="-78"/>
                <a:cs typeface="Amiri" pitchFamily="2" charset="-78"/>
              </a:rPr>
              <a:t> </a:t>
            </a:r>
            <a:pPr rtl="1" algn="r" indent="0" marL="0">
              <a:buNone/>
            </a:pPr>
            <a:r>
              <a:rPr lang="ar-SA" altLang="en-US" sz="1900" b="1" dirty="0">
                <a:solidFill>
                  <a:srgbClr val="1D5FBF"/>
                </a:solidFill>
                <a:latin typeface="Amiri" pitchFamily="2" charset="-78"/>
                <a:cs typeface="Amiri" pitchFamily="2" charset="-78"/>
              </a:rPr>
              <a:t>أَ</a:t>
            </a:r>
            <a:pPr rtl="1" algn="r" indent="0" marL="0">
              <a:buNone/>
            </a:pPr>
            <a:r>
              <a:rPr lang="ar-SA" altLang="en-US" sz="1900" b="1" dirty="0">
                <a:solidFill>
                  <a:srgbClr val="1B3B6F"/>
                </a:solidFill>
                <a:latin typeface="Amiri" pitchFamily="2" charset="-78"/>
                <a:cs typeface="Amiri" pitchFamily="2" charset="-78"/>
              </a:rPr>
              <a:t>خْرُجُ مِنَ البَيْتِ فِي السَّابِعَةِ وَالنِّصْفِ.</a:t>
            </a:r>
            <a:endParaRPr lang="ar-SA" sz="19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First I wake up at six, then I shower and get dressed. My sister has breakfast before me. Usually I leave the house at half past seven.</a:t>
            </a:r>
            <a:endParaRPr lang="en-US" sz="13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أَسْتَيْقِظُ فِي السَّاعَةِ السَّادِسَةِ وَالنِّصْفِ.</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wake up at half past six.</a:t>
            </a:r>
            <a:endParaRPr lang="en-US" sz="1250" dirty="0"/>
          </a:p>
          <a:p>
            <a:pPr indent="0" marL="0">
              <a:buNone/>
            </a:pPr>
            <a:r>
              <a:rPr lang="en-US" sz="1050" i="1" dirty="0">
                <a:solidFill>
                  <a:srgbClr val="8A6D1E"/>
                </a:solidFill>
                <a:latin typeface="Calibri" pitchFamily="34" charset="0"/>
                <a:cs typeface="Amiri" pitchFamily="2" charset="-78"/>
              </a:rPr>
              <a:t>Keep the full Form X shape.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ثُمَّ أَتَوَضَّأُ وَأَسْتَعِدُّ لِلْمَدْرَسَةِ.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Then I perform wudu and get ready for school.</a:t>
            </a:r>
            <a:endParaRPr lang="en-US" sz="1250" dirty="0"/>
          </a:p>
          <a:p>
            <a:pPr indent="0" marL="0">
              <a:buNone/>
            </a:pPr>
            <a:r>
              <a:rPr lang="en-US" sz="1050" i="1" dirty="0">
                <a:solidFill>
                  <a:srgbClr val="8A6D1E"/>
                </a:solidFill>
                <a:latin typeface="Calibri" pitchFamily="34" charset="0"/>
                <a:cs typeface="Amiri" pitchFamily="2" charset="-78"/>
              </a:rPr>
              <a:t>Two patterned verbs in one sequence.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أُخْتِي تَتَنَاوَلُ الإِفْطَارَ قَبْلِي.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sister has breakfast before me.</a:t>
            </a:r>
            <a:endParaRPr lang="en-US" sz="1250" dirty="0"/>
          </a:p>
          <a:p>
            <a:pPr indent="0" marL="0">
              <a:buNone/>
            </a:pPr>
            <a:r>
              <a:rPr lang="en-US" sz="1050" i="1" dirty="0">
                <a:solidFill>
                  <a:srgbClr val="8A6D1E"/>
                </a:solidFill>
                <a:latin typeface="Calibri" pitchFamily="34" charset="0"/>
                <a:cs typeface="Amiri" pitchFamily="2" charset="-78"/>
              </a:rPr>
              <a:t>Feminine subject → تَـ.</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نَادِرًا مَا أَخْرُجُ مِنْ دُونِ إِفْطَارٍ.</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rarely leave without breakfast.</a:t>
            </a:r>
            <a:endParaRPr lang="en-US" sz="1250" dirty="0"/>
          </a:p>
          <a:p>
            <a:pPr indent="0" marL="0">
              <a:buNone/>
            </a:pPr>
            <a:r>
              <a:rPr lang="en-US" sz="1050" i="1" dirty="0">
                <a:solidFill>
                  <a:srgbClr val="8A6D1E"/>
                </a:solidFill>
                <a:latin typeface="Calibri" pitchFamily="34" charset="0"/>
                <a:cs typeface="Amiri" pitchFamily="2" charset="-78"/>
              </a:rPr>
              <a:t>A more mature frequency expression.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MY MORNING ROUTINE”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Match the picture to the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الرُّوتِينِ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waking up</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brushing teeth</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breakfast</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أَتَنَاوَلُ الإِفْطَارَ.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أَسْتَيْقِظُ صَبَاحًا.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أُنَظِّفُ أَسْنَانِي.</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الرُّوتِينِ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waking up</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أَسْتَيْقِظُ صَبَاحًا.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wake up in the morning.</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brushing teeth</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أُنَظِّفُ أَسْنَانِي.</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brush my teeth.</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breakfast</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أَتَنَاوَلُ الإِفْطَارَ.</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have breakfast.</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Build the morning in a logical order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أَسْتَيْقِظُ مُبَكِّرًا</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أَغْتَسِلُ وَأَتَوَضَّأُ</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أَرْتَدِي مَلَابِسِي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أَتَنَاوَلُ الإِفْطَارَ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أُحَضِّرُ حَقِيبَتِي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أَخْرُجُ مِنَ البَيْتِ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أَسْتَقِلُّ الحَافِلَةَ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أَصِلُ إِلَى المَدْرَسَةِ</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Waking and washing</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Getting ready and eating</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Leaving and arriving</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Waking and washing</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أَسْتَيْقِظُ مُبَكِّرًا</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أَغْتَسِلُ وَأَتَوَضَّأُ</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Getting ready and eating</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أَرْتَدِي مَلَابِسِي</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أَتَنَاوَلُ الإِفْطَارَ</a:t>
            </a:r>
            <a:endParaRPr lang="ar-SA" sz="1800" dirty="0"/>
          </a:p>
        </p:txBody>
      </p:sp>
      <p:sp>
        <p:nvSpPr>
          <p:cNvPr id="29" name="Shape 26"/>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أُحَضِّرُ حَقِيبَتِي</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Leaving and arriving</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أَخْرُجُ مِنَ البَيْتِ</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أَسْتَقِلُّ الحَافِلَةَ</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أَصِلُ إِلَى المَدْرَسَةِ</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5,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contains the complete Form V pattern?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أَوْضَأُ</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أَتَوَضَأ</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أَتَوَضَّأُ</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أَخِي ___ لِلْمَدْرَسَةِ.</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أَسْتَعِدُّ</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يَسْتَعِدُّ</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تَسْتَعِدُّ</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“We have breakfast every day”?</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نَحْنُ يَتَنَاوَلُ الإِفْطَارَ.</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نَحْنُ نَتَنَاوَلُ الإِفْطَارَ كُلَّ يَوْمٍ.</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نَتَنَاوَلُ الإِفْطَارَ.</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frequency adverb used naturally?</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أَتَنَاوَلُ عَادَةً الإِفْطَارَ.</a:t>
            </a:r>
            <a:endParaRPr lang="ar-SA" sz="220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عَادَةً أَتَنَاوَلُ الإِفْطَارَ.</a:t>
            </a:r>
            <a:endParaRPr lang="ar-SA" sz="220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can be natural.</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contains the complete Form V pattern?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أَوْضَأُ</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أَتَوَضَأ</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أَتَوَضَّأُ</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Keep </a:t>
            </a:r>
            <a:pPr algn="l" indent="0" marL="0">
              <a:buNone/>
            </a:pPr>
            <a:r>
              <a:rPr lang="ar-SA" altLang="en-US" sz="1350" dirty="0">
                <a:solidFill>
                  <a:srgbClr val="8A6D1E"/>
                </a:solidFill>
                <a:latin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 and the doubled consonant: </a:t>
            </a:r>
            <a:pPr algn="l" indent="0" marL="0">
              <a:buNone/>
            </a:pPr>
            <a:r>
              <a:rPr lang="ar-SA" altLang="en-US" sz="1350" dirty="0">
                <a:solidFill>
                  <a:srgbClr val="8A6D1E"/>
                </a:solidFill>
                <a:latin typeface="Amiri" pitchFamily="2" charset="-78"/>
                <a:cs typeface="Amiri" pitchFamily="2" charset="-78"/>
              </a:rPr>
              <a:t>أَتَوَضَّأُ</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أَخِي ___ لِلْمَدْرَسَةِ.</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أَسْتَعِدُّ</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يَسْتَعِدُّ</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تَسْتَعِدُّ</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masculine third-person subject takes </a:t>
            </a:r>
            <a:pPr algn="l" indent="0" marL="0">
              <a:buNone/>
            </a:pPr>
            <a:r>
              <a:rPr lang="ar-SA" altLang="en-US" sz="1350" dirty="0">
                <a:solidFill>
                  <a:srgbClr val="8A6D1E"/>
                </a:solidFill>
                <a:latin typeface="Amiri" pitchFamily="2" charset="-78"/>
                <a:cs typeface="Amiri" pitchFamily="2" charset="-78"/>
              </a:rPr>
              <a:t>يَـ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“We have breakfast every day”?</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نَحْنُ يَتَنَاوَلُ الإِفْطَارَ.</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نَحْنُ نَتَنَاوَلُ الإِفْطَارَ كُلَّ يَوْمٍ.</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نَتَنَاوَلُ الإِفْطَارَ.</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نَحْنُ</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نَـ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cs typeface="Amiri" pitchFamily="2" charset="-78"/>
              </a:rPr>
              <a:t>نَتَنَاوَلُ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frequency adverb used naturally?</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cs typeface="Amiri" pitchFamily="2" charset="-78"/>
              </a:rPr>
              <a:t>أَتَنَاوَلُ عَادَةً الإِفْطَارَ.</a:t>
            </a:r>
            <a:endParaRPr lang="ar-SA" sz="22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cs typeface="Amiri" pitchFamily="2" charset="-78"/>
              </a:rPr>
              <a:t>عَادَةً أَتَنَاوَلُ الإِفْطَارَ.</a:t>
            </a:r>
            <a:endParaRPr lang="ar-SA" sz="22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 can be natural.</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Arabic allows the adverb near the verb or at the start for emphasis.</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أَنَا يَسْتَيْقِظُ مُبَكِّرًا.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the subject? Check the first letter.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هِيَ يَتَنَاوَلُ الإِفْطَارَ.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cs typeface="Amiri" pitchFamily="2" charset="-78"/>
              </a:rPr>
              <a:t>هِيَ</a:t>
            </a:r>
            <a:pPr algn="l" indent="0" marL="0">
              <a:buNone/>
            </a:pPr>
            <a:r>
              <a:rPr lang="en-US" sz="1300" i="1" dirty="0">
                <a:solidFill>
                  <a:srgbClr val="5A6472"/>
                </a:solidFill>
                <a:latin typeface="Calibri" pitchFamily="34" charset="0"/>
                <a:cs typeface="Amiri" pitchFamily="2" charset="-78"/>
              </a:rPr>
              <a:t> = she. Which prefix?</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أَسْتَعِدُّ ثُمَّ أَوَّلًا أَسْتَيْقِظُ.</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the order make sense?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أَنَا يَسْتَيْقِظُ مُبَكِّرًا.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أَنَا أَسْتَيْقِظُ مُبَكِّرًا.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first-person prefix is </a:t>
            </a:r>
            <a:pPr algn="l" indent="0" marL="0">
              <a:buNone/>
            </a:pPr>
            <a:r>
              <a:rPr lang="ar-SA" altLang="en-US" sz="1500" b="1" dirty="0">
                <a:solidFill>
                  <a:srgbClr val="1B3B6F"/>
                </a:solidFill>
                <a:latin typeface="Amiri" pitchFamily="2" charset="-78"/>
                <a:cs typeface="Amiri" pitchFamily="2" charset="-78"/>
              </a:rPr>
              <a:t>أَـ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هِيَ يَتَنَاوَلُ الإِفْطَارَ.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هِيَ تَتَنَاوَلُ الإِفْطَارَ.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feminine third-person subject takes </a:t>
            </a:r>
            <a:pPr algn="l" indent="0" marL="0">
              <a:buNone/>
            </a:pPr>
            <a:r>
              <a:rPr lang="ar-SA" altLang="en-US" sz="1500" b="1" dirty="0">
                <a:solidFill>
                  <a:srgbClr val="1B3B6F"/>
                </a:solidFill>
                <a:latin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أَسْتَعِدُّ ثُمَّ أَوَّلًا أَسْتَيْقِظُ.</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أَوَّلًا أَسْتَيْقِظُ، ثُمَّ أَسْتَعِدُّ.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Sequence markers must match the real order.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busy school morning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speaker usually wake up?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6:15</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6:45</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later does the brother wake up?</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 minutes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an hour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do before getting dressed?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eats breakfast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takes the bus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showers and performs wudu</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breakfast?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6:50</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7:10</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7:30</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breakfast useful?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makes the bus arrive.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helps concentration.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makes school shorter.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السَّادِسَةِ</a:t>
            </a:r>
            <a:pPr algn="l" indent="0" marL="0">
              <a:lnSpc>
                <a:spcPct val="115000"/>
              </a:lnSpc>
              <a:buNone/>
            </a:pPr>
            <a:r>
              <a:rPr lang="en-US" sz="1250" dirty="0">
                <a:solidFill>
                  <a:srgbClr val="1E6B52"/>
                </a:solidFill>
                <a:latin typeface="Calibri" pitchFamily="34" charset="0"/>
                <a:cs typeface="Amiri" pitchFamily="2" charset="-78"/>
              </a:rPr>
              <a:t> (six) · </a:t>
            </a:r>
            <a:pPr algn="l" indent="0" marL="0">
              <a:lnSpc>
                <a:spcPct val="115000"/>
              </a:lnSpc>
              <a:buNone/>
            </a:pPr>
            <a:r>
              <a:rPr lang="ar-SA" altLang="en-US" sz="1650" dirty="0">
                <a:solidFill>
                  <a:srgbClr val="1E6B52"/>
                </a:solidFill>
                <a:latin typeface="Amiri" pitchFamily="2" charset="-78"/>
                <a:cs typeface="Amiri" pitchFamily="2" charset="-78"/>
              </a:rPr>
              <a:t>أَغْتَسِلُ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الإِفْطَارَ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أَسْتَيْقِظُ عَادَةً فِي السَّادِسَةِ وَالرُّبْعِ، وَلٰكِنَّ أَخِي يَسْتَيْقِظُ بَعْدِي بِنِصْفِ سَاعَةٍ.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usually wake up at quarter past six, but my brother wakes up half an hour after me.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أَوَّلًا أَغْتَسِلُ وَأَتَوَضَّأُ، ثُمَّ أَرْتَدِي زِيَّ المَدْرَسَةِ وَأُمَشِّطُ شَعْرِي.</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I shower and perform wudu, then I put on my school uniform and comb my hair.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فِي السَّابِعَةِ إِلَّا عَشْرَ دَقَائِقَ أَتَنَاوَلُ إِفْطَارًا خَفِيفًا، وَبَعْدَ ذٰلِكَ أَسْتَعِدُّ لِلْخُرُوجِ.</a:t>
            </a:r>
            <a:endParaRPr lang="ar-SA" sz="19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ten to seven I have a light breakfast, and after that I get ready to leave.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أَسْتَقِلُّ الحَافِلَةَ فِي السَّابِعَةِ وَالنِّصْفِ، وَأَصِلُ إِلَى المَدْرَسَةِ قَبْلَ بَدْءِ الدِّرَاسَةِ بِعَشْرِ دَقَائِقَ.</a:t>
            </a:r>
            <a:endParaRPr lang="ar-SA" sz="17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take the bus at half past seven, and I arrive at school ten minutes before lessons begin.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أَحْيَانًا أَشْعُرُ بِالنُّعَاسِ، لٰكِنَّ الإِفْطَارَ يُسَاعِدُنِي عَلَى التَّرْكِيزِ.</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Sometimes I feel sleepy, but breakfast helps me concentrate.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speaker usually wake up?</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6:15</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6:30</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6:45</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السَّادِسَةِ وَالرُّبْعِ = 6:15.</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later does the brother wake up?</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 minutes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hour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half an hour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بَعْدِي بِنِصْفِ سَاعَةٍ.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do before getting dressed?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eats breakfast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takes the bus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showers and performs wudu</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أَوَّلًا أَغْتَسِلُ وَأَتَوَضَّأُ.</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breakfast?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6:50</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7:10</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7:30</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السَّابِعَةِ إِلَّا عَشْرَ دَقَائِقَ = 6:50.</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breakfast useful?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makes the bus arrive.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helps concentration.</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makes school shorter.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الإِفْطَارُ يُسَاعِدُنِي عَلَى التَّرْكِيزِ.</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السَّادِسَةِ</a:t>
            </a:r>
            <a:pPr algn="l" indent="0" marL="0">
              <a:lnSpc>
                <a:spcPct val="115000"/>
              </a:lnSpc>
              <a:buNone/>
            </a:pPr>
            <a:r>
              <a:rPr lang="en-US" sz="1250" dirty="0">
                <a:solidFill>
                  <a:srgbClr val="1E6B52"/>
                </a:solidFill>
                <a:latin typeface="Calibri" pitchFamily="34" charset="0"/>
                <a:cs typeface="Amiri" pitchFamily="2" charset="-78"/>
              </a:rPr>
              <a:t> (six) · </a:t>
            </a:r>
            <a:pPr algn="l" indent="0" marL="0">
              <a:lnSpc>
                <a:spcPct val="115000"/>
              </a:lnSpc>
              <a:buNone/>
            </a:pPr>
            <a:r>
              <a:rPr lang="ar-SA" altLang="en-US" sz="1650" dirty="0">
                <a:solidFill>
                  <a:srgbClr val="1E6B52"/>
                </a:solidFill>
                <a:latin typeface="Amiri" pitchFamily="2" charset="-78"/>
                <a:cs typeface="Amiri" pitchFamily="2" charset="-78"/>
              </a:rPr>
              <a:t>أَغْتَسِلُ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الإِفْطَارَ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A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Routine sequencing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A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Routine sequencing race</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Reorder mixed-up routine cards, add realistic times, then retell the day with accurate present-tense verbs and sequencing expressions.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posts 6 mixed routine cards (Arabic verbs) in the chat.</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60s: everyone types the order 1–6 and adds one realistic time.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students retell the day on the mic with </a:t>
            </a:r>
            <a:pPr algn="l" indent="0" marL="0">
              <a:buNone/>
            </a:pPr>
            <a:r>
              <a:rPr lang="ar-SA" altLang="en-US" sz="1500" dirty="0">
                <a:solidFill>
                  <a:srgbClr val="1F2A37"/>
                </a:solidFill>
                <a:latin typeface="Amiri" pitchFamily="2" charset="-78"/>
                <a:cs typeface="Amiri" pitchFamily="2" charset="-78"/>
              </a:rPr>
              <a:t>أَوَّلًا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cs typeface="Amiri" pitchFamily="2" charset="-78"/>
              </a:rPr>
              <a:t>ثُمَّ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cs typeface="Amiri" pitchFamily="2" charset="-78"/>
              </a:rPr>
              <a:t>بَعْدَ ذٰلِكَ</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Class checks the verbs: I / he / she endings.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Order the cards, then read 3 of them aloud as “I” sentences with a time.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Retell 5 steps with times and 3 sequencing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Retell the day about a brother or sister (</a:t>
            </a:r>
            <a:pPr algn="l" indent="0" marL="0">
              <a:buNone/>
            </a:pPr>
            <a:r>
              <a:rPr lang="ar-SA" altLang="en-US" sz="1500" dirty="0">
                <a:solidFill>
                  <a:srgbClr val="1F2A37"/>
                </a:solidFill>
                <a:latin typeface="Amiri" pitchFamily="2" charset="-78"/>
                <a:cs typeface="Amiri" pitchFamily="2" charset="-78"/>
              </a:rPr>
              <a:t>يَـ / تَـ</a:t>
            </a:r>
            <a:pPr algn="l" indent="0" marL="0">
              <a:buNone/>
            </a:pPr>
            <a:r>
              <a:rPr lang="en-US" sz="1150" dirty="0">
                <a:solidFill>
                  <a:srgbClr val="1F2A37"/>
                </a:solidFill>
                <a:latin typeface="Calibri" pitchFamily="34" charset="0"/>
                <a:cs typeface="Amiri" pitchFamily="2" charset="-78"/>
              </a:rPr>
              <a:t>) and add one frequency word.</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cs typeface="Amiri" pitchFamily="2" charset="-78"/>
              </a:rPr>
              <a:t>أَوَّلًا</a:t>
            </a:r>
            <a:endParaRPr lang="ar-SA" sz="1050" dirty="0"/>
          </a:p>
        </p:txBody>
      </p:sp>
      <p:sp>
        <p:nvSpPr>
          <p:cNvPr id="48" name="Text 45"/>
          <p:cNvSpPr txBox="1"/>
          <p:nvPr/>
        </p:nvSpPr>
        <p:spPr>
          <a:xfrm>
            <a:off x="6492240" y="5138928"/>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a:t>
            </a:r>
            <a:endParaRPr lang="en-US" sz="1000" dirty="0"/>
          </a:p>
        </p:txBody>
      </p:sp>
      <p:sp>
        <p:nvSpPr>
          <p:cNvPr id="49" name="Text 46"/>
          <p:cNvSpPr txBox="1"/>
          <p:nvPr/>
        </p:nvSpPr>
        <p:spPr>
          <a:xfrm>
            <a:off x="8732520" y="5365699"/>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cs typeface="Amiri" pitchFamily="2" charset="-78"/>
              </a:rPr>
              <a:t>ثُمَّ</a:t>
            </a:r>
            <a:endParaRPr lang="ar-SA" sz="1050" dirty="0"/>
          </a:p>
        </p:txBody>
      </p:sp>
      <p:sp>
        <p:nvSpPr>
          <p:cNvPr id="50" name="Text 47"/>
          <p:cNvSpPr txBox="1"/>
          <p:nvPr/>
        </p:nvSpPr>
        <p:spPr>
          <a:xfrm>
            <a:off x="6492240" y="5365699"/>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then</a:t>
            </a:r>
            <a:endParaRPr lang="en-US" sz="1000" dirty="0"/>
          </a:p>
        </p:txBody>
      </p:sp>
      <p:sp>
        <p:nvSpPr>
          <p:cNvPr id="51" name="Text 48"/>
          <p:cNvSpPr txBox="1"/>
          <p:nvPr/>
        </p:nvSpPr>
        <p:spPr>
          <a:xfrm>
            <a:off x="8732520" y="5592470"/>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cs typeface="Amiri" pitchFamily="2" charset="-78"/>
              </a:rPr>
              <a:t>بَعْدَ ذٰلِكَ</a:t>
            </a:r>
            <a:endParaRPr lang="ar-SA" sz="1050" dirty="0"/>
          </a:p>
        </p:txBody>
      </p:sp>
      <p:sp>
        <p:nvSpPr>
          <p:cNvPr id="52" name="Text 49"/>
          <p:cNvSpPr txBox="1"/>
          <p:nvPr/>
        </p:nvSpPr>
        <p:spPr>
          <a:xfrm>
            <a:off x="6492240" y="5592470"/>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after that</a:t>
            </a:r>
            <a:endParaRPr lang="en-US" sz="1000" dirty="0"/>
          </a:p>
        </p:txBody>
      </p:sp>
      <p:sp>
        <p:nvSpPr>
          <p:cNvPr id="53" name="Text 50"/>
          <p:cNvSpPr txBox="1"/>
          <p:nvPr/>
        </p:nvSpPr>
        <p:spPr>
          <a:xfrm>
            <a:off x="8732520" y="5819242"/>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cs typeface="Amiri" pitchFamily="2" charset="-78"/>
              </a:rPr>
              <a:t>فِي السَّاعَةِ السَّابِعَةِ</a:t>
            </a:r>
            <a:endParaRPr lang="ar-SA" sz="1050" dirty="0"/>
          </a:p>
        </p:txBody>
      </p:sp>
      <p:sp>
        <p:nvSpPr>
          <p:cNvPr id="54" name="Text 51"/>
          <p:cNvSpPr txBox="1"/>
          <p:nvPr/>
        </p:nvSpPr>
        <p:spPr>
          <a:xfrm>
            <a:off x="6492240" y="5819242"/>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at seven o’clock</a:t>
            </a:r>
            <a:endParaRPr lang="en-US" sz="1000" dirty="0"/>
          </a:p>
        </p:txBody>
      </p:sp>
      <p:sp>
        <p:nvSpPr>
          <p:cNvPr id="55" name="Text 52"/>
          <p:cNvSpPr txBox="1"/>
          <p:nvPr/>
        </p:nvSpPr>
        <p:spPr>
          <a:xfrm>
            <a:off x="8732520" y="6046013"/>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cs typeface="Amiri" pitchFamily="2" charset="-78"/>
              </a:rPr>
              <a:t>أَخِيرًا</a:t>
            </a:r>
            <a:endParaRPr lang="ar-SA" sz="1050" dirty="0"/>
          </a:p>
        </p:txBody>
      </p:sp>
      <p:sp>
        <p:nvSpPr>
          <p:cNvPr id="56" name="Text 53"/>
          <p:cNvSpPr txBox="1"/>
          <p:nvPr/>
        </p:nvSpPr>
        <p:spPr>
          <a:xfrm>
            <a:off x="6492240" y="6046013"/>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finally</a:t>
            </a:r>
            <a:endParaRPr lang="en-US" sz="10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Describe and compare morning routines</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تَفْعَلُ فِي الصَّبَاحِ؟</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رُوتِينَكَ الصَّبَاحِيَّ بِالتَّرْتِيبِ.</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تَسْتَيْقِظُ فِي أَيَّامِ المَدْرَسَةِ وَفِي نِهَايَةِ الأُسْبُوعِ؟</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قَارِنْ بَيْنَ رُوتِينِكَ وَرُوتِينِ شَخْصٍ آخَرَ فِي أُسْرَتِكَ.</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أَوَّلًا أَسْتَيْقِظُ، ثُمَّ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أَسْتَيْقِظُ فِي ___ ، وَبَعْدَ ذٰلِكَ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أَنَا ___ ، وَلٰكِنَّ أُخْتِي تَـ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هُوَ يَـ ___ / هِيَ تَـ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مَتَى تَسْتَيْقِظُ عَادَةً؟</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When do you usually wake up?</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أَسْتَيْقِظُ فِي السَّادِسَةِ وَالنِّصْفِ، ثُمَّ أَغْتَسِلُ وَأَتَنَاوَلُ الإِفْطَارَ. أُفَضِّلُ أَنْ أَسْتَيْقِظَ مُبَكِّرًا لِأَنَّنِي أَصِلُ إِلَى المَدْرَسَةِ هَادِئًا.</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wake up at half past six, then I shower and have breakfast. I prefer to wake up early because I arrive at school calm.</a:t>
            </a:r>
            <a:endParaRPr lang="en-US" sz="7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Build six accurate routine sentences using the model chunks.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Frames + word bank: six morning actions in the “I” form with أَوَّلًا / ثُمَّ.</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8–10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two routines and vary the subject pronouns.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exact times and frequency words; describe one family member with يَـ / تَـ.</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how routine affects concentration or wellbeing using a developed opinion.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compare your real routine with an improved routine; end with an opinion and reason.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عَادَةً أَسْتَيْقِظُ فِي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usually wake up 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ذٰلِكَ ______ لِلْمَدْرَسَةِ.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I get ready for school.</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أَخِي يَـ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wakes up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أُخْتِي تَـ ______ الإِفْطَارَ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has breakfast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نَادِرًا مَا ______ مِنْ دُونِ إِفْطَارٍ.</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rarely leave without breakfast.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أَوَّلًا أَسْتَيْقِظُ فِي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I wake up at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ثُمَّ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I shower.</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أَرْتَدِي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get dressed.</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أَتَنَاوَلُ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breakfast.</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أَخِيرًا ______ مِنَ البَيْتِ.</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I leave the house.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أَسْتَيْقِظُ  ·  أَغْتَسِلُ  ·  أَتَوَضَّأُ  ·  أَرْتَدِي مَلَابِسِي  ·  أُنَظِّفُ أَسْنَانِي  ·  أَتَنَاوَلُ  ·  أَسْتَعِدُّ  ·  أَخْرُجُ  ·  أَوَّلًا  ·  ثُمَّ  ·  بَعْدَ ذٰلِكَ  ·  أَخِيرًا  ·  عَادَةً  ·  أَحْيَانًا</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90–110 words comparing your real morning routine with an improved routine you would like to follow.</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six different routine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least two derived verbs from different patterns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four sequence or frequency expressions.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Mention an exact time and one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End with an opinion and reason.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وَلٰكِنَّنِي أَحْيَانًا أَبْقَى فِي السَّرِيرِ</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sometimes I stay in bed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أُرِيدُ أَنْ أُحَسِّنَ رُوتِينِي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improve my routine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الأَفْضَلِ أَنْ أَضَعَ هَاتِفِي بَعِيدًا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better to put my phone away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أُجَهِّزُ حَقِيبَتِي لَيْلًا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prepare my bag at night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فِي رَأْيِي، الرُّوتِينُ المُنَظَّمُ يَجْعَلُ اليَوْمَ أَهْدَأَ</a:t>
            </a:r>
            <a:endParaRPr lang="ar-SA" sz="155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an organised routine makes the day calmer</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أَسْتَيْقِظُ عَادَةً فِي السَّادِسَةِ وَالنِّصْفِ، وَلٰكِنَّنِي أَحْيَانًا أَبْقَى فِي السَّرِيرِ عَشْرَ دَقَائِقَ أُخْرَى. أَوَّلًا أَغْتَسِلُ وَأَتَوَضَّأُ، ثُمَّ أَرْتَدِي مَلَابِسِي وَأَتَنَاوَلُ الإِفْطَارَ. بَعْدَ ذٰلِكَ أَسْتَعِدُّ لِلْمَدْرَسَةِ وَأَخْرُجُ مِنَ البَيْتِ. أُرِيدُ أَنْ أُحَسِّنَ رُوتِينِي؛ فَمِنَ الأَفْضَلِ أَنْ أَضَعَ هَاتِفِي بَعِيدًا وَأَنْ أُجَهِّزَ حَقِيبَتِي لَيْلًا. فِي رَأْيِي، الرُّوتِينُ المُنَظَّمُ يَجْعَلُ اليَوْمَ أَهْدَأَ وَأَكْثَرَ نَجَاحًا.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usually wake up at half past six, but sometimes I stay in bed another ten minutes. First I shower and perform wudu, then I get dressed and have breakfast. After that I get ready for school and leave the house. I want to improve my routine: it is better to put my phone away and prepare my bag at night. In my opinion, an organised routine makes the day calmer and more successful.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six routine verbs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Form X verb</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sequence / frequency words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opinion +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six morning verbs in the “I” form (</a:t>
            </a:r>
            <a:pPr algn="l" indent="0" marL="0">
              <a:buNone/>
            </a:pPr>
            <a:r>
              <a:rPr lang="ar-SA" altLang="en-US" sz="1700" dirty="0">
                <a:solidFill>
                  <a:srgbClr val="1F2A37"/>
                </a:solidFill>
                <a:latin typeface="Amiri" pitchFamily="2" charset="-78"/>
                <a:cs typeface="Amiri" pitchFamily="2" charset="-78"/>
              </a:rPr>
              <a:t>أَـ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ordered my routine with </a:t>
            </a:r>
            <a:pPr algn="l" indent="0" marL="0">
              <a:buNone/>
            </a:pPr>
            <a:r>
              <a:rPr lang="ar-SA" altLang="en-US" sz="1700" dirty="0">
                <a:solidFill>
                  <a:srgbClr val="1F2A37"/>
                </a:solidFill>
                <a:latin typeface="Amiri" pitchFamily="2" charset="-78"/>
                <a:cs typeface="Amiri" pitchFamily="2" charset="-78"/>
              </a:rPr>
              <a:t>أَوَّلًا / ثُمَّ / أَخِيرًا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changed the prefix for another person (</a:t>
            </a:r>
            <a:pPr algn="l" indent="0" marL="0">
              <a:buNone/>
            </a:pPr>
            <a:r>
              <a:rPr lang="ar-SA" altLang="en-US" sz="1700" dirty="0">
                <a:solidFill>
                  <a:srgbClr val="1F2A37"/>
                </a:solidFill>
                <a:latin typeface="Amiri" pitchFamily="2" charset="-78"/>
                <a:cs typeface="Amiri" pitchFamily="2" charset="-78"/>
              </a:rPr>
              <a:t>يَـ / تَـ / نَـ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an exact time and a frequency word.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kept every derived verb whole (</a:t>
            </a:r>
            <a:pPr algn="l" indent="0" marL="0">
              <a:buNone/>
            </a:pPr>
            <a:r>
              <a:rPr lang="ar-SA" altLang="en-US" sz="1700" dirty="0">
                <a:solidFill>
                  <a:srgbClr val="1F2A37"/>
                </a:solidFill>
                <a:latin typeface="Amiri" pitchFamily="2" charset="-78"/>
                <a:cs typeface="Amiri" pitchFamily="2" charset="-78"/>
              </a:rPr>
              <a:t>أَسْتَيْقِظُ</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cs typeface="Amiri" pitchFamily="2" charset="-78"/>
              </a:rPr>
              <a:t>أَتَنَاوَلُ</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get ready”?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أَسْتَعِدُّ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أَسْتَيْقِظُ</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أَسْتَقِلُّ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female form.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يَغْتَسِلُ.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تَغْتَسِلُ.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أَغْتَسِلُ.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sequence.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أَوَّلًا أَسْتَيْقِظُ، ثُمَّ أَتَنَاوَلُ الإِفْطَارَ.</a:t>
            </a:r>
            <a:endParaRPr lang="ar-SA" sz="18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ثُمَّ أَسْتَيْقِظُ أَوَّلًا.</a:t>
            </a:r>
            <a:endParaRPr lang="ar-SA" sz="18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أَخِيرًا أَسْتَيْقِظُ قَبْلَ أَنْ أَنَامَ.</a:t>
            </a:r>
            <a:endParaRPr lang="ar-SA" sz="18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get ready”?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أَسْتَعِدُّ</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أَسْتَيْقِظُ</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أَسْتَقِلُّ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أَسْتَعِدُّ</a:t>
            </a:r>
            <a:pPr algn="l" indent="0" marL="0">
              <a:buNone/>
            </a:pPr>
            <a:r>
              <a:rPr lang="en-US" sz="1050" i="1" dirty="0">
                <a:solidFill>
                  <a:srgbClr val="8A6D1E"/>
                </a:solidFill>
                <a:latin typeface="Calibri" pitchFamily="34" charset="0"/>
                <a:cs typeface="Amiri" pitchFamily="2" charset="-78"/>
              </a:rPr>
              <a:t> = I get ready.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female form.</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هِيَ يَغْتَسِلُ.</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هِيَ تَغْتَسِلُ.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هِيَ أَغْتَسِلُ.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sequence.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2" charset="-78"/>
                <a:cs typeface="Amiri" pitchFamily="2" charset="-78"/>
              </a:rPr>
              <a:t>أَوَّلًا أَسْتَيْقِظُ، ثُمَّ أَتَنَاوَلُ الإِفْطَارَ.</a:t>
            </a:r>
            <a:endParaRPr lang="ar-SA" sz="18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cs typeface="Amiri" pitchFamily="2" charset="-78"/>
              </a:rPr>
              <a:t>ثُمَّ أَسْتَيْقِظُ أَوَّلًا.</a:t>
            </a:r>
            <a:endParaRPr lang="ar-SA" sz="18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cs typeface="Amiri" pitchFamily="2" charset="-78"/>
              </a:rPr>
              <a:t>أَخِيرًا أَسْتَيْقِظُ قَبْلَ أَنْ أَنَامَ.</a:t>
            </a:r>
            <a:endParaRPr lang="ar-SA" sz="18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order is logical and grammatically complete.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morning routine that changed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العَامِ المَاضِي كُنْتُ أَسْتَيْقِظُ مُتَأَخِّرًا، فَكُنْتُ أَخْرُجُ مِنَ البَيْتِ بِعَجَلَةٍ وَأَصِلُ إِلَى المَدْرَسَةِ مُتْعَبًا. أَمَّا الآنَ فَقَدْ نَظَّمْتُ رُوتِينِي. أَضَعُ المُنَبِّهَ بَعِيدًا عَنِ السَّرِيرِ، وَأَسْتَيْقِظُ فِي السَّادِسَةِ وَالنِّصْفِ. بَعْدَ أَنْ أَغْتَسِلَ وَأَرْتَدِيَ مَلَابِسِي، أَتَنَاوَلُ الإِفْطَارَ وَأُرَاجِعُ حَقِيبَتِي. لَا أَسْتَعْمِلُ هَاتِفِي فِي الصَّبَاحِ إِلَّا لِمُرَاجَعَةِ الوَقْتِ. هٰذَا التَّغْيِيرُ جَعَلَنِي أَكْثَرَ نَشَاطًا وَأَقَلَّ تَوَتُّرًا.</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العَامِ المَاضِي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last year</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كُنْتُ أَسْتَيْقِظُ</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used to wake up</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بِعَجَلَةٍ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a hurry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مُتْعَبًا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tired</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أَمَّا الآنَ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as for now</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نَظَّمْتُ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organised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أُرَاجِعُ حَقِيبَتِي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check my bag</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إِلَّا لِـ</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except for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أَكْثَرَ نَشَاطًا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more energetic</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أَقَلَّ تَوَتُّرًا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less stressed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did the writer have last year?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missing breakfast because of sport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waking late and rushing</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travelling by train</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alarm placed now?</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under the pillow</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kitchen</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far from the bed</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after washing and dressing?</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breakfast and checking the bag</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 games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returning to bed</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phone used in the morning?</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social media</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to check the time</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watch videos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effects did the change have?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energetic and less stressed</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tired and late</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hungry and bored</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Which phrase signals contrast between past and now?</a:t>
            </a:r>
            <a:endParaRPr lang="en-US" sz="110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بَعْدَ أَنْ</a:t>
            </a:r>
            <a:endParaRPr lang="ar-SA" sz="20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إِلَّا لِـ</a:t>
            </a:r>
            <a:endParaRPr lang="ar-SA" sz="20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الآنَ</a:t>
            </a:r>
            <a:endParaRPr lang="ar-SA" sz="20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did the writer have last year?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missing breakfast because of sport</a:t>
            </a:r>
            <a:endParaRPr lang="en-US" sz="11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waking late and rushing</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travelling by train</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sentence describes waking late and leaving in a hurry.</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alarm placed now?</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under the pillow</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kitchen</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far from the bed</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أَضَعُ المُنَبِّهَ بَعِيدًا عَنِ السَّرِيرِ.</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after washing and dressing?</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breakfast and checking the bag</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phone games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returning to bed</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writer eats breakfast and reviews the school bag.</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phone used in the morning?</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social media</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only to check the time</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watch videos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إِلَّا لِمُرَاجَعَةِ الوَقْتِ.</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effects did the change have?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more energetic and less stressed</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tired and late</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hungry and bored</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أَكْثَرَ نَشَاطًا وَأَقَلَّ تَوَتُّرًا.</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Which phrase signals contrast between past and now?</a:t>
            </a:r>
            <a:endParaRPr lang="en-US" sz="110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بَعْدَ أَنْ</a:t>
            </a:r>
            <a:endParaRPr lang="ar-SA" sz="170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إِلَّا لِـ</a:t>
            </a:r>
            <a:endParaRPr lang="ar-SA" sz="170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أَمَّا الآنَ</a:t>
            </a:r>
            <a:endParaRPr lang="ar-SA" sz="17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أَمَّا الآنَ</a:t>
            </a:r>
            <a:pPr algn="l" indent="0" marL="0">
              <a:buNone/>
            </a:pPr>
            <a:r>
              <a:rPr lang="en-US" sz="1050" i="1" dirty="0">
                <a:solidFill>
                  <a:srgbClr val="8A6D1E"/>
                </a:solidFill>
                <a:latin typeface="Calibri" pitchFamily="34" charset="0"/>
                <a:cs typeface="Amiri" pitchFamily="2" charset="-78"/>
              </a:rPr>
              <a:t> introduces the contrasting present situation.</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Morning routine language quest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“I wake up at half past six.”</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أَسْتَيْقِظُ فِي السَّادِسَةِ وَالرُّبْعِ.</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أَسْتَيْقِظُ فِي السَّادِسَةِ وَالنِّصْفِ.</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يَسْتَيْقِظُ فِي السَّادِسَةِ وَالنِّصْفِ.</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routine: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أَوَّلًا ___، ثُمَّ أَغْتَسِلُ.</a:t>
            </a:r>
            <a:endParaRPr lang="ar-SA" sz="150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أَسْتَيْقِظُ</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يَسْتَيْقِظُ</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تَسْتَيْقِظِينَ</a:t>
            </a:r>
            <a:endParaRPr lang="ar-SA" sz="20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Mariam is describing her morning. Choose the accurate sentence.</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مَرْيَمُ يَتَنَاوَلُ الإِفْطَارَ.</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مَرْيَمُ أَتَنَاوَلُ الإِفْطَارَ.</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مَرْيَمُ تَتَنَاوَلُ الإِفْطَارَ.</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rarely leave the house late”?</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دَائِمًا أَخْرُجُ مِنَ البَيْتِ مُتَأَخِّرًا.</a:t>
            </a:r>
            <a:endParaRPr lang="ar-SA" sz="19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أَحْيَانًا يَخْرُجُ مِنَ البَيْتِ مُبَكِّرًا.</a:t>
            </a:r>
            <a:endParaRPr lang="ar-SA" sz="19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نَادِرًا مَا أَخْرُجُ مِنَ البَيْتِ مُتَأَخِّرًا.</a:t>
            </a:r>
            <a:endParaRPr lang="ar-SA" sz="19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coherent morning sequence.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cs typeface="Amiri" pitchFamily="2" charset="-78"/>
              </a:rPr>
              <a:t>أَوَّلًا أَسْتَيْقِظُ، ثُمَّ أَتَوَضَّأُ، وَبَعْدَ ذٰلِكَ أَرْتَدِي مَلَابِسِي.</a:t>
            </a:r>
            <a:endParaRPr lang="ar-SA" sz="130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cs typeface="Amiri" pitchFamily="2" charset="-78"/>
              </a:rPr>
              <a:t>أَخِيرًا أَسْتَيْقِظُ، ثُمَّ أَنَامُ.</a:t>
            </a:r>
            <a:endParaRPr lang="ar-SA" sz="130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cs typeface="Amiri" pitchFamily="2" charset="-78"/>
              </a:rPr>
              <a:t>ثُمَّ أَخْرُجُ، أَوَّلًا أَتَنَاوَلُ الإِفْطَارَ.</a:t>
            </a:r>
            <a:endParaRPr lang="ar-SA" sz="130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 the sentence:</a:t>
            </a:r>
            <a:endParaRPr lang="en-US" sz="1200" dirty="0"/>
          </a:p>
        </p:txBody>
      </p:sp>
      <p:sp>
        <p:nvSpPr>
          <p:cNvPr id="87" name="Text 8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أَنَا يَسْتَيْقِظُ مُبَكِّرًا.</a:t>
            </a:r>
            <a:endParaRPr lang="ar-SA" sz="150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تَسْتَيْقِظُ مُبَكِّرًا.</a:t>
            </a:r>
            <a:endParaRPr lang="ar-SA" sz="20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أَسْتَيْقِظُ مُبَكِّرًا.</a:t>
            </a:r>
            <a:endParaRPr lang="ar-SA" sz="20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نَسْتَيْقِظُ مُبَكِّرًا.</a:t>
            </a:r>
            <a:endParaRPr lang="ar-SA" sz="20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“I wake up at half past six.”</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أَسْتَيْقِظُ فِي السَّادِسَةِ وَالرُّبْعِ.</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أَسْتَيْقِظُ فِي السَّادِسَةِ وَالنِّصْفِ.</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يَسْتَيْقِظُ فِي السَّادِسَةِ وَالنِّصْفِ.</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أَسْتَيْقِظُ</a:t>
            </a:r>
            <a:pPr algn="l" indent="0" marL="0">
              <a:buNone/>
            </a:pPr>
            <a:r>
              <a:rPr lang="en-US" sz="1050" i="1" dirty="0">
                <a:solidFill>
                  <a:srgbClr val="8A6D1E"/>
                </a:solidFill>
                <a:latin typeface="Calibri" pitchFamily="34" charset="0"/>
                <a:cs typeface="Amiri" pitchFamily="2" charset="-78"/>
              </a:rPr>
              <a:t> is the first-person verb, and </a:t>
            </a:r>
            <a:pPr algn="l" indent="0" marL="0">
              <a:buNone/>
            </a:pPr>
            <a:r>
              <a:rPr lang="ar-SA" altLang="en-US" sz="1350" dirty="0">
                <a:solidFill>
                  <a:srgbClr val="8A6D1E"/>
                </a:solidFill>
                <a:latin typeface="Amiri" pitchFamily="2" charset="-78"/>
                <a:cs typeface="Amiri" pitchFamily="2" charset="-78"/>
              </a:rPr>
              <a:t>وَالنِّصْفُ</a:t>
            </a:r>
            <a:pPr algn="l" indent="0" marL="0">
              <a:buNone/>
            </a:pPr>
            <a:r>
              <a:rPr lang="en-US" sz="1050" i="1" dirty="0">
                <a:solidFill>
                  <a:srgbClr val="8A6D1E"/>
                </a:solidFill>
                <a:latin typeface="Calibri" pitchFamily="34" charset="0"/>
                <a:cs typeface="Amiri" pitchFamily="2" charset="-78"/>
              </a:rPr>
              <a:t> means half past.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routine:</a:t>
            </a:r>
            <a:endParaRPr lang="en-US" sz="1200" dirty="0"/>
          </a:p>
        </p:txBody>
      </p:sp>
      <p:sp>
        <p:nvSpPr>
          <p:cNvPr id="35" name="Text 33"/>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أَوَّلًا ___، ثُمَّ أَغْتَسِلُ.</a:t>
            </a:r>
            <a:endParaRPr lang="ar-SA" sz="150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أَسْتَيْقِظُ</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يَسْتَيْقِظُ</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تَسْتَيْقِظِينَ</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is “I”, so the verb begins with </a:t>
            </a:r>
            <a:pPr algn="l" indent="0" marL="0">
              <a:buNone/>
            </a:pPr>
            <a:r>
              <a:rPr lang="ar-SA" altLang="en-US" sz="1350" dirty="0">
                <a:solidFill>
                  <a:srgbClr val="8A6D1E"/>
                </a:solidFill>
                <a:latin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cs typeface="Amiri" pitchFamily="2" charset="-78"/>
              </a:rPr>
              <a:t>أَسْتَيْقِظُ</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Mariam is describing her morning. Choose the accurate sentence.</a:t>
            </a:r>
            <a:endParaRPr lang="en-US"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مَرْيَمُ يَتَنَاوَلُ الإِفْطَارَ.</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مَرْيَمُ أَتَنَاوَلُ الإِفْطَارَ.</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مَرْيَمُ تَتَنَاوَلُ الإِفْطَارَ.</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third-person subject takes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cs typeface="Amiri" pitchFamily="2" charset="-78"/>
              </a:rPr>
              <a:t>مَرْيَمُ تَتَنَاوَلُ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rarely leave the house late”?</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دَائِمًا أَخْرُجُ مِنَ البَيْتِ مُتَأَخِّرًا.</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أَحْيَانًا يَخْرُجُ مِنَ البَيْتِ مُبَكِّرًا.</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نَادِرًا مَا أَخْرُجُ مِنَ البَيْتِ مُتَأَخِّرًا.</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نَادِرًا مَا</a:t>
            </a:r>
            <a:pPr algn="l" indent="0" marL="0">
              <a:buNone/>
            </a:pPr>
            <a:r>
              <a:rPr lang="en-US" sz="1050" i="1" dirty="0">
                <a:solidFill>
                  <a:srgbClr val="8A6D1E"/>
                </a:solidFill>
                <a:latin typeface="Calibri" pitchFamily="34" charset="0"/>
                <a:cs typeface="Amiri" pitchFamily="2" charset="-78"/>
              </a:rPr>
              <a:t> means “rarely”, and </a:t>
            </a:r>
            <a:pPr algn="l" indent="0" marL="0">
              <a:buNone/>
            </a:pPr>
            <a:r>
              <a:rPr lang="ar-SA" altLang="en-US" sz="1350" dirty="0">
                <a:solidFill>
                  <a:srgbClr val="8A6D1E"/>
                </a:solidFill>
                <a:latin typeface="Amiri" pitchFamily="2" charset="-78"/>
                <a:cs typeface="Amiri" pitchFamily="2" charset="-78"/>
              </a:rPr>
              <a:t>أَخْرُجُ</a:t>
            </a:r>
            <a:pPr algn="l" indent="0" marL="0">
              <a:buNone/>
            </a:pPr>
            <a:r>
              <a:rPr lang="en-US" sz="1050" i="1" dirty="0">
                <a:solidFill>
                  <a:srgbClr val="8A6D1E"/>
                </a:solidFill>
                <a:latin typeface="Calibri" pitchFamily="34" charset="0"/>
                <a:cs typeface="Amiri" pitchFamily="2" charset="-78"/>
              </a:rPr>
              <a:t> keeps the answer in the first person.</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coherent morning sequence.</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أَوَّلًا أَسْتَيْقِظُ، ثُمَّ أَتَوَضَّأُ، وَبَعْدَ ذٰلِكَ أَرْتَدِي مَلَابِسِي.</a:t>
            </a:r>
            <a:endParaRPr lang="ar-SA" sz="13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cs typeface="Amiri" pitchFamily="2" charset="-78"/>
              </a:rPr>
              <a:t>أَخِيرًا أَسْتَيْقِظُ، ثُمَّ أَنَامُ.</a:t>
            </a:r>
            <a:endParaRPr lang="ar-SA" sz="13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cs typeface="Amiri" pitchFamily="2" charset="-78"/>
              </a:rPr>
              <a:t>ثُمَّ أَخْرُجُ، أَوَّلًا أَتَنَاوَلُ الإِفْطَارَ.</a:t>
            </a:r>
            <a:endParaRPr lang="ar-SA" sz="13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connectors create a logical order: first wake, then perform wudu, then get dressed.</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 the sentence:</a:t>
            </a:r>
            <a:endParaRPr lang="en-US" sz="1200" dirty="0"/>
          </a:p>
        </p:txBody>
      </p:sp>
      <p:sp>
        <p:nvSpPr>
          <p:cNvPr id="96" name="Text 9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أَنَا يَسْتَيْقِظُ مُبَكِّرًا.</a:t>
            </a:r>
            <a:endParaRPr lang="ar-SA" sz="150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تَسْتَيْقِظُ مُبَكِّرًا.</a:t>
            </a:r>
            <a:endParaRPr lang="ar-SA" sz="17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أَسْتَيْقِظُ مُبَكِّرًا.</a:t>
            </a:r>
            <a:endParaRPr lang="ar-SA" sz="17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نَسْتَيْقِظُ مُبَكِّرًا.</a:t>
            </a:r>
            <a:endParaRPr lang="ar-SA" sz="17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With </a:t>
            </a:r>
            <a:pPr algn="l" indent="0" marL="0">
              <a:buNone/>
            </a:pPr>
            <a:r>
              <a:rPr lang="ar-SA" altLang="en-US" sz="1350" dirty="0">
                <a:solidFill>
                  <a:srgbClr val="8A6D1E"/>
                </a:solidFill>
                <a:latin typeface="Amiri" pitchFamily="2" charset="-78"/>
                <a:cs typeface="Amiri" pitchFamily="2" charset="-78"/>
              </a:rPr>
              <a:t>أَنَا</a:t>
            </a:r>
            <a:pPr algn="l" indent="0" marL="0">
              <a:buNone/>
            </a:pPr>
            <a:r>
              <a:rPr lang="en-US" sz="1050" i="1" dirty="0">
                <a:solidFill>
                  <a:srgbClr val="8A6D1E"/>
                </a:solidFill>
                <a:latin typeface="Calibri" pitchFamily="34" charset="0"/>
                <a:cs typeface="Amiri" pitchFamily="2" charset="-78"/>
              </a:rPr>
              <a:t>, the present-tense verb uses the prefix </a:t>
            </a:r>
            <a:pPr algn="l" indent="0" marL="0">
              <a:buNone/>
            </a:pPr>
            <a:r>
              <a:rPr lang="ar-SA" altLang="en-US" sz="1350" dirty="0">
                <a:solidFill>
                  <a:srgbClr val="8A6D1E"/>
                </a:solidFill>
                <a:latin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Time and Daily Routine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Before AT-A-L02: get ready at home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AT-A-L02 · Calendar, Dates and the School Week</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السَّاعَةُ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hour, the clock</a:t>
            </a:r>
            <a:pPr indent="0" marL="0">
              <a:buNone/>
            </a:pPr>
            <a:r>
              <a:rPr lang="en-US" sz="1000" i="1" dirty="0">
                <a:solidFill>
                  <a:srgbClr val="5A6472"/>
                </a:solidFill>
                <a:latin typeface="Calibri" pitchFamily="34" charset="0"/>
                <a:cs typeface="Amiri" pitchFamily="2" charset="-78"/>
              </a:rPr>
              <a:t>  pl. السَّاعَاتُ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وَالنِّصْفُ</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half past</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وَالرُّبْعُ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quarter past</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إِلَّا الرُّبْعَ</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quarter to</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دَقِيقَةٌ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minute</a:t>
            </a:r>
            <a:pPr indent="0" marL="0">
              <a:buNone/>
            </a:pPr>
            <a:r>
              <a:rPr lang="en-US" sz="1000" i="1" dirty="0">
                <a:solidFill>
                  <a:srgbClr val="5A6472"/>
                </a:solidFill>
                <a:latin typeface="Calibri" pitchFamily="34" charset="0"/>
                <a:cs typeface="Amiri" pitchFamily="2" charset="-78"/>
              </a:rPr>
              <a:t>  pl. دَقَائِقُ</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the time you wake up and the time you leave home, in Arabic numerals.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كَمِ السَّاعَةُ؟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AT-A-L01: vocabulary mission and the picture game “My Morning Routine”.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 sentences about your morning with times and frequency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90–110 words comparing your routine with an improved one.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AT-A-L02 · Calendar, Dates and the School Week</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التَّقْوِيمُ وَالتَّوَارِيخُ وَالْأُسْبُوعُ الدِّرَاسِيُّ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time words + your wake-up time in Arabic.</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AT-A-L01 · Time and Daily Routine</dc:title>
  <dc:subject>PptxGenJS Presentation</dc:subject>
  <dc:creator>Al Madina Online School · Arabic Department</dc:creator>
  <cp:lastModifiedBy>Al Madina Online School · Arabic Department</cp:lastModifiedBy>
  <cp:revision>1</cp:revision>
  <dcterms:created xsi:type="dcterms:W3CDTF">2026-10-11T06:43:39Z</dcterms:created>
  <dcterms:modified xsi:type="dcterms:W3CDTF">2026-10-11T06:43:39Z</dcterms:modified>
</cp:coreProperties>
</file>