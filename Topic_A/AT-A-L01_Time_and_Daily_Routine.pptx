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AT-A-L01 — Time and Daily Routine. Website: Advanced Topics › Topic A (Everyday Activities) › Lesson 1.
The website builds this lesson on the D1-L01 lesson engine, with the Topic focus “Describe your daily routine using accurate present-tense verbs, times and connected sentences.” (grammar: Present tense; subject–verb agreement; skills: Speaking · Writing) and the application challenge “Routine sequencing race”.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“Reorder mixed-up routine cards, add realistic times, then retell the day with accurate present-tense verbs and sequencing expressions.”
Cards to paste (mixed order): أَتَنَاوَلُ الإِفْطَارَ · أَسْتَيْقِظُ · أَرْتَدِي مَلَابِسِي · أَغْتَسِلُ · أَذْهَبُ إِلَى المَدْرَسَةِ · أُنَظِّفُ أَسْنَانِي. One sensible order: wake · wash · brush teeth · dress · breakfast · school (accept any order students can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(AT-A-L02 · Calendar, Dates and the School Week) will spend class time USING this language, so students prepare it tonight — short, simple, easy to access (school guidance: “Simple, Short, Interesting, Relevant, Easy to access”). The five words come from the website AT-A-L02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Time and Daily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الْوَقْتُ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your daily routine using accurate present-tense verbs, times and connected sentences.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Morning verbs, then who is doing it: </a:t>
            </a:r>
            <a:pPr algn="ctr" indent="0" marL="0">
              <a:buNone/>
            </a:pPr>
            <a:r>
              <a:rPr lang="ar-SA" altLang="en-US" sz="1550" dirty="0">
                <a:solidFill>
                  <a:srgbClr val="1F2A37"/>
                </a:solidFill>
                <a:latin typeface="Amiri" pitchFamily="34" charset="0"/>
                <a:ea typeface="Amiri" pitchFamily="34" charset="-122"/>
                <a:cs typeface="Amiri" pitchFamily="34" charset="-120"/>
              </a:rPr>
              <a:t>أَ / يَ / تَ / 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Foundation: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الصَّبَاحُ</a:t>
            </a:r>
            <a:pPr algn="l" indent="0" marL="0">
              <a:buNone/>
            </a:pPr>
            <a:r>
              <a:rPr lang="en-US" sz="1050" i="1" dirty="0">
                <a:solidFill>
                  <a:srgbClr val="8A6D1E"/>
                </a:solidFill>
                <a:latin typeface="Calibri" pitchFamily="34" charset="0"/>
                <a:ea typeface="Calibri" pitchFamily="34" charset="-122"/>
                <a:cs typeface="Calibri" pitchFamily="34" charset="-120"/>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a:t>
            </a:r>
            <a:pPr algn="l" indent="0" marL="0">
              <a:buNone/>
            </a:pPr>
            <a:r>
              <a:rPr lang="en-US" sz="1050" i="1" dirty="0">
                <a:solidFill>
                  <a:srgbClr val="8A6D1E"/>
                </a:solidFill>
                <a:latin typeface="Calibri" pitchFamily="34" charset="0"/>
                <a:ea typeface="Calibri" pitchFamily="34" charset="-122"/>
                <a:cs typeface="Calibri" pitchFamily="34" charset="-120"/>
              </a:rPr>
              <a:t> = every ·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letter of a present verb tells you WHO: </a:t>
            </a:r>
            <a:pPr algn="l" indent="0" marL="0">
              <a:buNone/>
            </a:pPr>
            <a:r>
              <a:rPr lang="ar-SA" altLang="en-US" sz="1700" b="1" dirty="0">
                <a:solidFill>
                  <a:srgbClr val="1F2A37"/>
                </a:solidFill>
                <a:latin typeface="Amiri" pitchFamily="34" charset="0"/>
                <a:ea typeface="Amiri" pitchFamily="34" charset="-122"/>
                <a:cs typeface="Amiri" pitchFamily="34" charset="-120"/>
              </a:rPr>
              <a:t>أَـ</a:t>
            </a:r>
            <a:pPr algn="l" indent="0" marL="0">
              <a:buNone/>
            </a:pPr>
            <a:r>
              <a:rPr lang="en-US" sz="1300" b="1" dirty="0">
                <a:solidFill>
                  <a:srgbClr val="1F2A37"/>
                </a:solidFill>
                <a:latin typeface="Calibri" pitchFamily="34" charset="0"/>
                <a:ea typeface="Calibri" pitchFamily="34" charset="-122"/>
                <a:cs typeface="Calibri" pitchFamily="34" charset="-120"/>
              </a:rPr>
              <a:t> I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 · </a:t>
            </a:r>
            <a:pPr algn="l" indent="0" marL="0">
              <a:buNone/>
            </a:pPr>
            <a:r>
              <a:rPr lang="ar-SA" altLang="en-US" sz="1700" b="1" dirty="0">
                <a:solidFill>
                  <a:srgbClr val="1F2A37"/>
                </a:solidFill>
                <a:latin typeface="Amiri" pitchFamily="34" charset="0"/>
                <a:ea typeface="Amiri" pitchFamily="34" charset="-122"/>
                <a:cs typeface="Amiri" pitchFamily="34" charset="-120"/>
              </a:rPr>
              <a:t>نَـ</a:t>
            </a:r>
            <a:pPr algn="l" indent="0" marL="0">
              <a:buNone/>
            </a:pPr>
            <a:r>
              <a:rPr lang="en-US" sz="1300" b="1" dirty="0">
                <a:solidFill>
                  <a:srgbClr val="1F2A37"/>
                </a:solidFill>
                <a:latin typeface="Calibri" pitchFamily="34" charset="0"/>
                <a:ea typeface="Calibri" pitchFamily="34" charset="-122"/>
                <a:cs typeface="Calibri" pitchFamily="34" charset="-120"/>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them with </a:t>
            </a:r>
            <a:pPr algn="l" indent="0" marL="0">
              <a:buNone/>
            </a:pPr>
            <a:r>
              <a:rPr lang="ar-SA" altLang="en-US" sz="1700" b="1" dirty="0">
                <a:solidFill>
                  <a:srgbClr val="2E8B57"/>
                </a:solidFill>
                <a:latin typeface="Amiri" pitchFamily="34" charset="0"/>
                <a:ea typeface="Amiri" pitchFamily="34" charset="-122"/>
                <a:cs typeface="Amiri" pitchFamily="34" charset="-120"/>
              </a:rPr>
              <a:t>أَوَّلًا</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ثُمَّ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derived patterns whole (</a:t>
            </a:r>
            <a:pPr algn="l" indent="0" marL="0">
              <a:buNone/>
            </a:pPr>
            <a:r>
              <a:rPr lang="ar-SA" altLang="en-US" sz="1700" b="1" dirty="0">
                <a:solidFill>
                  <a:srgbClr val="B83227"/>
                </a:solidFill>
                <a:latin typeface="Amiri" pitchFamily="34" charset="0"/>
                <a:ea typeface="Amiri" pitchFamily="34" charset="-122"/>
                <a:cs typeface="Amiri" pitchFamily="34" charset="-120"/>
              </a:rPr>
              <a:t>أَسْتَيْقِظُ</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‎غسل‎ </a:t>
            </a:r>
            <a:pPr indent="0" marL="0">
              <a:buNone/>
            </a:pPr>
            <a:r>
              <a:rPr lang="en-US" sz="950" b="1" dirty="0">
                <a:solidFill>
                  <a:srgbClr val="2E8B57"/>
                </a:solidFill>
                <a:latin typeface="Calibri" pitchFamily="34" charset="0"/>
                <a:ea typeface="Calibri" pitchFamily="34" charset="-122"/>
                <a:cs typeface="Calibri" pitchFamily="34" charset="-120"/>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‎وضو‎ </a:t>
            </a:r>
            <a:pPr indent="0" marL="0">
              <a:buNone/>
            </a:pPr>
            <a:r>
              <a:rPr lang="en-US" sz="950" b="1" dirty="0">
                <a:solidFill>
                  <a:srgbClr val="2E8B57"/>
                </a:solidFill>
                <a:latin typeface="Calibri" pitchFamily="34" charset="0"/>
                <a:ea typeface="Calibri" pitchFamily="34" charset="-122"/>
                <a:cs typeface="Calibri" pitchFamily="34" charset="-120"/>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 / become awake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shower / wash myself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perform wudu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comb my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brush my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ready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leave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the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alarm 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energetic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long ā (</a:t>
            </a:r>
            <a:pPr algn="l" indent="0" marL="0">
              <a:buNone/>
            </a:pPr>
            <a:r>
              <a:rPr lang="ar-SA" altLang="en-US" sz="1450" dirty="0">
                <a:solidFill>
                  <a:srgbClr val="5A6472"/>
                </a:solidFill>
                <a:latin typeface="Amiri" pitchFamily="34" charset="0"/>
                <a:ea typeface="Amiri" pitchFamily="34" charset="-122"/>
                <a:cs typeface="Amiri" pitchFamily="34" charset="-120"/>
              </a:rPr>
              <a:t>ـَا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سْتَ</a:t>
            </a:r>
            <a:pPr algn="l" indent="0" marL="0">
              <a:buNone/>
            </a:pPr>
            <a:r>
              <a:rPr lang="en-US" sz="1100" dirty="0">
                <a:solidFill>
                  <a:srgbClr val="5A6472"/>
                </a:solidFill>
                <a:latin typeface="Calibri" pitchFamily="34" charset="0"/>
                <a:ea typeface="Calibri" pitchFamily="34" charset="-122"/>
                <a:cs typeface="Calibri" pitchFamily="34" charset="-120"/>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Frequency words (</a:t>
            </a:r>
            <a:pPr algn="l" indent="0" marL="0">
              <a:buNone/>
            </a:pPr>
            <a:r>
              <a:rPr lang="ar-SA" altLang="en-US" sz="1550" b="1" dirty="0">
                <a:solidFill>
                  <a:srgbClr val="8A6D1E"/>
                </a:solidFill>
                <a:latin typeface="Amiri" pitchFamily="34" charset="0"/>
                <a:ea typeface="Amiri" pitchFamily="34" charset="-122"/>
                <a:cs typeface="Amiri" pitchFamily="34" charset="-120"/>
              </a:rPr>
              <a:t>عَادَةً، دَائِمًا، أَحْيَانًا</a:t>
            </a:r>
            <a:pPr algn="l" indent="0" marL="0">
              <a:buNone/>
            </a:pPr>
            <a:r>
              <a:rPr lang="en-US" sz="1200" b="1" dirty="0">
                <a:solidFill>
                  <a:srgbClr val="8A6D1E"/>
                </a:solidFill>
                <a:latin typeface="Calibri" pitchFamily="34" charset="0"/>
                <a:ea typeface="Calibri" pitchFamily="34" charset="-122"/>
                <a:cs typeface="Calibri" pitchFamily="34" charset="-120"/>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34" charset="0"/>
                <a:ea typeface="Amiri" pitchFamily="34" charset="-122"/>
                <a:cs typeface="Amiri" pitchFamily="34" charset="-120"/>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a:t>
            </a:r>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Keep </a:t>
            </a:r>
            <a:pPr algn="l" indent="0" marL="0">
              <a:buNone/>
            </a:pPr>
            <a:r>
              <a:rPr lang="ar-SA" altLang="en-US" sz="1500" dirty="0">
                <a:solidFill>
                  <a:srgbClr val="1F2A37"/>
                </a:solidFill>
                <a:latin typeface="Amiri" pitchFamily="34" charset="0"/>
                <a:ea typeface="Amiri" pitchFamily="34" charset="-122"/>
                <a:cs typeface="Amiri" pitchFamily="34" charset="-120"/>
              </a:rPr>
              <a:t>سْتَ</a:t>
            </a:r>
            <a:pPr algn="l" indent="0" marL="0">
              <a:buNone/>
            </a:pPr>
            <a:r>
              <a:rPr lang="en-US" sz="1150" dirty="0">
                <a:solidFill>
                  <a:srgbClr val="1F2A37"/>
                </a:solidFill>
                <a:latin typeface="Calibri" pitchFamily="34" charset="0"/>
                <a:ea typeface="Calibri" pitchFamily="34" charset="-122"/>
                <a:cs typeface="Calibri" pitchFamily="34" charset="-120"/>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ثُمَّ</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غْتَسِلُ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actions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أُخْتِي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sister → she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أَوَّلًا</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سْتَيْقِظُ فِي السَّادِسَةِ، </a:t>
            </a:r>
            <a:pPr rtl="1" algn="r" indent="0" marL="0">
              <a:buNone/>
            </a:pPr>
            <a:r>
              <a:rPr lang="ar-SA" altLang="en-US" sz="1900" b="1" dirty="0">
                <a:solidFill>
                  <a:srgbClr val="0E7C86"/>
                </a:solidFill>
                <a:latin typeface="Amiri" pitchFamily="34" charset="0"/>
                <a:ea typeface="Amiri" pitchFamily="34" charset="-122"/>
                <a:cs typeface="Amiri" pitchFamily="34" charset="-120"/>
              </a:rPr>
              <a:t>ثُمَّ</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غْتَسِلُ وَ</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رْتَدِي مَلَابِسِي. أُخْتِي </a:t>
            </a:r>
            <a:pPr rtl="1" algn="r" indent="0" marL="0">
              <a:buNone/>
            </a:pPr>
            <a:r>
              <a:rPr lang="ar-SA" altLang="en-US" sz="1900" b="1" dirty="0">
                <a:solidFill>
                  <a:srgbClr val="D6336C"/>
                </a:solidFill>
                <a:latin typeface="Amiri" pitchFamily="34" charset="0"/>
                <a:ea typeface="Amiri" pitchFamily="34" charset="-122"/>
                <a:cs typeface="Amiri" pitchFamily="34" charset="-120"/>
              </a:rPr>
              <a:t>تَ</a:t>
            </a:r>
            <a:pPr rtl="1" algn="r" indent="0" marL="0">
              <a:buNone/>
            </a:pPr>
            <a:r>
              <a:rPr lang="ar-SA" altLang="en-US" sz="1900" b="1" dirty="0">
                <a:solidFill>
                  <a:srgbClr val="1B3B6F"/>
                </a:solidFill>
                <a:latin typeface="Amiri" pitchFamily="34" charset="0"/>
                <a:ea typeface="Amiri" pitchFamily="34" charset="-122"/>
                <a:cs typeface="Amiri" pitchFamily="34" charset="-120"/>
              </a:rPr>
              <a:t>تَنَاوَلُ الإِفْطَارَ قَبْلِي. </a:t>
            </a:r>
            <a:pPr rtl="1" algn="r" indent="0" marL="0">
              <a:buNone/>
            </a:pPr>
            <a:r>
              <a:rPr lang="ar-SA" altLang="en-US" sz="1900" b="1" dirty="0">
                <a:solidFill>
                  <a:srgbClr val="0E7C86"/>
                </a:solidFill>
                <a:latin typeface="Amiri" pitchFamily="34" charset="0"/>
                <a:ea typeface="Amiri" pitchFamily="34" charset="-122"/>
                <a:cs typeface="Amiri" pitchFamily="34" charset="-120"/>
              </a:rPr>
              <a:t>عَادَةً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at half past six.</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I perform wudu and get ready for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breakfast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rarely leave without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and the doubled consonant: </a:t>
            </a:r>
            <a:pPr algn="l" indent="0" marL="0">
              <a:buNone/>
            </a:pPr>
            <a:r>
              <a:rPr lang="ar-SA" altLang="en-US" sz="1350" dirty="0">
                <a:solidFill>
                  <a:srgbClr val="8A6D1E"/>
                </a:solidFill>
                <a:latin typeface="Amiri" pitchFamily="34" charset="0"/>
                <a:ea typeface="Amiri" pitchFamily="34" charset="-122"/>
                <a:cs typeface="Amiri" pitchFamily="34" charset="-120"/>
              </a:rPr>
              <a:t>أَتَوَضَّأُ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هِيَ</a:t>
            </a:r>
            <a:pPr algn="l" indent="0" marL="0">
              <a:buNone/>
            </a:pPr>
            <a:r>
              <a:rPr lang="en-US" sz="1300" i="1" dirty="0">
                <a:solidFill>
                  <a:srgbClr val="5A6472"/>
                </a:solidFill>
                <a:latin typeface="Calibri" pitchFamily="34" charset="0"/>
                <a:ea typeface="Calibri" pitchFamily="34" charset="-122"/>
                <a:cs typeface="Calibri" pitchFamily="34" charset="-120"/>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prefix is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Routine sequencing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Routine sequencing race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Reorder mixed-up routine cards, add realistic times, then retell the day with accurate present-tense verbs and sequencing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posts 6 mixed routine cards (Arabic verbs)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60s: everyone types the order 1–6 and adds one realistic time.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retell the day on the mic with </a:t>
            </a:r>
            <a:pPr algn="l" indent="0" marL="0">
              <a:buNone/>
            </a:pPr>
            <a:r>
              <a:rPr lang="ar-SA" altLang="en-US" sz="1500" dirty="0">
                <a:solidFill>
                  <a:srgbClr val="1F2A37"/>
                </a:solidFill>
                <a:latin typeface="Amiri" pitchFamily="34" charset="0"/>
                <a:ea typeface="Amiri" pitchFamily="34" charset="-122"/>
                <a:cs typeface="Amiri" pitchFamily="34" charset="-120"/>
              </a:rPr>
              <a:t>أَوَّلًا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ثُمَّ</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بَعْدَ ذٰلِكَ</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Class checks the verbs: I / he / she endings.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Order the cards, then read 3 of them aloud as “I” sentences with a time.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Retell 5 steps with times and 3 sequencing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Retell the day about a brother or sister (</a:t>
            </a:r>
            <a:pPr algn="l" indent="0" marL="0">
              <a:buNone/>
            </a:pPr>
            <a:r>
              <a:rPr lang="ar-SA" altLang="en-US" sz="1500" dirty="0">
                <a:solidFill>
                  <a:srgbClr val="1F2A37"/>
                </a:solidFill>
                <a:latin typeface="Amiri" pitchFamily="34" charset="0"/>
                <a:ea typeface="Amiri" pitchFamily="34" charset="-122"/>
                <a:cs typeface="Amiri" pitchFamily="34" charset="-120"/>
              </a:rPr>
              <a:t>يَـ / تَـ</a:t>
            </a:r>
            <a:pPr algn="l" indent="0" marL="0">
              <a:buNone/>
            </a:pPr>
            <a:r>
              <a:rPr lang="en-US" sz="1150" dirty="0">
                <a:solidFill>
                  <a:srgbClr val="1F2A37"/>
                </a:solidFill>
                <a:latin typeface="Calibri" pitchFamily="34" charset="0"/>
                <a:ea typeface="Calibri" pitchFamily="34" charset="-122"/>
                <a:cs typeface="Calibri" pitchFamily="34" charset="-120"/>
              </a:rPr>
              <a:t>) and add one frequency word.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أَوَّلًا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first</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ثُمَّ</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then</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بَعْدَ ذٰلِكَ</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after that</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فِي السَّاعَةِ السَّابِعَةِ</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at seven o’clock</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أَخِيرًا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finally</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Describe and compare morning routines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الصَّبَاحِيَّ بِالتَّرْتِيبِ.</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فِي أَيَّامِ المَدْرَسَةِ وَفِي نِهَايَةِ الأُسْبُوعِ؟</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 شَخْصٍ آخَرَ فِي أُسْرَتِكَ.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أَوَّلًا أَسْتَيْقِظُ، ثُمَّ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أَسْتَيْقِظُ فِي ___ ، وَبَعْدَ ذٰلِكَ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أُخْتِي تَـ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يَـ ___ / هِيَ تَـ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تَسْتَيْقِظُ عَادَةً؟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usually wake up?</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أَسْتَيْقِظُ فِي السَّادِسَةِ وَالنِّصْفِ، ثُمَّ أَغْتَسِلُ وَأَتَنَاوَلُ الإِفْطَارَ. أُفَضِّلُ أَنْ أَسْتَيْقِظَ مُبَكِّرًا لِأَنَّنِي أَصِلُ إِلَى المَدْرَسَةِ هَادِئًا.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up at half past six, then I shower and have breakfast. I prefer to wake up early because I arrive at school calm.</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morning verbs in the “I” form (</a:t>
            </a:r>
            <a:pPr algn="l" indent="0" marL="0">
              <a:buNone/>
            </a:pPr>
            <a:r>
              <a:rPr lang="ar-SA" altLang="en-US" sz="1700" dirty="0">
                <a:solidFill>
                  <a:srgbClr val="1F2A37"/>
                </a:solidFill>
                <a:latin typeface="Amiri" pitchFamily="34" charset="0"/>
                <a:ea typeface="Amiri" pitchFamily="34" charset="-122"/>
                <a:cs typeface="Amiri" pitchFamily="34" charset="-120"/>
              </a:rPr>
              <a:t>أَـ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my routine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changed the prefix for another person (</a:t>
            </a:r>
            <a:pPr algn="l" indent="0" marL="0">
              <a:buNone/>
            </a:pPr>
            <a:r>
              <a:rPr lang="ar-SA" altLang="en-US" sz="1700" dirty="0">
                <a:solidFill>
                  <a:srgbClr val="1F2A37"/>
                </a:solidFill>
                <a:latin typeface="Amiri" pitchFamily="34" charset="0"/>
                <a:ea typeface="Amiri" pitchFamily="34" charset="-122"/>
                <a:cs typeface="Amiri" pitchFamily="34" charset="-120"/>
              </a:rPr>
              <a:t>يَـ / تَـ / نَـ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every derived verb whole (</a:t>
            </a:r>
            <a:pPr algn="l" indent="0" marL="0">
              <a:buNone/>
            </a:pPr>
            <a:r>
              <a:rPr lang="ar-SA" altLang="en-US" sz="1700" dirty="0">
                <a:solidFill>
                  <a:srgbClr val="1F2A37"/>
                </a:solidFill>
                <a:latin typeface="Amiri" pitchFamily="34" charset="0"/>
                <a:ea typeface="Amiri" pitchFamily="34" charset="-122"/>
                <a:cs typeface="Amiri" pitchFamily="34" charset="-120"/>
              </a:rPr>
              <a:t>أَسْتَيْقِظُ</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أَسْتَعِدُّ</a:t>
            </a:r>
            <a:pPr algn="l" indent="0" marL="0">
              <a:buNone/>
            </a:pPr>
            <a:r>
              <a:rPr lang="en-US" sz="1050" i="1" dirty="0">
                <a:solidFill>
                  <a:srgbClr val="8A6D1E"/>
                </a:solidFill>
                <a:latin typeface="Calibri" pitchFamily="34" charset="0"/>
                <a:ea typeface="Calibri" pitchFamily="34" charset="-122"/>
                <a:cs typeface="Calibri" pitchFamily="34" charset="-120"/>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and </a:t>
            </a:r>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“I”, so the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مَرْيَمُ 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means “rarely”, and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the present-tense verb uses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AT-A-L02 · Calendar, Dates and the School Week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the clock</a:t>
            </a:r>
            <a:pPr indent="0" marL="0">
              <a:buNone/>
            </a:pPr>
            <a:r>
              <a:rPr lang="en-US" sz="1000" i="1" dirty="0">
                <a:solidFill>
                  <a:srgbClr val="5A6472"/>
                </a:solidFill>
                <a:latin typeface="Calibri" pitchFamily="34" charset="0"/>
                <a:ea typeface="Calibri" pitchFamily="34" charset="-122"/>
                <a:cs typeface="Calibri" pitchFamily="34" charset="-120"/>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minute</a:t>
            </a:r>
            <a:pPr indent="0" marL="0">
              <a:buNone/>
            </a:pPr>
            <a:r>
              <a:rPr lang="en-US" sz="1000" i="1" dirty="0">
                <a:solidFill>
                  <a:srgbClr val="5A6472"/>
                </a:solidFill>
                <a:latin typeface="Calibri" pitchFamily="34" charset="0"/>
                <a:ea typeface="Calibri" pitchFamily="34" charset="-122"/>
                <a:cs typeface="Calibri" pitchFamily="34" charset="-120"/>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AT-A-L02 · Calendar, Dates and the School Week</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التَّقْوِيمُ وَالتَّوَارِيخُ وَالْأُسْبُوعُ الدِّرَاسِيُّ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AT-A-L01 · Time and Daily Routine</dc:title>
  <dc:subject>PptxGenJS Presentation</dc:subject>
  <dc:creator>Al Madina Online School · Arabic Department</dc:creator>
  <cp:lastModifiedBy>Al Madina Online School · Arabic Department</cp:lastModifiedBy>
  <cp:revision>1</cp:revision>
  <dcterms:created xsi:type="dcterms:W3CDTF">2026-09-27T12:43:31Z</dcterms:created>
  <dcterms:modified xsi:type="dcterms:W3CDTF">2026-09-27T12:43:31Z</dcterms:modified>
</cp:coreProperties>
</file>