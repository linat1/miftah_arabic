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ADVANCED TOPIC A · AT-A-L01 — Time and Daily Routine. Website: Advanced Topics › Topic A (Everyday Activities) › Lesson 1.
The website builds this lesson on the D1-L01 lesson engine, with the Topic focus “Describe your daily routine using accurate present-tense verbs, times and connected sentences.” (grammar: Present tense; subject–verb agreement; skills: Speaking · Writing) and the application challenge “Routine sequencing race”. This deck follows the same engine, re-sequenced for Topic A: lesson references now point to Topic A codes (lessons outside Topic A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Topic A Daily Routine and Time › AT-A-L01. The website lesson “My Morning Routine”: vocabulary, grammar rules and quiz, patterns, common mistakes, sorter, listening, reading, speaking prompts and model, writing task and model, differentiation, final check and the lesson mission. Picture match: website visual game “My Morning Routine”.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First Development lesson (Year 8): the class moves from Foundation chunks to CONTROLLING verbs. Core: ten routine verbs as whole chunks in the “I” form + أَوَّلًا / ثُمَّ. Develop: change the person prefix (أَ / يَ / تَ / نَ). Stretch: name the derived pattern (V, VI, VIII, X) and keep it whole.
• Weak / mixed class: the verb table (I · he · she · we) is the anchor for the whole lesson — keep it visible in You Do.
• Core supports: transliteration on every card, English on every model, picture match with icons, frames and a word bank.
• Urdu bridge: صبح، ناشتہ (not Arabic!), غسل، وضو، تیار — many students already use وضو and غسل.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Retrieval from Foundation (pronouns, the present-tense prefix, time words) — the building blocks for today’s routine verbs.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GO THROUGH THE ANSWERS (2 min). Reveal and ask “why?” for each (● 10s think → named student, warned in advance).
Key idea for today (bottom-right card): The first letter of a present verb tells you WHO: أَـ I · يَـ he · تَـ she · نَـ we.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صبح (subah → الصَّبَاحُ), غسل (ghusl → أَغْتَسِلُ I shower), وضو (wuzu → أَتَوَضَّأُ), مستعد (mustaid → أَسْتَعِدُّ I get ready), عادت (ādat → عَادَةً usually). Warning: Urdu ناشتہ (breakfast) is NOT Arabic — the Arabic is الإِفْطَارُ.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Morning routine verbs (website vocabulary (1 of 2)). Hear → Say → See → Use. Transliteration is printed for Core students (cover it for Develop/Stretch).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Morning routine verbs (website vocabulary (2 of 2)). Hear → Say → See → Use. Transliteration is printed for Core students (cover it for Develop/Stretch).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Sequence and frequency (website vocabulary (1 of 2)). Hear → Say → See → Use. Transliteration is printed for Core students (cover it for Develop/Stretch).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Sequence and frequency (website vocabulary (2 of 2)).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Useful detail (website vocabulary).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 “Match the person prefix to the subject” (أَنَا أَـ · هُوَ يَـ · هِيَ تَـ · نَحْنُ نَـ). Blue = I / he / we; pink = she.
Read each row across; students repeat. Website examples: أَنَا أَسْتَيْقِظُ مُبَكِّرًا · أَخِي يَسْتَعِدُّ بِسُرْعَةٍ · أُخْتِي تَتَنَاوَلُ الإِفْطَارَ · نَحْنُ نَخْرُجُ مَعًا.
Website tip: in connected writing, vary the subject instead of keeping every sentence in the first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rules “Recognise Form V” and “Distinguish Forms VI, VIII and X”. Development Arabic moves beyond memorising isolated verbs: notice each derived pattern, preserve its added letters, then change the person prefix.
Website common error: do not reduce أَسْتَيْقِظُ to أَيْقِظُ, change أَتَنَاوَلُ to أَنَاوَلُ, or treat all derived verbs as one pattern.
Core: recognition only — “the long verbs keep all their letters”. Stretch: name the form of each verb.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 “Build a connected routine, not a list” with the website examples. Sequence markers turn separate actions into a coherent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“Development Arabic moves beyond memorising isolated verbs. Notice each derived pattern, preserve its added letters, and then change the person prefix. In this lesson, Form V includes تَوَضَّأَ and تَمَرَّنَ; Form VI includes تَنَاوَلَ; Form VIII includes اِغْتَسَلَ and اِرْتَدَى; and Form X includes اِسْتَيْقَظَ, اِسْتَعَدَّ and اِسْتَقَلَّ.”
• Recognise Form V as a patterned verb: Many Form V verbs carry a reflexive or developed meaning. In the present tense, the initial person marker changes but the internal ت and shadda remain.
• Distinguish Forms VI, VIII and X: These patterns look different and should not be merged. تَنَاوَلَ is Form VI; اِغْتَسَلَ and اِرْتَدَى are Form VIII; اِسْتَيْقَظَ and اِسْتَعَدَّ are Form X. Preserve the full internal pattern when the person prefix changes.
• Match the person prefix to the subject: The verb must identify who performs the action. In connected writing, vary the subject instead of keeping every sentence in the first person.
• Build a connected routine, not a list: Sequence markers turn separate actions into a coherent account. Frequency adverbs normally follow the verb or stand near the start for emphasis.
Website common error: Do not reduce أَسْتَيْقِظُ to أَيْقِظُ, change أَتَنَاوَلُ to أَنَاوَلُ, or treat all derived verbs as one pattern. The added letters identify the form and must remain.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4, 8.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teacher models with a think-aloud (website patterns 1–3); students watch, then COPY. Say each decision aloud: “Who? → prefix. Which pattern? → keep the letters. When / how often? → add a time or frequency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My Morning Routine”)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أَسْتَيْقِظُ (wake up) · أَسْنَانِي (my teeth) · الإِفْطَارَ (breakfast). All three start with أَـ / أُـ = 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My Morning Routine”)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أَسْتَيْقِظُ (wake up) · أَسْنَانِي (my teeth) · الإِفْطَارَ (breakfast). All three start with أَـ / أُـ = 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Read each Arabic action and place it in the stage where it belongs. This supports listening, reading and connected writing.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Read each Arabic action and place it in the stage where it belongs. This supports listening, reading and connected writing.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3, 5, 6, 7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3 and 4. Develop / Stretch: all 5.
Listen 1: just listen. Listen 2: note answers. Then chat the letters.
Support: after the second listening, show the read-along slide (Arabic + English, line by line) for Core students.
SCRIPT (read aloud):
أَسْتَيْقِظُ عَادَةً فِي السَّادِسَةِ وَالرُّبْعِ، وَلٰكِنَّ أَخِي يَسْتَيْقِظُ بَعْدِي بِنِصْفِ سَاعَةٍ. أَوَّلًا أَغْتَسِلُ وَأَتَوَضَّأُ، ثُمَّ أَرْتَدِي زِيَّ المَدْرَسَةِ وَأُمَشِّطُ شَعْرِي. فِي السَّابِعَةِ إِلَّا عَشْرَ دَقَائِقَ أَتَنَاوَلُ إِفْطَارًا خَفِيفًا، وَبَعْدَ ذٰلِكَ أَسْتَعِدُّ لِلْخُرُوجِ. أَسْتَقِلُّ الحَافِلَةَ فِي السَّابِعَةِ وَالنِّصْفِ، وَأَصِلُ إِلَى المَدْرَسَةِ قَبْلَ بَدْءِ الدِّرَاسَةِ بِعَشْرِ دَقَائِقَ. أَحْيَانًا أَشْعُرُ بِالنُّعَاسِ، لٰكِنَّ الإِفْطَارَ يُسَاعِدُنِي عَلَى التَّرْكِيزِ.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TOPIC A APPLICATION CHALLENGE (3 min — it takes the speaking-rehearsal slot; the website speaking slide after it is FLEX) — from the website Topic page: “Reorder mixed-up routine cards, add realistic times, then retell the day with accurate present-tense verbs and sequencing expressions.”
Cards to paste (mixed order): أَتَنَاوَلُ الإِفْطَارَ · أَسْتَيْقِظُ · أَرْتَدِي مَلَابِسِي · أَغْتَسِلُ · أَذْهَبُ إِلَى المَدْرَسَةِ · أُنَظِّفُ أَسْنَانِي. One sensible order: wake · wash · brush teeth · dress · breakfast · school (accept any order students can justify).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FLEX — the Topic A challenge before this slide is the main speaking task; use these website prompts if time allows or as homework rehearsal.
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Core prompt (teacher-made): “What do you do in the morning?” — answered with the Core stem. Summarise (↺): report your partner’s routine with يَـ / تَـ.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Build six accurate routine sentences using the model chunks. · Develop — Compare two routines and vary the subject pronouns. · Stretch — Explain how routine affects concentration or wellbeing using a developed opinion.
Website writing task (Stretch): Write 90–110 words comparing your real morning routine with an improved routine you would like to follow.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Evidence: أَسْتَيْقِظُ، أَغْتَسِلُ، أَتَوَضَّأُ، أَرْتَدِي، أَتَنَاوَلُ، أَسْتَعِدُّ · Form X: أَسْتَيْقِظُ / أَسْتَعِدُّ · عَادَةً، أَحْيَانًا، أَوَّلًا، ثُمَّ، بَعْدَ ذٰلِكَ · فِي رَأْيِي … يَجْعَلُ.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(AT-A-L02 · Calendar, Dates and the School Week) will spend class time USING this language, so students prepare it tonight — short, simple, easy to access (school guidance: “Simple, Short, Interesting, Relevant, Easy to access”). The five words come from the website AT-A-L02 vocabulary (minutes past and to).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A  ·  AT-A-L01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AT-A-L01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Time and Daily Routine</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الْوَقْتُ وَالرُّوتِينُ الْيَوْمِيُّ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Describe your daily routine using accurate present-tense verbs, times and connected sentences.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AT-A-L01 · Advanced Topic A · Everyday Activities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A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A › AT-A-L01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AT-A-L01 · Time and Daily Routine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AT-A-L01 · Time and Daily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Morning verbs, then who is doing it: </a:t>
            </a:r>
            <a:pPr algn="ctr" indent="0" marL="0">
              <a:buNone/>
            </a:pPr>
            <a:r>
              <a:rPr lang="ar-SA" altLang="en-US" sz="1550" dirty="0">
                <a:solidFill>
                  <a:srgbClr val="1F2A37"/>
                </a:solidFill>
                <a:latin typeface="Amiri" pitchFamily="2" charset="-78"/>
                <a:ea typeface="Amiri" pitchFamily="2" charset="-78"/>
                <a:cs typeface="Amiri" pitchFamily="2" charset="-78"/>
              </a:rPr>
              <a:t>أَ / يَ / تَ / نَ</a:t>
            </a:r>
            <a:pPr algn="ctr" indent="0" marL="0">
              <a:buNone/>
            </a:pPr>
            <a:r>
              <a:rPr lang="en-US" sz="1200" dirty="0">
                <a:solidFill>
                  <a:srgbClr val="1F2A37"/>
                </a:solidFill>
                <a:latin typeface="Calibri" pitchFamily="34" charset="0"/>
                <a:cs typeface="Amiri" pitchFamily="2" charset="-78"/>
              </a:rPr>
              <a:t>.</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sort the morning,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AT-A-L02.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AT-A-L01 · Time and Daily Routine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pronoun means “she”?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نَحْنُ</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does this sentence mean?</a:t>
            </a:r>
            <a:endParaRPr lang="en-US" sz="1200" dirty="0"/>
          </a:p>
        </p:txBody>
      </p:sp>
      <p:sp>
        <p:nvSpPr>
          <p:cNvPr id="32" name="Text 29"/>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أَذْهَبُ إِلَى المَدْرَسَةِ.</a:t>
            </a:r>
            <a:endParaRPr lang="ar-SA" sz="180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go to school.</a:t>
            </a:r>
            <a:endParaRPr lang="en-US" sz="12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goes to school.</a:t>
            </a:r>
            <a:endParaRPr lang="en-US" sz="12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 go to school.</a:t>
            </a:r>
            <a:endParaRPr lang="en-US" sz="1250" dirty="0"/>
          </a:p>
        </p:txBody>
      </p:sp>
      <p:sp>
        <p:nvSpPr>
          <p:cNvPr id="42" name="Shape 39"/>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“the morning”?</a:t>
            </a:r>
            <a:endParaRPr lang="en-US" sz="12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المَسَاءُ</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اللَّيْلُ</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الصَّبَاحُ</a:t>
            </a:r>
            <a:endParaRPr lang="ar-SA" sz="20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“every day”?</a:t>
            </a:r>
            <a:endParaRPr lang="en-US" sz="125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الصَّبَاحِ</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السَّاعَةِ السَّابِعَةِ</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كُلَّ يَوْمٍ</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1" name="Text 6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means “we eat”?</a:t>
            </a:r>
            <a:endParaRPr lang="en-US" sz="125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نَأْكُلُ</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آكُلُ</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يَأْكُلُ</a:t>
            </a:r>
            <a:endParaRPr lang="ar-SA" sz="20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AT-A-L01 · Time and Daily Routine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pronoun means “she”?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هُوَ</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هِيَ</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نَحْنُ</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Foundation: </a:t>
            </a:r>
            <a:pPr algn="l" indent="0" marL="0">
              <a:buNone/>
            </a:pPr>
            <a:r>
              <a:rPr lang="ar-SA" altLang="en-US" sz="1350" dirty="0">
                <a:solidFill>
                  <a:srgbClr val="8A6D1E"/>
                </a:solidFill>
                <a:latin typeface="Amiri" pitchFamily="2" charset="-78"/>
                <a:ea typeface="Amiri" pitchFamily="2" charset="-78"/>
                <a:cs typeface="Amiri" pitchFamily="2" charset="-78"/>
              </a:rPr>
              <a:t>هِيَ</a:t>
            </a:r>
            <a:pPr algn="l" indent="0" marL="0">
              <a:buNone/>
            </a:pPr>
            <a:r>
              <a:rPr lang="en-US" sz="1050" i="1" dirty="0">
                <a:solidFill>
                  <a:srgbClr val="8A6D1E"/>
                </a:solidFill>
                <a:latin typeface="Calibri" pitchFamily="34" charset="0"/>
                <a:cs typeface="Amiri" pitchFamily="2" charset="-78"/>
              </a:rPr>
              <a:t> = she · </a:t>
            </a:r>
            <a:pPr algn="l" indent="0" marL="0">
              <a:buNone/>
            </a:pPr>
            <a:r>
              <a:rPr lang="ar-SA" altLang="en-US" sz="1350" dirty="0">
                <a:solidFill>
                  <a:srgbClr val="8A6D1E"/>
                </a:solidFill>
                <a:latin typeface="Amiri" pitchFamily="2" charset="-78"/>
                <a:ea typeface="Amiri" pitchFamily="2" charset="-78"/>
                <a:cs typeface="Amiri" pitchFamily="2" charset="-78"/>
              </a:rPr>
              <a:t>هُوَ</a:t>
            </a:r>
            <a:pPr algn="l" indent="0" marL="0">
              <a:buNone/>
            </a:pPr>
            <a:r>
              <a:rPr lang="en-US" sz="1050" i="1" dirty="0">
                <a:solidFill>
                  <a:srgbClr val="8A6D1E"/>
                </a:solidFill>
                <a:latin typeface="Calibri" pitchFamily="34" charset="0"/>
                <a:cs typeface="Amiri" pitchFamily="2" charset="-78"/>
              </a:rPr>
              <a:t> = he · </a:t>
            </a:r>
            <a:pPr algn="l" indent="0" marL="0">
              <a:buNone/>
            </a:pPr>
            <a:r>
              <a:rPr lang="ar-SA" altLang="en-US" sz="1350" dirty="0">
                <a:solidFill>
                  <a:srgbClr val="8A6D1E"/>
                </a:solidFill>
                <a:latin typeface="Amiri" pitchFamily="2" charset="-78"/>
                <a:ea typeface="Amiri" pitchFamily="2" charset="-78"/>
                <a:cs typeface="Amiri" pitchFamily="2" charset="-78"/>
              </a:rPr>
              <a:t>نَحْنُ</a:t>
            </a:r>
            <a:pPr algn="l" indent="0" marL="0">
              <a:buNone/>
            </a:pPr>
            <a:r>
              <a:rPr lang="en-US" sz="1050" i="1" dirty="0">
                <a:solidFill>
                  <a:srgbClr val="8A6D1E"/>
                </a:solidFill>
                <a:latin typeface="Calibri" pitchFamily="34" charset="0"/>
                <a:cs typeface="Amiri" pitchFamily="2" charset="-78"/>
              </a:rPr>
              <a:t> = we.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does this sentence mean?</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أَذْهَبُ إِلَى المَدْرَسَةِ.</a:t>
            </a:r>
            <a:endParaRPr lang="ar-SA" sz="1800" dirty="0"/>
          </a:p>
        </p:txBody>
      </p:sp>
      <p:sp>
        <p:nvSpPr>
          <p:cNvPr id="35" name="Shape 32"/>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 go to school.</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goes to school.</a:t>
            </a:r>
            <a:endParaRPr lang="en-US" sz="1250" dirty="0"/>
          </a:p>
        </p:txBody>
      </p:sp>
      <p:sp>
        <p:nvSpPr>
          <p:cNvPr id="42" name="Shape 39"/>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We go to school.</a:t>
            </a:r>
            <a:endParaRPr lang="en-US" sz="1250" dirty="0"/>
          </a:p>
        </p:txBody>
      </p:sp>
      <p:sp>
        <p:nvSpPr>
          <p:cNvPr id="45" name="Text 42"/>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t>
            </a:r>
            <a:pPr algn="l" indent="0" marL="0">
              <a:buNone/>
            </a:pPr>
            <a:r>
              <a:rPr lang="ar-SA" altLang="en-US" sz="1350" dirty="0">
                <a:solidFill>
                  <a:srgbClr val="8A6D1E"/>
                </a:solidFill>
                <a:latin typeface="Amiri" pitchFamily="2" charset="-78"/>
                <a:ea typeface="Amiri" pitchFamily="2" charset="-78"/>
                <a:cs typeface="Amiri" pitchFamily="2" charset="-78"/>
              </a:rPr>
              <a:t>أَـ</a:t>
            </a:r>
            <a:pPr algn="l" indent="0" marL="0">
              <a:buNone/>
            </a:pPr>
            <a:r>
              <a:rPr lang="en-US" sz="1050" i="1" dirty="0">
                <a:solidFill>
                  <a:srgbClr val="8A6D1E"/>
                </a:solidFill>
                <a:latin typeface="Calibri" pitchFamily="34" charset="0"/>
                <a:cs typeface="Amiri" pitchFamily="2" charset="-78"/>
              </a:rPr>
              <a:t> at the start = I.</a:t>
            </a:r>
            <a:endParaRPr lang="en-US" sz="1050" dirty="0"/>
          </a:p>
        </p:txBody>
      </p:sp>
      <p:sp>
        <p:nvSpPr>
          <p:cNvPr id="46" name="Shape 43"/>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“the morning”?</a:t>
            </a:r>
            <a:endParaRPr lang="en-US" sz="1250" dirty="0"/>
          </a:p>
        </p:txBody>
      </p:sp>
      <p:sp>
        <p:nvSpPr>
          <p:cNvPr id="50" name="Shape 47"/>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المَسَاءُ</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اللَّيْلُ</a:t>
            </a:r>
            <a:endParaRPr lang="ar-SA" sz="1700" dirty="0"/>
          </a:p>
        </p:txBody>
      </p:sp>
      <p:sp>
        <p:nvSpPr>
          <p:cNvPr id="56" name="Shape 53"/>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الصَّبَاحُ</a:t>
            </a:r>
            <a:endParaRPr lang="ar-SA" sz="170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الصَّبَاحُ</a:t>
            </a:r>
            <a:pPr algn="l" indent="0" marL="0">
              <a:buNone/>
            </a:pPr>
            <a:r>
              <a:rPr lang="en-US" sz="1050" i="1" dirty="0">
                <a:solidFill>
                  <a:srgbClr val="8A6D1E"/>
                </a:solidFill>
                <a:latin typeface="Calibri" pitchFamily="34" charset="0"/>
                <a:cs typeface="Amiri" pitchFamily="2" charset="-78"/>
              </a:rPr>
              <a:t> = the morning (Urdu: subah).</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“every day”?</a:t>
            </a:r>
            <a:endParaRPr lang="en-US" sz="125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الصَّبَاحِ</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السَّاعَةِ السَّابِعَةِ</a:t>
            </a:r>
            <a:endParaRPr lang="ar-SA" sz="170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كُلَّ يَوْمٍ</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كُلَّ</a:t>
            </a:r>
            <a:pPr algn="l" indent="0" marL="0">
              <a:buNone/>
            </a:pPr>
            <a:r>
              <a:rPr lang="en-US" sz="1050" i="1" dirty="0">
                <a:solidFill>
                  <a:srgbClr val="8A6D1E"/>
                </a:solidFill>
                <a:latin typeface="Calibri" pitchFamily="34" charset="0"/>
                <a:cs typeface="Amiri" pitchFamily="2" charset="-78"/>
              </a:rPr>
              <a:t> = every · </a:t>
            </a:r>
            <a:pPr algn="l" indent="0" marL="0">
              <a:buNone/>
            </a:pPr>
            <a:r>
              <a:rPr lang="ar-SA" altLang="en-US" sz="1350" dirty="0">
                <a:solidFill>
                  <a:srgbClr val="8A6D1E"/>
                </a:solidFill>
                <a:latin typeface="Amiri" pitchFamily="2" charset="-78"/>
                <a:ea typeface="Amiri" pitchFamily="2" charset="-78"/>
                <a:cs typeface="Amiri" pitchFamily="2" charset="-78"/>
              </a:rPr>
              <a:t>يَوْمٌ</a:t>
            </a:r>
            <a:pPr algn="l" indent="0" marL="0">
              <a:buNone/>
            </a:pPr>
            <a:r>
              <a:rPr lang="en-US" sz="1050" i="1" dirty="0">
                <a:solidFill>
                  <a:srgbClr val="8A6D1E"/>
                </a:solidFill>
                <a:latin typeface="Calibri" pitchFamily="34" charset="0"/>
                <a:cs typeface="Amiri" pitchFamily="2" charset="-78"/>
              </a:rPr>
              <a:t> = day.</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6"/>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means “we eat”?</a:t>
            </a:r>
            <a:endParaRPr lang="en-US" sz="125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نَأْكُلُ</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آكُلُ</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يَأْكُلُ</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نَـ</a:t>
            </a:r>
            <a:pPr algn="l" indent="0" marL="0">
              <a:buNone/>
            </a:pPr>
            <a:r>
              <a:rPr lang="en-US" sz="1050" i="1" dirty="0">
                <a:solidFill>
                  <a:srgbClr val="8A6D1E"/>
                </a:solidFill>
                <a:latin typeface="Calibri" pitchFamily="34" charset="0"/>
                <a:cs typeface="Amiri" pitchFamily="2" charset="-78"/>
              </a:rPr>
              <a:t> at the start = we.</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The first letter of a present verb tells you WHO: </a:t>
            </a:r>
            <a:pPr algn="l" indent="0" marL="0">
              <a:buNone/>
            </a:pPr>
            <a:r>
              <a:rPr lang="ar-SA" altLang="en-US" sz="1700" b="1" dirty="0">
                <a:solidFill>
                  <a:srgbClr val="1F2A37"/>
                </a:solidFill>
                <a:latin typeface="Amiri" pitchFamily="2" charset="-78"/>
                <a:ea typeface="Amiri" pitchFamily="2" charset="-78"/>
                <a:cs typeface="Amiri" pitchFamily="2" charset="-78"/>
              </a:rPr>
              <a:t>أَـ</a:t>
            </a:r>
            <a:pPr algn="l" indent="0" marL="0">
              <a:buNone/>
            </a:pPr>
            <a:r>
              <a:rPr lang="en-US" sz="1300" b="1" dirty="0">
                <a:solidFill>
                  <a:srgbClr val="1F2A37"/>
                </a:solidFill>
                <a:latin typeface="Calibri" pitchFamily="34" charset="0"/>
                <a:cs typeface="Amiri" pitchFamily="2" charset="-78"/>
              </a:rPr>
              <a:t> I · </a:t>
            </a:r>
            <a:pPr algn="l" indent="0" marL="0">
              <a:buNone/>
            </a:pPr>
            <a:r>
              <a:rPr lang="ar-SA" altLang="en-US" sz="1700" b="1" dirty="0">
                <a:solidFill>
                  <a:srgbClr val="1F2A37"/>
                </a:solidFill>
                <a:latin typeface="Amiri" pitchFamily="2" charset="-78"/>
                <a:ea typeface="Amiri" pitchFamily="2" charset="-78"/>
                <a:cs typeface="Amiri" pitchFamily="2" charset="-78"/>
              </a:rPr>
              <a:t>يَـ</a:t>
            </a:r>
            <a:pPr algn="l" indent="0" marL="0">
              <a:buNone/>
            </a:pPr>
            <a:r>
              <a:rPr lang="en-US" sz="1300" b="1" dirty="0">
                <a:solidFill>
                  <a:srgbClr val="1F2A37"/>
                </a:solidFill>
                <a:latin typeface="Calibri" pitchFamily="34" charset="0"/>
                <a:cs typeface="Amiri" pitchFamily="2" charset="-78"/>
              </a:rPr>
              <a:t> he · </a:t>
            </a:r>
            <a:pPr algn="l" indent="0" marL="0">
              <a:buNone/>
            </a:pPr>
            <a:r>
              <a:rPr lang="ar-SA" altLang="en-US" sz="1700" b="1" dirty="0">
                <a:solidFill>
                  <a:srgbClr val="1F2A37"/>
                </a:solidFill>
                <a:latin typeface="Amiri" pitchFamily="2" charset="-78"/>
                <a:ea typeface="Amiri" pitchFamily="2" charset="-78"/>
                <a:cs typeface="Amiri" pitchFamily="2" charset="-78"/>
              </a:rPr>
              <a:t>تَـ</a:t>
            </a:r>
            <a:pPr algn="l" indent="0" marL="0">
              <a:buNone/>
            </a:pPr>
            <a:r>
              <a:rPr lang="en-US" sz="1300" b="1" dirty="0">
                <a:solidFill>
                  <a:srgbClr val="1F2A37"/>
                </a:solidFill>
                <a:latin typeface="Calibri" pitchFamily="34" charset="0"/>
                <a:cs typeface="Amiri" pitchFamily="2" charset="-78"/>
              </a:rPr>
              <a:t> she · </a:t>
            </a:r>
            <a:pPr algn="l" indent="0" marL="0">
              <a:buNone/>
            </a:pPr>
            <a:r>
              <a:rPr lang="ar-SA" altLang="en-US" sz="1700" b="1" dirty="0">
                <a:solidFill>
                  <a:srgbClr val="1F2A37"/>
                </a:solidFill>
                <a:latin typeface="Amiri" pitchFamily="2" charset="-78"/>
                <a:ea typeface="Amiri" pitchFamily="2" charset="-78"/>
                <a:cs typeface="Amiri" pitchFamily="2" charset="-78"/>
              </a:rPr>
              <a:t>نَـ</a:t>
            </a:r>
            <a:pPr algn="l" indent="0" marL="0">
              <a:buNone/>
            </a:pPr>
            <a:r>
              <a:rPr lang="en-US" sz="1300" b="1" dirty="0">
                <a:solidFill>
                  <a:srgbClr val="1F2A37"/>
                </a:solidFill>
                <a:latin typeface="Calibri" pitchFamily="34" charset="0"/>
                <a:cs typeface="Amiri" pitchFamily="2" charset="-78"/>
              </a:rPr>
              <a:t> we.</a:t>
            </a:r>
            <a:endParaRPr lang="en-US" sz="130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أَ</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سْتَيْقِظُ · </a:t>
            </a:r>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يَ</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سْتَيْقِظُ ·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تَ</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سْتَيْقِظُ · </a:t>
            </a:r>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نَ</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سْتَيْقِظُ</a:t>
            </a:r>
            <a:endParaRPr lang="ar-SA" sz="19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AT-A-L01 · Time and Daily Routine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at least ten daily-routine verbs accurately.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and preserve key Form V, VI, VIII and X patterns.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Change present-tense prefixes for different subjects.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Produce a connected morning routine with time and frequency.</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six morning actions in the “I” form.</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order them with </a:t>
            </a:r>
            <a:pPr algn="l" indent="0" marL="0">
              <a:buNone/>
            </a:pPr>
            <a:r>
              <a:rPr lang="ar-SA" altLang="en-US" sz="1700" b="1" dirty="0">
                <a:solidFill>
                  <a:srgbClr val="2E8B57"/>
                </a:solidFill>
                <a:latin typeface="Amiri" pitchFamily="2" charset="-78"/>
                <a:ea typeface="Amiri" pitchFamily="2" charset="-78"/>
                <a:cs typeface="Amiri" pitchFamily="2" charset="-78"/>
              </a:rPr>
              <a:t>أَوَّلًا</a:t>
            </a:r>
            <a:pPr algn="l" indent="0" marL="0">
              <a:buNone/>
            </a:pPr>
            <a:r>
              <a:rPr lang="en-US" sz="1300" b="1" dirty="0">
                <a:solidFill>
                  <a:srgbClr val="2E8B57"/>
                </a:solidFill>
                <a:latin typeface="Calibri" pitchFamily="34" charset="0"/>
                <a:cs typeface="Amiri" pitchFamily="2" charset="-78"/>
              </a:rPr>
              <a:t> and </a:t>
            </a:r>
            <a:pPr algn="l" indent="0" marL="0">
              <a:buNone/>
            </a:pPr>
            <a:r>
              <a:rPr lang="ar-SA" altLang="en-US" sz="1700" b="1" dirty="0">
                <a:solidFill>
                  <a:srgbClr val="2E8B57"/>
                </a:solidFill>
                <a:latin typeface="Amiri" pitchFamily="2" charset="-78"/>
                <a:ea typeface="Amiri" pitchFamily="2" charset="-78"/>
                <a:cs typeface="Amiri" pitchFamily="2" charset="-78"/>
              </a:rPr>
              <a:t>ثُمَّ</a:t>
            </a:r>
            <a:pPr algn="l" indent="0" marL="0">
              <a:buNone/>
            </a:pPr>
            <a:r>
              <a:rPr lang="en-US" sz="1300" b="1" dirty="0">
                <a:solidFill>
                  <a:srgbClr val="2E8B57"/>
                </a:solidFill>
                <a:latin typeface="Calibri" pitchFamily="34" charset="0"/>
                <a:cs typeface="Amiri" pitchFamily="2" charset="-78"/>
              </a:rPr>
              <a: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change the verb for he / she / we.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add a time and a frequency word.</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keep derived patterns whole (</a:t>
            </a:r>
            <a:pPr algn="l" indent="0" marL="0">
              <a:buNone/>
            </a:pPr>
            <a:r>
              <a:rPr lang="ar-SA" altLang="en-US" sz="1700" b="1" dirty="0">
                <a:solidFill>
                  <a:srgbClr val="B83227"/>
                </a:solidFill>
                <a:latin typeface="Amiri" pitchFamily="2" charset="-78"/>
                <a:ea typeface="Amiri" pitchFamily="2" charset="-78"/>
                <a:cs typeface="Amiri" pitchFamily="2" charset="-78"/>
              </a:rPr>
              <a:t>أَسْتَيْقِظُ</a:t>
            </a:r>
            <a:pPr algn="l" indent="0" marL="0">
              <a:buNone/>
            </a:pPr>
            <a:r>
              <a:rPr lang="en-US" sz="1300" b="1" dirty="0">
                <a:solidFill>
                  <a:srgbClr val="B83227"/>
                </a:solidFill>
                <a:latin typeface="Calibri" pitchFamily="34" charset="0"/>
                <a:cs typeface="Amiri" pitchFamily="2" charset="-78"/>
              </a:rPr>
              <a:t>, </a:t>
            </a:r>
            <a:pPr algn="l" indent="0" marL="0">
              <a:buNone/>
            </a:pPr>
            <a:r>
              <a:rPr lang="ar-SA" altLang="en-US" sz="1700" b="1" dirty="0">
                <a:solidFill>
                  <a:srgbClr val="B83227"/>
                </a:solidFill>
                <a:latin typeface="Amiri" pitchFamily="2" charset="-78"/>
                <a:ea typeface="Amiri" pitchFamily="2" charset="-78"/>
                <a:cs typeface="Amiri" pitchFamily="2" charset="-78"/>
              </a:rPr>
              <a:t>أَتَنَاوَلُ</a:t>
            </a:r>
            <a:pPr algn="l" indent="0" marL="0">
              <a:buNone/>
            </a:pPr>
            <a:r>
              <a:rPr lang="en-US" sz="1300" b="1" dirty="0">
                <a:solidFill>
                  <a:srgbClr val="B83227"/>
                </a:solidFill>
                <a:latin typeface="Calibri" pitchFamily="34" charset="0"/>
                <a:cs typeface="Amiri" pitchFamily="2" charset="-78"/>
              </a:rPr>
              <a: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compare two routines with a reason.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28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Morning routine verbs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Sequence and frequency · 10</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Useful detail · 6</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الصَّبَاحُ</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‎صبح‎ </a:t>
            </a:r>
            <a:pPr indent="0" marL="0">
              <a:buNone/>
            </a:pPr>
            <a:r>
              <a:rPr lang="en-US" sz="950" b="1" dirty="0">
                <a:solidFill>
                  <a:srgbClr val="2E8B57"/>
                </a:solidFill>
                <a:latin typeface="Calibri" pitchFamily="34" charset="0"/>
                <a:cs typeface="Amiri" pitchFamily="2" charset="-78"/>
              </a:rPr>
              <a:t> subah · morning</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أَغْتَسِلُ</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‎غسل‎ </a:t>
            </a:r>
            <a:pPr indent="0" marL="0">
              <a:buNone/>
            </a:pPr>
            <a:r>
              <a:rPr lang="en-US" sz="950" b="1" dirty="0">
                <a:solidFill>
                  <a:srgbClr val="2E8B57"/>
                </a:solidFill>
                <a:latin typeface="Calibri" pitchFamily="34" charset="0"/>
                <a:cs typeface="Amiri" pitchFamily="2" charset="-78"/>
              </a:rPr>
              <a:t> ghusl · washing, bath</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أَتَوَضَّأُ</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‎وضو‎ </a:t>
            </a:r>
            <a:pPr indent="0" marL="0">
              <a:buNone/>
            </a:pPr>
            <a:r>
              <a:rPr lang="en-US" sz="950" b="1" dirty="0">
                <a:solidFill>
                  <a:srgbClr val="2E8B57"/>
                </a:solidFill>
                <a:latin typeface="Calibri" pitchFamily="34" charset="0"/>
                <a:cs typeface="Amiri" pitchFamily="2" charset="-78"/>
              </a:rPr>
              <a:t> wuzu · ablution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أَسْتَعِدُّ</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‎مستعد‎ </a:t>
            </a:r>
            <a:pPr indent="0" marL="0">
              <a:buNone/>
            </a:pPr>
            <a:r>
              <a:rPr lang="en-US" sz="950" b="1" dirty="0">
                <a:solidFill>
                  <a:srgbClr val="2E8B57"/>
                </a:solidFill>
                <a:latin typeface="Calibri" pitchFamily="34" charset="0"/>
                <a:cs typeface="Amiri" pitchFamily="2" charset="-78"/>
              </a:rPr>
              <a:t> mustaid · ready, prepared</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عَادَةً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‎عادت‎ </a:t>
            </a:r>
            <a:pPr indent="0" marL="0">
              <a:buNone/>
            </a:pPr>
            <a:r>
              <a:rPr lang="en-US" sz="950" b="1" dirty="0">
                <a:solidFill>
                  <a:srgbClr val="2E8B57"/>
                </a:solidFill>
                <a:latin typeface="Calibri" pitchFamily="34" charset="0"/>
                <a:cs typeface="Amiri" pitchFamily="2" charset="-78"/>
              </a:rPr>
              <a:t> ādat · habit (→ usually)</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AT-A-L01 · Time and Daily Routine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Morning routine verbs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أَسْتَيْقِظُ</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wake up</a:t>
            </a:r>
            <a:endParaRPr lang="en-US" sz="1350" dirty="0"/>
          </a:p>
          <a:p>
            <a:pPr indent="0" marL="0">
              <a:buNone/>
            </a:pPr>
            <a:r>
              <a:rPr lang="en-US" sz="1100" i="1" dirty="0">
                <a:solidFill>
                  <a:srgbClr val="5A6472"/>
                </a:solidFill>
                <a:latin typeface="Calibri" pitchFamily="34" charset="0"/>
                <a:cs typeface="Amiri" pitchFamily="2" charset="-78"/>
              </a:rPr>
              <a:t>as-tay-qi-ẓu</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أَسْتَيْقِظُ</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يَسْتَيْقِظُ</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تَسْتَيْقِظُ</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6" name="Text 3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أَصْحُو</a:t>
            </a:r>
            <a:endParaRPr lang="ar-SA" sz="3000" dirty="0"/>
          </a:p>
        </p:txBody>
      </p:sp>
      <p:sp>
        <p:nvSpPr>
          <p:cNvPr id="37" name="Text 3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wake up / become awake</a:t>
            </a:r>
            <a:endParaRPr lang="en-US" sz="1350" dirty="0"/>
          </a:p>
          <a:p>
            <a:pPr indent="0" marL="0">
              <a:buNone/>
            </a:pPr>
            <a:r>
              <a:rPr lang="en-US" sz="1100" i="1" dirty="0">
                <a:solidFill>
                  <a:srgbClr val="5A6472"/>
                </a:solidFill>
                <a:latin typeface="Calibri" pitchFamily="34" charset="0"/>
                <a:cs typeface="Amiri" pitchFamily="2" charset="-78"/>
              </a:rPr>
              <a:t>aṣ-ḥū</a:t>
            </a:r>
            <a:endParaRPr lang="en-US" sz="1350" dirty="0"/>
          </a:p>
        </p:txBody>
      </p:sp>
      <p:sp>
        <p:nvSpPr>
          <p:cNvPr id="38" name="Text 35"/>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alternative syllabus verb</a:t>
            </a:r>
            <a:endParaRPr lang="en-US" sz="100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2" name="Shape 39"/>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أَغْتَسِلُ</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shower / wash myself</a:t>
            </a:r>
            <a:endParaRPr lang="en-US" sz="1350" dirty="0"/>
          </a:p>
          <a:p>
            <a:pPr indent="0" marL="0">
              <a:buNone/>
            </a:pPr>
            <a:r>
              <a:rPr lang="en-US" sz="1100" i="1" dirty="0">
                <a:solidFill>
                  <a:srgbClr val="5A6472"/>
                </a:solidFill>
                <a:latin typeface="Calibri" pitchFamily="34" charset="0"/>
                <a:cs typeface="Amiri" pitchFamily="2" charset="-78"/>
              </a:rPr>
              <a:t>agh-ta-si-lu</a:t>
            </a:r>
            <a:endParaRPr lang="en-US" sz="1350" dirty="0"/>
          </a:p>
        </p:txBody>
      </p:sp>
      <p:sp>
        <p:nvSpPr>
          <p:cNvPr id="48" name="Shape 45"/>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50" name="Text 47"/>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أَغْتَسِلُ</a:t>
            </a:r>
            <a:endParaRPr lang="ar-SA" sz="1500" dirty="0"/>
          </a:p>
        </p:txBody>
      </p:sp>
      <p:sp>
        <p:nvSpPr>
          <p:cNvPr id="51" name="Shape 48"/>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53" name="Text 50"/>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يَغْتَسِلُ</a:t>
            </a:r>
            <a:endParaRPr lang="ar-SA" sz="1500" dirty="0"/>
          </a:p>
        </p:txBody>
      </p:sp>
      <p:sp>
        <p:nvSpPr>
          <p:cNvPr id="54" name="Shape 51"/>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56" name="Text 53"/>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تَغْتَسِلُ</a:t>
            </a:r>
            <a:endParaRPr lang="ar-SA" sz="1500" dirty="0"/>
          </a:p>
        </p:txBody>
      </p:sp>
      <p:sp>
        <p:nvSpPr>
          <p:cNvPr id="57" name="Shape 5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8211312" y="4261104"/>
            <a:ext cx="310896" cy="310896"/>
          </a:xfrm>
          <a:prstGeom prst="ellipse">
            <a:avLst/>
          </a:prstGeom>
          <a:solidFill>
            <a:srgbClr val="F4F1EA"/>
          </a:solidFill>
          <a:ln w="12700">
            <a:solidFill>
              <a:srgbClr val="F4F1EA"/>
            </a:solidFill>
            <a:prstDash val="solid"/>
          </a:ln>
        </p:spPr>
      </p:sp>
      <p:sp>
        <p:nvSpPr>
          <p:cNvPr id="59" name="Text 5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60" name="Shape 57"/>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1" name="Text 58"/>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Form V</a:t>
            </a:r>
            <a:endParaRPr lang="en-US" sz="800" dirty="0"/>
          </a:p>
        </p:txBody>
      </p:sp>
      <p:sp>
        <p:nvSpPr>
          <p:cNvPr id="62" name="Text 5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أَتَوَضَّأُ</a:t>
            </a:r>
            <a:endParaRPr lang="ar-SA" sz="3000" dirty="0"/>
          </a:p>
        </p:txBody>
      </p:sp>
      <p:sp>
        <p:nvSpPr>
          <p:cNvPr id="63" name="Text 6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perform wudu</a:t>
            </a:r>
            <a:endParaRPr lang="en-US" sz="1350" dirty="0"/>
          </a:p>
          <a:p>
            <a:pPr indent="0" marL="0">
              <a:buNone/>
            </a:pPr>
            <a:r>
              <a:rPr lang="en-US" sz="1100" i="1" dirty="0">
                <a:solidFill>
                  <a:srgbClr val="5A6472"/>
                </a:solidFill>
                <a:latin typeface="Calibri" pitchFamily="34" charset="0"/>
                <a:cs typeface="Amiri" pitchFamily="2" charset="-78"/>
              </a:rPr>
              <a:t>a-ta-waḍ-ḍa-ʾu</a:t>
            </a:r>
            <a:endParaRPr lang="en-US" sz="1350" dirty="0"/>
          </a:p>
        </p:txBody>
      </p:sp>
      <p:sp>
        <p:nvSpPr>
          <p:cNvPr id="64" name="Shape 61"/>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4389120" y="4261104"/>
            <a:ext cx="310896" cy="310896"/>
          </a:xfrm>
          <a:prstGeom prst="ellipse">
            <a:avLst/>
          </a:prstGeom>
          <a:solidFill>
            <a:srgbClr val="F4F1EA"/>
          </a:solidFill>
          <a:ln w="12700">
            <a:solidFill>
              <a:srgbClr val="F4F1EA"/>
            </a:solidFill>
            <a:prstDash val="solid"/>
          </a:ln>
        </p:spPr>
      </p:sp>
      <p:sp>
        <p:nvSpPr>
          <p:cNvPr id="66" name="Text 63"/>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67" name="Shape 64"/>
          <p:cNvSpPr/>
          <p:nvPr/>
        </p:nvSpPr>
        <p:spPr>
          <a:xfrm>
            <a:off x="4782312" y="4279392"/>
            <a:ext cx="833933" cy="256032"/>
          </a:xfrm>
          <a:prstGeom prst="roundRect">
            <a:avLst>
              <a:gd name="adj" fmla="val 50000"/>
            </a:avLst>
          </a:prstGeom>
          <a:solidFill>
            <a:srgbClr val="EFE7D2"/>
          </a:solidFill>
          <a:ln w="12700">
            <a:solidFill>
              <a:srgbClr val="EFE7D2"/>
            </a:solidFill>
            <a:prstDash val="solid"/>
          </a:ln>
        </p:spPr>
      </p:sp>
      <p:sp>
        <p:nvSpPr>
          <p:cNvPr id="68" name="Text 65"/>
          <p:cNvSpPr txBox="1"/>
          <p:nvPr/>
        </p:nvSpPr>
        <p:spPr>
          <a:xfrm>
            <a:off x="4782312"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Form VIII</a:t>
            </a:r>
            <a:endParaRPr lang="en-US" sz="800" dirty="0"/>
          </a:p>
        </p:txBody>
      </p:sp>
      <p:sp>
        <p:nvSpPr>
          <p:cNvPr id="69" name="Shape 66"/>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0" name="Text 67"/>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1" name="Text 68"/>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أَرْتَدِي مَلَابِسِي</a:t>
            </a:r>
            <a:endParaRPr lang="ar-SA" sz="3000" dirty="0"/>
          </a:p>
        </p:txBody>
      </p:sp>
      <p:sp>
        <p:nvSpPr>
          <p:cNvPr id="72" name="Text 69"/>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get dressed</a:t>
            </a:r>
            <a:endParaRPr lang="en-US" sz="1350" dirty="0"/>
          </a:p>
          <a:p>
            <a:pPr indent="0" marL="0">
              <a:buNone/>
            </a:pPr>
            <a:r>
              <a:rPr lang="en-US" sz="1100" i="1" dirty="0">
                <a:solidFill>
                  <a:srgbClr val="5A6472"/>
                </a:solidFill>
                <a:latin typeface="Calibri" pitchFamily="34" charset="0"/>
                <a:cs typeface="Amiri" pitchFamily="2" charset="-78"/>
              </a:rPr>
              <a:t>ar-ta-dī ma-lā-bi-sī</a:t>
            </a:r>
            <a:endParaRPr lang="en-US" sz="1350" dirty="0"/>
          </a:p>
        </p:txBody>
      </p:sp>
      <p:sp>
        <p:nvSpPr>
          <p:cNvPr id="73" name="Shape 70"/>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4" name="Shape 71"/>
          <p:cNvSpPr/>
          <p:nvPr/>
        </p:nvSpPr>
        <p:spPr>
          <a:xfrm>
            <a:off x="566928" y="4261104"/>
            <a:ext cx="310896" cy="310896"/>
          </a:xfrm>
          <a:prstGeom prst="ellipse">
            <a:avLst/>
          </a:prstGeom>
          <a:solidFill>
            <a:srgbClr val="F4F1EA"/>
          </a:solidFill>
          <a:ln w="12700">
            <a:solidFill>
              <a:srgbClr val="F4F1EA"/>
            </a:solidFill>
            <a:prstDash val="solid"/>
          </a:ln>
        </p:spPr>
      </p:sp>
      <p:sp>
        <p:nvSpPr>
          <p:cNvPr id="75" name="Text 72"/>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76" name="Text 73"/>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أُمَشِّطُ شَعْرِي</a:t>
            </a:r>
            <a:endParaRPr lang="ar-SA" sz="3000" dirty="0"/>
          </a:p>
        </p:txBody>
      </p:sp>
      <p:sp>
        <p:nvSpPr>
          <p:cNvPr id="77" name="Text 74"/>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comb my hair</a:t>
            </a:r>
            <a:endParaRPr lang="en-US" sz="1350" dirty="0"/>
          </a:p>
          <a:p>
            <a:pPr indent="0" marL="0">
              <a:buNone/>
            </a:pPr>
            <a:r>
              <a:rPr lang="en-US" sz="1100" i="1" dirty="0">
                <a:solidFill>
                  <a:srgbClr val="5A6472"/>
                </a:solidFill>
                <a:latin typeface="Calibri" pitchFamily="34" charset="0"/>
                <a:cs typeface="Amiri" pitchFamily="2" charset="-78"/>
              </a:rPr>
              <a:t>u-mash-shi-ṭu shaʿ-rī</a:t>
            </a:r>
            <a:endParaRPr lang="en-US" sz="13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AT-A-L01 · Time and Daily Routine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Morning routine verbs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أُنَظِّفُ أَسْنَانِي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brush my teeth</a:t>
            </a:r>
            <a:endParaRPr lang="en-US" sz="1350" dirty="0"/>
          </a:p>
          <a:p>
            <a:pPr indent="0" marL="0">
              <a:buNone/>
            </a:pPr>
            <a:r>
              <a:rPr lang="en-US" sz="1100" i="1" dirty="0">
                <a:solidFill>
                  <a:srgbClr val="5A6472"/>
                </a:solidFill>
                <a:latin typeface="Calibri" pitchFamily="34" charset="0"/>
                <a:cs typeface="Amiri" pitchFamily="2" charset="-78"/>
              </a:rPr>
              <a:t>u-naẓ-ẓi-fu as-nā-nī</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5" name="Shape 22"/>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Form X</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أَسْتَعِدُّ</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get ready</a:t>
            </a:r>
            <a:endParaRPr lang="en-US" sz="1350" dirty="0"/>
          </a:p>
          <a:p>
            <a:pPr indent="0" marL="0">
              <a:buNone/>
            </a:pPr>
            <a:r>
              <a:rPr lang="en-US" sz="1100" i="1" dirty="0">
                <a:solidFill>
                  <a:srgbClr val="5A6472"/>
                </a:solidFill>
                <a:latin typeface="Calibri" pitchFamily="34" charset="0"/>
                <a:cs typeface="Amiri" pitchFamily="2" charset="-78"/>
              </a:rPr>
              <a:t>as-ta-ʿid-du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2" name="Shape 29"/>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أَتَنَاوَلُ الإِفْطَارَ</a:t>
            </a:r>
            <a:endParaRPr lang="ar-SA" sz="3000" dirty="0"/>
          </a:p>
        </p:txBody>
      </p:sp>
      <p:sp>
        <p:nvSpPr>
          <p:cNvPr id="37" name="Text 3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have breakfast</a:t>
            </a:r>
            <a:endParaRPr lang="en-US" sz="1350" dirty="0"/>
          </a:p>
          <a:p>
            <a:pPr indent="0" marL="0">
              <a:buNone/>
            </a:pPr>
            <a:r>
              <a:rPr lang="en-US" sz="1100" i="1" dirty="0">
                <a:solidFill>
                  <a:srgbClr val="5A6472"/>
                </a:solidFill>
                <a:latin typeface="Calibri" pitchFamily="34" charset="0"/>
                <a:cs typeface="Amiri" pitchFamily="2" charset="-78"/>
              </a:rPr>
              <a:t>a-ta-nā-wa-lu al-if-ṭā-ra</a:t>
            </a:r>
            <a:endParaRPr lang="en-US" sz="1350" dirty="0"/>
          </a:p>
        </p:txBody>
      </p:sp>
      <p:sp>
        <p:nvSpPr>
          <p:cNvPr id="38" name="Shape 35"/>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0" name="Text 37"/>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أَتَنَاوَلُ</a:t>
            </a:r>
            <a:endParaRPr lang="ar-SA" sz="1500" dirty="0"/>
          </a:p>
        </p:txBody>
      </p:sp>
      <p:sp>
        <p:nvSpPr>
          <p:cNvPr id="41" name="Shape 38"/>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43" name="Text 40"/>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يَتَنَاوَلُ</a:t>
            </a:r>
            <a:endParaRPr lang="ar-SA" sz="1500" dirty="0"/>
          </a:p>
        </p:txBody>
      </p:sp>
      <p:sp>
        <p:nvSpPr>
          <p:cNvPr id="44" name="Shape 41"/>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6" name="Text 43"/>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تَتَنَاوَلُ</a:t>
            </a:r>
            <a:endParaRPr lang="ar-SA" sz="1500" dirty="0"/>
          </a:p>
        </p:txBody>
      </p:sp>
      <p:sp>
        <p:nvSpPr>
          <p:cNvPr id="47" name="Shape 4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11312"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50" name="Shape 4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أَخْرُجُ مِنَ البَيْتِ</a:t>
            </a:r>
            <a:endParaRPr lang="ar-SA" sz="3000" dirty="0"/>
          </a:p>
        </p:txBody>
      </p:sp>
      <p:sp>
        <p:nvSpPr>
          <p:cNvPr id="53" name="Text 5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leave the house</a:t>
            </a:r>
            <a:endParaRPr lang="en-US" sz="1350" dirty="0"/>
          </a:p>
          <a:p>
            <a:pPr indent="0" marL="0">
              <a:buNone/>
            </a:pPr>
            <a:r>
              <a:rPr lang="en-US" sz="1100" i="1" dirty="0">
                <a:solidFill>
                  <a:srgbClr val="5A6472"/>
                </a:solidFill>
                <a:latin typeface="Calibri" pitchFamily="34" charset="0"/>
                <a:cs typeface="Amiri" pitchFamily="2" charset="-78"/>
              </a:rPr>
              <a:t>akh-ru-ju mi-na al-bay-ti</a:t>
            </a:r>
            <a:endParaRPr lang="en-US" sz="1350" dirty="0"/>
          </a:p>
        </p:txBody>
      </p:sp>
      <p:sp>
        <p:nvSpPr>
          <p:cNvPr id="54" name="Shape 51"/>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4389120"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57" name="Shape 54"/>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58" name="Text 55"/>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Form X</a:t>
            </a:r>
            <a:endParaRPr lang="en-US" sz="800" dirty="0"/>
          </a:p>
        </p:txBody>
      </p:sp>
      <p:sp>
        <p:nvSpPr>
          <p:cNvPr id="59" name="Text 56"/>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أَسْتَقِلُّ الحَافِلَةَ</a:t>
            </a:r>
            <a:endParaRPr lang="ar-SA" sz="3000" dirty="0"/>
          </a:p>
        </p:txBody>
      </p:sp>
      <p:sp>
        <p:nvSpPr>
          <p:cNvPr id="60" name="Text 57"/>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take the bus</a:t>
            </a:r>
            <a:endParaRPr lang="en-US" sz="1350" dirty="0"/>
          </a:p>
          <a:p>
            <a:pPr indent="0" marL="0">
              <a:buNone/>
            </a:pPr>
            <a:r>
              <a:rPr lang="en-US" sz="1100" i="1" dirty="0">
                <a:solidFill>
                  <a:srgbClr val="5A6472"/>
                </a:solidFill>
                <a:latin typeface="Calibri" pitchFamily="34" charset="0"/>
                <a:cs typeface="Amiri" pitchFamily="2" charset="-78"/>
              </a:rPr>
              <a:t>as-ta-qil-lu al-ḥā-fi-la-ta</a:t>
            </a:r>
            <a:endParaRPr lang="en-US" sz="1350" dirty="0"/>
          </a:p>
        </p:txBody>
      </p:sp>
      <p:sp>
        <p:nvSpPr>
          <p:cNvPr id="61" name="Shape 58"/>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66928" y="4261104"/>
            <a:ext cx="310896" cy="310896"/>
          </a:xfrm>
          <a:prstGeom prst="ellipse">
            <a:avLst/>
          </a:prstGeom>
          <a:solidFill>
            <a:srgbClr val="F4F1EA"/>
          </a:solidFill>
          <a:ln w="12700">
            <a:solidFill>
              <a:srgbClr val="F4F1EA"/>
            </a:solidFill>
            <a:prstDash val="solid"/>
          </a:ln>
        </p:spPr>
      </p:sp>
      <p:sp>
        <p:nvSpPr>
          <p:cNvPr id="63" name="Text 60"/>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64" name="Text 61"/>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أَصِلُ إِلَى المَدْرَسَةِ</a:t>
            </a:r>
            <a:endParaRPr lang="ar-SA" sz="3000" dirty="0"/>
          </a:p>
        </p:txBody>
      </p:sp>
      <p:sp>
        <p:nvSpPr>
          <p:cNvPr id="65" name="Text 62"/>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arrive at school</a:t>
            </a:r>
            <a:endParaRPr lang="en-US" sz="1350" dirty="0"/>
          </a:p>
          <a:p>
            <a:pPr indent="0" marL="0">
              <a:buNone/>
            </a:pPr>
            <a:r>
              <a:rPr lang="en-US" sz="1100" i="1" dirty="0">
                <a:solidFill>
                  <a:srgbClr val="5A6472"/>
                </a:solidFill>
                <a:latin typeface="Calibri" pitchFamily="34" charset="0"/>
                <a:cs typeface="Amiri" pitchFamily="2" charset="-78"/>
              </a:rPr>
              <a:t>a-ṣi-lu i-lā al-mad-ra-sa-ti</a:t>
            </a:r>
            <a:endParaRPr lang="en-US" sz="135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AT-A-L01 · Time and Daily Routine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Sequence and frequency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أَوَّلًا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first</a:t>
            </a:r>
            <a:endParaRPr lang="en-US" sz="1350" dirty="0"/>
          </a:p>
          <a:p>
            <a:pPr indent="0" marL="0">
              <a:buNone/>
            </a:pPr>
            <a:r>
              <a:rPr lang="en-US" sz="1100" i="1" dirty="0">
                <a:solidFill>
                  <a:srgbClr val="5A6472"/>
                </a:solidFill>
                <a:latin typeface="Calibri" pitchFamily="34" charset="0"/>
                <a:cs typeface="Amiri" pitchFamily="2" charset="-78"/>
              </a:rPr>
              <a:t>aw-wa-lan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ثُمَّ</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then</a:t>
            </a:r>
            <a:endParaRPr lang="en-US" sz="1350" dirty="0"/>
          </a:p>
          <a:p>
            <a:pPr indent="0" marL="0">
              <a:buNone/>
            </a:pPr>
            <a:r>
              <a:rPr lang="en-US" sz="1100" i="1" dirty="0">
                <a:solidFill>
                  <a:srgbClr val="5A6472"/>
                </a:solidFill>
                <a:latin typeface="Calibri" pitchFamily="34" charset="0"/>
                <a:cs typeface="Amiri" pitchFamily="2" charset="-78"/>
              </a:rPr>
              <a:t>thum-ma</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بَعْدَ ذٰلِكَ</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after that</a:t>
            </a:r>
            <a:endParaRPr lang="en-US" sz="1350" dirty="0"/>
          </a:p>
          <a:p>
            <a:pPr indent="0" marL="0">
              <a:buNone/>
            </a:pPr>
            <a:r>
              <a:rPr lang="en-US" sz="1100" i="1" dirty="0">
                <a:solidFill>
                  <a:srgbClr val="5A6472"/>
                </a:solidFill>
                <a:latin typeface="Calibri" pitchFamily="34" charset="0"/>
                <a:cs typeface="Amiri" pitchFamily="2" charset="-78"/>
              </a:rPr>
              <a:t>baʿ-da dhā-li-ka</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أَخِيرًا</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finally</a:t>
            </a:r>
            <a:endParaRPr lang="en-US" sz="1350" dirty="0"/>
          </a:p>
          <a:p>
            <a:pPr indent="0" marL="0">
              <a:buNone/>
            </a:pPr>
            <a:r>
              <a:rPr lang="en-US" sz="1100" i="1" dirty="0">
                <a:solidFill>
                  <a:srgbClr val="5A6472"/>
                </a:solidFill>
                <a:latin typeface="Calibri" pitchFamily="34" charset="0"/>
                <a:cs typeface="Amiri" pitchFamily="2" charset="-78"/>
              </a:rPr>
              <a:t>a-khī-ran</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عَادَةً</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usually</a:t>
            </a:r>
            <a:endParaRPr lang="en-US" sz="1350" dirty="0"/>
          </a:p>
          <a:p>
            <a:pPr indent="0" marL="0">
              <a:buNone/>
            </a:pPr>
            <a:r>
              <a:rPr lang="en-US" sz="1100" i="1" dirty="0">
                <a:solidFill>
                  <a:srgbClr val="5A6472"/>
                </a:solidFill>
                <a:latin typeface="Calibri" pitchFamily="34" charset="0"/>
                <a:cs typeface="Amiri" pitchFamily="2" charset="-78"/>
              </a:rPr>
              <a:t>ʿā-da-tan</a:t>
            </a:r>
            <a:endParaRPr lang="en-US" sz="13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AT-A-L01 · Time and Daily Routine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Sequence and frequency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دَائِمًا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always</a:t>
            </a:r>
            <a:endParaRPr lang="en-US" sz="1350" dirty="0"/>
          </a:p>
          <a:p>
            <a:pPr indent="0" marL="0">
              <a:buNone/>
            </a:pPr>
            <a:r>
              <a:rPr lang="en-US" sz="1100" i="1" dirty="0">
                <a:solidFill>
                  <a:srgbClr val="5A6472"/>
                </a:solidFill>
                <a:latin typeface="Calibri" pitchFamily="34" charset="0"/>
                <a:cs typeface="Amiri" pitchFamily="2" charset="-78"/>
              </a:rPr>
              <a:t>dā-ʾi-man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أَحْيَانًا</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sometimes</a:t>
            </a:r>
            <a:endParaRPr lang="en-US" sz="1350" dirty="0"/>
          </a:p>
          <a:p>
            <a:pPr indent="0" marL="0">
              <a:buNone/>
            </a:pPr>
            <a:r>
              <a:rPr lang="en-US" sz="1100" i="1" dirty="0">
                <a:solidFill>
                  <a:srgbClr val="5A6472"/>
                </a:solidFill>
                <a:latin typeface="Calibri" pitchFamily="34" charset="0"/>
                <a:cs typeface="Amiri" pitchFamily="2" charset="-78"/>
              </a:rPr>
              <a:t>aḥ-yā-nan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نَادِرًا</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rarely</a:t>
            </a:r>
            <a:endParaRPr lang="en-US" sz="1350" dirty="0"/>
          </a:p>
          <a:p>
            <a:pPr indent="0" marL="0">
              <a:buNone/>
            </a:pPr>
            <a:r>
              <a:rPr lang="en-US" sz="1100" i="1" dirty="0">
                <a:solidFill>
                  <a:srgbClr val="5A6472"/>
                </a:solidFill>
                <a:latin typeface="Calibri" pitchFamily="34" charset="0"/>
                <a:cs typeface="Amiri" pitchFamily="2" charset="-78"/>
              </a:rPr>
              <a:t>nā-di-ran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35" name="Shape 3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كُلَّ يَوْمٍ</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every day</a:t>
            </a:r>
            <a:endParaRPr lang="en-US" sz="1350" dirty="0"/>
          </a:p>
          <a:p>
            <a:pPr indent="0" marL="0">
              <a:buNone/>
            </a:pPr>
            <a:r>
              <a:rPr lang="en-US" sz="1100" i="1" dirty="0">
                <a:solidFill>
                  <a:srgbClr val="5A6472"/>
                </a:solidFill>
                <a:latin typeface="Calibri" pitchFamily="34" charset="0"/>
                <a:cs typeface="Amiri" pitchFamily="2" charset="-78"/>
              </a:rPr>
              <a:t>kul-la yaw-min</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42" name="Text 3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الصَّبَاحِ البَاكِرِ</a:t>
            </a:r>
            <a:endParaRPr lang="ar-SA" sz="3000" dirty="0"/>
          </a:p>
        </p:txBody>
      </p:sp>
      <p:sp>
        <p:nvSpPr>
          <p:cNvPr id="43" name="Text 4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early in the morning</a:t>
            </a:r>
            <a:endParaRPr lang="en-US" sz="1350" dirty="0"/>
          </a:p>
          <a:p>
            <a:pPr indent="0" marL="0">
              <a:buNone/>
            </a:pPr>
            <a:r>
              <a:rPr lang="en-US" sz="1100" i="1" dirty="0">
                <a:solidFill>
                  <a:srgbClr val="5A6472"/>
                </a:solidFill>
                <a:latin typeface="Calibri" pitchFamily="34" charset="0"/>
                <a:cs typeface="Amiri" pitchFamily="2" charset="-78"/>
              </a:rPr>
              <a:t>fī aṣ-ṣa-bā-ḥi al-bā-ki-ri</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AT-A-L01 · Time and Daily Routine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Useful detail</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20" name="Shape 17"/>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مُنَبِّهٌ</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alarm clock</a:t>
            </a:r>
            <a:endParaRPr lang="en-US" sz="1350" dirty="0"/>
          </a:p>
          <a:p>
            <a:pPr indent="0" marL="0">
              <a:buNone/>
            </a:pPr>
            <a:r>
              <a:rPr lang="en-US" sz="1100" i="1" dirty="0">
                <a:solidFill>
                  <a:srgbClr val="5A6472"/>
                </a:solidFill>
                <a:latin typeface="Calibri" pitchFamily="34" charset="0"/>
                <a:cs typeface="Amiri" pitchFamily="2" charset="-78"/>
              </a:rPr>
              <a:t>mu-nab-bi-hun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مُنَبِّهٌ</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مُنَبِّهَاتٌ</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33" name="Text 3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عَجَلَةٌ</a:t>
            </a:r>
            <a:endParaRPr lang="ar-SA" sz="3000" dirty="0"/>
          </a:p>
        </p:txBody>
      </p:sp>
      <p:sp>
        <p:nvSpPr>
          <p:cNvPr id="34" name="Text 3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haste</a:t>
            </a:r>
            <a:endParaRPr lang="en-US" sz="1350" dirty="0"/>
          </a:p>
          <a:p>
            <a:pPr indent="0" marL="0">
              <a:buNone/>
            </a:pPr>
            <a:r>
              <a:rPr lang="en-US" sz="1100" i="1" dirty="0">
                <a:solidFill>
                  <a:srgbClr val="5A6472"/>
                </a:solidFill>
                <a:latin typeface="Calibri" pitchFamily="34" charset="0"/>
                <a:cs typeface="Amiri" pitchFamily="2" charset="-78"/>
              </a:rPr>
              <a:t>ʿa-ja-la-tun</a:t>
            </a:r>
            <a:endParaRPr lang="en-US" sz="135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38" name="Shape 35"/>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40" name="Text 3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نَشِيطٌ / نَشِيطَةٌ</a:t>
            </a:r>
            <a:endParaRPr lang="ar-SA" sz="3000" dirty="0"/>
          </a:p>
        </p:txBody>
      </p:sp>
      <p:sp>
        <p:nvSpPr>
          <p:cNvPr id="41" name="Text 3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energetic</a:t>
            </a:r>
            <a:endParaRPr lang="en-US" sz="1350" dirty="0"/>
          </a:p>
          <a:p>
            <a:pPr indent="0" marL="0">
              <a:buNone/>
            </a:pPr>
            <a:r>
              <a:rPr lang="en-US" sz="1100" i="1" dirty="0">
                <a:solidFill>
                  <a:srgbClr val="5A6472"/>
                </a:solidFill>
                <a:latin typeface="Calibri" pitchFamily="34" charset="0"/>
                <a:cs typeface="Amiri" pitchFamily="2" charset="-78"/>
              </a:rPr>
              <a:t>na-shī-ṭun / na-shī-ṭa-tun</a:t>
            </a:r>
            <a:endParaRPr lang="en-US" sz="1350" dirty="0"/>
          </a:p>
        </p:txBody>
      </p:sp>
      <p:sp>
        <p:nvSpPr>
          <p:cNvPr id="42" name="Shape 39"/>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4" name="Text 41"/>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نَشِيطٌ</a:t>
            </a:r>
            <a:endParaRPr lang="ar-SA" sz="1500" dirty="0"/>
          </a:p>
        </p:txBody>
      </p:sp>
      <p:sp>
        <p:nvSpPr>
          <p:cNvPr id="45" name="Shape 42"/>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7" name="Text 44"/>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نَشِيطَةٌ</a:t>
            </a:r>
            <a:endParaRPr lang="ar-SA" sz="1500" dirty="0"/>
          </a:p>
        </p:txBody>
      </p:sp>
      <p:sp>
        <p:nvSpPr>
          <p:cNvPr id="48" name="Shape 45"/>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0" name="Text 47"/>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نَشِيطُونَ</a:t>
            </a:r>
            <a:endParaRPr lang="ar-SA" sz="150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54" name="Shape 51"/>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6" name="Text 5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نَاعِسٌ / نَاعِسَةٌ</a:t>
            </a:r>
            <a:endParaRPr lang="ar-SA" sz="3000" dirty="0"/>
          </a:p>
        </p:txBody>
      </p:sp>
      <p:sp>
        <p:nvSpPr>
          <p:cNvPr id="57" name="Text 5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sleepy</a:t>
            </a:r>
            <a:endParaRPr lang="en-US" sz="1350" dirty="0"/>
          </a:p>
          <a:p>
            <a:pPr indent="0" marL="0">
              <a:buNone/>
            </a:pPr>
            <a:r>
              <a:rPr lang="en-US" sz="1100" i="1" dirty="0">
                <a:solidFill>
                  <a:srgbClr val="5A6472"/>
                </a:solidFill>
                <a:latin typeface="Calibri" pitchFamily="34" charset="0"/>
                <a:cs typeface="Amiri" pitchFamily="2" charset="-78"/>
              </a:rPr>
              <a:t>nā-ʿi-sun / nā-ʿi-sa-tun</a:t>
            </a:r>
            <a:endParaRPr lang="en-US" sz="1350" dirty="0"/>
          </a:p>
        </p:txBody>
      </p:sp>
      <p:sp>
        <p:nvSpPr>
          <p:cNvPr id="58" name="Shape 55"/>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0" name="Text 57"/>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نَاعِسٌ</a:t>
            </a:r>
            <a:endParaRPr lang="ar-SA" sz="1500" dirty="0"/>
          </a:p>
        </p:txBody>
      </p:sp>
      <p:sp>
        <p:nvSpPr>
          <p:cNvPr id="61" name="Shape 58"/>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3" name="Text 60"/>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نَاعِسَةٌ</a:t>
            </a:r>
            <a:endParaRPr lang="ar-SA" sz="1500" dirty="0"/>
          </a:p>
        </p:txBody>
      </p:sp>
      <p:sp>
        <p:nvSpPr>
          <p:cNvPr id="64" name="Shape 61"/>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65" name="Text 62"/>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6" name="Text 63"/>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نَاعِسُونَ</a:t>
            </a:r>
            <a:endParaRPr lang="ar-SA" sz="1500" dirty="0"/>
          </a:p>
        </p:txBody>
      </p:sp>
      <p:sp>
        <p:nvSpPr>
          <p:cNvPr id="67" name="Shape 6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389120" y="4261104"/>
            <a:ext cx="310896" cy="310896"/>
          </a:xfrm>
          <a:prstGeom prst="ellipse">
            <a:avLst/>
          </a:prstGeom>
          <a:solidFill>
            <a:srgbClr val="F4F1EA"/>
          </a:solidFill>
          <a:ln w="12700">
            <a:solidFill>
              <a:srgbClr val="F4F1EA"/>
            </a:solidFill>
            <a:prstDash val="solid"/>
          </a:ln>
        </p:spPr>
      </p:sp>
      <p:sp>
        <p:nvSpPr>
          <p:cNvPr id="69" name="Text 6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70" name="Text 6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مُبَكِّرًا</a:t>
            </a:r>
            <a:endParaRPr lang="ar-SA" sz="3000" dirty="0"/>
          </a:p>
        </p:txBody>
      </p:sp>
      <p:sp>
        <p:nvSpPr>
          <p:cNvPr id="71" name="Text 6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early</a:t>
            </a:r>
            <a:endParaRPr lang="en-US" sz="1350" dirty="0"/>
          </a:p>
          <a:p>
            <a:pPr indent="0" marL="0">
              <a:buNone/>
            </a:pPr>
            <a:r>
              <a:rPr lang="en-US" sz="1100" i="1" dirty="0">
                <a:solidFill>
                  <a:srgbClr val="5A6472"/>
                </a:solidFill>
                <a:latin typeface="Calibri" pitchFamily="34" charset="0"/>
                <a:cs typeface="Amiri" pitchFamily="2" charset="-78"/>
              </a:rPr>
              <a:t>mu-bak-ki-ran</a:t>
            </a:r>
            <a:endParaRPr lang="en-US" sz="1350" dirty="0"/>
          </a:p>
        </p:txBody>
      </p:sp>
      <p:sp>
        <p:nvSpPr>
          <p:cNvPr id="72" name="Shape 6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3" name="Shape 70"/>
          <p:cNvSpPr/>
          <p:nvPr/>
        </p:nvSpPr>
        <p:spPr>
          <a:xfrm>
            <a:off x="566928" y="4261104"/>
            <a:ext cx="310896" cy="310896"/>
          </a:xfrm>
          <a:prstGeom prst="ellipse">
            <a:avLst/>
          </a:prstGeom>
          <a:solidFill>
            <a:srgbClr val="F4F1EA"/>
          </a:solidFill>
          <a:ln w="12700">
            <a:solidFill>
              <a:srgbClr val="F4F1EA"/>
            </a:solidFill>
            <a:prstDash val="solid"/>
          </a:ln>
        </p:spPr>
      </p:sp>
      <p:sp>
        <p:nvSpPr>
          <p:cNvPr id="74" name="Text 7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75" name="Text 7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مُتَأَخِّرًا</a:t>
            </a:r>
            <a:endParaRPr lang="ar-SA" sz="3000" dirty="0"/>
          </a:p>
        </p:txBody>
      </p:sp>
      <p:sp>
        <p:nvSpPr>
          <p:cNvPr id="76" name="Text 7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late</a:t>
            </a:r>
            <a:endParaRPr lang="en-US" sz="1350" dirty="0"/>
          </a:p>
          <a:p>
            <a:pPr indent="0" marL="0">
              <a:buNone/>
            </a:pPr>
            <a:r>
              <a:rPr lang="en-US" sz="1100" i="1" dirty="0">
                <a:solidFill>
                  <a:srgbClr val="5A6472"/>
                </a:solidFill>
                <a:latin typeface="Calibri" pitchFamily="34" charset="0"/>
                <a:cs typeface="Amiri" pitchFamily="2" charset="-78"/>
              </a:rPr>
              <a:t>mu-ta-ʾakh-khi-ran</a:t>
            </a:r>
            <a:endParaRPr lang="en-US" sz="13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AT-A-L01 · Time and Daily Routine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MATCH THE PREFIX TO THE SUBJECT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Who is doing it? Change only the first letter</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أَنَا · هُوَ · هِيَ · نَحْنُ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518904"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 (</a:t>
            </a:r>
            <a:pPr algn="ctr" indent="0" marL="0">
              <a:buNone/>
            </a:pPr>
            <a:r>
              <a:rPr lang="ar-SA" altLang="en-US" sz="1450" b="1" dirty="0">
                <a:solidFill>
                  <a:srgbClr val="FFFFFF"/>
                </a:solidFill>
                <a:latin typeface="Amiri" pitchFamily="2" charset="-78"/>
                <a:ea typeface="Amiri" pitchFamily="2" charset="-78"/>
                <a:cs typeface="Amiri" pitchFamily="2" charset="-78"/>
              </a:rPr>
              <a:t>أَنَا</a:t>
            </a:r>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7" name="Text 14"/>
          <p:cNvSpPr txBox="1"/>
          <p:nvPr/>
        </p:nvSpPr>
        <p:spPr>
          <a:xfrm>
            <a:off x="7232904"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he (</a:t>
            </a:r>
            <a:pPr algn="ctr" indent="0" marL="0">
              <a:buNone/>
            </a:pPr>
            <a:r>
              <a:rPr lang="ar-SA" altLang="en-US" sz="1450" b="1" dirty="0">
                <a:solidFill>
                  <a:srgbClr val="FFFFFF"/>
                </a:solidFill>
                <a:latin typeface="Amiri" pitchFamily="2" charset="-78"/>
                <a:ea typeface="Amiri" pitchFamily="2" charset="-78"/>
                <a:cs typeface="Amiri" pitchFamily="2" charset="-78"/>
              </a:rPr>
              <a:t>هُوَ</a:t>
            </a:r>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8" name="Text 15"/>
          <p:cNvSpPr txBox="1"/>
          <p:nvPr/>
        </p:nvSpPr>
        <p:spPr>
          <a:xfrm>
            <a:off x="4946904"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she (</a:t>
            </a:r>
            <a:pPr algn="ctr" indent="0" marL="0">
              <a:buNone/>
            </a:pPr>
            <a:r>
              <a:rPr lang="ar-SA" altLang="en-US" sz="1450" b="1" dirty="0">
                <a:solidFill>
                  <a:srgbClr val="FFFFFF"/>
                </a:solidFill>
                <a:latin typeface="Amiri" pitchFamily="2" charset="-78"/>
                <a:ea typeface="Amiri" pitchFamily="2" charset="-78"/>
                <a:cs typeface="Amiri" pitchFamily="2" charset="-78"/>
              </a:rPr>
              <a:t>هِيَ</a:t>
            </a:r>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Text 16"/>
          <p:cNvSpPr txBox="1"/>
          <p:nvPr/>
        </p:nvSpPr>
        <p:spPr>
          <a:xfrm>
            <a:off x="2660904"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we (</a:t>
            </a:r>
            <a:pPr algn="ctr" indent="0" marL="0">
              <a:buNone/>
            </a:pPr>
            <a:r>
              <a:rPr lang="ar-SA" altLang="en-US" sz="1450" b="1" dirty="0">
                <a:solidFill>
                  <a:srgbClr val="FFFFFF"/>
                </a:solidFill>
                <a:latin typeface="Amiri" pitchFamily="2" charset="-78"/>
                <a:ea typeface="Amiri" pitchFamily="2" charset="-78"/>
                <a:cs typeface="Amiri" pitchFamily="2" charset="-78"/>
              </a:rPr>
              <a:t>نَحْنُ</a:t>
            </a:r>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Text 17"/>
          <p:cNvSpPr txBox="1"/>
          <p:nvPr/>
        </p:nvSpPr>
        <p:spPr>
          <a:xfrm>
            <a:off x="530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1" name="Shape 18"/>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2" name="Text 19"/>
          <p:cNvSpPr txBox="1"/>
          <p:nvPr/>
        </p:nvSpPr>
        <p:spPr>
          <a:xfrm>
            <a:off x="9537192" y="2267712"/>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ea typeface="Amiri" pitchFamily="2" charset="-78"/>
                <a:cs typeface="Amiri" pitchFamily="2" charset="-78"/>
              </a:rPr>
              <a:t>أَ</a:t>
            </a:r>
            <a:pPr rtl="1" algn="ctr" indent="0" marL="0">
              <a:buNone/>
            </a:pPr>
            <a:r>
              <a:rPr lang="ar-SA" altLang="en-US" sz="2000" b="1" dirty="0">
                <a:solidFill>
                  <a:srgbClr val="1B3B6F"/>
                </a:solidFill>
                <a:latin typeface="Amiri" pitchFamily="2" charset="-78"/>
                <a:ea typeface="Amiri" pitchFamily="2" charset="-78"/>
                <a:cs typeface="Amiri" pitchFamily="2" charset="-78"/>
              </a:rPr>
              <a:t>سْتَيْقِظُ</a:t>
            </a:r>
            <a:endParaRPr lang="ar-SA" sz="2000" dirty="0"/>
          </a:p>
        </p:txBody>
      </p:sp>
      <p:sp>
        <p:nvSpPr>
          <p:cNvPr id="23" name="Text 20"/>
          <p:cNvSpPr txBox="1"/>
          <p:nvPr/>
        </p:nvSpPr>
        <p:spPr>
          <a:xfrm>
            <a:off x="7251192" y="2267712"/>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ea typeface="Amiri" pitchFamily="2" charset="-78"/>
                <a:cs typeface="Amiri" pitchFamily="2" charset="-78"/>
              </a:rPr>
              <a:t>يَ</a:t>
            </a:r>
            <a:pPr rtl="1" algn="ctr" indent="0" marL="0">
              <a:buNone/>
            </a:pPr>
            <a:r>
              <a:rPr lang="ar-SA" altLang="en-US" sz="2000" b="1" dirty="0">
                <a:solidFill>
                  <a:srgbClr val="1B3B6F"/>
                </a:solidFill>
                <a:latin typeface="Amiri" pitchFamily="2" charset="-78"/>
                <a:ea typeface="Amiri" pitchFamily="2" charset="-78"/>
                <a:cs typeface="Amiri" pitchFamily="2" charset="-78"/>
              </a:rPr>
              <a:t>سْتَيْقِظُ</a:t>
            </a:r>
            <a:endParaRPr lang="ar-SA" sz="2000" dirty="0"/>
          </a:p>
        </p:txBody>
      </p:sp>
      <p:sp>
        <p:nvSpPr>
          <p:cNvPr id="24" name="Text 21"/>
          <p:cNvSpPr txBox="1"/>
          <p:nvPr/>
        </p:nvSpPr>
        <p:spPr>
          <a:xfrm>
            <a:off x="4965192" y="2267712"/>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2" charset="-78"/>
                <a:ea typeface="Amiri" pitchFamily="2" charset="-78"/>
                <a:cs typeface="Amiri" pitchFamily="2" charset="-78"/>
              </a:rPr>
              <a:t>تَ</a:t>
            </a:r>
            <a:pPr rtl="1" algn="ctr" indent="0" marL="0">
              <a:buNone/>
            </a:pPr>
            <a:r>
              <a:rPr lang="ar-SA" altLang="en-US" sz="2000" b="1" dirty="0">
                <a:solidFill>
                  <a:srgbClr val="1B3B6F"/>
                </a:solidFill>
                <a:latin typeface="Amiri" pitchFamily="2" charset="-78"/>
                <a:ea typeface="Amiri" pitchFamily="2" charset="-78"/>
                <a:cs typeface="Amiri" pitchFamily="2" charset="-78"/>
              </a:rPr>
              <a:t>سْتَيْقِظُ</a:t>
            </a:r>
            <a:endParaRPr lang="ar-SA" sz="2000" dirty="0"/>
          </a:p>
        </p:txBody>
      </p:sp>
      <p:sp>
        <p:nvSpPr>
          <p:cNvPr id="25" name="Text 22"/>
          <p:cNvSpPr txBox="1"/>
          <p:nvPr/>
        </p:nvSpPr>
        <p:spPr>
          <a:xfrm>
            <a:off x="2679192" y="2267712"/>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ea typeface="Amiri" pitchFamily="2" charset="-78"/>
                <a:cs typeface="Amiri" pitchFamily="2" charset="-78"/>
              </a:rPr>
              <a:t>نَ</a:t>
            </a:r>
            <a:pPr rtl="1" algn="ctr" indent="0" marL="0">
              <a:buNone/>
            </a:pPr>
            <a:r>
              <a:rPr lang="ar-SA" altLang="en-US" sz="2000" b="1" dirty="0">
                <a:solidFill>
                  <a:srgbClr val="1B3B6F"/>
                </a:solidFill>
                <a:latin typeface="Amiri" pitchFamily="2" charset="-78"/>
                <a:ea typeface="Amiri" pitchFamily="2" charset="-78"/>
                <a:cs typeface="Amiri" pitchFamily="2" charset="-78"/>
              </a:rPr>
              <a:t>سْتَيْقِظُ</a:t>
            </a:r>
            <a:endParaRPr lang="ar-SA" sz="2000" dirty="0"/>
          </a:p>
        </p:txBody>
      </p:sp>
      <p:sp>
        <p:nvSpPr>
          <p:cNvPr id="26" name="Text 23"/>
          <p:cNvSpPr txBox="1"/>
          <p:nvPr/>
        </p:nvSpPr>
        <p:spPr>
          <a:xfrm>
            <a:off x="566928" y="2267712"/>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wake up</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9537192" y="3004718"/>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ea typeface="Amiri" pitchFamily="2" charset="-78"/>
                <a:cs typeface="Amiri" pitchFamily="2" charset="-78"/>
              </a:rPr>
              <a:t>أَ</a:t>
            </a:r>
            <a:pPr rtl="1" algn="ctr" indent="0" marL="0">
              <a:buNone/>
            </a:pPr>
            <a:r>
              <a:rPr lang="ar-SA" altLang="en-US" sz="2000" b="1" dirty="0">
                <a:solidFill>
                  <a:srgbClr val="1B3B6F"/>
                </a:solidFill>
                <a:latin typeface="Amiri" pitchFamily="2" charset="-78"/>
                <a:ea typeface="Amiri" pitchFamily="2" charset="-78"/>
                <a:cs typeface="Amiri" pitchFamily="2" charset="-78"/>
              </a:rPr>
              <a:t>غْتَسِلُ</a:t>
            </a:r>
            <a:endParaRPr lang="ar-SA" sz="2000" dirty="0"/>
          </a:p>
        </p:txBody>
      </p:sp>
      <p:sp>
        <p:nvSpPr>
          <p:cNvPr id="31" name="Text 28"/>
          <p:cNvSpPr txBox="1"/>
          <p:nvPr/>
        </p:nvSpPr>
        <p:spPr>
          <a:xfrm>
            <a:off x="7251192" y="3004718"/>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ea typeface="Amiri" pitchFamily="2" charset="-78"/>
                <a:cs typeface="Amiri" pitchFamily="2" charset="-78"/>
              </a:rPr>
              <a:t>يَ</a:t>
            </a:r>
            <a:pPr rtl="1" algn="ctr" indent="0" marL="0">
              <a:buNone/>
            </a:pPr>
            <a:r>
              <a:rPr lang="ar-SA" altLang="en-US" sz="2000" b="1" dirty="0">
                <a:solidFill>
                  <a:srgbClr val="1B3B6F"/>
                </a:solidFill>
                <a:latin typeface="Amiri" pitchFamily="2" charset="-78"/>
                <a:ea typeface="Amiri" pitchFamily="2" charset="-78"/>
                <a:cs typeface="Amiri" pitchFamily="2" charset="-78"/>
              </a:rPr>
              <a:t>غْتَسِلُ</a:t>
            </a:r>
            <a:endParaRPr lang="ar-SA" sz="2000" dirty="0"/>
          </a:p>
        </p:txBody>
      </p:sp>
      <p:sp>
        <p:nvSpPr>
          <p:cNvPr id="32" name="Text 29"/>
          <p:cNvSpPr txBox="1"/>
          <p:nvPr/>
        </p:nvSpPr>
        <p:spPr>
          <a:xfrm>
            <a:off x="4965192" y="3004718"/>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2" charset="-78"/>
                <a:ea typeface="Amiri" pitchFamily="2" charset="-78"/>
                <a:cs typeface="Amiri" pitchFamily="2" charset="-78"/>
              </a:rPr>
              <a:t>تَ</a:t>
            </a:r>
            <a:pPr rtl="1" algn="ctr" indent="0" marL="0">
              <a:buNone/>
            </a:pPr>
            <a:r>
              <a:rPr lang="ar-SA" altLang="en-US" sz="2000" b="1" dirty="0">
                <a:solidFill>
                  <a:srgbClr val="1B3B6F"/>
                </a:solidFill>
                <a:latin typeface="Amiri" pitchFamily="2" charset="-78"/>
                <a:ea typeface="Amiri" pitchFamily="2" charset="-78"/>
                <a:cs typeface="Amiri" pitchFamily="2" charset="-78"/>
              </a:rPr>
              <a:t>غْتَسِلُ</a:t>
            </a:r>
            <a:endParaRPr lang="ar-SA" sz="2000" dirty="0"/>
          </a:p>
        </p:txBody>
      </p:sp>
      <p:sp>
        <p:nvSpPr>
          <p:cNvPr id="33" name="Text 30"/>
          <p:cNvSpPr txBox="1"/>
          <p:nvPr/>
        </p:nvSpPr>
        <p:spPr>
          <a:xfrm>
            <a:off x="2679192" y="3004718"/>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ea typeface="Amiri" pitchFamily="2" charset="-78"/>
                <a:cs typeface="Amiri" pitchFamily="2" charset="-78"/>
              </a:rPr>
              <a:t>نَ</a:t>
            </a:r>
            <a:pPr rtl="1" algn="ctr" indent="0" marL="0">
              <a:buNone/>
            </a:pPr>
            <a:r>
              <a:rPr lang="ar-SA" altLang="en-US" sz="2000" b="1" dirty="0">
                <a:solidFill>
                  <a:srgbClr val="1B3B6F"/>
                </a:solidFill>
                <a:latin typeface="Amiri" pitchFamily="2" charset="-78"/>
                <a:ea typeface="Amiri" pitchFamily="2" charset="-78"/>
                <a:cs typeface="Amiri" pitchFamily="2" charset="-78"/>
              </a:rPr>
              <a:t>غْتَسِلُ</a:t>
            </a:r>
            <a:endParaRPr lang="ar-SA" sz="2000" dirty="0"/>
          </a:p>
        </p:txBody>
      </p:sp>
      <p:sp>
        <p:nvSpPr>
          <p:cNvPr id="34" name="Text 31"/>
          <p:cNvSpPr txBox="1"/>
          <p:nvPr/>
        </p:nvSpPr>
        <p:spPr>
          <a:xfrm>
            <a:off x="566928" y="300471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shower</a:t>
            </a:r>
            <a:endParaRPr lang="en-US" sz="1100" dirty="0"/>
          </a:p>
        </p:txBody>
      </p:sp>
      <p:sp>
        <p:nvSpPr>
          <p:cNvPr id="35" name="Shape 32"/>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9537192" y="3741725"/>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ea typeface="Amiri" pitchFamily="2" charset="-78"/>
                <a:cs typeface="Amiri" pitchFamily="2" charset="-78"/>
              </a:rPr>
              <a:t>أَ</a:t>
            </a:r>
            <a:pPr rtl="1" algn="ctr" indent="0" marL="0">
              <a:buNone/>
            </a:pPr>
            <a:r>
              <a:rPr lang="ar-SA" altLang="en-US" sz="2000" b="1" dirty="0">
                <a:solidFill>
                  <a:srgbClr val="1B3B6F"/>
                </a:solidFill>
                <a:latin typeface="Amiri" pitchFamily="2" charset="-78"/>
                <a:ea typeface="Amiri" pitchFamily="2" charset="-78"/>
                <a:cs typeface="Amiri" pitchFamily="2" charset="-78"/>
              </a:rPr>
              <a:t>تَنَاوَلُ</a:t>
            </a:r>
            <a:endParaRPr lang="ar-SA" sz="2000" dirty="0"/>
          </a:p>
        </p:txBody>
      </p:sp>
      <p:sp>
        <p:nvSpPr>
          <p:cNvPr id="39" name="Text 36"/>
          <p:cNvSpPr txBox="1"/>
          <p:nvPr/>
        </p:nvSpPr>
        <p:spPr>
          <a:xfrm>
            <a:off x="7251192" y="3741725"/>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ea typeface="Amiri" pitchFamily="2" charset="-78"/>
                <a:cs typeface="Amiri" pitchFamily="2" charset="-78"/>
              </a:rPr>
              <a:t>يَ</a:t>
            </a:r>
            <a:pPr rtl="1" algn="ctr" indent="0" marL="0">
              <a:buNone/>
            </a:pPr>
            <a:r>
              <a:rPr lang="ar-SA" altLang="en-US" sz="2000" b="1" dirty="0">
                <a:solidFill>
                  <a:srgbClr val="1B3B6F"/>
                </a:solidFill>
                <a:latin typeface="Amiri" pitchFamily="2" charset="-78"/>
                <a:ea typeface="Amiri" pitchFamily="2" charset="-78"/>
                <a:cs typeface="Amiri" pitchFamily="2" charset="-78"/>
              </a:rPr>
              <a:t>تَنَاوَلُ</a:t>
            </a:r>
            <a:endParaRPr lang="ar-SA" sz="2000" dirty="0"/>
          </a:p>
        </p:txBody>
      </p:sp>
      <p:sp>
        <p:nvSpPr>
          <p:cNvPr id="40" name="Text 37"/>
          <p:cNvSpPr txBox="1"/>
          <p:nvPr/>
        </p:nvSpPr>
        <p:spPr>
          <a:xfrm>
            <a:off x="4965192" y="3741725"/>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2" charset="-78"/>
                <a:ea typeface="Amiri" pitchFamily="2" charset="-78"/>
                <a:cs typeface="Amiri" pitchFamily="2" charset="-78"/>
              </a:rPr>
              <a:t>تَ</a:t>
            </a:r>
            <a:pPr rtl="1" algn="ctr" indent="0" marL="0">
              <a:buNone/>
            </a:pPr>
            <a:r>
              <a:rPr lang="ar-SA" altLang="en-US" sz="2000" b="1" dirty="0">
                <a:solidFill>
                  <a:srgbClr val="1B3B6F"/>
                </a:solidFill>
                <a:latin typeface="Amiri" pitchFamily="2" charset="-78"/>
                <a:ea typeface="Amiri" pitchFamily="2" charset="-78"/>
                <a:cs typeface="Amiri" pitchFamily="2" charset="-78"/>
              </a:rPr>
              <a:t>تَنَاوَلُ</a:t>
            </a:r>
            <a:endParaRPr lang="ar-SA" sz="2000" dirty="0"/>
          </a:p>
        </p:txBody>
      </p:sp>
      <p:sp>
        <p:nvSpPr>
          <p:cNvPr id="41" name="Text 38"/>
          <p:cNvSpPr txBox="1"/>
          <p:nvPr/>
        </p:nvSpPr>
        <p:spPr>
          <a:xfrm>
            <a:off x="2679192" y="3741725"/>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ea typeface="Amiri" pitchFamily="2" charset="-78"/>
                <a:cs typeface="Amiri" pitchFamily="2" charset="-78"/>
              </a:rPr>
              <a:t>نَ</a:t>
            </a:r>
            <a:pPr rtl="1" algn="ctr" indent="0" marL="0">
              <a:buNone/>
            </a:pPr>
            <a:r>
              <a:rPr lang="ar-SA" altLang="en-US" sz="2000" b="1" dirty="0">
                <a:solidFill>
                  <a:srgbClr val="1B3B6F"/>
                </a:solidFill>
                <a:latin typeface="Amiri" pitchFamily="2" charset="-78"/>
                <a:ea typeface="Amiri" pitchFamily="2" charset="-78"/>
                <a:cs typeface="Amiri" pitchFamily="2" charset="-78"/>
              </a:rPr>
              <a:t>تَنَاوَلُ</a:t>
            </a:r>
            <a:endParaRPr lang="ar-SA" sz="2000" dirty="0"/>
          </a:p>
        </p:txBody>
      </p:sp>
      <p:sp>
        <p:nvSpPr>
          <p:cNvPr id="42" name="Text 39"/>
          <p:cNvSpPr txBox="1"/>
          <p:nvPr/>
        </p:nvSpPr>
        <p:spPr>
          <a:xfrm>
            <a:off x="566928" y="3741725"/>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have (a meal)</a:t>
            </a:r>
            <a:endParaRPr lang="en-US" sz="1100" dirty="0"/>
          </a:p>
        </p:txBody>
      </p:sp>
      <p:sp>
        <p:nvSpPr>
          <p:cNvPr id="43" name="Shape 40"/>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6" name="Text 43"/>
          <p:cNvSpPr txBox="1"/>
          <p:nvPr/>
        </p:nvSpPr>
        <p:spPr>
          <a:xfrm>
            <a:off x="9537192" y="4478731"/>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ea typeface="Amiri" pitchFamily="2" charset="-78"/>
                <a:cs typeface="Amiri" pitchFamily="2" charset="-78"/>
              </a:rPr>
              <a:t>أَ</a:t>
            </a:r>
            <a:pPr rtl="1" algn="ctr" indent="0" marL="0">
              <a:buNone/>
            </a:pPr>
            <a:r>
              <a:rPr lang="ar-SA" altLang="en-US" sz="2000" b="1" dirty="0">
                <a:solidFill>
                  <a:srgbClr val="1B3B6F"/>
                </a:solidFill>
                <a:latin typeface="Amiri" pitchFamily="2" charset="-78"/>
                <a:ea typeface="Amiri" pitchFamily="2" charset="-78"/>
                <a:cs typeface="Amiri" pitchFamily="2" charset="-78"/>
              </a:rPr>
              <a:t>رْتَدِي</a:t>
            </a:r>
            <a:endParaRPr lang="ar-SA" sz="2000" dirty="0"/>
          </a:p>
        </p:txBody>
      </p:sp>
      <p:sp>
        <p:nvSpPr>
          <p:cNvPr id="47" name="Text 44"/>
          <p:cNvSpPr txBox="1"/>
          <p:nvPr/>
        </p:nvSpPr>
        <p:spPr>
          <a:xfrm>
            <a:off x="7251192" y="4478731"/>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ea typeface="Amiri" pitchFamily="2" charset="-78"/>
                <a:cs typeface="Amiri" pitchFamily="2" charset="-78"/>
              </a:rPr>
              <a:t>يَ</a:t>
            </a:r>
            <a:pPr rtl="1" algn="ctr" indent="0" marL="0">
              <a:buNone/>
            </a:pPr>
            <a:r>
              <a:rPr lang="ar-SA" altLang="en-US" sz="2000" b="1" dirty="0">
                <a:solidFill>
                  <a:srgbClr val="1B3B6F"/>
                </a:solidFill>
                <a:latin typeface="Amiri" pitchFamily="2" charset="-78"/>
                <a:ea typeface="Amiri" pitchFamily="2" charset="-78"/>
                <a:cs typeface="Amiri" pitchFamily="2" charset="-78"/>
              </a:rPr>
              <a:t>رْتَدِي</a:t>
            </a:r>
            <a:endParaRPr lang="ar-SA" sz="2000" dirty="0"/>
          </a:p>
        </p:txBody>
      </p:sp>
      <p:sp>
        <p:nvSpPr>
          <p:cNvPr id="48" name="Text 45"/>
          <p:cNvSpPr txBox="1"/>
          <p:nvPr/>
        </p:nvSpPr>
        <p:spPr>
          <a:xfrm>
            <a:off x="4965192" y="4478731"/>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2" charset="-78"/>
                <a:ea typeface="Amiri" pitchFamily="2" charset="-78"/>
                <a:cs typeface="Amiri" pitchFamily="2" charset="-78"/>
              </a:rPr>
              <a:t>تَ</a:t>
            </a:r>
            <a:pPr rtl="1" algn="ctr" indent="0" marL="0">
              <a:buNone/>
            </a:pPr>
            <a:r>
              <a:rPr lang="ar-SA" altLang="en-US" sz="2000" b="1" dirty="0">
                <a:solidFill>
                  <a:srgbClr val="1B3B6F"/>
                </a:solidFill>
                <a:latin typeface="Amiri" pitchFamily="2" charset="-78"/>
                <a:ea typeface="Amiri" pitchFamily="2" charset="-78"/>
                <a:cs typeface="Amiri" pitchFamily="2" charset="-78"/>
              </a:rPr>
              <a:t>رْتَدِي</a:t>
            </a:r>
            <a:endParaRPr lang="ar-SA" sz="2000" dirty="0"/>
          </a:p>
        </p:txBody>
      </p:sp>
      <p:sp>
        <p:nvSpPr>
          <p:cNvPr id="49" name="Text 46"/>
          <p:cNvSpPr txBox="1"/>
          <p:nvPr/>
        </p:nvSpPr>
        <p:spPr>
          <a:xfrm>
            <a:off x="2679192" y="4478731"/>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ea typeface="Amiri" pitchFamily="2" charset="-78"/>
                <a:cs typeface="Amiri" pitchFamily="2" charset="-78"/>
              </a:rPr>
              <a:t>نَ</a:t>
            </a:r>
            <a:pPr rtl="1" algn="ctr" indent="0" marL="0">
              <a:buNone/>
            </a:pPr>
            <a:r>
              <a:rPr lang="ar-SA" altLang="en-US" sz="2000" b="1" dirty="0">
                <a:solidFill>
                  <a:srgbClr val="1B3B6F"/>
                </a:solidFill>
                <a:latin typeface="Amiri" pitchFamily="2" charset="-78"/>
                <a:ea typeface="Amiri" pitchFamily="2" charset="-78"/>
                <a:cs typeface="Amiri" pitchFamily="2" charset="-78"/>
              </a:rPr>
              <a:t>رْتَدِي</a:t>
            </a:r>
            <a:endParaRPr lang="ar-SA" sz="2000" dirty="0"/>
          </a:p>
        </p:txBody>
      </p:sp>
      <p:sp>
        <p:nvSpPr>
          <p:cNvPr id="50" name="Text 47"/>
          <p:cNvSpPr txBox="1"/>
          <p:nvPr/>
        </p:nvSpPr>
        <p:spPr>
          <a:xfrm>
            <a:off x="566928" y="4478731"/>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wear, put on</a:t>
            </a:r>
            <a:endParaRPr lang="en-US" sz="1100" dirty="0"/>
          </a:p>
        </p:txBody>
      </p:sp>
      <p:sp>
        <p:nvSpPr>
          <p:cNvPr id="51" name="Shape 4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2" name="Text 49"/>
          <p:cNvSpPr txBox="1"/>
          <p:nvPr/>
        </p:nvSpPr>
        <p:spPr>
          <a:xfrm>
            <a:off x="9537192" y="5215738"/>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ea typeface="Amiri" pitchFamily="2" charset="-78"/>
                <a:cs typeface="Amiri" pitchFamily="2" charset="-78"/>
              </a:rPr>
              <a:t>أَ</a:t>
            </a:r>
            <a:pPr rtl="1" algn="ctr" indent="0" marL="0">
              <a:buNone/>
            </a:pPr>
            <a:r>
              <a:rPr lang="ar-SA" altLang="en-US" sz="2000" b="1" dirty="0">
                <a:solidFill>
                  <a:srgbClr val="1B3B6F"/>
                </a:solidFill>
                <a:latin typeface="Amiri" pitchFamily="2" charset="-78"/>
                <a:ea typeface="Amiri" pitchFamily="2" charset="-78"/>
                <a:cs typeface="Amiri" pitchFamily="2" charset="-78"/>
              </a:rPr>
              <a:t>خْرُجُ</a:t>
            </a:r>
            <a:endParaRPr lang="ar-SA" sz="2000" dirty="0"/>
          </a:p>
        </p:txBody>
      </p:sp>
      <p:sp>
        <p:nvSpPr>
          <p:cNvPr id="53" name="Text 50"/>
          <p:cNvSpPr txBox="1"/>
          <p:nvPr/>
        </p:nvSpPr>
        <p:spPr>
          <a:xfrm>
            <a:off x="7251192" y="5215738"/>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ea typeface="Amiri" pitchFamily="2" charset="-78"/>
                <a:cs typeface="Amiri" pitchFamily="2" charset="-78"/>
              </a:rPr>
              <a:t>يَ</a:t>
            </a:r>
            <a:pPr rtl="1" algn="ctr" indent="0" marL="0">
              <a:buNone/>
            </a:pPr>
            <a:r>
              <a:rPr lang="ar-SA" altLang="en-US" sz="2000" b="1" dirty="0">
                <a:solidFill>
                  <a:srgbClr val="1B3B6F"/>
                </a:solidFill>
                <a:latin typeface="Amiri" pitchFamily="2" charset="-78"/>
                <a:ea typeface="Amiri" pitchFamily="2" charset="-78"/>
                <a:cs typeface="Amiri" pitchFamily="2" charset="-78"/>
              </a:rPr>
              <a:t>خْرُجُ</a:t>
            </a:r>
            <a:endParaRPr lang="ar-SA" sz="2000" dirty="0"/>
          </a:p>
        </p:txBody>
      </p:sp>
      <p:sp>
        <p:nvSpPr>
          <p:cNvPr id="54" name="Text 51"/>
          <p:cNvSpPr txBox="1"/>
          <p:nvPr/>
        </p:nvSpPr>
        <p:spPr>
          <a:xfrm>
            <a:off x="4965192" y="5215738"/>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2" charset="-78"/>
                <a:ea typeface="Amiri" pitchFamily="2" charset="-78"/>
                <a:cs typeface="Amiri" pitchFamily="2" charset="-78"/>
              </a:rPr>
              <a:t>تَ</a:t>
            </a:r>
            <a:pPr rtl="1" algn="ctr" indent="0" marL="0">
              <a:buNone/>
            </a:pPr>
            <a:r>
              <a:rPr lang="ar-SA" altLang="en-US" sz="2000" b="1" dirty="0">
                <a:solidFill>
                  <a:srgbClr val="1B3B6F"/>
                </a:solidFill>
                <a:latin typeface="Amiri" pitchFamily="2" charset="-78"/>
                <a:ea typeface="Amiri" pitchFamily="2" charset="-78"/>
                <a:cs typeface="Amiri" pitchFamily="2" charset="-78"/>
              </a:rPr>
              <a:t>خْرُجُ</a:t>
            </a:r>
            <a:endParaRPr lang="ar-SA" sz="2000" dirty="0"/>
          </a:p>
        </p:txBody>
      </p:sp>
      <p:sp>
        <p:nvSpPr>
          <p:cNvPr id="55" name="Text 52"/>
          <p:cNvSpPr txBox="1"/>
          <p:nvPr/>
        </p:nvSpPr>
        <p:spPr>
          <a:xfrm>
            <a:off x="2679192" y="5215738"/>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ea typeface="Amiri" pitchFamily="2" charset="-78"/>
                <a:cs typeface="Amiri" pitchFamily="2" charset="-78"/>
              </a:rPr>
              <a:t>نَ</a:t>
            </a:r>
            <a:pPr rtl="1" algn="ctr" indent="0" marL="0">
              <a:buNone/>
            </a:pPr>
            <a:r>
              <a:rPr lang="ar-SA" altLang="en-US" sz="2000" b="1" dirty="0">
                <a:solidFill>
                  <a:srgbClr val="1B3B6F"/>
                </a:solidFill>
                <a:latin typeface="Amiri" pitchFamily="2" charset="-78"/>
                <a:ea typeface="Amiri" pitchFamily="2" charset="-78"/>
                <a:cs typeface="Amiri" pitchFamily="2" charset="-78"/>
              </a:rPr>
              <a:t>خْرُجُ</a:t>
            </a:r>
            <a:endParaRPr lang="ar-SA" sz="2000" dirty="0"/>
          </a:p>
        </p:txBody>
      </p:sp>
      <p:sp>
        <p:nvSpPr>
          <p:cNvPr id="56" name="Text 53"/>
          <p:cNvSpPr txBox="1"/>
          <p:nvPr/>
        </p:nvSpPr>
        <p:spPr>
          <a:xfrm>
            <a:off x="566928" y="521573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go out, leave</a:t>
            </a:r>
            <a:endParaRPr lang="en-US" sz="1100" dirty="0"/>
          </a:p>
        </p:txBody>
      </p:sp>
      <p:sp>
        <p:nvSpPr>
          <p:cNvPr id="57" name="Text 5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rest of the verb NEVER changes — only the first letter.</a:t>
            </a:r>
            <a:endParaRPr lang="en-US" sz="11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AT-A-L01 · Time and Daily Routine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18" b="1" spc="150" kern="0" dirty="0">
                <a:solidFill>
                  <a:srgbClr val="1B3B6F"/>
                </a:solidFill>
                <a:latin typeface="Calibri" pitchFamily="34" charset="0"/>
                <a:cs typeface="Amiri" pitchFamily="2" charset="-78"/>
              </a:rPr>
              <a:t>GRAMMAR FOCUS · PART 2 · DERIVED VERB PATTERNS (WEBSITE) · DEVELOP / STRETCH</a:t>
            </a:r>
            <a:endParaRPr lang="en-US" sz="91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Keep the pattern letters!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أَوْزَانُ الأَفْعَالِ المَزِيدَةِ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244584"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Pattern (past)</a:t>
            </a:r>
            <a:endParaRPr lang="en-US" sz="1100" dirty="0"/>
          </a:p>
        </p:txBody>
      </p:sp>
      <p:sp>
        <p:nvSpPr>
          <p:cNvPr id="17" name="Text 14"/>
          <p:cNvSpPr txBox="1"/>
          <p:nvPr/>
        </p:nvSpPr>
        <p:spPr>
          <a:xfrm>
            <a:off x="5038344"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Today’s verbs (I)</a:t>
            </a:r>
            <a:endParaRPr lang="en-US" sz="1100" dirty="0"/>
          </a:p>
        </p:txBody>
      </p:sp>
      <p:sp>
        <p:nvSpPr>
          <p:cNvPr id="18" name="Text 15"/>
          <p:cNvSpPr txBox="1"/>
          <p:nvPr/>
        </p:nvSpPr>
        <p:spPr>
          <a:xfrm>
            <a:off x="530352" y="1810512"/>
            <a:ext cx="43616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Letters that must stay</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9262872" y="2286000"/>
            <a:ext cx="2377440" cy="4535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تَفَعَّلَ</a:t>
            </a:r>
            <a:endParaRPr lang="ar-SA" sz="2000" dirty="0"/>
          </a:p>
        </p:txBody>
      </p:sp>
      <p:sp>
        <p:nvSpPr>
          <p:cNvPr id="21" name="Text 18"/>
          <p:cNvSpPr txBox="1"/>
          <p:nvPr/>
        </p:nvSpPr>
        <p:spPr>
          <a:xfrm>
            <a:off x="9217152" y="2706624"/>
            <a:ext cx="24688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Form V</a:t>
            </a:r>
            <a:endParaRPr lang="en-US" sz="950" dirty="0"/>
          </a:p>
        </p:txBody>
      </p:sp>
      <p:sp>
        <p:nvSpPr>
          <p:cNvPr id="22" name="Text 19"/>
          <p:cNvSpPr txBox="1"/>
          <p:nvPr/>
        </p:nvSpPr>
        <p:spPr>
          <a:xfrm>
            <a:off x="5056632" y="2267712"/>
            <a:ext cx="40233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أَتَوَضَّأُ</a:t>
            </a:r>
            <a:endParaRPr lang="ar-SA" sz="2200" dirty="0"/>
          </a:p>
        </p:txBody>
      </p:sp>
      <p:sp>
        <p:nvSpPr>
          <p:cNvPr id="23" name="Text 20"/>
          <p:cNvSpPr txBox="1"/>
          <p:nvPr/>
        </p:nvSpPr>
        <p:spPr>
          <a:xfrm>
            <a:off x="566928" y="2267712"/>
            <a:ext cx="4325112" cy="731520"/>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ea typeface="Amiri" pitchFamily="2" charset="-78"/>
                <a:cs typeface="Amiri" pitchFamily="2" charset="-78"/>
              </a:rPr>
              <a:t>ت</a:t>
            </a:r>
            <a:pPr algn="l" indent="0" marL="0">
              <a:buNone/>
            </a:pPr>
            <a:r>
              <a:rPr lang="en-US" sz="1100" dirty="0">
                <a:solidFill>
                  <a:srgbClr val="5A6472"/>
                </a:solidFill>
                <a:latin typeface="Calibri" pitchFamily="34" charset="0"/>
                <a:cs typeface="Amiri" pitchFamily="2" charset="-78"/>
              </a:rPr>
              <a:t> + the doubled middle letter (shadda)</a:t>
            </a:r>
            <a:endParaRPr lang="en-US" sz="11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6" name="Shape 23"/>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7" name="Text 24"/>
          <p:cNvSpPr txBox="1"/>
          <p:nvPr/>
        </p:nvSpPr>
        <p:spPr>
          <a:xfrm>
            <a:off x="9262872" y="3072384"/>
            <a:ext cx="2377440" cy="4535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تَفَاعَلَ</a:t>
            </a:r>
            <a:endParaRPr lang="ar-SA" sz="2000" dirty="0"/>
          </a:p>
        </p:txBody>
      </p:sp>
      <p:sp>
        <p:nvSpPr>
          <p:cNvPr id="28" name="Text 25"/>
          <p:cNvSpPr txBox="1"/>
          <p:nvPr/>
        </p:nvSpPr>
        <p:spPr>
          <a:xfrm>
            <a:off x="9217152" y="3493008"/>
            <a:ext cx="24688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Form VI</a:t>
            </a:r>
            <a:endParaRPr lang="en-US" sz="950" dirty="0"/>
          </a:p>
        </p:txBody>
      </p:sp>
      <p:sp>
        <p:nvSpPr>
          <p:cNvPr id="29" name="Text 26"/>
          <p:cNvSpPr txBox="1"/>
          <p:nvPr/>
        </p:nvSpPr>
        <p:spPr>
          <a:xfrm>
            <a:off x="5056632" y="3054096"/>
            <a:ext cx="40233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أَتَنَاوَلُ</a:t>
            </a:r>
            <a:endParaRPr lang="ar-SA" sz="2200" dirty="0"/>
          </a:p>
        </p:txBody>
      </p:sp>
      <p:sp>
        <p:nvSpPr>
          <p:cNvPr id="30" name="Text 27"/>
          <p:cNvSpPr txBox="1"/>
          <p:nvPr/>
        </p:nvSpPr>
        <p:spPr>
          <a:xfrm>
            <a:off x="566928" y="3054096"/>
            <a:ext cx="4325112" cy="731520"/>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ea typeface="Amiri" pitchFamily="2" charset="-78"/>
                <a:cs typeface="Amiri" pitchFamily="2" charset="-78"/>
              </a:rPr>
              <a:t>ت</a:t>
            </a:r>
            <a:pPr algn="l" indent="0" marL="0">
              <a:buNone/>
            </a:pPr>
            <a:r>
              <a:rPr lang="en-US" sz="1100" dirty="0">
                <a:solidFill>
                  <a:srgbClr val="5A6472"/>
                </a:solidFill>
                <a:latin typeface="Calibri" pitchFamily="34" charset="0"/>
                <a:cs typeface="Amiri" pitchFamily="2" charset="-78"/>
              </a:rPr>
              <a:t> + the long ā (</a:t>
            </a:r>
            <a:pPr algn="l" indent="0" marL="0">
              <a:buNone/>
            </a:pPr>
            <a:r>
              <a:rPr lang="ar-SA" altLang="en-US" sz="1450" dirty="0">
                <a:solidFill>
                  <a:srgbClr val="5A6472"/>
                </a:solidFill>
                <a:latin typeface="Amiri" pitchFamily="2" charset="-78"/>
                <a:ea typeface="Amiri" pitchFamily="2" charset="-78"/>
                <a:cs typeface="Amiri" pitchFamily="2" charset="-78"/>
              </a:rPr>
              <a:t>ـَا</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1" name="Shape 28"/>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4" name="Text 31"/>
          <p:cNvSpPr txBox="1"/>
          <p:nvPr/>
        </p:nvSpPr>
        <p:spPr>
          <a:xfrm>
            <a:off x="9262872" y="3858768"/>
            <a:ext cx="2377440" cy="4535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اِفْتَعَلَ</a:t>
            </a:r>
            <a:endParaRPr lang="ar-SA" sz="2000" dirty="0"/>
          </a:p>
        </p:txBody>
      </p:sp>
      <p:sp>
        <p:nvSpPr>
          <p:cNvPr id="35" name="Text 32"/>
          <p:cNvSpPr txBox="1"/>
          <p:nvPr/>
        </p:nvSpPr>
        <p:spPr>
          <a:xfrm>
            <a:off x="9217152" y="4279392"/>
            <a:ext cx="24688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Form VIII</a:t>
            </a:r>
            <a:endParaRPr lang="en-US" sz="950" dirty="0"/>
          </a:p>
        </p:txBody>
      </p:sp>
      <p:sp>
        <p:nvSpPr>
          <p:cNvPr id="36" name="Text 33"/>
          <p:cNvSpPr txBox="1"/>
          <p:nvPr/>
        </p:nvSpPr>
        <p:spPr>
          <a:xfrm>
            <a:off x="5056632" y="3840480"/>
            <a:ext cx="40233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أَغْتَسِلُ · أَرْتَدِي</a:t>
            </a:r>
            <a:endParaRPr lang="ar-SA" sz="2200" dirty="0"/>
          </a:p>
        </p:txBody>
      </p:sp>
      <p:sp>
        <p:nvSpPr>
          <p:cNvPr id="37" name="Text 34"/>
          <p:cNvSpPr txBox="1"/>
          <p:nvPr/>
        </p:nvSpPr>
        <p:spPr>
          <a:xfrm>
            <a:off x="566928" y="3840480"/>
            <a:ext cx="43251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a:t>
            </a:r>
            <a:pPr algn="l" indent="0" marL="0">
              <a:buNone/>
            </a:pPr>
            <a:r>
              <a:rPr lang="ar-SA" altLang="en-US" sz="1450" dirty="0">
                <a:solidFill>
                  <a:srgbClr val="5A6472"/>
                </a:solidFill>
                <a:latin typeface="Amiri" pitchFamily="2" charset="-78"/>
                <a:ea typeface="Amiri" pitchFamily="2" charset="-78"/>
                <a:cs typeface="Amiri" pitchFamily="2" charset="-78"/>
              </a:rPr>
              <a:t>ت</a:t>
            </a:r>
            <a:pPr algn="l" indent="0" marL="0">
              <a:buNone/>
            </a:pPr>
            <a:r>
              <a:rPr lang="en-US" sz="1100" dirty="0">
                <a:solidFill>
                  <a:srgbClr val="5A6472"/>
                </a:solidFill>
                <a:latin typeface="Calibri" pitchFamily="34" charset="0"/>
                <a:cs typeface="Amiri" pitchFamily="2" charset="-78"/>
              </a:rPr>
              <a:t> after the first root letter</a:t>
            </a:r>
            <a:endParaRPr lang="en-US" sz="1100" dirty="0"/>
          </a:p>
        </p:txBody>
      </p:sp>
      <p:sp>
        <p:nvSpPr>
          <p:cNvPr id="38" name="Shape 35"/>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9" name="Text 36"/>
          <p:cNvSpPr txBox="1"/>
          <p:nvPr/>
        </p:nvSpPr>
        <p:spPr>
          <a:xfrm>
            <a:off x="9262872" y="4645152"/>
            <a:ext cx="2377440" cy="4535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اِسْتَفْعَلَ</a:t>
            </a:r>
            <a:endParaRPr lang="ar-SA" sz="2000" dirty="0"/>
          </a:p>
        </p:txBody>
      </p:sp>
      <p:sp>
        <p:nvSpPr>
          <p:cNvPr id="40" name="Text 37"/>
          <p:cNvSpPr txBox="1"/>
          <p:nvPr/>
        </p:nvSpPr>
        <p:spPr>
          <a:xfrm>
            <a:off x="9217152" y="5065776"/>
            <a:ext cx="24688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Form X</a:t>
            </a:r>
            <a:endParaRPr lang="en-US" sz="950" dirty="0"/>
          </a:p>
        </p:txBody>
      </p:sp>
      <p:sp>
        <p:nvSpPr>
          <p:cNvPr id="41" name="Text 38"/>
          <p:cNvSpPr txBox="1"/>
          <p:nvPr/>
        </p:nvSpPr>
        <p:spPr>
          <a:xfrm>
            <a:off x="5056632" y="4626864"/>
            <a:ext cx="40233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أَسْتَيْقِظُ · أَسْتَعِدُّ · أَسْتَقِلُّ</a:t>
            </a:r>
            <a:endParaRPr lang="ar-SA" sz="2200" dirty="0"/>
          </a:p>
        </p:txBody>
      </p:sp>
      <p:sp>
        <p:nvSpPr>
          <p:cNvPr id="42" name="Text 39"/>
          <p:cNvSpPr txBox="1"/>
          <p:nvPr/>
        </p:nvSpPr>
        <p:spPr>
          <a:xfrm>
            <a:off x="566928" y="4626864"/>
            <a:ext cx="43251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a:t>
            </a:r>
            <a:pPr algn="l" indent="0" marL="0">
              <a:buNone/>
            </a:pPr>
            <a:r>
              <a:rPr lang="ar-SA" altLang="en-US" sz="1450" dirty="0">
                <a:solidFill>
                  <a:srgbClr val="5A6472"/>
                </a:solidFill>
                <a:latin typeface="Amiri" pitchFamily="2" charset="-78"/>
                <a:ea typeface="Amiri" pitchFamily="2" charset="-78"/>
                <a:cs typeface="Amiri" pitchFamily="2" charset="-78"/>
              </a:rPr>
              <a:t>سْتَ</a:t>
            </a:r>
            <a:pPr algn="l" indent="0" marL="0">
              <a:buNone/>
            </a:pPr>
            <a:r>
              <a:rPr lang="en-US" sz="1100" dirty="0">
                <a:solidFill>
                  <a:srgbClr val="5A6472"/>
                </a:solidFill>
                <a:latin typeface="Calibri" pitchFamily="34" charset="0"/>
                <a:cs typeface="Amiri" pitchFamily="2" charset="-78"/>
              </a:rPr>
              <a:t> at the start</a:t>
            </a:r>
            <a:endParaRPr lang="en-US" sz="110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AT-A-L01 · Time and Daily Routine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1B3B6F"/>
                </a:solidFill>
                <a:latin typeface="Calibri" pitchFamily="34" charset="0"/>
                <a:cs typeface="Amiri" pitchFamily="2" charset="-78"/>
              </a:rPr>
              <a:t>GRAMMAR FOCUS · PART 3 · BUILD A CONNECTED ROUTINE, NOT A LIST (WEBSITE)</a:t>
            </a:r>
            <a:endParaRPr lang="en-US" sz="98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Connector + verb + time / detail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رَابِطٌ + فِعْلٌ + وَقْتٌ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AT-A-L01</a:t>
            </a:r>
            <a:endParaRPr lang="en-US" sz="850" dirty="0"/>
          </a:p>
        </p:txBody>
      </p:sp>
      <p:sp>
        <p:nvSpPr>
          <p:cNvPr id="15" name="Text 12"/>
          <p:cNvSpPr txBox="1"/>
          <p:nvPr/>
        </p:nvSpPr>
        <p:spPr>
          <a:xfrm>
            <a:off x="457200" y="1828800"/>
            <a:ext cx="3017520" cy="566928"/>
          </a:xfrm>
          <a:prstGeom prst="rect">
            <a:avLst/>
          </a:prstGeom>
          <a:noFill/>
          <a:ln/>
        </p:spPr>
        <p:txBody>
          <a:bodyPr wrap="square" lIns="0" tIns="0" rIns="0" bIns="0" rtlCol="0" anchor="ctr"/>
          <a:lstStyle/>
          <a:p>
            <a:pPr algn="l" indent="0" marL="0">
              <a:buNone/>
            </a:pPr>
            <a:r>
              <a:rPr lang="en-US" sz="1100" b="1" dirty="0">
                <a:solidFill>
                  <a:srgbClr val="5A6472"/>
                </a:solidFill>
                <a:latin typeface="Calibri" pitchFamily="34" charset="0"/>
                <a:cs typeface="Amiri" pitchFamily="2" charset="-78"/>
              </a:rPr>
              <a:t>English meaning</a:t>
            </a:r>
            <a:endParaRPr lang="en-US" sz="1100" dirty="0"/>
          </a:p>
        </p:txBody>
      </p:sp>
      <p:sp>
        <p:nvSpPr>
          <p:cNvPr id="16" name="Shape 13"/>
          <p:cNvSpPr/>
          <p:nvPr/>
        </p:nvSpPr>
        <p:spPr>
          <a:xfrm>
            <a:off x="9089136" y="1810512"/>
            <a:ext cx="264261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9089136"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2" charset="-78"/>
                <a:ea typeface="Amiri" pitchFamily="2" charset="-78"/>
                <a:cs typeface="Amiri" pitchFamily="2" charset="-78"/>
              </a:rPr>
              <a:t>رَابِطٌ</a:t>
            </a:r>
            <a:endParaRPr lang="ar-SA" sz="1850" dirty="0"/>
          </a:p>
        </p:txBody>
      </p:sp>
      <p:sp>
        <p:nvSpPr>
          <p:cNvPr id="18" name="Text 15"/>
          <p:cNvSpPr txBox="1"/>
          <p:nvPr/>
        </p:nvSpPr>
        <p:spPr>
          <a:xfrm>
            <a:off x="9089136"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cs typeface="Amiri" pitchFamily="2" charset="-78"/>
              </a:rPr>
              <a:t>connector</a:t>
            </a:r>
            <a:endParaRPr lang="en-US" sz="900" dirty="0"/>
          </a:p>
        </p:txBody>
      </p:sp>
      <p:sp>
        <p:nvSpPr>
          <p:cNvPr id="19" name="Shape 16"/>
          <p:cNvSpPr/>
          <p:nvPr/>
        </p:nvSpPr>
        <p:spPr>
          <a:xfrm>
            <a:off x="6336792" y="1810512"/>
            <a:ext cx="2642616" cy="566928"/>
          </a:xfrm>
          <a:prstGeom prst="roundRect">
            <a:avLst>
              <a:gd name="adj" fmla="val 9677"/>
            </a:avLst>
          </a:prstGeom>
          <a:solidFill>
            <a:srgbClr val="1D5FBF"/>
          </a:solidFill>
          <a:ln w="12700">
            <a:solidFill>
              <a:srgbClr val="1D5FBF"/>
            </a:solidFill>
            <a:prstDash val="solid"/>
          </a:ln>
        </p:spPr>
      </p:sp>
      <p:sp>
        <p:nvSpPr>
          <p:cNvPr id="20" name="Text 17"/>
          <p:cNvSpPr txBox="1"/>
          <p:nvPr/>
        </p:nvSpPr>
        <p:spPr>
          <a:xfrm>
            <a:off x="6336792"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2" charset="-78"/>
                <a:ea typeface="Amiri" pitchFamily="2" charset="-78"/>
                <a:cs typeface="Amiri" pitchFamily="2" charset="-78"/>
              </a:rPr>
              <a:t>فِعْلٌ</a:t>
            </a:r>
            <a:endParaRPr lang="ar-SA" sz="1850" dirty="0"/>
          </a:p>
        </p:txBody>
      </p:sp>
      <p:sp>
        <p:nvSpPr>
          <p:cNvPr id="21" name="Text 18"/>
          <p:cNvSpPr txBox="1"/>
          <p:nvPr/>
        </p:nvSpPr>
        <p:spPr>
          <a:xfrm>
            <a:off x="6336792"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cs typeface="Amiri" pitchFamily="2" charset="-78"/>
              </a:rPr>
              <a:t>verb (who?)</a:t>
            </a:r>
            <a:endParaRPr lang="en-US" sz="900" dirty="0"/>
          </a:p>
        </p:txBody>
      </p:sp>
      <p:sp>
        <p:nvSpPr>
          <p:cNvPr id="22" name="Shape 19"/>
          <p:cNvSpPr/>
          <p:nvPr/>
        </p:nvSpPr>
        <p:spPr>
          <a:xfrm>
            <a:off x="3584448" y="1810512"/>
            <a:ext cx="2642616" cy="566928"/>
          </a:xfrm>
          <a:prstGeom prst="roundRect">
            <a:avLst>
              <a:gd name="adj" fmla="val 9677"/>
            </a:avLst>
          </a:prstGeom>
          <a:solidFill>
            <a:srgbClr val="C77700"/>
          </a:solidFill>
          <a:ln w="12700">
            <a:solidFill>
              <a:srgbClr val="C77700"/>
            </a:solidFill>
            <a:prstDash val="solid"/>
          </a:ln>
        </p:spPr>
      </p:sp>
      <p:sp>
        <p:nvSpPr>
          <p:cNvPr id="23" name="Text 20"/>
          <p:cNvSpPr txBox="1"/>
          <p:nvPr/>
        </p:nvSpPr>
        <p:spPr>
          <a:xfrm>
            <a:off x="3584448"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2" charset="-78"/>
                <a:ea typeface="Amiri" pitchFamily="2" charset="-78"/>
                <a:cs typeface="Amiri" pitchFamily="2" charset="-78"/>
              </a:rPr>
              <a:t>وَقْتٌ / تَفْصِيلٌ</a:t>
            </a:r>
            <a:endParaRPr lang="ar-SA" sz="1850" dirty="0"/>
          </a:p>
        </p:txBody>
      </p:sp>
      <p:sp>
        <p:nvSpPr>
          <p:cNvPr id="24" name="Text 21"/>
          <p:cNvSpPr txBox="1"/>
          <p:nvPr/>
        </p:nvSpPr>
        <p:spPr>
          <a:xfrm>
            <a:off x="3584448"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cs typeface="Amiri" pitchFamily="2" charset="-78"/>
              </a:rPr>
              <a:t>time / detail</a:t>
            </a:r>
            <a:endParaRPr lang="en-US" sz="900" dirty="0"/>
          </a:p>
        </p:txBody>
      </p:sp>
      <p:sp>
        <p:nvSpPr>
          <p:cNvPr id="25" name="Text 22"/>
          <p:cNvSpPr txBox="1"/>
          <p:nvPr/>
        </p:nvSpPr>
        <p:spPr>
          <a:xfrm>
            <a:off x="457200" y="2487168"/>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First I wake up at six.</a:t>
            </a:r>
            <a:endParaRPr lang="en-US" sz="1200" dirty="0"/>
          </a:p>
        </p:txBody>
      </p:sp>
      <p:sp>
        <p:nvSpPr>
          <p:cNvPr id="26" name="Shape 23"/>
          <p:cNvSpPr/>
          <p:nvPr/>
        </p:nvSpPr>
        <p:spPr>
          <a:xfrm>
            <a:off x="9089136" y="2487168"/>
            <a:ext cx="2642616" cy="768096"/>
          </a:xfrm>
          <a:prstGeom prst="roundRect">
            <a:avLst>
              <a:gd name="adj" fmla="val 7143"/>
            </a:avLst>
          </a:prstGeom>
          <a:solidFill>
            <a:srgbClr val="E3F2F3"/>
          </a:solidFill>
          <a:ln w="9525">
            <a:solidFill>
              <a:srgbClr val="E3F2F3"/>
            </a:solidFill>
            <a:prstDash val="solid"/>
          </a:ln>
        </p:spPr>
      </p:sp>
      <p:sp>
        <p:nvSpPr>
          <p:cNvPr id="27" name="Text 24"/>
          <p:cNvSpPr txBox="1"/>
          <p:nvPr/>
        </p:nvSpPr>
        <p:spPr>
          <a:xfrm>
            <a:off x="9162288"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أَوَّلًا</a:t>
            </a:r>
            <a:endParaRPr lang="ar-SA" sz="2400" dirty="0"/>
          </a:p>
        </p:txBody>
      </p:sp>
      <p:sp>
        <p:nvSpPr>
          <p:cNvPr id="28" name="Shape 25"/>
          <p:cNvSpPr/>
          <p:nvPr/>
        </p:nvSpPr>
        <p:spPr>
          <a:xfrm>
            <a:off x="6336792" y="2487168"/>
            <a:ext cx="2642616" cy="768096"/>
          </a:xfrm>
          <a:prstGeom prst="roundRect">
            <a:avLst>
              <a:gd name="adj" fmla="val 7143"/>
            </a:avLst>
          </a:prstGeom>
          <a:solidFill>
            <a:srgbClr val="EEF3FA"/>
          </a:solidFill>
          <a:ln w="9525">
            <a:solidFill>
              <a:srgbClr val="EEF3FA"/>
            </a:solidFill>
            <a:prstDash val="solid"/>
          </a:ln>
        </p:spPr>
      </p:sp>
      <p:sp>
        <p:nvSpPr>
          <p:cNvPr id="29" name="Text 26"/>
          <p:cNvSpPr txBox="1"/>
          <p:nvPr/>
        </p:nvSpPr>
        <p:spPr>
          <a:xfrm>
            <a:off x="6409944"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أَسْتَيْقِظُ</a:t>
            </a:r>
            <a:endParaRPr lang="ar-SA" sz="2400" dirty="0"/>
          </a:p>
        </p:txBody>
      </p:sp>
      <p:sp>
        <p:nvSpPr>
          <p:cNvPr id="30" name="Shape 27"/>
          <p:cNvSpPr/>
          <p:nvPr/>
        </p:nvSpPr>
        <p:spPr>
          <a:xfrm>
            <a:off x="3584448" y="2487168"/>
            <a:ext cx="2642616" cy="768096"/>
          </a:xfrm>
          <a:prstGeom prst="roundRect">
            <a:avLst>
              <a:gd name="adj" fmla="val 7143"/>
            </a:avLst>
          </a:prstGeom>
          <a:solidFill>
            <a:srgbClr val="FDF3E3"/>
          </a:solidFill>
          <a:ln w="9525">
            <a:solidFill>
              <a:srgbClr val="FDF3E3"/>
            </a:solidFill>
            <a:prstDash val="solid"/>
          </a:ln>
        </p:spPr>
      </p:sp>
      <p:sp>
        <p:nvSpPr>
          <p:cNvPr id="31" name="Text 28"/>
          <p:cNvSpPr txBox="1"/>
          <p:nvPr/>
        </p:nvSpPr>
        <p:spPr>
          <a:xfrm>
            <a:off x="3657600"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فِي السَّادِسَةِ.</a:t>
            </a:r>
            <a:endParaRPr lang="ar-SA" sz="2400" dirty="0"/>
          </a:p>
        </p:txBody>
      </p:sp>
      <p:sp>
        <p:nvSpPr>
          <p:cNvPr id="32" name="Text 29"/>
          <p:cNvSpPr txBox="1"/>
          <p:nvPr/>
        </p:nvSpPr>
        <p:spPr>
          <a:xfrm>
            <a:off x="457200" y="3364992"/>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Then I shower and get dressed.</a:t>
            </a:r>
            <a:endParaRPr lang="en-US" sz="1200" dirty="0"/>
          </a:p>
        </p:txBody>
      </p:sp>
      <p:sp>
        <p:nvSpPr>
          <p:cNvPr id="33" name="Shape 30"/>
          <p:cNvSpPr/>
          <p:nvPr/>
        </p:nvSpPr>
        <p:spPr>
          <a:xfrm>
            <a:off x="9089136" y="3364992"/>
            <a:ext cx="2642616" cy="768096"/>
          </a:xfrm>
          <a:prstGeom prst="roundRect">
            <a:avLst>
              <a:gd name="adj" fmla="val 7143"/>
            </a:avLst>
          </a:prstGeom>
          <a:solidFill>
            <a:srgbClr val="E3F2F3"/>
          </a:solidFill>
          <a:ln w="9525">
            <a:solidFill>
              <a:srgbClr val="E3F2F3"/>
            </a:solidFill>
            <a:prstDash val="solid"/>
          </a:ln>
        </p:spPr>
      </p:sp>
      <p:sp>
        <p:nvSpPr>
          <p:cNvPr id="34" name="Text 31"/>
          <p:cNvSpPr txBox="1"/>
          <p:nvPr/>
        </p:nvSpPr>
        <p:spPr>
          <a:xfrm>
            <a:off x="9162288"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ثُمَّ</a:t>
            </a:r>
            <a:endParaRPr lang="ar-SA" sz="2400" dirty="0"/>
          </a:p>
        </p:txBody>
      </p:sp>
      <p:sp>
        <p:nvSpPr>
          <p:cNvPr id="35" name="Shape 32"/>
          <p:cNvSpPr/>
          <p:nvPr/>
        </p:nvSpPr>
        <p:spPr>
          <a:xfrm>
            <a:off x="6336792" y="3364992"/>
            <a:ext cx="2642616" cy="768096"/>
          </a:xfrm>
          <a:prstGeom prst="roundRect">
            <a:avLst>
              <a:gd name="adj" fmla="val 7143"/>
            </a:avLst>
          </a:prstGeom>
          <a:solidFill>
            <a:srgbClr val="EEF3FA"/>
          </a:solidFill>
          <a:ln w="9525">
            <a:solidFill>
              <a:srgbClr val="EEF3FA"/>
            </a:solidFill>
            <a:prstDash val="solid"/>
          </a:ln>
        </p:spPr>
      </p:sp>
      <p:sp>
        <p:nvSpPr>
          <p:cNvPr id="36" name="Text 33"/>
          <p:cNvSpPr txBox="1"/>
          <p:nvPr/>
        </p:nvSpPr>
        <p:spPr>
          <a:xfrm>
            <a:off x="6409944"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أَغْتَسِلُ</a:t>
            </a:r>
            <a:endParaRPr lang="ar-SA" sz="2400" dirty="0"/>
          </a:p>
        </p:txBody>
      </p:sp>
      <p:sp>
        <p:nvSpPr>
          <p:cNvPr id="37" name="Shape 34"/>
          <p:cNvSpPr/>
          <p:nvPr/>
        </p:nvSpPr>
        <p:spPr>
          <a:xfrm>
            <a:off x="3584448" y="3364992"/>
            <a:ext cx="2642616" cy="768096"/>
          </a:xfrm>
          <a:prstGeom prst="roundRect">
            <a:avLst>
              <a:gd name="adj" fmla="val 7143"/>
            </a:avLst>
          </a:prstGeom>
          <a:solidFill>
            <a:srgbClr val="FDF3E3"/>
          </a:solidFill>
          <a:ln w="9525">
            <a:solidFill>
              <a:srgbClr val="FDF3E3"/>
            </a:solidFill>
            <a:prstDash val="solid"/>
          </a:ln>
        </p:spPr>
      </p:sp>
      <p:sp>
        <p:nvSpPr>
          <p:cNvPr id="38" name="Text 35"/>
          <p:cNvSpPr txBox="1"/>
          <p:nvPr/>
        </p:nvSpPr>
        <p:spPr>
          <a:xfrm>
            <a:off x="3657600"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وَأَرْتَدِي مَلَابِسِي.</a:t>
            </a:r>
            <a:endParaRPr lang="ar-SA" sz="2400" dirty="0"/>
          </a:p>
        </p:txBody>
      </p:sp>
      <p:sp>
        <p:nvSpPr>
          <p:cNvPr id="39" name="Text 36"/>
          <p:cNvSpPr txBox="1"/>
          <p:nvPr/>
        </p:nvSpPr>
        <p:spPr>
          <a:xfrm>
            <a:off x="457200" y="4242816"/>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Usually I have breakfast with my family.</a:t>
            </a:r>
            <a:endParaRPr lang="en-US" sz="1200" dirty="0"/>
          </a:p>
        </p:txBody>
      </p:sp>
      <p:sp>
        <p:nvSpPr>
          <p:cNvPr id="40" name="Shape 37"/>
          <p:cNvSpPr/>
          <p:nvPr/>
        </p:nvSpPr>
        <p:spPr>
          <a:xfrm>
            <a:off x="9089136" y="4242816"/>
            <a:ext cx="2642616" cy="768096"/>
          </a:xfrm>
          <a:prstGeom prst="roundRect">
            <a:avLst>
              <a:gd name="adj" fmla="val 7143"/>
            </a:avLst>
          </a:prstGeom>
          <a:solidFill>
            <a:srgbClr val="E3F2F3"/>
          </a:solidFill>
          <a:ln w="9525">
            <a:solidFill>
              <a:srgbClr val="E3F2F3"/>
            </a:solidFill>
            <a:prstDash val="solid"/>
          </a:ln>
        </p:spPr>
      </p:sp>
      <p:sp>
        <p:nvSpPr>
          <p:cNvPr id="41" name="Text 38"/>
          <p:cNvSpPr txBox="1"/>
          <p:nvPr/>
        </p:nvSpPr>
        <p:spPr>
          <a:xfrm>
            <a:off x="9162288"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عَادَةً</a:t>
            </a:r>
            <a:endParaRPr lang="ar-SA" sz="2400" dirty="0"/>
          </a:p>
        </p:txBody>
      </p:sp>
      <p:sp>
        <p:nvSpPr>
          <p:cNvPr id="42" name="Shape 39"/>
          <p:cNvSpPr/>
          <p:nvPr/>
        </p:nvSpPr>
        <p:spPr>
          <a:xfrm>
            <a:off x="6336792" y="4242816"/>
            <a:ext cx="2642616" cy="768096"/>
          </a:xfrm>
          <a:prstGeom prst="roundRect">
            <a:avLst>
              <a:gd name="adj" fmla="val 7143"/>
            </a:avLst>
          </a:prstGeom>
          <a:solidFill>
            <a:srgbClr val="EEF3FA"/>
          </a:solidFill>
          <a:ln w="9525">
            <a:solidFill>
              <a:srgbClr val="EEF3FA"/>
            </a:solidFill>
            <a:prstDash val="solid"/>
          </a:ln>
        </p:spPr>
      </p:sp>
      <p:sp>
        <p:nvSpPr>
          <p:cNvPr id="43" name="Text 40"/>
          <p:cNvSpPr txBox="1"/>
          <p:nvPr/>
        </p:nvSpPr>
        <p:spPr>
          <a:xfrm>
            <a:off x="6409944"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أَتَنَاوَلُ الإِفْطَارَ</a:t>
            </a:r>
            <a:endParaRPr lang="ar-SA" sz="2400" dirty="0"/>
          </a:p>
        </p:txBody>
      </p:sp>
      <p:sp>
        <p:nvSpPr>
          <p:cNvPr id="44" name="Shape 41"/>
          <p:cNvSpPr/>
          <p:nvPr/>
        </p:nvSpPr>
        <p:spPr>
          <a:xfrm>
            <a:off x="3584448" y="4242816"/>
            <a:ext cx="2642616" cy="768096"/>
          </a:xfrm>
          <a:prstGeom prst="roundRect">
            <a:avLst>
              <a:gd name="adj" fmla="val 7143"/>
            </a:avLst>
          </a:prstGeom>
          <a:solidFill>
            <a:srgbClr val="FDF3E3"/>
          </a:solidFill>
          <a:ln w="9525">
            <a:solidFill>
              <a:srgbClr val="FDF3E3"/>
            </a:solidFill>
            <a:prstDash val="solid"/>
          </a:ln>
        </p:spPr>
      </p:sp>
      <p:sp>
        <p:nvSpPr>
          <p:cNvPr id="45" name="Text 42"/>
          <p:cNvSpPr txBox="1"/>
          <p:nvPr/>
        </p:nvSpPr>
        <p:spPr>
          <a:xfrm>
            <a:off x="3657600"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مَعَ أُسْرَتِي.</a:t>
            </a:r>
            <a:endParaRPr lang="ar-SA" sz="2400" dirty="0"/>
          </a:p>
        </p:txBody>
      </p:sp>
      <p:sp>
        <p:nvSpPr>
          <p:cNvPr id="46" name="Text 43"/>
          <p:cNvSpPr txBox="1"/>
          <p:nvPr/>
        </p:nvSpPr>
        <p:spPr>
          <a:xfrm>
            <a:off x="457200" y="5120640"/>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Finally I leave the house.</a:t>
            </a:r>
            <a:endParaRPr lang="en-US" sz="1200" dirty="0"/>
          </a:p>
        </p:txBody>
      </p:sp>
      <p:sp>
        <p:nvSpPr>
          <p:cNvPr id="47" name="Shape 44"/>
          <p:cNvSpPr/>
          <p:nvPr/>
        </p:nvSpPr>
        <p:spPr>
          <a:xfrm>
            <a:off x="9089136" y="5120640"/>
            <a:ext cx="2642616" cy="768096"/>
          </a:xfrm>
          <a:prstGeom prst="roundRect">
            <a:avLst>
              <a:gd name="adj" fmla="val 7143"/>
            </a:avLst>
          </a:prstGeom>
          <a:solidFill>
            <a:srgbClr val="E3F2F3"/>
          </a:solidFill>
          <a:ln w="9525">
            <a:solidFill>
              <a:srgbClr val="E3F2F3"/>
            </a:solidFill>
            <a:prstDash val="solid"/>
          </a:ln>
        </p:spPr>
      </p:sp>
      <p:sp>
        <p:nvSpPr>
          <p:cNvPr id="48" name="Text 45"/>
          <p:cNvSpPr txBox="1"/>
          <p:nvPr/>
        </p:nvSpPr>
        <p:spPr>
          <a:xfrm>
            <a:off x="9162288"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أَخِيرًا</a:t>
            </a:r>
            <a:endParaRPr lang="ar-SA" sz="2400" dirty="0"/>
          </a:p>
        </p:txBody>
      </p:sp>
      <p:sp>
        <p:nvSpPr>
          <p:cNvPr id="49" name="Shape 46"/>
          <p:cNvSpPr/>
          <p:nvPr/>
        </p:nvSpPr>
        <p:spPr>
          <a:xfrm>
            <a:off x="6336792" y="5120640"/>
            <a:ext cx="2642616" cy="768096"/>
          </a:xfrm>
          <a:prstGeom prst="roundRect">
            <a:avLst>
              <a:gd name="adj" fmla="val 7143"/>
            </a:avLst>
          </a:prstGeom>
          <a:solidFill>
            <a:srgbClr val="EEF3FA"/>
          </a:solidFill>
          <a:ln w="9525">
            <a:solidFill>
              <a:srgbClr val="EEF3FA"/>
            </a:solidFill>
            <a:prstDash val="solid"/>
          </a:ln>
        </p:spPr>
      </p:sp>
      <p:sp>
        <p:nvSpPr>
          <p:cNvPr id="50" name="Text 47"/>
          <p:cNvSpPr txBox="1"/>
          <p:nvPr/>
        </p:nvSpPr>
        <p:spPr>
          <a:xfrm>
            <a:off x="6409944"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أَخْرُجُ</a:t>
            </a:r>
            <a:endParaRPr lang="ar-SA" sz="2400" dirty="0"/>
          </a:p>
        </p:txBody>
      </p:sp>
      <p:sp>
        <p:nvSpPr>
          <p:cNvPr id="51" name="Shape 48"/>
          <p:cNvSpPr/>
          <p:nvPr/>
        </p:nvSpPr>
        <p:spPr>
          <a:xfrm>
            <a:off x="3584448" y="5120640"/>
            <a:ext cx="2642616" cy="768096"/>
          </a:xfrm>
          <a:prstGeom prst="roundRect">
            <a:avLst>
              <a:gd name="adj" fmla="val 7143"/>
            </a:avLst>
          </a:prstGeom>
          <a:solidFill>
            <a:srgbClr val="FDF3E3"/>
          </a:solidFill>
          <a:ln w="9525">
            <a:solidFill>
              <a:srgbClr val="FDF3E3"/>
            </a:solidFill>
            <a:prstDash val="solid"/>
          </a:ln>
        </p:spPr>
      </p:sp>
      <p:sp>
        <p:nvSpPr>
          <p:cNvPr id="52" name="Text 49"/>
          <p:cNvSpPr txBox="1"/>
          <p:nvPr/>
        </p:nvSpPr>
        <p:spPr>
          <a:xfrm>
            <a:off x="3657600"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مِنَ البَيْتِ.</a:t>
            </a:r>
            <a:endParaRPr lang="ar-SA" sz="2400" dirty="0"/>
          </a:p>
        </p:txBody>
      </p:sp>
      <p:sp>
        <p:nvSpPr>
          <p:cNvPr id="53" name="Text 50"/>
          <p:cNvSpPr txBox="1"/>
          <p:nvPr/>
        </p:nvSpPr>
        <p:spPr>
          <a:xfrm>
            <a:off x="457200" y="5989320"/>
            <a:ext cx="11274552" cy="320040"/>
          </a:xfrm>
          <a:prstGeom prst="rect">
            <a:avLst/>
          </a:prstGeom>
          <a:noFill/>
          <a:ln/>
        </p:spPr>
        <p:txBody>
          <a:bodyPr wrap="square" lIns="0" tIns="0" rIns="0" bIns="0" rtlCol="0" anchor="ctr"/>
          <a:lstStyle/>
          <a:p>
            <a:pPr algn="l" indent="0" marL="0">
              <a:buNone/>
            </a:pPr>
            <a:r>
              <a:rPr lang="en-US" sz="1200" b="1" dirty="0">
                <a:solidFill>
                  <a:srgbClr val="8A6D1E"/>
                </a:solidFill>
                <a:latin typeface="Calibri" pitchFamily="34" charset="0"/>
                <a:cs typeface="Amiri" pitchFamily="2" charset="-78"/>
              </a:rPr>
              <a:t>Frequency words (</a:t>
            </a:r>
            <a:pPr algn="l" indent="0" marL="0">
              <a:buNone/>
            </a:pPr>
            <a:r>
              <a:rPr lang="ar-SA" altLang="en-US" sz="1550" b="1" dirty="0">
                <a:solidFill>
                  <a:srgbClr val="8A6D1E"/>
                </a:solidFill>
                <a:latin typeface="Amiri" pitchFamily="2" charset="-78"/>
                <a:ea typeface="Amiri" pitchFamily="2" charset="-78"/>
                <a:cs typeface="Amiri" pitchFamily="2" charset="-78"/>
              </a:rPr>
              <a:t>عَادَةً، دَائِمًا، أَحْيَانًا</a:t>
            </a:r>
            <a:pPr algn="l" indent="0" marL="0">
              <a:buNone/>
            </a:pPr>
            <a:r>
              <a:rPr lang="en-US" sz="1200" b="1" dirty="0">
                <a:solidFill>
                  <a:srgbClr val="8A6D1E"/>
                </a:solidFill>
                <a:latin typeface="Calibri" pitchFamily="34" charset="0"/>
                <a:cs typeface="Amiri" pitchFamily="2" charset="-78"/>
              </a:rPr>
              <a:t>) can go at the start or after the verb.</a:t>
            </a:r>
            <a:endParaRPr lang="en-US" sz="120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AT-A-L01 · Time and Daily Routine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Derived verb patterns in a morning routine</a:t>
            </a:r>
            <a:endParaRPr lang="en-US" sz="22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050" b="1" dirty="0">
                <a:solidFill>
                  <a:srgbClr val="8A6D1E"/>
                </a:solidFill>
                <a:latin typeface="Amiri" pitchFamily="2" charset="-78"/>
                <a:ea typeface="Amiri" pitchFamily="2" charset="-78"/>
                <a:cs typeface="Amiri" pitchFamily="2" charset="-78"/>
              </a:rPr>
              <a:t>أَوْزَانُ الأَفْعَالِ المَزِيدَةِ فِي الرُّوتِينِ الصَّبَاحِيِّ</a:t>
            </a:r>
            <a:endParaRPr lang="ar-SA" sz="20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Recognise Form V as a patterned verb</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يَتَفَعَّلُ ← أَتَفَعَّلُ</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هُوَ يَتَوَضَّأُ.   ·   أَنَا أَتَوَضَّأُ.   ·   هِيَ تَتَوَضَّأُ.</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Distinguish Forms VI, VIII and X</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تَفَاعَلَ · اِفْتَعَلَ · اِسْتَفْعَلَ</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أَتَنَاوَلُ الإِفْطَارَ.   ·   أَغْتَسِلُ وَأَرْتَدِي مَلَابِسِي.   ·   أَسْتَيْقِظُ ثُمَّ أَسْتَعِدُّ.</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Match the person prefix to the subject</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أَنا أَـ · أَنْتَ تَـ · هُوَ يَـ · هِيَ تَـ · نَحْنُ نَـ</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lnSpc>
                <a:spcPct val="120000"/>
              </a:lnSpc>
              <a:buNone/>
            </a:pPr>
            <a:r>
              <a:rPr lang="ar-SA" altLang="en-US" sz="1900" b="1" dirty="0">
                <a:solidFill>
                  <a:srgbClr val="1F2A37"/>
                </a:solidFill>
                <a:latin typeface="Amiri" pitchFamily="2" charset="-78"/>
                <a:ea typeface="Amiri" pitchFamily="2" charset="-78"/>
                <a:cs typeface="Amiri" pitchFamily="2" charset="-78"/>
              </a:rPr>
              <a:t>أَنَا أَسْتَيْقِظُ مُبَكِّرًا.   ·   أَخِي يَسْتَعِدُّ بِسُرْعَةٍ.   ·   أُخْتِي تَتَنَاوَلُ الإِفْطَارَ.   ·   نَحْنُ نَخْرُجُ مَعًا.</a:t>
            </a:r>
            <a:endParaRPr lang="ar-SA" sz="19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Build a connected routine, not a list</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رَابِطٌ + فِعْلٌ + وَقْتٌ / تَفْصِيلٌ</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2" charset="-78"/>
                <a:ea typeface="Amiri" pitchFamily="2" charset="-78"/>
                <a:cs typeface="Amiri" pitchFamily="2" charset="-78"/>
              </a:rPr>
              <a:t>أَوَّلًا أَسْتَيْقِظُ فِي السَّادِسَةِ.   ·   ثُمَّ أَغْتَسِلُ وَأَرْتَدِي مَلَابِسِي.   ·   عَادَةً أَتَنَاوَلُ الإِفْطَارَ مَعَ أُسْرَتِي.   ·   أَخِيرًا أَخْرُجُ مِنَ البَيْتِ.</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AT-A-L01 · Time and Daily Routine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“I wake up”.</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يَسْتَيْقِظُ</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تَسْتَيْقِظُ</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أَسْتَيْقِظُ</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هِيَ ___ فِي السَّادِسَةِ.</a:t>
            </a:r>
            <a:endParaRPr lang="ar-SA" sz="150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تَسْتَيْقِظُ</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يَسْتَيْقِظُ</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أَسْتَيْقِظُ</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best connected sequence.</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أَسْتَيْقِظُ. أَغْتَسِلُ. أَخْرُجُ.</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أَوَّلًا أَسْتَيْقِظُ، ثُمَّ أَغْتَسِلُ، وَأَخِيرًا أَخْرُجُ.</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ثُمَّ أَسْتَيْقِظُ أَوَّلًا أَخْرُجُ.</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feminine sentence.</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أُخْتِي تَتَوَضَّأُ.</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أُخْتِي يَتَوَضَّأُ.</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أُخْتِي أَتَوَضَّأُ.</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AT-A-L01 · Time and Daily Routine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“I wake up”.</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يَسْتَيْقِظُ</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تَسْتَيْقِظُ</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أَسْتَيْقِظُ</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أَنَا</a:t>
            </a:r>
            <a:pPr algn="l" indent="0" marL="0">
              <a:buNone/>
            </a:pPr>
            <a:r>
              <a:rPr lang="en-US" sz="1050" i="1" dirty="0">
                <a:solidFill>
                  <a:srgbClr val="8A6D1E"/>
                </a:solidFill>
                <a:latin typeface="Calibri" pitchFamily="34" charset="0"/>
                <a:cs typeface="Amiri" pitchFamily="2" charset="-78"/>
              </a:rPr>
              <a:t> takes the prefix </a:t>
            </a:r>
            <a:pPr algn="l" indent="0" marL="0">
              <a:buNone/>
            </a:pPr>
            <a:r>
              <a:rPr lang="ar-SA" altLang="en-US" sz="1350" dirty="0">
                <a:solidFill>
                  <a:srgbClr val="8A6D1E"/>
                </a:solidFill>
                <a:latin typeface="Amiri" pitchFamily="2" charset="-78"/>
                <a:ea typeface="Amiri" pitchFamily="2" charset="-78"/>
                <a:cs typeface="Amiri" pitchFamily="2" charset="-78"/>
              </a:rPr>
              <a:t>أَـ</a:t>
            </a:r>
            <a:pPr algn="l" indent="0" marL="0">
              <a:buNone/>
            </a:pPr>
            <a:r>
              <a:rPr lang="en-US" sz="1050" i="1" dirty="0">
                <a:solidFill>
                  <a:srgbClr val="8A6D1E"/>
                </a:solidFill>
                <a:latin typeface="Calibri" pitchFamily="34" charset="0"/>
                <a:cs typeface="Amiri" pitchFamily="2" charset="-78"/>
              </a:rPr>
              <a:t>: </a:t>
            </a:r>
            <a:pPr algn="l" indent="0" marL="0">
              <a:buNone/>
            </a:pPr>
            <a:r>
              <a:rPr lang="ar-SA" altLang="en-US" sz="1350" dirty="0">
                <a:solidFill>
                  <a:srgbClr val="8A6D1E"/>
                </a:solidFill>
                <a:latin typeface="Amiri" pitchFamily="2" charset="-78"/>
                <a:ea typeface="Amiri" pitchFamily="2" charset="-78"/>
                <a:cs typeface="Amiri" pitchFamily="2" charset="-78"/>
              </a:rPr>
              <a:t>أَسْتَيْقِظُ</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هِيَ ___ فِي السَّادِسَةِ.</a:t>
            </a:r>
            <a:endParaRPr lang="ar-SA" sz="150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تَسْتَيْقِظُ</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يَسْتَيْقِظُ</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أَسْتَيْقِظُ</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هِيَ</a:t>
            </a:r>
            <a:pPr algn="l" indent="0" marL="0">
              <a:buNone/>
            </a:pPr>
            <a:r>
              <a:rPr lang="en-US" sz="1050" i="1" dirty="0">
                <a:solidFill>
                  <a:srgbClr val="8A6D1E"/>
                </a:solidFill>
                <a:latin typeface="Calibri" pitchFamily="34" charset="0"/>
                <a:cs typeface="Amiri" pitchFamily="2" charset="-78"/>
              </a:rPr>
              <a:t> uses </a:t>
            </a:r>
            <a:pPr algn="l" indent="0" marL="0">
              <a:buNone/>
            </a:pPr>
            <a:r>
              <a:rPr lang="ar-SA" altLang="en-US" sz="1350" dirty="0">
                <a:solidFill>
                  <a:srgbClr val="8A6D1E"/>
                </a:solidFill>
                <a:latin typeface="Amiri" pitchFamily="2" charset="-78"/>
                <a:ea typeface="Amiri" pitchFamily="2" charset="-78"/>
                <a:cs typeface="Amiri" pitchFamily="2" charset="-78"/>
              </a:rPr>
              <a:t>تَـ</a:t>
            </a:r>
            <a:pPr algn="l" indent="0" marL="0">
              <a:buNone/>
            </a:pPr>
            <a:r>
              <a:rPr lang="en-US" sz="1050" i="1" dirty="0">
                <a:solidFill>
                  <a:srgbClr val="8A6D1E"/>
                </a:solidFill>
                <a:latin typeface="Calibri" pitchFamily="34" charset="0"/>
                <a:cs typeface="Amiri" pitchFamily="2" charset="-78"/>
              </a:rPr>
              <a:t> in the present tense.</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best connected sequence.</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أَسْتَيْقِظُ. أَغْتَسِلُ. أَخْرُجُ.</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أَوَّلًا أَسْتَيْقِظُ، ثُمَّ أَغْتَسِلُ، وَأَخِيرًا أَخْرُجُ.</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ثُمَّ أَسْتَيْقِظُ أَوَّلًا أَخْرُجُ.</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sequence markers create a logical order.</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feminine sentence.</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أُخْتِي تَتَوَضَّأُ.</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أُخْتِي يَتَوَضَّأُ.</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أُخْتِي أَتَوَضَّأُ.</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feminine third-person subject takes </a:t>
            </a:r>
            <a:pPr algn="l" indent="0" marL="0">
              <a:buNone/>
            </a:pPr>
            <a:r>
              <a:rPr lang="ar-SA" altLang="en-US" sz="1350" dirty="0">
                <a:solidFill>
                  <a:srgbClr val="8A6D1E"/>
                </a:solidFill>
                <a:latin typeface="Amiri" pitchFamily="2" charset="-78"/>
                <a:ea typeface="Amiri" pitchFamily="2" charset="-78"/>
                <a:cs typeface="Amiri" pitchFamily="2" charset="-78"/>
              </a:rPr>
              <a:t>تَـ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AT-A-L01 · Time and Daily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build my morning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Wake up + time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ea typeface="Amiri" pitchFamily="2" charset="-78"/>
                <a:cs typeface="Amiri" pitchFamily="2" charset="-78"/>
              </a:rPr>
              <a:t>أَوَّلًا</a:t>
            </a:r>
            <a:pPr rtl="1" algn="ctr" indent="0" marL="0">
              <a:buNone/>
            </a:pPr>
            <a:r>
              <a:rPr lang="ar-SA" altLang="en-US" sz="2100" b="1" dirty="0">
                <a:solidFill>
                  <a:srgbClr val="1B3B6F"/>
                </a:solidFill>
                <a:latin typeface="Amiri" pitchFamily="2" charset="-78"/>
                <a:cs typeface="Amiri" pitchFamily="2" charset="-78"/>
              </a:rPr>
              <a:t> </a:t>
            </a:r>
            <a:pPr rtl="1" algn="ctr" indent="0" marL="0">
              <a:buNone/>
            </a:pPr>
            <a:r>
              <a:rPr lang="ar-SA" altLang="en-US" sz="2100" b="1" dirty="0">
                <a:solidFill>
                  <a:srgbClr val="1D5FBF"/>
                </a:solidFill>
                <a:latin typeface="Amiri" pitchFamily="2" charset="-78"/>
                <a:ea typeface="Amiri" pitchFamily="2" charset="-78"/>
                <a:cs typeface="Amiri" pitchFamily="2" charset="-78"/>
              </a:rPr>
              <a:t>أَ</a:t>
            </a:r>
            <a:pPr rtl="1" algn="ctr" indent="0" marL="0">
              <a:buNone/>
            </a:pPr>
            <a:r>
              <a:rPr lang="ar-SA" altLang="en-US" sz="2100" b="1" dirty="0">
                <a:solidFill>
                  <a:srgbClr val="1B3B6F"/>
                </a:solidFill>
                <a:latin typeface="Amiri" pitchFamily="2" charset="-78"/>
                <a:ea typeface="Amiri" pitchFamily="2" charset="-78"/>
                <a:cs typeface="Amiri" pitchFamily="2" charset="-78"/>
              </a:rPr>
              <a:t>سْتَيْقِظُ فِي السَّادِسَةِ.</a:t>
            </a:r>
            <a:endParaRPr lang="ar-SA" sz="21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 → </a:t>
            </a:r>
            <a:pPr algn="l" indent="0" marL="0">
              <a:buNone/>
            </a:pPr>
            <a:r>
              <a:rPr lang="ar-SA" altLang="en-US" sz="1500" dirty="0">
                <a:solidFill>
                  <a:srgbClr val="1F2A37"/>
                </a:solidFill>
                <a:latin typeface="Amiri" pitchFamily="2" charset="-78"/>
                <a:ea typeface="Amiri" pitchFamily="2" charset="-78"/>
                <a:cs typeface="Amiri" pitchFamily="2" charset="-78"/>
              </a:rPr>
              <a:t>أَـ</a:t>
            </a:r>
            <a:pPr algn="l" indent="0" marL="0">
              <a:buNone/>
            </a:pPr>
            <a:r>
              <a:rPr lang="en-US" sz="1150" dirty="0">
                <a:solidFill>
                  <a:srgbClr val="1F2A37"/>
                </a:solidFill>
                <a:latin typeface="Calibri" pitchFamily="34" charset="0"/>
                <a:cs typeface="Amiri" pitchFamily="2" charset="-78"/>
              </a:rPr>
              <a:t>. Keep </a:t>
            </a:r>
            <a:pPr algn="l" indent="0" marL="0">
              <a:buNone/>
            </a:pPr>
            <a:r>
              <a:rPr lang="ar-SA" altLang="en-US" sz="1500" dirty="0">
                <a:solidFill>
                  <a:srgbClr val="1F2A37"/>
                </a:solidFill>
                <a:latin typeface="Amiri" pitchFamily="2" charset="-78"/>
                <a:ea typeface="Amiri" pitchFamily="2" charset="-78"/>
                <a:cs typeface="Amiri" pitchFamily="2" charset="-78"/>
              </a:rPr>
              <a:t>سْتَ</a:t>
            </a:r>
            <a:pPr algn="l" indent="0" marL="0">
              <a:buNone/>
            </a:pPr>
            <a:r>
              <a:rPr lang="en-US" sz="1150" dirty="0">
                <a:solidFill>
                  <a:srgbClr val="1F2A37"/>
                </a:solidFill>
                <a:latin typeface="Calibri" pitchFamily="34" charset="0"/>
                <a:cs typeface="Amiri" pitchFamily="2" charset="-78"/>
              </a:rPr>
              <a:t> (Form X).</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Wash + dress</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ea typeface="Amiri" pitchFamily="2" charset="-78"/>
                <a:cs typeface="Amiri" pitchFamily="2" charset="-78"/>
              </a:rPr>
              <a:t>ثُمَّ</a:t>
            </a:r>
            <a:pPr rtl="1" algn="ctr" indent="0" marL="0">
              <a:buNone/>
            </a:pPr>
            <a:r>
              <a:rPr lang="ar-SA" altLang="en-US" sz="2100" b="1" dirty="0">
                <a:solidFill>
                  <a:srgbClr val="1B3B6F"/>
                </a:solidFill>
                <a:latin typeface="Amiri" pitchFamily="2" charset="-78"/>
                <a:cs typeface="Amiri" pitchFamily="2" charset="-78"/>
              </a:rPr>
              <a:t> </a:t>
            </a:r>
            <a:pPr rtl="1" algn="ctr" indent="0" marL="0">
              <a:buNone/>
            </a:pPr>
            <a:r>
              <a:rPr lang="ar-SA" altLang="en-US" sz="2100" b="1" dirty="0">
                <a:solidFill>
                  <a:srgbClr val="1D5FBF"/>
                </a:solidFill>
                <a:latin typeface="Amiri" pitchFamily="2" charset="-78"/>
                <a:ea typeface="Amiri" pitchFamily="2" charset="-78"/>
                <a:cs typeface="Amiri" pitchFamily="2" charset="-78"/>
              </a:rPr>
              <a:t>أَ</a:t>
            </a:r>
            <a:pPr rtl="1" algn="ctr" indent="0" marL="0">
              <a:buNone/>
            </a:pPr>
            <a:r>
              <a:rPr lang="ar-SA" altLang="en-US" sz="2100" b="1" dirty="0">
                <a:solidFill>
                  <a:srgbClr val="1B3B6F"/>
                </a:solidFill>
                <a:latin typeface="Amiri" pitchFamily="2" charset="-78"/>
                <a:ea typeface="Amiri" pitchFamily="2" charset="-78"/>
                <a:cs typeface="Amiri" pitchFamily="2" charset="-78"/>
              </a:rPr>
              <a:t>غْتَسِلُ وَ</a:t>
            </a:r>
            <a:pPr rtl="1" algn="ctr" indent="0" marL="0">
              <a:buNone/>
            </a:pPr>
            <a:r>
              <a:rPr lang="ar-SA" altLang="en-US" sz="2100" b="1" dirty="0">
                <a:solidFill>
                  <a:srgbClr val="1D5FBF"/>
                </a:solidFill>
                <a:latin typeface="Amiri" pitchFamily="2" charset="-78"/>
                <a:ea typeface="Amiri" pitchFamily="2" charset="-78"/>
                <a:cs typeface="Amiri" pitchFamily="2" charset="-78"/>
              </a:rPr>
              <a:t>أَ</a:t>
            </a:r>
            <a:pPr rtl="1" algn="ctr" indent="0" marL="0">
              <a:buNone/>
            </a:pPr>
            <a:r>
              <a:rPr lang="ar-SA" altLang="en-US" sz="2100" b="1" dirty="0">
                <a:solidFill>
                  <a:srgbClr val="1B3B6F"/>
                </a:solidFill>
                <a:latin typeface="Amiri" pitchFamily="2" charset="-78"/>
                <a:ea typeface="Amiri" pitchFamily="2" charset="-78"/>
                <a:cs typeface="Amiri" pitchFamily="2" charset="-78"/>
              </a:rPr>
              <a:t>رْتَدِي مَلَابِسِي.</a:t>
            </a:r>
            <a:endParaRPr lang="ar-SA" sz="21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Two actions joined with </a:t>
            </a:r>
            <a:pPr algn="l" indent="0" marL="0">
              <a:buNone/>
            </a:pPr>
            <a:r>
              <a:rPr lang="ar-SA" altLang="en-US" sz="1500" dirty="0">
                <a:solidFill>
                  <a:srgbClr val="1F2A37"/>
                </a:solidFill>
                <a:latin typeface="Amiri" pitchFamily="2" charset="-78"/>
                <a:ea typeface="Amiri" pitchFamily="2" charset="-78"/>
                <a:cs typeface="Amiri" pitchFamily="2" charset="-78"/>
              </a:rPr>
              <a:t>وَ</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Someone else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B3B6F"/>
                </a:solidFill>
                <a:latin typeface="Amiri" pitchFamily="2" charset="-78"/>
                <a:ea typeface="Amiri" pitchFamily="2" charset="-78"/>
                <a:cs typeface="Amiri" pitchFamily="2" charset="-78"/>
              </a:rPr>
              <a:t>أُخْتِي </a:t>
            </a:r>
            <a:pPr rtl="1" algn="ctr" indent="0" marL="0">
              <a:lnSpc>
                <a:spcPct val="120000"/>
              </a:lnSpc>
              <a:buNone/>
            </a:pPr>
            <a:r>
              <a:rPr lang="ar-SA" altLang="en-US" sz="1900" b="1" dirty="0">
                <a:solidFill>
                  <a:srgbClr val="D6336C"/>
                </a:solidFill>
                <a:latin typeface="Amiri" pitchFamily="2" charset="-78"/>
                <a:ea typeface="Amiri" pitchFamily="2" charset="-78"/>
                <a:cs typeface="Amiri" pitchFamily="2" charset="-78"/>
              </a:rPr>
              <a:t>تَ</a:t>
            </a:r>
            <a:pPr rtl="1" algn="ctr" indent="0" marL="0">
              <a:lnSpc>
                <a:spcPct val="120000"/>
              </a:lnSpc>
              <a:buNone/>
            </a:pPr>
            <a:r>
              <a:rPr lang="ar-SA" altLang="en-US" sz="1900" b="1" dirty="0">
                <a:solidFill>
                  <a:srgbClr val="1B3B6F"/>
                </a:solidFill>
                <a:latin typeface="Amiri" pitchFamily="2" charset="-78"/>
                <a:ea typeface="Amiri" pitchFamily="2" charset="-78"/>
                <a:cs typeface="Amiri" pitchFamily="2" charset="-78"/>
              </a:rPr>
              <a:t>تَنَاوَلُ الإِفْطَارَ قَبْلِي.</a:t>
            </a:r>
            <a:endParaRPr lang="ar-SA" sz="19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My sister → she → </a:t>
            </a:r>
            <a:pPr algn="l" indent="0" marL="0">
              <a:buNone/>
            </a:pPr>
            <a:r>
              <a:rPr lang="ar-SA" altLang="en-US" sz="1500" dirty="0">
                <a:solidFill>
                  <a:srgbClr val="1F2A37"/>
                </a:solidFill>
                <a:latin typeface="Amiri" pitchFamily="2" charset="-78"/>
                <a:ea typeface="Amiri" pitchFamily="2" charset="-78"/>
                <a:cs typeface="Amiri" pitchFamily="2" charset="-78"/>
              </a:rPr>
              <a:t>تَـ</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Frequency + finish</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عَادَةً</a:t>
            </a:r>
            <a:pPr rtl="1" algn="ctr" indent="0" marL="0">
              <a:lnSpc>
                <a:spcPct val="120000"/>
              </a:lnSpc>
              <a:buNone/>
            </a:pPr>
            <a:r>
              <a:rPr lang="ar-SA" altLang="en-US" sz="1750" b="1" dirty="0">
                <a:solidFill>
                  <a:srgbClr val="1B3B6F"/>
                </a:solidFill>
                <a:latin typeface="Amiri" pitchFamily="2" charset="-78"/>
                <a:cs typeface="Amiri" pitchFamily="2" charset="-78"/>
              </a:rPr>
              <a:t> </a:t>
            </a:r>
            <a:pPr rtl="1" algn="ctr" indent="0" marL="0">
              <a:lnSpc>
                <a:spcPct val="120000"/>
              </a:lnSpc>
              <a:buNone/>
            </a:pPr>
            <a:r>
              <a:rPr lang="ar-SA" altLang="en-US" sz="1750" b="1" dirty="0">
                <a:solidFill>
                  <a:srgbClr val="1D5FBF"/>
                </a:solidFill>
                <a:latin typeface="Amiri" pitchFamily="2" charset="-78"/>
                <a:ea typeface="Amiri" pitchFamily="2" charset="-78"/>
                <a:cs typeface="Amiri" pitchFamily="2" charset="-78"/>
              </a:rPr>
              <a:t>أَ</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خْرُجُ فِي السَّابِعَةِ وَالنِّصْفِ.</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frequency word and an exact time.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CONNECTOR</a:t>
            </a:r>
            <a:endParaRPr lang="en-US" sz="800" dirty="0"/>
          </a:p>
        </p:txBody>
      </p:sp>
      <p:sp>
        <p:nvSpPr>
          <p:cNvPr id="47" name="Shape 43"/>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I</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SHE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900" b="1" dirty="0">
                <a:solidFill>
                  <a:srgbClr val="0E7C86"/>
                </a:solidFill>
                <a:latin typeface="Amiri" pitchFamily="2" charset="-78"/>
                <a:ea typeface="Amiri" pitchFamily="2" charset="-78"/>
                <a:cs typeface="Amiri" pitchFamily="2" charset="-78"/>
              </a:rPr>
              <a:t>أَوَّلًا</a:t>
            </a:r>
            <a:pPr rtl="1" algn="r" indent="0" marL="0">
              <a:buNone/>
            </a:pPr>
            <a:r>
              <a:rPr lang="ar-SA" altLang="en-US" sz="1900" b="1" dirty="0">
                <a:solidFill>
                  <a:srgbClr val="1B3B6F"/>
                </a:solidFill>
                <a:latin typeface="Amiri" pitchFamily="2" charset="-78"/>
                <a:cs typeface="Amiri" pitchFamily="2" charset="-78"/>
              </a:rPr>
              <a:t> </a:t>
            </a:r>
            <a:pPr rtl="1" algn="r" indent="0" marL="0">
              <a:buNone/>
            </a:pPr>
            <a:r>
              <a:rPr lang="ar-SA" altLang="en-US" sz="1900" b="1" dirty="0">
                <a:solidFill>
                  <a:srgbClr val="1D5FBF"/>
                </a:solidFill>
                <a:latin typeface="Amiri" pitchFamily="2" charset="-78"/>
                <a:ea typeface="Amiri" pitchFamily="2" charset="-78"/>
                <a:cs typeface="Amiri" pitchFamily="2" charset="-78"/>
              </a:rPr>
              <a:t>أَ</a:t>
            </a:r>
            <a:pPr rtl="1" algn="r" indent="0" marL="0">
              <a:buNone/>
            </a:pPr>
            <a:r>
              <a:rPr lang="ar-SA" altLang="en-US" sz="1900" b="1" dirty="0">
                <a:solidFill>
                  <a:srgbClr val="1B3B6F"/>
                </a:solidFill>
                <a:latin typeface="Amiri" pitchFamily="2" charset="-78"/>
                <a:ea typeface="Amiri" pitchFamily="2" charset="-78"/>
                <a:cs typeface="Amiri" pitchFamily="2" charset="-78"/>
              </a:rPr>
              <a:t>سْتَيْقِظُ فِي السَّادِسَةِ، </a:t>
            </a:r>
            <a:pPr rtl="1" algn="r" indent="0" marL="0">
              <a:buNone/>
            </a:pPr>
            <a:r>
              <a:rPr lang="ar-SA" altLang="en-US" sz="1900" b="1" dirty="0">
                <a:solidFill>
                  <a:srgbClr val="0E7C86"/>
                </a:solidFill>
                <a:latin typeface="Amiri" pitchFamily="2" charset="-78"/>
                <a:ea typeface="Amiri" pitchFamily="2" charset="-78"/>
                <a:cs typeface="Amiri" pitchFamily="2" charset="-78"/>
              </a:rPr>
              <a:t>ثُمَّ</a:t>
            </a:r>
            <a:pPr rtl="1" algn="r" indent="0" marL="0">
              <a:buNone/>
            </a:pPr>
            <a:r>
              <a:rPr lang="ar-SA" altLang="en-US" sz="1900" b="1" dirty="0">
                <a:solidFill>
                  <a:srgbClr val="1B3B6F"/>
                </a:solidFill>
                <a:latin typeface="Amiri" pitchFamily="2" charset="-78"/>
                <a:cs typeface="Amiri" pitchFamily="2" charset="-78"/>
              </a:rPr>
              <a:t> </a:t>
            </a:r>
            <a:pPr rtl="1" algn="r" indent="0" marL="0">
              <a:buNone/>
            </a:pPr>
            <a:r>
              <a:rPr lang="ar-SA" altLang="en-US" sz="1900" b="1" dirty="0">
                <a:solidFill>
                  <a:srgbClr val="1D5FBF"/>
                </a:solidFill>
                <a:latin typeface="Amiri" pitchFamily="2" charset="-78"/>
                <a:ea typeface="Amiri" pitchFamily="2" charset="-78"/>
                <a:cs typeface="Amiri" pitchFamily="2" charset="-78"/>
              </a:rPr>
              <a:t>أَ</a:t>
            </a:r>
            <a:pPr rtl="1" algn="r" indent="0" marL="0">
              <a:buNone/>
            </a:pPr>
            <a:r>
              <a:rPr lang="ar-SA" altLang="en-US" sz="1900" b="1" dirty="0">
                <a:solidFill>
                  <a:srgbClr val="1B3B6F"/>
                </a:solidFill>
                <a:latin typeface="Amiri" pitchFamily="2" charset="-78"/>
                <a:ea typeface="Amiri" pitchFamily="2" charset="-78"/>
                <a:cs typeface="Amiri" pitchFamily="2" charset="-78"/>
              </a:rPr>
              <a:t>غْتَسِلُ وَ</a:t>
            </a:r>
            <a:pPr rtl="1" algn="r" indent="0" marL="0">
              <a:buNone/>
            </a:pPr>
            <a:r>
              <a:rPr lang="ar-SA" altLang="en-US" sz="1900" b="1" dirty="0">
                <a:solidFill>
                  <a:srgbClr val="1D5FBF"/>
                </a:solidFill>
                <a:latin typeface="Amiri" pitchFamily="2" charset="-78"/>
                <a:ea typeface="Amiri" pitchFamily="2" charset="-78"/>
                <a:cs typeface="Amiri" pitchFamily="2" charset="-78"/>
              </a:rPr>
              <a:t>أَ</a:t>
            </a:r>
            <a:pPr rtl="1" algn="r" indent="0" marL="0">
              <a:buNone/>
            </a:pPr>
            <a:r>
              <a:rPr lang="ar-SA" altLang="en-US" sz="1900" b="1" dirty="0">
                <a:solidFill>
                  <a:srgbClr val="1B3B6F"/>
                </a:solidFill>
                <a:latin typeface="Amiri" pitchFamily="2" charset="-78"/>
                <a:ea typeface="Amiri" pitchFamily="2" charset="-78"/>
                <a:cs typeface="Amiri" pitchFamily="2" charset="-78"/>
              </a:rPr>
              <a:t>رْتَدِي مَلَابِسِي. أُخْتِي </a:t>
            </a:r>
            <a:pPr rtl="1" algn="r" indent="0" marL="0">
              <a:buNone/>
            </a:pPr>
            <a:r>
              <a:rPr lang="ar-SA" altLang="en-US" sz="1900" b="1" dirty="0">
                <a:solidFill>
                  <a:srgbClr val="D6336C"/>
                </a:solidFill>
                <a:latin typeface="Amiri" pitchFamily="2" charset="-78"/>
                <a:ea typeface="Amiri" pitchFamily="2" charset="-78"/>
                <a:cs typeface="Amiri" pitchFamily="2" charset="-78"/>
              </a:rPr>
              <a:t>تَ</a:t>
            </a:r>
            <a:pPr rtl="1" algn="r" indent="0" marL="0">
              <a:buNone/>
            </a:pPr>
            <a:r>
              <a:rPr lang="ar-SA" altLang="en-US" sz="1900" b="1" dirty="0">
                <a:solidFill>
                  <a:srgbClr val="1B3B6F"/>
                </a:solidFill>
                <a:latin typeface="Amiri" pitchFamily="2" charset="-78"/>
                <a:ea typeface="Amiri" pitchFamily="2" charset="-78"/>
                <a:cs typeface="Amiri" pitchFamily="2" charset="-78"/>
              </a:rPr>
              <a:t>تَنَاوَلُ الإِفْطَارَ قَبْلِي. </a:t>
            </a:r>
            <a:pPr rtl="1" algn="r" indent="0" marL="0">
              <a:buNone/>
            </a:pPr>
            <a:r>
              <a:rPr lang="ar-SA" altLang="en-US" sz="1900" b="1" dirty="0">
                <a:solidFill>
                  <a:srgbClr val="0E7C86"/>
                </a:solidFill>
                <a:latin typeface="Amiri" pitchFamily="2" charset="-78"/>
                <a:ea typeface="Amiri" pitchFamily="2" charset="-78"/>
                <a:cs typeface="Amiri" pitchFamily="2" charset="-78"/>
              </a:rPr>
              <a:t>عَادَةً</a:t>
            </a:r>
            <a:pPr rtl="1" algn="r" indent="0" marL="0">
              <a:buNone/>
            </a:pPr>
            <a:r>
              <a:rPr lang="ar-SA" altLang="en-US" sz="1900" b="1" dirty="0">
                <a:solidFill>
                  <a:srgbClr val="1B3B6F"/>
                </a:solidFill>
                <a:latin typeface="Amiri" pitchFamily="2" charset="-78"/>
                <a:cs typeface="Amiri" pitchFamily="2" charset="-78"/>
              </a:rPr>
              <a:t> </a:t>
            </a:r>
            <a:pPr rtl="1" algn="r" indent="0" marL="0">
              <a:buNone/>
            </a:pPr>
            <a:r>
              <a:rPr lang="ar-SA" altLang="en-US" sz="1900" b="1" dirty="0">
                <a:solidFill>
                  <a:srgbClr val="1D5FBF"/>
                </a:solidFill>
                <a:latin typeface="Amiri" pitchFamily="2" charset="-78"/>
                <a:ea typeface="Amiri" pitchFamily="2" charset="-78"/>
                <a:cs typeface="Amiri" pitchFamily="2" charset="-78"/>
              </a:rPr>
              <a:t>أَ</a:t>
            </a:r>
            <a:pPr rtl="1" algn="r" indent="0" marL="0">
              <a:buNone/>
            </a:pPr>
            <a:r>
              <a:rPr lang="ar-SA" altLang="en-US" sz="1900" b="1" dirty="0">
                <a:solidFill>
                  <a:srgbClr val="1B3B6F"/>
                </a:solidFill>
                <a:latin typeface="Amiri" pitchFamily="2" charset="-78"/>
                <a:ea typeface="Amiri" pitchFamily="2" charset="-78"/>
                <a:cs typeface="Amiri" pitchFamily="2" charset="-78"/>
              </a:rPr>
              <a:t>خْرُجُ مِنَ البَيْتِ فِي السَّابِعَةِ وَالنِّصْفِ.</a:t>
            </a:r>
            <a:endParaRPr lang="ar-SA" sz="19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First I wake up at six, then I shower and get dressed. My sister has breakfast before me. Usually I leave the house at half past seven.</a:t>
            </a:r>
            <a:endParaRPr lang="en-US" sz="13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AT-A-L01 · Time and Daily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AT-A-L01</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أَسْتَيْقِظُ فِي السَّاعَةِ السَّادِسَةِ وَالنِّصْفِ.</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wake up at half past six.</a:t>
            </a:r>
            <a:endParaRPr lang="en-US" sz="1250" dirty="0"/>
          </a:p>
          <a:p>
            <a:pPr indent="0" marL="0">
              <a:buNone/>
            </a:pPr>
            <a:r>
              <a:rPr lang="en-US" sz="1050" i="1" dirty="0">
                <a:solidFill>
                  <a:srgbClr val="8A6D1E"/>
                </a:solidFill>
                <a:latin typeface="Calibri" pitchFamily="34" charset="0"/>
                <a:cs typeface="Amiri" pitchFamily="2" charset="-78"/>
              </a:rPr>
              <a:t>Keep the full Form X shape.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ثُمَّ أَتَوَضَّأُ وَأَسْتَعِدُّ لِلْمَدْرَسَةِ.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Then I perform wudu and get ready for school.</a:t>
            </a:r>
            <a:endParaRPr lang="en-US" sz="1250" dirty="0"/>
          </a:p>
          <a:p>
            <a:pPr indent="0" marL="0">
              <a:buNone/>
            </a:pPr>
            <a:r>
              <a:rPr lang="en-US" sz="1050" i="1" dirty="0">
                <a:solidFill>
                  <a:srgbClr val="8A6D1E"/>
                </a:solidFill>
                <a:latin typeface="Calibri" pitchFamily="34" charset="0"/>
                <a:cs typeface="Amiri" pitchFamily="2" charset="-78"/>
              </a:rPr>
              <a:t>Two patterned verbs in one sequence.</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أُخْتِي تَتَنَاوَلُ الإِفْطَارَ قَبْلِي.</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My sister has breakfast before me.</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Feminine subject → تَـ.</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نَادِرًا مَا أَخْرُجُ مِنْ دُونِ إِفْطَارٍ.</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rarely leave without breakfast.</a:t>
            </a:r>
            <a:endParaRPr lang="en-US" sz="1250" dirty="0"/>
          </a:p>
          <a:p>
            <a:pPr indent="0" marL="0">
              <a:buNone/>
            </a:pPr>
            <a:r>
              <a:rPr lang="en-US" sz="1050" i="1" dirty="0">
                <a:solidFill>
                  <a:srgbClr val="8A6D1E"/>
                </a:solidFill>
                <a:latin typeface="Calibri" pitchFamily="34" charset="0"/>
                <a:cs typeface="Amiri" pitchFamily="2" charset="-78"/>
              </a:rPr>
              <a:t>A more mature frequency expression.</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AT-A-L01 · Time and Daily Routine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PICTURE MATCH · WEBSITE GAME “VISUAL GAME — MY MORNING ROUTINE”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Match the picture to the routine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مَشْهَدُ الرُّوتِينِ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waking up</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brushing teeth</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breakfast</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أَتَنَاوَلُ الإِفْطَارَ.</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أَسْتَيْقِظُ صَبَاحًا.</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أُنَظِّفُ أَسْنَانِي.</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AT-A-L01 · Time and Daily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مَشْهَدُ الرُّوتِينِ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waking up</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أَسْتَيْقِظُ صَبَاحًا.</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wake up in the morning.</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brushing teeth</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أُنَظِّفُ أَسْنَانِي.</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brush my teeth.</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breakfast</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أَتَنَاوَلُ الإِفْطَارَ.</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have breakfast.</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AT-A-L01 · Time and Daily Routine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Build the morning in a logical order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أَسْتَيْقِظُ مُبَكِّرًا</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أَغْتَسِلُ وَأَتَوَضَّأُ</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أَرْتَدِي مَلَابِسِي</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أَتَنَاوَلُ الإِفْطَارَ</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أُحَضِّرُ حَقِيبَتِي</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أَخْرُجُ مِنَ البَيْتِ</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أَسْتَقِلُّ الحَافِلَةَ</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أَصِلُ إِلَى المَدْرَسَةِ</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Waking and washing</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Getting ready and eating</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Leaving and arriving</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AT-A-L01 · Time and Daily Routine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AT-A-L01</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Waking and washing</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أَسْتَيْقِظُ مُبَكِّرًا</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أَغْتَسِلُ وَأَتَوَضَّأُ</a:t>
            </a:r>
            <a:endParaRPr lang="ar-SA" sz="1800" dirty="0"/>
          </a:p>
        </p:txBody>
      </p:sp>
      <p:sp>
        <p:nvSpPr>
          <p:cNvPr id="22" name="Shape 19"/>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3" name="Shape 20"/>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Getting ready and eating</a:t>
            </a:r>
            <a:endParaRPr lang="en-US" sz="950" dirty="0"/>
          </a:p>
        </p:txBody>
      </p:sp>
      <p:sp>
        <p:nvSpPr>
          <p:cNvPr id="25" name="Shape 22"/>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أَرْتَدِي مَلَابِسِي</a:t>
            </a:r>
            <a:endParaRPr lang="ar-SA" sz="1800" dirty="0"/>
          </a:p>
        </p:txBody>
      </p:sp>
      <p:sp>
        <p:nvSpPr>
          <p:cNvPr id="27" name="Shape 24"/>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أَتَنَاوَلُ الإِفْطَارَ</a:t>
            </a:r>
            <a:endParaRPr lang="ar-SA" sz="1800" dirty="0"/>
          </a:p>
        </p:txBody>
      </p:sp>
      <p:sp>
        <p:nvSpPr>
          <p:cNvPr id="29" name="Shape 26"/>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أُحَضِّرُ حَقِيبَتِي</a:t>
            </a:r>
            <a:endParaRPr lang="ar-SA" sz="1800" dirty="0"/>
          </a:p>
        </p:txBody>
      </p:sp>
      <p:sp>
        <p:nvSpPr>
          <p:cNvPr id="31" name="Shape 28"/>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2" name="Shape 29"/>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Leaving and arriving</a:t>
            </a:r>
            <a:endParaRPr lang="en-US" sz="950" dirty="0"/>
          </a:p>
        </p:txBody>
      </p:sp>
      <p:sp>
        <p:nvSpPr>
          <p:cNvPr id="34" name="Shape 31"/>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أَخْرُجُ مِنَ البَيْتِ</a:t>
            </a:r>
            <a:endParaRPr lang="ar-SA" sz="1800" dirty="0"/>
          </a:p>
        </p:txBody>
      </p:sp>
      <p:sp>
        <p:nvSpPr>
          <p:cNvPr id="36" name="Shape 33"/>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أَسْتَقِلُّ الحَافِلَةَ</a:t>
            </a:r>
            <a:endParaRPr lang="ar-SA" sz="1800" dirty="0"/>
          </a:p>
        </p:txBody>
      </p:sp>
      <p:sp>
        <p:nvSpPr>
          <p:cNvPr id="38" name="Shape 35"/>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أَصِلُ إِلَى المَدْرَسَةِ</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AT-A-L01 · Time and Daily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3, 5, 6, 7</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contains the complete Form V pattern?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أَوْضَأُ</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أَتَوَضَأ</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أَتَوَضَّأُ</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أَخِي ___ لِلْمَدْرَسَةِ.</a:t>
            </a:r>
            <a:endParaRPr lang="ar-SA" sz="150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أَسْتَعِدُّ</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يَسْتَعِدُّ</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تَسْتَعِدُّ</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means “We have breakfast every day”?</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نَحْنُ يَتَنَاوَلُ الإِفْطَارَ.</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نَحْنُ نَتَنَاوَلُ الإِفْطَارَ كُلَّ يَوْمٍ.</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نَتَنَاوَلُ الإِفْطَارَ.</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the frequency adverb used naturally?</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2" charset="-78"/>
                <a:ea typeface="Amiri" pitchFamily="2" charset="-78"/>
                <a:cs typeface="Amiri" pitchFamily="2" charset="-78"/>
              </a:rPr>
              <a:t>أَتَنَاوَلُ عَادَةً الإِفْطَارَ.</a:t>
            </a:r>
            <a:endParaRPr lang="ar-SA" sz="220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2" charset="-78"/>
                <a:ea typeface="Amiri" pitchFamily="2" charset="-78"/>
                <a:cs typeface="Amiri" pitchFamily="2" charset="-78"/>
              </a:rPr>
              <a:t>عَادَةً أَتَنَاوَلُ الإِفْطَارَ.</a:t>
            </a:r>
            <a:endParaRPr lang="ar-SA" sz="220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 can be natural.</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AT-A-L01 · Time and Daily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contains the complete Form V pattern?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أَوْضَأُ</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أَتَوَضَأ</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أَتَوَضَّأُ</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Keep </a:t>
            </a:r>
            <a:pPr algn="l" indent="0" marL="0">
              <a:buNone/>
            </a:pPr>
            <a:r>
              <a:rPr lang="ar-SA" altLang="en-US" sz="1350" dirty="0">
                <a:solidFill>
                  <a:srgbClr val="8A6D1E"/>
                </a:solidFill>
                <a:latin typeface="Amiri" pitchFamily="2" charset="-78"/>
                <a:ea typeface="Amiri" pitchFamily="2" charset="-78"/>
                <a:cs typeface="Amiri" pitchFamily="2" charset="-78"/>
              </a:rPr>
              <a:t>ت</a:t>
            </a:r>
            <a:pPr algn="l" indent="0" marL="0">
              <a:buNone/>
            </a:pPr>
            <a:r>
              <a:rPr lang="en-US" sz="1050" i="1" dirty="0">
                <a:solidFill>
                  <a:srgbClr val="8A6D1E"/>
                </a:solidFill>
                <a:latin typeface="Calibri" pitchFamily="34" charset="0"/>
                <a:cs typeface="Amiri" pitchFamily="2" charset="-78"/>
              </a:rPr>
              <a:t> and the doubled consonant: </a:t>
            </a:r>
            <a:pPr algn="l" indent="0" marL="0">
              <a:buNone/>
            </a:pPr>
            <a:r>
              <a:rPr lang="ar-SA" altLang="en-US" sz="1350" dirty="0">
                <a:solidFill>
                  <a:srgbClr val="8A6D1E"/>
                </a:solidFill>
                <a:latin typeface="Amiri" pitchFamily="2" charset="-78"/>
                <a:ea typeface="Amiri" pitchFamily="2" charset="-78"/>
                <a:cs typeface="Amiri" pitchFamily="2" charset="-78"/>
              </a:rPr>
              <a:t>أَتَوَضَّأُ</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أَخِي ___ لِلْمَدْرَسَةِ.</a:t>
            </a:r>
            <a:endParaRPr lang="ar-SA" sz="150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أَسْتَعِدُّ</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يَسْتَعِدُّ</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تَسْتَعِدُّ</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masculine third-person subject takes </a:t>
            </a:r>
            <a:pPr algn="l" indent="0" marL="0">
              <a:buNone/>
            </a:pPr>
            <a:r>
              <a:rPr lang="ar-SA" altLang="en-US" sz="1350" dirty="0">
                <a:solidFill>
                  <a:srgbClr val="8A6D1E"/>
                </a:solidFill>
                <a:latin typeface="Amiri" pitchFamily="2" charset="-78"/>
                <a:ea typeface="Amiri" pitchFamily="2" charset="-78"/>
                <a:cs typeface="Amiri" pitchFamily="2" charset="-78"/>
              </a:rPr>
              <a:t>يَـ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means “We have breakfast every day”?</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نَحْنُ يَتَنَاوَلُ الإِفْطَارَ.</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نَحْنُ نَتَنَاوَلُ الإِفْطَارَ كُلَّ يَوْمٍ.</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أَنَا نَتَنَاوَلُ الإِفْطَارَ.</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نَحْنُ</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نَـ</a:t>
            </a:r>
            <a:pPr algn="l" indent="0" marL="0">
              <a:buNone/>
            </a:pPr>
            <a:r>
              <a:rPr lang="en-US" sz="1050" i="1" dirty="0">
                <a:solidFill>
                  <a:srgbClr val="8A6D1E"/>
                </a:solidFill>
                <a:latin typeface="Calibri" pitchFamily="34" charset="0"/>
                <a:cs typeface="Amiri" pitchFamily="2" charset="-78"/>
              </a:rPr>
              <a:t>: </a:t>
            </a:r>
            <a:pPr algn="l" indent="0" marL="0">
              <a:buNone/>
            </a:pPr>
            <a:r>
              <a:rPr lang="ar-SA" altLang="en-US" sz="1350" dirty="0">
                <a:solidFill>
                  <a:srgbClr val="8A6D1E"/>
                </a:solidFill>
                <a:latin typeface="Amiri" pitchFamily="2" charset="-78"/>
                <a:ea typeface="Amiri" pitchFamily="2" charset="-78"/>
                <a:cs typeface="Amiri" pitchFamily="2" charset="-78"/>
              </a:rPr>
              <a:t>نَتَنَاوَلُ</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the frequency adverb used naturally?</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2200" dirty="0">
                <a:solidFill>
                  <a:srgbClr val="9AA1AB"/>
                </a:solidFill>
                <a:latin typeface="Amiri" pitchFamily="2" charset="-78"/>
                <a:ea typeface="Amiri" pitchFamily="2" charset="-78"/>
                <a:cs typeface="Amiri" pitchFamily="2" charset="-78"/>
              </a:rPr>
              <a:t>أَتَنَاوَلُ عَادَةً الإِفْطَارَ.</a:t>
            </a:r>
            <a:endParaRPr lang="ar-SA" sz="22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2200" dirty="0">
                <a:solidFill>
                  <a:srgbClr val="9AA1AB"/>
                </a:solidFill>
                <a:latin typeface="Amiri" pitchFamily="2" charset="-78"/>
                <a:ea typeface="Amiri" pitchFamily="2" charset="-78"/>
                <a:cs typeface="Amiri" pitchFamily="2" charset="-78"/>
              </a:rPr>
              <a:t>عَادَةً أَتَنَاوَلُ الإِفْطَارَ.</a:t>
            </a:r>
            <a:endParaRPr lang="ar-SA" sz="22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Both can be natural.</a:t>
            </a:r>
            <a:endParaRPr lang="en-US" sz="125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Arabic allows the adverb near the verb or at the start for emphasis.</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AT-A-L01 · Time and Daily Routine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أَنَا يَسْتَيْقِظُ مُبَكِّرًا.</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Who is the subject? Check the first letter.</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هِيَ يَتَنَاوَلُ الإِفْطَارَ.</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ar-SA" altLang="en-US" sz="1700" dirty="0">
                <a:solidFill>
                  <a:srgbClr val="5A6472"/>
                </a:solidFill>
                <a:latin typeface="Amiri" pitchFamily="2" charset="-78"/>
                <a:ea typeface="Amiri" pitchFamily="2" charset="-78"/>
                <a:cs typeface="Amiri" pitchFamily="2" charset="-78"/>
              </a:rPr>
              <a:t>هِيَ</a:t>
            </a:r>
            <a:pPr algn="l" indent="0" marL="0">
              <a:buNone/>
            </a:pPr>
            <a:r>
              <a:rPr lang="en-US" sz="1300" i="1" dirty="0">
                <a:solidFill>
                  <a:srgbClr val="5A6472"/>
                </a:solidFill>
                <a:latin typeface="Calibri" pitchFamily="34" charset="0"/>
                <a:cs typeface="Amiri" pitchFamily="2" charset="-78"/>
              </a:rPr>
              <a:t> = she. Which prefix?</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أَسْتَعِدُّ ثُمَّ أَوَّلًا أَسْتَيْقِظُ.</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Does the order make sense?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AT-A-L01 · Time and Daily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أَنَا يَسْتَيْقِظُ مُبَكِّرًا.</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أَنَا أَسْتَيْقِظُ مُبَكِّرًا.</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first-person prefix is </a:t>
            </a:r>
            <a:pPr algn="l" indent="0" marL="0">
              <a:buNone/>
            </a:pPr>
            <a:r>
              <a:rPr lang="ar-SA" altLang="en-US" sz="1500" b="1" dirty="0">
                <a:solidFill>
                  <a:srgbClr val="1B3B6F"/>
                </a:solidFill>
                <a:latin typeface="Amiri" pitchFamily="2" charset="-78"/>
                <a:ea typeface="Amiri" pitchFamily="2" charset="-78"/>
                <a:cs typeface="Amiri" pitchFamily="2" charset="-78"/>
              </a:rPr>
              <a:t>أَـ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هِيَ يَتَنَاوَلُ الإِفْطَارَ.</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هِيَ تَتَنَاوَلُ الإِفْطَارَ.</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feminine third-person subject takes </a:t>
            </a:r>
            <a:pPr algn="l" indent="0" marL="0">
              <a:buNone/>
            </a:pPr>
            <a:r>
              <a:rPr lang="ar-SA" altLang="en-US" sz="1500" b="1" dirty="0">
                <a:solidFill>
                  <a:srgbClr val="1B3B6F"/>
                </a:solidFill>
                <a:latin typeface="Amiri" pitchFamily="2" charset="-78"/>
                <a:ea typeface="Amiri" pitchFamily="2" charset="-78"/>
                <a:cs typeface="Amiri" pitchFamily="2" charset="-78"/>
              </a:rPr>
              <a:t>تَـ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أَسْتَعِدُّ ثُمَّ أَوَّلًا أَسْتَيْقِظُ.</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أَوَّلًا أَسْتَيْقِظُ، ثُمَّ أَسْتَعِدُّ.</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Sequence markers must match the real order.</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AT-A-L01 · Time and Daily Routine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busy school morning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the speaker usually wake up?</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6:15</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6:30</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6:45</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much later does the brother wake up?</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ten minutes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hour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half an hour</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speaker do before getting dressed?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eats breakfast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takes the bus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showers and performs wudu</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time is breakfast?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6:50</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7:10</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7:30</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breakfast useful?</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makes the bus arrive.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helps concentration.</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makes school shorter.</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السَّادِسَةِ</a:t>
            </a:r>
            <a:pPr algn="l" indent="0" marL="0">
              <a:lnSpc>
                <a:spcPct val="115000"/>
              </a:lnSpc>
              <a:buNone/>
            </a:pPr>
            <a:r>
              <a:rPr lang="en-US" sz="1250" dirty="0">
                <a:solidFill>
                  <a:srgbClr val="1E6B52"/>
                </a:solidFill>
                <a:latin typeface="Calibri" pitchFamily="34" charset="0"/>
                <a:cs typeface="Amiri" pitchFamily="2" charset="-78"/>
              </a:rPr>
              <a:t> (six)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أَغْتَسِلُ</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الإِفْطَارَ</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AT-A-L01 · Time and Daily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أَسْتَيْقِظُ عَادَةً فِي السَّادِسَةِ وَالرُّبْعِ، وَلٰكِنَّ أَخِي يَسْتَيْقِظُ بَعْدِي بِنِصْفِ سَاعَةٍ.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usually wake up at quarter past six, but my brother wakes up half an hour after me.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أَوَّلًا أَغْتَسِلُ وَأَتَوَضَّأُ، ثُمَّ أَرْتَدِي زِيَّ المَدْرَسَةِ وَأُمَشِّطُ شَعْرِي.</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First I shower and perform wudu, then I put on my school uniform and comb my hair.</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فِي السَّابِعَةِ إِلَّا عَشْرَ دَقَائِقَ أَتَنَاوَلُ إِفْطَارًا خَفِيفًا، وَبَعْدَ ذٰلِكَ أَسْتَعِدُّ لِلْخُرُوجِ.</a:t>
            </a:r>
            <a:endParaRPr lang="ar-SA" sz="19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ten to seven I have a light breakfast, and after that I get ready to leave.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أَسْتَقِلُّ الحَافِلَةَ فِي السَّابِعَةِ وَالنِّصْفِ، وَأَصِلُ إِلَى المَدْرَسَةِ قَبْلَ بَدْءِ الدِّرَاسَةِ بِعَشْرِ دَقَائِقَ.</a:t>
            </a:r>
            <a:endParaRPr lang="ar-SA" sz="17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take the bus at half past seven, and I arrive at school ten minutes before lessons begin.</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أَحْيَانًا أَشْعُرُ بِالنُّعَاسِ، لٰكِنَّ الإِفْطَارَ يُسَاعِدُنِي عَلَى التَّرْكِيزِ.</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Sometimes I feel sleepy, but breakfast helps me concentrate.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AT-A-L01 · Time and Daily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the speaker usually wake up?</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6:15</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6:30</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6:45</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فِي السَّادِسَةِ وَالرُّبْعِ = 6:15.</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much later does the brother wake up?</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ten minutes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 hour</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half an hour</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بَعْدِي بِنِصْفِ سَاعَةٍ.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speaker do before getting dressed?</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eats breakfast</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takes the bus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showers and performs wudu</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أَوَّلًا أَغْتَسِلُ وَأَتَوَضَّأُ.</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time is breakfast?</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6:50</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7:10</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7:30</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فِي السَّابِعَةِ إِلَّا عَشْرَ دَقَائِقَ = 6:50.</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breakfast useful?</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makes the bus arrive.</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helps concentration.</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makes school shorter.</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الإِفْطَارُ يُسَاعِدُنِي عَلَى التَّرْكِيزِ.</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السَّادِسَةِ</a:t>
            </a:r>
            <a:pPr algn="l" indent="0" marL="0">
              <a:lnSpc>
                <a:spcPct val="115000"/>
              </a:lnSpc>
              <a:buNone/>
            </a:pPr>
            <a:r>
              <a:rPr lang="en-US" sz="1250" dirty="0">
                <a:solidFill>
                  <a:srgbClr val="1E6B52"/>
                </a:solidFill>
                <a:latin typeface="Calibri" pitchFamily="34" charset="0"/>
                <a:cs typeface="Amiri" pitchFamily="2" charset="-78"/>
              </a:rPr>
              <a:t> (six)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أَغْتَسِلُ</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الإِفْطَارَ</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AT-A-L01 · Time and Daily Routine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TOPIC A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Routine sequencing race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AT-A-L01</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TOPIC A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Routine sequencing race</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Reorder mixed-up routine cards, add realistic times, then retell the day with accurate present-tense verbs and sequencing expressions.</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Teacher posts 6 mixed routine cards (Arabic verbs) in the chat.</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60s: everyone types the order 1–6 and adds one realistic time.</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Two students retell the day on the mic with </a:t>
            </a:r>
            <a:pPr algn="l" indent="0" marL="0">
              <a:buNone/>
            </a:pPr>
            <a:r>
              <a:rPr lang="ar-SA" altLang="en-US" sz="1500" dirty="0">
                <a:solidFill>
                  <a:srgbClr val="1F2A37"/>
                </a:solidFill>
                <a:latin typeface="Amiri" pitchFamily="2" charset="-78"/>
                <a:ea typeface="Amiri" pitchFamily="2" charset="-78"/>
                <a:cs typeface="Amiri" pitchFamily="2" charset="-78"/>
              </a:rPr>
              <a:t>أَوَّلًا</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ثُمَّ</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بَعْدَ ذٰلِكَ</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Class checks the verbs: I / he / she endings.</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Order the cards, then read 3 of them aloud as “I” sentences with a time.</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Retell 5 steps with times and 3 sequencing words.</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Retell the day about a brother or sister (</a:t>
            </a:r>
            <a:pPr algn="l" indent="0" marL="0">
              <a:buNone/>
            </a:pPr>
            <a:r>
              <a:rPr lang="ar-SA" altLang="en-US" sz="1500" dirty="0">
                <a:solidFill>
                  <a:srgbClr val="1F2A37"/>
                </a:solidFill>
                <a:latin typeface="Amiri" pitchFamily="2" charset="-78"/>
                <a:ea typeface="Amiri" pitchFamily="2" charset="-78"/>
                <a:cs typeface="Amiri" pitchFamily="2" charset="-78"/>
              </a:rPr>
              <a:t>يَـ / تَـ</a:t>
            </a:r>
            <a:pPr algn="l" indent="0" marL="0">
              <a:buNone/>
            </a:pPr>
            <a:r>
              <a:rPr lang="en-US" sz="1150" dirty="0">
                <a:solidFill>
                  <a:srgbClr val="1F2A37"/>
                </a:solidFill>
                <a:latin typeface="Calibri" pitchFamily="34" charset="0"/>
                <a:cs typeface="Amiri" pitchFamily="2" charset="-78"/>
              </a:rPr>
              <a:t>) and add one frequency word.</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26771"/>
          </a:xfrm>
          <a:prstGeom prst="rect">
            <a:avLst/>
          </a:prstGeom>
          <a:noFill/>
          <a:ln/>
        </p:spPr>
        <p:txBody>
          <a:bodyPr wrap="square" lIns="0" tIns="0" rIns="0" bIns="0" rtlCol="0" anchor="ctr"/>
          <a:lstStyle/>
          <a:p>
            <a:pPr rtl="1" algn="r" indent="0" marL="0">
              <a:buNone/>
            </a:pPr>
            <a:r>
              <a:rPr lang="ar-SA" altLang="en-US" sz="1050" b="1" dirty="0">
                <a:solidFill>
                  <a:srgbClr val="1B3B6F"/>
                </a:solidFill>
                <a:latin typeface="Amiri" pitchFamily="2" charset="-78"/>
                <a:ea typeface="Amiri" pitchFamily="2" charset="-78"/>
                <a:cs typeface="Amiri" pitchFamily="2" charset="-78"/>
              </a:rPr>
              <a:t>أَوَّلًا</a:t>
            </a:r>
            <a:endParaRPr lang="ar-SA" sz="1050" dirty="0"/>
          </a:p>
        </p:txBody>
      </p:sp>
      <p:sp>
        <p:nvSpPr>
          <p:cNvPr id="48" name="Text 45"/>
          <p:cNvSpPr txBox="1"/>
          <p:nvPr/>
        </p:nvSpPr>
        <p:spPr>
          <a:xfrm>
            <a:off x="6492240" y="5138928"/>
            <a:ext cx="2194560" cy="226771"/>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first</a:t>
            </a:r>
            <a:endParaRPr lang="en-US" sz="1000" dirty="0"/>
          </a:p>
        </p:txBody>
      </p:sp>
      <p:sp>
        <p:nvSpPr>
          <p:cNvPr id="49" name="Text 46"/>
          <p:cNvSpPr txBox="1"/>
          <p:nvPr/>
        </p:nvSpPr>
        <p:spPr>
          <a:xfrm>
            <a:off x="8732520" y="5365699"/>
            <a:ext cx="2880360" cy="226771"/>
          </a:xfrm>
          <a:prstGeom prst="rect">
            <a:avLst/>
          </a:prstGeom>
          <a:noFill/>
          <a:ln/>
        </p:spPr>
        <p:txBody>
          <a:bodyPr wrap="square" lIns="0" tIns="0" rIns="0" bIns="0" rtlCol="0" anchor="ctr"/>
          <a:lstStyle/>
          <a:p>
            <a:pPr rtl="1" algn="r" indent="0" marL="0">
              <a:buNone/>
            </a:pPr>
            <a:r>
              <a:rPr lang="ar-SA" altLang="en-US" sz="1050" b="1" dirty="0">
                <a:solidFill>
                  <a:srgbClr val="1B3B6F"/>
                </a:solidFill>
                <a:latin typeface="Amiri" pitchFamily="2" charset="-78"/>
                <a:ea typeface="Amiri" pitchFamily="2" charset="-78"/>
                <a:cs typeface="Amiri" pitchFamily="2" charset="-78"/>
              </a:rPr>
              <a:t>ثُمَّ</a:t>
            </a:r>
            <a:endParaRPr lang="ar-SA" sz="1050" dirty="0"/>
          </a:p>
        </p:txBody>
      </p:sp>
      <p:sp>
        <p:nvSpPr>
          <p:cNvPr id="50" name="Text 47"/>
          <p:cNvSpPr txBox="1"/>
          <p:nvPr/>
        </p:nvSpPr>
        <p:spPr>
          <a:xfrm>
            <a:off x="6492240" y="5365699"/>
            <a:ext cx="2194560" cy="226771"/>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then</a:t>
            </a:r>
            <a:endParaRPr lang="en-US" sz="1000" dirty="0"/>
          </a:p>
        </p:txBody>
      </p:sp>
      <p:sp>
        <p:nvSpPr>
          <p:cNvPr id="51" name="Text 48"/>
          <p:cNvSpPr txBox="1"/>
          <p:nvPr/>
        </p:nvSpPr>
        <p:spPr>
          <a:xfrm>
            <a:off x="8732520" y="5592470"/>
            <a:ext cx="2880360" cy="226771"/>
          </a:xfrm>
          <a:prstGeom prst="rect">
            <a:avLst/>
          </a:prstGeom>
          <a:noFill/>
          <a:ln/>
        </p:spPr>
        <p:txBody>
          <a:bodyPr wrap="square" lIns="0" tIns="0" rIns="0" bIns="0" rtlCol="0" anchor="ctr"/>
          <a:lstStyle/>
          <a:p>
            <a:pPr rtl="1" algn="r" indent="0" marL="0">
              <a:buNone/>
            </a:pPr>
            <a:r>
              <a:rPr lang="ar-SA" altLang="en-US" sz="1050" b="1" dirty="0">
                <a:solidFill>
                  <a:srgbClr val="1B3B6F"/>
                </a:solidFill>
                <a:latin typeface="Amiri" pitchFamily="2" charset="-78"/>
                <a:ea typeface="Amiri" pitchFamily="2" charset="-78"/>
                <a:cs typeface="Amiri" pitchFamily="2" charset="-78"/>
              </a:rPr>
              <a:t>بَعْدَ ذٰلِكَ</a:t>
            </a:r>
            <a:endParaRPr lang="ar-SA" sz="1050" dirty="0"/>
          </a:p>
        </p:txBody>
      </p:sp>
      <p:sp>
        <p:nvSpPr>
          <p:cNvPr id="52" name="Text 49"/>
          <p:cNvSpPr txBox="1"/>
          <p:nvPr/>
        </p:nvSpPr>
        <p:spPr>
          <a:xfrm>
            <a:off x="6492240" y="5592470"/>
            <a:ext cx="2194560" cy="226771"/>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after that</a:t>
            </a:r>
            <a:endParaRPr lang="en-US" sz="1000" dirty="0"/>
          </a:p>
        </p:txBody>
      </p:sp>
      <p:sp>
        <p:nvSpPr>
          <p:cNvPr id="53" name="Text 50"/>
          <p:cNvSpPr txBox="1"/>
          <p:nvPr/>
        </p:nvSpPr>
        <p:spPr>
          <a:xfrm>
            <a:off x="8732520" y="5819242"/>
            <a:ext cx="2880360" cy="226771"/>
          </a:xfrm>
          <a:prstGeom prst="rect">
            <a:avLst/>
          </a:prstGeom>
          <a:noFill/>
          <a:ln/>
        </p:spPr>
        <p:txBody>
          <a:bodyPr wrap="square" lIns="0" tIns="0" rIns="0" bIns="0" rtlCol="0" anchor="ctr"/>
          <a:lstStyle/>
          <a:p>
            <a:pPr rtl="1" algn="r" indent="0" marL="0">
              <a:buNone/>
            </a:pPr>
            <a:r>
              <a:rPr lang="ar-SA" altLang="en-US" sz="1050" b="1" dirty="0">
                <a:solidFill>
                  <a:srgbClr val="1B3B6F"/>
                </a:solidFill>
                <a:latin typeface="Amiri" pitchFamily="2" charset="-78"/>
                <a:ea typeface="Amiri" pitchFamily="2" charset="-78"/>
                <a:cs typeface="Amiri" pitchFamily="2" charset="-78"/>
              </a:rPr>
              <a:t>فِي السَّاعَةِ السَّابِعَةِ</a:t>
            </a:r>
            <a:endParaRPr lang="ar-SA" sz="1050" dirty="0"/>
          </a:p>
        </p:txBody>
      </p:sp>
      <p:sp>
        <p:nvSpPr>
          <p:cNvPr id="54" name="Text 51"/>
          <p:cNvSpPr txBox="1"/>
          <p:nvPr/>
        </p:nvSpPr>
        <p:spPr>
          <a:xfrm>
            <a:off x="6492240" y="5819242"/>
            <a:ext cx="2194560" cy="226771"/>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at seven o’clock</a:t>
            </a:r>
            <a:endParaRPr lang="en-US" sz="1000" dirty="0"/>
          </a:p>
        </p:txBody>
      </p:sp>
      <p:sp>
        <p:nvSpPr>
          <p:cNvPr id="55" name="Text 52"/>
          <p:cNvSpPr txBox="1"/>
          <p:nvPr/>
        </p:nvSpPr>
        <p:spPr>
          <a:xfrm>
            <a:off x="8732520" y="6046013"/>
            <a:ext cx="2880360" cy="226771"/>
          </a:xfrm>
          <a:prstGeom prst="rect">
            <a:avLst/>
          </a:prstGeom>
          <a:noFill/>
          <a:ln/>
        </p:spPr>
        <p:txBody>
          <a:bodyPr wrap="square" lIns="0" tIns="0" rIns="0" bIns="0" rtlCol="0" anchor="ctr"/>
          <a:lstStyle/>
          <a:p>
            <a:pPr rtl="1" algn="r" indent="0" marL="0">
              <a:buNone/>
            </a:pPr>
            <a:r>
              <a:rPr lang="ar-SA" altLang="en-US" sz="1050" b="1" dirty="0">
                <a:solidFill>
                  <a:srgbClr val="1B3B6F"/>
                </a:solidFill>
                <a:latin typeface="Amiri" pitchFamily="2" charset="-78"/>
                <a:ea typeface="Amiri" pitchFamily="2" charset="-78"/>
                <a:cs typeface="Amiri" pitchFamily="2" charset="-78"/>
              </a:rPr>
              <a:t>أَخِيرًا</a:t>
            </a:r>
            <a:endParaRPr lang="ar-SA" sz="1050" dirty="0"/>
          </a:p>
        </p:txBody>
      </p:sp>
      <p:sp>
        <p:nvSpPr>
          <p:cNvPr id="56" name="Text 53"/>
          <p:cNvSpPr txBox="1"/>
          <p:nvPr/>
        </p:nvSpPr>
        <p:spPr>
          <a:xfrm>
            <a:off x="6492240" y="6046013"/>
            <a:ext cx="2194560" cy="226771"/>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finally</a:t>
            </a:r>
            <a:endParaRPr lang="en-US" sz="100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AT-A-L01 · Time and Daily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Describe and compare morning routines</a:t>
            </a:r>
            <a:endParaRPr lang="en-US" sz="24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AT-A-L01</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تَفْعَلُ فِي الصَّبَاحِ؟</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رُوتِينَكَ الصَّبَاحِيَّ بِالتَّرْتِيبِ.</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مَتَى تَسْتَيْقِظُ فِي أَيَّامِ المَدْرَسَةِ وَفِي نِهَايَةِ الأُسْبُوعِ؟</a:t>
            </a:r>
            <a:endParaRPr lang="ar-SA" sz="1800" dirty="0"/>
          </a:p>
        </p:txBody>
      </p:sp>
      <p:sp>
        <p:nvSpPr>
          <p:cNvPr id="44" name="Shape 41"/>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6" name="Text 43"/>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7" name="Text 44"/>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قَارِنْ بَيْنَ رُوتِينِكَ وَرُوتِينِ شَخْصٍ آخَرَ فِي أُسْرَتِكَ.</a:t>
            </a:r>
            <a:endParaRPr lang="ar-SA" sz="1800" dirty="0"/>
          </a:p>
        </p:txBody>
      </p:sp>
      <p:sp>
        <p:nvSpPr>
          <p:cNvPr id="48" name="Shape 45"/>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50" name="Shape 47"/>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أَوَّلًا أَسْتَيْقِظُ، ثُمَّ ___ .</a:t>
            </a:r>
            <a:endParaRPr lang="ar-SA" sz="1600" dirty="0"/>
          </a:p>
        </p:txBody>
      </p:sp>
      <p:sp>
        <p:nvSpPr>
          <p:cNvPr id="53" name="Shape 50"/>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4" name="Text 51"/>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5" name="Text 52"/>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أَسْتَيْقِظُ فِي ___ ، وَبَعْدَ ذٰلِكَ ___ .</a:t>
            </a:r>
            <a:endParaRPr lang="ar-SA" sz="1600" dirty="0"/>
          </a:p>
        </p:txBody>
      </p:sp>
      <p:sp>
        <p:nvSpPr>
          <p:cNvPr id="56" name="Shape 53"/>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7" name="Text 54"/>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8" name="Text 55"/>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أَنَا ___ ، وَلٰكِنَّ أُخْتِي تَـ ___ .</a:t>
            </a:r>
            <a:endParaRPr lang="ar-SA" sz="1600" dirty="0"/>
          </a:p>
        </p:txBody>
      </p:sp>
      <p:sp>
        <p:nvSpPr>
          <p:cNvPr id="59" name="Shape 56"/>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60" name="Text 57"/>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 SUM UP</a:t>
            </a:r>
            <a:endParaRPr lang="en-US" sz="800" dirty="0"/>
          </a:p>
        </p:txBody>
      </p:sp>
      <p:sp>
        <p:nvSpPr>
          <p:cNvPr id="61" name="Text 58"/>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هُوَ يَـ ___ / هِيَ تَـ ___ .</a:t>
            </a:r>
            <a:endParaRPr lang="ar-SA" sz="1600" dirty="0"/>
          </a:p>
        </p:txBody>
      </p:sp>
      <p:sp>
        <p:nvSpPr>
          <p:cNvPr id="62" name="Shape 59"/>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4" name="Shape 61"/>
          <p:cNvSpPr/>
          <p:nvPr/>
        </p:nvSpPr>
        <p:spPr>
          <a:xfrm>
            <a:off x="11274552" y="5559552"/>
            <a:ext cx="292608" cy="292608"/>
          </a:xfrm>
          <a:prstGeom prst="ellipse">
            <a:avLst/>
          </a:prstGeom>
          <a:solidFill>
            <a:srgbClr val="1E6B52"/>
          </a:solidFill>
          <a:ln w="12700">
            <a:solidFill>
              <a:srgbClr val="1E6B52"/>
            </a:solidFill>
            <a:prstDash val="solid"/>
          </a:ln>
        </p:spPr>
      </p:sp>
      <p:sp>
        <p:nvSpPr>
          <p:cNvPr id="65" name="Text 62"/>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6" name="Text 63"/>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مَتَى تَسْتَيْقِظُ عَادَةً؟</a:t>
            </a:r>
            <a:endParaRPr lang="ar-SA" sz="1550" dirty="0"/>
          </a:p>
        </p:txBody>
      </p:sp>
      <p:sp>
        <p:nvSpPr>
          <p:cNvPr id="67" name="Text 64"/>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When do you usually wake up?</a:t>
            </a:r>
            <a:endParaRPr lang="en-US" sz="950" dirty="0"/>
          </a:p>
        </p:txBody>
      </p:sp>
      <p:sp>
        <p:nvSpPr>
          <p:cNvPr id="68" name="Shape 65"/>
          <p:cNvSpPr/>
          <p:nvPr/>
        </p:nvSpPr>
        <p:spPr>
          <a:xfrm>
            <a:off x="11274552" y="5925312"/>
            <a:ext cx="292608" cy="292608"/>
          </a:xfrm>
          <a:prstGeom prst="ellipse">
            <a:avLst/>
          </a:prstGeom>
          <a:solidFill>
            <a:srgbClr val="1E6B52"/>
          </a:solidFill>
          <a:ln w="12700">
            <a:solidFill>
              <a:srgbClr val="1E6B52"/>
            </a:solidFill>
            <a:prstDash val="solid"/>
          </a:ln>
        </p:spPr>
      </p:sp>
      <p:sp>
        <p:nvSpPr>
          <p:cNvPr id="69" name="Text 66"/>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70" name="Text 67"/>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أَسْتَيْقِظُ فِي السَّادِسَةِ وَالنِّصْفِ، ثُمَّ أَغْتَسِلُ وَأَتَنَاوَلُ الإِفْطَارَ. أُفَضِّلُ أَنْ أَسْتَيْقِظَ مُبَكِّرًا لِأَنَّنِي أَصِلُ إِلَى المَدْرَسَةِ هَادِئًا.</a:t>
            </a:r>
            <a:endParaRPr lang="ar-SA" sz="1550" dirty="0"/>
          </a:p>
        </p:txBody>
      </p:sp>
      <p:sp>
        <p:nvSpPr>
          <p:cNvPr id="71" name="Text 68"/>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I wake up at half past six, then I shower and have breakfast. I prefer to wake up early because I arrive at school calm.</a:t>
            </a:r>
            <a:endParaRPr lang="en-US" sz="7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AT-A-L01 · Time and Daily Routine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Build six accurate routine sentences using the model chunks.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Frames + word bank: six morning actions in the “I” form with أَوَّلًا / ثُمَّ.</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8–10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Compare two routines and vary the subject pronouns.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Add exact times and frequency words; describe one family member with يَـ / تَـ.</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90–110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Explain how routine affects concentration or wellbeing using a developed opinion.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compare your real routine with an improved routine; end with an opinion and reason.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AT-A-L01 · Time and Daily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عَادَةً أَسْتَيْقِظُ فِي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usually wake up at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بَعْدَ ذٰلِكَ ______ لِلْمَدْرَسَةِ.</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After that I get ready for school.</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أَخِي يَـ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brother wakes up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أُخْتِي تَـ ______ الإِفْطَارَ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sister has breakfast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نَادِرًا مَا ______ مِنْ دُونِ إِفْطَارٍ.</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rarely leave without breakfast.</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أَوَّلًا أَسْتَيْقِظُ فِي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First I wake up at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ثُمَّ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Then I shower.</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أَرْتَدِي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get dressed.</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أَتَنَاوَلُ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have breakfast.</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أَخِيرًا ______ مِنَ البَيْتِ.</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Finally I leave the house.</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أَسْتَيْقِظُ  ·  أَغْتَسِلُ  ·  أَتَوَضَّأُ  ·  أَرْتَدِي مَلَابِسِي  ·  أُنَظِّفُ أَسْنَانِي  ·  أَتَنَاوَلُ  ·  أَسْتَعِدُّ  ·  أَخْرُجُ  ·  أَوَّلًا  ·  ثُمَّ  ·  بَعْدَ ذٰلِكَ  ·  أَخِيرًا  ·  عَادَةً  ·  أَحْيَانًا</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AT-A-L01 · Time and Daily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90–110 words comparing your real morning routine with an improved routine you would like to follow.</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least six different routine verbs.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Include at least two derived verbs from different patterns accurately.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four sequence or frequency expressions.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Mention an exact time and one contrast.</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End with an opinion and reason.</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وَلٰكِنَّنِي أَحْيَانًا أَبْقَى فِي السَّرِيرِ</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but sometimes I stay in bed</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أُرِيدُ أَنْ أُحَسِّنَ رُوتِينِي</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want to improve my routine</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الأَفْضَلِ أَنْ أَضَعَ هَاتِفِي بَعِيدًا</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 is better to put my phone away</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أُجَهِّزُ حَقِيبَتِي لَيْلًا</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prepare my bag at night</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ea typeface="Amiri" pitchFamily="2" charset="-78"/>
                <a:cs typeface="Amiri" pitchFamily="2" charset="-78"/>
              </a:rPr>
              <a:t>فِي رَأْيِي، الرُّوتِينُ المُنَظَّمُ يَجْعَلُ اليَوْمَ أَهْدَأَ</a:t>
            </a:r>
            <a:endParaRPr lang="ar-SA" sz="155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my opinion, an organised routine makes the day calmer</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AT-A-L01 · Time and Daily Routine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أَسْتَيْقِظُ عَادَةً فِي السَّادِسَةِ وَالنِّصْفِ، وَلٰكِنَّنِي أَحْيَانًا أَبْقَى فِي السَّرِيرِ عَشْرَ دَقَائِقَ أُخْرَى. أَوَّلًا أَغْتَسِلُ وَأَتَوَضَّأُ، ثُمَّ أَرْتَدِي مَلَابِسِي وَأَتَنَاوَلُ الإِفْطَارَ. بَعْدَ ذٰلِكَ أَسْتَعِدُّ لِلْمَدْرَسَةِ وَأَخْرُجُ مِنَ البَيْتِ. أُرِيدُ أَنْ أُحَسِّنَ رُوتِينِي؛ فَمِنَ الأَفْضَلِ أَنْ أَضَعَ هَاتِفِي بَعِيدًا وَأَنْ أُجَهِّزَ حَقِيبَتِي لَيْلًا. فِي رَأْيِي، الرُّوتِينُ المُنَظَّمُ يَجْعَلُ اليَوْمَ أَهْدَأَ وَأَكْثَرَ نَجَاحًا.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usually wake up at half past six, but sometimes I stay in bed another ten minutes. First I shower and perform wudu, then I get dressed and have breakfast. After that I get ready for school and leave the house. I want to improve my routine: it is better to put my phone away and prepare my bag at night. In my opinion, an organised routine makes the day calmer and more successful.</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six routine verbs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Form X verb</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four sequence / frequency words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an opinion + reason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AT-A-L01 · Time and Daily Routine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six morning verbs in the “I” form (</a:t>
            </a:r>
            <a:pPr algn="l" indent="0" marL="0">
              <a:buNone/>
            </a:pPr>
            <a:r>
              <a:rPr lang="ar-SA" altLang="en-US" sz="1700" dirty="0">
                <a:solidFill>
                  <a:srgbClr val="1F2A37"/>
                </a:solidFill>
                <a:latin typeface="Amiri" pitchFamily="2" charset="-78"/>
                <a:ea typeface="Amiri" pitchFamily="2" charset="-78"/>
                <a:cs typeface="Amiri" pitchFamily="2" charset="-78"/>
              </a:rPr>
              <a:t>أَـ</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ordered my routine with </a:t>
            </a:r>
            <a:pPr algn="l" indent="0" marL="0">
              <a:buNone/>
            </a:pPr>
            <a:r>
              <a:rPr lang="ar-SA" altLang="en-US" sz="1700" dirty="0">
                <a:solidFill>
                  <a:srgbClr val="1F2A37"/>
                </a:solidFill>
                <a:latin typeface="Amiri" pitchFamily="2" charset="-78"/>
                <a:ea typeface="Amiri" pitchFamily="2" charset="-78"/>
                <a:cs typeface="Amiri" pitchFamily="2" charset="-78"/>
              </a:rPr>
              <a:t>أَوَّلًا / ثُمَّ / أَخِيرًا</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changed the prefix for another person (</a:t>
            </a:r>
            <a:pPr algn="l" indent="0" marL="0">
              <a:buNone/>
            </a:pPr>
            <a:r>
              <a:rPr lang="ar-SA" altLang="en-US" sz="1700" dirty="0">
                <a:solidFill>
                  <a:srgbClr val="1F2A37"/>
                </a:solidFill>
                <a:latin typeface="Amiri" pitchFamily="2" charset="-78"/>
                <a:ea typeface="Amiri" pitchFamily="2" charset="-78"/>
                <a:cs typeface="Amiri" pitchFamily="2" charset="-78"/>
              </a:rPr>
              <a:t>يَـ / تَـ / نَـ</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added an exact time and a frequency word.</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kept every derived verb whole (</a:t>
            </a:r>
            <a:pPr algn="l" indent="0" marL="0">
              <a:buNone/>
            </a:pPr>
            <a:r>
              <a:rPr lang="ar-SA" altLang="en-US" sz="1700" dirty="0">
                <a:solidFill>
                  <a:srgbClr val="1F2A37"/>
                </a:solidFill>
                <a:latin typeface="Amiri" pitchFamily="2" charset="-78"/>
                <a:ea typeface="Amiri" pitchFamily="2" charset="-78"/>
                <a:cs typeface="Amiri" pitchFamily="2" charset="-78"/>
              </a:rPr>
              <a:t>أَسْتَيْقِظُ</a:t>
            </a:r>
            <a:pPr algn="l" indent="0" marL="0">
              <a:buNone/>
            </a:pPr>
            <a:r>
              <a:rPr lang="en-US" sz="1300" dirty="0">
                <a:solidFill>
                  <a:srgbClr val="1F2A37"/>
                </a:solidFill>
                <a:latin typeface="Calibri" pitchFamily="34" charset="0"/>
                <a:cs typeface="Amiri" pitchFamily="2" charset="-78"/>
              </a:rPr>
              <a:t>, </a:t>
            </a:r>
            <a:pPr algn="l" indent="0" marL="0">
              <a:buNone/>
            </a:pPr>
            <a:r>
              <a:rPr lang="ar-SA" altLang="en-US" sz="1700" dirty="0">
                <a:solidFill>
                  <a:srgbClr val="1F2A37"/>
                </a:solidFill>
                <a:latin typeface="Amiri" pitchFamily="2" charset="-78"/>
                <a:ea typeface="Amiri" pitchFamily="2" charset="-78"/>
                <a:cs typeface="Amiri" pitchFamily="2" charset="-78"/>
              </a:rPr>
              <a:t>أَتَنَاوَلُ</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AT-A-L01 · Time and Daily Routine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means “I get ready”?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أَسْتَعِدُّ</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أَسْتَيْقِظُ</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أَسْتَقِلُّ</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female form.</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يَغْتَسِلُ.</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تَغْتَسِلُ.</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أَغْتَسِلُ.</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sequence.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ea typeface="Amiri" pitchFamily="2" charset="-78"/>
                <a:cs typeface="Amiri" pitchFamily="2" charset="-78"/>
              </a:rPr>
              <a:t>أَوَّلًا أَسْتَيْقِظُ، ثُمَّ أَتَنَاوَلُ الإِفْطَارَ.</a:t>
            </a:r>
            <a:endParaRPr lang="ar-SA" sz="18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ea typeface="Amiri" pitchFamily="2" charset="-78"/>
                <a:cs typeface="Amiri" pitchFamily="2" charset="-78"/>
              </a:rPr>
              <a:t>ثُمَّ أَسْتَيْقِظُ أَوَّلًا.</a:t>
            </a:r>
            <a:endParaRPr lang="ar-SA" sz="18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ea typeface="Amiri" pitchFamily="2" charset="-78"/>
                <a:cs typeface="Amiri" pitchFamily="2" charset="-78"/>
              </a:rPr>
              <a:t>أَخِيرًا أَسْتَيْقِظُ قَبْلَ أَنْ أَنَامَ.</a:t>
            </a:r>
            <a:endParaRPr lang="ar-SA" sz="18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47</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AT-A-L01 · Time and Daily Routine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means “I get ready”?</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أَسْتَعِدُّ</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أَسْتَيْقِظُ</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أَسْتَقِلُّ</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أَسْتَعِدُّ</a:t>
            </a:r>
            <a:pPr algn="l" indent="0" marL="0">
              <a:buNone/>
            </a:pPr>
            <a:r>
              <a:rPr lang="en-US" sz="1050" i="1" dirty="0">
                <a:solidFill>
                  <a:srgbClr val="8A6D1E"/>
                </a:solidFill>
                <a:latin typeface="Calibri" pitchFamily="34" charset="0"/>
                <a:cs typeface="Amiri" pitchFamily="2" charset="-78"/>
              </a:rPr>
              <a:t> = I get ready.</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female form.</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هِيَ يَغْتَسِلُ.</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هِيَ تَغْتَسِلُ.</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هِيَ أَغْتَسِلُ.</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هِيَ</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تَـ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sequence.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850" b="1" dirty="0">
                <a:solidFill>
                  <a:srgbClr val="1F2A37"/>
                </a:solidFill>
                <a:latin typeface="Amiri" pitchFamily="2" charset="-78"/>
                <a:ea typeface="Amiri" pitchFamily="2" charset="-78"/>
                <a:cs typeface="Amiri" pitchFamily="2" charset="-78"/>
              </a:rPr>
              <a:t>أَوَّلًا أَسْتَيْقِظُ، ثُمَّ أَتَنَاوَلُ الإِفْطَارَ.</a:t>
            </a:r>
            <a:endParaRPr lang="ar-SA" sz="18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850" dirty="0">
                <a:solidFill>
                  <a:srgbClr val="9AA1AB"/>
                </a:solidFill>
                <a:latin typeface="Amiri" pitchFamily="2" charset="-78"/>
                <a:ea typeface="Amiri" pitchFamily="2" charset="-78"/>
                <a:cs typeface="Amiri" pitchFamily="2" charset="-78"/>
              </a:rPr>
              <a:t>ثُمَّ أَسْتَيْقِظُ أَوَّلًا.</a:t>
            </a:r>
            <a:endParaRPr lang="ar-SA" sz="18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850" dirty="0">
                <a:solidFill>
                  <a:srgbClr val="9AA1AB"/>
                </a:solidFill>
                <a:latin typeface="Amiri" pitchFamily="2" charset="-78"/>
                <a:ea typeface="Amiri" pitchFamily="2" charset="-78"/>
                <a:cs typeface="Amiri" pitchFamily="2" charset="-78"/>
              </a:rPr>
              <a:t>أَخِيرًا أَسْتَيْقِظُ قَبْلَ أَنْ أَنَامَ.</a:t>
            </a:r>
            <a:endParaRPr lang="ar-SA" sz="18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order is logical and grammatically complete.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47</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AT-A-L01 · Time and Daily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morning routine that changed</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فِي العَامِ المَاضِي كُنْتُ أَسْتَيْقِظُ مُتَأَخِّرًا، فَكُنْتُ أَخْرُجُ مِنَ البَيْتِ بِعَجَلَةٍ وَأَصِلُ إِلَى المَدْرَسَةِ مُتْعَبًا. أَمَّا الآنَ فَقَدْ نَظَّمْتُ رُوتِينِي. أَضَعُ المُنَبِّهَ بَعِيدًا عَنِ السَّرِيرِ، وَأَسْتَيْقِظُ فِي السَّادِسَةِ وَالنِّصْفِ. بَعْدَ أَنْ أَغْتَسِلَ وَأَرْتَدِيَ مَلَابِسِي، أَتَنَاوَلُ الإِفْطَارَ وَأُرَاجِعُ حَقِيبَتِي. لَا أَسْتَعْمِلُ هَاتِفِي فِي الصَّبَاحِ إِلَّا لِمُرَاجَعَةِ الوَقْتِ. هٰذَا التَّغْيِيرُ جَعَلَنِي أَكْثَرَ نَشَاطًا وَأَقَلَّ تَوَتُّرًا.</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فِي العَامِ المَاضِي</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last year</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كُنْتُ أَسْتَيْقِظُ</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used to wake up</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بِعَجَلَةٍ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in a hurry</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مُتْعَبًا</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tired</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أَمَّا الآنَ</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as for now</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نَظَّمْتُ</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organised</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أُرَاجِعُ حَقِيبَتِي</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check my bag</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إِلَّا لِـ</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except for</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أَكْثَرَ نَشَاطًا</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more energetic</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أَقَلَّ تَوَتُّرًا</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less stressed</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47</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AT-A-L01 · Time and Daily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AT-A-L01</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problem did the writer have last year?</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missing breakfast because of sport</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waking late and rushing</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travelling by train</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the alarm placed now?</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under the pillow</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kitchen</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far from the bed</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after washing and dressing?</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breakfast and checking the bag</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phone games</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returning to bed</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phone used in the morning?</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 social media</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to check the time</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watch videos</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two effects did the change have?</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more energetic and less stressed</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more tired and late</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more hungry and bored</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Which phrase signals contrast between past and now?</a:t>
            </a:r>
            <a:endParaRPr lang="en-US" sz="110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بَعْدَ أَنْ</a:t>
            </a:r>
            <a:endParaRPr lang="ar-SA" sz="20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إِلَّا لِـ</a:t>
            </a:r>
            <a:endParaRPr lang="ar-SA" sz="20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أَمَّا الآنَ</a:t>
            </a:r>
            <a:endParaRPr lang="ar-SA" sz="20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47</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AT-A-L01 · Time and Daily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AT-A-L01</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problem did the writer have last year?</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missing breakfast because of sport</a:t>
            </a:r>
            <a:endParaRPr lang="en-US" sz="11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waking late and rushing</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travelling by train</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first sentence describes waking late and leaving in a hurry.</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the alarm placed now?</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under the pillow</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the kitchen</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far from the bed</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أَضَعُ المُنَبِّهَ بَعِيدًا عَنِ السَّرِيرِ.</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after washing and dressing?</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breakfast and checking the bag</a:t>
            </a:r>
            <a:endParaRPr lang="en-US" sz="11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phone games</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returning to bed</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writer eats breakfast and reviews the school bag.</a:t>
            </a:r>
            <a:endParaRPr lang="en-US" sz="10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phone used in the morning?</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for social media</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only to check the time</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watch videos</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إِلَّا لِمُرَاجَعَةِ الوَقْتِ.</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two effects did the change have?</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more energetic and less stressed</a:t>
            </a:r>
            <a:endParaRPr lang="en-US" sz="11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more tired and late</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more hungry and bored</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أَكْثَرَ نَشَاطًا وَأَقَلَّ تَوَتُّرًا.</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Which phrase signals contrast between past and now?</a:t>
            </a:r>
            <a:endParaRPr lang="en-US" sz="110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بَعْدَ أَنْ</a:t>
            </a:r>
            <a:endParaRPr lang="ar-SA" sz="170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إِلَّا لِـ</a:t>
            </a:r>
            <a:endParaRPr lang="ar-SA" sz="170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أَمَّا الآنَ</a:t>
            </a:r>
            <a:endParaRPr lang="ar-SA" sz="170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أَمَّا الآنَ</a:t>
            </a:r>
            <a:pPr algn="l" indent="0" marL="0">
              <a:buNone/>
            </a:pPr>
            <a:r>
              <a:rPr lang="en-US" sz="1050" i="1" dirty="0">
                <a:solidFill>
                  <a:srgbClr val="8A6D1E"/>
                </a:solidFill>
                <a:latin typeface="Calibri" pitchFamily="34" charset="0"/>
                <a:cs typeface="Amiri" pitchFamily="2" charset="-78"/>
              </a:rPr>
              <a:t> introduces the contrasting present situation.</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47</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AT-A-L01 · Time and Daily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Morning routine language quest</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Arabic for: “I wake up at half past six.”</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أَسْتَيْقِظُ فِي السَّادِسَةِ وَالرُّبْعِ.</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أَسْتَيْقِظُ فِي السَّادِسَةِ وَالنِّصْفِ.</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يَسْتَيْقِظُ فِي السَّادِسَةِ وَالنِّصْفِ.</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routine:</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أَوَّلًا ___، ثُمَّ أَغْتَسِلُ.</a:t>
            </a:r>
            <a:endParaRPr lang="ar-SA" sz="1500" dirty="0"/>
          </a:p>
        </p:txBody>
      </p:sp>
      <p:sp>
        <p:nvSpPr>
          <p:cNvPr id="35" name="Shape 32"/>
          <p:cNvSpPr/>
          <p:nvPr/>
        </p:nvSpPr>
        <p:spPr>
          <a:xfrm>
            <a:off x="4459224"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أَسْتَيْقِظُ</a:t>
            </a:r>
            <a:endParaRPr lang="ar-SA" sz="2050" dirty="0"/>
          </a:p>
        </p:txBody>
      </p:sp>
      <p:sp>
        <p:nvSpPr>
          <p:cNvPr id="38" name="Shape 35"/>
          <p:cNvSpPr/>
          <p:nvPr/>
        </p:nvSpPr>
        <p:spPr>
          <a:xfrm>
            <a:off x="4459224"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يَسْتَيْقِظُ</a:t>
            </a:r>
            <a:endParaRPr lang="ar-SA" sz="2050" dirty="0"/>
          </a:p>
        </p:txBody>
      </p:sp>
      <p:sp>
        <p:nvSpPr>
          <p:cNvPr id="41" name="Shape 38"/>
          <p:cNvSpPr/>
          <p:nvPr/>
        </p:nvSpPr>
        <p:spPr>
          <a:xfrm>
            <a:off x="4459224"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تَسْتَيْقِظِينَ</a:t>
            </a:r>
            <a:endParaRPr lang="ar-SA" sz="2050" dirty="0"/>
          </a:p>
        </p:txBody>
      </p:sp>
      <p:sp>
        <p:nvSpPr>
          <p:cNvPr id="44" name="Shape 41"/>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23504" y="1947672"/>
            <a:ext cx="310896" cy="310896"/>
          </a:xfrm>
          <a:prstGeom prst="ellipse">
            <a:avLst/>
          </a:prstGeom>
          <a:solidFill>
            <a:srgbClr val="1B3B6F"/>
          </a:solidFill>
          <a:ln w="12700">
            <a:solidFill>
              <a:srgbClr val="1B3B6F"/>
            </a:solidFill>
            <a:prstDash val="solid"/>
          </a:ln>
        </p:spPr>
      </p:sp>
      <p:sp>
        <p:nvSpPr>
          <p:cNvPr id="46" name="Text 43"/>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7" name="Text 44"/>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Mariam is describing her morning. Choose the accurate sentence.</a:t>
            </a:r>
            <a:endParaRPr lang="en-US" sz="125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مَرْيَمُ يَتَنَاوَلُ الإِفْطَارَ.</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مَرْيَمُ أَتَنَاوَلُ الإِفْطَارَ.</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مَرْيَمُ تَتَنَاوَلُ الإِفْطَارَ.</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means “I rarely leave the house late”?</a:t>
            </a:r>
            <a:endParaRPr lang="en-US" sz="1250" dirty="0"/>
          </a:p>
        </p:txBody>
      </p:sp>
      <p:sp>
        <p:nvSpPr>
          <p:cNvPr id="61" name="Shape 58"/>
          <p:cNvSpPr/>
          <p:nvPr/>
        </p:nvSpPr>
        <p:spPr>
          <a:xfrm>
            <a:off x="640080"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ea typeface="Amiri" pitchFamily="2" charset="-78"/>
                <a:cs typeface="Amiri" pitchFamily="2" charset="-78"/>
              </a:rPr>
              <a:t>دَائِمًا أَخْرُجُ مِنَ البَيْتِ مُتَأَخِّرًا.</a:t>
            </a:r>
            <a:endParaRPr lang="ar-SA" sz="1950" dirty="0"/>
          </a:p>
        </p:txBody>
      </p:sp>
      <p:sp>
        <p:nvSpPr>
          <p:cNvPr id="64" name="Shape 61"/>
          <p:cNvSpPr/>
          <p:nvPr/>
        </p:nvSpPr>
        <p:spPr>
          <a:xfrm>
            <a:off x="640080"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ea typeface="Amiri" pitchFamily="2" charset="-78"/>
                <a:cs typeface="Amiri" pitchFamily="2" charset="-78"/>
              </a:rPr>
              <a:t>أَحْيَانًا يَخْرُجُ مِنَ البَيْتِ مُبَكِّرًا.</a:t>
            </a:r>
            <a:endParaRPr lang="ar-SA" sz="1950" dirty="0"/>
          </a:p>
        </p:txBody>
      </p:sp>
      <p:sp>
        <p:nvSpPr>
          <p:cNvPr id="67" name="Shape 64"/>
          <p:cNvSpPr/>
          <p:nvPr/>
        </p:nvSpPr>
        <p:spPr>
          <a:xfrm>
            <a:off x="640080"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ea typeface="Amiri" pitchFamily="2" charset="-78"/>
                <a:cs typeface="Amiri" pitchFamily="2" charset="-78"/>
              </a:rPr>
              <a:t>نَادِرًا مَا أَخْرُجُ مِنَ البَيْتِ مُتَأَخِّرًا.</a:t>
            </a:r>
            <a:endParaRPr lang="ar-SA" sz="1950" dirty="0"/>
          </a:p>
        </p:txBody>
      </p:sp>
      <p:sp>
        <p:nvSpPr>
          <p:cNvPr id="70" name="Shape 6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404360" y="4288536"/>
            <a:ext cx="310896" cy="310896"/>
          </a:xfrm>
          <a:prstGeom prst="ellipse">
            <a:avLst/>
          </a:prstGeom>
          <a:solidFill>
            <a:srgbClr val="1B3B6F"/>
          </a:solidFill>
          <a:ln w="12700">
            <a:solidFill>
              <a:srgbClr val="1B3B6F"/>
            </a:solidFill>
            <a:prstDash val="solid"/>
          </a:ln>
        </p:spPr>
      </p:sp>
      <p:sp>
        <p:nvSpPr>
          <p:cNvPr id="72" name="Text 6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3" name="Text 70"/>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most coherent morning sequence.</a:t>
            </a:r>
            <a:endParaRPr lang="en-US" sz="1250" dirty="0"/>
          </a:p>
        </p:txBody>
      </p:sp>
      <p:sp>
        <p:nvSpPr>
          <p:cNvPr id="74" name="Shape 71"/>
          <p:cNvSpPr/>
          <p:nvPr/>
        </p:nvSpPr>
        <p:spPr>
          <a:xfrm>
            <a:off x="4459224" y="48737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6" name="Text 73"/>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2" charset="-78"/>
                <a:ea typeface="Amiri" pitchFamily="2" charset="-78"/>
                <a:cs typeface="Amiri" pitchFamily="2" charset="-78"/>
              </a:rPr>
              <a:t>أَوَّلًا أَسْتَيْقِظُ، ثُمَّ أَتَوَضَّأُ، وَبَعْدَ ذٰلِكَ أَرْتَدِي مَلَابِسِي.</a:t>
            </a:r>
            <a:endParaRPr lang="ar-SA" sz="1300" dirty="0"/>
          </a:p>
        </p:txBody>
      </p:sp>
      <p:sp>
        <p:nvSpPr>
          <p:cNvPr id="77" name="Shape 74"/>
          <p:cNvSpPr/>
          <p:nvPr/>
        </p:nvSpPr>
        <p:spPr>
          <a:xfrm>
            <a:off x="4459224" y="53309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9" name="Text 76"/>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2" charset="-78"/>
                <a:ea typeface="Amiri" pitchFamily="2" charset="-78"/>
                <a:cs typeface="Amiri" pitchFamily="2" charset="-78"/>
              </a:rPr>
              <a:t>أَخِيرًا أَسْتَيْقِظُ، ثُمَّ أَنَامُ.</a:t>
            </a:r>
            <a:endParaRPr lang="ar-SA" sz="1300" dirty="0"/>
          </a:p>
        </p:txBody>
      </p:sp>
      <p:sp>
        <p:nvSpPr>
          <p:cNvPr id="80" name="Shape 77"/>
          <p:cNvSpPr/>
          <p:nvPr/>
        </p:nvSpPr>
        <p:spPr>
          <a:xfrm>
            <a:off x="4459224" y="5788152"/>
            <a:ext cx="256032" cy="256032"/>
          </a:xfrm>
          <a:prstGeom prst="ellipse">
            <a:avLst/>
          </a:prstGeom>
          <a:solidFill>
            <a:srgbClr val="F4F1EA"/>
          </a:solidFill>
          <a:ln w="12700">
            <a:solidFill>
              <a:srgbClr val="F4F1EA"/>
            </a:solidFill>
            <a:prstDash val="solid"/>
          </a:ln>
        </p:spPr>
      </p:sp>
      <p:sp>
        <p:nvSpPr>
          <p:cNvPr id="81" name="Text 78"/>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2" name="Text 79"/>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2" charset="-78"/>
                <a:ea typeface="Amiri" pitchFamily="2" charset="-78"/>
                <a:cs typeface="Amiri" pitchFamily="2" charset="-78"/>
              </a:rPr>
              <a:t>ثُمَّ أَخْرُجُ، أَوَّلًا أَتَنَاوَلُ الإِفْطَارَ.</a:t>
            </a:r>
            <a:endParaRPr lang="ar-SA" sz="1300" dirty="0"/>
          </a:p>
        </p:txBody>
      </p:sp>
      <p:sp>
        <p:nvSpPr>
          <p:cNvPr id="83" name="Shape 8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8223504" y="4288536"/>
            <a:ext cx="310896" cy="310896"/>
          </a:xfrm>
          <a:prstGeom prst="ellipse">
            <a:avLst/>
          </a:prstGeom>
          <a:solidFill>
            <a:srgbClr val="1B3B6F"/>
          </a:solidFill>
          <a:ln w="12700">
            <a:solidFill>
              <a:srgbClr val="1B3B6F"/>
            </a:solidFill>
            <a:prstDash val="solid"/>
          </a:ln>
        </p:spPr>
      </p:sp>
      <p:sp>
        <p:nvSpPr>
          <p:cNvPr id="85" name="Text 8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6" name="Text 83"/>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 the sentence:</a:t>
            </a:r>
            <a:endParaRPr lang="en-US" sz="1200" dirty="0"/>
          </a:p>
        </p:txBody>
      </p:sp>
      <p:sp>
        <p:nvSpPr>
          <p:cNvPr id="87" name="Text 84"/>
          <p:cNvSpPr txBox="1"/>
          <p:nvPr/>
        </p:nvSpPr>
        <p:spPr>
          <a:xfrm>
            <a:off x="10044989"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أَنَا يَسْتَيْقِظُ مُبَكِّرًا.</a:t>
            </a:r>
            <a:endParaRPr lang="ar-SA" sz="1500" dirty="0"/>
          </a:p>
        </p:txBody>
      </p:sp>
      <p:sp>
        <p:nvSpPr>
          <p:cNvPr id="88" name="Shape 85"/>
          <p:cNvSpPr/>
          <p:nvPr/>
        </p:nvSpPr>
        <p:spPr>
          <a:xfrm>
            <a:off x="8278368" y="4873752"/>
            <a:ext cx="256032" cy="256032"/>
          </a:xfrm>
          <a:prstGeom prst="ellipse">
            <a:avLst/>
          </a:prstGeom>
          <a:solidFill>
            <a:srgbClr val="F4F1EA"/>
          </a:solidFill>
          <a:ln w="12700">
            <a:solidFill>
              <a:srgbClr val="F4F1EA"/>
            </a:solidFill>
            <a:prstDash val="solid"/>
          </a:ln>
        </p:spPr>
      </p:sp>
      <p:sp>
        <p:nvSpPr>
          <p:cNvPr id="89" name="Text 86"/>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0" name="Text 87"/>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تَسْتَيْقِظُ مُبَكِّرًا.</a:t>
            </a:r>
            <a:endParaRPr lang="ar-SA" sz="2050" dirty="0"/>
          </a:p>
        </p:txBody>
      </p:sp>
      <p:sp>
        <p:nvSpPr>
          <p:cNvPr id="91" name="Shape 88"/>
          <p:cNvSpPr/>
          <p:nvPr/>
        </p:nvSpPr>
        <p:spPr>
          <a:xfrm>
            <a:off x="8278368" y="5330952"/>
            <a:ext cx="256032" cy="256032"/>
          </a:xfrm>
          <a:prstGeom prst="ellipse">
            <a:avLst/>
          </a:prstGeom>
          <a:solidFill>
            <a:srgbClr val="F4F1EA"/>
          </a:solidFill>
          <a:ln w="12700">
            <a:solidFill>
              <a:srgbClr val="F4F1EA"/>
            </a:solidFill>
            <a:prstDash val="solid"/>
          </a:ln>
        </p:spPr>
      </p:sp>
      <p:sp>
        <p:nvSpPr>
          <p:cNvPr id="92" name="Text 89"/>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3" name="Text 90"/>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أَسْتَيْقِظُ مُبَكِّرًا.</a:t>
            </a:r>
            <a:endParaRPr lang="ar-SA" sz="2050" dirty="0"/>
          </a:p>
        </p:txBody>
      </p:sp>
      <p:sp>
        <p:nvSpPr>
          <p:cNvPr id="94" name="Shape 91"/>
          <p:cNvSpPr/>
          <p:nvPr/>
        </p:nvSpPr>
        <p:spPr>
          <a:xfrm>
            <a:off x="8278368" y="5788152"/>
            <a:ext cx="256032" cy="256032"/>
          </a:xfrm>
          <a:prstGeom prst="ellipse">
            <a:avLst/>
          </a:prstGeom>
          <a:solidFill>
            <a:srgbClr val="F4F1EA"/>
          </a:solidFill>
          <a:ln w="12700">
            <a:solidFill>
              <a:srgbClr val="F4F1EA"/>
            </a:solidFill>
            <a:prstDash val="solid"/>
          </a:ln>
        </p:spPr>
      </p:sp>
      <p:sp>
        <p:nvSpPr>
          <p:cNvPr id="95" name="Text 92"/>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6" name="Text 93"/>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نَسْتَيْقِظُ مُبَكِّرًا.</a:t>
            </a:r>
            <a:endParaRPr lang="ar-SA" sz="20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47</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AT-A-L01 · Time and Daily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AT-A-L01</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Arabic for: “I wake up at half past six.”</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أَسْتَيْقِظُ فِي السَّادِسَةِ وَالرُّبْعِ.</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أَسْتَيْقِظُ فِي السَّادِسَةِ وَالنِّصْفِ.</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يَسْتَيْقِظُ فِي السَّادِسَةِ وَالنِّصْفِ.</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أَسْتَيْقِظُ</a:t>
            </a:r>
            <a:pPr algn="l" indent="0" marL="0">
              <a:buNone/>
            </a:pPr>
            <a:r>
              <a:rPr lang="en-US" sz="1050" i="1" dirty="0">
                <a:solidFill>
                  <a:srgbClr val="8A6D1E"/>
                </a:solidFill>
                <a:latin typeface="Calibri" pitchFamily="34" charset="0"/>
                <a:cs typeface="Amiri" pitchFamily="2" charset="-78"/>
              </a:rPr>
              <a:t> is the first-person verb, and </a:t>
            </a:r>
            <a:pPr algn="l" indent="0" marL="0">
              <a:buNone/>
            </a:pPr>
            <a:r>
              <a:rPr lang="ar-SA" altLang="en-US" sz="1350" dirty="0">
                <a:solidFill>
                  <a:srgbClr val="8A6D1E"/>
                </a:solidFill>
                <a:latin typeface="Amiri" pitchFamily="2" charset="-78"/>
                <a:ea typeface="Amiri" pitchFamily="2" charset="-78"/>
                <a:cs typeface="Amiri" pitchFamily="2" charset="-78"/>
              </a:rPr>
              <a:t>وَالنِّصْفُ</a:t>
            </a:r>
            <a:pPr algn="l" indent="0" marL="0">
              <a:buNone/>
            </a:pPr>
            <a:r>
              <a:rPr lang="en-US" sz="1050" i="1" dirty="0">
                <a:solidFill>
                  <a:srgbClr val="8A6D1E"/>
                </a:solidFill>
                <a:latin typeface="Calibri" pitchFamily="34" charset="0"/>
                <a:cs typeface="Amiri" pitchFamily="2" charset="-78"/>
              </a:rPr>
              <a:t> means half past.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routine:</a:t>
            </a:r>
            <a:endParaRPr lang="en-US" sz="1200" dirty="0"/>
          </a:p>
        </p:txBody>
      </p:sp>
      <p:sp>
        <p:nvSpPr>
          <p:cNvPr id="35" name="Text 33"/>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أَوَّلًا ___، ثُمَّ أَغْتَسِلُ.</a:t>
            </a:r>
            <a:endParaRPr lang="ar-SA" sz="1500" dirty="0"/>
          </a:p>
        </p:txBody>
      </p:sp>
      <p:sp>
        <p:nvSpPr>
          <p:cNvPr id="36" name="Shape 34"/>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7" name="Shape 35"/>
          <p:cNvSpPr/>
          <p:nvPr/>
        </p:nvSpPr>
        <p:spPr>
          <a:xfrm>
            <a:off x="4459224" y="2490216"/>
            <a:ext cx="256032" cy="256032"/>
          </a:xfrm>
          <a:prstGeom prst="ellipse">
            <a:avLst/>
          </a:prstGeom>
          <a:solidFill>
            <a:srgbClr val="2E8B57"/>
          </a:solidFill>
          <a:ln w="12700">
            <a:solidFill>
              <a:srgbClr val="2E8B57"/>
            </a:solidFill>
            <a:prstDash val="solid"/>
          </a:ln>
        </p:spPr>
      </p:sp>
      <p:sp>
        <p:nvSpPr>
          <p:cNvPr id="38" name="Text 36"/>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7"/>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أَسْتَيْقِظُ</a:t>
            </a:r>
            <a:endParaRPr lang="ar-SA" sz="1700" dirty="0"/>
          </a:p>
        </p:txBody>
      </p:sp>
      <p:sp>
        <p:nvSpPr>
          <p:cNvPr id="40" name="Shape 38"/>
          <p:cNvSpPr/>
          <p:nvPr/>
        </p:nvSpPr>
        <p:spPr>
          <a:xfrm>
            <a:off x="4459224" y="2862072"/>
            <a:ext cx="256032" cy="256032"/>
          </a:xfrm>
          <a:prstGeom prst="ellipse">
            <a:avLst/>
          </a:prstGeom>
          <a:solidFill>
            <a:srgbClr val="C9CED6"/>
          </a:solidFill>
          <a:ln w="12700">
            <a:solidFill>
              <a:srgbClr val="C9CED6"/>
            </a:solidFill>
            <a:prstDash val="solid"/>
          </a:ln>
        </p:spPr>
      </p:sp>
      <p:sp>
        <p:nvSpPr>
          <p:cNvPr id="41" name="Text 39"/>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40"/>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يَسْتَيْقِظُ</a:t>
            </a:r>
            <a:endParaRPr lang="ar-SA" sz="1700" dirty="0"/>
          </a:p>
        </p:txBody>
      </p:sp>
      <p:sp>
        <p:nvSpPr>
          <p:cNvPr id="43" name="Shape 41"/>
          <p:cNvSpPr/>
          <p:nvPr/>
        </p:nvSpPr>
        <p:spPr>
          <a:xfrm>
            <a:off x="4459224" y="3233928"/>
            <a:ext cx="256032" cy="256032"/>
          </a:xfrm>
          <a:prstGeom prst="ellipse">
            <a:avLst/>
          </a:prstGeom>
          <a:solidFill>
            <a:srgbClr val="C9CED6"/>
          </a:solidFill>
          <a:ln w="12700">
            <a:solidFill>
              <a:srgbClr val="C9CED6"/>
            </a:solidFill>
            <a:prstDash val="solid"/>
          </a:ln>
        </p:spPr>
      </p:sp>
      <p:sp>
        <p:nvSpPr>
          <p:cNvPr id="44" name="Text 42"/>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3"/>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تَسْتَيْقِظِينَ</a:t>
            </a:r>
            <a:endParaRPr lang="ar-SA" sz="1700" dirty="0"/>
          </a:p>
        </p:txBody>
      </p:sp>
      <p:sp>
        <p:nvSpPr>
          <p:cNvPr id="46" name="Text 44"/>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speaker is “I”, so the verb begins with </a:t>
            </a:r>
            <a:pPr algn="l" indent="0" marL="0">
              <a:buNone/>
            </a:pPr>
            <a:r>
              <a:rPr lang="ar-SA" altLang="en-US" sz="1350" dirty="0">
                <a:solidFill>
                  <a:srgbClr val="8A6D1E"/>
                </a:solidFill>
                <a:latin typeface="Amiri" pitchFamily="2" charset="-78"/>
                <a:ea typeface="Amiri" pitchFamily="2" charset="-78"/>
                <a:cs typeface="Amiri" pitchFamily="2" charset="-78"/>
              </a:rPr>
              <a:t>أَـ</a:t>
            </a:r>
            <a:pPr algn="l" indent="0" marL="0">
              <a:buNone/>
            </a:pPr>
            <a:r>
              <a:rPr lang="en-US" sz="1050" i="1" dirty="0">
                <a:solidFill>
                  <a:srgbClr val="8A6D1E"/>
                </a:solidFill>
                <a:latin typeface="Calibri" pitchFamily="34" charset="0"/>
                <a:cs typeface="Amiri" pitchFamily="2" charset="-78"/>
              </a:rPr>
              <a:t>: </a:t>
            </a:r>
            <a:pPr algn="l" indent="0" marL="0">
              <a:buNone/>
            </a:pPr>
            <a:r>
              <a:rPr lang="ar-SA" altLang="en-US" sz="1350" dirty="0">
                <a:solidFill>
                  <a:srgbClr val="8A6D1E"/>
                </a:solidFill>
                <a:latin typeface="Amiri" pitchFamily="2" charset="-78"/>
                <a:ea typeface="Amiri" pitchFamily="2" charset="-78"/>
                <a:cs typeface="Amiri" pitchFamily="2" charset="-78"/>
              </a:rPr>
              <a:t>أَسْتَيْقِظُ</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7" name="Shape 45"/>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6"/>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7"/>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8"/>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Mariam is describing her morning. Choose the accurate sentence.</a:t>
            </a:r>
            <a:endParaRPr lang="en-US" sz="1250" dirty="0"/>
          </a:p>
        </p:txBody>
      </p:sp>
      <p:sp>
        <p:nvSpPr>
          <p:cNvPr id="51" name="Shape 49"/>
          <p:cNvSpPr/>
          <p:nvPr/>
        </p:nvSpPr>
        <p:spPr>
          <a:xfrm>
            <a:off x="8278368" y="2490216"/>
            <a:ext cx="256032" cy="256032"/>
          </a:xfrm>
          <a:prstGeom prst="ellipse">
            <a:avLst/>
          </a:prstGeom>
          <a:solidFill>
            <a:srgbClr val="C9CED6"/>
          </a:solidFill>
          <a:ln w="12700">
            <a:solidFill>
              <a:srgbClr val="C9CED6"/>
            </a:solidFill>
            <a:prstDash val="solid"/>
          </a:ln>
        </p:spPr>
      </p:sp>
      <p:sp>
        <p:nvSpPr>
          <p:cNvPr id="52"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مَرْيَمُ يَتَنَاوَلُ الإِفْطَارَ.</a:t>
            </a:r>
            <a:endParaRPr lang="ar-SA" sz="1700" dirty="0"/>
          </a:p>
        </p:txBody>
      </p:sp>
      <p:sp>
        <p:nvSpPr>
          <p:cNvPr id="54"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5"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6"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مَرْيَمُ أَتَنَاوَلُ الإِفْطَارَ.</a:t>
            </a:r>
            <a:endParaRPr lang="ar-SA" sz="1700" dirty="0"/>
          </a:p>
        </p:txBody>
      </p:sp>
      <p:sp>
        <p:nvSpPr>
          <p:cNvPr id="57" name="Shape 55"/>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8" name="Shape 56"/>
          <p:cNvSpPr/>
          <p:nvPr/>
        </p:nvSpPr>
        <p:spPr>
          <a:xfrm>
            <a:off x="8278368" y="3233928"/>
            <a:ext cx="256032" cy="256032"/>
          </a:xfrm>
          <a:prstGeom prst="ellipse">
            <a:avLst/>
          </a:prstGeom>
          <a:solidFill>
            <a:srgbClr val="2E8B57"/>
          </a:solidFill>
          <a:ln w="12700">
            <a:solidFill>
              <a:srgbClr val="2E8B57"/>
            </a:solidFill>
            <a:prstDash val="solid"/>
          </a:ln>
        </p:spPr>
      </p:sp>
      <p:sp>
        <p:nvSpPr>
          <p:cNvPr id="59"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60"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مَرْيَمُ تَتَنَاوَلُ الإِفْطَارَ.</a:t>
            </a:r>
            <a:endParaRPr lang="ar-SA" sz="1700" dirty="0"/>
          </a:p>
        </p:txBody>
      </p:sp>
      <p:sp>
        <p:nvSpPr>
          <p:cNvPr id="61"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feminine third-person subject takes </a:t>
            </a:r>
            <a:pPr algn="l" indent="0" marL="0">
              <a:buNone/>
            </a:pPr>
            <a:r>
              <a:rPr lang="ar-SA" altLang="en-US" sz="1350" dirty="0">
                <a:solidFill>
                  <a:srgbClr val="8A6D1E"/>
                </a:solidFill>
                <a:latin typeface="Amiri" pitchFamily="2" charset="-78"/>
                <a:ea typeface="Amiri" pitchFamily="2" charset="-78"/>
                <a:cs typeface="Amiri" pitchFamily="2" charset="-78"/>
              </a:rPr>
              <a:t>تَـ</a:t>
            </a:r>
            <a:pPr algn="l" indent="0" marL="0">
              <a:buNone/>
            </a:pPr>
            <a:r>
              <a:rPr lang="en-US" sz="1050" i="1" dirty="0">
                <a:solidFill>
                  <a:srgbClr val="8A6D1E"/>
                </a:solidFill>
                <a:latin typeface="Calibri" pitchFamily="34" charset="0"/>
                <a:cs typeface="Amiri" pitchFamily="2" charset="-78"/>
              </a:rPr>
              <a:t>: </a:t>
            </a:r>
            <a:pPr algn="l" indent="0" marL="0">
              <a:buNone/>
            </a:pPr>
            <a:r>
              <a:rPr lang="ar-SA" altLang="en-US" sz="1350" dirty="0">
                <a:solidFill>
                  <a:srgbClr val="8A6D1E"/>
                </a:solidFill>
                <a:latin typeface="Amiri" pitchFamily="2" charset="-78"/>
                <a:ea typeface="Amiri" pitchFamily="2" charset="-78"/>
                <a:cs typeface="Amiri" pitchFamily="2" charset="-78"/>
              </a:rPr>
              <a:t>مَرْيَمُ تَتَنَاوَلُ</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2"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3"/>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means “I rarely leave the house late”?</a:t>
            </a:r>
            <a:endParaRPr lang="en-US" sz="1250" dirty="0"/>
          </a:p>
        </p:txBody>
      </p:sp>
      <p:sp>
        <p:nvSpPr>
          <p:cNvPr id="66" name="Shape 64"/>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6"/>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دَائِمًا أَخْرُجُ مِنَ البَيْتِ مُتَأَخِّرًا.</a:t>
            </a:r>
            <a:endParaRPr lang="ar-SA" sz="1700" dirty="0"/>
          </a:p>
        </p:txBody>
      </p:sp>
      <p:sp>
        <p:nvSpPr>
          <p:cNvPr id="69"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أَحْيَانًا يَخْرُجُ مِنَ البَيْتِ مُبَكِّرًا.</a:t>
            </a:r>
            <a:endParaRPr lang="ar-SA" sz="1700" dirty="0"/>
          </a:p>
        </p:txBody>
      </p:sp>
      <p:sp>
        <p:nvSpPr>
          <p:cNvPr id="72" name="Shape 70"/>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1"/>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2"/>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3"/>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نَادِرًا مَا أَخْرُجُ مِنَ البَيْتِ مُتَأَخِّرًا.</a:t>
            </a:r>
            <a:endParaRPr lang="ar-SA" sz="1700" dirty="0"/>
          </a:p>
        </p:txBody>
      </p:sp>
      <p:sp>
        <p:nvSpPr>
          <p:cNvPr id="76" name="Text 74"/>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نَادِرًا مَا</a:t>
            </a:r>
            <a:pPr algn="l" indent="0" marL="0">
              <a:buNone/>
            </a:pPr>
            <a:r>
              <a:rPr lang="en-US" sz="1050" i="1" dirty="0">
                <a:solidFill>
                  <a:srgbClr val="8A6D1E"/>
                </a:solidFill>
                <a:latin typeface="Calibri" pitchFamily="34" charset="0"/>
                <a:cs typeface="Amiri" pitchFamily="2" charset="-78"/>
              </a:rPr>
              <a:t> means “rarely”, and </a:t>
            </a:r>
            <a:pPr algn="l" indent="0" marL="0">
              <a:buNone/>
            </a:pPr>
            <a:r>
              <a:rPr lang="ar-SA" altLang="en-US" sz="1350" dirty="0">
                <a:solidFill>
                  <a:srgbClr val="8A6D1E"/>
                </a:solidFill>
                <a:latin typeface="Amiri" pitchFamily="2" charset="-78"/>
                <a:ea typeface="Amiri" pitchFamily="2" charset="-78"/>
                <a:cs typeface="Amiri" pitchFamily="2" charset="-78"/>
              </a:rPr>
              <a:t>أَخْرُجُ</a:t>
            </a:r>
            <a:pPr algn="l" indent="0" marL="0">
              <a:buNone/>
            </a:pPr>
            <a:r>
              <a:rPr lang="en-US" sz="1050" i="1" dirty="0">
                <a:solidFill>
                  <a:srgbClr val="8A6D1E"/>
                </a:solidFill>
                <a:latin typeface="Calibri" pitchFamily="34" charset="0"/>
                <a:cs typeface="Amiri" pitchFamily="2" charset="-78"/>
              </a:rPr>
              <a:t> keeps the answer in the first person.</a:t>
            </a:r>
            <a:endParaRPr lang="en-US" sz="1050" dirty="0"/>
          </a:p>
        </p:txBody>
      </p:sp>
      <p:sp>
        <p:nvSpPr>
          <p:cNvPr id="77" name="Shape 7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6"/>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most coherent morning sequence.</a:t>
            </a:r>
            <a:endParaRPr lang="en-US" sz="1250" dirty="0"/>
          </a:p>
        </p:txBody>
      </p:sp>
      <p:sp>
        <p:nvSpPr>
          <p:cNvPr id="81" name="Shape 79"/>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80"/>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1"/>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2"/>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2" charset="-78"/>
                <a:ea typeface="Amiri" pitchFamily="2" charset="-78"/>
                <a:cs typeface="Amiri" pitchFamily="2" charset="-78"/>
              </a:rPr>
              <a:t>أَوَّلًا أَسْتَيْقِظُ، ثُمَّ أَتَوَضَّأُ، وَبَعْدَ ذٰلِكَ أَرْتَدِي مَلَابِسِي.</a:t>
            </a:r>
            <a:endParaRPr lang="ar-SA" sz="1300" dirty="0"/>
          </a:p>
        </p:txBody>
      </p:sp>
      <p:sp>
        <p:nvSpPr>
          <p:cNvPr id="85" name="Shape 83"/>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4"/>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5"/>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300" dirty="0">
                <a:solidFill>
                  <a:srgbClr val="9AA1AB"/>
                </a:solidFill>
                <a:latin typeface="Amiri" pitchFamily="2" charset="-78"/>
                <a:ea typeface="Amiri" pitchFamily="2" charset="-78"/>
                <a:cs typeface="Amiri" pitchFamily="2" charset="-78"/>
              </a:rPr>
              <a:t>أَخِيرًا أَسْتَيْقِظُ، ثُمَّ أَنَامُ.</a:t>
            </a:r>
            <a:endParaRPr lang="ar-SA" sz="1300" dirty="0"/>
          </a:p>
        </p:txBody>
      </p:sp>
      <p:sp>
        <p:nvSpPr>
          <p:cNvPr id="88" name="Shape 86"/>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7"/>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8"/>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300" dirty="0">
                <a:solidFill>
                  <a:srgbClr val="9AA1AB"/>
                </a:solidFill>
                <a:latin typeface="Amiri" pitchFamily="2" charset="-78"/>
                <a:ea typeface="Amiri" pitchFamily="2" charset="-78"/>
                <a:cs typeface="Amiri" pitchFamily="2" charset="-78"/>
              </a:rPr>
              <a:t>ثُمَّ أَخْرُجُ، أَوَّلًا أَتَنَاوَلُ الإِفْطَارَ.</a:t>
            </a:r>
            <a:endParaRPr lang="ar-SA" sz="1300" dirty="0"/>
          </a:p>
        </p:txBody>
      </p:sp>
      <p:sp>
        <p:nvSpPr>
          <p:cNvPr id="91" name="Text 89"/>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connectors create a logical order: first wake, then perform wudu, then get dressed.</a:t>
            </a:r>
            <a:endParaRPr lang="en-US" sz="1050" dirty="0"/>
          </a:p>
        </p:txBody>
      </p:sp>
      <p:sp>
        <p:nvSpPr>
          <p:cNvPr id="92" name="Shape 9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1"/>
          <p:cNvSpPr/>
          <p:nvPr/>
        </p:nvSpPr>
        <p:spPr>
          <a:xfrm>
            <a:off x="8223504" y="4288536"/>
            <a:ext cx="310896" cy="310896"/>
          </a:xfrm>
          <a:prstGeom prst="ellipse">
            <a:avLst/>
          </a:prstGeom>
          <a:solidFill>
            <a:srgbClr val="1B3B6F"/>
          </a:solidFill>
          <a:ln w="12700">
            <a:solidFill>
              <a:srgbClr val="1B3B6F"/>
            </a:solidFill>
            <a:prstDash val="solid"/>
          </a:ln>
        </p:spPr>
      </p:sp>
      <p:sp>
        <p:nvSpPr>
          <p:cNvPr id="94" name="Text 9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3"/>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 the sentence:</a:t>
            </a:r>
            <a:endParaRPr lang="en-US" sz="1200" dirty="0"/>
          </a:p>
        </p:txBody>
      </p:sp>
      <p:sp>
        <p:nvSpPr>
          <p:cNvPr id="96" name="Text 94"/>
          <p:cNvSpPr txBox="1"/>
          <p:nvPr/>
        </p:nvSpPr>
        <p:spPr>
          <a:xfrm>
            <a:off x="10044989"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أَنَا يَسْتَيْقِظُ مُبَكِّرًا.</a:t>
            </a:r>
            <a:endParaRPr lang="ar-SA" sz="1500" dirty="0"/>
          </a:p>
        </p:txBody>
      </p:sp>
      <p:sp>
        <p:nvSpPr>
          <p:cNvPr id="97" name="Shape 95"/>
          <p:cNvSpPr/>
          <p:nvPr/>
        </p:nvSpPr>
        <p:spPr>
          <a:xfrm>
            <a:off x="8278368" y="4831080"/>
            <a:ext cx="256032" cy="256032"/>
          </a:xfrm>
          <a:prstGeom prst="ellipse">
            <a:avLst/>
          </a:prstGeom>
          <a:solidFill>
            <a:srgbClr val="C9CED6"/>
          </a:solidFill>
          <a:ln w="12700">
            <a:solidFill>
              <a:srgbClr val="C9CED6"/>
            </a:solidFill>
            <a:prstDash val="solid"/>
          </a:ln>
        </p:spPr>
      </p:sp>
      <p:sp>
        <p:nvSpPr>
          <p:cNvPr id="98" name="Text 96"/>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9" name="Text 97"/>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أَنَا تَسْتَيْقِظُ مُبَكِّرًا.</a:t>
            </a:r>
            <a:endParaRPr lang="ar-SA" sz="1700" dirty="0"/>
          </a:p>
        </p:txBody>
      </p:sp>
      <p:sp>
        <p:nvSpPr>
          <p:cNvPr id="100" name="Shape 98"/>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1" name="Shape 99"/>
          <p:cNvSpPr/>
          <p:nvPr/>
        </p:nvSpPr>
        <p:spPr>
          <a:xfrm>
            <a:off x="8278368" y="5202936"/>
            <a:ext cx="256032" cy="256032"/>
          </a:xfrm>
          <a:prstGeom prst="ellipse">
            <a:avLst/>
          </a:prstGeom>
          <a:solidFill>
            <a:srgbClr val="2E8B57"/>
          </a:solidFill>
          <a:ln w="12700">
            <a:solidFill>
              <a:srgbClr val="2E8B57"/>
            </a:solidFill>
            <a:prstDash val="solid"/>
          </a:ln>
        </p:spPr>
      </p:sp>
      <p:sp>
        <p:nvSpPr>
          <p:cNvPr id="102" name="Text 100"/>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3" name="Text 101"/>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أَنَا أَسْتَيْقِظُ مُبَكِّرًا.</a:t>
            </a:r>
            <a:endParaRPr lang="ar-SA" sz="1700" dirty="0"/>
          </a:p>
        </p:txBody>
      </p:sp>
      <p:sp>
        <p:nvSpPr>
          <p:cNvPr id="104" name="Shape 102"/>
          <p:cNvSpPr/>
          <p:nvPr/>
        </p:nvSpPr>
        <p:spPr>
          <a:xfrm>
            <a:off x="8278368" y="5574792"/>
            <a:ext cx="256032" cy="256032"/>
          </a:xfrm>
          <a:prstGeom prst="ellipse">
            <a:avLst/>
          </a:prstGeom>
          <a:solidFill>
            <a:srgbClr val="C9CED6"/>
          </a:solidFill>
          <a:ln w="12700">
            <a:solidFill>
              <a:srgbClr val="C9CED6"/>
            </a:solidFill>
            <a:prstDash val="solid"/>
          </a:ln>
        </p:spPr>
      </p:sp>
      <p:sp>
        <p:nvSpPr>
          <p:cNvPr id="105" name="Text 103"/>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6" name="Text 104"/>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أَنَا نَسْتَيْقِظُ مُبَكِّرًا.</a:t>
            </a:r>
            <a:endParaRPr lang="ar-SA" sz="1700" dirty="0"/>
          </a:p>
        </p:txBody>
      </p:sp>
      <p:sp>
        <p:nvSpPr>
          <p:cNvPr id="107" name="Text 105"/>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With </a:t>
            </a:r>
            <a:pPr algn="l" indent="0" marL="0">
              <a:buNone/>
            </a:pPr>
            <a:r>
              <a:rPr lang="ar-SA" altLang="en-US" sz="1350" dirty="0">
                <a:solidFill>
                  <a:srgbClr val="8A6D1E"/>
                </a:solidFill>
                <a:latin typeface="Amiri" pitchFamily="2" charset="-78"/>
                <a:ea typeface="Amiri" pitchFamily="2" charset="-78"/>
                <a:cs typeface="Amiri" pitchFamily="2" charset="-78"/>
              </a:rPr>
              <a:t>أَنَا</a:t>
            </a:r>
            <a:pPr algn="l" indent="0" marL="0">
              <a:buNone/>
            </a:pPr>
            <a:r>
              <a:rPr lang="en-US" sz="1050" i="1" dirty="0">
                <a:solidFill>
                  <a:srgbClr val="8A6D1E"/>
                </a:solidFill>
                <a:latin typeface="Calibri" pitchFamily="34" charset="0"/>
                <a:cs typeface="Amiri" pitchFamily="2" charset="-78"/>
              </a:rPr>
              <a:t>, the present-tense verb uses the prefix </a:t>
            </a:r>
            <a:pPr algn="l" indent="0" marL="0">
              <a:buNone/>
            </a:pPr>
            <a:r>
              <a:rPr lang="ar-SA" altLang="en-US" sz="1350" dirty="0">
                <a:solidFill>
                  <a:srgbClr val="8A6D1E"/>
                </a:solidFill>
                <a:latin typeface="Amiri" pitchFamily="2" charset="-78"/>
                <a:ea typeface="Amiri" pitchFamily="2" charset="-78"/>
                <a:cs typeface="Amiri" pitchFamily="2" charset="-78"/>
              </a:rPr>
              <a:t>أَـ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108"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47</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AT-A-L01 · Time and Daily Routine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Before AT-A-L02: get ready at home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AT-A-L02 · Calendar, Dates and the School Week</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السَّاعَةُ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hour, the clock</a:t>
            </a:r>
            <a:pPr indent="0" marL="0">
              <a:buNone/>
            </a:pPr>
            <a:r>
              <a:rPr lang="ar-SA" sz="1000" i="1" dirty="0">
                <a:solidFill>
                  <a:srgbClr val="5A6472"/>
                </a:solidFill>
                <a:latin typeface="Calibri" pitchFamily="34" charset="0"/>
                <a:ea typeface="Amiri" pitchFamily="2" charset="-78"/>
                <a:cs typeface="Amiri" pitchFamily="2" charset="-78"/>
              </a:rPr>
              <a:t>  pl. السَّاعَاتُ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وَالنِّصْفُ</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half past</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وَالرُّبْعُ</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quarter past</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إِلَّا الرُّبْعَ</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quarter to</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دَقِيقَةٌ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minute</a:t>
            </a:r>
            <a:pPr indent="0" marL="0">
              <a:buNone/>
            </a:pPr>
            <a:r>
              <a:rPr lang="ar-SA" sz="1000" i="1" dirty="0">
                <a:solidFill>
                  <a:srgbClr val="5A6472"/>
                </a:solidFill>
                <a:latin typeface="Calibri" pitchFamily="34" charset="0"/>
                <a:ea typeface="Amiri" pitchFamily="2" charset="-78"/>
                <a:cs typeface="Amiri" pitchFamily="2" charset="-78"/>
              </a:rPr>
              <a:t>  pl. دَقَائِقُ</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Write the time you wake up and the time you leave home, in Arabic numerals.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كَمِ السَّاعَةُ؟</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AT-A-L01: vocabulary mission and the picture game “My Morning Routine”.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8 sentences about your morning with times and frequency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90–110 words comparing your routine with an improved one.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47</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AT-A-L01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050" b="1" dirty="0">
                <a:solidFill>
                  <a:srgbClr val="FFFFFF"/>
                </a:solidFill>
                <a:latin typeface="Cambria" pitchFamily="34" charset="0"/>
                <a:cs typeface="Amiri" pitchFamily="2" charset="-78"/>
              </a:rPr>
              <a:t>AT-A-L02 · Calendar, Dates and the School Week</a:t>
            </a:r>
            <a:endParaRPr lang="en-US" sz="20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التَّقْوِيمُ وَالتَّوَارِيخُ وَالْأُسْبُوعُ الدِّرَاسِيُّ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5 time words + your wake-up time in Arabic.</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AT-A-L01 · Time and Daily Routine</dc:title>
  <dc:subject>PptxGenJS Presentation</dc:subject>
  <dc:creator>Al Madina Online School · Arabic Department</dc:creator>
  <cp:lastModifiedBy>Al Madina Online School · Arabic Department</cp:lastModifiedBy>
  <cp:revision>1</cp:revision>
  <dcterms:created xsi:type="dcterms:W3CDTF">2026-10-11T06:43:39Z</dcterms:created>
  <dcterms:modified xsi:type="dcterms:W3CDTF">2026-10-11T06:43:39Z</dcterms:modified>
</cp:coreProperties>
</file>