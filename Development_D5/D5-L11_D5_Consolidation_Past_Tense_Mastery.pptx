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D5 Hobbies, Sport and Leisure › D5-L11. The website lesson “D5 Consolidation — Past Tense Mastery and Speaking Preparation”: vocabulary, grammar rules and quiz, patterns, common mistakes, sorter, listening, reading, speaking prompts and model, writing task and model, differentiation, final check and the lesson mission. Picture match: website visual game “D5 Consolidation — Past Tense Mastery and Speaking Preparation”.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No new grammar today: this is the D5 review and speaking rehearsal before the D5-L12 assessment.
• Core: answer four past questions aloud with frames, each with an accurate suffix. Develop: add a reason to each answer and use one time-buying phrase naturally. Stretch: a full topic answer past → present → future with no avoidance + the website 80-word self-review.
• THE trap (website): answering a past question in the present because it is easier. Train students to hear the tense of the question and MIRROR it.
• Use the Do Now and quick-check results to choose each student’s route for the final You Do.
• TEACHER-WRITTEN ITEMS: one vowel-only distractor and one “…” option replaced, and English added to the patterns and speaking model; the website visual game repeats D5-L01 and is skipped.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 NOW (5 min independent + 2 min going through answers).
Questions 1–3 test three of the five words prepared at home at the end of D5-L10. Questions 4–5 retrieve D5-L07 (hollow verbs) and D5-L05 (كَانَ + present). Note which each student gets wrong: it is their priority for the speaking rehearsal.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Hear the tense of the question — then MIRROR it in your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طلاقت، تردد، صراحت، حقیقت are shared. عَفْوًا shares the root of Urdu معافی / معاف کیجیے (forgiveness, excuse me) — in Arabic it also means “you’re welcome” after شُكْرًا.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Speaking under pressure (website vocabulary (1 of 2)). Hear → Say → See → Use. Transliteration is printed for Core students (cover it for Develop/Stretch).
Speaking under pressure: the words examiners use (accuracy · fluency · hesitation).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Speaking under pressure (website vocabulary (2 of 2)). Hear → Say → See → Use. Transliteration is printed for Core students (cover it for Develop/Stretch).
Speaking under pressure: the words examiners use (accuracy · fluency · hesitation).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Repair and hesitation phrases (website vocabulary (1 of 2)). Hear → Say → See → Use. Transliteration is printed for Core students (cover it for Develop/Stretch).
Repair and hesitation phrases: learn three of these by heart — they keep you speaking Arabic while you think.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Repair and hesitation phrases (website vocabulary (2 of 2)). Hear → Say → See → Use. Transliteration is printed for Core students (cover it for Develop/Stretch).
Repair and hesitation phrases: learn three of these by heart — they keep you speaking Arabic while you think.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D5 revision anchors (website vocabulary (1 of 2)). Hear → Say → See → Use. Transliteration is printed for Core students (cover it for Develop/Stretch).
FLEX: teach if time allows; otherwise these are on the website vocabulary tab for homework.
D5 revision anchors (FLEX): the six D5 topics, as headings for your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D5 revision anchors (website vocabulary (2 of 2)). Hear → Say → See → Use. Transliteration is printed for Core students (cover it for Develop/Stretch).
FLEX: teach if time allows; otherwise these are on the website vocabulary tab for homework.
D5 revision anchors (FLEX): the six D5 topics, as headings for your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“Answer in the tense of the question” (if the examiner uses a past verb or a past time phrase, mirror it — answering in the present is the most common avoidance pattern) and “Check the stem before the suffix” (قَالَ → قُلْـ, مَشَى → مَشَيْـ, then the suffix). Website teaching point: “The avoidance trap.”
Watch out (website quiz 2): girls often answer شَاهَدْتِ because they hear it in the question — the answer is about “I”: شَاهَدْتُ.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“Extend every answer” (a bare verb scores little — add لِأَنَّ, a frequency phrase or a connector) and “Move between tenses deliberately” (narrate, describe the habit now, state a plan). Website teaching point: “Buy time in Arabic, not in silence.”
All three phrases appear in the website listening — students will hear them used naturally.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“This lesson revisits the whole D5 system as a checklist you can apply while speaking: choose the person, choose the stem, attach the suffix, then add a reason.”
• Answer in the tense of the question: If the examiner uses a past verb or a past time phrase, mirror it. Answering in the present is the most common avoidance pattern.
• Check the stem before the suffix: قَالَ becomes قُلْـ, مَشَى becomes مَشَيْـ, and only then does the suffix go on.
• Extend every answer: A bare verb scores little. Add لِأَنَّ, a frequency phrase or a connector to turn an answer into a response.
• Move between tenses deliberately: A strong topic answer narrates, then describes the habit now, then states a plan.
Website common error: Substituting the present for the past when a question is about a past event. It is the single most visible weakness in D5 speaking, and it is entirely avoidable once you listen for the tense of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from the website listening (a candidate under pressure). Play the candidate yourself, with real pauses; let students spot each time-buyer and the repair. Then ask: which tense was each question in? Did the answers mirror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each student chooses ONE item from each column to use in the speaking rehearsal.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sort each item into the right group.
Then each student chooses ONE item from each column to use in the speaking rehearsal.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5,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3. Develop / Stretch: all 5 — and note the tense of each examiner question.
Listen 1: just listen. Listen 2: note answers. Then chat the letters.
Support: after the second listening, show the read-along slide (Arabic + English, line by line) for Core students.
SCRIPT (read aloud):
المُمْتَحِنُ: كَيْفَ بَدَأْتَ هٰذِهِ الهِوَايَةَ؟ الطَّالِبُ: سُؤَالٌ جَيِّدٌ. بَدَأْتُ فِي الطُّفُولَةِ، لِأَنَّ أَخِي كَانَ يَلْعَبُ كُرَةَ السَّلَّةِ كُلَّ مَسَاءٍ. المُمْتَحِنُ: وَمَاذَا فَعَلْتَ الأُسْبُوعَ المَاضِيَ؟ الطَّالِبُ: دَعْنِي أُفَكِّرُ. تَدَرَّبْتُ مَرَّتَيْنِ، ثُمَّ شَارَكْتُ فِي مُبَارَاةٍ وَدِّيَّةٍ، وَلِلْأَسَفِ خَسِرْنَا. عَفْوًا، أَقْصِدُ تَعَادَلْنَا. المُمْتَحِنُ: وَمَا خُطَطُكَ؟ الطَّالِبُ: فِي الحَقِيقَةِ، سَأَشْتَرِكُ فِي بُطُولَةٍ مَدْرَسِيَّةٍ، وَأَنْوِي أَنْ أَتَدَرَّبَ أَكْثَرَ.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صِفْ تَجْرِبَةً رِيَاضِيَّةً مَرَرْتَ بِهَا. (Describe a sporting experience you have had.)
B: الأُسْبُوعَ المَاضِيَ شَارَكْتُ فِي مُبَارَاةٍ، وَفَجْأَةً أُصِبْتُ، وَلٰكِنْ لِحُسْنِ الحَظِّ أَكْمَلْتُ اللَّعِبَ، وَسَأُشَارِكُ مَرَّةً أُخْرَى. (Last week I took part in a match, and suddenly I got injured, but luckily I finished the game, and I will take part again.)
FULL REHEARSAL (website: “full topic conversation”). Pairs: A is the examiner (reads the three questions), B answers for 1 minute; A ticks: mirrored tense? reason? time-buyer? Then swap. To a girl: هِوَايَتُكِ · بَدَأْتِ · مَرَرْتِ · خُطَطُكِ.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Answer four past questions aloud using the sentence frames, each with an accurate suffix. · Develop — Add a reason to each answer and use one time-buying phrase naturally. · Stretch — Deliver a full topic answer that moves through past, present and future with no avoidance.
Website writing task (Stretch): Write about eighty words reviewing your own D5 progress. Say what you found difficult at first, what you practised, how you improved and what you will focus on next.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(self-review). Evidence: كُنْتُ أَسْتَعْمِلُ · كَانَ ذٰلِكَ خَطَأً · تَدَرَّبْتُ · رَكَّزْتُ · تَحَسَّنَتْ · أَمَّا الآنَ فَأَسْتَعْمِلُ · سَأُرَكِّزُ · أَنْوِي أَنْ أَتَدَرَّبَ.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(D5-L12 · D5 Review and Unit Assessment) will spend class time USING this language, so students prepare it tonight — short, simple, easy to access (school guidance: “Simple, Short, Interesting, Relevant, Easy to access”). The five words are the instruction words of the D5-L12 assessment (listening, reading and conversation).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D5  ·  D5-L11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D5-L11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D5 Consolidation — Past Tense Mastery and Speaking Preparation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350" b="1" dirty="0">
                <a:solidFill>
                  <a:srgbClr val="D4AF37"/>
                </a:solidFill>
                <a:latin typeface="Amiri" pitchFamily="2" charset="-78"/>
                <a:ea typeface="Amiri" pitchFamily="2" charset="-78"/>
                <a:cs typeface="Amiri" pitchFamily="2" charset="-78"/>
              </a:rPr>
              <a:t>تَرْسِيخُ الوَحْدَةِ — إِتْقَانُ الفِعْلِ المَاضِي وَإِعْدَادُ التَّحَدُّثِ</a:t>
            </a:r>
            <a:endParaRPr lang="ar-SA" sz="335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Get ready for the D5 speaking: answer a past question in the past (</a:t>
            </a:r>
            <a:pPr algn="l" indent="0" marL="0">
              <a:buNone/>
            </a:pPr>
            <a:r>
              <a:rPr lang="ar-SA" altLang="en-US" sz="1800" dirty="0">
                <a:solidFill>
                  <a:srgbClr val="C6D2E6"/>
                </a:solidFill>
                <a:latin typeface="Amiri" pitchFamily="2" charset="-78"/>
                <a:ea typeface="Amiri" pitchFamily="2" charset="-78"/>
                <a:cs typeface="Amiri" pitchFamily="2" charset="-78"/>
              </a:rPr>
              <a:t>كَيْفَ بَدَأْتَ؟</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بَدَأْتُ</a:t>
            </a:r>
            <a:pPr algn="l" indent="0" marL="0">
              <a:buNone/>
            </a:pPr>
            <a:r>
              <a:rPr lang="en-US" sz="1400" dirty="0">
                <a:solidFill>
                  <a:srgbClr val="C6D2E6"/>
                </a:solidFill>
                <a:latin typeface="Calibri" pitchFamily="34" charset="0"/>
                <a:cs typeface="Amiri" pitchFamily="2" charset="-78"/>
              </a:rPr>
              <a:t> …), fix the stem before the suffix, extend every answer with a reason, and buy time or repair a slip in Arabic (</a:t>
            </a:r>
            <a:pPr algn="l" indent="0" marL="0">
              <a:buNone/>
            </a:pPr>
            <a:r>
              <a:rPr lang="ar-SA" altLang="en-US" sz="1800" dirty="0">
                <a:solidFill>
                  <a:srgbClr val="C6D2E6"/>
                </a:solidFill>
                <a:latin typeface="Amiri" pitchFamily="2" charset="-78"/>
                <a:ea typeface="Amiri" pitchFamily="2" charset="-78"/>
                <a:cs typeface="Amiri" pitchFamily="2" charset="-78"/>
              </a:rPr>
              <a:t>دَعْنِي أُفَكِّرُ</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عَفْوًا، أَقْصِدُ</a:t>
            </a:r>
            <a:pPr algn="l" indent="0" marL="0">
              <a:buNone/>
            </a:pPr>
            <a:r>
              <a:rPr lang="en-US" sz="1400" dirty="0">
                <a:solidFill>
                  <a:srgbClr val="C6D2E6"/>
                </a:solidFill>
                <a:latin typeface="Calibri" pitchFamily="34" charset="0"/>
                <a:cs typeface="Amiri" pitchFamily="2" charset="-78"/>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D5-L11 · Development D5 · Hobbies, Sport and Leisure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D5 › D5-L11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Mirror the tense, fix the stem, extend, buy time, repair.</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strategies, fix three classic slips, then hear a candidate under pressure.</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D5-L12.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دَعْنِي أُفَكِّرُ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mean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let me think</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agree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الطَّلَاقَةُ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fluency</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accuracy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hesitation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عَفْوًا، أَقْصِدُ</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let me think</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good question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sorry, I mean</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“I” past of </a:t>
            </a:r>
            <a:pPr algn="l" indent="0" marL="0">
              <a:buNone/>
            </a:pPr>
            <a:r>
              <a:rPr lang="ar-SA" altLang="en-US" sz="1650" b="1" dirty="0">
                <a:solidFill>
                  <a:srgbClr val="1B3B6F"/>
                </a:solidFill>
                <a:latin typeface="Amiri" pitchFamily="2" charset="-78"/>
                <a:ea typeface="Amiri" pitchFamily="2" charset="-78"/>
                <a:cs typeface="Amiri" pitchFamily="2" charset="-78"/>
              </a:rPr>
              <a:t>زَارَ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زَارْتُ</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زَوَرْتُ</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past habit?</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كُنْتُ أَلْعَبُ</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سَأَلْعَبُ</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أَلْعَبُ الآنَ</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دَعْنِي أُفَكِّرُ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mean</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let me think</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agree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(D5-L10).</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الطَّلَاقَةُ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fluency</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accuracy</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hesitation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(D5-L10).</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عَفْوًا، أَقْصِدُ</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let me think</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good question</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sorry, I mean</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(D5-L10).</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“I” past of </a:t>
            </a:r>
            <a:pPr algn="l" indent="0" marL="0">
              <a:buNone/>
            </a:pPr>
            <a:r>
              <a:rPr lang="ar-SA" altLang="en-US" sz="1650" b="1" dirty="0">
                <a:solidFill>
                  <a:srgbClr val="1B3B6F"/>
                </a:solidFill>
                <a:latin typeface="Amiri" pitchFamily="2" charset="-78"/>
                <a:ea typeface="Amiri" pitchFamily="2" charset="-78"/>
                <a:cs typeface="Amiri" pitchFamily="2" charset="-78"/>
              </a:rPr>
              <a:t>زَارَ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زَارْتُ</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زَوَرْتُ</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زُرْتُ</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D5-L07: hollow verbs.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past habit?</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كُنْتُ أَلْعَبُ</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سَأَلْعَبُ</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أَلْعَبُ الآنَ</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D5-L05.</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Hear the tense of the question — then MIRROR it in your answer.</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كَيْفَ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بَدَأْتَ</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بَدَأْتُ</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فِي الطُّفُولَةِ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لِأَنَّ</a:t>
            </a:r>
            <a:pPr rtl="1" algn="ctr" indent="0" marL="0">
              <a:lnSpc>
                <a:spcPct val="120000"/>
              </a:lnSpc>
              <a:buNone/>
            </a:pPr>
            <a:r>
              <a:rPr lang="ar-SA" altLang="en-US" sz="1950" b="1" dirty="0">
                <a:solidFill>
                  <a:srgbClr val="1B3B6F"/>
                </a:solidFill>
                <a:latin typeface="Amiri" pitchFamily="2" charset="-78"/>
                <a:cs typeface="Amiri" pitchFamily="2" charset="-78"/>
              </a:rPr>
              <a:t> …</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Answer a past question in the past tense (mirror the question).</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Fix the stem of irregular verbs before the suffix.</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Extend every answer with a reason, a frequency or a connector.</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Buy time and repair slips in Arabic.</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answer four past questions in the past.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use one time-buying phrase.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add a reason to every answer.</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repair a slip with </a:t>
            </a:r>
            <a:pPr algn="l" indent="0" marL="0">
              <a:buNone/>
            </a:pPr>
            <a:r>
              <a:rPr lang="ar-SA" altLang="en-US" sz="1700" b="1" dirty="0">
                <a:solidFill>
                  <a:srgbClr val="C9780A"/>
                </a:solidFill>
                <a:latin typeface="Amiri" pitchFamily="2" charset="-78"/>
                <a:ea typeface="Amiri" pitchFamily="2" charset="-78"/>
                <a:cs typeface="Amiri" pitchFamily="2" charset="-78"/>
              </a:rPr>
              <a:t>عَفْوًا، أَقْصِدُ</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answer past → present → future.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review my own progress in 80 words.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Speaking under pressure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Repair and hesitation phrases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D5 revision anchors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طَلَاقَةٌ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‎طلاقت / روانی‎ </a:t>
            </a:r>
            <a:pPr indent="0" marL="0">
              <a:buNone/>
            </a:pPr>
            <a:r>
              <a:rPr lang="en-US" sz="950" b="1" dirty="0">
                <a:solidFill>
                  <a:srgbClr val="2E8B57"/>
                </a:solidFill>
                <a:latin typeface="Calibri" pitchFamily="34" charset="0"/>
                <a:cs typeface="Amiri" pitchFamily="2" charset="-78"/>
              </a:rPr>
              <a:t> ṭalāqat · fluency</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تَرَدُّدٌ</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‎تردد‎ </a:t>
            </a:r>
            <a:pPr indent="0" marL="0">
              <a:buNone/>
            </a:pPr>
            <a:r>
              <a:rPr lang="en-US" sz="950" b="1" dirty="0">
                <a:solidFill>
                  <a:srgbClr val="2E8B57"/>
                </a:solidFill>
                <a:latin typeface="Calibri" pitchFamily="34" charset="0"/>
                <a:cs typeface="Amiri" pitchFamily="2" charset="-78"/>
              </a:rPr>
              <a:t> taraddud · hesitation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صَرَاحَةٌ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‎صراحت‎ </a:t>
            </a:r>
            <a:pPr indent="0" marL="0">
              <a:buNone/>
            </a:pPr>
            <a:r>
              <a:rPr lang="en-US" sz="950" b="1" dirty="0">
                <a:solidFill>
                  <a:srgbClr val="2E8B57"/>
                </a:solidFill>
                <a:latin typeface="Calibri" pitchFamily="34" charset="0"/>
                <a:cs typeface="Amiri" pitchFamily="2" charset="-78"/>
              </a:rPr>
              <a:t> ṣarāḥat · frankness, clarity</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حَقِيقَةٌ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‎حقیقت‎ </a:t>
            </a:r>
            <a:pPr indent="0" marL="0">
              <a:buNone/>
            </a:pPr>
            <a:r>
              <a:rPr lang="en-US" sz="950" b="1" dirty="0">
                <a:solidFill>
                  <a:srgbClr val="2E8B57"/>
                </a:solidFill>
                <a:latin typeface="Calibri" pitchFamily="34" charset="0"/>
                <a:cs typeface="Amiri" pitchFamily="2" charset="-78"/>
              </a:rPr>
              <a:t> ḥaqīqat · truth, fact</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عَفْوًا</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‎معاف کیجیے‎ </a:t>
            </a:r>
            <a:pPr indent="0" marL="0">
              <a:buNone/>
            </a:pPr>
            <a:r>
              <a:rPr lang="en-US" sz="950" b="1" dirty="0">
                <a:solidFill>
                  <a:srgbClr val="2E8B57"/>
                </a:solidFill>
                <a:latin typeface="Calibri" pitchFamily="34" charset="0"/>
                <a:cs typeface="Amiri" pitchFamily="2" charset="-78"/>
              </a:rPr>
              <a:t> muʿāf · sorry, excuse me (same root ʿ-f-w)</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under pressure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الحَدِيثُ بِالفِعْلِ المَاضِي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speaking in the past tense</a:t>
            </a:r>
            <a:endParaRPr lang="en-US" sz="1350" dirty="0"/>
          </a:p>
          <a:p>
            <a:pPr indent="0" marL="0">
              <a:buNone/>
            </a:pPr>
            <a:r>
              <a:rPr lang="en-US" sz="1100" i="1" dirty="0">
                <a:solidFill>
                  <a:srgbClr val="5A6472"/>
                </a:solidFill>
                <a:latin typeface="Calibri" pitchFamily="34" charset="0"/>
                <a:cs typeface="Amiri" pitchFamily="2" charset="-78"/>
              </a:rPr>
              <a:t>al-ḥa-dī-thu bil-fiʿ-li al-mā-ḍī</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الدِّقَّةُ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accuracy</a:t>
            </a:r>
            <a:endParaRPr lang="en-US" sz="1350" dirty="0"/>
          </a:p>
          <a:p>
            <a:pPr indent="0" marL="0">
              <a:buNone/>
            </a:pPr>
            <a:r>
              <a:rPr lang="en-US" sz="1100" i="1" dirty="0">
                <a:solidFill>
                  <a:srgbClr val="5A6472"/>
                </a:solidFill>
                <a:latin typeface="Calibri" pitchFamily="34" charset="0"/>
                <a:cs typeface="Amiri" pitchFamily="2" charset="-78"/>
              </a:rPr>
              <a:t>ad-diq-qa-tu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الطَّلَاقَةُ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fluency</a:t>
            </a:r>
            <a:endParaRPr lang="en-US" sz="1350" dirty="0"/>
          </a:p>
          <a:p>
            <a:pPr indent="0" marL="0">
              <a:buNone/>
            </a:pPr>
            <a:r>
              <a:rPr lang="en-US" sz="1100" i="1" dirty="0">
                <a:solidFill>
                  <a:srgbClr val="5A6472"/>
                </a:solidFill>
                <a:latin typeface="Calibri" pitchFamily="34" charset="0"/>
                <a:cs typeface="Amiri" pitchFamily="2" charset="-78"/>
              </a:rPr>
              <a:t>aṭ-ṭa-lā-qa-tu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التَّرَدُّدُ</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hesitation</a:t>
            </a:r>
            <a:endParaRPr lang="en-US" sz="1350" dirty="0"/>
          </a:p>
          <a:p>
            <a:pPr indent="0" marL="0">
              <a:buNone/>
            </a:pPr>
            <a:r>
              <a:rPr lang="en-US" sz="1100" i="1" dirty="0">
                <a:solidFill>
                  <a:srgbClr val="5A6472"/>
                </a:solidFill>
                <a:latin typeface="Calibri" pitchFamily="34" charset="0"/>
                <a:cs typeface="Amiri" pitchFamily="2" charset="-78"/>
              </a:rPr>
              <a:t>at-ta-rad-du-du</a:t>
            </a:r>
            <a:endParaRPr lang="en-US" sz="13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under pressure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أُعِيدُ الصِّيَاغَةَ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rephrase</a:t>
            </a:r>
            <a:endParaRPr lang="en-US" sz="1350" dirty="0"/>
          </a:p>
          <a:p>
            <a:pPr indent="0" marL="0">
              <a:buNone/>
            </a:pPr>
            <a:r>
              <a:rPr lang="en-US" sz="1100" i="1" dirty="0">
                <a:solidFill>
                  <a:srgbClr val="5A6472"/>
                </a:solidFill>
                <a:latin typeface="Calibri" pitchFamily="34" charset="0"/>
                <a:cs typeface="Amiri" pitchFamily="2" charset="-78"/>
              </a:rPr>
              <a:t>u-ʿī-du aṣ-ṣi-yā-gha-ta</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3" name="Shape 2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سَبِيلِ المِثَالِ</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 example</a:t>
            </a:r>
            <a:endParaRPr lang="en-US" sz="1350" dirty="0"/>
          </a:p>
          <a:p>
            <a:pPr indent="0" marL="0">
              <a:buNone/>
            </a:pPr>
            <a:r>
              <a:rPr lang="en-US" sz="1100" i="1" dirty="0">
                <a:solidFill>
                  <a:srgbClr val="5A6472"/>
                </a:solidFill>
                <a:latin typeface="Calibri" pitchFamily="34" charset="0"/>
                <a:cs typeface="Amiri" pitchFamily="2" charset="-78"/>
              </a:rPr>
              <a:t>ʿa-lā sa-bī-li al-mi-thā-li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بِصَرَاحَةٍ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frankly</a:t>
            </a:r>
            <a:endParaRPr lang="en-US" sz="1350" dirty="0"/>
          </a:p>
          <a:p>
            <a:pPr indent="0" marL="0">
              <a:buNone/>
            </a:pPr>
            <a:r>
              <a:rPr lang="en-US" sz="1100" i="1" dirty="0">
                <a:solidFill>
                  <a:srgbClr val="5A6472"/>
                </a:solidFill>
                <a:latin typeface="Calibri" pitchFamily="34" charset="0"/>
                <a:cs typeface="Amiri" pitchFamily="2" charset="-78"/>
              </a:rPr>
              <a:t>bi-ṣa-rā-ḥa-tin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5" name="Shape 3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الحَقِيقَةِ</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fact</a:t>
            </a:r>
            <a:endParaRPr lang="en-US" sz="1350" dirty="0"/>
          </a:p>
          <a:p>
            <a:pPr indent="0" marL="0">
              <a:buNone/>
            </a:pPr>
            <a:r>
              <a:rPr lang="en-US" sz="1100" i="1" dirty="0">
                <a:solidFill>
                  <a:srgbClr val="5A6472"/>
                </a:solidFill>
                <a:latin typeface="Calibri" pitchFamily="34" charset="0"/>
                <a:cs typeface="Amiri" pitchFamily="2" charset="-78"/>
              </a:rPr>
              <a:t>fī al-ḥa-qī-qa-ti</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Repair and hesitation phrases (1 of 2)</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8604504" y="1938528"/>
            <a:ext cx="1269187"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 repair phrase.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عَفْوًا، أَقْصِدُ</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sorry, I mean</a:t>
            </a:r>
            <a:endParaRPr lang="en-US" sz="1350" dirty="0"/>
          </a:p>
          <a:p>
            <a:pPr indent="0" marL="0">
              <a:buNone/>
            </a:pPr>
            <a:r>
              <a:rPr lang="en-US" sz="1100" i="1" dirty="0">
                <a:solidFill>
                  <a:srgbClr val="5A6472"/>
                </a:solidFill>
                <a:latin typeface="Calibri" pitchFamily="34" charset="0"/>
                <a:cs typeface="Amiri" pitchFamily="2" charset="-78"/>
              </a:rPr>
              <a:t>ʿaf-wan, aq-ṣi-du</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دَعْنِي أُفَكِّرُ</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let me think</a:t>
            </a:r>
            <a:endParaRPr lang="en-US" sz="1350" dirty="0"/>
          </a:p>
          <a:p>
            <a:pPr indent="0" marL="0">
              <a:buNone/>
            </a:pPr>
            <a:r>
              <a:rPr lang="en-US" sz="1100" i="1" dirty="0">
                <a:solidFill>
                  <a:srgbClr val="5A6472"/>
                </a:solidFill>
                <a:latin typeface="Calibri" pitchFamily="34" charset="0"/>
                <a:cs typeface="Amiri" pitchFamily="2" charset="-78"/>
              </a:rPr>
              <a:t>daʿ-nī u-fak-ki-ru</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4" name="Shape 31"/>
          <p:cNvSpPr/>
          <p:nvPr/>
        </p:nvSpPr>
        <p:spPr>
          <a:xfrm>
            <a:off x="960120" y="1938528"/>
            <a:ext cx="1455725"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1455725"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Buys thinking time.</a:t>
            </a:r>
            <a:endParaRPr lang="en-US" sz="800" dirty="0"/>
          </a:p>
        </p:txBody>
      </p:sp>
      <p:sp>
        <p:nvSpPr>
          <p:cNvPr id="36" name="Shape 3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سُؤَالٌ جَيِّدٌ</a:t>
            </a:r>
            <a:endParaRPr lang="ar-SA" sz="3000" dirty="0"/>
          </a:p>
        </p:txBody>
      </p:sp>
      <p:sp>
        <p:nvSpPr>
          <p:cNvPr id="39" name="Text 3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good question</a:t>
            </a:r>
            <a:endParaRPr lang="en-US" sz="1350" dirty="0"/>
          </a:p>
          <a:p>
            <a:pPr indent="0" marL="0">
              <a:buNone/>
            </a:pPr>
            <a:r>
              <a:rPr lang="en-US" sz="1100" i="1" dirty="0">
                <a:solidFill>
                  <a:srgbClr val="5A6472"/>
                </a:solidFill>
                <a:latin typeface="Calibri" pitchFamily="34" charset="0"/>
                <a:cs typeface="Amiri" pitchFamily="2" charset="-78"/>
              </a:rPr>
              <a:t>su-ʾā-lun jay-yi-dun</a:t>
            </a:r>
            <a:endParaRPr lang="en-US" sz="1350" dirty="0"/>
          </a:p>
        </p:txBody>
      </p:sp>
      <p:sp>
        <p:nvSpPr>
          <p:cNvPr id="40" name="Shape 3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11312" y="4261104"/>
            <a:ext cx="310896" cy="310896"/>
          </a:xfrm>
          <a:prstGeom prst="ellipse">
            <a:avLst/>
          </a:prstGeom>
          <a:solidFill>
            <a:srgbClr val="F4F1EA"/>
          </a:solidFill>
          <a:ln w="12700">
            <a:solidFill>
              <a:srgbClr val="F4F1EA"/>
            </a:solidFill>
            <a:prstDash val="solid"/>
          </a:ln>
        </p:spPr>
      </p:sp>
      <p:sp>
        <p:nvSpPr>
          <p:cNvPr id="42" name="Text 3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3" name="Shape 4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5" name="Text 4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كَمَا قُلْتُ</a:t>
            </a:r>
            <a:endParaRPr lang="ar-SA" sz="3000" dirty="0"/>
          </a:p>
        </p:txBody>
      </p:sp>
      <p:sp>
        <p:nvSpPr>
          <p:cNvPr id="46" name="Text 4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I said</a:t>
            </a:r>
            <a:endParaRPr lang="en-US" sz="1350" dirty="0"/>
          </a:p>
          <a:p>
            <a:pPr indent="0" marL="0">
              <a:buNone/>
            </a:pPr>
            <a:r>
              <a:rPr lang="en-US" sz="1100" i="1" dirty="0">
                <a:solidFill>
                  <a:srgbClr val="5A6472"/>
                </a:solidFill>
                <a:latin typeface="Calibri" pitchFamily="34" charset="0"/>
                <a:cs typeface="Amiri" pitchFamily="2" charset="-78"/>
              </a:rPr>
              <a:t>ka-mā qul-tu</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Repair and hesitation phrases (2 of 2)</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بِعِبَارَةٍ أُخْرَى</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other words</a:t>
            </a:r>
            <a:endParaRPr lang="en-US" sz="1350" dirty="0"/>
          </a:p>
          <a:p>
            <a:pPr indent="0" marL="0">
              <a:buNone/>
            </a:pPr>
            <a:r>
              <a:rPr lang="en-US" sz="1100" i="1" dirty="0">
                <a:solidFill>
                  <a:srgbClr val="5A6472"/>
                </a:solidFill>
                <a:latin typeface="Calibri" pitchFamily="34" charset="0"/>
                <a:cs typeface="Amiri" pitchFamily="2" charset="-78"/>
              </a:rPr>
              <a:t>bi-ʿi-bā-ra-tin ukh-rā</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3" name="Shape 2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2900" b="1" dirty="0">
                <a:solidFill>
                  <a:srgbClr val="1B3B6F"/>
                </a:solidFill>
                <a:latin typeface="Amiri" pitchFamily="2" charset="-78"/>
                <a:ea typeface="Amiri" pitchFamily="2" charset="-78"/>
                <a:cs typeface="Amiri" pitchFamily="2" charset="-78"/>
              </a:rPr>
              <a:t>هَلْ يُمْكِنُ أَنْ تُعِيدَ السُّؤَالَ؟</a:t>
            </a:r>
            <a:endParaRPr lang="ar-SA" sz="2900" dirty="0"/>
          </a:p>
        </p:txBody>
      </p:sp>
      <p:sp>
        <p:nvSpPr>
          <p:cNvPr id="28" name="Text 2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could you repeat the question?</a:t>
            </a:r>
            <a:endParaRPr lang="en-US" sz="1350" dirty="0"/>
          </a:p>
          <a:p>
            <a:pPr indent="0" marL="0">
              <a:buNone/>
            </a:pPr>
            <a:r>
              <a:rPr lang="en-US" sz="1100" i="1" dirty="0">
                <a:solidFill>
                  <a:srgbClr val="5A6472"/>
                </a:solidFill>
                <a:latin typeface="Calibri" pitchFamily="34" charset="0"/>
                <a:cs typeface="Amiri" pitchFamily="2" charset="-78"/>
              </a:rPr>
              <a:t>hal yum-ki-nu an tu-ʿī-da as-su-ʾā-la?</a:t>
            </a:r>
            <a:endParaRPr lang="en-US" sz="1350" dirty="0"/>
          </a:p>
        </p:txBody>
      </p:sp>
      <p:sp>
        <p:nvSpPr>
          <p:cNvPr id="29" name="Shape 26"/>
          <p:cNvSpPr/>
          <p:nvPr/>
        </p:nvSpPr>
        <p:spPr>
          <a:xfrm>
            <a:off x="4416552" y="3438144"/>
            <a:ext cx="3364992" cy="438912"/>
          </a:xfrm>
          <a:prstGeom prst="roundRect">
            <a:avLst>
              <a:gd name="adj" fmla="val 10417"/>
            </a:avLst>
          </a:prstGeom>
          <a:solidFill>
            <a:srgbClr val="F4F1EA"/>
          </a:solidFill>
          <a:ln w="9525">
            <a:solidFill>
              <a:srgbClr val="F4F1EA"/>
            </a:solidFill>
            <a:prstDash val="solid"/>
          </a:ln>
        </p:spPr>
      </p:sp>
      <p:sp>
        <p:nvSpPr>
          <p:cNvPr id="30" name="Text 27"/>
          <p:cNvSpPr txBox="1"/>
          <p:nvPr/>
        </p:nvSpPr>
        <p:spPr>
          <a:xfrm>
            <a:off x="4471416" y="3447288"/>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a woman</a:t>
            </a:r>
            <a:endParaRPr lang="en-US" sz="700" dirty="0"/>
          </a:p>
        </p:txBody>
      </p:sp>
      <p:sp>
        <p:nvSpPr>
          <p:cNvPr id="31" name="Text 28"/>
          <p:cNvSpPr txBox="1"/>
          <p:nvPr/>
        </p:nvSpPr>
        <p:spPr>
          <a:xfrm>
            <a:off x="4462272" y="3575304"/>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هَلْ يُمْكِنُ أَنْ تُعِيدِي السُّؤَالَ؟</a:t>
            </a:r>
            <a:endParaRPr lang="ar-SA" sz="1350" dirty="0"/>
          </a:p>
        </p:txBody>
      </p:sp>
      <p:sp>
        <p:nvSpPr>
          <p:cNvPr id="32" name="Shape 29"/>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566928" y="1920240"/>
            <a:ext cx="310896" cy="310896"/>
          </a:xfrm>
          <a:prstGeom prst="ellipse">
            <a:avLst/>
          </a:prstGeom>
          <a:solidFill>
            <a:srgbClr val="F4F1EA"/>
          </a:solidFill>
          <a:ln w="12700">
            <a:solidFill>
              <a:srgbClr val="F4F1EA"/>
            </a:solidFill>
            <a:prstDash val="solid"/>
          </a:ln>
        </p:spPr>
      </p:sp>
      <p:sp>
        <p:nvSpPr>
          <p:cNvPr id="34" name="Text 31"/>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5" name="Shape 32"/>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6" name="Text 33"/>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37" name="Shape 34"/>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لَسْتُ مُتَأَكِّدًا</a:t>
            </a:r>
            <a:endParaRPr lang="ar-SA" sz="3000" dirty="0"/>
          </a:p>
        </p:txBody>
      </p:sp>
      <p:sp>
        <p:nvSpPr>
          <p:cNvPr id="40" name="Text 37"/>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am not sure</a:t>
            </a:r>
            <a:endParaRPr lang="en-US" sz="1350" dirty="0"/>
          </a:p>
          <a:p>
            <a:pPr indent="0" marL="0">
              <a:buNone/>
            </a:pPr>
            <a:r>
              <a:rPr lang="en-US" sz="1100" i="1" dirty="0">
                <a:solidFill>
                  <a:srgbClr val="5A6472"/>
                </a:solidFill>
                <a:latin typeface="Calibri" pitchFamily="34" charset="0"/>
                <a:cs typeface="Amiri" pitchFamily="2" charset="-78"/>
              </a:rPr>
              <a:t>las-tu mu-ta-ʾak-ki-dan</a:t>
            </a:r>
            <a:endParaRPr lang="en-US" sz="1350" dirty="0"/>
          </a:p>
        </p:txBody>
      </p:sp>
      <p:sp>
        <p:nvSpPr>
          <p:cNvPr id="41" name="Shape 38"/>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2" name="Text 39"/>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3" name="Text 40"/>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لَسْتُ مُتَأَكِّدَةً</a:t>
            </a:r>
            <a:endParaRPr lang="ar-SA" sz="150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47" name="Shape 44"/>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48" name="Text 45"/>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49" name="Text 4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أَتَّفِقُ مَعَكَ</a:t>
            </a:r>
            <a:endParaRPr lang="ar-SA" sz="3000" dirty="0"/>
          </a:p>
        </p:txBody>
      </p:sp>
      <p:sp>
        <p:nvSpPr>
          <p:cNvPr id="50" name="Text 4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agree with you</a:t>
            </a:r>
            <a:endParaRPr lang="en-US" sz="1350" dirty="0"/>
          </a:p>
          <a:p>
            <a:pPr indent="0" marL="0">
              <a:buNone/>
            </a:pPr>
            <a:r>
              <a:rPr lang="en-US" sz="1100" i="1" dirty="0">
                <a:solidFill>
                  <a:srgbClr val="5A6472"/>
                </a:solidFill>
                <a:latin typeface="Calibri" pitchFamily="34" charset="0"/>
                <a:cs typeface="Amiri" pitchFamily="2" charset="-78"/>
              </a:rPr>
              <a:t>at-ta-fi-qu ma-ʿa-ka</a:t>
            </a:r>
            <a:endParaRPr lang="en-US" sz="1350" dirty="0"/>
          </a:p>
        </p:txBody>
      </p:sp>
      <p:sp>
        <p:nvSpPr>
          <p:cNvPr id="51" name="Shape 48"/>
          <p:cNvSpPr/>
          <p:nvPr/>
        </p:nvSpPr>
        <p:spPr>
          <a:xfrm>
            <a:off x="8238744" y="5779008"/>
            <a:ext cx="3364992"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8293608" y="5788152"/>
            <a:ext cx="3255264"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a girl</a:t>
            </a:r>
            <a:endParaRPr lang="en-US" sz="700" dirty="0"/>
          </a:p>
        </p:txBody>
      </p:sp>
      <p:sp>
        <p:nvSpPr>
          <p:cNvPr id="53" name="Text 50"/>
          <p:cNvSpPr txBox="1"/>
          <p:nvPr/>
        </p:nvSpPr>
        <p:spPr>
          <a:xfrm>
            <a:off x="8284464" y="5916168"/>
            <a:ext cx="3273552"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أَتَّفِقُ مَعَكِ</a:t>
            </a:r>
            <a:endParaRPr lang="ar-SA" sz="135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D5 revision anchors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الهِوَايَاتُ</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hobbies</a:t>
            </a:r>
            <a:endParaRPr lang="en-US" sz="1350" dirty="0"/>
          </a:p>
          <a:p>
            <a:pPr indent="0" marL="0">
              <a:buNone/>
            </a:pPr>
            <a:r>
              <a:rPr lang="en-US" sz="1100" i="1" dirty="0">
                <a:solidFill>
                  <a:srgbClr val="5A6472"/>
                </a:solidFill>
                <a:latin typeface="Calibri" pitchFamily="34" charset="0"/>
                <a:cs typeface="Amiri" pitchFamily="2" charset="-78"/>
              </a:rPr>
              <a:t>al-hi-wā-yā-tu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الرِّيَاضَةُ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sport</a:t>
            </a:r>
            <a:endParaRPr lang="en-US" sz="1350" dirty="0"/>
          </a:p>
          <a:p>
            <a:pPr indent="0" marL="0">
              <a:buNone/>
            </a:pPr>
            <a:r>
              <a:rPr lang="en-US" sz="1100" i="1" dirty="0">
                <a:solidFill>
                  <a:srgbClr val="5A6472"/>
                </a:solidFill>
                <a:latin typeface="Calibri" pitchFamily="34" charset="0"/>
                <a:cs typeface="Amiri" pitchFamily="2" charset="-78"/>
              </a:rPr>
              <a:t>ar-ri-yā-ḍa-tu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التَّرْفِيهُ</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leisure</a:t>
            </a:r>
            <a:endParaRPr lang="en-US" sz="1350" dirty="0"/>
          </a:p>
          <a:p>
            <a:pPr indent="0" marL="0">
              <a:buNone/>
            </a:pPr>
            <a:r>
              <a:rPr lang="en-US" sz="1100" i="1" dirty="0">
                <a:solidFill>
                  <a:srgbClr val="5A6472"/>
                </a:solidFill>
                <a:latin typeface="Calibri" pitchFamily="34" charset="0"/>
                <a:cs typeface="Amiri" pitchFamily="2" charset="-78"/>
              </a:rPr>
              <a:t>at-tar-fī-hu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التَّجَارِبُ المَاضِيَةُ</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past experiences</a:t>
            </a:r>
            <a:endParaRPr lang="en-US" sz="1350" dirty="0"/>
          </a:p>
          <a:p>
            <a:pPr indent="0" marL="0">
              <a:buNone/>
            </a:pPr>
            <a:r>
              <a:rPr lang="en-US" sz="1100" i="1" dirty="0">
                <a:solidFill>
                  <a:srgbClr val="5A6472"/>
                </a:solidFill>
                <a:latin typeface="Calibri" pitchFamily="34" charset="0"/>
                <a:cs typeface="Amiri" pitchFamily="2" charset="-78"/>
              </a:rPr>
              <a:t>at-ta-jā-ri-bu al-mā-ḍi-ya-tu</a:t>
            </a:r>
            <a:endParaRPr lang="en-US" sz="1350" dirty="0"/>
          </a:p>
        </p:txBody>
      </p:sp>
      <p:sp>
        <p:nvSpPr>
          <p:cNvPr id="37" name="Text 34"/>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Broken plural with a feminine adjective.</a:t>
            </a:r>
            <a:endParaRPr lang="en-US" sz="10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D5 revision anchors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الفِعْلُ المَاضِي</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past tense</a:t>
            </a:r>
            <a:endParaRPr lang="en-US" sz="1350" dirty="0"/>
          </a:p>
          <a:p>
            <a:pPr indent="0" marL="0">
              <a:buNone/>
            </a:pPr>
            <a:r>
              <a:rPr lang="en-US" sz="1100" i="1" dirty="0">
                <a:solidFill>
                  <a:srgbClr val="5A6472"/>
                </a:solidFill>
                <a:latin typeface="Calibri" pitchFamily="34" charset="0"/>
                <a:cs typeface="Amiri" pitchFamily="2" charset="-78"/>
              </a:rPr>
              <a:t>al-fiʿ-lu al-mā-ḍī</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الأَفْعَالُ الشَّاذَّةُ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irregular verbs</a:t>
            </a:r>
            <a:endParaRPr lang="en-US" sz="1350" dirty="0"/>
          </a:p>
          <a:p>
            <a:pPr indent="0" marL="0">
              <a:buNone/>
            </a:pPr>
            <a:r>
              <a:rPr lang="en-US" sz="1100" i="1" dirty="0">
                <a:solidFill>
                  <a:srgbClr val="5A6472"/>
                </a:solidFill>
                <a:latin typeface="Calibri" pitchFamily="34" charset="0"/>
                <a:cs typeface="Amiri" pitchFamily="2" charset="-78"/>
              </a:rPr>
              <a:t>al-af-ʿā-lu ash-shādh-dha-tu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رَوَابِطُ السَّرْدِ</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narrative connectors</a:t>
            </a:r>
            <a:endParaRPr lang="en-US" sz="1350" dirty="0"/>
          </a:p>
          <a:p>
            <a:pPr indent="0" marL="0">
              <a:buNone/>
            </a:pPr>
            <a:r>
              <a:rPr lang="en-US" sz="1100" i="1" dirty="0">
                <a:solidFill>
                  <a:srgbClr val="5A6472"/>
                </a:solidFill>
                <a:latin typeface="Calibri" pitchFamily="34" charset="0"/>
                <a:cs typeface="Amiri" pitchFamily="2" charset="-78"/>
              </a:rPr>
              <a:t>ra-wā-bi-ṭu as-sar-di</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تَنَوُّعُ الأَزْمِنَةِ</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tense variety</a:t>
            </a:r>
            <a:endParaRPr lang="en-US" sz="1350" dirty="0"/>
          </a:p>
          <a:p>
            <a:pPr indent="0" marL="0">
              <a:buNone/>
            </a:pPr>
            <a:r>
              <a:rPr lang="en-US" sz="1100" i="1" dirty="0">
                <a:solidFill>
                  <a:srgbClr val="5A6472"/>
                </a:solidFill>
                <a:latin typeface="Calibri" pitchFamily="34" charset="0"/>
                <a:cs typeface="Amiri" pitchFamily="2" charset="-78"/>
              </a:rPr>
              <a:t>ta-naw-wu-ʿu al-az-mi-na-ti</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MIRROR THE QUESTION (WEBSITE RULES 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A past question needs a past answer</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سُؤَالٌ مَاضٍ، جَوَابٌ مَاضٍ</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Check</a:t>
            </a:r>
            <a:endParaRPr lang="en-US" sz="1100" dirty="0"/>
          </a:p>
        </p:txBody>
      </p:sp>
      <p:sp>
        <p:nvSpPr>
          <p:cNvPr id="17" name="Text 14"/>
          <p:cNvSpPr txBox="1"/>
          <p:nvPr/>
        </p:nvSpPr>
        <p:spPr>
          <a:xfrm>
            <a:off x="455371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 answer</a:t>
            </a:r>
            <a:endParaRPr lang="en-US" sz="1100" dirty="0"/>
          </a:p>
        </p:txBody>
      </p:sp>
      <p:sp>
        <p:nvSpPr>
          <p:cNvPr id="18" name="Text 15"/>
          <p:cNvSpPr txBox="1"/>
          <p:nvPr/>
        </p:nvSpPr>
        <p:spPr>
          <a:xfrm>
            <a:off x="53035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Examiner asks</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9345168" y="2267712"/>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 → -tu</a:t>
            </a:r>
            <a:endParaRPr lang="en-US" sz="1100" dirty="0"/>
          </a:p>
        </p:txBody>
      </p:sp>
      <p:sp>
        <p:nvSpPr>
          <p:cNvPr id="21" name="Text 18"/>
          <p:cNvSpPr txBox="1"/>
          <p:nvPr/>
        </p:nvSpPr>
        <p:spPr>
          <a:xfrm>
            <a:off x="4572000" y="2286000"/>
            <a:ext cx="4572000"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ea typeface="Amiri" pitchFamily="2" charset="-78"/>
                <a:cs typeface="Amiri" pitchFamily="2" charset="-78"/>
              </a:rPr>
              <a:t>بَدَأْتُ</a:t>
            </a:r>
            <a:pPr rtl="1" algn="ctr" indent="0" marL="0">
              <a:buNone/>
            </a:pPr>
            <a:r>
              <a:rPr lang="ar-SA" altLang="en-US" sz="1950" b="1" dirty="0">
                <a:solidFill>
                  <a:srgbClr val="1B3B6F"/>
                </a:solidFill>
                <a:latin typeface="Amiri" pitchFamily="2" charset="-78"/>
                <a:ea typeface="Amiri" pitchFamily="2" charset="-78"/>
                <a:cs typeface="Amiri" pitchFamily="2" charset="-78"/>
              </a:rPr>
              <a:t> فِي الطُّفُولَةِ مَعَ أَخِي.</a:t>
            </a:r>
            <a:endParaRPr lang="ar-SA" sz="1950" dirty="0"/>
          </a:p>
        </p:txBody>
      </p:sp>
      <p:sp>
        <p:nvSpPr>
          <p:cNvPr id="22" name="Text 19"/>
          <p:cNvSpPr txBox="1"/>
          <p:nvPr/>
        </p:nvSpPr>
        <p:spPr>
          <a:xfrm>
            <a:off x="4526280" y="2676997"/>
            <a:ext cx="46634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started in childhood with my brother.</a:t>
            </a:r>
            <a:endParaRPr lang="en-US" sz="950" dirty="0"/>
          </a:p>
        </p:txBody>
      </p:sp>
      <p:sp>
        <p:nvSpPr>
          <p:cNvPr id="23" name="Text 20"/>
          <p:cNvSpPr txBox="1"/>
          <p:nvPr/>
        </p:nvSpPr>
        <p:spPr>
          <a:xfrm>
            <a:off x="548640" y="2286000"/>
            <a:ext cx="384048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كَيْفَ </a:t>
            </a:r>
            <a:pPr rtl="1" algn="ctr" indent="0" marL="0">
              <a:buNone/>
            </a:pPr>
            <a:r>
              <a:rPr lang="ar-SA" altLang="en-US" sz="1950" b="1" dirty="0">
                <a:solidFill>
                  <a:srgbClr val="0E7C86"/>
                </a:solidFill>
                <a:latin typeface="Amiri" pitchFamily="2" charset="-78"/>
                <a:ea typeface="Amiri" pitchFamily="2" charset="-78"/>
                <a:cs typeface="Amiri" pitchFamily="2" charset="-78"/>
              </a:rPr>
              <a:t>بَدَأْتَ</a:t>
            </a:r>
            <a:pPr rtl="1" algn="ctr" indent="0" marL="0">
              <a:buNone/>
            </a:pPr>
            <a:r>
              <a:rPr lang="ar-SA" altLang="en-US" sz="1950" b="1" dirty="0">
                <a:solidFill>
                  <a:srgbClr val="1B3B6F"/>
                </a:solidFill>
                <a:latin typeface="Amiri" pitchFamily="2" charset="-78"/>
                <a:ea typeface="Amiri" pitchFamily="2" charset="-78"/>
                <a:cs typeface="Amiri" pitchFamily="2" charset="-78"/>
              </a:rPr>
              <a:t> هٰذِهِ الهِوَايَةَ؟</a:t>
            </a:r>
            <a:endParaRPr lang="ar-SA" sz="1950" dirty="0"/>
          </a:p>
        </p:txBody>
      </p:sp>
      <p:sp>
        <p:nvSpPr>
          <p:cNvPr id="24" name="Text 21"/>
          <p:cNvSpPr txBox="1"/>
          <p:nvPr/>
        </p:nvSpPr>
        <p:spPr>
          <a:xfrm>
            <a:off x="502920" y="2676997"/>
            <a:ext cx="393192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How did you start this hobby?</a:t>
            </a:r>
            <a:endParaRPr lang="en-US" sz="95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345168" y="300471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 -tu (boy or girl)</a:t>
            </a:r>
            <a:endParaRPr lang="en-US" sz="1100" dirty="0"/>
          </a:p>
        </p:txBody>
      </p:sp>
      <p:sp>
        <p:nvSpPr>
          <p:cNvPr id="29" name="Text 26"/>
          <p:cNvSpPr txBox="1"/>
          <p:nvPr/>
        </p:nvSpPr>
        <p:spPr>
          <a:xfrm>
            <a:off x="4572000" y="3023006"/>
            <a:ext cx="4572000" cy="422928"/>
          </a:xfrm>
          <a:prstGeom prst="rect">
            <a:avLst/>
          </a:prstGeom>
          <a:noFill/>
          <a:ln/>
        </p:spPr>
        <p:txBody>
          <a:bodyPr wrap="square" lIns="0" tIns="0" rIns="0" bIns="0" rtlCol="0" anchor="ctr"/>
          <a:lstStyle/>
          <a:p>
            <a:pPr rtl="1" algn="ctr" indent="0" marL="0">
              <a:buNone/>
            </a:pPr>
            <a:r>
              <a:rPr lang="ar-SA" altLang="en-US" sz="1950" b="1" dirty="0">
                <a:solidFill>
                  <a:srgbClr val="0E7C86"/>
                </a:solidFill>
                <a:latin typeface="Amiri" pitchFamily="2" charset="-78"/>
                <a:ea typeface="Amiri" pitchFamily="2" charset="-78"/>
                <a:cs typeface="Amiri" pitchFamily="2" charset="-78"/>
              </a:rPr>
              <a:t>شَاهَدْتُ</a:t>
            </a:r>
            <a:pPr rtl="1" algn="ctr" indent="0" marL="0">
              <a:buNone/>
            </a:pPr>
            <a:r>
              <a:rPr lang="ar-SA" altLang="en-US" sz="1950" b="1" dirty="0">
                <a:solidFill>
                  <a:srgbClr val="1B3B6F"/>
                </a:solidFill>
                <a:latin typeface="Amiri" pitchFamily="2" charset="-78"/>
                <a:ea typeface="Amiri" pitchFamily="2" charset="-78"/>
                <a:cs typeface="Amiri" pitchFamily="2" charset="-78"/>
              </a:rPr>
              <a:t> مُبَارَاةً مَعَ أُسْرَتِي.</a:t>
            </a:r>
            <a:endParaRPr lang="ar-SA" sz="1950" dirty="0"/>
          </a:p>
        </p:txBody>
      </p:sp>
      <p:sp>
        <p:nvSpPr>
          <p:cNvPr id="30" name="Text 27"/>
          <p:cNvSpPr txBox="1"/>
          <p:nvPr/>
        </p:nvSpPr>
        <p:spPr>
          <a:xfrm>
            <a:off x="4526280" y="3414004"/>
            <a:ext cx="46634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watched a match with my family.</a:t>
            </a:r>
            <a:endParaRPr lang="en-US" sz="950" dirty="0"/>
          </a:p>
        </p:txBody>
      </p:sp>
      <p:sp>
        <p:nvSpPr>
          <p:cNvPr id="31" name="Text 28"/>
          <p:cNvSpPr txBox="1"/>
          <p:nvPr/>
        </p:nvSpPr>
        <p:spPr>
          <a:xfrm>
            <a:off x="548640" y="3023006"/>
            <a:ext cx="384048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مَاذَا </a:t>
            </a:r>
            <a:pPr rtl="1" algn="ctr" indent="0" marL="0">
              <a:buNone/>
            </a:pPr>
            <a:r>
              <a:rPr lang="ar-SA" altLang="en-US" sz="1950" b="1" dirty="0">
                <a:solidFill>
                  <a:srgbClr val="0E7C86"/>
                </a:solidFill>
                <a:latin typeface="Amiri" pitchFamily="2" charset="-78"/>
                <a:ea typeface="Amiri" pitchFamily="2" charset="-78"/>
                <a:cs typeface="Amiri" pitchFamily="2" charset="-78"/>
              </a:rPr>
              <a:t>فَعَلْتِ</a:t>
            </a:r>
            <a:pPr rtl="1" algn="ctr" indent="0" marL="0">
              <a:buNone/>
            </a:pPr>
            <a:r>
              <a:rPr lang="ar-SA" altLang="en-US" sz="1950" b="1" dirty="0">
                <a:solidFill>
                  <a:srgbClr val="1B3B6F"/>
                </a:solidFill>
                <a:latin typeface="Amiri" pitchFamily="2" charset="-78"/>
                <a:ea typeface="Amiri" pitchFamily="2" charset="-78"/>
                <a:cs typeface="Amiri" pitchFamily="2" charset="-78"/>
              </a:rPr>
              <a:t> أَمْسِ؟</a:t>
            </a:r>
            <a:endParaRPr lang="ar-SA" sz="1950" dirty="0"/>
          </a:p>
        </p:txBody>
      </p:sp>
      <p:sp>
        <p:nvSpPr>
          <p:cNvPr id="32" name="Text 29"/>
          <p:cNvSpPr txBox="1"/>
          <p:nvPr/>
        </p:nvSpPr>
        <p:spPr>
          <a:xfrm>
            <a:off x="502920" y="3414004"/>
            <a:ext cx="393192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What did you (f.) do yesterday?</a:t>
            </a:r>
            <a:endParaRPr lang="en-US" sz="950" dirty="0"/>
          </a:p>
        </p:txBody>
      </p:sp>
      <p:sp>
        <p:nvSpPr>
          <p:cNvPr id="33" name="Shape 30"/>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9345168" y="3741725"/>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hollow: zur-</a:t>
            </a:r>
            <a:endParaRPr lang="en-US" sz="1100" dirty="0"/>
          </a:p>
        </p:txBody>
      </p:sp>
      <p:sp>
        <p:nvSpPr>
          <p:cNvPr id="37" name="Text 34"/>
          <p:cNvSpPr txBox="1"/>
          <p:nvPr/>
        </p:nvSpPr>
        <p:spPr>
          <a:xfrm>
            <a:off x="4572000" y="3760013"/>
            <a:ext cx="4572000" cy="422928"/>
          </a:xfrm>
          <a:prstGeom prst="rect">
            <a:avLst/>
          </a:prstGeom>
          <a:noFill/>
          <a:ln/>
        </p:spPr>
        <p:txBody>
          <a:bodyPr wrap="square" lIns="0" tIns="0" rIns="0" bIns="0" rtlCol="0" anchor="ctr"/>
          <a:lstStyle/>
          <a:p>
            <a:pPr rtl="1" algn="ctr" indent="0" marL="0">
              <a:buNone/>
            </a:pPr>
            <a:r>
              <a:rPr lang="ar-SA" altLang="en-US" sz="1950" b="1" dirty="0">
                <a:solidFill>
                  <a:srgbClr val="D6336C"/>
                </a:solidFill>
                <a:latin typeface="Amiri" pitchFamily="2" charset="-78"/>
                <a:ea typeface="Amiri" pitchFamily="2" charset="-78"/>
                <a:cs typeface="Amiri" pitchFamily="2" charset="-78"/>
              </a:rPr>
              <a:t>زُرْنَا</a:t>
            </a:r>
            <a:pPr rtl="1" algn="ctr" indent="0" marL="0">
              <a:buNone/>
            </a:pPr>
            <a:r>
              <a:rPr lang="ar-SA" altLang="en-US" sz="1950" b="1" dirty="0">
                <a:solidFill>
                  <a:srgbClr val="1B3B6F"/>
                </a:solidFill>
                <a:latin typeface="Amiri" pitchFamily="2" charset="-78"/>
                <a:ea typeface="Amiri" pitchFamily="2" charset="-78"/>
                <a:cs typeface="Amiri" pitchFamily="2" charset="-78"/>
              </a:rPr>
              <a:t> المَتْحَفَ.</a:t>
            </a:r>
            <a:endParaRPr lang="ar-SA" sz="1950" dirty="0"/>
          </a:p>
        </p:txBody>
      </p:sp>
      <p:sp>
        <p:nvSpPr>
          <p:cNvPr id="38" name="Text 35"/>
          <p:cNvSpPr txBox="1"/>
          <p:nvPr/>
        </p:nvSpPr>
        <p:spPr>
          <a:xfrm>
            <a:off x="4526280" y="4151010"/>
            <a:ext cx="46634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visited the museum.</a:t>
            </a:r>
            <a:endParaRPr lang="en-US" sz="950" dirty="0"/>
          </a:p>
        </p:txBody>
      </p:sp>
      <p:sp>
        <p:nvSpPr>
          <p:cNvPr id="39" name="Text 36"/>
          <p:cNvSpPr txBox="1"/>
          <p:nvPr/>
        </p:nvSpPr>
        <p:spPr>
          <a:xfrm>
            <a:off x="548640" y="3760013"/>
            <a:ext cx="384048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أَيْنَ </a:t>
            </a:r>
            <a:pPr rtl="1" algn="ctr" indent="0" marL="0">
              <a:buNone/>
            </a:pPr>
            <a:r>
              <a:rPr lang="ar-SA" altLang="en-US" sz="1950" b="1" dirty="0">
                <a:solidFill>
                  <a:srgbClr val="D6336C"/>
                </a:solidFill>
                <a:latin typeface="Amiri" pitchFamily="2" charset="-78"/>
                <a:ea typeface="Amiri" pitchFamily="2" charset="-78"/>
                <a:cs typeface="Amiri" pitchFamily="2" charset="-78"/>
              </a:rPr>
              <a:t>زُرْتُمْ</a:t>
            </a:r>
            <a:pPr rtl="1" algn="ctr" indent="0" marL="0">
              <a:buNone/>
            </a:pPr>
            <a:r>
              <a:rPr lang="ar-SA" altLang="en-US" sz="1950" b="1" dirty="0">
                <a:solidFill>
                  <a:srgbClr val="1B3B6F"/>
                </a:solidFill>
                <a:latin typeface="Amiri" pitchFamily="2" charset="-78"/>
                <a:ea typeface="Amiri" pitchFamily="2" charset="-78"/>
                <a:cs typeface="Amiri" pitchFamily="2" charset="-78"/>
              </a:rPr>
              <a:t>؟</a:t>
            </a:r>
            <a:endParaRPr lang="ar-SA" sz="1950" dirty="0"/>
          </a:p>
        </p:txBody>
      </p:sp>
      <p:sp>
        <p:nvSpPr>
          <p:cNvPr id="40" name="Text 37"/>
          <p:cNvSpPr txBox="1"/>
          <p:nvPr/>
        </p:nvSpPr>
        <p:spPr>
          <a:xfrm>
            <a:off x="502920" y="4151010"/>
            <a:ext cx="393192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Where did you (all) visit?</a:t>
            </a:r>
            <a:endParaRPr lang="en-US" sz="9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9345168" y="4478731"/>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weak: raʾay-</a:t>
            </a:r>
            <a:endParaRPr lang="en-US" sz="1100" dirty="0"/>
          </a:p>
        </p:txBody>
      </p:sp>
      <p:sp>
        <p:nvSpPr>
          <p:cNvPr id="43" name="Text 40"/>
          <p:cNvSpPr txBox="1"/>
          <p:nvPr/>
        </p:nvSpPr>
        <p:spPr>
          <a:xfrm>
            <a:off x="4572000" y="4497019"/>
            <a:ext cx="4572000" cy="422928"/>
          </a:xfrm>
          <a:prstGeom prst="rect">
            <a:avLst/>
          </a:prstGeom>
          <a:noFill/>
          <a:ln/>
        </p:spPr>
        <p:txBody>
          <a:bodyPr wrap="square" lIns="0" tIns="0" rIns="0" bIns="0" rtlCol="0" anchor="ctr"/>
          <a:lstStyle/>
          <a:p>
            <a:pPr rtl="1" algn="ctr" indent="0" marL="0">
              <a:buNone/>
            </a:pPr>
            <a:r>
              <a:rPr lang="ar-SA" altLang="en-US" sz="1950" b="1" dirty="0">
                <a:solidFill>
                  <a:srgbClr val="D6336C"/>
                </a:solidFill>
                <a:latin typeface="Amiri" pitchFamily="2" charset="-78"/>
                <a:ea typeface="Amiri" pitchFamily="2" charset="-78"/>
                <a:cs typeface="Amiri" pitchFamily="2" charset="-78"/>
              </a:rPr>
              <a:t>رَأَيْتُ</a:t>
            </a:r>
            <a:pPr rtl="1" algn="ctr" indent="0" marL="0">
              <a:buNone/>
            </a:pPr>
            <a:r>
              <a:rPr lang="ar-SA" altLang="en-US" sz="1950" b="1" dirty="0">
                <a:solidFill>
                  <a:srgbClr val="1B3B6F"/>
                </a:solidFill>
                <a:latin typeface="Amiri" pitchFamily="2" charset="-78"/>
                <a:ea typeface="Amiri" pitchFamily="2" charset="-78"/>
                <a:cs typeface="Amiri" pitchFamily="2" charset="-78"/>
              </a:rPr>
              <a:t> مَنْظَرًا جَمِيلًا.</a:t>
            </a:r>
            <a:endParaRPr lang="ar-SA" sz="1950" dirty="0"/>
          </a:p>
        </p:txBody>
      </p:sp>
      <p:sp>
        <p:nvSpPr>
          <p:cNvPr id="44" name="Text 41"/>
          <p:cNvSpPr txBox="1"/>
          <p:nvPr/>
        </p:nvSpPr>
        <p:spPr>
          <a:xfrm>
            <a:off x="4526280" y="4888017"/>
            <a:ext cx="46634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saw a beautiful view.</a:t>
            </a:r>
            <a:endParaRPr lang="en-US" sz="950" dirty="0"/>
          </a:p>
        </p:txBody>
      </p:sp>
      <p:sp>
        <p:nvSpPr>
          <p:cNvPr id="45" name="Text 42"/>
          <p:cNvSpPr txBox="1"/>
          <p:nvPr/>
        </p:nvSpPr>
        <p:spPr>
          <a:xfrm>
            <a:off x="548640" y="4497019"/>
            <a:ext cx="384048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مَاذَا </a:t>
            </a:r>
            <a:pPr rtl="1" algn="ctr" indent="0" marL="0">
              <a:buNone/>
            </a:pPr>
            <a:r>
              <a:rPr lang="ar-SA" altLang="en-US" sz="1950" b="1" dirty="0">
                <a:solidFill>
                  <a:srgbClr val="D6336C"/>
                </a:solidFill>
                <a:latin typeface="Amiri" pitchFamily="2" charset="-78"/>
                <a:ea typeface="Amiri" pitchFamily="2" charset="-78"/>
                <a:cs typeface="Amiri" pitchFamily="2" charset="-78"/>
              </a:rPr>
              <a:t>رَأَيْتَ</a:t>
            </a:r>
            <a:pPr rtl="1" algn="ctr" indent="0" marL="0">
              <a:buNone/>
            </a:pPr>
            <a:r>
              <a:rPr lang="ar-SA" altLang="en-US" sz="1950" b="1" dirty="0">
                <a:solidFill>
                  <a:srgbClr val="1B3B6F"/>
                </a:solidFill>
                <a:latin typeface="Amiri" pitchFamily="2" charset="-78"/>
                <a:ea typeface="Amiri" pitchFamily="2" charset="-78"/>
                <a:cs typeface="Amiri" pitchFamily="2" charset="-78"/>
              </a:rPr>
              <a:t>؟</a:t>
            </a:r>
            <a:endParaRPr lang="ar-SA" sz="1950" dirty="0"/>
          </a:p>
        </p:txBody>
      </p:sp>
      <p:sp>
        <p:nvSpPr>
          <p:cNvPr id="46" name="Text 43"/>
          <p:cNvSpPr txBox="1"/>
          <p:nvPr/>
        </p:nvSpPr>
        <p:spPr>
          <a:xfrm>
            <a:off x="502920" y="4888017"/>
            <a:ext cx="393192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What did you see?</a:t>
            </a:r>
            <a:endParaRPr lang="en-US" sz="950" dirty="0"/>
          </a:p>
        </p:txBody>
      </p:sp>
      <p:sp>
        <p:nvSpPr>
          <p:cNvPr id="47" name="Shape 44"/>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8" name="Text 45"/>
          <p:cNvSpPr txBox="1"/>
          <p:nvPr/>
        </p:nvSpPr>
        <p:spPr>
          <a:xfrm>
            <a:off x="9345168" y="5215738"/>
            <a:ext cx="231343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 question → sa-</a:t>
            </a:r>
            <a:endParaRPr lang="en-US" sz="1100" dirty="0"/>
          </a:p>
        </p:txBody>
      </p:sp>
      <p:sp>
        <p:nvSpPr>
          <p:cNvPr id="49" name="Text 46"/>
          <p:cNvSpPr txBox="1"/>
          <p:nvPr/>
        </p:nvSpPr>
        <p:spPr>
          <a:xfrm>
            <a:off x="4572000" y="5234026"/>
            <a:ext cx="4572000" cy="422928"/>
          </a:xfrm>
          <a:prstGeom prst="rect">
            <a:avLst/>
          </a:prstGeom>
          <a:noFill/>
          <a:ln/>
        </p:spPr>
        <p:txBody>
          <a:bodyPr wrap="square" lIns="0" tIns="0" rIns="0" bIns="0" rtlCol="0" anchor="ctr"/>
          <a:lstStyle/>
          <a:p>
            <a:pPr rtl="1" algn="ctr" indent="0" marL="0">
              <a:buNone/>
            </a:pPr>
            <a:r>
              <a:rPr lang="ar-SA" altLang="en-US" sz="1950" b="1" dirty="0">
                <a:solidFill>
                  <a:srgbClr val="1D5FBF"/>
                </a:solidFill>
                <a:latin typeface="Amiri" pitchFamily="2" charset="-78"/>
                <a:ea typeface="Amiri" pitchFamily="2" charset="-78"/>
                <a:cs typeface="Amiri" pitchFamily="2" charset="-78"/>
              </a:rPr>
              <a:t>سَأَشْتَرِكُ</a:t>
            </a:r>
            <a:pPr rtl="1" algn="ctr" indent="0" marL="0">
              <a:buNone/>
            </a:pPr>
            <a:r>
              <a:rPr lang="ar-SA" altLang="en-US" sz="1950" b="1" dirty="0">
                <a:solidFill>
                  <a:srgbClr val="1B3B6F"/>
                </a:solidFill>
                <a:latin typeface="Amiri" pitchFamily="2" charset="-78"/>
                <a:ea typeface="Amiri" pitchFamily="2" charset="-78"/>
                <a:cs typeface="Amiri" pitchFamily="2" charset="-78"/>
              </a:rPr>
              <a:t> فِي بُطُولَةٍ.</a:t>
            </a:r>
            <a:endParaRPr lang="ar-SA" sz="1950" dirty="0"/>
          </a:p>
        </p:txBody>
      </p:sp>
      <p:sp>
        <p:nvSpPr>
          <p:cNvPr id="50" name="Text 47"/>
          <p:cNvSpPr txBox="1"/>
          <p:nvPr/>
        </p:nvSpPr>
        <p:spPr>
          <a:xfrm>
            <a:off x="4526280" y="5625023"/>
            <a:ext cx="466344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will take part in a championship.</a:t>
            </a:r>
            <a:endParaRPr lang="en-US" sz="950" dirty="0"/>
          </a:p>
        </p:txBody>
      </p:sp>
      <p:sp>
        <p:nvSpPr>
          <p:cNvPr id="51" name="Text 48"/>
          <p:cNvSpPr txBox="1"/>
          <p:nvPr/>
        </p:nvSpPr>
        <p:spPr>
          <a:xfrm>
            <a:off x="548640" y="5234026"/>
            <a:ext cx="3840480"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وَمَا </a:t>
            </a:r>
            <a:pPr rtl="1" algn="ctr" indent="0" marL="0">
              <a:buNone/>
            </a:pPr>
            <a:r>
              <a:rPr lang="ar-SA" altLang="en-US" sz="1950" b="1" dirty="0">
                <a:solidFill>
                  <a:srgbClr val="1D5FBF"/>
                </a:solidFill>
                <a:latin typeface="Amiri" pitchFamily="2" charset="-78"/>
                <a:ea typeface="Amiri" pitchFamily="2" charset="-78"/>
                <a:cs typeface="Amiri" pitchFamily="2" charset="-78"/>
              </a:rPr>
              <a:t>خُطَطُكَ</a:t>
            </a:r>
            <a:pPr rtl="1" algn="ctr" indent="0" marL="0">
              <a:buNone/>
            </a:pPr>
            <a:r>
              <a:rPr lang="ar-SA" altLang="en-US" sz="1950" b="1" dirty="0">
                <a:solidFill>
                  <a:srgbClr val="1B3B6F"/>
                </a:solidFill>
                <a:latin typeface="Amiri" pitchFamily="2" charset="-78"/>
                <a:ea typeface="Amiri" pitchFamily="2" charset="-78"/>
                <a:cs typeface="Amiri" pitchFamily="2" charset="-78"/>
              </a:rPr>
              <a:t>؟</a:t>
            </a:r>
            <a:endParaRPr lang="ar-SA" sz="1950" dirty="0"/>
          </a:p>
        </p:txBody>
      </p:sp>
      <p:sp>
        <p:nvSpPr>
          <p:cNvPr id="52" name="Text 49"/>
          <p:cNvSpPr txBox="1"/>
          <p:nvPr/>
        </p:nvSpPr>
        <p:spPr>
          <a:xfrm>
            <a:off x="502920" y="5625023"/>
            <a:ext cx="3931920"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And what are your plans?</a:t>
            </a:r>
            <a:endParaRPr lang="en-US" sz="950" dirty="0"/>
          </a:p>
        </p:txBody>
      </p:sp>
      <p:sp>
        <p:nvSpPr>
          <p:cNvPr id="53" name="Shape 50"/>
          <p:cNvSpPr/>
          <p:nvPr/>
        </p:nvSpPr>
        <p:spPr>
          <a:xfrm>
            <a:off x="11091672" y="526145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26145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girl answering “What did you do?” still says -tu: </a:t>
            </a:r>
            <a:pPr algn="l" indent="0" marL="0">
              <a:buNone/>
            </a:pPr>
            <a:r>
              <a:rPr lang="ar-SA" altLang="en-US" sz="1500" b="1" dirty="0">
                <a:solidFill>
                  <a:srgbClr val="1B3B6F"/>
                </a:solidFill>
                <a:latin typeface="Amiri" pitchFamily="2" charset="-78"/>
                <a:ea typeface="Amiri" pitchFamily="2" charset="-78"/>
                <a:cs typeface="Amiri" pitchFamily="2" charset="-78"/>
              </a:rPr>
              <a:t>شَاهَدْتُ</a:t>
            </a:r>
            <a:pPr algn="l" indent="0" marL="0">
              <a:buNone/>
            </a:pPr>
            <a:r>
              <a:rPr lang="en-US" sz="1150" b="1" dirty="0">
                <a:solidFill>
                  <a:srgbClr val="1B3B6F"/>
                </a:solidFill>
                <a:latin typeface="Calibri" pitchFamily="34" charset="0"/>
                <a:cs typeface="Amiri" pitchFamily="2" charset="-78"/>
              </a:rPr>
              <a:t> (I watched), not </a:t>
            </a:r>
            <a:pPr algn="l" indent="0" marL="0">
              <a:buNone/>
            </a:pPr>
            <a:r>
              <a:rPr lang="ar-SA" altLang="en-US" sz="1500" b="1" dirty="0">
                <a:solidFill>
                  <a:srgbClr val="1B3B6F"/>
                </a:solidFill>
                <a:latin typeface="Amiri" pitchFamily="2" charset="-78"/>
                <a:ea typeface="Amiri" pitchFamily="2" charset="-78"/>
                <a:cs typeface="Amiri" pitchFamily="2" charset="-78"/>
              </a:rPr>
              <a:t>شَاهَدْتِ</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EXTEND, BUY TIME, REPAIR (WEBSITE RULES 3–4)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Never just “yes”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وَسِّعْ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16586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EXTEND · CORE</a:t>
            </a:r>
            <a:endParaRPr lang="en-US" sz="850" dirty="0"/>
          </a:p>
        </p:txBody>
      </p:sp>
      <p:sp>
        <p:nvSpPr>
          <p:cNvPr id="18" name="Text 15"/>
          <p:cNvSpPr txBox="1"/>
          <p:nvPr/>
        </p:nvSpPr>
        <p:spPr>
          <a:xfrm>
            <a:off x="9444228"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فِعْلٌ + سَبَبٌ</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2" charset="-78"/>
                <a:ea typeface="Amiri" pitchFamily="2" charset="-78"/>
                <a:cs typeface="Amiri" pitchFamily="2" charset="-78"/>
              </a:rPr>
              <a:t>لَعِبْتُ كُرَةَ السَّلَّةِ لِأَنَّهَا مُمْتِعَةٌ.</a:t>
            </a:r>
            <a:endParaRPr lang="ar-SA" sz="24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played basketball because it is fun.</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Action + reason.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0876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BUY TIME · DEVELOP</a:t>
            </a:r>
            <a:endParaRPr lang="en-US" sz="850" dirty="0"/>
          </a:p>
        </p:txBody>
      </p:sp>
      <p:sp>
        <p:nvSpPr>
          <p:cNvPr id="26" name="Text 23"/>
          <p:cNvSpPr txBox="1"/>
          <p:nvPr/>
        </p:nvSpPr>
        <p:spPr>
          <a:xfrm>
            <a:off x="5967984"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دَعْنِي أُفَكِّرُ · سُؤَالٌ جَيِّدٌ</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150" b="1" dirty="0">
                <a:solidFill>
                  <a:srgbClr val="1B3B6F"/>
                </a:solidFill>
                <a:latin typeface="Amiri" pitchFamily="2" charset="-78"/>
                <a:ea typeface="Amiri" pitchFamily="2" charset="-78"/>
                <a:cs typeface="Amiri" pitchFamily="2" charset="-78"/>
              </a:rPr>
              <a:t>سُؤَالٌ جَيِّدٌ. دَعْنِي أُفَكِّرُ …</a:t>
            </a:r>
            <a:endParaRPr lang="ar-SA" sz="31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Good question. Let me think …</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Arabic, not silence.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7160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REPAIR · STRETCH</a:t>
            </a:r>
            <a:endParaRPr lang="en-US" sz="850" dirty="0"/>
          </a:p>
        </p:txBody>
      </p:sp>
      <p:sp>
        <p:nvSpPr>
          <p:cNvPr id="34" name="Text 31"/>
          <p:cNvSpPr txBox="1"/>
          <p:nvPr/>
        </p:nvSpPr>
        <p:spPr>
          <a:xfrm>
            <a:off x="2011680"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عَفْوًا، أَقْصِدُ</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2" charset="-78"/>
                <a:ea typeface="Amiri" pitchFamily="2" charset="-78"/>
                <a:cs typeface="Amiri" pitchFamily="2" charset="-78"/>
              </a:rPr>
              <a:t>خَسِرْنَا … عَفْوًا، أَقْصِدُ تَعَادَلْنَا.</a:t>
            </a:r>
            <a:endParaRPr lang="ar-SA" sz="24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We lost … sorry, I mean we drew.</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Fix it aloud.</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a one-word answer shows no range.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نَعَمْ، لَعِبْتُ لِأَنَّهَا مُمْتِعَةٌ.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نَعَمْ.</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Past-tense accuracy under pressure</a:t>
            </a:r>
            <a:endParaRPr lang="en-US" sz="25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دِقَّةُ الفِعْلِ المَاضِي تَحْتَ الضَّغْطِ</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Answer in the tense of the question</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past question → past answer</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كَيْفَ بَدَأْتَ؟ — بَدَأْتُ فِي الطُّفُولَةِ   ·   مَاذَا فَعَلْتَ أَمْسِ؟ — لَعِبْتُ كُرَةَ السَّلَّةِ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Check the stem before the suffix</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hollow / weak-final → adjust, then attach</a:t>
            </a:r>
            <a:endParaRPr lang="en-US" sz="10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زُرْتُ المَتْحَفَ   ·   مَشَيْنَا طَوِيلًا</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Extend every answer</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action + reason or detail</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لَعِبْتُ كُرَةَ السَّلَّةِ لِأَنَّهَا مُمْتِعَةٌ   ·   تَدَرَّبْتُ مَرَّتَيْنِ ثُمَّ شَارَكْتُ فِي مُبَارَاةٍ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Move between tenses deliberately</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past → present → future</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بَدَأْتُ فِي الطُّفُولَةِ، وَأُمَارِسُهَا الآنَ، وَسَأَشْتَرِكُ فِي بُطُولَةٍ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examiner asks “How did you start this hobby?” Which answer is appropriate?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أَبْدَأُ فِي الطُّفُولَةِ مَعَ أَخِي.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سَأَبْدَأُ فِي الطُّفُولَةِ مَعَ أَخِي.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بَدَأْتُ فِي الطُّفُولَةِ مَعَ أَخِي.</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examiner asks a girl “What did you do yesterday?” Which answer is appropriate?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شَاهَدْتُ مُبَارَاةً مَعَ أُسْرَتِي.</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شَاهَدْتِ مُبَارَاةً مَعَ أُسْرَتِي.</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تُشَاهِدُ مُبَارَاةً مَعَ أُسْرَتِي.</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avoids the past tense and should be repaired?</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أَمْسِ لَعِبْتُ كُرَةَ القَدَمِ.</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أَمْسِ أَلْعَبُ كُرَةَ القَدَمِ.</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أَمْسِ لَعِبْنَا كُرَةَ القَدَمِ.</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stem is correct before the suffix?</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زَارْتُ</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زَوَرْتُ</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examiner asks “How did you start this hobby?” Which answer is appropriate?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أَبْدَأُ فِي الطُّفُولَةِ مَعَ أَخِي.</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سَأَبْدَأُ فِي الطُّفُولَةِ مَعَ أَخِي.</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بَدَأْتُ فِي الطُّفُولَةِ مَعَ أَخِي.</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past question requires a past answer with the correct </a:t>
            </a:r>
            <a:pPr algn="l" indent="0" marL="0">
              <a:buNone/>
            </a:pPr>
            <a:r>
              <a:rPr lang="ar-SA" altLang="en-US" sz="1350" dirty="0">
                <a:solidFill>
                  <a:srgbClr val="8A6D1E"/>
                </a:solidFill>
                <a:latin typeface="Amiri" pitchFamily="2" charset="-78"/>
                <a:ea typeface="Amiri" pitchFamily="2" charset="-78"/>
                <a:cs typeface="Amiri" pitchFamily="2" charset="-78"/>
              </a:rPr>
              <a:t>أَنَا</a:t>
            </a:r>
            <a:pPr algn="l" indent="0" marL="0">
              <a:buNone/>
            </a:pPr>
            <a:r>
              <a:rPr lang="en-US" sz="1050" i="1" dirty="0">
                <a:solidFill>
                  <a:srgbClr val="8A6D1E"/>
                </a:solidFill>
                <a:latin typeface="Calibri" pitchFamily="34" charset="0"/>
                <a:cs typeface="Amiri" pitchFamily="2" charset="-78"/>
              </a:rPr>
              <a:t> suffix.</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examiner asks a girl “What did you do yesterday?” Which answer is appropriate?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شَاهَدْتُ مُبَارَاةً مَعَ أُسْرَتِي.</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شَاهَدْتِ مُبَارَاةً مَعَ أُسْرَتِي.</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تُشَاهِدُ مُبَارَاةً مَعَ أُسْرَتِي.</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Speaking about yourself uses </a:t>
            </a:r>
            <a:pPr algn="l" indent="0" marL="0">
              <a:buNone/>
            </a:pPr>
            <a:r>
              <a:rPr lang="ar-SA" altLang="en-US" sz="1350" dirty="0">
                <a:solidFill>
                  <a:srgbClr val="8A6D1E"/>
                </a:solidFill>
                <a:latin typeface="Amiri" pitchFamily="2" charset="-78"/>
                <a:ea typeface="Amiri" pitchFamily="2" charset="-78"/>
                <a:cs typeface="Amiri" pitchFamily="2" charset="-78"/>
              </a:rPr>
              <a:t>ـْتُ</a:t>
            </a:r>
            <a:pPr algn="l" indent="0" marL="0">
              <a:buNone/>
            </a:pPr>
            <a:r>
              <a:rPr lang="en-US" sz="1050" i="1" dirty="0">
                <a:solidFill>
                  <a:srgbClr val="8A6D1E"/>
                </a:solidFill>
                <a:latin typeface="Calibri" pitchFamily="34" charset="0"/>
                <a:cs typeface="Amiri" pitchFamily="2" charset="-78"/>
              </a:rPr>
              <a:t> regardless of gender; </a:t>
            </a:r>
            <a:pPr algn="l" indent="0" marL="0">
              <a:buNone/>
            </a:pPr>
            <a:r>
              <a:rPr lang="ar-SA" altLang="en-US" sz="1350" dirty="0">
                <a:solidFill>
                  <a:srgbClr val="8A6D1E"/>
                </a:solidFill>
                <a:latin typeface="Amiri" pitchFamily="2" charset="-78"/>
                <a:ea typeface="Amiri" pitchFamily="2" charset="-78"/>
                <a:cs typeface="Amiri" pitchFamily="2" charset="-78"/>
              </a:rPr>
              <a:t>ـْتِ</a:t>
            </a:r>
            <a:pPr algn="l" indent="0" marL="0">
              <a:buNone/>
            </a:pPr>
            <a:r>
              <a:rPr lang="en-US" sz="1050" i="1" dirty="0">
                <a:solidFill>
                  <a:srgbClr val="8A6D1E"/>
                </a:solidFill>
                <a:latin typeface="Calibri" pitchFamily="34" charset="0"/>
                <a:cs typeface="Amiri" pitchFamily="2" charset="-78"/>
              </a:rPr>
              <a:t> is for addressing a female.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avoids the past tense and should be repaired?</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أَمْسِ لَعِبْتُ كُرَةَ القَدَمِ.</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أَمْسِ أَلْعَبُ كُرَةَ القَدَمِ.</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أَمْسِ لَعِبْنَا كُرَةَ القَدَمِ.</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Using the present after </a:t>
            </a:r>
            <a:pPr algn="l" indent="0" marL="0">
              <a:buNone/>
            </a:pPr>
            <a:r>
              <a:rPr lang="ar-SA" altLang="en-US" sz="1350" dirty="0">
                <a:solidFill>
                  <a:srgbClr val="8A6D1E"/>
                </a:solidFill>
                <a:latin typeface="Amiri" pitchFamily="2" charset="-78"/>
                <a:ea typeface="Amiri" pitchFamily="2" charset="-78"/>
                <a:cs typeface="Amiri" pitchFamily="2" charset="-78"/>
              </a:rPr>
              <a:t>أَمْسِ</a:t>
            </a:r>
            <a:pPr algn="l" indent="0" marL="0">
              <a:buNone/>
            </a:pPr>
            <a:r>
              <a:rPr lang="en-US" sz="1050" i="1" dirty="0">
                <a:solidFill>
                  <a:srgbClr val="8A6D1E"/>
                </a:solidFill>
                <a:latin typeface="Calibri" pitchFamily="34" charset="0"/>
                <a:cs typeface="Amiri" pitchFamily="2" charset="-78"/>
              </a:rPr>
              <a:t> is the avoidance pattern examiners look for.</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stem is correct before the suffix?</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زُرْتُ</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زَارْتُ</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زَوَرْتُ</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زَارَ</a:t>
            </a:r>
            <a:pPr algn="l" indent="0" marL="0">
              <a:buNone/>
            </a:pPr>
            <a:r>
              <a:rPr lang="en-US" sz="1050" i="1" dirty="0">
                <a:solidFill>
                  <a:srgbClr val="8A6D1E"/>
                </a:solidFill>
                <a:latin typeface="Calibri" pitchFamily="34" charset="0"/>
                <a:cs typeface="Amiri" pitchFamily="2" charset="-78"/>
              </a:rPr>
              <a:t> shortens to </a:t>
            </a:r>
            <a:pPr algn="l" indent="0" marL="0">
              <a:buNone/>
            </a:pPr>
            <a:r>
              <a:rPr lang="ar-SA" altLang="en-US" sz="1350" dirty="0">
                <a:solidFill>
                  <a:srgbClr val="8A6D1E"/>
                </a:solidFill>
                <a:latin typeface="Amiri" pitchFamily="2" charset="-78"/>
                <a:ea typeface="Amiri" pitchFamily="2" charset="-78"/>
                <a:cs typeface="Amiri" pitchFamily="2" charset="-78"/>
              </a:rPr>
              <a:t>زُرْـ</a:t>
            </a:r>
            <a:pPr algn="l" indent="0" marL="0">
              <a:buNone/>
            </a:pPr>
            <a:r>
              <a:rPr lang="en-US" sz="1050" i="1" dirty="0">
                <a:solidFill>
                  <a:srgbClr val="8A6D1E"/>
                </a:solidFill>
                <a:latin typeface="Calibri" pitchFamily="34" charset="0"/>
                <a:cs typeface="Amiri" pitchFamily="2" charset="-78"/>
              </a:rPr>
              <a:t> before a consonant suffix.</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answer under pressure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Buy time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ea typeface="Amiri" pitchFamily="2" charset="-78"/>
                <a:cs typeface="Amiri" pitchFamily="2" charset="-78"/>
              </a:rPr>
              <a:t>سُؤَالٌ جَيِّدٌ</a:t>
            </a:r>
            <a:pPr rtl="1" algn="ctr" indent="0" marL="0">
              <a:buNone/>
            </a:pPr>
            <a:r>
              <a:rPr lang="ar-SA" altLang="en-US" sz="2800" b="1" dirty="0">
                <a:solidFill>
                  <a:srgbClr val="1B3B6F"/>
                </a:solidFill>
                <a:latin typeface="Amiri" pitchFamily="2" charset="-78"/>
                <a:cs typeface="Amiri" pitchFamily="2" charset="-78"/>
              </a:rPr>
              <a:t>.</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Arabic, not silence.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Mirror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ea typeface="Amiri" pitchFamily="2" charset="-78"/>
                <a:cs typeface="Amiri" pitchFamily="2" charset="-78"/>
              </a:rPr>
              <a:t>بَدَأْتُ</a:t>
            </a:r>
            <a:pPr rtl="1" algn="ctr" indent="0" marL="0">
              <a:buNone/>
            </a:pPr>
            <a:r>
              <a:rPr lang="ar-SA" altLang="en-US" sz="2800" b="1" dirty="0">
                <a:solidFill>
                  <a:srgbClr val="1B3B6F"/>
                </a:solidFill>
                <a:latin typeface="Amiri" pitchFamily="2" charset="-78"/>
                <a:ea typeface="Amiri" pitchFamily="2" charset="-78"/>
                <a:cs typeface="Amiri" pitchFamily="2" charset="-78"/>
              </a:rPr>
              <a:t> فِي الطُّفُولَةِ</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Past question: past.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Extend</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لِأَنَّ أَخِي </a:t>
            </a:r>
            <a:pPr rtl="1" algn="ctr" indent="0" marL="0">
              <a:buNone/>
            </a:pPr>
            <a:r>
              <a:rPr lang="ar-SA" altLang="en-US" sz="2800" b="1" dirty="0">
                <a:solidFill>
                  <a:srgbClr val="0E7C86"/>
                </a:solidFill>
                <a:latin typeface="Amiri" pitchFamily="2" charset="-78"/>
                <a:ea typeface="Amiri" pitchFamily="2" charset="-78"/>
                <a:cs typeface="Amiri" pitchFamily="2" charset="-78"/>
              </a:rPr>
              <a:t>كَانَ يَلْعَبُ</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Reason + habit.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Repair</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1D5FBF"/>
                </a:solidFill>
                <a:latin typeface="Amiri" pitchFamily="2" charset="-78"/>
                <a:ea typeface="Amiri" pitchFamily="2" charset="-78"/>
                <a:cs typeface="Amiri" pitchFamily="2" charset="-78"/>
              </a:rPr>
              <a:t>عَفْوًا، أَقْصِدُ</a:t>
            </a:r>
            <a:pPr rtl="1" algn="ctr" indent="0" marL="0">
              <a:buNone/>
            </a:pPr>
            <a:r>
              <a:rPr lang="ar-SA" altLang="en-US" sz="2700" b="1" dirty="0">
                <a:solidFill>
                  <a:srgbClr val="1B3B6F"/>
                </a:solidFill>
                <a:latin typeface="Amiri" pitchFamily="2" charset="-78"/>
                <a:ea typeface="Amiri" pitchFamily="2" charset="-78"/>
                <a:cs typeface="Amiri" pitchFamily="2" charset="-78"/>
              </a:rPr>
              <a:t> تَعَادَلْنَا</a:t>
            </a:r>
            <a:endParaRPr lang="ar-SA" sz="27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Fix the slip.</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TIME-BUYER</a:t>
            </a:r>
            <a:endParaRPr lang="en-US" sz="800" dirty="0"/>
          </a:p>
        </p:txBody>
      </p:sp>
      <p:sp>
        <p:nvSpPr>
          <p:cNvPr id="47" name="Shape 43"/>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PAST</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REPAIR</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50" b="1" dirty="0">
                <a:solidFill>
                  <a:srgbClr val="D6336C"/>
                </a:solidFill>
                <a:latin typeface="Amiri" pitchFamily="2" charset="-78"/>
                <a:ea typeface="Amiri" pitchFamily="2" charset="-78"/>
                <a:cs typeface="Amiri" pitchFamily="2" charset="-78"/>
              </a:rPr>
              <a:t>سُؤَالٌ جَيِّدٌ</a:t>
            </a:r>
            <a:pPr rtl="1" algn="r" indent="0" marL="0">
              <a:lnSpc>
                <a:spcPct val="120000"/>
              </a:lnSpc>
              <a:buNone/>
            </a:pPr>
            <a:r>
              <a:rPr lang="ar-SA" altLang="en-US" sz="1450" b="1" dirty="0">
                <a:solidFill>
                  <a:srgbClr val="1B3B6F"/>
                </a:solidFill>
                <a:latin typeface="Amiri" pitchFamily="2" charset="-78"/>
                <a:cs typeface="Amiri" pitchFamily="2" charset="-78"/>
              </a:rPr>
              <a:t>. </a:t>
            </a:r>
            <a:pPr rtl="1" algn="r" indent="0" marL="0">
              <a:lnSpc>
                <a:spcPct val="120000"/>
              </a:lnSpc>
              <a:buNone/>
            </a:pPr>
            <a:r>
              <a:rPr lang="ar-SA" altLang="en-US" sz="1450" b="1" dirty="0">
                <a:solidFill>
                  <a:srgbClr val="0E7C86"/>
                </a:solidFill>
                <a:latin typeface="Amiri" pitchFamily="2" charset="-78"/>
                <a:ea typeface="Amiri" pitchFamily="2" charset="-78"/>
                <a:cs typeface="Amiri" pitchFamily="2" charset="-78"/>
              </a:rPr>
              <a:t>بَدَأْتُ</a:t>
            </a:r>
            <a:pPr rtl="1" algn="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 فِي الطُّفُولَةِ، لِأَنَّ أَخِي </a:t>
            </a:r>
            <a:pPr rtl="1" algn="r" indent="0" marL="0">
              <a:lnSpc>
                <a:spcPct val="120000"/>
              </a:lnSpc>
              <a:buNone/>
            </a:pPr>
            <a:r>
              <a:rPr lang="ar-SA" altLang="en-US" sz="1450" b="1" dirty="0">
                <a:solidFill>
                  <a:srgbClr val="0E7C86"/>
                </a:solidFill>
                <a:latin typeface="Amiri" pitchFamily="2" charset="-78"/>
                <a:ea typeface="Amiri" pitchFamily="2" charset="-78"/>
                <a:cs typeface="Amiri" pitchFamily="2" charset="-78"/>
              </a:rPr>
              <a:t>كَانَ يَلْعَبُ</a:t>
            </a:r>
            <a:pPr rtl="1" algn="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 كُرَةَ السَّلَّةِ كُلَّ مَسَاءٍ. </a:t>
            </a:r>
            <a:pPr rtl="1" algn="r" indent="0" marL="0">
              <a:lnSpc>
                <a:spcPct val="120000"/>
              </a:lnSpc>
              <a:buNone/>
            </a:pPr>
            <a:r>
              <a:rPr lang="ar-SA" altLang="en-US" sz="1450" b="1" dirty="0">
                <a:solidFill>
                  <a:srgbClr val="D6336C"/>
                </a:solidFill>
                <a:latin typeface="Amiri" pitchFamily="2" charset="-78"/>
                <a:ea typeface="Amiri" pitchFamily="2" charset="-78"/>
                <a:cs typeface="Amiri" pitchFamily="2" charset="-78"/>
              </a:rPr>
              <a:t>دَعْنِي أُفَكِّرُ</a:t>
            </a:r>
            <a:pPr rtl="1" algn="r" indent="0" marL="0">
              <a:lnSpc>
                <a:spcPct val="120000"/>
              </a:lnSpc>
              <a:buNone/>
            </a:pPr>
            <a:r>
              <a:rPr lang="ar-SA" altLang="en-US" sz="1450" b="1" dirty="0">
                <a:solidFill>
                  <a:srgbClr val="1B3B6F"/>
                </a:solidFill>
                <a:latin typeface="Amiri" pitchFamily="2" charset="-78"/>
                <a:cs typeface="Amiri" pitchFamily="2" charset="-78"/>
              </a:rPr>
              <a:t>. </a:t>
            </a:r>
            <a:pPr rtl="1" algn="r" indent="0" marL="0">
              <a:lnSpc>
                <a:spcPct val="120000"/>
              </a:lnSpc>
              <a:buNone/>
            </a:pPr>
            <a:r>
              <a:rPr lang="ar-SA" altLang="en-US" sz="1450" b="1" dirty="0">
                <a:solidFill>
                  <a:srgbClr val="0E7C86"/>
                </a:solidFill>
                <a:latin typeface="Amiri" pitchFamily="2" charset="-78"/>
                <a:ea typeface="Amiri" pitchFamily="2" charset="-78"/>
                <a:cs typeface="Amiri" pitchFamily="2" charset="-78"/>
              </a:rPr>
              <a:t>تَدَرَّبْتُ</a:t>
            </a:r>
            <a:pPr rtl="1" algn="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 مَرَّتَيْنِ، ثُمَّ </a:t>
            </a:r>
            <a:pPr rtl="1" algn="r" indent="0" marL="0">
              <a:lnSpc>
                <a:spcPct val="120000"/>
              </a:lnSpc>
              <a:buNone/>
            </a:pPr>
            <a:r>
              <a:rPr lang="ar-SA" altLang="en-US" sz="1450" b="1" dirty="0">
                <a:solidFill>
                  <a:srgbClr val="0E7C86"/>
                </a:solidFill>
                <a:latin typeface="Amiri" pitchFamily="2" charset="-78"/>
                <a:ea typeface="Amiri" pitchFamily="2" charset="-78"/>
                <a:cs typeface="Amiri" pitchFamily="2" charset="-78"/>
              </a:rPr>
              <a:t>شَارَكْتُ</a:t>
            </a:r>
            <a:pPr rtl="1" algn="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 فِي مُبَارَاةٍ وَدِّيَّةٍ، وَلِلْأَسَفِ خَسِرْنَا. </a:t>
            </a:r>
            <a:pPr rtl="1" algn="r" indent="0" marL="0">
              <a:lnSpc>
                <a:spcPct val="120000"/>
              </a:lnSpc>
              <a:buNone/>
            </a:pPr>
            <a:r>
              <a:rPr lang="ar-SA" altLang="en-US" sz="1450" b="1" dirty="0">
                <a:solidFill>
                  <a:srgbClr val="1D5FBF"/>
                </a:solidFill>
                <a:latin typeface="Amiri" pitchFamily="2" charset="-78"/>
                <a:ea typeface="Amiri" pitchFamily="2" charset="-78"/>
                <a:cs typeface="Amiri" pitchFamily="2" charset="-78"/>
              </a:rPr>
              <a:t>عَفْوًا، أَقْصِدُ</a:t>
            </a:r>
            <a:pPr rtl="1" algn="r" indent="0" marL="0">
              <a:lnSpc>
                <a:spcPct val="120000"/>
              </a:lnSpc>
              <a:buNone/>
            </a:pPr>
            <a:r>
              <a:rPr lang="ar-SA" altLang="en-US" sz="1450" b="1" dirty="0">
                <a:solidFill>
                  <a:srgbClr val="1B3B6F"/>
                </a:solidFill>
                <a:latin typeface="Amiri" pitchFamily="2" charset="-78"/>
                <a:ea typeface="Amiri" pitchFamily="2" charset="-78"/>
                <a:cs typeface="Amiri" pitchFamily="2" charset="-78"/>
              </a:rPr>
              <a:t> تَعَادَلْنَا.</a:t>
            </a:r>
            <a:endParaRPr lang="ar-SA" sz="145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Good question. I started in childhood, because my brother used to play basketball every evening. Let me think. I trained twice, then took part in a friendly match, and unfortunately we lost. Sorry, I mean we drew.</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بَدَأْتُ فِي الطُّفُولَةِ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started in childhood</a:t>
            </a:r>
            <a:endParaRPr lang="en-US" sz="1250" dirty="0"/>
          </a:p>
          <a:p>
            <a:pPr indent="0" marL="0">
              <a:buNone/>
            </a:pPr>
            <a:r>
              <a:rPr lang="en-US" sz="1050" i="1" dirty="0">
                <a:solidFill>
                  <a:srgbClr val="8A6D1E"/>
                </a:solidFill>
                <a:latin typeface="Calibri" pitchFamily="34" charset="0"/>
                <a:cs typeface="Amiri" pitchFamily="2" charset="-78"/>
              </a:rPr>
              <a:t>The past question is mirrored by a past answer.</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دَعْنِي أُفَكِّرُ</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let me think</a:t>
            </a:r>
            <a:endParaRPr lang="en-US" sz="1250" dirty="0"/>
          </a:p>
          <a:p>
            <a:pPr indent="0" marL="0">
              <a:buNone/>
            </a:pPr>
            <a:r>
              <a:rPr lang="en-US" sz="1050" i="1" dirty="0">
                <a:solidFill>
                  <a:srgbClr val="8A6D1E"/>
                </a:solidFill>
                <a:latin typeface="Calibri" pitchFamily="34" charset="0"/>
                <a:cs typeface="Amiri" pitchFamily="2" charset="-78"/>
              </a:rPr>
              <a:t>A short Arabic filler protects your fluency mark.</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لَعِبْتُ لِأَنَّهَا مُمْتِعَةٌ</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played because it is fun</a:t>
            </a:r>
            <a:endParaRPr lang="en-US" sz="1250" dirty="0"/>
          </a:p>
          <a:p>
            <a:pPr indent="0" marL="0">
              <a:buNone/>
            </a:pPr>
            <a:r>
              <a:rPr lang="en-US" sz="1050" i="1" dirty="0">
                <a:solidFill>
                  <a:srgbClr val="8A6D1E"/>
                </a:solidFill>
                <a:latin typeface="Calibri" pitchFamily="34" charset="0"/>
                <a:cs typeface="Amiri" pitchFamily="2" charset="-78"/>
              </a:rPr>
              <a:t>Action plus reason turns an answer into a response.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بَدَأْتُ فِي الطُّفُولَةِ</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شَارَكْتُ فِي بُطُولَةٍ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زُرْتُ المَتْحَفَ</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لِأَنَّهَا مُمْتِعَةٌ</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عَلَى سَبِيلِ المِثَالِ</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مَرَّتَيْنِ فِي الأُسْبُوعِ</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دَعْنِي أُفَكِّرُ</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سُؤَالٌ جَيِّدٌ</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عَفْوًا، أَقْصِدُ</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Answer a past question</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Extend the answer</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Buy time</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Answer a past question</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بَدَأْتُ فِي الطُّفُولَةِ</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شَارَكْتُ فِي بُطُولَةٍ</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زُرْتُ المَتْحَفَ</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Extend the answer</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لِأَنَّهَا مُمْتِعَةٌ</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عَلَى سَبِيلِ المِثَالِ</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مَرَّتَيْنِ فِي الأُسْبُوعِ</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Buy time</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دَعْنِي أُفَكِّرُ</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سُؤَالٌ جَيِّدٌ</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عَفْوًا، أَقْصِدُ</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5,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buys thinking time in Arabic?</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أَعْرِفُ</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شَيْءَ</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دَعْنِي أُفَكِّرُ</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strongest extended answer?</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تَدَرَّبْتُ.</a:t>
            </a:r>
            <a:endParaRPr lang="ar-SA" sz="19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تَدَرَّبْتُ مَرَّتَيْنِ فِي الأُسْبُوعِ لِأَنَّنِي أَرَدْتُ أَنْ أُحَسِّنَ نَتِيجَتِي.</a:t>
            </a:r>
            <a:endParaRPr lang="ar-SA" sz="19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نَعَمْ، تَدَرَّبْتُ مَرَّتَيْنِ.</a:t>
            </a:r>
            <a:endParaRPr lang="ar-SA" sz="19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repair phrase corrects a slip mid-sentence?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شُكْرًا جَزِيلًا</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عَفْوًا، أَقْصِدُ</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 السَّلَامَةِ</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shows deliberate tense variety?</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بَدَأْتُ وَبَدَأْتُ وَبَدَأْتُ.</a:t>
            </a:r>
            <a:endParaRPr lang="ar-SA" sz="19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أُمَارِسُهَا وَأُمَارِسُهَا الآنَ.</a:t>
            </a:r>
            <a:endParaRPr lang="ar-SA" sz="19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بَدَأْتُ فِي الطُّفُولَةِ، وَأُمَارِسُهَا الآنَ، وَسَأَشْتَرِكُ فِي بُطُولَةٍ.</a:t>
            </a:r>
            <a:endParaRPr lang="ar-SA" sz="19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buys thinking time in Arabic?</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أَعْرِفُ</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شَيْءَ</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دَعْنِي أُفَكِّرُ</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short Arabic filler keeps you speaking the target language.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strongest extended answer?</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تَدَرَّبْتُ.</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تَدَرَّبْتُ مَرَّتَيْنِ فِي الأُسْبُوعِ لِأَنَّنِي أَرَدْتُ أَنْ أُحَسِّنَ نَتِيجَتِي.</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نَعَمْ، تَدَرَّبْتُ مَرَّتَيْنِ.</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strongest answer adds a frequency phrase and a reason.</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repair phrase corrects a slip mid-sentence?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شُكْرًا جَزِيلًا</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عَفْوًا، أَقْصِدُ</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 السَّلَامَةِ</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عَفْوًا، أَقْصِدُ</a:t>
            </a:r>
            <a:pPr algn="l" indent="0" marL="0">
              <a:buNone/>
            </a:pPr>
            <a:r>
              <a:rPr lang="en-US" sz="1050" i="1" dirty="0">
                <a:solidFill>
                  <a:srgbClr val="8A6D1E"/>
                </a:solidFill>
                <a:latin typeface="Calibri" pitchFamily="34" charset="0"/>
                <a:cs typeface="Amiri" pitchFamily="2" charset="-78"/>
              </a:rPr>
              <a:t> signals a self-correction.</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shows deliberate tense variety?</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بَدَأْتُ وَبَدَأْتُ وَبَدَأْتُ.</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أُمَارِسُهَا وَأُمَارِسُهَا الآنَ.</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بَدَأْتُ فِي الطُّفُولَةِ، وَأُمَارِسُهَا الآنَ، وَسَأَشْتَرِكُ فِي بُطُولَةٍ.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Moving through three tenses is what raises the Quality of Language mark.</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أَمْسِ أَلْعَبُ كُرَةَ القَدَمِ.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Past question → past answer!</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زَارْتُ المَتْحَفَ.</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zāra + -tu: which stem?</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نَعَمْ.</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Add a reason!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أَمْسِ أَلْعَبُ كُرَةَ القَدَمِ.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أَمْسِ لَعِبْتُ كُرَةَ القَدَمِ.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Answering a past question in the present is the avoidance pattern.</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زَارْتُ المَتْحَفَ.</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زُرْتُ المَتْحَفَ.</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hollow stem must shorten before the suffix.</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نَعَمْ.</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نَعَمْ، لَعِبْتُ كُرَةَ السَّلَّةِ لِأَنَّهَا مُمْتِعَةٌ.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one-word answer cannot show range or accuracy.</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Listening: a candidate answering under pressure</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student begin his first reply?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a time-buying phrase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With silence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By repeating the question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 the student start the hobby?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school required it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he saw it on television</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Because his brother used to play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he do last week?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watched a match</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Nothing at all</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Trained twice and played a friendly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عَفْوًا، أَقْصِدُ</a:t>
            </a:r>
            <a:pPr algn="l" indent="0" marL="0">
              <a:buNone/>
            </a:pPr>
            <a:r>
              <a:rPr lang="en-US" sz="1250" b="1" dirty="0">
                <a:solidFill>
                  <a:srgbClr val="1B3B6F"/>
                </a:solidFill>
                <a:latin typeface="Calibri" pitchFamily="34" charset="0"/>
                <a:cs typeface="Amiri" pitchFamily="2" charset="-78"/>
              </a:rPr>
              <a:t> signal?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self-correction</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Disagreement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end of the answer</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tense does he use for his plans?</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Past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Future with </a:t>
            </a:r>
            <a:pPr algn="l" indent="0" marL="0">
              <a:buNone/>
            </a:pPr>
            <a:r>
              <a:rPr lang="ar-SA" altLang="en-US" sz="1650" dirty="0">
                <a:solidFill>
                  <a:srgbClr val="1F2A37"/>
                </a:solidFill>
                <a:latin typeface="Amiri" pitchFamily="2" charset="-78"/>
                <a:ea typeface="Amiri" pitchFamily="2" charset="-78"/>
                <a:cs typeface="Amiri" pitchFamily="2" charset="-78"/>
              </a:rPr>
              <a:t>سَـ</a:t>
            </a:r>
            <a:pPr algn="l" indent="0" marL="0">
              <a:buNone/>
            </a:pPr>
            <a:r>
              <a:rPr lang="en-US" sz="1250" dirty="0">
                <a:solidFill>
                  <a:srgbClr val="1F2A37"/>
                </a:solidFill>
                <a:latin typeface="Calibri" pitchFamily="34" charset="0"/>
                <a:cs typeface="Amiri" pitchFamily="2" charset="-78"/>
              </a:rPr>
              <a:t> and </a:t>
            </a:r>
            <a:pPr algn="l" indent="0" marL="0">
              <a:buNone/>
            </a:pPr>
            <a:r>
              <a:rPr lang="ar-SA" altLang="en-US" sz="1650" dirty="0">
                <a:solidFill>
                  <a:srgbClr val="1F2A37"/>
                </a:solidFill>
                <a:latin typeface="Amiri" pitchFamily="2" charset="-78"/>
                <a:ea typeface="Amiri" pitchFamily="2" charset="-78"/>
                <a:cs typeface="Amiri" pitchFamily="2" charset="-78"/>
              </a:rPr>
              <a:t>أَنْوِي أَنْ</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Present habit</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Count the time-buying phrases.</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المُمْتَحِنُ: كَيْفَ بَدَأْتَ هٰذِهِ الهِوَايَةَ؟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Examiner: How did you start this hobby?</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ea typeface="Amiri" pitchFamily="2" charset="-78"/>
                <a:cs typeface="Amiri" pitchFamily="2" charset="-78"/>
              </a:rPr>
              <a:t>الطَّالِبُ: سُؤَالٌ جَيِّدٌ. بَدَأْتُ فِي الطُّفُولَةِ، لِأَنَّ أَخِي كَانَ يَلْعَبُ كُرَةَ السَّلَّةِ كُلَّ مَسَاءٍ.</a:t>
            </a:r>
            <a:endParaRPr lang="ar-SA" sz="18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Student: Good question. I started in childhood, because my brother used to play basketball every evening.</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المُمْتَحِنُ: وَمَاذَا فَعَلْتَ الأُسْبُوعَ المَاضِيَ؟</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Examiner: And what did you do last week?</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الطَّالِبُ: دَعْنِي أُفَكِّرُ. تَدَرَّبْتُ مَرَّتَيْنِ، ثُمَّ شَارَكْتُ فِي مُبَارَاةٍ وَدِّيَّةٍ، وَلِلْأَسَفِ خَسِرْنَا. عَفْوًا، أَقْصِدُ تَعَادَلْنَا.</a:t>
            </a:r>
            <a:endParaRPr lang="ar-SA" sz="15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Student: Let me think. I trained twice, then took part in a friendly match, and unfortunately we lost. Sorry, I mean we drew.</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المُمْتَحِنُ: وَمَا خُطَطُكَ؟ الطَّالِبُ: فِي الحَقِيقَةِ، سَأَشْتَرِكُ فِي بُطُولَةٍ مَدْرَسِيَّةٍ، وَأَنْوِي أَنْ أَتَدَرَّبَ أَكْثَرَ.</a:t>
            </a:r>
            <a:endParaRPr lang="ar-SA" sz="155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Examiner: And what are your plans? Student: In fact, I will take part in a school championship, and I intend to train more.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does the student begin his first reply?</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With a time-buying phrase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With silence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By repeating the question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سُؤَالٌ جَيِّدٌ</a:t>
            </a:r>
            <a:pPr algn="l" indent="0" marL="0">
              <a:buNone/>
            </a:pPr>
            <a:r>
              <a:rPr lang="en-US" sz="1050" i="1" dirty="0">
                <a:solidFill>
                  <a:srgbClr val="8A6D1E"/>
                </a:solidFill>
                <a:latin typeface="Calibri" pitchFamily="34" charset="0"/>
                <a:cs typeface="Amiri" pitchFamily="2" charset="-78"/>
              </a:rPr>
              <a:t> buys a moment while staying in Arabic.</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 the student start the hobby?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Because school required it</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Because he saw it on television</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Because his brother used to play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لِأَنَّ أَخِي كَانَ يَلْعَبُ كُرَةَ السَّلَّةِ.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he do last week?</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watched a match</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Nothing at all</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Trained twice and played a friendly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تَدَرَّبْتُ مَرَّتَيْنِ، ثُمَّ شَارَكْتُ فِي مُبَارَاةٍ وَدِّيَّةٍ.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عَفْوًا، أَقْصِدُ</a:t>
            </a:r>
            <a:pPr algn="l" indent="0" marL="0">
              <a:buNone/>
            </a:pPr>
            <a:r>
              <a:rPr lang="en-US" sz="1250" b="1" dirty="0">
                <a:solidFill>
                  <a:srgbClr val="1B3B6F"/>
                </a:solidFill>
                <a:latin typeface="Calibri" pitchFamily="34" charset="0"/>
                <a:cs typeface="Amiri" pitchFamily="2" charset="-78"/>
              </a:rPr>
              <a:t> signal?</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self-correction</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Disagreement</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end of the answer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introduces a repair: he corrects </a:t>
            </a:r>
            <a:pPr algn="l" indent="0" marL="0">
              <a:buNone/>
            </a:pPr>
            <a:r>
              <a:rPr lang="ar-SA" altLang="en-US" sz="1350" dirty="0">
                <a:solidFill>
                  <a:srgbClr val="8A6D1E"/>
                </a:solidFill>
                <a:latin typeface="Amiri" pitchFamily="2" charset="-78"/>
                <a:ea typeface="Amiri" pitchFamily="2" charset="-78"/>
                <a:cs typeface="Amiri" pitchFamily="2" charset="-78"/>
              </a:rPr>
              <a:t>خَسِرْنَا</a:t>
            </a:r>
            <a:pPr algn="l" indent="0" marL="0">
              <a:buNone/>
            </a:pPr>
            <a:r>
              <a:rPr lang="en-US" sz="1050" i="1" dirty="0">
                <a:solidFill>
                  <a:srgbClr val="8A6D1E"/>
                </a:solidFill>
                <a:latin typeface="Calibri" pitchFamily="34" charset="0"/>
                <a:cs typeface="Amiri" pitchFamily="2" charset="-78"/>
              </a:rPr>
              <a:t> to </a:t>
            </a:r>
            <a:pPr algn="l" indent="0" marL="0">
              <a:buNone/>
            </a:pPr>
            <a:r>
              <a:rPr lang="ar-SA" altLang="en-US" sz="1350" dirty="0">
                <a:solidFill>
                  <a:srgbClr val="8A6D1E"/>
                </a:solidFill>
                <a:latin typeface="Amiri" pitchFamily="2" charset="-78"/>
                <a:ea typeface="Amiri" pitchFamily="2" charset="-78"/>
                <a:cs typeface="Amiri" pitchFamily="2" charset="-78"/>
              </a:rPr>
              <a:t>تَعَادَلْنَا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tense does he use for his plans?</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Past</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Future with </a:t>
            </a:r>
            <a:pPr algn="l" indent="0" marL="0">
              <a:buNone/>
            </a:pPr>
            <a:r>
              <a:rPr lang="ar-SA" altLang="en-US" sz="1650" b="1" dirty="0">
                <a:solidFill>
                  <a:srgbClr val="1F2A37"/>
                </a:solidFill>
                <a:latin typeface="Amiri" pitchFamily="2" charset="-78"/>
                <a:ea typeface="Amiri" pitchFamily="2" charset="-78"/>
                <a:cs typeface="Amiri" pitchFamily="2" charset="-78"/>
              </a:rPr>
              <a:t>سَـ</a:t>
            </a:r>
            <a:pPr algn="l" indent="0" marL="0">
              <a:buNone/>
            </a:pPr>
            <a:r>
              <a:rPr lang="en-US" sz="1250" b="1" dirty="0">
                <a:solidFill>
                  <a:srgbClr val="1F2A37"/>
                </a:solidFill>
                <a:latin typeface="Calibri" pitchFamily="34" charset="0"/>
                <a:cs typeface="Amiri" pitchFamily="2" charset="-78"/>
              </a:rPr>
              <a:t> and </a:t>
            </a:r>
            <a:pPr algn="l" indent="0" marL="0">
              <a:buNone/>
            </a:pPr>
            <a:r>
              <a:rPr lang="ar-SA" altLang="en-US" sz="1650" b="1" dirty="0">
                <a:solidFill>
                  <a:srgbClr val="1F2A37"/>
                </a:solidFill>
                <a:latin typeface="Amiri" pitchFamily="2" charset="-78"/>
                <a:ea typeface="Amiri" pitchFamily="2" charset="-78"/>
                <a:cs typeface="Amiri" pitchFamily="2" charset="-78"/>
              </a:rPr>
              <a:t>أَنْوِي أَنْ</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Present habit</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سَأَشْتَرِكُ … وَأَنْوِي أَنْ أَتَدَرَّبَ.</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3.</a:t>
            </a:r>
            <a:endParaRPr lang="en-US" sz="1250" dirty="0"/>
          </a:p>
          <a:p>
            <a:pPr algn="l" indent="0" marL="0">
              <a:buNone/>
            </a:pPr>
            <a:r>
              <a:rPr lang="en-US" sz="1250" dirty="0">
                <a:solidFill>
                  <a:srgbClr val="1E6B52"/>
                </a:solidFill>
                <a:latin typeface="Calibri" pitchFamily="34" charset="0"/>
                <a:cs typeface="Amiri" pitchFamily="2" charset="-78"/>
              </a:rPr>
              <a:t>Count the time-buying phrases.</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Speaking: full topic conversation rehearsal</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هِوَايَتُكَ المُفَضَّلَةُ؟ وَكَيْفَ بَدَأْتَ بِهَا؟</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تَجْرِبَةً رِيَاضِيَّةً مَرَرْتَ بِهَا.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خُطَطُكَ لِلْإِجَازَةِ القَادِمَةِ؟</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هِوَايَتِي ___ . بَدَأْتُ ___ لِأَنَّ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الأُسْبُوعَ المَاضِيَ ___ ، وَفَجْأَةً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550" b="1" dirty="0">
                <a:solidFill>
                  <a:srgbClr val="1F2A37"/>
                </a:solidFill>
                <a:latin typeface="Amiri" pitchFamily="2" charset="-78"/>
                <a:ea typeface="Amiri" pitchFamily="2" charset="-78"/>
                <a:cs typeface="Amiri" pitchFamily="2" charset="-78"/>
              </a:rPr>
              <a:t>فِي الحَقِيقَةِ، سَـ ___ ، وَأَنْوِي أَنْ ___ .</a:t>
            </a:r>
            <a:endParaRPr lang="ar-SA" sz="15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هِوَايَتُكَ المُفَضَّلَةُ؟ وَكَيْفَ بَدَأْتَ بِهَا؟</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is your favourite hobby, and how did you start it?</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هِوَايَتِي المُفَضَّلَةُ كُرَةُ السَّلَّةِ. بَدَأْتُ فِي الطُّفُولَةِ لِأَنَّ أَخِي كَانَ يَلْعَبُهَا.</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750" i="1" dirty="0">
                <a:solidFill>
                  <a:srgbClr val="5A6472"/>
                </a:solidFill>
                <a:latin typeface="Calibri" pitchFamily="34" charset="0"/>
                <a:cs typeface="Amiri" pitchFamily="2" charset="-78"/>
              </a:rPr>
              <a:t>My favourite hobby is basketball. I started in childhood because my brother used to play it.</a:t>
            </a:r>
            <a:endParaRPr lang="en-US" sz="7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Answer four past questions aloud using the sentence frames, each with an accurate suffix.</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Answer four past questions in writing + one future plan (frames).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60–70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a reason to each answer and use one time-buying phrase naturally.</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A self-review with past verbs, كَانَ + present and أَمَّا الآنَ فَـ.</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 80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Deliver a full topic answer that moves through past, present and future with no avoidance.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your D5 progress — difficulty · practice · improvement · next focus.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البِدَايَةِ كُنْتُ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At first I used to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 تَدَرَّبْتُ عَلَى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Then I practised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أَمَّا الآنَ فَـ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As for now, I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وَفِي المُسْتَقْبَلِ سَأُرَكِّزُ عَلَى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future I will focus on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بَدَأْتُ ______ فِي الطُّفُولَةِ لِأَنَّ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started … in childhood because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أَمْسِ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Yesterday I watched / played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الأُسْبُوعَ المَاضِيَ زُرْنَا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Last week we visited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الإِجَازَةِ القَادِمَةِ سَـ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Next holiday I will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بَدَأْتُ  ·  تَدَرَّبْتُ  ·  شَارَكْتُ  ·  زُرْتُ  ·  قُلْتُ  ·  كُنْتُ أَسْتَعْمِلُ  ·  أَمَّا الآنَ فَـ  ·  سَأُرَكِّزُ عَلَى  ·  دَعْنِي أُفَكِّرُ  ·  سُؤَالٌ جَيِّدٌ  ·  عَفْوًا، أَقْصِدُ  ·  فِي الحَقِيقَةِ</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about eighty words reviewing your own D5 progress. Say what you found difficult at first, what you practised, how you improved and what you will focus on next.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four past verbs with accurate suffixes.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a:t>
            </a:r>
            <a:pPr algn="l" indent="0" marL="0">
              <a:buNone/>
            </a:pPr>
            <a:r>
              <a:rPr lang="ar-SA" altLang="en-US" sz="1550" dirty="0">
                <a:solidFill>
                  <a:srgbClr val="1F2A37"/>
                </a:solidFill>
                <a:latin typeface="Amiri" pitchFamily="2" charset="-78"/>
                <a:ea typeface="Amiri" pitchFamily="2" charset="-78"/>
                <a:cs typeface="Amiri" pitchFamily="2" charset="-78"/>
              </a:rPr>
              <a:t>كَانَ</a:t>
            </a:r>
            <a:pPr algn="l" indent="0" marL="0">
              <a:buNone/>
            </a:pPr>
            <a:r>
              <a:rPr lang="en-US" sz="1200" dirty="0">
                <a:solidFill>
                  <a:srgbClr val="1F2A37"/>
                </a:solidFill>
                <a:latin typeface="Calibri" pitchFamily="34" charset="0"/>
                <a:cs typeface="Amiri" pitchFamily="2" charset="-78"/>
              </a:rPr>
              <a:t> plus present construction describing an old habit.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present section introduced by </a:t>
            </a:r>
            <a:pPr algn="l" indent="0" marL="0">
              <a:buNone/>
            </a:pPr>
            <a:r>
              <a:rPr lang="ar-SA" altLang="en-US" sz="1550" dirty="0">
                <a:solidFill>
                  <a:srgbClr val="1F2A37"/>
                </a:solidFill>
                <a:latin typeface="Amiri" pitchFamily="2" charset="-78"/>
                <a:ea typeface="Amiri" pitchFamily="2" charset="-78"/>
                <a:cs typeface="Amiri" pitchFamily="2" charset="-78"/>
              </a:rPr>
              <a:t>أَمَّا الآنَ فَـ</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future focus with </a:t>
            </a:r>
            <a:pPr algn="l" indent="0" marL="0">
              <a:buNone/>
            </a:pPr>
            <a:r>
              <a:rPr lang="ar-SA" altLang="en-US" sz="1550" dirty="0">
                <a:solidFill>
                  <a:srgbClr val="1F2A37"/>
                </a:solidFill>
                <a:latin typeface="Amiri" pitchFamily="2" charset="-78"/>
                <a:ea typeface="Amiri" pitchFamily="2" charset="-78"/>
                <a:cs typeface="Amiri" pitchFamily="2" charset="-78"/>
              </a:rPr>
              <a:t>سَـ</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سَوْفَ</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كُنْتُ أَسْتَعْمِلُ المُضَارِعَ عِنْدَمَا …</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used to use the present when …</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رَكَّزْتُ عَلَى الأَفْعَالِ الشَّاذَّةِ</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focused on irregular verbs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تَحَسَّنَتْ دِقَّتِي كَثِيرًا</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accuracy improved a lot</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بَدَلَ الصَّمْتِ</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instead of silence</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أُضِيفُ سَبَبًا فِي كُلِّ إِجَابَةٍ</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add a reason to every answer</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البِدَايَةِ كُنْتُ أَسْتَعْمِلُ المُضَارِعَ عِنْدَمَا يَسْأَلُنِي المُعَلِّمُ عَنِ المَاضِي، وَكَانَ ذٰلِكَ خَطَأً شَائِعًا. ثُمَّ تَدَرَّبْتُ عَلَى عَشَرَةِ أَفْعَالٍ كُلَّ يَوْمٍ، وَرَكَّزْتُ عَلَى الأَفْعَالِ الشَّاذَّةِ مِثْلَ قَالَ وَزَارَ وَمَشَى. وَلِحُسْنِ الحَظِّ تَحَسَّنَتْ دِقَّتِي كَثِيرًا. أَمَّا الآنَ فَأَسْتَعْمِلُ عِبَارَاتٍ قَصِيرَةً بَدَلَ الصَّمْتِ، وَأُضِيفُ سَبَبًا فِي كُلِّ إِجَابَةٍ. وَفِي المُسْتَقْبَلِ سَأُرَكِّزُ عَلَى تَنَوُّعِ الأَزْمِنَةِ، وَأَنْوِي أَنْ أَتَدَرَّبَ عَلَى التَّحَدُّثِ يَوْمِيًّا.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At the beginning I used to use the present when the teacher asked me about the past, and that was a common mistake. Then I practised ten verbs every day and focused on irregular verbs like qāla, zāra and mashā. Luckily my accuracy improved a lot. As for now, I use short phrases instead of silence, and I add a reason to every answer. In the future I will focus on tense variety, and I intend to practise speaking every day.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four past verbs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كُنْتُ + present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أَمَّا الآنَ فَـ</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future focus</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past questions in the past.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“I” verbs end in -tu (boys AND girls).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answer has a reason or a detail.</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time-buying phrase instead of silence.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answer moved past → present →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question is </a:t>
            </a:r>
            <a:pPr algn="l" indent="0" marL="0">
              <a:buNone/>
            </a:pPr>
            <a:r>
              <a:rPr lang="ar-SA" altLang="en-US" sz="1650" b="1" dirty="0">
                <a:solidFill>
                  <a:srgbClr val="1B3B6F"/>
                </a:solidFill>
                <a:latin typeface="Amiri" pitchFamily="2" charset="-78"/>
                <a:ea typeface="Amiri" pitchFamily="2" charset="-78"/>
                <a:cs typeface="Amiri" pitchFamily="2" charset="-78"/>
              </a:rPr>
              <a:t>مَاذَا فَعَلْتَ أَمْسِ؟</a:t>
            </a:r>
            <a:pPr algn="l" indent="0" marL="0">
              <a:buNone/>
            </a:pPr>
            <a:r>
              <a:rPr lang="en-US" sz="1250" b="1" dirty="0">
                <a:solidFill>
                  <a:srgbClr val="1B3B6F"/>
                </a:solidFill>
                <a:latin typeface="Calibri" pitchFamily="34" charset="0"/>
                <a:cs typeface="Amiri" pitchFamily="2" charset="-78"/>
              </a:rPr>
              <a:t> Which answer is appropriate?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لَعِبْتُ كُرَةَ السَّلَّةِ مَعَ أَصْدِقَائِي.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أَلْعَبُ كُرَةَ السَّلَّةِ مَعَ أَصْدِقَائِي.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سَأَلْعَبُ كُرَةَ السَّلَّةِ مَعَ أَصْدِقَائِي.</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repairs a slip?</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 السَّلَامَةِ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عَفْوًا، أَقْصِدُ</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بِالتَّأْكِيدِ</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stem is correct?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قُلْنَا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قَالْنَا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قِلْنَا</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question is </a:t>
            </a:r>
            <a:pPr algn="l" indent="0" marL="0">
              <a:buNone/>
            </a:pPr>
            <a:r>
              <a:rPr lang="ar-SA" altLang="en-US" sz="1650" b="1" dirty="0">
                <a:solidFill>
                  <a:srgbClr val="1B3B6F"/>
                </a:solidFill>
                <a:latin typeface="Amiri" pitchFamily="2" charset="-78"/>
                <a:ea typeface="Amiri" pitchFamily="2" charset="-78"/>
                <a:cs typeface="Amiri" pitchFamily="2" charset="-78"/>
              </a:rPr>
              <a:t>مَاذَا فَعَلْتَ أَمْسِ؟</a:t>
            </a:r>
            <a:pPr algn="l" indent="0" marL="0">
              <a:buNone/>
            </a:pPr>
            <a:r>
              <a:rPr lang="en-US" sz="1250" b="1" dirty="0">
                <a:solidFill>
                  <a:srgbClr val="1B3B6F"/>
                </a:solidFill>
                <a:latin typeface="Calibri" pitchFamily="34" charset="0"/>
                <a:cs typeface="Amiri" pitchFamily="2" charset="-78"/>
              </a:rPr>
              <a:t> Which answer is appropriate?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لَعِبْتُ كُرَةَ السَّلَّةِ مَعَ أَصْدِقَائِي.</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أَلْعَبُ كُرَةَ السَّلَّةِ مَعَ أَصْدِقَائِي.</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سَأَلْعَبُ كُرَةَ السَّلَّةِ مَعَ أَصْدِقَائِي.</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Mirror the tense of the question.</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repairs a slip?</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مَعَ السَّلَامَةِ</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عَفْوًا، أَقْصِدُ</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بِالتَّأْكِيدِ</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عَفْوًا، أَقْصِدُ</a:t>
            </a:r>
            <a:pPr algn="l" indent="0" marL="0">
              <a:buNone/>
            </a:pPr>
            <a:r>
              <a:rPr lang="en-US" sz="1050" i="1" dirty="0">
                <a:solidFill>
                  <a:srgbClr val="8A6D1E"/>
                </a:solidFill>
                <a:latin typeface="Calibri" pitchFamily="34" charset="0"/>
                <a:cs typeface="Amiri" pitchFamily="2" charset="-78"/>
              </a:rPr>
              <a:t> introduces a self-correction.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stem is correct?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قُلْنَا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قَالْنَا</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قِلْنَا</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قَالَ</a:t>
            </a:r>
            <a:pPr algn="l" indent="0" marL="0">
              <a:buNone/>
            </a:pPr>
            <a:r>
              <a:rPr lang="en-US" sz="1050" i="1" dirty="0">
                <a:solidFill>
                  <a:srgbClr val="8A6D1E"/>
                </a:solidFill>
                <a:latin typeface="Calibri" pitchFamily="34" charset="0"/>
                <a:cs typeface="Amiri" pitchFamily="2" charset="-78"/>
              </a:rPr>
              <a:t> shortens to </a:t>
            </a:r>
            <a:pPr algn="l" indent="0" marL="0">
              <a:buNone/>
            </a:pPr>
            <a:r>
              <a:rPr lang="ar-SA" altLang="en-US" sz="1350" dirty="0">
                <a:solidFill>
                  <a:srgbClr val="8A6D1E"/>
                </a:solidFill>
                <a:latin typeface="Amiri" pitchFamily="2" charset="-78"/>
                <a:ea typeface="Amiri" pitchFamily="2" charset="-78"/>
                <a:cs typeface="Amiri" pitchFamily="2" charset="-78"/>
              </a:rPr>
              <a:t>قُلْـ</a:t>
            </a:r>
            <a:pPr algn="l" indent="0" marL="0">
              <a:buNone/>
            </a:pPr>
            <a:r>
              <a:rPr lang="en-US" sz="1050" i="1" dirty="0">
                <a:solidFill>
                  <a:srgbClr val="8A6D1E"/>
                </a:solidFill>
                <a:latin typeface="Calibri" pitchFamily="34" charset="0"/>
                <a:cs typeface="Amiri" pitchFamily="2" charset="-78"/>
              </a:rPr>
              <a:t> before a consonant suffix.</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Reading: a candidate's self-review before the assessment</a:t>
            </a:r>
            <a:endParaRPr lang="en-US" sz="17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قَبْلَ التَّقْيِيمِ رَاجَعْتُ نُقَاطَ ضَعْفِي بِصَرَاحَةٍ. فِي البِدَايَةِ كُنْتُ أَسْتَعْمِلُ المُضَارِعَ عِنْدَمَا يَسْأَلُنِي المُعَلِّمُ عَنِ المَاضِي، وَهٰذَا خَطَأٌ شَائِعٌ. ثُمَّ تَدَرَّبْتُ عَلَى عَشَرَةِ أَفْعَالٍ كُلَّ يَوْمٍ، وَرَكَّزْتُ عَلَى الأَفْعَالِ الشَّاذَّةِ مِثْلَ قَالَ وَزَارَ وَمَشَى. وَفِي الحَقِيقَةِ تَحَسَّنَتْ دِقَّتِي مِنْ سِتَّةٍ إِلَى تِسْعَةٍ مِنْ عَشَرَةٍ. أَمَّا الآنَ فَأَسْتَعْمِلُ عِبَارَاتٍ قَصِيرَةً مِثْلَ دَعْنِي أُفَكِّرُ بَدَلَ الصَّمْتِ. وَفِي المُسْتَقْبَلِ سَأُرَكِّزُ عَلَى إِضَافَةِ سَبَبٍ فِي كُلِّ إِجَابَةٍ.</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رَاجَعْتُ</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reviewed</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نُقَاطَ ضَعْفِي</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weak points</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المُضَارِعَ</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present tense</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خَطَأٌ شَائِعٌ</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common mistake</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رَكَّزْتُ عَلَى</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focused on</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تَحَسَّنَتْ دِقَّتِي</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accuracy improved</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مِنْ سِتَّةٍ إِلَى تِسْعَةٍ</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from six to nine</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بَدَلَ الصَّمْتِ</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instead of silence</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سَأُرَكِّزُ</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will focus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إِضَافَةِ سَبَبٍ</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adding a reason</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the writer's original weakness?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Speaking too quickly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Using the present when asked about the past</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Forgetting vocabulary</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did the writer practise?</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verb a week</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irregular verbs once</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Ten verbs every day</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did accuracy change?</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From six to nine out of ten</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From three to five</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stayed the same</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replaces silence now?</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English words</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Short Arabic phrases</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Longer pauses</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future focus?</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Adding a reason to every answer</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Speaking faster</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Using longer words</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the writer's original weakness?</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Speaking too quickly</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Using the present when asked about the past</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Forgetting vocabulary</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كُنْتُ أَسْتَعْمِلُ المُضَارِعَ عِنْدَمَا يَسْأَلُنِي المُعَلِّمُ عَنِ المَاضِي.</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did the writer practise?</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verb a week</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irregular verbs once</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Ten verbs every day</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تَدَرَّبْتُ عَلَى عَشَرَةِ أَفْعَالٍ كُلَّ يَوْمٍ.</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did accuracy change?</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From six to nine out of ten</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From three to five</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stayed the same</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تَحَسَّنَتْ دِقَّتِي مِنْ سِتَّةٍ إِلَى تِسْعَةٍ مِنْ عَشَرَةٍ.</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replaces silence now?</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English words</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Short Arabic phrases</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Longer pauses</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أَسْتَعْمِلُ عِبَارَاتٍ قَصِيرَةً مِثْلَ دَعْنِي أُفَكِّرُ بَدَلَ الصَّمْتِ.</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future focus?</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Adding a reason to every answer</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Speaking faster</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Using longer words</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سَأُرَكِّزُ عَلَى إِضَافَةِ سَبَبٍ فِي كُلِّ إِجَابَةٍ.</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Consolidation Mission — Accuracy Under Pressure</a:t>
            </a:r>
            <a:endParaRPr lang="en-US" sz="19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Question:</a:t>
            </a:r>
            <a:endParaRPr lang="en-US" sz="1200" dirty="0"/>
          </a:p>
        </p:txBody>
      </p:sp>
      <p:sp>
        <p:nvSpPr>
          <p:cNvPr id="21" name="Text 18"/>
          <p:cNvSpPr txBox="1"/>
          <p:nvPr/>
        </p:nvSpPr>
        <p:spPr>
          <a:xfrm>
            <a:off x="2406701" y="1883664"/>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ea typeface="Amiri" pitchFamily="2" charset="-78"/>
                <a:cs typeface="Amiri" pitchFamily="2" charset="-78"/>
              </a:rPr>
              <a:t>كَيْفَ بَدَأْتَ؟</a:t>
            </a:r>
            <a:pPr algn="l" indent="0" marL="0">
              <a:buNone/>
            </a:pPr>
            <a:r>
              <a:rPr lang="en-US" sz="1000" b="1" dirty="0">
                <a:solidFill>
                  <a:srgbClr val="1F2A37"/>
                </a:solidFill>
                <a:latin typeface="Calibri" pitchFamily="34" charset="0"/>
                <a:cs typeface="Amiri" pitchFamily="2" charset="-78"/>
              </a:rPr>
              <a:t> Which answer mirrors the tense?</a:t>
            </a:r>
            <a:endParaRPr lang="en-US" sz="100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أَبْدَأُ فِي الطُّفُولَةِ.</a:t>
            </a:r>
            <a:endParaRPr lang="ar-SA" sz="20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بَدَأْتُ فِي الطُّفُولَةِ.</a:t>
            </a:r>
            <a:endParaRPr lang="ar-SA" sz="20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سَأَبْدَأُ فِي الطُّفُولَةِ.</a:t>
            </a:r>
            <a:endParaRPr lang="ar-SA" sz="2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form: which is the </a:t>
            </a:r>
            <a:pPr algn="l" indent="0" marL="0">
              <a:buNone/>
            </a:pPr>
            <a:r>
              <a:rPr lang="ar-SA" altLang="en-US" sz="1650" b="1" dirty="0">
                <a:solidFill>
                  <a:srgbClr val="1B3B6F"/>
                </a:solidFill>
                <a:latin typeface="Amiri" pitchFamily="2" charset="-78"/>
                <a:ea typeface="Amiri" pitchFamily="2" charset="-78"/>
                <a:cs typeface="Amiri" pitchFamily="2" charset="-78"/>
              </a:rPr>
              <a:t>أَنَا</a:t>
            </a:r>
            <a:pPr algn="l" indent="0" marL="0">
              <a:buNone/>
            </a:pPr>
            <a:r>
              <a:rPr lang="en-US" sz="1250" b="1" dirty="0">
                <a:solidFill>
                  <a:srgbClr val="1B3B6F"/>
                </a:solidFill>
                <a:latin typeface="Calibri" pitchFamily="34" charset="0"/>
                <a:cs typeface="Amiri" pitchFamily="2" charset="-78"/>
              </a:rPr>
              <a:t> past of </a:t>
            </a:r>
            <a:pPr algn="l" indent="0" marL="0">
              <a:buNone/>
            </a:pPr>
            <a:r>
              <a:rPr lang="ar-SA" altLang="en-US" sz="1650" b="1" dirty="0">
                <a:solidFill>
                  <a:srgbClr val="1B3B6F"/>
                </a:solidFill>
                <a:latin typeface="Amiri" pitchFamily="2" charset="-78"/>
                <a:ea typeface="Amiri" pitchFamily="2" charset="-78"/>
                <a:cs typeface="Amiri" pitchFamily="2" charset="-78"/>
              </a:rPr>
              <a:t>شَارَكَ</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5" name="Shape 32"/>
          <p:cNvSpPr/>
          <p:nvPr/>
        </p:nvSpPr>
        <p:spPr>
          <a:xfrm>
            <a:off x="4459224"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شَارَكْتُ</a:t>
            </a:r>
            <a:endParaRPr lang="ar-SA" sz="2050" dirty="0"/>
          </a:p>
        </p:txBody>
      </p:sp>
      <p:sp>
        <p:nvSpPr>
          <p:cNvPr id="38" name="Shape 35"/>
          <p:cNvSpPr/>
          <p:nvPr/>
        </p:nvSpPr>
        <p:spPr>
          <a:xfrm>
            <a:off x="4459224"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شَارَكَ</a:t>
            </a:r>
            <a:endParaRPr lang="ar-SA" sz="2050" dirty="0"/>
          </a:p>
        </p:txBody>
      </p:sp>
      <p:sp>
        <p:nvSpPr>
          <p:cNvPr id="41" name="Shape 38"/>
          <p:cNvSpPr/>
          <p:nvPr/>
        </p:nvSpPr>
        <p:spPr>
          <a:xfrm>
            <a:off x="4459224"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شَارَكْنَا</a:t>
            </a:r>
            <a:endParaRPr lang="ar-SA" sz="2050" dirty="0"/>
          </a:p>
        </p:txBody>
      </p:sp>
      <p:sp>
        <p:nvSpPr>
          <p:cNvPr id="44" name="Shape 41"/>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23504" y="1947672"/>
            <a:ext cx="310896" cy="310896"/>
          </a:xfrm>
          <a:prstGeom prst="ellipse">
            <a:avLst/>
          </a:prstGeom>
          <a:solidFill>
            <a:srgbClr val="1B3B6F"/>
          </a:solidFill>
          <a:ln w="12700">
            <a:solidFill>
              <a:srgbClr val="1B3B6F"/>
            </a:solidFill>
            <a:prstDash val="solid"/>
          </a:ln>
        </p:spPr>
      </p:sp>
      <p:sp>
        <p:nvSpPr>
          <p:cNvPr id="46" name="Text 43"/>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7" name="Text 44"/>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Stem: which is correct?</a:t>
            </a:r>
            <a:endParaRPr lang="en-US" sz="125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زَارْتُ</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زَوَرْتُ</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0" name="Text 57"/>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buys time in Arabic?</a:t>
            </a:r>
            <a:endParaRPr lang="en-US" sz="1250" dirty="0"/>
          </a:p>
        </p:txBody>
      </p:sp>
      <p:sp>
        <p:nvSpPr>
          <p:cNvPr id="61" name="Shape 58"/>
          <p:cNvSpPr/>
          <p:nvPr/>
        </p:nvSpPr>
        <p:spPr>
          <a:xfrm>
            <a:off x="640080"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آسِفٌ جِدًّا</a:t>
            </a:r>
            <a:endParaRPr lang="ar-SA" sz="2050" dirty="0"/>
          </a:p>
        </p:txBody>
      </p:sp>
      <p:sp>
        <p:nvSpPr>
          <p:cNvPr id="64" name="Shape 61"/>
          <p:cNvSpPr/>
          <p:nvPr/>
        </p:nvSpPr>
        <p:spPr>
          <a:xfrm>
            <a:off x="640080"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 اللِّقَاءِ</a:t>
            </a:r>
            <a:endParaRPr lang="ar-SA" sz="2050" dirty="0"/>
          </a:p>
        </p:txBody>
      </p:sp>
      <p:sp>
        <p:nvSpPr>
          <p:cNvPr id="67" name="Shape 64"/>
          <p:cNvSpPr/>
          <p:nvPr/>
        </p:nvSpPr>
        <p:spPr>
          <a:xfrm>
            <a:off x="640080"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دَعْنِي أُفَكِّرُ</a:t>
            </a:r>
            <a:endParaRPr lang="ar-SA" sz="2050" dirty="0"/>
          </a:p>
        </p:txBody>
      </p:sp>
      <p:sp>
        <p:nvSpPr>
          <p:cNvPr id="70" name="Shape 67"/>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404360" y="4288536"/>
            <a:ext cx="310896" cy="310896"/>
          </a:xfrm>
          <a:prstGeom prst="ellipse">
            <a:avLst/>
          </a:prstGeom>
          <a:solidFill>
            <a:srgbClr val="1B3B6F"/>
          </a:solidFill>
          <a:ln w="12700">
            <a:solidFill>
              <a:srgbClr val="1B3B6F"/>
            </a:solidFill>
            <a:prstDash val="solid"/>
          </a:ln>
        </p:spPr>
      </p:sp>
      <p:sp>
        <p:nvSpPr>
          <p:cNvPr id="72" name="Text 69"/>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3" name="Text 70"/>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Extension: which adds most to a bare answer?</a:t>
            </a:r>
            <a:endParaRPr lang="en-US" sz="1250" dirty="0"/>
          </a:p>
        </p:txBody>
      </p:sp>
      <p:sp>
        <p:nvSpPr>
          <p:cNvPr id="74" name="Shape 71"/>
          <p:cNvSpPr/>
          <p:nvPr/>
        </p:nvSpPr>
        <p:spPr>
          <a:xfrm>
            <a:off x="4459224" y="48737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6" name="Text 73"/>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لِأَنَّهَا مُمْتِعَةٌ</a:t>
            </a:r>
            <a:endParaRPr lang="ar-SA" sz="2050" dirty="0"/>
          </a:p>
        </p:txBody>
      </p:sp>
      <p:sp>
        <p:nvSpPr>
          <p:cNvPr id="77" name="Shape 74"/>
          <p:cNvSpPr/>
          <p:nvPr/>
        </p:nvSpPr>
        <p:spPr>
          <a:xfrm>
            <a:off x="4459224" y="53309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9" name="Text 76"/>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نَعَمْ</a:t>
            </a:r>
            <a:endParaRPr lang="ar-SA" sz="2050" dirty="0"/>
          </a:p>
        </p:txBody>
      </p:sp>
      <p:sp>
        <p:nvSpPr>
          <p:cNvPr id="80" name="Shape 77"/>
          <p:cNvSpPr/>
          <p:nvPr/>
        </p:nvSpPr>
        <p:spPr>
          <a:xfrm>
            <a:off x="4459224" y="5788152"/>
            <a:ext cx="256032" cy="256032"/>
          </a:xfrm>
          <a:prstGeom prst="ellipse">
            <a:avLst/>
          </a:prstGeom>
          <a:solidFill>
            <a:srgbClr val="F4F1EA"/>
          </a:solidFill>
          <a:ln w="12700">
            <a:solidFill>
              <a:srgbClr val="F4F1EA"/>
            </a:solidFill>
            <a:prstDash val="solid"/>
          </a:ln>
        </p:spPr>
      </p:sp>
      <p:sp>
        <p:nvSpPr>
          <p:cNvPr id="81" name="Text 78"/>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2" name="Text 79"/>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رُبَّمَا</a:t>
            </a:r>
            <a:endParaRPr lang="ar-SA" sz="2050" dirty="0"/>
          </a:p>
        </p:txBody>
      </p:sp>
      <p:sp>
        <p:nvSpPr>
          <p:cNvPr id="83" name="Shape 8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4" name="Shape 81"/>
          <p:cNvSpPr/>
          <p:nvPr/>
        </p:nvSpPr>
        <p:spPr>
          <a:xfrm>
            <a:off x="8223504" y="4288536"/>
            <a:ext cx="310896" cy="310896"/>
          </a:xfrm>
          <a:prstGeom prst="ellipse">
            <a:avLst/>
          </a:prstGeom>
          <a:solidFill>
            <a:srgbClr val="1B3B6F"/>
          </a:solidFill>
          <a:ln w="12700">
            <a:solidFill>
              <a:srgbClr val="1B3B6F"/>
            </a:solidFill>
            <a:prstDash val="solid"/>
          </a:ln>
        </p:spPr>
      </p:sp>
      <p:sp>
        <p:nvSpPr>
          <p:cNvPr id="85" name="Text 8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6" name="Text 8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avoids the past and needs repair?</a:t>
            </a:r>
            <a:endParaRPr lang="en-US" sz="1250" dirty="0"/>
          </a:p>
        </p:txBody>
      </p:sp>
      <p:sp>
        <p:nvSpPr>
          <p:cNvPr id="87" name="Shape 84"/>
          <p:cNvSpPr/>
          <p:nvPr/>
        </p:nvSpPr>
        <p:spPr>
          <a:xfrm>
            <a:off x="8278368" y="48737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9" name="Text 86"/>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أَمْسِ شَاهَدْتُ المُبَارَاةَ.</a:t>
            </a:r>
            <a:endParaRPr lang="ar-SA" sz="2050" dirty="0"/>
          </a:p>
        </p:txBody>
      </p:sp>
      <p:sp>
        <p:nvSpPr>
          <p:cNvPr id="90" name="Shape 87"/>
          <p:cNvSpPr/>
          <p:nvPr/>
        </p:nvSpPr>
        <p:spPr>
          <a:xfrm>
            <a:off x="8278368" y="53309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2" name="Text 89"/>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أَمْسِ أُشَاهِدُ المُبَارَاةَ.</a:t>
            </a:r>
            <a:endParaRPr lang="ar-SA" sz="2050" dirty="0"/>
          </a:p>
        </p:txBody>
      </p:sp>
      <p:sp>
        <p:nvSpPr>
          <p:cNvPr id="93" name="Shape 90"/>
          <p:cNvSpPr/>
          <p:nvPr/>
        </p:nvSpPr>
        <p:spPr>
          <a:xfrm>
            <a:off x="8278368" y="5788152"/>
            <a:ext cx="256032" cy="256032"/>
          </a:xfrm>
          <a:prstGeom prst="ellipse">
            <a:avLst/>
          </a:prstGeom>
          <a:solidFill>
            <a:srgbClr val="F4F1EA"/>
          </a:solidFill>
          <a:ln w="12700">
            <a:solidFill>
              <a:srgbClr val="F4F1EA"/>
            </a:solidFill>
            <a:prstDash val="solid"/>
          </a:ln>
        </p:spPr>
      </p:sp>
      <p:sp>
        <p:nvSpPr>
          <p:cNvPr id="94" name="Text 91"/>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5" name="Text 92"/>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أَمْسِ شَاهَدْنَا المُبَارَاةَ.</a:t>
            </a:r>
            <a:endParaRPr lang="ar-SA" sz="20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Question:</a:t>
            </a:r>
            <a:endParaRPr lang="en-US" sz="1200" dirty="0"/>
          </a:p>
        </p:txBody>
      </p:sp>
      <p:sp>
        <p:nvSpPr>
          <p:cNvPr id="20" name="Text 18"/>
          <p:cNvSpPr txBox="1"/>
          <p:nvPr/>
        </p:nvSpPr>
        <p:spPr>
          <a:xfrm>
            <a:off x="2406701" y="1883664"/>
            <a:ext cx="1577035" cy="475488"/>
          </a:xfrm>
          <a:prstGeom prst="rect">
            <a:avLst/>
          </a:prstGeom>
          <a:noFill/>
          <a:ln/>
        </p:spPr>
        <p:txBody>
          <a:bodyPr wrap="square" lIns="0" tIns="0" rIns="0" bIns="0" rtlCol="0" anchor="ctr"/>
          <a:lstStyle/>
          <a:p>
            <a:pPr algn="l" indent="0" marL="0">
              <a:buNone/>
            </a:pPr>
            <a:r>
              <a:rPr lang="ar-SA" altLang="en-US" sz="1300" b="1" dirty="0">
                <a:solidFill>
                  <a:srgbClr val="1F2A37"/>
                </a:solidFill>
                <a:latin typeface="Amiri" pitchFamily="2" charset="-78"/>
                <a:ea typeface="Amiri" pitchFamily="2" charset="-78"/>
                <a:cs typeface="Amiri" pitchFamily="2" charset="-78"/>
              </a:rPr>
              <a:t>كَيْفَ بَدَأْتَ؟</a:t>
            </a:r>
            <a:pPr algn="l" indent="0" marL="0">
              <a:buNone/>
            </a:pPr>
            <a:r>
              <a:rPr lang="en-US" sz="1000" b="1" dirty="0">
                <a:solidFill>
                  <a:srgbClr val="1F2A37"/>
                </a:solidFill>
                <a:latin typeface="Calibri" pitchFamily="34" charset="0"/>
                <a:cs typeface="Amiri" pitchFamily="2" charset="-78"/>
              </a:rPr>
              <a:t> Which answer mirrors the tense?</a:t>
            </a:r>
            <a:endParaRPr lang="en-US" sz="1000" dirty="0"/>
          </a:p>
        </p:txBody>
      </p:sp>
      <p:sp>
        <p:nvSpPr>
          <p:cNvPr id="21"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1"/>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أَبْدَأُ فِي الطُّفُولَةِ.</a:t>
            </a:r>
            <a:endParaRPr lang="ar-SA" sz="1700" dirty="0"/>
          </a:p>
        </p:txBody>
      </p:sp>
      <p:sp>
        <p:nvSpPr>
          <p:cNvPr id="24" name="Shape 22"/>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3"/>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4"/>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5"/>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بَدَأْتُ فِي الطُّفُولَةِ.</a:t>
            </a:r>
            <a:endParaRPr lang="ar-SA" sz="1700" dirty="0"/>
          </a:p>
        </p:txBody>
      </p:sp>
      <p:sp>
        <p:nvSpPr>
          <p:cNvPr id="28" name="Shape 26"/>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8"/>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سَأَبْدَأُ فِي الطُّفُولَةِ.</a:t>
            </a:r>
            <a:endParaRPr lang="ar-SA" sz="1700" dirty="0"/>
          </a:p>
        </p:txBody>
      </p:sp>
      <p:sp>
        <p:nvSpPr>
          <p:cNvPr id="31" name="Text 29"/>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past question needs a past answer.</a:t>
            </a:r>
            <a:endParaRPr lang="en-US" sz="1050" dirty="0"/>
          </a:p>
        </p:txBody>
      </p:sp>
      <p:sp>
        <p:nvSpPr>
          <p:cNvPr id="32" name="Shape 30"/>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1"/>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2"/>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3"/>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Verb form: which is the </a:t>
            </a:r>
            <a:pPr algn="l" indent="0" marL="0">
              <a:buNone/>
            </a:pPr>
            <a:r>
              <a:rPr lang="ar-SA" altLang="en-US" sz="1650" b="1" dirty="0">
                <a:solidFill>
                  <a:srgbClr val="1B3B6F"/>
                </a:solidFill>
                <a:latin typeface="Amiri" pitchFamily="2" charset="-78"/>
                <a:ea typeface="Amiri" pitchFamily="2" charset="-78"/>
                <a:cs typeface="Amiri" pitchFamily="2" charset="-78"/>
              </a:rPr>
              <a:t>أَنَا</a:t>
            </a:r>
            <a:pPr algn="l" indent="0" marL="0">
              <a:buNone/>
            </a:pPr>
            <a:r>
              <a:rPr lang="en-US" sz="1250" b="1" dirty="0">
                <a:solidFill>
                  <a:srgbClr val="1B3B6F"/>
                </a:solidFill>
                <a:latin typeface="Calibri" pitchFamily="34" charset="0"/>
                <a:cs typeface="Amiri" pitchFamily="2" charset="-78"/>
              </a:rPr>
              <a:t> past of </a:t>
            </a:r>
            <a:pPr algn="l" indent="0" marL="0">
              <a:buNone/>
            </a:pPr>
            <a:r>
              <a:rPr lang="ar-SA" altLang="en-US" sz="1650" b="1" dirty="0">
                <a:solidFill>
                  <a:srgbClr val="1B3B6F"/>
                </a:solidFill>
                <a:latin typeface="Amiri" pitchFamily="2" charset="-78"/>
                <a:ea typeface="Amiri" pitchFamily="2" charset="-78"/>
                <a:cs typeface="Amiri" pitchFamily="2" charset="-78"/>
              </a:rPr>
              <a:t>شَارَكَ</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6" name="Shape 34"/>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7" name="Shape 35"/>
          <p:cNvSpPr/>
          <p:nvPr/>
        </p:nvSpPr>
        <p:spPr>
          <a:xfrm>
            <a:off x="4459224" y="2490216"/>
            <a:ext cx="256032" cy="256032"/>
          </a:xfrm>
          <a:prstGeom prst="ellipse">
            <a:avLst/>
          </a:prstGeom>
          <a:solidFill>
            <a:srgbClr val="2E8B57"/>
          </a:solidFill>
          <a:ln w="12700">
            <a:solidFill>
              <a:srgbClr val="2E8B57"/>
            </a:solidFill>
            <a:prstDash val="solid"/>
          </a:ln>
        </p:spPr>
      </p:sp>
      <p:sp>
        <p:nvSpPr>
          <p:cNvPr id="38" name="Text 36"/>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9" name="Text 37"/>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شَارَكْتُ</a:t>
            </a:r>
            <a:endParaRPr lang="ar-SA" sz="1700" dirty="0"/>
          </a:p>
        </p:txBody>
      </p:sp>
      <p:sp>
        <p:nvSpPr>
          <p:cNvPr id="40" name="Shape 38"/>
          <p:cNvSpPr/>
          <p:nvPr/>
        </p:nvSpPr>
        <p:spPr>
          <a:xfrm>
            <a:off x="4459224" y="2862072"/>
            <a:ext cx="256032" cy="256032"/>
          </a:xfrm>
          <a:prstGeom prst="ellipse">
            <a:avLst/>
          </a:prstGeom>
          <a:solidFill>
            <a:srgbClr val="C9CED6"/>
          </a:solidFill>
          <a:ln w="12700">
            <a:solidFill>
              <a:srgbClr val="C9CED6"/>
            </a:solidFill>
            <a:prstDash val="solid"/>
          </a:ln>
        </p:spPr>
      </p:sp>
      <p:sp>
        <p:nvSpPr>
          <p:cNvPr id="41" name="Text 39"/>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2" name="Text 40"/>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شَارَكَ</a:t>
            </a:r>
            <a:endParaRPr lang="ar-SA" sz="1700" dirty="0"/>
          </a:p>
        </p:txBody>
      </p:sp>
      <p:sp>
        <p:nvSpPr>
          <p:cNvPr id="43" name="Shape 41"/>
          <p:cNvSpPr/>
          <p:nvPr/>
        </p:nvSpPr>
        <p:spPr>
          <a:xfrm>
            <a:off x="4459224" y="3233928"/>
            <a:ext cx="256032" cy="256032"/>
          </a:xfrm>
          <a:prstGeom prst="ellipse">
            <a:avLst/>
          </a:prstGeom>
          <a:solidFill>
            <a:srgbClr val="C9CED6"/>
          </a:solidFill>
          <a:ln w="12700">
            <a:solidFill>
              <a:srgbClr val="C9CED6"/>
            </a:solidFill>
            <a:prstDash val="solid"/>
          </a:ln>
        </p:spPr>
      </p:sp>
      <p:sp>
        <p:nvSpPr>
          <p:cNvPr id="44" name="Text 42"/>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3"/>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شَارَكْنَا</a:t>
            </a:r>
            <a:endParaRPr lang="ar-SA" sz="1700" dirty="0"/>
          </a:p>
        </p:txBody>
      </p:sp>
      <p:sp>
        <p:nvSpPr>
          <p:cNvPr id="46" name="Text 44"/>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أَنَا</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ـْتُ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7" name="Shape 45"/>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6"/>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Stem: which is correct?</a:t>
            </a:r>
            <a:endParaRPr lang="en-US" sz="1250" dirty="0"/>
          </a:p>
        </p:txBody>
      </p:sp>
      <p:sp>
        <p:nvSpPr>
          <p:cNvPr id="51" name="Shape 49"/>
          <p:cNvSpPr/>
          <p:nvPr/>
        </p:nvSpPr>
        <p:spPr>
          <a:xfrm>
            <a:off x="8278368" y="2490216"/>
            <a:ext cx="256032" cy="256032"/>
          </a:xfrm>
          <a:prstGeom prst="ellipse">
            <a:avLst/>
          </a:prstGeom>
          <a:solidFill>
            <a:srgbClr val="C9CED6"/>
          </a:solidFill>
          <a:ln w="12700">
            <a:solidFill>
              <a:srgbClr val="C9CED6"/>
            </a:solidFill>
            <a:prstDash val="solid"/>
          </a:ln>
        </p:spPr>
      </p:sp>
      <p:sp>
        <p:nvSpPr>
          <p:cNvPr id="52"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1"/>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زَارْتُ</a:t>
            </a:r>
            <a:endParaRPr lang="ar-SA" sz="1700" dirty="0"/>
          </a:p>
        </p:txBody>
      </p:sp>
      <p:sp>
        <p:nvSpPr>
          <p:cNvPr id="54"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5"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4"/>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زَوَرْتُ</a:t>
            </a:r>
            <a:endParaRPr lang="ar-SA" sz="1700" dirty="0"/>
          </a:p>
        </p:txBody>
      </p:sp>
      <p:sp>
        <p:nvSpPr>
          <p:cNvPr id="57" name="Shape 55"/>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8" name="Shape 56"/>
          <p:cNvSpPr/>
          <p:nvPr/>
        </p:nvSpPr>
        <p:spPr>
          <a:xfrm>
            <a:off x="8278368" y="3233928"/>
            <a:ext cx="256032" cy="256032"/>
          </a:xfrm>
          <a:prstGeom prst="ellipse">
            <a:avLst/>
          </a:prstGeom>
          <a:solidFill>
            <a:srgbClr val="2E8B57"/>
          </a:solidFill>
          <a:ln w="12700">
            <a:solidFill>
              <a:srgbClr val="2E8B57"/>
            </a:solidFill>
            <a:prstDash val="solid"/>
          </a:ln>
        </p:spPr>
      </p:sp>
      <p:sp>
        <p:nvSpPr>
          <p:cNvPr id="59"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0"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زُرْتُ</a:t>
            </a:r>
            <a:endParaRPr lang="ar-SA" sz="1700" dirty="0"/>
          </a:p>
        </p:txBody>
      </p:sp>
      <p:sp>
        <p:nvSpPr>
          <p:cNvPr id="61"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زَارَ</a:t>
            </a:r>
            <a:pPr algn="l" indent="0" marL="0">
              <a:buNone/>
            </a:pPr>
            <a:r>
              <a:rPr lang="en-US" sz="1050" i="1" dirty="0">
                <a:solidFill>
                  <a:srgbClr val="8A6D1E"/>
                </a:solidFill>
                <a:latin typeface="Calibri" pitchFamily="34" charset="0"/>
                <a:cs typeface="Amiri" pitchFamily="2" charset="-78"/>
              </a:rPr>
              <a:t> shortens to </a:t>
            </a:r>
            <a:pPr algn="l" indent="0" marL="0">
              <a:buNone/>
            </a:pPr>
            <a:r>
              <a:rPr lang="ar-SA" altLang="en-US" sz="1350" dirty="0">
                <a:solidFill>
                  <a:srgbClr val="8A6D1E"/>
                </a:solidFill>
                <a:latin typeface="Amiri" pitchFamily="2" charset="-78"/>
                <a:ea typeface="Amiri" pitchFamily="2" charset="-78"/>
                <a:cs typeface="Amiri" pitchFamily="2" charset="-78"/>
              </a:rPr>
              <a:t>زُرْـ</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3"/>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buys time in Arabic?</a:t>
            </a:r>
            <a:endParaRPr lang="en-US" sz="1250" dirty="0"/>
          </a:p>
        </p:txBody>
      </p:sp>
      <p:sp>
        <p:nvSpPr>
          <p:cNvPr id="66" name="Shape 64"/>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5"/>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6"/>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 آسِفٌ جِدًّا</a:t>
            </a:r>
            <a:endParaRPr lang="ar-SA" sz="1700" dirty="0"/>
          </a:p>
        </p:txBody>
      </p:sp>
      <p:sp>
        <p:nvSpPr>
          <p:cNvPr id="69" name="Shape 67"/>
          <p:cNvSpPr/>
          <p:nvPr/>
        </p:nvSpPr>
        <p:spPr>
          <a:xfrm>
            <a:off x="640080" y="5202936"/>
            <a:ext cx="256032" cy="256032"/>
          </a:xfrm>
          <a:prstGeom prst="ellipse">
            <a:avLst/>
          </a:prstGeom>
          <a:solidFill>
            <a:srgbClr val="C9CED6"/>
          </a:solidFill>
          <a:ln w="12700">
            <a:solidFill>
              <a:srgbClr val="C9CED6"/>
            </a:solidFill>
            <a:prstDash val="solid"/>
          </a:ln>
        </p:spPr>
      </p:sp>
      <p:sp>
        <p:nvSpPr>
          <p:cNvPr id="70"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9"/>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إِلَى اللِّقَاءِ</a:t>
            </a:r>
            <a:endParaRPr lang="ar-SA" sz="1700" dirty="0"/>
          </a:p>
        </p:txBody>
      </p:sp>
      <p:sp>
        <p:nvSpPr>
          <p:cNvPr id="72" name="Shape 70"/>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3" name="Shape 71"/>
          <p:cNvSpPr/>
          <p:nvPr/>
        </p:nvSpPr>
        <p:spPr>
          <a:xfrm>
            <a:off x="640080" y="5574792"/>
            <a:ext cx="256032" cy="256032"/>
          </a:xfrm>
          <a:prstGeom prst="ellipse">
            <a:avLst/>
          </a:prstGeom>
          <a:solidFill>
            <a:srgbClr val="2E8B57"/>
          </a:solidFill>
          <a:ln w="12700">
            <a:solidFill>
              <a:srgbClr val="2E8B57"/>
            </a:solidFill>
            <a:prstDash val="solid"/>
          </a:ln>
        </p:spPr>
      </p:sp>
      <p:sp>
        <p:nvSpPr>
          <p:cNvPr id="74" name="Text 72"/>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3"/>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دَعْنِي أُفَكِّرُ</a:t>
            </a:r>
            <a:endParaRPr lang="ar-SA" sz="1700" dirty="0"/>
          </a:p>
        </p:txBody>
      </p:sp>
      <p:sp>
        <p:nvSpPr>
          <p:cNvPr id="76" name="Text 74"/>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It keeps you speaking Arabic while you assemble the verb.</a:t>
            </a:r>
            <a:endParaRPr lang="en-US" sz="1050" dirty="0"/>
          </a:p>
        </p:txBody>
      </p:sp>
      <p:sp>
        <p:nvSpPr>
          <p:cNvPr id="77" name="Shape 7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6"/>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8"/>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Extension: which adds most to a bare answer?</a:t>
            </a:r>
            <a:endParaRPr lang="en-US" sz="1250" dirty="0"/>
          </a:p>
        </p:txBody>
      </p:sp>
      <p:sp>
        <p:nvSpPr>
          <p:cNvPr id="81" name="Shape 79"/>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80"/>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1"/>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2"/>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لِأَنَّهَا مُمْتِعَةٌ</a:t>
            </a:r>
            <a:endParaRPr lang="ar-SA" sz="1700" dirty="0"/>
          </a:p>
        </p:txBody>
      </p:sp>
      <p:sp>
        <p:nvSpPr>
          <p:cNvPr id="85" name="Shape 83"/>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4"/>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5"/>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نَعَمْ</a:t>
            </a:r>
            <a:endParaRPr lang="ar-SA" sz="1700" dirty="0"/>
          </a:p>
        </p:txBody>
      </p:sp>
      <p:sp>
        <p:nvSpPr>
          <p:cNvPr id="88" name="Shape 86"/>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7"/>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8"/>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رُبَّمَا</a:t>
            </a:r>
            <a:endParaRPr lang="ar-SA" sz="1700" dirty="0"/>
          </a:p>
        </p:txBody>
      </p:sp>
      <p:sp>
        <p:nvSpPr>
          <p:cNvPr id="91" name="Text 89"/>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reason with </a:t>
            </a:r>
            <a:pPr algn="l" indent="0" marL="0">
              <a:buNone/>
            </a:pPr>
            <a:r>
              <a:rPr lang="ar-SA" altLang="en-US" sz="1350" dirty="0">
                <a:solidFill>
                  <a:srgbClr val="8A6D1E"/>
                </a:solidFill>
                <a:latin typeface="Amiri" pitchFamily="2" charset="-78"/>
                <a:ea typeface="Amiri" pitchFamily="2" charset="-78"/>
                <a:cs typeface="Amiri" pitchFamily="2" charset="-78"/>
              </a:rPr>
              <a:t>لِأَنَّ</a:t>
            </a:r>
            <a:pPr algn="l" indent="0" marL="0">
              <a:buNone/>
            </a:pPr>
            <a:r>
              <a:rPr lang="en-US" sz="1050" i="1" dirty="0">
                <a:solidFill>
                  <a:srgbClr val="8A6D1E"/>
                </a:solidFill>
                <a:latin typeface="Calibri" pitchFamily="34" charset="0"/>
                <a:cs typeface="Amiri" pitchFamily="2" charset="-78"/>
              </a:rPr>
              <a:t> extends the response.</a:t>
            </a:r>
            <a:endParaRPr lang="en-US" sz="1050" dirty="0"/>
          </a:p>
        </p:txBody>
      </p:sp>
      <p:sp>
        <p:nvSpPr>
          <p:cNvPr id="92" name="Shape 90"/>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1"/>
          <p:cNvSpPr/>
          <p:nvPr/>
        </p:nvSpPr>
        <p:spPr>
          <a:xfrm>
            <a:off x="8223504" y="4288536"/>
            <a:ext cx="310896" cy="310896"/>
          </a:xfrm>
          <a:prstGeom prst="ellipse">
            <a:avLst/>
          </a:prstGeom>
          <a:solidFill>
            <a:srgbClr val="1B3B6F"/>
          </a:solidFill>
          <a:ln w="12700">
            <a:solidFill>
              <a:srgbClr val="1B3B6F"/>
            </a:solidFill>
            <a:prstDash val="solid"/>
          </a:ln>
        </p:spPr>
      </p:sp>
      <p:sp>
        <p:nvSpPr>
          <p:cNvPr id="94" name="Text 92"/>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3"/>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answer avoids the past and needs repair?</a:t>
            </a:r>
            <a:endParaRPr lang="en-US" sz="1250" dirty="0"/>
          </a:p>
        </p:txBody>
      </p:sp>
      <p:sp>
        <p:nvSpPr>
          <p:cNvPr id="96" name="Shape 94"/>
          <p:cNvSpPr/>
          <p:nvPr/>
        </p:nvSpPr>
        <p:spPr>
          <a:xfrm>
            <a:off x="8278368" y="4831080"/>
            <a:ext cx="256032" cy="256032"/>
          </a:xfrm>
          <a:prstGeom prst="ellipse">
            <a:avLst/>
          </a:prstGeom>
          <a:solidFill>
            <a:srgbClr val="C9CED6"/>
          </a:solidFill>
          <a:ln w="12700">
            <a:solidFill>
              <a:srgbClr val="C9CED6"/>
            </a:solidFill>
            <a:prstDash val="solid"/>
          </a:ln>
        </p:spPr>
      </p:sp>
      <p:sp>
        <p:nvSpPr>
          <p:cNvPr id="97" name="Text 95"/>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6"/>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أَمْسِ شَاهَدْتُ المُبَارَاةَ.</a:t>
            </a:r>
            <a:endParaRPr lang="ar-SA" sz="1700" dirty="0"/>
          </a:p>
        </p:txBody>
      </p:sp>
      <p:sp>
        <p:nvSpPr>
          <p:cNvPr id="99" name="Shape 97"/>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0" name="Shape 98"/>
          <p:cNvSpPr/>
          <p:nvPr/>
        </p:nvSpPr>
        <p:spPr>
          <a:xfrm>
            <a:off x="8278368" y="5202936"/>
            <a:ext cx="256032" cy="256032"/>
          </a:xfrm>
          <a:prstGeom prst="ellipse">
            <a:avLst/>
          </a:prstGeom>
          <a:solidFill>
            <a:srgbClr val="2E8B57"/>
          </a:solidFill>
          <a:ln w="12700">
            <a:solidFill>
              <a:srgbClr val="2E8B57"/>
            </a:solidFill>
            <a:prstDash val="solid"/>
          </a:ln>
        </p:spPr>
      </p:sp>
      <p:sp>
        <p:nvSpPr>
          <p:cNvPr id="101" name="Text 99"/>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2" name="Text 100"/>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أَمْسِ أُشَاهِدُ المُبَارَاةَ.</a:t>
            </a:r>
            <a:endParaRPr lang="ar-SA" sz="1700" dirty="0"/>
          </a:p>
        </p:txBody>
      </p:sp>
      <p:sp>
        <p:nvSpPr>
          <p:cNvPr id="103" name="Shape 101"/>
          <p:cNvSpPr/>
          <p:nvPr/>
        </p:nvSpPr>
        <p:spPr>
          <a:xfrm>
            <a:off x="8278368" y="5574792"/>
            <a:ext cx="256032" cy="256032"/>
          </a:xfrm>
          <a:prstGeom prst="ellipse">
            <a:avLst/>
          </a:prstGeom>
          <a:solidFill>
            <a:srgbClr val="C9CED6"/>
          </a:solidFill>
          <a:ln w="12700">
            <a:solidFill>
              <a:srgbClr val="C9CED6"/>
            </a:solidFill>
            <a:prstDash val="solid"/>
          </a:ln>
        </p:spPr>
      </p:sp>
      <p:sp>
        <p:nvSpPr>
          <p:cNvPr id="104" name="Text 102"/>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5" name="Text 103"/>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أَمْسِ شَاهَدْنَا المُبَارَاةَ.</a:t>
            </a:r>
            <a:endParaRPr lang="ar-SA" sz="1700" dirty="0"/>
          </a:p>
        </p:txBody>
      </p:sp>
      <p:sp>
        <p:nvSpPr>
          <p:cNvPr id="106" name="Text 104"/>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present after </a:t>
            </a:r>
            <a:pPr algn="l" indent="0" marL="0">
              <a:buNone/>
            </a:pPr>
            <a:r>
              <a:rPr lang="ar-SA" altLang="en-US" sz="1350" dirty="0">
                <a:solidFill>
                  <a:srgbClr val="8A6D1E"/>
                </a:solidFill>
                <a:latin typeface="Amiri" pitchFamily="2" charset="-78"/>
                <a:ea typeface="Amiri" pitchFamily="2" charset="-78"/>
                <a:cs typeface="Amiri" pitchFamily="2" charset="-78"/>
              </a:rPr>
              <a:t>أَمْسِ</a:t>
            </a:r>
            <a:pPr algn="l" indent="0" marL="0">
              <a:buNone/>
            </a:pPr>
            <a:r>
              <a:rPr lang="en-US" sz="1050" i="1" dirty="0">
                <a:solidFill>
                  <a:srgbClr val="8A6D1E"/>
                </a:solidFill>
                <a:latin typeface="Calibri" pitchFamily="34" charset="0"/>
                <a:cs typeface="Amiri" pitchFamily="2" charset="-78"/>
              </a:rPr>
              <a:t> is the avoidance pattern.</a:t>
            </a:r>
            <a:endParaRPr lang="en-US" sz="1050" dirty="0"/>
          </a:p>
        </p:txBody>
      </p:sp>
      <p:sp>
        <p:nvSpPr>
          <p:cNvPr id="107" name="Text 10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D5-L11 · Unit Review</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D5-L12: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D5-L11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D5-L12 · D5 Review and Unit Assessment</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تَقْيِيمٌ</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an assessment</a:t>
            </a:r>
            <a:pPr indent="0" marL="0">
              <a:buNone/>
            </a:pPr>
            <a:r>
              <a:rPr lang="ar-SA" sz="1000" i="1" dirty="0">
                <a:solidFill>
                  <a:srgbClr val="5A6472"/>
                </a:solidFill>
                <a:latin typeface="Calibri" pitchFamily="34" charset="0"/>
                <a:ea typeface="Amiri" pitchFamily="2" charset="-78"/>
                <a:cs typeface="Amiri" pitchFamily="2" charset="-78"/>
              </a:rPr>
              <a:t>  pl. تَقْيِيمَاتٌ</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فَهْمُ المَسْمُوعِ</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listening comprehension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فَهْمُ المَقْرُوءِ</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reading comprehension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المُحَادَثَةُ</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conversation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أُرَاجِعُ إِجَابَتِي</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check my answer</a:t>
            </a:r>
            <a:pPr indent="0" marL="0">
              <a:buNone/>
            </a:pPr>
            <a:r>
              <a:rPr lang="ar-SA" sz="1000" i="1" dirty="0">
                <a:solidFill>
                  <a:srgbClr val="5A6472"/>
                </a:solidFill>
                <a:latin typeface="Calibri" pitchFamily="34" charset="0"/>
                <a:ea typeface="Amiri" pitchFamily="2" charset="-78"/>
                <a:cs typeface="Amiri" pitchFamily="2" charset="-78"/>
              </a:rPr>
              <a:t>  تُرَاجِعُ she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Prepare three past-tense answers about your hobbies, each with a reason, for the speaking assessment.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بَدَأْتُ … لِأَنَّ … · الأُسْبُوعَ المَاضِيَ … · سَـ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Practise four past questions aloud; learn the five assessment words.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60–70-word self-review; learn three time-buying phrases.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 80 words) + a recorded 1-minute topic answer.</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D5-L11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400" b="1" dirty="0">
                <a:solidFill>
                  <a:srgbClr val="FFFFFF"/>
                </a:solidFill>
                <a:latin typeface="Cambria" pitchFamily="34" charset="0"/>
                <a:cs typeface="Amiri" pitchFamily="2" charset="-78"/>
              </a:rPr>
              <a:t>D5-L12 · D5 Review and Unit Assessment</a:t>
            </a:r>
            <a:endParaRPr lang="en-US" sz="24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المُرَاجَعَةُ وَتَقْيِيمُ الوَحْدَةِ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mirror the tense — fix the stem — add a reason — and buy time in Arabic, never in silence.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D5-L11 · D5 Consolidation — Past Tense Mastery and Speaking Preparation</dc:title>
  <dc:subject>PptxGenJS Presentation</dc:subject>
  <dc:creator>Al Madina Online School · Arabic Department</dc:creator>
  <cp:lastModifiedBy>Al Madina Online School · Arabic Department</cp:lastModifiedBy>
  <cp:revision>1</cp:revision>
  <dcterms:created xsi:type="dcterms:W3CDTF">2026-10-11T06:41:04Z</dcterms:created>
  <dcterms:modified xsi:type="dcterms:W3CDTF">2026-10-11T06:41:04Z</dcterms:modified>
</cp:coreProperties>
</file>