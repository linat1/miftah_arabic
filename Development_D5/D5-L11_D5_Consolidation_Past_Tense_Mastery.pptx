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D5-L11. The website lesson “D5 Consolidation — Past Tense Mastery and Speaking Preparation”: vocabulary, grammar rules and quiz, patterns, common mistakes, sorter, listening, reading, speaking prompts and model, writing task and model, differentiation, final check and the lesson mission. Picture match: website visual game “D5 Consolidation — Past Tense Mastery and Speaking Preparation”.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No new grammar today: this is the D5 review and speaking rehearsal before the D5-L12 assessment.
• Core: answer four past questions aloud with frames, each with an accurate suffix. Develop: add a reason to each answer and use one time-buying phrase naturally. Stretch: a full topic answer past → present → future with no avoidance + the website 80-word self-review.
• THE trap (website): answering a past question in the present because it is easier. Train students to hear the tense of the question and MIRROR it.
• Use the Do Now and quick-check results to choose each student’s route for the final You Do.
• TEACHER-WRITTEN ITEMS: one vowel-only distractor and one “…” option replaced, and English added to the patterns and speaking model; the website visual game repeats D5-L01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D5-L10. Questions 4–5 retrieve D5-L07 (hollow verbs) and D5-L05 (كَانَ + present). Note which each student gets wrong: it is their priority for the speaking rehearsal.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Hear the tense of the question — then MIRROR it in your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طلاقت، تردد، صراحت، حقیقت are shared. عَفْوًا shares the root of Urdu معافی / معاف کیجیے (forgiveness, excuse me) — in Arabic it also means “you’re welcome” after شُكْرًا.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under pressure (website vocabulary (1 of 2)). Hear → Say → See → Use. Transliteration is printed for Core students (cover it for Develop/Stretch).
Speaking under pressure: the words examiners use (accuracy · fluency ·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Speaking under pressure (website vocabulary (2 of 2)). Hear → Say → See → Use. Transliteration is printed for Core students (cover it for Develop/Stretch).
Speaking under pressure: the words examiners use (accuracy · fluency · hesitation).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Repair and hesitation phrases (website vocabulary (1 of 2)). Hear → Say → See → Use. Transliteration is printed for Core students (cover it for Develop/Stretch).
Repair and hesitation phrases: learn three of these by heart — they keep you speaking Arabic while you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Repair and hesitation phrases (website vocabulary (2 of 2)). Hear → Say → See → Use. Transliteration is printed for Core students (cover it for Develop/Stretch).
Repair and hesitation phrases: learn three of these by heart — they keep you speaking Arabic while you think.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D5 revision anchors (website vocabulary (1 of 2)). Hear → Say → See → Use. Transliteration is printed for Core students (cover it for Develop/Stretch).
FLEX: teach if time allows; otherwise these are on the website vocabulary tab for homework.
D5 revision anchors (FLEX): the six D5 topics, as headings for your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D5 revision anchors (website vocabulary (2 of 2)). Hear → Say → See → Use. Transliteration is printed for Core students (cover it for Develop/Stretch).
FLEX: teach if time allows; otherwise these are on the website vocabulary tab for homework.
D5 revision anchors (FLEX): the six D5 topics, as headings for your revision.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“Answer in the tense of the question” (if the examiner uses a past verb or a past time phrase, mirror it — answering in the present is the most common avoidance pattern) and “Check the stem before the suffix” (قَالَ → قُلْـ, مَشَى → مَشَيْـ, then the suffix). Website teaching point: “The avoidance trap.”
Watch out (website quiz 2): girls often answer شَاهَدْتِ because they hear it in the question — the answer is about “I”: شَاهَدْتُ.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“Extend every answer” (a bare verb scores little — add لِأَنَّ, a frequency phrase or a connector) and “Move between tenses deliberately” (narrate, describe the habit now, state a plan). Website teaching point: “Buy time in Arabic, not in silence.”
All three phrases appear in the website listening — students will hear them used naturally.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“This lesson revisits the whole D5 system as a checklist you can apply while speaking: choose the person, choose the stem, attach the suffix, then add a reason.”
• Answer in the tense of the question: If the examiner uses a past verb or a past time phrase, mirror it. Answering in the present is the most common avoidance pattern.
• Check the stem before the suffix: قَالَ becomes قُلْـ, مَشَى becomes مَشَيْـ, and only then does the suffix go on.
• Extend every answer: A bare verb scores little. Add لِأَنَّ, a frequency phrase or a connector to turn an answer into a response.
• Move between tenses deliberately: A strong topic answer narrates, then describes the habit now, then states a plan.
Website common error: Substituting the present for the past when a question is about a past event. It is the single most visible weakness in D5 speaking, and it is entirely avoidable once you listen for the tense of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listening (a candidate under pressure). Play the candidate yourself, with real pauses; let students spot each time-buyer and the repair. Then ask: which tense was each question in? Did the answers mirror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chooses ONE item from each column to use in the speaking rehearsal.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each student chooses ONE item from each column to use in the speaking rehearsal.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the tense of each examiner question.
Listen 1: just listen. Listen 2: note answers. Then chat the letters.
Support: after the second listening, show the read-along slide (Arabic + English, line by line) for Core students.
SCRIPT (read aloud):
المُمْتَحِنُ: كَيْفَ بَدَأْتَ هٰذِهِ الهِوَايَةَ؟ الطَّالِبُ: سُؤَالٌ جَيِّدٌ. بَدَأْتُ فِي الطُّفُولَةِ، لِأَنَّ أَخِي كَانَ يَلْعَبُ كُرَةَ السَّلَّةِ كُلَّ مَسَاءٍ. المُمْتَحِنُ: وَمَاذَا فَعَلْتَ الأُسْبُوعَ المَاضِيَ؟ الطَّالِبُ: دَعْنِي أُفَكِّرُ. تَدَرَّبْتُ مَرَّتَيْنِ، ثُمَّ شَارَكْتُ فِي مُبَارَاةٍ وَدِّيَّةٍ، وَلِلْأَسَفِ خَسِرْنَا. عَفْوًا، أَقْصِدُ تَعَادَلْنَا. المُمْتَحِنُ: وَمَا خُطَطُكَ؟ الطَّالِبُ: فِي الحَقِيقَةِ، سَأَشْتَرِكُ فِي بُطُولَةٍ مَدْرَسِيَّةٍ، وَأَنْوِي أَنْ أَتَدَرَّبَ أَكْثَرَ.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صِفْ تَجْرِبَةً رِيَاضِيَّةً مَرَرْتَ بِهَا. (Describe a sporting experience you have had.)
B: الأُسْبُوعَ المَاضِيَ شَارَكْتُ فِي مُبَارَاةٍ، وَفَجْأَةً أُصِبْتُ، وَلٰكِنْ لِحُسْنِ الحَظِّ أَكْمَلْتُ اللَّعِبَ، وَسَأُشَارِكُ مَرَّةً أُخْرَى. (Last week I took part in a match, and suddenly I got injured, but luckily I finished the game, and I will take part again.)
FULL REHEARSAL (website: “full topic conversation”). Pairs: A is the examiner (reads the three questions), B answers for 1 minute; A ticks: mirrored tense? reason? time-buyer? Then swap. To a girl: هِوَايَتُكِ · بَدَأْتِ · مَرَرْتِ · خُطَطُكِ.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Answer four past questions aloud using the sentence frames, each with an accurate suffix. · Develop — Add a reason to each answer and use one time-buying phrase naturally. · Stretch — Deliver a full topic answer that moves through past, present and future with no avoidance.
Website writing task (Stretch): Write about eighty words reviewing your own D5 progress. Say what you found difficult at first, what you practised, how you improved and what you will focus on next.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(self-review). Evidence: كُنْتُ أَسْتَعْمِلُ · كَانَ ذٰلِكَ خَطَأً · تَدَرَّبْتُ · رَكَّزْتُ · تَحَسَّنَتْ · أَمَّا الآنَ فَأَسْتَعْمِلُ · سَأُرَكِّزُ · أَنْوِي أَنْ أَتَدَرَّبَ.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(D5-L12 · D5 Review and Unit Assessment) will spend class time USING this language, so students prepare it tonight — short, simple, easy to access (school guidance: “Simple, Short, Interesting, Relevant, Easy to access”). The five words are the instruction words of the D5-L12 assessment (listening, reading and conversation).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D5 Consolidation — Past Tense Mastery and Speaking Preparation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350" b="1" dirty="0">
                <a:solidFill>
                  <a:srgbClr val="D4AF37"/>
                </a:solidFill>
                <a:latin typeface="Amiri" pitchFamily="2" charset="-78"/>
                <a:cs typeface="Amiri" pitchFamily="2" charset="-78"/>
              </a:rPr>
              <a:t>تَرْسِيخُ الوَحْدَةِ — إِتْقَانُ الفِعْلِ المَاضِي وَإِعْدَادُ التَّحَدُّثِ</a:t>
            </a:r>
            <a:endParaRPr lang="ar-SA" sz="33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Get ready for the D5 speaking: answer a past question in the past (</a:t>
            </a:r>
            <a:pPr algn="l" indent="0" marL="0">
              <a:buNone/>
            </a:pPr>
            <a:r>
              <a:rPr lang="ar-SA" altLang="en-US" sz="1800" dirty="0">
                <a:solidFill>
                  <a:srgbClr val="C6D2E6"/>
                </a:solidFill>
                <a:latin typeface="Amiri" pitchFamily="2" charset="-78"/>
                <a:cs typeface="Amiri" pitchFamily="2" charset="-78"/>
              </a:rPr>
              <a:t>كَيْفَ بَدَأْتَ؟</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بَدَأْتُ</a:t>
            </a:r>
            <a:pPr algn="l" indent="0" marL="0">
              <a:buNone/>
            </a:pPr>
            <a:r>
              <a:rPr lang="en-US" sz="1400" dirty="0">
                <a:solidFill>
                  <a:srgbClr val="C6D2E6"/>
                </a:solidFill>
                <a:latin typeface="Calibri" pitchFamily="34" charset="0"/>
                <a:cs typeface="Amiri" pitchFamily="2" charset="-78"/>
              </a:rPr>
              <a:t> …), fix the stem before the suffix, extend every answer with a reason, and buy time or repair a slip in Arabic (</a:t>
            </a:r>
            <a:pPr algn="l" indent="0" marL="0">
              <a:buNone/>
            </a:pPr>
            <a:r>
              <a:rPr lang="ar-SA" altLang="en-US" sz="1800" dirty="0">
                <a:solidFill>
                  <a:srgbClr val="C6D2E6"/>
                </a:solidFill>
                <a:latin typeface="Amiri" pitchFamily="2" charset="-78"/>
                <a:cs typeface="Amiri" pitchFamily="2" charset="-78"/>
              </a:rPr>
              <a:t>دَعْنِي أُفَكِّرُ</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عَفْوًا، أَقْصِدُ</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D5-L11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Mirror the tense, fix the stem, extend, buy time, repair.</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strategies, fix three classic slips, then hear a candidate under pressure.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D5-L12.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دَعْنِي أُفَكِّرُ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mean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 me think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agree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fluency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hesitation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let me think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good question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sorry, I mean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زَوَرْتُ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habit?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كُنْتُ أَلْعَبُ</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سَأَلْعَبُ</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أَلْعَبُ الآنَ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دَعْنِي أُفَكِّرُ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mean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let me think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 agree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الطَّلَاقَةُ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fluency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hesitation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let me think</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good question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sorry, I mean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(D5-L10).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“I” past of </a:t>
            </a:r>
            <a:pPr algn="l" indent="0" marL="0">
              <a:buNone/>
            </a:pPr>
            <a:r>
              <a:rPr lang="ar-SA" altLang="en-US" sz="1650" b="1" dirty="0">
                <a:solidFill>
                  <a:srgbClr val="1B3B6F"/>
                </a:solidFill>
                <a:latin typeface="Amiri" pitchFamily="2" charset="-78"/>
                <a:cs typeface="Amiri" pitchFamily="2" charset="-78"/>
              </a:rPr>
              <a:t>زَارَ</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زَوَرْتُ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D5-L07: hollow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past habit?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كُنْتُ أَلْعَبُ</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سَأَلْعَبُ</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أَلْعَبُ الآنَ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Hear the tense of the question — then MIRROR it in your answer.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cs typeface="Amiri" pitchFamily="2" charset="-78"/>
              </a:rPr>
              <a:t>كَيْفَ </a:t>
            </a:r>
            <a:pPr rtl="1" algn="ctr" indent="0" marL="0">
              <a:lnSpc>
                <a:spcPct val="120000"/>
              </a:lnSpc>
              <a:buNone/>
            </a:pPr>
            <a:r>
              <a:rPr lang="ar-SA" altLang="en-US" sz="1950" b="1" dirty="0">
                <a:solidFill>
                  <a:srgbClr val="0E7C86"/>
                </a:solidFill>
                <a:latin typeface="Amiri" pitchFamily="2" charset="-78"/>
                <a:cs typeface="Amiri" pitchFamily="2" charset="-78"/>
              </a:rPr>
              <a:t>بَدَأْتَ</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بَدَأْتُ</a:t>
            </a:r>
            <a:pPr rtl="1" algn="ctr" indent="0" marL="0">
              <a:lnSpc>
                <a:spcPct val="120000"/>
              </a:lnSpc>
              <a:buNone/>
            </a:pPr>
            <a:r>
              <a:rPr lang="ar-SA" altLang="en-US" sz="1950" b="1" dirty="0">
                <a:solidFill>
                  <a:srgbClr val="1B3B6F"/>
                </a:solidFill>
                <a:latin typeface="Amiri" pitchFamily="2" charset="-78"/>
                <a:cs typeface="Amiri" pitchFamily="2" charset="-78"/>
              </a:rPr>
              <a:t> فِي الطُّفُولَةِ </a:t>
            </a:r>
            <a:pPr rtl="1" algn="ctr" indent="0" marL="0">
              <a:lnSpc>
                <a:spcPct val="120000"/>
              </a:lnSpc>
              <a:buNone/>
            </a:pPr>
            <a:r>
              <a:rPr lang="ar-SA" altLang="en-US" sz="1950" b="1" dirty="0">
                <a:solidFill>
                  <a:srgbClr val="D6336C"/>
                </a:solidFill>
                <a:latin typeface="Amiri" pitchFamily="2" charset="-78"/>
                <a:cs typeface="Amiri" pitchFamily="2" charset="-78"/>
              </a:rPr>
              <a:t>لِأَنَّ</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a past question in the past tense (mirror the question).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Fix the stem of irregular verbs before the suffix.</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Extend every answer with a reason, a frequency or a connector.</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Buy time and repair slips in Arabic.</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answer four past questions in the past.</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time-buying phrase.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reason to every answer.</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repair a slip with </a:t>
            </a:r>
            <a:pPr algn="l" indent="0" marL="0">
              <a:buNone/>
            </a:pPr>
            <a:r>
              <a:rPr lang="ar-SA" altLang="en-US" sz="1700" b="1" dirty="0">
                <a:solidFill>
                  <a:srgbClr val="C9780A"/>
                </a:solidFill>
                <a:latin typeface="Amiri" pitchFamily="2" charset="-78"/>
                <a:cs typeface="Amiri" pitchFamily="2" charset="-78"/>
              </a:rPr>
              <a:t>عَفْوًا، أَقْصِدُ</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past → present → future.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review my own progress in 80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Speaking under pressure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Repair and hesitation phrases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D5 revision anchors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طَلَاقَةٌ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‎طلاقت / روانی‎ </a:t>
            </a:r>
            <a:pPr indent="0" marL="0">
              <a:buNone/>
            </a:pPr>
            <a:r>
              <a:rPr lang="en-US" sz="950" b="1" dirty="0">
                <a:solidFill>
                  <a:srgbClr val="2E8B57"/>
                </a:solidFill>
                <a:latin typeface="Calibri" pitchFamily="34" charset="0"/>
                <a:cs typeface="Amiri" pitchFamily="2" charset="-78"/>
              </a:rPr>
              <a:t> ṭalāqat · fluency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تَرَدُّدٌ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‎تردد‎ </a:t>
            </a:r>
            <a:pPr indent="0" marL="0">
              <a:buNone/>
            </a:pPr>
            <a:r>
              <a:rPr lang="en-US" sz="950" b="1" dirty="0">
                <a:solidFill>
                  <a:srgbClr val="2E8B57"/>
                </a:solidFill>
                <a:latin typeface="Calibri" pitchFamily="34" charset="0"/>
                <a:cs typeface="Amiri" pitchFamily="2" charset="-78"/>
              </a:rPr>
              <a:t> taraddud · hesitation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صَرَاحَةٌ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‎صراحت‎ </a:t>
            </a:r>
            <a:pPr indent="0" marL="0">
              <a:buNone/>
            </a:pPr>
            <a:r>
              <a:rPr lang="en-US" sz="950" b="1" dirty="0">
                <a:solidFill>
                  <a:srgbClr val="2E8B57"/>
                </a:solidFill>
                <a:latin typeface="Calibri" pitchFamily="34" charset="0"/>
                <a:cs typeface="Amiri" pitchFamily="2" charset="-78"/>
              </a:rPr>
              <a:t> ṣarāḥat · frankness, clarity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حَقِيقَةٌ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‎حقیقت‎ </a:t>
            </a:r>
            <a:pPr indent="0" marL="0">
              <a:buNone/>
            </a:pPr>
            <a:r>
              <a:rPr lang="en-US" sz="950" b="1" dirty="0">
                <a:solidFill>
                  <a:srgbClr val="2E8B57"/>
                </a:solidFill>
                <a:latin typeface="Calibri" pitchFamily="34" charset="0"/>
                <a:cs typeface="Amiri" pitchFamily="2" charset="-78"/>
              </a:rPr>
              <a:t> ḥaqīqat · truth, fact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عَفْوًا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‎معاف کیجیے‎ </a:t>
            </a:r>
            <a:pPr indent="0" marL="0">
              <a:buNone/>
            </a:pPr>
            <a:r>
              <a:rPr lang="en-US" sz="950" b="1" dirty="0">
                <a:solidFill>
                  <a:srgbClr val="2E8B57"/>
                </a:solidFill>
                <a:latin typeface="Calibri" pitchFamily="34" charset="0"/>
                <a:cs typeface="Amiri" pitchFamily="2" charset="-78"/>
              </a:rPr>
              <a:t> muʿāf · sorry, excuse me (same root ʿ-f-w)</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under pressure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الحَدِيثُ بِالفِعْلِ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speaking in the past tense</a:t>
            </a:r>
            <a:endParaRPr lang="en-US" sz="1350" dirty="0"/>
          </a:p>
          <a:p>
            <a:pPr indent="0" marL="0">
              <a:buNone/>
            </a:pPr>
            <a:r>
              <a:rPr lang="en-US" sz="1100" i="1" dirty="0">
                <a:solidFill>
                  <a:srgbClr val="5A6472"/>
                </a:solidFill>
                <a:latin typeface="Calibri" pitchFamily="34" charset="0"/>
                <a:cs typeface="Amiri" pitchFamily="2" charset="-78"/>
              </a:rPr>
              <a:t>al-ḥa-dī-thu bil-fiʿ-li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الدِّقَّةُ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accuracy</a:t>
            </a:r>
            <a:endParaRPr lang="en-US" sz="1350" dirty="0"/>
          </a:p>
          <a:p>
            <a:pPr indent="0" marL="0">
              <a:buNone/>
            </a:pPr>
            <a:r>
              <a:rPr lang="en-US" sz="1100" i="1" dirty="0">
                <a:solidFill>
                  <a:srgbClr val="5A6472"/>
                </a:solidFill>
                <a:latin typeface="Calibri" pitchFamily="34" charset="0"/>
                <a:cs typeface="Amiri" pitchFamily="2" charset="-78"/>
              </a:rPr>
              <a:t>ad-diq-qa-tu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الطَّلَاقَةُ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التَّرَدُّدُ</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hesitation</a:t>
            </a:r>
            <a:endParaRPr lang="en-US" sz="1350" dirty="0"/>
          </a:p>
          <a:p>
            <a:pPr indent="0" marL="0">
              <a:buNone/>
            </a:pPr>
            <a:r>
              <a:rPr lang="en-US" sz="1100" i="1" dirty="0">
                <a:solidFill>
                  <a:srgbClr val="5A6472"/>
                </a:solidFill>
                <a:latin typeface="Calibri" pitchFamily="34" charset="0"/>
                <a:cs typeface="Amiri" pitchFamily="2" charset="-78"/>
              </a:rPr>
              <a:t>at-ta-rad-du-du</a:t>
            </a:r>
            <a:endParaRPr lang="en-US" sz="13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under pressure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أُعِيدُ الصِّيَاغَةَ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rephrase</a:t>
            </a:r>
            <a:endParaRPr lang="en-US" sz="1350" dirty="0"/>
          </a:p>
          <a:p>
            <a:pPr indent="0" marL="0">
              <a:buNone/>
            </a:pPr>
            <a:r>
              <a:rPr lang="en-US" sz="1100" i="1" dirty="0">
                <a:solidFill>
                  <a:srgbClr val="5A6472"/>
                </a:solidFill>
                <a:latin typeface="Calibri" pitchFamily="34" charset="0"/>
                <a:cs typeface="Amiri" pitchFamily="2" charset="-78"/>
              </a:rPr>
              <a:t>u-ʿī-du aṣ-ṣi-yā-gha-ta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عَلَى سَبِيلِ المِثَالِ</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بِصَرَاحَةٍ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frankly</a:t>
            </a:r>
            <a:endParaRPr lang="en-US" sz="1350" dirty="0"/>
          </a:p>
          <a:p>
            <a:pPr indent="0" marL="0">
              <a:buNone/>
            </a:pPr>
            <a:r>
              <a:rPr lang="en-US" sz="1100" i="1" dirty="0">
                <a:solidFill>
                  <a:srgbClr val="5A6472"/>
                </a:solidFill>
                <a:latin typeface="Calibri" pitchFamily="34" charset="0"/>
                <a:cs typeface="Amiri" pitchFamily="2" charset="-78"/>
              </a:rPr>
              <a:t>bi-ṣa-rā-ḥa-tin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الحَقِيقَةِ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fact</a:t>
            </a:r>
            <a:endParaRPr lang="en-US" sz="1350" dirty="0"/>
          </a:p>
          <a:p>
            <a:pPr indent="0" marL="0">
              <a:buNone/>
            </a:pPr>
            <a:r>
              <a:rPr lang="en-US" sz="1100" i="1" dirty="0">
                <a:solidFill>
                  <a:srgbClr val="5A6472"/>
                </a:solidFill>
                <a:latin typeface="Calibri" pitchFamily="34" charset="0"/>
                <a:cs typeface="Amiri" pitchFamily="2" charset="-78"/>
              </a:rPr>
              <a:t>fī al-ḥa-qī-qa-ti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Repair and hesitation phrases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1269187"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repair phrase.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عَفْوًا، أَقْصِدُ</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sorry, I mean</a:t>
            </a:r>
            <a:endParaRPr lang="en-US" sz="1350" dirty="0"/>
          </a:p>
          <a:p>
            <a:pPr indent="0" marL="0">
              <a:buNone/>
            </a:pPr>
            <a:r>
              <a:rPr lang="en-US" sz="1100" i="1" dirty="0">
                <a:solidFill>
                  <a:srgbClr val="5A6472"/>
                </a:solidFill>
                <a:latin typeface="Calibri" pitchFamily="34" charset="0"/>
                <a:cs typeface="Amiri" pitchFamily="2" charset="-78"/>
              </a:rPr>
              <a:t>ʿaf-wan, aq-ṣi-du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دَعْنِي أُفَكِّرُ</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let me think</a:t>
            </a:r>
            <a:endParaRPr lang="en-US" sz="1350" dirty="0"/>
          </a:p>
          <a:p>
            <a:pPr indent="0" marL="0">
              <a:buNone/>
            </a:pPr>
            <a:r>
              <a:rPr lang="en-US" sz="1100" i="1" dirty="0">
                <a:solidFill>
                  <a:srgbClr val="5A6472"/>
                </a:solidFill>
                <a:latin typeface="Calibri" pitchFamily="34" charset="0"/>
                <a:cs typeface="Amiri" pitchFamily="2" charset="-78"/>
              </a:rPr>
              <a:t>daʿ-nī u-fak-ki-ru</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455725"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Buys thinking time.</a:t>
            </a:r>
            <a:endParaRPr lang="en-US" sz="8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سُؤَالٌ جَيِّدٌ</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question</a:t>
            </a:r>
            <a:endParaRPr lang="en-US" sz="1350" dirty="0"/>
          </a:p>
          <a:p>
            <a:pPr indent="0" marL="0">
              <a:buNone/>
            </a:pPr>
            <a:r>
              <a:rPr lang="en-US" sz="1100" i="1" dirty="0">
                <a:solidFill>
                  <a:srgbClr val="5A6472"/>
                </a:solidFill>
                <a:latin typeface="Calibri" pitchFamily="34" charset="0"/>
                <a:cs typeface="Amiri" pitchFamily="2" charset="-78"/>
              </a:rPr>
              <a:t>su-ʾā-lun jay-yi-dun</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كَمَا قُلْتُ</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as I said</a:t>
            </a:r>
            <a:endParaRPr lang="en-US" sz="1350" dirty="0"/>
          </a:p>
          <a:p>
            <a:pPr indent="0" marL="0">
              <a:buNone/>
            </a:pPr>
            <a:r>
              <a:rPr lang="en-US" sz="1100" i="1" dirty="0">
                <a:solidFill>
                  <a:srgbClr val="5A6472"/>
                </a:solidFill>
                <a:latin typeface="Calibri" pitchFamily="34" charset="0"/>
                <a:cs typeface="Amiri" pitchFamily="2" charset="-78"/>
              </a:rPr>
              <a:t>ka-mā qul-tu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Repair and hesitation phrases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بِعِبَارَةٍ أُخْرَى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other words</a:t>
            </a:r>
            <a:endParaRPr lang="en-US" sz="1350" dirty="0"/>
          </a:p>
          <a:p>
            <a:pPr indent="0" marL="0">
              <a:buNone/>
            </a:pPr>
            <a:r>
              <a:rPr lang="en-US" sz="1100" i="1" dirty="0">
                <a:solidFill>
                  <a:srgbClr val="5A6472"/>
                </a:solidFill>
                <a:latin typeface="Calibri" pitchFamily="34" charset="0"/>
                <a:cs typeface="Amiri" pitchFamily="2" charset="-78"/>
              </a:rPr>
              <a:t>bi-ʿi-bā-ra-tin ukh-rā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3" name="Shape 2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هَلْ يُمْكِنُ أَنْ تُعِيدَ السُّؤَالَ؟</a:t>
            </a:r>
            <a:endParaRPr lang="ar-SA" sz="29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could you repeat the question?</a:t>
            </a:r>
            <a:endParaRPr lang="en-US" sz="1350" dirty="0"/>
          </a:p>
          <a:p>
            <a:pPr indent="0" marL="0">
              <a:buNone/>
            </a:pPr>
            <a:r>
              <a:rPr lang="en-US" sz="1100" i="1" dirty="0">
                <a:solidFill>
                  <a:srgbClr val="5A6472"/>
                </a:solidFill>
                <a:latin typeface="Calibri" pitchFamily="34" charset="0"/>
                <a:cs typeface="Amiri" pitchFamily="2" charset="-78"/>
              </a:rPr>
              <a:t>hal yum-ki-nu an tu-ʿī-da as-su-ʾā-la?</a:t>
            </a:r>
            <a:endParaRPr lang="en-US" sz="1350" dirty="0"/>
          </a:p>
        </p:txBody>
      </p:sp>
      <p:sp>
        <p:nvSpPr>
          <p:cNvPr id="29" name="Shape 26"/>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a woman</a:t>
            </a:r>
            <a:endParaRPr lang="en-US" sz="700" dirty="0"/>
          </a:p>
        </p:txBody>
      </p:sp>
      <p:sp>
        <p:nvSpPr>
          <p:cNvPr id="31" name="Text 28"/>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هَلْ يُمْكِنُ أَنْ تُعِيدِي السُّؤَالَ؟</a:t>
            </a:r>
            <a:endParaRPr lang="ar-SA"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5" name="Shape 32"/>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لَسْتُ مُتَأَكِّدًا</a:t>
            </a:r>
            <a:endParaRPr lang="ar-SA" sz="3000" dirty="0"/>
          </a:p>
        </p:txBody>
      </p:sp>
      <p:sp>
        <p:nvSpPr>
          <p:cNvPr id="40" name="Text 37"/>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not sure</a:t>
            </a:r>
            <a:endParaRPr lang="en-US" sz="1350" dirty="0"/>
          </a:p>
          <a:p>
            <a:pPr indent="0" marL="0">
              <a:buNone/>
            </a:pPr>
            <a:r>
              <a:rPr lang="en-US" sz="1100" i="1" dirty="0">
                <a:solidFill>
                  <a:srgbClr val="5A6472"/>
                </a:solidFill>
                <a:latin typeface="Calibri" pitchFamily="34" charset="0"/>
                <a:cs typeface="Amiri" pitchFamily="2" charset="-78"/>
              </a:rPr>
              <a:t>las-tu mu-ta-ʾak-ki-dan</a:t>
            </a:r>
            <a:endParaRPr lang="en-US" sz="1350" dirty="0"/>
          </a:p>
        </p:txBody>
      </p:sp>
      <p:sp>
        <p:nvSpPr>
          <p:cNvPr id="41" name="Shape 38"/>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3" name="Text 40"/>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لَسْتُ مُتَأَكِّدَةً</a:t>
            </a:r>
            <a:endParaRPr lang="ar-SA" sz="1500" dirty="0"/>
          </a:p>
        </p:txBody>
      </p:sp>
      <p:sp>
        <p:nvSpPr>
          <p:cNvPr id="44" name="Shape 4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11312" y="4261104"/>
            <a:ext cx="310896" cy="310896"/>
          </a:xfrm>
          <a:prstGeom prst="ellipse">
            <a:avLst/>
          </a:prstGeom>
          <a:solidFill>
            <a:srgbClr val="F4F1EA"/>
          </a:solidFill>
          <a:ln w="12700">
            <a:solidFill>
              <a:srgbClr val="F4F1EA"/>
            </a:solidFill>
            <a:prstDash val="solid"/>
          </a:ln>
        </p:spPr>
      </p:sp>
      <p:sp>
        <p:nvSpPr>
          <p:cNvPr id="46" name="Text 4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7" name="Shape 44"/>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8" name="Text 45"/>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أَتَّفِقُ مَعَكَ</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agree with you</a:t>
            </a:r>
            <a:endParaRPr lang="en-US" sz="1350" dirty="0"/>
          </a:p>
          <a:p>
            <a:pPr indent="0" marL="0">
              <a:buNone/>
            </a:pPr>
            <a:r>
              <a:rPr lang="en-US" sz="1100" i="1" dirty="0">
                <a:solidFill>
                  <a:srgbClr val="5A6472"/>
                </a:solidFill>
                <a:latin typeface="Calibri" pitchFamily="34" charset="0"/>
                <a:cs typeface="Amiri" pitchFamily="2" charset="-78"/>
              </a:rPr>
              <a:t>at-ta-fi-qu ma-ʿa-ka</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a girl</a:t>
            </a:r>
            <a:endParaRPr lang="en-US" sz="700" dirty="0"/>
          </a:p>
        </p:txBody>
      </p:sp>
      <p:sp>
        <p:nvSpPr>
          <p:cNvPr id="53" name="Text 50"/>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أَتَّفِقُ مَعَكِ</a:t>
            </a:r>
            <a:endParaRPr lang="ar-SA"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D5 revision anchors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الهِوَايَاتُ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hobbies</a:t>
            </a:r>
            <a:endParaRPr lang="en-US" sz="1350" dirty="0"/>
          </a:p>
          <a:p>
            <a:pPr indent="0" marL="0">
              <a:buNone/>
            </a:pPr>
            <a:r>
              <a:rPr lang="en-US" sz="1100" i="1" dirty="0">
                <a:solidFill>
                  <a:srgbClr val="5A6472"/>
                </a:solidFill>
                <a:latin typeface="Calibri" pitchFamily="34" charset="0"/>
                <a:cs typeface="Amiri" pitchFamily="2" charset="-78"/>
              </a:rPr>
              <a:t>al-hi-wā-yā-tu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الرِّيَاضَةُ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sport</a:t>
            </a:r>
            <a:endParaRPr lang="en-US" sz="1350" dirty="0"/>
          </a:p>
          <a:p>
            <a:pPr indent="0" marL="0">
              <a:buNone/>
            </a:pPr>
            <a:r>
              <a:rPr lang="en-US" sz="1100" i="1" dirty="0">
                <a:solidFill>
                  <a:srgbClr val="5A6472"/>
                </a:solidFill>
                <a:latin typeface="Calibri" pitchFamily="34" charset="0"/>
                <a:cs typeface="Amiri" pitchFamily="2" charset="-78"/>
              </a:rPr>
              <a:t>ar-ri-yā-ḍa-tu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التَّرْفِيهُ</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leisure</a:t>
            </a:r>
            <a:endParaRPr lang="en-US" sz="1350" dirty="0"/>
          </a:p>
          <a:p>
            <a:pPr indent="0" marL="0">
              <a:buNone/>
            </a:pPr>
            <a:r>
              <a:rPr lang="en-US" sz="1100" i="1" dirty="0">
                <a:solidFill>
                  <a:srgbClr val="5A6472"/>
                </a:solidFill>
                <a:latin typeface="Calibri" pitchFamily="34" charset="0"/>
                <a:cs typeface="Amiri" pitchFamily="2" charset="-78"/>
              </a:rPr>
              <a:t>at-tar-fī-hu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التَّجَارِبُ المَاضِيَةُ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past experiences</a:t>
            </a:r>
            <a:endParaRPr lang="en-US" sz="1350" dirty="0"/>
          </a:p>
          <a:p>
            <a:pPr indent="0" marL="0">
              <a:buNone/>
            </a:pPr>
            <a:r>
              <a:rPr lang="en-US" sz="1100" i="1" dirty="0">
                <a:solidFill>
                  <a:srgbClr val="5A6472"/>
                </a:solidFill>
                <a:latin typeface="Calibri" pitchFamily="34" charset="0"/>
                <a:cs typeface="Amiri" pitchFamily="2" charset="-78"/>
              </a:rPr>
              <a:t>at-ta-jā-ri-bu al-mā-ḍi-ya-tu</a:t>
            </a:r>
            <a:endParaRPr lang="en-US" sz="1350" dirty="0"/>
          </a:p>
        </p:txBody>
      </p:sp>
      <p:sp>
        <p:nvSpPr>
          <p:cNvPr id="37" name="Text 34"/>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Broken plural with a feminine adjective.</a:t>
            </a:r>
            <a:endParaRPr lang="en-US" sz="10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D5 revision anchors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tense</a:t>
            </a:r>
            <a:endParaRPr lang="en-US" sz="1350" dirty="0"/>
          </a:p>
          <a:p>
            <a:pPr indent="0" marL="0">
              <a:buNone/>
            </a:pPr>
            <a:r>
              <a:rPr lang="en-US" sz="1100" i="1" dirty="0">
                <a:solidFill>
                  <a:srgbClr val="5A6472"/>
                </a:solidFill>
                <a:latin typeface="Calibri" pitchFamily="34" charset="0"/>
                <a:cs typeface="Amiri" pitchFamily="2" charset="-78"/>
              </a:rPr>
              <a:t>al-fiʿ-lu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الأَفْعَالُ الشَّاذَّةُ</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irregular verbs</a:t>
            </a:r>
            <a:endParaRPr lang="en-US" sz="1350" dirty="0"/>
          </a:p>
          <a:p>
            <a:pPr indent="0" marL="0">
              <a:buNone/>
            </a:pPr>
            <a:r>
              <a:rPr lang="en-US" sz="1100" i="1" dirty="0">
                <a:solidFill>
                  <a:srgbClr val="5A6472"/>
                </a:solidFill>
                <a:latin typeface="Calibri" pitchFamily="34" charset="0"/>
                <a:cs typeface="Amiri" pitchFamily="2" charset="-78"/>
              </a:rPr>
              <a:t>al-af-ʿā-lu ash-shādh-dha-tu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رَوَابِطُ السَّرْدِ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narrative connectors</a:t>
            </a:r>
            <a:endParaRPr lang="en-US" sz="1350" dirty="0"/>
          </a:p>
          <a:p>
            <a:pPr indent="0" marL="0">
              <a:buNone/>
            </a:pPr>
            <a:r>
              <a:rPr lang="en-US" sz="1100" i="1" dirty="0">
                <a:solidFill>
                  <a:srgbClr val="5A6472"/>
                </a:solidFill>
                <a:latin typeface="Calibri" pitchFamily="34" charset="0"/>
                <a:cs typeface="Amiri" pitchFamily="2" charset="-78"/>
              </a:rPr>
              <a:t>ra-wā-bi-ṭu as-sar-di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تَنَوُّعُ الأَزْمِنَةِ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tense variety</a:t>
            </a:r>
            <a:endParaRPr lang="en-US" sz="1350" dirty="0"/>
          </a:p>
          <a:p>
            <a:pPr indent="0" marL="0">
              <a:buNone/>
            </a:pPr>
            <a:r>
              <a:rPr lang="en-US" sz="1100" i="1" dirty="0">
                <a:solidFill>
                  <a:srgbClr val="5A6472"/>
                </a:solidFill>
                <a:latin typeface="Calibri" pitchFamily="34" charset="0"/>
                <a:cs typeface="Amiri" pitchFamily="2" charset="-78"/>
              </a:rPr>
              <a:t>ta-naw-wu-ʿu al-az-mi-na-ti</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MIRROR THE QUESTION (WEBSITE RULES 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A past question needs a past answer</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سُؤَالٌ مَاضٍ، جَوَابٌ مَاضٍ</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553712"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 answer</a:t>
            </a:r>
            <a:endParaRPr lang="en-US" sz="1100" dirty="0"/>
          </a:p>
        </p:txBody>
      </p:sp>
      <p:sp>
        <p:nvSpPr>
          <p:cNvPr id="18" name="Text 15"/>
          <p:cNvSpPr txBox="1"/>
          <p:nvPr/>
        </p:nvSpPr>
        <p:spPr>
          <a:xfrm>
            <a:off x="53035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Examiner asks</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 → -tu</a:t>
            </a:r>
            <a:endParaRPr lang="en-US" sz="1100" dirty="0"/>
          </a:p>
        </p:txBody>
      </p:sp>
      <p:sp>
        <p:nvSpPr>
          <p:cNvPr id="21" name="Text 18"/>
          <p:cNvSpPr txBox="1"/>
          <p:nvPr/>
        </p:nvSpPr>
        <p:spPr>
          <a:xfrm>
            <a:off x="4572000" y="2286000"/>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بَدَأْتُ</a:t>
            </a:r>
            <a:pPr rtl="1" algn="ctr" indent="0" marL="0">
              <a:buNone/>
            </a:pPr>
            <a:r>
              <a:rPr lang="ar-SA" altLang="en-US" sz="1950" b="1" dirty="0">
                <a:solidFill>
                  <a:srgbClr val="1B3B6F"/>
                </a:solidFill>
                <a:latin typeface="Amiri" pitchFamily="2" charset="-78"/>
                <a:cs typeface="Amiri" pitchFamily="2" charset="-78"/>
              </a:rPr>
              <a:t> فِي الطُّفُولَةِ مَعَ أَخِي.</a:t>
            </a:r>
            <a:endParaRPr lang="ar-SA" sz="1950" dirty="0"/>
          </a:p>
        </p:txBody>
      </p:sp>
      <p:sp>
        <p:nvSpPr>
          <p:cNvPr id="22" name="Text 19"/>
          <p:cNvSpPr txBox="1"/>
          <p:nvPr/>
        </p:nvSpPr>
        <p:spPr>
          <a:xfrm>
            <a:off x="4526280" y="2676997"/>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started in childhood with my brother.</a:t>
            </a:r>
            <a:endParaRPr lang="en-US" sz="950" dirty="0"/>
          </a:p>
        </p:txBody>
      </p:sp>
      <p:sp>
        <p:nvSpPr>
          <p:cNvPr id="23" name="Text 20"/>
          <p:cNvSpPr txBox="1"/>
          <p:nvPr/>
        </p:nvSpPr>
        <p:spPr>
          <a:xfrm>
            <a:off x="548640" y="2286000"/>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كَيْفَ </a:t>
            </a:r>
            <a:pPr rtl="1" algn="ctr" indent="0" marL="0">
              <a:buNone/>
            </a:pPr>
            <a:r>
              <a:rPr lang="ar-SA" altLang="en-US" sz="1950" b="1" dirty="0">
                <a:solidFill>
                  <a:srgbClr val="0E7C86"/>
                </a:solidFill>
                <a:latin typeface="Amiri" pitchFamily="2" charset="-78"/>
                <a:cs typeface="Amiri" pitchFamily="2" charset="-78"/>
              </a:rPr>
              <a:t>بَدَأْتَ</a:t>
            </a:r>
            <a:pPr rtl="1" algn="ctr" indent="0" marL="0">
              <a:buNone/>
            </a:pPr>
            <a:r>
              <a:rPr lang="ar-SA" altLang="en-US" sz="1950" b="1" dirty="0">
                <a:solidFill>
                  <a:srgbClr val="1B3B6F"/>
                </a:solidFill>
                <a:latin typeface="Amiri" pitchFamily="2" charset="-78"/>
                <a:cs typeface="Amiri" pitchFamily="2" charset="-78"/>
              </a:rPr>
              <a:t> هٰذِهِ الهِوَايَةَ؟</a:t>
            </a:r>
            <a:endParaRPr lang="ar-SA" sz="1950" dirty="0"/>
          </a:p>
        </p:txBody>
      </p:sp>
      <p:sp>
        <p:nvSpPr>
          <p:cNvPr id="24" name="Text 21"/>
          <p:cNvSpPr txBox="1"/>
          <p:nvPr/>
        </p:nvSpPr>
        <p:spPr>
          <a:xfrm>
            <a:off x="502920" y="2676997"/>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did you start this hobby?</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 -tu (boy or girl)</a:t>
            </a:r>
            <a:endParaRPr lang="en-US" sz="1100" dirty="0"/>
          </a:p>
        </p:txBody>
      </p:sp>
      <p:sp>
        <p:nvSpPr>
          <p:cNvPr id="29" name="Text 26"/>
          <p:cNvSpPr txBox="1"/>
          <p:nvPr/>
        </p:nvSpPr>
        <p:spPr>
          <a:xfrm>
            <a:off x="4572000" y="3023006"/>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cs typeface="Amiri" pitchFamily="2" charset="-78"/>
              </a:rPr>
              <a:t>شَاهَدْتُ</a:t>
            </a:r>
            <a:pPr rtl="1" algn="ctr" indent="0" marL="0">
              <a:buNone/>
            </a:pPr>
            <a:r>
              <a:rPr lang="ar-SA" altLang="en-US" sz="1950" b="1" dirty="0">
                <a:solidFill>
                  <a:srgbClr val="1B3B6F"/>
                </a:solidFill>
                <a:latin typeface="Amiri" pitchFamily="2" charset="-78"/>
                <a:cs typeface="Amiri" pitchFamily="2" charset="-78"/>
              </a:rPr>
              <a:t> مُبَارَاةً مَعَ أُسْرَتِي.</a:t>
            </a:r>
            <a:endParaRPr lang="ar-SA" sz="1950" dirty="0"/>
          </a:p>
        </p:txBody>
      </p:sp>
      <p:sp>
        <p:nvSpPr>
          <p:cNvPr id="30" name="Text 27"/>
          <p:cNvSpPr txBox="1"/>
          <p:nvPr/>
        </p:nvSpPr>
        <p:spPr>
          <a:xfrm>
            <a:off x="4526280" y="3414004"/>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watched a match with my family.</a:t>
            </a:r>
            <a:endParaRPr lang="en-US" sz="950" dirty="0"/>
          </a:p>
        </p:txBody>
      </p:sp>
      <p:sp>
        <p:nvSpPr>
          <p:cNvPr id="31" name="Text 28"/>
          <p:cNvSpPr txBox="1"/>
          <p:nvPr/>
        </p:nvSpPr>
        <p:spPr>
          <a:xfrm>
            <a:off x="548640" y="3023006"/>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مَاذَا </a:t>
            </a:r>
            <a:pPr rtl="1" algn="ctr" indent="0" marL="0">
              <a:buNone/>
            </a:pPr>
            <a:r>
              <a:rPr lang="ar-SA" altLang="en-US" sz="1950" b="1" dirty="0">
                <a:solidFill>
                  <a:srgbClr val="0E7C86"/>
                </a:solidFill>
                <a:latin typeface="Amiri" pitchFamily="2" charset="-78"/>
                <a:cs typeface="Amiri" pitchFamily="2" charset="-78"/>
              </a:rPr>
              <a:t>فَعَلْتِ</a:t>
            </a:r>
            <a:pPr rtl="1" algn="ctr" indent="0" marL="0">
              <a:buNone/>
            </a:pPr>
            <a:r>
              <a:rPr lang="ar-SA" altLang="en-US" sz="1950" b="1" dirty="0">
                <a:solidFill>
                  <a:srgbClr val="1B3B6F"/>
                </a:solidFill>
                <a:latin typeface="Amiri" pitchFamily="2" charset="-78"/>
                <a:cs typeface="Amiri" pitchFamily="2" charset="-78"/>
              </a:rPr>
              <a:t> أَمْسِ؟</a:t>
            </a:r>
            <a:endParaRPr lang="ar-SA" sz="1950" dirty="0"/>
          </a:p>
        </p:txBody>
      </p:sp>
      <p:sp>
        <p:nvSpPr>
          <p:cNvPr id="32" name="Text 29"/>
          <p:cNvSpPr txBox="1"/>
          <p:nvPr/>
        </p:nvSpPr>
        <p:spPr>
          <a:xfrm>
            <a:off x="502920" y="3414004"/>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did you (f.) do yesterday?</a:t>
            </a:r>
            <a:endParaRPr lang="en-US" sz="95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hollow: zur-</a:t>
            </a:r>
            <a:endParaRPr lang="en-US" sz="1100" dirty="0"/>
          </a:p>
        </p:txBody>
      </p:sp>
      <p:sp>
        <p:nvSpPr>
          <p:cNvPr id="37" name="Text 34"/>
          <p:cNvSpPr txBox="1"/>
          <p:nvPr/>
        </p:nvSpPr>
        <p:spPr>
          <a:xfrm>
            <a:off x="4572000" y="3760013"/>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زُرْنَا</a:t>
            </a:r>
            <a:pPr rtl="1" algn="ctr" indent="0" marL="0">
              <a:buNone/>
            </a:pPr>
            <a:r>
              <a:rPr lang="ar-SA" altLang="en-US" sz="1950" b="1" dirty="0">
                <a:solidFill>
                  <a:srgbClr val="1B3B6F"/>
                </a:solidFill>
                <a:latin typeface="Amiri" pitchFamily="2" charset="-78"/>
                <a:cs typeface="Amiri" pitchFamily="2" charset="-78"/>
              </a:rPr>
              <a:t> المَتْحَفَ.</a:t>
            </a:r>
            <a:endParaRPr lang="ar-SA" sz="1950" dirty="0"/>
          </a:p>
        </p:txBody>
      </p:sp>
      <p:sp>
        <p:nvSpPr>
          <p:cNvPr id="38" name="Text 35"/>
          <p:cNvSpPr txBox="1"/>
          <p:nvPr/>
        </p:nvSpPr>
        <p:spPr>
          <a:xfrm>
            <a:off x="4526280" y="4151010"/>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visited the museum.</a:t>
            </a:r>
            <a:endParaRPr lang="en-US" sz="950" dirty="0"/>
          </a:p>
        </p:txBody>
      </p:sp>
      <p:sp>
        <p:nvSpPr>
          <p:cNvPr id="39" name="Text 36"/>
          <p:cNvSpPr txBox="1"/>
          <p:nvPr/>
        </p:nvSpPr>
        <p:spPr>
          <a:xfrm>
            <a:off x="548640" y="3760013"/>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أَيْنَ </a:t>
            </a:r>
            <a:pPr rtl="1" algn="ctr" indent="0" marL="0">
              <a:buNone/>
            </a:pPr>
            <a:r>
              <a:rPr lang="ar-SA" altLang="en-US" sz="1950" b="1" dirty="0">
                <a:solidFill>
                  <a:srgbClr val="D6336C"/>
                </a:solidFill>
                <a:latin typeface="Amiri" pitchFamily="2" charset="-78"/>
                <a:cs typeface="Amiri" pitchFamily="2" charset="-78"/>
              </a:rPr>
              <a:t>زُرْتُمْ</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40" name="Text 37"/>
          <p:cNvSpPr txBox="1"/>
          <p:nvPr/>
        </p:nvSpPr>
        <p:spPr>
          <a:xfrm>
            <a:off x="502920" y="4151010"/>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Where did you (all) visit?</a:t>
            </a:r>
            <a:endParaRPr lang="en-US" sz="9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weak: raʾay-</a:t>
            </a:r>
            <a:endParaRPr lang="en-US" sz="1100" dirty="0"/>
          </a:p>
        </p:txBody>
      </p:sp>
      <p:sp>
        <p:nvSpPr>
          <p:cNvPr id="43" name="Text 40"/>
          <p:cNvSpPr txBox="1"/>
          <p:nvPr/>
        </p:nvSpPr>
        <p:spPr>
          <a:xfrm>
            <a:off x="4572000" y="4497019"/>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2" charset="-78"/>
                <a:cs typeface="Amiri" pitchFamily="2" charset="-78"/>
              </a:rPr>
              <a:t>رَأَيْتُ</a:t>
            </a:r>
            <a:pPr rtl="1" algn="ctr" indent="0" marL="0">
              <a:buNone/>
            </a:pPr>
            <a:r>
              <a:rPr lang="ar-SA" altLang="en-US" sz="1950" b="1" dirty="0">
                <a:solidFill>
                  <a:srgbClr val="1B3B6F"/>
                </a:solidFill>
                <a:latin typeface="Amiri" pitchFamily="2" charset="-78"/>
                <a:cs typeface="Amiri" pitchFamily="2" charset="-78"/>
              </a:rPr>
              <a:t> مَنْظَرًا جَمِيلًا.</a:t>
            </a:r>
            <a:endParaRPr lang="ar-SA" sz="1950" dirty="0"/>
          </a:p>
        </p:txBody>
      </p:sp>
      <p:sp>
        <p:nvSpPr>
          <p:cNvPr id="44" name="Text 41"/>
          <p:cNvSpPr txBox="1"/>
          <p:nvPr/>
        </p:nvSpPr>
        <p:spPr>
          <a:xfrm>
            <a:off x="4526280" y="4888017"/>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saw a beautiful view.</a:t>
            </a:r>
            <a:endParaRPr lang="en-US" sz="950" dirty="0"/>
          </a:p>
        </p:txBody>
      </p:sp>
      <p:sp>
        <p:nvSpPr>
          <p:cNvPr id="45" name="Text 42"/>
          <p:cNvSpPr txBox="1"/>
          <p:nvPr/>
        </p:nvSpPr>
        <p:spPr>
          <a:xfrm>
            <a:off x="548640" y="4497019"/>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مَاذَا </a:t>
            </a:r>
            <a:pPr rtl="1" algn="ctr" indent="0" marL="0">
              <a:buNone/>
            </a:pPr>
            <a:r>
              <a:rPr lang="ar-SA" altLang="en-US" sz="1950" b="1" dirty="0">
                <a:solidFill>
                  <a:srgbClr val="D6336C"/>
                </a:solidFill>
                <a:latin typeface="Amiri" pitchFamily="2" charset="-78"/>
                <a:cs typeface="Amiri" pitchFamily="2" charset="-78"/>
              </a:rPr>
              <a:t>رَأَيْتَ</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46" name="Text 43"/>
          <p:cNvSpPr txBox="1"/>
          <p:nvPr/>
        </p:nvSpPr>
        <p:spPr>
          <a:xfrm>
            <a:off x="502920" y="4888017"/>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What did you see?</a:t>
            </a:r>
            <a:endParaRPr lang="en-US" sz="950" dirty="0"/>
          </a:p>
        </p:txBody>
      </p:sp>
      <p:sp>
        <p:nvSpPr>
          <p:cNvPr id="47" name="Shape 44"/>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8" name="Text 45"/>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future question → sa-</a:t>
            </a:r>
            <a:endParaRPr lang="en-US" sz="1100" dirty="0"/>
          </a:p>
        </p:txBody>
      </p:sp>
      <p:sp>
        <p:nvSpPr>
          <p:cNvPr id="49" name="Text 46"/>
          <p:cNvSpPr txBox="1"/>
          <p:nvPr/>
        </p:nvSpPr>
        <p:spPr>
          <a:xfrm>
            <a:off x="4572000" y="5234026"/>
            <a:ext cx="45720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cs typeface="Amiri" pitchFamily="2" charset="-78"/>
              </a:rPr>
              <a:t>سَأَشْتَرِكُ</a:t>
            </a:r>
            <a:pPr rtl="1" algn="ctr" indent="0" marL="0">
              <a:buNone/>
            </a:pPr>
            <a:r>
              <a:rPr lang="ar-SA" altLang="en-US" sz="1950" b="1" dirty="0">
                <a:solidFill>
                  <a:srgbClr val="1B3B6F"/>
                </a:solidFill>
                <a:latin typeface="Amiri" pitchFamily="2" charset="-78"/>
                <a:cs typeface="Amiri" pitchFamily="2" charset="-78"/>
              </a:rPr>
              <a:t> فِي بُطُولَةٍ.</a:t>
            </a:r>
            <a:endParaRPr lang="ar-SA" sz="1950" dirty="0"/>
          </a:p>
        </p:txBody>
      </p:sp>
      <p:sp>
        <p:nvSpPr>
          <p:cNvPr id="50" name="Text 47"/>
          <p:cNvSpPr txBox="1"/>
          <p:nvPr/>
        </p:nvSpPr>
        <p:spPr>
          <a:xfrm>
            <a:off x="4526280" y="5625023"/>
            <a:ext cx="46634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will take part in a championship.</a:t>
            </a:r>
            <a:endParaRPr lang="en-US" sz="950" dirty="0"/>
          </a:p>
        </p:txBody>
      </p:sp>
      <p:sp>
        <p:nvSpPr>
          <p:cNvPr id="51" name="Text 48"/>
          <p:cNvSpPr txBox="1"/>
          <p:nvPr/>
        </p:nvSpPr>
        <p:spPr>
          <a:xfrm>
            <a:off x="548640" y="5234026"/>
            <a:ext cx="384048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وَمَا </a:t>
            </a:r>
            <a:pPr rtl="1" algn="ctr" indent="0" marL="0">
              <a:buNone/>
            </a:pPr>
            <a:r>
              <a:rPr lang="ar-SA" altLang="en-US" sz="1950" b="1" dirty="0">
                <a:solidFill>
                  <a:srgbClr val="1D5FBF"/>
                </a:solidFill>
                <a:latin typeface="Amiri" pitchFamily="2" charset="-78"/>
                <a:cs typeface="Amiri" pitchFamily="2" charset="-78"/>
              </a:rPr>
              <a:t>خُطَطُكَ</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52" name="Text 49"/>
          <p:cNvSpPr txBox="1"/>
          <p:nvPr/>
        </p:nvSpPr>
        <p:spPr>
          <a:xfrm>
            <a:off x="502920" y="5625023"/>
            <a:ext cx="393192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And what are your plans?</a:t>
            </a:r>
            <a:endParaRPr lang="en-US" sz="95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girl answering “What did you do?” still says -tu: </a:t>
            </a:r>
            <a:pPr algn="l" indent="0" marL="0">
              <a:buNone/>
            </a:pPr>
            <a:r>
              <a:rPr lang="ar-SA" altLang="en-US" sz="1500" b="1" dirty="0">
                <a:solidFill>
                  <a:srgbClr val="1B3B6F"/>
                </a:solidFill>
                <a:latin typeface="Amiri" pitchFamily="2" charset="-78"/>
                <a:cs typeface="Amiri" pitchFamily="2" charset="-78"/>
              </a:rPr>
              <a:t>شَاهَدْتُ</a:t>
            </a:r>
            <a:pPr algn="l" indent="0" marL="0">
              <a:buNone/>
            </a:pPr>
            <a:r>
              <a:rPr lang="en-US" sz="1150" b="1" dirty="0">
                <a:solidFill>
                  <a:srgbClr val="1B3B6F"/>
                </a:solidFill>
                <a:latin typeface="Calibri" pitchFamily="34" charset="0"/>
                <a:cs typeface="Amiri" pitchFamily="2" charset="-78"/>
              </a:rPr>
              <a:t> (I watched), not </a:t>
            </a:r>
            <a:pPr algn="l" indent="0" marL="0">
              <a:buNone/>
            </a:pPr>
            <a:r>
              <a:rPr lang="ar-SA" altLang="en-US" sz="1500" b="1" dirty="0">
                <a:solidFill>
                  <a:srgbClr val="1B3B6F"/>
                </a:solidFill>
                <a:latin typeface="Amiri" pitchFamily="2" charset="-78"/>
                <a:cs typeface="Amiri" pitchFamily="2" charset="-78"/>
              </a:rPr>
              <a:t>شَاهَدْتِ</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EXTEND, BUY TIME, REPAIR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Never just “yes”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وَسِّعْ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EXTEND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فِعْلٌ + سَبَبٌ</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لَعِبْتُ كُرَةَ السَّلَّةِ لِأَنَّهَا مُمْتِعَةٌ.</a:t>
            </a:r>
            <a:endParaRPr lang="ar-SA" sz="24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played basketball because it is fun.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Action + reason.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0876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BUY TIME · DEVELOP</a:t>
            </a:r>
            <a:endParaRPr lang="en-US" sz="850" dirty="0"/>
          </a:p>
        </p:txBody>
      </p:sp>
      <p:sp>
        <p:nvSpPr>
          <p:cNvPr id="26" name="Text 23"/>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دَعْنِي أُفَكِّرُ · سُؤَالٌ جَيِّدٌ</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cs typeface="Amiri" pitchFamily="2" charset="-78"/>
              </a:rPr>
              <a:t>سُؤَالٌ جَيِّدٌ. دَعْنِي أُفَكِّرُ …</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Good question. Let me think …</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Arabic, not silence.</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REPAIR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عَفْوًا، أَقْصِدُ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2" charset="-78"/>
                <a:cs typeface="Amiri" pitchFamily="2" charset="-78"/>
              </a:rPr>
              <a:t>خَسِرْنَا … عَفْوًا، أَقْصِدُ تَعَادَلْنَا.</a:t>
            </a:r>
            <a:endParaRPr lang="ar-SA" sz="24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We lost … sorry, I mean we drew.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Fix it aloud.</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one-word answer shows no range.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cs typeface="Amiri" pitchFamily="2" charset="-78"/>
              </a:rPr>
              <a:t>نَعَمْ، لَعِبْتُ لِأَنَّهَا مُمْتِعَةٌ.</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نَعَمْ.</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Past-tense accuracy under pressure</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دِقَّةُ الفِعْلِ المَاضِي تَحْتَ الضَّغْطِ</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Answer in the tense of the question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question → past answer</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كَيْفَ بَدَأْتَ؟ — بَدَأْتُ فِي الطُّفُولَةِ   ·   مَاذَا فَعَلْتَ أَمْسِ؟ — لَعِبْتُ كُرَةَ السَّلَّةِ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Check the stem before the suffix</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hollow / weak-final → adjust, then attach</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زُرْتُ المَتْحَفَ   ·   مَشَيْنَا طَوِيلًا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Extend every answer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action + reason or detail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لَعِبْتُ كُرَةَ السَّلَّةِ لِأَنَّهَا مُمْتِعَةٌ   ·   تَدَرَّبْتُ مَرَّتَيْنِ ثُمَّ شَارَكْتُ فِي 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Move between tenses deliberately</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past → present → future</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بَدَأْتُ فِي الطُّفُولَةِ، وَأُمَارِسُهَا الآنَ، وَسَأَشْتَرِكُ فِي بُطُولَةٍ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examiner asks “How did you start this hobby?” Which answer is appropriate?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أَبْدَأُ فِي الطُّفُولَةِ مَعَ أَخِي.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سَأَبْدَأُ فِي الطُّفُولَةِ مَعَ أَخِي.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بَدَأْتُ فِي الطُّفُولَةِ مَعَ أَخِي.</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examiner asks a girl “What did you do yesterday?” Which answer is appropriate?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شَاهَدْتُ مُبَارَاةً مَعَ أُسْرَتِي.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شَاهَدْتِ مُبَارَاةً مَعَ أُسْرَتِي.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تُشَاهِدُ مُبَارَاةً مَعَ أُسْرَتِي.</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avoids the past tense and should be repaired?</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أَمْسِ لَعِبْتُ كُرَةَ القَدَمِ.</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أَمْسِ أَلْعَبُ كُرَةَ القَدَمِ.</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أَمْسِ لَعِبْنَا كُرَةَ القَدَمِ.</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stem is correct before the suffix?</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زَوَرْتُ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examiner asks “How did you start this hobby?” Which answer is appropriate?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أَبْدَأُ فِي الطُّفُولَةِ مَعَ أَخِي.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سَأَبْدَأُ فِي الطُّفُولَةِ مَعَ أَخِي.</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بَدَأْتُ فِي الطُّفُولَةِ مَعَ أَخِي.</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requires a past answer with the correct </a:t>
            </a:r>
            <a:pPr algn="l" indent="0" marL="0">
              <a:buNone/>
            </a:pPr>
            <a:r>
              <a:rPr lang="ar-SA" altLang="en-US" sz="1350" dirty="0">
                <a:solidFill>
                  <a:srgbClr val="8A6D1E"/>
                </a:solidFill>
                <a:latin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examiner asks a girl “What did you do yesterday?” Which answer is appropriate?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شَاهَدْتُ مُبَارَاةً مَعَ أُسْرَتِي.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شَاهَدْتِ مُبَارَاةً مَعَ أُسْرَتِي.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تُشَاهِدُ مُبَارَاةً مَعَ أُسْرَتِي.</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Speaking about yourself uses </a:t>
            </a:r>
            <a:pPr algn="l" indent="0" marL="0">
              <a:buNone/>
            </a:pPr>
            <a:r>
              <a:rPr lang="ar-SA" altLang="en-US" sz="1350" dirty="0">
                <a:solidFill>
                  <a:srgbClr val="8A6D1E"/>
                </a:solidFill>
                <a:latin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regardless of gender; </a:t>
            </a:r>
            <a:pPr algn="l" indent="0" marL="0">
              <a:buNone/>
            </a:pPr>
            <a:r>
              <a:rPr lang="ar-SA" altLang="en-US" sz="1350" dirty="0">
                <a:solidFill>
                  <a:srgbClr val="8A6D1E"/>
                </a:solidFill>
                <a:latin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 is for addressing a female.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avoids the past tense and should be repaired?</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أَمْسِ لَعِبْتُ كُرَةَ القَدَمِ.</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أَمْسِ أَلْعَبُ كُرَةَ القَدَمِ.</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أَمْسِ لَعِبْنَا كُرَةَ القَدَمِ.</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Using the present after </a:t>
            </a:r>
            <a:pPr algn="l" indent="0" marL="0">
              <a:buNone/>
            </a:pPr>
            <a:r>
              <a:rPr lang="ar-SA" altLang="en-US" sz="1350" dirty="0">
                <a:solidFill>
                  <a:srgbClr val="8A6D1E"/>
                </a:solidFill>
                <a:latin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is the avoidance pattern examiners look for.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stem is correct before the suffix?</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زَوَرْتُ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زَارَ</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answer under pressure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Buy time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سُؤَالٌ جَيِّدٌ</a:t>
            </a:r>
            <a:pPr rtl="1" algn="ctr" indent="0" marL="0">
              <a:buNone/>
            </a:pPr>
            <a:r>
              <a:rPr lang="ar-SA" altLang="en-US" sz="2800" b="1" dirty="0">
                <a:solidFill>
                  <a:srgbClr val="1B3B6F"/>
                </a:solidFill>
                <a:latin typeface="Amiri" pitchFamily="2" charset="-78"/>
                <a:cs typeface="Amiri" pitchFamily="2" charset="-78"/>
              </a:rPr>
              <a:t>.</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Arabic, not silence.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Mirror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2" charset="-78"/>
                <a:cs typeface="Amiri" pitchFamily="2" charset="-78"/>
              </a:rPr>
              <a:t>بَدَأْتُ</a:t>
            </a:r>
            <a:pPr rtl="1" algn="ctr" indent="0" marL="0">
              <a:buNone/>
            </a:pPr>
            <a:r>
              <a:rPr lang="ar-SA" altLang="en-US" sz="2800" b="1" dirty="0">
                <a:solidFill>
                  <a:srgbClr val="1B3B6F"/>
                </a:solidFill>
                <a:latin typeface="Amiri" pitchFamily="2" charset="-78"/>
                <a:cs typeface="Amiri" pitchFamily="2" charset="-78"/>
              </a:rPr>
              <a:t> فِي الطُّفُولَةِ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Past question: past.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Extend</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لِأَنَّ أَخِي </a:t>
            </a:r>
            <a:pPr rtl="1" algn="ctr" indent="0" marL="0">
              <a:buNone/>
            </a:pPr>
            <a:r>
              <a:rPr lang="ar-SA" altLang="en-US" sz="2800" b="1" dirty="0">
                <a:solidFill>
                  <a:srgbClr val="0E7C86"/>
                </a:solidFill>
                <a:latin typeface="Amiri" pitchFamily="2" charset="-78"/>
                <a:cs typeface="Amiri" pitchFamily="2" charset="-78"/>
              </a:rPr>
              <a:t>كَانَ يَلْعَبُ</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Reason + habit.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Repair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1D5FBF"/>
                </a:solidFill>
                <a:latin typeface="Amiri" pitchFamily="2" charset="-78"/>
                <a:cs typeface="Amiri" pitchFamily="2" charset="-78"/>
              </a:rPr>
              <a:t>عَفْوًا، أَقْصِدُ</a:t>
            </a:r>
            <a:pPr rtl="1" algn="ctr" indent="0" marL="0">
              <a:buNone/>
            </a:pPr>
            <a:r>
              <a:rPr lang="ar-SA" altLang="en-US" sz="2700" b="1" dirty="0">
                <a:solidFill>
                  <a:srgbClr val="1B3B6F"/>
                </a:solidFill>
                <a:latin typeface="Amiri" pitchFamily="2" charset="-78"/>
                <a:cs typeface="Amiri" pitchFamily="2" charset="-78"/>
              </a:rPr>
              <a:t> تَعَادَلْنَا</a:t>
            </a:r>
            <a:endParaRPr lang="ar-SA" sz="27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Fix the slip.</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TIME-BUYER</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REPAIR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50" b="1" dirty="0">
                <a:solidFill>
                  <a:srgbClr val="D6336C"/>
                </a:solidFill>
                <a:latin typeface="Amiri" pitchFamily="2" charset="-78"/>
                <a:cs typeface="Amiri" pitchFamily="2" charset="-78"/>
              </a:rPr>
              <a:t>سُؤَالٌ جَيِّدٌ</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0E7C86"/>
                </a:solidFill>
                <a:latin typeface="Amiri" pitchFamily="2" charset="-78"/>
                <a:cs typeface="Amiri" pitchFamily="2" charset="-78"/>
              </a:rPr>
              <a:t>بَدَأْتُ</a:t>
            </a:r>
            <a:pPr rtl="1" algn="r" indent="0" marL="0">
              <a:lnSpc>
                <a:spcPct val="120000"/>
              </a:lnSpc>
              <a:buNone/>
            </a:pPr>
            <a:r>
              <a:rPr lang="ar-SA" altLang="en-US" sz="1450" b="1" dirty="0">
                <a:solidFill>
                  <a:srgbClr val="1B3B6F"/>
                </a:solidFill>
                <a:latin typeface="Amiri" pitchFamily="2" charset="-78"/>
                <a:cs typeface="Amiri" pitchFamily="2" charset="-78"/>
              </a:rPr>
              <a:t> فِي الطُّفُولَةِ، لِأَنَّ أَخِي </a:t>
            </a:r>
            <a:pPr rtl="1" algn="r" indent="0" marL="0">
              <a:lnSpc>
                <a:spcPct val="120000"/>
              </a:lnSpc>
              <a:buNone/>
            </a:pPr>
            <a:r>
              <a:rPr lang="ar-SA" altLang="en-US" sz="1450" b="1" dirty="0">
                <a:solidFill>
                  <a:srgbClr val="0E7C86"/>
                </a:solidFill>
                <a:latin typeface="Amiri" pitchFamily="2" charset="-78"/>
                <a:cs typeface="Amiri" pitchFamily="2" charset="-78"/>
              </a:rPr>
              <a:t>كَانَ يَلْعَبُ</a:t>
            </a:r>
            <a:pPr rtl="1" algn="r" indent="0" marL="0">
              <a:lnSpc>
                <a:spcPct val="120000"/>
              </a:lnSpc>
              <a:buNone/>
            </a:pPr>
            <a:r>
              <a:rPr lang="ar-SA" altLang="en-US" sz="1450" b="1" dirty="0">
                <a:solidFill>
                  <a:srgbClr val="1B3B6F"/>
                </a:solidFill>
                <a:latin typeface="Amiri" pitchFamily="2" charset="-78"/>
                <a:cs typeface="Amiri" pitchFamily="2" charset="-78"/>
              </a:rPr>
              <a:t> كُرَةَ السَّلَّةِ كُلَّ مَسَاءٍ. </a:t>
            </a:r>
            <a:pPr rtl="1" algn="r" indent="0" marL="0">
              <a:lnSpc>
                <a:spcPct val="120000"/>
              </a:lnSpc>
              <a:buNone/>
            </a:pPr>
            <a:r>
              <a:rPr lang="ar-SA" altLang="en-US" sz="1450" b="1" dirty="0">
                <a:solidFill>
                  <a:srgbClr val="D6336C"/>
                </a:solidFill>
                <a:latin typeface="Amiri" pitchFamily="2" charset="-78"/>
                <a:cs typeface="Amiri" pitchFamily="2" charset="-78"/>
              </a:rPr>
              <a:t>دَعْنِي أُفَكِّرُ</a:t>
            </a:r>
            <a:pPr rtl="1" algn="r" indent="0" marL="0">
              <a:lnSpc>
                <a:spcPct val="120000"/>
              </a:lnSpc>
              <a:buNone/>
            </a:pPr>
            <a:r>
              <a:rPr lang="ar-SA" altLang="en-US" sz="1450" b="1" dirty="0">
                <a:solidFill>
                  <a:srgbClr val="1B3B6F"/>
                </a:solidFill>
                <a:latin typeface="Amiri" pitchFamily="2" charset="-78"/>
                <a:cs typeface="Amiri" pitchFamily="2" charset="-78"/>
              </a:rPr>
              <a:t>. </a:t>
            </a:r>
            <a:pPr rtl="1" algn="r" indent="0" marL="0">
              <a:lnSpc>
                <a:spcPct val="120000"/>
              </a:lnSpc>
              <a:buNone/>
            </a:pPr>
            <a:r>
              <a:rPr lang="ar-SA" altLang="en-US" sz="1450" b="1" dirty="0">
                <a:solidFill>
                  <a:srgbClr val="0E7C86"/>
                </a:solidFill>
                <a:latin typeface="Amiri" pitchFamily="2" charset="-78"/>
                <a:cs typeface="Amiri" pitchFamily="2" charset="-78"/>
              </a:rPr>
              <a:t>تَدَرَّبْتُ</a:t>
            </a:r>
            <a:pPr rtl="1" algn="r" indent="0" marL="0">
              <a:lnSpc>
                <a:spcPct val="120000"/>
              </a:lnSpc>
              <a:buNone/>
            </a:pPr>
            <a:r>
              <a:rPr lang="ar-SA" altLang="en-US" sz="1450" b="1" dirty="0">
                <a:solidFill>
                  <a:srgbClr val="1B3B6F"/>
                </a:solidFill>
                <a:latin typeface="Amiri" pitchFamily="2" charset="-78"/>
                <a:cs typeface="Amiri" pitchFamily="2" charset="-78"/>
              </a:rPr>
              <a:t> مَرَّتَيْنِ، ثُمَّ </a:t>
            </a:r>
            <a:pPr rtl="1" algn="r" indent="0" marL="0">
              <a:lnSpc>
                <a:spcPct val="120000"/>
              </a:lnSpc>
              <a:buNone/>
            </a:pPr>
            <a:r>
              <a:rPr lang="ar-SA" altLang="en-US" sz="1450" b="1" dirty="0">
                <a:solidFill>
                  <a:srgbClr val="0E7C86"/>
                </a:solidFill>
                <a:latin typeface="Amiri" pitchFamily="2" charset="-78"/>
                <a:cs typeface="Amiri" pitchFamily="2" charset="-78"/>
              </a:rPr>
              <a:t>شَارَكْتُ</a:t>
            </a:r>
            <a:pPr rtl="1" algn="r" indent="0" marL="0">
              <a:lnSpc>
                <a:spcPct val="120000"/>
              </a:lnSpc>
              <a:buNone/>
            </a:pPr>
            <a:r>
              <a:rPr lang="ar-SA" altLang="en-US" sz="1450" b="1" dirty="0">
                <a:solidFill>
                  <a:srgbClr val="1B3B6F"/>
                </a:solidFill>
                <a:latin typeface="Amiri" pitchFamily="2" charset="-78"/>
                <a:cs typeface="Amiri" pitchFamily="2" charset="-78"/>
              </a:rPr>
              <a:t> فِي مُبَارَاةٍ وَدِّيَّةٍ، وَلِلْأَسَفِ خَسِرْنَا. </a:t>
            </a:r>
            <a:pPr rtl="1" algn="r" indent="0" marL="0">
              <a:lnSpc>
                <a:spcPct val="120000"/>
              </a:lnSpc>
              <a:buNone/>
            </a:pPr>
            <a:r>
              <a:rPr lang="ar-SA" altLang="en-US" sz="1450" b="1" dirty="0">
                <a:solidFill>
                  <a:srgbClr val="1D5FBF"/>
                </a:solidFill>
                <a:latin typeface="Amiri" pitchFamily="2" charset="-78"/>
                <a:cs typeface="Amiri" pitchFamily="2" charset="-78"/>
              </a:rPr>
              <a:t>عَفْوًا، أَقْصِدُ</a:t>
            </a:r>
            <a:pPr rtl="1" algn="r" indent="0" marL="0">
              <a:lnSpc>
                <a:spcPct val="120000"/>
              </a:lnSpc>
              <a:buNone/>
            </a:pPr>
            <a:r>
              <a:rPr lang="ar-SA" altLang="en-US" sz="1450" b="1" dirty="0">
                <a:solidFill>
                  <a:srgbClr val="1B3B6F"/>
                </a:solidFill>
                <a:latin typeface="Amiri" pitchFamily="2" charset="-78"/>
                <a:cs typeface="Amiri" pitchFamily="2" charset="-78"/>
              </a:rPr>
              <a:t> تَعَادَلْنَا.</a:t>
            </a:r>
            <a:endParaRPr lang="ar-SA" sz="14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Good question. I started in childhood, because my brother used to play basketball every evening. Let me think. I trained twice, then took part in a friendly match, and unfortunately we lost. Sorry, I mean we drew.</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بَدَأْتُ فِي الطُّفُولَةِ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started in childhood</a:t>
            </a:r>
            <a:endParaRPr lang="en-US" sz="1250" dirty="0"/>
          </a:p>
          <a:p>
            <a:pPr indent="0" marL="0">
              <a:buNone/>
            </a:pPr>
            <a:r>
              <a:rPr lang="en-US" sz="1050" i="1" dirty="0">
                <a:solidFill>
                  <a:srgbClr val="8A6D1E"/>
                </a:solidFill>
                <a:latin typeface="Calibri" pitchFamily="34" charset="0"/>
                <a:cs typeface="Amiri" pitchFamily="2" charset="-78"/>
              </a:rPr>
              <a:t>The past question is mirrored by a past answer.</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دَعْنِي أُفَكِّرُ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let me think</a:t>
            </a:r>
            <a:endParaRPr lang="en-US" sz="1250" dirty="0"/>
          </a:p>
          <a:p>
            <a:pPr indent="0" marL="0">
              <a:buNone/>
            </a:pPr>
            <a:r>
              <a:rPr lang="en-US" sz="1050" i="1" dirty="0">
                <a:solidFill>
                  <a:srgbClr val="8A6D1E"/>
                </a:solidFill>
                <a:latin typeface="Calibri" pitchFamily="34" charset="0"/>
                <a:cs typeface="Amiri" pitchFamily="2" charset="-78"/>
              </a:rPr>
              <a:t>A short Arabic filler protects your fluency mark.</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لَعِبْتُ لِأَنَّهَا مُمْتِعَةٌ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played because it is fun</a:t>
            </a:r>
            <a:endParaRPr lang="en-US" sz="1250" dirty="0"/>
          </a:p>
          <a:p>
            <a:pPr indent="0" marL="0">
              <a:buNone/>
            </a:pPr>
            <a:r>
              <a:rPr lang="en-US" sz="1050" i="1" dirty="0">
                <a:solidFill>
                  <a:srgbClr val="8A6D1E"/>
                </a:solidFill>
                <a:latin typeface="Calibri" pitchFamily="34" charset="0"/>
                <a:cs typeface="Amiri" pitchFamily="2" charset="-78"/>
              </a:rPr>
              <a:t>Action plus reason turns an answer into a response.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بَدَأْتُ فِي الطُّفُولَةِ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شَارَكْتُ فِي بُطُولَةٍ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المَتْحَفَ</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لِأَنَّهَا مُمْتِعَةٌ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سَبِيلِ المِثَالِ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مَرَّتَيْنِ فِي الأُسْبُوعِ</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دَعْنِي أُفَكِّرُ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سُؤَالٌ جَيِّدٌ</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عَفْوًا، أَقْصِدُ</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a past question</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Buy time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Answer a past question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بَدَأْتُ فِي الطُّفُولَةِ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شَارَكْتُ فِي بُطُولَةٍ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زُرْتُ المَتْحَفَ</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Extend the answer</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لِأَنَّهَا مُمْتِعَةٌ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عَلَى سَبِيلِ المِثَالِ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مَرَّتَيْنِ فِي الأُسْبُوعِ</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Buy time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دَعْنِي أُفَكِّرُ</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سُؤَالٌ جَيِّدٌ</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عَفْوًا، أَقْصِدُ</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أَعْرِفُ</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لَا شَيْءَ</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دَعْنِي أُفَكِّرُ</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extended answer?</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تَدَرَّبْتُ.</a:t>
            </a:r>
            <a:endParaRPr lang="ar-SA" sz="19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تَدَرَّبْتُ مَرَّتَيْنِ فِي الأُسْبُوعِ لِأَنَّنِي أَرَدْتُ أَنْ أُحَسِّنَ نَتِيجَتِي.</a:t>
            </a:r>
            <a:endParaRPr lang="ar-SA" sz="19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نَعَمْ، تَدَرَّبْتُ مَرَّتَيْنِ.</a:t>
            </a:r>
            <a:endParaRPr lang="ar-SA" sz="19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repair phrase corrects a slip mid-sentence?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شُكْرًا جَزِيلًا</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عَفْوًا، أَقْصِدُ</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shows deliberate tense variety?</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بَدَأْتُ وَبَدَأْتُ وَبَدَأْتُ.</a:t>
            </a:r>
            <a:endParaRPr lang="ar-SA" sz="19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أُمَارِسُهَا وَأُمَارِسُهَا الآنَ.</a:t>
            </a:r>
            <a:endParaRPr lang="ar-SA" sz="19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2" charset="-78"/>
                <a:cs typeface="Amiri" pitchFamily="2" charset="-78"/>
              </a:rPr>
              <a:t>بَدَأْتُ فِي الطُّفُولَةِ، وَأُمَارِسُهَا الآنَ، وَسَأَشْتَرِكُ فِي بُطُولَةٍ.</a:t>
            </a:r>
            <a:endParaRPr lang="ar-SA" sz="19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thinking time in Arabic?</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أَعْرِفُ</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لَا شَيْءَ</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دَعْنِي أُفَكِّرُ</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short Arabic filler keeps you speaking the target language.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the strongest extended answer?</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تَدَرَّبْتُ.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تَدَرَّبْتُ مَرَّتَيْنِ فِي الأُسْبُوعِ لِأَنَّنِي أَرَدْتُ أَنْ أُحَسِّنَ نَتِيجَتِي.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 تَدَرَّبْتُ مَرَّتَيْنِ.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strongest answer adds a frequency phrase and a reason.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repair phrase corrects a slip mid-sentence?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شُكْرًا جَزِيلًا</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عَفْوًا، أَقْصِدُ</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 السَّلَامَةِ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عَفْوًا، أَقْصِدُ</a:t>
            </a:r>
            <a:pPr algn="l" indent="0" marL="0">
              <a:buNone/>
            </a:pPr>
            <a:r>
              <a:rPr lang="en-US" sz="1050" i="1" dirty="0">
                <a:solidFill>
                  <a:srgbClr val="8A6D1E"/>
                </a:solidFill>
                <a:latin typeface="Calibri" pitchFamily="34" charset="0"/>
                <a:cs typeface="Amiri" pitchFamily="2" charset="-78"/>
              </a:rPr>
              <a:t> signals a self-correction.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shows deliberate tense variety?</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بَدَأْتُ وَبَدَأْتُ وَبَدَأْتُ.</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أُمَارِسُهَا وَأُمَارِسُهَا الآنَ.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بَدَأْتُ فِي الطُّفُولَةِ، وَأُمَارِسُهَا الآنَ، وَسَأَشْتَرِكُ فِي بُطُولَةٍ.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Moving through three tenses is what raises the Quality of Language mark.</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أَمْسِ أَلْعَبُ كُرَةَ القَدَمِ.</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question → past answer!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زَارْتُ المَتْحَفَ.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zāra + -tu: which stem?</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نَعَمْ.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Add a reason!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أَمْسِ أَلْعَبُ كُرَةَ القَدَمِ.</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أَمْسِ لَعِبْتُ كُرَةَ القَدَمِ.</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Answering a past question in the present is the avoidance pattern.</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زَارْتُ المَتْحَفَ.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زُرْتُ المَتْحَفَ.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hollow stem must shorten before the suffix.</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نَعَمْ.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نَعَمْ، لَعِبْتُ كُرَةَ السَّلَّةِ لِأَنَّهَا مُمْتِعَةٌ.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one-word answer cannot show range or accuracy.</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cs typeface="Amiri" pitchFamily="2" charset="-78"/>
              </a:rPr>
              <a:t>Listening: a candidate answering under pressure</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begin his first reply?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time-buying phrase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silence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By repeating the question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student start the hobby?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school required it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he saw it on television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his brother used to play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do last week?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watched a match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at all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Trained twice and played a friendly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self-correction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Disagreement</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end of the answer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does he use for his plans?</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Past</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Future with </a:t>
            </a:r>
            <a:pPr algn="l" indent="0" marL="0">
              <a:buNone/>
            </a:pPr>
            <a:r>
              <a:rPr lang="ar-SA" altLang="en-US" sz="1650" dirty="0">
                <a:solidFill>
                  <a:srgbClr val="1F2A37"/>
                </a:solidFill>
                <a:latin typeface="Amiri" pitchFamily="2" charset="-78"/>
                <a:cs typeface="Amiri" pitchFamily="2" charset="-78"/>
              </a:rPr>
              <a:t>سَـ</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cs typeface="Amiri" pitchFamily="2" charset="-78"/>
              </a:rPr>
              <a:t>أَنْوِي أَنْ</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Present habit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Count the time-buying phrases.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المُمْتَحِنُ: كَيْفَ بَدَأْتَ هٰذِهِ الهِوَايَةَ؟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How did you start this hobby?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cs typeface="Amiri" pitchFamily="2" charset="-78"/>
              </a:rPr>
              <a:t>الطَّالِبُ: سُؤَالٌ جَيِّدٌ. بَدَأْتُ فِي الطُّفُولَةِ، لِأَنَّ أَخِي كَانَ يَلْعَبُ كُرَةَ السَّلَّةِ كُلَّ مَسَاءٍ.</a:t>
            </a:r>
            <a:endParaRPr lang="ar-SA" sz="18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Good question. I started in childhood, because my brother used to play basketball every evening.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المُمْتَحِنُ: وَمَاذَا فَعَلْتَ الأُسْبُوعَ المَاضِيَ؟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what did you do last week?</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الطَّالِبُ: دَعْنِي أُفَكِّرُ. تَدَرَّبْتُ مَرَّتَيْنِ، ثُمَّ شَارَكْتُ فِي مُبَارَاةٍ وَدِّيَّةٍ، وَلِلْأَسَفِ خَسِرْنَا. عَفْوًا، أَقْصِدُ تَعَادَلْنَا.</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Student: Let me think. I trained twice, then took part in a friendly match, and unfortunately we lost. Sorry, I mean we drew.</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المُمْتَحِنُ: وَمَا خُطَطُكَ؟ الطَّالِبُ: فِي الحَقِيقَةِ، سَأَشْتَرِكُ فِي بُطُولَةٍ مَدْرَسِيَّةٍ، وَأَنْوِي أَنْ أَتَدَرَّبَ أَكْثَرَ.</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Examiner: And what are your plans? Student: In fact, I will take part in a school championship, and I intend to train more.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student begin his first reply?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a time-buying phrase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silence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By repeating the question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سُؤَالٌ جَيِّدٌ</a:t>
            </a:r>
            <a:pPr algn="l" indent="0" marL="0">
              <a:buNone/>
            </a:pPr>
            <a:r>
              <a:rPr lang="en-US" sz="1050" i="1" dirty="0">
                <a:solidFill>
                  <a:srgbClr val="8A6D1E"/>
                </a:solidFill>
                <a:latin typeface="Calibri" pitchFamily="34" charset="0"/>
                <a:cs typeface="Amiri" pitchFamily="2" charset="-78"/>
              </a:rPr>
              <a:t> buys a moment while staying in Arabic.</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the student start the hobby?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school required it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he saw it on television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Because his brother used to play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لِأَنَّ أَخِي كَانَ يَلْعَبُ كُرَةَ السَّلَّةِ.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he do last week?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watched a match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at all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Trained twice and played a friendly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تَدَرَّبْتُ مَرَّتَيْنِ، ثُمَّ شَارَكْتُ فِي مُبَارَاةٍ وَدِّيَّةٍ.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عَفْوًا، أَقْصِدُ</a:t>
            </a:r>
            <a:pPr algn="l" indent="0" marL="0">
              <a:buNone/>
            </a:pPr>
            <a:r>
              <a:rPr lang="en-US" sz="1250" b="1" dirty="0">
                <a:solidFill>
                  <a:srgbClr val="1B3B6F"/>
                </a:solidFill>
                <a:latin typeface="Calibri" pitchFamily="34" charset="0"/>
                <a:cs typeface="Amiri" pitchFamily="2" charset="-78"/>
              </a:rPr>
              <a:t> signal?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self-correction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Disagreement</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end of the answer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introduces a repair: he corrects </a:t>
            </a:r>
            <a:pPr algn="l" indent="0" marL="0">
              <a:buNone/>
            </a:pPr>
            <a:r>
              <a:rPr lang="ar-SA" altLang="en-US" sz="1350" dirty="0">
                <a:solidFill>
                  <a:srgbClr val="8A6D1E"/>
                </a:solidFill>
                <a:latin typeface="Amiri" pitchFamily="2" charset="-78"/>
                <a:cs typeface="Amiri" pitchFamily="2" charset="-78"/>
              </a:rPr>
              <a:t>خَسِرْنَا</a:t>
            </a:r>
            <a:pPr algn="l" indent="0" marL="0">
              <a:buNone/>
            </a:pPr>
            <a:r>
              <a:rPr lang="en-US" sz="1050" i="1" dirty="0">
                <a:solidFill>
                  <a:srgbClr val="8A6D1E"/>
                </a:solidFill>
                <a:latin typeface="Calibri" pitchFamily="34" charset="0"/>
                <a:cs typeface="Amiri" pitchFamily="2" charset="-78"/>
              </a:rPr>
              <a:t> to </a:t>
            </a:r>
            <a:pPr algn="l" indent="0" marL="0">
              <a:buNone/>
            </a:pPr>
            <a:r>
              <a:rPr lang="ar-SA" altLang="en-US" sz="1350" dirty="0">
                <a:solidFill>
                  <a:srgbClr val="8A6D1E"/>
                </a:solidFill>
                <a:latin typeface="Amiri" pitchFamily="2" charset="-78"/>
                <a:cs typeface="Amiri" pitchFamily="2" charset="-78"/>
              </a:rPr>
              <a:t>تَعَادَلْنَا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tense does he use for his plans?</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Past</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Future with </a:t>
            </a:r>
            <a:pPr algn="l" indent="0" marL="0">
              <a:buNone/>
            </a:pPr>
            <a:r>
              <a:rPr lang="ar-SA" altLang="en-US" sz="1650" b="1" dirty="0">
                <a:solidFill>
                  <a:srgbClr val="1F2A37"/>
                </a:solidFill>
                <a:latin typeface="Amiri" pitchFamily="2" charset="-78"/>
                <a:cs typeface="Amiri" pitchFamily="2" charset="-78"/>
              </a:rPr>
              <a:t>سَـ</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cs typeface="Amiri" pitchFamily="2" charset="-78"/>
              </a:rPr>
              <a:t>أَنْوِي أَنْ</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Present habit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سَأَشْتَرِكُ … وَأَنْوِي أَنْ أَتَدَرَّبَ.</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Count the time-buying phrases.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Speaking: full topic conversation rehearsal</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هِوَايَتُكَ المُفَضَّلَةُ؟ وَكَيْفَ بَدَأْتَ بِهَا؟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تَجْرِبَةً رِيَاضِيَّةً مَرَرْتَ بِهَا.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خُطَطُكَ لِلْإِجَازَةِ القَادِمَةِ؟</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هِوَايَتِي ___ . بَدَأْتُ ___ لِأَنَّ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الأُسْبُوعَ المَاضِيَ ___ ، وَفَجْأَةً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فِي الحَقِيقَةِ، سَـ ___ ، وَأَنْوِي أَنْ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مَا هِوَايَتُكَ المُفَضَّلَةُ؟ وَكَيْفَ بَدَأْتَ بِهَا؟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your favourite hobby, and how did you start it?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هِوَايَتِي المُفَضَّلَةُ كُرَةُ السَّلَّةِ. بَدَأْتُ فِي الطُّفُولَةِ لِأَنَّ أَخِي كَانَ يَلْعَبُهَا.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favourite hobby is basketball. I started in childhood because my brother used to play it.</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Answer four past questions aloud using the sentence frames, each with an accurate suffix.</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Answer four past questions in writing + one future plan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reason to each answer and use one time-buying phrase naturally.</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self-review with past verbs, كَانَ + present and أَمَّا الآنَ فَـ.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 80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a full topic answer that moves through past, present and future with no avoidance.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your D5 progress — difficulty · practice · improvement · next focus.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البِدَايَةِ كُنْتُ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first I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ثُمَّ تَدَرَّبْتُ عَلَى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Then I practised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أَمَّا الآنَ فَـ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now, I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وَفِي المُسْتَقْبَلِ سَأُرَكِّزُ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future I will focus on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بَدَأْتُ ______ فِي الطُّفُولَةِ لِأَنَّ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started … in childhood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أَمْسِ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Yesterday I watched / played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الأُسْبُوعَ المَاضِيَ زُرْنَا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week we visited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الإِجَازَةِ القَادِمَةِ سَـ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Next holiday I will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بَدَأْتُ  ·  تَدَرَّبْتُ  ·  شَارَكْتُ  ·  زُرْتُ  ·  قُلْتُ  ·  كُنْتُ أَسْتَعْمِلُ  ·  أَمَّا الآنَ فَـ  ·  سَأُرَكِّزُ عَلَى  ·  دَعْنِي أُفَكِّرُ  ·  سُؤَالٌ جَيِّدٌ  ·  عَفْوًا، أَقْصِدُ  ·  فِي الحَقِيقَةِ</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about eighty words reviewing your own D5 progress. Say what you found difficult at first, what you practised, how you improved and what you will focus on next.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four past verbs with accurate suffixes.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a:t>
            </a:r>
            <a:pPr algn="l" indent="0" marL="0">
              <a:buNone/>
            </a:pPr>
            <a:r>
              <a:rPr lang="ar-SA" altLang="en-US" sz="1550" dirty="0">
                <a:solidFill>
                  <a:srgbClr val="1F2A37"/>
                </a:solidFill>
                <a:latin typeface="Amiri" pitchFamily="2" charset="-78"/>
                <a:cs typeface="Amiri" pitchFamily="2" charset="-78"/>
              </a:rPr>
              <a:t>كَانَ</a:t>
            </a:r>
            <a:pPr algn="l" indent="0" marL="0">
              <a:buNone/>
            </a:pPr>
            <a:r>
              <a:rPr lang="en-US" sz="1200" dirty="0">
                <a:solidFill>
                  <a:srgbClr val="1F2A37"/>
                </a:solidFill>
                <a:latin typeface="Calibri" pitchFamily="34" charset="0"/>
                <a:cs typeface="Amiri" pitchFamily="2" charset="-78"/>
              </a:rPr>
              <a:t> plus present construction describing an old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present section introduced by </a:t>
            </a:r>
            <a:pPr algn="l" indent="0" marL="0">
              <a:buNone/>
            </a:pPr>
            <a:r>
              <a:rPr lang="ar-SA" altLang="en-US" sz="1550" dirty="0">
                <a:solidFill>
                  <a:srgbClr val="1F2A37"/>
                </a:solidFill>
                <a:latin typeface="Amiri" pitchFamily="2" charset="-78"/>
                <a:cs typeface="Amiri" pitchFamily="2" charset="-78"/>
              </a:rPr>
              <a:t>أَمَّا الآنَ فَـ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future focus with </a:t>
            </a:r>
            <a:pPr algn="l" indent="0" marL="0">
              <a:buNone/>
            </a:pPr>
            <a:r>
              <a:rPr lang="ar-SA" altLang="en-US" sz="1550" dirty="0">
                <a:solidFill>
                  <a:srgbClr val="1F2A37"/>
                </a:solidFill>
                <a:latin typeface="Amiri" pitchFamily="2" charset="-78"/>
                <a:cs typeface="Amiri" pitchFamily="2" charset="-78"/>
              </a:rPr>
              <a:t>سَـ</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سَوْفَ</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كُنْتُ أَسْتَعْمِلُ المُضَارِعَ عِنْدَمَا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used to use the present when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رَكَّزْتُ عَلَى الأَفْعَالِ الشَّاذَّةِ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focused on irregular verbs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تَحَسَّنَتْ دِقَّتِي كَثِيرًا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accuracy improved a lot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بَدَلَ الصَّمْتِ</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instead of silence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أُضِيفُ سَبَبًا فِي كُلِّ إِجَابَةٍ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add a reason to every answer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فِي البِدَايَةِ كُنْتُ أَسْتَعْمِلُ المُضَارِعَ عِنْدَمَا يَسْأَلُنِي المُعَلِّمُ عَنِ المَاضِي، وَكَانَ ذٰلِكَ خَطَأً شَائِعًا. ثُمَّ تَدَرَّبْتُ عَلَى عَشَرَةِ أَفْعَالٍ كُلَّ يَوْمٍ، وَرَكَّزْتُ عَلَى الأَفْعَالِ الشَّاذَّةِ مِثْلَ قَالَ وَزَارَ وَمَشَى. وَلِحُسْنِ الحَظِّ تَحَسَّنَتْ دِقَّتِي كَثِيرًا. أَمَّا الآنَ فَأَسْتَعْمِلُ عِبَارَاتٍ قَصِيرَةً بَدَلَ الصَّمْتِ، وَأُضِيفُ سَبَبًا فِي كُلِّ إِجَابَةٍ. وَفِي المُسْتَقْبَلِ سَأُرَكِّزُ عَلَى تَنَوُّعِ الأَزْمِنَةِ، وَأَنْوِي أَنْ أَتَدَرَّبَ عَلَى التَّحَدُّثِ يَوْمِيًّا.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At the beginning I used to use the present when the teacher asked me about the past, and that was a common mistake. Then I practised ten verbs every day and focused on irregular verbs like qāla, zāra and mashā. Luckily my accuracy improved a lot. As for now, I use short phrases instead of silence, and I add a reason to every answer. In the future I will focus on tense variety, and I intend to practise speaking every day.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four past verbs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كُنْتُ + present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الآنَ فَـ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future focus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past questions in the past.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“I” verbs end in -tu (boys AND girls).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answer has a reason or a detail.</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 time-buying phrase instead of silence.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answer moved past → present → future.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cs typeface="Amiri" pitchFamily="2" charset="-78"/>
              </a:rPr>
              <a:t>مَاذَا فَعَلْتَ أَمْسِ؟</a:t>
            </a:r>
            <a:pPr algn="l" indent="0" marL="0">
              <a:buNone/>
            </a:pPr>
            <a:r>
              <a:rPr lang="en-US" sz="1250" b="1" dirty="0">
                <a:solidFill>
                  <a:srgbClr val="1B3B6F"/>
                </a:solidFill>
                <a:latin typeface="Calibri" pitchFamily="34" charset="0"/>
                <a:cs typeface="Amiri" pitchFamily="2" charset="-78"/>
              </a:rPr>
              <a:t> Which answer is appropriate?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لَعِبْتُ كُرَةَ السَّلَّةِ مَعَ أَصْدِقَائِي.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أَلْعَبُ كُرَةَ السَّلَّةِ مَعَ أَصْدِقَائِي.</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سَأَلْعَبُ كُرَةَ السَّلَّةِ مَعَ أَصْدِقَائِي.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repairs a slip?</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 السَّلَامَةِ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عَفْوًا، أَقْصِدُ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بِالتَّأْكِيدِ</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stem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قَالْنَا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قِلْنَا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The question is </a:t>
            </a:r>
            <a:pPr algn="l" indent="0" marL="0">
              <a:buNone/>
            </a:pPr>
            <a:r>
              <a:rPr lang="ar-SA" altLang="en-US" sz="1650" b="1" dirty="0">
                <a:solidFill>
                  <a:srgbClr val="1B3B6F"/>
                </a:solidFill>
                <a:latin typeface="Amiri" pitchFamily="2" charset="-78"/>
                <a:cs typeface="Amiri" pitchFamily="2" charset="-78"/>
              </a:rPr>
              <a:t>مَاذَا فَعَلْتَ أَمْسِ؟</a:t>
            </a:r>
            <a:pPr algn="l" indent="0" marL="0">
              <a:buNone/>
            </a:pPr>
            <a:r>
              <a:rPr lang="en-US" sz="1250" b="1" dirty="0">
                <a:solidFill>
                  <a:srgbClr val="1B3B6F"/>
                </a:solidFill>
                <a:latin typeface="Calibri" pitchFamily="34" charset="0"/>
                <a:cs typeface="Amiri" pitchFamily="2" charset="-78"/>
              </a:rPr>
              <a:t> Which answer is appropriate?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لَعِبْتُ كُرَةَ السَّلَّةِ مَعَ أَصْدِقَائِي.</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أَلْعَبُ كُرَةَ السَّلَّةِ مَعَ أَصْدِقَائِي.</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سَأَلْعَبُ كُرَةَ السَّلَّةِ مَعَ أَصْدِقَائِي.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Mirror the tense of the question.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repairs a slip?</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مَعَ السَّلَامَةِ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عَفْوًا، أَقْصِدُ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بِالتَّأْكِيدِ</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عَفْوًا، أَقْصِدُ</a:t>
            </a:r>
            <a:pPr algn="l" indent="0" marL="0">
              <a:buNone/>
            </a:pPr>
            <a:r>
              <a:rPr lang="en-US" sz="1050" i="1" dirty="0">
                <a:solidFill>
                  <a:srgbClr val="8A6D1E"/>
                </a:solidFill>
                <a:latin typeface="Calibri" pitchFamily="34" charset="0"/>
                <a:cs typeface="Amiri" pitchFamily="2" charset="-78"/>
              </a:rPr>
              <a:t> introduces a self-correction.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stem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قُلْنَا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قَالْنَا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قِلْنَا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cs typeface="Amiri" pitchFamily="2" charset="-78"/>
              </a:rPr>
              <a:t>قُلْـ</a:t>
            </a:r>
            <a:pPr algn="l" indent="0" marL="0">
              <a:buNone/>
            </a:pPr>
            <a:r>
              <a:rPr lang="en-US" sz="1050" i="1" dirty="0">
                <a:solidFill>
                  <a:srgbClr val="8A6D1E"/>
                </a:solidFill>
                <a:latin typeface="Calibri" pitchFamily="34" charset="0"/>
                <a:cs typeface="Amiri" pitchFamily="2" charset="-78"/>
              </a:rPr>
              <a:t> before a consonant suffix.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Reading: a candidate's self-review before the assessment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cs typeface="Amiri" pitchFamily="2" charset="-78"/>
              </a:rPr>
              <a:t>قَبْلَ التَّقْيِيمِ رَاجَعْتُ نُقَاطَ ضَعْفِي بِصَرَاحَةٍ. فِي البِدَايَةِ كُنْتُ أَسْتَعْمِلُ المُضَارِعَ عِنْدَمَا يَسْأَلُنِي المُعَلِّمُ عَنِ المَاضِي، وَهٰذَا خَطَأٌ شَائِعٌ. ثُمَّ تَدَرَّبْتُ عَلَى عَشَرَةِ أَفْعَالٍ كُلَّ يَوْمٍ، وَرَكَّزْتُ عَلَى الأَفْعَالِ الشَّاذَّةِ مِثْلَ قَالَ وَزَارَ وَمَشَى. وَفِي الحَقِيقَةِ تَحَسَّنَتْ دِقَّتِي مِنْ سِتَّةٍ إِلَى تِسْعَةٍ مِنْ عَشَرَةٍ. أَمَّا الآنَ فَأَسْتَعْمِلُ عِبَارَاتٍ قَصِيرَةً مِثْلَ دَعْنِي أُفَكِّرُ بَدَلَ الصَّمْتِ. وَفِي المُسْتَقْبَلِ سَأُرَكِّزُ عَلَى إِضَافَةِ سَبَبٍ فِي كُلِّ إِجَابَةٍ.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رَاجَعْتُ</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reviewed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نُقَاطَ ضَعْفِي</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weak points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المُضَارِعَ</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present tense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خَطَأٌ شَائِعٌ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common mistake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رَكَّزْتُ عَلَى</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focused on</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تَحَسَّنَتْ دِقَّتِي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accuracy improved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سِتَّةٍ إِلَى تِسْعَةٍ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from six to nine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بَدَلَ الصَّمْتِ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instead of silence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سَأُرَكِّزُ</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will focus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إِضَافَةِ سَبَبٍ</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adding a reason</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writer's original weakness?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too quickly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the present when asked about the past</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Forgetting vocabulary</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practise?</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 verb a week</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irregular verbs once</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Ten verbs every day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accuracy change?</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six to nine out of ten</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From three to five</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stayed the same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replaces silence now?</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 words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Arabic phrases</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Longer pauses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Adding a reason to every answer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Speaking faster</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longer words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was the writer's original weakness?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too quickly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Using the present when asked about the past</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Forgetting vocabulary</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كُنْتُ أَسْتَعْمِلُ المُضَارِعَ عِنْدَمَا يَسْأَلُنِي المُعَلِّمُ عَنِ المَاضِي.</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the writer practise?</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 verb a week</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irregular verbs once</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Ten verbs every day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تَدَرَّبْتُ عَلَى عَشَرَةِ أَفْعَالٍ كُلَّ يَوْمٍ.</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did accuracy change?</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From six to nine out of ten</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From three to five</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stayed the same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تَحَسَّنَتْ دِقَّتِي مِنْ سِتَّةٍ إِلَى تِسْعَةٍ مِنْ عَشَرَةٍ.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replaces silence now?</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 words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Short Arabic phrases</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Longer pauses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أَسْتَعْمِلُ عِبَارَاتٍ قَصِيرَةً مِثْلَ دَعْنِي أُفَكِّرُ بَدَلَ الصَّمْتِ.</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future focus?</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Adding a reason to every answer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Speaking faster</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Using longer words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سَأُرَكِّزُ عَلَى إِضَافَةِ سَبَبٍ فِي كُلِّ إِجَابَةٍ.</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Consolidation Mission — Accuracy Under Pressure</a:t>
            </a:r>
            <a:endParaRPr lang="en-US" sz="19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Question:</a:t>
            </a:r>
            <a:endParaRPr lang="en-US" sz="1200" dirty="0"/>
          </a:p>
        </p:txBody>
      </p:sp>
      <p:sp>
        <p:nvSpPr>
          <p:cNvPr id="21"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كَيْفَ بَدَأْتَ؟</a:t>
            </a:r>
            <a:pPr algn="l" indent="0" marL="0">
              <a:buNone/>
            </a:pPr>
            <a:r>
              <a:rPr lang="en-US" sz="1000" b="1" dirty="0">
                <a:solidFill>
                  <a:srgbClr val="1F2A37"/>
                </a:solidFill>
                <a:latin typeface="Calibri" pitchFamily="34" charset="0"/>
                <a:cs typeface="Amiri" pitchFamily="2" charset="-78"/>
              </a:rPr>
              <a:t> Which answer mirrors the tense?</a:t>
            </a:r>
            <a:endParaRPr lang="en-US" sz="10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أَبْدَأُ فِي الطُّفُولَةِ.</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بَدَأْتُ فِي الطُّفُولَةِ.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سَأَبْدَأُ فِي الطُّفُولَةِ.</a:t>
            </a:r>
            <a:endParaRPr lang="ar-SA" sz="2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شَارَكْتُ</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شَارَكَ</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شَارَكْنَا</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Stem: which is correct?</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زَارْتُ</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زَوَرْتُ</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زُرْتُ</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time in Arabic?</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أَنَا آسِفٌ جِدًّا</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 اللِّقَاءِ</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دَعْنِي أُفَكِّرُ</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Extension: which adds most to a bare answer?</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لِأَنَّهَا مُمْتِعَةٌ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نَعَمْ</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رُبَّمَا</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avoids the past and needs repair?</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أَمْسِ شَاهَدْتُ المُبَارَاةَ.</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أَمْسِ أُشَاهِدُ المُبَارَاةَ.</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أَمْسِ شَاهَدْنَا المُبَارَاةَ.</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Question:</a:t>
            </a:r>
            <a:endParaRPr lang="en-US" sz="1200" dirty="0"/>
          </a:p>
        </p:txBody>
      </p:sp>
      <p:sp>
        <p:nvSpPr>
          <p:cNvPr id="20" name="Text 18"/>
          <p:cNvSpPr txBox="1"/>
          <p:nvPr/>
        </p:nvSpPr>
        <p:spPr>
          <a:xfrm>
            <a:off x="2406701" y="1883664"/>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2" charset="-78"/>
                <a:cs typeface="Amiri" pitchFamily="2" charset="-78"/>
              </a:rPr>
              <a:t>كَيْفَ بَدَأْتَ؟</a:t>
            </a:r>
            <a:pPr algn="l" indent="0" marL="0">
              <a:buNone/>
            </a:pPr>
            <a:r>
              <a:rPr lang="en-US" sz="1000" b="1" dirty="0">
                <a:solidFill>
                  <a:srgbClr val="1F2A37"/>
                </a:solidFill>
                <a:latin typeface="Calibri" pitchFamily="34" charset="0"/>
                <a:cs typeface="Amiri" pitchFamily="2" charset="-78"/>
              </a:rPr>
              <a:t> Which answer mirrors the tense?</a:t>
            </a:r>
            <a:endParaRPr lang="en-US" sz="1000" dirty="0"/>
          </a:p>
        </p:txBody>
      </p:sp>
      <p:sp>
        <p:nvSpPr>
          <p:cNvPr id="21"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1"/>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أَبْدَأُ فِي الطُّفُولَةِ.</a:t>
            </a:r>
            <a:endParaRPr lang="ar-SA" sz="1700" dirty="0"/>
          </a:p>
        </p:txBody>
      </p:sp>
      <p:sp>
        <p:nvSpPr>
          <p:cNvPr id="24" name="Shape 22"/>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3"/>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4"/>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5"/>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بَدَأْتُ فِي الطُّفُولَةِ.</a:t>
            </a:r>
            <a:endParaRPr lang="ar-SA" sz="1700" dirty="0"/>
          </a:p>
        </p:txBody>
      </p:sp>
      <p:sp>
        <p:nvSpPr>
          <p:cNvPr id="28" name="Shape 26"/>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8"/>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سَأَبْدَأُ فِي الطُّفُولَةِ.</a:t>
            </a:r>
            <a:endParaRPr lang="ar-SA" sz="1700" dirty="0"/>
          </a:p>
        </p:txBody>
      </p:sp>
      <p:sp>
        <p:nvSpPr>
          <p:cNvPr id="31" name="Text 29"/>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past question needs a past answer.</a:t>
            </a:r>
            <a:endParaRPr lang="en-US" sz="1050" dirty="0"/>
          </a:p>
        </p:txBody>
      </p:sp>
      <p:sp>
        <p:nvSpPr>
          <p:cNvPr id="32" name="Shape 30"/>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1"/>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2"/>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3"/>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form: which is the </a:t>
            </a:r>
            <a:pPr algn="l" indent="0" marL="0">
              <a:buNone/>
            </a:pPr>
            <a:r>
              <a:rPr lang="ar-SA" altLang="en-US" sz="1650" b="1" dirty="0">
                <a:solidFill>
                  <a:srgbClr val="1B3B6F"/>
                </a:solidFill>
                <a:latin typeface="Amiri" pitchFamily="2" charset="-78"/>
                <a:cs typeface="Amiri" pitchFamily="2" charset="-78"/>
              </a:rPr>
              <a:t>أَنَا</a:t>
            </a:r>
            <a:pPr algn="l" indent="0" marL="0">
              <a:buNone/>
            </a:pPr>
            <a:r>
              <a:rPr lang="en-US" sz="1250" b="1" dirty="0">
                <a:solidFill>
                  <a:srgbClr val="1B3B6F"/>
                </a:solidFill>
                <a:latin typeface="Calibri" pitchFamily="34" charset="0"/>
                <a:cs typeface="Amiri" pitchFamily="2" charset="-78"/>
              </a:rPr>
              <a:t> past of </a:t>
            </a:r>
            <a:pPr algn="l" indent="0" marL="0">
              <a:buNone/>
            </a:pPr>
            <a:r>
              <a:rPr lang="ar-SA" altLang="en-US" sz="1650" b="1" dirty="0">
                <a:solidFill>
                  <a:srgbClr val="1B3B6F"/>
                </a:solidFill>
                <a:latin typeface="Amiri" pitchFamily="2" charset="-78"/>
                <a:cs typeface="Amiri" pitchFamily="2" charset="-78"/>
              </a:rPr>
              <a:t>شَارَكَ</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شَارَكْتُ</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شَارَكَ</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شَارَكْنَا</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أَنَا</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ـْتُ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Stem: which is correct?</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زَارْتُ</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زَوَرْتُ</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زُرْتُ</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زَارَ</a:t>
            </a:r>
            <a:pPr algn="l" indent="0" marL="0">
              <a:buNone/>
            </a:pPr>
            <a:r>
              <a:rPr lang="en-US" sz="1050" i="1" dirty="0">
                <a:solidFill>
                  <a:srgbClr val="8A6D1E"/>
                </a:solidFill>
                <a:latin typeface="Calibri" pitchFamily="34" charset="0"/>
                <a:cs typeface="Amiri" pitchFamily="2" charset="-78"/>
              </a:rPr>
              <a:t> shortens to </a:t>
            </a:r>
            <a:pPr algn="l" indent="0" marL="0">
              <a:buNone/>
            </a:pPr>
            <a:r>
              <a:rPr lang="ar-SA" altLang="en-US" sz="1350" dirty="0">
                <a:solidFill>
                  <a:srgbClr val="8A6D1E"/>
                </a:solidFill>
                <a:latin typeface="Amiri" pitchFamily="2" charset="-78"/>
                <a:cs typeface="Amiri" pitchFamily="2" charset="-78"/>
              </a:rPr>
              <a:t>زُرْـ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buys time in Arabic?</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أَنَا آسِفٌ جِدًّا</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 اللِّقَاءِ</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دَعْنِي أُفَكِّرُ</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keeps you speaking Arabic while you assemble the verb.</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Extension: which adds most to a bare answer?</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لِأَنَّهَا مُمْتِعَةٌ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نَعَمْ</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رُبَّمَا</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reason with </a:t>
            </a:r>
            <a:pPr algn="l" indent="0" marL="0">
              <a:buNone/>
            </a:pPr>
            <a:r>
              <a:rPr lang="ar-SA" altLang="en-US" sz="1350" dirty="0">
                <a:solidFill>
                  <a:srgbClr val="8A6D1E"/>
                </a:solidFill>
                <a:latin typeface="Amiri" pitchFamily="2" charset="-78"/>
                <a:cs typeface="Amiri" pitchFamily="2" charset="-78"/>
              </a:rPr>
              <a:t>لِأَنَّ</a:t>
            </a:r>
            <a:pPr algn="l" indent="0" marL="0">
              <a:buNone/>
            </a:pPr>
            <a:r>
              <a:rPr lang="en-US" sz="1050" i="1" dirty="0">
                <a:solidFill>
                  <a:srgbClr val="8A6D1E"/>
                </a:solidFill>
                <a:latin typeface="Calibri" pitchFamily="34" charset="0"/>
                <a:cs typeface="Amiri" pitchFamily="2" charset="-78"/>
              </a:rPr>
              <a:t> extends the response.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 avoids the past and needs repair?</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أَمْسِ شَاهَدْتُ المُبَارَاةَ.</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أَمْسِ أُشَاهِدُ المُبَارَاةَ.</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أَمْسِ شَاهَدْنَا المُبَارَاةَ.</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present after </a:t>
            </a:r>
            <a:pPr algn="l" indent="0" marL="0">
              <a:buNone/>
            </a:pPr>
            <a:r>
              <a:rPr lang="ar-SA" altLang="en-US" sz="1350" dirty="0">
                <a:solidFill>
                  <a:srgbClr val="8A6D1E"/>
                </a:solidFill>
                <a:latin typeface="Amiri" pitchFamily="2" charset="-78"/>
                <a:cs typeface="Amiri" pitchFamily="2" charset="-78"/>
              </a:rPr>
              <a:t>أَمْسِ</a:t>
            </a:r>
            <a:pPr algn="l" indent="0" marL="0">
              <a:buNone/>
            </a:pPr>
            <a:r>
              <a:rPr lang="en-US" sz="1050" i="1" dirty="0">
                <a:solidFill>
                  <a:srgbClr val="8A6D1E"/>
                </a:solidFill>
                <a:latin typeface="Calibri" pitchFamily="34" charset="0"/>
                <a:cs typeface="Amiri" pitchFamily="2" charset="-78"/>
              </a:rPr>
              <a:t> is the avoidance pattern.</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D5-L11 · Unit Review</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D5-L12: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D5-L12 · D5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en-US" sz="1000" i="1" dirty="0">
                <a:solidFill>
                  <a:srgbClr val="5A6472"/>
                </a:solidFill>
                <a:latin typeface="Calibri" pitchFamily="34" charset="0"/>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المُحَادَثَةُ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conversation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أُرَاجِعُ إِجَابَتِي</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check my answer</a:t>
            </a:r>
            <a:pPr indent="0" marL="0">
              <a:buNone/>
            </a:pPr>
            <a:r>
              <a:rPr lang="en-US" sz="1000" i="1" dirty="0">
                <a:solidFill>
                  <a:srgbClr val="5A6472"/>
                </a:solidFill>
                <a:latin typeface="Calibri" pitchFamily="34" charset="0"/>
                <a:cs typeface="Amiri" pitchFamily="2" charset="-78"/>
              </a:rPr>
              <a:t>  تُرَاجِعُ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three past-tense answers about your hobbies, each with a reason, for the speaking assessment.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cs typeface="Amiri" pitchFamily="2" charset="-78"/>
              </a:rPr>
              <a:t>بَدَأْتُ … لِأَنَّ … · الأُسْبُوعَ المَاضِيَ … · سَـ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Practise four past questions aloud; learn the five assessment words.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self-review; learn three time-buying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 80 words) + a recorded 1-minute topic answer.</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D5-L12 · D5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mirror the tense — fix the stem — add a reason — and buy time in Arabic, never in silence.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D5-L11 · D5 Consolidation — Past Tense Mastery and Speaking Preparation</dc:title>
  <dc:subject>PptxGenJS Presentation</dc:subject>
  <dc:creator>Al Madina Online School · Arabic Department</dc:creator>
  <cp:lastModifiedBy>Al Madina Online School · Arabic Department</cp:lastModifiedBy>
  <cp:revision>1</cp:revision>
  <dcterms:created xsi:type="dcterms:W3CDTF">2026-10-11T06:41:04Z</dcterms:created>
  <dcterms:modified xsi:type="dcterms:W3CDTF">2026-10-11T06:41:04Z</dcterms:modified>
</cp:coreProperties>
</file>