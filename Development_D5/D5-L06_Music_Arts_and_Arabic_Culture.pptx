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D5-L06. The website lesson “Music, Arts and Arabic Culture”: vocabulary, grammar rules and quiz, patterns, common mistakes, sorter, listening, reading, speaking prompts and model, writing task and model, differentiation, final check and the lesson mission. Picture match: website visual game “Music, Arts and Arabic Culture”.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arts words (instruments, calligraphy, exhibition, artist) + “I like … because …”. Develop: يُعَبِّرُ عَنْ and يُؤَثِّرُ فِي with the right prepositions, in present and past. Stretch: يُلْهِمُ + direct object and a hedged statement about taste (website ~80-word task).
• SCHOOL CONTEXT: some families avoid musical instruments. Every task works with the nasheed (النَّشِيدُ), the duff (الدُّفُّ), Arabic calligraphy (الخَطُّ العَرَبِيُّ) or arabesque (الزَّخْرَفَةُ) — let students choose. Hedging language (لَيْسَ دَائِمًا · فِي بَعْضِ البُلْدَانِ) is exactly the respectful way to describe these different views.
• Builds on D5-L01 (يَعْزِفُ عَلَى), D5-L03–L05 (past tense, كَانَ, connectors).
• TEACHER-WRITTEN ITEMS: two quiz items given distractors that do not differ only in vowels,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D5-L05. Question 4 retrieves كَانَ + accusative (D5-L05); question 5 retrieves يَعْزِفُ عَلَى (D5-L01).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verb keeps its own preposition: ʿan, fī — or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فن، خطاطی، نشید are shared; تُرَاثٌ shares the root of Urdu ورثہ / میراث (inheritance). CAREFUL: Urdu خط usually means a letter you post; Arabic خَطٌّ = handwriting / calligraphy (a letter is 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Instruments and ensembles (website vocabulary (1 of 2)). Hear → Say → See → Use. Transliteration is printed for Core students (cover it for Develop/Stretch).
Instruments and ensembles. The duff (frame drum) and the human voice (النَّشِيدُ) are used in nasheeds.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Instruments and ensembles (website vocabulary (2 of 2)). Hear → Say → See → Use. Transliteration is printed for Core students (cover it for Develop/Stretch).
Instruments and ensembles. The duff (frame drum) and the human voice (النَّشِيدُ) are used in nasheeds.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Arts and heritage (website vocabulary (1 of 2)). Hear → Say → See → Use. Transliteration is printed for Core students (cover it for Develop/Stretch).
Arts and heritage: calligraphy and arabesque are central Islamic arts. People show m. / f. / pl.: فَنَّانٌ · فَنَّانَةٌ · فَنَّانُونَ.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Arts and heritage (website vocabulary (2 of 2)). Hear → Say → See → Use. Transliteration is printed for Core students (cover it for Develop/Stretch).
Arts and heritage: calligraphy and arabesque are central Islamic arts. People show m. / f. / pl.: فَنَّانٌ · فَنَّانَةٌ · فَنَّانُونَ.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Appreciation and influence (website vocabulary (1 of 2)). Hear → Say → See → Use. Transliteration is printed for Core students (cover it for Develop/Stretch).
Appreciation and influence: three verbs with three different complements + three hedging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Appreciation and influence (website vocabulary (2 of 2)). Hear → Say → See → Use. Transliteration is printed for Core students (cover it for Develop/Stretch).
Appreciation and influence: three verbs with three different complements + three hedging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“يُعَبِّرُ عَنْ” (Form II with عَنْ + genitive), “يُؤَثِّرُ فِي” (Form II with فِي — lasting influence on a person, style or generation) and “يُلْهِمُ with a direct object” (Form IV, no preposition). Website teaching point: “Each verb keeps its own preposition.”
Website mistakes: تُعَبِّرُ المُوسِيقَى فِي ✗ · أَثَّرَ الفَنَّانُ عَنْ ✗ · أَلْهَمَ المُوسِيقَارُ فِي الشَّبَابِ ✗.
Nasheed alternative: يُعَبِّرُ النَّشِيدُ عَنْ حُبِّ الوَطَنِ · أَلْهَمَنِي الخَطُّ العَرَبِيُّ.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“Hedged cultural statements” and teaching point “Describe variety, not a single rule: musical taste and artistic tradition differ across and within Arabic-speaking countries.”
Link to our values: speaking fairly and accurately about people (avoid generalising) is part of good adab. This is also an exam skill: a balanced, qualified view scores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Form II and Form IV verbs carry this lesson, each with its own complement. Add the past forms and you can describe a cultural experience precisely.”
• يُعَبِّرُ عَنْ: Form II with عَنْ. The thing expressed follows the preposition and is genitive.
• يُؤَثِّرُ فِي: Form II with فِي. Use it for lasting influence on a person, a style or a generation.
• يُلْهِمُ with a direct object: Form IV takes a direct object with no preposition.
• Hedged cultural statements: Qualify a cultural observation so it describes some people or some places rather than everyone.
Website common error: Do not swap the prepositions. عَنْ belongs to يُعَبِّرُ, فِي belongs to يُؤَثِّرُ, and يُلْهِمُ takes no preposition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writing model. Alternative model (no instruments): حَضَرْتُ أُمْسِيَةَ أَنَاشِيدَ فِي المَسْجِدِ. عَبَّرَتِ الأَنَاشِيدُ عَنْ حُبِّ النَّبِيِّ ﷺ، وَأَثَّرَتْ فِي الحُضُورِ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Music, Arts and Arabic Culture”)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with today’s verbs: … تُعَبِّرُ عَنِ المَشَاعِرِ · … يُلْهِمُنِي. Other website cards: films, literature and writing, cultural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Music, Arts and Arabic Culture”)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with today’s verbs: … تُعَبِّرُ عَنِ المَشَاعِرِ · … يُلْهِمُنِي. Other website cards: films, literature and writing, cultural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per column about an art YOU like (calligraphy, nasheed, drawing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per column about an art YOU like (calligraphy, nasheed, drawing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the three verbs with their prepositions.
Listen 1: just listen. Listen 2: note answers. Then chat the letters.
Support: after the second listening, show the read-along slide (Arabic + English, line by line) for Core students.
SCRIPT (read aloud):
فِي الأُسْبُوعِ المَاضِي ذَهَبْتُ مَعَ أُسْرَتِي إِلَى حَفْلَةٍ مُوسِيقِيَّةٍ فِي المَسْرَحِ الكَبِيرِ. كَانَتِ الفِرْقَةُ صَغِيرَةً، وَعَزَفَتْ عَلَى العُودِ وَالنَّايِ وَالقَانُونِ. عَبَّرَتِ المُوسِيقَى عَنْ مَشَاعِرَ كَثِيرَةٍ، وَأَثَّرَتْ فِي الجُمْهُورِ تَأْثِيرًا وَاضِحًا. وَبَعْدَ الحَفْلَةِ زُرْنَا مَعْرِضًا لِلْخَطِّ العَرَبِيِّ، وَأَلْهَمَتْنِي الزَّخْرَفَةُ حَقًّا. فِي بَعْضِ البُلْدَانِ يَتَعَلَّمُ الأَطْفَالُ هٰذِهِ الآلَاتِ مُبَكِّرًا، وَلٰكِنْ لَيْسَ دَائِمًا؛ فَالأَذْوَاقُ تَخْتَلِفُ مِنْ أُسْرَةٍ إِلَى أُسْرَةٍ.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أَثَّرَتْ فِيكَ حَفْلَةٌ مُعَيَّنَةٌ؟ (And did a particular concert affect you?)
B: نَعَمْ، فِي الأُسْبُوعِ المَاضِي حَضَرْتُ حَفْلَةً أَلْهَمَتْنِي حَقًّا، وَلٰكِنْ لَيْسَ دَائِمًا أُفَضِّلُ التُّرَاثَ. (Yes, last week I attended a concert that truly inspired me, but I do not always prefer heritage.)
Website prompts and model, with the first prompt widened to “which art” so every student can answer (calligraphy, nasheed, drawing). To a girl: يُعْجِبُكِ · زُرْتِهِ · رَأَيْتِ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sentences naming instruments and art forms with accurate agreement. · Develop — Add يُعَبِّرُ عَنْ and يُؤَثِّرُ فِي with their correct prepositions. · Stretch — Add يُلْهِمُ with a direct object and a hedged comparison of heritage and modern taste.
Website writing task (Stretch): Write about eighty words describing a cultural experience: a concert, an exhibition or a performance. Say what it expressed, whom or what it influenced, and add one hedged statement about taste using فِي بَعْضِ البُلْدَانِ، أَحْيَانًا or لَيْسَ دَائِمًا.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عَبَّرَتِ المُوسِيقَى عَنْ … · أَثَّرَتْ فِي الجُمْهُورِ · أَلْهَمَتْنِي الزَّخْرَفَةُ · فِي بَعْضِ البُلْدَانِ · أَحْيَانًا · لَيْسَ دَائِمًا. Students who prefer: replace the concert with a calligraphy workshop or a nasheed evening — the grammar is identical.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(D5-L07 · Holidays and Travel — Past and Future) will spend class time USING this language, so students prepare it tonight — short, simple, easy to access (school guidance: “Simple, Short, Interesting, Relevant, Easy to access”). The five words come from the website D5-L07 vocabulary (holidays and travel).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cs typeface="Amiri" pitchFamily="2" charset="-78"/>
              </a:rPr>
              <a:t>Music, Arts and Arabic Culture</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المُوسِيقَى وَالفُنُونُ وَالثَّقَافَةُ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Arabic arts — the oud, the nay, calligraphy, arabesque — and what they do: express (</a:t>
            </a:r>
            <a:pPr algn="l" indent="0" marL="0">
              <a:buNone/>
            </a:pPr>
            <a:r>
              <a:rPr lang="ar-SA" altLang="en-US" sz="1800" dirty="0">
                <a:solidFill>
                  <a:srgbClr val="C6D2E6"/>
                </a:solidFill>
                <a:latin typeface="Amiri" pitchFamily="2" charset="-78"/>
                <a:ea typeface="Amiri" pitchFamily="2" charset="-78"/>
                <a:cs typeface="Amiri" pitchFamily="2" charset="-78"/>
              </a:rPr>
              <a:t>يُعَبِّرُ عَنْ</a:t>
            </a:r>
            <a:pPr algn="l" indent="0" marL="0">
              <a:buNone/>
            </a:pPr>
            <a:r>
              <a:rPr lang="en-US" sz="1400" dirty="0">
                <a:solidFill>
                  <a:srgbClr val="C6D2E6"/>
                </a:solidFill>
                <a:latin typeface="Calibri" pitchFamily="34" charset="0"/>
                <a:cs typeface="Amiri" pitchFamily="2" charset="-78"/>
              </a:rPr>
              <a:t>), influence (</a:t>
            </a:r>
            <a:pPr algn="l" indent="0" marL="0">
              <a:buNone/>
            </a:pPr>
            <a:r>
              <a:rPr lang="ar-SA" altLang="en-US" sz="1800" dirty="0">
                <a:solidFill>
                  <a:srgbClr val="C6D2E6"/>
                </a:solidFill>
                <a:latin typeface="Amiri" pitchFamily="2" charset="-78"/>
                <a:ea typeface="Amiri" pitchFamily="2" charset="-78"/>
                <a:cs typeface="Amiri" pitchFamily="2" charset="-78"/>
              </a:rPr>
              <a:t>يُؤَثِّرُ فِي</a:t>
            </a:r>
            <a:pPr algn="l" indent="0" marL="0">
              <a:buNone/>
            </a:pPr>
            <a:r>
              <a:rPr lang="en-US" sz="1400" dirty="0">
                <a:solidFill>
                  <a:srgbClr val="C6D2E6"/>
                </a:solidFill>
                <a:latin typeface="Calibri" pitchFamily="34" charset="0"/>
                <a:cs typeface="Amiri" pitchFamily="2" charset="-78"/>
              </a:rPr>
              <a:t>), inspire (</a:t>
            </a:r>
            <a:pPr algn="l" indent="0" marL="0">
              <a:buNone/>
            </a:pPr>
            <a:r>
              <a:rPr lang="ar-SA" altLang="en-US" sz="1800" dirty="0">
                <a:solidFill>
                  <a:srgbClr val="C6D2E6"/>
                </a:solidFill>
                <a:latin typeface="Amiri" pitchFamily="2" charset="-78"/>
                <a:ea typeface="Amiri" pitchFamily="2" charset="-78"/>
                <a:cs typeface="Amiri" pitchFamily="2" charset="-78"/>
              </a:rPr>
              <a:t>يُلْهِمُ</a:t>
            </a:r>
            <a:pPr algn="l" indent="0" marL="0">
              <a:buNone/>
            </a:pPr>
            <a:r>
              <a:rPr lang="en-US" sz="1400" dirty="0">
                <a:solidFill>
                  <a:srgbClr val="C6D2E6"/>
                </a:solidFill>
                <a:latin typeface="Calibri" pitchFamily="34" charset="0"/>
                <a:cs typeface="Amiri" pitchFamily="2" charset="-78"/>
              </a:rPr>
              <a:t>) — while describing culture fairly (</a:t>
            </a:r>
            <a:pPr algn="l" indent="0" marL="0">
              <a:buNone/>
            </a:pPr>
            <a:r>
              <a:rPr lang="ar-SA" altLang="en-US" sz="1800" dirty="0">
                <a:solidFill>
                  <a:srgbClr val="C6D2E6"/>
                </a:solidFill>
                <a:latin typeface="Amiri" pitchFamily="2" charset="-78"/>
                <a:ea typeface="Amiri" pitchFamily="2" charset="-78"/>
                <a:cs typeface="Amiri" pitchFamily="2" charset="-78"/>
              </a:rPr>
              <a:t>فِي بَعْضِ البُلْدَانِ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أَحْيَانًا</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لَيْسَ دَائِمًا</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D5-L06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Express, influence, inspire — and say it fairly.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slips, then an evening of heritage.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الخَطُّ العَرَبِيُّ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music</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calligraphy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poetry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فَنَّانَةٌ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artist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exhibition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influences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inspires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expresses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الحَفْلَةُ رَائِعٌ.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أَعْزِفُ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الخَطُّ العَرَبِيُّ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music</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calligraphy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poetry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فَنَّانَةٌ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artist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exhibition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influences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inspires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expresses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الحَفْلَةُ رَائِعَةٌ.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الحَفْلَةُ رَائِعٌ.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الحَفْلَةُ رَائِعَةً.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 kāna +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أَعْزِفُ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D5-L01.</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verb keeps its own preposition: ʿan, fī — or nothing at all.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يُعَبِّرُ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عَنْ</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 يُؤَثِّرُ </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فِي</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 يُلْهِمُ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الجُمْهُورَ</a:t>
            </a:r>
            <a:endParaRPr lang="ar-SA" sz="20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Arabic instruments and art forms with accurate agreement.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يُعَبِّرُ عَنْ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يُؤَثِّرُ فِي</a:t>
            </a:r>
            <a:pPr algn="l" indent="0" marL="0">
              <a:buNone/>
            </a:pPr>
            <a:r>
              <a:rPr lang="en-US" sz="1300" dirty="0">
                <a:solidFill>
                  <a:srgbClr val="1F2A37"/>
                </a:solidFill>
                <a:latin typeface="Calibri" pitchFamily="34" charset="0"/>
                <a:cs typeface="Amiri" pitchFamily="2" charset="-78"/>
              </a:rPr>
              <a:t>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يُلْهِمُ / أَلْهَمَ</a:t>
            </a:r>
            <a:pPr algn="l" indent="0" marL="0">
              <a:buNone/>
            </a:pPr>
            <a:r>
              <a:rPr lang="en-US" sz="1300" dirty="0">
                <a:solidFill>
                  <a:srgbClr val="1F2A37"/>
                </a:solidFill>
                <a:latin typeface="Calibri" pitchFamily="34" charset="0"/>
                <a:cs typeface="Amiri" pitchFamily="2" charset="-78"/>
              </a:rPr>
              <a:t> with a direct object.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culture fairly with hedging (</a:t>
            </a:r>
            <a:pPr algn="l" indent="0" marL="0">
              <a:buNone/>
            </a:pPr>
            <a:r>
              <a:rPr lang="ar-SA" altLang="en-US" sz="1700" dirty="0">
                <a:solidFill>
                  <a:srgbClr val="1F2A37"/>
                </a:solidFill>
                <a:latin typeface="Amiri" pitchFamily="2" charset="-78"/>
                <a:ea typeface="Amiri" pitchFamily="2" charset="-78"/>
                <a:cs typeface="Amiri" pitchFamily="2" charset="-78"/>
              </a:rPr>
              <a:t>فِي بَعْضِ البُلْدَانِ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أَحْيَانًا</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arts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which art I like and why.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يُعَبِّرُ عَنْ</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يُؤَثِّرُ فِي</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 past cultural visit.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ea typeface="Amiri" pitchFamily="2" charset="-78"/>
                <a:cs typeface="Amiri" pitchFamily="2" charset="-78"/>
              </a:rPr>
              <a:t>أَلْهَمَ</a:t>
            </a:r>
            <a:pPr algn="l" indent="0" marL="0">
              <a:buNone/>
            </a:pPr>
            <a:r>
              <a:rPr lang="en-US" sz="1300" b="1" dirty="0">
                <a:solidFill>
                  <a:srgbClr val="B83227"/>
                </a:solidFill>
                <a:latin typeface="Calibri" pitchFamily="34" charset="0"/>
                <a:cs typeface="Amiri" pitchFamily="2" charset="-78"/>
              </a:rPr>
              <a:t> + object.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make a fair, hedged statement about taste.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Instruments and ensembles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Arts and heritage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Appreciation and influence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فَنٌّ / فَنَّانٌ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‎فن / فنکار‎ </a:t>
            </a:r>
            <a:pPr indent="0" marL="0">
              <a:buNone/>
            </a:pPr>
            <a:r>
              <a:rPr lang="en-US" sz="950" b="1" dirty="0">
                <a:solidFill>
                  <a:srgbClr val="2E8B57"/>
                </a:solidFill>
                <a:latin typeface="Calibri" pitchFamily="34" charset="0"/>
                <a:cs typeface="Amiri" pitchFamily="2" charset="-78"/>
              </a:rPr>
              <a:t> fan / fankār · art / artist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 / خطاطی‎ </a:t>
            </a:r>
            <a:pPr indent="0" marL="0">
              <a:buNone/>
            </a:pPr>
            <a:r>
              <a:rPr lang="ar-SA" sz="950" b="1" dirty="0">
                <a:solidFill>
                  <a:srgbClr val="2E8B57"/>
                </a:solidFill>
                <a:latin typeface="Calibri" pitchFamily="34" charset="0"/>
                <a:ea typeface="Amiri" pitchFamily="2" charset="-78"/>
                <a:cs typeface="Amiri" pitchFamily="2" charset="-78"/>
              </a:rPr>
              <a:t> khaṭṭāṭī · Urdu خط: letter · Arabic خَطٌّ: calligraphy, line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تُرَاثٌ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‎ورثہ / میراث‎ </a:t>
            </a:r>
            <a:pPr indent="0" marL="0">
              <a:buNone/>
            </a:pPr>
            <a:r>
              <a:rPr lang="en-US" sz="950" b="1" dirty="0">
                <a:solidFill>
                  <a:srgbClr val="2E8B57"/>
                </a:solidFill>
                <a:latin typeface="Calibri" pitchFamily="34" charset="0"/>
                <a:cs typeface="Amiri" pitchFamily="2" charset="-78"/>
              </a:rPr>
              <a:t> mīrās · heritage (same root w-r-th)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مَعْرِضٌ</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‎نمائش‎ </a:t>
            </a:r>
            <a:pPr indent="0" marL="0">
              <a:buNone/>
            </a:pPr>
            <a:r>
              <a:rPr lang="en-US" sz="950" b="1" dirty="0">
                <a:solidFill>
                  <a:srgbClr val="2E8B57"/>
                </a:solidFill>
                <a:latin typeface="Calibri" pitchFamily="34" charset="0"/>
                <a:cs typeface="Amiri" pitchFamily="2" charset="-78"/>
              </a:rPr>
              <a:t> numāʾish · exhibition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نَشِيدٌ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‎نشید / نعت‎ </a:t>
            </a:r>
            <a:pPr indent="0" marL="0">
              <a:buNone/>
            </a:pPr>
            <a:r>
              <a:rPr lang="en-US" sz="950" b="1" dirty="0">
                <a:solidFill>
                  <a:srgbClr val="2E8B57"/>
                </a:solidFill>
                <a:latin typeface="Calibri" pitchFamily="34" charset="0"/>
                <a:cs typeface="Amiri" pitchFamily="2" charset="-78"/>
              </a:rPr>
              <a:t> nashīd · nasheed, song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Instruments and ensembles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oud</a:t>
            </a:r>
            <a:endParaRPr lang="en-US" sz="1350" dirty="0"/>
          </a:p>
          <a:p>
            <a:pPr indent="0" marL="0">
              <a:buNone/>
            </a:pPr>
            <a:r>
              <a:rPr lang="en-US" sz="1100" i="1" dirty="0">
                <a:solidFill>
                  <a:srgbClr val="5A6472"/>
                </a:solidFill>
                <a:latin typeface="Calibri" pitchFamily="34" charset="0"/>
                <a:cs typeface="Amiri" pitchFamily="2" charset="-78"/>
              </a:rPr>
              <a:t>al-ʿū-du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short-necked lute, central to Arabic music.</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الرَّبَابَةُ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rebab</a:t>
            </a:r>
            <a:endParaRPr lang="en-US" sz="1350" dirty="0"/>
          </a:p>
          <a:p>
            <a:pPr indent="0" marL="0">
              <a:buNone/>
            </a:pPr>
            <a:r>
              <a:rPr lang="en-US" sz="1100" i="1" dirty="0">
                <a:solidFill>
                  <a:srgbClr val="5A6472"/>
                </a:solidFill>
                <a:latin typeface="Calibri" pitchFamily="34" charset="0"/>
                <a:cs typeface="Amiri" pitchFamily="2" charset="-78"/>
              </a:rPr>
              <a:t>ar-ra-bā-ba-tu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bowed string instrument.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frame drum.</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duff</a:t>
            </a:r>
            <a:endParaRPr lang="en-US" sz="1350" dirty="0"/>
          </a:p>
          <a:p>
            <a:pPr indent="0" marL="0">
              <a:buNone/>
            </a:pPr>
            <a:r>
              <a:rPr lang="en-US" sz="1100" i="1" dirty="0">
                <a:solidFill>
                  <a:srgbClr val="5A6472"/>
                </a:solidFill>
                <a:latin typeface="Calibri" pitchFamily="34" charset="0"/>
                <a:cs typeface="Amiri" pitchFamily="2" charset="-78"/>
              </a:rPr>
              <a:t>ad-duf-fu</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1" name="Shape 38"/>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reed flute.</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النَّايُ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nay</a:t>
            </a:r>
            <a:endParaRPr lang="en-US" sz="1350" dirty="0"/>
          </a:p>
          <a:p>
            <a:pPr indent="0" marL="0">
              <a:buNone/>
            </a:pPr>
            <a:r>
              <a:rPr lang="en-US" sz="1100" i="1" dirty="0">
                <a:solidFill>
                  <a:srgbClr val="5A6472"/>
                </a:solidFill>
                <a:latin typeface="Calibri" pitchFamily="34" charset="0"/>
                <a:cs typeface="Amiri" pitchFamily="2" charset="-78"/>
              </a:rPr>
              <a:t>an-nā-yu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plucked zither.</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القَانُونُ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qanun</a:t>
            </a:r>
            <a:endParaRPr lang="en-US" sz="1350" dirty="0"/>
          </a:p>
          <a:p>
            <a:pPr indent="0" marL="0">
              <a:buNone/>
            </a:pPr>
            <a:r>
              <a:rPr lang="en-US" sz="1100" i="1" dirty="0">
                <a:solidFill>
                  <a:srgbClr val="5A6472"/>
                </a:solidFill>
                <a:latin typeface="Calibri" pitchFamily="34" charset="0"/>
                <a:cs typeface="Amiri" pitchFamily="2" charset="-78"/>
              </a:rPr>
              <a:t>al-qā-nū-nu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Instruments and ensembles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الكَمَانُ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violin</a:t>
            </a:r>
            <a:endParaRPr lang="en-US" sz="1350" dirty="0"/>
          </a:p>
          <a:p>
            <a:pPr indent="0" marL="0">
              <a:buNone/>
            </a:pPr>
            <a:r>
              <a:rPr lang="en-US" sz="1100" i="1" dirty="0">
                <a:solidFill>
                  <a:srgbClr val="5A6472"/>
                </a:solidFill>
                <a:latin typeface="Calibri" pitchFamily="34" charset="0"/>
                <a:cs typeface="Amiri" pitchFamily="2" charset="-78"/>
              </a:rPr>
              <a:t>al-ka-mā-nu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فِرْقَةٌ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ensemble, group</a:t>
            </a:r>
            <a:endParaRPr lang="en-US" sz="1350" dirty="0"/>
          </a:p>
          <a:p>
            <a:pPr indent="0" marL="0">
              <a:buNone/>
            </a:pPr>
            <a:r>
              <a:rPr lang="en-US" sz="1100" i="1" dirty="0">
                <a:solidFill>
                  <a:srgbClr val="5A6472"/>
                </a:solidFill>
                <a:latin typeface="Calibri" pitchFamily="34" charset="0"/>
                <a:cs typeface="Amiri" pitchFamily="2" charset="-78"/>
              </a:rPr>
              <a:t>fir-qa-tun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فِرَقٌ</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مُوسِيقَارٌ</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musician, composer</a:t>
            </a:r>
            <a:endParaRPr lang="en-US" sz="1350" dirty="0"/>
          </a:p>
          <a:p>
            <a:pPr indent="0" marL="0">
              <a:buNone/>
            </a:pPr>
            <a:r>
              <a:rPr lang="en-US" sz="1100" i="1" dirty="0">
                <a:solidFill>
                  <a:srgbClr val="5A6472"/>
                </a:solidFill>
                <a:latin typeface="Calibri" pitchFamily="34" charset="0"/>
                <a:cs typeface="Amiri" pitchFamily="2" charset="-78"/>
              </a:rPr>
              <a:t>mū-sī-qā-run</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مُوسِيقَارُونَ</a:t>
            </a:r>
            <a:endParaRPr lang="ar-SA" sz="150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مُوسِيقَارَةٌ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حَفْلَةٌ مُوسِيقِيَّةٌ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concert</a:t>
            </a:r>
            <a:endParaRPr lang="en-US" sz="1350" dirty="0"/>
          </a:p>
          <a:p>
            <a:pPr indent="0" marL="0">
              <a:buNone/>
            </a:pPr>
            <a:r>
              <a:rPr lang="en-US" sz="1100" i="1" dirty="0">
                <a:solidFill>
                  <a:srgbClr val="5A6472"/>
                </a:solidFill>
                <a:latin typeface="Calibri" pitchFamily="34" charset="0"/>
                <a:cs typeface="Amiri" pitchFamily="2" charset="-78"/>
              </a:rPr>
              <a:t>ḥaf-la-tun mū-sī-qiy-ya-tun</a:t>
            </a:r>
            <a:endParaRPr lang="en-US" sz="1350" dirty="0"/>
          </a:p>
        </p:txBody>
      </p:sp>
      <p:sp>
        <p:nvSpPr>
          <p:cNvPr id="52" name="Text 4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as feminine.</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Arts and heritage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الخَطُّ العَرَبِيُّ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calligraphy</a:t>
            </a:r>
            <a:endParaRPr lang="en-US" sz="1350" dirty="0"/>
          </a:p>
          <a:p>
            <a:pPr indent="0" marL="0">
              <a:buNone/>
            </a:pPr>
            <a:r>
              <a:rPr lang="en-US" sz="1100" i="1" dirty="0">
                <a:solidFill>
                  <a:srgbClr val="5A6472"/>
                </a:solidFill>
                <a:latin typeface="Calibri" pitchFamily="34" charset="0"/>
                <a:cs typeface="Amiri" pitchFamily="2" charset="-78"/>
              </a:rPr>
              <a:t>al-khaṭ-ṭu al-ʿa-ra-biy-yu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زَخْرَفَةٌ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ornamentation, arabesque</a:t>
            </a:r>
            <a:endParaRPr lang="en-US" sz="1350" dirty="0"/>
          </a:p>
          <a:p>
            <a:pPr indent="0" marL="0">
              <a:buNone/>
            </a:pPr>
            <a:r>
              <a:rPr lang="en-US" sz="1100" i="1" dirty="0">
                <a:solidFill>
                  <a:srgbClr val="5A6472"/>
                </a:solidFill>
                <a:latin typeface="Calibri" pitchFamily="34" charset="0"/>
                <a:cs typeface="Amiri" pitchFamily="2" charset="-78"/>
              </a:rPr>
              <a:t>zakh-ra-fa-tun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المَسْرَحُ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theatre</a:t>
            </a:r>
            <a:endParaRPr lang="en-US" sz="1350" dirty="0"/>
          </a:p>
          <a:p>
            <a:pPr indent="0" marL="0">
              <a:buNone/>
            </a:pPr>
            <a:r>
              <a:rPr lang="en-US" sz="1100" i="1" dirty="0">
                <a:solidFill>
                  <a:srgbClr val="5A6472"/>
                </a:solidFill>
                <a:latin typeface="Calibri" pitchFamily="34" charset="0"/>
                <a:cs typeface="Amiri" pitchFamily="2" charset="-78"/>
              </a:rPr>
              <a:t>al-mas-ra-ḥu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مَعْرِضٌ</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exhibition</a:t>
            </a:r>
            <a:endParaRPr lang="en-US" sz="1350" dirty="0"/>
          </a:p>
          <a:p>
            <a:pPr indent="0" marL="0">
              <a:buNone/>
            </a:pPr>
            <a:r>
              <a:rPr lang="en-US" sz="1100" i="1" dirty="0">
                <a:solidFill>
                  <a:srgbClr val="5A6472"/>
                </a:solidFill>
                <a:latin typeface="Calibri" pitchFamily="34" charset="0"/>
                <a:cs typeface="Amiri" pitchFamily="2" charset="-78"/>
              </a:rPr>
              <a:t>maʿ-ri-ḍun</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مَعَارِضُ</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تُرَاثٌ مُوسِيقِيٌّ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musical heritage</a:t>
            </a:r>
            <a:endParaRPr lang="en-US" sz="1350" dirty="0"/>
          </a:p>
          <a:p>
            <a:pPr indent="0" marL="0">
              <a:buNone/>
            </a:pPr>
            <a:r>
              <a:rPr lang="en-US" sz="1100" i="1" dirty="0">
                <a:solidFill>
                  <a:srgbClr val="5A6472"/>
                </a:solidFill>
                <a:latin typeface="Calibri" pitchFamily="34" charset="0"/>
                <a:cs typeface="Amiri" pitchFamily="2" charset="-78"/>
              </a:rPr>
              <a:t>tu-rā-thun mū-sī-qiy-yun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Arts and heritage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 phase</a:t>
            </a:r>
            <a:endParaRPr lang="en-US" sz="1350" dirty="0"/>
          </a:p>
          <a:p>
            <a:pPr indent="0" marL="0">
              <a:buNone/>
            </a:pPr>
            <a:r>
              <a:rPr lang="en-US" sz="1100" i="1" dirty="0">
                <a:solidFill>
                  <a:srgbClr val="5A6472"/>
                </a:solidFill>
                <a:latin typeface="Calibri" pitchFamily="34" charset="0"/>
                <a:cs typeface="Amiri" pitchFamily="2" charset="-78"/>
              </a:rPr>
              <a:t>mar-ḥa-la-tun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لَوْحَةٌ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painting</a:t>
            </a:r>
            <a:endParaRPr lang="en-US" sz="1350" dirty="0"/>
          </a:p>
          <a:p>
            <a:pPr indent="0" marL="0">
              <a:buNone/>
            </a:pPr>
            <a:r>
              <a:rPr lang="en-US" sz="1100" i="1" dirty="0">
                <a:solidFill>
                  <a:srgbClr val="5A6472"/>
                </a:solidFill>
                <a:latin typeface="Calibri" pitchFamily="34" charset="0"/>
                <a:cs typeface="Amiri" pitchFamily="2" charset="-78"/>
              </a:rPr>
              <a:t>law-ḥa-tun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لَوْحَاتٌ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5" name="Shape 32"/>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فَنَّانٌ / فَنَّانَةٌ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artist (m. / f.)</a:t>
            </a:r>
            <a:endParaRPr lang="en-US" sz="1350" dirty="0"/>
          </a:p>
          <a:p>
            <a:pPr indent="0" marL="0">
              <a:buNone/>
            </a:pPr>
            <a:r>
              <a:rPr lang="en-US" sz="1100" i="1" dirty="0">
                <a:solidFill>
                  <a:srgbClr val="5A6472"/>
                </a:solidFill>
                <a:latin typeface="Calibri" pitchFamily="34" charset="0"/>
                <a:cs typeface="Amiri" pitchFamily="2" charset="-78"/>
              </a:rPr>
              <a:t>fan-nā-nun / fan-nā-na-tun</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فَنَّانُونَ / فَنَّانَاتٌ</a:t>
            </a:r>
            <a:endParaRPr lang="ar-SA" sz="150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فَنَّانَةٌ</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جُمْهُورٌ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audience</a:t>
            </a:r>
            <a:endParaRPr lang="en-US" sz="1350" dirty="0"/>
          </a:p>
          <a:p>
            <a:pPr indent="0" marL="0">
              <a:buNone/>
            </a:pPr>
            <a:r>
              <a:rPr lang="en-US" sz="1100" i="1" dirty="0">
                <a:solidFill>
                  <a:srgbClr val="5A6472"/>
                </a:solidFill>
                <a:latin typeface="Calibri" pitchFamily="34" charset="0"/>
                <a:cs typeface="Amiri" pitchFamily="2" charset="-78"/>
              </a:rPr>
              <a:t>jum-hū-run</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Appreciation and influence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عَبَّرَ</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تُعَبِّرُ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3" name="Shape 30"/>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past form.</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عَبَّرَ عَنْ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expressed</a:t>
            </a:r>
            <a:endParaRPr lang="en-US" sz="1350" dirty="0"/>
          </a:p>
          <a:p>
            <a:pPr indent="0" marL="0">
              <a:buNone/>
            </a:pPr>
            <a:r>
              <a:rPr lang="en-US" sz="1100" i="1" dirty="0">
                <a:solidFill>
                  <a:srgbClr val="5A6472"/>
                </a:solidFill>
                <a:latin typeface="Calibri" pitchFamily="34" charset="0"/>
                <a:cs typeface="Amiri" pitchFamily="2" charset="-78"/>
              </a:rPr>
              <a:t>ʿab-ba-ra ʿan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يُؤَثِّرُ فِي</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influences</a:t>
            </a:r>
            <a:endParaRPr lang="en-US" sz="1350" dirty="0"/>
          </a:p>
          <a:p>
            <a:pPr indent="0" marL="0">
              <a:buNone/>
            </a:pPr>
            <a:r>
              <a:rPr lang="en-US" sz="1100" i="1" dirty="0">
                <a:solidFill>
                  <a:srgbClr val="5A6472"/>
                </a:solidFill>
                <a:latin typeface="Calibri" pitchFamily="34" charset="0"/>
                <a:cs typeface="Amiri" pitchFamily="2" charset="-78"/>
              </a:rPr>
              <a:t>yu-ʾath-thi-ru fī</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8" name="Text 4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أَثَّرَ</a:t>
            </a:r>
            <a:endParaRPr lang="ar-SA" sz="135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تُؤَثِّرُ</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أَثَّرَ فِي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influenced</a:t>
            </a:r>
            <a:endParaRPr lang="en-US" sz="1350" dirty="0"/>
          </a:p>
          <a:p>
            <a:pPr indent="0" marL="0">
              <a:buNone/>
            </a:pPr>
            <a:r>
              <a:rPr lang="en-US" sz="1100" i="1" dirty="0">
                <a:solidFill>
                  <a:srgbClr val="5A6472"/>
                </a:solidFill>
                <a:latin typeface="Calibri" pitchFamily="34" charset="0"/>
                <a:cs typeface="Amiri" pitchFamily="2" charset="-78"/>
              </a:rPr>
              <a:t>ath-tha-ra fī</a:t>
            </a:r>
            <a:endParaRPr lang="en-US" sz="135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60" name="Shape 5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2" name="Text 5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يُلْهِمُ</a:t>
            </a:r>
            <a:endParaRPr lang="ar-SA" sz="3000" dirty="0"/>
          </a:p>
        </p:txBody>
      </p:sp>
      <p:sp>
        <p:nvSpPr>
          <p:cNvPr id="63" name="Text 6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inspires</a:t>
            </a:r>
            <a:endParaRPr lang="en-US" sz="1350" dirty="0"/>
          </a:p>
          <a:p>
            <a:pPr indent="0" marL="0">
              <a:buNone/>
            </a:pPr>
            <a:r>
              <a:rPr lang="en-US" sz="1100" i="1" dirty="0">
                <a:solidFill>
                  <a:srgbClr val="5A6472"/>
                </a:solidFill>
                <a:latin typeface="Calibri" pitchFamily="34" charset="0"/>
                <a:cs typeface="Amiri" pitchFamily="2" charset="-78"/>
              </a:rPr>
              <a:t>yul-hi-mu</a:t>
            </a:r>
            <a:endParaRPr lang="en-US" sz="1350" dirty="0"/>
          </a:p>
        </p:txBody>
      </p:sp>
      <p:sp>
        <p:nvSpPr>
          <p:cNvPr id="64" name="Shape 6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6" name="Text 6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أَلْهَمَ</a:t>
            </a:r>
            <a:endParaRPr lang="ar-SA" sz="1350" dirty="0"/>
          </a:p>
        </p:txBody>
      </p:sp>
      <p:sp>
        <p:nvSpPr>
          <p:cNvPr id="67" name="Shape 6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تُلْهِمُ</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Appreciation and influence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أَلْهَمَ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inspired</a:t>
            </a:r>
            <a:endParaRPr lang="en-US" sz="1350" dirty="0"/>
          </a:p>
          <a:p>
            <a:pPr indent="0" marL="0">
              <a:buNone/>
            </a:pPr>
            <a:r>
              <a:rPr lang="en-US" sz="1100" i="1" dirty="0">
                <a:solidFill>
                  <a:srgbClr val="5A6472"/>
                </a:solidFill>
                <a:latin typeface="Calibri" pitchFamily="34" charset="0"/>
                <a:cs typeface="Amiri" pitchFamily="2" charset="-78"/>
              </a:rPr>
              <a:t>al-ha-ma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يَحْتَرِمُ</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a:t>
            </a:r>
            <a:endParaRPr lang="en-US" sz="1350" dirty="0"/>
          </a:p>
          <a:p>
            <a:pPr indent="0" marL="0">
              <a:buNone/>
            </a:pPr>
            <a:r>
              <a:rPr lang="en-US" sz="1100" i="1" dirty="0">
                <a:solidFill>
                  <a:srgbClr val="5A6472"/>
                </a:solidFill>
                <a:latin typeface="Calibri" pitchFamily="34" charset="0"/>
                <a:cs typeface="Amiri" pitchFamily="2" charset="-78"/>
              </a:rPr>
              <a:t>yaḥ-ta-ri-mu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Hedging language: avoid generalising.</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1" name="Shape 38"/>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GRAMMAR FOCUS · PART 1 · THREE VERBS, THREE COMPLEMENTS (WEBSITE RULES 1–3)</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Express, influence, inspire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يُعَبِّرُ · يُؤَثِّرُ · يُلْهِمُ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complement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عَبَّرَ عَنْ</a:t>
            </a:r>
            <a:endParaRPr lang="ar-SA" sz="22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تُعَبِّرُ المُوسِيقَى </a:t>
            </a:r>
            <a:pPr rtl="1" algn="ctr" indent="0" marL="0">
              <a:buNone/>
            </a:pPr>
            <a:r>
              <a:rPr lang="ar-SA" altLang="en-US" sz="1950" b="1" dirty="0">
                <a:solidFill>
                  <a:srgbClr val="0E7C86"/>
                </a:solidFill>
                <a:latin typeface="Amiri" pitchFamily="2" charset="-78"/>
                <a:ea typeface="Amiri" pitchFamily="2" charset="-78"/>
                <a:cs typeface="Amiri" pitchFamily="2" charset="-78"/>
              </a:rPr>
              <a:t>عَنِ</a:t>
            </a:r>
            <a:pPr rtl="1" algn="ctr" indent="0" marL="0">
              <a:buNone/>
            </a:pPr>
            <a:r>
              <a:rPr lang="ar-SA" altLang="en-US" sz="1950" b="1" dirty="0">
                <a:solidFill>
                  <a:srgbClr val="1B3B6F"/>
                </a:solidFill>
                <a:latin typeface="Amiri" pitchFamily="2" charset="-78"/>
                <a:ea typeface="Amiri" pitchFamily="2" charset="-78"/>
                <a:cs typeface="Amiri" pitchFamily="2" charset="-78"/>
              </a:rPr>
              <a:t> المَشَاعِرِ.</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Music expresses feelings.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يُعَبِّرُ </a:t>
            </a:r>
            <a:pPr rtl="1" algn="ctr" indent="0" marL="0">
              <a:buNone/>
            </a:pPr>
            <a:r>
              <a:rPr lang="ar-SA" altLang="en-US" sz="2200" b="1" dirty="0">
                <a:solidFill>
                  <a:srgbClr val="0E7C86"/>
                </a:solidFill>
                <a:latin typeface="Amiri" pitchFamily="2" charset="-78"/>
                <a:ea typeface="Amiri" pitchFamily="2" charset="-78"/>
                <a:cs typeface="Amiri" pitchFamily="2" charset="-78"/>
              </a:rPr>
              <a:t>عَنْ</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أَثَّرَ فِي</a:t>
            </a:r>
            <a:endParaRPr lang="ar-SA" sz="22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أَثَّرَ العُودُ </a:t>
            </a:r>
            <a:pPr rtl="1" algn="ctr" indent="0" marL="0">
              <a:buNone/>
            </a:pPr>
            <a:r>
              <a:rPr lang="ar-SA" altLang="en-US" sz="1950" b="1" dirty="0">
                <a:solidFill>
                  <a:srgbClr val="D6336C"/>
                </a:solidFill>
                <a:latin typeface="Amiri" pitchFamily="2" charset="-78"/>
                <a:ea typeface="Amiri" pitchFamily="2" charset="-78"/>
                <a:cs typeface="Amiri" pitchFamily="2" charset="-78"/>
              </a:rPr>
              <a:t>فِي</a:t>
            </a:r>
            <a:pPr rtl="1" algn="ctr" indent="0" marL="0">
              <a:buNone/>
            </a:pPr>
            <a:r>
              <a:rPr lang="ar-SA" altLang="en-US" sz="1950" b="1" dirty="0">
                <a:solidFill>
                  <a:srgbClr val="1B3B6F"/>
                </a:solidFill>
                <a:latin typeface="Amiri" pitchFamily="2" charset="-78"/>
                <a:ea typeface="Amiri" pitchFamily="2" charset="-78"/>
                <a:cs typeface="Amiri" pitchFamily="2" charset="-78"/>
              </a:rPr>
              <a:t> المُوسِيقَى الأُورُوبِّيَّةِ.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oud influenced European music.</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يُؤَثِّرُ </a:t>
            </a:r>
            <a:pPr rtl="1" algn="ctr" indent="0" marL="0">
              <a:buNone/>
            </a:pPr>
            <a:r>
              <a:rPr lang="ar-SA" altLang="en-US" sz="2200" b="1" dirty="0">
                <a:solidFill>
                  <a:srgbClr val="D6336C"/>
                </a:solidFill>
                <a:latin typeface="Amiri" pitchFamily="2" charset="-78"/>
                <a:ea typeface="Amiri" pitchFamily="2" charset="-78"/>
                <a:cs typeface="Amiri" pitchFamily="2" charset="-78"/>
              </a:rPr>
              <a:t>فِي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أَلْهَمَ</a:t>
            </a:r>
            <a:endParaRPr lang="ar-SA" sz="22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أَلْهَمَ المُوسِيقَارُ </a:t>
            </a:r>
            <a:pPr rtl="1" algn="ctr" indent="0" marL="0">
              <a:buNone/>
            </a:pPr>
            <a:r>
              <a:rPr lang="ar-SA" altLang="en-US" sz="1950" b="1" dirty="0">
                <a:solidFill>
                  <a:srgbClr val="1D5FBF"/>
                </a:solidFill>
                <a:latin typeface="Amiri" pitchFamily="2" charset="-78"/>
                <a:ea typeface="Amiri" pitchFamily="2" charset="-78"/>
                <a:cs typeface="Amiri" pitchFamily="2" charset="-78"/>
              </a:rPr>
              <a:t>جِيلًا</a:t>
            </a:r>
            <a:pPr rtl="1" algn="ctr" indent="0" marL="0">
              <a:buNone/>
            </a:pPr>
            <a:r>
              <a:rPr lang="ar-SA" altLang="en-US" sz="1950" b="1" dirty="0">
                <a:solidFill>
                  <a:srgbClr val="1B3B6F"/>
                </a:solidFill>
                <a:latin typeface="Amiri" pitchFamily="2" charset="-78"/>
                <a:ea typeface="Amiri" pitchFamily="2" charset="-78"/>
                <a:cs typeface="Amiri" pitchFamily="2" charset="-78"/>
              </a:rPr>
              <a:t> كَامِلًا.</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composer inspired a whole generation.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يُلْهِمُ</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أَلْهَمَتْ</a:t>
            </a:r>
            <a:endParaRPr lang="ar-SA" sz="22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تُلْهِمُ الزَّخْرَفَةُ </a:t>
            </a:r>
            <a:pPr rtl="1" algn="ctr" indent="0" marL="0">
              <a:buNone/>
            </a:pPr>
            <a:r>
              <a:rPr lang="ar-SA" altLang="en-US" sz="1950" b="1" dirty="0">
                <a:solidFill>
                  <a:srgbClr val="1D5FBF"/>
                </a:solidFill>
                <a:latin typeface="Amiri" pitchFamily="2" charset="-78"/>
                <a:ea typeface="Amiri" pitchFamily="2" charset="-78"/>
                <a:cs typeface="Amiri" pitchFamily="2" charset="-78"/>
              </a:rPr>
              <a:t>الفَنَّانِينَ</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Arabesque inspires artists.</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يُلْهِمُ</a:t>
            </a:r>
            <a:endParaRPr lang="ar-SA" sz="22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-nī = me</a:t>
            </a:r>
            <a:endParaRPr lang="en-US" sz="1100" dirty="0"/>
          </a:p>
        </p:txBody>
      </p:sp>
      <p:sp>
        <p:nvSpPr>
          <p:cNvPr id="45" name="Text 42"/>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أَلْهَمَتْنِي الزَّخْرَفَةُ حَقًّا.</a:t>
            </a:r>
            <a:endParaRPr lang="ar-SA" sz="1950" dirty="0"/>
          </a:p>
        </p:txBody>
      </p:sp>
      <p:sp>
        <p:nvSpPr>
          <p:cNvPr id="46" name="Text 43"/>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arabesque truly inspired me.</a:t>
            </a:r>
            <a:endParaRPr lang="en-US" sz="950" dirty="0"/>
          </a:p>
        </p:txBody>
      </p:sp>
      <p:sp>
        <p:nvSpPr>
          <p:cNvPr id="47" name="Text 44"/>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أَلْهَمَتْنِي</a:t>
            </a:r>
            <a:endParaRPr lang="ar-SA" sz="22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ʿan and fī the noun is genitive (-i); after yulhimu the object is accusative (-an / -a).</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DESCRIBING CULTURE FAIRLY (WEBSITE RULE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Some, sometimes, not always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لَا تُعَمِّمْ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SOME PLACES · CORE</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البُلْدَانِ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البُلْدَانِ يَتَعَلَّمُ الأَطْفَالُ الخَطَّ مُبَكِّرًا.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children learn calligraphy early.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“all Arabs”.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SOMETIMES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أَحْيَانًا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أَحْيَانًا يَتَعَلَّمُهَا الشَّبَابُ فِي مَرَاكِزَ ثَقَافِيَّةٍ.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Sometimes young people learn them in cultural centres.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Some of the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NOT ALWAYS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لَيْسَ دَائِمًا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لَيْسَ دَائِمًا يُفَضِّلُ الشَّبَابُ التُّرَاثَ، فَالذَّوْقُ شَخْصِيٌّ.</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Young people do not always prefer heritage — taste is personal.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avoid over-generalising about a whole people.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فِي بَعْضِ البُلْدَانِ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Expressing influence and appreciation</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التَّعْبِيرُ عَنِ التَّأْثِيرِ وَالتَّقْدِيرِ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يُعَبِّرُ عَنْ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يُعَبِّرُ عَنْ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تُعَبِّرُ المُوسِيقَى عَنِ المَشَاعِرِ   ·   عَبَّرَ الفَنَّانُ عَنْ رَأْيِهِ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يُؤَثِّرُ فِي</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يُؤَثِّرُ فِي</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أَثَّرَ العُودُ فِي المُوسِيقَى الأُورُوبِّيَّةِ   ·   تُؤَثِّرُ الأُغْنِيَةُ فِي الجُمْهُورِ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يُلْهِمُ</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يُلْهِمُ</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أَلْهَمَ المُوسِيقَارُ جِيلًا كَامِلًا   ·   تُلْهِمُ الزَّخْرَفَةُ الفَنَّانِينَ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Hedged cultural statements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البُلْدَانِ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البُلْدَانِ يَتَعَلَّمُ الأَطْفَالُ العُودَ مُبَكِّرًا   ·   لَيْسَ دَائِمًا يُفَضِّلُ الشَّبَابُ التُّرَاثَ</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تُعَبِّرُ المُوسِيقَى فِي المَشَاعِرِ.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تُعَبِّرُ المُوسِيقَى المَشَاعِرَ.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تُعَبِّرُ المُوسِيقَى عَنِ المَشَاعِرِ.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أَثَّرَ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أَثَّرَ العُودُ فِي المُوسِيقَى العَالَمِيَّةِ.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أَثَّرَ العُودُ عَنِ المُوسِيقَى العَالَمِيَّةِ.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أَثَّرَ العُودُ المُوسِيقَى العَالَمِيَّةَ.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 المُوسِيقَارُ فِي جِيلٍ كَامِلٍ.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 المُوسِيقَارُ جِيلًا كَامِلًا.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 المُوسِيقَارُ عَنْ جِيلٍ كَامِلٍ.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accurately hedged statement.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البُلْدَانِ يَتَعَلَّمُ الأَطْفَالُ العُودَ مُبَكِّرًا.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العَرَبِ يَعْزِفُونَ عَلَى العُودِ.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الأَطْفَالُ العَرَبُ دَائِمًا يَكْرَهُونَ التُّرَاثَ.</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يُعَبِّرُ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تُعَبِّرُ المُوسِيقَى فِي المَشَاعِرِ.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تُعَبِّرُ المُوسِيقَى المَشَاعِرَ.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تُعَبِّرُ المُوسِيقَى عَنِ المَشَاعِرِ.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يُعَبِّرُ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 and the noun after it is genitive.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أَثَّرَ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أَثَّرَ العُودُ فِي المُوسِيقَى العَالَمِيَّةِ.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أَثَّرَ العُودُ عَنِ المُوسِيقَى العَالَمِيَّةِ.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أَثَّرَ العُودُ المُوسِيقَى العَالَمِيَّةَ.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أَلْهَمَ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أَلْهَمَ المُوسِيقَارُ فِي جِيلٍ كَامِلٍ.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أَلْهَمَ المُوسِيقَارُ جِيلًا كَامِلًا.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أَلْهَمَ المُوسِيقَارُ عَنْ جِيلٍ كَامِلٍ.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أَلْهَمَ</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accurately hedged statement.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يَتَعَلَّمُ الأَطْفَالُ العُودَ مُبَكِّرًا.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يَعْزِفُونَ عَلَى العُودِ.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الأَطْفَالُ العَرَبُ دَائِمًا يَكْرَهُونَ التُّرَاثَ.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البُلْدَانِ</a:t>
            </a:r>
            <a:pPr algn="l" indent="0" marL="0">
              <a:buNone/>
            </a:pPr>
            <a:r>
              <a:rPr lang="en-US" sz="1050" i="1" dirty="0">
                <a:solidFill>
                  <a:srgbClr val="8A6D1E"/>
                </a:solidFill>
                <a:latin typeface="Calibri" pitchFamily="34" charset="0"/>
                <a:cs typeface="Amiri" pitchFamily="2" charset="-78"/>
              </a:rPr>
              <a:t> describes some places without turning it into a rule about everyone.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describe a cultural evening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كَانَتِ الفِرْقَةُ صَغِيرَةً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kānat + -atan.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Express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عَبَّرَتِ المُوسِيقَى </a:t>
            </a:r>
            <a:pPr rtl="1" algn="ctr" indent="0" marL="0">
              <a:buNone/>
            </a:pPr>
            <a:r>
              <a:rPr lang="ar-SA" altLang="en-US" sz="2200" b="1" dirty="0">
                <a:solidFill>
                  <a:srgbClr val="0E7C86"/>
                </a:solidFill>
                <a:latin typeface="Amiri" pitchFamily="2" charset="-78"/>
                <a:ea typeface="Amiri" pitchFamily="2" charset="-78"/>
                <a:cs typeface="Amiri" pitchFamily="2" charset="-78"/>
              </a:rPr>
              <a:t>عَنْ</a:t>
            </a:r>
            <a:pPr rtl="1" algn="ctr" indent="0" marL="0">
              <a:buNone/>
            </a:pPr>
            <a:r>
              <a:rPr lang="ar-SA" altLang="en-US" sz="2200" b="1" dirty="0">
                <a:solidFill>
                  <a:srgbClr val="1B3B6F"/>
                </a:solidFill>
                <a:latin typeface="Amiri" pitchFamily="2" charset="-78"/>
                <a:ea typeface="Amiri" pitchFamily="2" charset="-78"/>
                <a:cs typeface="Amiri" pitchFamily="2" charset="-78"/>
              </a:rPr>
              <a:t> مَشَاعِرَ</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ʿabbara + ʿan.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Inspire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أَلْهَمَتْنِي </a:t>
            </a:r>
            <a:pPr rtl="1" algn="ctr" indent="0" marL="0">
              <a:buNone/>
            </a:pPr>
            <a:r>
              <a:rPr lang="ar-SA" altLang="en-US" sz="2800" b="1" dirty="0">
                <a:solidFill>
                  <a:srgbClr val="1D5FBF"/>
                </a:solidFill>
                <a:latin typeface="Amiri" pitchFamily="2" charset="-78"/>
                <a:ea typeface="Amiri" pitchFamily="2" charset="-78"/>
                <a:cs typeface="Amiri" pitchFamily="2" charset="-78"/>
              </a:rPr>
              <a:t>الزَّخْرَفَةُ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preposition.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لَيْسَ دَائِمًا</a:t>
            </a:r>
            <a:pPr rtl="1" algn="ctr" indent="0" marL="0">
              <a:buNone/>
            </a:pPr>
            <a:r>
              <a:rPr lang="ar-SA" altLang="en-US" sz="2200" b="1" dirty="0">
                <a:solidFill>
                  <a:srgbClr val="1B3B6F"/>
                </a:solidFill>
                <a:latin typeface="Amiri" pitchFamily="2" charset="-78"/>
                <a:ea typeface="Amiri" pitchFamily="2" charset="-78"/>
                <a:cs typeface="Amiri" pitchFamily="2" charset="-78"/>
              </a:rPr>
              <a:t>؛ فَالذَّوْقُ شَخْصِيٌّ</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Fair, not general.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الشَّهْرِ المَاضِي حَضَرْتُ حَفْلَةً مُوسِيقِيَّةً فِي المَسْرَحِ. كَانَتِ الفِرْقَةُ صَغِيرَةً. عَبَّرَتِ المُوسِيقَى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مَشَاعِرَ عَمِيقَةٍ، وَأَثَّرَتْ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الجُمْهُورِ كَثِيرًا. وَبَعْدَ الحَفْلَةِ زُرْتُ مَعْرِضًا لِلْخَطِّ العَرَبِيِّ، وَأَلْهَمَتْنِي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الزَّخْرَفَةُ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حَقًّا.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month I attended a concert in the theatre. The ensemble was small. The music expressed deep feelings and greatly affected the audience. After the concert I visited an exhibition of Arabic calligraphy, and the arabesque truly inspired 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تُعَبِّرُ المُوسِيقَى عَنِ المَشَاعِرِ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Music expresses feelings.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عَنْ is fixed with يُعَبِّرُ and takes the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أَثَّرَ العُودُ فِي المُوسِيقَى</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oud influenced music.</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فِي is fixed with يُؤَثِّرُ.</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أَلْهَمَ المُوسِيقَارُ جِيلًا كَامِلًا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composer inspired a whole generation.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يُلْهِمُ takes a direct accusative object.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cs typeface="Amiri" pitchFamily="2" charset="-78"/>
              </a:rPr>
              <a:t>WE DO · PICTURE MATCH · WEBSITE GAME “VISUAL GAME — MUSIC, ARTS AND ARABIC CULTURE”</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art?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الفُنُونُ وَالثَّقَافَةُ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notes</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theatre masks</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المَسْرَحِ.</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أَسْتَمِعُ إِلَى المُوسِيقَى.</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الفَنَّ وَالرَّسْمَ.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الفُنُونُ وَالثَّقَافَةُ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notes</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أَسْتَمِعُ إِلَى المُوسِيقَى.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listen to music.</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الفَنَّ وَالرَّسْمَ.</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love art and drawing.</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theatre masks</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المَسْرَحِ.</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the theatre.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يُعَبِّرُ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عَبَّرَ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تُعَبِّرُ الأُغْنِيَةُ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تُؤَثِّرُ الزَّخْرَفَةُ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أَلْهَمَ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تُلْهِمُ الفِرْقَةُ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يُعَبِّرُ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عَبَّرَ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تُعَبِّرُ الأُغْنِيَةُ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يُؤَثِّرُ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أَثَّرَ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تُؤَثِّرُ الزَّخْرَفَةُ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يُلْهِمُ</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أَلْهَمَ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تُلْهِمُ الفِرْقَةُ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reed flute?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القَانُونُ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ذَهَبْتُ إِلَى ___ مُوسِيقِيَّةٍ فِي المَسْرَحِ.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حَفْلَتَيْنِ مُوسِيقِيَّةً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حَفْلَةٍ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الحَفْلَةِ</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account.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عَزَفَتِ الفِرْقَةُ العُودَ وَالنَّايَ.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عَزَفَتِ الفِرْقَةُ عَلَى العُودِ وَالنَّايِ.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عَزَفَ الفِرْقَةُ عَلَى العُودِ وَالنَّايِ.</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الزَّخْرَفَةُ العَرَبِيُّ جَمِيلٌ.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الزَّخْرَفَةُ العَرَبِيَّةُ جَمِيلُونَ.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الزَّخْرَفَةُ العَرَبِيَّةُ جَمِيلَةٌ.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reed flute?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الدُّفُّ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القَانُونُ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النَّايُ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النَّايُ</a:t>
            </a:r>
            <a:pPr algn="l" indent="0" marL="0">
              <a:buNone/>
            </a:pPr>
            <a:r>
              <a:rPr lang="en-US" sz="1050" i="1" dirty="0">
                <a:solidFill>
                  <a:srgbClr val="8A6D1E"/>
                </a:solidFill>
                <a:latin typeface="Calibri" pitchFamily="34" charset="0"/>
                <a:cs typeface="Amiri" pitchFamily="2" charset="-78"/>
              </a:rPr>
              <a:t> is the reed flute.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ذَهَبْتُ إِلَى ___ مُوسِيقِيَّةٍ فِي المَسْرَحِ.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حَفْلَتَيْنِ مُوسِيقِيَّةً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حَفْلَةٍ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الحَفْلَةِ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takes the genitive, and the adjective agrees.</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account.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عَزَفَتِ الفِرْقَةُ العُودَ وَالنَّايَ.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عَزَفَتِ الفِرْقَةُ عَلَى العُودِ وَالنَّايِ.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عَزَفَ الفِرْقَةُ عَلَى العُودِ وَالنَّايِ.</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فِرْقَة</a:t>
            </a:r>
            <a:pPr algn="l" indent="0" marL="0">
              <a:buNone/>
            </a:pPr>
            <a:r>
              <a:rPr lang="en-US" sz="1050" i="1" dirty="0">
                <a:solidFill>
                  <a:srgbClr val="8A6D1E"/>
                </a:solidFill>
                <a:latin typeface="Calibri" pitchFamily="34" charset="0"/>
                <a:cs typeface="Amiri" pitchFamily="2" charset="-78"/>
              </a:rPr>
              <a:t> is feminine, and </a:t>
            </a:r>
            <a:pPr algn="l" indent="0" marL="0">
              <a:buNone/>
            </a:pPr>
            <a:r>
              <a:rPr lang="ar-SA" altLang="en-US" sz="1350" dirty="0">
                <a:solidFill>
                  <a:srgbClr val="8A6D1E"/>
                </a:solidFill>
                <a:latin typeface="Amiri" pitchFamily="2" charset="-78"/>
                <a:ea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الزَّخْرَفَةُ العَرَبِيُّ جَمِيلٌ.</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الزَّخْرَفَةُ العَرَبِيَّةُ جَمِيلُونَ.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الزَّخْرَفَةُ العَرَبِيَّةُ جَمِيلَةٌ.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زَخْرَفَة</a:t>
            </a:r>
            <a:pPr algn="l" indent="0" marL="0">
              <a:buNone/>
            </a:pPr>
            <a:r>
              <a:rPr lang="en-US" sz="1050" i="1" dirty="0">
                <a:solidFill>
                  <a:srgbClr val="8A6D1E"/>
                </a:solidFill>
                <a:latin typeface="Calibri" pitchFamily="34" charset="0"/>
                <a:cs typeface="Amiri" pitchFamily="2" charset="-78"/>
              </a:rPr>
              <a:t> is feminine, so both adjectives are feminine and nominative.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تُعَبِّرُ المُوسِيقَى فِي المَشَاعِرِ.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yuʿabbiru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أَثَّرَ الفَنَّانُ عَنْ جِيلٍ.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yuʾaththiru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أَلْهَمَ المُوسِيقَارُ فِي الشَّبَابِ.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yulhimu: preposition or none?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تُعَبِّرُ المُوسِيقَى فِي المَشَاعِرِ.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تُعَبِّرُ المُوسِيقَى عَنِ المَشَاعِرِ.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يُعَبِّرُ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أَثَّرَ الفَنَّانُ عَنْ جِيلٍ.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أَثَّرَ الفَنَّانُ فِي جِيلٍ.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يُؤَثِّرُ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أَلْهَمَ المُوسِيقَارُ فِي الشَّبَابِ.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أَلْهَمَ المُوسِيقَارُ الشَّبَابَ.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يُلْهِمُ</a:t>
            </a:r>
            <a:pPr algn="l" indent="0" marL="0">
              <a:buNone/>
            </a:pPr>
            <a:r>
              <a:rPr lang="en-US" sz="1150" b="1" dirty="0">
                <a:solidFill>
                  <a:srgbClr val="1B3B6F"/>
                </a:solidFill>
                <a:latin typeface="Calibri" pitchFamily="34" charset="0"/>
                <a:cs typeface="Amiri" pitchFamily="2" charset="-78"/>
              </a:rPr>
              <a:t> takes a direct object without a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an evening at a heritage concert</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concert?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big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museum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instruments did the ensemble play?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Violin and duff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Rebab and piano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Oud, nay and qanun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music do to the audience?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bored them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confused them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clearly influenced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visit after the concert?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calligraphy exhibition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restaurant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statement?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learns these instruments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Tastes differ from family to family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 learns these instruments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instruments + one exhibition.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الأُسْبُوعِ المَاضِي ذَهَبْتُ مَعَ أُسْرَتِي إِلَى حَفْلَةٍ مُوسِيقِيَّةٍ فِي المَسْرَحِ الكَبِيرِ.</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 I went with my family to a concert in the big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كَانَتِ الفِرْقَةُ صَغِيرَةً، وَعَزَفَتْ عَلَى العُودِ وَالنَّايِ وَالقَانُونِ.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ensemble was small, and it played the oud, the nay and the qanun.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عَبَّرَتِ المُوسِيقَى عَنْ مَشَاعِرَ كَثِيرَةٍ، وَأَثَّرَتْ فِي الجُمْهُورِ تَأْثِيرًا وَاضِحًا.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music expressed many feelings, and it clearly affected the audience.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وَبَعْدَ الحَفْلَةِ زُرْنَا مَعْرِضًا لِلْخَطِّ العَرَبِيِّ، وَأَلْهَمَتْنِي الزَّخْرَفَةُ حَقًّا.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concert we visited a calligraphy exhibition, and the arabesque truly inspired 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بَعْضِ البُلْدَانِ يَتَعَلَّمُ الأَطْفَالُ هٰذِهِ الآلَاتِ مُبَكِّرًا، وَلٰكِنْ لَيْسَ دَائِمًا؛ فَالأَذْوَاقُ تَخْتَلِفُ مِنْ أُسْرَةٍ إِلَى أُسْرَةٍ.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children learn these instruments early, but not always — tastes differ from family to family.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concert?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big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museum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حَفْلَةٍ مُوسِيقِيَّةٍ فِي المَسْرَحِ الكَبِيرِ.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instruments did the ensemble play?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Violin and duff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Rebab and piano</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Oud, nay and qanun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عَزَفَتْ عَلَى العُودِ وَالنَّايِ وَالقَانُونِ.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music do to the audience?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bored them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confused them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clearly influenced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أَثَّرَتْ فِي الجُمْهُورِ تَأْثِيرًا وَاضِحًا.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visit after the concert?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calligraphy exhibition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restaurant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زُرْنَا مَعْرِضًا لِلْخَطِّ العَرَبِيِّ.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statement?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learns these instruments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Tastes differ from family to family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 learns these instruments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 دَائِمًا؛ فَالأَذْوَاقُ تَخْتَلِفُ مِنْ أُسْرَةٍ إِلَى أُسْرَةٍ.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Three instruments + one exhibition.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cultural experience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فَنٍّ يُعْجِبُكَ؟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حَفْلَةً أَوْ مَعْرِضًا زُرْتَهُ. مَاذَا رَأَيْتَ وَسَمِعْتَ؟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الفُنُونَ التُّرَاثِيَّةَ أَمِ الحَدِيثَةَ؟ اِسْتَعْمِلْ أَحْيَانًا وَلَيْسَ دَائِمًا.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يُعْجِبُنِي ___ لِأَنَّهُ يُعَبِّرُ عَنْ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زُرْتُ ___ ، وَأَثَّرَ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2" charset="-78"/>
                <a:ea typeface="Amiri" pitchFamily="2" charset="-78"/>
                <a:cs typeface="Amiri" pitchFamily="2" charset="-78"/>
              </a:rPr>
              <a:t>أَحْيَانًا أُفَضِّلُ ___ ، وَلٰكِنْ لَيْسَ دَائِمًا ؛ فَالذَّوْقُ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 آلَةٍ مُوسِيقِيَّةٍ تُعْجِبُكَ؟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musical instrument do you like?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يُعْجِبُنِي العُودُ لِأَنَّهُ يُعَبِّرُ عَنِ المَشَاعِرِ بِوُضُوحٍ.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like the oud because it expresses feelings clearly.</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instruments and art forms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arts and instruments with accurate agreement + one “I like …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يُعَبِّرُ عَنْ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يُؤَثِّرُ فِي</a:t>
            </a:r>
            <a:pPr algn="l" indent="0" marL="0">
              <a:buNone/>
            </a:pPr>
            <a:r>
              <a:rPr lang="en-US" sz="1400" b="1" dirty="0">
                <a:solidFill>
                  <a:srgbClr val="1F2A37"/>
                </a:solidFill>
                <a:latin typeface="Calibri" pitchFamily="34" charset="0"/>
                <a:cs typeface="Amiri" pitchFamily="2" charset="-78"/>
              </a:rPr>
              <a:t>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cultural visit with عَبَّرَ عَنْ and أَثَّرَ فِي.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t>
            </a:r>
            <a:pPr algn="l" indent="0" marL="0">
              <a:buNone/>
            </a:pPr>
            <a:r>
              <a:rPr lang="ar-SA" altLang="en-US" sz="1800" b="1" dirty="0">
                <a:solidFill>
                  <a:srgbClr val="1F2A37"/>
                </a:solidFill>
                <a:latin typeface="Amiri" pitchFamily="2" charset="-78"/>
                <a:ea typeface="Amiri" pitchFamily="2" charset="-78"/>
                <a:cs typeface="Amiri" pitchFamily="2" charset="-78"/>
              </a:rPr>
              <a:t>يُلْهِمُ</a:t>
            </a:r>
            <a:pPr algn="l" indent="0" marL="0">
              <a:buNone/>
            </a:pPr>
            <a:r>
              <a:rPr lang="en-US" sz="1400" b="1" dirty="0">
                <a:solidFill>
                  <a:srgbClr val="1F2A37"/>
                </a:solidFill>
                <a:latin typeface="Calibri" pitchFamily="34" charset="0"/>
                <a:cs typeface="Amiri" pitchFamily="2" charset="-78"/>
              </a:rPr>
              <a:t> with a direct object and a hedged comparison of heritage and modern taste.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express · influence · inspire + one hedged statement about taste.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 / عَبَّرَتْ عَنْ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expressed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أَثَّرَ / أَثَّرَتْ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influenced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أَلْهَمَنِي / أَلْهَمَتْنِي ______ حَقًّا.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truly inspired me.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البُلْدَانِ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يُعْجِبُنِي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المَاضِي زُرْتُ مَعْرِضًا لِـ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month I visited an exhibition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رَسَمَتِ الفَنَّانَةُ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(female) artist drew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______ جَمِيلًا.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was beautiful.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العُودُ  ·  النَّايُ  ·  الدُّفُّ  ·  النَّشِيدُ  ·  الخَطُّ العَرَبِيُّ  ·  الزَّخْرَفَةُ  ·  مَعْرِضٌ  ·  يُعَبِّرُ عَنْ  ·  يُؤَثِّرُ فِي  ·  يُلْهِمُ  ·  أَحْيَانًا  ·  لَيْسَ دَائِمًا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about eighty words describing a cultural experience: a concert, an exhibition or a performance. Say what it expressed, whom or what it influenced, and add one hedged statement about taste using </a:t>
            </a:r>
            <a:pPr algn="l" indent="0" marL="0">
              <a:buNone/>
            </a:pPr>
            <a:r>
              <a:rPr lang="ar-SA" altLang="en-US" sz="1700" b="1" dirty="0">
                <a:solidFill>
                  <a:srgbClr val="1F2A37"/>
                </a:solidFill>
                <a:latin typeface="Amiri" pitchFamily="2" charset="-78"/>
                <a:ea typeface="Amiri" pitchFamily="2" charset="-78"/>
                <a:cs typeface="Amiri" pitchFamily="2" charset="-78"/>
              </a:rPr>
              <a:t>فِي بَعْضِ البُلْدَانِ، أَحْيَانًا</a:t>
            </a:r>
            <a:pPr algn="l" indent="0" marL="0">
              <a:buNone/>
            </a:pPr>
            <a:r>
              <a:rPr lang="en-US" sz="1300" b="1" dirty="0">
                <a:solidFill>
                  <a:srgbClr val="1F2A37"/>
                </a:solidFill>
                <a:latin typeface="Calibri" pitchFamily="34" charset="0"/>
                <a:cs typeface="Amiri" pitchFamily="2" charset="-78"/>
              </a:rPr>
              <a:t> or </a:t>
            </a:r>
            <a:pPr algn="l" indent="0" marL="0">
              <a:buNone/>
            </a:pPr>
            <a:r>
              <a:rPr lang="ar-SA" altLang="en-US" sz="1700" b="1" dirty="0">
                <a:solidFill>
                  <a:srgbClr val="1F2A37"/>
                </a:solidFill>
                <a:latin typeface="Amiri" pitchFamily="2" charset="-78"/>
                <a:ea typeface="Amiri" pitchFamily="2" charset="-78"/>
                <a:cs typeface="Amiri" pitchFamily="2" charset="-78"/>
              </a:rPr>
              <a:t>لَيْسَ دَائِمًا</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يُعَبِّرُ عَنْ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عَبَّرَ عَنْ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يُؤَثِّرُ فِي</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أَثَّرَ 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with </a:t>
            </a:r>
            <a:pPr algn="l" indent="0" marL="0">
              <a:buNone/>
            </a:pPr>
            <a:r>
              <a:rPr lang="ar-SA" altLang="en-US" sz="1550" dirty="0">
                <a:solidFill>
                  <a:srgbClr val="1F2A37"/>
                </a:solidFill>
                <a:latin typeface="Amiri" pitchFamily="2" charset="-78"/>
                <a:ea typeface="Amiri" pitchFamily="2" charset="-78"/>
                <a:cs typeface="Amiri" pitchFamily="2" charset="-78"/>
              </a:rPr>
              <a:t>يُلْهِمُ</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أَلْهَمَ</a:t>
            </a:r>
            <a:pPr algn="l" indent="0" marL="0">
              <a:buNone/>
            </a:pPr>
            <a:r>
              <a:rPr lang="en-US" sz="1200" dirty="0">
                <a:solidFill>
                  <a:srgbClr val="1F2A37"/>
                </a:solidFill>
                <a:latin typeface="Calibri" pitchFamily="34" charset="0"/>
                <a:cs typeface="Amiri" pitchFamily="2" charset="-78"/>
              </a:rPr>
              <a:t> and a direct object.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hedged cultural statement rather than a generalisation.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عَبَّرَتْ عَنْ مَشَاعِرَ عَمِيقَةٍ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expressed deep feelings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أَثَّرَتْ فِي الجُمْهُورِ كَثِيرًا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greatly affected the audience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تَحْتَاجُ إِلَى صَبْرٍ وَدِقَّةٍ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needs patience and precision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فَالذَّوْقُ شَخْصِيٌّ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taste is personal</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الأَذْوَاقُ تَخْتَلِفُ مِنْ أُسْرَةٍ إِلَى أُسْرَةٍ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tastes differ from family to family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الشَّهْرِ المَاضِي حَضَرْتُ حَفْلَةً مُوسِيقِيَّةً فِي المَسْرَحِ. كَانَتِ الفِرْقَةُ صَغِيرَةً، وَعَزَفَتْ عَلَى العُودِ وَالنَّايِ. عَبَّرَتِ المُوسِيقَى عَنْ مَشَاعِرَ عَمِيقَةٍ، وَأَثَّرَتْ فِي الجُمْهُورِ كَثِيرًا. وَبَعْدَ الحَفْلَةِ زُرْتُ مَعْرِضًا لِلْخَطِّ العَرَبِيِّ، وَأَلْهَمَتْنِي الزَّخْرَفَةُ حَقًّا. فِي بَعْضِ البُلْدَانِ يَتَعَلَّمُ الأَطْفَالُ هٰذِهِ الآلَاتِ مُبَكِّرًا، وَأَحْيَانًا يُفَضِّلُ الشَّبَابُ المُوسِيقَى الحَدِيثَةَ، وَلَيْسَ دَائِمًا؛ فَالذَّوْقُ شَخْصِيٌّ.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month I attended a concert in the theatre. The ensemble was small, and it played the oud and the nay. The music expressed deep feelings and greatly affected the audience. After the concert I visited an exhibition of Arabic calligraphy, and the arabesque truly inspired me. In some countries children learn these instruments early, and sometimes young people prefer modern music — but not always; taste is personal.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عَبَّرَ عَنْ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أَثَّرَ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أَلْهَمَ +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a:t>
            </a:r>
            <a:pPr algn="l" indent="0" marL="0">
              <a:buNone/>
            </a:pPr>
            <a:r>
              <a:rPr lang="ar-SA" altLang="en-US" sz="1700" dirty="0">
                <a:solidFill>
                  <a:srgbClr val="1F2A37"/>
                </a:solidFill>
                <a:latin typeface="Amiri" pitchFamily="2" charset="-78"/>
                <a:ea typeface="Amiri" pitchFamily="2" charset="-78"/>
                <a:cs typeface="Amiri" pitchFamily="2" charset="-78"/>
              </a:rPr>
              <a:t>حَفْلَةٌ مُوسِيقِيَّةٌ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I like and why.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عَنْ</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يُعَبِّرُ</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يُؤَثِّرُ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a past visit with past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أَلْهَمَ</a:t>
            </a:r>
            <a:pPr algn="l" indent="0" marL="0">
              <a:buNone/>
            </a:pPr>
            <a:r>
              <a:rPr lang="en-US" sz="1300" dirty="0">
                <a:solidFill>
                  <a:srgbClr val="1F2A37"/>
                </a:solidFill>
                <a:latin typeface="Calibri" pitchFamily="34" charset="0"/>
                <a:cs typeface="Amiri" pitchFamily="2" charset="-78"/>
              </a:rPr>
              <a:t> + object and a fair, hedged statement.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تُعَبِّرُ اللَّوْحَةُ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فِكْرَةٍ عَمِيقَةٍ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أَثَّرَ الخَطُّ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الفَنِّ الحَدِيثِ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statement that avoids over-generalising.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فِي بَعْضِ البُلْدَانِ يُفَضِّلُ النَّاسُ التُّرَاثَ.</a:t>
            </a:r>
            <a:endParaRPr lang="ar-SA" sz="16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كُلُّ العَرَبِ يُفَضِّلُونَ التُّرَاثَ.</a:t>
            </a:r>
            <a:endParaRPr lang="ar-SA" sz="16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العَرَبُ دَائِمًا يَكْرَهُونَ المُوسِيقَى الحَدِيثَةَ.</a:t>
            </a:r>
            <a:endParaRPr lang="ar-SA" sz="16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تُعَبِّرُ اللَّوْحَةُ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فِكْرَةٍ عَمِيقَةٍ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يُعَبِّرُ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أَثَّرَ الخَطُّ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الفَنِّ الحَدِيثِ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statement that avoids over-generalising.</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البُلْدَانِ يُفَضِّلُ النَّاسُ التُّرَاثَ.</a:t>
            </a:r>
            <a:endParaRPr lang="ar-SA" sz="16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كُلُّ العَرَبِ يُفَضِّلُونَ التُّرَاثَ.</a:t>
            </a:r>
            <a:endParaRPr lang="ar-SA" sz="16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العَرَبُ دَائِمًا يَكْرَهُونَ المُوسِيقَى الحَدِيثَةَ.</a:t>
            </a:r>
            <a:endParaRPr lang="ar-SA" sz="16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بَعْضِ البُلْدَانِ</a:t>
            </a:r>
            <a:pPr algn="l" indent="0" marL="0">
              <a:buNone/>
            </a:pPr>
            <a:r>
              <a:rPr lang="en-US" sz="1050" i="1" dirty="0">
                <a:solidFill>
                  <a:srgbClr val="8A6D1E"/>
                </a:solidFill>
                <a:latin typeface="Calibri" pitchFamily="34" charset="0"/>
                <a:cs typeface="Amiri" pitchFamily="2" charset="-78"/>
              </a:rPr>
              <a:t> reports variation instead of asserting one rule for everyone.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Reading: why heritage music still matters</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تُعَبِّرُ المُوسِيقَى العَرَبِيَّةُ عَنْ تَارِيخٍ طَوِيلٍ وَعَنْ مَشَاعِرَ إِنْسَانِيَّةٍ مُشْتَرَكَةٍ. وَقَدْ أَثَّرَتْ آلَاتٌ مِثْلُ العُودِ فِي مُوسِيقَى مَنَاطِقَ كَثِيرَةٍ خَارِجَ العَالَمِ العَرَبِيِّ. وَفِي كُلِّ مَرْحَلَةٍ ظَهَرَ مُوسِيقَارُونَ أَلْهَمُوا جِيلًا جَدِيدًا. أَمَّا الخَطُّ العَرَبِيُّ فَهُوَ فَنٌّ بَصَرِيٌّ، وَالزَّخْرَفَةُ فِيهِ تَحْتَاجُ إِلَى صَبْرٍ وَدِقَّةٍ. فِي بَعْضِ البُلْدَانِ تُدَرَّسُ هٰذِهِ الفُنُونُ فِي المَدَارِسِ، وَأَحْيَانًا يَتَعَلَّمُهَا الشَّبَابُ فِي مَرَاكِزَ ثَقَافِيَّةٍ. وَلَيْسَ دَائِمًا يُفَضِّلُ الشَّبَابُ التُّرَاثَ عَلَى المُوسِيقَى الحَدِيثَةِ، فَالذَّوْقُ شَخْصِيٌّ.</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تَارِيخٍ طَوِيلٍ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long history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مَشَاعِرَ إِنْسَانِيَّةٍ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human feelings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مُشْتَرَكَةٍ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خَارِجَ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outside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ظَهَرَ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appeared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فَنٌّ بَصَرِيٌّ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visual art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صَبْرٍ وَدِقَّةٍ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patience and precision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تُدَرَّسُ</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taught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مَرَاكِزَ ثَقَافِيَّةٍ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cultural centres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الذَّوْقُ شَخْصِيٌّ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taste is personal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Arabic music express?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modern opinions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history and shared human feelings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religious themes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the oud influenced?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Egyptian music</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outside its region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in many regions beyond the Arab world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calligraphy require?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Patience and precision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tools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studio</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these arts taught?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universities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schools in some countries, and sometimes in cultural centres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 formally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young people's taste?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do not always prefer heritage to modern music</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always prefer heritage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listen to heritage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Arabic music express?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modern opinions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long history and shared human feelings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religious themes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تُعَبِّرُ … عَنْ تَارِيخٍ طَوِيلٍ وَعَنْ مَشَاعِرَ إِنْسَانِيَّةٍ مُشْتَرَكَةٍ.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the oud influenced?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Egyptian music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outside its region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Music in many regions beyond the Arab world</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أَثَّرَتْ آلَاتٌ مِثْلُ العُودِ فِي مُوسِيقَى مَنَاطِقَ كَثِيرَةٍ.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calligraphy require?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Patience and precision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tools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studio</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تَحْتَاجُ إِلَى صَبْرٍ وَدِقَّةٍ.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these arts taught?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universities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schools in some countries, and sometimes in cultural centres</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 formally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البُلْدَانِ تُدَرَّسُ … وَأَحْيَانًا … فِي مَرَاكِزَ ثَقَافِيَّةٍ.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young people's taste?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do not always prefer heritage to modern music</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always prefer heritage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listen to heritage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دَائِمًا يُفَضِّلُ الشَّبَابُ التُّرَاثَ … فَالذَّوْقُ شَخْصِيٌّ.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Culture Mission — Instruments, Influence and Hedged Opinion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frame drum?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القَانُونُ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يُعَبِّرُ الفَنَّانُ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رَأْيِهِ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تُؤَثِّرُ الأُغْنِيَةُ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الجُمْهُورِ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past of </a:t>
            </a:r>
            <a:pPr algn="l" indent="0" marL="0">
              <a:buNone/>
            </a:pPr>
            <a:r>
              <a:rPr lang="ar-SA" altLang="en-US" sz="1650" b="1" dirty="0">
                <a:solidFill>
                  <a:srgbClr val="1B3B6F"/>
                </a:solidFill>
                <a:latin typeface="Amiri" pitchFamily="2" charset="-78"/>
                <a:ea typeface="Amiri" pitchFamily="2" charset="-78"/>
                <a:cs typeface="Amiri" pitchFamily="2" charset="-78"/>
              </a:rPr>
              <a:t>يُلْهِمُ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اِلْتَهَمَ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أَلْهَمَ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“exhibition”?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مَعْرِضٌ</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مَسْرَحٌ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مَرْحَلَةٌ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الفِرْقَةُ المُوسِيقِيَّةُ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رَائِعَةً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frame drum?</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النَّايُ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الدُّفُّ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القَانُونُ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الدُّفُّ</a:t>
            </a:r>
            <a:pPr algn="l" indent="0" marL="0">
              <a:buNone/>
            </a:pPr>
            <a:r>
              <a:rPr lang="en-US" sz="1050" i="1" dirty="0">
                <a:solidFill>
                  <a:srgbClr val="8A6D1E"/>
                </a:solidFill>
                <a:latin typeface="Calibri" pitchFamily="34" charset="0"/>
                <a:cs typeface="Amiri" pitchFamily="2" charset="-78"/>
              </a:rPr>
              <a:t> is the frame drum.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يُعَبِّرُ الفَنَّانُ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رَأْيِهِ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يُعَبِّرُ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تُؤَثِّرُ الأُغْنِيَةُ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الجُمْهُورِ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يُؤَثِّرُ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past of </a:t>
            </a:r>
            <a:pPr algn="l" indent="0" marL="0">
              <a:buNone/>
            </a:pPr>
            <a:r>
              <a:rPr lang="ar-SA" altLang="en-US" sz="1650" b="1" dirty="0">
                <a:solidFill>
                  <a:srgbClr val="1B3B6F"/>
                </a:solidFill>
                <a:latin typeface="Amiri" pitchFamily="2" charset="-78"/>
                <a:ea typeface="Amiri" pitchFamily="2" charset="-78"/>
                <a:cs typeface="Amiri" pitchFamily="2" charset="-78"/>
              </a:rPr>
              <a:t>يُلْهِمُ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اِلْتَهَمَ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أَلْهَمَ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IV past is </a:t>
            </a:r>
            <a:pPr algn="l" indent="0" marL="0">
              <a:buNone/>
            </a:pPr>
            <a:r>
              <a:rPr lang="ar-SA" altLang="en-US" sz="1350" dirty="0">
                <a:solidFill>
                  <a:srgbClr val="8A6D1E"/>
                </a:solidFill>
                <a:latin typeface="Amiri" pitchFamily="2" charset="-78"/>
                <a:ea typeface="Amiri" pitchFamily="2" charset="-78"/>
                <a:cs typeface="Amiri" pitchFamily="2" charset="-78"/>
              </a:rPr>
              <a:t>أَلْهَمَ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“exhibition”?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مَعْرِضٌ</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مَسْرَحٌ</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مَرْحَلَةٌ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مَعْرِضٌ</a:t>
            </a:r>
            <a:pPr algn="l" indent="0" marL="0">
              <a:buNone/>
            </a:pPr>
            <a:r>
              <a:rPr lang="en-US" sz="1050" i="1" dirty="0">
                <a:solidFill>
                  <a:srgbClr val="8A6D1E"/>
                </a:solidFill>
                <a:latin typeface="Calibri" pitchFamily="34" charset="0"/>
                <a:cs typeface="Amiri" pitchFamily="2" charset="-78"/>
              </a:rPr>
              <a:t> is an exhibition.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الفِرْقَةُ المُوسِيقِيَّةُ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رَائِعٌ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رَائِعَةٌ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رَائِعَةً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فِرْقَة</a:t>
            </a:r>
            <a:pPr algn="l" indent="0" marL="0">
              <a:buNone/>
            </a:pPr>
            <a:r>
              <a:rPr lang="en-US" sz="1050" i="1" dirty="0">
                <a:solidFill>
                  <a:srgbClr val="8A6D1E"/>
                </a:solidFill>
                <a:latin typeface="Calibri" pitchFamily="34" charset="0"/>
                <a:cs typeface="Amiri" pitchFamily="2" charset="-78"/>
              </a:rPr>
              <a:t> is feminine and nominative here.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D5-L06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D5-L07 · Holidays and Travel — Past and Future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 إِلَى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travelled to</a:t>
            </a:r>
            <a:pPr indent="0" marL="0">
              <a:buNone/>
            </a:pPr>
            <a:r>
              <a:rPr lang="ar-SA" sz="1000" i="1" dirty="0">
                <a:solidFill>
                  <a:srgbClr val="5A6472"/>
                </a:solidFill>
                <a:latin typeface="Calibri" pitchFamily="34" charset="0"/>
                <a:ea typeface="Amiri" pitchFamily="2" charset="-78"/>
                <a:cs typeface="Amiri" pitchFamily="2" charset="-78"/>
              </a:rPr>
              <a:t>  سَافَرْتُ I travelled</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زَارَ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visited</a:t>
            </a:r>
            <a:pPr indent="0" marL="0">
              <a:buNone/>
            </a:pPr>
            <a:r>
              <a:rPr lang="ar-SA" sz="1000" i="1" dirty="0">
                <a:solidFill>
                  <a:srgbClr val="5A6472"/>
                </a:solidFill>
                <a:latin typeface="Calibri" pitchFamily="34" charset="0"/>
                <a:ea typeface="Amiri" pitchFamily="2" charset="-78"/>
                <a:cs typeface="Amiri" pitchFamily="2" charset="-78"/>
              </a:rPr>
              <a:t>  زُرْتُ I visited</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airport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الفُنْدُقُ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hotel</a:t>
            </a:r>
            <a:pPr indent="0" marL="0">
              <a:buNone/>
            </a:pPr>
            <a:r>
              <a:rPr lang="ar-SA" sz="1000" i="1" dirty="0">
                <a:solidFill>
                  <a:srgbClr val="5A6472"/>
                </a:solidFill>
                <a:latin typeface="Calibri" pitchFamily="34" charset="0"/>
                <a:ea typeface="Amiri" pitchFamily="2" charset="-78"/>
                <a:cs typeface="Amiri" pitchFamily="2" charset="-78"/>
              </a:rPr>
              <a:t>  pl. الفَنَادِقُ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رِحْلَةٌ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trip</a:t>
            </a:r>
            <a:pPr indent="0" marL="0">
              <a:buNone/>
            </a:pPr>
            <a:r>
              <a:rPr lang="ar-SA" sz="1000" i="1" dirty="0">
                <a:solidFill>
                  <a:srgbClr val="5A6472"/>
                </a:solidFill>
                <a:latin typeface="Calibri" pitchFamily="34" charset="0"/>
                <a:ea typeface="Amiri" pitchFamily="2" charset="-78"/>
                <a:cs typeface="Amiri" pitchFamily="2" charset="-78"/>
              </a:rPr>
              <a:t>  pl. رِحْلَاتٌ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did you go on your last holiday or trip? Where would you like to go next?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سَافَرْتُ إِلَى … وَسَأُسَافِرُ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arts words; write five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cultural visit with </a:t>
            </a:r>
            <a:pPr algn="l" indent="0" marL="0">
              <a:buNone/>
            </a:pPr>
            <a:r>
              <a:rPr lang="ar-SA" altLang="en-US" sz="1550" dirty="0">
                <a:solidFill>
                  <a:srgbClr val="1F2A37"/>
                </a:solidFill>
                <a:latin typeface="Amiri" pitchFamily="2" charset="-78"/>
                <a:ea typeface="Amiri" pitchFamily="2" charset="-78"/>
                <a:cs typeface="Amiri" pitchFamily="2" charset="-78"/>
              </a:rPr>
              <a:t>عَبَّرَ عَنْ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أَثَّرَ 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with a hedged statement about taste.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D5-L07 · Holidays and Travel — Past and Future</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الإِجَازَاتُ وَالسَّفَرُ — المَاضِي وَالمُسْتَقْبَلُ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يُعَبِّرُ عَنْ</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يُؤَثِّرُ فِي</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يُلْهِمُ</a:t>
            </a:r>
            <a:pPr algn="l" indent="0" marL="0">
              <a:buNone/>
            </a:pPr>
            <a:r>
              <a:rPr lang="en-US" sz="1300" b="1" dirty="0">
                <a:solidFill>
                  <a:srgbClr val="FFFFFF"/>
                </a:solidFill>
                <a:latin typeface="Calibri" pitchFamily="34" charset="0"/>
                <a:cs typeface="Amiri" pitchFamily="2" charset="-78"/>
              </a:rPr>
              <a:t> + object — and describe culture fairly: some, sometimes, not always.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D5-L06 · Music, Arts and Arabic Culture</dc:title>
  <dc:subject>PptxGenJS Presentation</dc:subject>
  <dc:creator>Al Madina Online School · Arabic Department</dc:creator>
  <cp:lastModifiedBy>Al Madina Online School · Arabic Department</cp:lastModifiedBy>
  <cp:revision>1</cp:revision>
  <dcterms:created xsi:type="dcterms:W3CDTF">2026-10-11T06:41:01Z</dcterms:created>
  <dcterms:modified xsi:type="dcterms:W3CDTF">2026-10-11T06:41:01Z</dcterms:modified>
</cp:coreProperties>
</file>