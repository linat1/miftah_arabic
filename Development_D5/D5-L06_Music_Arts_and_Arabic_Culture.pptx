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D5-L06. The website lesson “Music, Arts and Arabic Culture”: vocabulary, grammar rules and quiz, patterns, common mistakes, sorter, listening, reading, speaking prompts and model, writing task and model, differentiation, final check and the lesson mission. Picture match: website visual game “Music, Arts and Arabic Culture”.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arts words (instruments, calligraphy, exhibition, artist) + “I like … because …”. Develop: يُعَبِّرُ عَنْ and يُؤَثِّرُ فِي with the right prepositions, in present and past. Stretch: يُلْهِمُ + direct object and a hedged statement about taste (website ~80-word task).
• SCHOOL CONTEXT: some families avoid musical instruments. Every task works with the nasheed (النَّشِيدُ), the duff (الدُّفُّ), Arabic calligraphy (الخَطُّ العَرَبِيُّ) or arabesque (الزَّخْرَفَةُ) — let students choose. Hedging language (لَيْسَ دَائِمًا · فِي بَعْضِ البُلْدَانِ) is exactly the respectful way to describe these different views.
• Builds on D5-L01 (يَعْزِفُ عَلَى), D5-L03–L05 (past tense, كَانَ, connectors).
• TEACHER-WRITTEN ITEMS: two quiz items given distractors that do not differ only in vowels, and English added to the patterns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D5-L05. Question 4 retrieves كَانَ + accusative (D5-L05); question 5 retrieves يَعْزِفُ عَلَى (D5-L01).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verb keeps its own preposition: ʿan, fī — or nothing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فن، خطاطی، نشید are shared; تُرَاثٌ shares the root of Urdu ورثہ / میراث (inheritance). CAREFUL: Urdu خط usually means a letter you post; Arabic خَطٌّ = handwriting / calligraphy (a letter is رِسَالَةٌ).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Instruments and ensembles (website vocabulary (1 of 2)). Hear → Say → See → Use. Transliteration is printed for Core students (cover it for Develop/Stretch).
Instruments and ensembles. The duff (frame drum) and the human voice (النَّشِيدُ) are used in nasheeds.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Instruments and ensembles (website vocabulary (2 of 2)). Hear → Say → See → Use. Transliteration is printed for Core students (cover it for Develop/Stretch).
Instruments and ensembles. The duff (frame drum) and the human voice (النَّشِيدُ) are used in nasheeds.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Arts and heritage (website vocabulary (1 of 2)). Hear → Say → See → Use. Transliteration is printed for Core students (cover it for Develop/Stretch).
Arts and heritage: calligraphy and arabesque are central Islamic arts. People show m. / f. / pl.: فَنَّانٌ · فَنَّانَةٌ · فَنَّانُونَ.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Arts and heritage (website vocabulary (2 of 2)). Hear → Say → See → Use. Transliteration is printed for Core students (cover it for Develop/Stretch).
Arts and heritage: calligraphy and arabesque are central Islamic arts. People show m. / f. / pl.: فَنَّانٌ · فَنَّانَةٌ · فَنَّانُونَ.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Appreciation and influence (website vocabulary (1 of 2)). Hear → Say → See → Use. Transliteration is printed for Core students (cover it for Develop/Stretch).
Appreciation and influence: three verbs with three different complements + three hedging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Appreciation and influence (website vocabulary (2 of 2)). Hear → Say → See → Use. Transliteration is printed for Core students (cover it for Develop/Stretch).
Appreciation and influence: three verbs with three different complements + three hedging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“يُعَبِّرُ عَنْ” (Form II with عَنْ + genitive), “يُؤَثِّرُ فِي” (Form II with فِي — lasting influence on a person, style or generation) and “يُلْهِمُ with a direct object” (Form IV, no preposition). Website teaching point: “Each verb keeps its own preposition.”
Website mistakes: تُعَبِّرُ المُوسِيقَى فِي ✗ · أَثَّرَ الفَنَّانُ عَنْ ✗ · أَلْهَمَ المُوسِيقَارُ فِي الشَّبَابِ ✗.
Nasheed alternative: يُعَبِّرُ النَّشِيدُ عَنْ حُبِّ الوَطَنِ · أَلْهَمَنِي الخَطُّ العَرَبِيُّ.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“Hedged cultural statements” and teaching point “Describe variety, not a single rule: musical taste and artistic tradition differ across and within Arabic-speaking countries.”
Link to our values: speaking fairly and accurately about people (avoid generalising) is part of good adab. This is also an exam skill: a balanced, qualified view scores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Form II and Form IV verbs carry this lesson, each with its own complement. Add the past forms and you can describe a cultural experience precisely.”
• يُعَبِّرُ عَنْ: Form II with عَنْ. The thing expressed follows the preposition and is genitive.
• يُؤَثِّرُ فِي: Form II with فِي. Use it for lasting influence on a person, a style or a generation.
• يُلْهِمُ with a direct object: Form IV takes a direct object with no preposition.
• Hedged cultural statements: Qualify a cultural observation so it describes some people or some places rather than everyone.
Website common error: Do not swap the prepositions. عَنْ belongs to يُعَبِّرُ, فِي belongs to يُؤَثِّرُ, and يُلْهِمُ takes no preposition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Alternative model (no instruments): حَضَرْتُ أُمْسِيَةَ أَنَاشِيدَ فِي المَسْجِدِ. عَبَّرَتِ الأَنَاشِيدُ عَنْ حُبِّ النَّبِيِّ ﷺ، وَأَثَّرَتْ فِي الحُضُورِ كَثِيرًا.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Music, Arts and Arabic Culture”)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with today’s verbs: … تُعَبِّرُ عَنِ المَشَاعِرِ · … يُلْهِمُنِي. Other website cards: films, literature and writing, cultural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Music, Arts and Arabic Culture”)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with today’s verbs: … تُعَبِّرُ عَنِ المَشَاعِرِ · … يُلْهِمُنِي. Other website cards: films, literature and writing, cultural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per column about an art YOU like (calligraphy, nasheed, drawing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per column about an art YOU like (calligraphy, nasheed, drawing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note the three verbs with their prepositions.
Listen 1: just listen. Listen 2: note answers. Then chat the letters.
Support: after the second listening, show the read-along slide (Arabic + English, line by line) for Core students.
SCRIPT (read aloud):
فِي الأُسْبُوعِ المَاضِي ذَهَبْتُ مَعَ أُسْرَتِي إِلَى حَفْلَةٍ مُوسِيقِيَّةٍ فِي المَسْرَحِ الكَبِيرِ. كَانَتِ الفِرْقَةُ صَغِيرَةً، وَعَزَفَتْ عَلَى العُودِ وَالنَّايِ وَالقَانُونِ. عَبَّرَتِ المُوسِيقَى عَنْ مَشَاعِرَ كَثِيرَةٍ، وَأَثَّرَتْ فِي الجُمْهُورِ تَأْثِيرًا وَاضِحًا. وَبَعْدَ الحَفْلَةِ زُرْنَا مَعْرِضًا لِلْخَطِّ العَرَبِيِّ، وَأَلْهَمَتْنِي الزَّخْرَفَةُ حَقًّا. فِي بَعْضِ البُلْدَانِ يَتَعَلَّمُ الأَطْفَالُ هٰذِهِ الآلَاتِ مُبَكِّرًا، وَلٰكِنْ لَيْسَ دَائِمًا؛ فَالأَذْوَاقُ تَخْتَلِفُ مِنْ أُسْرَةٍ إِلَى أُسْرَةٍ.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أَثَّرَتْ فِيكَ حَفْلَةٌ مُعَيَّنَةٌ؟ (And did a particular concert affect you?)
B: نَعَمْ، فِي الأُسْبُوعِ المَاضِي حَضَرْتُ حَفْلَةً أَلْهَمَتْنِي حَقًّا، وَلٰكِنْ لَيْسَ دَائِمًا أُفَضِّلُ التُّرَاثَ. (Yes, last week I attended a concert that truly inspired me, but I do not always prefer heritage.)
Website prompts and model, with the first prompt widened to “which art” so every student can answer (calligraphy, nasheed, drawing). To a girl: يُعْجِبُكِ · زُرْتِهِ · رَأَيْتِ · تُفَضِّلِينَ.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instruments and art forms with accurate agreement. · Develop — Add يُعَبِّرُ عَنْ and يُؤَثِّرُ فِي with their correct prepositions. · Stretch — Add يُلْهِمُ with a direct object and a hedged comparison of heritage and modern taste.
Website writing task (Stretch): Write about eighty words describing a cultural experience: a concert, an exhibition or a performance. Say what it expressed, whom or what it influenced, and add one hedged statement about taste using فِي بَعْضِ البُلْدَانِ، أَحْيَانًا or لَيْسَ دَائِمًا.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عَبَّرَتِ المُوسِيقَى عَنْ … · أَثَّرَتْ فِي الجُمْهُورِ · أَلْهَمَتْنِي الزَّخْرَفَةُ · فِي بَعْضِ البُلْدَانِ · أَحْيَانًا · لَيْسَ دَائِمًا. Students who prefer: replace the concert with a calligraphy workshop or a nasheed evening — the grammar is identical.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(D5-L07 · Holidays and Travel — Past and Future) will spend class time USING this language, so students prepare it tonight — short, simple, easy to access (school guidance: “Simple, Short, Interesting, Relevant, Easy to access”). The five words come from the website D5-L07 vocabulary (holidays and travel).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D5  ·  D5-L06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D5-L06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50" b="1" dirty="0">
                <a:solidFill>
                  <a:srgbClr val="FFFFFF"/>
                </a:solidFill>
                <a:latin typeface="Cambria" pitchFamily="34" charset="0"/>
                <a:ea typeface="Cambria" pitchFamily="34" charset="-122"/>
                <a:cs typeface="Cambria" pitchFamily="34" charset="-120"/>
              </a:rPr>
              <a:t>Music, Arts and Arabic Culture</a:t>
            </a:r>
            <a:endParaRPr lang="en-US" sz="35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المُوسِيقَى وَالفُنُونُ وَالثَّقَافَةُ العَرَبِيَّةُ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Talk about Arabic arts — the oud, the nay, calligraphy, arabesque — and what they do: express (</a:t>
            </a:r>
            <a:pPr algn="l" indent="0" marL="0">
              <a:buNone/>
            </a:pPr>
            <a:r>
              <a:rPr lang="ar-SA" altLang="en-US" sz="1800" dirty="0">
                <a:solidFill>
                  <a:srgbClr val="C6D2E6"/>
                </a:solidFill>
                <a:latin typeface="Amiri" pitchFamily="34" charset="0"/>
                <a:ea typeface="Amiri" pitchFamily="34" charset="-122"/>
                <a:cs typeface="Amiri" pitchFamily="34" charset="-120"/>
              </a:rPr>
              <a:t>يُعَبِّرُ عَنْ</a:t>
            </a:r>
            <a:pPr algn="l" indent="0" marL="0">
              <a:buNone/>
            </a:pPr>
            <a:r>
              <a:rPr lang="en-US" sz="1400" dirty="0">
                <a:solidFill>
                  <a:srgbClr val="C6D2E6"/>
                </a:solidFill>
                <a:latin typeface="Calibri" pitchFamily="34" charset="0"/>
                <a:ea typeface="Calibri" pitchFamily="34" charset="-122"/>
                <a:cs typeface="Calibri" pitchFamily="34" charset="-120"/>
              </a:rPr>
              <a:t>), influence (</a:t>
            </a:r>
            <a:pPr algn="l" indent="0" marL="0">
              <a:buNone/>
            </a:pPr>
            <a:r>
              <a:rPr lang="ar-SA" altLang="en-US" sz="1800" dirty="0">
                <a:solidFill>
                  <a:srgbClr val="C6D2E6"/>
                </a:solidFill>
                <a:latin typeface="Amiri" pitchFamily="34" charset="0"/>
                <a:ea typeface="Amiri" pitchFamily="34" charset="-122"/>
                <a:cs typeface="Amiri" pitchFamily="34" charset="-120"/>
              </a:rPr>
              <a:t>يُؤَثِّرُ فِي</a:t>
            </a:r>
            <a:pPr algn="l" indent="0" marL="0">
              <a:buNone/>
            </a:pPr>
            <a:r>
              <a:rPr lang="en-US" sz="1400" dirty="0">
                <a:solidFill>
                  <a:srgbClr val="C6D2E6"/>
                </a:solidFill>
                <a:latin typeface="Calibri" pitchFamily="34" charset="0"/>
                <a:ea typeface="Calibri" pitchFamily="34" charset="-122"/>
                <a:cs typeface="Calibri" pitchFamily="34" charset="-120"/>
              </a:rPr>
              <a:t>), inspire (</a:t>
            </a:r>
            <a:pPr algn="l" indent="0" marL="0">
              <a:buNone/>
            </a:pPr>
            <a:r>
              <a:rPr lang="ar-SA" altLang="en-US" sz="1800" dirty="0">
                <a:solidFill>
                  <a:srgbClr val="C6D2E6"/>
                </a:solidFill>
                <a:latin typeface="Amiri" pitchFamily="34" charset="0"/>
                <a:ea typeface="Amiri" pitchFamily="34" charset="-122"/>
                <a:cs typeface="Amiri" pitchFamily="34" charset="-120"/>
              </a:rPr>
              <a:t>يُلْهِمُ</a:t>
            </a:r>
            <a:pPr algn="l" indent="0" marL="0">
              <a:buNone/>
            </a:pPr>
            <a:r>
              <a:rPr lang="en-US" sz="1400" dirty="0">
                <a:solidFill>
                  <a:srgbClr val="C6D2E6"/>
                </a:solidFill>
                <a:latin typeface="Calibri" pitchFamily="34" charset="0"/>
                <a:ea typeface="Calibri" pitchFamily="34" charset="-122"/>
                <a:cs typeface="Calibri" pitchFamily="34" charset="-120"/>
              </a:rPr>
              <a:t>) — while describing culture fairly (</a:t>
            </a:r>
            <a:pPr algn="l" indent="0" marL="0">
              <a:buNone/>
            </a:pPr>
            <a:r>
              <a:rPr lang="ar-SA" altLang="en-US" sz="1800" dirty="0">
                <a:solidFill>
                  <a:srgbClr val="C6D2E6"/>
                </a:solidFill>
                <a:latin typeface="Amiri" pitchFamily="34" charset="0"/>
                <a:ea typeface="Amiri" pitchFamily="34" charset="-122"/>
                <a:cs typeface="Amiri" pitchFamily="34" charset="-120"/>
              </a:rPr>
              <a:t>فِي بَعْضِ البُلْدَانِ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أَحْيَانًا</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لَيْسَ دَائِمًا</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D5-L06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D5 › D5-L06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Express, influence, inspire — and say it fairly.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verbs by preposition, fix slips, then an evening of heritage.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D5-L07.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الخَطُّ العَرَبِيُّ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music</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calligraphy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poetry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فَنَّانَةٌ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(female) artist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exhibition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يُعَبِّرُ عَنْ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influences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inspires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expresses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الحَفْلَةُ رَائِعَةٌ.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الحَفْلَةُ رَائِعٌ.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الحَفْلَةُ رَائِعَةً.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أَعْزِفُ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العُودِ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الخَطُّ العَرَبِيُّ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music</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 calligraphy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poetry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فَنَّانَةٌ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(female) artist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exhibition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يُعَبِّرُ عَنْ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influences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inspires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expresses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الحَفْلَةُ رَائِعَةٌ.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الحَفْلَةُ رَائِعٌ.</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الحَفْلَةُ رَائِعَةً.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D5-L05: kāna + -an.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أَعْزِفُ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العُودِ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D5-L01.</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Each verb keeps its own preposition: ʿan, fī — or nothing at all.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يُعَبِّرُ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عَنْ</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 يُؤَثِّرُ </a:t>
            </a:r>
            <a:pPr rtl="1" algn="ctr" indent="0" marL="0">
              <a:lnSpc>
                <a:spcPct val="120000"/>
              </a:lnSpc>
              <a:buNone/>
            </a:pPr>
            <a:r>
              <a:rPr lang="ar-SA" altLang="en-US" sz="2000" b="1" dirty="0">
                <a:solidFill>
                  <a:srgbClr val="D6336C"/>
                </a:solidFill>
                <a:latin typeface="Amiri" pitchFamily="34" charset="0"/>
                <a:ea typeface="Amiri" pitchFamily="34" charset="-122"/>
                <a:cs typeface="Amiri" pitchFamily="34" charset="-120"/>
              </a:rPr>
              <a:t>فِي</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 يُلْهِمُ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الجُمْهُورَ</a:t>
            </a:r>
            <a:endParaRPr lang="ar-SA" sz="20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Arabic instruments and art forms with accurate agreement.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يُعَبِّرُ عَنْ</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يُؤَثِّرُ فِي</a:t>
            </a:r>
            <a:pPr algn="l" indent="0" marL="0">
              <a:buNone/>
            </a:pPr>
            <a:r>
              <a:rPr lang="en-US" sz="1300" dirty="0">
                <a:solidFill>
                  <a:srgbClr val="1F2A37"/>
                </a:solidFill>
                <a:latin typeface="Calibri" pitchFamily="34" charset="0"/>
                <a:ea typeface="Calibri" pitchFamily="34" charset="-122"/>
                <a:cs typeface="Calibri" pitchFamily="34" charset="-120"/>
              </a:rPr>
              <a:t> with their fixed prepositions.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يُلْهِمُ / أَلْهَمَ</a:t>
            </a:r>
            <a:pPr algn="l" indent="0" marL="0">
              <a:buNone/>
            </a:pPr>
            <a:r>
              <a:rPr lang="en-US" sz="1300" dirty="0">
                <a:solidFill>
                  <a:srgbClr val="1F2A37"/>
                </a:solidFill>
                <a:latin typeface="Calibri" pitchFamily="34" charset="0"/>
                <a:ea typeface="Calibri" pitchFamily="34" charset="-122"/>
                <a:cs typeface="Calibri" pitchFamily="34" charset="-120"/>
              </a:rPr>
              <a:t> with a direct object.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culture fairly with hedging (</a:t>
            </a:r>
            <a:pPr algn="l" indent="0" marL="0">
              <a:buNone/>
            </a:pPr>
            <a:r>
              <a:rPr lang="ar-SA" altLang="en-US" sz="1700" dirty="0">
                <a:solidFill>
                  <a:srgbClr val="1F2A37"/>
                </a:solidFill>
                <a:latin typeface="Amiri" pitchFamily="34" charset="0"/>
                <a:ea typeface="Amiri" pitchFamily="34" charset="-122"/>
                <a:cs typeface="Amiri" pitchFamily="34" charset="-120"/>
              </a:rPr>
              <a:t>فِي بَعْضِ البُلْدَانِ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أَحْيَانًا</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لَيْسَ دَائِمًا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arts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which art I like and why.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يُعَبِّرُ عَنْ</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يُؤَثِّرُ فِي</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a past cultural visit.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t>
            </a:r>
            <a:pPr algn="l" indent="0" marL="0">
              <a:buNone/>
            </a:pPr>
            <a:r>
              <a:rPr lang="ar-SA" altLang="en-US" sz="1700" b="1" dirty="0">
                <a:solidFill>
                  <a:srgbClr val="B83227"/>
                </a:solidFill>
                <a:latin typeface="Amiri" pitchFamily="34" charset="0"/>
                <a:ea typeface="Amiri" pitchFamily="34" charset="-122"/>
                <a:cs typeface="Amiri" pitchFamily="34" charset="-120"/>
              </a:rPr>
              <a:t>أَلْهَمَ</a:t>
            </a:r>
            <a:pPr algn="l" indent="0" marL="0">
              <a:buNone/>
            </a:pPr>
            <a:r>
              <a:rPr lang="en-US" sz="1300" b="1" dirty="0">
                <a:solidFill>
                  <a:srgbClr val="B83227"/>
                </a:solidFill>
                <a:latin typeface="Calibri" pitchFamily="34" charset="0"/>
                <a:ea typeface="Calibri" pitchFamily="34" charset="-122"/>
                <a:cs typeface="Calibri" pitchFamily="34" charset="-120"/>
              </a:rPr>
              <a:t> + object.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make a fair, hedged statement about taste.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Instruments and ensembles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Arts and heritage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Appreciation and influence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فَنٌّ / فَنَّانٌ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‎فن / فنکار‎ </a:t>
            </a:r>
            <a:pPr indent="0" marL="0">
              <a:buNone/>
            </a:pPr>
            <a:r>
              <a:rPr lang="en-US" sz="950" b="1" dirty="0">
                <a:solidFill>
                  <a:srgbClr val="2E8B57"/>
                </a:solidFill>
                <a:latin typeface="Calibri" pitchFamily="34" charset="0"/>
                <a:ea typeface="Calibri" pitchFamily="34" charset="-122"/>
                <a:cs typeface="Calibri" pitchFamily="34" charset="-120"/>
              </a:rPr>
              <a:t> fan / fankār · art / artist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 / خطاطی‎ </a:t>
            </a:r>
            <a:pPr indent="0" marL="0">
              <a:buNone/>
            </a:pPr>
            <a:r>
              <a:rPr lang="en-US" sz="950" b="1" dirty="0">
                <a:solidFill>
                  <a:srgbClr val="2E8B57"/>
                </a:solidFill>
                <a:latin typeface="Calibri" pitchFamily="34" charset="0"/>
                <a:ea typeface="Calibri" pitchFamily="34" charset="-122"/>
                <a:cs typeface="Calibri" pitchFamily="34" charset="-120"/>
              </a:rPr>
              <a:t> khaṭṭāṭī · Urdu خط: letter · Arabic خَطٌّ: calligraphy, line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تُرَاثٌ</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‎ورثہ / میراث‎ </a:t>
            </a:r>
            <a:pPr indent="0" marL="0">
              <a:buNone/>
            </a:pPr>
            <a:r>
              <a:rPr lang="en-US" sz="950" b="1" dirty="0">
                <a:solidFill>
                  <a:srgbClr val="2E8B57"/>
                </a:solidFill>
                <a:latin typeface="Calibri" pitchFamily="34" charset="0"/>
                <a:ea typeface="Calibri" pitchFamily="34" charset="-122"/>
                <a:cs typeface="Calibri" pitchFamily="34" charset="-120"/>
              </a:rPr>
              <a:t> mīrās · heritage (same root w-r-th)</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مَعْرِضٌ</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‎نمائش‎ </a:t>
            </a:r>
            <a:pPr indent="0" marL="0">
              <a:buNone/>
            </a:pPr>
            <a:r>
              <a:rPr lang="en-US" sz="950" b="1" dirty="0">
                <a:solidFill>
                  <a:srgbClr val="2E8B57"/>
                </a:solidFill>
                <a:latin typeface="Calibri" pitchFamily="34" charset="0"/>
                <a:ea typeface="Calibri" pitchFamily="34" charset="-122"/>
                <a:cs typeface="Calibri" pitchFamily="34" charset="-120"/>
              </a:rPr>
              <a:t> numāʾish · exhibition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نَشِيدٌ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‎نشید / نعت‎ </a:t>
            </a:r>
            <a:pPr indent="0" marL="0">
              <a:buNone/>
            </a:pPr>
            <a:r>
              <a:rPr lang="en-US" sz="950" b="1" dirty="0">
                <a:solidFill>
                  <a:srgbClr val="2E8B57"/>
                </a:solidFill>
                <a:latin typeface="Calibri" pitchFamily="34" charset="0"/>
                <a:ea typeface="Calibri" pitchFamily="34" charset="-122"/>
                <a:cs typeface="Calibri" pitchFamily="34" charset="-120"/>
              </a:rPr>
              <a:t> nashīd · nasheed, song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Instruments and ensembles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العُودُ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oud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al-ʿū-du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short-necked lute, central to Arabic music.</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الرَّبَابَةُ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rebab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ar-ra-bā-ba-tu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bowed string instrument.</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frame drum.</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الدُّفُّ</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duff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ad-duf-fu</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1" name="Shape 38"/>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reed flute.</a:t>
            </a:r>
            <a:endParaRPr lang="en-US" sz="8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النَّايُ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nay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an-nā-yu</a:t>
            </a:r>
            <a:endParaRPr lang="en-US" sz="135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plucked zither.</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القَانُونُ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qanun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al-qā-nū-nu</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Instruments and ensembles (2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الكَمَانُ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violin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al-ka-mā-nu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فِرْقَةٌ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ensemble, group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fir-qa-tun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فِرَقٌ</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Shape 32"/>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مُوسِيقَارٌ</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musician, composer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mū-sī-qā-run</a:t>
            </a:r>
            <a:endParaRPr lang="en-US" sz="1350" dirty="0"/>
          </a:p>
        </p:txBody>
      </p:sp>
      <p:sp>
        <p:nvSpPr>
          <p:cNvPr id="39" name="Shape 36"/>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مُوسِيقَارُونَ</a:t>
            </a:r>
            <a:endParaRPr lang="ar-SA" sz="1500" dirty="0"/>
          </a:p>
        </p:txBody>
      </p:sp>
      <p:sp>
        <p:nvSpPr>
          <p:cNvPr id="42" name="Shape 39"/>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4" name="Text 41"/>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مُوسِيقَارَةٌ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حَفْلَةٌ مُوسِيقِيَّةٌ</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concert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ḥaf-la-tun mū-sī-qiy-ya-tun</a:t>
            </a:r>
            <a:endParaRPr lang="en-US" sz="1350" dirty="0"/>
          </a:p>
        </p:txBody>
      </p:sp>
      <p:sp>
        <p:nvSpPr>
          <p:cNvPr id="52" name="Text 4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adjective agrees as feminine.</a:t>
            </a:r>
            <a:endParaRPr lang="en-US" sz="10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Arts and heritage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الخَطُّ العَرَبِيُّ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Arabic calligraphy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al-khaṭ-ṭu al-ʿa-ra-biy-yu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5" name="Shape 22"/>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زَخْرَفَةٌ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ornamentation, arabesque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zakh-ra-fa-tun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المَسْرَحُ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theatre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al-mas-ra-ḥu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مَعْرِضٌ</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exhibition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maʿ-ri-ḍun</a:t>
            </a:r>
            <a:endParaRPr lang="en-US" sz="1350" dirty="0"/>
          </a:p>
        </p:txBody>
      </p:sp>
      <p:sp>
        <p:nvSpPr>
          <p:cNvPr id="45" name="Shape 4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مَعَارِضُ</a:t>
            </a:r>
            <a:endParaRPr lang="ar-SA" sz="150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1" name="Shape 48"/>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تُرَاثٌ مُوسِيقِيٌّ</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musical heritage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tu-rā-thun mū-sī-qiy-yun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Arts and heritage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era, phase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mar-ḥa-la-tun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لَوْحَةٌ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painting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law-ḥa-tun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لَوْحَاتٌ</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5" name="Shape 32"/>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فَنَّانٌ / فَنَّانَةٌ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artist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fan-nā-nun / fan-nā-na-tun</a:t>
            </a:r>
            <a:endParaRPr lang="en-US" sz="1350" dirty="0"/>
          </a:p>
        </p:txBody>
      </p:sp>
      <p:sp>
        <p:nvSpPr>
          <p:cNvPr id="41" name="Shape 3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فَنَّانُونَ / فَنَّانَاتٌ</a:t>
            </a:r>
            <a:endParaRPr lang="ar-SA" sz="1500" dirty="0"/>
          </a:p>
        </p:txBody>
      </p:sp>
      <p:sp>
        <p:nvSpPr>
          <p:cNvPr id="44" name="Shape 4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6" name="Text 4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فَنَّانَةٌ</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جُمْهُورٌ</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audience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jum-hū-run</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Appreciation and influence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يُعَبِّرُ عَنْ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expresses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yu-ʿab-bi-ru ʿan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عَبَّرَ</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تُعَبِّرُ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3" name="Shape 30"/>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The past form.</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عَبَّرَ عَنْ</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ʿab-ba-ra ʿan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0" name="Shape 3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يُؤَثِّرُ فِي</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influences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yu-ʾath-thi-ru fī</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48" name="Text 45"/>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أَثَّرَ</a:t>
            </a:r>
            <a:endParaRPr lang="ar-SA" sz="135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1" name="Text 4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تُؤَثِّرُ</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أَثَّرَ فِي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influenced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ath-tha-ra fī</a:t>
            </a:r>
            <a:endParaRPr lang="en-US" sz="135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60" name="Shape 5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62" name="Text 5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يُلْهِمُ</a:t>
            </a:r>
            <a:endParaRPr lang="ar-SA" sz="3000" dirty="0"/>
          </a:p>
        </p:txBody>
      </p:sp>
      <p:sp>
        <p:nvSpPr>
          <p:cNvPr id="63" name="Text 6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inspires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yul-hi-mu</a:t>
            </a:r>
            <a:endParaRPr lang="en-US" sz="1350" dirty="0"/>
          </a:p>
        </p:txBody>
      </p:sp>
      <p:sp>
        <p:nvSpPr>
          <p:cNvPr id="64" name="Shape 6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66" name="Text 6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أَلْهَمَ</a:t>
            </a:r>
            <a:endParaRPr lang="ar-SA" sz="1350" dirty="0"/>
          </a:p>
        </p:txBody>
      </p:sp>
      <p:sp>
        <p:nvSpPr>
          <p:cNvPr id="67" name="Shape 6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9" name="Text 6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تُلْهِمُ</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Appreciation and influence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أَلْهَمَ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inspired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al-ha-ma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يَحْتَرِمُ</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yaḥ-ta-ri-mu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البُلْدَانِ</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countries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al-bul-dā-ni</a:t>
            </a:r>
            <a:endParaRPr lang="en-US" sz="1350" dirty="0"/>
          </a:p>
        </p:txBody>
      </p:sp>
      <p:sp>
        <p:nvSpPr>
          <p:cNvPr id="30" name="Text 2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Hedging language: avoid generalising.</a:t>
            </a:r>
            <a:endParaRPr lang="en-US" sz="100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Hedging language.</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38" name="Shape 3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389120"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41" name="Shape 38"/>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Hedging language.</a:t>
            </a:r>
            <a:endParaRPr lang="en-US" sz="800" dirty="0"/>
          </a:p>
        </p:txBody>
      </p:sp>
      <p:sp>
        <p:nvSpPr>
          <p:cNvPr id="43" name="Text 4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لَيْسَ دَائِمًا</a:t>
            </a:r>
            <a:endParaRPr lang="ar-SA" sz="3000" dirty="0"/>
          </a:p>
        </p:txBody>
      </p:sp>
      <p:sp>
        <p:nvSpPr>
          <p:cNvPr id="44" name="Text 4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 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lay-sa 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GRAMMAR FOCUS · PART 1 · THREE VERBS, THREE COMPLEMENTS (WEBSITE RULES 1–3)</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Express, influence, inspire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يُعَبِّرُ · يُؤَثِّرُ · يُلْهِمُ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complement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26880" y="2267712"/>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عَبَّرَ عَنْ</a:t>
            </a:r>
            <a:endParaRPr lang="ar-SA" sz="22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تُعَبِّرُ المُوسِيقَى </a:t>
            </a:r>
            <a:pPr rtl="1" algn="ctr" indent="0" marL="0">
              <a:buNone/>
            </a:pPr>
            <a:r>
              <a:rPr lang="ar-SA" altLang="en-US" sz="1950" b="1" dirty="0">
                <a:solidFill>
                  <a:srgbClr val="0E7C86"/>
                </a:solidFill>
                <a:latin typeface="Amiri" pitchFamily="34" charset="0"/>
                <a:ea typeface="Amiri" pitchFamily="34" charset="-122"/>
                <a:cs typeface="Amiri" pitchFamily="34" charset="-120"/>
              </a:rPr>
              <a:t>عَنِ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المَشَاعِرِ.</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Music expresses feelings.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يُعَبِّرُ </a:t>
            </a:r>
            <a:pPr rtl="1" algn="ctr" indent="0" marL="0">
              <a:buNone/>
            </a:pPr>
            <a:r>
              <a:rPr lang="ar-SA" altLang="en-US" sz="2200" b="1" dirty="0">
                <a:solidFill>
                  <a:srgbClr val="0E7C86"/>
                </a:solidFill>
                <a:latin typeface="Amiri" pitchFamily="34" charset="0"/>
                <a:ea typeface="Amiri" pitchFamily="34" charset="-122"/>
                <a:cs typeface="Amiri" pitchFamily="34" charset="-120"/>
              </a:rPr>
              <a:t>عَنْ</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26880" y="300471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أَثَّرَ فِي</a:t>
            </a:r>
            <a:endParaRPr lang="ar-SA" sz="22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أَثَّرَ العُودُ </a:t>
            </a:r>
            <a:pPr rtl="1" algn="ctr" indent="0" marL="0">
              <a:buNone/>
            </a:pPr>
            <a:r>
              <a:rPr lang="ar-SA" altLang="en-US" sz="1950" b="1" dirty="0">
                <a:solidFill>
                  <a:srgbClr val="D6336C"/>
                </a:solidFill>
                <a:latin typeface="Amiri" pitchFamily="34" charset="0"/>
                <a:ea typeface="Amiri" pitchFamily="34" charset="-122"/>
                <a:cs typeface="Amiri" pitchFamily="34" charset="-120"/>
              </a:rPr>
              <a:t>فِي</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المُوسِيقَى الأُورُوبِّيَّةِ.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oud influenced European music.</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يُؤَثِّرُ </a:t>
            </a:r>
            <a:pPr rtl="1" algn="ctr" indent="0" marL="0">
              <a:buNone/>
            </a:pPr>
            <a:r>
              <a:rPr lang="ar-SA" altLang="en-US" sz="2200" b="1" dirty="0">
                <a:solidFill>
                  <a:srgbClr val="D6336C"/>
                </a:solidFill>
                <a:latin typeface="Amiri" pitchFamily="34" charset="0"/>
                <a:ea typeface="Amiri" pitchFamily="34" charset="-122"/>
                <a:cs typeface="Amiri" pitchFamily="34" charset="-120"/>
              </a:rPr>
              <a:t>فِي</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26880" y="3741725"/>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أَلْهَمَ</a:t>
            </a:r>
            <a:endParaRPr lang="ar-SA" sz="22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أَلْهَمَ المُوسِيقَارُ </a:t>
            </a:r>
            <a:pPr rtl="1" algn="ctr" indent="0" marL="0">
              <a:buNone/>
            </a:pPr>
            <a:r>
              <a:rPr lang="ar-SA" altLang="en-US" sz="1950" b="1" dirty="0">
                <a:solidFill>
                  <a:srgbClr val="1D5FBF"/>
                </a:solidFill>
                <a:latin typeface="Amiri" pitchFamily="34" charset="0"/>
                <a:ea typeface="Amiri" pitchFamily="34" charset="-122"/>
                <a:cs typeface="Amiri" pitchFamily="34" charset="-120"/>
              </a:rPr>
              <a:t>جِيلًا</a:t>
            </a:r>
            <a:pPr rtl="1" algn="ctr" indent="0" marL="0">
              <a:buNone/>
            </a:pPr>
            <a:r>
              <a:rPr lang="ar-SA" altLang="en-US" sz="1950" b="1" dirty="0">
                <a:solidFill>
                  <a:srgbClr val="1B3B6F"/>
                </a:solidFill>
                <a:latin typeface="Amiri" pitchFamily="34" charset="0"/>
                <a:ea typeface="Amiri" pitchFamily="34" charset="-122"/>
                <a:cs typeface="Amiri" pitchFamily="34" charset="-120"/>
              </a:rPr>
              <a:t> كَامِلًا.</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composer inspired a whole generation.</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يُلْهِمُ</a:t>
            </a:r>
            <a:endParaRPr lang="ar-SA" sz="22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26880" y="4478731"/>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أَلْهَمَتْ</a:t>
            </a:r>
            <a:endParaRPr lang="ar-SA" sz="2200" dirty="0"/>
          </a:p>
        </p:txBody>
      </p:sp>
      <p:sp>
        <p:nvSpPr>
          <p:cNvPr id="40" name="Text 37"/>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تُلْهِمُ الزَّخْرَفَةُ </a:t>
            </a:r>
            <a:pPr rtl="1" algn="ctr" indent="0" marL="0">
              <a:buNone/>
            </a:pPr>
            <a:r>
              <a:rPr lang="ar-SA" altLang="en-US" sz="1950" b="1" dirty="0">
                <a:solidFill>
                  <a:srgbClr val="1D5FBF"/>
                </a:solidFill>
                <a:latin typeface="Amiri" pitchFamily="34" charset="0"/>
                <a:ea typeface="Amiri" pitchFamily="34" charset="-122"/>
                <a:cs typeface="Amiri" pitchFamily="34" charset="-120"/>
              </a:rPr>
              <a:t>الفَنَّانِينَ</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41" name="Text 38"/>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Arabesque inspires artists.</a:t>
            </a:r>
            <a:endParaRPr lang="en-US" sz="950" dirty="0"/>
          </a:p>
        </p:txBody>
      </p:sp>
      <p:sp>
        <p:nvSpPr>
          <p:cNvPr id="42" name="Text 39"/>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يُلْهِمُ</a:t>
            </a:r>
            <a:endParaRPr lang="ar-SA" sz="22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-nī = me</a:t>
            </a:r>
            <a:endParaRPr lang="en-US" sz="1100" dirty="0"/>
          </a:p>
        </p:txBody>
      </p:sp>
      <p:sp>
        <p:nvSpPr>
          <p:cNvPr id="45" name="Text 42"/>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أَلْهَمَتْنِي الزَّخْرَفَةُ حَقًّا.</a:t>
            </a:r>
            <a:endParaRPr lang="ar-SA" sz="1950" dirty="0"/>
          </a:p>
        </p:txBody>
      </p:sp>
      <p:sp>
        <p:nvSpPr>
          <p:cNvPr id="46" name="Text 43"/>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arabesque truly inspired me.</a:t>
            </a:r>
            <a:endParaRPr lang="en-US" sz="950" dirty="0"/>
          </a:p>
        </p:txBody>
      </p:sp>
      <p:sp>
        <p:nvSpPr>
          <p:cNvPr id="47" name="Text 44"/>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أَلْهَمَتْنِي</a:t>
            </a:r>
            <a:endParaRPr lang="ar-SA" sz="2200" dirty="0"/>
          </a:p>
        </p:txBody>
      </p:sp>
      <p:sp>
        <p:nvSpPr>
          <p:cNvPr id="48" name="Shape 45"/>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ʿan and fī the noun is genitive (-i); after yulhimu the object is accusative (-an / -a).</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DESCRIBING CULTURE FAIRLY (WEBSITE RULE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Some, sometimes, not always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لَا تُعَمِّمْ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SOME PLACES · CORE</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بَعْضِ البُلْدَانِ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بَعْضِ البُلْدَانِ يَتَعَلَّمُ الأَطْفَالُ الخَطَّ مُبَكِّرًا.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some countries children learn calligraphy early.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“all Arabs”.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SOMETIMES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أَحْيَانًا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أَحْيَانًا يَتَعَلَّمُهَا الشَّبَابُ فِي مَرَاكِزَ ثَقَافِيَّةٍ.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Sometimes young people learn them in cultural centres.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Some of the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NOT ALWAYS · STRETCH</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لَيْسَ دَائِمًا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لَيْسَ دَائِمًا يُفَضِّلُ الشَّبَابُ التُّرَاثَ، فَالذَّوْقُ شَخْصِيٌّ.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Young people do not always prefer heritage — taste is personal.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Hedge + reason.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quiz: avoid over-generalising about a whole people.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فِي بَعْضِ البُلْدَانِ</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كُلُّ العَرَبِ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Expressing influence and appreciation</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التَّعْبِيرُ عَنِ التَّأْثِيرِ وَالتَّقْدِيرِ</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
            </a:r>
            <a:pPr algn="l" indent="0" marL="0">
              <a:buNone/>
            </a:pPr>
            <a:r>
              <a:rPr lang="ar-SA" altLang="en-US" sz="1650" b="1" dirty="0">
                <a:solidFill>
                  <a:srgbClr val="1B3B6F"/>
                </a:solidFill>
                <a:latin typeface="Amiri" pitchFamily="34" charset="0"/>
                <a:ea typeface="Amiri" pitchFamily="34" charset="-122"/>
                <a:cs typeface="Amiri" pitchFamily="34" charset="-120"/>
              </a:rPr>
              <a:t>يُعَبِّرُ عَنْ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يُعَبِّرُ عَنْ</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تُعَبِّرُ المُوسِيقَى عَنِ المَشَاعِرِ   ·   عَبَّرَ الفَنَّانُ عَنْ رَأْيِهِ</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
            </a:r>
            <a:pPr algn="l" indent="0" marL="0">
              <a:buNone/>
            </a:pPr>
            <a:r>
              <a:rPr lang="ar-SA" altLang="en-US" sz="1650" b="1" dirty="0">
                <a:solidFill>
                  <a:srgbClr val="1B3B6F"/>
                </a:solidFill>
                <a:latin typeface="Amiri" pitchFamily="34" charset="0"/>
                <a:ea typeface="Amiri" pitchFamily="34" charset="-122"/>
                <a:cs typeface="Amiri" pitchFamily="34" charset="-120"/>
              </a:rPr>
              <a:t>يُؤَثِّرُ فِي</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يُؤَثِّرُ فِي</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أَثَّرَ العُودُ فِي المُوسِيقَى الأُورُوبِّيَّةِ   ·   تُؤَثِّرُ الأُغْنِيَةُ فِي الجُمْهُورِ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t>
            </a:r>
            <a:pPr algn="l" indent="0" marL="0">
              <a:buNone/>
            </a:pPr>
            <a:r>
              <a:rPr lang="ar-SA" altLang="en-US" sz="1650" b="1" dirty="0">
                <a:solidFill>
                  <a:srgbClr val="1B3B6F"/>
                </a:solidFill>
                <a:latin typeface="Amiri" pitchFamily="34" charset="0"/>
                <a:ea typeface="Amiri" pitchFamily="34" charset="-122"/>
                <a:cs typeface="Amiri" pitchFamily="34" charset="-120"/>
              </a:rPr>
              <a:t>يُلْهِمُ</a:t>
            </a:r>
            <a:pPr algn="l" indent="0" marL="0">
              <a:buNone/>
            </a:pPr>
            <a:r>
              <a:rPr lang="en-US" sz="1250" b="1" dirty="0">
                <a:solidFill>
                  <a:srgbClr val="1B3B6F"/>
                </a:solidFill>
                <a:latin typeface="Calibri" pitchFamily="34" charset="0"/>
                <a:ea typeface="Calibri" pitchFamily="34" charset="-122"/>
                <a:cs typeface="Calibri" pitchFamily="34" charset="-120"/>
              </a:rPr>
              <a:t> with a direct object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يُلْهِمُ</a:t>
            </a:r>
            <a:pPr algn="l" indent="0" marL="0">
              <a:buNone/>
            </a:pPr>
            <a:r>
              <a:rPr lang="en-US" sz="1050" dirty="0">
                <a:solidFill>
                  <a:srgbClr val="5A6472"/>
                </a:solidFill>
                <a:latin typeface="Calibri" pitchFamily="34" charset="0"/>
                <a:ea typeface="Calibri" pitchFamily="34" charset="-122"/>
                <a:cs typeface="Calibri" pitchFamily="34" charset="-120"/>
              </a:rPr>
              <a:t>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أَلْهَمَ المُوسِيقَارُ جِيلًا كَامِلًا   ·   تُلْهِمُ الزَّخْرَفَةُ الفَنَّانِينَ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Hedged cultural statements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بَعْضِ البُلْدَانِ / أَحْيَانًا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بَعْضِ البُلْدَانِ يَتَعَلَّمُ الأَطْفَالُ العُودَ مُبَكِّرًا   ·   لَيْسَ دَائِمًا يُفَضِّلُ الشَّبَابُ التُّرَاثَ</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يُعَبِّرُ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تُعَبِّرُ المُوسِيقَى فِي المَشَاعِرِ.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تُعَبِّرُ المُوسِيقَى المَشَاعِرَ.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تُعَبِّرُ المُوسِيقَى عَنِ المَشَاعِرِ.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أَثَّرَ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أَثَّرَ العُودُ فِي المُوسِيقَى العَالَمِيَّةِ.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أَثَّرَ العُودُ عَنِ المُوسِيقَى العَالَمِيَّةِ.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أَثَّرَ العُودُ المُوسِيقَى العَالَمِيَّةَ.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أَلْهَمَ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أَلْهَمَ المُوسِيقَارُ فِي جِيلٍ كَامِلٍ.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أَلْهَمَ المُوسِيقَارُ جِيلًا كَامِلًا.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أَلْهَمَ المُوسِيقَارُ عَنْ جِيلٍ كَامِلٍ.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accurately hedged statement.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البُلْدَانِ يَتَعَلَّمُ الأَطْفَالُ العُودَ مُبَكِّرًا.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العَرَبِ يَعْزِفُونَ عَلَى العُودِ.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الأَطْفَالُ العَرَبُ دَائِمًا يَكْرَهُونَ التُّرَاثَ.</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يُعَبِّرُ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تُعَبِّرُ المُوسِيقَى فِي المَشَاعِرِ.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تُعَبِّرُ المُوسِيقَى المَشَاعِرَ.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تُعَبِّرُ المُوسِيقَى عَنِ المَشَاعِرِ.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يُعَبِّرُ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عَنْ</a:t>
            </a:r>
            <a:pPr algn="l" indent="0" marL="0">
              <a:buNone/>
            </a:pPr>
            <a:r>
              <a:rPr lang="en-US" sz="1050" i="1" dirty="0">
                <a:solidFill>
                  <a:srgbClr val="8A6D1E"/>
                </a:solidFill>
                <a:latin typeface="Calibri" pitchFamily="34" charset="0"/>
                <a:ea typeface="Calibri" pitchFamily="34" charset="-122"/>
                <a:cs typeface="Calibri" pitchFamily="34" charset="-120"/>
              </a:rPr>
              <a:t>, and the noun after it is genitive.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أَثَّرَ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أَثَّرَ العُودُ فِي المُوسِيقَى العَالَمِيَّةِ.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أَثَّرَ العُودُ عَنِ المُوسِيقَى العَالَمِيَّةِ.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أَثَّرَ العُودُ المُوسِيقَى العَالَمِيَّةَ.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يُؤَثِّرُ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with the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أَلْهَمَ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أَلْهَمَ المُوسِيقَارُ فِي جِيلٍ كَامِلٍ.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أَلْهَمَ المُوسِيقَارُ جِيلًا كَامِلًا.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أَلْهَمَ المُوسِيقَارُ عَنْ جِيلٍ كَامِلٍ.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أَلْهَمَ</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 in the accusative.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accurately hedged statement.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البُلْدَانِ يَتَعَلَّمُ الأَطْفَالُ العُودَ مُبَكِّرًا.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العَرَبِ يَعْزِفُونَ عَلَى العُودِ.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الأَطْفَالُ العَرَبُ دَائِمًا يَكْرَهُونَ التُّرَاثَ.</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بَعْضِ البُلْدَانِ</a:t>
            </a:r>
            <a:pPr algn="l" indent="0" marL="0">
              <a:buNone/>
            </a:pPr>
            <a:r>
              <a:rPr lang="en-US" sz="1050" i="1" dirty="0">
                <a:solidFill>
                  <a:srgbClr val="8A6D1E"/>
                </a:solidFill>
                <a:latin typeface="Calibri" pitchFamily="34" charset="0"/>
                <a:ea typeface="Calibri" pitchFamily="34" charset="-122"/>
                <a:cs typeface="Calibri" pitchFamily="34" charset="-120"/>
              </a:rPr>
              <a:t> describes some places without turning it into a rule about everyone.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describe a cultural evening</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Scene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كَانَتِ الفِرْقَةُ صَغِيرَةً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kānat + -atan.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Express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عَبَّرَتِ المُوسِيقَى </a:t>
            </a:r>
            <a:pPr rtl="1" algn="ctr" indent="0" marL="0">
              <a:buNone/>
            </a:pPr>
            <a:r>
              <a:rPr lang="ar-SA" altLang="en-US" sz="2200" b="1" dirty="0">
                <a:solidFill>
                  <a:srgbClr val="0E7C86"/>
                </a:solidFill>
                <a:latin typeface="Amiri" pitchFamily="34" charset="0"/>
                <a:ea typeface="Amiri" pitchFamily="34" charset="-122"/>
                <a:cs typeface="Amiri" pitchFamily="34" charset="-120"/>
              </a:rPr>
              <a:t>عَنْ</a:t>
            </a:r>
            <a:pPr rtl="1" algn="ctr" indent="0" marL="0">
              <a:buNone/>
            </a:pPr>
            <a:r>
              <a:rPr lang="ar-SA" altLang="en-US" sz="2200" b="1" dirty="0">
                <a:solidFill>
                  <a:srgbClr val="1B3B6F"/>
                </a:solidFill>
                <a:latin typeface="Amiri" pitchFamily="34" charset="0"/>
                <a:ea typeface="Amiri" pitchFamily="34" charset="-122"/>
                <a:cs typeface="Amiri" pitchFamily="34" charset="-120"/>
              </a:rPr>
              <a:t> مَشَاعِرَ</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ʿabbara + ʿan.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Inspire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أَلْهَمَتْنِي </a:t>
            </a:r>
            <a:pPr rtl="1" algn="ctr" indent="0" marL="0">
              <a:buNone/>
            </a:pPr>
            <a:r>
              <a:rPr lang="ar-SA" altLang="en-US" sz="2800" b="1" dirty="0">
                <a:solidFill>
                  <a:srgbClr val="1D5FBF"/>
                </a:solidFill>
                <a:latin typeface="Amiri" pitchFamily="34" charset="0"/>
                <a:ea typeface="Amiri" pitchFamily="34" charset="-122"/>
                <a:cs typeface="Amiri" pitchFamily="34" charset="-120"/>
              </a:rPr>
              <a:t>الزَّخْرَفَةُ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preposition.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Hedge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لَيْسَ دَائِمًا</a:t>
            </a:r>
            <a:pPr rtl="1" algn="ctr" indent="0" marL="0">
              <a:buNone/>
            </a:pPr>
            <a:r>
              <a:rPr lang="ar-SA" altLang="en-US" sz="2200" b="1" dirty="0">
                <a:solidFill>
                  <a:srgbClr val="1B3B6F"/>
                </a:solidFill>
                <a:latin typeface="Amiri" pitchFamily="34" charset="0"/>
                <a:ea typeface="Amiri" pitchFamily="34" charset="-122"/>
                <a:cs typeface="Amiri" pitchFamily="34" charset="-120"/>
              </a:rPr>
              <a:t>؛ فَالذَّوْقُ شَخْصِيٌّ</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Fair, not general.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DIRECT OBJECT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الشَّهْرِ المَاضِي حَضَرْتُ حَفْلَةً مُوسِيقِيَّةً فِي المَسْرَحِ. كَانَتِ الفِرْقَةُ صَغِيرَةً. عَبَّرَتِ المُوسِيقَى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مَشَاعِرَ عَمِيقَةٍ، وَأَثَّرَتْ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الجُمْهُورِ كَثِيرًا. وَبَعْدَ الحَفْلَةِ زُرْتُ مَعْرِضًا لِلْخَطِّ العَرَبِيِّ، وَأَلْهَمَتْنِي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الزَّخْرَفَةُ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حَقًّا.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Last month I attended a concert in the theatre. The ensemble was small. The music expressed deep feelings and greatly affected the audience. After the concert I visited an exhibition of Arabic calligraphy, and the arabesque truly inspired me.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تُعَبِّرُ المُوسِيقَى عَنِ المَشَاعِرِ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Music expresses feelings.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عَنْ is fixed with يُعَبِّرُ and takes the genitive.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أَثَّرَ العُودُ فِي المُوسِيقَى</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oud influenced music.</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فِي is fixed with يُؤَثِّرُ.</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أَلْهَمَ المُوسِيقَارُ جِيلًا كَامِلًا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composer inspired a whole generation.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يُلْهِمُ takes a direct accusative object.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2F6FB0"/>
                </a:solidFill>
                <a:latin typeface="Calibri" pitchFamily="34" charset="0"/>
                <a:ea typeface="Calibri" pitchFamily="34" charset="-122"/>
                <a:cs typeface="Calibri" pitchFamily="34" charset="-120"/>
              </a:rPr>
              <a:t>WE DO · PICTURE MATCH · WEBSITE GAME “VISUAL GAME — MUSIC, ARTS AND ARABIC CULTURE”</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art?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الفُنُونُ وَالثَّقَافَةُ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music notes</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paint and brush</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theatre masks</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إِلَى المَسْرَحِ.</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أَسْتَمِعُ إِلَى المُوسِيقَى.</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الفَنَّ وَالرَّسْمَ.</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الفُنُونُ وَالثَّقَافَةُ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music notes</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أَسْتَمِعُ إِلَى المُوسِيقَى.</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listen to music.</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paint and brush</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الفَنَّ وَالرَّسْمَ.</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love art and drawing.</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theatre masks</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إِلَى المَسْرَحِ.</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to the theatre.</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يُعَبِّرُ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عَبَّرَ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تُعَبِّرُ الأُغْنِيَةُ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يُؤَثِّرُ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أَثَّرَ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تُؤَثِّرُ الزَّخْرَفَةُ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يُلْهِمُ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أَلْهَمَ</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تُلْهِمُ الفِرْقَةُ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فِي</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Direct object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يُعَبِّرُ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عَبَّرَ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تُعَبِّرُ الأُغْنِيَةُ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فِي</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يُؤَثِّرُ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أَثَّرَ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تُؤَثِّرُ الزَّخْرَفَةُ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Direct object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يُلْهِمُ</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أَلْهَمَ</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تُلْهِمُ الفِرْقَةُ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a reed flute?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الدُّفُّ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القَانُونُ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النَّايُ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ذَهَبْتُ إِلَى ___ مُوسِيقِيَّةٍ فِي المَسْرَحِ.</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حَفْلَتَيْنِ مُوسِيقِيَّةً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حَفْلَةٍ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الحَفْلَةِ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account.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عَزَفَتِ الفِرْقَةُ العُودَ وَالنَّايَ.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عَزَفَتِ الفِرْقَةُ عَلَى العُودِ وَالنَّايِ.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عَزَفَ الفِرْقَةُ عَلَى العُودِ وَالنَّايِ.</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الزَّخْرَفَةُ العَرَبِيُّ جَمِيلٌ.</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الزَّخْرَفَةُ العَرَبِيَّةُ جَمِيلُونَ.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الزَّخْرَفَةُ العَرَبِيَّةُ جَمِيلَةٌ.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a reed flute?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الدُّفُّ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القَانُونُ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النَّايُ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النَّايُ</a:t>
            </a:r>
            <a:pPr algn="l" indent="0" marL="0">
              <a:buNone/>
            </a:pPr>
            <a:r>
              <a:rPr lang="en-US" sz="1050" i="1" dirty="0">
                <a:solidFill>
                  <a:srgbClr val="8A6D1E"/>
                </a:solidFill>
                <a:latin typeface="Calibri" pitchFamily="34" charset="0"/>
                <a:ea typeface="Calibri" pitchFamily="34" charset="-122"/>
                <a:cs typeface="Calibri" pitchFamily="34" charset="-120"/>
              </a:rPr>
              <a:t> is the reed flute.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ذَهَبْتُ إِلَى ___ مُوسِيقِيَّةٍ فِي المَسْرَحِ.</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حَفْلَتَيْنِ مُوسِيقِيَّةً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حَفْلَةٍ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الحَفْلَةِ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 takes the genitive, and the adjective agrees.</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account.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عَزَفَتِ الفِرْقَةُ العُودَ وَالنَّايَ.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عَزَفَتِ الفِرْقَةُ عَلَى العُودِ وَالنَّايِ.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عَزَفَ الفِرْقَةُ عَلَى العُودِ وَالنَّايِ.</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فِرْقَة</a:t>
            </a:r>
            <a:pPr algn="l" indent="0" marL="0">
              <a:buNone/>
            </a:pPr>
            <a:r>
              <a:rPr lang="en-US" sz="1050" i="1" dirty="0">
                <a:solidFill>
                  <a:srgbClr val="8A6D1E"/>
                </a:solidFill>
                <a:latin typeface="Calibri" pitchFamily="34" charset="0"/>
                <a:ea typeface="Calibri" pitchFamily="34" charset="-122"/>
                <a:cs typeface="Calibri" pitchFamily="34" charset="-120"/>
              </a:rPr>
              <a:t> is feminine, and </a:t>
            </a:r>
            <a:pPr algn="l" indent="0" marL="0">
              <a:buNone/>
            </a:pPr>
            <a:r>
              <a:rPr lang="ar-SA" altLang="en-US" sz="1350" dirty="0">
                <a:solidFill>
                  <a:srgbClr val="8A6D1E"/>
                </a:solidFill>
                <a:latin typeface="Amiri" pitchFamily="34" charset="0"/>
                <a:ea typeface="Amiri" pitchFamily="34" charset="-122"/>
                <a:cs typeface="Amiri" pitchFamily="34" charset="-120"/>
              </a:rPr>
              <a:t>يَعْزِفُ</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with the genitive.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الزَّخْرَفَةُ العَرَبِيُّ جَمِيلٌ.</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الزَّخْرَفَةُ العَرَبِيَّةُ جَمِيلُونَ.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الزَّخْرَفَةُ العَرَبِيَّةُ جَمِيلَةٌ.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زَخْرَفَة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both adjectives are feminine and nominative.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تُعَبِّرُ المُوسِيقَى فِي المَشَاعِرِ.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yuʿabbiru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أَثَّرَ الفَنَّانُ عَنْ جِيلٍ.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yuʾaththiru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أَلْهَمَ المُوسِيقَارُ فِي الشَّبَابِ.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yulhimu: preposition or none?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تُعَبِّرُ المُوسِيقَى فِي المَشَاعِرِ.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تُعَبِّرُ المُوسِيقَى عَنِ المَشَاعِرِ.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يُعَبِّرُ</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عَنْ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أَثَّرَ الفَنَّانُ عَنْ جِيلٍ.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أَثَّرَ الفَنَّانُ فِي جِيلٍ.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يُؤَثِّرُ</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أَلْهَمَ المُوسِيقَارُ فِي الشَّبَابِ.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أَلْهَمَ المُوسِيقَارُ الشَّبَابَ.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يُلْهِمُ</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without a preposition.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Listening: an evening at a heritage concert</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was the concert?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big theatre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a school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museum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instruments did the ensemble play?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Violin and duff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Rebab and piano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Oud, nay and qanun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music do to the audience?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bored them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confused them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clearly influenced them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visit after the concert?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calligraphy exhibition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match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restaurant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qualify the final statement?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Everyone learns these instruments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Tastes differ from family to family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one learns these instruments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instruments + one exhibition.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فِي الأُسْبُوعِ المَاضِي ذَهَبْتُ مَعَ أُسْرَتِي إِلَى حَفْلَةٍ مُوسِيقِيَّةٍ فِي المَسْرَحِ الكَبِيرِ.</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week I went with my family to a concert in the big theatre.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كَانَتِ الفِرْقَةُ صَغِيرَةً، وَعَزَفَتْ عَلَى العُودِ وَالنَّايِ وَالقَانُونِ.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ensemble was small, and it played the oud, the nay and the qanun.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عَبَّرَتِ المُوسِيقَى عَنْ مَشَاعِرَ كَثِيرَةٍ، وَأَثَّرَتْ فِي الجُمْهُورِ تَأْثِيرًا وَاضِحًا.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music expressed many feelings, and it clearly affected the audience.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وَبَعْدَ الحَفْلَةِ زُرْنَا مَعْرِضًا لِلْخَطِّ العَرَبِيِّ، وَأَلْهَمَتْنِي الزَّخْرَفَةُ حَقًّا.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the concert we visited a calligraphy exhibition, and the arabesque truly inspired 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بَعْضِ البُلْدَانِ يَتَعَلَّمُ الأَطْفَالُ هٰذِهِ الآلَاتِ مُبَكِّرًا، وَلٰكِنْ لَيْسَ دَائِمًا؛ فَالأَذْوَاقُ تَخْتَلِفُ مِنْ أُسْرَةٍ إِلَى أُسْرَةٍ.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some countries children learn these instruments early, but not always — tastes differ from family to family.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was the concert?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big theatre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a school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museum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حَفْلَةٍ مُوسِيقِيَّةٍ فِي المَسْرَحِ الكَبِيرِ.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instruments did the ensemble play?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Violin and duff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Rebab and piano</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Oud, nay and qanun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عَزَفَتْ عَلَى العُودِ وَالنَّايِ وَالقَانُونِ.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music do to the audience?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bored them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confused them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clearly influenced them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أَثَّرَتْ فِي الجُمْهُورِ تَأْثِيرًا وَاضِحًا.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visit after the concert?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calligraphy exhibition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match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restaurant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زُرْنَا مَعْرِضًا لِلْخَطِّ العَرَبِيِّ.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qualify the final statement?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Everyone learns these instruments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Tastes differ from family to family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one learns these instruments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 دَائِمًا؛ فَالأَذْوَاقُ تَخْتَلِفُ مِنْ أُسْرَةٍ إِلَى أُسْرَةٍ.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instruments + one exhibition.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 cultural experience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فَنٍّ يُعْجِبُكَ؟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حَفْلَةً أَوْ مَعْرِضًا زُرْتَهُ. مَاذَا رَأَيْتَ وَسَمِعْتَ؟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الفُنُونَ التُّرَاثِيَّةَ أَمِ الحَدِيثَةَ؟ اِسْتَعْمِلْ أَحْيَانًا وَلَيْسَ دَائِمًا.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يُعْجِبُنِي ___ لِأَنَّهُ يُعَبِّرُ عَنْ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زُرْتُ ___ ، وَأَثَّرَ فِيَّ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F2A37"/>
                </a:solidFill>
                <a:latin typeface="Amiri" pitchFamily="34" charset="0"/>
                <a:ea typeface="Amiri" pitchFamily="34" charset="-122"/>
                <a:cs typeface="Amiri" pitchFamily="34" charset="-120"/>
              </a:rPr>
              <a:t>أَحْيَانًا أُفَضِّلُ ___ ، وَلٰكِنْ لَيْسَ دَائِمًا ؛ فَالذَّوْقُ ___ .</a:t>
            </a:r>
            <a:endParaRPr lang="ar-SA" sz="11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 آلَةٍ مُوسِيقِيَّةٍ تُعْجِبُكَ؟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musical instrument do you like?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يُعْجِبُنِي العُودُ لِأَنَّهُ يُعَبِّرُ عَنِ المَشَاعِرِ بِوُضُوحٍ.</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like the oud because it expresses feelings clearly.</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naming instruments and art forms with accurate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Name arts and instruments with accurate agreement + one “I like … because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t>
            </a:r>
            <a:pPr algn="l" indent="0" marL="0">
              <a:buNone/>
            </a:pPr>
            <a:r>
              <a:rPr lang="ar-SA" altLang="en-US" sz="1800" b="1" dirty="0">
                <a:solidFill>
                  <a:srgbClr val="1F2A37"/>
                </a:solidFill>
                <a:latin typeface="Amiri" pitchFamily="34" charset="0"/>
                <a:ea typeface="Amiri" pitchFamily="34" charset="-122"/>
                <a:cs typeface="Amiri" pitchFamily="34" charset="-120"/>
              </a:rPr>
              <a:t>يُعَبِّرُ عَنْ</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يُؤَثِّرُ فِي</a:t>
            </a:r>
            <a:pPr algn="l" indent="0" marL="0">
              <a:buNone/>
            </a:pPr>
            <a:r>
              <a:rPr lang="en-US" sz="1400" b="1" dirty="0">
                <a:solidFill>
                  <a:srgbClr val="1F2A37"/>
                </a:solidFill>
                <a:latin typeface="Calibri" pitchFamily="34" charset="0"/>
                <a:ea typeface="Calibri" pitchFamily="34" charset="-122"/>
                <a:cs typeface="Calibri" pitchFamily="34" charset="-120"/>
              </a:rPr>
              <a:t>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cultural visit with عَبَّرَ عَنْ and أَثَّرَ فِي.</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t>
            </a:r>
            <a:pPr algn="l" indent="0" marL="0">
              <a:buNone/>
            </a:pPr>
            <a:r>
              <a:rPr lang="ar-SA" altLang="en-US" sz="1800" b="1" dirty="0">
                <a:solidFill>
                  <a:srgbClr val="1F2A37"/>
                </a:solidFill>
                <a:latin typeface="Amiri" pitchFamily="34" charset="0"/>
                <a:ea typeface="Amiri" pitchFamily="34" charset="-122"/>
                <a:cs typeface="Amiri" pitchFamily="34" charset="-120"/>
              </a:rPr>
              <a:t>يُلْهِمُ</a:t>
            </a:r>
            <a:pPr algn="l" indent="0" marL="0">
              <a:buNone/>
            </a:pPr>
            <a:r>
              <a:rPr lang="en-US" sz="1400" b="1" dirty="0">
                <a:solidFill>
                  <a:srgbClr val="1F2A37"/>
                </a:solidFill>
                <a:latin typeface="Calibri" pitchFamily="34" charset="0"/>
                <a:ea typeface="Calibri" pitchFamily="34" charset="-122"/>
                <a:cs typeface="Calibri" pitchFamily="34" charset="-120"/>
              </a:rPr>
              <a:t> with a direct object and a hedged comparison of heritage and modern taste.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express · influence · inspire + one hedged statement about taste.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عَبَّرَ / عَبَّرَتْ عَنْ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expressed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أَثَّرَ / أَثَّرَتْ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influenced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أَلْهَمَنِي / أَلْهَمَتْنِي ______ حَقًّا.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truly inspired me.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بَعْضِ البُلْدَانِ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some countries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يُعْجِبُنِي ______ لِأَنَّ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الشَّهْرِ المَاضِي زُرْتُ مَعْرِضًا لِـ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month I visited an exhibition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رَسَمَتِ الفَنَّانَةُ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(female) artist drew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______ جَمِيلًا.</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was beautiful.</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العُودُ  ·  النَّايُ  ·  الدُّفُّ  ·  النَّشِيدُ  ·  الخَطُّ العَرَبِيُّ  ·  الزَّخْرَفَةُ  ·  مَعْرِضٌ  ·  يُعَبِّرُ عَنْ  ·  يُؤَثِّرُ فِي  ·  يُلْهِمُ  ·  أَحْيَانًا  ·  لَيْسَ دَائِمًا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about eighty words describing a cultural experience: a concert, an exhibition or a performance. Say what it expressed, whom or what it influenced, and add one hedged statement about taste using </a:t>
            </a:r>
            <a:pPr algn="l" indent="0" marL="0">
              <a:buNone/>
            </a:pPr>
            <a:r>
              <a:rPr lang="ar-SA" altLang="en-US" sz="1700" b="1" dirty="0">
                <a:solidFill>
                  <a:srgbClr val="1F2A37"/>
                </a:solidFill>
                <a:latin typeface="Amiri" pitchFamily="34" charset="0"/>
                <a:ea typeface="Amiri" pitchFamily="34" charset="-122"/>
                <a:cs typeface="Amiri" pitchFamily="34" charset="-120"/>
              </a:rPr>
              <a:t>فِي بَعْضِ البُلْدَانِ، أَحْيَانًا</a:t>
            </a:r>
            <a:pPr algn="l" indent="0" marL="0">
              <a:buNone/>
            </a:pPr>
            <a:r>
              <a:rPr lang="en-US" sz="1300" b="1" dirty="0">
                <a:solidFill>
                  <a:srgbClr val="1F2A37"/>
                </a:solidFill>
                <a:latin typeface="Calibri" pitchFamily="34" charset="0"/>
                <a:ea typeface="Calibri" pitchFamily="34" charset="-122"/>
                <a:cs typeface="Calibri" pitchFamily="34" charset="-120"/>
              </a:rPr>
              <a:t> or </a:t>
            </a:r>
            <a:pPr algn="l" indent="0" marL="0">
              <a:buNone/>
            </a:pPr>
            <a:r>
              <a:rPr lang="ar-SA" altLang="en-US" sz="1700" b="1" dirty="0">
                <a:solidFill>
                  <a:srgbClr val="1F2A37"/>
                </a:solidFill>
                <a:latin typeface="Amiri" pitchFamily="34" charset="0"/>
                <a:ea typeface="Amiri" pitchFamily="34" charset="-122"/>
                <a:cs typeface="Amiri" pitchFamily="34" charset="-120"/>
              </a:rPr>
              <a:t>لَيْسَ دَائِمًا</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with </a:t>
            </a:r>
            <a:pPr algn="l" indent="0" marL="0">
              <a:buNone/>
            </a:pPr>
            <a:r>
              <a:rPr lang="ar-SA" altLang="en-US" sz="1550" dirty="0">
                <a:solidFill>
                  <a:srgbClr val="1F2A37"/>
                </a:solidFill>
                <a:latin typeface="Amiri" pitchFamily="34" charset="0"/>
                <a:ea typeface="Amiri" pitchFamily="34" charset="-122"/>
                <a:cs typeface="Amiri" pitchFamily="34" charset="-120"/>
              </a:rPr>
              <a:t>يُعَبِّرُ عَنْ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عَبَّرَ عَنْ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with </a:t>
            </a:r>
            <a:pPr algn="l" indent="0" marL="0">
              <a:buNone/>
            </a:pPr>
            <a:r>
              <a:rPr lang="ar-SA" altLang="en-US" sz="1550" dirty="0">
                <a:solidFill>
                  <a:srgbClr val="1F2A37"/>
                </a:solidFill>
                <a:latin typeface="Amiri" pitchFamily="34" charset="0"/>
                <a:ea typeface="Amiri" pitchFamily="34" charset="-122"/>
                <a:cs typeface="Amiri" pitchFamily="34" charset="-120"/>
              </a:rPr>
              <a:t>يُؤَثِّرُ فِي</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أَثَّرَ فِي</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with </a:t>
            </a:r>
            <a:pPr algn="l" indent="0" marL="0">
              <a:buNone/>
            </a:pPr>
            <a:r>
              <a:rPr lang="ar-SA" altLang="en-US" sz="1550" dirty="0">
                <a:solidFill>
                  <a:srgbClr val="1F2A37"/>
                </a:solidFill>
                <a:latin typeface="Amiri" pitchFamily="34" charset="0"/>
                <a:ea typeface="Amiri" pitchFamily="34" charset="-122"/>
                <a:cs typeface="Amiri" pitchFamily="34" charset="-120"/>
              </a:rPr>
              <a:t>يُلْهِمُ</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أَلْهَمَ</a:t>
            </a:r>
            <a:pPr algn="l" indent="0" marL="0">
              <a:buNone/>
            </a:pPr>
            <a:r>
              <a:rPr lang="en-US" sz="1200" dirty="0">
                <a:solidFill>
                  <a:srgbClr val="1F2A37"/>
                </a:solidFill>
                <a:latin typeface="Calibri" pitchFamily="34" charset="0"/>
                <a:ea typeface="Calibri" pitchFamily="34" charset="-122"/>
                <a:cs typeface="Calibri" pitchFamily="34" charset="-120"/>
              </a:rPr>
              <a:t> and a direct object.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hedged cultural statement rather than a generalisation.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عَبَّرَتْ عَنْ مَشَاعِرَ عَمِيقَةٍ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expressed deep feelings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أَثَّرَتْ فِي الجُمْهُورِ كَثِيرًا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greatly affected the audience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تَحْتَاجُ إِلَى صَبْرٍ وَدِقَّةٍ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needs patience and precision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فَالذَّوْقُ شَخْصِيٌّ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taste is personal</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الأَذْوَاقُ تَخْتَلِفُ مِنْ أُسْرَةٍ إِلَى أُسْرَةٍ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tastes differ from family to family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الشَّهْرِ المَاضِي حَضَرْتُ حَفْلَةً مُوسِيقِيَّةً فِي المَسْرَحِ. كَانَتِ الفِرْقَةُ صَغِيرَةً، وَعَزَفَتْ عَلَى العُودِ وَالنَّايِ. عَبَّرَتِ المُوسِيقَى عَنْ مَشَاعِرَ عَمِيقَةٍ، وَأَثَّرَتْ فِي الجُمْهُورِ كَثِيرًا. وَبَعْدَ الحَفْلَةِ زُرْتُ مَعْرِضًا لِلْخَطِّ العَرَبِيِّ، وَأَلْهَمَتْنِي الزَّخْرَفَةُ حَقًّا. فِي بَعْضِ البُلْدَانِ يَتَعَلَّمُ الأَطْفَالُ هٰذِهِ الآلَاتِ مُبَكِّرًا، وَأَحْيَانًا يُفَضِّلُ الشَّبَابُ المُوسِيقَى الحَدِيثَةَ، وَلَيْسَ دَائِمًا؛ فَالذَّوْقُ شَخْصِيٌّ.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Last month I attended a concert in the theatre. The ensemble was small, and it played the oud and the nay. The music expressed deep feelings and greatly affected the audience. After the concert I visited an exhibition of Arabic calligraphy, and the arabesque truly inspired me. In some countries children learn these instruments early, and sometimes young people prefer modern music — but not always; taste is personal.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عَبَّرَ عَنْ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أَثَّرَ فِي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أَلْهَمَ + object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hedged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adjectives agree (</a:t>
            </a:r>
            <a:pPr algn="l" indent="0" marL="0">
              <a:buNone/>
            </a:pPr>
            <a:r>
              <a:rPr lang="ar-SA" altLang="en-US" sz="1700" dirty="0">
                <a:solidFill>
                  <a:srgbClr val="1F2A37"/>
                </a:solidFill>
                <a:latin typeface="Amiri" pitchFamily="34" charset="0"/>
                <a:ea typeface="Amiri" pitchFamily="34" charset="-122"/>
                <a:cs typeface="Amiri" pitchFamily="34" charset="-120"/>
              </a:rPr>
              <a:t>حَفْلَةٌ مُوسِيقِيَّةٌ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what I like and why.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عَنْ</a:t>
            </a:r>
            <a:pPr algn="l" indent="0" marL="0">
              <a:buNone/>
            </a:pPr>
            <a:r>
              <a:rPr lang="en-US" sz="1300" dirty="0">
                <a:solidFill>
                  <a:srgbClr val="1F2A37"/>
                </a:solidFill>
                <a:latin typeface="Calibri" pitchFamily="34" charset="0"/>
                <a:ea typeface="Calibri" pitchFamily="34" charset="-122"/>
                <a:cs typeface="Calibri" pitchFamily="34" charset="-120"/>
              </a:rPr>
              <a:t> after </a:t>
            </a:r>
            <a:pPr algn="l" indent="0" marL="0">
              <a:buNone/>
            </a:pPr>
            <a:r>
              <a:rPr lang="ar-SA" altLang="en-US" sz="1700" dirty="0">
                <a:solidFill>
                  <a:srgbClr val="1F2A37"/>
                </a:solidFill>
                <a:latin typeface="Amiri" pitchFamily="34" charset="0"/>
                <a:ea typeface="Amiri" pitchFamily="34" charset="-122"/>
                <a:cs typeface="Amiri" pitchFamily="34" charset="-120"/>
              </a:rPr>
              <a:t>يُعَبِّرُ</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after </a:t>
            </a:r>
            <a:pPr algn="l" indent="0" marL="0">
              <a:buNone/>
            </a:pPr>
            <a:r>
              <a:rPr lang="ar-SA" altLang="en-US" sz="1700" dirty="0">
                <a:solidFill>
                  <a:srgbClr val="1F2A37"/>
                </a:solidFill>
                <a:latin typeface="Amiri" pitchFamily="34" charset="0"/>
                <a:ea typeface="Amiri" pitchFamily="34" charset="-122"/>
                <a:cs typeface="Amiri" pitchFamily="34" charset="-120"/>
              </a:rPr>
              <a:t>يُؤَثِّرُ</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described a past visit with past verbs.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أَلْهَمَ</a:t>
            </a:r>
            <a:pPr algn="l" indent="0" marL="0">
              <a:buNone/>
            </a:pPr>
            <a:r>
              <a:rPr lang="en-US" sz="1300" dirty="0">
                <a:solidFill>
                  <a:srgbClr val="1F2A37"/>
                </a:solidFill>
                <a:latin typeface="Calibri" pitchFamily="34" charset="0"/>
                <a:ea typeface="Calibri" pitchFamily="34" charset="-122"/>
                <a:cs typeface="Calibri" pitchFamily="34" charset="-120"/>
              </a:rPr>
              <a:t> + object and a fair, hedged statement.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preposition: </a:t>
            </a:r>
            <a:pPr algn="l" indent="0" marL="0">
              <a:buNone/>
            </a:pPr>
            <a:r>
              <a:rPr lang="ar-SA" altLang="en-US" sz="1650" b="1" dirty="0">
                <a:solidFill>
                  <a:srgbClr val="1B3B6F"/>
                </a:solidFill>
                <a:latin typeface="Amiri" pitchFamily="34" charset="0"/>
                <a:ea typeface="Amiri" pitchFamily="34" charset="-122"/>
                <a:cs typeface="Amiri" pitchFamily="34" charset="-120"/>
              </a:rPr>
              <a:t>تُعَبِّرُ اللَّوْحَةُ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فِكْرَةٍ عَمِيقَةٍ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preposition: </a:t>
            </a:r>
            <a:pPr algn="l" indent="0" marL="0">
              <a:buNone/>
            </a:pPr>
            <a:r>
              <a:rPr lang="ar-SA" altLang="en-US" sz="1650" b="1" dirty="0">
                <a:solidFill>
                  <a:srgbClr val="1B3B6F"/>
                </a:solidFill>
                <a:latin typeface="Amiri" pitchFamily="34" charset="0"/>
                <a:ea typeface="Amiri" pitchFamily="34" charset="-122"/>
                <a:cs typeface="Amiri" pitchFamily="34" charset="-120"/>
              </a:rPr>
              <a:t>أَثَّرَ الخَطُّ العَرَبِيُّ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الفَنِّ الحَدِيثِ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statement that avoids over-generalising.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فِي بَعْضِ البُلْدَانِ يُفَضِّلُ النَّاسُ التُّرَاثَ.</a:t>
            </a:r>
            <a:endParaRPr lang="ar-SA" sz="16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كُلُّ العَرَبِ يُفَضِّلُونَ التُّرَاثَ.</a:t>
            </a:r>
            <a:endParaRPr lang="ar-SA" sz="16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العَرَبُ دَائِمًا يَكْرَهُونَ المُوسِيقَى الحَدِيثَةَ.</a:t>
            </a:r>
            <a:endParaRPr lang="ar-SA" sz="16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preposition: </a:t>
            </a:r>
            <a:pPr algn="l" indent="0" marL="0">
              <a:buNone/>
            </a:pPr>
            <a:r>
              <a:rPr lang="ar-SA" altLang="en-US" sz="1650" b="1" dirty="0">
                <a:solidFill>
                  <a:srgbClr val="1B3B6F"/>
                </a:solidFill>
                <a:latin typeface="Amiri" pitchFamily="34" charset="0"/>
                <a:ea typeface="Amiri" pitchFamily="34" charset="-122"/>
                <a:cs typeface="Amiri" pitchFamily="34" charset="-120"/>
              </a:rPr>
              <a:t>تُعَبِّرُ اللَّوْحَةُ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فِكْرَةٍ عَمِيقَةٍ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يُعَبِّرُ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preposition: </a:t>
            </a:r>
            <a:pPr algn="l" indent="0" marL="0">
              <a:buNone/>
            </a:pPr>
            <a:r>
              <a:rPr lang="ar-SA" altLang="en-US" sz="1650" b="1" dirty="0">
                <a:solidFill>
                  <a:srgbClr val="1B3B6F"/>
                </a:solidFill>
                <a:latin typeface="Amiri" pitchFamily="34" charset="0"/>
                <a:ea typeface="Amiri" pitchFamily="34" charset="-122"/>
                <a:cs typeface="Amiri" pitchFamily="34" charset="-120"/>
              </a:rPr>
              <a:t>أَثَّرَ الخَطُّ العَرَبِيُّ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الفَنِّ الحَدِيثِ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يُؤَثِّرُ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statement that avoids over-generalising.</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بَعْضِ البُلْدَانِ يُفَضِّلُ النَّاسُ التُّرَاثَ.</a:t>
            </a:r>
            <a:endParaRPr lang="ar-SA" sz="16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كُلُّ العَرَبِ يُفَضِّلُونَ التُّرَاثَ.</a:t>
            </a:r>
            <a:endParaRPr lang="ar-SA" sz="16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العَرَبُ دَائِمًا يَكْرَهُونَ المُوسِيقَى الحَدِيثَةَ.</a:t>
            </a:r>
            <a:endParaRPr lang="ar-SA" sz="16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بَعْضِ البُلْدَانِ</a:t>
            </a:r>
            <a:pPr algn="l" indent="0" marL="0">
              <a:buNone/>
            </a:pPr>
            <a:r>
              <a:rPr lang="en-US" sz="1050" i="1" dirty="0">
                <a:solidFill>
                  <a:srgbClr val="8A6D1E"/>
                </a:solidFill>
                <a:latin typeface="Calibri" pitchFamily="34" charset="0"/>
                <a:ea typeface="Calibri" pitchFamily="34" charset="-122"/>
                <a:cs typeface="Calibri" pitchFamily="34" charset="-120"/>
              </a:rPr>
              <a:t> reports variation instead of asserting one rule for everyone.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Reading: why heritage music still matters</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تُعَبِّرُ المُوسِيقَى العَرَبِيَّةُ عَنْ تَارِيخٍ طَوِيلٍ وَعَنْ مَشَاعِرَ إِنْسَانِيَّةٍ مُشْتَرَكَةٍ. وَقَدْ أَثَّرَتْ آلَاتٌ مِثْلُ العُودِ فِي مُوسِيقَى مَنَاطِقَ كَثِيرَةٍ خَارِجَ العَالَمِ العَرَبِيِّ. وَفِي كُلِّ مَرْحَلَةٍ ظَهَرَ مُوسِيقَارُونَ أَلْهَمُوا جِيلًا جَدِيدًا. أَمَّا الخَطُّ العَرَبِيُّ فَهُوَ فَنٌّ بَصَرِيٌّ، وَالزَّخْرَفَةُ فِيهِ تَحْتَاجُ إِلَى صَبْرٍ وَدِقَّةٍ. فِي بَعْضِ البُلْدَانِ تُدَرَّسُ هٰذِهِ الفُنُونُ فِي المَدَارِسِ، وَأَحْيَانًا يَتَعَلَّمُهَا الشَّبَابُ فِي مَرَاكِزَ ثَقَافِيَّةٍ. وَلَيْسَ دَائِمًا يُفَضِّلُ الشَّبَابُ التُّرَاثَ عَلَى المُوسِيقَى الحَدِيثَةِ، فَالذَّوْقُ شَخْصِيٌّ.</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تَارِيخٍ طَوِيلٍ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long history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مَشَاعِرَ إِنْسَانِيَّةٍ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human feelings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مُشْتَرَكَةٍ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shared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خَارِجَ</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outside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ظَهَرَ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appeared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فَنٌّ بَصَرِيٌّ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visual art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صَبْرٍ وَدِقَّةٍ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patience and precision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تُدَرَّسُ</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are taught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مَرَاكِزَ ثَقَافِيَّةٍ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cultural centres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الذَّوْقُ شَخْصِيٌّ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taste is personal</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Arabic music express?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modern opinions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history and shared human feelings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religious themes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the oud influenced?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Egyptian music</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outside its region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 in many regions beyond the Arab world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calligraphy require?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Patience and precision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 tools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 studio</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these arts taught?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in universities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schools in some countries, and sometimes in cultural centres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Nowhere formally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young people's taste?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do not always prefer heritage to modern music</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always prefer heritage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never listen to heritage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Arabic music express?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modern opinions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 long history and shared human feelings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religious themes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تُعَبِّرُ … عَنْ تَارِيخٍ طَوِيلٍ وَعَنْ مَشَاعِرَ إِنْسَانِيَّةٍ مُشْتَرَكَةٍ.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the oud influenced?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Egyptian music</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outside its region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Music in many regions beyond the Arab world</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أَثَّرَتْ آلَاتٌ مِثْلُ العُودِ فِي مُوسِيقَى مَنَاطِقَ كَثِيرَةٍ.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calligraphy require?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Patience and precision</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Expensive tools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large studio</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تَحْتَاجُ إِلَى صَبْرٍ وَدِقَّةٍ.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these arts taught?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in universities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In schools in some countries, and sometimes in cultural centres</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Nowhere formally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بَعْضِ البُلْدَانِ تُدَرَّسُ … وَأَحْيَانًا … فِي مَرَاكِزَ ثَقَافِيَّةٍ.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young people's taste?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do not always prefer heritage to modern music</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always prefer heritage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never listen to heritage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دَائِمًا يُفَضِّلُ الشَّبَابُ التُّرَاثَ … فَالذَّوْقُ شَخْصِيٌّ.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Culture Mission — Instruments, Influence and Hedged Opinion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frame drum?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النَّايُ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الدُّفُّ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القَانُونُ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يُعَبِّرُ الفَنَّانُ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رَأْيِهِ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تُؤَثِّرُ الأُغْنِيَةُ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الجُمْهُورِ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past of </a:t>
            </a:r>
            <a:pPr algn="l" indent="0" marL="0">
              <a:buNone/>
            </a:pPr>
            <a:r>
              <a:rPr lang="ar-SA" altLang="en-US" sz="1650" b="1" dirty="0">
                <a:solidFill>
                  <a:srgbClr val="1B3B6F"/>
                </a:solidFill>
                <a:latin typeface="Amiri" pitchFamily="34" charset="0"/>
                <a:ea typeface="Amiri" pitchFamily="34" charset="-122"/>
                <a:cs typeface="Amiri" pitchFamily="34" charset="-120"/>
              </a:rPr>
              <a:t>يُلْهِمُ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اِلْتَهَمَ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أَلْهَمَ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“exhibition”?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مَعْرِضٌ</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مَسْرَحٌ</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مَرْحَلَةٌ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الفِرْقَةُ المُوسِيقِيَّةُ</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رَائِعٌ</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رَائِعَةٌ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رَائِعَةً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frame drum?</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النَّايُ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الدُّفُّ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القَانُونُ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الدُّفُّ</a:t>
            </a:r>
            <a:pPr algn="l" indent="0" marL="0">
              <a:buNone/>
            </a:pPr>
            <a:r>
              <a:rPr lang="en-US" sz="1050" i="1" dirty="0">
                <a:solidFill>
                  <a:srgbClr val="8A6D1E"/>
                </a:solidFill>
                <a:latin typeface="Calibri" pitchFamily="34" charset="0"/>
                <a:ea typeface="Calibri" pitchFamily="34" charset="-122"/>
                <a:cs typeface="Calibri" pitchFamily="34" charset="-120"/>
              </a:rPr>
              <a:t> is the frame drum.</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يُعَبِّرُ الفَنَّانُ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رَأْيِهِ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يُعَبِّرُ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تُؤَثِّرُ الأُغْنِيَةُ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الجُمْهُورِ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يُؤَثِّرُ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past of </a:t>
            </a:r>
            <a:pPr algn="l" indent="0" marL="0">
              <a:buNone/>
            </a:pPr>
            <a:r>
              <a:rPr lang="ar-SA" altLang="en-US" sz="1650" b="1" dirty="0">
                <a:solidFill>
                  <a:srgbClr val="1B3B6F"/>
                </a:solidFill>
                <a:latin typeface="Amiri" pitchFamily="34" charset="0"/>
                <a:ea typeface="Amiri" pitchFamily="34" charset="-122"/>
                <a:cs typeface="Amiri" pitchFamily="34" charset="-120"/>
              </a:rPr>
              <a:t>يُلْهِمُ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اِلْتَهَمَ</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أَلْهَمَ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Form IV past is </a:t>
            </a:r>
            <a:pPr algn="l" indent="0" marL="0">
              <a:buNone/>
            </a:pPr>
            <a:r>
              <a:rPr lang="ar-SA" altLang="en-US" sz="1350" dirty="0">
                <a:solidFill>
                  <a:srgbClr val="8A6D1E"/>
                </a:solidFill>
                <a:latin typeface="Amiri" pitchFamily="34" charset="0"/>
                <a:ea typeface="Amiri" pitchFamily="34" charset="-122"/>
                <a:cs typeface="Amiri" pitchFamily="34" charset="-120"/>
              </a:rPr>
              <a:t>أَلْهَمَ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“exhibition”?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مَعْرِضٌ</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مَسْرَحٌ</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مَرْحَلَةٌ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مَعْرِضٌ</a:t>
            </a:r>
            <a:pPr algn="l" indent="0" marL="0">
              <a:buNone/>
            </a:pPr>
            <a:r>
              <a:rPr lang="en-US" sz="1050" i="1" dirty="0">
                <a:solidFill>
                  <a:srgbClr val="8A6D1E"/>
                </a:solidFill>
                <a:latin typeface="Calibri" pitchFamily="34" charset="0"/>
                <a:ea typeface="Calibri" pitchFamily="34" charset="-122"/>
                <a:cs typeface="Calibri" pitchFamily="34" charset="-120"/>
              </a:rPr>
              <a:t> is an exhibition.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الفِرْقَةُ المُوسِيقِيَّةُ</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رَائِعٌ</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رَائِعَةٌ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رَائِعَةً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فِرْقَة</a:t>
            </a:r>
            <a:pPr algn="l" indent="0" marL="0">
              <a:buNone/>
            </a:pPr>
            <a:r>
              <a:rPr lang="en-US" sz="1050" i="1" dirty="0">
                <a:solidFill>
                  <a:srgbClr val="8A6D1E"/>
                </a:solidFill>
                <a:latin typeface="Calibri" pitchFamily="34" charset="0"/>
                <a:ea typeface="Calibri" pitchFamily="34" charset="-122"/>
                <a:cs typeface="Calibri" pitchFamily="34" charset="-120"/>
              </a:rPr>
              <a:t> is feminine and nominative here.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D5-L06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D5-L07: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D5-L07 · Holidays and Travel — Past and Future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سَافَرَ إِلَى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travelled to</a:t>
            </a:r>
            <a:pPr indent="0" marL="0">
              <a:buNone/>
            </a:pPr>
            <a:r>
              <a:rPr lang="en-US" sz="1000" i="1" dirty="0">
                <a:solidFill>
                  <a:srgbClr val="5A6472"/>
                </a:solidFill>
                <a:latin typeface="Calibri" pitchFamily="34" charset="0"/>
                <a:ea typeface="Calibri" pitchFamily="34" charset="-122"/>
                <a:cs typeface="Calibri" pitchFamily="34" charset="-120"/>
              </a:rPr>
              <a:t>  سَافَرْتُ I travelled</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زَارَ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visited</a:t>
            </a:r>
            <a:pPr indent="0" marL="0">
              <a:buNone/>
            </a:pPr>
            <a:r>
              <a:rPr lang="en-US" sz="1000" i="1" dirty="0">
                <a:solidFill>
                  <a:srgbClr val="5A6472"/>
                </a:solidFill>
                <a:latin typeface="Calibri" pitchFamily="34" charset="0"/>
                <a:ea typeface="Calibri" pitchFamily="34" charset="-122"/>
                <a:cs typeface="Calibri" pitchFamily="34" charset="-120"/>
              </a:rPr>
              <a:t>  زُرْتُ I visited</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المَطَارُ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airport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الفُنْدُقُ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hotel</a:t>
            </a:r>
            <a:pPr indent="0" marL="0">
              <a:buNone/>
            </a:pPr>
            <a:r>
              <a:rPr lang="en-US" sz="1000" i="1" dirty="0">
                <a:solidFill>
                  <a:srgbClr val="5A6472"/>
                </a:solidFill>
                <a:latin typeface="Calibri" pitchFamily="34" charset="0"/>
                <a:ea typeface="Calibri" pitchFamily="34" charset="-122"/>
                <a:cs typeface="Calibri" pitchFamily="34" charset="-120"/>
              </a:rPr>
              <a:t>  pl. الفَنَادِقُ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رِحْلَةٌ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trip</a:t>
            </a:r>
            <a:pPr indent="0" marL="0">
              <a:buNone/>
            </a:pPr>
            <a:r>
              <a:rPr lang="en-US" sz="1000" i="1" dirty="0">
                <a:solidFill>
                  <a:srgbClr val="5A6472"/>
                </a:solidFill>
                <a:latin typeface="Calibri" pitchFamily="34" charset="0"/>
                <a:ea typeface="Calibri" pitchFamily="34" charset="-122"/>
                <a:cs typeface="Calibri" pitchFamily="34" charset="-120"/>
              </a:rPr>
              <a:t>  pl. رِحْلَاتٌ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Where did you go on your last holiday or trip? Where would you like to go next?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سَافَرْتُ إِلَى … وَسَأُسَافِرُ إِلَى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arts words; write five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60–80-word cultural visit with </a:t>
            </a:r>
            <a:pPr algn="l" indent="0" marL="0">
              <a:buNone/>
            </a:pPr>
            <a:r>
              <a:rPr lang="ar-SA" altLang="en-US" sz="1550" dirty="0">
                <a:solidFill>
                  <a:srgbClr val="1F2A37"/>
                </a:solidFill>
                <a:latin typeface="Amiri" pitchFamily="34" charset="0"/>
                <a:ea typeface="Amiri" pitchFamily="34" charset="-122"/>
                <a:cs typeface="Amiri" pitchFamily="34" charset="-120"/>
              </a:rPr>
              <a:t>عَبَّرَ عَنْ</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أَثَّرَ فِي</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 80 words with a hedged statement about taste.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D5-L06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ea typeface="Cambria" pitchFamily="34" charset="-122"/>
                <a:cs typeface="Cambria" pitchFamily="34" charset="-120"/>
              </a:rPr>
              <a:t>D5-L07 · Holidays and Travel — Past and Future</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الإِجَازَاتُ وَالسَّفَرُ — المَاضِي وَالمُسْتَقْبَلُ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يُعَبِّرُ عَنْ</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يُؤَثِّرُ فِي</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يُلْهِمُ</a:t>
            </a:r>
            <a:pPr algn="l" indent="0" marL="0">
              <a:buNone/>
            </a:pPr>
            <a:r>
              <a:rPr lang="en-US" sz="1300" b="1" dirty="0">
                <a:solidFill>
                  <a:srgbClr val="FFFFFF"/>
                </a:solidFill>
                <a:latin typeface="Calibri" pitchFamily="34" charset="0"/>
                <a:ea typeface="Calibri" pitchFamily="34" charset="-122"/>
                <a:cs typeface="Calibri" pitchFamily="34" charset="-120"/>
              </a:rPr>
              <a:t> + object — and describe culture fairly: some, sometimes, not always.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D5-L06 · Music, Arts and Arabic Culture</dc:title>
  <dc:subject>PptxGenJS Presentation</dc:subject>
  <dc:creator>Al Madina Online School · Arabic Department</dc:creator>
  <cp:lastModifiedBy>Al Madina Online School · Arabic Department</cp:lastModifiedBy>
  <cp:revision>1</cp:revision>
  <dcterms:created xsi:type="dcterms:W3CDTF">2026-10-03T06:18:48Z</dcterms:created>
  <dcterms:modified xsi:type="dcterms:W3CDTF">2026-10-03T06:18:48Z</dcterms:modified>
</cp:coreProperties>
</file>