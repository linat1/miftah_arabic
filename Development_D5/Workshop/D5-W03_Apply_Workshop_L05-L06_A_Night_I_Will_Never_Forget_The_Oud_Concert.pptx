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notesMasterIdLst>
    <p:notesMasterId r:id="rId26"/>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notesMaster" Target="notesMasters/notesMaster1.xml"/><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1.xml"/><Relationship Id="rId30"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APPLY WORKSHOP AT A GLANCE — the third lesson of the week (Learn D5-L05 · Learn D5-L06 · Apply). 60 minutes on Teams: teacher-led in the main room for the short whole-class steps, pairs or breakout rooms of two or three for speaking, individual writing.
0–3 Welcome + plan · 3–6 What we learnt this week · PART 1 REMEMBER: word race (4) · which lesson? sort (4) · PART 2 SPEAK: new dialogue (5) · mixed question cards (6) · role-play card (7) · one minute talk (4) · PART 3 WRITE: sentence builder (3) · spot and fix (3) · connected writing (12) + buddy check (3) · CHECK YOURSELF: models + self-check (5).
PURPOSE: students APPLY the language of BOTH lessons in new contexts — the question cards, builder and common mistakes come from the two practice rooms; the dialogue, role-play, talk and writing task are new and join the lessons together.
CONTENT: D5-L05 (Storytelling — Narrative Connectors and كَانَ Description) and D5-L06 (Music, Arts and Arabic Culture).
SET-UP: share this deck or its PDF in the chat. Pairs or breakout rooms for Part 2 (same-level rooms keep the routes simple). Everyone writes in their own book or document in Part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MAP (1 min). Apply = use what you learnt in D5-L05 and D5-L06 in a NEW situation. Point out the step number in the top-left of each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WE LEARNT (3 min, main room). Ask: “What can you say after D5-L05? After D5-L06?” Take two answers in the chat for each lesson (one word or one sentence is enough). Then read objective 3 — today’s new situation that needs BOTH lessons. Students tick their route goals at the end of the lesson.
D5-L05 language: story shape: setting (kāna al-ṭaqsu jamīlan — kāna + adjective in -an) → background / used to (kāna yalʿabu · kuntu aqraʾu) → the turn (fajʾatan · fī tilka al-laḥẓa) → ending (fī al-nihāya · li-l-asaf) → reflection (mā ziltu atadhakkaru …)
D5-L06 language: what art does: yuʿabbiru ʿan · yuʾaththiru fī · yulhimu; describing arts (al-khaṭṭu al-ʿarabiyyu · al-zakhrafa · al-ʿūd · al-nāy); fair cultural description: fī baʿḍi al-buldān · aḥyānan · laysa dāʾiman · yakhtalifu min baladin ilā ākhar; past experience (zurtu maʿriḍan · ḥaḍartu ḥaflatan)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(4 min). Quick, energetic retrieval. Model one round with a student, then pairs race. Collect the best score in the chat. Listen for words students hesitate over and revisit them in Part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reference — six words from D5-L05.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reference — six words from D5-L06.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2 (4 min). Students read each card ALOUD (by invitation), then type its number in the chat with 1 or 2 (for example “card 3 → 2”). Then check the answer slide. Ask: “Which card could you use in BOTH lessons?” — this links the two lessons before Part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2 (4 min). Students read each card ALOUD (by invitation), then type its number in the chat with 1 or 2 (for example “card 3 → 2”). Then check the answer slide. Ask: “Which card could you use in BOTH lessons?” — this links the two lessons before Part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STEP 3 (5 min). A NEW dialogue that joins D5-L05 and D5-L06. Teacher reads it once with a confident student; then pairs. Ask: “Which lines are from D5-L05? Which from D5-L06?” The story shape (كَانَ + -an · كُنَّا نَسْتَمِعُ · فَجْأَةً · مَا زِلْتُ أَتَذَكَّرُ) comes from D5-L05; arts words and what art does (تُعَبِّرُ عَنْ · أَثَّرَتْ فِيَّ · أَلْهَمَتْنِي) from D5-L06.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4 (6 min, pairs or rooms). The questions come from the two practice rooms, now mixed so students switch between the lessons. Teacher: visit rooms and ask one Stretch follow-up question in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STEP 5 (7 min). One NEW situation that needs both lessons: the five story steps with كَانَ and narrative connectors (D5-L05) told about an arts event, its meaning and its effect (D5-L06). FADED SUPPORT: tasks 1–2 show the plan; students write their own plan for 3–5. To a girl Partner A says: أَيْنَ كُنْتِ؟ · كَيْفَ أَثَّرَ فِيكِ؟ · لِمَاذَا تَتَذَكَّرِينَ …؟.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6 (4 min). Fluency: one talk that uses BOTH lessons. Two volunteers speak to the whole class at the end (open mic).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7 (3 min). Rows come from the D5-L05 and D5-L06 practice rooms. Read the English, choose the correct part from each column (start on the RIGHT). Pairs agree, then check. Students copy the correct sentences — they help in Step 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7 (3 min). Rows come from the D5-L05 and D5-L06 practice rooms. Read the English, choose the correct part from each column (start on the RIGHT). Pairs agree, then check. Students copy the correct sentences — they help in Step 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8 (3 min). Common mistakes from both lessons. Students type the corrected version in the chat before the answer slide. These are the mistakes to look for in the buddy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8 (3 min). Common mistakes from both lessons. Students type the corrected version in the chat before the answer slide. These are the mistakes to look for in the buddy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9 support. Core: use the Core frames for every bullet. Develop: use the Develop frames only if stuck. Stretch: no frames — add reasons, a time phrase and an extra detail.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9 (10 min writing, everyone on their own). Core: frames for every bullet (50–60 words). Develop: 80–100 words, frames only if stuck. Stretch: no frames, add reasons and another time frame. Teacher reads ONE sentence per student (in the chat or the shared document) and gives one live correction.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BUDDY CHECK (3 min). Pairs swap texts (or share screens). Then everyone returns to the main room.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YOURSELF (2 min, main room). Each student finds one task they answered less fully and says it again using the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(59 words). CHECK YOURSELF (2 min). Find each bullet point in the model, and one phrase from D5-L05 and one from D5-L06. Then each student copies ONE phrase from the model into their own 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ea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YEAR 8  ·  DEVELOPMENT D5  ·  D5-L05 + D5-L06 · APPLY WORKSHOP</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D5-W03</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2650" b="1" dirty="0">
                <a:solidFill>
                  <a:srgbClr val="FFFFFF"/>
                </a:solidFill>
                <a:latin typeface="Cambria" pitchFamily="34" charset="0"/>
                <a:cs typeface="Amiri" pitchFamily="2" charset="-78"/>
              </a:rPr>
              <a:t>Apply Workshop — A Night I Will Never Forget: The Oud Concert</a:t>
            </a:r>
            <a:endParaRPr lang="en-US" sz="265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ea typeface="Amiri" pitchFamily="2" charset="-78"/>
                <a:cs typeface="Amiri" pitchFamily="2" charset="-78"/>
              </a:rPr>
              <a:t>وَرْشَةُ التَّطْبِيقِ — لَيْلَةٌ لَا أَنْسَاهَا</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200" dirty="0">
                <a:solidFill>
                  <a:srgbClr val="C6D2E6"/>
                </a:solidFill>
                <a:latin typeface="Calibri" pitchFamily="34" charset="0"/>
                <a:cs typeface="Amiri" pitchFamily="2" charset="-78"/>
              </a:rPr>
              <a:t>Students join storytelling with the arts: they tell the story of a concert or exhibition in five steps (scene with </a:t>
            </a:r>
            <a:pPr algn="l" indent="0" marL="0">
              <a:buNone/>
            </a:pPr>
            <a:r>
              <a:rPr lang="ar-SA" altLang="en-US" sz="1550" dirty="0">
                <a:solidFill>
                  <a:srgbClr val="C6D2E6"/>
                </a:solidFill>
                <a:latin typeface="Amiri" pitchFamily="2" charset="-78"/>
                <a:ea typeface="Amiri" pitchFamily="2" charset="-78"/>
                <a:cs typeface="Amiri" pitchFamily="2" charset="-78"/>
              </a:rPr>
              <a:t>كَانَ</a:t>
            </a:r>
            <a:pPr algn="l" indent="0" marL="0">
              <a:buNone/>
            </a:pPr>
            <a:r>
              <a:rPr lang="en-US" sz="1200" dirty="0">
                <a:solidFill>
                  <a:srgbClr val="C6D2E6"/>
                </a:solidFill>
                <a:latin typeface="Calibri" pitchFamily="34" charset="0"/>
                <a:cs typeface="Amiri" pitchFamily="2" charset="-78"/>
              </a:rPr>
              <a:t> + -an → background → </a:t>
            </a:r>
            <a:pPr algn="l" indent="0" marL="0">
              <a:buNone/>
            </a:pPr>
            <a:r>
              <a:rPr lang="ar-SA" altLang="en-US" sz="1550" dirty="0">
                <a:solidFill>
                  <a:srgbClr val="C6D2E6"/>
                </a:solidFill>
                <a:latin typeface="Amiri" pitchFamily="2" charset="-78"/>
                <a:ea typeface="Amiri" pitchFamily="2" charset="-78"/>
                <a:cs typeface="Amiri" pitchFamily="2" charset="-78"/>
              </a:rPr>
              <a:t>فَجْأَةً</a:t>
            </a:r>
            <a:pPr algn="l" indent="0" marL="0">
              <a:buNone/>
            </a:pPr>
            <a:r>
              <a:rPr lang="en-US" sz="1200" dirty="0">
                <a:solidFill>
                  <a:srgbClr val="C6D2E6"/>
                </a:solidFill>
                <a:latin typeface="Calibri" pitchFamily="34" charset="0"/>
                <a:cs typeface="Amiri" pitchFamily="2" charset="-78"/>
              </a:rPr>
              <a:t> → ending → </a:t>
            </a:r>
            <a:pPr algn="l" indent="0" marL="0">
              <a:buNone/>
            </a:pPr>
            <a:r>
              <a:rPr lang="ar-SA" altLang="en-US" sz="1550" dirty="0">
                <a:solidFill>
                  <a:srgbClr val="C6D2E6"/>
                </a:solidFill>
                <a:latin typeface="Amiri" pitchFamily="2" charset="-78"/>
                <a:ea typeface="Amiri" pitchFamily="2" charset="-78"/>
                <a:cs typeface="Amiri" pitchFamily="2" charset="-78"/>
              </a:rPr>
              <a:t>مَا زِلْتُ أَتَذَكَّرُ</a:t>
            </a:r>
            <a:pPr algn="l" indent="0" marL="0">
              <a:buNone/>
            </a:pPr>
            <a:r>
              <a:rPr lang="en-US" sz="1200" dirty="0">
                <a:solidFill>
                  <a:srgbClr val="C6D2E6"/>
                </a:solidFill>
                <a:latin typeface="Calibri" pitchFamily="34" charset="0"/>
                <a:cs typeface="Amiri" pitchFamily="2" charset="-78"/>
              </a:rPr>
              <a:t> …), explain what the art expressed and how it affected them, describe culture fairly, and write the story for the class anthology.</a:t>
            </a:r>
            <a:endParaRPr lang="en-US" sz="12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Apply workshop · D5-L05 + D5-L06</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Development · A2 → B1</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Pathways › Development › D5 › D5-L06</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D5-W03 · Apply workshop</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D5-W03 · Apply workshop (D5-L05 + D5-L06)</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24</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D5-W03 · Apply workshop</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PLAN · LEARN, LEARN, APPLY</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500" b="1" dirty="0">
                <a:solidFill>
                  <a:srgbClr val="1B3B6F"/>
                </a:solidFill>
                <a:latin typeface="Cambria" pitchFamily="34" charset="0"/>
                <a:cs typeface="Amiri" pitchFamily="2" charset="-78"/>
              </a:rPr>
              <a:t>Two lessons — now use them together</a:t>
            </a:r>
            <a:endParaRPr lang="en-US" sz="25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خُطُوَاتُ الوَرْشَةِ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D5-W03 · Apply workshop (D5-L05 + D5-L06)</a:t>
            </a:r>
            <a:endParaRPr lang="en-US" sz="850" dirty="0"/>
          </a:p>
        </p:txBody>
      </p:sp>
      <p:sp>
        <p:nvSpPr>
          <p:cNvPr id="15" name="Shape 12"/>
          <p:cNvSpPr/>
          <p:nvPr/>
        </p:nvSpPr>
        <p:spPr>
          <a:xfrm>
            <a:off x="457200"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933042" cy="566928"/>
          </a:xfrm>
          <a:prstGeom prst="roundRect">
            <a:avLst>
              <a:gd name="adj" fmla="val 9677"/>
            </a:avLst>
          </a:prstGeom>
          <a:solidFill>
            <a:srgbClr val="1B3B6F"/>
          </a:solidFill>
          <a:ln w="12700">
            <a:solidFill>
              <a:srgbClr val="1B3B6F"/>
            </a:solidFill>
            <a:prstDash val="solid"/>
          </a:ln>
        </p:spPr>
      </p:sp>
      <p:sp>
        <p:nvSpPr>
          <p:cNvPr id="17" name="Text 14"/>
          <p:cNvSpPr txBox="1"/>
          <p:nvPr/>
        </p:nvSpPr>
        <p:spPr>
          <a:xfrm>
            <a:off x="603504"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TEACHER INSTRUCTION</a:t>
            </a:r>
            <a:endParaRPr lang="en-US" sz="1000" dirty="0"/>
          </a:p>
        </p:txBody>
      </p:sp>
      <p:sp>
        <p:nvSpPr>
          <p:cNvPr id="18" name="Text 15"/>
          <p:cNvSpPr txBox="1"/>
          <p:nvPr/>
        </p:nvSpPr>
        <p:spPr>
          <a:xfrm>
            <a:off x="603504"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6 min</a:t>
            </a:r>
            <a:endParaRPr lang="en-US" sz="1000" dirty="0"/>
          </a:p>
        </p:txBody>
      </p:sp>
      <p:sp>
        <p:nvSpPr>
          <p:cNvPr id="19" name="Shape 16"/>
          <p:cNvSpPr/>
          <p:nvPr/>
        </p:nvSpPr>
        <p:spPr>
          <a:xfrm>
            <a:off x="1332281"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33228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What we learnt: D5-L05 and D5-L06.</a:t>
            </a:r>
            <a:endParaRPr lang="en-US" sz="1200" dirty="0"/>
          </a:p>
        </p:txBody>
      </p:sp>
      <p:sp>
        <p:nvSpPr>
          <p:cNvPr id="22" name="Text 19"/>
          <p:cNvSpPr txBox="1"/>
          <p:nvPr/>
        </p:nvSpPr>
        <p:spPr>
          <a:xfrm>
            <a:off x="548640"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مَاذَا تَعَلَّمْنَا؟</a:t>
            </a:r>
            <a:endParaRPr lang="ar-SA" sz="1500" dirty="0"/>
          </a:p>
        </p:txBody>
      </p:sp>
      <p:sp>
        <p:nvSpPr>
          <p:cNvPr id="23" name="Shape 20"/>
          <p:cNvSpPr/>
          <p:nvPr/>
        </p:nvSpPr>
        <p:spPr>
          <a:xfrm>
            <a:off x="2737714"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847442" y="1938528"/>
            <a:ext cx="1933042" cy="566928"/>
          </a:xfrm>
          <a:prstGeom prst="roundRect">
            <a:avLst>
              <a:gd name="adj" fmla="val 9677"/>
            </a:avLst>
          </a:prstGeom>
          <a:solidFill>
            <a:srgbClr val="2F6FB0"/>
          </a:solidFill>
          <a:ln w="12700">
            <a:solidFill>
              <a:srgbClr val="2F6FB0"/>
            </a:solidFill>
            <a:prstDash val="solid"/>
          </a:ln>
        </p:spPr>
      </p:sp>
      <p:sp>
        <p:nvSpPr>
          <p:cNvPr id="25" name="Text 22"/>
          <p:cNvSpPr txBox="1"/>
          <p:nvPr/>
        </p:nvSpPr>
        <p:spPr>
          <a:xfrm>
            <a:off x="2884018"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26" name="Text 23"/>
          <p:cNvSpPr txBox="1"/>
          <p:nvPr/>
        </p:nvSpPr>
        <p:spPr>
          <a:xfrm>
            <a:off x="2884018"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8 min</a:t>
            </a:r>
            <a:endParaRPr lang="en-US" sz="1000" dirty="0"/>
          </a:p>
        </p:txBody>
      </p:sp>
      <p:sp>
        <p:nvSpPr>
          <p:cNvPr id="27" name="Shape 24"/>
          <p:cNvSpPr/>
          <p:nvPr/>
        </p:nvSpPr>
        <p:spPr>
          <a:xfrm>
            <a:off x="3612794"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3612794"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865730"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Part 1 · Remember: word race and “which lesson?” sort.</a:t>
            </a:r>
            <a:endParaRPr lang="en-US" sz="1200" dirty="0"/>
          </a:p>
        </p:txBody>
      </p:sp>
      <p:sp>
        <p:nvSpPr>
          <p:cNvPr id="30" name="Text 27"/>
          <p:cNvSpPr txBox="1"/>
          <p:nvPr/>
        </p:nvSpPr>
        <p:spPr>
          <a:xfrm>
            <a:off x="2829154"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تَذَكَّرْ</a:t>
            </a:r>
            <a:endParaRPr lang="ar-SA" sz="1500" dirty="0"/>
          </a:p>
        </p:txBody>
      </p:sp>
      <p:sp>
        <p:nvSpPr>
          <p:cNvPr id="31" name="Shape 28"/>
          <p:cNvSpPr/>
          <p:nvPr/>
        </p:nvSpPr>
        <p:spPr>
          <a:xfrm>
            <a:off x="5018227"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127955" y="1938528"/>
            <a:ext cx="1933042" cy="566928"/>
          </a:xfrm>
          <a:prstGeom prst="roundRect">
            <a:avLst>
              <a:gd name="adj" fmla="val 9677"/>
            </a:avLst>
          </a:prstGeom>
          <a:solidFill>
            <a:srgbClr val="1E6B52"/>
          </a:solidFill>
          <a:ln w="12700">
            <a:solidFill>
              <a:srgbClr val="1E6B52"/>
            </a:solidFill>
            <a:prstDash val="solid"/>
          </a:ln>
        </p:spPr>
      </p:sp>
      <p:sp>
        <p:nvSpPr>
          <p:cNvPr id="33" name="Text 30"/>
          <p:cNvSpPr txBox="1"/>
          <p:nvPr/>
        </p:nvSpPr>
        <p:spPr>
          <a:xfrm>
            <a:off x="5164531"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34" name="Text 31"/>
          <p:cNvSpPr txBox="1"/>
          <p:nvPr/>
        </p:nvSpPr>
        <p:spPr>
          <a:xfrm>
            <a:off x="5164531"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22 min</a:t>
            </a:r>
            <a:endParaRPr lang="en-US" sz="1000" dirty="0"/>
          </a:p>
        </p:txBody>
      </p:sp>
      <p:sp>
        <p:nvSpPr>
          <p:cNvPr id="35" name="Shape 32"/>
          <p:cNvSpPr/>
          <p:nvPr/>
        </p:nvSpPr>
        <p:spPr>
          <a:xfrm>
            <a:off x="5893308"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5146243"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Part 2 · Speak: say the model dialogue · question cards · role-play card · short talk.</a:t>
            </a:r>
            <a:endParaRPr lang="en-US" sz="1200" dirty="0"/>
          </a:p>
        </p:txBody>
      </p:sp>
      <p:sp>
        <p:nvSpPr>
          <p:cNvPr id="38" name="Text 35"/>
          <p:cNvSpPr txBox="1"/>
          <p:nvPr/>
        </p:nvSpPr>
        <p:spPr>
          <a:xfrm>
            <a:off x="5109667"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تَكَلَّمْ</a:t>
            </a:r>
            <a:endParaRPr lang="ar-SA" sz="1500" dirty="0"/>
          </a:p>
        </p:txBody>
      </p:sp>
      <p:sp>
        <p:nvSpPr>
          <p:cNvPr id="39" name="Shape 36"/>
          <p:cNvSpPr/>
          <p:nvPr/>
        </p:nvSpPr>
        <p:spPr>
          <a:xfrm>
            <a:off x="7298741"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7408469" y="1938528"/>
            <a:ext cx="1933042" cy="566928"/>
          </a:xfrm>
          <a:prstGeom prst="roundRect">
            <a:avLst>
              <a:gd name="adj" fmla="val 9677"/>
            </a:avLst>
          </a:prstGeom>
          <a:solidFill>
            <a:srgbClr val="1E6B52"/>
          </a:solidFill>
          <a:ln w="12700">
            <a:solidFill>
              <a:srgbClr val="1E6B52"/>
            </a:solidFill>
            <a:prstDash val="solid"/>
          </a:ln>
        </p:spPr>
      </p:sp>
      <p:sp>
        <p:nvSpPr>
          <p:cNvPr id="41" name="Text 38"/>
          <p:cNvSpPr txBox="1"/>
          <p:nvPr/>
        </p:nvSpPr>
        <p:spPr>
          <a:xfrm>
            <a:off x="7445045"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42" name="Text 39"/>
          <p:cNvSpPr txBox="1"/>
          <p:nvPr/>
        </p:nvSpPr>
        <p:spPr>
          <a:xfrm>
            <a:off x="7445045"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19 min</a:t>
            </a:r>
            <a:endParaRPr lang="en-US" sz="1000" dirty="0"/>
          </a:p>
        </p:txBody>
      </p:sp>
      <p:sp>
        <p:nvSpPr>
          <p:cNvPr id="43" name="Shape 40"/>
          <p:cNvSpPr/>
          <p:nvPr/>
        </p:nvSpPr>
        <p:spPr>
          <a:xfrm>
            <a:off x="8173822"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8173822"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7426757"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Part 3 · Write: sentence builder · spot and fix · write your text · buddy check.</a:t>
            </a:r>
            <a:endParaRPr lang="en-US" sz="1200" dirty="0"/>
          </a:p>
        </p:txBody>
      </p:sp>
      <p:sp>
        <p:nvSpPr>
          <p:cNvPr id="46" name="Text 43"/>
          <p:cNvSpPr txBox="1"/>
          <p:nvPr/>
        </p:nvSpPr>
        <p:spPr>
          <a:xfrm>
            <a:off x="7390181"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اكْتُبْ</a:t>
            </a:r>
            <a:endParaRPr lang="ar-SA" sz="1500" dirty="0"/>
          </a:p>
        </p:txBody>
      </p:sp>
      <p:sp>
        <p:nvSpPr>
          <p:cNvPr id="47" name="Shape 44"/>
          <p:cNvSpPr/>
          <p:nvPr/>
        </p:nvSpPr>
        <p:spPr>
          <a:xfrm>
            <a:off x="9579254"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9688982" y="1938528"/>
            <a:ext cx="1933042" cy="566928"/>
          </a:xfrm>
          <a:prstGeom prst="roundRect">
            <a:avLst>
              <a:gd name="adj" fmla="val 9677"/>
            </a:avLst>
          </a:prstGeom>
          <a:solidFill>
            <a:srgbClr val="8A6D1E"/>
          </a:solidFill>
          <a:ln w="12700">
            <a:solidFill>
              <a:srgbClr val="8A6D1E"/>
            </a:solidFill>
            <a:prstDash val="solid"/>
          </a:ln>
        </p:spPr>
      </p:sp>
      <p:sp>
        <p:nvSpPr>
          <p:cNvPr id="49" name="Text 46"/>
          <p:cNvSpPr txBox="1"/>
          <p:nvPr/>
        </p:nvSpPr>
        <p:spPr>
          <a:xfrm>
            <a:off x="9725558"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0" name="Text 47"/>
          <p:cNvSpPr txBox="1"/>
          <p:nvPr/>
        </p:nvSpPr>
        <p:spPr>
          <a:xfrm>
            <a:off x="9725558"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5 min</a:t>
            </a:r>
            <a:endParaRPr lang="en-US" sz="1000" dirty="0"/>
          </a:p>
        </p:txBody>
      </p:sp>
      <p:sp>
        <p:nvSpPr>
          <p:cNvPr id="51" name="Shape 48"/>
          <p:cNvSpPr/>
          <p:nvPr/>
        </p:nvSpPr>
        <p:spPr>
          <a:xfrm>
            <a:off x="10454335"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1045433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9707270"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Check yourself with the models.</a:t>
            </a:r>
            <a:endParaRPr lang="en-US" sz="1200" dirty="0"/>
          </a:p>
        </p:txBody>
      </p:sp>
      <p:sp>
        <p:nvSpPr>
          <p:cNvPr id="54" name="Text 51"/>
          <p:cNvSpPr txBox="1"/>
          <p:nvPr/>
        </p:nvSpPr>
        <p:spPr>
          <a:xfrm>
            <a:off x="9670694"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ea typeface="Amiri" pitchFamily="2" charset="-78"/>
                <a:cs typeface="Amiri" pitchFamily="2" charset="-78"/>
              </a:rPr>
              <a:t>قَارِنْ</a:t>
            </a:r>
            <a:endParaRPr lang="ar-SA" sz="1500" dirty="0"/>
          </a:p>
        </p:txBody>
      </p:sp>
      <p:sp>
        <p:nvSpPr>
          <p:cNvPr id="55" name="Shape 52"/>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56" name="Text 53"/>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HOW THE WORKSHOP RUNS</a:t>
            </a:r>
            <a:endParaRPr lang="en-US" sz="1000" dirty="0"/>
          </a:p>
        </p:txBody>
      </p:sp>
      <p:sp>
        <p:nvSpPr>
          <p:cNvPr id="57" name="Text 54"/>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Today there is no new language: you USE the words and structures of the last two lessons together. Everybody speaks in every step and everybody writes their own text. Choose your route — Core, Develop or Stretch — and move up when you are ready.</a:t>
            </a:r>
            <a:endParaRPr lang="en-US" sz="1250" dirty="0"/>
          </a:p>
        </p:txBody>
      </p:sp>
      <p:sp>
        <p:nvSpPr>
          <p:cNvPr id="58" name="Text 5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24</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D5-W03 · Apply workshop</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WHAT WE LEARNT THIS WEEK · D5-L05 + D5-L06</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250" b="1" dirty="0">
                <a:solidFill>
                  <a:srgbClr val="1B3B6F"/>
                </a:solidFill>
                <a:latin typeface="Cambria" pitchFamily="34" charset="0"/>
                <a:cs typeface="Amiri" pitchFamily="2" charset="-78"/>
              </a:rPr>
              <a:t>This week’s two lessons — and today’s goal</a:t>
            </a:r>
            <a:endParaRPr lang="en-US" sz="22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نُطَبِّقُ مَا تَعَلَّمْنَا</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D5-W03 · Apply workshop (D5-L05 + D5-L06)</a:t>
            </a:r>
            <a:endParaRPr lang="en-US" sz="850" dirty="0"/>
          </a:p>
        </p:txBody>
      </p:sp>
      <p:sp>
        <p:nvSpPr>
          <p:cNvPr id="15" name="Shape 12"/>
          <p:cNvSpPr/>
          <p:nvPr/>
        </p:nvSpPr>
        <p:spPr>
          <a:xfrm>
            <a:off x="457200" y="1810512"/>
            <a:ext cx="4663440" cy="4315968"/>
          </a:xfrm>
          <a:prstGeom prst="roundRect">
            <a:avLst>
              <a:gd name="adj" fmla="val 1695"/>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20240"/>
            <a:ext cx="2743200" cy="292608"/>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TODAY YOU WILL</a:t>
            </a:r>
            <a:endParaRPr lang="en-US" sz="1100" dirty="0"/>
          </a:p>
        </p:txBody>
      </p:sp>
      <p:sp>
        <p:nvSpPr>
          <p:cNvPr id="17" name="Text 14"/>
          <p:cNvSpPr txBox="1"/>
          <p:nvPr/>
        </p:nvSpPr>
        <p:spPr>
          <a:xfrm>
            <a:off x="2834640" y="1874520"/>
            <a:ext cx="2103120" cy="365760"/>
          </a:xfrm>
          <a:prstGeom prst="rect">
            <a:avLst/>
          </a:prstGeom>
          <a:noFill/>
          <a:ln/>
        </p:spPr>
        <p:txBody>
          <a:bodyPr wrap="square" lIns="0" tIns="0" rIns="0" bIns="0" rtlCol="0" anchor="ctr"/>
          <a:lstStyle/>
          <a:p>
            <a:pPr rtl="1" algn="r" indent="0" marL="0">
              <a:buNone/>
            </a:pPr>
            <a:r>
              <a:rPr lang="ar-SA" altLang="en-US" sz="1600" dirty="0">
                <a:solidFill>
                  <a:srgbClr val="8A6D1E"/>
                </a:solidFill>
                <a:latin typeface="Amiri" pitchFamily="2" charset="-78"/>
                <a:ea typeface="Amiri" pitchFamily="2" charset="-78"/>
                <a:cs typeface="Amiri" pitchFamily="2" charset="-78"/>
              </a:rPr>
              <a:t>سَتَتَعَلَّمُ اليَوْمَ</a:t>
            </a:r>
            <a:endParaRPr lang="ar-SA" sz="1600" dirty="0"/>
          </a:p>
        </p:txBody>
      </p:sp>
      <p:sp>
        <p:nvSpPr>
          <p:cNvPr id="18" name="Shape 15"/>
          <p:cNvSpPr/>
          <p:nvPr/>
        </p:nvSpPr>
        <p:spPr>
          <a:xfrm>
            <a:off x="685800" y="2395728"/>
            <a:ext cx="365760" cy="365760"/>
          </a:xfrm>
          <a:prstGeom prst="ellipse">
            <a:avLst/>
          </a:prstGeom>
          <a:solidFill>
            <a:srgbClr val="1B3B6F"/>
          </a:solidFill>
          <a:ln w="12700">
            <a:solidFill>
              <a:srgbClr val="1B3B6F"/>
            </a:solidFill>
            <a:prstDash val="solid"/>
          </a:ln>
        </p:spPr>
      </p:sp>
      <p:sp>
        <p:nvSpPr>
          <p:cNvPr id="19" name="Text 16"/>
          <p:cNvSpPr txBox="1"/>
          <p:nvPr/>
        </p:nvSpPr>
        <p:spPr>
          <a:xfrm>
            <a:off x="685800" y="2395728"/>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1</a:t>
            </a:r>
            <a:endParaRPr lang="en-US" sz="1200" dirty="0"/>
          </a:p>
        </p:txBody>
      </p:sp>
      <p:sp>
        <p:nvSpPr>
          <p:cNvPr id="20" name="Text 17"/>
          <p:cNvSpPr txBox="1"/>
          <p:nvPr/>
        </p:nvSpPr>
        <p:spPr>
          <a:xfrm>
            <a:off x="1188720" y="2286000"/>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D5-L05: Storytelling — Narrative Connectors and ‏</a:t>
            </a:r>
            <a:pPr algn="l" indent="0" marL="0">
              <a:buNone/>
            </a:pPr>
            <a:r>
              <a:rPr lang="ar-SA" altLang="en-US" sz="1700" dirty="0">
                <a:solidFill>
                  <a:srgbClr val="1F2A37"/>
                </a:solidFill>
                <a:latin typeface="Amiri" pitchFamily="2" charset="-78"/>
                <a:ea typeface="Amiri" pitchFamily="2" charset="-78"/>
                <a:cs typeface="Amiri" pitchFamily="2" charset="-78"/>
              </a:rPr>
              <a:t>كَانَ</a:t>
            </a:r>
            <a:pPr algn="l" indent="0" marL="0">
              <a:buNone/>
            </a:pPr>
            <a:r>
              <a:rPr lang="en-US" sz="1300" dirty="0">
                <a:solidFill>
                  <a:srgbClr val="1F2A37"/>
                </a:solidFill>
                <a:latin typeface="Calibri" pitchFamily="34" charset="0"/>
                <a:cs typeface="Amiri" pitchFamily="2" charset="-78"/>
              </a:rPr>
              <a:t>‏ Description</a:t>
            </a:r>
            <a:endParaRPr lang="en-US" sz="1300" dirty="0"/>
          </a:p>
        </p:txBody>
      </p:sp>
      <p:sp>
        <p:nvSpPr>
          <p:cNvPr id="21" name="Shape 18"/>
          <p:cNvSpPr/>
          <p:nvPr/>
        </p:nvSpPr>
        <p:spPr>
          <a:xfrm>
            <a:off x="685800" y="3291840"/>
            <a:ext cx="365760" cy="365760"/>
          </a:xfrm>
          <a:prstGeom prst="ellipse">
            <a:avLst/>
          </a:prstGeom>
          <a:solidFill>
            <a:srgbClr val="1B3B6F"/>
          </a:solidFill>
          <a:ln w="12700">
            <a:solidFill>
              <a:srgbClr val="1B3B6F"/>
            </a:solidFill>
            <a:prstDash val="solid"/>
          </a:ln>
        </p:spPr>
      </p:sp>
      <p:sp>
        <p:nvSpPr>
          <p:cNvPr id="22" name="Text 19"/>
          <p:cNvSpPr txBox="1"/>
          <p:nvPr/>
        </p:nvSpPr>
        <p:spPr>
          <a:xfrm>
            <a:off x="685800" y="3291840"/>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2</a:t>
            </a:r>
            <a:endParaRPr lang="en-US" sz="1200" dirty="0"/>
          </a:p>
        </p:txBody>
      </p:sp>
      <p:sp>
        <p:nvSpPr>
          <p:cNvPr id="23" name="Text 20"/>
          <p:cNvSpPr txBox="1"/>
          <p:nvPr/>
        </p:nvSpPr>
        <p:spPr>
          <a:xfrm>
            <a:off x="1188720" y="3182112"/>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D5-L06: Music, Arts and Arabic Culture</a:t>
            </a:r>
            <a:endParaRPr lang="en-US" sz="1300" dirty="0"/>
          </a:p>
        </p:txBody>
      </p:sp>
      <p:sp>
        <p:nvSpPr>
          <p:cNvPr id="24" name="Shape 21"/>
          <p:cNvSpPr/>
          <p:nvPr/>
        </p:nvSpPr>
        <p:spPr>
          <a:xfrm>
            <a:off x="685800" y="4187952"/>
            <a:ext cx="365760" cy="365760"/>
          </a:xfrm>
          <a:prstGeom prst="ellipse">
            <a:avLst/>
          </a:prstGeom>
          <a:solidFill>
            <a:srgbClr val="1B3B6F"/>
          </a:solidFill>
          <a:ln w="12700">
            <a:solidFill>
              <a:srgbClr val="1B3B6F"/>
            </a:solidFill>
            <a:prstDash val="solid"/>
          </a:ln>
        </p:spPr>
      </p:sp>
      <p:sp>
        <p:nvSpPr>
          <p:cNvPr id="25" name="Text 22"/>
          <p:cNvSpPr txBox="1"/>
          <p:nvPr/>
        </p:nvSpPr>
        <p:spPr>
          <a:xfrm>
            <a:off x="685800" y="4187952"/>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3</a:t>
            </a:r>
            <a:endParaRPr lang="en-US" sz="1200" dirty="0"/>
          </a:p>
        </p:txBody>
      </p:sp>
      <p:sp>
        <p:nvSpPr>
          <p:cNvPr id="26" name="Text 23"/>
          <p:cNvSpPr txBox="1"/>
          <p:nvPr/>
        </p:nvSpPr>
        <p:spPr>
          <a:xfrm>
            <a:off x="1188720" y="4078224"/>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Apply both: Story card — the five steps · A story for the class anthology</a:t>
            </a:r>
            <a:endParaRPr lang="en-US" sz="1300" dirty="0"/>
          </a:p>
        </p:txBody>
      </p:sp>
      <p:sp>
        <p:nvSpPr>
          <p:cNvPr id="27" name="Shape 24"/>
          <p:cNvSpPr/>
          <p:nvPr/>
        </p:nvSpPr>
        <p:spPr>
          <a:xfrm>
            <a:off x="5349240" y="1810512"/>
            <a:ext cx="6382512" cy="1353312"/>
          </a:xfrm>
          <a:prstGeom prst="roundRect">
            <a:avLst>
              <a:gd name="adj" fmla="val 5405"/>
            </a:avLst>
          </a:prstGeom>
          <a:solidFill>
            <a:srgbClr val="E9F5EE"/>
          </a:solidFill>
          <a:ln w="9525">
            <a:solidFill>
              <a:srgbClr val="2E8B57"/>
            </a:solidFill>
            <a:prstDash val="solid"/>
          </a:ln>
        </p:spPr>
      </p:sp>
      <p:sp>
        <p:nvSpPr>
          <p:cNvPr id="28" name="Shape 25"/>
          <p:cNvSpPr/>
          <p:nvPr/>
        </p:nvSpPr>
        <p:spPr>
          <a:xfrm>
            <a:off x="5532120" y="1947672"/>
            <a:ext cx="1143000" cy="292608"/>
          </a:xfrm>
          <a:prstGeom prst="roundRect">
            <a:avLst>
              <a:gd name="adj" fmla="val 50000"/>
            </a:avLst>
          </a:prstGeom>
          <a:solidFill>
            <a:srgbClr val="2E8B57"/>
          </a:solidFill>
          <a:ln w="12700">
            <a:solidFill>
              <a:srgbClr val="2E8B57"/>
            </a:solidFill>
            <a:prstDash val="solid"/>
          </a:ln>
        </p:spPr>
      </p:sp>
      <p:sp>
        <p:nvSpPr>
          <p:cNvPr id="29" name="Text 26"/>
          <p:cNvSpPr txBox="1"/>
          <p:nvPr/>
        </p:nvSpPr>
        <p:spPr>
          <a:xfrm>
            <a:off x="5532120" y="194767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CORE</a:t>
            </a:r>
            <a:endParaRPr lang="en-US" sz="950" dirty="0"/>
          </a:p>
        </p:txBody>
      </p:sp>
      <p:sp>
        <p:nvSpPr>
          <p:cNvPr id="30" name="Text 27"/>
          <p:cNvSpPr txBox="1"/>
          <p:nvPr/>
        </p:nvSpPr>
        <p:spPr>
          <a:xfrm>
            <a:off x="6766560" y="1947672"/>
            <a:ext cx="1828800" cy="292608"/>
          </a:xfrm>
          <a:prstGeom prst="rect">
            <a:avLst/>
          </a:prstGeom>
          <a:noFill/>
          <a:ln/>
        </p:spPr>
        <p:txBody>
          <a:bodyPr wrap="square" lIns="0" tIns="0" rIns="0" bIns="0" rtlCol="0" anchor="ctr"/>
          <a:lstStyle/>
          <a:p>
            <a:pPr algn="l" indent="0" marL="0">
              <a:buNone/>
            </a:pPr>
            <a:r>
              <a:rPr lang="en-US" sz="1050" b="1" i="1" dirty="0">
                <a:solidFill>
                  <a:srgbClr val="2E8B57"/>
                </a:solidFill>
                <a:latin typeface="Calibri" pitchFamily="34" charset="0"/>
                <a:cs typeface="Amiri" pitchFamily="2" charset="-78"/>
              </a:rPr>
              <a:t>Everyone</a:t>
            </a:r>
            <a:endParaRPr lang="en-US" sz="1050" dirty="0"/>
          </a:p>
        </p:txBody>
      </p:sp>
      <p:sp>
        <p:nvSpPr>
          <p:cNvPr id="31" name="Text 28"/>
          <p:cNvSpPr txBox="1"/>
          <p:nvPr/>
        </p:nvSpPr>
        <p:spPr>
          <a:xfrm>
            <a:off x="5532120" y="228600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Answer questions from BOTH lessons in full sentences.</a:t>
            </a:r>
            <a:endParaRPr lang="en-US" sz="1300" dirty="0"/>
          </a:p>
        </p:txBody>
      </p:sp>
      <p:sp>
        <p:nvSpPr>
          <p:cNvPr id="32" name="Text 29"/>
          <p:cNvSpPr txBox="1"/>
          <p:nvPr/>
        </p:nvSpPr>
        <p:spPr>
          <a:xfrm>
            <a:off x="5532120" y="269748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Write the text using the frames.</a:t>
            </a:r>
            <a:endParaRPr lang="en-US" sz="1300" dirty="0"/>
          </a:p>
        </p:txBody>
      </p:sp>
      <p:sp>
        <p:nvSpPr>
          <p:cNvPr id="33" name="Shape 30"/>
          <p:cNvSpPr/>
          <p:nvPr/>
        </p:nvSpPr>
        <p:spPr>
          <a:xfrm>
            <a:off x="5349240" y="3273552"/>
            <a:ext cx="6382512" cy="1353312"/>
          </a:xfrm>
          <a:prstGeom prst="roundRect">
            <a:avLst>
              <a:gd name="adj" fmla="val 5405"/>
            </a:avLst>
          </a:prstGeom>
          <a:solidFill>
            <a:srgbClr val="FCF1E0"/>
          </a:solidFill>
          <a:ln w="9525">
            <a:solidFill>
              <a:srgbClr val="C9780A"/>
            </a:solidFill>
            <a:prstDash val="solid"/>
          </a:ln>
        </p:spPr>
      </p:sp>
      <p:sp>
        <p:nvSpPr>
          <p:cNvPr id="34" name="Shape 31"/>
          <p:cNvSpPr/>
          <p:nvPr/>
        </p:nvSpPr>
        <p:spPr>
          <a:xfrm>
            <a:off x="5532120" y="3410712"/>
            <a:ext cx="1143000" cy="292608"/>
          </a:xfrm>
          <a:prstGeom prst="roundRect">
            <a:avLst>
              <a:gd name="adj" fmla="val 50000"/>
            </a:avLst>
          </a:prstGeom>
          <a:solidFill>
            <a:srgbClr val="C9780A"/>
          </a:solidFill>
          <a:ln w="12700">
            <a:solidFill>
              <a:srgbClr val="C9780A"/>
            </a:solidFill>
            <a:prstDash val="solid"/>
          </a:ln>
        </p:spPr>
      </p:sp>
      <p:sp>
        <p:nvSpPr>
          <p:cNvPr id="35" name="Text 32"/>
          <p:cNvSpPr txBox="1"/>
          <p:nvPr/>
        </p:nvSpPr>
        <p:spPr>
          <a:xfrm>
            <a:off x="5532120" y="341071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DEVELOP</a:t>
            </a:r>
            <a:endParaRPr lang="en-US" sz="950" dirty="0"/>
          </a:p>
        </p:txBody>
      </p:sp>
      <p:sp>
        <p:nvSpPr>
          <p:cNvPr id="36" name="Text 33"/>
          <p:cNvSpPr txBox="1"/>
          <p:nvPr/>
        </p:nvSpPr>
        <p:spPr>
          <a:xfrm>
            <a:off x="6766560" y="3410712"/>
            <a:ext cx="1828800" cy="292608"/>
          </a:xfrm>
          <a:prstGeom prst="rect">
            <a:avLst/>
          </a:prstGeom>
          <a:noFill/>
          <a:ln/>
        </p:spPr>
        <p:txBody>
          <a:bodyPr wrap="square" lIns="0" tIns="0" rIns="0" bIns="0" rtlCol="0" anchor="ctr"/>
          <a:lstStyle/>
          <a:p>
            <a:pPr algn="l" indent="0" marL="0">
              <a:buNone/>
            </a:pPr>
            <a:r>
              <a:rPr lang="en-US" sz="1050" b="1" i="1" dirty="0">
                <a:solidFill>
                  <a:srgbClr val="C9780A"/>
                </a:solidFill>
                <a:latin typeface="Calibri" pitchFamily="34" charset="0"/>
                <a:cs typeface="Amiri" pitchFamily="2" charset="-78"/>
              </a:rPr>
              <a:t>Most of us</a:t>
            </a:r>
            <a:endParaRPr lang="en-US" sz="1050" dirty="0"/>
          </a:p>
        </p:txBody>
      </p:sp>
      <p:sp>
        <p:nvSpPr>
          <p:cNvPr id="37" name="Text 34"/>
          <p:cNvSpPr txBox="1"/>
          <p:nvPr/>
        </p:nvSpPr>
        <p:spPr>
          <a:xfrm>
            <a:off x="5532120" y="374904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Join both lessons in one conversation and a one minute talk.</a:t>
            </a:r>
            <a:endParaRPr lang="en-US" sz="1300" dirty="0"/>
          </a:p>
        </p:txBody>
      </p:sp>
      <p:sp>
        <p:nvSpPr>
          <p:cNvPr id="38" name="Text 35"/>
          <p:cNvSpPr txBox="1"/>
          <p:nvPr/>
        </p:nvSpPr>
        <p:spPr>
          <a:xfrm>
            <a:off x="5532120" y="416052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Write the text, frames only if stuck.</a:t>
            </a:r>
            <a:endParaRPr lang="en-US" sz="1300" dirty="0"/>
          </a:p>
        </p:txBody>
      </p:sp>
      <p:sp>
        <p:nvSpPr>
          <p:cNvPr id="39" name="Shape 36"/>
          <p:cNvSpPr/>
          <p:nvPr/>
        </p:nvSpPr>
        <p:spPr>
          <a:xfrm>
            <a:off x="5349240" y="4736592"/>
            <a:ext cx="6382512" cy="1353312"/>
          </a:xfrm>
          <a:prstGeom prst="roundRect">
            <a:avLst>
              <a:gd name="adj" fmla="val 5405"/>
            </a:avLst>
          </a:prstGeom>
          <a:solidFill>
            <a:srgbClr val="FBEAEA"/>
          </a:solidFill>
          <a:ln w="9525">
            <a:solidFill>
              <a:srgbClr val="B83227"/>
            </a:solidFill>
            <a:prstDash val="solid"/>
          </a:ln>
        </p:spPr>
      </p:sp>
      <p:sp>
        <p:nvSpPr>
          <p:cNvPr id="40" name="Shape 37"/>
          <p:cNvSpPr/>
          <p:nvPr/>
        </p:nvSpPr>
        <p:spPr>
          <a:xfrm>
            <a:off x="5532120" y="4873752"/>
            <a:ext cx="1143000" cy="292608"/>
          </a:xfrm>
          <a:prstGeom prst="roundRect">
            <a:avLst>
              <a:gd name="adj" fmla="val 50000"/>
            </a:avLst>
          </a:prstGeom>
          <a:solidFill>
            <a:srgbClr val="B83227"/>
          </a:solidFill>
          <a:ln w="12700">
            <a:solidFill>
              <a:srgbClr val="B83227"/>
            </a:solidFill>
            <a:prstDash val="solid"/>
          </a:ln>
        </p:spPr>
      </p:sp>
      <p:sp>
        <p:nvSpPr>
          <p:cNvPr id="41" name="Text 38"/>
          <p:cNvSpPr txBox="1"/>
          <p:nvPr/>
        </p:nvSpPr>
        <p:spPr>
          <a:xfrm>
            <a:off x="5532120" y="487375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42" name="Text 39"/>
          <p:cNvSpPr txBox="1"/>
          <p:nvPr/>
        </p:nvSpPr>
        <p:spPr>
          <a:xfrm>
            <a:off x="6766560" y="4873752"/>
            <a:ext cx="1828800" cy="292608"/>
          </a:xfrm>
          <a:prstGeom prst="rect">
            <a:avLst/>
          </a:prstGeom>
          <a:noFill/>
          <a:ln/>
        </p:spPr>
        <p:txBody>
          <a:bodyPr wrap="square" lIns="0" tIns="0" rIns="0" bIns="0" rtlCol="0" anchor="ctr"/>
          <a:lstStyle/>
          <a:p>
            <a:pPr algn="l" indent="0" marL="0">
              <a:buNone/>
            </a:pPr>
            <a:r>
              <a:rPr lang="en-US" sz="1050" b="1" i="1" dirty="0">
                <a:solidFill>
                  <a:srgbClr val="B83227"/>
                </a:solidFill>
                <a:latin typeface="Calibri" pitchFamily="34" charset="0"/>
                <a:cs typeface="Amiri" pitchFamily="2" charset="-78"/>
              </a:rPr>
              <a:t>Aim high</a:t>
            </a:r>
            <a:endParaRPr lang="en-US" sz="1050" dirty="0"/>
          </a:p>
        </p:txBody>
      </p:sp>
      <p:sp>
        <p:nvSpPr>
          <p:cNvPr id="43" name="Text 40"/>
          <p:cNvSpPr txBox="1"/>
          <p:nvPr/>
        </p:nvSpPr>
        <p:spPr>
          <a:xfrm>
            <a:off x="5532120" y="521208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Speak without notes; add reasons and opinions.</a:t>
            </a:r>
            <a:endParaRPr lang="en-US" sz="1300" dirty="0"/>
          </a:p>
        </p:txBody>
      </p:sp>
      <p:sp>
        <p:nvSpPr>
          <p:cNvPr id="44" name="Text 41"/>
          <p:cNvSpPr txBox="1"/>
          <p:nvPr/>
        </p:nvSpPr>
        <p:spPr>
          <a:xfrm>
            <a:off x="5532120" y="562356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Use more than one tense; give and justify opinions.</a:t>
            </a:r>
            <a:endParaRPr lang="en-US" sz="1300" dirty="0"/>
          </a:p>
        </p:txBody>
      </p:sp>
      <p:sp>
        <p:nvSpPr>
          <p:cNvPr id="45" name="Text 4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24</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D5-W03 · Apply workshop</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PART 1 · STEP 1 · WORD RACE · 4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Word race: two lessons, one race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سِبَاقُ الكَلِمَاتِ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D5-W03 · Apply workshop (D5-L05 + D5-L06)</a:t>
            </a:r>
            <a:endParaRPr lang="en-US" sz="850" dirty="0"/>
          </a:p>
        </p:txBody>
      </p:sp>
      <p:sp>
        <p:nvSpPr>
          <p:cNvPr id="15" name="Shape 12"/>
          <p:cNvSpPr/>
          <p:nvPr/>
        </p:nvSpPr>
        <p:spPr>
          <a:xfrm>
            <a:off x="457200" y="1810512"/>
            <a:ext cx="5715000" cy="4498848"/>
          </a:xfrm>
          <a:prstGeom prst="roundRect">
            <a:avLst>
              <a:gd name="adj" fmla="val 1626"/>
            </a:avLst>
          </a:prstGeom>
          <a:solidFill>
            <a:srgbClr val="F4F1EA"/>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20240"/>
            <a:ext cx="3108960" cy="292608"/>
          </a:xfrm>
          <a:prstGeom prst="roundRect">
            <a:avLst>
              <a:gd name="adj" fmla="val 50000"/>
            </a:avLst>
          </a:prstGeom>
          <a:solidFill>
            <a:srgbClr val="8A6D1E"/>
          </a:solidFill>
          <a:ln w="12700">
            <a:solidFill>
              <a:srgbClr val="8A6D1E"/>
            </a:solidFill>
            <a:prstDash val="solid"/>
          </a:ln>
        </p:spPr>
      </p:sp>
      <p:sp>
        <p:nvSpPr>
          <p:cNvPr id="17" name="Text 14"/>
          <p:cNvSpPr txBox="1"/>
          <p:nvPr/>
        </p:nvSpPr>
        <p:spPr>
          <a:xfrm>
            <a:off x="640080" y="1920240"/>
            <a:ext cx="3108960" cy="292608"/>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STEP 1 · PAIRS</a:t>
            </a:r>
            <a:endParaRPr lang="en-US" sz="900" dirty="0"/>
          </a:p>
        </p:txBody>
      </p:sp>
      <p:sp>
        <p:nvSpPr>
          <p:cNvPr id="18" name="Text 15"/>
          <p:cNvSpPr txBox="1"/>
          <p:nvPr/>
        </p:nvSpPr>
        <p:spPr>
          <a:xfrm>
            <a:off x="640080" y="2286000"/>
            <a:ext cx="5349240" cy="502920"/>
          </a:xfrm>
          <a:prstGeom prst="rect">
            <a:avLst/>
          </a:prstGeom>
          <a:noFill/>
          <a:ln/>
        </p:spPr>
        <p:txBody>
          <a:bodyPr wrap="square" lIns="0" tIns="0" rIns="0" bIns="0" rtlCol="0" anchor="ctr"/>
          <a:lstStyle/>
          <a:p>
            <a:pPr algn="l" indent="0" marL="0">
              <a:buNone/>
            </a:pPr>
            <a:r>
              <a:rPr lang="en-US" sz="2200" b="1" dirty="0">
                <a:solidFill>
                  <a:srgbClr val="1B3B6F"/>
                </a:solidFill>
                <a:latin typeface="Calibri" pitchFamily="34" charset="0"/>
                <a:cs typeface="Amiri" pitchFamily="2" charset="-78"/>
              </a:rPr>
              <a:t>🏁  English → Arabic, from both lessons</a:t>
            </a:r>
            <a:endParaRPr lang="en-US" sz="2200" dirty="0"/>
          </a:p>
        </p:txBody>
      </p:sp>
      <p:sp>
        <p:nvSpPr>
          <p:cNvPr id="19" name="Text 16"/>
          <p:cNvSpPr txBox="1"/>
          <p:nvPr/>
        </p:nvSpPr>
        <p:spPr>
          <a:xfrm>
            <a:off x="640080" y="2816352"/>
            <a:ext cx="5349240" cy="118872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The next two slides show words from D5-L05 and D5-L06. Partner A says a word in ENGLISH; Partner B says it in ARABIC. One point for every correct answer in 90 seconds — then swap.</a:t>
            </a:r>
            <a:endParaRPr lang="en-US" sz="1350" dirty="0"/>
          </a:p>
        </p:txBody>
      </p:sp>
      <p:sp>
        <p:nvSpPr>
          <p:cNvPr id="20" name="Text 17"/>
          <p:cNvSpPr txBox="1"/>
          <p:nvPr/>
        </p:nvSpPr>
        <p:spPr>
          <a:xfrm>
            <a:off x="640080" y="4041648"/>
            <a:ext cx="530352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HOW WE RUN IT ONLINE</a:t>
            </a:r>
            <a:endParaRPr lang="en-US" sz="950" dirty="0"/>
          </a:p>
        </p:txBody>
      </p:sp>
      <p:sp>
        <p:nvSpPr>
          <p:cNvPr id="21" name="Shape 18"/>
          <p:cNvSpPr/>
          <p:nvPr/>
        </p:nvSpPr>
        <p:spPr>
          <a:xfrm>
            <a:off x="658368" y="4407408"/>
            <a:ext cx="274320" cy="274320"/>
          </a:xfrm>
          <a:prstGeom prst="ellipse">
            <a:avLst/>
          </a:prstGeom>
          <a:solidFill>
            <a:srgbClr val="1B3B6F"/>
          </a:solidFill>
          <a:ln w="12700">
            <a:solidFill>
              <a:srgbClr val="1B3B6F"/>
            </a:solidFill>
            <a:prstDash val="solid"/>
          </a:ln>
        </p:spPr>
      </p:sp>
      <p:sp>
        <p:nvSpPr>
          <p:cNvPr id="22" name="Text 19"/>
          <p:cNvSpPr txBox="1"/>
          <p:nvPr/>
        </p:nvSpPr>
        <p:spPr>
          <a:xfrm>
            <a:off x="658368" y="44074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1</a:t>
            </a:r>
            <a:endParaRPr lang="en-US" sz="1000" dirty="0"/>
          </a:p>
        </p:txBody>
      </p:sp>
      <p:sp>
        <p:nvSpPr>
          <p:cNvPr id="23" name="Text 20"/>
          <p:cNvSpPr txBox="1"/>
          <p:nvPr/>
        </p:nvSpPr>
        <p:spPr>
          <a:xfrm>
            <a:off x="1024128" y="43342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Teacher: first round together (3 words from each slide).</a:t>
            </a:r>
            <a:endParaRPr lang="en-US" sz="1150" dirty="0"/>
          </a:p>
        </p:txBody>
      </p:sp>
      <p:sp>
        <p:nvSpPr>
          <p:cNvPr id="24" name="Shape 21"/>
          <p:cNvSpPr/>
          <p:nvPr/>
        </p:nvSpPr>
        <p:spPr>
          <a:xfrm>
            <a:off x="658368" y="4864608"/>
            <a:ext cx="274320" cy="274320"/>
          </a:xfrm>
          <a:prstGeom prst="ellipse">
            <a:avLst/>
          </a:prstGeom>
          <a:solidFill>
            <a:srgbClr val="1B3B6F"/>
          </a:solidFill>
          <a:ln w="12700">
            <a:solidFill>
              <a:srgbClr val="1B3B6F"/>
            </a:solidFill>
            <a:prstDash val="solid"/>
          </a:ln>
        </p:spPr>
      </p:sp>
      <p:sp>
        <p:nvSpPr>
          <p:cNvPr id="25" name="Text 22"/>
          <p:cNvSpPr txBox="1"/>
          <p:nvPr/>
        </p:nvSpPr>
        <p:spPr>
          <a:xfrm>
            <a:off x="658368" y="48646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2</a:t>
            </a:r>
            <a:endParaRPr lang="en-US" sz="1000" dirty="0"/>
          </a:p>
        </p:txBody>
      </p:sp>
      <p:sp>
        <p:nvSpPr>
          <p:cNvPr id="26" name="Text 23"/>
          <p:cNvSpPr txBox="1"/>
          <p:nvPr/>
        </p:nvSpPr>
        <p:spPr>
          <a:xfrm>
            <a:off x="1024128" y="47914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Pairs: 90 seconds each, as many as you can.</a:t>
            </a:r>
            <a:endParaRPr lang="en-US" sz="1150" dirty="0"/>
          </a:p>
        </p:txBody>
      </p:sp>
      <p:sp>
        <p:nvSpPr>
          <p:cNvPr id="27" name="Shape 24"/>
          <p:cNvSpPr/>
          <p:nvPr/>
        </p:nvSpPr>
        <p:spPr>
          <a:xfrm>
            <a:off x="658368" y="5321808"/>
            <a:ext cx="274320" cy="274320"/>
          </a:xfrm>
          <a:prstGeom prst="ellipse">
            <a:avLst/>
          </a:prstGeom>
          <a:solidFill>
            <a:srgbClr val="1B3B6F"/>
          </a:solidFill>
          <a:ln w="12700">
            <a:solidFill>
              <a:srgbClr val="1B3B6F"/>
            </a:solidFill>
            <a:prstDash val="solid"/>
          </a:ln>
        </p:spPr>
      </p:sp>
      <p:sp>
        <p:nvSpPr>
          <p:cNvPr id="28" name="Text 25"/>
          <p:cNvSpPr txBox="1"/>
          <p:nvPr/>
        </p:nvSpPr>
        <p:spPr>
          <a:xfrm>
            <a:off x="658368" y="53218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3</a:t>
            </a:r>
            <a:endParaRPr lang="en-US" sz="1000" dirty="0"/>
          </a:p>
        </p:txBody>
      </p:sp>
      <p:sp>
        <p:nvSpPr>
          <p:cNvPr id="29" name="Text 26"/>
          <p:cNvSpPr txBox="1"/>
          <p:nvPr/>
        </p:nvSpPr>
        <p:spPr>
          <a:xfrm>
            <a:off x="1024128" y="52486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Mix the lessons: one word from slide 1, one from slide 2.</a:t>
            </a:r>
            <a:endParaRPr lang="en-US" sz="1150" dirty="0"/>
          </a:p>
        </p:txBody>
      </p:sp>
      <p:sp>
        <p:nvSpPr>
          <p:cNvPr id="30" name="Shape 27"/>
          <p:cNvSpPr/>
          <p:nvPr/>
        </p:nvSpPr>
        <p:spPr>
          <a:xfrm>
            <a:off x="658368" y="5779008"/>
            <a:ext cx="274320" cy="274320"/>
          </a:xfrm>
          <a:prstGeom prst="ellipse">
            <a:avLst/>
          </a:prstGeom>
          <a:solidFill>
            <a:srgbClr val="1B3B6F"/>
          </a:solidFill>
          <a:ln w="12700">
            <a:solidFill>
              <a:srgbClr val="1B3B6F"/>
            </a:solidFill>
            <a:prstDash val="solid"/>
          </a:ln>
        </p:spPr>
      </p:sp>
      <p:sp>
        <p:nvSpPr>
          <p:cNvPr id="31" name="Text 28"/>
          <p:cNvSpPr txBox="1"/>
          <p:nvPr/>
        </p:nvSpPr>
        <p:spPr>
          <a:xfrm>
            <a:off x="658368" y="57790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4</a:t>
            </a:r>
            <a:endParaRPr lang="en-US" sz="1000" dirty="0"/>
          </a:p>
        </p:txBody>
      </p:sp>
      <p:sp>
        <p:nvSpPr>
          <p:cNvPr id="32" name="Text 29"/>
          <p:cNvSpPr txBox="1"/>
          <p:nvPr/>
        </p:nvSpPr>
        <p:spPr>
          <a:xfrm>
            <a:off x="1024128" y="57058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Last round: use two words — one from each lesson — in ONE sentence.</a:t>
            </a:r>
            <a:endParaRPr lang="en-US" sz="1150" dirty="0"/>
          </a:p>
        </p:txBody>
      </p:sp>
      <p:sp>
        <p:nvSpPr>
          <p:cNvPr id="33" name="Shape 30"/>
          <p:cNvSpPr/>
          <p:nvPr/>
        </p:nvSpPr>
        <p:spPr>
          <a:xfrm>
            <a:off x="6355080" y="1810512"/>
            <a:ext cx="5376672" cy="896112"/>
          </a:xfrm>
          <a:prstGeom prst="roundRect">
            <a:avLst>
              <a:gd name="adj" fmla="val 8163"/>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6473952" y="1901952"/>
            <a:ext cx="105156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6473952" y="190195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3"/>
          <p:cNvSpPr txBox="1"/>
          <p:nvPr/>
        </p:nvSpPr>
        <p:spPr>
          <a:xfrm>
            <a:off x="6473952" y="217627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Say the Arabic word clearly.</a:t>
            </a:r>
            <a:endParaRPr lang="en-US" sz="1150" dirty="0"/>
          </a:p>
        </p:txBody>
      </p:sp>
      <p:sp>
        <p:nvSpPr>
          <p:cNvPr id="37" name="Shape 34"/>
          <p:cNvSpPr/>
          <p:nvPr/>
        </p:nvSpPr>
        <p:spPr>
          <a:xfrm>
            <a:off x="6355080" y="2816352"/>
            <a:ext cx="5376672" cy="896112"/>
          </a:xfrm>
          <a:prstGeom prst="roundRect">
            <a:avLst>
              <a:gd name="adj" fmla="val 8163"/>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6473952" y="2907792"/>
            <a:ext cx="1051560" cy="256032"/>
          </a:xfrm>
          <a:prstGeom prst="roundRect">
            <a:avLst>
              <a:gd name="adj" fmla="val 50000"/>
            </a:avLst>
          </a:prstGeom>
          <a:solidFill>
            <a:srgbClr val="C9780A"/>
          </a:solidFill>
          <a:ln w="12700">
            <a:solidFill>
              <a:srgbClr val="C9780A"/>
            </a:solidFill>
            <a:prstDash val="solid"/>
          </a:ln>
        </p:spPr>
      </p:sp>
      <p:sp>
        <p:nvSpPr>
          <p:cNvPr id="39" name="Text 36"/>
          <p:cNvSpPr txBox="1"/>
          <p:nvPr/>
        </p:nvSpPr>
        <p:spPr>
          <a:xfrm>
            <a:off x="6473952" y="290779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7"/>
          <p:cNvSpPr txBox="1"/>
          <p:nvPr/>
        </p:nvSpPr>
        <p:spPr>
          <a:xfrm>
            <a:off x="6473952" y="318211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Say the word, then a short sentence with it.</a:t>
            </a:r>
            <a:endParaRPr lang="en-US" sz="1150" dirty="0"/>
          </a:p>
        </p:txBody>
      </p:sp>
      <p:sp>
        <p:nvSpPr>
          <p:cNvPr id="41" name="Shape 38"/>
          <p:cNvSpPr/>
          <p:nvPr/>
        </p:nvSpPr>
        <p:spPr>
          <a:xfrm>
            <a:off x="6355080" y="3822192"/>
            <a:ext cx="5376672" cy="896112"/>
          </a:xfrm>
          <a:prstGeom prst="roundRect">
            <a:avLst>
              <a:gd name="adj" fmla="val 8163"/>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473952" y="3913632"/>
            <a:ext cx="1051560" cy="256032"/>
          </a:xfrm>
          <a:prstGeom prst="roundRect">
            <a:avLst>
              <a:gd name="adj" fmla="val 50000"/>
            </a:avLst>
          </a:prstGeom>
          <a:solidFill>
            <a:srgbClr val="B83227"/>
          </a:solidFill>
          <a:ln w="12700">
            <a:solidFill>
              <a:srgbClr val="B83227"/>
            </a:solidFill>
            <a:prstDash val="solid"/>
          </a:ln>
        </p:spPr>
      </p:sp>
      <p:sp>
        <p:nvSpPr>
          <p:cNvPr id="43" name="Text 40"/>
          <p:cNvSpPr txBox="1"/>
          <p:nvPr/>
        </p:nvSpPr>
        <p:spPr>
          <a:xfrm>
            <a:off x="6473952" y="391363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1"/>
          <p:cNvSpPr txBox="1"/>
          <p:nvPr/>
        </p:nvSpPr>
        <p:spPr>
          <a:xfrm>
            <a:off x="6473952" y="418795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Join a word from each lesson in one sentence with ‏</a:t>
            </a:r>
            <a:pPr algn="l" indent="0" marL="0">
              <a:buNone/>
            </a:pPr>
            <a:r>
              <a:rPr lang="ar-SA" altLang="en-US" sz="1500" dirty="0">
                <a:solidFill>
                  <a:srgbClr val="1F2A37"/>
                </a:solidFill>
                <a:latin typeface="Amiri" pitchFamily="2" charset="-78"/>
                <a:ea typeface="Amiri" pitchFamily="2" charset="-78"/>
                <a:cs typeface="Amiri" pitchFamily="2" charset="-78"/>
              </a:rPr>
              <a:t>وَ</a:t>
            </a:r>
            <a:pPr algn="l" indent="0" marL="0">
              <a:buNone/>
            </a:pPr>
            <a:r>
              <a:rPr lang="en-US" sz="1150" dirty="0">
                <a:solidFill>
                  <a:srgbClr val="1F2A37"/>
                </a:solidFill>
                <a:latin typeface="Calibri" pitchFamily="34" charset="0"/>
                <a:cs typeface="Amiri" pitchFamily="2" charset="-78"/>
              </a:rPr>
              <a:t>‏ or ‏</a:t>
            </a:r>
            <a:pPr algn="l" indent="0" marL="0">
              <a:buNone/>
            </a:pPr>
            <a:r>
              <a:rPr lang="ar-SA" altLang="en-US" sz="1500" dirty="0">
                <a:solidFill>
                  <a:srgbClr val="1F2A37"/>
                </a:solidFill>
                <a:latin typeface="Amiri" pitchFamily="2" charset="-78"/>
                <a:ea typeface="Amiri" pitchFamily="2" charset="-78"/>
                <a:cs typeface="Amiri" pitchFamily="2" charset="-78"/>
              </a:rPr>
              <a:t>لِأَنَّ</a:t>
            </a:r>
            <a:pPr algn="l" indent="0" marL="0">
              <a:buNone/>
            </a:pPr>
            <a:r>
              <a:rPr lang="en-US" sz="1150" dirty="0">
                <a:solidFill>
                  <a:srgbClr val="1F2A37"/>
                </a:solidFill>
                <a:latin typeface="Calibri" pitchFamily="34" charset="0"/>
                <a:cs typeface="Amiri" pitchFamily="2" charset="-78"/>
              </a:rPr>
              <a:t>‏.</a:t>
            </a:r>
            <a:endParaRPr lang="en-US" sz="1150" dirty="0"/>
          </a:p>
        </p:txBody>
      </p:sp>
      <p:sp>
        <p:nvSpPr>
          <p:cNvPr id="45" name="Shape 42"/>
          <p:cNvSpPr/>
          <p:nvPr/>
        </p:nvSpPr>
        <p:spPr>
          <a:xfrm>
            <a:off x="6355080" y="4828032"/>
            <a:ext cx="5376672" cy="1481328"/>
          </a:xfrm>
          <a:prstGeom prst="roundRect">
            <a:avLst>
              <a:gd name="adj" fmla="val 493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Text 43"/>
          <p:cNvSpPr txBox="1"/>
          <p:nvPr/>
        </p:nvSpPr>
        <p:spPr>
          <a:xfrm>
            <a:off x="6492240" y="4882896"/>
            <a:ext cx="27432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USEFUL LANGUAGE</a:t>
            </a:r>
            <a:endParaRPr lang="en-US" sz="950" dirty="0"/>
          </a:p>
        </p:txBody>
      </p:sp>
      <p:sp>
        <p:nvSpPr>
          <p:cNvPr id="47" name="Text 44"/>
          <p:cNvSpPr txBox="1"/>
          <p:nvPr/>
        </p:nvSpPr>
        <p:spPr>
          <a:xfrm>
            <a:off x="8732520" y="5138928"/>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دَوْرُكَ! / دَوْرُكِ!</a:t>
            </a:r>
            <a:endParaRPr lang="ar-SA" sz="1300" dirty="0"/>
          </a:p>
        </p:txBody>
      </p:sp>
      <p:sp>
        <p:nvSpPr>
          <p:cNvPr id="48" name="Text 45"/>
          <p:cNvSpPr txBox="1"/>
          <p:nvPr/>
        </p:nvSpPr>
        <p:spPr>
          <a:xfrm>
            <a:off x="6492240" y="5138928"/>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your turn! (m. / f.)</a:t>
            </a:r>
            <a:endParaRPr lang="en-US" sz="1000" dirty="0"/>
          </a:p>
        </p:txBody>
      </p:sp>
      <p:sp>
        <p:nvSpPr>
          <p:cNvPr id="49" name="Text 46"/>
          <p:cNvSpPr txBox="1"/>
          <p:nvPr/>
        </p:nvSpPr>
        <p:spPr>
          <a:xfrm>
            <a:off x="8732520" y="5422392"/>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صَحِيحٌ!</a:t>
            </a:r>
            <a:endParaRPr lang="ar-SA" sz="1300" dirty="0"/>
          </a:p>
        </p:txBody>
      </p:sp>
      <p:sp>
        <p:nvSpPr>
          <p:cNvPr id="50" name="Text 47"/>
          <p:cNvSpPr txBox="1"/>
          <p:nvPr/>
        </p:nvSpPr>
        <p:spPr>
          <a:xfrm>
            <a:off x="6492240" y="5422392"/>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correct!</a:t>
            </a:r>
            <a:endParaRPr lang="en-US" sz="1000" dirty="0"/>
          </a:p>
        </p:txBody>
      </p:sp>
      <p:sp>
        <p:nvSpPr>
          <p:cNvPr id="51" name="Text 48"/>
          <p:cNvSpPr txBox="1"/>
          <p:nvPr/>
        </p:nvSpPr>
        <p:spPr>
          <a:xfrm>
            <a:off x="8732520" y="5705856"/>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حَاوِلْ مَرَّةً أُخْرَى</a:t>
            </a:r>
            <a:endParaRPr lang="ar-SA" sz="1300" dirty="0"/>
          </a:p>
        </p:txBody>
      </p:sp>
      <p:sp>
        <p:nvSpPr>
          <p:cNvPr id="52" name="Text 49"/>
          <p:cNvSpPr txBox="1"/>
          <p:nvPr/>
        </p:nvSpPr>
        <p:spPr>
          <a:xfrm>
            <a:off x="6492240" y="5705856"/>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try again</a:t>
            </a:r>
            <a:endParaRPr lang="en-US" sz="1000" dirty="0"/>
          </a:p>
        </p:txBody>
      </p:sp>
      <p:sp>
        <p:nvSpPr>
          <p:cNvPr id="53" name="Text 50"/>
          <p:cNvSpPr txBox="1"/>
          <p:nvPr/>
        </p:nvSpPr>
        <p:spPr>
          <a:xfrm>
            <a:off x="8732520" y="5989320"/>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نُقْطَةٌ لَكَ / لَكِ</a:t>
            </a:r>
            <a:endParaRPr lang="ar-SA" sz="1300" dirty="0"/>
          </a:p>
        </p:txBody>
      </p:sp>
      <p:sp>
        <p:nvSpPr>
          <p:cNvPr id="54" name="Text 51"/>
          <p:cNvSpPr txBox="1"/>
          <p:nvPr/>
        </p:nvSpPr>
        <p:spPr>
          <a:xfrm>
            <a:off x="6492240" y="5989320"/>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a point for you (m. / f.)</a:t>
            </a:r>
            <a:endParaRPr lang="en-US" sz="1000" dirty="0"/>
          </a:p>
        </p:txBody>
      </p:sp>
      <p:sp>
        <p:nvSpPr>
          <p:cNvPr id="55" name="Text 5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24</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D5-W03 · Apply workshop</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STEP 1 · WORDS FROM D5-L05</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1750" b="1" dirty="0">
                <a:solidFill>
                  <a:srgbClr val="1B3B6F"/>
                </a:solidFill>
                <a:latin typeface="Cambria" pitchFamily="34" charset="0"/>
                <a:cs typeface="Amiri" pitchFamily="2" charset="-78"/>
              </a:rPr>
              <a:t>D5-L05 · Storytelling — Narrative Connectors and </a:t>
            </a:r>
            <a:pPr algn="l" indent="0" marL="0">
              <a:buNone/>
            </a:pPr>
            <a:r>
              <a:rPr lang="ar-SA" altLang="en-US" sz="2300" b="1" dirty="0">
                <a:solidFill>
                  <a:srgbClr val="1B3B6F"/>
                </a:solidFill>
                <a:latin typeface="Amiri" pitchFamily="2" charset="-78"/>
                <a:ea typeface="Amiri" pitchFamily="2" charset="-78"/>
                <a:cs typeface="Amiri" pitchFamily="2" charset="-78"/>
              </a:rPr>
              <a:t>كَانَ</a:t>
            </a:r>
            <a:pPr algn="l" indent="0" marL="0">
              <a:buNone/>
            </a:pPr>
            <a:r>
              <a:rPr lang="en-US" sz="1750" b="1" dirty="0">
                <a:solidFill>
                  <a:srgbClr val="1B3B6F"/>
                </a:solidFill>
                <a:latin typeface="Cambria" pitchFamily="34" charset="0"/>
                <a:cs typeface="Amiri" pitchFamily="2" charset="-78"/>
              </a:rPr>
              <a:t> Description</a:t>
            </a:r>
            <a:endParaRPr lang="en-US" sz="1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 الأَوَّلِ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D5-W03 · Apply workshop (D5-L05 + D5-L06)</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فِي البِدَايَةِ</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at the beginning</a:t>
            </a:r>
            <a:endParaRPr lang="en-US" sz="1350" dirty="0"/>
          </a:p>
          <a:p>
            <a:pPr indent="0" marL="0">
              <a:buNone/>
            </a:pPr>
            <a:r>
              <a:rPr lang="en-US" sz="1100" i="1" dirty="0">
                <a:solidFill>
                  <a:srgbClr val="5A6472"/>
                </a:solidFill>
                <a:latin typeface="Calibri" pitchFamily="34" charset="0"/>
                <a:cs typeface="Amiri" pitchFamily="2" charset="-78"/>
              </a:rPr>
              <a:t>fī al-bi-dā-ya-ti</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a:t>
            </a:r>
            <a:endParaRPr lang="en-US" sz="1000" dirty="0"/>
          </a:p>
        </p:txBody>
      </p:sp>
      <p:sp>
        <p:nvSpPr>
          <p:cNvPr id="25" name="Shape 22"/>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7" name="Text 24"/>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فَجْأَةً</a:t>
            </a:r>
            <a:endParaRPr lang="ar-SA" sz="3000" dirty="0"/>
          </a:p>
        </p:txBody>
      </p:sp>
      <p:sp>
        <p:nvSpPr>
          <p:cNvPr id="28" name="Text 25"/>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suddenly</a:t>
            </a:r>
            <a:endParaRPr lang="en-US" sz="1350" dirty="0"/>
          </a:p>
          <a:p>
            <a:pPr indent="0" marL="0">
              <a:buNone/>
            </a:pPr>
            <a:r>
              <a:rPr lang="en-US" sz="1100" i="1" dirty="0">
                <a:solidFill>
                  <a:srgbClr val="5A6472"/>
                </a:solidFill>
                <a:latin typeface="Calibri" pitchFamily="34" charset="0"/>
                <a:cs typeface="Amiri" pitchFamily="2" charset="-78"/>
              </a:rPr>
              <a:t>faj-ʾa-tan</a:t>
            </a:r>
            <a:endParaRPr lang="en-US" sz="1350" dirty="0"/>
          </a:p>
        </p:txBody>
      </p:sp>
      <p:sp>
        <p:nvSpPr>
          <p:cNvPr id="29" name="Text 26"/>
          <p:cNvSpPr txBox="1"/>
          <p:nvPr/>
        </p:nvSpPr>
        <p:spPr>
          <a:xfrm>
            <a:off x="4416552" y="3621024"/>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cs typeface="Amiri" pitchFamily="2" charset="-78"/>
              </a:rPr>
              <a:t>Adverbial accusative; marks the turning point.</a:t>
            </a:r>
            <a:endParaRPr lang="en-US" sz="1000" dirty="0"/>
          </a:p>
        </p:txBody>
      </p:sp>
      <p:sp>
        <p:nvSpPr>
          <p:cNvPr id="30" name="Shape 27"/>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566928" y="1920240"/>
            <a:ext cx="310896" cy="310896"/>
          </a:xfrm>
          <a:prstGeom prst="ellipse">
            <a:avLst/>
          </a:prstGeom>
          <a:solidFill>
            <a:srgbClr val="F4F1EA"/>
          </a:solidFill>
          <a:ln w="12700">
            <a:solidFill>
              <a:srgbClr val="F4F1EA"/>
            </a:solidFill>
            <a:prstDash val="solid"/>
          </a:ln>
        </p:spPr>
      </p:sp>
      <p:sp>
        <p:nvSpPr>
          <p:cNvPr id="32" name="Text 29"/>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a:t>
            </a:r>
            <a:endParaRPr lang="en-US" sz="1000" dirty="0"/>
          </a:p>
        </p:txBody>
      </p:sp>
      <p:sp>
        <p:nvSpPr>
          <p:cNvPr id="33" name="Shape 30"/>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4" name="Text 31"/>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5" name="Text 32"/>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لِلْأَسَفِ</a:t>
            </a:r>
            <a:endParaRPr lang="ar-SA" sz="3000" dirty="0"/>
          </a:p>
        </p:txBody>
      </p:sp>
      <p:sp>
        <p:nvSpPr>
          <p:cNvPr id="36" name="Text 33"/>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unfortunately</a:t>
            </a:r>
            <a:endParaRPr lang="en-US" sz="1350" dirty="0"/>
          </a:p>
          <a:p>
            <a:pPr indent="0" marL="0">
              <a:buNone/>
            </a:pPr>
            <a:r>
              <a:rPr lang="en-US" sz="1100" i="1" dirty="0">
                <a:solidFill>
                  <a:srgbClr val="5A6472"/>
                </a:solidFill>
                <a:latin typeface="Calibri" pitchFamily="34" charset="0"/>
                <a:cs typeface="Amiri" pitchFamily="2" charset="-78"/>
              </a:rPr>
              <a:t>lil-ʾa-sa-fi</a:t>
            </a:r>
            <a:endParaRPr lang="en-US" sz="1350" dirty="0"/>
          </a:p>
        </p:txBody>
      </p:sp>
      <p:sp>
        <p:nvSpPr>
          <p:cNvPr id="37" name="Shape 34"/>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8211312" y="4261104"/>
            <a:ext cx="310896" cy="310896"/>
          </a:xfrm>
          <a:prstGeom prst="ellipse">
            <a:avLst/>
          </a:prstGeom>
          <a:solidFill>
            <a:srgbClr val="F4F1EA"/>
          </a:solidFill>
          <a:ln w="12700">
            <a:solidFill>
              <a:srgbClr val="F4F1EA"/>
            </a:solidFill>
            <a:prstDash val="solid"/>
          </a:ln>
        </p:spPr>
      </p:sp>
      <p:sp>
        <p:nvSpPr>
          <p:cNvPr id="39" name="Text 36"/>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a:t>
            </a:r>
            <a:endParaRPr lang="en-US" sz="1000" dirty="0"/>
          </a:p>
        </p:txBody>
      </p:sp>
      <p:sp>
        <p:nvSpPr>
          <p:cNvPr id="40" name="Shape 37"/>
          <p:cNvSpPr/>
          <p:nvPr/>
        </p:nvSpPr>
        <p:spPr>
          <a:xfrm>
            <a:off x="8604504" y="4279392"/>
            <a:ext cx="896112" cy="256032"/>
          </a:xfrm>
          <a:prstGeom prst="roundRect">
            <a:avLst>
              <a:gd name="adj" fmla="val 50000"/>
            </a:avLst>
          </a:prstGeom>
          <a:solidFill>
            <a:srgbClr val="EFE7D2"/>
          </a:solidFill>
          <a:ln w="12700">
            <a:solidFill>
              <a:srgbClr val="EFE7D2"/>
            </a:solidFill>
            <a:prstDash val="solid"/>
          </a:ln>
        </p:spPr>
      </p:sp>
      <p:sp>
        <p:nvSpPr>
          <p:cNvPr id="41" name="Text 38"/>
          <p:cNvSpPr txBox="1"/>
          <p:nvPr/>
        </p:nvSpPr>
        <p:spPr>
          <a:xfrm>
            <a:off x="8604504" y="4279392"/>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42" name="Shape 39"/>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43" name="Text 40"/>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4" name="Text 41"/>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كَانَ</a:t>
            </a:r>
            <a:endParaRPr lang="ar-SA" sz="3000" dirty="0"/>
          </a:p>
        </p:txBody>
      </p:sp>
      <p:sp>
        <p:nvSpPr>
          <p:cNvPr id="45" name="Text 42"/>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was (m. sing.)</a:t>
            </a:r>
            <a:endParaRPr lang="en-US" sz="1350" dirty="0"/>
          </a:p>
          <a:p>
            <a:pPr indent="0" marL="0">
              <a:buNone/>
            </a:pPr>
            <a:r>
              <a:rPr lang="en-US" sz="1100" i="1" dirty="0">
                <a:solidFill>
                  <a:srgbClr val="5A6472"/>
                </a:solidFill>
                <a:latin typeface="Calibri" pitchFamily="34" charset="0"/>
                <a:cs typeface="Amiri" pitchFamily="2" charset="-78"/>
              </a:rPr>
              <a:t>kā-na</a:t>
            </a:r>
            <a:endParaRPr lang="en-US" sz="1350" dirty="0"/>
          </a:p>
        </p:txBody>
      </p:sp>
      <p:sp>
        <p:nvSpPr>
          <p:cNvPr id="46" name="Shape 43"/>
          <p:cNvSpPr/>
          <p:nvPr/>
        </p:nvSpPr>
        <p:spPr>
          <a:xfrm>
            <a:off x="9966960" y="5779008"/>
            <a:ext cx="1636776" cy="438912"/>
          </a:xfrm>
          <a:prstGeom prst="roundRect">
            <a:avLst>
              <a:gd name="adj" fmla="val 10417"/>
            </a:avLst>
          </a:prstGeom>
          <a:solidFill>
            <a:srgbClr val="F4F1EA"/>
          </a:solidFill>
          <a:ln w="9525">
            <a:solidFill>
              <a:srgbClr val="F4F1EA"/>
            </a:solidFill>
            <a:prstDash val="solid"/>
          </a:ln>
        </p:spPr>
      </p:sp>
      <p:sp>
        <p:nvSpPr>
          <p:cNvPr id="47" name="Text 44"/>
          <p:cNvSpPr txBox="1"/>
          <p:nvPr/>
        </p:nvSpPr>
        <p:spPr>
          <a:xfrm>
            <a:off x="10021824"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48" name="Text 45"/>
          <p:cNvSpPr txBox="1"/>
          <p:nvPr/>
        </p:nvSpPr>
        <p:spPr>
          <a:xfrm>
            <a:off x="10012680"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كَانُوا</a:t>
            </a:r>
            <a:endParaRPr lang="ar-SA" sz="1500" dirty="0"/>
          </a:p>
        </p:txBody>
      </p:sp>
      <p:sp>
        <p:nvSpPr>
          <p:cNvPr id="49" name="Shape 46"/>
          <p:cNvSpPr/>
          <p:nvPr/>
        </p:nvSpPr>
        <p:spPr>
          <a:xfrm>
            <a:off x="8238744" y="5779008"/>
            <a:ext cx="1636776" cy="438912"/>
          </a:xfrm>
          <a:prstGeom prst="roundRect">
            <a:avLst>
              <a:gd name="adj" fmla="val 10417"/>
            </a:avLst>
          </a:prstGeom>
          <a:solidFill>
            <a:srgbClr val="F4F1EA"/>
          </a:solidFill>
          <a:ln w="9525">
            <a:solidFill>
              <a:srgbClr val="F4F1EA"/>
            </a:solidFill>
            <a:prstDash val="solid"/>
          </a:ln>
        </p:spPr>
      </p:sp>
      <p:sp>
        <p:nvSpPr>
          <p:cNvPr id="50" name="Text 47"/>
          <p:cNvSpPr txBox="1"/>
          <p:nvPr/>
        </p:nvSpPr>
        <p:spPr>
          <a:xfrm>
            <a:off x="8293608"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51" name="Text 48"/>
          <p:cNvSpPr txBox="1"/>
          <p:nvPr/>
        </p:nvSpPr>
        <p:spPr>
          <a:xfrm>
            <a:off x="8284464"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كَانَتْ</a:t>
            </a:r>
            <a:endParaRPr lang="ar-SA" sz="1500" dirty="0"/>
          </a:p>
        </p:txBody>
      </p:sp>
      <p:sp>
        <p:nvSpPr>
          <p:cNvPr id="52" name="Shape 49"/>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3" name="Shape 50"/>
          <p:cNvSpPr/>
          <p:nvPr/>
        </p:nvSpPr>
        <p:spPr>
          <a:xfrm>
            <a:off x="4389120" y="4261104"/>
            <a:ext cx="310896" cy="310896"/>
          </a:xfrm>
          <a:prstGeom prst="ellipse">
            <a:avLst/>
          </a:prstGeom>
          <a:solidFill>
            <a:srgbClr val="F4F1EA"/>
          </a:solidFill>
          <a:ln w="12700">
            <a:solidFill>
              <a:srgbClr val="F4F1EA"/>
            </a:solidFill>
            <a:prstDash val="solid"/>
          </a:ln>
        </p:spPr>
      </p:sp>
      <p:sp>
        <p:nvSpPr>
          <p:cNvPr id="54" name="Text 51"/>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5</a:t>
            </a:r>
            <a:endParaRPr lang="en-US" sz="1000" dirty="0"/>
          </a:p>
        </p:txBody>
      </p:sp>
      <p:sp>
        <p:nvSpPr>
          <p:cNvPr id="55" name="Shape 52"/>
          <p:cNvSpPr/>
          <p:nvPr/>
        </p:nvSpPr>
        <p:spPr>
          <a:xfrm>
            <a:off x="4782312" y="4279392"/>
            <a:ext cx="704088" cy="256032"/>
          </a:xfrm>
          <a:prstGeom prst="roundRect">
            <a:avLst>
              <a:gd name="adj" fmla="val 50000"/>
            </a:avLst>
          </a:prstGeom>
          <a:solidFill>
            <a:srgbClr val="EFE7D2"/>
          </a:solidFill>
          <a:ln w="12700">
            <a:solidFill>
              <a:srgbClr val="EFE7D2"/>
            </a:solidFill>
            <a:prstDash val="solid"/>
          </a:ln>
        </p:spPr>
      </p:sp>
      <p:sp>
        <p:nvSpPr>
          <p:cNvPr id="56" name="Text 53"/>
          <p:cNvSpPr txBox="1"/>
          <p:nvPr/>
        </p:nvSpPr>
        <p:spPr>
          <a:xfrm>
            <a:off x="4782312" y="4279392"/>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I · we</a:t>
            </a:r>
            <a:endParaRPr lang="en-US" sz="800" dirty="0"/>
          </a:p>
        </p:txBody>
      </p:sp>
      <p:sp>
        <p:nvSpPr>
          <p:cNvPr id="57" name="Shape 54"/>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58" name="Text 55"/>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9" name="Text 56"/>
          <p:cNvSpPr txBox="1"/>
          <p:nvPr/>
        </p:nvSpPr>
        <p:spPr>
          <a:xfrm>
            <a:off x="4389120"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كُنْتُ</a:t>
            </a:r>
            <a:endParaRPr lang="ar-SA" sz="3000" dirty="0"/>
          </a:p>
        </p:txBody>
      </p:sp>
      <p:sp>
        <p:nvSpPr>
          <p:cNvPr id="60" name="Text 57"/>
          <p:cNvSpPr txBox="1"/>
          <p:nvPr/>
        </p:nvSpPr>
        <p:spPr>
          <a:xfrm>
            <a:off x="4416552"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 was</a:t>
            </a:r>
            <a:endParaRPr lang="en-US" sz="1350" dirty="0"/>
          </a:p>
          <a:p>
            <a:pPr indent="0" marL="0">
              <a:buNone/>
            </a:pPr>
            <a:r>
              <a:rPr lang="en-US" sz="1100" i="1" dirty="0">
                <a:solidFill>
                  <a:srgbClr val="5A6472"/>
                </a:solidFill>
                <a:latin typeface="Calibri" pitchFamily="34" charset="0"/>
                <a:cs typeface="Amiri" pitchFamily="2" charset="-78"/>
              </a:rPr>
              <a:t>kun-tu</a:t>
            </a:r>
            <a:endParaRPr lang="en-US" sz="1350" dirty="0"/>
          </a:p>
        </p:txBody>
      </p:sp>
      <p:sp>
        <p:nvSpPr>
          <p:cNvPr id="61" name="Shape 58"/>
          <p:cNvSpPr/>
          <p:nvPr/>
        </p:nvSpPr>
        <p:spPr>
          <a:xfrm>
            <a:off x="4416552" y="5779008"/>
            <a:ext cx="3364992" cy="438912"/>
          </a:xfrm>
          <a:prstGeom prst="roundRect">
            <a:avLst>
              <a:gd name="adj" fmla="val 10417"/>
            </a:avLst>
          </a:prstGeom>
          <a:solidFill>
            <a:srgbClr val="F4F1EA"/>
          </a:solidFill>
          <a:ln w="9525">
            <a:solidFill>
              <a:srgbClr val="F4F1EA"/>
            </a:solidFill>
            <a:prstDash val="solid"/>
          </a:ln>
        </p:spPr>
      </p:sp>
      <p:sp>
        <p:nvSpPr>
          <p:cNvPr id="62" name="Text 59"/>
          <p:cNvSpPr txBox="1"/>
          <p:nvPr/>
        </p:nvSpPr>
        <p:spPr>
          <a:xfrm>
            <a:off x="4471416" y="5788152"/>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we</a:t>
            </a:r>
            <a:endParaRPr lang="en-US" sz="750" dirty="0"/>
          </a:p>
        </p:txBody>
      </p:sp>
      <p:sp>
        <p:nvSpPr>
          <p:cNvPr id="63" name="Text 60"/>
          <p:cNvSpPr txBox="1"/>
          <p:nvPr/>
        </p:nvSpPr>
        <p:spPr>
          <a:xfrm>
            <a:off x="4462272" y="5824728"/>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كُنَّا</a:t>
            </a:r>
            <a:endParaRPr lang="ar-SA" sz="1500" dirty="0"/>
          </a:p>
        </p:txBody>
      </p:sp>
      <p:sp>
        <p:nvSpPr>
          <p:cNvPr id="64" name="Shape 61"/>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5" name="Shape 62"/>
          <p:cNvSpPr/>
          <p:nvPr/>
        </p:nvSpPr>
        <p:spPr>
          <a:xfrm>
            <a:off x="566928" y="4261104"/>
            <a:ext cx="310896" cy="310896"/>
          </a:xfrm>
          <a:prstGeom prst="ellipse">
            <a:avLst/>
          </a:prstGeom>
          <a:solidFill>
            <a:srgbClr val="F4F1EA"/>
          </a:solidFill>
          <a:ln w="12700">
            <a:solidFill>
              <a:srgbClr val="F4F1EA"/>
            </a:solidFill>
            <a:prstDash val="solid"/>
          </a:ln>
        </p:spPr>
      </p:sp>
      <p:sp>
        <p:nvSpPr>
          <p:cNvPr id="66" name="Text 63"/>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6</a:t>
            </a:r>
            <a:endParaRPr lang="en-US" sz="1000" dirty="0"/>
          </a:p>
        </p:txBody>
      </p:sp>
      <p:sp>
        <p:nvSpPr>
          <p:cNvPr id="67" name="Shape 64"/>
          <p:cNvSpPr/>
          <p:nvPr/>
        </p:nvSpPr>
        <p:spPr>
          <a:xfrm>
            <a:off x="960120" y="4279392"/>
            <a:ext cx="833933" cy="256032"/>
          </a:xfrm>
          <a:prstGeom prst="roundRect">
            <a:avLst>
              <a:gd name="adj" fmla="val 50000"/>
            </a:avLst>
          </a:prstGeom>
          <a:solidFill>
            <a:srgbClr val="EFE7D2"/>
          </a:solidFill>
          <a:ln w="12700">
            <a:solidFill>
              <a:srgbClr val="EFE7D2"/>
            </a:solidFill>
            <a:prstDash val="solid"/>
          </a:ln>
        </p:spPr>
      </p:sp>
      <p:sp>
        <p:nvSpPr>
          <p:cNvPr id="68" name="Text 65"/>
          <p:cNvSpPr txBox="1"/>
          <p:nvPr/>
        </p:nvSpPr>
        <p:spPr>
          <a:xfrm>
            <a:off x="960120" y="4279392"/>
            <a:ext cx="833933"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Feminine.</a:t>
            </a:r>
            <a:endParaRPr lang="en-US" sz="800" dirty="0"/>
          </a:p>
        </p:txBody>
      </p:sp>
      <p:sp>
        <p:nvSpPr>
          <p:cNvPr id="69" name="Shape 66"/>
          <p:cNvSpPr/>
          <p:nvPr/>
        </p:nvSpPr>
        <p:spPr>
          <a:xfrm>
            <a:off x="3227832" y="4279392"/>
            <a:ext cx="731520" cy="256032"/>
          </a:xfrm>
          <a:prstGeom prst="roundRect">
            <a:avLst>
              <a:gd name="adj" fmla="val 50000"/>
            </a:avLst>
          </a:prstGeom>
          <a:solidFill>
            <a:srgbClr val="2E8B57"/>
          </a:solidFill>
          <a:ln w="12700">
            <a:solidFill>
              <a:srgbClr val="2E8B57"/>
            </a:solidFill>
            <a:prstDash val="solid"/>
          </a:ln>
        </p:spPr>
      </p:sp>
      <p:sp>
        <p:nvSpPr>
          <p:cNvPr id="70" name="Text 67"/>
          <p:cNvSpPr txBox="1"/>
          <p:nvPr/>
        </p:nvSpPr>
        <p:spPr>
          <a:xfrm>
            <a:off x="3227832"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71" name="Text 68"/>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ذِكْرَى / ذِكْرَيَاتٌ</a:t>
            </a:r>
            <a:endParaRPr lang="ar-SA" sz="3000" dirty="0"/>
          </a:p>
        </p:txBody>
      </p:sp>
      <p:sp>
        <p:nvSpPr>
          <p:cNvPr id="72" name="Text 69"/>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memory / memories</a:t>
            </a:r>
            <a:endParaRPr lang="en-US" sz="1350" dirty="0"/>
          </a:p>
          <a:p>
            <a:pPr indent="0" marL="0">
              <a:buNone/>
            </a:pPr>
            <a:r>
              <a:rPr lang="en-US" sz="1100" i="1" dirty="0">
                <a:solidFill>
                  <a:srgbClr val="5A6472"/>
                </a:solidFill>
                <a:latin typeface="Calibri" pitchFamily="34" charset="0"/>
                <a:cs typeface="Amiri" pitchFamily="2" charset="-78"/>
              </a:rPr>
              <a:t>dhik-rā / dhik-ra-yā-tun</a:t>
            </a:r>
            <a:endParaRPr lang="en-US" sz="1350" dirty="0"/>
          </a:p>
        </p:txBody>
      </p:sp>
      <p:sp>
        <p:nvSpPr>
          <p:cNvPr id="73" name="Text 7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24</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D5-W03 · Apply workshop</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STEP 1 · WORDS FROM D5-L06</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350" b="1" dirty="0">
                <a:solidFill>
                  <a:srgbClr val="1B3B6F"/>
                </a:solidFill>
                <a:latin typeface="Cambria" pitchFamily="34" charset="0"/>
                <a:cs typeface="Amiri" pitchFamily="2" charset="-78"/>
              </a:rPr>
              <a:t>D5-L06 · Music, Arts and Arabic Culture</a:t>
            </a:r>
            <a:endParaRPr lang="en-US" sz="23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 الثَّانِي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D5-W03 · Apply workshop (D5-L05 + D5-L06)</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7</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العُودُ</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the oud</a:t>
            </a:r>
            <a:endParaRPr lang="en-US" sz="1350" dirty="0"/>
          </a:p>
          <a:p>
            <a:pPr indent="0" marL="0">
              <a:buNone/>
            </a:pPr>
            <a:r>
              <a:rPr lang="en-US" sz="1100" i="1" dirty="0">
                <a:solidFill>
                  <a:srgbClr val="5A6472"/>
                </a:solidFill>
                <a:latin typeface="Calibri" pitchFamily="34" charset="0"/>
                <a:cs typeface="Amiri" pitchFamily="2" charset="-78"/>
              </a:rPr>
              <a:t>al-ʿū-du</a:t>
            </a:r>
            <a:endParaRPr lang="en-US" sz="1350" dirty="0"/>
          </a:p>
        </p:txBody>
      </p:sp>
      <p:sp>
        <p:nvSpPr>
          <p:cNvPr id="22" name="Text 19"/>
          <p:cNvSpPr txBox="1"/>
          <p:nvPr/>
        </p:nvSpPr>
        <p:spPr>
          <a:xfrm>
            <a:off x="8238744" y="3621024"/>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cs typeface="Amiri" pitchFamily="2" charset="-78"/>
              </a:rPr>
              <a:t>A short-necked lute, central to Arabic music.</a:t>
            </a:r>
            <a:endParaRPr lang="en-US" sz="1000" dirty="0"/>
          </a:p>
        </p:txBody>
      </p:sp>
      <p:sp>
        <p:nvSpPr>
          <p:cNvPr id="23" name="Shape 20"/>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389120" y="1920240"/>
            <a:ext cx="310896" cy="310896"/>
          </a:xfrm>
          <a:prstGeom prst="ellipse">
            <a:avLst/>
          </a:prstGeom>
          <a:solidFill>
            <a:srgbClr val="F4F1EA"/>
          </a:solidFill>
          <a:ln w="12700">
            <a:solidFill>
              <a:srgbClr val="F4F1EA"/>
            </a:solidFill>
            <a:prstDash val="solid"/>
          </a:ln>
        </p:spPr>
      </p:sp>
      <p:sp>
        <p:nvSpPr>
          <p:cNvPr id="25" name="Text 22"/>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8</a:t>
            </a:r>
            <a:endParaRPr lang="en-US" sz="1000" dirty="0"/>
          </a:p>
        </p:txBody>
      </p:sp>
      <p:sp>
        <p:nvSpPr>
          <p:cNvPr id="26" name="Shape 23"/>
          <p:cNvSpPr/>
          <p:nvPr/>
        </p:nvSpPr>
        <p:spPr>
          <a:xfrm>
            <a:off x="4782312" y="1938528"/>
            <a:ext cx="1082650" cy="256032"/>
          </a:xfrm>
          <a:prstGeom prst="roundRect">
            <a:avLst>
              <a:gd name="adj" fmla="val 50000"/>
            </a:avLst>
          </a:prstGeom>
          <a:solidFill>
            <a:srgbClr val="EFE7D2"/>
          </a:solidFill>
          <a:ln w="12700">
            <a:solidFill>
              <a:srgbClr val="EFE7D2"/>
            </a:solidFill>
            <a:prstDash val="solid"/>
          </a:ln>
        </p:spPr>
      </p:sp>
      <p:sp>
        <p:nvSpPr>
          <p:cNvPr id="27" name="Text 24"/>
          <p:cNvSpPr txBox="1"/>
          <p:nvPr/>
        </p:nvSpPr>
        <p:spPr>
          <a:xfrm>
            <a:off x="4782312" y="1938528"/>
            <a:ext cx="108265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A reed flute.</a:t>
            </a:r>
            <a:endParaRPr lang="en-US" sz="800" dirty="0"/>
          </a:p>
        </p:txBody>
      </p:sp>
      <p:sp>
        <p:nvSpPr>
          <p:cNvPr id="28" name="Shape 25"/>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9" name="Text 26"/>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0" name="Text 27"/>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النَّايُ</a:t>
            </a:r>
            <a:endParaRPr lang="ar-SA" sz="3000" dirty="0"/>
          </a:p>
        </p:txBody>
      </p:sp>
      <p:sp>
        <p:nvSpPr>
          <p:cNvPr id="31" name="Text 28"/>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the nay</a:t>
            </a:r>
            <a:endParaRPr lang="en-US" sz="1350" dirty="0"/>
          </a:p>
          <a:p>
            <a:pPr indent="0" marL="0">
              <a:buNone/>
            </a:pPr>
            <a:r>
              <a:rPr lang="en-US" sz="1100" i="1" dirty="0">
                <a:solidFill>
                  <a:srgbClr val="5A6472"/>
                </a:solidFill>
                <a:latin typeface="Calibri" pitchFamily="34" charset="0"/>
                <a:cs typeface="Amiri" pitchFamily="2" charset="-78"/>
              </a:rPr>
              <a:t>an-nā-yu</a:t>
            </a:r>
            <a:endParaRPr lang="en-US" sz="1350" dirty="0"/>
          </a:p>
        </p:txBody>
      </p:sp>
      <p:sp>
        <p:nvSpPr>
          <p:cNvPr id="32" name="Shape 29"/>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566928" y="1920240"/>
            <a:ext cx="310896" cy="310896"/>
          </a:xfrm>
          <a:prstGeom prst="ellipse">
            <a:avLst/>
          </a:prstGeom>
          <a:solidFill>
            <a:srgbClr val="F4F1EA"/>
          </a:solidFill>
          <a:ln w="12700">
            <a:solidFill>
              <a:srgbClr val="F4F1EA"/>
            </a:solidFill>
            <a:prstDash val="solid"/>
          </a:ln>
        </p:spPr>
      </p:sp>
      <p:sp>
        <p:nvSpPr>
          <p:cNvPr id="34" name="Text 31"/>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9</a:t>
            </a:r>
            <a:endParaRPr lang="en-US" sz="1000" dirty="0"/>
          </a:p>
        </p:txBody>
      </p:sp>
      <p:sp>
        <p:nvSpPr>
          <p:cNvPr id="35" name="Shape 32"/>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7" name="Text 34"/>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حَفْلَةٌ مُوسِيقِيَّةٌ</a:t>
            </a:r>
            <a:endParaRPr lang="ar-SA" sz="3000" dirty="0"/>
          </a:p>
        </p:txBody>
      </p:sp>
      <p:sp>
        <p:nvSpPr>
          <p:cNvPr id="38" name="Text 35"/>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concert</a:t>
            </a:r>
            <a:endParaRPr lang="en-US" sz="1350" dirty="0"/>
          </a:p>
          <a:p>
            <a:pPr indent="0" marL="0">
              <a:buNone/>
            </a:pPr>
            <a:r>
              <a:rPr lang="en-US" sz="1100" i="1" dirty="0">
                <a:solidFill>
                  <a:srgbClr val="5A6472"/>
                </a:solidFill>
                <a:latin typeface="Calibri" pitchFamily="34" charset="0"/>
                <a:cs typeface="Amiri" pitchFamily="2" charset="-78"/>
              </a:rPr>
              <a:t>ḥaf-la-tun mū-sī-qiy-ya-tun</a:t>
            </a:r>
            <a:endParaRPr lang="en-US" sz="1350" dirty="0"/>
          </a:p>
        </p:txBody>
      </p:sp>
      <p:sp>
        <p:nvSpPr>
          <p:cNvPr id="39" name="Text 36"/>
          <p:cNvSpPr txBox="1"/>
          <p:nvPr/>
        </p:nvSpPr>
        <p:spPr>
          <a:xfrm>
            <a:off x="594360" y="3621024"/>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cs typeface="Amiri" pitchFamily="2" charset="-78"/>
              </a:rPr>
              <a:t>The adjective agrees as feminine.</a:t>
            </a:r>
            <a:endParaRPr lang="en-US" sz="1000" dirty="0"/>
          </a:p>
        </p:txBody>
      </p:sp>
      <p:sp>
        <p:nvSpPr>
          <p:cNvPr id="40" name="Shape 37"/>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1" name="Shape 38"/>
          <p:cNvSpPr/>
          <p:nvPr/>
        </p:nvSpPr>
        <p:spPr>
          <a:xfrm>
            <a:off x="8211312" y="4261104"/>
            <a:ext cx="310896" cy="310896"/>
          </a:xfrm>
          <a:prstGeom prst="ellipse">
            <a:avLst/>
          </a:prstGeom>
          <a:solidFill>
            <a:srgbClr val="F4F1EA"/>
          </a:solidFill>
          <a:ln w="12700">
            <a:solidFill>
              <a:srgbClr val="F4F1EA"/>
            </a:solidFill>
            <a:prstDash val="solid"/>
          </a:ln>
        </p:spPr>
      </p:sp>
      <p:sp>
        <p:nvSpPr>
          <p:cNvPr id="42" name="Text 39"/>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10</a:t>
            </a:r>
            <a:endParaRPr lang="en-US" sz="1000" dirty="0"/>
          </a:p>
        </p:txBody>
      </p:sp>
      <p:sp>
        <p:nvSpPr>
          <p:cNvPr id="43" name="Shape 40"/>
          <p:cNvSpPr/>
          <p:nvPr/>
        </p:nvSpPr>
        <p:spPr>
          <a:xfrm>
            <a:off x="8604504" y="4279392"/>
            <a:ext cx="833933" cy="256032"/>
          </a:xfrm>
          <a:prstGeom prst="roundRect">
            <a:avLst>
              <a:gd name="adj" fmla="val 50000"/>
            </a:avLst>
          </a:prstGeom>
          <a:solidFill>
            <a:srgbClr val="EFE7D2"/>
          </a:solidFill>
          <a:ln w="12700">
            <a:solidFill>
              <a:srgbClr val="EFE7D2"/>
            </a:solidFill>
            <a:prstDash val="solid"/>
          </a:ln>
        </p:spPr>
      </p:sp>
      <p:sp>
        <p:nvSpPr>
          <p:cNvPr id="44" name="Text 41"/>
          <p:cNvSpPr txBox="1"/>
          <p:nvPr/>
        </p:nvSpPr>
        <p:spPr>
          <a:xfrm>
            <a:off x="8604504" y="4279392"/>
            <a:ext cx="833933"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Feminine.</a:t>
            </a:r>
            <a:endParaRPr lang="en-US" sz="800" dirty="0"/>
          </a:p>
        </p:txBody>
      </p:sp>
      <p:sp>
        <p:nvSpPr>
          <p:cNvPr id="45" name="Shape 42"/>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46" name="Text 43"/>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7" name="Text 44"/>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زَخْرَفَةٌ</a:t>
            </a:r>
            <a:endParaRPr lang="ar-SA" sz="3000" dirty="0"/>
          </a:p>
        </p:txBody>
      </p:sp>
      <p:sp>
        <p:nvSpPr>
          <p:cNvPr id="48" name="Text 45"/>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ornamentation, arabesque</a:t>
            </a:r>
            <a:endParaRPr lang="en-US" sz="1350" dirty="0"/>
          </a:p>
          <a:p>
            <a:pPr indent="0" marL="0">
              <a:buNone/>
            </a:pPr>
            <a:r>
              <a:rPr lang="en-US" sz="1100" i="1" dirty="0">
                <a:solidFill>
                  <a:srgbClr val="5A6472"/>
                </a:solidFill>
                <a:latin typeface="Calibri" pitchFamily="34" charset="0"/>
                <a:cs typeface="Amiri" pitchFamily="2" charset="-78"/>
              </a:rPr>
              <a:t>zakh-ra-fa-tun</a:t>
            </a:r>
            <a:endParaRPr lang="en-US" sz="1350" dirty="0"/>
          </a:p>
        </p:txBody>
      </p:sp>
      <p:sp>
        <p:nvSpPr>
          <p:cNvPr id="49" name="Shape 46"/>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0" name="Shape 47"/>
          <p:cNvSpPr/>
          <p:nvPr/>
        </p:nvSpPr>
        <p:spPr>
          <a:xfrm>
            <a:off x="4389120" y="4261104"/>
            <a:ext cx="310896" cy="310896"/>
          </a:xfrm>
          <a:prstGeom prst="ellipse">
            <a:avLst/>
          </a:prstGeom>
          <a:solidFill>
            <a:srgbClr val="F4F1EA"/>
          </a:solidFill>
          <a:ln w="12700">
            <a:solidFill>
              <a:srgbClr val="F4F1EA"/>
            </a:solidFill>
            <a:prstDash val="solid"/>
          </a:ln>
        </p:spPr>
      </p:sp>
      <p:sp>
        <p:nvSpPr>
          <p:cNvPr id="51" name="Text 48"/>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11</a:t>
            </a:r>
            <a:endParaRPr lang="en-US" sz="1000" dirty="0"/>
          </a:p>
        </p:txBody>
      </p:sp>
      <p:sp>
        <p:nvSpPr>
          <p:cNvPr id="52" name="Shape 49"/>
          <p:cNvSpPr/>
          <p:nvPr/>
        </p:nvSpPr>
        <p:spPr>
          <a:xfrm>
            <a:off x="4782312" y="4279392"/>
            <a:ext cx="896112" cy="256032"/>
          </a:xfrm>
          <a:prstGeom prst="roundRect">
            <a:avLst>
              <a:gd name="adj" fmla="val 50000"/>
            </a:avLst>
          </a:prstGeom>
          <a:solidFill>
            <a:srgbClr val="EFE7D2"/>
          </a:solidFill>
          <a:ln w="12700">
            <a:solidFill>
              <a:srgbClr val="EFE7D2"/>
            </a:solidFill>
            <a:prstDash val="solid"/>
          </a:ln>
        </p:spPr>
      </p:sp>
      <p:sp>
        <p:nvSpPr>
          <p:cNvPr id="53" name="Text 50"/>
          <p:cNvSpPr txBox="1"/>
          <p:nvPr/>
        </p:nvSpPr>
        <p:spPr>
          <a:xfrm>
            <a:off x="4782312" y="4279392"/>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Masculine.</a:t>
            </a:r>
            <a:endParaRPr lang="en-US" sz="800" dirty="0"/>
          </a:p>
        </p:txBody>
      </p:sp>
      <p:sp>
        <p:nvSpPr>
          <p:cNvPr id="54" name="Shape 51"/>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55" name="Text 52"/>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6" name="Text 53"/>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تُرَاثٌ مُوسِيقِيٌّ</a:t>
            </a:r>
            <a:endParaRPr lang="ar-SA" sz="3000" dirty="0"/>
          </a:p>
        </p:txBody>
      </p:sp>
      <p:sp>
        <p:nvSpPr>
          <p:cNvPr id="57" name="Text 54"/>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musical heritage</a:t>
            </a:r>
            <a:endParaRPr lang="en-US" sz="1350" dirty="0"/>
          </a:p>
          <a:p>
            <a:pPr indent="0" marL="0">
              <a:buNone/>
            </a:pPr>
            <a:r>
              <a:rPr lang="en-US" sz="1100" i="1" dirty="0">
                <a:solidFill>
                  <a:srgbClr val="5A6472"/>
                </a:solidFill>
                <a:latin typeface="Calibri" pitchFamily="34" charset="0"/>
                <a:cs typeface="Amiri" pitchFamily="2" charset="-78"/>
              </a:rPr>
              <a:t>tu-rā-thun mū-sī-qiy-yun</a:t>
            </a:r>
            <a:endParaRPr lang="en-US" sz="1350" dirty="0"/>
          </a:p>
        </p:txBody>
      </p:sp>
      <p:sp>
        <p:nvSpPr>
          <p:cNvPr id="58" name="Shape 55"/>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9" name="Shape 56"/>
          <p:cNvSpPr/>
          <p:nvPr/>
        </p:nvSpPr>
        <p:spPr>
          <a:xfrm>
            <a:off x="566928" y="4261104"/>
            <a:ext cx="310896" cy="310896"/>
          </a:xfrm>
          <a:prstGeom prst="ellipse">
            <a:avLst/>
          </a:prstGeom>
          <a:solidFill>
            <a:srgbClr val="F4F1EA"/>
          </a:solidFill>
          <a:ln w="12700">
            <a:solidFill>
              <a:srgbClr val="F4F1EA"/>
            </a:solidFill>
            <a:prstDash val="solid"/>
          </a:ln>
        </p:spPr>
      </p:sp>
      <p:sp>
        <p:nvSpPr>
          <p:cNvPr id="60" name="Text 57"/>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12</a:t>
            </a:r>
            <a:endParaRPr lang="en-US" sz="1000" dirty="0"/>
          </a:p>
        </p:txBody>
      </p:sp>
      <p:sp>
        <p:nvSpPr>
          <p:cNvPr id="61" name="Shape 58"/>
          <p:cNvSpPr/>
          <p:nvPr/>
        </p:nvSpPr>
        <p:spPr>
          <a:xfrm>
            <a:off x="960120" y="4279392"/>
            <a:ext cx="896112" cy="256032"/>
          </a:xfrm>
          <a:prstGeom prst="roundRect">
            <a:avLst>
              <a:gd name="adj" fmla="val 50000"/>
            </a:avLst>
          </a:prstGeom>
          <a:solidFill>
            <a:srgbClr val="EFE7D2"/>
          </a:solidFill>
          <a:ln w="12700">
            <a:solidFill>
              <a:srgbClr val="EFE7D2"/>
            </a:solidFill>
            <a:prstDash val="solid"/>
          </a:ln>
        </p:spPr>
      </p:sp>
      <p:sp>
        <p:nvSpPr>
          <p:cNvPr id="62" name="Text 59"/>
          <p:cNvSpPr txBox="1"/>
          <p:nvPr/>
        </p:nvSpPr>
        <p:spPr>
          <a:xfrm>
            <a:off x="960120" y="4279392"/>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she · past</a:t>
            </a:r>
            <a:endParaRPr lang="en-US" sz="800" dirty="0"/>
          </a:p>
        </p:txBody>
      </p:sp>
      <p:sp>
        <p:nvSpPr>
          <p:cNvPr id="63" name="Shape 60"/>
          <p:cNvSpPr/>
          <p:nvPr/>
        </p:nvSpPr>
        <p:spPr>
          <a:xfrm>
            <a:off x="3227832" y="4279392"/>
            <a:ext cx="731520" cy="256032"/>
          </a:xfrm>
          <a:prstGeom prst="roundRect">
            <a:avLst>
              <a:gd name="adj" fmla="val 50000"/>
            </a:avLst>
          </a:prstGeom>
          <a:solidFill>
            <a:srgbClr val="2E8B57"/>
          </a:solidFill>
          <a:ln w="12700">
            <a:solidFill>
              <a:srgbClr val="2E8B57"/>
            </a:solidFill>
            <a:prstDash val="solid"/>
          </a:ln>
        </p:spPr>
      </p:sp>
      <p:sp>
        <p:nvSpPr>
          <p:cNvPr id="64" name="Text 61"/>
          <p:cNvSpPr txBox="1"/>
          <p:nvPr/>
        </p:nvSpPr>
        <p:spPr>
          <a:xfrm>
            <a:off x="3227832"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65" name="Text 62"/>
          <p:cNvSpPr txBox="1"/>
          <p:nvPr/>
        </p:nvSpPr>
        <p:spPr>
          <a:xfrm>
            <a:off x="566928"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يُعَبِّرُ عَنْ</a:t>
            </a:r>
            <a:endParaRPr lang="ar-SA" sz="3000" dirty="0"/>
          </a:p>
        </p:txBody>
      </p:sp>
      <p:sp>
        <p:nvSpPr>
          <p:cNvPr id="66" name="Text 63"/>
          <p:cNvSpPr txBox="1"/>
          <p:nvPr/>
        </p:nvSpPr>
        <p:spPr>
          <a:xfrm>
            <a:off x="594360"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expresses</a:t>
            </a:r>
            <a:endParaRPr lang="en-US" sz="1350" dirty="0"/>
          </a:p>
          <a:p>
            <a:pPr indent="0" marL="0">
              <a:buNone/>
            </a:pPr>
            <a:r>
              <a:rPr lang="en-US" sz="1100" i="1" dirty="0">
                <a:solidFill>
                  <a:srgbClr val="5A6472"/>
                </a:solidFill>
                <a:latin typeface="Calibri" pitchFamily="34" charset="0"/>
                <a:cs typeface="Amiri" pitchFamily="2" charset="-78"/>
              </a:rPr>
              <a:t>yu-ʿab-bi-ru ʿan</a:t>
            </a:r>
            <a:endParaRPr lang="en-US" sz="1350" dirty="0"/>
          </a:p>
        </p:txBody>
      </p:sp>
      <p:sp>
        <p:nvSpPr>
          <p:cNvPr id="67" name="Shape 64"/>
          <p:cNvSpPr/>
          <p:nvPr/>
        </p:nvSpPr>
        <p:spPr>
          <a:xfrm>
            <a:off x="2322576" y="5779008"/>
            <a:ext cx="1636776" cy="438912"/>
          </a:xfrm>
          <a:prstGeom prst="roundRect">
            <a:avLst>
              <a:gd name="adj" fmla="val 10417"/>
            </a:avLst>
          </a:prstGeom>
          <a:solidFill>
            <a:srgbClr val="F4F1EA"/>
          </a:solidFill>
          <a:ln w="9525">
            <a:solidFill>
              <a:srgbClr val="F4F1EA"/>
            </a:solidFill>
            <a:prstDash val="solid"/>
          </a:ln>
        </p:spPr>
      </p:sp>
      <p:sp>
        <p:nvSpPr>
          <p:cNvPr id="68" name="Text 65"/>
          <p:cNvSpPr txBox="1"/>
          <p:nvPr/>
        </p:nvSpPr>
        <p:spPr>
          <a:xfrm>
            <a:off x="2377440" y="5788152"/>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past</a:t>
            </a:r>
            <a:endParaRPr lang="en-US" sz="700" dirty="0"/>
          </a:p>
        </p:txBody>
      </p:sp>
      <p:sp>
        <p:nvSpPr>
          <p:cNvPr id="69" name="Text 66"/>
          <p:cNvSpPr txBox="1"/>
          <p:nvPr/>
        </p:nvSpPr>
        <p:spPr>
          <a:xfrm>
            <a:off x="2368296" y="5916168"/>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عَبَّرَ</a:t>
            </a:r>
            <a:endParaRPr lang="ar-SA" sz="1350" dirty="0"/>
          </a:p>
        </p:txBody>
      </p:sp>
      <p:sp>
        <p:nvSpPr>
          <p:cNvPr id="70" name="Shape 67"/>
          <p:cNvSpPr/>
          <p:nvPr/>
        </p:nvSpPr>
        <p:spPr>
          <a:xfrm>
            <a:off x="594360" y="5779008"/>
            <a:ext cx="1636776" cy="438912"/>
          </a:xfrm>
          <a:prstGeom prst="roundRect">
            <a:avLst>
              <a:gd name="adj" fmla="val 10417"/>
            </a:avLst>
          </a:prstGeom>
          <a:solidFill>
            <a:srgbClr val="F4F1EA"/>
          </a:solidFill>
          <a:ln w="9525">
            <a:solidFill>
              <a:srgbClr val="F4F1EA"/>
            </a:solidFill>
            <a:prstDash val="solid"/>
          </a:ln>
        </p:spPr>
      </p:sp>
      <p:sp>
        <p:nvSpPr>
          <p:cNvPr id="71" name="Text 68"/>
          <p:cNvSpPr txBox="1"/>
          <p:nvPr/>
        </p:nvSpPr>
        <p:spPr>
          <a:xfrm>
            <a:off x="649224"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she</a:t>
            </a:r>
            <a:endParaRPr lang="en-US" sz="750" dirty="0"/>
          </a:p>
        </p:txBody>
      </p:sp>
      <p:sp>
        <p:nvSpPr>
          <p:cNvPr id="72" name="Text 69"/>
          <p:cNvSpPr txBox="1"/>
          <p:nvPr/>
        </p:nvSpPr>
        <p:spPr>
          <a:xfrm>
            <a:off x="640080"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تُعَبِّرُ</a:t>
            </a:r>
            <a:endParaRPr lang="ar-SA" sz="1500" dirty="0"/>
          </a:p>
        </p:txBody>
      </p:sp>
      <p:sp>
        <p:nvSpPr>
          <p:cNvPr id="73" name="Text 7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24</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D5-W03 · Apply workshop</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2F6FB0"/>
                </a:solidFill>
                <a:latin typeface="Calibri" pitchFamily="34" charset="0"/>
                <a:cs typeface="Amiri" pitchFamily="2" charset="-78"/>
              </a:rPr>
              <a:t>PART 1 · STEP 2 · WHICH LESSON? · READ EACH CARD, THEN SORT IT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Which lesson does it come from?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مِنْ أَيِّ 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D5-W03 · Apply workshop (D5-L05 + D5-L06)</a:t>
            </a:r>
            <a:endParaRPr lang="en-US" sz="850" dirty="0"/>
          </a:p>
        </p:txBody>
      </p:sp>
      <p:sp>
        <p:nvSpPr>
          <p:cNvPr id="15" name="Shape 12"/>
          <p:cNvSpPr/>
          <p:nvPr/>
        </p:nvSpPr>
        <p:spPr>
          <a:xfrm>
            <a:off x="9015984"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9107424"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كَانَ الطَّقْسُ … · كُنْتُ فِي …</a:t>
            </a:r>
            <a:endParaRPr lang="ar-SA" sz="1800" dirty="0"/>
          </a:p>
        </p:txBody>
      </p:sp>
      <p:sp>
        <p:nvSpPr>
          <p:cNvPr id="17" name="Shape 14"/>
          <p:cNvSpPr/>
          <p:nvPr/>
        </p:nvSpPr>
        <p:spPr>
          <a:xfrm>
            <a:off x="6163056"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254496"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زُرْتُ مَعْرِضًا … · حَضَرْتُ حَفْلَةً …</a:t>
            </a:r>
            <a:endParaRPr lang="ar-SA" sz="1800" dirty="0"/>
          </a:p>
        </p:txBody>
      </p:sp>
      <p:sp>
        <p:nvSpPr>
          <p:cNvPr id="19" name="Shape 16"/>
          <p:cNvSpPr/>
          <p:nvPr/>
        </p:nvSpPr>
        <p:spPr>
          <a:xfrm>
            <a:off x="3310128"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3401568"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 تُعَبِّرُ عَنْ …</a:t>
            </a:r>
            <a:endParaRPr lang="ar-SA" sz="1800" dirty="0"/>
          </a:p>
        </p:txBody>
      </p:sp>
      <p:sp>
        <p:nvSpPr>
          <p:cNvPr id="21" name="Shape 18"/>
          <p:cNvSpPr/>
          <p:nvPr/>
        </p:nvSpPr>
        <p:spPr>
          <a:xfrm>
            <a:off x="457200"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548640"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كُنَّا نَ… / كَانَ أَبِي يَ…</a:t>
            </a:r>
            <a:endParaRPr lang="ar-SA" sz="1800" dirty="0"/>
          </a:p>
        </p:txBody>
      </p:sp>
      <p:sp>
        <p:nvSpPr>
          <p:cNvPr id="23" name="Shape 20"/>
          <p:cNvSpPr/>
          <p:nvPr/>
        </p:nvSpPr>
        <p:spPr>
          <a:xfrm>
            <a:off x="9015984"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9107424"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فَجْأَةً … · فِي تِلْكَ اللَّحْظَةِ …</a:t>
            </a:r>
            <a:endParaRPr lang="ar-SA" sz="1800" dirty="0"/>
          </a:p>
        </p:txBody>
      </p:sp>
      <p:sp>
        <p:nvSpPr>
          <p:cNvPr id="25" name="Shape 22"/>
          <p:cNvSpPr/>
          <p:nvPr/>
        </p:nvSpPr>
        <p:spPr>
          <a:xfrm>
            <a:off x="6163056"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254496"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أَثَّرَ فِيَّ … · أَلْهَمَنِي …</a:t>
            </a:r>
            <a:endParaRPr lang="ar-SA" sz="1800" dirty="0"/>
          </a:p>
        </p:txBody>
      </p:sp>
      <p:sp>
        <p:nvSpPr>
          <p:cNvPr id="27" name="Shape 24"/>
          <p:cNvSpPr/>
          <p:nvPr/>
        </p:nvSpPr>
        <p:spPr>
          <a:xfrm>
            <a:off x="3310128"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3401568" y="2322576"/>
            <a:ext cx="2532888" cy="438912"/>
          </a:xfrm>
          <a:prstGeom prst="rect">
            <a:avLst/>
          </a:prstGeom>
          <a:noFill/>
          <a:ln/>
        </p:spPr>
        <p:txBody>
          <a:bodyPr wrap="square" lIns="0" tIns="0" rIns="0" bIns="0" rtlCol="0" anchor="ctr"/>
          <a:lstStyle/>
          <a:p>
            <a:pPr rtl="1" algn="ctr" indent="0" marL="0">
              <a:buNone/>
            </a:pPr>
            <a:r>
              <a:rPr lang="ar-SA" altLang="en-US" sz="1650" b="1" dirty="0">
                <a:solidFill>
                  <a:srgbClr val="1B3B6F"/>
                </a:solidFill>
                <a:latin typeface="Amiri" pitchFamily="2" charset="-78"/>
                <a:ea typeface="Amiri" pitchFamily="2" charset="-78"/>
                <a:cs typeface="Amiri" pitchFamily="2" charset="-78"/>
              </a:rPr>
              <a:t>فِي بَعْضِ البُلْدَانِ … · لَيْسَ دَائِمًا …</a:t>
            </a:r>
            <a:endParaRPr lang="ar-SA" sz="1650" dirty="0"/>
          </a:p>
        </p:txBody>
      </p:sp>
      <p:sp>
        <p:nvSpPr>
          <p:cNvPr id="29" name="Shape 26"/>
          <p:cNvSpPr/>
          <p:nvPr/>
        </p:nvSpPr>
        <p:spPr>
          <a:xfrm>
            <a:off x="457200"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548640"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مَا زِلْتُ أَتَذَكَّرُ …</a:t>
            </a:r>
            <a:endParaRPr lang="ar-SA" sz="1800" dirty="0"/>
          </a:p>
        </p:txBody>
      </p:sp>
      <p:sp>
        <p:nvSpPr>
          <p:cNvPr id="31" name="Shape 28"/>
          <p:cNvSpPr/>
          <p:nvPr/>
        </p:nvSpPr>
        <p:spPr>
          <a:xfrm>
            <a:off x="6185916" y="3017520"/>
            <a:ext cx="5545836" cy="3291840"/>
          </a:xfrm>
          <a:prstGeom prst="roundRect">
            <a:avLst>
              <a:gd name="adj" fmla="val 2222"/>
            </a:avLst>
          </a:prstGeom>
          <a:solidFill>
            <a:srgbClr val="EEF3FA"/>
          </a:solidFill>
          <a:ln w="9525">
            <a:solidFill>
              <a:srgbClr val="C9D6EA"/>
            </a:solidFill>
            <a:prstDash val="solid"/>
          </a:ln>
        </p:spPr>
      </p:sp>
      <p:sp>
        <p:nvSpPr>
          <p:cNvPr id="32" name="Shape 29"/>
          <p:cNvSpPr/>
          <p:nvPr/>
        </p:nvSpPr>
        <p:spPr>
          <a:xfrm>
            <a:off x="6323076" y="3127248"/>
            <a:ext cx="5271516" cy="310896"/>
          </a:xfrm>
          <a:prstGeom prst="roundRect">
            <a:avLst>
              <a:gd name="adj" fmla="val 50000"/>
            </a:avLst>
          </a:prstGeom>
          <a:solidFill>
            <a:srgbClr val="2F6FB0"/>
          </a:solidFill>
          <a:ln w="12700">
            <a:solidFill>
              <a:srgbClr val="2F6FB0"/>
            </a:solidFill>
            <a:prstDash val="solid"/>
          </a:ln>
        </p:spPr>
      </p:sp>
      <p:sp>
        <p:nvSpPr>
          <p:cNvPr id="33" name="Text 30"/>
          <p:cNvSpPr txBox="1"/>
          <p:nvPr/>
        </p:nvSpPr>
        <p:spPr>
          <a:xfrm>
            <a:off x="6323076" y="3127248"/>
            <a:ext cx="5271516" cy="310896"/>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1 · D5-L05 · Storytelling — Narrative Connectors and كَانَ Description</a:t>
            </a:r>
            <a:endParaRPr lang="en-US" sz="950" dirty="0"/>
          </a:p>
        </p:txBody>
      </p:sp>
      <p:sp>
        <p:nvSpPr>
          <p:cNvPr id="34" name="Shape 31"/>
          <p:cNvSpPr/>
          <p:nvPr/>
        </p:nvSpPr>
        <p:spPr>
          <a:xfrm>
            <a:off x="457200" y="3017520"/>
            <a:ext cx="5545836" cy="3291840"/>
          </a:xfrm>
          <a:prstGeom prst="roundRect">
            <a:avLst>
              <a:gd name="adj" fmla="val 2222"/>
            </a:avLst>
          </a:prstGeom>
          <a:solidFill>
            <a:srgbClr val="EEF3FA"/>
          </a:solidFill>
          <a:ln w="9525">
            <a:solidFill>
              <a:srgbClr val="C9D6EA"/>
            </a:solidFill>
            <a:prstDash val="solid"/>
          </a:ln>
        </p:spPr>
      </p:sp>
      <p:sp>
        <p:nvSpPr>
          <p:cNvPr id="35" name="Shape 32"/>
          <p:cNvSpPr/>
          <p:nvPr/>
        </p:nvSpPr>
        <p:spPr>
          <a:xfrm>
            <a:off x="594360" y="3127248"/>
            <a:ext cx="5271516" cy="310896"/>
          </a:xfrm>
          <a:prstGeom prst="roundRect">
            <a:avLst>
              <a:gd name="adj" fmla="val 50000"/>
            </a:avLst>
          </a:prstGeom>
          <a:solidFill>
            <a:srgbClr val="2F6FB0"/>
          </a:solidFill>
          <a:ln w="12700">
            <a:solidFill>
              <a:srgbClr val="2F6FB0"/>
            </a:solidFill>
            <a:prstDash val="solid"/>
          </a:ln>
        </p:spPr>
      </p:sp>
      <p:sp>
        <p:nvSpPr>
          <p:cNvPr id="36" name="Text 33"/>
          <p:cNvSpPr txBox="1"/>
          <p:nvPr/>
        </p:nvSpPr>
        <p:spPr>
          <a:xfrm>
            <a:off x="594360" y="3127248"/>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D5-L06 · Music, Arts and Arabic Culture</a:t>
            </a:r>
            <a:endParaRPr lang="en-US" sz="950" dirty="0"/>
          </a:p>
        </p:txBody>
      </p:sp>
      <p:sp>
        <p:nvSpPr>
          <p:cNvPr id="37" name="Text 3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24</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D5-W03 · Apply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2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Which lesson?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مِنْ أَيِّ 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D5-W03 · Apply workshop (D5-L05 + D5-L06)</a:t>
            </a:r>
            <a:endParaRPr lang="en-US" sz="850" dirty="0"/>
          </a:p>
        </p:txBody>
      </p:sp>
      <p:sp>
        <p:nvSpPr>
          <p:cNvPr id="15" name="Shape 12"/>
          <p:cNvSpPr/>
          <p:nvPr/>
        </p:nvSpPr>
        <p:spPr>
          <a:xfrm>
            <a:off x="6185916" y="1810512"/>
            <a:ext cx="5545836" cy="4498848"/>
          </a:xfrm>
          <a:prstGeom prst="roundRect">
            <a:avLst>
              <a:gd name="adj" fmla="val 1626"/>
            </a:avLst>
          </a:prstGeom>
          <a:solidFill>
            <a:srgbClr val="EEF3FA"/>
          </a:solidFill>
          <a:ln w="9525">
            <a:solidFill>
              <a:srgbClr val="C9D6EA"/>
            </a:solidFill>
            <a:prstDash val="solid"/>
          </a:ln>
        </p:spPr>
      </p:sp>
      <p:sp>
        <p:nvSpPr>
          <p:cNvPr id="16" name="Shape 13"/>
          <p:cNvSpPr/>
          <p:nvPr/>
        </p:nvSpPr>
        <p:spPr>
          <a:xfrm>
            <a:off x="6323076" y="1920240"/>
            <a:ext cx="5271516" cy="310896"/>
          </a:xfrm>
          <a:prstGeom prst="roundRect">
            <a:avLst>
              <a:gd name="adj" fmla="val 50000"/>
            </a:avLst>
          </a:prstGeom>
          <a:solidFill>
            <a:srgbClr val="2F6FB0"/>
          </a:solidFill>
          <a:ln w="12700">
            <a:solidFill>
              <a:srgbClr val="2F6FB0"/>
            </a:solidFill>
            <a:prstDash val="solid"/>
          </a:ln>
        </p:spPr>
      </p:sp>
      <p:sp>
        <p:nvSpPr>
          <p:cNvPr id="17" name="Text 14"/>
          <p:cNvSpPr txBox="1"/>
          <p:nvPr/>
        </p:nvSpPr>
        <p:spPr>
          <a:xfrm>
            <a:off x="6323076" y="1920240"/>
            <a:ext cx="5271516" cy="310896"/>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1 · D5-L05 · Storytelling — Narrative Connectors and كَانَ Description</a:t>
            </a:r>
            <a:endParaRPr lang="en-US" sz="950" dirty="0"/>
          </a:p>
        </p:txBody>
      </p:sp>
      <p:sp>
        <p:nvSpPr>
          <p:cNvPr id="18" name="Shape 15"/>
          <p:cNvSpPr/>
          <p:nvPr/>
        </p:nvSpPr>
        <p:spPr>
          <a:xfrm>
            <a:off x="6323076" y="2377440"/>
            <a:ext cx="5271516" cy="438912"/>
          </a:xfrm>
          <a:prstGeom prst="roundRect">
            <a:avLst>
              <a:gd name="adj" fmla="val 12500"/>
            </a:avLst>
          </a:prstGeom>
          <a:solidFill>
            <a:srgbClr val="FFF4DC"/>
          </a:solidFill>
          <a:ln w="9525">
            <a:solidFill>
              <a:srgbClr val="E6C98A"/>
            </a:solidFill>
            <a:prstDash val="solid"/>
          </a:ln>
        </p:spPr>
      </p:sp>
      <p:sp>
        <p:nvSpPr>
          <p:cNvPr id="19" name="Text 16"/>
          <p:cNvSpPr txBox="1"/>
          <p:nvPr/>
        </p:nvSpPr>
        <p:spPr>
          <a:xfrm>
            <a:off x="6414516" y="2377440"/>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كَانَ الطَّقْسُ … · كُنْتُ فِي …</a:t>
            </a:r>
            <a:endParaRPr lang="ar-SA" sz="1800" dirty="0"/>
          </a:p>
        </p:txBody>
      </p:sp>
      <p:sp>
        <p:nvSpPr>
          <p:cNvPr id="20" name="Shape 17"/>
          <p:cNvSpPr/>
          <p:nvPr/>
        </p:nvSpPr>
        <p:spPr>
          <a:xfrm>
            <a:off x="6323076" y="2889504"/>
            <a:ext cx="5271516" cy="438912"/>
          </a:xfrm>
          <a:prstGeom prst="roundRect">
            <a:avLst>
              <a:gd name="adj" fmla="val 12500"/>
            </a:avLst>
          </a:prstGeom>
          <a:solidFill>
            <a:srgbClr val="FFF4DC"/>
          </a:solidFill>
          <a:ln w="9525">
            <a:solidFill>
              <a:srgbClr val="E6C98A"/>
            </a:solidFill>
            <a:prstDash val="solid"/>
          </a:ln>
        </p:spPr>
      </p:sp>
      <p:sp>
        <p:nvSpPr>
          <p:cNvPr id="21" name="Text 18"/>
          <p:cNvSpPr txBox="1"/>
          <p:nvPr/>
        </p:nvSpPr>
        <p:spPr>
          <a:xfrm>
            <a:off x="6414516" y="2889504"/>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كُنَّا نَ… / كَانَ أَبِي يَ…</a:t>
            </a:r>
            <a:endParaRPr lang="ar-SA" sz="1800" dirty="0"/>
          </a:p>
        </p:txBody>
      </p:sp>
      <p:sp>
        <p:nvSpPr>
          <p:cNvPr id="22" name="Shape 19"/>
          <p:cNvSpPr/>
          <p:nvPr/>
        </p:nvSpPr>
        <p:spPr>
          <a:xfrm>
            <a:off x="6323076" y="3401568"/>
            <a:ext cx="5271516" cy="438912"/>
          </a:xfrm>
          <a:prstGeom prst="roundRect">
            <a:avLst>
              <a:gd name="adj" fmla="val 12500"/>
            </a:avLst>
          </a:prstGeom>
          <a:solidFill>
            <a:srgbClr val="FFF4DC"/>
          </a:solidFill>
          <a:ln w="9525">
            <a:solidFill>
              <a:srgbClr val="E6C98A"/>
            </a:solidFill>
            <a:prstDash val="solid"/>
          </a:ln>
        </p:spPr>
      </p:sp>
      <p:sp>
        <p:nvSpPr>
          <p:cNvPr id="23" name="Text 20"/>
          <p:cNvSpPr txBox="1"/>
          <p:nvPr/>
        </p:nvSpPr>
        <p:spPr>
          <a:xfrm>
            <a:off x="6414516" y="3401568"/>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فَجْأَةً … · فِي تِلْكَ اللَّحْظَةِ …</a:t>
            </a:r>
            <a:endParaRPr lang="ar-SA" sz="1800" dirty="0"/>
          </a:p>
        </p:txBody>
      </p:sp>
      <p:sp>
        <p:nvSpPr>
          <p:cNvPr id="24" name="Shape 21"/>
          <p:cNvSpPr/>
          <p:nvPr/>
        </p:nvSpPr>
        <p:spPr>
          <a:xfrm>
            <a:off x="6323076" y="3913632"/>
            <a:ext cx="5271516" cy="438912"/>
          </a:xfrm>
          <a:prstGeom prst="roundRect">
            <a:avLst>
              <a:gd name="adj" fmla="val 12500"/>
            </a:avLst>
          </a:prstGeom>
          <a:solidFill>
            <a:srgbClr val="FFF4DC"/>
          </a:solidFill>
          <a:ln w="9525">
            <a:solidFill>
              <a:srgbClr val="E6C98A"/>
            </a:solidFill>
            <a:prstDash val="solid"/>
          </a:ln>
        </p:spPr>
      </p:sp>
      <p:sp>
        <p:nvSpPr>
          <p:cNvPr id="25" name="Text 22"/>
          <p:cNvSpPr txBox="1"/>
          <p:nvPr/>
        </p:nvSpPr>
        <p:spPr>
          <a:xfrm>
            <a:off x="6414516" y="3913632"/>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مَا زِلْتُ أَتَذَكَّرُ …</a:t>
            </a:r>
            <a:endParaRPr lang="ar-SA" sz="1800" dirty="0"/>
          </a:p>
        </p:txBody>
      </p:sp>
      <p:sp>
        <p:nvSpPr>
          <p:cNvPr id="26" name="Shape 23"/>
          <p:cNvSpPr/>
          <p:nvPr/>
        </p:nvSpPr>
        <p:spPr>
          <a:xfrm>
            <a:off x="457200" y="1810512"/>
            <a:ext cx="5545836" cy="4498848"/>
          </a:xfrm>
          <a:prstGeom prst="roundRect">
            <a:avLst>
              <a:gd name="adj" fmla="val 1626"/>
            </a:avLst>
          </a:prstGeom>
          <a:solidFill>
            <a:srgbClr val="EEF3FA"/>
          </a:solidFill>
          <a:ln w="9525">
            <a:solidFill>
              <a:srgbClr val="C9D6EA"/>
            </a:solidFill>
            <a:prstDash val="solid"/>
          </a:ln>
        </p:spPr>
      </p:sp>
      <p:sp>
        <p:nvSpPr>
          <p:cNvPr id="27" name="Shape 24"/>
          <p:cNvSpPr/>
          <p:nvPr/>
        </p:nvSpPr>
        <p:spPr>
          <a:xfrm>
            <a:off x="594360" y="1920240"/>
            <a:ext cx="5271516" cy="310896"/>
          </a:xfrm>
          <a:prstGeom prst="roundRect">
            <a:avLst>
              <a:gd name="adj" fmla="val 50000"/>
            </a:avLst>
          </a:prstGeom>
          <a:solidFill>
            <a:srgbClr val="2F6FB0"/>
          </a:solidFill>
          <a:ln w="12700">
            <a:solidFill>
              <a:srgbClr val="2F6FB0"/>
            </a:solidFill>
            <a:prstDash val="solid"/>
          </a:ln>
        </p:spPr>
      </p:sp>
      <p:sp>
        <p:nvSpPr>
          <p:cNvPr id="28" name="Text 25"/>
          <p:cNvSpPr txBox="1"/>
          <p:nvPr/>
        </p:nvSpPr>
        <p:spPr>
          <a:xfrm>
            <a:off x="594360" y="1920240"/>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D5-L06 · Music, Arts and Arabic Culture</a:t>
            </a:r>
            <a:endParaRPr lang="en-US" sz="950" dirty="0"/>
          </a:p>
        </p:txBody>
      </p:sp>
      <p:sp>
        <p:nvSpPr>
          <p:cNvPr id="29" name="Shape 26"/>
          <p:cNvSpPr/>
          <p:nvPr/>
        </p:nvSpPr>
        <p:spPr>
          <a:xfrm>
            <a:off x="594360" y="2377440"/>
            <a:ext cx="5271516" cy="438912"/>
          </a:xfrm>
          <a:prstGeom prst="roundRect">
            <a:avLst>
              <a:gd name="adj" fmla="val 12500"/>
            </a:avLst>
          </a:prstGeom>
          <a:solidFill>
            <a:srgbClr val="FFF4DC"/>
          </a:solidFill>
          <a:ln w="9525">
            <a:solidFill>
              <a:srgbClr val="E6C98A"/>
            </a:solidFill>
            <a:prstDash val="solid"/>
          </a:ln>
        </p:spPr>
      </p:sp>
      <p:sp>
        <p:nvSpPr>
          <p:cNvPr id="30" name="Text 27"/>
          <p:cNvSpPr txBox="1"/>
          <p:nvPr/>
        </p:nvSpPr>
        <p:spPr>
          <a:xfrm>
            <a:off x="685800" y="2377440"/>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زُرْتُ مَعْرِضًا … · حَضَرْتُ حَفْلَةً …</a:t>
            </a:r>
            <a:endParaRPr lang="ar-SA" sz="1800" dirty="0"/>
          </a:p>
        </p:txBody>
      </p:sp>
      <p:sp>
        <p:nvSpPr>
          <p:cNvPr id="31" name="Shape 28"/>
          <p:cNvSpPr/>
          <p:nvPr/>
        </p:nvSpPr>
        <p:spPr>
          <a:xfrm>
            <a:off x="594360" y="2889504"/>
            <a:ext cx="5271516" cy="438912"/>
          </a:xfrm>
          <a:prstGeom prst="roundRect">
            <a:avLst>
              <a:gd name="adj" fmla="val 12500"/>
            </a:avLst>
          </a:prstGeom>
          <a:solidFill>
            <a:srgbClr val="FFF4DC"/>
          </a:solidFill>
          <a:ln w="9525">
            <a:solidFill>
              <a:srgbClr val="E6C98A"/>
            </a:solidFill>
            <a:prstDash val="solid"/>
          </a:ln>
        </p:spPr>
      </p:sp>
      <p:sp>
        <p:nvSpPr>
          <p:cNvPr id="32" name="Text 29"/>
          <p:cNvSpPr txBox="1"/>
          <p:nvPr/>
        </p:nvSpPr>
        <p:spPr>
          <a:xfrm>
            <a:off x="685800" y="2889504"/>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 تُعَبِّرُ عَنْ …</a:t>
            </a:r>
            <a:endParaRPr lang="ar-SA" sz="1800" dirty="0"/>
          </a:p>
        </p:txBody>
      </p:sp>
      <p:sp>
        <p:nvSpPr>
          <p:cNvPr id="33" name="Shape 30"/>
          <p:cNvSpPr/>
          <p:nvPr/>
        </p:nvSpPr>
        <p:spPr>
          <a:xfrm>
            <a:off x="594360" y="3401568"/>
            <a:ext cx="5271516" cy="438912"/>
          </a:xfrm>
          <a:prstGeom prst="roundRect">
            <a:avLst>
              <a:gd name="adj" fmla="val 12500"/>
            </a:avLst>
          </a:prstGeom>
          <a:solidFill>
            <a:srgbClr val="FFF4DC"/>
          </a:solidFill>
          <a:ln w="9525">
            <a:solidFill>
              <a:srgbClr val="E6C98A"/>
            </a:solidFill>
            <a:prstDash val="solid"/>
          </a:ln>
        </p:spPr>
      </p:sp>
      <p:sp>
        <p:nvSpPr>
          <p:cNvPr id="34" name="Text 31"/>
          <p:cNvSpPr txBox="1"/>
          <p:nvPr/>
        </p:nvSpPr>
        <p:spPr>
          <a:xfrm>
            <a:off x="685800" y="3401568"/>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أَثَّرَ فِيَّ … · أَلْهَمَنِي …</a:t>
            </a:r>
            <a:endParaRPr lang="ar-SA" sz="1800" dirty="0"/>
          </a:p>
        </p:txBody>
      </p:sp>
      <p:sp>
        <p:nvSpPr>
          <p:cNvPr id="35" name="Shape 32"/>
          <p:cNvSpPr/>
          <p:nvPr/>
        </p:nvSpPr>
        <p:spPr>
          <a:xfrm>
            <a:off x="594360" y="3913632"/>
            <a:ext cx="5271516" cy="438912"/>
          </a:xfrm>
          <a:prstGeom prst="roundRect">
            <a:avLst>
              <a:gd name="adj" fmla="val 12500"/>
            </a:avLst>
          </a:prstGeom>
          <a:solidFill>
            <a:srgbClr val="FFF4DC"/>
          </a:solidFill>
          <a:ln w="9525">
            <a:solidFill>
              <a:srgbClr val="E6C98A"/>
            </a:solidFill>
            <a:prstDash val="solid"/>
          </a:ln>
        </p:spPr>
      </p:sp>
      <p:sp>
        <p:nvSpPr>
          <p:cNvPr id="36" name="Text 33"/>
          <p:cNvSpPr txBox="1"/>
          <p:nvPr/>
        </p:nvSpPr>
        <p:spPr>
          <a:xfrm>
            <a:off x="685800" y="3913632"/>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فِي بَعْضِ البُلْدَانِ … · لَيْسَ دَائِمًا …</a:t>
            </a:r>
            <a:endParaRPr lang="ar-SA" sz="1800" dirty="0"/>
          </a:p>
        </p:txBody>
      </p:sp>
      <p:sp>
        <p:nvSpPr>
          <p:cNvPr id="37" name="Text 3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24</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D5-W03 · Apply workshop</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934" b="1" spc="150" kern="0" dirty="0">
                <a:solidFill>
                  <a:srgbClr val="2F6FB0"/>
                </a:solidFill>
                <a:latin typeface="Calibri" pitchFamily="34" charset="0"/>
                <a:cs typeface="Amiri" pitchFamily="2" charset="-78"/>
              </a:rPr>
              <a:t>PART 2 · STEP 3 · SAY THE MODEL DIALOGUE · BOTH LESSONS IN ONE CONVERSATION</a:t>
            </a:r>
            <a:endParaRPr lang="en-US" sz="934"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Tell me about the concert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احْكِ لِي عَنِ الحَفْلَةِ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D5-W03 · Apply workshop (D5-L05 + D5-L06)</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7754112" y="1810512"/>
            <a:ext cx="39044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7" name="Text 14"/>
          <p:cNvSpPr txBox="1"/>
          <p:nvPr/>
        </p:nvSpPr>
        <p:spPr>
          <a:xfrm>
            <a:off x="1444752" y="1810512"/>
            <a:ext cx="61630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Say it in Arabic</a:t>
            </a:r>
            <a:endParaRPr lang="en-US" sz="1100" dirty="0"/>
          </a:p>
        </p:txBody>
      </p:sp>
      <p:sp>
        <p:nvSpPr>
          <p:cNvPr id="18" name="Text 15"/>
          <p:cNvSpPr txBox="1"/>
          <p:nvPr/>
        </p:nvSpPr>
        <p:spPr>
          <a:xfrm>
            <a:off x="530352" y="1810512"/>
            <a:ext cx="7680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Who</a:t>
            </a:r>
            <a:endParaRPr lang="en-US" sz="1100" dirty="0"/>
          </a:p>
        </p:txBody>
      </p:sp>
      <p:sp>
        <p:nvSpPr>
          <p:cNvPr id="19" name="Shape 16"/>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0" name="Text 17"/>
          <p:cNvSpPr txBox="1"/>
          <p:nvPr/>
        </p:nvSpPr>
        <p:spPr>
          <a:xfrm>
            <a:off x="7790688" y="2267712"/>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How was the concert?</a:t>
            </a:r>
            <a:endParaRPr lang="en-US" sz="1100" dirty="0"/>
          </a:p>
        </p:txBody>
      </p:sp>
      <p:sp>
        <p:nvSpPr>
          <p:cNvPr id="21" name="Text 18"/>
          <p:cNvSpPr txBox="1"/>
          <p:nvPr/>
        </p:nvSpPr>
        <p:spPr>
          <a:xfrm>
            <a:off x="1463040" y="2267712"/>
            <a:ext cx="6126480" cy="559308"/>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2" charset="-78"/>
                <a:ea typeface="Amiri" pitchFamily="2" charset="-78"/>
                <a:cs typeface="Amiri" pitchFamily="2" charset="-78"/>
              </a:rPr>
              <a:t>كَيْفَ كَانَتِ الحَفْلَةُ؟</a:t>
            </a:r>
            <a:endParaRPr lang="ar-SA" sz="1900" dirty="0"/>
          </a:p>
        </p:txBody>
      </p:sp>
      <p:sp>
        <p:nvSpPr>
          <p:cNvPr id="22" name="Text 19"/>
          <p:cNvSpPr txBox="1"/>
          <p:nvPr/>
        </p:nvSpPr>
        <p:spPr>
          <a:xfrm>
            <a:off x="566928" y="2267712"/>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23" name="Shape 20"/>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24" name="Text 21"/>
          <p:cNvSpPr txBox="1"/>
          <p:nvPr/>
        </p:nvSpPr>
        <p:spPr>
          <a:xfrm>
            <a:off x="7790688" y="2881884"/>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 theatre was crowded, and the atmosphere was calm and lovely.</a:t>
            </a:r>
            <a:endParaRPr lang="en-US" sz="1100" dirty="0"/>
          </a:p>
        </p:txBody>
      </p:sp>
      <p:sp>
        <p:nvSpPr>
          <p:cNvPr id="25" name="Text 22"/>
          <p:cNvSpPr txBox="1"/>
          <p:nvPr/>
        </p:nvSpPr>
        <p:spPr>
          <a:xfrm>
            <a:off x="1463040" y="2881884"/>
            <a:ext cx="6126480" cy="559308"/>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2" charset="-78"/>
                <a:ea typeface="Amiri" pitchFamily="2" charset="-78"/>
                <a:cs typeface="Amiri" pitchFamily="2" charset="-78"/>
              </a:rPr>
              <a:t>كَانَ المَسْرَحُ مُزْدَحِمًا، وَكَانَ الجَوُّ هَادِئًا وَجَمِيلًا.</a:t>
            </a:r>
            <a:endParaRPr lang="ar-SA" sz="1900" dirty="0"/>
          </a:p>
        </p:txBody>
      </p:sp>
      <p:sp>
        <p:nvSpPr>
          <p:cNvPr id="26" name="Text 23"/>
          <p:cNvSpPr txBox="1"/>
          <p:nvPr/>
        </p:nvSpPr>
        <p:spPr>
          <a:xfrm>
            <a:off x="566928" y="2881884"/>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27" name="Shape 24"/>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28" name="Text 25"/>
          <p:cNvSpPr txBox="1"/>
          <p:nvPr/>
        </p:nvSpPr>
        <p:spPr>
          <a:xfrm>
            <a:off x="7790688" y="3496056"/>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And what were you doing?</a:t>
            </a:r>
            <a:endParaRPr lang="en-US" sz="1100" dirty="0"/>
          </a:p>
        </p:txBody>
      </p:sp>
      <p:sp>
        <p:nvSpPr>
          <p:cNvPr id="29" name="Text 26"/>
          <p:cNvSpPr txBox="1"/>
          <p:nvPr/>
        </p:nvSpPr>
        <p:spPr>
          <a:xfrm>
            <a:off x="1463040" y="3496056"/>
            <a:ext cx="6126480" cy="559308"/>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2" charset="-78"/>
                <a:ea typeface="Amiri" pitchFamily="2" charset="-78"/>
                <a:cs typeface="Amiri" pitchFamily="2" charset="-78"/>
              </a:rPr>
              <a:t>وَمَاذَا كُنْتُمْ تَفْعَلُونَ؟</a:t>
            </a:r>
            <a:endParaRPr lang="ar-SA" sz="1900" dirty="0"/>
          </a:p>
        </p:txBody>
      </p:sp>
      <p:sp>
        <p:nvSpPr>
          <p:cNvPr id="30" name="Text 27"/>
          <p:cNvSpPr txBox="1"/>
          <p:nvPr/>
        </p:nvSpPr>
        <p:spPr>
          <a:xfrm>
            <a:off x="566928" y="3496056"/>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31" name="Shape 28"/>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32" name="Text 29"/>
          <p:cNvSpPr txBox="1"/>
          <p:nvPr/>
        </p:nvSpPr>
        <p:spPr>
          <a:xfrm>
            <a:off x="7790688" y="4110228"/>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We were listening to the oud and the nay, and suddenly the player invited me onto the stage!</a:t>
            </a:r>
            <a:endParaRPr lang="en-US" sz="1100" dirty="0"/>
          </a:p>
        </p:txBody>
      </p:sp>
      <p:sp>
        <p:nvSpPr>
          <p:cNvPr id="33" name="Text 30"/>
          <p:cNvSpPr txBox="1"/>
          <p:nvPr/>
        </p:nvSpPr>
        <p:spPr>
          <a:xfrm>
            <a:off x="1463040" y="4110228"/>
            <a:ext cx="6126480" cy="559308"/>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2" charset="-78"/>
                <a:ea typeface="Amiri" pitchFamily="2" charset="-78"/>
                <a:cs typeface="Amiri" pitchFamily="2" charset="-78"/>
              </a:rPr>
              <a:t>كُنَّا نَسْتَمِعُ إِلَى العُودِ وَالنَّايِ، وَفَجْأَةً دَعَانِي العَازِفُ إِلَى المَسْرَحِ!</a:t>
            </a:r>
            <a:endParaRPr lang="ar-SA" sz="1900" dirty="0"/>
          </a:p>
        </p:txBody>
      </p:sp>
      <p:sp>
        <p:nvSpPr>
          <p:cNvPr id="34" name="Text 31"/>
          <p:cNvSpPr txBox="1"/>
          <p:nvPr/>
        </p:nvSpPr>
        <p:spPr>
          <a:xfrm>
            <a:off x="566928" y="4110228"/>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35" name="Shape 32"/>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36" name="Text 33"/>
          <p:cNvSpPr txBox="1"/>
          <p:nvPr/>
        </p:nvSpPr>
        <p:spPr>
          <a:xfrm>
            <a:off x="7790688" y="4724400"/>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And how did the music affect you?</a:t>
            </a:r>
            <a:endParaRPr lang="en-US" sz="1100" dirty="0"/>
          </a:p>
        </p:txBody>
      </p:sp>
      <p:sp>
        <p:nvSpPr>
          <p:cNvPr id="37" name="Text 34"/>
          <p:cNvSpPr txBox="1"/>
          <p:nvPr/>
        </p:nvSpPr>
        <p:spPr>
          <a:xfrm>
            <a:off x="1463040" y="4724400"/>
            <a:ext cx="6126480" cy="559308"/>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2" charset="-78"/>
                <a:ea typeface="Amiri" pitchFamily="2" charset="-78"/>
                <a:cs typeface="Amiri" pitchFamily="2" charset="-78"/>
              </a:rPr>
              <a:t>وَكَيْفَ أَثَّرَتْ فِيكِ المُوسِيقَى؟</a:t>
            </a:r>
            <a:endParaRPr lang="ar-SA" sz="1900" dirty="0"/>
          </a:p>
        </p:txBody>
      </p:sp>
      <p:sp>
        <p:nvSpPr>
          <p:cNvPr id="38" name="Text 35"/>
          <p:cNvSpPr txBox="1"/>
          <p:nvPr/>
        </p:nvSpPr>
        <p:spPr>
          <a:xfrm>
            <a:off x="566928" y="4724400"/>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39" name="Shape 36"/>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40" name="Text 37"/>
          <p:cNvSpPr txBox="1"/>
          <p:nvPr/>
        </p:nvSpPr>
        <p:spPr>
          <a:xfrm>
            <a:off x="7790688" y="5338572"/>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It expressed longing, and it inspired me to learn to play. I still remember that night.</a:t>
            </a:r>
            <a:endParaRPr lang="en-US" sz="1100" dirty="0"/>
          </a:p>
        </p:txBody>
      </p:sp>
      <p:sp>
        <p:nvSpPr>
          <p:cNvPr id="41" name="Text 38"/>
          <p:cNvSpPr txBox="1"/>
          <p:nvPr/>
        </p:nvSpPr>
        <p:spPr>
          <a:xfrm>
            <a:off x="1463040" y="5338572"/>
            <a:ext cx="6126480"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كَانَتْ تُعَبِّرُ عَنِ الحَنِينِ، وَأَلْهَمَتْنِي أَنْ أَتَعَلَّمَ العَزْفَ. مَا زِلْتُ أَتَذَكَّرُ تِلْكَ اللَّيْلَةَ.</a:t>
            </a:r>
            <a:endParaRPr lang="ar-SA" sz="1700" dirty="0"/>
          </a:p>
        </p:txBody>
      </p:sp>
      <p:sp>
        <p:nvSpPr>
          <p:cNvPr id="42" name="Text 39"/>
          <p:cNvSpPr txBox="1"/>
          <p:nvPr/>
        </p:nvSpPr>
        <p:spPr>
          <a:xfrm>
            <a:off x="566928" y="5338572"/>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43" name="Text 40"/>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00" b="1" dirty="0">
                <a:solidFill>
                  <a:srgbClr val="1B3B6F"/>
                </a:solidFill>
                <a:latin typeface="Calibri" pitchFamily="34" charset="0"/>
                <a:cs typeface="Amiri" pitchFamily="2" charset="-78"/>
              </a:rPr>
              <a:t>Round 1: read it in pairs (A and B). Round 2: swap letters. Round 3: cover the Arabic and say it from the English. Then change TWO details — one from each lesson — and say it again.</a:t>
            </a:r>
            <a:endParaRPr lang="en-US" sz="11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24</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D5-W03 · Apply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6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E6B52"/>
                </a:solidFill>
                <a:latin typeface="Calibri" pitchFamily="34" charset="0"/>
                <a:cs typeface="Amiri" pitchFamily="2" charset="-78"/>
              </a:rPr>
              <a:t>STEP 4 · QUESTION CARDS · QUESTIONS FROM BOTH LESSONS, MIXED</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300" b="1" dirty="0">
                <a:solidFill>
                  <a:srgbClr val="1B3B6F"/>
                </a:solidFill>
                <a:latin typeface="Cambria" pitchFamily="34" charset="0"/>
                <a:cs typeface="Amiri" pitchFamily="2" charset="-78"/>
              </a:rPr>
              <a:t>Mixed questions — answer, then add more</a:t>
            </a:r>
            <a:endParaRPr lang="en-US" sz="23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أَسْئِلَةٌ مِنَ الدَّرْسَيْنِ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D5-W03 · Apply workshop (D5-L05 + D5-L06)</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720072" y="1810512"/>
            <a:ext cx="193852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Add more (Develop · Stretch)</a:t>
            </a:r>
            <a:endParaRPr lang="en-US" sz="1100" dirty="0"/>
          </a:p>
        </p:txBody>
      </p:sp>
      <p:sp>
        <p:nvSpPr>
          <p:cNvPr id="17" name="Text 14"/>
          <p:cNvSpPr txBox="1"/>
          <p:nvPr/>
        </p:nvSpPr>
        <p:spPr>
          <a:xfrm>
            <a:off x="6976872" y="1810512"/>
            <a:ext cx="25968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Start your answer (Core)</a:t>
            </a:r>
            <a:endParaRPr lang="en-US" sz="1100" dirty="0"/>
          </a:p>
        </p:txBody>
      </p:sp>
      <p:sp>
        <p:nvSpPr>
          <p:cNvPr id="18" name="Text 15"/>
          <p:cNvSpPr txBox="1"/>
          <p:nvPr/>
        </p:nvSpPr>
        <p:spPr>
          <a:xfrm>
            <a:off x="4599432" y="1810512"/>
            <a:ext cx="22311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9" name="Text 16"/>
          <p:cNvSpPr txBox="1"/>
          <p:nvPr/>
        </p:nvSpPr>
        <p:spPr>
          <a:xfrm>
            <a:off x="1033272" y="1810512"/>
            <a:ext cx="34198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Partner A asks</a:t>
            </a:r>
            <a:endParaRPr lang="en-US" sz="1100" dirty="0"/>
          </a:p>
        </p:txBody>
      </p:sp>
      <p:sp>
        <p:nvSpPr>
          <p:cNvPr id="20" name="Text 17"/>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1" name="Shape 18"/>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2" name="Text 19"/>
          <p:cNvSpPr txBox="1"/>
          <p:nvPr/>
        </p:nvSpPr>
        <p:spPr>
          <a:xfrm>
            <a:off x="9738360" y="2267712"/>
            <a:ext cx="1901952" cy="55930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كُنَّا …</a:t>
            </a:r>
            <a:endParaRPr lang="ar-SA" sz="1500" dirty="0"/>
          </a:p>
        </p:txBody>
      </p:sp>
      <p:sp>
        <p:nvSpPr>
          <p:cNvPr id="23" name="Text 20"/>
          <p:cNvSpPr txBox="1"/>
          <p:nvPr/>
        </p:nvSpPr>
        <p:spPr>
          <a:xfrm>
            <a:off x="6995160" y="2267712"/>
            <a:ext cx="2560320" cy="559308"/>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كُنْتُ فِي … ، وَكَانَ الطَّقْسُ …</a:t>
            </a:r>
            <a:endParaRPr lang="ar-SA" sz="1600" dirty="0"/>
          </a:p>
        </p:txBody>
      </p:sp>
      <p:sp>
        <p:nvSpPr>
          <p:cNvPr id="24" name="Text 21"/>
          <p:cNvSpPr txBox="1"/>
          <p:nvPr/>
        </p:nvSpPr>
        <p:spPr>
          <a:xfrm>
            <a:off x="4636008" y="2267712"/>
            <a:ext cx="21945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 When and where were you?</a:t>
            </a:r>
            <a:endParaRPr lang="en-US" sz="1100" dirty="0"/>
          </a:p>
        </p:txBody>
      </p:sp>
      <p:sp>
        <p:nvSpPr>
          <p:cNvPr id="25" name="Text 22"/>
          <p:cNvSpPr txBox="1"/>
          <p:nvPr/>
        </p:nvSpPr>
        <p:spPr>
          <a:xfrm>
            <a:off x="1051560" y="2267712"/>
            <a:ext cx="3383280"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١) مَتَى وَأَيْنَ كُنْتَ؟</a:t>
            </a:r>
            <a:endParaRPr lang="ar-SA" sz="1700" dirty="0"/>
          </a:p>
        </p:txBody>
      </p:sp>
      <p:sp>
        <p:nvSpPr>
          <p:cNvPr id="26" name="Text 23"/>
          <p:cNvSpPr txBox="1"/>
          <p:nvPr/>
        </p:nvSpPr>
        <p:spPr>
          <a:xfrm>
            <a:off x="566928" y="2267712"/>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7" name="Shape 24"/>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9" name="Shape 26"/>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30" name="Text 27"/>
          <p:cNvSpPr txBox="1"/>
          <p:nvPr/>
        </p:nvSpPr>
        <p:spPr>
          <a:xfrm>
            <a:off x="9738360" y="2881884"/>
            <a:ext cx="1901952" cy="55930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لِأَنَّهَا تُعَبِّرُ عَنْ …</a:t>
            </a:r>
            <a:endParaRPr lang="ar-SA" sz="1500" dirty="0"/>
          </a:p>
        </p:txBody>
      </p:sp>
      <p:sp>
        <p:nvSpPr>
          <p:cNvPr id="31" name="Text 28"/>
          <p:cNvSpPr txBox="1"/>
          <p:nvPr/>
        </p:nvSpPr>
        <p:spPr>
          <a:xfrm>
            <a:off x="6995160" y="2881884"/>
            <a:ext cx="2560320" cy="559308"/>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نَعَمْ / أَحْيَانًا / لَا …</a:t>
            </a:r>
            <a:endParaRPr lang="ar-SA" sz="1600" dirty="0"/>
          </a:p>
        </p:txBody>
      </p:sp>
      <p:sp>
        <p:nvSpPr>
          <p:cNvPr id="32" name="Text 29"/>
          <p:cNvSpPr txBox="1"/>
          <p:nvPr/>
        </p:nvSpPr>
        <p:spPr>
          <a:xfrm>
            <a:off x="4636008" y="2881884"/>
            <a:ext cx="21945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Do you listen to Arabic music?</a:t>
            </a:r>
            <a:endParaRPr lang="en-US" sz="1100" dirty="0"/>
          </a:p>
        </p:txBody>
      </p:sp>
      <p:sp>
        <p:nvSpPr>
          <p:cNvPr id="33" name="Text 30"/>
          <p:cNvSpPr txBox="1"/>
          <p:nvPr/>
        </p:nvSpPr>
        <p:spPr>
          <a:xfrm>
            <a:off x="1051560" y="2881884"/>
            <a:ext cx="3383280"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هَلْ تَسْتَمِعُ إِلَى المُوسِيقَى العَرَبِيَّةِ؟</a:t>
            </a:r>
            <a:endParaRPr lang="ar-SA" sz="1700" dirty="0"/>
          </a:p>
        </p:txBody>
      </p:sp>
      <p:sp>
        <p:nvSpPr>
          <p:cNvPr id="34" name="Text 31"/>
          <p:cNvSpPr txBox="1"/>
          <p:nvPr/>
        </p:nvSpPr>
        <p:spPr>
          <a:xfrm>
            <a:off x="566928" y="2881884"/>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5" name="Shape 32"/>
          <p:cNvSpPr/>
          <p:nvPr/>
        </p:nvSpPr>
        <p:spPr>
          <a:xfrm>
            <a:off x="11091672" y="2927604"/>
            <a:ext cx="548640" cy="182880"/>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1091672" y="292760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7" name="Shape 34"/>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38" name="Text 35"/>
          <p:cNvSpPr txBox="1"/>
          <p:nvPr/>
        </p:nvSpPr>
        <p:spPr>
          <a:xfrm>
            <a:off x="9756648" y="3496056"/>
            <a:ext cx="190195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t>
            </a:r>
            <a:endParaRPr lang="en-US" sz="1100" dirty="0"/>
          </a:p>
        </p:txBody>
      </p:sp>
      <p:sp>
        <p:nvSpPr>
          <p:cNvPr id="39" name="Text 36"/>
          <p:cNvSpPr txBox="1"/>
          <p:nvPr/>
        </p:nvSpPr>
        <p:spPr>
          <a:xfrm>
            <a:off x="6995160" y="3496056"/>
            <a:ext cx="2560320" cy="559308"/>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كُنَّا نَلْعَبُ / كَانَ أَبِي يَقْرَأُ …</a:t>
            </a:r>
            <a:endParaRPr lang="ar-SA" sz="1600" dirty="0"/>
          </a:p>
        </p:txBody>
      </p:sp>
      <p:sp>
        <p:nvSpPr>
          <p:cNvPr id="40" name="Text 37"/>
          <p:cNvSpPr txBox="1"/>
          <p:nvPr/>
        </p:nvSpPr>
        <p:spPr>
          <a:xfrm>
            <a:off x="4636008" y="3496056"/>
            <a:ext cx="21945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 What were you doing?</a:t>
            </a:r>
            <a:endParaRPr lang="en-US" sz="1100" dirty="0"/>
          </a:p>
        </p:txBody>
      </p:sp>
      <p:sp>
        <p:nvSpPr>
          <p:cNvPr id="41" name="Text 38"/>
          <p:cNvSpPr txBox="1"/>
          <p:nvPr/>
        </p:nvSpPr>
        <p:spPr>
          <a:xfrm>
            <a:off x="1051560" y="3496056"/>
            <a:ext cx="3383280"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٢) مَاذَا كُنْتُمْ تَفْعَلُونَ؟</a:t>
            </a:r>
            <a:endParaRPr lang="ar-SA" sz="1700" dirty="0"/>
          </a:p>
        </p:txBody>
      </p:sp>
      <p:sp>
        <p:nvSpPr>
          <p:cNvPr id="42" name="Text 39"/>
          <p:cNvSpPr txBox="1"/>
          <p:nvPr/>
        </p:nvSpPr>
        <p:spPr>
          <a:xfrm>
            <a:off x="566928" y="3496056"/>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43" name="Shape 40"/>
          <p:cNvSpPr/>
          <p:nvPr/>
        </p:nvSpPr>
        <p:spPr>
          <a:xfrm>
            <a:off x="11091672" y="3541776"/>
            <a:ext cx="548640" cy="182880"/>
          </a:xfrm>
          <a:prstGeom prst="roundRect">
            <a:avLst>
              <a:gd name="adj" fmla="val 50000"/>
            </a:avLst>
          </a:prstGeom>
          <a:solidFill>
            <a:srgbClr val="2E8B57"/>
          </a:solidFill>
          <a:ln w="12700">
            <a:solidFill>
              <a:srgbClr val="2E8B57"/>
            </a:solidFill>
            <a:prstDash val="solid"/>
          </a:ln>
        </p:spPr>
      </p:sp>
      <p:sp>
        <p:nvSpPr>
          <p:cNvPr id="44" name="Text 41"/>
          <p:cNvSpPr txBox="1"/>
          <p:nvPr/>
        </p:nvSpPr>
        <p:spPr>
          <a:xfrm>
            <a:off x="11091672" y="354177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5" name="Shape 42"/>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46" name="Text 43"/>
          <p:cNvSpPr txBox="1"/>
          <p:nvPr/>
        </p:nvSpPr>
        <p:spPr>
          <a:xfrm>
            <a:off x="9756648" y="4110228"/>
            <a:ext cx="190195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t>
            </a:r>
            <a:endParaRPr lang="en-US" sz="1100" dirty="0"/>
          </a:p>
        </p:txBody>
      </p:sp>
      <p:sp>
        <p:nvSpPr>
          <p:cNvPr id="47" name="Text 44"/>
          <p:cNvSpPr txBox="1"/>
          <p:nvPr/>
        </p:nvSpPr>
        <p:spPr>
          <a:xfrm>
            <a:off x="6995160" y="4110228"/>
            <a:ext cx="2560320" cy="559308"/>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يُلْهِمُنِي … لِأَنَّ …</a:t>
            </a:r>
            <a:endParaRPr lang="ar-SA" sz="1600" dirty="0"/>
          </a:p>
        </p:txBody>
      </p:sp>
      <p:sp>
        <p:nvSpPr>
          <p:cNvPr id="48" name="Text 45"/>
          <p:cNvSpPr txBox="1"/>
          <p:nvPr/>
        </p:nvSpPr>
        <p:spPr>
          <a:xfrm>
            <a:off x="4636008" y="4110228"/>
            <a:ext cx="21945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Which art inspires you?</a:t>
            </a:r>
            <a:endParaRPr lang="en-US" sz="1100" dirty="0"/>
          </a:p>
        </p:txBody>
      </p:sp>
      <p:sp>
        <p:nvSpPr>
          <p:cNvPr id="49" name="Text 46"/>
          <p:cNvSpPr txBox="1"/>
          <p:nvPr/>
        </p:nvSpPr>
        <p:spPr>
          <a:xfrm>
            <a:off x="1051560" y="4110228"/>
            <a:ext cx="3383280"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 الفَنُّ الَّذِي يُلْهِمُكَ؟</a:t>
            </a:r>
            <a:endParaRPr lang="ar-SA" sz="1700" dirty="0"/>
          </a:p>
        </p:txBody>
      </p:sp>
      <p:sp>
        <p:nvSpPr>
          <p:cNvPr id="50" name="Text 47"/>
          <p:cNvSpPr txBox="1"/>
          <p:nvPr/>
        </p:nvSpPr>
        <p:spPr>
          <a:xfrm>
            <a:off x="566928" y="4110228"/>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51" name="Shape 48"/>
          <p:cNvSpPr/>
          <p:nvPr/>
        </p:nvSpPr>
        <p:spPr>
          <a:xfrm>
            <a:off x="11091672" y="4155948"/>
            <a:ext cx="548640" cy="182880"/>
          </a:xfrm>
          <a:prstGeom prst="roundRect">
            <a:avLst>
              <a:gd name="adj" fmla="val 50000"/>
            </a:avLst>
          </a:prstGeom>
          <a:solidFill>
            <a:srgbClr val="2E8B57"/>
          </a:solidFill>
          <a:ln w="12700">
            <a:solidFill>
              <a:srgbClr val="2E8B57"/>
            </a:solidFill>
            <a:prstDash val="solid"/>
          </a:ln>
        </p:spPr>
      </p:sp>
      <p:sp>
        <p:nvSpPr>
          <p:cNvPr id="52" name="Text 49"/>
          <p:cNvSpPr txBox="1"/>
          <p:nvPr/>
        </p:nvSpPr>
        <p:spPr>
          <a:xfrm>
            <a:off x="11091672" y="415594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53" name="Shape 50"/>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54" name="Text 51"/>
          <p:cNvSpPr txBox="1"/>
          <p:nvPr/>
        </p:nvSpPr>
        <p:spPr>
          <a:xfrm>
            <a:off x="9738360" y="4724400"/>
            <a:ext cx="1901952" cy="55930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فِي تِلْكَ اللَّحْظَةِ …</a:t>
            </a:r>
            <a:endParaRPr lang="ar-SA" sz="1500" dirty="0"/>
          </a:p>
        </p:txBody>
      </p:sp>
      <p:sp>
        <p:nvSpPr>
          <p:cNvPr id="55" name="Text 52"/>
          <p:cNvSpPr txBox="1"/>
          <p:nvPr/>
        </p:nvSpPr>
        <p:spPr>
          <a:xfrm>
            <a:off x="6995160" y="4724400"/>
            <a:ext cx="2560320" cy="559308"/>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فَجْأَةً …</a:t>
            </a:r>
            <a:endParaRPr lang="ar-SA" sz="1600" dirty="0"/>
          </a:p>
        </p:txBody>
      </p:sp>
      <p:sp>
        <p:nvSpPr>
          <p:cNvPr id="56" name="Text 53"/>
          <p:cNvSpPr txBox="1"/>
          <p:nvPr/>
        </p:nvSpPr>
        <p:spPr>
          <a:xfrm>
            <a:off x="4636008" y="4724400"/>
            <a:ext cx="21945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 What suddenly happened?</a:t>
            </a:r>
            <a:endParaRPr lang="en-US" sz="1100" dirty="0"/>
          </a:p>
        </p:txBody>
      </p:sp>
      <p:sp>
        <p:nvSpPr>
          <p:cNvPr id="57" name="Text 54"/>
          <p:cNvSpPr txBox="1"/>
          <p:nvPr/>
        </p:nvSpPr>
        <p:spPr>
          <a:xfrm>
            <a:off x="1051560" y="4724400"/>
            <a:ext cx="3383280"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٣) مَاذَا حَدَثَ فَجْأَةً؟</a:t>
            </a:r>
            <a:endParaRPr lang="ar-SA" sz="1700" dirty="0"/>
          </a:p>
        </p:txBody>
      </p:sp>
      <p:sp>
        <p:nvSpPr>
          <p:cNvPr id="58" name="Text 55"/>
          <p:cNvSpPr txBox="1"/>
          <p:nvPr/>
        </p:nvSpPr>
        <p:spPr>
          <a:xfrm>
            <a:off x="566928" y="4724400"/>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a:t>
            </a:r>
            <a:endParaRPr lang="en-US" sz="1100" dirty="0"/>
          </a:p>
        </p:txBody>
      </p:sp>
      <p:sp>
        <p:nvSpPr>
          <p:cNvPr id="59" name="Shape 56"/>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60" name="Text 57"/>
          <p:cNvSpPr txBox="1"/>
          <p:nvPr/>
        </p:nvSpPr>
        <p:spPr>
          <a:xfrm>
            <a:off x="9738360" y="5338572"/>
            <a:ext cx="1901952" cy="55930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وَكَانَ …</a:t>
            </a:r>
            <a:endParaRPr lang="ar-SA" sz="1500" dirty="0"/>
          </a:p>
        </p:txBody>
      </p:sp>
      <p:sp>
        <p:nvSpPr>
          <p:cNvPr id="61" name="Text 58"/>
          <p:cNvSpPr txBox="1"/>
          <p:nvPr/>
        </p:nvSpPr>
        <p:spPr>
          <a:xfrm>
            <a:off x="6995160" y="5338572"/>
            <a:ext cx="2560320" cy="559308"/>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نَعَمْ، زُرْتُ / حَضَرْتُ …</a:t>
            </a:r>
            <a:endParaRPr lang="ar-SA" sz="1600" dirty="0"/>
          </a:p>
        </p:txBody>
      </p:sp>
      <p:sp>
        <p:nvSpPr>
          <p:cNvPr id="62" name="Text 59"/>
          <p:cNvSpPr txBox="1"/>
          <p:nvPr/>
        </p:nvSpPr>
        <p:spPr>
          <a:xfrm>
            <a:off x="4636008" y="5338572"/>
            <a:ext cx="21945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Have you visited an exhibition or attended a concert?</a:t>
            </a:r>
            <a:endParaRPr lang="en-US" sz="1100" dirty="0"/>
          </a:p>
        </p:txBody>
      </p:sp>
      <p:sp>
        <p:nvSpPr>
          <p:cNvPr id="63" name="Text 60"/>
          <p:cNvSpPr txBox="1"/>
          <p:nvPr/>
        </p:nvSpPr>
        <p:spPr>
          <a:xfrm>
            <a:off x="1051560" y="5338572"/>
            <a:ext cx="3383280"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هَلْ زُرْتَ مَعْرِضًا أَوْ حَضَرْتَ حَفْلَةً مُوسِيقِيَّةً؟</a:t>
            </a:r>
            <a:endParaRPr lang="ar-SA" sz="1700" dirty="0"/>
          </a:p>
        </p:txBody>
      </p:sp>
      <p:sp>
        <p:nvSpPr>
          <p:cNvPr id="64" name="Text 61"/>
          <p:cNvSpPr txBox="1"/>
          <p:nvPr/>
        </p:nvSpPr>
        <p:spPr>
          <a:xfrm>
            <a:off x="566928" y="5338572"/>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6</a:t>
            </a:r>
            <a:endParaRPr lang="en-US" sz="1100" dirty="0"/>
          </a:p>
        </p:txBody>
      </p:sp>
      <p:sp>
        <p:nvSpPr>
          <p:cNvPr id="65" name="Text 62"/>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00" b="1" dirty="0">
                <a:solidFill>
                  <a:srgbClr val="1B3B6F"/>
                </a:solidFill>
                <a:latin typeface="Calibri" pitchFamily="34" charset="0"/>
                <a:cs typeface="Amiri" pitchFamily="2" charset="-78"/>
              </a:rPr>
              <a:t>Odd numbers come from D5-L05, even numbers from D5-L06. Core: a full sentence from the starter. Develop: add the “more” part. Stretch: link two answers with ‏</a:t>
            </a:r>
            <a:pPr algn="l" indent="0" marL="0">
              <a:buNone/>
            </a:pPr>
            <a:r>
              <a:rPr lang="ar-SA" altLang="en-US" sz="1450" b="1" dirty="0">
                <a:solidFill>
                  <a:srgbClr val="1B3B6F"/>
                </a:solidFill>
                <a:latin typeface="Amiri" pitchFamily="2" charset="-78"/>
                <a:ea typeface="Amiri" pitchFamily="2" charset="-78"/>
                <a:cs typeface="Amiri" pitchFamily="2" charset="-78"/>
              </a:rPr>
              <a:t>وَ</a:t>
            </a:r>
            <a:pPr algn="l" indent="0" marL="0">
              <a:buNone/>
            </a:pPr>
            <a:r>
              <a:rPr lang="en-US" sz="1100" b="1" dirty="0">
                <a:solidFill>
                  <a:srgbClr val="1B3B6F"/>
                </a:solidFill>
                <a:latin typeface="Calibri" pitchFamily="34" charset="0"/>
                <a:cs typeface="Amiri" pitchFamily="2" charset="-78"/>
              </a:rPr>
              <a:t>‏, ‏</a:t>
            </a:r>
            <a:pPr algn="l" indent="0" marL="0">
              <a:buNone/>
            </a:pPr>
            <a:r>
              <a:rPr lang="ar-SA" altLang="en-US" sz="1450" b="1" dirty="0">
                <a:solidFill>
                  <a:srgbClr val="1B3B6F"/>
                </a:solidFill>
                <a:latin typeface="Amiri" pitchFamily="2" charset="-78"/>
                <a:ea typeface="Amiri" pitchFamily="2" charset="-78"/>
                <a:cs typeface="Amiri" pitchFamily="2" charset="-78"/>
              </a:rPr>
              <a:t>لِأَنَّ</a:t>
            </a:r>
            <a:pPr algn="l" indent="0" marL="0">
              <a:buNone/>
            </a:pPr>
            <a:r>
              <a:rPr lang="en-US" sz="1100" b="1" dirty="0">
                <a:solidFill>
                  <a:srgbClr val="1B3B6F"/>
                </a:solidFill>
                <a:latin typeface="Calibri" pitchFamily="34" charset="0"/>
                <a:cs typeface="Amiri" pitchFamily="2" charset="-78"/>
              </a:rPr>
              <a:t>‏ or ‏</a:t>
            </a:r>
            <a:pPr algn="l" indent="0" marL="0">
              <a:buNone/>
            </a:pPr>
            <a:r>
              <a:rPr lang="ar-SA" altLang="en-US" sz="1450" b="1" dirty="0">
                <a:solidFill>
                  <a:srgbClr val="1B3B6F"/>
                </a:solidFill>
                <a:latin typeface="Amiri" pitchFamily="2" charset="-78"/>
                <a:ea typeface="Amiri" pitchFamily="2" charset="-78"/>
                <a:cs typeface="Amiri" pitchFamily="2" charset="-78"/>
              </a:rPr>
              <a:t>لٰكِنَّ</a:t>
            </a:r>
            <a:pPr algn="l" indent="0" marL="0">
              <a:buNone/>
            </a:pPr>
            <a:r>
              <a:rPr lang="en-US" sz="1100" b="1" dirty="0">
                <a:solidFill>
                  <a:srgbClr val="1B3B6F"/>
                </a:solidFill>
                <a:latin typeface="Calibri" pitchFamily="34" charset="0"/>
                <a:cs typeface="Amiri" pitchFamily="2" charset="-78"/>
              </a:rPr>
              <a:t>‏. Swap after each question.</a:t>
            </a:r>
            <a:endParaRPr lang="en-US" sz="1100" dirty="0"/>
          </a:p>
        </p:txBody>
      </p:sp>
      <p:sp>
        <p:nvSpPr>
          <p:cNvPr id="66" name="Text 6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24</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D5-W03 · Apply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7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934" b="1" spc="150" kern="0" dirty="0">
                <a:solidFill>
                  <a:srgbClr val="1E6B52"/>
                </a:solidFill>
                <a:latin typeface="Calibri" pitchFamily="34" charset="0"/>
                <a:cs typeface="Amiri" pitchFamily="2" charset="-78"/>
              </a:rPr>
              <a:t>STEP 5 · ROLE-PLAY CARD · PLANS FOR TASKS 1–2 ARE GIVEN — PLAN 3–5 YOURSELF</a:t>
            </a:r>
            <a:endParaRPr lang="en-US" sz="934"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Story card — the five steps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بِطَاقَةُ القِصَّةِ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D5-W03 · Apply workshop (D5-L05 + D5-L06)</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257032" y="1810512"/>
            <a:ext cx="34015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Plan: first words</a:t>
            </a:r>
            <a:endParaRPr lang="en-US" sz="1100" dirty="0"/>
          </a:p>
        </p:txBody>
      </p:sp>
      <p:sp>
        <p:nvSpPr>
          <p:cNvPr id="17" name="Text 14"/>
          <p:cNvSpPr txBox="1"/>
          <p:nvPr/>
        </p:nvSpPr>
        <p:spPr>
          <a:xfrm>
            <a:off x="4965192" y="1810512"/>
            <a:ext cx="31455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Speaker’s task</a:t>
            </a:r>
            <a:endParaRPr lang="en-US" sz="1100" dirty="0"/>
          </a:p>
        </p:txBody>
      </p:sp>
      <p:sp>
        <p:nvSpPr>
          <p:cNvPr id="18" name="Text 15"/>
          <p:cNvSpPr txBox="1"/>
          <p:nvPr/>
        </p:nvSpPr>
        <p:spPr>
          <a:xfrm>
            <a:off x="1033272" y="1810512"/>
            <a:ext cx="3785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Partner A reads</a:t>
            </a:r>
            <a:endParaRPr lang="en-US" sz="1100" dirty="0"/>
          </a:p>
        </p:txBody>
      </p:sp>
      <p:sp>
        <p:nvSpPr>
          <p:cNvPr id="19" name="Text 16"/>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0" name="Shape 17"/>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1" name="Text 18"/>
          <p:cNvSpPr txBox="1"/>
          <p:nvPr/>
        </p:nvSpPr>
        <p:spPr>
          <a:xfrm>
            <a:off x="8275320" y="2267712"/>
            <a:ext cx="3364992"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أَيْنَ ← كُنْتُ فِي … · كَانَ المَكَانُ …</a:t>
            </a:r>
            <a:endParaRPr lang="ar-SA" sz="1600" dirty="0"/>
          </a:p>
        </p:txBody>
      </p:sp>
      <p:sp>
        <p:nvSpPr>
          <p:cNvPr id="22" name="Text 19"/>
          <p:cNvSpPr txBox="1"/>
          <p:nvPr/>
        </p:nvSpPr>
        <p:spPr>
          <a:xfrm>
            <a:off x="5001768" y="2267712"/>
            <a:ext cx="31089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 scene with ‏</a:t>
            </a:r>
            <a:pPr algn="l" indent="0" marL="0">
              <a:buNone/>
            </a:pPr>
            <a:r>
              <a:rPr lang="ar-SA" altLang="en-US" sz="1450" dirty="0">
                <a:solidFill>
                  <a:srgbClr val="5A6472"/>
                </a:solidFill>
                <a:latin typeface="Amiri" pitchFamily="2" charset="-78"/>
                <a:ea typeface="Amiri" pitchFamily="2" charset="-78"/>
                <a:cs typeface="Amiri" pitchFamily="2" charset="-78"/>
              </a:rPr>
              <a:t>كَانَ</a:t>
            </a:r>
            <a:pPr algn="l" indent="0" marL="0">
              <a:buNone/>
            </a:pPr>
            <a:r>
              <a:rPr lang="en-US" sz="1100" dirty="0">
                <a:solidFill>
                  <a:srgbClr val="5A6472"/>
                </a:solidFill>
                <a:latin typeface="Calibri" pitchFamily="34" charset="0"/>
                <a:cs typeface="Amiri" pitchFamily="2" charset="-78"/>
              </a:rPr>
              <a:t>‏ + -an.</a:t>
            </a:r>
            <a:endParaRPr lang="en-US" sz="1100" dirty="0"/>
          </a:p>
        </p:txBody>
      </p:sp>
      <p:sp>
        <p:nvSpPr>
          <p:cNvPr id="23" name="Text 20"/>
          <p:cNvSpPr txBox="1"/>
          <p:nvPr/>
        </p:nvSpPr>
        <p:spPr>
          <a:xfrm>
            <a:off x="1051560" y="2267712"/>
            <a:ext cx="374904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١) أَيْنَ وَمَتَى كُنْتَ؟ وَكَيْفَ كَانَ المَكَانُ؟</a:t>
            </a:r>
            <a:endParaRPr lang="ar-SA" sz="1700" dirty="0"/>
          </a:p>
        </p:txBody>
      </p:sp>
      <p:sp>
        <p:nvSpPr>
          <p:cNvPr id="24" name="Text 21"/>
          <p:cNvSpPr txBox="1"/>
          <p:nvPr/>
        </p:nvSpPr>
        <p:spPr>
          <a:xfrm>
            <a:off x="566928" y="2267712"/>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8" name="Text 25"/>
          <p:cNvSpPr txBox="1"/>
          <p:nvPr/>
        </p:nvSpPr>
        <p:spPr>
          <a:xfrm>
            <a:off x="8275320" y="3004718"/>
            <a:ext cx="3364992"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مَاذَا ← كُنَّا نَتَجَوَّلُ … · كَانَ الخَطَّاطُ يَكْتُبُ …</a:t>
            </a:r>
            <a:endParaRPr lang="ar-SA" sz="1600" dirty="0"/>
          </a:p>
        </p:txBody>
      </p:sp>
      <p:sp>
        <p:nvSpPr>
          <p:cNvPr id="29" name="Text 26"/>
          <p:cNvSpPr txBox="1"/>
          <p:nvPr/>
        </p:nvSpPr>
        <p:spPr>
          <a:xfrm>
            <a:off x="5001768" y="3004718"/>
            <a:ext cx="31089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 background with ‏</a:t>
            </a:r>
            <a:pPr algn="l" indent="0" marL="0">
              <a:buNone/>
            </a:pPr>
            <a:r>
              <a:rPr lang="ar-SA" altLang="en-US" sz="1450" dirty="0">
                <a:solidFill>
                  <a:srgbClr val="5A6472"/>
                </a:solidFill>
                <a:latin typeface="Amiri" pitchFamily="2" charset="-78"/>
                <a:ea typeface="Amiri" pitchFamily="2" charset="-78"/>
                <a:cs typeface="Amiri" pitchFamily="2" charset="-78"/>
              </a:rPr>
              <a:t>كُنَّا</a:t>
            </a:r>
            <a:pPr algn="l" indent="0" marL="0">
              <a:buNone/>
            </a:pPr>
            <a:r>
              <a:rPr lang="en-US" sz="1100" dirty="0">
                <a:solidFill>
                  <a:srgbClr val="5A6472"/>
                </a:solidFill>
                <a:latin typeface="Calibri" pitchFamily="34" charset="0"/>
                <a:cs typeface="Amiri" pitchFamily="2" charset="-78"/>
              </a:rPr>
              <a:t>‏ + present.</a:t>
            </a:r>
            <a:endParaRPr lang="en-US" sz="1100" dirty="0"/>
          </a:p>
        </p:txBody>
      </p:sp>
      <p:sp>
        <p:nvSpPr>
          <p:cNvPr id="30" name="Text 27"/>
          <p:cNvSpPr txBox="1"/>
          <p:nvPr/>
        </p:nvSpPr>
        <p:spPr>
          <a:xfrm>
            <a:off x="1051560" y="3004718"/>
            <a:ext cx="374904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٢) مَاذَا كُنْتُمْ تَفْعَلُونَ؟</a:t>
            </a:r>
            <a:endParaRPr lang="ar-SA" sz="1700" dirty="0"/>
          </a:p>
        </p:txBody>
      </p:sp>
      <p:sp>
        <p:nvSpPr>
          <p:cNvPr id="31" name="Text 28"/>
          <p:cNvSpPr txBox="1"/>
          <p:nvPr/>
        </p:nvSpPr>
        <p:spPr>
          <a:xfrm>
            <a:off x="566928" y="300471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2" name="Shape 29"/>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5" name="Text 32"/>
          <p:cNvSpPr txBox="1"/>
          <p:nvPr/>
        </p:nvSpPr>
        <p:spPr>
          <a:xfrm>
            <a:off x="8293608" y="3741725"/>
            <a:ext cx="336499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36" name="Text 33"/>
          <p:cNvSpPr txBox="1"/>
          <p:nvPr/>
        </p:nvSpPr>
        <p:spPr>
          <a:xfrm>
            <a:off x="5001768" y="3741725"/>
            <a:ext cx="31089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 twist.</a:t>
            </a:r>
            <a:endParaRPr lang="en-US" sz="1100" dirty="0"/>
          </a:p>
        </p:txBody>
      </p:sp>
      <p:sp>
        <p:nvSpPr>
          <p:cNvPr id="37" name="Text 34"/>
          <p:cNvSpPr txBox="1"/>
          <p:nvPr/>
        </p:nvSpPr>
        <p:spPr>
          <a:xfrm>
            <a:off x="1051560" y="3741725"/>
            <a:ext cx="374904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٣) مَاذَا حَدَثَ فَجْأَةً؟</a:t>
            </a:r>
            <a:endParaRPr lang="ar-SA" sz="1700" dirty="0"/>
          </a:p>
        </p:txBody>
      </p:sp>
      <p:sp>
        <p:nvSpPr>
          <p:cNvPr id="38" name="Text 35"/>
          <p:cNvSpPr txBox="1"/>
          <p:nvPr/>
        </p:nvSpPr>
        <p:spPr>
          <a:xfrm>
            <a:off x="566928" y="3741725"/>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9" name="Shape 36"/>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0" name="Text 37"/>
          <p:cNvSpPr txBox="1"/>
          <p:nvPr/>
        </p:nvSpPr>
        <p:spPr>
          <a:xfrm>
            <a:off x="8293608" y="4478731"/>
            <a:ext cx="336499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41" name="Text 38"/>
          <p:cNvSpPr txBox="1"/>
          <p:nvPr/>
        </p:nvSpPr>
        <p:spPr>
          <a:xfrm>
            <a:off x="5001768" y="4478731"/>
            <a:ext cx="31089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Meaning + effect.</a:t>
            </a:r>
            <a:endParaRPr lang="en-US" sz="1100" dirty="0"/>
          </a:p>
        </p:txBody>
      </p:sp>
      <p:sp>
        <p:nvSpPr>
          <p:cNvPr id="42" name="Text 39"/>
          <p:cNvSpPr txBox="1"/>
          <p:nvPr/>
        </p:nvSpPr>
        <p:spPr>
          <a:xfrm>
            <a:off x="1051560" y="4478731"/>
            <a:ext cx="374904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٤) مَاذَا عَبَّرَ الفَنُّ عَنْهُ؟ وَكَيْفَ أَثَّرَ فِيكَ؟</a:t>
            </a:r>
            <a:endParaRPr lang="ar-SA" sz="1700" dirty="0"/>
          </a:p>
        </p:txBody>
      </p:sp>
      <p:sp>
        <p:nvSpPr>
          <p:cNvPr id="43" name="Text 40"/>
          <p:cNvSpPr txBox="1"/>
          <p:nvPr/>
        </p:nvSpPr>
        <p:spPr>
          <a:xfrm>
            <a:off x="566928" y="4478731"/>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44" name="Shape 41"/>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5" name="Text 42"/>
          <p:cNvSpPr txBox="1"/>
          <p:nvPr/>
        </p:nvSpPr>
        <p:spPr>
          <a:xfrm>
            <a:off x="8293608" y="5215738"/>
            <a:ext cx="336499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46" name="Text 43"/>
          <p:cNvSpPr txBox="1"/>
          <p:nvPr/>
        </p:nvSpPr>
        <p:spPr>
          <a:xfrm>
            <a:off x="5001768" y="5215738"/>
            <a:ext cx="31089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 reflection with ‏</a:t>
            </a:r>
            <a:pPr algn="l" indent="0" marL="0">
              <a:buNone/>
            </a:pPr>
            <a:r>
              <a:rPr lang="ar-SA" altLang="en-US" sz="1450" dirty="0">
                <a:solidFill>
                  <a:srgbClr val="5A6472"/>
                </a:solidFill>
                <a:latin typeface="Amiri" pitchFamily="2" charset="-78"/>
                <a:ea typeface="Amiri" pitchFamily="2" charset="-78"/>
                <a:cs typeface="Amiri" pitchFamily="2" charset="-78"/>
              </a:rPr>
              <a:t>مَا زِلْتُ</a:t>
            </a:r>
            <a:pPr algn="l" indent="0" marL="0">
              <a:buNone/>
            </a:pPr>
            <a:r>
              <a:rPr lang="en-US" sz="1100" dirty="0">
                <a:solidFill>
                  <a:srgbClr val="5A6472"/>
                </a:solidFill>
                <a:latin typeface="Calibri" pitchFamily="34" charset="0"/>
                <a:cs typeface="Amiri" pitchFamily="2" charset="-78"/>
              </a:rPr>
              <a:t>‏.</a:t>
            </a:r>
            <a:endParaRPr lang="en-US" sz="1100" dirty="0"/>
          </a:p>
        </p:txBody>
      </p:sp>
      <p:sp>
        <p:nvSpPr>
          <p:cNvPr id="47" name="Text 44"/>
          <p:cNvSpPr txBox="1"/>
          <p:nvPr/>
        </p:nvSpPr>
        <p:spPr>
          <a:xfrm>
            <a:off x="1051560" y="5215738"/>
            <a:ext cx="374904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٥) لِمَاذَا تَتَذَكَّرُ هٰذَا اليَوْمَ؟</a:t>
            </a:r>
            <a:endParaRPr lang="ar-SA" sz="1700" dirty="0"/>
          </a:p>
        </p:txBody>
      </p:sp>
      <p:sp>
        <p:nvSpPr>
          <p:cNvPr id="48" name="Text 45"/>
          <p:cNvSpPr txBox="1"/>
          <p:nvPr/>
        </p:nvSpPr>
        <p:spPr>
          <a:xfrm>
            <a:off x="566928" y="521573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 !</a:t>
            </a:r>
            <a:endParaRPr lang="en-US" sz="1100" dirty="0"/>
          </a:p>
        </p:txBody>
      </p:sp>
      <p:sp>
        <p:nvSpPr>
          <p:cNvPr id="49" name="Text 4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00" b="1" dirty="0">
                <a:solidFill>
                  <a:srgbClr val="1B3B6F"/>
                </a:solidFill>
                <a:latin typeface="Calibri" pitchFamily="34" charset="0"/>
                <a:cs typeface="Amiri" pitchFamily="2" charset="-78"/>
              </a:rPr>
              <a:t>Speaker = the storyteller · Partner A = the listener. Tell the story in the five steps, in order; Partner A asks the next question only when one step is complete. Then swap and tell YOUR story.</a:t>
            </a:r>
            <a:endParaRPr lang="en-US" sz="1100" dirty="0"/>
          </a:p>
        </p:txBody>
      </p:sp>
      <p:sp>
        <p:nvSpPr>
          <p:cNvPr id="50"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24</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D5-W03 · Apply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6 · SHORT TALK · ONE MINUTE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 arts memory in five steps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ذِكْرَى فَنِّيَّةٌ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D5-W03 · Apply workshop (D5-L05 + D5-L06)</a:t>
            </a:r>
            <a:endParaRPr lang="en-US" sz="850" dirty="0"/>
          </a:p>
        </p:txBody>
      </p:sp>
      <p:sp>
        <p:nvSpPr>
          <p:cNvPr id="15" name="Shape 12"/>
          <p:cNvSpPr/>
          <p:nvPr/>
        </p:nvSpPr>
        <p:spPr>
          <a:xfrm>
            <a:off x="457200" y="1810512"/>
            <a:ext cx="5715000" cy="4498848"/>
          </a:xfrm>
          <a:prstGeom prst="roundRect">
            <a:avLst>
              <a:gd name="adj" fmla="val 1626"/>
            </a:avLst>
          </a:prstGeom>
          <a:solidFill>
            <a:srgbClr val="F4F1EA"/>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20240"/>
            <a:ext cx="3108960" cy="292608"/>
          </a:xfrm>
          <a:prstGeom prst="roundRect">
            <a:avLst>
              <a:gd name="adj" fmla="val 50000"/>
            </a:avLst>
          </a:prstGeom>
          <a:solidFill>
            <a:srgbClr val="8A6D1E"/>
          </a:solidFill>
          <a:ln w="12700">
            <a:solidFill>
              <a:srgbClr val="8A6D1E"/>
            </a:solidFill>
            <a:prstDash val="solid"/>
          </a:ln>
        </p:spPr>
      </p:sp>
      <p:sp>
        <p:nvSpPr>
          <p:cNvPr id="17" name="Text 14"/>
          <p:cNvSpPr txBox="1"/>
          <p:nvPr/>
        </p:nvSpPr>
        <p:spPr>
          <a:xfrm>
            <a:off x="640080" y="1920240"/>
            <a:ext cx="3108960" cy="292608"/>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STEP 6 · PAIRS</a:t>
            </a:r>
            <a:endParaRPr lang="en-US" sz="900" dirty="0"/>
          </a:p>
        </p:txBody>
      </p:sp>
      <p:sp>
        <p:nvSpPr>
          <p:cNvPr id="18" name="Text 15"/>
          <p:cNvSpPr txBox="1"/>
          <p:nvPr/>
        </p:nvSpPr>
        <p:spPr>
          <a:xfrm>
            <a:off x="640080" y="2286000"/>
            <a:ext cx="5349240" cy="502920"/>
          </a:xfrm>
          <a:prstGeom prst="rect">
            <a:avLst/>
          </a:prstGeom>
          <a:noFill/>
          <a:ln/>
        </p:spPr>
        <p:txBody>
          <a:bodyPr wrap="square" lIns="0" tIns="0" rIns="0" bIns="0" rtlCol="0" anchor="ctr"/>
          <a:lstStyle/>
          <a:p>
            <a:pPr algn="l" indent="0" marL="0">
              <a:buNone/>
            </a:pPr>
            <a:r>
              <a:rPr lang="en-US" sz="2200" b="1" dirty="0">
                <a:solidFill>
                  <a:srgbClr val="1B3B6F"/>
                </a:solidFill>
                <a:latin typeface="Calibri" pitchFamily="34" charset="0"/>
                <a:cs typeface="Amiri" pitchFamily="2" charset="-78"/>
              </a:rPr>
              <a:t>⏱  Talk for one minute — use both lessons</a:t>
            </a:r>
            <a:endParaRPr lang="en-US" sz="2200" dirty="0"/>
          </a:p>
        </p:txBody>
      </p:sp>
      <p:sp>
        <p:nvSpPr>
          <p:cNvPr id="19" name="Text 16"/>
          <p:cNvSpPr txBox="1"/>
          <p:nvPr/>
        </p:nvSpPr>
        <p:spPr>
          <a:xfrm>
            <a:off x="640080" y="2816352"/>
            <a:ext cx="5349240" cy="1188720"/>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Tell the story of an arts event for one minute (a concert, an exhibition, a henna night, a nasheed evening — real or imagined) in five steps: the scene, the background, the twist, the ending and a reflection. Include what the art expressed and how it affected you, and one fair statement about culture (‏</a:t>
            </a:r>
            <a:pPr algn="l" indent="0" marL="0">
              <a:buNone/>
            </a:pPr>
            <a:r>
              <a:rPr lang="ar-SA" altLang="en-US" sz="1700" dirty="0">
                <a:solidFill>
                  <a:srgbClr val="1F2A37"/>
                </a:solidFill>
                <a:latin typeface="Amiri" pitchFamily="2" charset="-78"/>
                <a:ea typeface="Amiri" pitchFamily="2" charset="-78"/>
                <a:cs typeface="Amiri" pitchFamily="2" charset="-78"/>
              </a:rPr>
              <a:t>فِي بَعْضِ البُلْدَانِ</a:t>
            </a:r>
            <a:pPr algn="l" indent="0" marL="0">
              <a:buNone/>
            </a:pPr>
            <a:r>
              <a:rPr lang="en-US" sz="1300" dirty="0">
                <a:solidFill>
                  <a:srgbClr val="1F2A37"/>
                </a:solidFill>
                <a:latin typeface="Calibri" pitchFamily="34" charset="0"/>
                <a:cs typeface="Amiri" pitchFamily="2" charset="-78"/>
              </a:rPr>
              <a:t> …‏).</a:t>
            </a:r>
            <a:endParaRPr lang="en-US" sz="1300" dirty="0"/>
          </a:p>
        </p:txBody>
      </p:sp>
      <p:sp>
        <p:nvSpPr>
          <p:cNvPr id="20" name="Text 17"/>
          <p:cNvSpPr txBox="1"/>
          <p:nvPr/>
        </p:nvSpPr>
        <p:spPr>
          <a:xfrm>
            <a:off x="640080" y="4041648"/>
            <a:ext cx="530352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HOW WE RUN IT ONLINE</a:t>
            </a:r>
            <a:endParaRPr lang="en-US" sz="950" dirty="0"/>
          </a:p>
        </p:txBody>
      </p:sp>
      <p:sp>
        <p:nvSpPr>
          <p:cNvPr id="21" name="Shape 18"/>
          <p:cNvSpPr/>
          <p:nvPr/>
        </p:nvSpPr>
        <p:spPr>
          <a:xfrm>
            <a:off x="658368" y="4407408"/>
            <a:ext cx="274320" cy="274320"/>
          </a:xfrm>
          <a:prstGeom prst="ellipse">
            <a:avLst/>
          </a:prstGeom>
          <a:solidFill>
            <a:srgbClr val="1B3B6F"/>
          </a:solidFill>
          <a:ln w="12700">
            <a:solidFill>
              <a:srgbClr val="1B3B6F"/>
            </a:solidFill>
            <a:prstDash val="solid"/>
          </a:ln>
        </p:spPr>
      </p:sp>
      <p:sp>
        <p:nvSpPr>
          <p:cNvPr id="22" name="Text 19"/>
          <p:cNvSpPr txBox="1"/>
          <p:nvPr/>
        </p:nvSpPr>
        <p:spPr>
          <a:xfrm>
            <a:off x="658368" y="44074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1</a:t>
            </a:r>
            <a:endParaRPr lang="en-US" sz="1000" dirty="0"/>
          </a:p>
        </p:txBody>
      </p:sp>
      <p:sp>
        <p:nvSpPr>
          <p:cNvPr id="23" name="Text 20"/>
          <p:cNvSpPr txBox="1"/>
          <p:nvPr/>
        </p:nvSpPr>
        <p:spPr>
          <a:xfrm>
            <a:off x="1024128" y="43342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Think for 30 seconds: 2 key words from EACH lesson, no sentences.</a:t>
            </a:r>
            <a:endParaRPr lang="en-US" sz="1150" dirty="0"/>
          </a:p>
        </p:txBody>
      </p:sp>
      <p:sp>
        <p:nvSpPr>
          <p:cNvPr id="24" name="Shape 21"/>
          <p:cNvSpPr/>
          <p:nvPr/>
        </p:nvSpPr>
        <p:spPr>
          <a:xfrm>
            <a:off x="658368" y="4864608"/>
            <a:ext cx="274320" cy="274320"/>
          </a:xfrm>
          <a:prstGeom prst="ellipse">
            <a:avLst/>
          </a:prstGeom>
          <a:solidFill>
            <a:srgbClr val="1B3B6F"/>
          </a:solidFill>
          <a:ln w="12700">
            <a:solidFill>
              <a:srgbClr val="1B3B6F"/>
            </a:solidFill>
            <a:prstDash val="solid"/>
          </a:ln>
        </p:spPr>
      </p:sp>
      <p:sp>
        <p:nvSpPr>
          <p:cNvPr id="25" name="Text 22"/>
          <p:cNvSpPr txBox="1"/>
          <p:nvPr/>
        </p:nvSpPr>
        <p:spPr>
          <a:xfrm>
            <a:off x="658368" y="48646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2</a:t>
            </a:r>
            <a:endParaRPr lang="en-US" sz="1000" dirty="0"/>
          </a:p>
        </p:txBody>
      </p:sp>
      <p:sp>
        <p:nvSpPr>
          <p:cNvPr id="26" name="Text 23"/>
          <p:cNvSpPr txBox="1"/>
          <p:nvPr/>
        </p:nvSpPr>
        <p:spPr>
          <a:xfrm>
            <a:off x="1024128" y="47914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Speaker talks; the partner times it.</a:t>
            </a:r>
            <a:endParaRPr lang="en-US" sz="1150" dirty="0"/>
          </a:p>
        </p:txBody>
      </p:sp>
      <p:sp>
        <p:nvSpPr>
          <p:cNvPr id="27" name="Shape 24"/>
          <p:cNvSpPr/>
          <p:nvPr/>
        </p:nvSpPr>
        <p:spPr>
          <a:xfrm>
            <a:off x="658368" y="5321808"/>
            <a:ext cx="274320" cy="274320"/>
          </a:xfrm>
          <a:prstGeom prst="ellipse">
            <a:avLst/>
          </a:prstGeom>
          <a:solidFill>
            <a:srgbClr val="1B3B6F"/>
          </a:solidFill>
          <a:ln w="12700">
            <a:solidFill>
              <a:srgbClr val="1B3B6F"/>
            </a:solidFill>
            <a:prstDash val="solid"/>
          </a:ln>
        </p:spPr>
      </p:sp>
      <p:sp>
        <p:nvSpPr>
          <p:cNvPr id="28" name="Text 25"/>
          <p:cNvSpPr txBox="1"/>
          <p:nvPr/>
        </p:nvSpPr>
        <p:spPr>
          <a:xfrm>
            <a:off x="658368" y="53218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3</a:t>
            </a:r>
            <a:endParaRPr lang="en-US" sz="1000" dirty="0"/>
          </a:p>
        </p:txBody>
      </p:sp>
      <p:sp>
        <p:nvSpPr>
          <p:cNvPr id="29" name="Text 26"/>
          <p:cNvSpPr txBox="1"/>
          <p:nvPr/>
        </p:nvSpPr>
        <p:spPr>
          <a:xfrm>
            <a:off x="1024128" y="52486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Partner: one thing that went well + one thing to improve.</a:t>
            </a:r>
            <a:endParaRPr lang="en-US" sz="1150" dirty="0"/>
          </a:p>
        </p:txBody>
      </p:sp>
      <p:sp>
        <p:nvSpPr>
          <p:cNvPr id="30" name="Shape 27"/>
          <p:cNvSpPr/>
          <p:nvPr/>
        </p:nvSpPr>
        <p:spPr>
          <a:xfrm>
            <a:off x="658368" y="5779008"/>
            <a:ext cx="274320" cy="274320"/>
          </a:xfrm>
          <a:prstGeom prst="ellipse">
            <a:avLst/>
          </a:prstGeom>
          <a:solidFill>
            <a:srgbClr val="1B3B6F"/>
          </a:solidFill>
          <a:ln w="12700">
            <a:solidFill>
              <a:srgbClr val="1B3B6F"/>
            </a:solidFill>
            <a:prstDash val="solid"/>
          </a:ln>
        </p:spPr>
      </p:sp>
      <p:sp>
        <p:nvSpPr>
          <p:cNvPr id="31" name="Text 28"/>
          <p:cNvSpPr txBox="1"/>
          <p:nvPr/>
        </p:nvSpPr>
        <p:spPr>
          <a:xfrm>
            <a:off x="658368" y="57790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4</a:t>
            </a:r>
            <a:endParaRPr lang="en-US" sz="1000" dirty="0"/>
          </a:p>
        </p:txBody>
      </p:sp>
      <p:sp>
        <p:nvSpPr>
          <p:cNvPr id="32" name="Text 29"/>
          <p:cNvSpPr txBox="1"/>
          <p:nvPr/>
        </p:nvSpPr>
        <p:spPr>
          <a:xfrm>
            <a:off x="1024128" y="57058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Swap — then the teacher invites two volunteers.</a:t>
            </a:r>
            <a:endParaRPr lang="en-US" sz="1150" dirty="0"/>
          </a:p>
        </p:txBody>
      </p:sp>
      <p:sp>
        <p:nvSpPr>
          <p:cNvPr id="33" name="Shape 30"/>
          <p:cNvSpPr/>
          <p:nvPr/>
        </p:nvSpPr>
        <p:spPr>
          <a:xfrm>
            <a:off x="6355080" y="1810512"/>
            <a:ext cx="5376672" cy="896112"/>
          </a:xfrm>
          <a:prstGeom prst="roundRect">
            <a:avLst>
              <a:gd name="adj" fmla="val 8163"/>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6473952" y="1901952"/>
            <a:ext cx="105156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6473952" y="190195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3"/>
          <p:cNvSpPr txBox="1"/>
          <p:nvPr/>
        </p:nvSpPr>
        <p:spPr>
          <a:xfrm>
            <a:off x="6473952" y="2176272"/>
            <a:ext cx="5120640" cy="475488"/>
          </a:xfrm>
          <a:prstGeom prst="rect">
            <a:avLst/>
          </a:prstGeom>
          <a:noFill/>
          <a:ln/>
        </p:spPr>
        <p:txBody>
          <a:bodyPr wrap="square" lIns="0" tIns="0" rIns="0" bIns="0" rtlCol="0" anchor="ctr"/>
          <a:lstStyle/>
          <a:p>
            <a:pPr rtl="1" algn="r" indent="0" marL="0">
              <a:buNone/>
            </a:pPr>
            <a:r>
              <a:rPr lang="ar-SA" altLang="en-US" sz="1450" dirty="0">
                <a:solidFill>
                  <a:srgbClr val="1F2A37"/>
                </a:solidFill>
                <a:latin typeface="Amiri" pitchFamily="2" charset="-78"/>
                <a:ea typeface="Amiri" pitchFamily="2" charset="-78"/>
                <a:cs typeface="Amiri" pitchFamily="2" charset="-78"/>
              </a:rPr>
              <a:t>كَانَ … · كُنْتُ فِي … · فَجْأَةً …</a:t>
            </a:r>
            <a:endParaRPr lang="ar-SA" sz="1450" dirty="0"/>
          </a:p>
        </p:txBody>
      </p:sp>
      <p:sp>
        <p:nvSpPr>
          <p:cNvPr id="37" name="Shape 34"/>
          <p:cNvSpPr/>
          <p:nvPr/>
        </p:nvSpPr>
        <p:spPr>
          <a:xfrm>
            <a:off x="6355080" y="2816352"/>
            <a:ext cx="5376672" cy="896112"/>
          </a:xfrm>
          <a:prstGeom prst="roundRect">
            <a:avLst>
              <a:gd name="adj" fmla="val 8163"/>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6473952" y="2907792"/>
            <a:ext cx="1051560" cy="256032"/>
          </a:xfrm>
          <a:prstGeom prst="roundRect">
            <a:avLst>
              <a:gd name="adj" fmla="val 50000"/>
            </a:avLst>
          </a:prstGeom>
          <a:solidFill>
            <a:srgbClr val="C9780A"/>
          </a:solidFill>
          <a:ln w="12700">
            <a:solidFill>
              <a:srgbClr val="C9780A"/>
            </a:solidFill>
            <a:prstDash val="solid"/>
          </a:ln>
        </p:spPr>
      </p:sp>
      <p:sp>
        <p:nvSpPr>
          <p:cNvPr id="39" name="Text 36"/>
          <p:cNvSpPr txBox="1"/>
          <p:nvPr/>
        </p:nvSpPr>
        <p:spPr>
          <a:xfrm>
            <a:off x="6473952" y="290779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7"/>
          <p:cNvSpPr txBox="1"/>
          <p:nvPr/>
        </p:nvSpPr>
        <p:spPr>
          <a:xfrm>
            <a:off x="6473952" y="318211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Add ‏</a:t>
            </a:r>
            <a:pPr algn="l" indent="0" marL="0">
              <a:buNone/>
            </a:pPr>
            <a:r>
              <a:rPr lang="ar-SA" altLang="en-US" sz="1500" dirty="0">
                <a:solidFill>
                  <a:srgbClr val="1F2A37"/>
                </a:solidFill>
                <a:latin typeface="Amiri" pitchFamily="2" charset="-78"/>
                <a:ea typeface="Amiri" pitchFamily="2" charset="-78"/>
                <a:cs typeface="Amiri" pitchFamily="2" charset="-78"/>
              </a:rPr>
              <a:t>كُنَّا</a:t>
            </a:r>
            <a:pPr algn="l" indent="0" marL="0">
              <a:buNone/>
            </a:pPr>
            <a:r>
              <a:rPr lang="en-US" sz="1150" dirty="0">
                <a:solidFill>
                  <a:srgbClr val="1F2A37"/>
                </a:solidFill>
                <a:latin typeface="Calibri" pitchFamily="34" charset="0"/>
                <a:cs typeface="Amiri" pitchFamily="2" charset="-78"/>
              </a:rPr>
              <a:t>‏ + present, ‏</a:t>
            </a:r>
            <a:pPr algn="l" indent="0" marL="0">
              <a:buNone/>
            </a:pPr>
            <a:r>
              <a:rPr lang="ar-SA" altLang="en-US" sz="1500" dirty="0">
                <a:solidFill>
                  <a:srgbClr val="1F2A37"/>
                </a:solidFill>
                <a:latin typeface="Amiri" pitchFamily="2" charset="-78"/>
                <a:ea typeface="Amiri" pitchFamily="2" charset="-78"/>
                <a:cs typeface="Amiri" pitchFamily="2" charset="-78"/>
              </a:rPr>
              <a:t>تُعَبِّرُ عَنْ</a:t>
            </a:r>
            <a:pPr algn="l" indent="0" marL="0">
              <a:buNone/>
            </a:pPr>
            <a:r>
              <a:rPr lang="en-US" sz="1150" dirty="0">
                <a:solidFill>
                  <a:srgbClr val="1F2A37"/>
                </a:solidFill>
                <a:latin typeface="Calibri" pitchFamily="34" charset="0"/>
                <a:cs typeface="Amiri" pitchFamily="2" charset="-78"/>
              </a:rPr>
              <a:t> …‏ and ‏</a:t>
            </a:r>
            <a:pPr algn="l" indent="0" marL="0">
              <a:buNone/>
            </a:pPr>
            <a:r>
              <a:rPr lang="ar-SA" altLang="en-US" sz="1500" dirty="0">
                <a:solidFill>
                  <a:srgbClr val="1F2A37"/>
                </a:solidFill>
                <a:latin typeface="Amiri" pitchFamily="2" charset="-78"/>
                <a:ea typeface="Amiri" pitchFamily="2" charset="-78"/>
                <a:cs typeface="Amiri" pitchFamily="2" charset="-78"/>
              </a:rPr>
              <a:t>أَثَّرَ فِيَّ</a:t>
            </a:r>
            <a:pPr algn="l" indent="0" marL="0">
              <a:buNone/>
            </a:pPr>
            <a:r>
              <a:rPr lang="en-US" sz="1150" dirty="0">
                <a:solidFill>
                  <a:srgbClr val="1F2A37"/>
                </a:solidFill>
                <a:latin typeface="Calibri" pitchFamily="34" charset="0"/>
                <a:cs typeface="Amiri" pitchFamily="2" charset="-78"/>
              </a:rPr>
              <a:t> …‏</a:t>
            </a:r>
            <a:endParaRPr lang="en-US" sz="1150" dirty="0"/>
          </a:p>
        </p:txBody>
      </p:sp>
      <p:sp>
        <p:nvSpPr>
          <p:cNvPr id="41" name="Shape 38"/>
          <p:cNvSpPr/>
          <p:nvPr/>
        </p:nvSpPr>
        <p:spPr>
          <a:xfrm>
            <a:off x="6355080" y="3822192"/>
            <a:ext cx="5376672" cy="896112"/>
          </a:xfrm>
          <a:prstGeom prst="roundRect">
            <a:avLst>
              <a:gd name="adj" fmla="val 8163"/>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473952" y="3913632"/>
            <a:ext cx="1051560" cy="256032"/>
          </a:xfrm>
          <a:prstGeom prst="roundRect">
            <a:avLst>
              <a:gd name="adj" fmla="val 50000"/>
            </a:avLst>
          </a:prstGeom>
          <a:solidFill>
            <a:srgbClr val="B83227"/>
          </a:solidFill>
          <a:ln w="12700">
            <a:solidFill>
              <a:srgbClr val="B83227"/>
            </a:solidFill>
            <a:prstDash val="solid"/>
          </a:ln>
        </p:spPr>
      </p:sp>
      <p:sp>
        <p:nvSpPr>
          <p:cNvPr id="43" name="Text 40"/>
          <p:cNvSpPr txBox="1"/>
          <p:nvPr/>
        </p:nvSpPr>
        <p:spPr>
          <a:xfrm>
            <a:off x="6473952" y="391363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1"/>
          <p:cNvSpPr txBox="1"/>
          <p:nvPr/>
        </p:nvSpPr>
        <p:spPr>
          <a:xfrm>
            <a:off x="6473952" y="418795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Add ‏</a:t>
            </a:r>
            <a:pPr algn="l" indent="0" marL="0">
              <a:buNone/>
            </a:pPr>
            <a:r>
              <a:rPr lang="ar-SA" altLang="en-US" sz="1500" dirty="0">
                <a:solidFill>
                  <a:srgbClr val="1F2A37"/>
                </a:solidFill>
                <a:latin typeface="Amiri" pitchFamily="2" charset="-78"/>
                <a:ea typeface="Amiri" pitchFamily="2" charset="-78"/>
                <a:cs typeface="Amiri" pitchFamily="2" charset="-78"/>
              </a:rPr>
              <a:t>فِي تِلْكَ اللَّحْظَةِ</a:t>
            </a:r>
            <a:pPr algn="l" indent="0" marL="0">
              <a:buNone/>
            </a:pPr>
            <a:r>
              <a:rPr lang="en-US" sz="1150" dirty="0">
                <a:solidFill>
                  <a:srgbClr val="1F2A37"/>
                </a:solidFill>
                <a:latin typeface="Calibri" pitchFamily="34" charset="0"/>
                <a:cs typeface="Amiri" pitchFamily="2" charset="-78"/>
              </a:rPr>
              <a:t>‏, a fair cultural statement and ‏</a:t>
            </a:r>
            <a:pPr algn="l" indent="0" marL="0">
              <a:buNone/>
            </a:pPr>
            <a:r>
              <a:rPr lang="ar-SA" altLang="en-US" sz="1500" dirty="0">
                <a:solidFill>
                  <a:srgbClr val="1F2A37"/>
                </a:solidFill>
                <a:latin typeface="Amiri" pitchFamily="2" charset="-78"/>
                <a:ea typeface="Amiri" pitchFamily="2" charset="-78"/>
                <a:cs typeface="Amiri" pitchFamily="2" charset="-78"/>
              </a:rPr>
              <a:t>مَا زِلْتُ أَتَذَكَّرُ</a:t>
            </a:r>
            <a:pPr algn="l" indent="0" marL="0">
              <a:buNone/>
            </a:pPr>
            <a:r>
              <a:rPr lang="en-US" sz="1150" dirty="0">
                <a:solidFill>
                  <a:srgbClr val="1F2A37"/>
                </a:solidFill>
                <a:latin typeface="Calibri" pitchFamily="34" charset="0"/>
                <a:cs typeface="Amiri" pitchFamily="2" charset="-78"/>
              </a:rPr>
              <a:t> …‏</a:t>
            </a:r>
            <a:endParaRPr lang="en-US" sz="1150" dirty="0"/>
          </a:p>
        </p:txBody>
      </p:sp>
      <p:sp>
        <p:nvSpPr>
          <p:cNvPr id="45" name="Shape 42"/>
          <p:cNvSpPr/>
          <p:nvPr/>
        </p:nvSpPr>
        <p:spPr>
          <a:xfrm>
            <a:off x="6355080" y="4828032"/>
            <a:ext cx="5376672" cy="1481328"/>
          </a:xfrm>
          <a:prstGeom prst="roundRect">
            <a:avLst>
              <a:gd name="adj" fmla="val 493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Text 43"/>
          <p:cNvSpPr txBox="1"/>
          <p:nvPr/>
        </p:nvSpPr>
        <p:spPr>
          <a:xfrm>
            <a:off x="6492240" y="4882896"/>
            <a:ext cx="27432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USEFUL LANGUAGE</a:t>
            </a:r>
            <a:endParaRPr lang="en-US" sz="950" dirty="0"/>
          </a:p>
        </p:txBody>
      </p:sp>
      <p:sp>
        <p:nvSpPr>
          <p:cNvPr id="47" name="Text 44"/>
          <p:cNvSpPr txBox="1"/>
          <p:nvPr/>
        </p:nvSpPr>
        <p:spPr>
          <a:xfrm>
            <a:off x="8732520" y="5138928"/>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أَوَّلًا … ثُمَّ …</a:t>
            </a:r>
            <a:endParaRPr lang="ar-SA" sz="1300" dirty="0"/>
          </a:p>
        </p:txBody>
      </p:sp>
      <p:sp>
        <p:nvSpPr>
          <p:cNvPr id="48" name="Text 45"/>
          <p:cNvSpPr txBox="1"/>
          <p:nvPr/>
        </p:nvSpPr>
        <p:spPr>
          <a:xfrm>
            <a:off x="6492240" y="5138928"/>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first … then …</a:t>
            </a:r>
            <a:endParaRPr lang="en-US" sz="1000" dirty="0"/>
          </a:p>
        </p:txBody>
      </p:sp>
      <p:sp>
        <p:nvSpPr>
          <p:cNvPr id="49" name="Text 46"/>
          <p:cNvSpPr txBox="1"/>
          <p:nvPr/>
        </p:nvSpPr>
        <p:spPr>
          <a:xfrm>
            <a:off x="8732520" y="5422392"/>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لِأَنَّ … · لِذٰلِكَ …</a:t>
            </a:r>
            <a:endParaRPr lang="ar-SA" sz="1300" dirty="0"/>
          </a:p>
        </p:txBody>
      </p:sp>
      <p:sp>
        <p:nvSpPr>
          <p:cNvPr id="50" name="Text 47"/>
          <p:cNvSpPr txBox="1"/>
          <p:nvPr/>
        </p:nvSpPr>
        <p:spPr>
          <a:xfrm>
            <a:off x="6492240" y="5422392"/>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because … · so …</a:t>
            </a:r>
            <a:endParaRPr lang="en-US" sz="1000" dirty="0"/>
          </a:p>
        </p:txBody>
      </p:sp>
      <p:sp>
        <p:nvSpPr>
          <p:cNvPr id="51" name="Text 48"/>
          <p:cNvSpPr txBox="1"/>
          <p:nvPr/>
        </p:nvSpPr>
        <p:spPr>
          <a:xfrm>
            <a:off x="8732520" y="5705856"/>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فِي رَأْيِي …</a:t>
            </a:r>
            <a:endParaRPr lang="ar-SA" sz="1300" dirty="0"/>
          </a:p>
        </p:txBody>
      </p:sp>
      <p:sp>
        <p:nvSpPr>
          <p:cNvPr id="52" name="Text 49"/>
          <p:cNvSpPr txBox="1"/>
          <p:nvPr/>
        </p:nvSpPr>
        <p:spPr>
          <a:xfrm>
            <a:off x="6492240" y="5705856"/>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in my opinion …</a:t>
            </a:r>
            <a:endParaRPr lang="en-US" sz="1000" dirty="0"/>
          </a:p>
        </p:txBody>
      </p:sp>
      <p:sp>
        <p:nvSpPr>
          <p:cNvPr id="53" name="Text 50"/>
          <p:cNvSpPr txBox="1"/>
          <p:nvPr/>
        </p:nvSpPr>
        <p:spPr>
          <a:xfrm>
            <a:off x="8732520" y="5989320"/>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فِي الخِتَامِ …</a:t>
            </a:r>
            <a:endParaRPr lang="ar-SA" sz="1300" dirty="0"/>
          </a:p>
        </p:txBody>
      </p:sp>
      <p:sp>
        <p:nvSpPr>
          <p:cNvPr id="54" name="Text 51"/>
          <p:cNvSpPr txBox="1"/>
          <p:nvPr/>
        </p:nvSpPr>
        <p:spPr>
          <a:xfrm>
            <a:off x="6492240" y="5989320"/>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to finish …</a:t>
            </a:r>
            <a:endParaRPr lang="en-US" sz="1000" dirty="0"/>
          </a:p>
        </p:txBody>
      </p:sp>
      <p:sp>
        <p:nvSpPr>
          <p:cNvPr id="55" name="Text 5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24</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D5-W03 · Apply workshop</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PART 3 · STEP 7 · SENTENCE BUILDER · FROM BOTH LESSONS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Build three correct sentences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ابْنِ الجُمْلَةَ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D5-W03 · Apply workshop (D5-L05 + D5-L06)</a:t>
            </a:r>
            <a:endParaRPr lang="en-US" sz="850" dirty="0"/>
          </a:p>
        </p:txBody>
      </p:sp>
      <p:sp>
        <p:nvSpPr>
          <p:cNvPr id="15" name="Text 12"/>
          <p:cNvSpPr txBox="1"/>
          <p:nvPr/>
        </p:nvSpPr>
        <p:spPr>
          <a:xfrm>
            <a:off x="9180576"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1 · start here</a:t>
            </a:r>
            <a:endParaRPr lang="en-US" sz="1000" dirty="0"/>
          </a:p>
        </p:txBody>
      </p:sp>
      <p:sp>
        <p:nvSpPr>
          <p:cNvPr id="16" name="Text 13"/>
          <p:cNvSpPr txBox="1"/>
          <p:nvPr/>
        </p:nvSpPr>
        <p:spPr>
          <a:xfrm>
            <a:off x="6624828"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2</a:t>
            </a:r>
            <a:endParaRPr lang="en-US" sz="1000" dirty="0"/>
          </a:p>
        </p:txBody>
      </p:sp>
      <p:sp>
        <p:nvSpPr>
          <p:cNvPr id="17" name="Text 14"/>
          <p:cNvSpPr txBox="1"/>
          <p:nvPr/>
        </p:nvSpPr>
        <p:spPr>
          <a:xfrm>
            <a:off x="4069080"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3</a:t>
            </a:r>
            <a:endParaRPr lang="en-US" sz="1000" dirty="0"/>
          </a:p>
        </p:txBody>
      </p:sp>
      <p:sp>
        <p:nvSpPr>
          <p:cNvPr id="18" name="Shape 15"/>
          <p:cNvSpPr/>
          <p:nvPr/>
        </p:nvSpPr>
        <p:spPr>
          <a:xfrm>
            <a:off x="457200" y="2011680"/>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9" name="Shape 16"/>
          <p:cNvSpPr/>
          <p:nvPr/>
        </p:nvSpPr>
        <p:spPr>
          <a:xfrm>
            <a:off x="594360" y="2148840"/>
            <a:ext cx="365760" cy="365760"/>
          </a:xfrm>
          <a:prstGeom prst="ellipse">
            <a:avLst/>
          </a:prstGeom>
          <a:solidFill>
            <a:srgbClr val="2F6FB0"/>
          </a:solidFill>
          <a:ln w="12700">
            <a:solidFill>
              <a:srgbClr val="2F6FB0"/>
            </a:solidFill>
            <a:prstDash val="solid"/>
          </a:ln>
        </p:spPr>
      </p:sp>
      <p:sp>
        <p:nvSpPr>
          <p:cNvPr id="20" name="Text 17"/>
          <p:cNvSpPr txBox="1"/>
          <p:nvPr/>
        </p:nvSpPr>
        <p:spPr>
          <a:xfrm>
            <a:off x="594360" y="214884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21" name="Text 18"/>
          <p:cNvSpPr txBox="1"/>
          <p:nvPr/>
        </p:nvSpPr>
        <p:spPr>
          <a:xfrm>
            <a:off x="1051560" y="2121408"/>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The weather was hot.</a:t>
            </a:r>
            <a:endParaRPr lang="en-US" sz="1400" dirty="0"/>
          </a:p>
        </p:txBody>
      </p:sp>
      <p:sp>
        <p:nvSpPr>
          <p:cNvPr id="22" name="Shape 19"/>
          <p:cNvSpPr/>
          <p:nvPr/>
        </p:nvSpPr>
        <p:spPr>
          <a:xfrm>
            <a:off x="9180576" y="2103120"/>
            <a:ext cx="2414016" cy="512064"/>
          </a:xfrm>
          <a:prstGeom prst="roundRect">
            <a:avLst>
              <a:gd name="adj" fmla="val 10714"/>
            </a:avLst>
          </a:prstGeom>
          <a:solidFill>
            <a:srgbClr val="EEF3FA"/>
          </a:solidFill>
          <a:ln w="9525">
            <a:solidFill>
              <a:srgbClr val="C9D6EA"/>
            </a:solidFill>
            <a:prstDash val="solid"/>
          </a:ln>
        </p:spPr>
      </p:sp>
      <p:sp>
        <p:nvSpPr>
          <p:cNvPr id="23" name="Text 20"/>
          <p:cNvSpPr txBox="1"/>
          <p:nvPr/>
        </p:nvSpPr>
        <p:spPr>
          <a:xfrm>
            <a:off x="9235440"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24" name="Text 21"/>
          <p:cNvSpPr txBox="1"/>
          <p:nvPr/>
        </p:nvSpPr>
        <p:spPr>
          <a:xfrm>
            <a:off x="9500616"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كَانَ</a:t>
            </a:r>
            <a:endParaRPr lang="ar-SA" sz="1800" dirty="0"/>
          </a:p>
        </p:txBody>
      </p:sp>
      <p:sp>
        <p:nvSpPr>
          <p:cNvPr id="25" name="Shape 22"/>
          <p:cNvSpPr/>
          <p:nvPr/>
        </p:nvSpPr>
        <p:spPr>
          <a:xfrm>
            <a:off x="9180576" y="2670048"/>
            <a:ext cx="2414016" cy="512064"/>
          </a:xfrm>
          <a:prstGeom prst="roundRect">
            <a:avLst>
              <a:gd name="adj" fmla="val 10714"/>
            </a:avLst>
          </a:prstGeom>
          <a:solidFill>
            <a:srgbClr val="EEF3FA"/>
          </a:solidFill>
          <a:ln w="9525">
            <a:solidFill>
              <a:srgbClr val="C9D6EA"/>
            </a:solidFill>
            <a:prstDash val="solid"/>
          </a:ln>
        </p:spPr>
      </p:sp>
      <p:sp>
        <p:nvSpPr>
          <p:cNvPr id="26" name="Text 23"/>
          <p:cNvSpPr txBox="1"/>
          <p:nvPr/>
        </p:nvSpPr>
        <p:spPr>
          <a:xfrm>
            <a:off x="9235440"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27" name="Text 24"/>
          <p:cNvSpPr txBox="1"/>
          <p:nvPr/>
        </p:nvSpPr>
        <p:spPr>
          <a:xfrm>
            <a:off x="9500616"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كَانَتْ</a:t>
            </a:r>
            <a:endParaRPr lang="ar-SA" sz="1800" dirty="0"/>
          </a:p>
        </p:txBody>
      </p:sp>
      <p:sp>
        <p:nvSpPr>
          <p:cNvPr id="28" name="Shape 25"/>
          <p:cNvSpPr/>
          <p:nvPr/>
        </p:nvSpPr>
        <p:spPr>
          <a:xfrm>
            <a:off x="6624828" y="2103120"/>
            <a:ext cx="2414016" cy="512064"/>
          </a:xfrm>
          <a:prstGeom prst="roundRect">
            <a:avLst>
              <a:gd name="adj" fmla="val 10714"/>
            </a:avLst>
          </a:prstGeom>
          <a:solidFill>
            <a:srgbClr val="EEF3FA"/>
          </a:solidFill>
          <a:ln w="9525">
            <a:solidFill>
              <a:srgbClr val="C9D6EA"/>
            </a:solidFill>
            <a:prstDash val="solid"/>
          </a:ln>
        </p:spPr>
      </p:sp>
      <p:sp>
        <p:nvSpPr>
          <p:cNvPr id="29" name="Text 26"/>
          <p:cNvSpPr txBox="1"/>
          <p:nvPr/>
        </p:nvSpPr>
        <p:spPr>
          <a:xfrm>
            <a:off x="6679692"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30" name="Text 27"/>
          <p:cNvSpPr txBox="1"/>
          <p:nvPr/>
        </p:nvSpPr>
        <p:spPr>
          <a:xfrm>
            <a:off x="6944868"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الطَّقْسُ</a:t>
            </a:r>
            <a:endParaRPr lang="ar-SA" sz="1800" dirty="0"/>
          </a:p>
        </p:txBody>
      </p:sp>
      <p:sp>
        <p:nvSpPr>
          <p:cNvPr id="31" name="Shape 28"/>
          <p:cNvSpPr/>
          <p:nvPr/>
        </p:nvSpPr>
        <p:spPr>
          <a:xfrm>
            <a:off x="6624828" y="2670048"/>
            <a:ext cx="2414016" cy="512064"/>
          </a:xfrm>
          <a:prstGeom prst="roundRect">
            <a:avLst>
              <a:gd name="adj" fmla="val 10714"/>
            </a:avLst>
          </a:prstGeom>
          <a:solidFill>
            <a:srgbClr val="EEF3FA"/>
          </a:solidFill>
          <a:ln w="9525">
            <a:solidFill>
              <a:srgbClr val="C9D6EA"/>
            </a:solidFill>
            <a:prstDash val="solid"/>
          </a:ln>
        </p:spPr>
      </p:sp>
      <p:sp>
        <p:nvSpPr>
          <p:cNvPr id="32" name="Text 29"/>
          <p:cNvSpPr txBox="1"/>
          <p:nvPr/>
        </p:nvSpPr>
        <p:spPr>
          <a:xfrm>
            <a:off x="6679692"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33" name="Text 30"/>
          <p:cNvSpPr txBox="1"/>
          <p:nvPr/>
        </p:nvSpPr>
        <p:spPr>
          <a:xfrm>
            <a:off x="6944868"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الطَّقْسَ</a:t>
            </a:r>
            <a:endParaRPr lang="ar-SA" sz="1800" dirty="0"/>
          </a:p>
        </p:txBody>
      </p:sp>
      <p:sp>
        <p:nvSpPr>
          <p:cNvPr id="34" name="Shape 31"/>
          <p:cNvSpPr/>
          <p:nvPr/>
        </p:nvSpPr>
        <p:spPr>
          <a:xfrm>
            <a:off x="4069080" y="2103120"/>
            <a:ext cx="2414016" cy="512064"/>
          </a:xfrm>
          <a:prstGeom prst="roundRect">
            <a:avLst>
              <a:gd name="adj" fmla="val 10714"/>
            </a:avLst>
          </a:prstGeom>
          <a:solidFill>
            <a:srgbClr val="EEF3FA"/>
          </a:solidFill>
          <a:ln w="9525">
            <a:solidFill>
              <a:srgbClr val="C9D6EA"/>
            </a:solidFill>
            <a:prstDash val="solid"/>
          </a:ln>
        </p:spPr>
      </p:sp>
      <p:sp>
        <p:nvSpPr>
          <p:cNvPr id="35" name="Text 32"/>
          <p:cNvSpPr txBox="1"/>
          <p:nvPr/>
        </p:nvSpPr>
        <p:spPr>
          <a:xfrm>
            <a:off x="4123944"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36" name="Text 33"/>
          <p:cNvSpPr txBox="1"/>
          <p:nvPr/>
        </p:nvSpPr>
        <p:spPr>
          <a:xfrm>
            <a:off x="4389120"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حَارًّا.</a:t>
            </a:r>
            <a:endParaRPr lang="ar-SA" sz="1800" dirty="0"/>
          </a:p>
        </p:txBody>
      </p:sp>
      <p:sp>
        <p:nvSpPr>
          <p:cNvPr id="37" name="Shape 34"/>
          <p:cNvSpPr/>
          <p:nvPr/>
        </p:nvSpPr>
        <p:spPr>
          <a:xfrm>
            <a:off x="4069080" y="2670048"/>
            <a:ext cx="2414016" cy="512064"/>
          </a:xfrm>
          <a:prstGeom prst="roundRect">
            <a:avLst>
              <a:gd name="adj" fmla="val 10714"/>
            </a:avLst>
          </a:prstGeom>
          <a:solidFill>
            <a:srgbClr val="EEF3FA"/>
          </a:solidFill>
          <a:ln w="9525">
            <a:solidFill>
              <a:srgbClr val="C9D6EA"/>
            </a:solidFill>
            <a:prstDash val="solid"/>
          </a:ln>
        </p:spPr>
      </p:sp>
      <p:sp>
        <p:nvSpPr>
          <p:cNvPr id="38" name="Text 35"/>
          <p:cNvSpPr txBox="1"/>
          <p:nvPr/>
        </p:nvSpPr>
        <p:spPr>
          <a:xfrm>
            <a:off x="4123944"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39" name="Text 36"/>
          <p:cNvSpPr txBox="1"/>
          <p:nvPr/>
        </p:nvSpPr>
        <p:spPr>
          <a:xfrm>
            <a:off x="4389120"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حَارٌّ.</a:t>
            </a:r>
            <a:endParaRPr lang="ar-SA" sz="1800" dirty="0"/>
          </a:p>
        </p:txBody>
      </p:sp>
      <p:sp>
        <p:nvSpPr>
          <p:cNvPr id="40" name="Shape 37"/>
          <p:cNvSpPr/>
          <p:nvPr/>
        </p:nvSpPr>
        <p:spPr>
          <a:xfrm>
            <a:off x="457200" y="3392424"/>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1" name="Shape 38"/>
          <p:cNvSpPr/>
          <p:nvPr/>
        </p:nvSpPr>
        <p:spPr>
          <a:xfrm>
            <a:off x="594360" y="3529584"/>
            <a:ext cx="365760" cy="365760"/>
          </a:xfrm>
          <a:prstGeom prst="ellipse">
            <a:avLst/>
          </a:prstGeom>
          <a:solidFill>
            <a:srgbClr val="2F6FB0"/>
          </a:solidFill>
          <a:ln w="12700">
            <a:solidFill>
              <a:srgbClr val="2F6FB0"/>
            </a:solidFill>
            <a:prstDash val="solid"/>
          </a:ln>
        </p:spPr>
      </p:sp>
      <p:sp>
        <p:nvSpPr>
          <p:cNvPr id="42" name="Text 39"/>
          <p:cNvSpPr txBox="1"/>
          <p:nvPr/>
        </p:nvSpPr>
        <p:spPr>
          <a:xfrm>
            <a:off x="594360" y="3529584"/>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43" name="Text 40"/>
          <p:cNvSpPr txBox="1"/>
          <p:nvPr/>
        </p:nvSpPr>
        <p:spPr>
          <a:xfrm>
            <a:off x="1051560" y="3502152"/>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Music expresses feelings.</a:t>
            </a:r>
            <a:endParaRPr lang="en-US" sz="1400" dirty="0"/>
          </a:p>
        </p:txBody>
      </p:sp>
      <p:sp>
        <p:nvSpPr>
          <p:cNvPr id="44" name="Shape 41"/>
          <p:cNvSpPr/>
          <p:nvPr/>
        </p:nvSpPr>
        <p:spPr>
          <a:xfrm>
            <a:off x="9180576" y="3483864"/>
            <a:ext cx="2414016" cy="512064"/>
          </a:xfrm>
          <a:prstGeom prst="roundRect">
            <a:avLst>
              <a:gd name="adj" fmla="val 10714"/>
            </a:avLst>
          </a:prstGeom>
          <a:solidFill>
            <a:srgbClr val="EEF3FA"/>
          </a:solidFill>
          <a:ln w="9525">
            <a:solidFill>
              <a:srgbClr val="C9D6EA"/>
            </a:solidFill>
            <a:prstDash val="solid"/>
          </a:ln>
        </p:spPr>
      </p:sp>
      <p:sp>
        <p:nvSpPr>
          <p:cNvPr id="45" name="Text 42"/>
          <p:cNvSpPr txBox="1"/>
          <p:nvPr/>
        </p:nvSpPr>
        <p:spPr>
          <a:xfrm>
            <a:off x="9235440"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46" name="Text 43"/>
          <p:cNvSpPr txBox="1"/>
          <p:nvPr/>
        </p:nvSpPr>
        <p:spPr>
          <a:xfrm>
            <a:off x="9500616"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تُعَبِّرُ</a:t>
            </a:r>
            <a:endParaRPr lang="ar-SA" sz="1800" dirty="0"/>
          </a:p>
        </p:txBody>
      </p:sp>
      <p:sp>
        <p:nvSpPr>
          <p:cNvPr id="47" name="Shape 44"/>
          <p:cNvSpPr/>
          <p:nvPr/>
        </p:nvSpPr>
        <p:spPr>
          <a:xfrm>
            <a:off x="9180576" y="4050792"/>
            <a:ext cx="2414016" cy="512064"/>
          </a:xfrm>
          <a:prstGeom prst="roundRect">
            <a:avLst>
              <a:gd name="adj" fmla="val 10714"/>
            </a:avLst>
          </a:prstGeom>
          <a:solidFill>
            <a:srgbClr val="EEF3FA"/>
          </a:solidFill>
          <a:ln w="9525">
            <a:solidFill>
              <a:srgbClr val="C9D6EA"/>
            </a:solidFill>
            <a:prstDash val="solid"/>
          </a:ln>
        </p:spPr>
      </p:sp>
      <p:sp>
        <p:nvSpPr>
          <p:cNvPr id="48" name="Text 45"/>
          <p:cNvSpPr txBox="1"/>
          <p:nvPr/>
        </p:nvSpPr>
        <p:spPr>
          <a:xfrm>
            <a:off x="9235440"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49" name="Text 46"/>
          <p:cNvSpPr txBox="1"/>
          <p:nvPr/>
        </p:nvSpPr>
        <p:spPr>
          <a:xfrm>
            <a:off x="9500616"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يُعَبِّرُ</a:t>
            </a:r>
            <a:endParaRPr lang="ar-SA" sz="1800" dirty="0"/>
          </a:p>
        </p:txBody>
      </p:sp>
      <p:sp>
        <p:nvSpPr>
          <p:cNvPr id="50" name="Shape 47"/>
          <p:cNvSpPr/>
          <p:nvPr/>
        </p:nvSpPr>
        <p:spPr>
          <a:xfrm>
            <a:off x="6624828" y="3483864"/>
            <a:ext cx="2414016" cy="512064"/>
          </a:xfrm>
          <a:prstGeom prst="roundRect">
            <a:avLst>
              <a:gd name="adj" fmla="val 10714"/>
            </a:avLst>
          </a:prstGeom>
          <a:solidFill>
            <a:srgbClr val="EEF3FA"/>
          </a:solidFill>
          <a:ln w="9525">
            <a:solidFill>
              <a:srgbClr val="C9D6EA"/>
            </a:solidFill>
            <a:prstDash val="solid"/>
          </a:ln>
        </p:spPr>
      </p:sp>
      <p:sp>
        <p:nvSpPr>
          <p:cNvPr id="51" name="Text 48"/>
          <p:cNvSpPr txBox="1"/>
          <p:nvPr/>
        </p:nvSpPr>
        <p:spPr>
          <a:xfrm>
            <a:off x="6679692"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52" name="Text 49"/>
          <p:cNvSpPr txBox="1"/>
          <p:nvPr/>
        </p:nvSpPr>
        <p:spPr>
          <a:xfrm>
            <a:off x="6944868"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المُوسِيقَى</a:t>
            </a:r>
            <a:endParaRPr lang="ar-SA" sz="1800" dirty="0"/>
          </a:p>
        </p:txBody>
      </p:sp>
      <p:sp>
        <p:nvSpPr>
          <p:cNvPr id="53" name="Shape 50"/>
          <p:cNvSpPr/>
          <p:nvPr/>
        </p:nvSpPr>
        <p:spPr>
          <a:xfrm>
            <a:off x="6624828" y="4050792"/>
            <a:ext cx="2414016" cy="512064"/>
          </a:xfrm>
          <a:prstGeom prst="roundRect">
            <a:avLst>
              <a:gd name="adj" fmla="val 10714"/>
            </a:avLst>
          </a:prstGeom>
          <a:solidFill>
            <a:srgbClr val="EEF3FA"/>
          </a:solidFill>
          <a:ln w="9525">
            <a:solidFill>
              <a:srgbClr val="C9D6EA"/>
            </a:solidFill>
            <a:prstDash val="solid"/>
          </a:ln>
        </p:spPr>
      </p:sp>
      <p:sp>
        <p:nvSpPr>
          <p:cNvPr id="54" name="Text 51"/>
          <p:cNvSpPr txBox="1"/>
          <p:nvPr/>
        </p:nvSpPr>
        <p:spPr>
          <a:xfrm>
            <a:off x="6679692"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55" name="Text 52"/>
          <p:cNvSpPr txBox="1"/>
          <p:nvPr/>
        </p:nvSpPr>
        <p:spPr>
          <a:xfrm>
            <a:off x="6944868"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المُوسِيقِيُّ</a:t>
            </a:r>
            <a:endParaRPr lang="ar-SA" sz="1800" dirty="0"/>
          </a:p>
        </p:txBody>
      </p:sp>
      <p:sp>
        <p:nvSpPr>
          <p:cNvPr id="56" name="Shape 53"/>
          <p:cNvSpPr/>
          <p:nvPr/>
        </p:nvSpPr>
        <p:spPr>
          <a:xfrm>
            <a:off x="4069080" y="3483864"/>
            <a:ext cx="2414016" cy="512064"/>
          </a:xfrm>
          <a:prstGeom prst="roundRect">
            <a:avLst>
              <a:gd name="adj" fmla="val 10714"/>
            </a:avLst>
          </a:prstGeom>
          <a:solidFill>
            <a:srgbClr val="EEF3FA"/>
          </a:solidFill>
          <a:ln w="9525">
            <a:solidFill>
              <a:srgbClr val="C9D6EA"/>
            </a:solidFill>
            <a:prstDash val="solid"/>
          </a:ln>
        </p:spPr>
      </p:sp>
      <p:sp>
        <p:nvSpPr>
          <p:cNvPr id="57" name="Text 54"/>
          <p:cNvSpPr txBox="1"/>
          <p:nvPr/>
        </p:nvSpPr>
        <p:spPr>
          <a:xfrm>
            <a:off x="4123944"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58" name="Text 55"/>
          <p:cNvSpPr txBox="1"/>
          <p:nvPr/>
        </p:nvSpPr>
        <p:spPr>
          <a:xfrm>
            <a:off x="4389120"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عَنِ المَشَاعِرِ.</a:t>
            </a:r>
            <a:endParaRPr lang="ar-SA" sz="1800" dirty="0"/>
          </a:p>
        </p:txBody>
      </p:sp>
      <p:sp>
        <p:nvSpPr>
          <p:cNvPr id="59" name="Shape 56"/>
          <p:cNvSpPr/>
          <p:nvPr/>
        </p:nvSpPr>
        <p:spPr>
          <a:xfrm>
            <a:off x="4069080" y="4050792"/>
            <a:ext cx="2414016" cy="512064"/>
          </a:xfrm>
          <a:prstGeom prst="roundRect">
            <a:avLst>
              <a:gd name="adj" fmla="val 10714"/>
            </a:avLst>
          </a:prstGeom>
          <a:solidFill>
            <a:srgbClr val="EEF3FA"/>
          </a:solidFill>
          <a:ln w="9525">
            <a:solidFill>
              <a:srgbClr val="C9D6EA"/>
            </a:solidFill>
            <a:prstDash val="solid"/>
          </a:ln>
        </p:spPr>
      </p:sp>
      <p:sp>
        <p:nvSpPr>
          <p:cNvPr id="60" name="Text 57"/>
          <p:cNvSpPr txBox="1"/>
          <p:nvPr/>
        </p:nvSpPr>
        <p:spPr>
          <a:xfrm>
            <a:off x="4123944"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61" name="Text 58"/>
          <p:cNvSpPr txBox="1"/>
          <p:nvPr/>
        </p:nvSpPr>
        <p:spPr>
          <a:xfrm>
            <a:off x="4389120"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المَشَاعِرَ.</a:t>
            </a:r>
            <a:endParaRPr lang="ar-SA" sz="1800" dirty="0"/>
          </a:p>
        </p:txBody>
      </p:sp>
      <p:sp>
        <p:nvSpPr>
          <p:cNvPr id="62" name="Shape 59"/>
          <p:cNvSpPr/>
          <p:nvPr/>
        </p:nvSpPr>
        <p:spPr>
          <a:xfrm>
            <a:off x="457200" y="4773168"/>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594360" y="4910328"/>
            <a:ext cx="365760" cy="365760"/>
          </a:xfrm>
          <a:prstGeom prst="ellipse">
            <a:avLst/>
          </a:prstGeom>
          <a:solidFill>
            <a:srgbClr val="2F6FB0"/>
          </a:solidFill>
          <a:ln w="12700">
            <a:solidFill>
              <a:srgbClr val="2F6FB0"/>
            </a:solidFill>
            <a:prstDash val="solid"/>
          </a:ln>
        </p:spPr>
      </p:sp>
      <p:sp>
        <p:nvSpPr>
          <p:cNvPr id="64" name="Text 61"/>
          <p:cNvSpPr txBox="1"/>
          <p:nvPr/>
        </p:nvSpPr>
        <p:spPr>
          <a:xfrm>
            <a:off x="594360" y="49103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65" name="Text 62"/>
          <p:cNvSpPr txBox="1"/>
          <p:nvPr/>
        </p:nvSpPr>
        <p:spPr>
          <a:xfrm>
            <a:off x="1051560" y="4882896"/>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We were playing when suddenly it rained.</a:t>
            </a:r>
            <a:endParaRPr lang="en-US" sz="1400" dirty="0"/>
          </a:p>
        </p:txBody>
      </p:sp>
      <p:sp>
        <p:nvSpPr>
          <p:cNvPr id="66" name="Shape 63"/>
          <p:cNvSpPr/>
          <p:nvPr/>
        </p:nvSpPr>
        <p:spPr>
          <a:xfrm>
            <a:off x="9180576" y="4864608"/>
            <a:ext cx="2414016" cy="512064"/>
          </a:xfrm>
          <a:prstGeom prst="roundRect">
            <a:avLst>
              <a:gd name="adj" fmla="val 10714"/>
            </a:avLst>
          </a:prstGeom>
          <a:solidFill>
            <a:srgbClr val="EEF3FA"/>
          </a:solidFill>
          <a:ln w="9525">
            <a:solidFill>
              <a:srgbClr val="C9D6EA"/>
            </a:solidFill>
            <a:prstDash val="solid"/>
          </a:ln>
        </p:spPr>
      </p:sp>
      <p:sp>
        <p:nvSpPr>
          <p:cNvPr id="67" name="Text 64"/>
          <p:cNvSpPr txBox="1"/>
          <p:nvPr/>
        </p:nvSpPr>
        <p:spPr>
          <a:xfrm>
            <a:off x="9235440"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68" name="Text 65"/>
          <p:cNvSpPr txBox="1"/>
          <p:nvPr/>
        </p:nvSpPr>
        <p:spPr>
          <a:xfrm>
            <a:off x="9500616"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كُنَّا نَلْعَبُ</a:t>
            </a:r>
            <a:endParaRPr lang="ar-SA" sz="1800" dirty="0"/>
          </a:p>
        </p:txBody>
      </p:sp>
      <p:sp>
        <p:nvSpPr>
          <p:cNvPr id="69" name="Shape 66"/>
          <p:cNvSpPr/>
          <p:nvPr/>
        </p:nvSpPr>
        <p:spPr>
          <a:xfrm>
            <a:off x="9180576" y="5431536"/>
            <a:ext cx="2414016" cy="512064"/>
          </a:xfrm>
          <a:prstGeom prst="roundRect">
            <a:avLst>
              <a:gd name="adj" fmla="val 10714"/>
            </a:avLst>
          </a:prstGeom>
          <a:solidFill>
            <a:srgbClr val="EEF3FA"/>
          </a:solidFill>
          <a:ln w="9525">
            <a:solidFill>
              <a:srgbClr val="C9D6EA"/>
            </a:solidFill>
            <a:prstDash val="solid"/>
          </a:ln>
        </p:spPr>
      </p:sp>
      <p:sp>
        <p:nvSpPr>
          <p:cNvPr id="70" name="Text 67"/>
          <p:cNvSpPr txBox="1"/>
          <p:nvPr/>
        </p:nvSpPr>
        <p:spPr>
          <a:xfrm>
            <a:off x="9235440"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71" name="Text 68"/>
          <p:cNvSpPr txBox="1"/>
          <p:nvPr/>
        </p:nvSpPr>
        <p:spPr>
          <a:xfrm>
            <a:off x="9500616"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كُنَّا لَعِبْنَا</a:t>
            </a:r>
            <a:endParaRPr lang="ar-SA" sz="1800" dirty="0"/>
          </a:p>
        </p:txBody>
      </p:sp>
      <p:sp>
        <p:nvSpPr>
          <p:cNvPr id="72" name="Shape 69"/>
          <p:cNvSpPr/>
          <p:nvPr/>
        </p:nvSpPr>
        <p:spPr>
          <a:xfrm>
            <a:off x="6624828" y="4864608"/>
            <a:ext cx="2414016" cy="512064"/>
          </a:xfrm>
          <a:prstGeom prst="roundRect">
            <a:avLst>
              <a:gd name="adj" fmla="val 10714"/>
            </a:avLst>
          </a:prstGeom>
          <a:solidFill>
            <a:srgbClr val="EEF3FA"/>
          </a:solidFill>
          <a:ln w="9525">
            <a:solidFill>
              <a:srgbClr val="C9D6EA"/>
            </a:solidFill>
            <a:prstDash val="solid"/>
          </a:ln>
        </p:spPr>
      </p:sp>
      <p:sp>
        <p:nvSpPr>
          <p:cNvPr id="73" name="Text 70"/>
          <p:cNvSpPr txBox="1"/>
          <p:nvPr/>
        </p:nvSpPr>
        <p:spPr>
          <a:xfrm>
            <a:off x="6679692"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74" name="Text 71"/>
          <p:cNvSpPr txBox="1"/>
          <p:nvPr/>
        </p:nvSpPr>
        <p:spPr>
          <a:xfrm>
            <a:off x="6944868"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عِنْدَمَا</a:t>
            </a:r>
            <a:endParaRPr lang="ar-SA" sz="1800" dirty="0"/>
          </a:p>
        </p:txBody>
      </p:sp>
      <p:sp>
        <p:nvSpPr>
          <p:cNvPr id="75" name="Shape 72"/>
          <p:cNvSpPr/>
          <p:nvPr/>
        </p:nvSpPr>
        <p:spPr>
          <a:xfrm>
            <a:off x="6624828" y="5431536"/>
            <a:ext cx="2414016" cy="512064"/>
          </a:xfrm>
          <a:prstGeom prst="roundRect">
            <a:avLst>
              <a:gd name="adj" fmla="val 10714"/>
            </a:avLst>
          </a:prstGeom>
          <a:solidFill>
            <a:srgbClr val="EEF3FA"/>
          </a:solidFill>
          <a:ln w="9525">
            <a:solidFill>
              <a:srgbClr val="C9D6EA"/>
            </a:solidFill>
            <a:prstDash val="solid"/>
          </a:ln>
        </p:spPr>
      </p:sp>
      <p:sp>
        <p:nvSpPr>
          <p:cNvPr id="76" name="Text 73"/>
          <p:cNvSpPr txBox="1"/>
          <p:nvPr/>
        </p:nvSpPr>
        <p:spPr>
          <a:xfrm>
            <a:off x="6679692"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77" name="Text 74"/>
          <p:cNvSpPr txBox="1"/>
          <p:nvPr/>
        </p:nvSpPr>
        <p:spPr>
          <a:xfrm>
            <a:off x="6944868"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لِأَنَّ</a:t>
            </a:r>
            <a:endParaRPr lang="ar-SA" sz="1800" dirty="0"/>
          </a:p>
        </p:txBody>
      </p:sp>
      <p:sp>
        <p:nvSpPr>
          <p:cNvPr id="78" name="Shape 75"/>
          <p:cNvSpPr/>
          <p:nvPr/>
        </p:nvSpPr>
        <p:spPr>
          <a:xfrm>
            <a:off x="4069080" y="4864608"/>
            <a:ext cx="2414016" cy="512064"/>
          </a:xfrm>
          <a:prstGeom prst="roundRect">
            <a:avLst>
              <a:gd name="adj" fmla="val 10714"/>
            </a:avLst>
          </a:prstGeom>
          <a:solidFill>
            <a:srgbClr val="EEF3FA"/>
          </a:solidFill>
          <a:ln w="9525">
            <a:solidFill>
              <a:srgbClr val="C9D6EA"/>
            </a:solidFill>
            <a:prstDash val="solid"/>
          </a:ln>
        </p:spPr>
      </p:sp>
      <p:sp>
        <p:nvSpPr>
          <p:cNvPr id="79" name="Text 76"/>
          <p:cNvSpPr txBox="1"/>
          <p:nvPr/>
        </p:nvSpPr>
        <p:spPr>
          <a:xfrm>
            <a:off x="4123944"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80" name="Text 77"/>
          <p:cNvSpPr txBox="1"/>
          <p:nvPr/>
        </p:nvSpPr>
        <p:spPr>
          <a:xfrm>
            <a:off x="4389120"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سَقَطَ المَطَرُ فَجْأَةً.</a:t>
            </a:r>
            <a:endParaRPr lang="ar-SA" sz="1800" dirty="0"/>
          </a:p>
        </p:txBody>
      </p:sp>
      <p:sp>
        <p:nvSpPr>
          <p:cNvPr id="81" name="Shape 78"/>
          <p:cNvSpPr/>
          <p:nvPr/>
        </p:nvSpPr>
        <p:spPr>
          <a:xfrm>
            <a:off x="4069080" y="5431536"/>
            <a:ext cx="2414016" cy="512064"/>
          </a:xfrm>
          <a:prstGeom prst="roundRect">
            <a:avLst>
              <a:gd name="adj" fmla="val 10714"/>
            </a:avLst>
          </a:prstGeom>
          <a:solidFill>
            <a:srgbClr val="EEF3FA"/>
          </a:solidFill>
          <a:ln w="9525">
            <a:solidFill>
              <a:srgbClr val="C9D6EA"/>
            </a:solidFill>
            <a:prstDash val="solid"/>
          </a:ln>
        </p:spPr>
      </p:sp>
      <p:sp>
        <p:nvSpPr>
          <p:cNvPr id="82" name="Text 79"/>
          <p:cNvSpPr txBox="1"/>
          <p:nvPr/>
        </p:nvSpPr>
        <p:spPr>
          <a:xfrm>
            <a:off x="4123944"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83" name="Text 80"/>
          <p:cNvSpPr txBox="1"/>
          <p:nvPr/>
        </p:nvSpPr>
        <p:spPr>
          <a:xfrm>
            <a:off x="4389120"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يَسْقُطُ المَطَرُ فَجْأَةً.</a:t>
            </a:r>
            <a:endParaRPr lang="ar-SA" sz="1800" dirty="0"/>
          </a:p>
        </p:txBody>
      </p:sp>
      <p:sp>
        <p:nvSpPr>
          <p:cNvPr id="84" name="Text 8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24</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D5-W03 · Apply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7 · CHECK YOUR SENTENCES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 builder: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ابْنِ الجُمْلَةَ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D5-W03 · Apply workshop (D5-L05 + D5-L06)</a:t>
            </a:r>
            <a:endParaRPr lang="en-US" sz="850" dirty="0"/>
          </a:p>
        </p:txBody>
      </p:sp>
      <p:sp>
        <p:nvSpPr>
          <p:cNvPr id="15" name="Shape 12"/>
          <p:cNvSpPr/>
          <p:nvPr/>
        </p:nvSpPr>
        <p:spPr>
          <a:xfrm>
            <a:off x="457200" y="1810512"/>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47672"/>
            <a:ext cx="365760" cy="365760"/>
          </a:xfrm>
          <a:prstGeom prst="ellipse">
            <a:avLst/>
          </a:prstGeom>
          <a:solidFill>
            <a:srgbClr val="2E8B57"/>
          </a:solidFill>
          <a:ln w="12700">
            <a:solidFill>
              <a:srgbClr val="2E8B57"/>
            </a:solidFill>
            <a:prstDash val="solid"/>
          </a:ln>
        </p:spPr>
      </p:sp>
      <p:sp>
        <p:nvSpPr>
          <p:cNvPr id="17" name="Text 14"/>
          <p:cNvSpPr txBox="1"/>
          <p:nvPr/>
        </p:nvSpPr>
        <p:spPr>
          <a:xfrm>
            <a:off x="640080" y="1947672"/>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18" name="Text 15"/>
          <p:cNvSpPr txBox="1"/>
          <p:nvPr/>
        </p:nvSpPr>
        <p:spPr>
          <a:xfrm>
            <a:off x="1143000" y="1901952"/>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The weather was hot.</a:t>
            </a:r>
            <a:endParaRPr lang="en-US" sz="1300" dirty="0"/>
          </a:p>
        </p:txBody>
      </p:sp>
      <p:sp>
        <p:nvSpPr>
          <p:cNvPr id="19" name="Text 16"/>
          <p:cNvSpPr txBox="1"/>
          <p:nvPr/>
        </p:nvSpPr>
        <p:spPr>
          <a:xfrm>
            <a:off x="1143000" y="2359152"/>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20" name="Text 17"/>
          <p:cNvSpPr txBox="1"/>
          <p:nvPr/>
        </p:nvSpPr>
        <p:spPr>
          <a:xfrm>
            <a:off x="1143000" y="2633472"/>
            <a:ext cx="3291840" cy="438912"/>
          </a:xfrm>
          <a:prstGeom prst="rect">
            <a:avLst/>
          </a:prstGeom>
          <a:noFill/>
          <a:ln/>
        </p:spPr>
        <p:txBody>
          <a:bodyPr wrap="square" lIns="0" tIns="0" rIns="0" bIns="0" rtlCol="0" anchor="ctr"/>
          <a:lstStyle/>
          <a:p>
            <a:pPr algn="l" indent="0" marL="0">
              <a:buNone/>
            </a:pPr>
            <a:r>
              <a:rPr lang="ar-SA" altLang="en-US" sz="1350" dirty="0">
                <a:solidFill>
                  <a:srgbClr val="5A6472"/>
                </a:solidFill>
                <a:latin typeface="Amiri" pitchFamily="2" charset="-78"/>
                <a:ea typeface="Amiri" pitchFamily="2" charset="-78"/>
                <a:cs typeface="Amiri" pitchFamily="2" charset="-78"/>
              </a:rPr>
              <a:t>كَانَ</a:t>
            </a:r>
            <a:pPr algn="l" indent="0" marL="0">
              <a:buNone/>
            </a:pPr>
            <a:r>
              <a:rPr lang="en-US" sz="1050" i="1" dirty="0">
                <a:solidFill>
                  <a:srgbClr val="5A6472"/>
                </a:solidFill>
                <a:latin typeface="Calibri" pitchFamily="34" charset="0"/>
                <a:cs typeface="Amiri" pitchFamily="2" charset="-78"/>
              </a:rPr>
              <a:t> + subject (-u) + adjective (-an).</a:t>
            </a:r>
            <a:endParaRPr lang="en-US" sz="1050" dirty="0"/>
          </a:p>
        </p:txBody>
      </p:sp>
      <p:sp>
        <p:nvSpPr>
          <p:cNvPr id="21" name="Text 18"/>
          <p:cNvSpPr txBox="1"/>
          <p:nvPr/>
        </p:nvSpPr>
        <p:spPr>
          <a:xfrm>
            <a:off x="4572000" y="1901952"/>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كَانَ الطَّقْسُ حَارًّا.</a:t>
            </a:r>
            <a:endParaRPr lang="ar-SA" sz="2800" dirty="0"/>
          </a:p>
        </p:txBody>
      </p:sp>
      <p:sp>
        <p:nvSpPr>
          <p:cNvPr id="22" name="Shape 19"/>
          <p:cNvSpPr/>
          <p:nvPr/>
        </p:nvSpPr>
        <p:spPr>
          <a:xfrm>
            <a:off x="457200" y="3291840"/>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640080" y="3429000"/>
            <a:ext cx="365760" cy="365760"/>
          </a:xfrm>
          <a:prstGeom prst="ellipse">
            <a:avLst/>
          </a:prstGeom>
          <a:solidFill>
            <a:srgbClr val="2E8B57"/>
          </a:solidFill>
          <a:ln w="12700">
            <a:solidFill>
              <a:srgbClr val="2E8B57"/>
            </a:solidFill>
            <a:prstDash val="solid"/>
          </a:ln>
        </p:spPr>
      </p:sp>
      <p:sp>
        <p:nvSpPr>
          <p:cNvPr id="24" name="Text 21"/>
          <p:cNvSpPr txBox="1"/>
          <p:nvPr/>
        </p:nvSpPr>
        <p:spPr>
          <a:xfrm>
            <a:off x="640080" y="342900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25" name="Text 22"/>
          <p:cNvSpPr txBox="1"/>
          <p:nvPr/>
        </p:nvSpPr>
        <p:spPr>
          <a:xfrm>
            <a:off x="1143000" y="3383280"/>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Music expresses feelings.</a:t>
            </a:r>
            <a:endParaRPr lang="en-US" sz="1300" dirty="0"/>
          </a:p>
        </p:txBody>
      </p:sp>
      <p:sp>
        <p:nvSpPr>
          <p:cNvPr id="26" name="Text 23"/>
          <p:cNvSpPr txBox="1"/>
          <p:nvPr/>
        </p:nvSpPr>
        <p:spPr>
          <a:xfrm>
            <a:off x="1143000" y="3840480"/>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27" name="Text 24"/>
          <p:cNvSpPr txBox="1"/>
          <p:nvPr/>
        </p:nvSpPr>
        <p:spPr>
          <a:xfrm>
            <a:off x="1143000" y="4114800"/>
            <a:ext cx="3291840" cy="43891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Music = </a:t>
            </a:r>
            <a:pPr algn="l" indent="0" marL="0">
              <a:buNone/>
            </a:pPr>
            <a:r>
              <a:rPr lang="ar-SA" altLang="en-US" sz="1350" dirty="0">
                <a:solidFill>
                  <a:srgbClr val="5A6472"/>
                </a:solidFill>
                <a:latin typeface="Amiri" pitchFamily="2" charset="-78"/>
                <a:ea typeface="Amiri" pitchFamily="2" charset="-78"/>
                <a:cs typeface="Amiri" pitchFamily="2" charset="-78"/>
              </a:rPr>
              <a:t>المُوسِيقَى</a:t>
            </a:r>
            <a:pPr algn="l" indent="0" marL="0">
              <a:buNone/>
            </a:pPr>
            <a:r>
              <a:rPr lang="en-US" sz="1050" i="1" dirty="0">
                <a:solidFill>
                  <a:srgbClr val="5A6472"/>
                </a:solidFill>
                <a:latin typeface="Calibri" pitchFamily="34" charset="0"/>
                <a:cs typeface="Amiri" pitchFamily="2" charset="-78"/>
              </a:rPr>
              <a:t> (f.) → </a:t>
            </a:r>
            <a:pPr algn="l" indent="0" marL="0">
              <a:buNone/>
            </a:pPr>
            <a:r>
              <a:rPr lang="ar-SA" altLang="en-US" sz="1350" dirty="0">
                <a:solidFill>
                  <a:srgbClr val="5A6472"/>
                </a:solidFill>
                <a:latin typeface="Amiri" pitchFamily="2" charset="-78"/>
                <a:ea typeface="Amiri" pitchFamily="2" charset="-78"/>
                <a:cs typeface="Amiri" pitchFamily="2" charset="-78"/>
              </a:rPr>
              <a:t>تُعَبِّرُ عَنْ</a:t>
            </a:r>
            <a:pPr algn="l" indent="0" marL="0">
              <a:buNone/>
            </a:pPr>
            <a:r>
              <a:rPr lang="en-US" sz="1050" i="1" dirty="0">
                <a:solidFill>
                  <a:srgbClr val="5A6472"/>
                </a:solidFill>
                <a:latin typeface="Calibri" pitchFamily="34" charset="0"/>
                <a:cs typeface="Amiri" pitchFamily="2" charset="-78"/>
              </a:rPr>
              <a:t> (</a:t>
            </a:r>
            <a:pPr algn="l" indent="0" marL="0">
              <a:buNone/>
            </a:pPr>
            <a:r>
              <a:rPr lang="ar-SA" altLang="en-US" sz="1350" dirty="0">
                <a:solidFill>
                  <a:srgbClr val="5A6472"/>
                </a:solidFill>
                <a:latin typeface="Amiri" pitchFamily="2" charset="-78"/>
                <a:ea typeface="Amiri" pitchFamily="2" charset="-78"/>
                <a:cs typeface="Amiri" pitchFamily="2" charset="-78"/>
              </a:rPr>
              <a:t>المُوسِيقِيُّ</a:t>
            </a:r>
            <a:pPr algn="l" indent="0" marL="0">
              <a:buNone/>
            </a:pPr>
            <a:r>
              <a:rPr lang="en-US" sz="1050" i="1" dirty="0">
                <a:solidFill>
                  <a:srgbClr val="5A6472"/>
                </a:solidFill>
                <a:latin typeface="Calibri" pitchFamily="34" charset="0"/>
                <a:cs typeface="Amiri" pitchFamily="2" charset="-78"/>
              </a:rPr>
              <a:t> = the musician).</a:t>
            </a:r>
            <a:endParaRPr lang="en-US" sz="1050" dirty="0"/>
          </a:p>
        </p:txBody>
      </p:sp>
      <p:sp>
        <p:nvSpPr>
          <p:cNvPr id="28" name="Text 25"/>
          <p:cNvSpPr txBox="1"/>
          <p:nvPr/>
        </p:nvSpPr>
        <p:spPr>
          <a:xfrm>
            <a:off x="4572000" y="3383280"/>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تُعَبِّرُ المُوسِيقَى عَنِ المَشَاعِرِ.</a:t>
            </a:r>
            <a:endParaRPr lang="ar-SA" sz="2800" dirty="0"/>
          </a:p>
        </p:txBody>
      </p:sp>
      <p:sp>
        <p:nvSpPr>
          <p:cNvPr id="29" name="Shape 26"/>
          <p:cNvSpPr/>
          <p:nvPr/>
        </p:nvSpPr>
        <p:spPr>
          <a:xfrm>
            <a:off x="457200" y="4773168"/>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640080" y="4910328"/>
            <a:ext cx="365760" cy="365760"/>
          </a:xfrm>
          <a:prstGeom prst="ellipse">
            <a:avLst/>
          </a:prstGeom>
          <a:solidFill>
            <a:srgbClr val="2E8B57"/>
          </a:solidFill>
          <a:ln w="12700">
            <a:solidFill>
              <a:srgbClr val="2E8B57"/>
            </a:solidFill>
            <a:prstDash val="solid"/>
          </a:ln>
        </p:spPr>
      </p:sp>
      <p:sp>
        <p:nvSpPr>
          <p:cNvPr id="31" name="Text 28"/>
          <p:cNvSpPr txBox="1"/>
          <p:nvPr/>
        </p:nvSpPr>
        <p:spPr>
          <a:xfrm>
            <a:off x="640080" y="49103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32" name="Text 29"/>
          <p:cNvSpPr txBox="1"/>
          <p:nvPr/>
        </p:nvSpPr>
        <p:spPr>
          <a:xfrm>
            <a:off x="1143000" y="4864608"/>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We were playing when suddenly it rained.</a:t>
            </a:r>
            <a:endParaRPr lang="en-US" sz="1300" dirty="0"/>
          </a:p>
        </p:txBody>
      </p:sp>
      <p:sp>
        <p:nvSpPr>
          <p:cNvPr id="33" name="Text 30"/>
          <p:cNvSpPr txBox="1"/>
          <p:nvPr/>
        </p:nvSpPr>
        <p:spPr>
          <a:xfrm>
            <a:off x="1143000" y="5321808"/>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34" name="Text 31"/>
          <p:cNvSpPr txBox="1"/>
          <p:nvPr/>
        </p:nvSpPr>
        <p:spPr>
          <a:xfrm>
            <a:off x="1143000" y="5596128"/>
            <a:ext cx="3291840" cy="43891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Background = </a:t>
            </a:r>
            <a:pPr algn="l" indent="0" marL="0">
              <a:buNone/>
            </a:pPr>
            <a:r>
              <a:rPr lang="ar-SA" altLang="en-US" sz="1350" dirty="0">
                <a:solidFill>
                  <a:srgbClr val="5A6472"/>
                </a:solidFill>
                <a:latin typeface="Amiri" pitchFamily="2" charset="-78"/>
                <a:ea typeface="Amiri" pitchFamily="2" charset="-78"/>
                <a:cs typeface="Amiri" pitchFamily="2" charset="-78"/>
              </a:rPr>
              <a:t>كُنَّا</a:t>
            </a:r>
            <a:pPr algn="l" indent="0" marL="0">
              <a:buNone/>
            </a:pPr>
            <a:r>
              <a:rPr lang="en-US" sz="1050" i="1" dirty="0">
                <a:solidFill>
                  <a:srgbClr val="5A6472"/>
                </a:solidFill>
                <a:latin typeface="Calibri" pitchFamily="34" charset="0"/>
                <a:cs typeface="Amiri" pitchFamily="2" charset="-78"/>
              </a:rPr>
              <a:t> + present; the event = past.</a:t>
            </a:r>
            <a:endParaRPr lang="en-US" sz="1050" dirty="0"/>
          </a:p>
        </p:txBody>
      </p:sp>
      <p:sp>
        <p:nvSpPr>
          <p:cNvPr id="35" name="Text 32"/>
          <p:cNvSpPr txBox="1"/>
          <p:nvPr/>
        </p:nvSpPr>
        <p:spPr>
          <a:xfrm>
            <a:off x="4572000" y="4864608"/>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كُنَّا نَلْعَبُ عِنْدَمَا سَقَطَ المَطَرُ فَجْأَةً.</a:t>
            </a:r>
            <a:endParaRPr lang="ar-SA" sz="280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24</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D5-W03 · Apply workshop</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STEP 8 · SPOT AND FIX · MISTAKES FROM BOTH LESSONS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Find the mistake, fix it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اكْتَشِفِ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D5-W03 · Apply workshop (D5-L05 + D5-L06)</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كَانَ الجَوُّ جَمِيلٌ.</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After </a:t>
            </a:r>
            <a:pPr algn="l" indent="0" marL="0">
              <a:buNone/>
            </a:pPr>
            <a:r>
              <a:rPr lang="ar-SA" altLang="en-US" sz="1700" dirty="0">
                <a:solidFill>
                  <a:srgbClr val="5A6472"/>
                </a:solidFill>
                <a:latin typeface="Amiri" pitchFamily="2" charset="-78"/>
                <a:ea typeface="Amiri" pitchFamily="2" charset="-78"/>
                <a:cs typeface="Amiri" pitchFamily="2" charset="-78"/>
              </a:rPr>
              <a:t>كَانَ</a:t>
            </a:r>
            <a:pPr algn="l" indent="0" marL="0">
              <a:buNone/>
            </a:pPr>
            <a:r>
              <a:rPr lang="en-US" sz="1300" i="1" dirty="0">
                <a:solidFill>
                  <a:srgbClr val="5A6472"/>
                </a:solidFill>
                <a:latin typeface="Calibri" pitchFamily="34" charset="0"/>
                <a:cs typeface="Amiri" pitchFamily="2" charset="-78"/>
              </a:rPr>
              <a:t> …</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الفَنُّ يُؤَثِّرُ النَّاسَ.</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Missing preposition.</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كُنْتُ لَعِبْتُ فِي الحَدِيقَةِ عِنْدَمَا …</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Was …-ing.</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24</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D5-W03 · Apply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8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Spot and fix: corrections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اكْتَشِفِ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D5-W03 · Apply workshop (D5-L05 + D5-L06)</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كَانَ الجَوُّ جَمِيلٌ.</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كَانَ الجَوُّ جَمِيلًا.</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a:t>
            </a:r>
            <a:pPr algn="l" indent="0" marL="0">
              <a:buNone/>
            </a:pPr>
            <a:r>
              <a:rPr lang="ar-SA" altLang="en-US" sz="1500" b="1" dirty="0">
                <a:solidFill>
                  <a:srgbClr val="1B3B6F"/>
                </a:solidFill>
                <a:latin typeface="Amiri" pitchFamily="2" charset="-78"/>
                <a:ea typeface="Amiri" pitchFamily="2" charset="-78"/>
                <a:cs typeface="Amiri" pitchFamily="2" charset="-78"/>
              </a:rPr>
              <a:t>كَانَ</a:t>
            </a:r>
            <a:pPr algn="l" indent="0" marL="0">
              <a:buNone/>
            </a:pPr>
            <a:r>
              <a:rPr lang="en-US" sz="1150" b="1" dirty="0">
                <a:solidFill>
                  <a:srgbClr val="1B3B6F"/>
                </a:solidFill>
                <a:latin typeface="Calibri" pitchFamily="34" charset="0"/>
                <a:cs typeface="Amiri" pitchFamily="2" charset="-78"/>
              </a:rPr>
              <a:t>‏ + adjective in -an.</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الفَنُّ يُؤَثِّرُ النَّاسَ.</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الفَنُّ يُؤَثِّرُ فِي النَّاسِ.</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rtl="1" algn="r" indent="0" marL="0">
              <a:buNone/>
            </a:pPr>
            <a:r>
              <a:rPr lang="ar-SA" altLang="en-US" sz="1450" dirty="0">
                <a:solidFill>
                  <a:srgbClr val="1B3B6F"/>
                </a:solidFill>
                <a:latin typeface="Amiri" pitchFamily="2" charset="-78"/>
                <a:ea typeface="Amiri" pitchFamily="2" charset="-78"/>
                <a:cs typeface="Amiri" pitchFamily="2" charset="-78"/>
              </a:rPr>
              <a:t>يُؤَثِّرُ فِي …</a:t>
            </a:r>
            <a:endParaRPr lang="ar-SA" sz="14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كُنْتُ لَعِبْتُ فِي الحَدِيقَةِ عِنْدَمَا …</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كُنْتُ أَلْعَبُ فِي الحَدِيقَةِ عِنْدَمَا …</a:t>
            </a:r>
            <a:endParaRPr lang="ar-SA" sz="24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a:t>
            </a:r>
            <a:pPr algn="l" indent="0" marL="0">
              <a:buNone/>
            </a:pPr>
            <a:r>
              <a:rPr lang="ar-SA" altLang="en-US" sz="1500" b="1" dirty="0">
                <a:solidFill>
                  <a:srgbClr val="1B3B6F"/>
                </a:solidFill>
                <a:latin typeface="Amiri" pitchFamily="2" charset="-78"/>
                <a:ea typeface="Amiri" pitchFamily="2" charset="-78"/>
                <a:cs typeface="Amiri" pitchFamily="2" charset="-78"/>
              </a:rPr>
              <a:t>كُنْتُ</a:t>
            </a:r>
            <a:pPr algn="l" indent="0" marL="0">
              <a:buNone/>
            </a:pPr>
            <a:r>
              <a:rPr lang="en-US" sz="1150" b="1" dirty="0">
                <a:solidFill>
                  <a:srgbClr val="1B3B6F"/>
                </a:solidFill>
                <a:latin typeface="Calibri" pitchFamily="34" charset="0"/>
                <a:cs typeface="Amiri" pitchFamily="2" charset="-78"/>
              </a:rPr>
              <a:t>‏ + present verb.</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24</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D5-W03 · Apply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9 · WRITE YOUR TEXT · FRAMES IF YOU NEED THEM</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Your writing frames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قَوَالِبُ الكِتَابَةِ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D5-W03 · Apply workshop (D5-L05 + D5-L06)</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فِي تِلْكَ اللَّحْظَةِ ______ .</a:t>
            </a:r>
            <a:endParaRPr lang="ar-SA" sz="180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At that moment …</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أَثَّرَ فِيَّ ______ ، وَأَلْهَمَنِي أَنْ ______ .</a:t>
            </a:r>
            <a:endParaRPr lang="ar-SA" sz="180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 affected me, and inspired me to …</a:t>
            </a:r>
            <a:endParaRPr lang="en-US" sz="1050" dirty="0"/>
          </a:p>
        </p:txBody>
      </p:sp>
      <p:sp>
        <p:nvSpPr>
          <p:cNvPr id="22" name="Shape 19"/>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25" name="Text 22"/>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كُنْتُ فِي ______ ، وَكَانَ ______ .</a:t>
            </a:r>
            <a:endParaRPr lang="ar-SA" sz="1800" dirty="0"/>
          </a:p>
        </p:txBody>
      </p:sp>
      <p:sp>
        <p:nvSpPr>
          <p:cNvPr id="26" name="Text 23"/>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was at …, and the … was …</a:t>
            </a:r>
            <a:endParaRPr lang="en-US" sz="1050" dirty="0"/>
          </a:p>
        </p:txBody>
      </p:sp>
      <p:sp>
        <p:nvSpPr>
          <p:cNvPr id="27" name="Text 24"/>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كُنَّا ______ .</a:t>
            </a:r>
            <a:endParaRPr lang="ar-SA" sz="1800" dirty="0"/>
          </a:p>
        </p:txBody>
      </p:sp>
      <p:sp>
        <p:nvSpPr>
          <p:cNvPr id="28" name="Text 25"/>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We were …-ing.</a:t>
            </a:r>
            <a:endParaRPr lang="en-US" sz="1050" dirty="0"/>
          </a:p>
        </p:txBody>
      </p:sp>
      <p:sp>
        <p:nvSpPr>
          <p:cNvPr id="29" name="Text 26"/>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فَجْأَةً ______ .</a:t>
            </a:r>
            <a:endParaRPr lang="ar-SA" sz="1800" dirty="0"/>
          </a:p>
        </p:txBody>
      </p:sp>
      <p:sp>
        <p:nvSpPr>
          <p:cNvPr id="30" name="Text 27"/>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Suddenly …</a:t>
            </a:r>
            <a:endParaRPr lang="en-US" sz="1050" dirty="0"/>
          </a:p>
        </p:txBody>
      </p:sp>
      <p:sp>
        <p:nvSpPr>
          <p:cNvPr id="31" name="Text 28"/>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650" b="1" dirty="0">
                <a:solidFill>
                  <a:srgbClr val="1B3B6F"/>
                </a:solidFill>
                <a:latin typeface="Amiri" pitchFamily="2" charset="-78"/>
                <a:ea typeface="Amiri" pitchFamily="2" charset="-78"/>
                <a:cs typeface="Amiri" pitchFamily="2" charset="-78"/>
              </a:rPr>
              <a:t>كَانَتِ المُوسِيقَى / اللَّوْحَاتُ تُعَبِّرُ عَنْ ______ .</a:t>
            </a:r>
            <a:endParaRPr lang="ar-SA" sz="1650" dirty="0"/>
          </a:p>
        </p:txBody>
      </p:sp>
      <p:sp>
        <p:nvSpPr>
          <p:cNvPr id="32" name="Text 29"/>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The music / the paintings expressed …</a:t>
            </a:r>
            <a:endParaRPr lang="en-US" sz="1050" dirty="0"/>
          </a:p>
        </p:txBody>
      </p:sp>
      <p:sp>
        <p:nvSpPr>
          <p:cNvPr id="33" name="Text 30"/>
          <p:cNvSpPr txBox="1"/>
          <p:nvPr/>
        </p:nvSpPr>
        <p:spPr>
          <a:xfrm>
            <a:off x="8202168" y="4517136"/>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مَا زِلْتُ أَتَذَكَّرُ ______ لِأَنَّ ______ .</a:t>
            </a:r>
            <a:endParaRPr lang="ar-SA" sz="1800" dirty="0"/>
          </a:p>
        </p:txBody>
      </p:sp>
      <p:sp>
        <p:nvSpPr>
          <p:cNvPr id="34" name="Text 31"/>
          <p:cNvSpPr txBox="1"/>
          <p:nvPr/>
        </p:nvSpPr>
        <p:spPr>
          <a:xfrm>
            <a:off x="6327648" y="4517136"/>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still remember … because …</a:t>
            </a:r>
            <a:endParaRPr lang="en-US" sz="1050" dirty="0"/>
          </a:p>
        </p:txBody>
      </p:sp>
      <p:sp>
        <p:nvSpPr>
          <p:cNvPr id="35" name="Shape 32"/>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Text 33"/>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37" name="Text 34"/>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كَانَ + مُزْدَحِمًا · هَادِئًا  ·  كُنْتُ · كُنَّا  ·  فَجْأَةً  ·  فِي تِلْكَ اللَّحْظَةِ  ·  فِي النِّهَايَةِ · لِلْأَسَفِ  ·  العُودُ · النَّايُ · الخَطُّ  ·  تُعَبِّرُ عَنْ · أَلْهَمَنِي  ·  مَا زِلْتُ أَتَذَكَّرُ</a:t>
            </a:r>
            <a:endParaRPr lang="ar-SA" sz="1600" dirty="0"/>
          </a:p>
        </p:txBody>
      </p:sp>
      <p:sp>
        <p:nvSpPr>
          <p:cNvPr id="38" name="Text 3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24</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D5-W03 · Apply workshop</a:t>
            </a:r>
            <a:endParaRPr lang="en-US" sz="950" dirty="0"/>
          </a:p>
        </p:txBody>
      </p:sp>
      <p:sp>
        <p:nvSpPr>
          <p:cNvPr id="8" name="Shape 6"/>
          <p:cNvSpPr/>
          <p:nvPr/>
        </p:nvSpPr>
        <p:spPr>
          <a:xfrm>
            <a:off x="7219188" y="274320"/>
            <a:ext cx="1540764"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10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9 · WRITE YOUR TEXT · ABOUT 60–80 WORDS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 story for the class anthology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قِصَّةٌ لِمَجْمُوعَةِ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D5-W03 · Apply workshop (D5-L05 + D5-L06)</a:t>
            </a:r>
            <a:endParaRPr lang="en-US" sz="850" dirty="0"/>
          </a:p>
        </p:txBody>
      </p:sp>
      <p:sp>
        <p:nvSpPr>
          <p:cNvPr id="15" name="Shape 12"/>
          <p:cNvSpPr/>
          <p:nvPr/>
        </p:nvSpPr>
        <p:spPr>
          <a:xfrm>
            <a:off x="457200" y="1810512"/>
            <a:ext cx="557784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2061972" cy="292608"/>
          </a:xfrm>
          <a:prstGeom prst="roundRect">
            <a:avLst>
              <a:gd name="adj" fmla="val 50000"/>
            </a:avLst>
          </a:prstGeom>
          <a:solidFill>
            <a:srgbClr val="1B3B6F"/>
          </a:solidFill>
          <a:ln w="12700">
            <a:solidFill>
              <a:srgbClr val="1B3B6F"/>
            </a:solidFill>
            <a:prstDash val="solid"/>
          </a:ln>
        </p:spPr>
      </p:sp>
      <p:sp>
        <p:nvSpPr>
          <p:cNvPr id="17" name="Text 14"/>
          <p:cNvSpPr txBox="1"/>
          <p:nvPr/>
        </p:nvSpPr>
        <p:spPr>
          <a:xfrm>
            <a:off x="640080" y="1938528"/>
            <a:ext cx="2061972"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WRITING · DIRECTED TASK</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100" b="1" dirty="0">
                <a:solidFill>
                  <a:srgbClr val="1F2A37"/>
                </a:solidFill>
                <a:latin typeface="Calibri" pitchFamily="34" charset="0"/>
                <a:cs typeface="Amiri" pitchFamily="2" charset="-78"/>
              </a:rPr>
              <a:t>Write a short story (about 60–80 words) about an arts event you attended (real or imagined). Follow the five steps: scene (‏</a:t>
            </a:r>
            <a:pPr algn="l" indent="0" marL="0">
              <a:buNone/>
            </a:pPr>
            <a:r>
              <a:rPr lang="ar-SA" altLang="en-US" sz="1450" b="1" dirty="0">
                <a:solidFill>
                  <a:srgbClr val="1F2A37"/>
                </a:solidFill>
                <a:latin typeface="Amiri" pitchFamily="2" charset="-78"/>
                <a:ea typeface="Amiri" pitchFamily="2" charset="-78"/>
                <a:cs typeface="Amiri" pitchFamily="2" charset="-78"/>
              </a:rPr>
              <a:t>كَانَ</a:t>
            </a:r>
            <a:pPr algn="l" indent="0" marL="0">
              <a:buNone/>
            </a:pPr>
            <a:r>
              <a:rPr lang="en-US" sz="1100" b="1" dirty="0">
                <a:solidFill>
                  <a:srgbClr val="1F2A37"/>
                </a:solidFill>
                <a:latin typeface="Calibri" pitchFamily="34" charset="0"/>
                <a:cs typeface="Amiri" pitchFamily="2" charset="-78"/>
              </a:rPr>
              <a:t>‏ + -an) → background (‏</a:t>
            </a:r>
            <a:pPr algn="l" indent="0" marL="0">
              <a:buNone/>
            </a:pPr>
            <a:r>
              <a:rPr lang="ar-SA" altLang="en-US" sz="1450" b="1" dirty="0">
                <a:solidFill>
                  <a:srgbClr val="1F2A37"/>
                </a:solidFill>
                <a:latin typeface="Amiri" pitchFamily="2" charset="-78"/>
                <a:ea typeface="Amiri" pitchFamily="2" charset="-78"/>
                <a:cs typeface="Amiri" pitchFamily="2" charset="-78"/>
              </a:rPr>
              <a:t>كُنْتُ / كُنَّا</a:t>
            </a:r>
            <a:pPr algn="l" indent="0" marL="0">
              <a:buNone/>
            </a:pPr>
            <a:r>
              <a:rPr lang="en-US" sz="1100" b="1" dirty="0">
                <a:solidFill>
                  <a:srgbClr val="1F2A37"/>
                </a:solidFill>
                <a:latin typeface="Calibri" pitchFamily="34" charset="0"/>
                <a:cs typeface="Amiri" pitchFamily="2" charset="-78"/>
              </a:rPr>
              <a:t>‏ + present) → twist (‏</a:t>
            </a:r>
            <a:pPr algn="l" indent="0" marL="0">
              <a:buNone/>
            </a:pPr>
            <a:r>
              <a:rPr lang="ar-SA" altLang="en-US" sz="1450" b="1" dirty="0">
                <a:solidFill>
                  <a:srgbClr val="1F2A37"/>
                </a:solidFill>
                <a:latin typeface="Amiri" pitchFamily="2" charset="-78"/>
                <a:ea typeface="Amiri" pitchFamily="2" charset="-78"/>
                <a:cs typeface="Amiri" pitchFamily="2" charset="-78"/>
              </a:rPr>
              <a:t>فَجْأَةً</a:t>
            </a:r>
            <a:pPr algn="l" indent="0" marL="0">
              <a:buNone/>
            </a:pPr>
            <a:r>
              <a:rPr lang="en-US" sz="1100" b="1" dirty="0">
                <a:solidFill>
                  <a:srgbClr val="1F2A37"/>
                </a:solidFill>
                <a:latin typeface="Calibri" pitchFamily="34" charset="0"/>
                <a:cs typeface="Amiri" pitchFamily="2" charset="-78"/>
              </a:rPr>
              <a:t>‏) → ending → reflection (‏</a:t>
            </a:r>
            <a:pPr algn="l" indent="0" marL="0">
              <a:buNone/>
            </a:pPr>
            <a:r>
              <a:rPr lang="ar-SA" altLang="en-US" sz="1450" b="1" dirty="0">
                <a:solidFill>
                  <a:srgbClr val="1F2A37"/>
                </a:solidFill>
                <a:latin typeface="Amiri" pitchFamily="2" charset="-78"/>
                <a:ea typeface="Amiri" pitchFamily="2" charset="-78"/>
                <a:cs typeface="Amiri" pitchFamily="2" charset="-78"/>
              </a:rPr>
              <a:t>مَا زِلْتُ أَتَذَكَّرُ</a:t>
            </a:r>
            <a:pPr algn="l" indent="0" marL="0">
              <a:buNone/>
            </a:pPr>
            <a:r>
              <a:rPr lang="en-US" sz="1100" b="1" dirty="0">
                <a:solidFill>
                  <a:srgbClr val="1F2A37"/>
                </a:solidFill>
                <a:latin typeface="Calibri" pitchFamily="34" charset="0"/>
                <a:cs typeface="Amiri" pitchFamily="2" charset="-78"/>
              </a:rPr>
              <a:t> …‏). Include two arts words, what the art expressed and how it affected you.</a:t>
            </a:r>
            <a:endParaRPr lang="en-US" sz="110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All the bullet points, in order.</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Language from D5-L05 AND D5-L06.</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Linking words: ‏</a:t>
            </a:r>
            <a:pPr algn="l" indent="0" marL="0">
              <a:buNone/>
            </a:pPr>
            <a:r>
              <a:rPr lang="ar-SA" altLang="en-US" sz="1550" dirty="0">
                <a:solidFill>
                  <a:srgbClr val="1F2A37"/>
                </a:solidFill>
                <a:latin typeface="Amiri" pitchFamily="2" charset="-78"/>
                <a:ea typeface="Amiri" pitchFamily="2" charset="-78"/>
                <a:cs typeface="Amiri" pitchFamily="2" charset="-78"/>
              </a:rPr>
              <a:t>وَ</a:t>
            </a:r>
            <a:pPr algn="l" indent="0" marL="0">
              <a:buNone/>
            </a:pPr>
            <a:r>
              <a:rPr lang="en-US" sz="1200" dirty="0">
                <a:solidFill>
                  <a:srgbClr val="1F2A37"/>
                </a:solidFill>
                <a:latin typeface="Calibri" pitchFamily="34" charset="0"/>
                <a:cs typeface="Amiri" pitchFamily="2" charset="-78"/>
              </a:rPr>
              <a:t> · </a:t>
            </a:r>
            <a:pPr algn="l" indent="0" marL="0">
              <a:buNone/>
            </a:pPr>
            <a:r>
              <a:rPr lang="ar-SA" altLang="en-US" sz="1550" dirty="0">
                <a:solidFill>
                  <a:srgbClr val="1F2A37"/>
                </a:solidFill>
                <a:latin typeface="Amiri" pitchFamily="2" charset="-78"/>
                <a:ea typeface="Amiri" pitchFamily="2" charset="-78"/>
                <a:cs typeface="Amiri" pitchFamily="2" charset="-78"/>
              </a:rPr>
              <a:t>ثُمَّ</a:t>
            </a:r>
            <a:pPr algn="l" indent="0" marL="0">
              <a:buNone/>
            </a:pPr>
            <a:r>
              <a:rPr lang="en-US" sz="1200" dirty="0">
                <a:solidFill>
                  <a:srgbClr val="1F2A37"/>
                </a:solidFill>
                <a:latin typeface="Calibri" pitchFamily="34" charset="0"/>
                <a:cs typeface="Amiri" pitchFamily="2" charset="-78"/>
              </a:rPr>
              <a:t> · </a:t>
            </a:r>
            <a:pPr algn="l" indent="0" marL="0">
              <a:buNone/>
            </a:pPr>
            <a:r>
              <a:rPr lang="ar-SA" altLang="en-US" sz="1550" dirty="0">
                <a:solidFill>
                  <a:srgbClr val="1F2A37"/>
                </a:solidFill>
                <a:latin typeface="Amiri" pitchFamily="2" charset="-78"/>
                <a:ea typeface="Amiri" pitchFamily="2" charset="-78"/>
                <a:cs typeface="Amiri" pitchFamily="2" charset="-78"/>
              </a:rPr>
              <a:t>لِأَنَّ</a:t>
            </a:r>
            <a:pPr algn="l" indent="0" marL="0">
              <a:buNone/>
            </a:pPr>
            <a:r>
              <a:rPr lang="en-US" sz="1200" dirty="0">
                <a:solidFill>
                  <a:srgbClr val="1F2A37"/>
                </a:solidFill>
                <a:latin typeface="Calibri" pitchFamily="34" charset="0"/>
                <a:cs typeface="Amiri" pitchFamily="2" charset="-78"/>
              </a:rPr>
              <a:t> · </a:t>
            </a:r>
            <a:pPr algn="l" indent="0" marL="0">
              <a:buNone/>
            </a:pPr>
            <a:r>
              <a:rPr lang="ar-SA" altLang="en-US" sz="1550" dirty="0">
                <a:solidFill>
                  <a:srgbClr val="1F2A37"/>
                </a:solidFill>
                <a:latin typeface="Amiri" pitchFamily="2" charset="-78"/>
                <a:ea typeface="Amiri" pitchFamily="2" charset="-78"/>
                <a:cs typeface="Amiri" pitchFamily="2" charset="-78"/>
              </a:rPr>
              <a:t>لٰكِنَّ</a:t>
            </a:r>
            <a:pPr algn="l" indent="0" marL="0">
              <a:buNone/>
            </a:pPr>
            <a:r>
              <a:rPr lang="en-US" sz="1200" dirty="0">
                <a:solidFill>
                  <a:srgbClr val="1F2A37"/>
                </a:solidFill>
                <a:latin typeface="Calibri" pitchFamily="34" charset="0"/>
                <a:cs typeface="Amiri" pitchFamily="2" charset="-78"/>
              </a:rPr>
              <a:t>‏.</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One opinion with a reason.</a:t>
            </a:r>
            <a:endParaRPr lang="en-US" sz="1200" dirty="0"/>
          </a:p>
        </p:txBody>
      </p:sp>
      <p:sp>
        <p:nvSpPr>
          <p:cNvPr id="23" name="Text 20"/>
          <p:cNvSpPr txBox="1"/>
          <p:nvPr/>
        </p:nvSpPr>
        <p:spPr>
          <a:xfrm>
            <a:off x="685800" y="5431536"/>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Buddy check, then fix one thing.</a:t>
            </a:r>
            <a:endParaRPr lang="en-US" sz="1200" dirty="0"/>
          </a:p>
        </p:txBody>
      </p:sp>
      <p:sp>
        <p:nvSpPr>
          <p:cNvPr id="24" name="Shape 21"/>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Text 22"/>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USEFUL LANGUAGE</a:t>
            </a:r>
            <a:endParaRPr lang="en-US" sz="950" dirty="0"/>
          </a:p>
        </p:txBody>
      </p:sp>
      <p:sp>
        <p:nvSpPr>
          <p:cNvPr id="26" name="Text 23"/>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كَانَ الجَوُّ … · كَانَ المَكَانُ مُزْدَحِمًا</a:t>
            </a:r>
            <a:endParaRPr lang="ar-SA" sz="1800" dirty="0"/>
          </a:p>
        </p:txBody>
      </p:sp>
      <p:sp>
        <p:nvSpPr>
          <p:cNvPr id="27" name="Text 24"/>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the atmosphere was … · the place was crowded</a:t>
            </a:r>
            <a:endParaRPr lang="en-US" sz="1050" dirty="0"/>
          </a:p>
        </p:txBody>
      </p:sp>
      <p:sp>
        <p:nvSpPr>
          <p:cNvPr id="28" name="Text 25"/>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كُنَّا نَسْتَمِعُ إِلَى … · فَجْأَةً …</a:t>
            </a:r>
            <a:endParaRPr lang="ar-SA" sz="1800" dirty="0"/>
          </a:p>
        </p:txBody>
      </p:sp>
      <p:sp>
        <p:nvSpPr>
          <p:cNvPr id="29" name="Text 26"/>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we were listening to … · suddenly …</a:t>
            </a:r>
            <a:endParaRPr lang="en-US" sz="1050" dirty="0"/>
          </a:p>
        </p:txBody>
      </p:sp>
      <p:sp>
        <p:nvSpPr>
          <p:cNvPr id="30" name="Text 27"/>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تُعَبِّرُ عَنْ … · أَثَّرَ فِيَّ · أَلْهَمَنِي</a:t>
            </a:r>
            <a:endParaRPr lang="ar-SA" sz="1800" dirty="0"/>
          </a:p>
        </p:txBody>
      </p:sp>
      <p:sp>
        <p:nvSpPr>
          <p:cNvPr id="31" name="Text 28"/>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expresses … · affected me · inspired me</a:t>
            </a:r>
            <a:endParaRPr lang="en-US" sz="1050" dirty="0"/>
          </a:p>
        </p:txBody>
      </p:sp>
      <p:sp>
        <p:nvSpPr>
          <p:cNvPr id="32" name="Text 29"/>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فِي النِّهَايَةِ … · مَا زِلْتُ أَتَذَكَّرُ …</a:t>
            </a:r>
            <a:endParaRPr lang="ar-SA" sz="1800" dirty="0"/>
          </a:p>
        </p:txBody>
      </p:sp>
      <p:sp>
        <p:nvSpPr>
          <p:cNvPr id="33" name="Text 30"/>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in the end … · I still remember …</a:t>
            </a:r>
            <a:endParaRPr lang="en-US" sz="1050" dirty="0"/>
          </a:p>
        </p:txBody>
      </p:sp>
      <p:sp>
        <p:nvSpPr>
          <p:cNvPr id="34" name="Text 3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24</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D5-W03 · Apply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9 · BUDDY CHECK · SWAP AND READ YOUR BUDDY’S TEXT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Buddy check: five points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رَاجِعْ مَعَ زَمِيلِكَ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D5-W03 · Apply workshop (D5-L05 + D5-L06)</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759952" y="1810512"/>
            <a:ext cx="28986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Line / example</a:t>
            </a:r>
            <a:endParaRPr lang="en-US" sz="1100" dirty="0"/>
          </a:p>
        </p:txBody>
      </p:sp>
      <p:sp>
        <p:nvSpPr>
          <p:cNvPr id="17" name="Text 14"/>
          <p:cNvSpPr txBox="1"/>
          <p:nvPr/>
        </p:nvSpPr>
        <p:spPr>
          <a:xfrm>
            <a:off x="7845552" y="1810512"/>
            <a:ext cx="7680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 / ✗</a:t>
            </a:r>
            <a:endParaRPr lang="en-US" sz="1100" dirty="0"/>
          </a:p>
        </p:txBody>
      </p:sp>
      <p:sp>
        <p:nvSpPr>
          <p:cNvPr id="18" name="Text 15"/>
          <p:cNvSpPr txBox="1"/>
          <p:nvPr/>
        </p:nvSpPr>
        <p:spPr>
          <a:xfrm>
            <a:off x="6565392" y="1810512"/>
            <a:ext cx="11338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Route</a:t>
            </a:r>
            <a:endParaRPr lang="en-US" sz="1100" dirty="0"/>
          </a:p>
        </p:txBody>
      </p:sp>
      <p:sp>
        <p:nvSpPr>
          <p:cNvPr id="19" name="Text 16"/>
          <p:cNvSpPr txBox="1"/>
          <p:nvPr/>
        </p:nvSpPr>
        <p:spPr>
          <a:xfrm>
            <a:off x="530352" y="1810512"/>
            <a:ext cx="5888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Did the writer …</a:t>
            </a:r>
            <a:endParaRPr lang="en-US" sz="1100" dirty="0"/>
          </a:p>
        </p:txBody>
      </p:sp>
      <p:sp>
        <p:nvSpPr>
          <p:cNvPr id="20" name="Shape 17"/>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1" name="Text 18"/>
          <p:cNvSpPr txBox="1"/>
          <p:nvPr/>
        </p:nvSpPr>
        <p:spPr>
          <a:xfrm>
            <a:off x="8796528" y="2267712"/>
            <a:ext cx="2862072" cy="682142"/>
          </a:xfrm>
          <a:prstGeom prst="rect">
            <a:avLst/>
          </a:prstGeom>
          <a:noFill/>
          <a:ln/>
        </p:spPr>
        <p:txBody>
          <a:bodyPr wrap="square" lIns="0" tIns="0" rIns="0" bIns="0" rtlCol="0" anchor="ctr"/>
          <a:lstStyle/>
          <a:p>
            <a:pPr algn="l" indent="0" marL="0">
              <a:buNone/>
            </a:pPr>
            <a:endParaRPr lang="en-US" sz="1100" dirty="0"/>
          </a:p>
        </p:txBody>
      </p:sp>
      <p:sp>
        <p:nvSpPr>
          <p:cNvPr id="22" name="Text 19"/>
          <p:cNvSpPr txBox="1"/>
          <p:nvPr/>
        </p:nvSpPr>
        <p:spPr>
          <a:xfrm>
            <a:off x="7882128" y="2267712"/>
            <a:ext cx="731520" cy="682142"/>
          </a:xfrm>
          <a:prstGeom prst="rect">
            <a:avLst/>
          </a:prstGeom>
          <a:noFill/>
          <a:ln/>
        </p:spPr>
        <p:txBody>
          <a:bodyPr wrap="square" lIns="0" tIns="0" rIns="0" bIns="0" rtlCol="0" anchor="ctr"/>
          <a:lstStyle/>
          <a:p>
            <a:pPr algn="l" indent="0" marL="0">
              <a:buNone/>
            </a:pPr>
            <a:endParaRPr lang="en-US" sz="1100" dirty="0"/>
          </a:p>
        </p:txBody>
      </p:sp>
      <p:sp>
        <p:nvSpPr>
          <p:cNvPr id="23" name="Text 20"/>
          <p:cNvSpPr txBox="1"/>
          <p:nvPr/>
        </p:nvSpPr>
        <p:spPr>
          <a:xfrm>
            <a:off x="6601968" y="2267712"/>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Core</a:t>
            </a:r>
            <a:endParaRPr lang="en-US" sz="1100" dirty="0"/>
          </a:p>
        </p:txBody>
      </p:sp>
      <p:sp>
        <p:nvSpPr>
          <p:cNvPr id="24" name="Text 21"/>
          <p:cNvSpPr txBox="1"/>
          <p:nvPr/>
        </p:nvSpPr>
        <p:spPr>
          <a:xfrm>
            <a:off x="566928" y="2267712"/>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answer EVERY bullet point?</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8" name="Text 25"/>
          <p:cNvSpPr txBox="1"/>
          <p:nvPr/>
        </p:nvSpPr>
        <p:spPr>
          <a:xfrm>
            <a:off x="8796528" y="3004718"/>
            <a:ext cx="2862072" cy="682142"/>
          </a:xfrm>
          <a:prstGeom prst="rect">
            <a:avLst/>
          </a:prstGeom>
          <a:noFill/>
          <a:ln/>
        </p:spPr>
        <p:txBody>
          <a:bodyPr wrap="square" lIns="0" tIns="0" rIns="0" bIns="0" rtlCol="0" anchor="ctr"/>
          <a:lstStyle/>
          <a:p>
            <a:pPr algn="l" indent="0" marL="0">
              <a:buNone/>
            </a:pPr>
            <a:endParaRPr lang="en-US" sz="1100" dirty="0"/>
          </a:p>
        </p:txBody>
      </p:sp>
      <p:sp>
        <p:nvSpPr>
          <p:cNvPr id="29" name="Text 26"/>
          <p:cNvSpPr txBox="1"/>
          <p:nvPr/>
        </p:nvSpPr>
        <p:spPr>
          <a:xfrm>
            <a:off x="7882128" y="3004718"/>
            <a:ext cx="731520" cy="682142"/>
          </a:xfrm>
          <a:prstGeom prst="rect">
            <a:avLst/>
          </a:prstGeom>
          <a:noFill/>
          <a:ln/>
        </p:spPr>
        <p:txBody>
          <a:bodyPr wrap="square" lIns="0" tIns="0" rIns="0" bIns="0" rtlCol="0" anchor="ctr"/>
          <a:lstStyle/>
          <a:p>
            <a:pPr algn="l" indent="0" marL="0">
              <a:buNone/>
            </a:pPr>
            <a:endParaRPr lang="en-US" sz="1100" dirty="0"/>
          </a:p>
        </p:txBody>
      </p:sp>
      <p:sp>
        <p:nvSpPr>
          <p:cNvPr id="30" name="Text 27"/>
          <p:cNvSpPr txBox="1"/>
          <p:nvPr/>
        </p:nvSpPr>
        <p:spPr>
          <a:xfrm>
            <a:off x="6601968" y="3004718"/>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Core</a:t>
            </a:r>
            <a:endParaRPr lang="en-US" sz="1100" dirty="0"/>
          </a:p>
        </p:txBody>
      </p:sp>
      <p:sp>
        <p:nvSpPr>
          <p:cNvPr id="31" name="Text 28"/>
          <p:cNvSpPr txBox="1"/>
          <p:nvPr/>
        </p:nvSpPr>
        <p:spPr>
          <a:xfrm>
            <a:off x="566928" y="3004718"/>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set the scene with ‏</a:t>
            </a:r>
            <a:pPr algn="l" indent="0" marL="0">
              <a:buNone/>
            </a:pPr>
            <a:r>
              <a:rPr lang="ar-SA" altLang="en-US" sz="1450" dirty="0">
                <a:solidFill>
                  <a:srgbClr val="5A6472"/>
                </a:solidFill>
                <a:latin typeface="Amiri" pitchFamily="2" charset="-78"/>
                <a:ea typeface="Amiri" pitchFamily="2" charset="-78"/>
                <a:cs typeface="Amiri" pitchFamily="2" charset="-78"/>
              </a:rPr>
              <a:t>كَانَ</a:t>
            </a:r>
            <a:pPr algn="l" indent="0" marL="0">
              <a:buNone/>
            </a:pPr>
            <a:r>
              <a:rPr lang="en-US" sz="1100" dirty="0">
                <a:solidFill>
                  <a:srgbClr val="5A6472"/>
                </a:solidFill>
                <a:latin typeface="Calibri" pitchFamily="34" charset="0"/>
                <a:cs typeface="Amiri" pitchFamily="2" charset="-78"/>
              </a:rPr>
              <a:t>‏ + -an and tell events in the past?</a:t>
            </a:r>
            <a:endParaRPr lang="en-US" sz="1100" dirty="0"/>
          </a:p>
        </p:txBody>
      </p:sp>
      <p:sp>
        <p:nvSpPr>
          <p:cNvPr id="32" name="Shape 29"/>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5" name="Text 32"/>
          <p:cNvSpPr txBox="1"/>
          <p:nvPr/>
        </p:nvSpPr>
        <p:spPr>
          <a:xfrm>
            <a:off x="8796528" y="3741725"/>
            <a:ext cx="2862072" cy="682142"/>
          </a:xfrm>
          <a:prstGeom prst="rect">
            <a:avLst/>
          </a:prstGeom>
          <a:noFill/>
          <a:ln/>
        </p:spPr>
        <p:txBody>
          <a:bodyPr wrap="square" lIns="0" tIns="0" rIns="0" bIns="0" rtlCol="0" anchor="ctr"/>
          <a:lstStyle/>
          <a:p>
            <a:pPr algn="l" indent="0" marL="0">
              <a:buNone/>
            </a:pPr>
            <a:endParaRPr lang="en-US" sz="1100" dirty="0"/>
          </a:p>
        </p:txBody>
      </p:sp>
      <p:sp>
        <p:nvSpPr>
          <p:cNvPr id="36" name="Text 33"/>
          <p:cNvSpPr txBox="1"/>
          <p:nvPr/>
        </p:nvSpPr>
        <p:spPr>
          <a:xfrm>
            <a:off x="7882128" y="3741725"/>
            <a:ext cx="731520" cy="682142"/>
          </a:xfrm>
          <a:prstGeom prst="rect">
            <a:avLst/>
          </a:prstGeom>
          <a:noFill/>
          <a:ln/>
        </p:spPr>
        <p:txBody>
          <a:bodyPr wrap="square" lIns="0" tIns="0" rIns="0" bIns="0" rtlCol="0" anchor="ctr"/>
          <a:lstStyle/>
          <a:p>
            <a:pPr algn="l" indent="0" marL="0">
              <a:buNone/>
            </a:pPr>
            <a:endParaRPr lang="en-US" sz="1100" dirty="0"/>
          </a:p>
        </p:txBody>
      </p:sp>
      <p:sp>
        <p:nvSpPr>
          <p:cNvPr id="37" name="Text 34"/>
          <p:cNvSpPr txBox="1"/>
          <p:nvPr/>
        </p:nvSpPr>
        <p:spPr>
          <a:xfrm>
            <a:off x="6601968" y="3741725"/>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Develop</a:t>
            </a:r>
            <a:endParaRPr lang="en-US" sz="1100" dirty="0"/>
          </a:p>
        </p:txBody>
      </p:sp>
      <p:sp>
        <p:nvSpPr>
          <p:cNvPr id="38" name="Text 35"/>
          <p:cNvSpPr txBox="1"/>
          <p:nvPr/>
        </p:nvSpPr>
        <p:spPr>
          <a:xfrm>
            <a:off x="566928" y="3741725"/>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describe a past experience and make a fair, not general, cultural comment?</a:t>
            </a:r>
            <a:endParaRPr lang="en-US" sz="1100" dirty="0"/>
          </a:p>
        </p:txBody>
      </p:sp>
      <p:sp>
        <p:nvSpPr>
          <p:cNvPr id="39" name="Shape 36"/>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0" name="Text 37"/>
          <p:cNvSpPr txBox="1"/>
          <p:nvPr/>
        </p:nvSpPr>
        <p:spPr>
          <a:xfrm>
            <a:off x="8796528" y="4478731"/>
            <a:ext cx="2862072" cy="682142"/>
          </a:xfrm>
          <a:prstGeom prst="rect">
            <a:avLst/>
          </a:prstGeom>
          <a:noFill/>
          <a:ln/>
        </p:spPr>
        <p:txBody>
          <a:bodyPr wrap="square" lIns="0" tIns="0" rIns="0" bIns="0" rtlCol="0" anchor="ctr"/>
          <a:lstStyle/>
          <a:p>
            <a:pPr algn="l" indent="0" marL="0">
              <a:buNone/>
            </a:pPr>
            <a:endParaRPr lang="en-US" sz="1100" dirty="0"/>
          </a:p>
        </p:txBody>
      </p:sp>
      <p:sp>
        <p:nvSpPr>
          <p:cNvPr id="41" name="Text 38"/>
          <p:cNvSpPr txBox="1"/>
          <p:nvPr/>
        </p:nvSpPr>
        <p:spPr>
          <a:xfrm>
            <a:off x="7882128" y="4478731"/>
            <a:ext cx="731520" cy="682142"/>
          </a:xfrm>
          <a:prstGeom prst="rect">
            <a:avLst/>
          </a:prstGeom>
          <a:noFill/>
          <a:ln/>
        </p:spPr>
        <p:txBody>
          <a:bodyPr wrap="square" lIns="0" tIns="0" rIns="0" bIns="0" rtlCol="0" anchor="ctr"/>
          <a:lstStyle/>
          <a:p>
            <a:pPr algn="l" indent="0" marL="0">
              <a:buNone/>
            </a:pPr>
            <a:endParaRPr lang="en-US" sz="1100" dirty="0"/>
          </a:p>
        </p:txBody>
      </p:sp>
      <p:sp>
        <p:nvSpPr>
          <p:cNvPr id="42" name="Text 39"/>
          <p:cNvSpPr txBox="1"/>
          <p:nvPr/>
        </p:nvSpPr>
        <p:spPr>
          <a:xfrm>
            <a:off x="6601968" y="4478731"/>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Develop</a:t>
            </a:r>
            <a:endParaRPr lang="en-US" sz="1100" dirty="0"/>
          </a:p>
        </p:txBody>
      </p:sp>
      <p:sp>
        <p:nvSpPr>
          <p:cNvPr id="43" name="Text 40"/>
          <p:cNvSpPr txBox="1"/>
          <p:nvPr/>
        </p:nvSpPr>
        <p:spPr>
          <a:xfrm>
            <a:off x="566928" y="4478731"/>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linking words (‏</a:t>
            </a:r>
            <a:pPr algn="l" indent="0" marL="0">
              <a:buNone/>
            </a:pPr>
            <a:r>
              <a:rPr lang="ar-SA" altLang="en-US" sz="1450" dirty="0">
                <a:solidFill>
                  <a:srgbClr val="5A6472"/>
                </a:solidFill>
                <a:latin typeface="Amiri" pitchFamily="2" charset="-78"/>
                <a:ea typeface="Amiri" pitchFamily="2" charset="-78"/>
                <a:cs typeface="Amiri" pitchFamily="2" charset="-78"/>
              </a:rPr>
              <a:t>وَ</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ثُمَّ</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لِأَنَّ</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لٰكِنَّ</a:t>
            </a:r>
            <a:pPr algn="l" indent="0" marL="0">
              <a:buNone/>
            </a:pPr>
            <a:r>
              <a:rPr lang="en-US" sz="1100" dirty="0">
                <a:solidFill>
                  <a:srgbClr val="5A6472"/>
                </a:solidFill>
                <a:latin typeface="Calibri" pitchFamily="34" charset="0"/>
                <a:cs typeface="Amiri" pitchFamily="2" charset="-78"/>
              </a:rPr>
              <a:t>‏)?</a:t>
            </a:r>
            <a:endParaRPr lang="en-US" sz="1100" dirty="0"/>
          </a:p>
        </p:txBody>
      </p:sp>
      <p:sp>
        <p:nvSpPr>
          <p:cNvPr id="44" name="Shape 41"/>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5" name="Text 42"/>
          <p:cNvSpPr txBox="1"/>
          <p:nvPr/>
        </p:nvSpPr>
        <p:spPr>
          <a:xfrm>
            <a:off x="8796528" y="5215738"/>
            <a:ext cx="2862072" cy="682142"/>
          </a:xfrm>
          <a:prstGeom prst="rect">
            <a:avLst/>
          </a:prstGeom>
          <a:noFill/>
          <a:ln/>
        </p:spPr>
        <p:txBody>
          <a:bodyPr wrap="square" lIns="0" tIns="0" rIns="0" bIns="0" rtlCol="0" anchor="ctr"/>
          <a:lstStyle/>
          <a:p>
            <a:pPr algn="l" indent="0" marL="0">
              <a:buNone/>
            </a:pPr>
            <a:endParaRPr lang="en-US" sz="1100" dirty="0"/>
          </a:p>
        </p:txBody>
      </p:sp>
      <p:sp>
        <p:nvSpPr>
          <p:cNvPr id="46" name="Text 43"/>
          <p:cNvSpPr txBox="1"/>
          <p:nvPr/>
        </p:nvSpPr>
        <p:spPr>
          <a:xfrm>
            <a:off x="7882128" y="5215738"/>
            <a:ext cx="731520" cy="682142"/>
          </a:xfrm>
          <a:prstGeom prst="rect">
            <a:avLst/>
          </a:prstGeom>
          <a:noFill/>
          <a:ln/>
        </p:spPr>
        <p:txBody>
          <a:bodyPr wrap="square" lIns="0" tIns="0" rIns="0" bIns="0" rtlCol="0" anchor="ctr"/>
          <a:lstStyle/>
          <a:p>
            <a:pPr algn="l" indent="0" marL="0">
              <a:buNone/>
            </a:pPr>
            <a:endParaRPr lang="en-US" sz="1100" dirty="0"/>
          </a:p>
        </p:txBody>
      </p:sp>
      <p:sp>
        <p:nvSpPr>
          <p:cNvPr id="47" name="Text 44"/>
          <p:cNvSpPr txBox="1"/>
          <p:nvPr/>
        </p:nvSpPr>
        <p:spPr>
          <a:xfrm>
            <a:off x="6601968" y="5215738"/>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Stretch</a:t>
            </a:r>
            <a:endParaRPr lang="en-US" sz="1100" dirty="0"/>
          </a:p>
        </p:txBody>
      </p:sp>
      <p:sp>
        <p:nvSpPr>
          <p:cNvPr id="48" name="Text 45"/>
          <p:cNvSpPr txBox="1"/>
          <p:nvPr/>
        </p:nvSpPr>
        <p:spPr>
          <a:xfrm>
            <a:off x="566928" y="5215738"/>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more than one tense and give an opinion with a reason?</a:t>
            </a:r>
            <a:endParaRPr lang="en-US" sz="1100" dirty="0"/>
          </a:p>
        </p:txBody>
      </p:sp>
      <p:sp>
        <p:nvSpPr>
          <p:cNvPr id="49" name="Text 4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Give back: one thing that went well + one thing to improve. The writer fixes ONE thing straight away.</a:t>
            </a:r>
            <a:endParaRPr lang="en-US" sz="1150" dirty="0"/>
          </a:p>
        </p:txBody>
      </p:sp>
      <p:sp>
        <p:nvSpPr>
          <p:cNvPr id="50"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24</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D5-W03 · Apply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CHECK YOURSELF · ROLE-PLAY CARD</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50" b="1" dirty="0">
                <a:solidFill>
                  <a:srgbClr val="1B3B6F"/>
                </a:solidFill>
                <a:latin typeface="Cambria" pitchFamily="34" charset="0"/>
                <a:cs typeface="Amiri" pitchFamily="2" charset="-78"/>
              </a:rPr>
              <a:t>Role-play card: compare with a strong answer</a:t>
            </a:r>
            <a:endParaRPr lang="en-US" sz="20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قَارِنْ إِجَابَتَكَ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D5-W03 · Apply workshop (D5-L05 + D5-L06)</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4782312" y="1810512"/>
            <a:ext cx="68762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 strong answer (with English)</a:t>
            </a:r>
            <a:endParaRPr lang="en-US" sz="1100" dirty="0"/>
          </a:p>
        </p:txBody>
      </p:sp>
      <p:sp>
        <p:nvSpPr>
          <p:cNvPr id="17" name="Text 14"/>
          <p:cNvSpPr txBox="1"/>
          <p:nvPr/>
        </p:nvSpPr>
        <p:spPr>
          <a:xfrm>
            <a:off x="1033272" y="1810512"/>
            <a:ext cx="3602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Partner A reads</a:t>
            </a:r>
            <a:endParaRPr lang="en-US" sz="1100" dirty="0"/>
          </a:p>
        </p:txBody>
      </p:sp>
      <p:sp>
        <p:nvSpPr>
          <p:cNvPr id="18" name="Text 15"/>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19" name="Shape 16"/>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0" name="Text 17"/>
          <p:cNvSpPr txBox="1"/>
          <p:nvPr/>
        </p:nvSpPr>
        <p:spPr>
          <a:xfrm>
            <a:off x="4800600" y="2286000"/>
            <a:ext cx="6839712" cy="42292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كُنْتُ فِي مَعْرِضٍ لِلْخَطِّ العَرَبِيِّ الشِّتَاءَ المَاضِيَ، وَكَانَ المَكَانُ وَاسِعًا وَهَادِئًا.</a:t>
            </a:r>
            <a:endParaRPr lang="ar-SA" sz="1800" dirty="0"/>
          </a:p>
        </p:txBody>
      </p:sp>
      <p:sp>
        <p:nvSpPr>
          <p:cNvPr id="21" name="Text 18"/>
          <p:cNvSpPr txBox="1"/>
          <p:nvPr/>
        </p:nvSpPr>
        <p:spPr>
          <a:xfrm>
            <a:off x="4754880" y="2676997"/>
            <a:ext cx="6931152"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I was at an Arabic calligraphy exhibition last winter, and the place was spacious and quiet.</a:t>
            </a:r>
            <a:endParaRPr lang="en-US" sz="950" dirty="0"/>
          </a:p>
        </p:txBody>
      </p:sp>
      <p:sp>
        <p:nvSpPr>
          <p:cNvPr id="22" name="Text 19"/>
          <p:cNvSpPr txBox="1"/>
          <p:nvPr/>
        </p:nvSpPr>
        <p:spPr>
          <a:xfrm>
            <a:off x="1051560" y="2267712"/>
            <a:ext cx="356616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١) أَيْنَ وَمَتَى كُنْتَ؟ وَكَيْفَ كَانَ المَكَانُ؟</a:t>
            </a:r>
            <a:endParaRPr lang="ar-SA" sz="1600" dirty="0"/>
          </a:p>
        </p:txBody>
      </p:sp>
      <p:sp>
        <p:nvSpPr>
          <p:cNvPr id="23" name="Text 20"/>
          <p:cNvSpPr txBox="1"/>
          <p:nvPr/>
        </p:nvSpPr>
        <p:spPr>
          <a:xfrm>
            <a:off x="566928" y="2267712"/>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4" name="Shape 21"/>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5" name="Text 22"/>
          <p:cNvSpPr txBox="1"/>
          <p:nvPr/>
        </p:nvSpPr>
        <p:spPr>
          <a:xfrm>
            <a:off x="4800600" y="3023006"/>
            <a:ext cx="6839712" cy="42292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كُنَّا نَتَجَوَّلُ بَيْنَ اللَّوْحَاتِ، وَكَانَ خَطَّاطٌ يَكْتُبُ أَسْمَاءَ الزُّوَّارِ.</a:t>
            </a:r>
            <a:endParaRPr lang="ar-SA" sz="1800" dirty="0"/>
          </a:p>
        </p:txBody>
      </p:sp>
      <p:sp>
        <p:nvSpPr>
          <p:cNvPr id="26" name="Text 23"/>
          <p:cNvSpPr txBox="1"/>
          <p:nvPr/>
        </p:nvSpPr>
        <p:spPr>
          <a:xfrm>
            <a:off x="4754880" y="3414004"/>
            <a:ext cx="6931152"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We were walking among the paintings, and a calligrapher was writing visitors’ names.</a:t>
            </a:r>
            <a:endParaRPr lang="en-US" sz="950" dirty="0"/>
          </a:p>
        </p:txBody>
      </p:sp>
      <p:sp>
        <p:nvSpPr>
          <p:cNvPr id="27" name="Text 24"/>
          <p:cNvSpPr txBox="1"/>
          <p:nvPr/>
        </p:nvSpPr>
        <p:spPr>
          <a:xfrm>
            <a:off x="1051560" y="3004718"/>
            <a:ext cx="356616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٢) مَاذَا كُنْتُمْ تَفْعَلُونَ؟</a:t>
            </a:r>
            <a:endParaRPr lang="ar-SA" sz="1600" dirty="0"/>
          </a:p>
        </p:txBody>
      </p:sp>
      <p:sp>
        <p:nvSpPr>
          <p:cNvPr id="28" name="Text 25"/>
          <p:cNvSpPr txBox="1"/>
          <p:nvPr/>
        </p:nvSpPr>
        <p:spPr>
          <a:xfrm>
            <a:off x="566928" y="300471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29" name="Shape 26"/>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0" name="Text 27"/>
          <p:cNvSpPr txBox="1"/>
          <p:nvPr/>
        </p:nvSpPr>
        <p:spPr>
          <a:xfrm>
            <a:off x="4800600" y="3760013"/>
            <a:ext cx="6839712" cy="42292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فَجْأَةً طَلَبَ مِنِّي الخَطَّاطُ أَنْ أُجَرِّبَ القَلَمَ!</a:t>
            </a:r>
            <a:endParaRPr lang="ar-SA" sz="1800" dirty="0"/>
          </a:p>
        </p:txBody>
      </p:sp>
      <p:sp>
        <p:nvSpPr>
          <p:cNvPr id="31" name="Text 28"/>
          <p:cNvSpPr txBox="1"/>
          <p:nvPr/>
        </p:nvSpPr>
        <p:spPr>
          <a:xfrm>
            <a:off x="4754880" y="4151010"/>
            <a:ext cx="6931152"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Suddenly the calligrapher asked me to try the pen!</a:t>
            </a:r>
            <a:endParaRPr lang="en-US" sz="950" dirty="0"/>
          </a:p>
        </p:txBody>
      </p:sp>
      <p:sp>
        <p:nvSpPr>
          <p:cNvPr id="32" name="Text 29"/>
          <p:cNvSpPr txBox="1"/>
          <p:nvPr/>
        </p:nvSpPr>
        <p:spPr>
          <a:xfrm>
            <a:off x="1051560" y="3741725"/>
            <a:ext cx="356616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٣) مَاذَا حَدَثَ فَجْأَةً؟</a:t>
            </a:r>
            <a:endParaRPr lang="ar-SA" sz="1600" dirty="0"/>
          </a:p>
        </p:txBody>
      </p:sp>
      <p:sp>
        <p:nvSpPr>
          <p:cNvPr id="33" name="Text 30"/>
          <p:cNvSpPr txBox="1"/>
          <p:nvPr/>
        </p:nvSpPr>
        <p:spPr>
          <a:xfrm>
            <a:off x="566928" y="3741725"/>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4" name="Shape 31"/>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35" name="Text 32"/>
          <p:cNvSpPr txBox="1"/>
          <p:nvPr/>
        </p:nvSpPr>
        <p:spPr>
          <a:xfrm>
            <a:off x="4800600" y="4497019"/>
            <a:ext cx="6839712" cy="42292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كَانَ الخَطُّ يُعَبِّرُ عَنِ الجَمَالِ وَالصَّبْرِ، وَأَثَّرَ فِيَّ كَثِيرًا.</a:t>
            </a:r>
            <a:endParaRPr lang="ar-SA" sz="1800" dirty="0"/>
          </a:p>
        </p:txBody>
      </p:sp>
      <p:sp>
        <p:nvSpPr>
          <p:cNvPr id="36" name="Text 33"/>
          <p:cNvSpPr txBox="1"/>
          <p:nvPr/>
        </p:nvSpPr>
        <p:spPr>
          <a:xfrm>
            <a:off x="4754880" y="4888017"/>
            <a:ext cx="6931152"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The calligraphy expressed beauty and patience, and it affected me a lot.</a:t>
            </a:r>
            <a:endParaRPr lang="en-US" sz="950" dirty="0"/>
          </a:p>
        </p:txBody>
      </p:sp>
      <p:sp>
        <p:nvSpPr>
          <p:cNvPr id="37" name="Text 34"/>
          <p:cNvSpPr txBox="1"/>
          <p:nvPr/>
        </p:nvSpPr>
        <p:spPr>
          <a:xfrm>
            <a:off x="1051560" y="4478731"/>
            <a:ext cx="356616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٤) مَاذَا عَبَّرَ الفَنُّ عَنْهُ؟ وَكَيْفَ أَثَّرَ فِيكَ؟</a:t>
            </a:r>
            <a:endParaRPr lang="ar-SA" sz="1600" dirty="0"/>
          </a:p>
        </p:txBody>
      </p:sp>
      <p:sp>
        <p:nvSpPr>
          <p:cNvPr id="38" name="Text 35"/>
          <p:cNvSpPr txBox="1"/>
          <p:nvPr/>
        </p:nvSpPr>
        <p:spPr>
          <a:xfrm>
            <a:off x="566928" y="4478731"/>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39" name="Shape 36"/>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0" name="Text 37"/>
          <p:cNvSpPr txBox="1"/>
          <p:nvPr/>
        </p:nvSpPr>
        <p:spPr>
          <a:xfrm>
            <a:off x="4800600" y="5234026"/>
            <a:ext cx="6839712" cy="42292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مَا زِلْتُ أَتَذَكَّرُهُ لِأَنَّهُ أَلْهَمَنِي أَنْ أَتَعَلَّمَ الخَطَّ.</a:t>
            </a:r>
            <a:endParaRPr lang="ar-SA" sz="1800" dirty="0"/>
          </a:p>
        </p:txBody>
      </p:sp>
      <p:sp>
        <p:nvSpPr>
          <p:cNvPr id="41" name="Text 38"/>
          <p:cNvSpPr txBox="1"/>
          <p:nvPr/>
        </p:nvSpPr>
        <p:spPr>
          <a:xfrm>
            <a:off x="4754880" y="5625023"/>
            <a:ext cx="6931152"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I still remember it because it inspired me to learn calligraphy.</a:t>
            </a:r>
            <a:endParaRPr lang="en-US" sz="950" dirty="0"/>
          </a:p>
        </p:txBody>
      </p:sp>
      <p:sp>
        <p:nvSpPr>
          <p:cNvPr id="42" name="Text 39"/>
          <p:cNvSpPr txBox="1"/>
          <p:nvPr/>
        </p:nvSpPr>
        <p:spPr>
          <a:xfrm>
            <a:off x="1051560" y="5215738"/>
            <a:ext cx="356616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٥) لِمَاذَا تَتَذَكَّرُ هٰذَا اليَوْمَ؟</a:t>
            </a:r>
            <a:endParaRPr lang="ar-SA" sz="1600" dirty="0"/>
          </a:p>
        </p:txBody>
      </p:sp>
      <p:sp>
        <p:nvSpPr>
          <p:cNvPr id="43" name="Text 40"/>
          <p:cNvSpPr txBox="1"/>
          <p:nvPr/>
        </p:nvSpPr>
        <p:spPr>
          <a:xfrm>
            <a:off x="566928" y="521573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a:t>
            </a:r>
            <a:endParaRPr lang="en-US" sz="1100" dirty="0"/>
          </a:p>
        </p:txBody>
      </p:sp>
      <p:sp>
        <p:nvSpPr>
          <p:cNvPr id="44" name="Text 41"/>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Did you answer every task in a full sentence? Find one phrase from each lesson in the models and say it aloud.</a:t>
            </a:r>
            <a:endParaRPr lang="en-US" sz="1150" dirty="0"/>
          </a:p>
        </p:txBody>
      </p:sp>
      <p:sp>
        <p:nvSpPr>
          <p:cNvPr id="45" name="Text 4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24</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D5-W03 · Apply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CHECK YOURSELF · WRITE YOUR TEXT · A STRONG ANSWER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00" b="1" dirty="0">
                <a:solidFill>
                  <a:srgbClr val="1B3B6F"/>
                </a:solidFill>
                <a:latin typeface="Cambria" pitchFamily="34" charset="0"/>
                <a:cs typeface="Amiri" pitchFamily="2" charset="-78"/>
              </a:rPr>
              <a:t>Writing: compare with a strong answer</a:t>
            </a:r>
            <a:endParaRPr lang="en-US" sz="24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قَارِنْ إِجَابَتَكَ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D5-W03 · Apply workshop (D5-L05 + D5-L06)</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600" dirty="0">
                <a:solidFill>
                  <a:srgbClr val="1F2A37"/>
                </a:solidFill>
                <a:latin typeface="Amiri" pitchFamily="2" charset="-78"/>
                <a:ea typeface="Amiri" pitchFamily="2" charset="-78"/>
                <a:cs typeface="Amiri" pitchFamily="2" charset="-78"/>
              </a:rPr>
              <a:t>فِي الشِّتَاءِ المَاضِي كُنْتُ فِي حَفْلَةٍ لِلْمُوسِيقَى العَرَبِيَّةِ مَعَ عَائِلَتِي. كَانَ المَسْرَحُ مُزْدَحِمًا، وَكَانَ الجَوُّ دَافِئًا. كُنَّا نَسْتَمِعُ إِلَى العُودِ وَالنَّايِ، وَكَانَتِ المُوسِيقَى تُعَبِّرُ عَنِ الحَنِينِ إِلَى الوَطَنِ. فَجْأَةً دَعَانِي العَازِفُ إِلَى المَسْرَحِ، وَفِي تِلْكَ اللَّحْظَةِ خِفْتُ كَثِيرًا! وَلٰكِنَّهُ عَلَّمَنِي نَغْمَةً بَسِيطَةً، وَصَفَّقَ الجُمْهُورُ. أَثَّرَتْ فِيَّ تِلْكَ اللَّيْلَةُ، وَأَلْهَمَتْنِي أَنْ أَتَعَلَّمَ العُودَ. مَا زِلْتُ أَتَذَكَّرُهَا كُلَّمَا سَمِعْتُ هٰذِهِ المُوسِيقَى.</a:t>
            </a:r>
            <a:endParaRPr lang="ar-SA" sz="26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“Last winter I was at an Arabic music concert with my family. The theatre was crowded, and the atmosphere was warm. We were listening to the oud and the nay, and the music expressed longing for the homeland. Suddenly the player invited me onto the stage, and at that moment I was very scared! But he taught me a simple tune, and the audience clapped. That night affected me, and it inspired me to learn the oud. I still remember it whenever I hear this music.”</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كَانَ المَسْرَحُ مُزْدَحِمًا</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كُنَّا نَسْتَمِعُ</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فَجْأَةً دَعَانِي</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مَا زِلْتُ أَتَذَكَّرُهَا</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22 / 24</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D5-W03 · Apply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D5-W03 · Apply workshop (D5-L05 + D5-L06)</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answered questions from D5-L05 and D5-L06 in full sentences.</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wrote a sentence for every bullet point.</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used language from BOTH lessons when I spoke and when I wrote.</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buddy checked my text and I fixed one mistake.</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used more than one tense and gave opinions with reasons.</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23 / 24</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D5-W03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ea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you used two lessons together!</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 LESSON</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2100" b="1" dirty="0">
                <a:solidFill>
                  <a:srgbClr val="FFFFFF"/>
                </a:solidFill>
                <a:latin typeface="Cambria" pitchFamily="34" charset="0"/>
                <a:cs typeface="Amiri" pitchFamily="2" charset="-78"/>
              </a:rPr>
              <a:t>D5-L07 · Holidays and Travel — Past and Future</a:t>
            </a:r>
            <a:endParaRPr lang="en-US" sz="210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ea typeface="Amiri" pitchFamily="2" charset="-78"/>
                <a:cs typeface="Amiri" pitchFamily="2" charset="-78"/>
              </a:rPr>
              <a:t>الإِجَازَاتُ وَالسَّفَرُ — المَاضِي وَالمُسْتَقْبَلُ</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keep using this week’s language — say it, then write it.</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Amiri" pitchFamily="2" charset="-78"/>
        <a:cs typeface="Amiri" pitchFamily="2" charset="-78"/>
        <a:font script="Arab" typeface="Amiri"/>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miri" pitchFamily="2" charset="-78"/>
        <a:cs typeface="Amiri" pitchFamily="2" charset="-78"/>
        <a:font script="Arab" typeface="Amir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24</Slides>
  <Notes>24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24</vt:i4>
      </vt:variant>
    </vt:vector>
  </HeadingPairs>
  <TitlesOfParts>
    <vt:vector size="2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D5-W03 · Apply Workshop — A Night I Will Never Forget: The Oud Concert</dc:title>
  <dc:subject>PptxGenJS Presentation</dc:subject>
  <dc:creator>Al Madina Online School · Arabic Department</dc:creator>
  <cp:lastModifiedBy>Al Madina Online School · Arabic Department</cp:lastModifiedBy>
  <cp:revision>1</cp:revision>
  <dcterms:created xsi:type="dcterms:W3CDTF">2026-10-26T15:48:12Z</dcterms:created>
  <dcterms:modified xsi:type="dcterms:W3CDTF">2026-10-26T15:48:12Z</dcterms:modified>
</cp:coreProperties>
</file>