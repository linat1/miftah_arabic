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APPLY WORKSHOP AT A GLANCE — the third lesson of the week (Learn D5-L05 · Learn D5-L06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D5-L05 (Storytelling — Narrative Connectors and كَانَ Description) and D5-L06 (Music, Arts and Arabic Culture).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D5-L05 and D5-L06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D5-L05? After D5-L06?” Take two answers in the chat for each lesson (one word or one sentence is enough). Then read objective 3 — today’s new situation that needs BOTH lessons. Students tick their route goals at the end of the lesson.
D5-L05 language: story shape: setting (kāna al-ṭaqsu jamīlan — kāna + adjective in -an) → background / used to (kāna yalʿabu · kuntu aqraʾu) → the turn (fajʾatan · fī tilka al-laḥẓa) → ending (fī al-nihāya · li-l-asaf) → reflection (mā ziltu atadhakkaru …)
D5-L06 language: what art does: yuʿabbiru ʿan · yuʾaththiru fī · yulhimu; describing arts (al-khaṭṭu al-ʿarabiyyu · al-zakhrafa · al-ʿūd · al-nāy); fair cultural description: fī baʿḍi al-buldān · aḥyānan · laysa dāʾiman · yakhtalifu min baladin ilā ākhar; past experience (zurtu maʿriḍan · ḥaḍartu ḥaflatan)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D5-L05 and D5-L06. Teacher reads it once with a confident student; then pairs. Ask: “Which lines are from D5-L05? Which from D5-L06?” The story shape (كَانَ + -an · كُنَّا نَسْتَمِعُ · فَجْأَةً · مَا زِلْتُ أَتَذَكَّرُ) comes from D5-L05; arts words and what art does (تُعَبِّرُ عَنْ · أَثَّرَتْ فِيَّ · أَلْهَمَتْنِي) from D5-L06.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five story steps with كَانَ and narrative connectors (D5-L05) told about an arts event, its meaning and its effect (D5-L06). FADED SUPPORT: tasks 1–2 show the plan; students write their own plan for 3–5. To a girl Partner A says: أَيْنَ كُنْتِ؟ · كَيْفَ أَثَّرَ فِيكِ؟ · لِمَاذَا تَتَذَكَّرِينَ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D5-L05 and D5-L06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D5-L05 and D5-L06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CHECK YOURSELF (2 min). Find each bullet point in the model, and one phrase from D5-L05 and one from D5-L06.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D5-L05 + D5-L06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Night I Will Never Forget: The Oud Concert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لَيْلَةٌ لَا أَنْسَاهَا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00" dirty="0">
                <a:solidFill>
                  <a:srgbClr val="C6D2E6"/>
                </a:solidFill>
                <a:latin typeface="Calibri" pitchFamily="34" charset="0"/>
                <a:cs typeface="Amiri" pitchFamily="2" charset="-78"/>
              </a:rPr>
              <a:t>Students join storytelling with the arts: they tell the story of a concert or exhibition in five steps (scene with </a:t>
            </a:r>
            <a:pPr algn="l" indent="0" marL="0">
              <a:buNone/>
            </a:pPr>
            <a:r>
              <a:rPr lang="ar-SA" altLang="en-US" sz="1550" dirty="0">
                <a:solidFill>
                  <a:srgbClr val="C6D2E6"/>
                </a:solidFill>
                <a:latin typeface="Amiri" pitchFamily="2" charset="-78"/>
                <a:ea typeface="Amiri" pitchFamily="2" charset="-78"/>
                <a:cs typeface="Amiri" pitchFamily="2" charset="-78"/>
              </a:rPr>
              <a:t>كَانَ</a:t>
            </a:r>
            <a:pPr algn="l" indent="0" marL="0">
              <a:buNone/>
            </a:pPr>
            <a:r>
              <a:rPr lang="en-US" sz="1200" dirty="0">
                <a:solidFill>
                  <a:srgbClr val="C6D2E6"/>
                </a:solidFill>
                <a:latin typeface="Calibri" pitchFamily="34" charset="0"/>
                <a:cs typeface="Amiri" pitchFamily="2" charset="-78"/>
              </a:rPr>
              <a:t> + -an → background → </a:t>
            </a:r>
            <a:pPr algn="l" indent="0" marL="0">
              <a:buNone/>
            </a:pPr>
            <a:r>
              <a:rPr lang="ar-SA" altLang="en-US" sz="1550" dirty="0">
                <a:solidFill>
                  <a:srgbClr val="C6D2E6"/>
                </a:solidFill>
                <a:latin typeface="Amiri" pitchFamily="2" charset="-78"/>
                <a:ea typeface="Amiri" pitchFamily="2" charset="-78"/>
                <a:cs typeface="Amiri" pitchFamily="2" charset="-78"/>
              </a:rPr>
              <a:t>فَجْأَةً</a:t>
            </a:r>
            <a:pPr algn="l" indent="0" marL="0">
              <a:buNone/>
            </a:pPr>
            <a:r>
              <a:rPr lang="en-US" sz="1200" dirty="0">
                <a:solidFill>
                  <a:srgbClr val="C6D2E6"/>
                </a:solidFill>
                <a:latin typeface="Calibri" pitchFamily="34" charset="0"/>
                <a:cs typeface="Amiri" pitchFamily="2" charset="-78"/>
              </a:rPr>
              <a:t> → ending → </a:t>
            </a:r>
            <a:pPr algn="l" indent="0" marL="0">
              <a:buNone/>
            </a:pPr>
            <a:r>
              <a:rPr lang="ar-SA" altLang="en-US" sz="1550" dirty="0">
                <a:solidFill>
                  <a:srgbClr val="C6D2E6"/>
                </a:solidFill>
                <a:latin typeface="Amiri" pitchFamily="2" charset="-78"/>
                <a:ea typeface="Amiri" pitchFamily="2" charset="-78"/>
                <a:cs typeface="Amiri" pitchFamily="2" charset="-78"/>
              </a:rPr>
              <a:t>مَا زِلْتُ أَتَذَكَّرُ</a:t>
            </a:r>
            <a:pPr algn="l" indent="0" marL="0">
              <a:buNone/>
            </a:pPr>
            <a:r>
              <a:rPr lang="en-US" sz="1200" dirty="0">
                <a:solidFill>
                  <a:srgbClr val="C6D2E6"/>
                </a:solidFill>
                <a:latin typeface="Calibri" pitchFamily="34" charset="0"/>
                <a:cs typeface="Amiri" pitchFamily="2" charset="-78"/>
              </a:rPr>
              <a:t> …), explain what the art expressed and how it affected them, describe culture fairly, and write the story for the class anthology.</a:t>
            </a:r>
            <a:endParaRPr lang="en-US" sz="12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D5-L05 + D5-L06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D5-L05 and D5-L06.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D5-L05 + D5-L06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D5-L05: Storytelling — Narrative Connectors and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Description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D5-L06: Music, Arts and Arabic Culture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Story card — the five steps · A story for the class anthology</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D5-L05 and D5-L06.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D5-L05 · Storytelling — Narrative Connectors and </a:t>
            </a:r>
            <a:pPr algn="l" indent="0" marL="0">
              <a:buNone/>
            </a:pPr>
            <a:r>
              <a:rPr lang="ar-SA" altLang="en-US" sz="2300" b="1" dirty="0">
                <a:solidFill>
                  <a:srgbClr val="1B3B6F"/>
                </a:solidFill>
                <a:latin typeface="Amiri" pitchFamily="2" charset="-78"/>
                <a:ea typeface="Amiri" pitchFamily="2" charset="-78"/>
                <a:cs typeface="Amiri" pitchFamily="2" charset="-78"/>
              </a:rPr>
              <a:t>كَانَ</a:t>
            </a:r>
            <a:pPr algn="l" indent="0" marL="0">
              <a:buNone/>
            </a:pPr>
            <a:r>
              <a:rPr lang="en-US" sz="1750" b="1" dirty="0">
                <a:solidFill>
                  <a:srgbClr val="1B3B6F"/>
                </a:solidFill>
                <a:latin typeface="Cambria" pitchFamily="34" charset="0"/>
                <a:cs typeface="Amiri" pitchFamily="2" charset="-78"/>
              </a:rPr>
              <a:t> Description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البِدَايَةِ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the beginning</a:t>
            </a:r>
            <a:endParaRPr lang="en-US" sz="1350" dirty="0"/>
          </a:p>
          <a:p>
            <a:pPr indent="0" marL="0">
              <a:buNone/>
            </a:pPr>
            <a:r>
              <a:rPr lang="en-US" sz="1100" i="1" dirty="0">
                <a:solidFill>
                  <a:srgbClr val="5A6472"/>
                </a:solidFill>
                <a:latin typeface="Calibri" pitchFamily="34" charset="0"/>
                <a:cs typeface="Amiri" pitchFamily="2" charset="-78"/>
              </a:rPr>
              <a:t>fī al-bi-dā-ya-ti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فَجْأَةً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suddenly</a:t>
            </a:r>
            <a:endParaRPr lang="en-US" sz="1350" dirty="0"/>
          </a:p>
          <a:p>
            <a:pPr indent="0" marL="0">
              <a:buNone/>
            </a:pPr>
            <a:r>
              <a:rPr lang="en-US" sz="1100" i="1" dirty="0">
                <a:solidFill>
                  <a:srgbClr val="5A6472"/>
                </a:solidFill>
                <a:latin typeface="Calibri" pitchFamily="34" charset="0"/>
                <a:cs typeface="Amiri" pitchFamily="2" charset="-78"/>
              </a:rPr>
              <a:t>faj-ʾa-tan</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Adverbial accusative; marks the turning point.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لِلْأَسَفِ</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unfortunately</a:t>
            </a:r>
            <a:endParaRPr lang="en-US" sz="1350" dirty="0"/>
          </a:p>
          <a:p>
            <a:pPr indent="0" marL="0">
              <a:buNone/>
            </a:pPr>
            <a:r>
              <a:rPr lang="en-US" sz="1100" i="1" dirty="0">
                <a:solidFill>
                  <a:srgbClr val="5A6472"/>
                </a:solidFill>
                <a:latin typeface="Calibri" pitchFamily="34" charset="0"/>
                <a:cs typeface="Amiri" pitchFamily="2" charset="-78"/>
              </a:rPr>
              <a:t>lil-ʾa-sa-fi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Shape 3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(m. sing.)</a:t>
            </a:r>
            <a:endParaRPr lang="en-US" sz="1350" dirty="0"/>
          </a:p>
          <a:p>
            <a:pPr indent="0" marL="0">
              <a:buNone/>
            </a:pPr>
            <a:r>
              <a:rPr lang="en-US" sz="1100" i="1" dirty="0">
                <a:solidFill>
                  <a:srgbClr val="5A6472"/>
                </a:solidFill>
                <a:latin typeface="Calibri" pitchFamily="34" charset="0"/>
                <a:cs typeface="Amiri" pitchFamily="2" charset="-78"/>
              </a:rPr>
              <a:t>kā-na</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كَانُوا</a:t>
            </a:r>
            <a:endParaRPr lang="ar-SA" sz="150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1" name="Text 4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5" name="Shape 52"/>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we</a:t>
            </a:r>
            <a:endParaRPr lang="en-US" sz="8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كُنْتُ</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was</a:t>
            </a:r>
            <a:endParaRPr lang="en-US" sz="1350" dirty="0"/>
          </a:p>
          <a:p>
            <a:pPr indent="0" marL="0">
              <a:buNone/>
            </a:pPr>
            <a:r>
              <a:rPr lang="en-US" sz="1100" i="1" dirty="0">
                <a:solidFill>
                  <a:srgbClr val="5A6472"/>
                </a:solidFill>
                <a:latin typeface="Calibri" pitchFamily="34" charset="0"/>
                <a:cs typeface="Amiri" pitchFamily="2" charset="-78"/>
              </a:rPr>
              <a:t>kun-tu</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3" name="Text 60"/>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كُنَّا</a:t>
            </a:r>
            <a:endParaRPr lang="ar-SA" sz="1500" dirty="0"/>
          </a:p>
        </p:txBody>
      </p:sp>
      <p:sp>
        <p:nvSpPr>
          <p:cNvPr id="64" name="Shape 6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566928"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7" name="Shape 64"/>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ذِكْرَى / ذِكْرَيَاتٌ</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memory / memories</a:t>
            </a:r>
            <a:endParaRPr lang="en-US" sz="1350" dirty="0"/>
          </a:p>
          <a:p>
            <a:pPr indent="0" marL="0">
              <a:buNone/>
            </a:pPr>
            <a:r>
              <a:rPr lang="en-US" sz="1100" i="1" dirty="0">
                <a:solidFill>
                  <a:srgbClr val="5A6472"/>
                </a:solidFill>
                <a:latin typeface="Calibri" pitchFamily="34" charset="0"/>
                <a:cs typeface="Amiri" pitchFamily="2" charset="-78"/>
              </a:rPr>
              <a:t>dhik-rā / dhik-ra-yā-tun</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D5-L06 · Music, Arts and Arabic Culture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oud</a:t>
            </a:r>
            <a:endParaRPr lang="en-US" sz="1350" dirty="0"/>
          </a:p>
          <a:p>
            <a:pPr indent="0" marL="0">
              <a:buNone/>
            </a:pPr>
            <a:r>
              <a:rPr lang="en-US" sz="1100" i="1" dirty="0">
                <a:solidFill>
                  <a:srgbClr val="5A6472"/>
                </a:solidFill>
                <a:latin typeface="Calibri" pitchFamily="34" charset="0"/>
                <a:cs typeface="Amiri" pitchFamily="2" charset="-78"/>
              </a:rPr>
              <a:t>al-ʿū-du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short-necked lute, central to Arabic music.</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Shape 2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reed flute.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النَّايُ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nay</a:t>
            </a:r>
            <a:endParaRPr lang="en-US" sz="1350" dirty="0"/>
          </a:p>
          <a:p>
            <a:pPr indent="0" marL="0">
              <a:buNone/>
            </a:pPr>
            <a:r>
              <a:rPr lang="en-US" sz="1100" i="1" dirty="0">
                <a:solidFill>
                  <a:srgbClr val="5A6472"/>
                </a:solidFill>
                <a:latin typeface="Calibri" pitchFamily="34" charset="0"/>
                <a:cs typeface="Amiri" pitchFamily="2" charset="-78"/>
              </a:rPr>
              <a:t>an-nā-yu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حَفْلَةٌ مُوسِيقِيَّةٌ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concert</a:t>
            </a:r>
            <a:endParaRPr lang="en-US" sz="1350" dirty="0"/>
          </a:p>
          <a:p>
            <a:pPr indent="0" marL="0">
              <a:buNone/>
            </a:pPr>
            <a:r>
              <a:rPr lang="en-US" sz="1100" i="1" dirty="0">
                <a:solidFill>
                  <a:srgbClr val="5A6472"/>
                </a:solidFill>
                <a:latin typeface="Calibri" pitchFamily="34" charset="0"/>
                <a:cs typeface="Amiri" pitchFamily="2" charset="-78"/>
              </a:rPr>
              <a:t>ḥaf-la-tun mū-sī-qiy-ya-tun</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as feminine.</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زَخْرَفَةٌ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ornamentation, arabesque</a:t>
            </a:r>
            <a:endParaRPr lang="en-US" sz="1350" dirty="0"/>
          </a:p>
          <a:p>
            <a:pPr indent="0" marL="0">
              <a:buNone/>
            </a:pPr>
            <a:r>
              <a:rPr lang="en-US" sz="1100" i="1" dirty="0">
                <a:solidFill>
                  <a:srgbClr val="5A6472"/>
                </a:solidFill>
                <a:latin typeface="Calibri" pitchFamily="34" charset="0"/>
                <a:cs typeface="Amiri" pitchFamily="2" charset="-78"/>
              </a:rPr>
              <a:t>zakh-ra-fa-tun</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2" name="Shape 4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 مُوسِيقِيٌّ</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musical heritage</a:t>
            </a:r>
            <a:endParaRPr lang="en-US" sz="1350" dirty="0"/>
          </a:p>
          <a:p>
            <a:pPr indent="0" marL="0">
              <a:buNone/>
            </a:pPr>
            <a:r>
              <a:rPr lang="en-US" sz="1100" i="1" dirty="0">
                <a:solidFill>
                  <a:srgbClr val="5A6472"/>
                </a:solidFill>
                <a:latin typeface="Calibri" pitchFamily="34" charset="0"/>
                <a:cs typeface="Amiri" pitchFamily="2" charset="-78"/>
              </a:rPr>
              <a:t>tu-rā-thun mū-sī-qiy-yun</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1" name="Shape 58"/>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63" name="Shape 6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66" name="Text 6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67" name="Shape 6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9" name="Text 66"/>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عَبَّرَ</a:t>
            </a:r>
            <a:endParaRPr lang="ar-SA" sz="1350" dirty="0"/>
          </a:p>
        </p:txBody>
      </p:sp>
      <p:sp>
        <p:nvSpPr>
          <p:cNvPr id="70" name="Shape 6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2" name="Text 6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تُعَبِّرُ</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الطَّقْسُ … · كُنْتُ فِي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مَعْرِضًا … · حَضَرْتُ حَفْلَةً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تُعَبِّرُ عَنْ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كُنَّا نَ… / كَانَ أَبِي 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 · فِي تِلْكَ اللَّحْظَةِ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أَثَّرَ فِيَّ … · أَلْهَمَنِي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فِي بَعْضِ البُلْدَانِ … · لَيْسَ دَائِمًا …</a:t>
            </a:r>
            <a:endParaRPr lang="ar-SA" sz="16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زِلْتُ أَتَذَكَّرُ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D5-L05 · Storytelling — Narrative Connectors and كَانَ Description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D5-L06 · Music, Arts and Arabic Culture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D5-L05 · Storytelling — Narrative Connectors and كَانَ Description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الطَّقْسُ … · كُنْتُ فِي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كُنَّا نَ… / كَانَ أَبِي 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 · فِي تِلْكَ اللَّحْظَةِ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زِلْتُ أَتَذَكَّرُ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D5-L06 · Music, Arts and Arabic Culture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مَعْرِضًا … · حَضَرْتُ حَفْلَةً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تُعَبِّرُ عَنْ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أَثَّرَ فِيَّ … · أَلْهَمَنِي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بَعْضِ البُلْدَانِ … · لَيْسَ دَائِمًا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Tell me about the concert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احْكِ لِي عَنِ الحَفْلَةِ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was the concert?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كَانَتِ الحَفْلَةُ؟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theatre was crowded, and the atmosphere was calm and lovely.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 المَسْرَحُ مُزْدَحِمًا، وَكَانَ الجَوُّ هَادِئًا وَجَمِيلًا.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were you doing?</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وَمَاذَا كُنْتُمْ تَفْعَلُونَ؟</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were listening to the oud and the nay, and suddenly the player invited me onto the stage!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كُنَّا نَسْتَمِعُ إِلَى العُودِ وَالنَّايِ، وَفَجْأَةً دَعَانِي العَازِفُ إِلَى المَسْرَحِ!</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did the music affect you?</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أَثَّرَتْ فِيكِ المُوسِيقَى؟</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expressed longing, and it inspired me to learn to play. I still remember that night.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كَانَتْ تُعَبِّرُ عَنِ الحَنِينِ، وَأَلْهَمَتْنِي أَنْ أَتَعَلَّمَ العَزْفَ. مَا زِلْتُ أَتَذَكَّرُ تِلْكَ اللَّيْلَةَ.</a:t>
            </a:r>
            <a:endParaRPr lang="ar-SA" sz="17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كُنَّا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فِي … ، وَكَانَ الطَّقْسُ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When and where were you?</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مَتَى وَأَيْنَ كُنْتَ؟</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لِأَنَّهَا تُعَبِّرُ عَنْ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 أَحْيَانًا / لَا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listen to Arabic music?</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تَسْتَمِعُ إِلَى المُوسِيقَى العَرَبِيَّةِ؟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كُنَّا نَلْعَبُ / كَانَ أَبِي يَقْرَأُ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What were you doing?</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مَاذَا كُنْتُمْ تَفْعَلُونَ؟</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يُلْهِمُنِي … لِأَنَّ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art inspires you?</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الفَنُّ الَّذِي يُلْهِمُكَ؟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تِلْكَ اللَّحْظَةِ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فَجْأَةً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What suddenly happened?</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مَاذَا حَدَثَ فَجْأَةً؟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وَكَانَ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زُرْتُ / حَضَرْتُ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you visited an exhibition or attended a concert?</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زُرْتَ مَعْرِضًا أَوْ حَضَرْتَ حَفْلَةً مُوسِيقِيَّةً؟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D5-L05, even numbers from D5-L06.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Story card — the five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القِصَّةِ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كُنْتُ فِي … · كَانَ المَكَانُ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scene with ‏</a:t>
            </a:r>
            <a:pPr algn="l" indent="0" marL="0">
              <a:buNone/>
            </a:pPr>
            <a:r>
              <a:rPr lang="ar-SA" altLang="en-US" sz="1450" dirty="0">
                <a:solidFill>
                  <a:srgbClr val="5A6472"/>
                </a:solidFill>
                <a:latin typeface="Amiri" pitchFamily="2" charset="-78"/>
                <a:ea typeface="Amiri" pitchFamily="2" charset="-78"/>
                <a:cs typeface="Amiri" pitchFamily="2" charset="-78"/>
              </a:rPr>
              <a:t>كَانَ</a:t>
            </a:r>
            <a:pPr algn="l" indent="0" marL="0">
              <a:buNone/>
            </a:pPr>
            <a:r>
              <a:rPr lang="en-US" sz="1100" dirty="0">
                <a:solidFill>
                  <a:srgbClr val="5A6472"/>
                </a:solidFill>
                <a:latin typeface="Calibri" pitchFamily="34" charset="0"/>
                <a:cs typeface="Amiri" pitchFamily="2" charset="-78"/>
              </a:rPr>
              <a:t>‏ + -an.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أَيْنَ وَمَتَى كُنْتَ؟ وَكَيْفَ كَانَ المَكَانُ؟</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كُنَّا نَتَجَوَّلُ … · كَانَ الخَطَّاطُ يَكْتُبُ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background with ‏</a:t>
            </a:r>
            <a:pPr algn="l" indent="0" marL="0">
              <a:buNone/>
            </a:pPr>
            <a:r>
              <a:rPr lang="ar-SA" altLang="en-US" sz="1450" dirty="0">
                <a:solidFill>
                  <a:srgbClr val="5A6472"/>
                </a:solidFill>
                <a:latin typeface="Amiri" pitchFamily="2" charset="-78"/>
                <a:ea typeface="Amiri" pitchFamily="2" charset="-78"/>
                <a:cs typeface="Amiri" pitchFamily="2" charset="-78"/>
              </a:rPr>
              <a:t>كُنَّا</a:t>
            </a:r>
            <a:pPr algn="l" indent="0" marL="0">
              <a:buNone/>
            </a:pPr>
            <a:r>
              <a:rPr lang="en-US" sz="1100" dirty="0">
                <a:solidFill>
                  <a:srgbClr val="5A6472"/>
                </a:solidFill>
                <a:latin typeface="Calibri" pitchFamily="34" charset="0"/>
                <a:cs typeface="Amiri" pitchFamily="2" charset="-78"/>
              </a:rPr>
              <a:t>‏ + present.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مَاذَا كُنْتُمْ تَفْعَلُونَ؟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twist.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مَاذَا حَدَثَ فَجْأَةً؟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Meaning + effect.</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٤) مَاذَا عَبَّرَ الفَنُّ عَنْهُ؟ وَكَيْفَ أَثَّرَ فِيكَ؟</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reflection with ‏</a:t>
            </a:r>
            <a:pPr algn="l" indent="0" marL="0">
              <a:buNone/>
            </a:pPr>
            <a:r>
              <a:rPr lang="ar-SA" altLang="en-US" sz="1450" dirty="0">
                <a:solidFill>
                  <a:srgbClr val="5A6472"/>
                </a:solidFill>
                <a:latin typeface="Amiri" pitchFamily="2" charset="-78"/>
                <a:ea typeface="Amiri" pitchFamily="2" charset="-78"/>
                <a:cs typeface="Amiri" pitchFamily="2" charset="-78"/>
              </a:rPr>
              <a:t>مَا زِلْتُ</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٥) لِمَاذَا تَتَذَكَّرُ هٰذَا اليَوْمَ؟</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storyteller · Partner A = the listener. Tell the story in the five steps, in order; Partner A asks the next question only when one step is complete. Then swap and tell YOUR story.</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arts memory in five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ذِكْرَى فَنِّيَّةٌ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Tell the story of an arts event for one minute (a concert, an exhibition, a henna night, a nasheed evening — real or imagined) in five steps: the scene, the background, the twist, the ending and a reflection. Include what the art expressed and how it affected you, and one fair statement about culture (‏</a:t>
            </a:r>
            <a:pPr algn="l" indent="0" marL="0">
              <a:buNone/>
            </a:pPr>
            <a:r>
              <a:rPr lang="ar-SA" altLang="en-US" sz="1700" dirty="0">
                <a:solidFill>
                  <a:srgbClr val="1F2A37"/>
                </a:solidFill>
                <a:latin typeface="Amiri" pitchFamily="2" charset="-78"/>
                <a:ea typeface="Amiri" pitchFamily="2" charset="-78"/>
                <a:cs typeface="Amiri" pitchFamily="2" charset="-78"/>
              </a:rPr>
              <a:t>فِي بَعْضِ البُلْدَانِ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كَانَ … · كُنْتُ فِي … · فَجْأَةً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كُنَّا</a:t>
            </a:r>
            <a:pPr algn="l" indent="0" marL="0">
              <a:buNone/>
            </a:pPr>
            <a:r>
              <a:rPr lang="en-US" sz="1150" dirty="0">
                <a:solidFill>
                  <a:srgbClr val="1F2A37"/>
                </a:solidFill>
                <a:latin typeface="Calibri" pitchFamily="34" charset="0"/>
                <a:cs typeface="Amiri" pitchFamily="2" charset="-78"/>
              </a:rPr>
              <a:t>‏ + present, ‏</a:t>
            </a:r>
            <a:pPr algn="l" indent="0" marL="0">
              <a:buNone/>
            </a:pPr>
            <a:r>
              <a:rPr lang="ar-SA" altLang="en-US" sz="1500" dirty="0">
                <a:solidFill>
                  <a:srgbClr val="1F2A37"/>
                </a:solidFill>
                <a:latin typeface="Amiri" pitchFamily="2" charset="-78"/>
                <a:ea typeface="Amiri" pitchFamily="2" charset="-78"/>
                <a:cs typeface="Amiri" pitchFamily="2" charset="-78"/>
              </a:rPr>
              <a:t>تُعَبِّرُ عَنْ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أَثَّرَ فِيَّ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فِي تِلْكَ اللَّحْظَةِ</a:t>
            </a:r>
            <a:pPr algn="l" indent="0" marL="0">
              <a:buNone/>
            </a:pPr>
            <a:r>
              <a:rPr lang="en-US" sz="1150" dirty="0">
                <a:solidFill>
                  <a:srgbClr val="1F2A37"/>
                </a:solidFill>
                <a:latin typeface="Calibri" pitchFamily="34" charset="0"/>
                <a:cs typeface="Amiri" pitchFamily="2" charset="-78"/>
              </a:rPr>
              <a:t>‏, a fair cultural statement and ‏</a:t>
            </a:r>
            <a:pPr algn="l" indent="0" marL="0">
              <a:buNone/>
            </a:pPr>
            <a:r>
              <a:rPr lang="ar-SA" altLang="en-US" sz="1500" dirty="0">
                <a:solidFill>
                  <a:srgbClr val="1F2A37"/>
                </a:solidFill>
                <a:latin typeface="Amiri" pitchFamily="2" charset="-78"/>
                <a:ea typeface="Amiri" pitchFamily="2" charset="-78"/>
                <a:cs typeface="Amiri" pitchFamily="2" charset="-78"/>
              </a:rPr>
              <a:t>مَا زِلْتُ أَتَذَكَّرُ</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weather was hot.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كَانَ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كَانَتْ</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الطَّقْسُ</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الطَّقْسَ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حَارًّا.</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حَارٌّ.</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Music expresses feelings.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تُعَبِّرُ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يُعَبِّرُ</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المُوسِيقَى</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المُوسِيقِيُّ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 المَشَاعِرِ.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المَشَاعِرَ.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were playing when suddenly it rained.</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كُنَّا نَلْعَبُ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كُنَّا لَعِبْنَا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عِنْدَمَا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سَقَطَ المَطَرُ فَجْأَةً.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يَسْقُطُ المَطَرُ فَجْأَةً.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weather was hot.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كَانَ</a:t>
            </a:r>
            <a:pPr algn="l" indent="0" marL="0">
              <a:buNone/>
            </a:pPr>
            <a:r>
              <a:rPr lang="en-US" sz="1050" i="1" dirty="0">
                <a:solidFill>
                  <a:srgbClr val="5A6472"/>
                </a:solidFill>
                <a:latin typeface="Calibri" pitchFamily="34" charset="0"/>
                <a:cs typeface="Amiri" pitchFamily="2" charset="-78"/>
              </a:rPr>
              <a:t> + subject (-u) + adjective (-an).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كَانَ الطَّقْسُ حَارًّا.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Music expresses feelings.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Music = </a:t>
            </a:r>
            <a:pPr algn="l" indent="0" marL="0">
              <a:buNone/>
            </a:pPr>
            <a:r>
              <a:rPr lang="ar-SA" altLang="en-US" sz="1350" dirty="0">
                <a:solidFill>
                  <a:srgbClr val="5A6472"/>
                </a:solidFill>
                <a:latin typeface="Amiri" pitchFamily="2" charset="-78"/>
                <a:ea typeface="Amiri" pitchFamily="2" charset="-78"/>
                <a:cs typeface="Amiri" pitchFamily="2" charset="-78"/>
              </a:rPr>
              <a:t>المُوسِيقَى</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تُعَبِّرُ عَنْ</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المُوسِيقِيُّ</a:t>
            </a:r>
            <a:pPr algn="l" indent="0" marL="0">
              <a:buNone/>
            </a:pPr>
            <a:r>
              <a:rPr lang="en-US" sz="1050" i="1" dirty="0">
                <a:solidFill>
                  <a:srgbClr val="5A6472"/>
                </a:solidFill>
                <a:latin typeface="Calibri" pitchFamily="34" charset="0"/>
                <a:cs typeface="Amiri" pitchFamily="2" charset="-78"/>
              </a:rPr>
              <a:t> = the musician).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تُعَبِّرُ المُوسِيقَى عَنِ المَشَاعِرِ.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were playing when suddenly it rained.</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Background = </a:t>
            </a:r>
            <a:pPr algn="l" indent="0" marL="0">
              <a:buNone/>
            </a:pPr>
            <a:r>
              <a:rPr lang="ar-SA" altLang="en-US" sz="1350" dirty="0">
                <a:solidFill>
                  <a:srgbClr val="5A6472"/>
                </a:solidFill>
                <a:latin typeface="Amiri" pitchFamily="2" charset="-78"/>
                <a:ea typeface="Amiri" pitchFamily="2" charset="-78"/>
                <a:cs typeface="Amiri" pitchFamily="2" charset="-78"/>
              </a:rPr>
              <a:t>كُنَّا</a:t>
            </a:r>
            <a:pPr algn="l" indent="0" marL="0">
              <a:buNone/>
            </a:pPr>
            <a:r>
              <a:rPr lang="en-US" sz="1050" i="1" dirty="0">
                <a:solidFill>
                  <a:srgbClr val="5A6472"/>
                </a:solidFill>
                <a:latin typeface="Calibri" pitchFamily="34" charset="0"/>
                <a:cs typeface="Amiri" pitchFamily="2" charset="-78"/>
              </a:rPr>
              <a:t> + present; the event = past.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كُنَّا نَلْعَبُ عِنْدَمَا سَقَطَ المَطَرُ فَجْأَةً.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 الجَوُّ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كَانَ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الفَنُّ يُؤَثِّرُ النَّاسَ.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كُنْتُ لَعِبْتُ فِي الحَدِيقَةِ عِنْدَمَا …</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Was …-ing.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 الجَوُّ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كَانَ الجَوُّ جَمِيلًا.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 adjective in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الفَنُّ يُؤَثِّرُ النَّاسَ.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الفَنُّ يُؤَثِّرُ فِي النَّاسِ.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يُؤَثِّرُ فِي …</a:t>
            </a:r>
            <a:endParaRPr lang="ar-SA" sz="14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كُنْتُ لَعِبْتُ فِي الحَدِيقَةِ عِنْدَمَا …</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كُنْتُ أَلْعَبُ فِي الحَدِيقَةِ عِنْدَمَا …</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كُنْتُ</a:t>
            </a:r>
            <a:pPr algn="l" indent="0" marL="0">
              <a:buNone/>
            </a:pPr>
            <a:r>
              <a:rPr lang="en-US" sz="1150" b="1" dirty="0">
                <a:solidFill>
                  <a:srgbClr val="1B3B6F"/>
                </a:solidFill>
                <a:latin typeface="Calibri" pitchFamily="34" charset="0"/>
                <a:cs typeface="Amiri" pitchFamily="2" charset="-78"/>
              </a:rPr>
              <a:t>‏ +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تِلْكَ اللَّحْظَةِ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that moment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أَثَّرَ فِيَّ ______ ، وَأَلْهَمَنِي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affected me, and inspired me to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فِي ______ ، وَكَانَ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was at …, and the … was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كُنَّا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were …-ing.</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فَجْأَةً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Suddenly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كَانَتِ المُوسِيقَى / اللَّوْحَاتُ تُعَبِّرُ عَنْ ______ .</a:t>
            </a:r>
            <a:endParaRPr lang="ar-SA" sz="165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music / the paintings expressed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زِلْتُ أَتَذَكَّرُ ______ لِأَنَّ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still remember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 + مُزْدَحِمًا · هَادِئًا  ·  كُنْتُ · كُنَّا  ·  فَجْأَةً  ·  فِي تِلْكَ اللَّحْظَةِ  ·  فِي النِّهَايَةِ · لِلْأَسَفِ  ·  العُودُ · النَّايُ · الخَطُّ  ·  تُعَبِّرُ عَنْ · أَلْهَمَنِي  ·  مَا زِلْتُ أَتَذَكَّرُ</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story for the class anthology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قِصَّةٌ لِمَجْمُوعَةِ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short story (about 60–80 words) about an arts event you attended (real or imagined). Follow the five steps: scene (‏</a:t>
            </a:r>
            <a:pPr algn="l" indent="0" marL="0">
              <a:buNone/>
            </a:pPr>
            <a:r>
              <a:rPr lang="ar-SA" altLang="en-US" sz="1450" b="1" dirty="0">
                <a:solidFill>
                  <a:srgbClr val="1F2A37"/>
                </a:solidFill>
                <a:latin typeface="Amiri" pitchFamily="2" charset="-78"/>
                <a:ea typeface="Amiri" pitchFamily="2" charset="-78"/>
                <a:cs typeface="Amiri" pitchFamily="2" charset="-78"/>
              </a:rPr>
              <a:t>كَانَ</a:t>
            </a:r>
            <a:pPr algn="l" indent="0" marL="0">
              <a:buNone/>
            </a:pPr>
            <a:r>
              <a:rPr lang="en-US" sz="1100" b="1" dirty="0">
                <a:solidFill>
                  <a:srgbClr val="1F2A37"/>
                </a:solidFill>
                <a:latin typeface="Calibri" pitchFamily="34" charset="0"/>
                <a:cs typeface="Amiri" pitchFamily="2" charset="-78"/>
              </a:rPr>
              <a:t>‏ + -an) → background (‏</a:t>
            </a:r>
            <a:pPr algn="l" indent="0" marL="0">
              <a:buNone/>
            </a:pPr>
            <a:r>
              <a:rPr lang="ar-SA" altLang="en-US" sz="1450" b="1" dirty="0">
                <a:solidFill>
                  <a:srgbClr val="1F2A37"/>
                </a:solidFill>
                <a:latin typeface="Amiri" pitchFamily="2" charset="-78"/>
                <a:ea typeface="Amiri" pitchFamily="2" charset="-78"/>
                <a:cs typeface="Amiri" pitchFamily="2" charset="-78"/>
              </a:rPr>
              <a:t>كُنْتُ / كُنَّا</a:t>
            </a:r>
            <a:pPr algn="l" indent="0" marL="0">
              <a:buNone/>
            </a:pPr>
            <a:r>
              <a:rPr lang="en-US" sz="1100" b="1" dirty="0">
                <a:solidFill>
                  <a:srgbClr val="1F2A37"/>
                </a:solidFill>
                <a:latin typeface="Calibri" pitchFamily="34" charset="0"/>
                <a:cs typeface="Amiri" pitchFamily="2" charset="-78"/>
              </a:rPr>
              <a:t>‏ + present) → twist (‏</a:t>
            </a:r>
            <a:pPr algn="l" indent="0" marL="0">
              <a:buNone/>
            </a:pPr>
            <a:r>
              <a:rPr lang="ar-SA" altLang="en-US" sz="1450" b="1" dirty="0">
                <a:solidFill>
                  <a:srgbClr val="1F2A37"/>
                </a:solidFill>
                <a:latin typeface="Amiri" pitchFamily="2" charset="-78"/>
                <a:ea typeface="Amiri" pitchFamily="2" charset="-78"/>
                <a:cs typeface="Amiri" pitchFamily="2" charset="-78"/>
              </a:rPr>
              <a:t>فَجْأَةً</a:t>
            </a:r>
            <a:pPr algn="l" indent="0" marL="0">
              <a:buNone/>
            </a:pPr>
            <a:r>
              <a:rPr lang="en-US" sz="1100" b="1" dirty="0">
                <a:solidFill>
                  <a:srgbClr val="1F2A37"/>
                </a:solidFill>
                <a:latin typeface="Calibri" pitchFamily="34" charset="0"/>
                <a:cs typeface="Amiri" pitchFamily="2" charset="-78"/>
              </a:rPr>
              <a:t>‏) → ending → reflection (‏</a:t>
            </a:r>
            <a:pPr algn="l" indent="0" marL="0">
              <a:buNone/>
            </a:pPr>
            <a:r>
              <a:rPr lang="ar-SA" altLang="en-US" sz="1450" b="1" dirty="0">
                <a:solidFill>
                  <a:srgbClr val="1F2A37"/>
                </a:solidFill>
                <a:latin typeface="Amiri" pitchFamily="2" charset="-78"/>
                <a:ea typeface="Amiri" pitchFamily="2" charset="-78"/>
                <a:cs typeface="Amiri" pitchFamily="2" charset="-78"/>
              </a:rPr>
              <a:t>مَا زِلْتُ أَتَذَكَّرُ</a:t>
            </a:r>
            <a:pPr algn="l" indent="0" marL="0">
              <a:buNone/>
            </a:pPr>
            <a:r>
              <a:rPr lang="en-US" sz="1100" b="1" dirty="0">
                <a:solidFill>
                  <a:srgbClr val="1F2A37"/>
                </a:solidFill>
                <a:latin typeface="Calibri" pitchFamily="34" charset="0"/>
                <a:cs typeface="Amiri" pitchFamily="2" charset="-78"/>
              </a:rPr>
              <a:t> …‏). Include two arts words, what the art expressed and how it affected you.</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D5-L05 AND D5-L06.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الجَوُّ … · كَانَ المَكَانُ مُزْدَحِمًا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atmosphere was … · the place was crowded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كُنَّا نَسْتَمِعُ إِلَى … · فَجْأَةً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were listening to … · suddenly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تُعَبِّرُ عَنْ … · أَثَّرَ فِيَّ · أَلْهَمَنِي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expresses … · affected me · inspired 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 · مَا زِلْتُ أَتَذَكَّرُ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 … · I still remember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set the scene with ‏</a:t>
            </a:r>
            <a:pPr algn="l" indent="0" marL="0">
              <a:buNone/>
            </a:pPr>
            <a:r>
              <a:rPr lang="ar-SA" altLang="en-US" sz="1450" dirty="0">
                <a:solidFill>
                  <a:srgbClr val="5A6472"/>
                </a:solidFill>
                <a:latin typeface="Amiri" pitchFamily="2" charset="-78"/>
                <a:ea typeface="Amiri" pitchFamily="2" charset="-78"/>
                <a:cs typeface="Amiri" pitchFamily="2" charset="-78"/>
              </a:rPr>
              <a:t>كَانَ</a:t>
            </a:r>
            <a:pPr algn="l" indent="0" marL="0">
              <a:buNone/>
            </a:pPr>
            <a:r>
              <a:rPr lang="en-US" sz="1100" dirty="0">
                <a:solidFill>
                  <a:srgbClr val="5A6472"/>
                </a:solidFill>
                <a:latin typeface="Calibri" pitchFamily="34" charset="0"/>
                <a:cs typeface="Amiri" pitchFamily="2" charset="-78"/>
              </a:rPr>
              <a:t>‏ + -an and tell events in the past?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past experience and make a fair, not general, cultural comment?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فِي مَعْرِضٍ لِلْخَطِّ العَرَبِيِّ الشِّتَاءَ المَاضِيَ، وَكَانَ المَكَانُ وَاسِعًا وَهَادِئًا.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was at an Arabic calligraphy exhibition last winter, and the place was spacious and quiet.</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١) أَيْنَ وَمَتَى كُنْتَ؟ وَكَيْفَ كَانَ المَكَانُ؟</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كُنَّا نَتَجَوَّلُ بَيْنَ اللَّوْحَاتِ، وَكَانَ خَطَّاطٌ يَكْتُبُ أَسْمَاءَ الزُّوَّارِ.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were walking among the paintings, and a calligrapher was writing visitors’ names.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٢) مَاذَا كُنْتُمْ تَفْعَلُونَ؟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طَلَبَ مِنِّي الخَطَّاطُ أَنْ أُجَرِّبَ القَلَمَ!</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Suddenly the calligrapher asked me to try the pen!</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٣) مَاذَا حَدَثَ فَجْأَةً؟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الخَطُّ يُعَبِّرُ عَنِ الجَمَالِ وَالصَّبْرِ، وَأَثَّرَ فِيَّ كَثِيرًا.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calligraphy expressed beauty and patience, and it affected me a lot.</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٤) مَاذَا عَبَّرَ الفَنُّ عَنْهُ؟ وَكَيْفَ أَثَّرَ فِيكَ؟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زِلْتُ أَتَذَكَّرُهُ لِأَنَّهُ أَلْهَمَنِي أَنْ أَتَعَلَّمَ الخَطَّ.</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still remember it because it inspired me to learn calligraphy.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٥) لِمَاذَا تَتَذَكَّرُ هٰذَا اليَوْمَ؟</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الشِّتَاءِ المَاضِي كُنْتُ فِي حَفْلَةٍ لِلْمُوسِيقَى العَرَبِيَّةِ مَعَ عَائِلَتِي. كَانَ المَسْرَحُ مُزْدَحِمًا، وَكَانَ الجَوُّ دَافِئًا. كُنَّا نَسْتَمِعُ إِلَى العُودِ وَالنَّايِ، وَكَانَتِ المُوسِيقَى تُعَبِّرُ عَنِ الحَنِينِ إِلَى الوَطَنِ. فَجْأَةً دَعَانِي العَازِفُ إِلَى المَسْرَحِ، وَفِي تِلْكَ اللَّحْظَةِ خِفْتُ كَثِيرًا! وَلٰكِنَّهُ عَلَّمَنِي نَغْمَةً بَسِيطَةً، وَصَفَّقَ الجُمْهُورُ. أَثَّرَتْ فِيَّ تِلْكَ اللَّيْلَةُ، وَأَلْهَمَتْنِي أَنْ أَتَعَلَّمَ العُودَ. مَا زِلْتُ أَتَذَكَّرُهَا كُلَّمَا سَمِعْتُ هٰذِهِ المُوسِيقَى.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winter I was at an Arabic music concert with my family. The theatre was crowded, and the atmosphere was warm. We were listening to the oud and the nay, and the music expressed longing for the homeland. Suddenly the player invited me onto the stage, and at that moment I was very scared! But he taught me a simple tune, and the audience clapped. That night affected me, and it inspired me to learn the oud. I still remember it whenever I hear this music.”</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المَسْرَحُ مُزْدَحِمًا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كُنَّا نَسْتَمِعُ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فَجْأَةً دَعَانِي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مَا زِلْتُ أَتَذَكَّرُهَا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D5-W03 · Apply workshop (D5-L05 + D5-L06)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D5-L05 and D5-L06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D5-L07 · Holidays and Travel — Past and Future</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الإِجَازَاتُ وَالسَّفَرُ — المَاضِي وَالمُسْتَقْبَلُ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D5-W03 · Apply Workshop — A Night I Will Never Forget: The Oud Concert</dc:title>
  <dc:subject>PptxGenJS Presentation</dc:subject>
  <dc:creator>Al Madina Online School · Arabic Department</dc:creator>
  <cp:lastModifiedBy>Al Madina Online School · Arabic Department</cp:lastModifiedBy>
  <cp:revision>1</cp:revision>
  <dcterms:created xsi:type="dcterms:W3CDTF">2026-10-26T15:42:31Z</dcterms:created>
  <dcterms:modified xsi:type="dcterms:W3CDTF">2026-10-26T15:42:31Z</dcterms:modified>
</cp:coreProperties>
</file>