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D5-L07 · Learn D5-L08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D5-L07 (Holidays and Travel — Past and Future) and D5-L08 (Reading — Leisure, Sport and Past Experience Texts).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D5-L07 and D5-L08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D5-L07? After D5-L08?” Take two answers in the chat for each lesson (one word or one sentence is enough). Then read objective 3 — today’s new situation that needs BOTH lessons. Students tick their route goals at the end of the lesson.
D5-L07 language: the trip in the past: sāfartu ilā · aqamtu fī · zurtu · ḥajaztu · istamtaʿtu bi- · ʿudtu; judging it: kānat min ajmali al-riḥlāt; switching cleanly to the future: sa-azūru · sawfa naḥjizu · anwī an …; time markers decide the tense (al-ṣayfa al-māḍiya ↔ al-ṣayfa al-qādima)
D5-L08 language: verb endings reveal the text type (fāza / fāzat = a biography in the third person · ḥajaztu / aqamnā = a personal review); sequence markers (fī al-bidāya · baʿda dhālika · thumma · akhīran); the nearest time marker decides the tense; proving every answer from the Arabic (al-dalīlu fī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D5-L07.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D5-L08.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D5-L07 and D5-L08. Teacher reads it once with a confident student; then pairs. Ask: “Which lines are from D5-L07? Which from D5-L08?” Reading the endings for WHO (سَافَرْتُ · أَقَمْنَا) and the nearest time marker for WHEN comes from D5-L08; travel verbs in the past and future (أَقَمْنَا · سَأَزُورُ) from D5-L07.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reading for WHO and WHEN with proof from the text (D5-L08) about travel in the past and the future (D5-L07). FADED SUPPORT: tasks 1–2 show the plan; students write their own plan for 3–5. To a girl Partner A says: وَأَنْتِ: أَيْنَ سَافَرْتِ؟ · وَأَيْنَ سَتَذْهَبِينَ؟.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D5-L07 and D5-L08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D5-L07 and D5-L08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(55 words). CHECK YOURSELF (2 min). Find each bullet point in the model, and one phrase from D5-L07 and one from D5-L08.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D5-L07 + D5-L08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D5-W04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Holiday Reviews: Read One, Write One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آرَاءٌ عَنِ الإِجَازَاتِ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join holidays in two tenses with reading: they read a short holiday review (who is writing? which tense? the nearest time marker decides), answer with proof from the text, then talk and write about their own last holiday and their next one — switching tenses cleanly with time markers.</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D5-L07 + D5-L08</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D5-L07 and D5-L08.</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D5-L07 + D5-L08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D5-L07: Holidays and Travel — Past and Future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D5-L08: Reading — Leisure, Sport and Past Experience Texts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a travel blog · My holiday review — and my next trip</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D5-L07 and D5-L08.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D5-L07</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D5-L07 · Holidays and Travel — Past and Future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سَافَرَ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travelled to</a:t>
            </a:r>
            <a:endParaRPr lang="en-US" sz="1350" dirty="0"/>
          </a:p>
          <a:p>
            <a:pPr indent="0" marL="0">
              <a:buNone/>
            </a:pPr>
            <a:r>
              <a:rPr lang="en-US" sz="1100" i="1" dirty="0">
                <a:solidFill>
                  <a:srgbClr val="5A6472"/>
                </a:solidFill>
                <a:latin typeface="Calibri" pitchFamily="34" charset="0"/>
                <a:cs typeface="Amiri" pitchFamily="2" charset="-78"/>
              </a:rPr>
              <a:t>sā-fa-ra i-lā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سَافَرَتْ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سَافَرْتُ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أَقَامَ فِي / أَقَمْتُ فِي</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stayed in / I stayed in</a:t>
            </a:r>
            <a:endParaRPr lang="en-US" sz="1350" dirty="0"/>
          </a:p>
          <a:p>
            <a:pPr indent="0" marL="0">
              <a:buNone/>
            </a:pPr>
            <a:r>
              <a:rPr lang="en-US" sz="1100" i="1" dirty="0">
                <a:solidFill>
                  <a:srgbClr val="5A6472"/>
                </a:solidFill>
                <a:latin typeface="Calibri" pitchFamily="34" charset="0"/>
                <a:cs typeface="Amiri" pitchFamily="2" charset="-78"/>
              </a:rPr>
              <a:t>a-qā-ma fī / a-qam-tu fī</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أَقَامَتْ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أَقَمْتُ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اسْتَمْتَعَ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enjoyed</a:t>
            </a:r>
            <a:endParaRPr lang="en-US" sz="1350" dirty="0"/>
          </a:p>
          <a:p>
            <a:pPr indent="0" marL="0">
              <a:buNone/>
            </a:pPr>
            <a:r>
              <a:rPr lang="en-US" sz="1100" i="1" dirty="0">
                <a:solidFill>
                  <a:srgbClr val="5A6472"/>
                </a:solidFill>
                <a:latin typeface="Calibri" pitchFamily="34" charset="0"/>
                <a:cs typeface="Amiri" pitchFamily="2" charset="-78"/>
              </a:rPr>
              <a:t>as-tam-ta-ʿa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اسْتَمْتَعَتْ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اسْتَمْتَعْتُ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المَطَارُ</a:t>
            </a:r>
            <a:endParaRPr lang="ar-SA" sz="3000" dirty="0"/>
          </a:p>
        </p:txBody>
      </p:sp>
      <p:sp>
        <p:nvSpPr>
          <p:cNvPr id="66" name="Text 6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airport</a:t>
            </a:r>
            <a:endParaRPr lang="en-US" sz="1350" dirty="0"/>
          </a:p>
          <a:p>
            <a:pPr indent="0" marL="0">
              <a:buNone/>
            </a:pPr>
            <a:r>
              <a:rPr lang="en-US" sz="1100" i="1" dirty="0">
                <a:solidFill>
                  <a:srgbClr val="5A6472"/>
                </a:solidFill>
                <a:latin typeface="Calibri" pitchFamily="34" charset="0"/>
                <a:cs typeface="Amiri" pitchFamily="2" charset="-78"/>
              </a:rPr>
              <a:t>al-ma-ṭā-ru</a:t>
            </a:r>
            <a:endParaRPr lang="en-US" sz="135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0" name="Shape 6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2" name="Text 6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الشَّاطِئُ</a:t>
            </a:r>
            <a:endParaRPr lang="ar-SA" sz="3000" dirty="0"/>
          </a:p>
        </p:txBody>
      </p:sp>
      <p:sp>
        <p:nvSpPr>
          <p:cNvPr id="73" name="Text 7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beach</a:t>
            </a:r>
            <a:endParaRPr lang="en-US" sz="1350" dirty="0"/>
          </a:p>
          <a:p>
            <a:pPr indent="0" marL="0">
              <a:buNone/>
            </a:pPr>
            <a:r>
              <a:rPr lang="en-US" sz="1100" i="1" dirty="0">
                <a:solidFill>
                  <a:srgbClr val="5A6472"/>
                </a:solidFill>
                <a:latin typeface="Calibri" pitchFamily="34" charset="0"/>
                <a:cs typeface="Amiri" pitchFamily="2" charset="-78"/>
              </a:rPr>
              <a:t>ash-shā-ṭi-ʾu</a:t>
            </a:r>
            <a:endParaRPr lang="en-US" sz="135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7" name="Shape 7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8" name="Text 7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9" name="Text 7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رِحْلَةٌ لَا تُنْسَى</a:t>
            </a:r>
            <a:endParaRPr lang="ar-SA" sz="3000" dirty="0"/>
          </a:p>
        </p:txBody>
      </p:sp>
      <p:sp>
        <p:nvSpPr>
          <p:cNvPr id="80" name="Text 7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unforgettable trip</a:t>
            </a:r>
            <a:endParaRPr lang="en-US" sz="1350" dirty="0"/>
          </a:p>
          <a:p>
            <a:pPr indent="0" marL="0">
              <a:buNone/>
            </a:pPr>
            <a:r>
              <a:rPr lang="en-US" sz="1100" i="1" dirty="0">
                <a:solidFill>
                  <a:srgbClr val="5A6472"/>
                </a:solidFill>
                <a:latin typeface="Calibri" pitchFamily="34" charset="0"/>
                <a:cs typeface="Amiri" pitchFamily="2" charset="-78"/>
              </a:rPr>
              <a:t>riḥ-la-tun lā tun-sā</a:t>
            </a:r>
            <a:endParaRPr lang="en-US" sz="1350" dirty="0"/>
          </a:p>
        </p:txBody>
      </p:sp>
      <p:sp>
        <p:nvSpPr>
          <p:cNvPr id="81" name="Text 78"/>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passive present verb used as a description.</a:t>
            </a:r>
            <a:endParaRPr lang="en-US" sz="10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D5-L08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D5-L08 · Reading — Leisure, Sport and Past Experience Texts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سِيرَةٌ ذَاتِيَّةٌ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biography, life story</a:t>
            </a:r>
            <a:endParaRPr lang="en-US" sz="1350" dirty="0"/>
          </a:p>
          <a:p>
            <a:pPr indent="0" marL="0">
              <a:buNone/>
            </a:pPr>
            <a:r>
              <a:rPr lang="en-US" sz="1100" i="1" dirty="0">
                <a:solidFill>
                  <a:srgbClr val="5A6472"/>
                </a:solidFill>
                <a:latin typeface="Calibri" pitchFamily="34" charset="0"/>
                <a:cs typeface="Amiri" pitchFamily="2" charset="-78"/>
              </a:rPr>
              <a:t>sī-ra-tun dhā-tiy-ya-tun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Feminine; both words agree.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تَقْرِيرٌ</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a:t>
            </a:r>
            <a:endParaRPr lang="en-US" sz="1350" dirty="0"/>
          </a:p>
          <a:p>
            <a:pPr indent="0" marL="0">
              <a:buNone/>
            </a:pPr>
            <a:r>
              <a:rPr lang="en-US" sz="1100" i="1" dirty="0">
                <a:solidFill>
                  <a:srgbClr val="5A6472"/>
                </a:solidFill>
                <a:latin typeface="Calibri" pitchFamily="34" charset="0"/>
                <a:cs typeface="Amiri" pitchFamily="2" charset="-78"/>
              </a:rPr>
              <a:t>taq-rī-run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Plural ‏</a:t>
            </a:r>
            <a:pPr algn="l" indent="0" marL="0">
              <a:buNone/>
            </a:pPr>
            <a:r>
              <a:rPr lang="ar-SA" altLang="en-US" sz="1300" dirty="0">
                <a:solidFill>
                  <a:srgbClr val="8A6D1E"/>
                </a:solidFill>
                <a:latin typeface="Amiri" pitchFamily="2" charset="-78"/>
                <a:ea typeface="Amiri" pitchFamily="2" charset="-78"/>
                <a:cs typeface="Amiri" pitchFamily="2" charset="-78"/>
              </a:rPr>
              <a:t>تَقَارِيرُ</a:t>
            </a:r>
            <a:pPr algn="l" indent="0" marL="0">
              <a:buNone/>
            </a:pPr>
            <a:r>
              <a:rPr lang="en-US" sz="1000" i="1" dirty="0">
                <a:solidFill>
                  <a:srgbClr val="8A6D1E"/>
                </a:solidFill>
                <a:latin typeface="Calibri" pitchFamily="34" charset="0"/>
                <a:cs typeface="Amiri" pitchFamily="2" charset="-78"/>
              </a:rPr>
              <a:t>‏, a diptote.</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4" name="Shape 3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تَسَلْسُلُ الأَحْدَاثِ</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sequence of events</a:t>
            </a:r>
            <a:endParaRPr lang="en-US" sz="1350" dirty="0"/>
          </a:p>
          <a:p>
            <a:pPr indent="0" marL="0">
              <a:buNone/>
            </a:pPr>
            <a:r>
              <a:rPr lang="en-US" sz="1100" i="1" dirty="0">
                <a:solidFill>
                  <a:srgbClr val="5A6472"/>
                </a:solidFill>
                <a:latin typeface="Calibri" pitchFamily="34" charset="0"/>
                <a:cs typeface="Amiri" pitchFamily="2" charset="-78"/>
              </a:rPr>
              <a:t>ta-sal-su-lu al-aḥ-dā-thi</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3" name="Shape 40"/>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Fixed with إِلَى.</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يُشِيرُ إِلَى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refers to</a:t>
            </a:r>
            <a:endParaRPr lang="en-US" sz="1350" dirty="0"/>
          </a:p>
          <a:p>
            <a:pPr indent="0" marL="0">
              <a:buNone/>
            </a:pPr>
            <a:r>
              <a:rPr lang="en-US" sz="1100" i="1" dirty="0">
                <a:solidFill>
                  <a:srgbClr val="5A6472"/>
                </a:solidFill>
                <a:latin typeface="Calibri" pitchFamily="34" charset="0"/>
                <a:cs typeface="Amiri" pitchFamily="2" charset="-78"/>
              </a:rPr>
              <a:t>yu-shī-ru i-lā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العَامِ المَاضِي</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last year</a:t>
            </a:r>
            <a:endParaRPr lang="en-US" sz="1350" dirty="0"/>
          </a:p>
          <a:p>
            <a:pPr indent="0" marL="0">
              <a:buNone/>
            </a:pPr>
            <a:r>
              <a:rPr lang="en-US" sz="1100" i="1" dirty="0">
                <a:solidFill>
                  <a:srgbClr val="5A6472"/>
                </a:solidFill>
                <a:latin typeface="Calibri" pitchFamily="34" charset="0"/>
                <a:cs typeface="Amiri" pitchFamily="2" charset="-78"/>
              </a:rPr>
              <a:t>fī al-ʿā-mi al-mā-ḍī</a:t>
            </a:r>
            <a:endParaRPr lang="en-US" sz="1350" dirty="0"/>
          </a:p>
        </p:txBody>
      </p:sp>
      <p:sp>
        <p:nvSpPr>
          <p:cNvPr id="56" name="Shape 5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66928"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9" name="Shape 5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ذٰلِكَ</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Last holiday or next holiday?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سَافَرْنَا إِلَى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سَأَزُورُ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نَحْجِزُ</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أَقَمْنَا فِي فُنْدُقٍ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اسْتَمْتَعْتُ بِالبَحْرِ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أَنْوِي 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الإِجَازَةِ القَادِمَةِ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الصَّيْفَ المَاضِيَ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the last holiday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Future: the next holiday</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the last holiday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سَافَرْنَا إِلَى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أَقَمْنَا فِي فُنْدُقٍ</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اسْتَمْتَعْتُ بِالبَحْرِ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الصَّيْفَ المَاضِيَ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Future: the next holiday</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سَأَزُورُ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نَحْجِزُ</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أَنْوِي 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الإِجَازَةِ القَادِمَةِ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holiday review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نَقْرَأُ رَأْيًا عَنْ 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 “I travelled to Jeddah with my family, and we stayed in a hotel by the sea.”</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اسْمَعْ: «سَافَرْتُ إِلَى جِدَّةَ مَعَ أُسْرَتِي، وَأَقَمْنَا فِي فُنْدُقٍ عَلَى البَحْرِ».</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writing?</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 يَكْتُبُ؟</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person talking about themselves; the proof: “I travelled” and “we stayed”.</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شَخْصٌ يَتَكَلَّمُ عَنْ نَفْسِهِ؛ الدَّلِيلُ: «سَافَرْتُ» وَ«أَقَمْنَا».</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did they like the trip?</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وَهَلْ أَعْجَبَتْهُ الرِّحْلَةُ؟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was one of the best trips, and next summer I will visit Madinah.”</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«كَانَتْ مِنْ أَجْمَلِ الرِّحْلَاتِ، وَالصَّيْفَ القَادِمَ سَأَزُورُ المَدِينَةَ المُنَوَّرَةَ».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 “next summer” means the future!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إِذَنْ «الصَّيْفَ القَادِمَ» تَعْنِي المُسْتَقْبَلَ!</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مَعَ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سَافَرْتُ إِلَى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did you travel on your last holiday?</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سَافَرْتَ فِي آخِرِ إِجَازَةٍ؟</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التَّاءُ فِي «سَافَرْتُ»</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المُتَكَلِّمُ نَفْسُهُ؛ الدَّلِيلُ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travelled to Jeddah and enjoyed the sea.” — Who is speaking?</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«سَافَرْتُ إِلَى جِدَّةَ، وَاسْتَمْتَعْتُ بِالبَحْرِ.» — مَنْ يَتَكَلَّمُ؟</a:t>
            </a:r>
            <a:endParaRPr lang="ar-SA" sz="145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وَكَانَ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أَقَمْنَا فِي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did you stay?</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أَقَمْتُمْ؟</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الدَّلِيلُ: «سَيَلْعَبُ»</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غَدًا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my brother played; tomorrow he will play again.” — When again?</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«أَمْسِ لَعِبَ أَخِي، وَغَدًا سَيَلْعَبُ مَرَّةً أُخْرَى.» — مَتَى سَيَلْعَبُ مَرَّةً أُخْرَى؟</a:t>
            </a:r>
            <a:endParaRPr lang="ar-SA" sz="12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اسْتَمْتَعْتُ بِ…</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did you enjoy most?</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بِمَاذَا اسْتَمْتَعْتَ أَكْثَرَ؟</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56648" y="5338572"/>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Trap: «‏</a:t>
            </a:r>
            <a:pPr algn="l" indent="0" marL="0">
              <a:buNone/>
            </a:pPr>
            <a:r>
              <a:rPr lang="ar-SA" altLang="en-US" sz="1450" dirty="0">
                <a:solidFill>
                  <a:srgbClr val="5A6472"/>
                </a:solidFill>
                <a:latin typeface="Amiri" pitchFamily="2" charset="-78"/>
                <a:ea typeface="Amiri" pitchFamily="2" charset="-78"/>
                <a:cs typeface="Amiri" pitchFamily="2" charset="-78"/>
              </a:rPr>
              <a:t>بَعْدَ ذٰلِكَ</a:t>
            </a:r>
            <a:pPr algn="l" indent="0" marL="0">
              <a:buNone/>
            </a:pPr>
            <a:r>
              <a:rPr lang="en-US" sz="1100" dirty="0">
                <a:solidFill>
                  <a:srgbClr val="5A6472"/>
                </a:solidFill>
                <a:latin typeface="Calibri" pitchFamily="34" charset="0"/>
                <a:cs typeface="Amiri" pitchFamily="2" charset="-78"/>
              </a:rPr>
              <a:t>‏» ‏</a:t>
            </a:r>
            <a:pPr algn="l" indent="0" marL="0">
              <a:buNone/>
            </a:pPr>
            <a:r>
              <a:rPr lang="ar-SA" altLang="en-US" sz="1450" dirty="0">
                <a:solidFill>
                  <a:srgbClr val="5A6472"/>
                </a:solidFill>
                <a:latin typeface="Amiri" pitchFamily="2" charset="-78"/>
                <a:ea typeface="Amiri" pitchFamily="2" charset="-78"/>
                <a:cs typeface="Amiri" pitchFamily="2" charset="-78"/>
              </a:rPr>
              <a:t>جَاءَ أَوَّلًا فِي النَّصِّ</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أَكَلُوا أَوَّلًا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that they visited the museum, and before that they ate.” — What first?</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«بَعْدَ ذٰلِكَ زَارُوا المَتْحَفَ، وَقَبْلَ ذٰلِكَ أَكَلُوا.» — مَاذَا فَعَلُوا أَوَّلًا؟</a:t>
            </a:r>
            <a:endParaRPr lang="ar-SA" sz="12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D5-L07, even numbers from D5-L08.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card — a travel blog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مُدَوَّنَةُ 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 ؛ الدَّلِيلُ: حَجَزَتْ</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did it? Prove it.</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«حَجَزَتْ أُمِّي غُرْفَتَيْنِ فِي الفُنْدُقِ.» — مَنْ حَجَزَ؟</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غَدًا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nearest time marker decides.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«أَمْسِ سَبَحْنَا، وَغَدًا سَنَزُورُ السُّوقَ القَدِيمَ.» — مَتَى سَيَزُورُونَ السُّوقَ؟</a:t>
            </a:r>
            <a:endParaRPr lang="ar-SA" sz="13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Put the events in order.</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«فِي البِدَايَةِ كَانَ الجَوُّ حَارًّا، ثُمَّ سَقَطَ المَطَرُ.» — مَا التَّرْتِيبُ؟</a:t>
            </a:r>
            <a:endParaRPr lang="ar-SA" sz="13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last holiday + a judgement.</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وَأَنْتَ: أَيْنَ سَافَرْتَ فِي آخِرِ إِجَازَةٍ؟ وَبِمَاذَا اسْتَمْتَعْتَ؟</a:t>
            </a:r>
            <a:endParaRPr lang="ar-SA" sz="16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Switch to the future with a time marker.</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وَأَيْنَ سَتَذْهَبُ فِي الإِجَازَةِ القَادِمَةِ؟ لِمَاذَا؟</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Partner A reads each blog line twice. Answer, then PROVE it (an ending or a time marker). Tasks 4 and ! are about you. Then swap.</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Last holiday, next holiday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الإِجَازَةُ المَاضِيَةُ وَالقَادِمَةُ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in two parts. Part 1 (past): where you went, where you stayed, two things you visited, what you enjoyed, one problem, and a judgement. Part 2 (future): your next holiday — where, with whom and why. Switch tenses with a clear time marker.</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سَافَرْتُ إِلَى … · زُرْنَا … · سَأَزُورُ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أَقَمْنَا فِي</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اسْتَمْتَعْتُ بِ</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كَانَتْ مِنْ أَجْمَلِ الرِّحْلَاتِ</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problem in the past, ‏</a:t>
            </a:r>
            <a:pPr algn="l" indent="0" marL="0">
              <a:buNone/>
            </a:pPr>
            <a:r>
              <a:rPr lang="ar-SA" altLang="en-US" sz="1500" dirty="0">
                <a:solidFill>
                  <a:srgbClr val="1F2A37"/>
                </a:solidFill>
                <a:latin typeface="Amiri" pitchFamily="2" charset="-78"/>
                <a:ea typeface="Amiri" pitchFamily="2" charset="-78"/>
                <a:cs typeface="Amiri" pitchFamily="2" charset="-78"/>
              </a:rPr>
              <a:t>سَوْفَ نَحْجِزُ / أَنْوِي أَنْ</a:t>
            </a:r>
            <a:pPr algn="l" indent="0" marL="0">
              <a:buNone/>
            </a:pPr>
            <a:r>
              <a:rPr lang="en-US" sz="1150" dirty="0">
                <a:solidFill>
                  <a:srgbClr val="1F2A37"/>
                </a:solidFill>
                <a:latin typeface="Calibri" pitchFamily="34" charset="0"/>
                <a:cs typeface="Amiri" pitchFamily="2" charset="-78"/>
              </a:rPr>
              <a:t> …‏ and a reason.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stayed in a hotel near the beach.</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أَقَمْنَا</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أَقَامْنَا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فُنْدُقٍ</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فُنْدُقٌ</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قُرْبَ الشَّاطِئِ.</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قُرْبُ الشَّاطِئِ.</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At first she trained alone.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البِدَايَةِ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النِّهَايَةِ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تَدَرَّبَتْ</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تَدَرَّبْتُ</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وَحْدَهَا.</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وَحْدَهُ.</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It was one of the most beautiful trips.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كَانَتْ</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كَانَ</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أَجْمَلِ</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أَجْمَلُ</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الرِّحْلَاتِ.</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الرِّحْلَاتُ.</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stayed in a hotel near the beach.</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أَقَامَ</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أَقَمْنَا</a:t>
            </a:r>
            <a:pPr algn="l" indent="0" marL="0">
              <a:buNone/>
            </a:pPr>
            <a:r>
              <a:rPr lang="en-US" sz="1050" i="1" dirty="0">
                <a:solidFill>
                  <a:srgbClr val="5A6472"/>
                </a:solidFill>
                <a:latin typeface="Calibri" pitchFamily="34" charset="0"/>
                <a:cs typeface="Amiri" pitchFamily="2" charset="-78"/>
              </a:rPr>
              <a:t> (short vowel before -nā).</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أَقَمْنَا فِي فُنْدُقٍ قُرْبَ الشَّاطِئِ.</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At first she trained alone.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-at; her → -hā.</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فِي البِدَايَةِ تَدَرَّبَتْ وَحْدَهَا.</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It was one of the most beautiful trips.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رِحْلَةٌ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كَانَتْ</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كَانَتْ مِنْ أَجْمَلِ الرِّحْلَاتِ.</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الصَّيْفَ المَاضِيَ سَأُسَافِرُ إِلَى تُونِسَ.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Time word vs tense.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«فَازَتْ بِالكَأْسِ» ← هٰذِهِ مُرَاجَعَةٌ شَخْصِيَّةٌ.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Look at the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اسْتَمْتَعْتُ الرِّحْلَةَ كَثِيرًا.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Missing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الصَّيْفَ المَاضِيَ سَأُسَافِرُ إِلَى تُونِسَ.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الصَّيْفَ المَاضِيَ سَافَرْتُ إِلَى تُونِسَ.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Past time → past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«فَازَتْ بِالكَأْسِ» ← هٰذِهِ مُرَاجَعَةٌ شَخْصِيَّةٌ.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سِيرَةٌ ذَاتِيَّةٌ عَنْهَا.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فَازَتْ</a:t>
            </a:r>
            <a:pPr algn="l" indent="0" marL="0">
              <a:buNone/>
            </a:pPr>
            <a:r>
              <a:rPr lang="en-US" sz="1150" b="1" dirty="0">
                <a:solidFill>
                  <a:srgbClr val="1B3B6F"/>
                </a:solidFill>
                <a:latin typeface="Calibri" pitchFamily="34" charset="0"/>
                <a:cs typeface="Amiri" pitchFamily="2" charset="-78"/>
              </a:rPr>
              <a:t>‏ = she → a text about someone else.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اسْتَمْتَعْتُ الرِّحْلَةَ كَثِيرًا.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اسْتَمْتَعْتُ بِالرِّحْلَةِ كَثِيرًا.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اسْتَمْتَعَ بِ</a:t>
            </a:r>
            <a:pPr algn="l" indent="0" marL="0">
              <a:buNone/>
            </a:pPr>
            <a:r>
              <a:rPr lang="en-US" sz="1150" b="1" dirty="0">
                <a:solidFill>
                  <a:srgbClr val="1B3B6F"/>
                </a:solidFill>
                <a:latin typeface="Calibri" pitchFamily="34" charset="0"/>
                <a:cs typeface="Amiri" pitchFamily="2" charset="-78"/>
              </a:rPr>
              <a:t>‏ + genitive.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لِلْأَسَفِ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Unfortunately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أَنْوِي أَنْ ______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intend to …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الصَّيْفَ المَاضِيَ سَافَرْتُ إِلَى ______ مَعَ ______ .</a:t>
            </a:r>
            <a:endParaRPr lang="ar-SA" sz="16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summer I travelled to … with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أَقَمْنَا فِي ______ ، وَزُرْنَا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stayed in …, and we visited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اسْتَمْتَعْتُ بِ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enjoyed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مِنْ أَجْمَلِ الرِّحْلَاتِ لِأَنَّ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was one of the best trips because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الإِجَازَةِ القَادِمَةِ سَأَزُورُ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holiday I will visit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سَافَرْتُ · سَافَرْنَا  ·  أَقَمْنَا · حَجَزْنَا  ·  زُرْتُ · زُرْنَا  ·  اسْتَمْتَعْتُ بِ…  ·  لِلْأَسَفِ  ·  الصَّيْفَ المَاضِيَ  ·  سَأَزُورُ · سَوْفَ نَحْجِزُ  ·  فِي الإِجَازَةِ القَادِمَةِ</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My holiday review — and my next trip</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رَأْيِي فِي إِجَازَتِي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review (about 60–80 words) for a travel blog. Part 1 (past): where you went and with whom, where you stayed, two places you visited, what you enjoyed, one problem and a judgement. Part 2 (future): your next holiday — where, with whom and why. Use time markers to switch tenses cleanly.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D5-L07 AND D5-L08.</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الصَّيْفَ المَاضِيَ سَافَرْتُ إِلَى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summer I travelled to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أَقَمْنَا فِي … · زُرْنَا … · اسْتَمْتَعْتُ بِ…</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stayed in … · we visited … · I enjoyed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مِنْ أَجْمَلِ الرِّحْلَاتِ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was one of the best trips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الإِجَازَةِ القَادِمَةِ سَأَزُورُ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holiday I will visit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tell the trip in the past and the plan in the future?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sequence markers and give the main idea in one sentence?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أُمُّهُ حَجَزَتْ؛ الدَّلِيلُ: «حَجَزَتْ» تَنْتَهِي بِتَاءٍ لِلْمُؤَنَّثِ.</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His mother booked; the proof: “ḥajazat” ends in -at for she.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«حَجَزَتْ أُمِّي غُرْفَتَيْنِ فِي الفُنْدُقِ.» — مَنْ حَجَزَ؟</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غَدًا؛ لِأَنَّ «غَدًا» قَبْلَ «سَنَزُورُ».</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Tomorrow; because “ghadan” comes right before “we will visit”.</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«أَمْسِ سَبَحْنَا، وَغَدًا سَنَزُورُ السُّوقَ القَدِيمَ.» — مَتَى سَيَزُورُونَ السُّوقَ؟</a:t>
            </a:r>
            <a:endParaRPr lang="ar-SA" sz="13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كَانَ الجَوُّ حَارًّا، ثُمَّ سَقَطَ المَطَرُ.</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First the weather was hot, then it rained.</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«فِي البِدَايَةِ كَانَ الجَوُّ حَارًّا، ثُمَّ سَقَطَ المَطَرُ.» — مَا التَّرْتِيبُ؟</a:t>
            </a:r>
            <a:endParaRPr lang="ar-SA" sz="13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سَافَرْتُ إِلَى وِيلْز، وَأَقَمْنَا فِي خَيْمَةٍ؛ اسْتَمْتَعْتُ بِالجِبَالِ، وَكَانَتْ مِنْ أَجْمَلِ الرِّحْلَاتِ.</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travelled to Wales, and we stayed in a tent; I enjoyed the mountains, and it was one of the best trips.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وَأَنْتَ: أَيْنَ سَافَرْتَ فِي آخِرِ إِجَازَةٍ؟ وَبِمَاذَا اسْتَمْتَعْتَ؟</a:t>
            </a:r>
            <a:endParaRPr lang="ar-SA" sz="155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الإِجَازَةِ القَادِمَةِ سَأَزُورُ جَدَّتِي فِي مِصْرَ، لِأَنِّي لَمْ أَرَهَا مُنْذُ سَنَتَيْنِ.</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Next holiday I will visit my grandmother in Egypt, because I haven’t seen her for two years.</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وَأَيْنَ سَتَذْهَبُ فِي الإِجَازَةِ القَادِمَةِ؟ لِمَاذَا؟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الصَّيْفَ المَاضِيَ سَافَرْتُ إِلَى إِسْطَنْبُولَ مَعَ عَائِلَتِي، وَأَقَمْنَا فِي فُنْدُقٍ صَغِيرٍ قُرْبَ البَحْرِ. زُرْنَا المَسَاجِدَ القَدِيمَةَ وَالسُّوقَ الكَبِيرَ، وَاسْتَمْتَعْتُ بِرِحْلَةٍ فِي القَارِبِ. لِلْأَسَفِ ضَاعَتْ حَقِيبَةُ أَخِي فِي المَطَارِ، وَلٰكِنَّهَا وَصَلَتْ بَعْدَ يَوْمَيْنِ. كَانَتْ مِنْ أَجْمَلِ الرِّحْلَاتِ لِأَنَّ النَّاسَ كَانُوا لُطَفَاءَ. فِي الإِجَازَةِ القَادِمَةِ سَأَزُورُ عَمِّي فِي عَمَّانَ، وَأَنْوِي أَنْ أَرَى البَتْرَاءَ لِأَنَّهَا مَدِينَةٌ تَارِيخِيَّةٌ رَائِعَةٌ.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I travelled to Istanbul with my family, and we stayed in a small hotel near the sea. We visited the old mosques and the big market, and I enjoyed a boat trip. Unfortunately my brother’s bag got lost at the airport, but it arrived two days later. It was one of the best trips because the people were kind. Next holiday I will visit my uncle in Amman, and I intend to see Petra because it is an amazing historic city.”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الصَّيْفَ المَاضِيَ سَافَرْتُ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وَأَقَمْنَا فِي فُنْدُقٍ</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أَجْمَلِ الرِّحْلَاتِ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الإِجَازَةِ القَادِمَةِ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D5-W04 · Apply workshop (D5-L07 + D5-L08)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D5-L07 and D5-L08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D5-W04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D5-L09 · Writing — My Leisure Life (Extended Writing)</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 حَيَاتِي التَّرْفِيهِيَّةُ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D5-W04 · Apply Workshop — Holiday Reviews: Read One, Write One</dc:title>
  <dc:subject>PptxGenJS Presentation</dc:subject>
  <dc:creator>Al Madina Online School · Arabic Department</dc:creator>
  <cp:lastModifiedBy>Al Madina Online School · Arabic Department</cp:lastModifiedBy>
  <cp:revision>1</cp:revision>
  <dcterms:created xsi:type="dcterms:W3CDTF">2026-10-26T15:48:13Z</dcterms:created>
  <dcterms:modified xsi:type="dcterms:W3CDTF">2026-10-26T15:48:13Z</dcterms:modified>
</cp:coreProperties>
</file>