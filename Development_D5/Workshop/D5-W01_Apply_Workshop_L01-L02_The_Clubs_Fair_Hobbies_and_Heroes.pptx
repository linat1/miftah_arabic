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D5-L01 · Learn D5-L02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D5-L01 (Hobbies and Free Time — Vocabulary and Present Habits) and D5-L02 (Sport — Vocabulary, Famous Athletes and Cultural Context).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D5-L01 and D5-L02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D5-L01? After D5-L02?” Take two answers in the chat for each lesson (one word or one sentence is enough). Then read objective 3 — today’s new situation that needs BOTH lessons. Students tick their route goals at the end of the lesson.
D5-L01 language: the right verb for each hobby: yalʿabu (games, ball sports) · yumārisu (sport in general) · yaʿzifu ʿalā (an instrument) · yastamiʿu ilā (music) · yaqraʾu · yarsumu; frequency (marratan · marratayni · thalātha marrātin fī al-usbūʿ); preference: ufaḍḍilu … ʿalā … li-anna …
D5-L02 language: results in the past: fāza bi- (a title) · fāza ʿalā (an opponent) · khasira · taʿādala maʿa; rules: yajibu ʿalā al-lāʿibi an … · mamnūʿun an … · lā yajūzu; admiring an athlete: uʿjabu bi- … li-annahu / li-annahā …; scores (bi-natījati ithnayni li-wāḥid)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D5-L01.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D5-L02.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D5-L01 and D5-L02. Teacher reads it once with a confident student; then pairs. Ask: “Which lines are from D5-L01? Which from D5-L02?” The right hobby verb (أَلْعَبُ · أَعْزِفُ عَلَى) and frequency come from D5-L01; results with فَازَتْ بِـ and admiring an athlete (أُعْجَبُ بِ…) from D5-L02. Keep claims about real athletes general and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hobby verbs, frequency and preferences (D5-L01) with results, rules and admiring an athlete (D5-L02). FADED SUPPORT: tasks 1–2 show the plan; students write their own plan for 3–5. To a girl Partner A says: to a girl: تَعَالَيْ مَرَّةً وَاحِدَةً وَجَرِّبِي! · and she asks: لِمَاذَا أَنْضَمُّ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D5-L01 and D5-L02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D5-L01 and D5-L02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CHECK YOURSELF (2 min). Find each bullet point in the model, and one phrase from D5-L01 and one from D5-L02.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D5-L01 + D5-L02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D5-W01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The Clubs Fair: Hobbies and Heroes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مَعْرِضُ الأَنْدِيَةِ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hobbies with sport: at the school clubs fair they recruit members — the right verb for each hobby, how often, preferences — and present a sporting hero (results with </a:t>
            </a:r>
            <a:pPr algn="l" indent="0" marL="0">
              <a:buNone/>
            </a:pPr>
            <a:r>
              <a:rPr lang="ar-SA" altLang="en-US" sz="1800" dirty="0">
                <a:solidFill>
                  <a:srgbClr val="C6D2E6"/>
                </a:solidFill>
                <a:latin typeface="Amiri" pitchFamily="2" charset="-78"/>
                <a:ea typeface="Amiri" pitchFamily="2" charset="-78"/>
                <a:cs typeface="Amiri" pitchFamily="2" charset="-78"/>
              </a:rPr>
              <a:t>فَازَ بِ… / فَازَ عَلَى</a:t>
            </a:r>
            <a:pPr algn="l" indent="0" marL="0">
              <a:buNone/>
            </a:pPr>
            <a:r>
              <a:rPr lang="en-US" sz="1400" dirty="0">
                <a:solidFill>
                  <a:srgbClr val="C6D2E6"/>
                </a:solidFill>
                <a:latin typeface="Calibri" pitchFamily="34" charset="0"/>
                <a:cs typeface="Amiri" pitchFamily="2" charset="-78"/>
              </a:rPr>
              <a:t> …, one rule of the sport, why they admire them), then write a club page.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D5-L01 + D5-L02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D5-L01 and D5-L02.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D5-L01 + D5-L02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D5-L01: Hobbies and Free Time — Vocabulary and Present Habits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D5-L02: Sport — Vocabulary, Famous Athletes and Cultural Context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recruiting for your club · A page for our club</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D5-L01 and D5-L02.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D5-L01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D5-L01 · Hobbies and Free Time — Vocabulary and Present Habits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هِوَايَةٌ / هِوَايَاتٌ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hobby / hobbies</a:t>
            </a:r>
            <a:endParaRPr lang="en-US" sz="1350" dirty="0"/>
          </a:p>
          <a:p>
            <a:pPr indent="0" marL="0">
              <a:buNone/>
            </a:pPr>
            <a:r>
              <a:rPr lang="en-US" sz="1100" i="1" dirty="0">
                <a:solidFill>
                  <a:srgbClr val="5A6472"/>
                </a:solidFill>
                <a:latin typeface="Calibri" pitchFamily="34" charset="0"/>
                <a:cs typeface="Amiri" pitchFamily="2" charset="-78"/>
              </a:rPr>
              <a:t>hi-wā-ya-tun / hi-wā-yā-tun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Feminine; the plural is sound feminine.</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يُمَارِسُ الرِّيَاضَةَ</a:t>
            </a:r>
            <a:endParaRPr lang="ar-SA" sz="3000" dirty="0"/>
          </a:p>
        </p:txBody>
      </p:sp>
      <p:sp>
        <p:nvSpPr>
          <p:cNvPr id="31" name="Text 2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practises sport</a:t>
            </a:r>
            <a:endParaRPr lang="en-US" sz="1350" dirty="0"/>
          </a:p>
          <a:p>
            <a:pPr indent="0" marL="0">
              <a:buNone/>
            </a:pPr>
            <a:r>
              <a:rPr lang="en-US" sz="1100" i="1" dirty="0">
                <a:solidFill>
                  <a:srgbClr val="5A6472"/>
                </a:solidFill>
                <a:latin typeface="Calibri" pitchFamily="34" charset="0"/>
                <a:cs typeface="Amiri" pitchFamily="2" charset="-78"/>
              </a:rPr>
              <a:t>yu-mā-ri-su ar-ri-yā-ḍa-ta</a:t>
            </a:r>
            <a:endParaRPr lang="en-US" sz="1350" dirty="0"/>
          </a:p>
        </p:txBody>
      </p:sp>
      <p:sp>
        <p:nvSpPr>
          <p:cNvPr id="32" name="Shape 29"/>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4" name="Text 31"/>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تُمَارِسُ</a:t>
            </a:r>
            <a:endParaRPr lang="ar-SA" sz="1500" dirty="0"/>
          </a:p>
        </p:txBody>
      </p:sp>
      <p:sp>
        <p:nvSpPr>
          <p:cNvPr id="35" name="Shape 32"/>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7" name="Text 34"/>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أُمَارِسُ</a:t>
            </a:r>
            <a:endParaRPr lang="ar-SA" sz="150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1" name="Shape 38"/>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السِّبَاحَةُ / يَسْبَحُ</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swimming / swims</a:t>
            </a:r>
            <a:endParaRPr lang="en-US" sz="1350" dirty="0"/>
          </a:p>
          <a:p>
            <a:pPr indent="0" marL="0">
              <a:buNone/>
            </a:pPr>
            <a:r>
              <a:rPr lang="en-US" sz="1100" i="1" dirty="0">
                <a:solidFill>
                  <a:srgbClr val="5A6472"/>
                </a:solidFill>
                <a:latin typeface="Calibri" pitchFamily="34" charset="0"/>
                <a:cs typeface="Amiri" pitchFamily="2" charset="-78"/>
              </a:rPr>
              <a:t>as-si-bā-ḥa-tu / yas-ba-ḥu</a:t>
            </a:r>
            <a:endParaRPr lang="en-US" sz="1350" dirty="0"/>
          </a:p>
        </p:txBody>
      </p:sp>
      <p:sp>
        <p:nvSpPr>
          <p:cNvPr id="45" name="Text 42"/>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syllabus lists the verbal noun ‏</a:t>
            </a:r>
            <a:pPr algn="l" indent="0" marL="0">
              <a:buNone/>
            </a:pPr>
            <a:r>
              <a:rPr lang="ar-SA" altLang="en-US" sz="1300" dirty="0">
                <a:solidFill>
                  <a:srgbClr val="8A6D1E"/>
                </a:solidFill>
                <a:latin typeface="Amiri" pitchFamily="2" charset="-78"/>
                <a:ea typeface="Amiri" pitchFamily="2" charset="-78"/>
                <a:cs typeface="Amiri" pitchFamily="2" charset="-78"/>
              </a:rPr>
              <a:t>السِّبَاحَةُ</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9" name="Shape 4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51" name="Shape 4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يَعْزِفُ عَلَى العُودِ</a:t>
            </a:r>
            <a:endParaRPr lang="ar-SA" sz="3000" dirty="0"/>
          </a:p>
        </p:txBody>
      </p:sp>
      <p:sp>
        <p:nvSpPr>
          <p:cNvPr id="54" name="Text 5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plays the oud</a:t>
            </a:r>
            <a:endParaRPr lang="en-US" sz="1350" dirty="0"/>
          </a:p>
          <a:p>
            <a:pPr indent="0" marL="0">
              <a:buNone/>
            </a:pPr>
            <a:r>
              <a:rPr lang="en-US" sz="1100" i="1" dirty="0">
                <a:solidFill>
                  <a:srgbClr val="5A6472"/>
                </a:solidFill>
                <a:latin typeface="Calibri" pitchFamily="34" charset="0"/>
                <a:cs typeface="Amiri" pitchFamily="2" charset="-78"/>
              </a:rPr>
              <a:t>yaʿ-zi-fu ʿa-lā al-ʿū-di</a:t>
            </a:r>
            <a:endParaRPr lang="en-US" sz="1350" dirty="0"/>
          </a:p>
        </p:txBody>
      </p:sp>
      <p:sp>
        <p:nvSpPr>
          <p:cNvPr id="55" name="Shape 5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7" name="Text 5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تَعْزِفُ</a:t>
            </a:r>
            <a:endParaRPr lang="ar-SA" sz="1500" dirty="0"/>
          </a:p>
        </p:txBody>
      </p:sp>
      <p:sp>
        <p:nvSpPr>
          <p:cNvPr id="58" name="Shape 5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0" name="Text 5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أَعْزِفُ</a:t>
            </a:r>
            <a:endParaRPr lang="ar-SA" sz="15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4" name="Shape 61"/>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66" name="Shape 6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8" name="Text 6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يَسْتَمِعُ إِلَى المُوسِيقَى</a:t>
            </a:r>
            <a:endParaRPr lang="ar-SA" sz="3000" dirty="0"/>
          </a:p>
        </p:txBody>
      </p:sp>
      <p:sp>
        <p:nvSpPr>
          <p:cNvPr id="69" name="Text 6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listens to music</a:t>
            </a:r>
            <a:endParaRPr lang="en-US" sz="1350" dirty="0"/>
          </a:p>
          <a:p>
            <a:pPr indent="0" marL="0">
              <a:buNone/>
            </a:pPr>
            <a:r>
              <a:rPr lang="en-US" sz="1100" i="1" dirty="0">
                <a:solidFill>
                  <a:srgbClr val="5A6472"/>
                </a:solidFill>
                <a:latin typeface="Calibri" pitchFamily="34" charset="0"/>
                <a:cs typeface="Amiri" pitchFamily="2" charset="-78"/>
              </a:rPr>
              <a:t>yas-ta-mi-ʿu i-lā al-mū-sī-qā</a:t>
            </a:r>
            <a:endParaRPr lang="en-US" sz="1350" dirty="0"/>
          </a:p>
        </p:txBody>
      </p:sp>
      <p:sp>
        <p:nvSpPr>
          <p:cNvPr id="70" name="Shape 6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2" name="Text 69"/>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تَسْتَمِعُ</a:t>
            </a:r>
            <a:endParaRPr lang="ar-SA" sz="1500" dirty="0"/>
          </a:p>
        </p:txBody>
      </p:sp>
      <p:sp>
        <p:nvSpPr>
          <p:cNvPr id="73" name="Shape 7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5" name="Text 72"/>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أَسْتَمِعُ</a:t>
            </a:r>
            <a:endParaRPr lang="ar-SA" sz="1500" dirty="0"/>
          </a:p>
        </p:txBody>
      </p:sp>
      <p:sp>
        <p:nvSpPr>
          <p:cNvPr id="76" name="Shape 7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566928"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9" name="Shape 7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0" name="Text 7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1" name="Text 7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مَرَّتَيْنِ فِي الأُسْبُوعِ</a:t>
            </a:r>
            <a:endParaRPr lang="ar-SA" sz="3000" dirty="0"/>
          </a:p>
        </p:txBody>
      </p:sp>
      <p:sp>
        <p:nvSpPr>
          <p:cNvPr id="82" name="Text 7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twice a week</a:t>
            </a:r>
            <a:endParaRPr lang="en-US" sz="1350" dirty="0"/>
          </a:p>
          <a:p>
            <a:pPr indent="0" marL="0">
              <a:buNone/>
            </a:pPr>
            <a:r>
              <a:rPr lang="en-US" sz="1100" i="1" dirty="0">
                <a:solidFill>
                  <a:srgbClr val="5A6472"/>
                </a:solidFill>
                <a:latin typeface="Calibri" pitchFamily="34" charset="0"/>
                <a:cs typeface="Amiri" pitchFamily="2" charset="-78"/>
              </a:rPr>
              <a:t>mar-ra-tay-ni fī al-us-bū-ʿi</a:t>
            </a:r>
            <a:endParaRPr lang="en-US" sz="1350" dirty="0"/>
          </a:p>
        </p:txBody>
      </p:sp>
      <p:sp>
        <p:nvSpPr>
          <p:cNvPr id="83" name="Text 80"/>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t>
            </a:r>
            <a:pPr algn="l" indent="0" marL="0">
              <a:buNone/>
            </a:pPr>
            <a:r>
              <a:rPr lang="ar-SA" altLang="en-US" sz="1300" dirty="0">
                <a:solidFill>
                  <a:srgbClr val="8A6D1E"/>
                </a:solidFill>
                <a:latin typeface="Amiri" pitchFamily="2" charset="-78"/>
                <a:ea typeface="Amiri" pitchFamily="2" charset="-78"/>
                <a:cs typeface="Amiri" pitchFamily="2" charset="-78"/>
              </a:rPr>
              <a:t>مَرَّتَيْنِ</a:t>
            </a:r>
            <a:pPr algn="l" indent="0" marL="0">
              <a:buNone/>
            </a:pPr>
            <a:r>
              <a:rPr lang="en-US" sz="1000" i="1" dirty="0">
                <a:solidFill>
                  <a:srgbClr val="8A6D1E"/>
                </a:solidFill>
                <a:latin typeface="Calibri" pitchFamily="34" charset="0"/>
                <a:cs typeface="Amiri" pitchFamily="2" charset="-78"/>
              </a:rPr>
              <a:t>‏ is the dual — revise the dual from F3.</a:t>
            </a:r>
            <a:endParaRPr lang="en-US" sz="10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D5-L02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D5-L02 · Sport — Vocabulary, Famous Athletes and Cultural Context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كُرَةُ القَدَمِ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football</a:t>
            </a:r>
            <a:endParaRPr lang="en-US" sz="1350" dirty="0"/>
          </a:p>
          <a:p>
            <a:pPr indent="0" marL="0">
              <a:buNone/>
            </a:pPr>
            <a:r>
              <a:rPr lang="en-US" sz="1100" i="1" dirty="0">
                <a:solidFill>
                  <a:srgbClr val="5A6472"/>
                </a:solidFill>
                <a:latin typeface="Calibri" pitchFamily="34" charset="0"/>
                <a:cs typeface="Amiri" pitchFamily="2" charset="-78"/>
              </a:rPr>
              <a:t>ku-ra-tu al-qa-da-mi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السِّبَاحَةُ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swimming</a:t>
            </a:r>
            <a:endParaRPr lang="en-US" sz="1350" dirty="0"/>
          </a:p>
          <a:p>
            <a:pPr indent="0" marL="0">
              <a:buNone/>
            </a:pPr>
            <a:r>
              <a:rPr lang="en-US" sz="1100" i="1" dirty="0">
                <a:solidFill>
                  <a:srgbClr val="5A6472"/>
                </a:solidFill>
                <a:latin typeface="Calibri" pitchFamily="34" charset="0"/>
                <a:cs typeface="Amiri" pitchFamily="2" charset="-78"/>
              </a:rPr>
              <a:t>as-si-bā-ḥa-tu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فَرِيقٌ</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team</a:t>
            </a:r>
            <a:endParaRPr lang="en-US" sz="1350" dirty="0"/>
          </a:p>
          <a:p>
            <a:pPr indent="0" marL="0">
              <a:buNone/>
            </a:pPr>
            <a:r>
              <a:rPr lang="en-US" sz="1100" i="1" dirty="0">
                <a:solidFill>
                  <a:srgbClr val="5A6472"/>
                </a:solidFill>
                <a:latin typeface="Calibri" pitchFamily="34" charset="0"/>
                <a:cs typeface="Amiri" pitchFamily="2" charset="-78"/>
              </a:rPr>
              <a:t>fa-rī-qun</a:t>
            </a:r>
            <a:endParaRPr lang="en-US" sz="1350" dirty="0"/>
          </a:p>
        </p:txBody>
      </p:sp>
      <p:sp>
        <p:nvSpPr>
          <p:cNvPr id="38" name="Shape 3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فِرَقٌ</a:t>
            </a:r>
            <a:endParaRPr lang="ar-SA" sz="150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فَازَ بِـ</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won (a prize or title)</a:t>
            </a:r>
            <a:endParaRPr lang="en-US" sz="1350" dirty="0"/>
          </a:p>
          <a:p>
            <a:pPr indent="0" marL="0">
              <a:buNone/>
            </a:pPr>
            <a:r>
              <a:rPr lang="en-US" sz="1100" i="1" dirty="0">
                <a:solidFill>
                  <a:srgbClr val="5A6472"/>
                </a:solidFill>
                <a:latin typeface="Calibri" pitchFamily="34" charset="0"/>
                <a:cs typeface="Amiri" pitchFamily="2" charset="-78"/>
              </a:rPr>
              <a:t>fā-za bi</a:t>
            </a:r>
            <a:endParaRPr lang="en-US" sz="1350" dirty="0"/>
          </a:p>
        </p:txBody>
      </p:sp>
      <p:sp>
        <p:nvSpPr>
          <p:cNvPr id="48" name="Text 45"/>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t>
            </a:r>
            <a:pPr algn="l" indent="0" marL="0">
              <a:buNone/>
            </a:pPr>
            <a:r>
              <a:rPr lang="ar-SA" altLang="en-US" sz="1300" dirty="0">
                <a:solidFill>
                  <a:srgbClr val="8A6D1E"/>
                </a:solidFill>
                <a:latin typeface="Amiri" pitchFamily="2" charset="-78"/>
                <a:ea typeface="Amiri" pitchFamily="2" charset="-78"/>
                <a:cs typeface="Amiri" pitchFamily="2" charset="-78"/>
              </a:rPr>
              <a:t>بِـ</a:t>
            </a:r>
            <a:pPr algn="l" indent="0" marL="0">
              <a:buNone/>
            </a:pPr>
            <a:r>
              <a:rPr lang="en-US" sz="1000" i="1" dirty="0">
                <a:solidFill>
                  <a:srgbClr val="8A6D1E"/>
                </a:solidFill>
                <a:latin typeface="Calibri" pitchFamily="34" charset="0"/>
                <a:cs typeface="Amiri" pitchFamily="2" charset="-78"/>
              </a:rPr>
              <a:t>‏ introduces what was won.</a:t>
            </a:r>
            <a:endParaRPr lang="en-US" sz="100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2" name="Shape 49"/>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a:t>
            </a:r>
            <a:endParaRPr lang="en-US" sz="8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خَسِرَ</a:t>
            </a:r>
            <a:endParaRPr lang="ar-SA" sz="3000" dirty="0"/>
          </a:p>
        </p:txBody>
      </p:sp>
      <p:sp>
        <p:nvSpPr>
          <p:cNvPr id="57" name="Text 5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lost</a:t>
            </a:r>
            <a:endParaRPr lang="en-US" sz="1350" dirty="0"/>
          </a:p>
          <a:p>
            <a:pPr indent="0" marL="0">
              <a:buNone/>
            </a:pPr>
            <a:r>
              <a:rPr lang="en-US" sz="1100" i="1" dirty="0">
                <a:solidFill>
                  <a:srgbClr val="5A6472"/>
                </a:solidFill>
                <a:latin typeface="Calibri" pitchFamily="34" charset="0"/>
                <a:cs typeface="Amiri" pitchFamily="2" charset="-78"/>
              </a:rPr>
              <a:t>kha-si-ra</a:t>
            </a:r>
            <a:endParaRPr lang="en-US" sz="1350" dirty="0"/>
          </a:p>
        </p:txBody>
      </p:sp>
      <p:sp>
        <p:nvSpPr>
          <p:cNvPr id="58" name="Shape 55"/>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0" name="Text 57"/>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خَسِرَتْ</a:t>
            </a:r>
            <a:endParaRPr lang="ar-SA" sz="150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4" name="Shape 6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يُعْجِبُنِي</a:t>
            </a:r>
            <a:endParaRPr lang="ar-SA" sz="3000" dirty="0"/>
          </a:p>
        </p:txBody>
      </p:sp>
      <p:sp>
        <p:nvSpPr>
          <p:cNvPr id="67" name="Text 6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admire it (lit. it pleases me)</a:t>
            </a:r>
            <a:endParaRPr lang="en-US" sz="1350" dirty="0"/>
          </a:p>
          <a:p>
            <a:pPr indent="0" marL="0">
              <a:buNone/>
            </a:pPr>
            <a:r>
              <a:rPr lang="en-US" sz="1100" i="1" dirty="0">
                <a:solidFill>
                  <a:srgbClr val="5A6472"/>
                </a:solidFill>
                <a:latin typeface="Calibri" pitchFamily="34" charset="0"/>
                <a:cs typeface="Amiri" pitchFamily="2" charset="-78"/>
              </a:rPr>
              <a:t>yuʿ-ji-bu-nī</a:t>
            </a:r>
            <a:endParaRPr lang="en-US" sz="1350" dirty="0"/>
          </a:p>
        </p:txBody>
      </p:sp>
      <p:sp>
        <p:nvSpPr>
          <p:cNvPr id="68" name="Text 65"/>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thing admired is the subject.</a:t>
            </a:r>
            <a:endParaRPr lang="en-US" sz="100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أَلْعَبُ … · أُمَارِسُ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 لَاعِبٌ / لَاعِبَةٌ مَشْهُورٌ / مَشْهُورَةٌ</a:t>
            </a:r>
            <a:endParaRPr lang="ar-SA" sz="17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فَازَ / فَازَتْ بِ… · فَازَ / فَازَتْ عَلَى …</a:t>
            </a:r>
            <a:endParaRPr lang="ar-SA" sz="155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أَعْزِفُ عَلَى … · أَسْتَمِعُ إِلَى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مَرَّتَيْنِ / ثَلَاثَ مَرَّاتٍ فِي الأُسْبُوعِ</a:t>
            </a:r>
            <a:endParaRPr lang="ar-SA" sz="175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عَلَى اللَّاعِبِ أَنْ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أُعْجَبُ بِهِ / بِهَا لِأَنَّ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 عَلَى … لِأَنَّ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D5-L01 · Hobbies and Free Time — Vocabulary and Present Habits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D5-L02 · Sport — Vocabulary, Famous Athletes and Cultural Context</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D5-L01 · Hobbies and Free Time — Vocabulary and Present Habits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أَلْعَبُ … · أُمَارِسُ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أَعْزِفُ عَلَى … · أَسْتَمِعُ إِلَى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مَرَّتَيْنِ / ثَلَاثَ مَرَّاتٍ فِي الأُسْبُوعِ</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 عَلَى … لِأَنَّ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D5-L02 · Sport — Vocabulary, Famous Athletes and Cultural Context</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لَاعِبٌ / لَاعِبَةٌ مَشْهُورٌ / مَشْهُورَةٌ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فَازَ / فَازَتْ بِ… · فَازَ / فَازَتْ عَلَى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عَلَى اللَّاعِبِ أَنْ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أُعْجَبُ بِهِ / بِهَا لِأَنَّ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football club stand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عِنْدَ جَنَاحِ نَادِي كُرَةِ القَدَمِ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are your hobbies?</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 هِوَايَاتُكِ؟</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play football twice a week, and I play the oud.</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أَلْعَبُ كُرَةَ القَدَمِ مَرَّتَيْنِ فِي الأُسْبُوعِ، وَأَعْزِفُ عَلَى العُودِ.</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player do you admire?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مَنِ اللَّاعِبُ الَّذِي تُعْجَبِينَ بِهِ؟</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admire a Moroccan player; she has won many awards with her team.</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أُعْجَبُ بِلَاعِبَةٍ مَغْرِبِيَّةٍ؛ فَازَتْ بِجَوَائِزَ كَثِيرَةٍ مَعَ فَرِيقِهَا.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do you prefer playing or watching?</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وَهَلْ تُفَضِّلِينَ اللَّعِبَ أَمِ المُشَاهَدَةَ؟</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prefer playing to watching, because it gives me energy.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أُفَضِّلُ اللَّعِبَ عَلَى المُشَاهَدَةِ، لِأَنَّهُ يُعْطِينِي طَاقَةً.</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وَأُحِبُّ أَيْضًا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أَلْعَبُ … / أَرْسُمُ … / أَقْرَأُ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are your hobbies?</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هِوَايَاتُكَ؟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أَلْعَبُهَا / أُشَاهِدُهَا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رِيَاضَتِي المُفَضَّلَةُ … لِأَنَّهَا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sport?</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رِيَاضَتُكَ المُفَضَّلَةُ؟</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56648" y="3496056"/>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نَعَمْ، أَعْزِفُ عَلَى … / لَا، وَلٰكِنْ أَسْتَمِعُ إِلَى …</a:t>
            </a:r>
            <a:endParaRPr lang="ar-SA" sz="13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play an instrument?</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تَعْزِفُ عَلَى آلَةٍ مُوسِيقِيَّةٍ؟</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فَازَ / فَازَتْ بِ…</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أُعْجَبُ بِ… لِأَنَّهُ / لِأَنَّهَا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athlete do you admire?</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الرِّيَاضِيُّ الَّذِي تُعْجَبُ بِهِ؟</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عَادَةً فِي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أُمَارِسُ الرِّيَاضَةَ … مَرَّاتٍ فِي الأُسْبُوعِ</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 do you do sport?</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مَرَّةً تُمَارِسُ الرِّيَاضَةَ؟</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بِنَتِيجَةِ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فَازَ … عَلَى … / تَعَادَلَ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happened in the last match you watched?</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حَدَثَ فِي آخِرِ مُبَارَاةٍ شَاهَدْتَهَا؟</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D5-L01, even numbers from D5-L02.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Role-play card — recruiting for your club</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نُسَجِّلُ أَعْضَاءً جُدُدًا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نَادِي … ؛ نُمَارِسُ / نَلْعَبُ / نَعْزِفُ عَلَى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club + the right verb.</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نَادِيكَ؟ وَمَاذَا تَفْعَلُونَ فِيهِ؟</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يَجِبُ عَلَى اللَّاعِبِ أَنْ … · مَمْنُوعٌ أَنْ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rules.</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قَوَاعِدُ اللُّعْبَةِ؟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result with ‏</a:t>
            </a:r>
            <a:pPr algn="l" indent="0" marL="0">
              <a:buNone/>
            </a:pPr>
            <a:r>
              <a:rPr lang="ar-SA" altLang="en-US" sz="1450" dirty="0">
                <a:solidFill>
                  <a:srgbClr val="5A6472"/>
                </a:solidFill>
                <a:latin typeface="Amiri" pitchFamily="2" charset="-78"/>
                <a:ea typeface="Amiri" pitchFamily="2" charset="-78"/>
                <a:cs typeface="Amiri" pitchFamily="2" charset="-78"/>
              </a:rPr>
              <a:t>فَازَ عَلَى / خَسِرَ / تَعَادَلَ</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كَانَتْ نَتِيجَةُ آخِرِ مُبَارَاةٍ؟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athlete + an achievement + a reason.</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الرِّيَاضِيُّ الَّذِي تُعْجَبُ بِهِ؟ لِمَاذَا؟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Persuade with a preference and a reason.</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أَنَا أُفَضِّلُ الرَّسْمَ. لِمَاذَا أَنْضَمُّ إِلَى نَادِيكُمْ؟</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club captain · Partner A = a student at the fair.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hobbies and my sporting hero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هِوَايَاتِي وَبَطَلِي الرِّيَاضِيُّ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three hobbies with the right verbs and how often, who you do them with, one preference with a reason, then a sporting hero — their sport, two results and why you admire them.</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أَلْعَبُ … · أَعْزِفُ عَلَى … · أَسْتَمِعُ إِلَى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frequency (‏</a:t>
            </a:r>
            <a:pPr algn="l" indent="0" marL="0">
              <a:buNone/>
            </a:pPr>
            <a:r>
              <a:rPr lang="ar-SA" altLang="en-US" sz="1500" dirty="0">
                <a:solidFill>
                  <a:srgbClr val="1F2A37"/>
                </a:solidFill>
                <a:latin typeface="Amiri" pitchFamily="2" charset="-78"/>
                <a:ea typeface="Amiri" pitchFamily="2" charset="-78"/>
                <a:cs typeface="Amiri" pitchFamily="2" charset="-78"/>
              </a:rPr>
              <a:t>مَرَّتَيْنِ فِي الأُسْبُوعِ</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أُفَضِّلُ … عَلَى … لِأَنَّ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فَازَ بِ… / فَازَ عَلَى</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أُعْجَبُ بِهِ / بِهَا لِأَنَّ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play the oud twice a week.</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أَعْزِفُ</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أَلْعَبُ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العُودِ</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العُودَ</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مَرَّتَيْنِ فِي الأُسْبُوعِ.</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مَرَّتَانِ فِي الأُسْبُوعِ.</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Egypt won the championship.</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فَازَتْ</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فَازَ</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مِصْرُ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مِصْرَ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بِالبُطُولَةِ.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البُطُولَةِ.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brother listens to the radio.</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يَسْتَمِعُ أَخِي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يَسْتَمِعُ أَخُو</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الرَّادْيُو.</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بِالرَّادْيُو.</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play the oud twice a week.</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Instrument → </a:t>
            </a:r>
            <a:pPr algn="l" indent="0" marL="0">
              <a:buNone/>
            </a:pPr>
            <a:r>
              <a:rPr lang="ar-SA" altLang="en-US" sz="1350" dirty="0">
                <a:solidFill>
                  <a:srgbClr val="5A6472"/>
                </a:solidFill>
                <a:latin typeface="Amiri" pitchFamily="2" charset="-78"/>
                <a:ea typeface="Amiri" pitchFamily="2" charset="-78"/>
                <a:cs typeface="Amiri" pitchFamily="2" charset="-78"/>
              </a:rPr>
              <a:t>أَعْزِفُ عَلَى</a:t>
            </a:r>
            <a:pPr algn="l" indent="0" marL="0">
              <a:buNone/>
            </a:pPr>
            <a:r>
              <a:rPr lang="en-US" sz="1050" i="1" dirty="0">
                <a:solidFill>
                  <a:srgbClr val="5A6472"/>
                </a:solidFill>
                <a:latin typeface="Calibri" pitchFamily="34" charset="0"/>
                <a:cs typeface="Amiri" pitchFamily="2" charset="-78"/>
              </a:rPr>
              <a:t>; twice = </a:t>
            </a:r>
            <a:pPr algn="l" indent="0" marL="0">
              <a:buNone/>
            </a:pPr>
            <a:r>
              <a:rPr lang="ar-SA" altLang="en-US" sz="1350" dirty="0">
                <a:solidFill>
                  <a:srgbClr val="5A6472"/>
                </a:solidFill>
                <a:latin typeface="Amiri" pitchFamily="2" charset="-78"/>
                <a:ea typeface="Amiri" pitchFamily="2" charset="-78"/>
                <a:cs typeface="Amiri" pitchFamily="2" charset="-78"/>
              </a:rPr>
              <a:t>مَرَّتَيْنِ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أَعْزِفُ عَلَى العُودِ مَرَّتَيْنِ فِي الأُسْبُوعِ.</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Egypt won the championship.</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Win a title = </a:t>
            </a:r>
            <a:pPr algn="l" indent="0" marL="0">
              <a:buNone/>
            </a:pPr>
            <a:r>
              <a:rPr lang="ar-SA" altLang="en-US" sz="1350" dirty="0">
                <a:solidFill>
                  <a:srgbClr val="5A6472"/>
                </a:solidFill>
                <a:latin typeface="Amiri" pitchFamily="2" charset="-78"/>
                <a:ea typeface="Amiri" pitchFamily="2" charset="-78"/>
                <a:cs typeface="Amiri" pitchFamily="2" charset="-78"/>
              </a:rPr>
              <a:t>فَازَ بِ</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مِصْرُ</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فَازَتْ</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فَازَتْ مِصْرُ بِالبُطُولَةِ.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brother listens to the radio.</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يَسْتَمِعُ إِلَى</a:t>
            </a:r>
            <a:pPr algn="l" indent="0" marL="0">
              <a:buNone/>
            </a:pPr>
            <a:r>
              <a:rPr lang="en-US" sz="1050" i="1" dirty="0">
                <a:solidFill>
                  <a:srgbClr val="5A6472"/>
                </a:solidFill>
                <a:latin typeface="Calibri" pitchFamily="34" charset="0"/>
                <a:cs typeface="Amiri" pitchFamily="2" charset="-78"/>
              </a:rPr>
              <a:t> …</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يَسْتَمِعُ أَخِي إِلَى الرَّادْيُو.</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أَلْعَبُ عَلَى الجِيتَارِ.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Instruments take another verb.</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فَازَ الفَرِيقُ بِالفَرِيقِ الآخَرِ.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Win a title or beat a team?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أَسْتَمِعُ المُوسِيقَى كُلَّ يَوْمٍ.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أَلْعَبُ عَلَى الجِيتَارِ.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أَعْزِفُ عَلَى الجِيتَارِ.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يَعْزِفُ عَلَى</a:t>
            </a:r>
            <a:pPr algn="l" indent="0" marL="0">
              <a:buNone/>
            </a:pPr>
            <a:r>
              <a:rPr lang="en-US" sz="1150" b="1" dirty="0">
                <a:solidFill>
                  <a:srgbClr val="1B3B6F"/>
                </a:solidFill>
                <a:latin typeface="Calibri" pitchFamily="34" charset="0"/>
                <a:cs typeface="Amiri" pitchFamily="2" charset="-78"/>
              </a:rPr>
              <a:t>‏ + instrument.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فَازَ الفَرِيقُ بِالفَرِيقِ الآخَرِ.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فَازَ الفَرِيقُ عَلَى الفَرِيقِ الآخَرِ.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Beat → ‏</a:t>
            </a:r>
            <a:pPr algn="l" indent="0" marL="0">
              <a:buNone/>
            </a:pPr>
            <a:r>
              <a:rPr lang="ar-SA" altLang="en-US" sz="1500" b="1" dirty="0">
                <a:solidFill>
                  <a:srgbClr val="1B3B6F"/>
                </a:solidFill>
                <a:latin typeface="Amiri" pitchFamily="2" charset="-78"/>
                <a:ea typeface="Amiri" pitchFamily="2" charset="-78"/>
                <a:cs typeface="Amiri" pitchFamily="2" charset="-78"/>
              </a:rPr>
              <a:t>فَازَ عَلَى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أَسْتَمِعُ المُوسِيقَى كُلَّ يَوْمٍ.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أَسْتَمِعُ إِلَى المُوسِيقَى كُلَّ يَوْمٍ.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يَسْتَمِعُ إِلَى …</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فَازَ / فَازَتْ بِ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won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انْضَمُّوا إِلَيْنَا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Join us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نَادِي ______ نَلْعَبُ / نُمَارِسُ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 club we play / practise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نَتَدَرَّبُ ______ فِي الأُسْبُوعِ.</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train … times a week.</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عَلَى اللَّاعِبِ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player must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فَازَ فَرِيقُنَا عَلَى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Our team beat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أُعْجَبُ بِ ______ لِأَنَّ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admire … because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أَلْعَبُ · أُمَارِسُ  ·  أَعْزِفُ عَلَى · أَسْتَمِعُ إِلَى  ·  مَرَّتَيْنِ فِي الأُسْبُوعِ  ·  يَجِبُ عَلَى اللَّاعِبِ أَنْ  ·  مَمْنُوعٌ أَنْ  ·  فَازَ عَلَى · خَسِرَ · تَعَادَلَ  ·  فَازَ بِجَائِزَةٍ  ·  أُعْجَبُ بِهِ · بِهَا</a:t>
            </a:r>
            <a:endParaRPr lang="ar-SA" sz="15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page for our club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صَفْحَةُ نَادِينَا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page (about 60–80 words) for your club on the school website. Include: • what members do, with the right verbs and frequency • two rules • the result of the last match or event (‏</a:t>
            </a:r>
            <a:pPr algn="l" indent="0" marL="0">
              <a:buNone/>
            </a:pPr>
            <a:r>
              <a:rPr lang="ar-SA" altLang="en-US" sz="1450" b="1" dirty="0">
                <a:solidFill>
                  <a:srgbClr val="1F2A37"/>
                </a:solidFill>
                <a:latin typeface="Amiri" pitchFamily="2" charset="-78"/>
                <a:ea typeface="Amiri" pitchFamily="2" charset="-78"/>
                <a:cs typeface="Amiri" pitchFamily="2" charset="-78"/>
              </a:rPr>
              <a:t>فَازَ عَلَى / خَسِرَ / تَعَادَلَ</a:t>
            </a:r>
            <a:pPr algn="l" indent="0" marL="0">
              <a:buNone/>
            </a:pPr>
            <a:r>
              <a:rPr lang="en-US" sz="1100" b="1" dirty="0">
                <a:solidFill>
                  <a:srgbClr val="1F2A37"/>
                </a:solidFill>
                <a:latin typeface="Calibri" pitchFamily="34" charset="0"/>
                <a:cs typeface="Amiri" pitchFamily="2" charset="-78"/>
              </a:rPr>
              <a:t>‏) • a famous athlete or artist you admire, one achievement and why • why students should join (a preference with a reason).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D5-L01 AND D5-L02.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نَلْعَبُ … · نُمَارِسُ … · نَعْزِفُ عَلَى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play … · we practise … · we play (an instrument)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مَرَّتَيْنِ / ثَلَاثَ مَرَّاتٍ فِي الأُسْبُوعِ</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twice / three times a week</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فَازَ فَرِيقُنَا عَلَى … · فَازَ بِ…</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our team beat … · won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أُعْجَبُ بِهِ / بِهَا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admire him / her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for every hobby (‏</a:t>
            </a:r>
            <a:pPr algn="l" indent="0" marL="0">
              <a:buNone/>
            </a:pPr>
            <a:r>
              <a:rPr lang="ar-SA" altLang="en-US" sz="1450" dirty="0">
                <a:solidFill>
                  <a:srgbClr val="5A6472"/>
                </a:solidFill>
                <a:latin typeface="Amiri" pitchFamily="2" charset="-78"/>
                <a:ea typeface="Amiri" pitchFamily="2" charset="-78"/>
                <a:cs typeface="Amiri" pitchFamily="2" charset="-78"/>
              </a:rPr>
              <a:t>أَلْعَبُ</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أَعْزِفُ عَلَى</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أَسْتَمِعُ إِلَى</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state a rule with ‏</a:t>
            </a:r>
            <a:pPr algn="l" indent="0" marL="0">
              <a:buNone/>
            </a:pPr>
            <a:r>
              <a:rPr lang="ar-SA" altLang="en-US" sz="1450" dirty="0">
                <a:solidFill>
                  <a:srgbClr val="5A6472"/>
                </a:solidFill>
                <a:latin typeface="Amiri" pitchFamily="2" charset="-78"/>
                <a:ea typeface="Amiri" pitchFamily="2" charset="-78"/>
                <a:cs typeface="Amiri" pitchFamily="2" charset="-78"/>
              </a:rPr>
              <a:t>أَنْ</a:t>
            </a:r>
            <a:pPr algn="l" indent="0" marL="0">
              <a:buNone/>
            </a:pPr>
            <a:r>
              <a:rPr lang="en-US" sz="1100" dirty="0">
                <a:solidFill>
                  <a:srgbClr val="5A6472"/>
                </a:solidFill>
                <a:latin typeface="Calibri" pitchFamily="34" charset="0"/>
                <a:cs typeface="Amiri" pitchFamily="2" charset="-78"/>
              </a:rPr>
              <a:t>‏ + -a and explain why you admire the athlete?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نَادِي كُرَةِ السَّلَّةِ؛ نَلْعَبُ مَرَّتَيْنِ فِي الأُسْبُوعِ، وَنُمَارِسُ تَمَارِينَ اللِّيَاقَةِ.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basketball club; we play twice a week, and we do fitness exercises.</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نَادِيكَ؟ وَمَاذَا تَفْعَلُونَ فِيهِ؟</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عَلَى اللَّاعِبِ أَنْ يَحْتَرِمَ الحَكَمَ، وَمَمْنُوعٌ أَنْ يَدْفَعَ الآخَرِينَ.</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player must respect the referee, and it is forbidden to push others.</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قَوَاعِدُ اللُّعْبَةِ؟</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فَازَ فَرِيقُنَا عَلَى مَدْرَسَةِ النُّورِ بِنَتِيجَةِ خَمْسِينَ مُقَابِلَ أَرْبَعِينَ.</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Our team beat Al-Nour School fifty to forty.</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كَانَتْ نَتِيجَةُ آخِرِ مُبَارَاةٍ؟</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أُعْجَبُ بِلَاعِبٍ مِصْرِيٍّ مَشْهُورٍ؛ فَازَ بِجَوَائِزَ كَثِيرَةٍ، وَأُعْجَبُ بِهِ لِأَنَّهُ مُتَوَاضِعٌ.</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admire a famous Egyptian player; he won many awards, and I admire him because he is humble.</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الرِّيَاضِيُّ الَّذِي تُعْجَبُ بِهِ؟ لِمَاذَا؟</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الرَّسْمُ جَمِيلٌ، وَلٰكِنَّ الرِّيَاضَةَ أَكْثَرُ حَرَكَةً؛ تَعَالَ مَرَّةً وَاحِدَةً وَجَرِّبْ!</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Drawing is lovely, but sport has more movement; come once and try!</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أُفَضِّلُ الرَّسْمَ. لِمَاذَا أَنْضَمُّ إِلَى نَادِيكُمْ؟</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نَادِي كُرَةِ السَّلَّةِ نَلْعَبُ يَوْمَ الإِثْنَيْنِ وَيَوْمَ الخَمِيسِ، وَنُمَارِسُ تَمَارِينَ اللِّيَاقَةِ أَيْضًا. يَجِبُ عَلَى اللَّاعِبِ أَنْ يَحْتَرِمَ الحَكَمَ، وَمَمْنُوعٌ أَنْ يَدْفَعَ الآخَرِينَ. الأُسْبُوعَ المَاضِيَ فَازَ فَرِيقُنَا عَلَى مَدْرَسَةِ النُّورِ بِنَتِيجَةِ خَمْسِينَ مُقَابِلَ أَرْبَعِينَ. أُعْجَبُ بِلَاعِبَةِ سَلَّةٍ مَشْهُورَةٍ؛ فَازَتْ بِمِيدَالِيَّةٍ ذَهَبِيَّةٍ، وَأُعْجَبُ بِهَا لِأَنَّهَا مُجْتَهِدَةٌ. أُفَضِّلُ الرِّيَاضَةَ الجَمَاعِيَّةَ عَلَى الفَرْدِيَّةِ، لِأَنَّهَا تُعَلِّمُنَا التَّعَاوُنَ. انْضَمُّوا إِلَيْنَا!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the basketball club we play on Monday and Thursday, and we also do fitness exercises. A player must respect the referee, and it is forbidden to push others. Last week our team beat Al-Nour School fifty to forty. I admire a famous basketball player; she won a gold medal, and I admire her because she is hard-working. I prefer team sports to individual ones, because they teach us co-operation. Join us!”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عَلَى اللَّاعِبِ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فَازَ فَرِيقُنَا عَلَى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فَازَتْ بِمِيدَالِيَّةٍ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أُفَضِّلُ الرِّيَاضَةَ الجَمَاعِيَّةَ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D5-W01 · Apply workshop (D5-L01 + D5-L02)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D5-L01 and D5-L02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D5-W01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D5-L03 · The Past Tense — Form I Regular Singular Verbs</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الفِعْلُ المَاضِي — المُفْرَدُ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D5-W01 · Apply Workshop — The Clubs Fair: Hobbies and Heroes</dc:title>
  <dc:subject>PptxGenJS Presentation</dc:subject>
  <dc:creator>Al Madina Online School · Arabic Department</dc:creator>
  <cp:lastModifiedBy>Al Madina Online School · Arabic Department</cp:lastModifiedBy>
  <cp:revision>1</cp:revision>
  <dcterms:created xsi:type="dcterms:W3CDTF">2026-10-26T15:48:11Z</dcterms:created>
  <dcterms:modified xsi:type="dcterms:W3CDTF">2026-10-26T15:48:11Z</dcterms:modified>
</cp:coreProperties>
</file>