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D5-L03 · Learn D5-L04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D5-L03 (The Past Tense — Form I Regular Singular Verbs) and D5-L04 (Past Tense — Plural Forms and Irregular Verbs).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D5-L03 and D5-L04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D5-L03? After D5-L04?” Take two answers in the chat for each lesson (one word or one sentence is enough). Then read objective 3 — today’s new situation that needs BOTH lessons. Students tick their route goals at the end of the lesson.
D5-L03 language: one root, five endings: dhahabtu (I) · dhahabta (you m.) · dhahabti (you f.) · dhahaba (he) · dhahabat (she); opening with a past time expression (ams · al-usbūʿa al-māḍiya · mundhu usbūʿin · fī al-ʿuṭlati al-māḍiya); negative past with lam + jussive (lam adhhab)
D5-L04 language: plural past endings: -nā (we: laʿibnā) · -tum (you all: laʿibtum) · -ū (they: laʿibū); hollow verbs shorten before a consonant ending (qāla → qulnā · nāma → nimnā · zāra → zurnā); weak verbs (mashā → mashaynā · raʾā → raʾaynā); fix the stem, then add the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D5-L03.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D5-L04.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D5-L03 and D5-L04. Teacher reads it once with a confident student; then pairs. Ask: “Which lines are from D5-L03? Which from D5-L04?” Singular past endings (رَكَضْتُ · قَفَزَتْ) and لَمْ + jussive (لَمْ يُشَارِكْ) come from D5-L03; plural endings (لَعِبْنَا · قَالُوا) and irregular stems (فُزْتُ · رَأَيْنَا · مَشَيْنَا · رَمَتْ) from D5-L04.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singular past endings and لَمْ + jussive (D5-L03) with “we” and “they” endings and irregular stems (D5-L04). FADED SUPPORT: tasks 1–2 show the plan; students write their own plan for 3–5. To a girl Partner A says: مَاذَا فَعَلْتِ؟ · هَلْ هُنَاكَ شَيْءٌ لَمْ تَفْعَلِيهِ؟ — she answers with the same -tu endings.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D5-L03 and D5-L04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D5-L03 and D5-L04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(63 words). CHECK YOURSELF (2 min). Find each bullet point in the model, and one phrase from D5-L03 and one from D5-L04.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D5-L03 + D5-L04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D5-W02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Sports Day: What Happened?</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اليَوْمُ الرِّيَاضِيُّ: مَاذَا حَدَثَ؟</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join every past-tense person in one real event: after the school sports day they tell what they did (-tu), what a boy and a girl did (-a / -at), what “we” and “they” did (-nā / -ū) — including irregular stems (</a:t>
            </a:r>
            <a:pPr algn="l" indent="0" marL="0">
              <a:buNone/>
            </a:pPr>
            <a:r>
              <a:rPr lang="ar-SA" altLang="en-US" sz="1550" dirty="0">
                <a:solidFill>
                  <a:srgbClr val="C6D2E6"/>
                </a:solidFill>
                <a:latin typeface="Amiri" pitchFamily="2" charset="-78"/>
                <a:ea typeface="Amiri" pitchFamily="2" charset="-78"/>
                <a:cs typeface="Amiri" pitchFamily="2" charset="-78"/>
              </a:rPr>
              <a:t>مَشَيْنَا</a:t>
            </a:r>
            <a:pPr algn="l" indent="0" marL="0">
              <a:buNone/>
            </a:pPr>
            <a:r>
              <a:rPr lang="en-US" sz="1200" dirty="0">
                <a:solidFill>
                  <a:srgbClr val="C6D2E6"/>
                </a:solidFill>
                <a:latin typeface="Calibri" pitchFamily="34" charset="0"/>
                <a:cs typeface="Amiri" pitchFamily="2" charset="-78"/>
              </a:rPr>
              <a:t> · </a:t>
            </a:r>
            <a:pPr algn="l" indent="0" marL="0">
              <a:buNone/>
            </a:pPr>
            <a:r>
              <a:rPr lang="ar-SA" altLang="en-US" sz="1550" dirty="0">
                <a:solidFill>
                  <a:srgbClr val="C6D2E6"/>
                </a:solidFill>
                <a:latin typeface="Amiri" pitchFamily="2" charset="-78"/>
                <a:ea typeface="Amiri" pitchFamily="2" charset="-78"/>
                <a:cs typeface="Amiri" pitchFamily="2" charset="-78"/>
              </a:rPr>
              <a:t>رَأَيْنَا</a:t>
            </a:r>
            <a:pPr algn="l" indent="0" marL="0">
              <a:buNone/>
            </a:pPr>
            <a:r>
              <a:rPr lang="en-US" sz="1200" dirty="0">
                <a:solidFill>
                  <a:srgbClr val="C6D2E6"/>
                </a:solidFill>
                <a:latin typeface="Calibri" pitchFamily="34" charset="0"/>
                <a:cs typeface="Amiri" pitchFamily="2" charset="-78"/>
              </a:rPr>
              <a:t> · </a:t>
            </a:r>
            <a:pPr algn="l" indent="0" marL="0">
              <a:buNone/>
            </a:pPr>
            <a:r>
              <a:rPr lang="ar-SA" altLang="en-US" sz="1550" dirty="0">
                <a:solidFill>
                  <a:srgbClr val="C6D2E6"/>
                </a:solidFill>
                <a:latin typeface="Amiri" pitchFamily="2" charset="-78"/>
                <a:ea typeface="Amiri" pitchFamily="2" charset="-78"/>
                <a:cs typeface="Amiri" pitchFamily="2" charset="-78"/>
              </a:rPr>
              <a:t>قَالُوا</a:t>
            </a:r>
            <a:pPr algn="l" indent="0" marL="0">
              <a:buNone/>
            </a:pPr>
            <a:r>
              <a:rPr lang="en-US" sz="1200" dirty="0">
                <a:solidFill>
                  <a:srgbClr val="C6D2E6"/>
                </a:solidFill>
                <a:latin typeface="Calibri" pitchFamily="34" charset="0"/>
                <a:cs typeface="Amiri" pitchFamily="2" charset="-78"/>
              </a:rPr>
              <a:t>) and one negative with </a:t>
            </a:r>
            <a:pPr algn="l" indent="0" marL="0">
              <a:buNone/>
            </a:pPr>
            <a:r>
              <a:rPr lang="ar-SA" altLang="en-US" sz="1550" dirty="0">
                <a:solidFill>
                  <a:srgbClr val="C6D2E6"/>
                </a:solidFill>
                <a:latin typeface="Amiri" pitchFamily="2" charset="-78"/>
                <a:ea typeface="Amiri" pitchFamily="2" charset="-78"/>
                <a:cs typeface="Amiri" pitchFamily="2" charset="-78"/>
              </a:rPr>
              <a:t>لَمْ</a:t>
            </a:r>
            <a:pPr algn="l" indent="0" marL="0">
              <a:buNone/>
            </a:pPr>
            <a:r>
              <a:rPr lang="en-US" sz="1200" dirty="0">
                <a:solidFill>
                  <a:srgbClr val="C6D2E6"/>
                </a:solidFill>
                <a:latin typeface="Calibri" pitchFamily="34" charset="0"/>
                <a:cs typeface="Amiri" pitchFamily="2" charset="-78"/>
              </a:rPr>
              <a:t> — and write the sports-day report.</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D5-L03 + D5-L04</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D5-W02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D5-W02 · Apply workshop (D5-L03 + D5-L04)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D5-W02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D5-W02 · Apply workshop (D5-L03 + D5-L04)</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D5-L03 and D5-L04.</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D5-L03 + D5-L04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D5-W02 · Apply workshop (D5-L03 + D5-L04)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D5-L03: The Past Tense — Form I Regular Singular Verbs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D5-L04: Past Tense — Plural Forms and Irregular Verbs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school newsletter reporter · The sports-day report</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D5-W02 · Apply workshop (D5-L03 + D5-L04)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D5-L03 and D5-L04.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D5-L03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D5-L03 · The Past Tense — Form I Regular Singular Verbs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D5-W02 · Apply workshop (D5-L03 + D5-L04)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الفِعْلُ المَاضِي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past-tense verb</a:t>
            </a:r>
            <a:endParaRPr lang="en-US" sz="1350" dirty="0"/>
          </a:p>
          <a:p>
            <a:pPr indent="0" marL="0">
              <a:buNone/>
            </a:pPr>
            <a:r>
              <a:rPr lang="en-US" sz="1100" i="1" dirty="0">
                <a:solidFill>
                  <a:srgbClr val="5A6472"/>
                </a:solidFill>
                <a:latin typeface="Calibri" pitchFamily="34" charset="0"/>
                <a:cs typeface="Amiri" pitchFamily="2" charset="-78"/>
              </a:rPr>
              <a:t>al-fiʿ-lu al-mā-ḍī</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لَعِبَ</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played</a:t>
            </a:r>
            <a:endParaRPr lang="en-US" sz="1350" dirty="0"/>
          </a:p>
          <a:p>
            <a:pPr indent="0" marL="0">
              <a:buNone/>
            </a:pPr>
            <a:r>
              <a:rPr lang="en-US" sz="1100" i="1" dirty="0">
                <a:solidFill>
                  <a:srgbClr val="5A6472"/>
                </a:solidFill>
                <a:latin typeface="Calibri" pitchFamily="34" charset="0"/>
                <a:cs typeface="Amiri" pitchFamily="2" charset="-78"/>
              </a:rPr>
              <a:t>la-ʿi-ba</a:t>
            </a:r>
            <a:endParaRPr lang="en-US" sz="1350" dirty="0"/>
          </a:p>
        </p:txBody>
      </p:sp>
      <p:sp>
        <p:nvSpPr>
          <p:cNvPr id="31" name="Shape 2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3" name="Text 3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لَعِبَتْ</a:t>
            </a:r>
            <a:endParaRPr lang="ar-SA" sz="1500" dirty="0"/>
          </a:p>
        </p:txBody>
      </p:sp>
      <p:sp>
        <p:nvSpPr>
          <p:cNvPr id="34" name="Shape 3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6" name="Text 33"/>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لَعِبْتُ</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0" name="Shape 3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أَكَلَ</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ate</a:t>
            </a:r>
            <a:endParaRPr lang="en-US" sz="1350" dirty="0"/>
          </a:p>
          <a:p>
            <a:pPr indent="0" marL="0">
              <a:buNone/>
            </a:pPr>
            <a:r>
              <a:rPr lang="en-US" sz="1100" i="1" dirty="0">
                <a:solidFill>
                  <a:srgbClr val="5A6472"/>
                </a:solidFill>
                <a:latin typeface="Calibri" pitchFamily="34" charset="0"/>
                <a:cs typeface="Amiri" pitchFamily="2" charset="-78"/>
              </a:rPr>
              <a:t>a-ka-la</a:t>
            </a:r>
            <a:endParaRPr lang="en-US" sz="1350" dirty="0"/>
          </a:p>
        </p:txBody>
      </p:sp>
      <p:sp>
        <p:nvSpPr>
          <p:cNvPr id="46" name="Shape 4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8" name="Text 45"/>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أَكَلَتْ</a:t>
            </a:r>
            <a:endParaRPr lang="ar-SA" sz="1500" dirty="0"/>
          </a:p>
        </p:txBody>
      </p:sp>
      <p:sp>
        <p:nvSpPr>
          <p:cNvPr id="49" name="Shape 4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1" name="Text 48"/>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أَكَلْتُ</a:t>
            </a:r>
            <a:endParaRPr lang="ar-SA" sz="150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5" name="Shape 52"/>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6" name="Text 53"/>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57" name="Shape 5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قَرَأَ</a:t>
            </a:r>
            <a:endParaRPr lang="ar-SA" sz="3000" dirty="0"/>
          </a:p>
        </p:txBody>
      </p:sp>
      <p:sp>
        <p:nvSpPr>
          <p:cNvPr id="60" name="Text 5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read</a:t>
            </a:r>
            <a:endParaRPr lang="en-US" sz="1350" dirty="0"/>
          </a:p>
          <a:p>
            <a:pPr indent="0" marL="0">
              <a:buNone/>
            </a:pPr>
            <a:r>
              <a:rPr lang="en-US" sz="1100" i="1" dirty="0">
                <a:solidFill>
                  <a:srgbClr val="5A6472"/>
                </a:solidFill>
                <a:latin typeface="Calibri" pitchFamily="34" charset="0"/>
                <a:cs typeface="Amiri" pitchFamily="2" charset="-78"/>
              </a:rPr>
              <a:t>qa-ra-ʾa</a:t>
            </a:r>
            <a:endParaRPr lang="en-US" sz="1350" dirty="0"/>
          </a:p>
        </p:txBody>
      </p:sp>
      <p:sp>
        <p:nvSpPr>
          <p:cNvPr id="61" name="Shape 58"/>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3" name="Text 60"/>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قَرَأَتْ</a:t>
            </a:r>
            <a:endParaRPr lang="ar-SA" sz="1500" dirty="0"/>
          </a:p>
        </p:txBody>
      </p:sp>
      <p:sp>
        <p:nvSpPr>
          <p:cNvPr id="64" name="Shape 61"/>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6" name="Text 63"/>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قَرَأْتُ</a:t>
            </a:r>
            <a:endParaRPr lang="ar-SA" sz="1500" dirty="0"/>
          </a:p>
        </p:txBody>
      </p:sp>
      <p:sp>
        <p:nvSpPr>
          <p:cNvPr id="67" name="Shape 6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389120"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0" name="Shape 67"/>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72" name="Shape 6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4" name="Text 7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خَرَجَ</a:t>
            </a:r>
            <a:endParaRPr lang="ar-SA" sz="3000" dirty="0"/>
          </a:p>
        </p:txBody>
      </p:sp>
      <p:sp>
        <p:nvSpPr>
          <p:cNvPr id="75" name="Text 7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went out</a:t>
            </a:r>
            <a:endParaRPr lang="en-US" sz="1350" dirty="0"/>
          </a:p>
          <a:p>
            <a:pPr indent="0" marL="0">
              <a:buNone/>
            </a:pPr>
            <a:r>
              <a:rPr lang="en-US" sz="1100" i="1" dirty="0">
                <a:solidFill>
                  <a:srgbClr val="5A6472"/>
                </a:solidFill>
                <a:latin typeface="Calibri" pitchFamily="34" charset="0"/>
                <a:cs typeface="Amiri" pitchFamily="2" charset="-78"/>
              </a:rPr>
              <a:t>kha-ra-ja</a:t>
            </a:r>
            <a:endParaRPr lang="en-US" sz="1350" dirty="0"/>
          </a:p>
        </p:txBody>
      </p:sp>
      <p:sp>
        <p:nvSpPr>
          <p:cNvPr id="76" name="Shape 73"/>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8" name="Text 75"/>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خَرَجَتْ</a:t>
            </a:r>
            <a:endParaRPr lang="ar-SA" sz="1500" dirty="0"/>
          </a:p>
        </p:txBody>
      </p:sp>
      <p:sp>
        <p:nvSpPr>
          <p:cNvPr id="79" name="Shape 76"/>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1" name="Text 78"/>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خَرَجْتُ</a:t>
            </a:r>
            <a:endParaRPr lang="ar-SA" sz="1500" dirty="0"/>
          </a:p>
        </p:txBody>
      </p:sp>
      <p:sp>
        <p:nvSpPr>
          <p:cNvPr id="82" name="Shape 7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566928" y="4261104"/>
            <a:ext cx="310896" cy="310896"/>
          </a:xfrm>
          <a:prstGeom prst="ellipse">
            <a:avLst/>
          </a:prstGeom>
          <a:solidFill>
            <a:srgbClr val="F4F1EA"/>
          </a:solidFill>
          <a:ln w="12700">
            <a:solidFill>
              <a:srgbClr val="F4F1EA"/>
            </a:solidFill>
            <a:prstDash val="solid"/>
          </a:ln>
        </p:spPr>
      </p:sp>
      <p:sp>
        <p:nvSpPr>
          <p:cNvPr id="84" name="Text 8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5" name="Shape 8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6" name="Text 8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7" name="Text 8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الأُسْبُوعَ المَاضِيَ</a:t>
            </a:r>
            <a:endParaRPr lang="ar-SA" sz="3000" dirty="0"/>
          </a:p>
        </p:txBody>
      </p:sp>
      <p:sp>
        <p:nvSpPr>
          <p:cNvPr id="88" name="Text 8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last week</a:t>
            </a:r>
            <a:endParaRPr lang="en-US" sz="1350" dirty="0"/>
          </a:p>
          <a:p>
            <a:pPr indent="0" marL="0">
              <a:buNone/>
            </a:pPr>
            <a:r>
              <a:rPr lang="en-US" sz="1100" i="1" dirty="0">
                <a:solidFill>
                  <a:srgbClr val="5A6472"/>
                </a:solidFill>
                <a:latin typeface="Calibri" pitchFamily="34" charset="0"/>
                <a:cs typeface="Amiri" pitchFamily="2" charset="-78"/>
              </a:rPr>
              <a:t>al-us-bū-ʿa al-mā-ḍi-ya</a:t>
            </a:r>
            <a:endParaRPr lang="en-US" sz="1350" dirty="0"/>
          </a:p>
        </p:txBody>
      </p:sp>
      <p:sp>
        <p:nvSpPr>
          <p:cNvPr id="89" name="Text 86"/>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Adverbial, so it is accusative.</a:t>
            </a:r>
            <a:endParaRPr lang="en-US" sz="100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D5-L04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D5-L04 · Past Tense — Plural Forms and Irregular Verbs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D5-W02 · Apply workshop (D5-L03 + D5-L04)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فَعَلْنَا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did</a:t>
            </a:r>
            <a:endParaRPr lang="en-US" sz="1350" dirty="0"/>
          </a:p>
          <a:p>
            <a:pPr indent="0" marL="0">
              <a:buNone/>
            </a:pPr>
            <a:r>
              <a:rPr lang="en-US" sz="1100" i="1" dirty="0">
                <a:solidFill>
                  <a:srgbClr val="5A6472"/>
                </a:solidFill>
                <a:latin typeface="Calibri" pitchFamily="34" charset="0"/>
                <a:cs typeface="Amiri" pitchFamily="2" charset="-78"/>
              </a:rPr>
              <a:t>fa-ʿal-nā</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a:t>
            </a:r>
            <a:pPr algn="l" indent="0" marL="0">
              <a:buNone/>
            </a:pPr>
            <a:r>
              <a:rPr lang="ar-SA" altLang="en-US" sz="1300" dirty="0">
                <a:solidFill>
                  <a:srgbClr val="8A6D1E"/>
                </a:solidFill>
                <a:latin typeface="Amiri" pitchFamily="2" charset="-78"/>
                <a:ea typeface="Amiri" pitchFamily="2" charset="-78"/>
                <a:cs typeface="Amiri" pitchFamily="2" charset="-78"/>
              </a:rPr>
              <a:t>نَحْنُ</a:t>
            </a:r>
            <a:pPr algn="l" indent="0" marL="0">
              <a:buNone/>
            </a:pPr>
            <a:r>
              <a:rPr lang="en-US" sz="1000" i="1" dirty="0">
                <a:solidFill>
                  <a:srgbClr val="8A6D1E"/>
                </a:solidFill>
                <a:latin typeface="Calibri" pitchFamily="34" charset="0"/>
                <a:cs typeface="Amiri" pitchFamily="2" charset="-78"/>
              </a:rPr>
              <a:t>‏ suffix is ‏</a:t>
            </a:r>
            <a:pPr algn="l" indent="0" marL="0">
              <a:buNone/>
            </a:pPr>
            <a:r>
              <a:rPr lang="ar-SA" altLang="en-US" sz="1300" dirty="0">
                <a:solidFill>
                  <a:srgbClr val="8A6D1E"/>
                </a:solidFill>
                <a:latin typeface="Amiri" pitchFamily="2" charset="-78"/>
                <a:ea typeface="Amiri" pitchFamily="2" charset="-78"/>
                <a:cs typeface="Amiri" pitchFamily="2" charset="-78"/>
              </a:rPr>
              <a:t>ـنَا</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فَعَلُوا</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they did</a:t>
            </a:r>
            <a:endParaRPr lang="en-US" sz="1350" dirty="0"/>
          </a:p>
          <a:p>
            <a:pPr indent="0" marL="0">
              <a:buNone/>
            </a:pPr>
            <a:r>
              <a:rPr lang="en-US" sz="1100" i="1" dirty="0">
                <a:solidFill>
                  <a:srgbClr val="5A6472"/>
                </a:solidFill>
                <a:latin typeface="Calibri" pitchFamily="34" charset="0"/>
                <a:cs typeface="Amiri" pitchFamily="2" charset="-78"/>
              </a:rPr>
              <a:t>fa-ʿa-lū</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a:t>
            </a:r>
            <a:pPr algn="l" indent="0" marL="0">
              <a:buNone/>
            </a:pPr>
            <a:r>
              <a:rPr lang="ar-SA" altLang="en-US" sz="1300" dirty="0">
                <a:solidFill>
                  <a:srgbClr val="8A6D1E"/>
                </a:solidFill>
                <a:latin typeface="Amiri" pitchFamily="2" charset="-78"/>
                <a:ea typeface="Amiri" pitchFamily="2" charset="-78"/>
                <a:cs typeface="Amiri" pitchFamily="2" charset="-78"/>
              </a:rPr>
              <a:t>هُمْ</a:t>
            </a:r>
            <a:pPr algn="l" indent="0" marL="0">
              <a:buNone/>
            </a:pPr>
            <a:r>
              <a:rPr lang="en-US" sz="1000" i="1" dirty="0">
                <a:solidFill>
                  <a:srgbClr val="8A6D1E"/>
                </a:solidFill>
                <a:latin typeface="Calibri" pitchFamily="34" charset="0"/>
                <a:cs typeface="Amiri" pitchFamily="2" charset="-78"/>
              </a:rPr>
              <a:t>‏ suffix is ‏</a:t>
            </a:r>
            <a:pPr algn="l" indent="0" marL="0">
              <a:buNone/>
            </a:pPr>
            <a:r>
              <a:rPr lang="ar-SA" altLang="en-US" sz="1300" dirty="0">
                <a:solidFill>
                  <a:srgbClr val="8A6D1E"/>
                </a:solidFill>
                <a:latin typeface="Amiri" pitchFamily="2" charset="-78"/>
                <a:ea typeface="Amiri" pitchFamily="2" charset="-78"/>
                <a:cs typeface="Amiri" pitchFamily="2" charset="-78"/>
              </a:rPr>
              <a:t>ـُوا</a:t>
            </a:r>
            <a:pPr algn="l" indent="0" marL="0">
              <a:buNone/>
            </a:pPr>
            <a:r>
              <a:rPr lang="en-US" sz="1000" i="1" dirty="0">
                <a:solidFill>
                  <a:srgbClr val="8A6D1E"/>
                </a:solidFill>
                <a:latin typeface="Calibri" pitchFamily="34" charset="0"/>
                <a:cs typeface="Amiri" pitchFamily="2" charset="-78"/>
              </a:rPr>
              <a:t>‏; the alif is silent.</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لَعِبُوا</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they played</a:t>
            </a:r>
            <a:endParaRPr lang="en-US" sz="1350" dirty="0"/>
          </a:p>
          <a:p>
            <a:pPr indent="0" marL="0">
              <a:buNone/>
            </a:pPr>
            <a:r>
              <a:rPr lang="en-US" sz="1100" i="1" dirty="0">
                <a:solidFill>
                  <a:srgbClr val="5A6472"/>
                </a:solidFill>
                <a:latin typeface="Calibri" pitchFamily="34" charset="0"/>
                <a:cs typeface="Amiri" pitchFamily="2" charset="-78"/>
              </a:rPr>
              <a:t>la-ʿi-bū</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نَامَ ← نِمْنَا</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slept → we slept</a:t>
            </a:r>
            <a:endParaRPr lang="en-US" sz="1350" dirty="0"/>
          </a:p>
          <a:p>
            <a:pPr indent="0" marL="0">
              <a:buNone/>
            </a:pPr>
            <a:r>
              <a:rPr lang="en-US" sz="1100" i="1" dirty="0">
                <a:solidFill>
                  <a:srgbClr val="5A6472"/>
                </a:solidFill>
                <a:latin typeface="Calibri" pitchFamily="34" charset="0"/>
                <a:cs typeface="Amiri" pitchFamily="2" charset="-78"/>
              </a:rPr>
              <a:t>nā-ma ← nim-nā</a:t>
            </a:r>
            <a:endParaRPr lang="en-US" sz="1350" dirty="0"/>
          </a:p>
        </p:txBody>
      </p:sp>
      <p:sp>
        <p:nvSpPr>
          <p:cNvPr id="45" name="Text 42"/>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Hollow with a kasra base vowel.</a:t>
            </a:r>
            <a:endParaRPr lang="en-US" sz="1000" dirty="0"/>
          </a:p>
        </p:txBody>
      </p:sp>
      <p:sp>
        <p:nvSpPr>
          <p:cNvPr id="46" name="Shape 4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4389120"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9" name="Shape 46"/>
          <p:cNvSpPr/>
          <p:nvPr/>
        </p:nvSpPr>
        <p:spPr>
          <a:xfrm>
            <a:off x="4782312" y="4279392"/>
            <a:ext cx="958291"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4782312"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Weak-final.</a:t>
            </a:r>
            <a:endParaRPr lang="en-US" sz="800" dirty="0"/>
          </a:p>
        </p:txBody>
      </p:sp>
      <p:sp>
        <p:nvSpPr>
          <p:cNvPr id="51" name="Shape 4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مَشَى ← مَشَيْنَا</a:t>
            </a:r>
            <a:endParaRPr lang="ar-SA" sz="3000" dirty="0"/>
          </a:p>
        </p:txBody>
      </p:sp>
      <p:sp>
        <p:nvSpPr>
          <p:cNvPr id="54" name="Text 5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walked → we walked</a:t>
            </a:r>
            <a:endParaRPr lang="en-US" sz="1350" dirty="0"/>
          </a:p>
          <a:p>
            <a:pPr indent="0" marL="0">
              <a:buNone/>
            </a:pPr>
            <a:r>
              <a:rPr lang="en-US" sz="1100" i="1" dirty="0">
                <a:solidFill>
                  <a:srgbClr val="5A6472"/>
                </a:solidFill>
                <a:latin typeface="Calibri" pitchFamily="34" charset="0"/>
                <a:cs typeface="Amiri" pitchFamily="2" charset="-78"/>
              </a:rPr>
              <a:t>ma-shā ← ma-shay-nā</a:t>
            </a:r>
            <a:endParaRPr lang="en-US" sz="135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8" name="Shape 55"/>
          <p:cNvSpPr/>
          <p:nvPr/>
        </p:nvSpPr>
        <p:spPr>
          <a:xfrm>
            <a:off x="960120" y="4279392"/>
            <a:ext cx="1642262"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960120" y="4279392"/>
            <a:ext cx="164226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 narrative connector.</a:t>
            </a:r>
            <a:endParaRPr lang="en-US" sz="800" dirty="0"/>
          </a:p>
        </p:txBody>
      </p:sp>
      <p:sp>
        <p:nvSpPr>
          <p:cNvPr id="60" name="Shape 5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2" name="Text 5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فَجْأَةً</a:t>
            </a:r>
            <a:endParaRPr lang="ar-SA" sz="3000" dirty="0"/>
          </a:p>
        </p:txBody>
      </p:sp>
      <p:sp>
        <p:nvSpPr>
          <p:cNvPr id="63" name="Text 6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suddenly</a:t>
            </a:r>
            <a:endParaRPr lang="en-US" sz="1350" dirty="0"/>
          </a:p>
          <a:p>
            <a:pPr indent="0" marL="0">
              <a:buNone/>
            </a:pPr>
            <a:r>
              <a:rPr lang="en-US" sz="1100" i="1" dirty="0">
                <a:solidFill>
                  <a:srgbClr val="5A6472"/>
                </a:solidFill>
                <a:latin typeface="Calibri" pitchFamily="34" charset="0"/>
                <a:cs typeface="Amiri" pitchFamily="2" charset="-78"/>
              </a:rPr>
              <a:t>faj-ʾa-tan</a:t>
            </a:r>
            <a:endParaRPr lang="en-US" sz="13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D5-W02 · Apply workshop (D5-L03 + D5-L04)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يَوْمَ السَّبْتِ ذَهَبْتُ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ذَهَبْنَا إِلَى … بِ…</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زُرْنَا … · رَأَيْنَا … · مَشَيْنَا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ثُمَّ … · بَعْدَ ذٰلِكَ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أَخِي لَعِبَ … · أُخْتِي رَسَمَتْ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شَرَحَ المُرْشِدُ … · سَاعَدَنَا المُعَلِّمُونَ …</a:t>
            </a:r>
            <a:endParaRPr lang="ar-SA" sz="155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قَالُوا إِنَّ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 أَ… لِأَنَّ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D5-L03 · The Past Tense — Form I Regular Singular Verbs</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D5-L04 · Past Tense — Plural Forms and Irregular Verbs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D5-W02 · Apply workshop (D5-L03 + D5-L04)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D5-L03 · The Past Tense — Form I Regular Singular Verbs</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يَوْمَ السَّبْتِ ذَهَبْتُ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ثُمَّ … · بَعْدَ ذٰلِكَ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أَخِي لَعِبَ … · أُخْتِي رَسَمَتْ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 أَ… لِأَنَّ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D5-L04 · Past Tense — Plural Forms and Irregular Verbs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ذَهَبْنَا إِلَى … بِ…</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زُرْنَا … · رَأَيْنَا … · مَشَيْنَا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شَرَحَ المُرْشِدُ … · سَاعَدَنَا المُعَلِّمُونَ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قَالُوا إِنَّ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day after sports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بَعْدَ اليَوْمِ الرِّيَاضِيِّ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D5-W02 · Apply workshop (D5-L03 + D5-L04)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 do on sports day?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مَاذَا فَعَلْتِ فِي اليَوْمِ الرِّيَاضِيِّ؟</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ran in the hundred-metre race, and I won the silver medal!</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رَكَضْتُ فِي سِبَاقِ مِئَةِ مِتْرٍ، وَفُزْتُ بِالمِيدَالِيَّةِ الفِضِّيَّةِ!</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did your class do?</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وَمَاذَا فَعَلَ صَفُّكُمْ؟</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played football, and we saw the teachers’ race. We walked to the field together.</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لَعِبْنَا كُرَةَ القَدَمِ، وَرَأَيْنَا سِبَاقَ المُعَلِّمِينَ. مَشَيْنَا إِلَى المَلْعَبِ مَعًا.</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did your sister take part?</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وَهَلْ شَارَكَتْ أُخْتُكِ؟</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she jumped and threw the ball far, but my brother did not take part; the teachers said he was ill.</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قَفَزَتْ وَرَمَتِ الكُرَةَ بَعِيدًا، أَمَّا أَخِي فَلَمْ يُشَارِكْ؛ قَالَ المُعَلِّمُونَ إِنَّهُ كَانَ مَرِيضًا.</a:t>
            </a:r>
            <a:endParaRPr lang="ar-SA" sz="16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D5-W02 · Apply workshop (D5-L03 + D5-L04)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أَمْسِ … ← ذَهَبْتُ / لَعِبْتُ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 do yesterday after school?</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فَعَلْتَ أَمْسِ بَعْدَ المَدْرَسَةِ؟</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سَافَرْنَا … / زُرْنَا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 all do on your last family holiday?</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فَعَلْتُمْ فِي آخِرِ عُطْلَةٍ عَائِلِيَّةٍ؟</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وَشَرِبْتُ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أَكَلْتُ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 eat for dinner?</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أَكَلْتَ عَلَى العَشَاءِ؟</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56648" y="4110228"/>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لَعِبُوا … / ذَهَبُوا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your friends do at the weekend?</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 أَصْدِقَاؤُكَ فِي نِهَايَةِ الأُسْبُوعِ؟</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56648" y="4724400"/>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صَدِيقِي … ← شَاهَدَ / خَرَجَ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your friend do at the weekend?</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 صَدِيقُكَ فِي نِهَايَةِ الأُسْبُوعِ؟</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نِمْنَا فِي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did you all sleep on the trip?</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نِمْتُمْ فِي الرِّحْلَةِ؟</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D5-L03, even numbers from D5-L04.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Role-play card — the school newsletter reporter</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مُرَاسِلُ النَّشْرَةِ المَدْرَسِيَّةِ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D5-W02 · Apply workshop (D5-L03 + D5-L04)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أَوَّلًا رَكَضْتُ … ، ثُمَّ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“I” actions in order.</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فَعَلْتَ فِي اليَوْمِ الرِّيَاضِيِّ؟</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لَعِبْنَا … · مَشَيْنَا / رَأَيْنَا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“we” actions, one irregular.</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فَعَلْتُمْ كَصَفٍّ؟</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“she” action.</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فَازَ بِسِبَاقِ البَنَاتِ؟</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“they” actions, one irregular.</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فَعَلَ المُعَلِّمُونَ؟</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negative past with ‏</a:t>
            </a:r>
            <a:pPr algn="l" indent="0" marL="0">
              <a:buNone/>
            </a:pPr>
            <a:r>
              <a:rPr lang="ar-SA" altLang="en-US" sz="1450" dirty="0">
                <a:solidFill>
                  <a:srgbClr val="5A6472"/>
                </a:solidFill>
                <a:latin typeface="Amiri" pitchFamily="2" charset="-78"/>
                <a:ea typeface="Amiri" pitchFamily="2" charset="-78"/>
                <a:cs typeface="Amiri" pitchFamily="2" charset="-78"/>
              </a:rPr>
              <a:t>لَمْ</a:t>
            </a:r>
            <a:pPr algn="l" indent="0" marL="0">
              <a:buNone/>
            </a:pPr>
            <a:r>
              <a:rPr lang="en-US" sz="1100" dirty="0">
                <a:solidFill>
                  <a:srgbClr val="5A6472"/>
                </a:solidFill>
                <a:latin typeface="Calibri" pitchFamily="34" charset="0"/>
                <a:cs typeface="Amiri" pitchFamily="2" charset="-78"/>
              </a:rPr>
              <a:t>‏ + a reason.</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هُنَاكَ شَيْءٌ لَمْ تَفْعَلْهُ؟ لِمَاذَا؟</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student who took part · Partner A = the newsletter reporter. Write the plan for tasks 3–5 in your book first. Task ! is a surprise — Partner A reads it without warning. Then swap roles.</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Sports day in one minute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اليَوْمُ الرِّيَاضِيُّ فِي دَقِيقَةٍ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D5-W02 · Apply workshop (D5-L03 + D5-L04)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Tell the story of a sports day (real or imagined) for one minute: what you did, what a boy and a girl did, what your class did, what the teachers did and said, and one thing you did not do — with at least two irregular verbs.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رَكَضْتُ · لَعِبْتُ · فَازَ … · فَازَتْ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“we” and “they” endings (‏</a:t>
            </a:r>
            <a:pPr algn="l" indent="0" marL="0">
              <a:buNone/>
            </a:pPr>
            <a:r>
              <a:rPr lang="ar-SA" altLang="en-US" sz="1500" dirty="0">
                <a:solidFill>
                  <a:srgbClr val="1F2A37"/>
                </a:solidFill>
                <a:latin typeface="Amiri" pitchFamily="2" charset="-78"/>
                <a:ea typeface="Amiri" pitchFamily="2" charset="-78"/>
                <a:cs typeface="Amiri" pitchFamily="2" charset="-78"/>
              </a:rPr>
              <a:t>لَعِبْنَا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نَظَّمُوا</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لَمْ</a:t>
            </a:r>
            <a:pPr algn="l" indent="0" marL="0">
              <a:buNone/>
            </a:pPr>
            <a:r>
              <a:rPr lang="en-US" sz="1150" dirty="0">
                <a:solidFill>
                  <a:srgbClr val="1F2A37"/>
                </a:solidFill>
                <a:latin typeface="Calibri" pitchFamily="34" charset="0"/>
                <a:cs typeface="Amiri" pitchFamily="2" charset="-78"/>
              </a:rPr>
              <a:t>‏ + jussive.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three irregular stems (‏</a:t>
            </a:r>
            <a:pPr algn="l" indent="0" marL="0">
              <a:buNone/>
            </a:pPr>
            <a:r>
              <a:rPr lang="ar-SA" altLang="en-US" sz="1500" dirty="0">
                <a:solidFill>
                  <a:srgbClr val="1F2A37"/>
                </a:solidFill>
                <a:latin typeface="Amiri" pitchFamily="2" charset="-78"/>
                <a:ea typeface="Amiri" pitchFamily="2" charset="-78"/>
                <a:cs typeface="Amiri" pitchFamily="2" charset="-78"/>
              </a:rPr>
              <a:t>مَشَيْنَا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رَأَيْنَا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قَالُوا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فُزْتُ</a:t>
            </a:r>
            <a:pPr algn="l" indent="0" marL="0">
              <a:buNone/>
            </a:pPr>
            <a:r>
              <a:rPr lang="en-US" sz="1150" dirty="0">
                <a:solidFill>
                  <a:srgbClr val="1F2A37"/>
                </a:solidFill>
                <a:latin typeface="Calibri" pitchFamily="34" charset="0"/>
                <a:cs typeface="Amiri" pitchFamily="2" charset="-78"/>
              </a:rPr>
              <a:t>‏) and time markers.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D5-W02 · Apply workshop (D5-L03 + D5-L04)</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Last week she wrote a story.</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الأُسْبُوعَ المَاضِيَ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الأُسْبُوعُ المَاضِي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كَتَبَتْ</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كَتَبْتُ</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قِصَّةً.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قِصَّةٌ.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visited our grandmother.</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زُرْنَا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زَارْنَا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جَدَّتَنَا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جَدَّتُنَا</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يَوْمَ الجُمُعَةِ.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يَوْمُ الجُمُعَةِ.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Did you (f.) watch the film?</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هَلْ</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مَاذَا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شَاهَدْتِ</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شَاهَدْتَ</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الفِيلْمَ؟</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الفِيلْمُ؟</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D5-W02 · Apply workshop (D5-L03 + D5-L04)</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Last week she wrote a story.</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object → </a:t>
            </a:r>
            <a:pPr algn="l" indent="0" marL="0">
              <a:buNone/>
            </a:pPr>
            <a:r>
              <a:rPr lang="ar-SA" altLang="en-US" sz="1350" dirty="0">
                <a:solidFill>
                  <a:srgbClr val="5A6472"/>
                </a:solidFill>
                <a:latin typeface="Amiri" pitchFamily="2" charset="-78"/>
                <a:ea typeface="Amiri" pitchFamily="2" charset="-78"/>
                <a:cs typeface="Amiri" pitchFamily="2" charset="-78"/>
              </a:rPr>
              <a:t>قِصَّةً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الأُسْبُوعَ المَاضِيَ كَتَبَتْ قِصَّةً.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visited our grandmother.</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Hollow verb: </a:t>
            </a:r>
            <a:pPr algn="l" indent="0" marL="0">
              <a:buNone/>
            </a:pPr>
            <a:r>
              <a:rPr lang="ar-SA" altLang="en-US" sz="1350" dirty="0">
                <a:solidFill>
                  <a:srgbClr val="5A6472"/>
                </a:solidFill>
                <a:latin typeface="Amiri" pitchFamily="2" charset="-78"/>
                <a:ea typeface="Amiri" pitchFamily="2" charset="-78"/>
                <a:cs typeface="Amiri" pitchFamily="2" charset="-78"/>
              </a:rPr>
              <a:t>زَارَ</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زُرْنَا</a:t>
            </a:r>
            <a:pPr algn="l" indent="0" marL="0">
              <a:buNone/>
            </a:pPr>
            <a:r>
              <a:rPr lang="en-US" sz="1050" i="1" dirty="0">
                <a:solidFill>
                  <a:srgbClr val="5A6472"/>
                </a:solidFill>
                <a:latin typeface="Calibri" pitchFamily="34" charset="0"/>
                <a:cs typeface="Amiri" pitchFamily="2" charset="-78"/>
              </a:rPr>
              <a:t> (short vowel before -nā).</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زُرْنَا جَدَّتَنَا يَوْمَ الجُمُعَةِ.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Did you (f.) watch the film?</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 (f.) → -ti.</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هَلْ شَاهَدْتِ الفِيلْمَ؟</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D5-W02 · Apply workshop (D5-L03 + D5-L04)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أَمْسِ أَذْهَبُ إِلَى السُّوقِ.</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Time word!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قَالْنَا لِلْمُعَلِّمِ «شُكْرًا».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Hollow verb + -nā.</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أُخْتِي لَعِبَ التِّنِسَ.</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She →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D5-W02 · Apply workshop (D5-L03 + D5-L04)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أَمْسِ أَذْهَبُ إِلَى السُّوقِ.</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أَمْسِ ذَهَبْتُ إِلَى السُّوقِ.</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أَمْسِ</a:t>
            </a:r>
            <a:pPr algn="l" indent="0" marL="0">
              <a:buNone/>
            </a:pPr>
            <a:r>
              <a:rPr lang="en-US" sz="1150" b="1" dirty="0">
                <a:solidFill>
                  <a:srgbClr val="1B3B6F"/>
                </a:solidFill>
                <a:latin typeface="Calibri" pitchFamily="34" charset="0"/>
                <a:cs typeface="Amiri" pitchFamily="2" charset="-78"/>
              </a:rPr>
              <a:t>‏ → past.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قَالْنَا لِلْمُعَلِّمِ «شُكْرًا».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قُلْنَا لِلْمُعَلِّمِ «شُكْرًا».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قَالَ → قُلْنَا.</a:t>
            </a:r>
            <a:endParaRPr lang="ar-SA" sz="14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أُخْتِي لَعِبَ التِّنِسَ.</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أُخْتِي لَعِبَتِ التِّنِسَ.</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She → -at (‏</a:t>
            </a:r>
            <a:pPr algn="l" indent="0" marL="0">
              <a:buNone/>
            </a:pPr>
            <a:r>
              <a:rPr lang="ar-SA" altLang="en-US" sz="1500" b="1" dirty="0">
                <a:solidFill>
                  <a:srgbClr val="1B3B6F"/>
                </a:solidFill>
                <a:latin typeface="Amiri" pitchFamily="2" charset="-78"/>
                <a:ea typeface="Amiri" pitchFamily="2" charset="-78"/>
                <a:cs typeface="Amiri" pitchFamily="2" charset="-78"/>
              </a:rPr>
              <a:t>لَعِبَتِ</a:t>
            </a:r>
            <a:pPr algn="l" indent="0" marL="0">
              <a:buNone/>
            </a:pPr>
            <a:r>
              <a:rPr lang="en-US" sz="1150" b="1" dirty="0">
                <a:solidFill>
                  <a:srgbClr val="1B3B6F"/>
                </a:solidFill>
                <a:latin typeface="Calibri" pitchFamily="34" charset="0"/>
                <a:cs typeface="Amiri" pitchFamily="2" charset="-78"/>
              </a:rPr>
              <a:t>‏ before al-).</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D5-W02 · Apply workshop (D5-L03 + D5-L04)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نَظَّمَ المُعَلِّمُونَ ______ ، وَقَالُوا إِنَّ ______ .</a:t>
            </a:r>
            <a:endParaRPr lang="ar-SA" sz="16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teachers organised …, and they said that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النِّهَايَةِ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end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يَوْمَ ______ المَاضِي كَانَ اليَوْمُ الرِّيَاضِيُّ فِي ______ .</a:t>
            </a:r>
            <a:endParaRPr lang="ar-SA" sz="14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 was sports day at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رَكَضْتُ فِي ______ ، ثُمَّ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ran in …, then I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فَازَ ______ ، وَفَازَتْ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won, and … won.</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لَعِبْنَا ______ ، وَرَأَيْنَا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played …, and we saw …</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 ______ لِأَنَّ ______ .</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did not … because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رَكَضْتُ · قَفَزْتُ  ·  فُزْتُ · خَسِرْتُ  ·  فَازَ · فَازَتْ  ·  لَعِبْنَا · مَشَيْنَا  ·  رَأَيْنَا · شَجَّعْنَا  ·  نَظَّمُوا · قَالُوا  ·  لَمْ أُشَارِكْ  ·  أَمْسِ · يَوْمَ الجُمُعَةِ المَاضِي</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D5-W02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sports-day report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تَقْرِيرُ اليَوْمِ الرِّيَاضِيِّ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D5-W02 · Apply workshop (D5-L03 + D5-L04)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report (about 60–80 words) for the school newsletter about sports day. Include: • when and where (a time marker) • three things you did (-tu) • one thing a boy did (-a) and one a girl did (-at) • two “we” actions and two “they” actions, at least two irregular • one negative with ‏</a:t>
            </a:r>
            <a:pPr algn="l" indent="0" marL="0">
              <a:buNone/>
            </a:pPr>
            <a:r>
              <a:rPr lang="ar-SA" altLang="en-US" sz="1450" b="1" dirty="0">
                <a:solidFill>
                  <a:srgbClr val="1F2A37"/>
                </a:solidFill>
                <a:latin typeface="Amiri" pitchFamily="2" charset="-78"/>
                <a:ea typeface="Amiri" pitchFamily="2" charset="-78"/>
                <a:cs typeface="Amiri" pitchFamily="2" charset="-78"/>
              </a:rPr>
              <a:t>لَمْ</a:t>
            </a:r>
            <a:pPr algn="l" indent="0" marL="0">
              <a:buNone/>
            </a:pPr>
            <a:r>
              <a:rPr lang="en-US" sz="1100" b="1" dirty="0">
                <a:solidFill>
                  <a:srgbClr val="1F2A37"/>
                </a:solidFill>
                <a:latin typeface="Calibri" pitchFamily="34" charset="0"/>
                <a:cs typeface="Amiri" pitchFamily="2" charset="-78"/>
              </a:rPr>
              <a:t>‏ • how the day ended.</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D5-L03 AND D5-L04.</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يَوْمَ الجُمُعَةِ المَاضِي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Friday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رَكَضْتُ · فُزْتُ · قَفَزَتْ</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ran · I won · she jumped</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لَعِبْنَا · مَشَيْنَا · رَأَيْنَا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played · we walked · we saw</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نَظَّمُوا … · قَالُوا إِنَّ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they organised … · they said that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D5-W02 · Apply workshop (D5-L03 + D5-L04)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past with -tu for yourself after a past time word?</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fix irregular stems first (‏</a:t>
            </a:r>
            <a:pPr algn="l" indent="0" marL="0">
              <a:buNone/>
            </a:pPr>
            <a:r>
              <a:rPr lang="ar-SA" altLang="en-US" sz="1450" dirty="0">
                <a:solidFill>
                  <a:srgbClr val="5A6472"/>
                </a:solidFill>
                <a:latin typeface="Amiri" pitchFamily="2" charset="-78"/>
                <a:ea typeface="Amiri" pitchFamily="2" charset="-78"/>
                <a:cs typeface="Amiri" pitchFamily="2" charset="-78"/>
              </a:rPr>
              <a:t>زُرْنَا</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مَشَيْنَا</a:t>
            </a:r>
            <a:pPr algn="l" indent="0" marL="0">
              <a:buNone/>
            </a:pPr>
            <a:r>
              <a:rPr lang="en-US" sz="1100" dirty="0">
                <a:solidFill>
                  <a:srgbClr val="5A6472"/>
                </a:solidFill>
                <a:latin typeface="Calibri" pitchFamily="34" charset="0"/>
                <a:cs typeface="Amiri" pitchFamily="2" charset="-78"/>
              </a:rPr>
              <a:t>‏) and use -ū for “they”?</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D5-W02 · Apply workshop (D5-L03 + D5-L04)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أَوَّلًا رَكَضْتُ فِي السِّبَاقِ، ثُمَّ قَفَزْتُ، وَبَعْدَ ذٰلِكَ شَرِبْتُ مَاءً كَثِيرًا!</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First I ran in the race, then I jumped, and after that I drank a lot of water!</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فَعَلْتَ فِي اليَوْمِ الرِّيَاضِيِّ؟</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لَعِبْنَا شَدَّ الحَبْلِ، وَرَأَيْنَا سِبَاقَ المُعَلِّمِينَ.</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played tug-of-war, and we saw the teachers’ race.</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وَمَاذَا فَعَلْتُمْ كَصَفٍّ؟</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فَازَتْ زَمِيلَتِي سَارَةُ؛ رَكَضَتْ بِسُرْعَةٍ كَبِيرَةٍ.</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classmate Sara won; she ran very fast.</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فَازَ بِسِبَاقِ البَنَاتِ؟</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نَظَّمُوا الأَلْعَابَ، وَقَالُوا إِنَّ اليَوْمَ كَانَ نَاجِحًا.</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They organised the games, and they said the day was a success.</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وَمَاذَا فَعَلَ المُعَلِّمُونَ؟</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 أُشَارِكْ فِي سِبَاقِ الحَوَاجِزِ، لِأَنَّ رِجْلِي كَانَتْ تُؤْلِمُنِي.</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did not take part in the hurdles, because my leg was hurting.</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هُنَاكَ شَيْءٌ لَمْ تَفْعَلْهُ؟ لِمَاذَا؟</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D5-W02 · Apply workshop (D5-L03 + D5-L04)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يَوْمَ الجُمُعَةِ المَاضِي كَانَ اليَوْمُ الرِّيَاضِيُّ فِي مَلْعَبِ المَدْرَسَةِ. مَشَيْنَا إِلَى المَلْعَبِ فِي الصَّبَاحِ. رَكَضْتُ فِي سِبَاقِ مِئَةِ مِتْرٍ، وَفُزْتُ بِالمِيدَالِيَّةِ الفِضِّيَّةِ، ثُمَّ شَرِبْتُ مَاءً كَثِيرًا! فَازَ زَمِيلِي عُمَرُ بِسِبَاقِ الأَوْلَادِ، وَقَفَزَتْ زَمِيلَتِي هُدَى أَعْلَى مِنَ الجَمِيعِ. لَعِبْنَا شَدَّ الحَبْلِ، وَرَأَيْنَا سِبَاقَ المُعَلِّمِينَ. نَظَّمَ المُعَلِّمُونَ الأَلْعَابَ، وَقَالُوا إِنَّ اليَوْمَ كَانَ نَاجِحًا. لَمْ أُشَارِكْ فِي سِبَاقِ الحَوَاجِزِ لِأَنِّي كُنْتُ مُتْعَبًا. فِي النِّهَايَةِ رَجَعْنَا سُعَدَاءَ.</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Friday was sports day on the school field. We walked to the field in the morning. I ran in the hundred-metre race and won the silver medal, then I drank a lot of water! My classmate Omar won the boys’ race, and my classmate Huda jumped higher than everyone. We played tug-of-war, and we saw the teachers’ race. The teachers organised the games, and they said the day was a success. I did not take part in the hurdles because I was tired. In the end we went back happy.”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فُزْتُ بِالمِيدَالِيَّةِ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وَقَفَزَتْ زَمِيلَتِي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وَرَأَيْنَا سِبَاقَ</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وَقَالُوا إِنَّ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D5-W02 · Apply workshop (D5-L03 + D5-L04)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D5-L03 and D5-L04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D5-W02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D5-L05 · Storytelling — Narrative Connectors and </a:t>
            </a:r>
            <a:pPr algn="l" indent="0" marL="0">
              <a:buNone/>
            </a:pPr>
            <a:r>
              <a:rPr lang="ar-SA" altLang="en-US" sz="2150" b="1" dirty="0">
                <a:solidFill>
                  <a:srgbClr val="FFFFFF"/>
                </a:solidFill>
                <a:latin typeface="Amiri" pitchFamily="2" charset="-78"/>
                <a:ea typeface="Amiri" pitchFamily="2" charset="-78"/>
                <a:cs typeface="Amiri" pitchFamily="2" charset="-78"/>
              </a:rPr>
              <a:t>كَانَ</a:t>
            </a:r>
            <a:pPr algn="l" indent="0" marL="0">
              <a:buNone/>
            </a:pPr>
            <a:r>
              <a:rPr lang="en-US" sz="1650" b="1" dirty="0">
                <a:solidFill>
                  <a:srgbClr val="FFFFFF"/>
                </a:solidFill>
                <a:latin typeface="Cambria" pitchFamily="34" charset="0"/>
                <a:cs typeface="Amiri" pitchFamily="2" charset="-78"/>
              </a:rPr>
              <a:t> Description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رِوَايَةُ القِصَصِ — رَوَابِطُ السَّرْدِ وَكَانَ</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D5-W02 · Apply Workshop — Sports Day: What Happened?</dc:title>
  <dc:subject>PptxGenJS Presentation</dc:subject>
  <dc:creator>Al Madina Online School · Arabic Department</dc:creator>
  <cp:lastModifiedBy>Al Madina Online School · Arabic Department</cp:lastModifiedBy>
  <cp:revision>1</cp:revision>
  <dcterms:created xsi:type="dcterms:W3CDTF">2026-10-26T15:42:30Z</dcterms:created>
  <dcterms:modified xsi:type="dcterms:W3CDTF">2026-10-26T15:42:30Z</dcterms:modified>
</cp:coreProperties>
</file>