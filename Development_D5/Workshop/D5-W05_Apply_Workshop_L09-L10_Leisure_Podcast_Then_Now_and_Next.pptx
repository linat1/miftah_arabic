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APPLY WORKSHOP AT A GLANCE — the third lesson of the week (Learn D5-L09 · Learn D5-L10 · Apply). 60 minutes on Teams: teacher-led in the main room for the short whole-class steps, pairs or breakout rooms of two or three for speaking, individual writing.
0–3 Welcome + plan · 3–6 What we learnt this week · PART 1 REMEMBER: word race (4) · which lesson? sort (4) · PART 2 SPEAK: new dialogue (5) · mixed question cards (6) · role-play card (7) · one minute talk (4) · PART 3 WRITE: sentence builder (3) · spot and fix (3) · connected writing (12) + buddy check (3) · CHECK YOURSELF: models + self-check (5).
PURPOSE: students APPLY the language of BOTH lessons in new contexts — the question cards, builder and common mistakes come from the two practice rooms; the dialogue, role-play, talk and writing task are new and join the lessons together.
CONTENT: D5-L09 (Writing — My Leisure Life (Extended Writing)) and D5-L10 (Listening — Sport, Leisure and Past Events).
SET-UP: share this deck or its PDF in the chat. Pairs or breakout rooms for Part 2 (same-level rooms keep the routes simple). Everyone writes in their own book or document in Part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min). Apply = use what you learnt in D5-L09 and D5-L10 in a NEW situation. Point out the step number in the top-left of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WE LEARNT (3 min, main room). Ask: “What can you say after D5-L09? After D5-L10?” Take two answers in the chat for each lesson (one word or one sentence is enough). Then read objective 3 — today’s new situation that needs BOTH lessons. Students tick their route goals at the end of the lesson.
D5-L09 language: three time zones: past (fī al-ṭufūlati laʿibtu · kuntu alʿabu) → present (ammā al-āna fa-umārisu …) → future (sa-ashtariku · anwī an …); ending with an opinion (aʿtaqidu anna …); connectors (bi-l-iḍāfati ilā dhālika · wa-fī al-khitām); planning, drafting and checking
D5-L10 language: hear the TENSE: past = an ending (tadarrabtu) · present = a prefix (atadarrabu) · future = sa- / sawfa (sa-atadarrabu) · used to = kāna + present (kuntu atadarrabu); time markers (ams · ʿādatan · kulla yawmin · ghadan · al-usbūʿa al-qādim); distractors that keep the words but change the time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 (4 min). Quick, energetic retrieval. Model one round with a student, then pairs race. Collect the best score in the chat. Listen for words students hesitate over and revisit them in Part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 reference — six words from D5-L09.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 reference — six words from D5-L10.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2 (4 min). Students read each card ALOUD (by invitation), then type its number in the chat with 1 or 2 (for example “card 3 → 2”). Then check the answer slide. Ask: “Which card could you use in BOTH lessons?” — this links the two lessons before Part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2 (4 min). Students read each card ALOUD (by invitation), then type its number in the chat with 1 or 2 (for example “card 3 → 2”). Then check the answer slide. Ask: “Which card could you use in BOTH lessons?” — this links the two lessons before Part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STEP 3 (5 min). A NEW dialogue that joins D5-L09 and D5-L10. Teacher reads it once with a confident student; then pairs. Ask: “Which lines are from D5-L09? Which from D5-L10?” Hearing the tense (كُنْتُ + present · past endings · سَـ / سَوْفَ · time markers) comes from D5-L10; the then → now → next → opinion plan (أَمَّا الآنَ فَ… · أَعْتَقِدُ أَنَّ …) from D5-L09.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4 (6 min, pairs or rooms). The questions come from the two practice rooms, now mixed so students switch between the lessons. Teacher: visit rooms and ask one Stretch follow-up question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STEP 5 (7 min). One NEW situation that needs both lessons: hearing past, used to, present and future (D5-L10) and placing each detail in the then–now–next plan (D5-L09). FADED SUPPORT: tasks 1–2 show the plan; students write their own plan for 3–5. To a girl Partner A says: وَأَنْتِ: مَا هِوَايَتُكِ …؟.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6 (4 min). Fluency: one talk that uses BOTH lessons. Two volunteers speak to the whole class at the end (open mic).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7 (3 min). Rows come from the D5-L09 and D5-L10 practice rooms. Read the English, choose the correct part from each column (start on the RIGHT). Pairs agree, then check. Students copy the correct sentences — they help in Step 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7 (3 min). Rows come from the D5-L09 and D5-L10 practice rooms. Read the English, choose the correct part from each column (start on the RIGHT). Pairs agree, then check. Students copy the correct sentences — they help in Step 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8 (3 min). Common mistakes from both lessons. Students type the corrected version in the chat before the answer slide. These are the mistakes to look for in the buddy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8 (3 min). Common mistakes from both lessons. Students type the corrected version in the chat before the answer slide. These are the mistakes to look for in the buddy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9 support. Core: use the Core frames for every bullet. Develop: use the Develop frames only if stuck. Stretch: no frames — add reasons, a time phrase and an extra detail.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9 (10 min writing, everyone on their own). Core: frames for every bullet (50–60 words). Develop: 80–100 words, frames only if stuck. Stretch: no frames, add reasons and another time frame. Teacher reads ONE sentence per student (in the chat or the shared document) and gives one live correction.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BUDDY CHECK (3 min). Pairs swap texts (or share screens). Then everyone returns to the main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YOURSELF (2 min, main room). Each student finds one task they answered less fully and says it again using the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 (50 words). CHECK YOURSELF (2 min). Find each bullet point in the model, and one phrase from D5-L09 and one from D5-L10. Then each student copies ONE phrase from the model into their own 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YEAR 8  ·  DEVELOPMENT D5  ·  D5-L09 + D5-L10 · APPLY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D5-W05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Apply Workshop — Leisure Podcast: Then, Now and Next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التَّطْبِيقِ — بُودْكَاسْتُ وَقْتِ الفَرَاغِ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Students join hearing the tense with writing across time: they listen to podcast clips and decide past · used to · present · future from endings, prefixes and time markers, record their own then–now–next clip, and write a four-paragraph text about their leisure life with an opinion.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Apply workshop · D5-L09 + D5-L10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Development · A2 → B1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Pathways › Development › D5 › D5-L10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D5-W05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D5 · Hobbies, Sport and Leisure · D5-W05 · Apply workshop (D5-L09 + D5-L10)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24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D5-W05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PLAN · LEARN, LEARN, APPLY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Two lessons — now use them together</a:t>
            </a:r>
            <a:endParaRPr lang="en-US" sz="25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خُطُوَاتُ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D5 · Hobbies, Sport and Leisure · D5-W05 · Apply workshop (D5-L09 + D5-L10)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6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 learnt: D5-L09 and D5-L10.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تَعَلَّمْنَا؟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Part 1 · Remember: word race and “which lesson?” sort.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2F6FB0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تَذَكَّرْ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22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Part 2 · Speak: say the model dialogue · question cards · role-play card · short talk.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تَكَلَّمْ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19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Part 3 · Write: sentence builder · spot and fix · write your text · buddy check.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اكْتُبْ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5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Check yourself with the models.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HOW THE WORKSHOP RUNS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Today there is no new language: you USE the words and structures of the last two lessons together. Everybody speaks in every step and everybody writes their own text. Choose your route — Core, Develop or Stretch — and move up when you are ready.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24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D5-W05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WHAT WE LEARNT THIS WEEK · D5-L09 + D5-L10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This week’s two lessons — and today’s goal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نُطَبِّقُ مَا تَعَلَّمْنَا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D5 · Hobbies, Sport and Leisure · D5-W05 · Apply workshop (D5-L09 + D5-L10)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4663440" cy="4315968"/>
          </a:xfrm>
          <a:prstGeom prst="roundRect">
            <a:avLst>
              <a:gd name="adj" fmla="val 1695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85800" y="192024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TODAY YOU WILL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2834640" y="18745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سَتَتَعَلَّمُ اليَوْمَ</a:t>
            </a:r>
            <a:endParaRPr lang="ar-SA" sz="1600" dirty="0"/>
          </a:p>
        </p:txBody>
      </p:sp>
      <p:sp>
        <p:nvSpPr>
          <p:cNvPr id="18" name="Shape 15"/>
          <p:cNvSpPr/>
          <p:nvPr/>
        </p:nvSpPr>
        <p:spPr>
          <a:xfrm>
            <a:off x="685800" y="2395728"/>
            <a:ext cx="365760" cy="3657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85800" y="23957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1188720" y="2286000"/>
            <a:ext cx="3749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D5-L09: Writing — My Leisure Life (Extended Writing)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685800" y="3291840"/>
            <a:ext cx="365760" cy="3657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85800" y="3291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1188720" y="3182112"/>
            <a:ext cx="3749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D5-L10: Listening — Sport, Leisure and Past Events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685800" y="4187952"/>
            <a:ext cx="365760" cy="3657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85800" y="4187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1188720" y="4078224"/>
            <a:ext cx="3749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Apply both: Listening card — which tense? · My leisure life: then, now and next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349240" y="1810512"/>
            <a:ext cx="6382512" cy="1353312"/>
          </a:xfrm>
          <a:prstGeom prst="roundRect">
            <a:avLst>
              <a:gd name="adj" fmla="val 5405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532120" y="194767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532120" y="1947672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6766560" y="194767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i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Everyone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5532120" y="228600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☐  Answer questions from BOTH lessons in full sentences.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5532120" y="269748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☐  Write the text using the frames.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5349240" y="3273552"/>
            <a:ext cx="6382512" cy="1353312"/>
          </a:xfrm>
          <a:prstGeom prst="roundRect">
            <a:avLst>
              <a:gd name="adj" fmla="val 5405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532120" y="341071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532120" y="3410712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950" dirty="0"/>
          </a:p>
        </p:txBody>
      </p:sp>
      <p:sp>
        <p:nvSpPr>
          <p:cNvPr id="36" name="Text 33"/>
          <p:cNvSpPr txBox="1"/>
          <p:nvPr/>
        </p:nvSpPr>
        <p:spPr>
          <a:xfrm>
            <a:off x="6766560" y="341071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i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Most of us</a:t>
            </a:r>
            <a:endParaRPr lang="en-US" sz="1050" dirty="0"/>
          </a:p>
        </p:txBody>
      </p:sp>
      <p:sp>
        <p:nvSpPr>
          <p:cNvPr id="37" name="Text 34"/>
          <p:cNvSpPr txBox="1"/>
          <p:nvPr/>
        </p:nvSpPr>
        <p:spPr>
          <a:xfrm>
            <a:off x="5532120" y="374904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☐  Join both lessons in one conversation and a one minute talk.</a:t>
            </a:r>
            <a:endParaRPr lang="en-US" sz="1300" dirty="0"/>
          </a:p>
        </p:txBody>
      </p:sp>
      <p:sp>
        <p:nvSpPr>
          <p:cNvPr id="38" name="Text 35"/>
          <p:cNvSpPr txBox="1"/>
          <p:nvPr/>
        </p:nvSpPr>
        <p:spPr>
          <a:xfrm>
            <a:off x="5532120" y="416052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☐  Write the text, frames only if stuck.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5349240" y="4736592"/>
            <a:ext cx="6382512" cy="1353312"/>
          </a:xfrm>
          <a:prstGeom prst="roundRect">
            <a:avLst>
              <a:gd name="adj" fmla="val 5405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532120" y="487375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532120" y="4873752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6766560" y="48737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i="1" dirty="0">
                <a:solidFill>
                  <a:srgbClr val="B83227"/>
                </a:solidFill>
                <a:latin typeface="Calibri" pitchFamily="34" charset="0"/>
                <a:cs typeface="Amiri" pitchFamily="2" charset="-78"/>
              </a:rPr>
              <a:t>Aim high</a:t>
            </a:r>
            <a:endParaRPr lang="en-US" sz="1050" dirty="0"/>
          </a:p>
        </p:txBody>
      </p:sp>
      <p:sp>
        <p:nvSpPr>
          <p:cNvPr id="43" name="Text 40"/>
          <p:cNvSpPr txBox="1"/>
          <p:nvPr/>
        </p:nvSpPr>
        <p:spPr>
          <a:xfrm>
            <a:off x="5532120" y="521208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83227"/>
                </a:solidFill>
                <a:latin typeface="Calibri" pitchFamily="34" charset="0"/>
                <a:cs typeface="Amiri" pitchFamily="2" charset="-78"/>
              </a:rPr>
              <a:t>☐  Speak without notes; add reasons and opinions.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5532120" y="562356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83227"/>
                </a:solidFill>
                <a:latin typeface="Calibri" pitchFamily="34" charset="0"/>
                <a:cs typeface="Amiri" pitchFamily="2" charset="-78"/>
              </a:rPr>
              <a:t>☐  Use more than one tense; give and justify opinions.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D5-W05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4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1 · STEP 1 · WORD RACE · 4 MINUTES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Word race: two lessons, one race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سِبَاقُ الكَلِمَاتِ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D5 · Hobbies, Sport and Leisure · D5-W05 · Apply workshop (D5-L09 + D5-L10)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STEP 1 · PAIRS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🏁  English → Arabic, from both lessons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 next two slides show words from D5-L09 and D5-L10. Partner A says a word in ENGLISH; Partner B says it in ARABIC. One point for every correct answer in 90 seconds — then swap.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Teacher: first round together (3 words from each slide).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Pairs: 90 seconds each, as many as you can.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Mix the lessons: one word from slide 1, one from slide 2.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Last round: use two words — one from each lesson — in ONE sentence.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Say the Arabic word clearly.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Say the word, then a short sentence with it.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Join a word from each lesson in one sentence with ‏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‏ or ‏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‏.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دَوْرُكَ! / دَوْرُكِ!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 (m. / f.)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correct!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حَاوِلْ مَرَّةً أُخْرَى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try again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نُقْطَةٌ لَكَ / لَكِ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point for you (m. / f.)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24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D5-W05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STEP 1 · WORDS FROM D5-L09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D5-L09 · Writing — My Leisure Life (Extended Writing)</a:t>
            </a:r>
            <a:endParaRPr lang="en-US" sz="17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كَلِمَاتُ الدَّرْسِ الأَوَّلِ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D5 · Hobbies, Sport and Leisure · D5-W05 · Apply workshop (D5-L09 + D5-L10)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An iḍāfa.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تَنَوُّعُ الأَزْمِنَةِ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tense variety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ta-naw-wu-ʿu al-az-mi-na-ti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9" name="Text 26"/>
          <p:cNvSpPr txBox="1"/>
          <p:nvPr/>
        </p:nvSpPr>
        <p:spPr>
          <a:xfrm>
            <a:off x="4389120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المُسَوَّدَةُ</a:t>
            </a:r>
            <a:endParaRPr lang="ar-SA" sz="3000" dirty="0"/>
          </a:p>
        </p:txBody>
      </p:sp>
      <p:sp>
        <p:nvSpPr>
          <p:cNvPr id="30" name="Text 27"/>
          <p:cNvSpPr txBox="1"/>
          <p:nvPr/>
        </p:nvSpPr>
        <p:spPr>
          <a:xfrm>
            <a:off x="4416552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draft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al-mu-saw-wa-da-tu</a:t>
            </a:r>
            <a:endParaRPr lang="en-US" sz="1350" dirty="0"/>
          </a:p>
        </p:txBody>
      </p:sp>
      <p:sp>
        <p:nvSpPr>
          <p:cNvPr id="31" name="Shape 28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6" name="Text 33"/>
          <p:cNvSpPr txBox="1"/>
          <p:nvPr/>
        </p:nvSpPr>
        <p:spPr>
          <a:xfrm>
            <a:off x="566928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أَمَّا الآنَ فَـ</a:t>
            </a:r>
            <a:endParaRPr lang="ar-SA" sz="3000" dirty="0"/>
          </a:p>
        </p:txBody>
      </p:sp>
      <p:sp>
        <p:nvSpPr>
          <p:cNvPr id="37" name="Text 34"/>
          <p:cNvSpPr txBox="1"/>
          <p:nvPr/>
        </p:nvSpPr>
        <p:spPr>
          <a:xfrm>
            <a:off x="594360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as for now,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am-mā al-ʾā-na fa</a:t>
            </a:r>
            <a:endParaRPr lang="en-US" sz="1350" dirty="0"/>
          </a:p>
        </p:txBody>
      </p:sp>
      <p:sp>
        <p:nvSpPr>
          <p:cNvPr id="38" name="Text 35"/>
          <p:cNvSpPr txBox="1"/>
          <p:nvPr/>
        </p:nvSpPr>
        <p:spPr>
          <a:xfrm>
            <a:off x="594360" y="3621024"/>
            <a:ext cx="3364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‏</a:t>
            </a:r>
            <a:pPr algn="l" indent="0" marL="0">
              <a:buNone/>
            </a:pPr>
            <a:r>
              <a:rPr lang="ar-SA" altLang="en-US" sz="1300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أَمَّا … فَـ</a:t>
            </a:r>
            <a:pPr algn="l" indent="0" marL="0">
              <a:buNone/>
            </a:pPr>
            <a:r>
              <a:rPr lang="en-US" sz="100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‏ marks a contrast.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4" name="Text 41"/>
          <p:cNvSpPr txBox="1"/>
          <p:nvPr/>
        </p:nvSpPr>
        <p:spPr>
          <a:xfrm>
            <a:off x="8211312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بِالإِضَافَةِ إِلَى ذٰلِكَ</a:t>
            </a:r>
            <a:endParaRPr lang="ar-SA" sz="3000" dirty="0"/>
          </a:p>
        </p:txBody>
      </p:sp>
      <p:sp>
        <p:nvSpPr>
          <p:cNvPr id="45" name="Text 42"/>
          <p:cNvSpPr txBox="1"/>
          <p:nvPr/>
        </p:nvSpPr>
        <p:spPr>
          <a:xfrm>
            <a:off x="8238744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addition to that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bil-ʾi-ḍā-fa-ti i-lā dhā-li-ka</a:t>
            </a:r>
            <a:endParaRPr lang="en-US" sz="1350" dirty="0"/>
          </a:p>
        </p:txBody>
      </p:sp>
      <p:sp>
        <p:nvSpPr>
          <p:cNvPr id="46" name="Shape 43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7" name="Shape 44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49" name="Shape 46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1" name="Text 48"/>
          <p:cNvSpPr txBox="1"/>
          <p:nvPr/>
        </p:nvSpPr>
        <p:spPr>
          <a:xfrm>
            <a:off x="4389120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رَأْيِي</a:t>
            </a:r>
            <a:endParaRPr lang="ar-SA" sz="3000" dirty="0"/>
          </a:p>
        </p:txBody>
      </p:sp>
      <p:sp>
        <p:nvSpPr>
          <p:cNvPr id="52" name="Text 49"/>
          <p:cNvSpPr txBox="1"/>
          <p:nvPr/>
        </p:nvSpPr>
        <p:spPr>
          <a:xfrm>
            <a:off x="4416552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my opinion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fī raʾ-yī</a:t>
            </a:r>
            <a:endParaRPr lang="en-US" sz="1350" dirty="0"/>
          </a:p>
        </p:txBody>
      </p:sp>
      <p:sp>
        <p:nvSpPr>
          <p:cNvPr id="53" name="Shape 50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4" name="Shape 51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56" name="Shape 53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8" name="Text 55"/>
          <p:cNvSpPr txBox="1"/>
          <p:nvPr/>
        </p:nvSpPr>
        <p:spPr>
          <a:xfrm>
            <a:off x="566928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أَتَمَنَّى أَنْ</a:t>
            </a:r>
            <a:endParaRPr lang="ar-SA" sz="3000" dirty="0"/>
          </a:p>
        </p:txBody>
      </p:sp>
      <p:sp>
        <p:nvSpPr>
          <p:cNvPr id="59" name="Text 56"/>
          <p:cNvSpPr txBox="1"/>
          <p:nvPr/>
        </p:nvSpPr>
        <p:spPr>
          <a:xfrm>
            <a:off x="594360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hope to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a-ta-man-nā an</a:t>
            </a:r>
            <a:endParaRPr lang="en-US" sz="1350" dirty="0"/>
          </a:p>
        </p:txBody>
      </p:sp>
      <p:sp>
        <p:nvSpPr>
          <p:cNvPr id="60" name="Text 5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24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D5-W05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STEP 1 · WORDS FROM D5-L10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D5-L10 · Listening — Sport, Leisure and Past Events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كَلِمَاتُ الدَّرْسِ الثَّانِي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D5 · Hobbies, Sport and Leisure · D5-W05 · Apply workshop (D5-L09 + D5-L10)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8211312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التَّعَرُّفُ عَلَى الأَفْعَالِ</a:t>
            </a:r>
            <a:endParaRPr lang="ar-SA" sz="3000" dirty="0"/>
          </a:p>
        </p:txBody>
      </p:sp>
      <p:sp>
        <p:nvSpPr>
          <p:cNvPr id="21" name="Text 18"/>
          <p:cNvSpPr txBox="1"/>
          <p:nvPr/>
        </p:nvSpPr>
        <p:spPr>
          <a:xfrm>
            <a:off x="8238744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recognising the verbs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at-ta-ʿar-ru-fu ʿa-lā al-af-ʿā-li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7" name="Text 24"/>
          <p:cNvSpPr txBox="1"/>
          <p:nvPr/>
        </p:nvSpPr>
        <p:spPr>
          <a:xfrm>
            <a:off x="4389120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الكَلَامُ السَّرِيعُ</a:t>
            </a:r>
            <a:endParaRPr lang="ar-SA" sz="3000" dirty="0"/>
          </a:p>
        </p:txBody>
      </p:sp>
      <p:sp>
        <p:nvSpPr>
          <p:cNvPr id="28" name="Text 25"/>
          <p:cNvSpPr txBox="1"/>
          <p:nvPr/>
        </p:nvSpPr>
        <p:spPr>
          <a:xfrm>
            <a:off x="4416552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fast speech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al-ka-lā-mu as-sa-rī-ʿu</a:t>
            </a:r>
            <a:endParaRPr lang="en-US" sz="1350" dirty="0"/>
          </a:p>
        </p:txBody>
      </p:sp>
      <p:sp>
        <p:nvSpPr>
          <p:cNvPr id="29" name="Shape 26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960120" y="1938528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960120" y="1938528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Signals past.</a:t>
            </a:r>
            <a:endParaRPr lang="en-US" sz="800" dirty="0"/>
          </a:p>
        </p:txBody>
      </p:sp>
      <p:sp>
        <p:nvSpPr>
          <p:cNvPr id="34" name="Shape 31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6" name="Text 33"/>
          <p:cNvSpPr txBox="1"/>
          <p:nvPr/>
        </p:nvSpPr>
        <p:spPr>
          <a:xfrm>
            <a:off x="566928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أَمْسِ</a:t>
            </a:r>
            <a:endParaRPr lang="ar-SA" sz="3000" dirty="0"/>
          </a:p>
        </p:txBody>
      </p:sp>
      <p:sp>
        <p:nvSpPr>
          <p:cNvPr id="37" name="Text 34"/>
          <p:cNvSpPr txBox="1"/>
          <p:nvPr/>
        </p:nvSpPr>
        <p:spPr>
          <a:xfrm>
            <a:off x="594360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yesterday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am-si</a:t>
            </a:r>
            <a:endParaRPr lang="en-US" sz="1350" dirty="0"/>
          </a:p>
        </p:txBody>
      </p:sp>
      <p:sp>
        <p:nvSpPr>
          <p:cNvPr id="38" name="Shape 35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9" name="Shape 36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8604504" y="4279392"/>
            <a:ext cx="164226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04504" y="4279392"/>
            <a:ext cx="164226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Signals present habit.</a:t>
            </a:r>
            <a:endParaRPr lang="en-US" sz="800" dirty="0"/>
          </a:p>
        </p:txBody>
      </p:sp>
      <p:sp>
        <p:nvSpPr>
          <p:cNvPr id="43" name="Shape 40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5" name="Text 42"/>
          <p:cNvSpPr txBox="1"/>
          <p:nvPr/>
        </p:nvSpPr>
        <p:spPr>
          <a:xfrm>
            <a:off x="8211312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كُلَّ يَوْمٍ</a:t>
            </a:r>
            <a:endParaRPr lang="ar-SA" sz="3000" dirty="0"/>
          </a:p>
        </p:txBody>
      </p:sp>
      <p:sp>
        <p:nvSpPr>
          <p:cNvPr id="46" name="Text 43"/>
          <p:cNvSpPr txBox="1"/>
          <p:nvPr/>
        </p:nvSpPr>
        <p:spPr>
          <a:xfrm>
            <a:off x="8238744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every day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kul-la yaw-min</a:t>
            </a:r>
            <a:endParaRPr lang="en-US" sz="1350" dirty="0"/>
          </a:p>
        </p:txBody>
      </p:sp>
      <p:sp>
        <p:nvSpPr>
          <p:cNvPr id="47" name="Shape 44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50" name="Shape 47"/>
          <p:cNvSpPr/>
          <p:nvPr/>
        </p:nvSpPr>
        <p:spPr>
          <a:xfrm>
            <a:off x="4782312" y="4279392"/>
            <a:ext cx="120700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4782312" y="4279392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Signals future.</a:t>
            </a:r>
            <a:endParaRPr lang="en-US" sz="800" dirty="0"/>
          </a:p>
        </p:txBody>
      </p:sp>
      <p:sp>
        <p:nvSpPr>
          <p:cNvPr id="52" name="Shape 49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4" name="Text 51"/>
          <p:cNvSpPr txBox="1"/>
          <p:nvPr/>
        </p:nvSpPr>
        <p:spPr>
          <a:xfrm>
            <a:off x="4389120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الأُسْبُوعَ القَادِمَ</a:t>
            </a:r>
            <a:endParaRPr lang="ar-SA" sz="3000" dirty="0"/>
          </a:p>
        </p:txBody>
      </p:sp>
      <p:sp>
        <p:nvSpPr>
          <p:cNvPr id="55" name="Text 52"/>
          <p:cNvSpPr txBox="1"/>
          <p:nvPr/>
        </p:nvSpPr>
        <p:spPr>
          <a:xfrm>
            <a:off x="4416552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next week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al-us-bū-ʿa al-qā-di-ma</a:t>
            </a:r>
            <a:endParaRPr lang="en-US" sz="1350" dirty="0"/>
          </a:p>
        </p:txBody>
      </p:sp>
      <p:sp>
        <p:nvSpPr>
          <p:cNvPr id="56" name="Shape 53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7" name="Shape 54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59" name="Shape 56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1" name="Text 58"/>
          <p:cNvSpPr txBox="1"/>
          <p:nvPr/>
        </p:nvSpPr>
        <p:spPr>
          <a:xfrm>
            <a:off x="566928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فَازَ بِـ</a:t>
            </a:r>
            <a:endParaRPr lang="ar-SA" sz="3000" dirty="0"/>
          </a:p>
        </p:txBody>
      </p:sp>
      <p:sp>
        <p:nvSpPr>
          <p:cNvPr id="62" name="Text 59"/>
          <p:cNvSpPr txBox="1"/>
          <p:nvPr/>
        </p:nvSpPr>
        <p:spPr>
          <a:xfrm>
            <a:off x="594360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won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fā-za bi</a:t>
            </a:r>
            <a:endParaRPr lang="en-US" sz="1350" dirty="0"/>
          </a:p>
        </p:txBody>
      </p:sp>
      <p:sp>
        <p:nvSpPr>
          <p:cNvPr id="63" name="Text 60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24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D5-W05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4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1 · STEP 2 · SORT IT · READ EACH CARD, THEN SORT IT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Then, or now and next?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صَنِّفِ البِطَاقَاتِ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D5 · Hobbies, Sport and Leisure · D5-W05 · Apply workshop (D5-L09 + D5-L10)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9015984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9107424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 أَلْعَبُ</a:t>
            </a:r>
            <a:endParaRPr lang="ar-SA" sz="1800" dirty="0"/>
          </a:p>
        </p:txBody>
      </p:sp>
      <p:sp>
        <p:nvSpPr>
          <p:cNvPr id="17" name="Shape 14"/>
          <p:cNvSpPr/>
          <p:nvPr/>
        </p:nvSpPr>
        <p:spPr>
          <a:xfrm>
            <a:off x="6163056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6254496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أَمَّا الآنَ فَأُمَارِسُ</a:t>
            </a:r>
            <a:endParaRPr lang="ar-SA" sz="1800" dirty="0"/>
          </a:p>
        </p:txBody>
      </p:sp>
      <p:sp>
        <p:nvSpPr>
          <p:cNvPr id="19" name="Shape 16"/>
          <p:cNvSpPr/>
          <p:nvPr/>
        </p:nvSpPr>
        <p:spPr>
          <a:xfrm>
            <a:off x="3310128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3401568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كُلَّ يَوْمٍ</a:t>
            </a:r>
            <a:endParaRPr lang="ar-SA" sz="1800" dirty="0"/>
          </a:p>
        </p:txBody>
      </p:sp>
      <p:sp>
        <p:nvSpPr>
          <p:cNvPr id="21" name="Shape 18"/>
          <p:cNvSpPr/>
          <p:nvPr/>
        </p:nvSpPr>
        <p:spPr>
          <a:xfrm>
            <a:off x="457200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548640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تَدَرَّبْتُ أَمْسِ</a:t>
            </a:r>
            <a:endParaRPr lang="ar-SA" sz="1800" dirty="0"/>
          </a:p>
        </p:txBody>
      </p:sp>
      <p:sp>
        <p:nvSpPr>
          <p:cNvPr id="23" name="Shape 20"/>
          <p:cNvSpPr/>
          <p:nvPr/>
        </p:nvSpPr>
        <p:spPr>
          <a:xfrm>
            <a:off x="9015984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9107424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الطُّفُولَةِ</a:t>
            </a:r>
            <a:endParaRPr lang="ar-SA" sz="1800" dirty="0"/>
          </a:p>
        </p:txBody>
      </p:sp>
      <p:sp>
        <p:nvSpPr>
          <p:cNvPr id="25" name="Shape 22"/>
          <p:cNvSpPr/>
          <p:nvPr/>
        </p:nvSpPr>
        <p:spPr>
          <a:xfrm>
            <a:off x="6163056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6254496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سَأَشْتَرِكُ فِي نَادٍ</a:t>
            </a:r>
            <a:endParaRPr lang="ar-SA" sz="1800" dirty="0"/>
          </a:p>
        </p:txBody>
      </p:sp>
      <p:sp>
        <p:nvSpPr>
          <p:cNvPr id="27" name="Shape 24"/>
          <p:cNvSpPr/>
          <p:nvPr/>
        </p:nvSpPr>
        <p:spPr>
          <a:xfrm>
            <a:off x="3310128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3401568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أَنْوِي أَنْ أَتَعَلَّمَ</a:t>
            </a:r>
            <a:endParaRPr lang="ar-SA" sz="1800" dirty="0"/>
          </a:p>
        </p:txBody>
      </p:sp>
      <p:sp>
        <p:nvSpPr>
          <p:cNvPr id="29" name="Shape 26"/>
          <p:cNvSpPr/>
          <p:nvPr/>
        </p:nvSpPr>
        <p:spPr>
          <a:xfrm>
            <a:off x="457200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548640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شَارَكْتُ فِي سِبَاقٍ</a:t>
            </a:r>
            <a:endParaRPr lang="ar-SA" sz="1800" dirty="0"/>
          </a:p>
        </p:txBody>
      </p:sp>
      <p:sp>
        <p:nvSpPr>
          <p:cNvPr id="31" name="Shape 28"/>
          <p:cNvSpPr/>
          <p:nvPr/>
        </p:nvSpPr>
        <p:spPr>
          <a:xfrm>
            <a:off x="6185916" y="3017520"/>
            <a:ext cx="5545836" cy="3291840"/>
          </a:xfrm>
          <a:prstGeom prst="roundRect">
            <a:avLst>
              <a:gd name="adj" fmla="val 2222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323076" y="3127248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323076" y="3127248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 · Then: past and “used to”</a:t>
            </a:r>
            <a:endParaRPr lang="en-US" sz="950" dirty="0"/>
          </a:p>
        </p:txBody>
      </p:sp>
      <p:sp>
        <p:nvSpPr>
          <p:cNvPr id="34" name="Shape 31"/>
          <p:cNvSpPr/>
          <p:nvPr/>
        </p:nvSpPr>
        <p:spPr>
          <a:xfrm>
            <a:off x="457200" y="3017520"/>
            <a:ext cx="5545836" cy="3291840"/>
          </a:xfrm>
          <a:prstGeom prst="roundRect">
            <a:avLst>
              <a:gd name="adj" fmla="val 2222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94360" y="3127248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94360" y="3127248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 · Now and next: present and future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24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D5-W05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STEP 2 · ANSWERS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Sort: answers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صَنِّفِ البِطَاقَاتِ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D5 · Hobbies, Sport and Leisure · D5-W05 · Apply workshop (D5-L09 + D5-L10)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6185916" y="1810512"/>
            <a:ext cx="5545836" cy="4498848"/>
          </a:xfrm>
          <a:prstGeom prst="roundRect">
            <a:avLst>
              <a:gd name="adj" fmla="val 1626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323076" y="1920240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323076" y="1920240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 · Then: past and “used to”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323076" y="2377440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414516" y="2377440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 أَلْعَبُ</a:t>
            </a:r>
            <a:endParaRPr lang="ar-SA" sz="1800" dirty="0"/>
          </a:p>
        </p:txBody>
      </p:sp>
      <p:sp>
        <p:nvSpPr>
          <p:cNvPr id="20" name="Shape 17"/>
          <p:cNvSpPr/>
          <p:nvPr/>
        </p:nvSpPr>
        <p:spPr>
          <a:xfrm>
            <a:off x="6323076" y="2889504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414516" y="2889504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تَدَرَّبْتُ أَمْسِ</a:t>
            </a:r>
            <a:endParaRPr lang="ar-SA" sz="1800" dirty="0"/>
          </a:p>
        </p:txBody>
      </p:sp>
      <p:sp>
        <p:nvSpPr>
          <p:cNvPr id="22" name="Shape 19"/>
          <p:cNvSpPr/>
          <p:nvPr/>
        </p:nvSpPr>
        <p:spPr>
          <a:xfrm>
            <a:off x="6323076" y="3401568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414516" y="3401568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الطُّفُولَةِ</a:t>
            </a:r>
            <a:endParaRPr lang="ar-SA" sz="1800" dirty="0"/>
          </a:p>
        </p:txBody>
      </p:sp>
      <p:sp>
        <p:nvSpPr>
          <p:cNvPr id="24" name="Shape 21"/>
          <p:cNvSpPr/>
          <p:nvPr/>
        </p:nvSpPr>
        <p:spPr>
          <a:xfrm>
            <a:off x="6323076" y="3913632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414516" y="3913632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شَارَكْتُ فِي سِبَاقٍ</a:t>
            </a:r>
            <a:endParaRPr lang="ar-SA" sz="1800" dirty="0"/>
          </a:p>
        </p:txBody>
      </p:sp>
      <p:sp>
        <p:nvSpPr>
          <p:cNvPr id="26" name="Shape 23"/>
          <p:cNvSpPr/>
          <p:nvPr/>
        </p:nvSpPr>
        <p:spPr>
          <a:xfrm>
            <a:off x="457200" y="1810512"/>
            <a:ext cx="5545836" cy="4498848"/>
          </a:xfrm>
          <a:prstGeom prst="roundRect">
            <a:avLst>
              <a:gd name="adj" fmla="val 1626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94360" y="1920240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94360" y="1920240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 · Now and next: present and future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94360" y="2377440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85800" y="2377440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أَمَّا الآنَ فَأُمَارِسُ</a:t>
            </a:r>
            <a:endParaRPr lang="ar-SA" sz="1800" dirty="0"/>
          </a:p>
        </p:txBody>
      </p:sp>
      <p:sp>
        <p:nvSpPr>
          <p:cNvPr id="31" name="Shape 28"/>
          <p:cNvSpPr/>
          <p:nvPr/>
        </p:nvSpPr>
        <p:spPr>
          <a:xfrm>
            <a:off x="594360" y="2889504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85800" y="2889504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كُلَّ يَوْمٍ</a:t>
            </a:r>
            <a:endParaRPr lang="ar-SA" sz="1800" dirty="0"/>
          </a:p>
        </p:txBody>
      </p:sp>
      <p:sp>
        <p:nvSpPr>
          <p:cNvPr id="33" name="Shape 30"/>
          <p:cNvSpPr/>
          <p:nvPr/>
        </p:nvSpPr>
        <p:spPr>
          <a:xfrm>
            <a:off x="594360" y="3401568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85800" y="3401568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سَأَشْتَرِكُ فِي نَادٍ</a:t>
            </a:r>
            <a:endParaRPr lang="ar-SA" sz="1800" dirty="0"/>
          </a:p>
        </p:txBody>
      </p:sp>
      <p:sp>
        <p:nvSpPr>
          <p:cNvPr id="35" name="Shape 32"/>
          <p:cNvSpPr/>
          <p:nvPr/>
        </p:nvSpPr>
        <p:spPr>
          <a:xfrm>
            <a:off x="594360" y="3913632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85800" y="3913632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أَنْوِي أَنْ أَتَعَلَّمَ</a:t>
            </a:r>
            <a:endParaRPr lang="ar-SA" sz="1800" dirty="0"/>
          </a:p>
        </p:txBody>
      </p:sp>
      <p:sp>
        <p:nvSpPr>
          <p:cNvPr id="37" name="Text 34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24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D5-W05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34" b="1" spc="15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2 · STEP 3 · SAY THE MODEL DIALOGUE · BOTH LESSONS IN ONE CONVERSATION</a:t>
            </a:r>
            <a:endParaRPr lang="en-US" sz="934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 podcast interview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مُقَابَلَةٌ فِي البُودْكَاسْتِ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D5 · Hobbies, Sport and Leisure · D5-W05 · Apply workshop (D5-L09 + D5-L10)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754112" y="1810512"/>
            <a:ext cx="3904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444752" y="1810512"/>
            <a:ext cx="6163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Say it in Arabic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Who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90688" y="2267712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did you use to do as a child?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1463040" y="2267712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كُنْتَ تَفْعَلُ فِي الطُّفُولَةِ؟</a:t>
            </a:r>
            <a:endParaRPr lang="ar-SA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2267712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790688" y="2881884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used to play tennis every Saturday with my father.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463040" y="2881884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 أَلْعَبُ التِّنِسَ كُلَّ سَبْتٍ مَعَ أَبِي.</a:t>
            </a:r>
            <a:endParaRPr lang="ar-SA" sz="190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2881884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790688" y="3496056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And now?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1463040" y="3496056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وَالآنَ؟</a:t>
            </a:r>
            <a:endParaRPr lang="ar-SA" sz="190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3496056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790688" y="4110228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But now I swim three times a week; yesterday I trained for two hours.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463040" y="4110228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أَمَّا الآنَ فَأُمَارِسُ السِّبَاحَةَ ثَلَاثَ مَرَّاتٍ فِي الأُسْبُوعِ؛ أَمْسِ تَدَرَّبْتُ سَاعَتَيْنِ.</a:t>
            </a:r>
            <a:endParaRPr lang="ar-SA" sz="19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4110228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790688" y="4724400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And what are your plans?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463040" y="4724400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 خُطَطُكَ؟</a:t>
            </a:r>
            <a:endParaRPr lang="ar-SA" sz="19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724400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790688" y="5338572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will take part in a race next month, and I believe that sport teaches us patience.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1463040" y="5338572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سَأُشَارِكُ فِي سِبَاقٍ الشَّهْرَ القَادِمَ، وَأَعْتَقِدُ أَنَّ الرِّيَاضَةَ تُعَلِّمُنَا الصَّبْرَ.</a:t>
            </a:r>
            <a:endParaRPr lang="ar-SA" sz="1900" dirty="0"/>
          </a:p>
        </p:txBody>
      </p:sp>
      <p:sp>
        <p:nvSpPr>
          <p:cNvPr id="42" name="Text 39"/>
          <p:cNvSpPr txBox="1"/>
          <p:nvPr/>
        </p:nvSpPr>
        <p:spPr>
          <a:xfrm>
            <a:off x="566928" y="5338572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Round 1: read it in pairs (A and B). Round 2: swap letters. Round 3: cover the Arabic and say it from the English. Then change TWO details — one from each lesson — and say it again.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24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D5-W05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4 · QUESTION CARDS · QUESTIONS FROM BOTH LESSONS, MIXED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Mixed questions — answer, then add more</a:t>
            </a:r>
            <a:endParaRPr lang="en-US" sz="23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أَسْئِلَةٌ مِنَ الدَّرْسَيْنِ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D5 · Hobbies, Sport and Leisure · D5-W05 · Apply workshop (D5-L09 + D5-L10)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720072" y="1810512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Add more (Develop · Stretch)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6976872" y="1810512"/>
            <a:ext cx="2596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your answer (Core)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599432" y="1810512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3327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Partner A asks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738360" y="2267712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وَمَرَّةً …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6995160" y="2267712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الطُّفُولَةِ كُنْتُ أَلْعَبُ …</a:t>
            </a:r>
            <a:endParaRPr lang="ar-SA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4636008" y="2267712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¶1 What did you use to do as a child?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51560" y="2267712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¶١ مَاذَا كُنْتَ تَفْعَلُ فِي الطُّفُولَةِ؟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2267712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9" name="Shape 26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738360" y="2881884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الدَّلِيلُ: «سَأُشَارِكُ»</a:t>
            </a:r>
            <a:endParaRPr lang="ar-SA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6995160" y="2881884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الشَّهْرَ القَادِمَ …</a:t>
            </a:r>
            <a:endParaRPr lang="ar-SA" sz="1600" dirty="0"/>
          </a:p>
        </p:txBody>
      </p:sp>
      <p:sp>
        <p:nvSpPr>
          <p:cNvPr id="32" name="Text 29"/>
          <p:cNvSpPr txBox="1"/>
          <p:nvPr/>
        </p:nvSpPr>
        <p:spPr>
          <a:xfrm>
            <a:off x="4636008" y="2881884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“I took part in a race, and I’ll take part in another next month.” — When is the second race?</a:t>
            </a:r>
            <a:endParaRPr lang="en-US" sz="105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2881884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2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شَارَكْتُ فِي سِبَاقٍ، وَسَأُشَارِكُ فِي سِبَاقٍ آخَرَ الشَّهْرَ القَادِمَ. — مَتَى السِّبَاقُ الثَّانِي؟</a:t>
            </a:r>
            <a:endParaRPr lang="ar-SA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2881884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7" name="Shape 34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9756648" y="3496056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6995160" y="3496056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أَتَذَكَّرُ يَوْمًا عِنْدَمَا …</a:t>
            </a:r>
            <a:endParaRPr lang="ar-SA" sz="1600" dirty="0"/>
          </a:p>
        </p:txBody>
      </p:sp>
      <p:sp>
        <p:nvSpPr>
          <p:cNvPr id="40" name="Text 37"/>
          <p:cNvSpPr txBox="1"/>
          <p:nvPr/>
        </p:nvSpPr>
        <p:spPr>
          <a:xfrm>
            <a:off x="4636008" y="3496056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¶1 Mention a special memory.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1051560" y="3496056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¶١ اذْكُرْ ذِكْرَى خَاصَّةً.</a:t>
            </a:r>
            <a:endParaRPr lang="ar-SA" sz="1700" dirty="0"/>
          </a:p>
        </p:txBody>
      </p:sp>
      <p:sp>
        <p:nvSpPr>
          <p:cNvPr id="42" name="Text 39"/>
          <p:cNvSpPr txBox="1"/>
          <p:nvPr/>
        </p:nvSpPr>
        <p:spPr>
          <a:xfrm>
            <a:off x="566928" y="3496056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11091672" y="3541776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11091672" y="354177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5" name="Shape 42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9756648" y="4110228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Trap: ‏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التِّنِسُ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‏ = ‏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المَاضِي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‏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995160" y="4110228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الغُولْفَ …</a:t>
            </a:r>
            <a:endParaRPr lang="ar-SA" sz="1600" dirty="0"/>
          </a:p>
        </p:txBody>
      </p:sp>
      <p:sp>
        <p:nvSpPr>
          <p:cNvPr id="48" name="Text 45"/>
          <p:cNvSpPr txBox="1"/>
          <p:nvPr/>
        </p:nvSpPr>
        <p:spPr>
          <a:xfrm>
            <a:off x="4636008" y="4110228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“I used to play tennis; now I play golf.” — What now?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1051560" y="4110228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2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 أَلْعَبُ التِّنِسَ، وَالآنَ أَلْعَبُ الغُولْفَ. — مَاذَا يَلْعَبُ الآنَ؟</a:t>
            </a:r>
            <a:endParaRPr lang="ar-SA" sz="1250" dirty="0"/>
          </a:p>
        </p:txBody>
      </p:sp>
      <p:sp>
        <p:nvSpPr>
          <p:cNvPr id="50" name="Text 47"/>
          <p:cNvSpPr txBox="1"/>
          <p:nvPr/>
        </p:nvSpPr>
        <p:spPr>
          <a:xfrm>
            <a:off x="566928" y="4110228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51" name="Shape 48"/>
          <p:cNvSpPr/>
          <p:nvPr/>
        </p:nvSpPr>
        <p:spPr>
          <a:xfrm>
            <a:off x="11091672" y="415594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1091672" y="415594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3" name="Shape 50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9738360" y="4724400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بِالإِضَافَةِ إِلَى ذٰلِكَ …</a:t>
            </a:r>
            <a:endParaRPr lang="ar-SA" sz="1500" dirty="0"/>
          </a:p>
        </p:txBody>
      </p:sp>
      <p:sp>
        <p:nvSpPr>
          <p:cNvPr id="55" name="Text 52"/>
          <p:cNvSpPr txBox="1"/>
          <p:nvPr/>
        </p:nvSpPr>
        <p:spPr>
          <a:xfrm>
            <a:off x="6995160" y="4724400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أَمَّا الآنَ فَأُمَارِسُ …</a:t>
            </a:r>
            <a:endParaRPr lang="ar-SA" sz="1600" dirty="0"/>
          </a:p>
        </p:txBody>
      </p:sp>
      <p:sp>
        <p:nvSpPr>
          <p:cNvPr id="56" name="Text 53"/>
          <p:cNvSpPr txBox="1"/>
          <p:nvPr/>
        </p:nvSpPr>
        <p:spPr>
          <a:xfrm>
            <a:off x="4636008" y="4724400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¶2 What do you do now?</a:t>
            </a:r>
            <a:endParaRPr lang="en-US" sz="1100" dirty="0"/>
          </a:p>
        </p:txBody>
      </p:sp>
      <p:sp>
        <p:nvSpPr>
          <p:cNvPr id="57" name="Text 54"/>
          <p:cNvSpPr txBox="1"/>
          <p:nvPr/>
        </p:nvSpPr>
        <p:spPr>
          <a:xfrm>
            <a:off x="1051560" y="4724400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¶٢ مَاذَا تَفْعَلُ الآنَ؟</a:t>
            </a:r>
            <a:endParaRPr lang="ar-SA" sz="1700" dirty="0"/>
          </a:p>
        </p:txBody>
      </p:sp>
      <p:sp>
        <p:nvSpPr>
          <p:cNvPr id="58" name="Text 55"/>
          <p:cNvSpPr txBox="1"/>
          <p:nvPr/>
        </p:nvSpPr>
        <p:spPr>
          <a:xfrm>
            <a:off x="566928" y="4724400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9" name="Shape 5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9756648" y="5338572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…</a:t>
            </a:r>
            <a:endParaRPr lang="en-US" sz="1100" dirty="0"/>
          </a:p>
        </p:txBody>
      </p:sp>
      <p:sp>
        <p:nvSpPr>
          <p:cNvPr id="61" name="Text 58"/>
          <p:cNvSpPr txBox="1"/>
          <p:nvPr/>
        </p:nvSpPr>
        <p:spPr>
          <a:xfrm>
            <a:off x="6995160" y="5338572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النِّهَائِيَّ …</a:t>
            </a:r>
            <a:endParaRPr lang="ar-SA" sz="1600" dirty="0"/>
          </a:p>
        </p:txBody>
      </p:sp>
      <p:sp>
        <p:nvSpPr>
          <p:cNvPr id="62" name="Text 59"/>
          <p:cNvSpPr txBox="1"/>
          <p:nvPr/>
        </p:nvSpPr>
        <p:spPr>
          <a:xfrm>
            <a:off x="4636008" y="5338572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“We watched the match yesterday; we will watch the final tomorrow.” — Tomorrow?</a:t>
            </a:r>
            <a:endParaRPr lang="en-US" sz="1100" dirty="0"/>
          </a:p>
        </p:txBody>
      </p:sp>
      <p:sp>
        <p:nvSpPr>
          <p:cNvPr id="63" name="Text 60"/>
          <p:cNvSpPr txBox="1"/>
          <p:nvPr/>
        </p:nvSpPr>
        <p:spPr>
          <a:xfrm>
            <a:off x="1051560" y="5338572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2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شَاهَدْنَا المُبَارَاةَ أَمْسِ، وَسَنُشَاهِدُ النِّهَائِيَّ غَدًا. — مَاذَا سَيُشَاهِدُونَ غَدًا؟</a:t>
            </a:r>
            <a:endParaRPr lang="ar-SA" sz="1200" dirty="0"/>
          </a:p>
        </p:txBody>
      </p:sp>
      <p:sp>
        <p:nvSpPr>
          <p:cNvPr id="64" name="Text 61"/>
          <p:cNvSpPr txBox="1"/>
          <p:nvPr/>
        </p:nvSpPr>
        <p:spPr>
          <a:xfrm>
            <a:off x="566928" y="5338572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100" dirty="0"/>
          </a:p>
        </p:txBody>
      </p:sp>
      <p:sp>
        <p:nvSpPr>
          <p:cNvPr id="65" name="Text 6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Odd numbers come from D5-L09, even numbers from D5-L10. Core: a full sentence from the starter. Develop: add the “more” part. Stretch: link two answers with ‏</a:t>
            </a:r>
            <a:pPr algn="l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</a:t>
            </a:r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‏, ‏</a:t>
            </a:r>
            <a:pPr algn="l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‏ or ‏</a:t>
            </a:r>
            <a:pPr algn="l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</a:t>
            </a:r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‏. Swap after each question.</a:t>
            </a:r>
            <a:endParaRPr lang="en-US" sz="1100" dirty="0"/>
          </a:p>
        </p:txBody>
      </p:sp>
      <p:sp>
        <p:nvSpPr>
          <p:cNvPr id="66" name="Text 6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24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D5-W05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7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34" b="1" spc="15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5 · ROLE-PLAY CARD · PLANS FOR TASKS 1–2 ARE GIVEN — PLAN 3–5 YOURSELF</a:t>
            </a:r>
            <a:endParaRPr lang="en-US" sz="934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Listening card — which tense?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أَيُّ زَمَنٍ؟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D5 · Hobbies, Sport and Leisure · D5-W05 · Apply workshop (D5-L09 + D5-L10)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57032" y="1810512"/>
            <a:ext cx="3401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Plan: first words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496519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Speaker’s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785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Partner A reads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75320" y="2267712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← سَأُشَارِكُ + الشَّهْرَ القَادِمَ</a:t>
            </a:r>
            <a:endParaRPr lang="ar-SA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5001768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Find the future detail.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«شَارَكْتُ فِي سِبَاقٍ، وَسَأُشَارِكُ فِي سِبَاقٍ آخَرَ الشَّهْرَ القَادِمَ.» — مَتَى السِّبَاقُ الثَّانِي؟</a:t>
            </a:r>
            <a:endParaRPr lang="ar-SA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75320" y="3004718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الآنَ ← أَلْعَبُ …</a:t>
            </a:r>
            <a:endParaRPr lang="ar-SA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5001768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to vs now.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«كُنْتُ أَلْعَبُ التِّنِسَ، وَالآنَ أَلْعَبُ الغُولْفَ.» — مَاذَا يَلْعَبُ الآنَ؟</a:t>
            </a:r>
            <a:endParaRPr lang="ar-SA" sz="135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293608" y="3741725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______________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5001768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trap: ‏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لَمْ … بَلْ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…‏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«لَمْ أَتَدَرَّبْ أَمْسِ، بَلْ تَدَرَّبْتُ اليَوْمَ صَبَاحًا.» — مَتَى تَدَرَّبَ؟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293608" y="4478731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______________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5001768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Who does what?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«أُخْتِي تَرْسُمُ كُلَّ يَوْمٍ، أَمَّا أَنَا فَأَعْزِفُ عَلَى البِيَانُو.» — مَنْ يَرْسُمُ؟</a:t>
            </a:r>
            <a:endParaRPr lang="ar-SA" sz="13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293608" y="5215738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______________</a:t>
            </a: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5001768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Three tenses in three sentences.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وَأَنْتَ: مَا هِوَايَتُكَ فِي الطُّفُولَةِ، وَالآنَ، وَفِي المُسْتَقْبَلِ؟</a:t>
            </a:r>
            <a:endParaRPr lang="ar-SA" sz="15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Partner A reads each clip twice. Say the tense and the clue (an ending, a prefix, ‏</a:t>
            </a:r>
            <a:pPr algn="l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سَوْفَ</a:t>
            </a:r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‏, ‏</a:t>
            </a:r>
            <a:pPr algn="l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</a:t>
            </a:r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‏, a time marker), then the answer. Task ! is your then–now–next. Then swap.</a:t>
            </a:r>
            <a:endParaRPr lang="en-US" sz="110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24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D5-W05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4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6 · SHORT TALK · ONE MINUTE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My podcast clip: then, now, next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65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مَقْطَعِي: المَاضِي وَالحَاضِرُ وَالمُسْتَقْبَلُ</a:t>
            </a:r>
            <a:endParaRPr lang="ar-SA" sz="265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D5 · Hobbies, Sport and Leisure · D5-W05 · Apply workshop (D5-L09 + D5-L10)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STEP 6 · PAIRS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⏱  Talk for one minute — use both lessons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Record a one-minute clip about your free time in four parts: (1) what you used to do as a child + one memory, (2) your hobbies now and how often, (3) your plans, (4) your opinion on why hobbies matter. Your partner writes down every tense they hear.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Think for 30 seconds: 2 key words from EACH lesson, no sentences.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Speaker talks; the partner times it.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Partner: one thing that went well + one thing to improve.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— then the teacher invites two volunteers.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45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 أَلْعَبُ … · الآنَ أُمَارِسُ … · سَأَشْتَرِكُ …</a:t>
            </a:r>
            <a:endParaRPr lang="ar-SA" sz="14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Add one past event with a time marker (‏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أَمْسِ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الأُسْبُوعَ المَاضِيَ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‏).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Add ‏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أَمَّا الآنَ فَ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… · 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أَنْوِي أَنْ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… · 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أَعْتَقِدُ أَنَّ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…‏ and a trap with ‏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لَمْ … بَلْ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…‏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 … ثُمَّ …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first … then …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 … · لِذٰلِكَ …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because … · so …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رَأْيِي …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 my opinion …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الخِتَامِ …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 finish …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24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D5-W05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3 · STEP 7 · SENTENCE BUILDER · FROM BOTH LESSONS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Build three correct sentences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ابْنِ الجُمْلَةَ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D5 · Hobbies, Sport and Leisure · D5-W05 · Apply workshop (D5-L09 + D5-L10)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9180576" y="1700784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Column 1 · start here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624828" y="1700784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Column 2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4069080" y="1700784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Column 3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57200" y="2011680"/>
            <a:ext cx="11274552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594360" y="2148840"/>
            <a:ext cx="365760" cy="365760"/>
          </a:xfrm>
          <a:prstGeom prst="ellipse">
            <a:avLst/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94360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051560" y="2121408"/>
            <a:ext cx="28346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As a child I used to draw a lot.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9180576" y="2103120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235440" y="2103120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9500616" y="2103120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الطُّفُولَةِ</a:t>
            </a:r>
            <a:endParaRPr lang="ar-SA" sz="1800" dirty="0"/>
          </a:p>
        </p:txBody>
      </p:sp>
      <p:sp>
        <p:nvSpPr>
          <p:cNvPr id="25" name="Shape 22"/>
          <p:cNvSpPr/>
          <p:nvPr/>
        </p:nvSpPr>
        <p:spPr>
          <a:xfrm>
            <a:off x="9180576" y="267004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235440" y="267004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9500616" y="267004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المُسْتَقْبَلِ</a:t>
            </a:r>
            <a:endParaRPr lang="ar-SA" sz="1800" dirty="0"/>
          </a:p>
        </p:txBody>
      </p:sp>
      <p:sp>
        <p:nvSpPr>
          <p:cNvPr id="28" name="Shape 25"/>
          <p:cNvSpPr/>
          <p:nvPr/>
        </p:nvSpPr>
        <p:spPr>
          <a:xfrm>
            <a:off x="6624828" y="2103120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679692" y="2103120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6944868" y="2103120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 أَرْسُمُ</a:t>
            </a:r>
            <a:endParaRPr lang="ar-SA" sz="1800" dirty="0"/>
          </a:p>
        </p:txBody>
      </p:sp>
      <p:sp>
        <p:nvSpPr>
          <p:cNvPr id="31" name="Shape 28"/>
          <p:cNvSpPr/>
          <p:nvPr/>
        </p:nvSpPr>
        <p:spPr>
          <a:xfrm>
            <a:off x="6624828" y="267004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679692" y="267004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6944868" y="267004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سَأَرْسُمُ</a:t>
            </a:r>
            <a:endParaRPr lang="ar-SA" sz="1800" dirty="0"/>
          </a:p>
        </p:txBody>
      </p:sp>
      <p:sp>
        <p:nvSpPr>
          <p:cNvPr id="34" name="Shape 31"/>
          <p:cNvSpPr/>
          <p:nvPr/>
        </p:nvSpPr>
        <p:spPr>
          <a:xfrm>
            <a:off x="4069080" y="2103120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123944" y="2103120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4389120" y="2103120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كَثِيرًا.</a:t>
            </a:r>
            <a:endParaRPr lang="ar-SA" sz="1800" dirty="0"/>
          </a:p>
        </p:txBody>
      </p:sp>
      <p:sp>
        <p:nvSpPr>
          <p:cNvPr id="37" name="Shape 34"/>
          <p:cNvSpPr/>
          <p:nvPr/>
        </p:nvSpPr>
        <p:spPr>
          <a:xfrm>
            <a:off x="4069080" y="267004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4123944" y="267004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39" name="Text 36"/>
          <p:cNvSpPr txBox="1"/>
          <p:nvPr/>
        </p:nvSpPr>
        <p:spPr>
          <a:xfrm>
            <a:off x="4389120" y="267004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كَثِيرٌ.</a:t>
            </a:r>
            <a:endParaRPr lang="ar-SA" sz="1800" dirty="0"/>
          </a:p>
        </p:txBody>
      </p:sp>
      <p:sp>
        <p:nvSpPr>
          <p:cNvPr id="40" name="Shape 37"/>
          <p:cNvSpPr/>
          <p:nvPr/>
        </p:nvSpPr>
        <p:spPr>
          <a:xfrm>
            <a:off x="457200" y="3392424"/>
            <a:ext cx="11274552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594360" y="3529584"/>
            <a:ext cx="365760" cy="365760"/>
          </a:xfrm>
          <a:prstGeom prst="ellipse">
            <a:avLst/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94360" y="35295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2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3502152"/>
            <a:ext cx="28346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I used to swim, but now I run.</a:t>
            </a:r>
            <a:endParaRPr lang="en-US" sz="1400" dirty="0"/>
          </a:p>
        </p:txBody>
      </p:sp>
      <p:sp>
        <p:nvSpPr>
          <p:cNvPr id="44" name="Shape 41"/>
          <p:cNvSpPr/>
          <p:nvPr/>
        </p:nvSpPr>
        <p:spPr>
          <a:xfrm>
            <a:off x="9180576" y="3483864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9235440" y="3483864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46" name="Text 43"/>
          <p:cNvSpPr txBox="1"/>
          <p:nvPr/>
        </p:nvSpPr>
        <p:spPr>
          <a:xfrm>
            <a:off x="9500616" y="3483864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 أَسْبَحُ،</a:t>
            </a:r>
            <a:endParaRPr lang="ar-SA" sz="1800" dirty="0"/>
          </a:p>
        </p:txBody>
      </p:sp>
      <p:sp>
        <p:nvSpPr>
          <p:cNvPr id="47" name="Shape 44"/>
          <p:cNvSpPr/>
          <p:nvPr/>
        </p:nvSpPr>
        <p:spPr>
          <a:xfrm>
            <a:off x="9180576" y="4050792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9235440" y="4050792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9500616" y="4050792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سَبَحْتُ،</a:t>
            </a:r>
            <a:endParaRPr lang="ar-SA" sz="1800" dirty="0"/>
          </a:p>
        </p:txBody>
      </p:sp>
      <p:sp>
        <p:nvSpPr>
          <p:cNvPr id="50" name="Shape 47"/>
          <p:cNvSpPr/>
          <p:nvPr/>
        </p:nvSpPr>
        <p:spPr>
          <a:xfrm>
            <a:off x="6624828" y="3483864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6679692" y="3483864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52" name="Text 49"/>
          <p:cNvSpPr txBox="1"/>
          <p:nvPr/>
        </p:nvSpPr>
        <p:spPr>
          <a:xfrm>
            <a:off x="6944868" y="3483864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وَلٰكِنَّنِي الآنَ</a:t>
            </a:r>
            <a:endParaRPr lang="ar-SA" sz="1800" dirty="0"/>
          </a:p>
        </p:txBody>
      </p:sp>
      <p:sp>
        <p:nvSpPr>
          <p:cNvPr id="53" name="Shape 50"/>
          <p:cNvSpPr/>
          <p:nvPr/>
        </p:nvSpPr>
        <p:spPr>
          <a:xfrm>
            <a:off x="6624828" y="4050792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6679692" y="4050792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6944868" y="4050792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وَلٰكِنَّنِي أَمْسِ</a:t>
            </a:r>
            <a:endParaRPr lang="ar-SA" sz="1800" dirty="0"/>
          </a:p>
        </p:txBody>
      </p:sp>
      <p:sp>
        <p:nvSpPr>
          <p:cNvPr id="56" name="Shape 53"/>
          <p:cNvSpPr/>
          <p:nvPr/>
        </p:nvSpPr>
        <p:spPr>
          <a:xfrm>
            <a:off x="4069080" y="3483864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4123944" y="3483864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58" name="Text 55"/>
          <p:cNvSpPr txBox="1"/>
          <p:nvPr/>
        </p:nvSpPr>
        <p:spPr>
          <a:xfrm>
            <a:off x="4389120" y="3483864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أَرْكُضُ.</a:t>
            </a:r>
            <a:endParaRPr lang="ar-SA" sz="1800" dirty="0"/>
          </a:p>
        </p:txBody>
      </p:sp>
      <p:sp>
        <p:nvSpPr>
          <p:cNvPr id="59" name="Shape 56"/>
          <p:cNvSpPr/>
          <p:nvPr/>
        </p:nvSpPr>
        <p:spPr>
          <a:xfrm>
            <a:off x="4069080" y="4050792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4123944" y="4050792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61" name="Text 58"/>
          <p:cNvSpPr txBox="1"/>
          <p:nvPr/>
        </p:nvSpPr>
        <p:spPr>
          <a:xfrm>
            <a:off x="4389120" y="4050792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رَكَضْتُ.</a:t>
            </a:r>
            <a:endParaRPr lang="ar-SA" sz="1800" dirty="0"/>
          </a:p>
        </p:txBody>
      </p:sp>
      <p:sp>
        <p:nvSpPr>
          <p:cNvPr id="62" name="Shape 59"/>
          <p:cNvSpPr/>
          <p:nvPr/>
        </p:nvSpPr>
        <p:spPr>
          <a:xfrm>
            <a:off x="457200" y="4773168"/>
            <a:ext cx="11274552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3" name="Shape 60"/>
          <p:cNvSpPr/>
          <p:nvPr/>
        </p:nvSpPr>
        <p:spPr>
          <a:xfrm>
            <a:off x="594360" y="4910328"/>
            <a:ext cx="365760" cy="365760"/>
          </a:xfrm>
          <a:prstGeom prst="ellipse">
            <a:avLst/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594360" y="4910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200" dirty="0"/>
          </a:p>
        </p:txBody>
      </p:sp>
      <p:sp>
        <p:nvSpPr>
          <p:cNvPr id="65" name="Text 62"/>
          <p:cNvSpPr txBox="1"/>
          <p:nvPr/>
        </p:nvSpPr>
        <p:spPr>
          <a:xfrm>
            <a:off x="1051560" y="4882896"/>
            <a:ext cx="28346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As for now, I play tennis.</a:t>
            </a:r>
            <a:endParaRPr lang="en-US" sz="1400" dirty="0"/>
          </a:p>
        </p:txBody>
      </p:sp>
      <p:sp>
        <p:nvSpPr>
          <p:cNvPr id="66" name="Shape 63"/>
          <p:cNvSpPr/>
          <p:nvPr/>
        </p:nvSpPr>
        <p:spPr>
          <a:xfrm>
            <a:off x="9180576" y="486460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9235440" y="486460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68" name="Text 65"/>
          <p:cNvSpPr txBox="1"/>
          <p:nvPr/>
        </p:nvSpPr>
        <p:spPr>
          <a:xfrm>
            <a:off x="9500616" y="486460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أَمَّا الآنَ</a:t>
            </a:r>
            <a:endParaRPr lang="ar-SA" sz="1800" dirty="0"/>
          </a:p>
        </p:txBody>
      </p:sp>
      <p:sp>
        <p:nvSpPr>
          <p:cNvPr id="69" name="Shape 66"/>
          <p:cNvSpPr/>
          <p:nvPr/>
        </p:nvSpPr>
        <p:spPr>
          <a:xfrm>
            <a:off x="9180576" y="5431536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9235440" y="5431536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71" name="Text 68"/>
          <p:cNvSpPr txBox="1"/>
          <p:nvPr/>
        </p:nvSpPr>
        <p:spPr>
          <a:xfrm>
            <a:off x="9500616" y="5431536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أَمَّا الآنُ</a:t>
            </a:r>
            <a:endParaRPr lang="ar-SA" sz="1800" dirty="0"/>
          </a:p>
        </p:txBody>
      </p:sp>
      <p:sp>
        <p:nvSpPr>
          <p:cNvPr id="72" name="Shape 69"/>
          <p:cNvSpPr/>
          <p:nvPr/>
        </p:nvSpPr>
        <p:spPr>
          <a:xfrm>
            <a:off x="6624828" y="486460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6679692" y="486460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74" name="Text 71"/>
          <p:cNvSpPr txBox="1"/>
          <p:nvPr/>
        </p:nvSpPr>
        <p:spPr>
          <a:xfrm>
            <a:off x="6944868" y="486460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فَأَلْعَبُ</a:t>
            </a:r>
            <a:endParaRPr lang="ar-SA" sz="1800" dirty="0"/>
          </a:p>
        </p:txBody>
      </p:sp>
      <p:sp>
        <p:nvSpPr>
          <p:cNvPr id="75" name="Shape 72"/>
          <p:cNvSpPr/>
          <p:nvPr/>
        </p:nvSpPr>
        <p:spPr>
          <a:xfrm>
            <a:off x="6624828" y="5431536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6679692" y="5431536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77" name="Text 74"/>
          <p:cNvSpPr txBox="1"/>
          <p:nvPr/>
        </p:nvSpPr>
        <p:spPr>
          <a:xfrm>
            <a:off x="6944868" y="5431536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أَلْعَبُ</a:t>
            </a:r>
            <a:endParaRPr lang="ar-SA" sz="1800" dirty="0"/>
          </a:p>
        </p:txBody>
      </p:sp>
      <p:sp>
        <p:nvSpPr>
          <p:cNvPr id="78" name="Shape 75"/>
          <p:cNvSpPr/>
          <p:nvPr/>
        </p:nvSpPr>
        <p:spPr>
          <a:xfrm>
            <a:off x="4069080" y="486460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123944" y="486460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80" name="Text 77"/>
          <p:cNvSpPr txBox="1"/>
          <p:nvPr/>
        </p:nvSpPr>
        <p:spPr>
          <a:xfrm>
            <a:off x="4389120" y="486460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التِّنِسَ.</a:t>
            </a:r>
            <a:endParaRPr lang="ar-SA" sz="1800" dirty="0"/>
          </a:p>
        </p:txBody>
      </p:sp>
      <p:sp>
        <p:nvSpPr>
          <p:cNvPr id="81" name="Shape 78"/>
          <p:cNvSpPr/>
          <p:nvPr/>
        </p:nvSpPr>
        <p:spPr>
          <a:xfrm>
            <a:off x="4069080" y="5431536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4123944" y="5431536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83" name="Text 80"/>
          <p:cNvSpPr txBox="1"/>
          <p:nvPr/>
        </p:nvSpPr>
        <p:spPr>
          <a:xfrm>
            <a:off x="4389120" y="5431536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التِّنِسُ.</a:t>
            </a:r>
            <a:endParaRPr lang="ar-SA" sz="1800" dirty="0"/>
          </a:p>
        </p:txBody>
      </p:sp>
      <p:sp>
        <p:nvSpPr>
          <p:cNvPr id="84" name="Text 8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24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D5-W05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STEP 7 · CHECK YOUR SENTENCES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Sentence builder: answers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ابْنِ الجُمْلَةَ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D5 · Hobbies, Sport and Leisure · D5-W05 · Apply workshop (D5-L09 + D5-L10)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1353312"/>
          </a:xfrm>
          <a:prstGeom prst="roundRect">
            <a:avLst>
              <a:gd name="adj" fmla="val 5405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47672"/>
            <a:ext cx="365760" cy="36576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476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143000" y="190195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As a child I used to draw a lot.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1143000" y="235915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Columns = A · A · A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1143000" y="2633472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to = </a:t>
            </a:r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+ present.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4572000" y="1901952"/>
            <a:ext cx="6949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الطُّفُولَةِ كُنْتُ أَرْسُمُ كَثِيرًا.</a:t>
            </a:r>
            <a:endParaRPr lang="ar-SA" sz="2800" dirty="0"/>
          </a:p>
        </p:txBody>
      </p:sp>
      <p:sp>
        <p:nvSpPr>
          <p:cNvPr id="22" name="Shape 19"/>
          <p:cNvSpPr/>
          <p:nvPr/>
        </p:nvSpPr>
        <p:spPr>
          <a:xfrm>
            <a:off x="457200" y="3291840"/>
            <a:ext cx="11274552" cy="1353312"/>
          </a:xfrm>
          <a:prstGeom prst="roundRect">
            <a:avLst>
              <a:gd name="adj" fmla="val 5405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640080" y="3429000"/>
            <a:ext cx="365760" cy="36576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40080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1143000" y="33832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I used to swim, but now I run.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1143000" y="38404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Columns = A · A · A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1143000" y="4114800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to = </a:t>
            </a:r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+ present; now = present.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4572000" y="3383280"/>
            <a:ext cx="6949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 أَسْبَحُ، وَلٰكِنَّنِي الآنَ أَرْكُضُ.</a:t>
            </a:r>
            <a:endParaRPr lang="ar-SA" sz="2800" dirty="0"/>
          </a:p>
        </p:txBody>
      </p:sp>
      <p:sp>
        <p:nvSpPr>
          <p:cNvPr id="29" name="Shape 26"/>
          <p:cNvSpPr/>
          <p:nvPr/>
        </p:nvSpPr>
        <p:spPr>
          <a:xfrm>
            <a:off x="457200" y="4773168"/>
            <a:ext cx="11274552" cy="1353312"/>
          </a:xfrm>
          <a:prstGeom prst="roundRect">
            <a:avLst>
              <a:gd name="adj" fmla="val 5405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640080" y="4910328"/>
            <a:ext cx="365760" cy="36576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40080" y="4910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1143000" y="486460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As for now, I play tennis.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1143000" y="532180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Columns = A · A · A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1143000" y="5596128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أَمَّا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… + fa-.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4572000" y="4864608"/>
            <a:ext cx="6949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أَمَّا الآنَ فَأَلْعَبُ التِّنِسَ.</a:t>
            </a:r>
            <a:endParaRPr lang="ar-SA" sz="2800" dirty="0"/>
          </a:p>
        </p:txBody>
      </p:sp>
      <p:sp>
        <p:nvSpPr>
          <p:cNvPr id="36" name="Text 3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24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D5-W05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STEP 8 · SPOT AND FIX · MISTAKES FROM BOTH LESSONS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Find the mistake, fix it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اكْتَشِفِ الخَطَأَ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D5 · Hobbies, Sport and Leisure · D5-W05 · Apply workshop (D5-L09 + D5-L10)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FBEAEA"/>
          </a:solidFill>
          <a:ln w="9525">
            <a:solidFill>
              <a:srgbClr val="E3B4A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11183112" y="2249424"/>
            <a:ext cx="402336" cy="402336"/>
          </a:xfrm>
          <a:prstGeom prst="ellipse">
            <a:avLst/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1183112" y="22494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4023360" y="1901952"/>
            <a:ext cx="6976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الطُّفُولَةِ أَلْعَبُ فِي الحَدِيقَةِ.</a:t>
            </a:r>
            <a:endParaRPr lang="ar-SA" sz="30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1901952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Childhood = the past.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457200" y="3255264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FBEAEA"/>
          </a:solidFill>
          <a:ln w="9525">
            <a:solidFill>
              <a:srgbClr val="E3B4A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11183112" y="3694176"/>
            <a:ext cx="402336" cy="402336"/>
          </a:xfrm>
          <a:prstGeom prst="ellipse">
            <a:avLst/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1183112" y="36941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4023360" y="3346704"/>
            <a:ext cx="6976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«كُنْتُ أَلْعَبُ التِّنِسَ» ← يَلْعَبُ التِّنِسَ الآنَ.</a:t>
            </a:r>
            <a:endParaRPr lang="ar-SA" sz="3000" dirty="0"/>
          </a:p>
        </p:txBody>
      </p:sp>
      <p:sp>
        <p:nvSpPr>
          <p:cNvPr id="24" name="Text 21"/>
          <p:cNvSpPr txBox="1"/>
          <p:nvPr/>
        </p:nvSpPr>
        <p:spPr>
          <a:xfrm>
            <a:off x="731520" y="3346704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70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</a:t>
            </a:r>
            <a:pPr algn="l" indent="0" marL="0">
              <a:buNone/>
            </a:pPr>
            <a:r>
              <a:rPr lang="en-US" sz="13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+ present = ?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457200" y="4700016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FBEAEA"/>
          </a:solidFill>
          <a:ln w="9525">
            <a:solidFill>
              <a:srgbClr val="E3B4A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11183112" y="5138928"/>
            <a:ext cx="402336" cy="402336"/>
          </a:xfrm>
          <a:prstGeom prst="ellipse">
            <a:avLst/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1183112" y="51389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4023360" y="4791456"/>
            <a:ext cx="6976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أَمَّا الآنَ أُمَارِسُ السِّبَاحَةَ.</a:t>
            </a:r>
            <a:endParaRPr lang="ar-SA" sz="3000" dirty="0"/>
          </a:p>
        </p:txBody>
      </p:sp>
      <p:sp>
        <p:nvSpPr>
          <p:cNvPr id="29" name="Text 26"/>
          <p:cNvSpPr txBox="1"/>
          <p:nvPr/>
        </p:nvSpPr>
        <p:spPr>
          <a:xfrm>
            <a:off x="731520" y="4791456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70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أَمَّا</a:t>
            </a:r>
            <a:pPr algn="l" indent="0" marL="0">
              <a:buNone/>
            </a:pPr>
            <a:r>
              <a:rPr lang="en-US" sz="13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needs its partner.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24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D5-W05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STEP 8 · CORRECTIONS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Spot and fix: corrections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اكْتَشِفِ الخَطَأَ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D5 · Hobbies, Sport and Leisure · D5-W05 · Apply workshop (D5-L09 + D5-L10)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8503920" y="1901952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الطُّفُولَةِ أَلْعَبُ فِي الحَدِيقَةِ.</a:t>
            </a:r>
            <a:endParaRPr lang="ar-SA" sz="1800" dirty="0"/>
          </a:p>
        </p:txBody>
      </p:sp>
      <p:sp>
        <p:nvSpPr>
          <p:cNvPr id="17" name="Shape 14"/>
          <p:cNvSpPr/>
          <p:nvPr/>
        </p:nvSpPr>
        <p:spPr>
          <a:xfrm>
            <a:off x="8641080" y="2459736"/>
            <a:ext cx="2834640" cy="0"/>
          </a:xfrm>
          <a:prstGeom prst="line">
            <a:avLst/>
          </a:prstGeom>
          <a:noFill/>
          <a:ln w="15875">
            <a:solidFill>
              <a:srgbClr val="B8322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138160" y="1901952"/>
            <a:ext cx="365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←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3566160" y="1901952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الطُّفُولَةِ كُنْتُ أَلْعَبُ فِي الحَدِيقَةِ.</a:t>
            </a:r>
            <a:endParaRPr lang="ar-SA" sz="2400" dirty="0"/>
          </a:p>
        </p:txBody>
      </p:sp>
      <p:sp>
        <p:nvSpPr>
          <p:cNvPr id="20" name="Text 17"/>
          <p:cNvSpPr txBox="1"/>
          <p:nvPr/>
        </p:nvSpPr>
        <p:spPr>
          <a:xfrm>
            <a:off x="685800" y="1901952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Habit in the past → ‏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‏ + present.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457200" y="3255264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8503920" y="3346704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«كُنْتُ أَلْعَبُ التِّنِسَ» ← يَلْعَبُ التِّنِسَ الآنَ.</a:t>
            </a:r>
            <a:endParaRPr lang="ar-SA" sz="1800" dirty="0"/>
          </a:p>
        </p:txBody>
      </p:sp>
      <p:sp>
        <p:nvSpPr>
          <p:cNvPr id="23" name="Shape 20"/>
          <p:cNvSpPr/>
          <p:nvPr/>
        </p:nvSpPr>
        <p:spPr>
          <a:xfrm>
            <a:off x="8641080" y="3904488"/>
            <a:ext cx="2834640" cy="0"/>
          </a:xfrm>
          <a:prstGeom prst="line">
            <a:avLst/>
          </a:prstGeom>
          <a:noFill/>
          <a:ln w="15875">
            <a:solidFill>
              <a:srgbClr val="B8322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138160" y="3346704"/>
            <a:ext cx="365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←</a:t>
            </a:r>
            <a:endParaRPr lang="en-US" sz="2000" dirty="0"/>
          </a:p>
        </p:txBody>
      </p:sp>
      <p:sp>
        <p:nvSpPr>
          <p:cNvPr id="25" name="Text 22"/>
          <p:cNvSpPr txBox="1"/>
          <p:nvPr/>
        </p:nvSpPr>
        <p:spPr>
          <a:xfrm>
            <a:off x="3566160" y="3346704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 يَلْعَبُ التِّنِسَ فِي المَاضِي.</a:t>
            </a:r>
            <a:endParaRPr lang="ar-SA" sz="2400" dirty="0"/>
          </a:p>
        </p:txBody>
      </p:sp>
      <p:sp>
        <p:nvSpPr>
          <p:cNvPr id="26" name="Text 23"/>
          <p:cNvSpPr txBox="1"/>
          <p:nvPr/>
        </p:nvSpPr>
        <p:spPr>
          <a:xfrm>
            <a:off x="685800" y="3346704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‏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‏ + present = used to (past habit).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457200" y="4700016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8503920" y="4791456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أَمَّا الآنَ أُمَارِسُ السِّبَاحَةَ.</a:t>
            </a:r>
            <a:endParaRPr lang="ar-SA" sz="1800" dirty="0"/>
          </a:p>
        </p:txBody>
      </p:sp>
      <p:sp>
        <p:nvSpPr>
          <p:cNvPr id="29" name="Shape 26"/>
          <p:cNvSpPr/>
          <p:nvPr/>
        </p:nvSpPr>
        <p:spPr>
          <a:xfrm>
            <a:off x="8641080" y="5349240"/>
            <a:ext cx="2834640" cy="0"/>
          </a:xfrm>
          <a:prstGeom prst="line">
            <a:avLst/>
          </a:prstGeom>
          <a:noFill/>
          <a:ln w="15875">
            <a:solidFill>
              <a:srgbClr val="B8322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138160" y="4791456"/>
            <a:ext cx="365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←</a:t>
            </a:r>
            <a:endParaRPr lang="en-US" sz="2000" dirty="0"/>
          </a:p>
        </p:txBody>
      </p:sp>
      <p:sp>
        <p:nvSpPr>
          <p:cNvPr id="31" name="Text 28"/>
          <p:cNvSpPr txBox="1"/>
          <p:nvPr/>
        </p:nvSpPr>
        <p:spPr>
          <a:xfrm>
            <a:off x="3566160" y="4791456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أَمَّا الآنَ فَأُمَارِسُ السِّبَاحَةَ.</a:t>
            </a:r>
            <a:endParaRPr lang="ar-SA" sz="2400" dirty="0"/>
          </a:p>
        </p:txBody>
      </p:sp>
      <p:sp>
        <p:nvSpPr>
          <p:cNvPr id="32" name="Text 29"/>
          <p:cNvSpPr txBox="1"/>
          <p:nvPr/>
        </p:nvSpPr>
        <p:spPr>
          <a:xfrm>
            <a:off x="685800" y="4791456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‏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أَمَّا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 …‏ + fa-.</a:t>
            </a:r>
            <a:endParaRPr lang="en-US" sz="1150" dirty="0"/>
          </a:p>
        </p:txBody>
      </p:sp>
      <p:sp>
        <p:nvSpPr>
          <p:cNvPr id="33" name="Text 30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24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D5-W05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9 · WRITE YOUR TEXT · FRAMES IF YOU NEED THEM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Your writing frames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قَوَالِبُ الكِتَابَةِ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D5 · Hobbies, Sport and Leisure · D5-W05 · Apply workshop (D5-L09 + D5-L10)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541264" cy="3566160"/>
          </a:xfrm>
          <a:prstGeom prst="roundRect">
            <a:avLst>
              <a:gd name="adj" fmla="val 2051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94360" y="1901952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94360" y="190195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2468880" y="2249424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بِالإِضَافَةِ إِلَى ذٰلِكَ، ______ .</a:t>
            </a:r>
            <a:endParaRPr lang="ar-SA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94360" y="2249424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 addition, …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2468880" y="2816352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أَنْوِي أَنْ ______ لِأَنَّ ______ 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594360" y="2816352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intend to … because …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6190488" y="1810512"/>
            <a:ext cx="5541264" cy="3566160"/>
          </a:xfrm>
          <a:prstGeom prst="roundRect">
            <a:avLst>
              <a:gd name="adj" fmla="val 2051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10543032" y="1901952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0543032" y="190195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25" name="Text 22"/>
          <p:cNvSpPr txBox="1"/>
          <p:nvPr/>
        </p:nvSpPr>
        <p:spPr>
          <a:xfrm>
            <a:off x="8202168" y="2249424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الطُّفُولَةِ كُنْتُ ______ 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6327648" y="2249424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¶1 As a child I used to …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8202168" y="2816352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وَفِي يَوْمٍ مِنَ الأَيَّامِ ______ .</a:t>
            </a:r>
            <a:endParaRPr lang="ar-SA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6327648" y="2816352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¶1 And one day I …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8202168" y="3383280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أَمَّا الآنَ فَأُمَارِسُ ______ ______ فِي الأُسْبُوعِ.</a:t>
            </a:r>
            <a:endParaRPr lang="ar-SA" sz="1600" dirty="0"/>
          </a:p>
        </p:txBody>
      </p:sp>
      <p:sp>
        <p:nvSpPr>
          <p:cNvPr id="30" name="Text 27"/>
          <p:cNvSpPr txBox="1"/>
          <p:nvPr/>
        </p:nvSpPr>
        <p:spPr>
          <a:xfrm>
            <a:off x="6327648" y="3383280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¶2 But now I do … (how often) a week.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8202168" y="3950208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المُسْتَقْبَلِ سَوْفَ ______ .</a:t>
            </a:r>
            <a:endParaRPr lang="ar-SA" sz="1800" dirty="0"/>
          </a:p>
        </p:txBody>
      </p:sp>
      <p:sp>
        <p:nvSpPr>
          <p:cNvPr id="32" name="Text 29"/>
          <p:cNvSpPr txBox="1"/>
          <p:nvPr/>
        </p:nvSpPr>
        <p:spPr>
          <a:xfrm>
            <a:off x="6327648" y="3950208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¶3 In future I will …</a:t>
            </a:r>
            <a:endParaRPr lang="en-US" sz="1050" dirty="0"/>
          </a:p>
        </p:txBody>
      </p:sp>
      <p:sp>
        <p:nvSpPr>
          <p:cNvPr id="33" name="Text 30"/>
          <p:cNvSpPr txBox="1"/>
          <p:nvPr/>
        </p:nvSpPr>
        <p:spPr>
          <a:xfrm>
            <a:off x="8202168" y="4517136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أَعْتَقِدُ أَنَّ الهِوَايَاتِ ______ .</a:t>
            </a:r>
            <a:endParaRPr lang="ar-SA" sz="1800" dirty="0"/>
          </a:p>
        </p:txBody>
      </p:sp>
      <p:sp>
        <p:nvSpPr>
          <p:cNvPr id="34" name="Text 31"/>
          <p:cNvSpPr txBox="1"/>
          <p:nvPr/>
        </p:nvSpPr>
        <p:spPr>
          <a:xfrm>
            <a:off x="6327648" y="4517136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¶4 I believe that hobbies …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457200" y="5504688"/>
            <a:ext cx="11274552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Text 33"/>
          <p:cNvSpPr txBox="1"/>
          <p:nvPr/>
        </p:nvSpPr>
        <p:spPr>
          <a:xfrm>
            <a:off x="640080" y="554126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WORD BANK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640080" y="5760720"/>
            <a:ext cx="109087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 أَلْعَبُ · كُنْتُ أَرْسُمُ  ·  أَمْسِ · الأُسْبُوعَ المَاضِيَ  ·  أَمَّا الآنَ فَ…  ·  مَرَّتَيْنِ فِي الأُسْبُوعِ  ·  سَأَشْتَرِكُ · سَوْفَ أَتَعَلَّمُ  ·  أَنْوِي أَنْ  ·  بِالإِضَافَةِ إِلَى ذٰلِكَ  ·  أَعْتَقِدُ أَنَّ</a:t>
            </a:r>
            <a:endParaRPr lang="ar-SA" sz="1550" dirty="0"/>
          </a:p>
        </p:txBody>
      </p:sp>
      <p:sp>
        <p:nvSpPr>
          <p:cNvPr id="38" name="Text 3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24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D5-W05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10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9 · WRITE YOUR TEXT · ABOUT 60–80 WORDS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My leisure life: then, now and next</a:t>
            </a:r>
            <a:endParaRPr lang="en-US" sz="27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وَقْتُ فَرَاغِي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D5 · Hobbies, Sport and Leisure · D5-W05 · Apply workshop (D5-L09 + D5-L10)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57784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38528"/>
            <a:ext cx="2061972" cy="292608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38528"/>
            <a:ext cx="20619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WRITING · DIRECTED TASK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33172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Write a text (about 60–80 words) in four short paragraphs. ¶1 past: what you used to do (‏</a:t>
            </a:r>
            <a:pPr algn="l" indent="0" marL="0">
              <a:buNone/>
            </a:pPr>
            <a:r>
              <a:rPr lang="ar-SA" altLang="en-US" sz="1450" b="1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</a:t>
            </a:r>
            <a:pPr algn="l" indent="0" marL="0">
              <a:buNone/>
            </a:pPr>
            <a:r>
              <a:rPr lang="en-US" sz="110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‏ + present) + one memory with past verbs. ¶2 present: ‏</a:t>
            </a:r>
            <a:pPr algn="l" indent="0" marL="0">
              <a:buNone/>
            </a:pPr>
            <a:r>
              <a:rPr lang="ar-SA" altLang="en-US" sz="1450" b="1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أَمَّا الآنَ فَ</a:t>
            </a:r>
            <a:pPr algn="l" indent="0" marL="0">
              <a:buNone/>
            </a:pPr>
            <a:r>
              <a:rPr lang="en-US" sz="110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…‏ + two hobbies with frequency. ¶3 future: two plans. ¶4 opinion: why hobbies matter. Use at least one connector in each paragraph.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685800" y="3310128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All the bullet points, in order.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85800" y="3840480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Language from D5-L09 AND D5-L10.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685800" y="4370832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Linking words: ‏</a:t>
            </a:r>
            <a:pPr algn="l" indent="0" marL="0">
              <a:buNone/>
            </a:pPr>
            <a:r>
              <a:rPr lang="ar-SA" altLang="en-US" sz="155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</a:t>
            </a:r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55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ثُمَّ</a:t>
            </a:r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55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55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</a:t>
            </a:r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‏.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685800" y="4901184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One opinion with a reason.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85800" y="5431536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Buddy check, then fix one thing.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217920" y="1810512"/>
            <a:ext cx="551383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6400800" y="190195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8412480" y="2231136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الطُّفُولَةِ كُنْتُ …</a:t>
            </a:r>
            <a:endParaRPr lang="ar-SA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6400800" y="2560320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 a child I used to …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8412480" y="2889504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أَمَّا الآنَ فَ…</a:t>
            </a:r>
            <a:endParaRPr lang="ar-SA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6400800" y="3218688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but now …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8412480" y="3547872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سَأَشْتَرِكُ فِي … · أَنْوِي أَنْ …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6400800" y="3877056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will join … · I intend to …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8412480" y="4206240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أَعْتَقِدُ أَنَّ … · وَفِي الخِتَامِ …</a:t>
            </a:r>
            <a:endParaRPr lang="ar-SA" sz="1800" dirty="0"/>
          </a:p>
        </p:txBody>
      </p:sp>
      <p:sp>
        <p:nvSpPr>
          <p:cNvPr id="33" name="Text 30"/>
          <p:cNvSpPr txBox="1"/>
          <p:nvPr/>
        </p:nvSpPr>
        <p:spPr>
          <a:xfrm>
            <a:off x="6400800" y="4535424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believe that … · and finally …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24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D5-W05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9 · BUDDY CHECK · SWAP AND READ YOUR BUDDY’S TEXT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Buddy check: five points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رَاجِعْ مَعَ زَمِيلِكَ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D5 · Hobbies, Sport and Leisure · D5-W05 · Apply workshop (D5-L09 + D5-L10)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Line / example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845552" y="181051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565392" y="1810512"/>
            <a:ext cx="1133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888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Did the writer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882128" y="2267712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601968" y="2267712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EVERY bullet point?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3004718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882128" y="3004718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601968" y="3004718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write in three time zones with the right tense in each?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741725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882128" y="3741725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601968" y="3741725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catch “used to” and distractors that change the time?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478731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882128" y="4478731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601968" y="4478731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linking words (‏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ثُمَّ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‏)?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5215738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882128" y="5215738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601968" y="5215738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more than one tense and give an opinion with a reason?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Give back: one thing that went well + one thing to improve. The writer fixes ONE thing straight away.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24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D5-W05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CHECK YOURSELF · ROLE-PLAY CARD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Role-play card: compare with a strong answer</a:t>
            </a:r>
            <a:endParaRPr lang="en-US" sz="20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 إِجَابَتَكَ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D5 · Hobbies, Sport and Leisure · D5-W05 · Apply workshop (D5-L09 + D5-L10)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 strong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Partner A reads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الشَّهْرَ القَادِمَ.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Next month.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«شَارَكْتُ فِي سِبَاقٍ، وَسَأُشَارِكُ فِي سِبَاقٍ آخَرَ الشَّهْرَ القَادِمَ.» — مَتَى السِّبَاقُ الثَّانِي؟</a:t>
            </a:r>
            <a:endParaRPr lang="ar-SA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يَلْعَبُ الغُولْفَ الآنَ؛ التِّنِسُ كَانَ فِي المَاضِي.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He plays golf now; tennis was in the past.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«كُنْتُ أَلْعَبُ التِّنِسَ، وَالآنَ أَلْعَبُ الغُولْفَ.» — مَاذَا يَلْعَبُ الآنَ؟</a:t>
            </a:r>
            <a:endParaRPr lang="ar-SA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اليَوْمَ صَبَاحًا، لَيْسَ أَمْسِ.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This morning, not yesterday.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«لَمْ أَتَدَرَّبْ أَمْسِ، بَلْ تَدَرَّبْتُ اليَوْمَ صَبَاحًا.» — مَتَى تَدَرَّبَ؟</a:t>
            </a:r>
            <a:endParaRPr lang="ar-SA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أُخْتُهُ تَرْسُمُ، وَهُوَ يَعْزِفُ عَلَى البِيَانُو.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His sister draws, and he plays the piano.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«أُخْتِي تَرْسُمُ كُلَّ يَوْمٍ، أَمَّا أَنَا فَأَعْزِفُ عَلَى البِيَانُو.» — مَنْ يَرْسُمُ؟</a:t>
            </a:r>
            <a:endParaRPr lang="ar-SA" sz="13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 أَرْسُمُ كَثِيرًا، أَمَّا الآنَ فَأَلْعَبُ الشِّطْرَنْجَ، وَسَأَتَعَلَّمُ البَرْمَجَةَ.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used to draw a lot, but now I play chess, and I will learn programming.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وَأَنْتَ: مَا هِوَايَتُكَ فِي الطُّفُولَةِ، وَالآنَ، وَفِي المُسْتَقْبَلِ؟</a:t>
            </a:r>
            <a:endParaRPr lang="ar-SA" sz="145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Did you answer every task in a full sentence? Find one phrase from each lesson in the models and say it aloud.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24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D5-W05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CHECK YOURSELF · WRITE YOUR TEXT · A STRONG ANSWER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Writing: compare with a strong answer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 إِجَابَتَكَ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D5 · Hobbies, Sport and Leisure · D5-W05 · Apply workshop (D5-L09 + D5-L10)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85800" y="1938528"/>
            <a:ext cx="10817352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6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الطُّفُولَةِ كُنْتُ أَلْعَبُ التِّنِسَ مَعَ أَبِي كُلَّ سَبْتٍ. وَفِي يَوْمٍ مِنَ الأَيَّامِ فُزْتُ عَلَيْهِ لِأَوَّلِ مَرَّةٍ!</a:t>
            </a:r>
            <a:endParaRPr lang="ar-SA" sz="2600" dirty="0"/>
          </a:p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6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أَمَّا الآنَ فَأُمَارِسُ السِّبَاحَةَ ثَلَاثَ مَرَّاتٍ فِي الأُسْبُوعِ، وَبِالإِضَافَةِ إِلَى ذٰلِكَ أَقْرَأُ الرِّوَايَاتِ كُلَّ مَسَاءٍ.</a:t>
            </a:r>
            <a:endParaRPr lang="ar-SA" sz="2600" dirty="0"/>
          </a:p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6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المُسْتَقْبَلِ سَأُشَارِكُ فِي سِبَاقِ سِبَاحَةٍ، وَأَنْوِي أَنْ أَتَعَلَّمَ الغَوْصَ.</a:t>
            </a:r>
            <a:endParaRPr lang="ar-SA" sz="2600" dirty="0"/>
          </a:p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6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أَعْتَقِدُ أَنَّ الهِوَايَاتِ مُهِمَّةٌ لِأَنَّهَا تُرِيحُنَا وَتُعَلِّمُنَا الصَّبْرَ.</a:t>
            </a:r>
            <a:endParaRPr lang="ar-SA" sz="2600" dirty="0"/>
          </a:p>
        </p:txBody>
      </p:sp>
      <p:sp>
        <p:nvSpPr>
          <p:cNvPr id="17" name="Shape 14"/>
          <p:cNvSpPr/>
          <p:nvPr/>
        </p:nvSpPr>
        <p:spPr>
          <a:xfrm>
            <a:off x="457200" y="5166360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0080" y="5202936"/>
            <a:ext cx="1090879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“As a child I used to play tennis with my father every Saturday. And one day I beat him for the first time! / But now I swim three times a week, and in addition I read novels every evening. / In future I will take part in a swimming race, and I intend to learn diving. / I believe hobbies are important because they relax us and teach us patience.”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457200" y="605332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FIND IN THE MODEL: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2697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1D5FBF"/>
          </a:solidFill>
          <a:ln w="12700">
            <a:solidFill>
              <a:srgbClr val="1D5F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697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 أَلْعَبُ التِّنِسَ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4983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983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أَمَّا الآنَ فَأُمَارِسُ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7269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C77700"/>
          </a:solidFill>
          <a:ln w="12700">
            <a:solidFill>
              <a:srgbClr val="C7770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269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سَأُشَارِكُ فِي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9555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7B3FA0"/>
          </a:solidFill>
          <a:ln w="12700">
            <a:solidFill>
              <a:srgbClr val="7B3FA0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555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أَعْتَقِدُ أَنَّ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24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D5-W05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D5 · Hobbies, Sport and Leisure · D5-W05 · Apply workshop (D5-L09 + D5-L10)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answered questions from D5-L09 and D5-L10 in full sentences.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wrote a sentence for every bullet point.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language from BOTH lessons when I spoke and when I wrote.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My buddy checked my text and I fixed one mistake.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more than one tense and gave opinions with reasons.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24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D5-W05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you used two lessons together!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LESSON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D5-L11 · D5 Consolidation — Past Tense Mastery and Speaking Preparation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تَرْسِيخُ الوَحْدَةِ — إِتْقَانُ الفِعْلِ المَاضِي وَإِعْدَادُ التَّحَدُّثِ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keep using this week’s language — say it, then write it.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Amiri" pitchFamily="2" charset="-78"/>
        <a:cs typeface="Amiri" pitchFamily="2" charset="-78"/>
        <a:font script="Arab" typeface="Amiri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Amiri" pitchFamily="2" charset="-78"/>
        <a:cs typeface="Amiri" pitchFamily="2" charset="-78"/>
        <a:font script="Arab" typeface="Amir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D5-W05 · Apply Workshop — Leisure Podcast: Then, Now and Next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2026-10-26T15:48:14Z</dcterms:created>
  <dcterms:modified xsi:type="dcterms:W3CDTF">2026-10-26T15:48:14Z</dcterms:modified>
</cp:coreProperties>
</file>