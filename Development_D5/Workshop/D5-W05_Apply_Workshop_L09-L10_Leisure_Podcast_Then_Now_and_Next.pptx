
<file path=[Content_Types].xml><?xml version="1.0" encoding="utf-8"?>
<Types xmlns="http://schemas.openxmlformats.org/package/2006/content-types">
  <Default Extension="fntdata" ContentType="application/x-fontdata"/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embedTrueTypeFonts="1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</p:sldIdLst>
  <p:notesMasterIdLst>
    <p:notesMasterId r:id="rId26"/>
  </p:notesMasterIdLst>
  <p:sldSz cx="12192000" cy="6858000"/>
  <p:notesSz cx="6858000" cy="12192000"/>
  <p:embeddedFontLst>
    <p:embeddedFont>
      <p:font typeface="Amiri" pitchFamily="2" charset="-78"/>
      <p:regular r:id="rIdFont1"/>
      <p:bold r:id="rIdFont2"/>
    </p:embeddedFont>
  </p:embeddedFontLst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notesMaster" Target="notesMasters/notesMaster1.xml"/><Relationship Id="rId27" Type="http://schemas.openxmlformats.org/officeDocument/2006/relationships/presProps" Target="presProps.xml"/><Relationship Id="rId28" Type="http://schemas.openxmlformats.org/officeDocument/2006/relationships/viewProps" Target="viewProps.xml"/><Relationship Id="rId29" Type="http://schemas.openxmlformats.org/officeDocument/2006/relationships/theme" Target="theme/theme1.xml"/><Relationship Id="rId30" Type="http://schemas.openxmlformats.org/officeDocument/2006/relationships/tableStyles" Target="tableStyles.xml"/><Relationship Id="rIdFont1" Type="http://schemas.openxmlformats.org/officeDocument/2006/relationships/font" Target="fonts/font1.fntdata"/><Relationship Id="rIdFont2" Type="http://schemas.openxmlformats.org/officeDocument/2006/relationships/font" Target="fonts/font2.fntdata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cs typeface="Amiri" pitchFamily="2" charset="-78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cs typeface="Amiri" pitchFamily="2" charset="-78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cs typeface="Amiri" pitchFamily="2" charset="-78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cs typeface="Amiri" pitchFamily="2" charset="-78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cs typeface="Amiri" pitchFamily="2" charset="-78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cs typeface="Amiri" pitchFamily="2" charset="-78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cs typeface="Amiri" pitchFamily="2" charset="-78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cs typeface="Amiri" pitchFamily="2" charset="-78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cs typeface="Amiri" pitchFamily="2" charset="-78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APPLY WORKSHOP AT A GLANCE — the third lesson of the week (Learn D5-L09 · Learn D5-L10 · Apply). 60 minutes on Teams: teacher-led in the main room for the short whole-class steps, pairs or breakout rooms of two or three for speaking, individual writing.
0–3 Welcome + plan · 3–6 What we learnt this week · PART 1 REMEMBER: word race (4) · which lesson? sort (4) · PART 2 SPEAK: new dialogue (5) · mixed question cards (6) · role-play card (7) · one minute talk (4) · PART 3 WRITE: sentence builder (3) · spot and fix (3) · connected writing (12) + buddy check (3) · CHECK YOURSELF: models + self-check (5).
PURPOSE: students APPLY the language of BOTH lessons in new contexts — the question cards, builder and common mistakes come from the two practice rooms; the dialogue, role-play, talk and writing task are new and join the lessons together.
CONTENT: D5-L09 (Writing — My Leisure Life (Extended Writing)) and D5-L10 (Listening — Sport, Leisure and Past Events).
SET-UP: share this deck or its PDF in the chat. Pairs or breakout rooms for Part 2 (same-level rooms keep the routes simple). Everyone writes in their own book or document in Part 3.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ar-SA" dirty="0">
                <a:latin typeface="Amiri" pitchFamily="2" charset="-78"/>
                <a:ea typeface="Amiri" pitchFamily="2" charset="-78"/>
                <a:cs typeface="Amiri" pitchFamily="2" charset="-78"/>
              </a:rPr>
              <a:t>WELCOME (1 min) — while students join.
• Greet each student by name as they arrive: السَّلَامُ عَلَيْكُمْ. Take the register (Pastoral Tracker: attendance 0/1).
• 2-MINUTE CHECK-IN (SEND training): a private chat to any student who seemed unsettled last lesson — “Are you okay today? 👍 / 👎”.
• Point to the four expectations — brief and positive: this is our class agreement.
• Talk code: “I will always give you thinking and practice time before I ask anyone.” Reading aloud is by invitation — a student may say “pass” and you return to them later.
• Follow-up on preparation: who learnt the five words? Quick private reminder to anyone who did not (Flipped Learning: follow up every time).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MAP (1 min). Apply = use what you learnt in D5-L09 and D5-L10 in a NEW situation. Point out the step number in the top-left of each slide.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WHAT WE LEARNT (3 min, main room). Ask: “What can you say after D5-L09? After D5-L10?” Take two answers in the chat for each lesson (one word or one sentence is enough). Then read objective 3 — today’s new situation that needs BOTH lessons. Students tick their route goals at the end of the lesson.
D5-L09 language: three time zones: past (fī al-ṭufūlati laʿibtu · kuntu alʿabu) → present (ammā al-āna fa-umārisu …) → future (sa-ashtariku · anwī an …); ending with an opinion (aʿtaqidu anna …); connectors (bi-l-iḍāfati ilā dhālika · wa-fī al-khitām); planning, drafting and checking
D5-L10 language: hear the TENSE: past = an ending (tadarrabtu) · present = a prefix (atadarrabu) · future = sa- / sawfa (sa-atadarrabu) · used to = kāna + present (kuntu atadarrabu); time markers (ams · ʿādatan · kulla yawmin · ghadan · al-usbūʿa al-qādim); distractors that keep the words but change the time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STEP 1 (4 min). Quick, energetic retrieval. Model one round with a student, then pairs race. Collect the best score in the chat. Listen for words students hesitate over and revisit them in Part 2.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Step 1 reference — six words from D5-L09.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Step 1 reference — six words from D5-L10.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STEP 2 (4 min). Students read each card ALOUD (by invitation), then type its number in the chat with 1 or 2 (for example “card 3 → 2”). Then check the answer slide. Ask: “Which card could you use in BOTH lessons?” — this links the two lessons before Part 2.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STEP 2 (4 min). Students read each card ALOUD (by invitation), then type its number in the chat with 1 or 2 (for example “card 3 → 2”). Then check the answer slide. Ask: “Which card could you use in BOTH lessons?” — this links the two lessons before Part 2.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ar-SA" dirty="0">
                <a:latin typeface="Amiri" pitchFamily="2" charset="-78"/>
                <a:ea typeface="Amiri" pitchFamily="2" charset="-78"/>
                <a:cs typeface="Amiri" pitchFamily="2" charset="-78"/>
              </a:rPr>
              <a:t>STEP 3 (5 min). A NEW dialogue that joins D5-L09 and D5-L10. Teacher reads it once with a confident student; then pairs. Ask: “Which lines are from D5-L09? Which from D5-L10?” Hearing the tense (كُنْتُ + present · past endings · سَـ / سَوْفَ · time markers) comes from D5-L10; the then → now → next → opinion plan (أَمَّا الآنَ فَ… · أَعْتَقِدُ أَنَّ …) from D5-L09.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STEP 4 (6 min, pairs or rooms). The questions come from the two practice rooms, now mixed so students switch between the lessons. Teacher: visit rooms and ask one Stretch follow-up question in each.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ar-SA" dirty="0">
                <a:latin typeface="Amiri" pitchFamily="2" charset="-78"/>
                <a:ea typeface="Amiri" pitchFamily="2" charset="-78"/>
                <a:cs typeface="Amiri" pitchFamily="2" charset="-78"/>
              </a:rPr>
              <a:t>STEP 5 (7 min). One NEW situation that needs both lessons: hearing past, used to, present and future (D5-L10) and placing each detail in the then–now–next plan (D5-L09). FADED SUPPORT: tasks 1–2 show the plan; students write their own plan for 3–5. To a girl Partner A says: وَأَنْتِ: مَا هِوَايَتُكِ …؟. 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STEP 6 (4 min). Fluency: one talk that uses BOTH lessons. Two volunteers speak to the whole class at the end (open mic). 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STEP 7 (3 min). Rows come from the D5-L09 and D5-L10 practice rooms. Read the English, choose the correct part from each column (start on the RIGHT). Pairs agree, then check. Students copy the correct sentences — they help in Step 9.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STEP 7 (3 min). Rows come from the D5-L09 and D5-L10 practice rooms. Read the English, choose the correct part from each column (start on the RIGHT). Pairs agree, then check. Students copy the correct sentences — they help in Step 9.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STEP 8 (3 min). Common mistakes from both lessons. Students type the corrected version in the chat before the answer slide. These are the mistakes to look for in the buddy check.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STEP 8 (3 min). Common mistakes from both lessons. Students type the corrected version in the chat before the answer slide. These are the mistakes to look for in the buddy check.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STEP 9 support. Core: use the Core frames for every bullet. Develop: use the Develop frames only if stuck. Stretch: no frames — add reasons, a time phrase and an extra detail.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STEP 9 (10 min writing, everyone on their own). Core: frames for every bullet (50–60 words). Develop: 80–100 words, frames only if stuck. Stretch: no frames, add reasons and another time frame. Teacher reads ONE sentence per student (in the chat or the shared document) and gives one live correction. 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BUDDY CHECK (3 min). Pairs swap texts (or share screens). Then everyone returns to the main room.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CHECK YOURSELF (2 min, main room). Each student finds one task they answered less fully and says it again using the model.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MODEL ANSWER (50 words). CHECK YOURSELF (2 min). Find each bullet point in the model, and one phrase from D5-L09 and one from D5-L10. Then each student copies ONE phrase from the model into their own text.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SELF-CHECK (1 min) against the website success criteria. Students tick privately, then type one WWW and one EBI in the chat (English is fine).
Teacher: one whole-class feedback point from live feedback. Pastoral: Curiosity &amp; Growth for honest reflection and a harder target next lesson.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CLOSE — thank students, dismiss calmly. After the lesson: complete the Pastoral Tracker (attendance, character, self-management, curiosity; demerits only for the five listed concerns). Note any student below 2/3 on the exit ticket for a Do Now check-in next lesson.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cs typeface="Amiri" pitchFamily="2" charset="-78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cs typeface="Amiri" pitchFamily="2" charset="-78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cs typeface="Amiri" pitchFamily="2" charset="-78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cs typeface="Amiri" pitchFamily="2" charset="-78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cs typeface="Amiri" pitchFamily="2" charset="-78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cs typeface="Amiri" pitchFamily="2" charset="-78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cs typeface="Amiri" pitchFamily="2" charset="-78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cs typeface="Amiri" pitchFamily="2" charset="-78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cs typeface="Amiri" pitchFamily="2" charset="-78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cs typeface="Amiri" pitchFamily="2" charset="-78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cs typeface="Amiri" pitchFamily="2" charset="-78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cs typeface="Amiri" pitchFamily="2" charset="-78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cs typeface="Amiri" pitchFamily="2" charset="-78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cs typeface="Amiri" pitchFamily="2" charset="-78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cs typeface="Amiri" pitchFamily="2" charset="-78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cs typeface="Amiri" pitchFamily="2" charset="-78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cs typeface="Amiri" pitchFamily="2" charset="-78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cs typeface="Amiri" pitchFamily="2" charset="-78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cs typeface="Amiri" pitchFamily="2" charset="-78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image" Target="../media/image-2-3.png"/><Relationship Id="rId4" Type="http://schemas.openxmlformats.org/officeDocument/2006/relationships/image" Target="../media/image-2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D1F3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863840" y="-1463040"/>
            <a:ext cx="5852160" cy="5852160"/>
          </a:xfrm>
          <a:prstGeom prst="ellipse">
            <a:avLst/>
          </a:prstGeom>
          <a:solidFill>
            <a:srgbClr val="14315C"/>
          </a:solidFill>
          <a:ln w="12700">
            <a:solidFill>
              <a:srgbClr val="14315C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8778240" y="-548640"/>
            <a:ext cx="4023360" cy="4023360"/>
          </a:xfrm>
          <a:prstGeom prst="ellipse">
            <a:avLst/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pic>
        <p:nvPicPr>
          <p:cNvPr id="4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012680" y="685800"/>
            <a:ext cx="1554480" cy="1554480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457200" y="411480"/>
            <a:ext cx="502920" cy="502920"/>
          </a:xfrm>
          <a:prstGeom prst="ellipse">
            <a:avLst/>
          </a:prstGeom>
          <a:solidFill>
            <a:srgbClr val="1B3B6F"/>
          </a:solidFill>
          <a:ln w="15875">
            <a:solidFill>
              <a:srgbClr val="D4AF37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457200" y="393192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200" b="1" dirty="0">
                <a:solidFill>
                  <a:srgbClr val="D4AF37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</a:t>
            </a:r>
            <a:endParaRPr lang="ar-SA" sz="2200" dirty="0"/>
          </a:p>
        </p:txBody>
      </p:sp>
      <p:sp>
        <p:nvSpPr>
          <p:cNvPr id="7" name="Text 4"/>
          <p:cNvSpPr txBox="1"/>
          <p:nvPr/>
        </p:nvSpPr>
        <p:spPr>
          <a:xfrm>
            <a:off x="1078992" y="384048"/>
            <a:ext cx="54864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mbria" pitchFamily="34" charset="0"/>
                <a:cs typeface="Amiri" pitchFamily="2" charset="-78"/>
              </a:rPr>
              <a:t>Al Madina Online School</a:t>
            </a:r>
            <a:endParaRPr lang="en-US" sz="1400" dirty="0"/>
          </a:p>
          <a:p>
            <a:pPr indent="0" marL="0">
              <a:buNone/>
            </a:pPr>
            <a:r>
              <a:rPr lang="en-US" sz="800" b="1" spc="200" kern="0" dirty="0">
                <a:solidFill>
                  <a:srgbClr val="D4AF37"/>
                </a:solidFill>
                <a:latin typeface="Calibri" pitchFamily="34" charset="0"/>
                <a:cs typeface="Amiri" pitchFamily="2" charset="-78"/>
              </a:rPr>
              <a:t>ARABIC DEPARTMENT · MIFTAH ARABIC</a:t>
            </a:r>
            <a:endParaRPr lang="en-US" sz="1400" dirty="0"/>
          </a:p>
        </p:txBody>
      </p:sp>
      <p:sp>
        <p:nvSpPr>
          <p:cNvPr id="8" name="Text 5"/>
          <p:cNvSpPr txBox="1"/>
          <p:nvPr/>
        </p:nvSpPr>
        <p:spPr>
          <a:xfrm>
            <a:off x="457200" y="1600200"/>
            <a:ext cx="8686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D4AF37"/>
                </a:solidFill>
                <a:latin typeface="Calibri" pitchFamily="34" charset="0"/>
                <a:cs typeface="Amiri" pitchFamily="2" charset="-78"/>
              </a:rPr>
              <a:t>CAMBRIDGE IGCSE ARABIC 0544  ·  YEAR 8  ·  DEVELOPMENT D5  ·  D5-L09 + D5-L10 · APPLY WORKSHOP</a:t>
            </a:r>
            <a:endParaRPr lang="en-US" sz="1100" dirty="0"/>
          </a:p>
        </p:txBody>
      </p:sp>
      <p:sp>
        <p:nvSpPr>
          <p:cNvPr id="9" name="Text 6"/>
          <p:cNvSpPr txBox="1"/>
          <p:nvPr/>
        </p:nvSpPr>
        <p:spPr>
          <a:xfrm>
            <a:off x="457200" y="1965960"/>
            <a:ext cx="7315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9FB3D1"/>
                </a:solidFill>
                <a:latin typeface="Cambria" pitchFamily="34" charset="0"/>
                <a:cs typeface="Amiri" pitchFamily="2" charset="-78"/>
              </a:rPr>
              <a:t>D5-W05</a:t>
            </a:r>
            <a:endParaRPr lang="en-US" sz="2600" dirty="0"/>
          </a:p>
        </p:txBody>
      </p:sp>
      <p:sp>
        <p:nvSpPr>
          <p:cNvPr id="10" name="Text 7"/>
          <p:cNvSpPr txBox="1"/>
          <p:nvPr/>
        </p:nvSpPr>
        <p:spPr>
          <a:xfrm>
            <a:off x="457200" y="2487168"/>
            <a:ext cx="80467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50" b="1" dirty="0">
                <a:solidFill>
                  <a:srgbClr val="FFFFFF"/>
                </a:solidFill>
                <a:latin typeface="Cambria" pitchFamily="34" charset="0"/>
                <a:cs typeface="Amiri" pitchFamily="2" charset="-78"/>
              </a:rPr>
              <a:t>Apply Workshop — Leisure Podcast: Then, Now and Next</a:t>
            </a:r>
            <a:endParaRPr lang="en-US" sz="2650" dirty="0"/>
          </a:p>
        </p:txBody>
      </p:sp>
      <p:sp>
        <p:nvSpPr>
          <p:cNvPr id="11" name="Text 8"/>
          <p:cNvSpPr txBox="1"/>
          <p:nvPr/>
        </p:nvSpPr>
        <p:spPr>
          <a:xfrm>
            <a:off x="457200" y="3310128"/>
            <a:ext cx="80467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l" indent="0" marL="0">
              <a:buNone/>
            </a:pPr>
            <a:r>
              <a:rPr lang="ar-SA" altLang="en-US" sz="3600" b="1" dirty="0">
                <a:solidFill>
                  <a:srgbClr val="D4AF37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وَرْشَةُ التَّطْبِيقِ — بُودْكَاسْتُ وَقْتِ الفَرَاغِ</a:t>
            </a:r>
            <a:endParaRPr lang="ar-SA" sz="3600" dirty="0"/>
          </a:p>
        </p:txBody>
      </p:sp>
      <p:sp>
        <p:nvSpPr>
          <p:cNvPr id="12" name="Text 9"/>
          <p:cNvSpPr txBox="1"/>
          <p:nvPr/>
        </p:nvSpPr>
        <p:spPr>
          <a:xfrm>
            <a:off x="457200" y="4224528"/>
            <a:ext cx="78638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rgbClr val="C6D2E6"/>
                </a:solidFill>
                <a:latin typeface="Calibri" pitchFamily="34" charset="0"/>
                <a:cs typeface="Amiri" pitchFamily="2" charset="-78"/>
              </a:rPr>
              <a:t>Students join hearing the tense with writing across time: they listen to podcast clips and decide past · used to · present · future from endings, prefixes and time markers, record their own then–now–next clip, and write a four-paragraph text about their leisure life with an opinion.</a:t>
            </a:r>
            <a:endParaRPr lang="en-US" sz="1300" dirty="0"/>
          </a:p>
        </p:txBody>
      </p:sp>
      <p:sp>
        <p:nvSpPr>
          <p:cNvPr id="13" name="Shape 10"/>
          <p:cNvSpPr/>
          <p:nvPr/>
        </p:nvSpPr>
        <p:spPr>
          <a:xfrm>
            <a:off x="457200" y="5166360"/>
            <a:ext cx="2651760" cy="868680"/>
          </a:xfrm>
          <a:prstGeom prst="roundRect">
            <a:avLst>
              <a:gd name="adj" fmla="val 8421"/>
            </a:avLst>
          </a:prstGeom>
          <a:solidFill>
            <a:srgbClr val="16335F"/>
          </a:solidFill>
          <a:ln w="12700">
            <a:solidFill>
              <a:srgbClr val="2A4B7C"/>
            </a:solidFill>
            <a:prstDash val="solid"/>
          </a:ln>
        </p:spPr>
      </p:sp>
      <p:sp>
        <p:nvSpPr>
          <p:cNvPr id="14" name="Text 11"/>
          <p:cNvSpPr txBox="1"/>
          <p:nvPr/>
        </p:nvSpPr>
        <p:spPr>
          <a:xfrm>
            <a:off x="621792" y="5212080"/>
            <a:ext cx="23774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spc="200" kern="0" dirty="0">
                <a:solidFill>
                  <a:srgbClr val="D4AF37"/>
                </a:solidFill>
                <a:latin typeface="Calibri" pitchFamily="34" charset="0"/>
                <a:cs typeface="Amiri" pitchFamily="2" charset="-78"/>
              </a:rPr>
              <a:t>LESSON</a:t>
            </a:r>
            <a:endParaRPr lang="en-US" sz="850" dirty="0"/>
          </a:p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Apply workshop · D5-L09 + D5-L10</a:t>
            </a:r>
            <a:endParaRPr lang="en-US" sz="850" dirty="0"/>
          </a:p>
        </p:txBody>
      </p:sp>
      <p:sp>
        <p:nvSpPr>
          <p:cNvPr id="15" name="Shape 12"/>
          <p:cNvSpPr/>
          <p:nvPr/>
        </p:nvSpPr>
        <p:spPr>
          <a:xfrm>
            <a:off x="3273552" y="5166360"/>
            <a:ext cx="2651760" cy="868680"/>
          </a:xfrm>
          <a:prstGeom prst="roundRect">
            <a:avLst>
              <a:gd name="adj" fmla="val 8421"/>
            </a:avLst>
          </a:prstGeom>
          <a:solidFill>
            <a:srgbClr val="16335F"/>
          </a:solidFill>
          <a:ln w="12700">
            <a:solidFill>
              <a:srgbClr val="2A4B7C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3438144" y="5212080"/>
            <a:ext cx="23774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spc="200" kern="0" dirty="0">
                <a:solidFill>
                  <a:srgbClr val="D4AF37"/>
                </a:solidFill>
                <a:latin typeface="Calibri" pitchFamily="34" charset="0"/>
                <a:cs typeface="Amiri" pitchFamily="2" charset="-78"/>
              </a:rPr>
              <a:t>DURATION</a:t>
            </a:r>
            <a:endParaRPr lang="en-US" sz="850" dirty="0"/>
          </a:p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60 minutes · Teams</a:t>
            </a:r>
            <a:endParaRPr lang="en-US" sz="850" dirty="0"/>
          </a:p>
        </p:txBody>
      </p:sp>
      <p:sp>
        <p:nvSpPr>
          <p:cNvPr id="17" name="Shape 14"/>
          <p:cNvSpPr/>
          <p:nvPr/>
        </p:nvSpPr>
        <p:spPr>
          <a:xfrm>
            <a:off x="6089904" y="5166360"/>
            <a:ext cx="2651760" cy="868680"/>
          </a:xfrm>
          <a:prstGeom prst="roundRect">
            <a:avLst>
              <a:gd name="adj" fmla="val 8421"/>
            </a:avLst>
          </a:prstGeom>
          <a:solidFill>
            <a:srgbClr val="16335F"/>
          </a:solidFill>
          <a:ln w="12700">
            <a:solidFill>
              <a:srgbClr val="2A4B7C"/>
            </a:solidFill>
            <a:prstDash val="solid"/>
          </a:ln>
        </p:spPr>
      </p:sp>
      <p:sp>
        <p:nvSpPr>
          <p:cNvPr id="18" name="Text 15"/>
          <p:cNvSpPr txBox="1"/>
          <p:nvPr/>
        </p:nvSpPr>
        <p:spPr>
          <a:xfrm>
            <a:off x="6254496" y="5212080"/>
            <a:ext cx="23774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spc="200" kern="0" dirty="0">
                <a:solidFill>
                  <a:srgbClr val="D4AF37"/>
                </a:solidFill>
                <a:latin typeface="Calibri" pitchFamily="34" charset="0"/>
                <a:cs typeface="Amiri" pitchFamily="2" charset="-78"/>
              </a:rPr>
              <a:t>LEVEL</a:t>
            </a:r>
            <a:endParaRPr lang="en-US" sz="850" dirty="0"/>
          </a:p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Development · A2 → B1</a:t>
            </a:r>
            <a:endParaRPr lang="en-US" sz="850" dirty="0"/>
          </a:p>
        </p:txBody>
      </p:sp>
      <p:sp>
        <p:nvSpPr>
          <p:cNvPr id="19" name="Shape 16"/>
          <p:cNvSpPr/>
          <p:nvPr/>
        </p:nvSpPr>
        <p:spPr>
          <a:xfrm>
            <a:off x="8906256" y="5166360"/>
            <a:ext cx="2651760" cy="868680"/>
          </a:xfrm>
          <a:prstGeom prst="roundRect">
            <a:avLst>
              <a:gd name="adj" fmla="val 8421"/>
            </a:avLst>
          </a:prstGeom>
          <a:solidFill>
            <a:srgbClr val="16335F"/>
          </a:solidFill>
          <a:ln w="12700">
            <a:solidFill>
              <a:srgbClr val="2A4B7C"/>
            </a:solidFill>
            <a:prstDash val="solid"/>
          </a:ln>
        </p:spPr>
      </p:sp>
      <p:sp>
        <p:nvSpPr>
          <p:cNvPr id="20" name="Text 17"/>
          <p:cNvSpPr txBox="1"/>
          <p:nvPr/>
        </p:nvSpPr>
        <p:spPr>
          <a:xfrm>
            <a:off x="9070848" y="5212080"/>
            <a:ext cx="23774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spc="200" kern="0" dirty="0">
                <a:solidFill>
                  <a:srgbClr val="D4AF37"/>
                </a:solidFill>
                <a:latin typeface="Calibri" pitchFamily="34" charset="0"/>
                <a:cs typeface="Amiri" pitchFamily="2" charset="-78"/>
              </a:rPr>
              <a:t>ON THE WEBSITE</a:t>
            </a:r>
            <a:endParaRPr lang="en-US" sz="850" dirty="0"/>
          </a:p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Pathways › Development › D5 › D5-L10</a:t>
            </a:r>
            <a:endParaRPr lang="en-US" sz="85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D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37744"/>
            <a:ext cx="420624" cy="420624"/>
          </a:xfrm>
          <a:prstGeom prst="ellipse">
            <a:avLst/>
          </a:prstGeom>
          <a:solidFill>
            <a:srgbClr val="1B3B6F"/>
          </a:solidFill>
          <a:ln w="12700">
            <a:solidFill>
              <a:srgbClr val="D4AF37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457200" y="21945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D4AF37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</a:t>
            </a:r>
            <a:endParaRPr lang="ar-SA" sz="18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Al Madina Online School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57200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ARABIC DEPARTMENT · MIFTAH ARABIC · IGCSE 0544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8897112" y="274320"/>
            <a:ext cx="2834640" cy="329184"/>
          </a:xfrm>
          <a:prstGeom prst="roundRect">
            <a:avLst>
              <a:gd name="adj" fmla="val 50000"/>
            </a:avLst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897112" y="274320"/>
            <a:ext cx="2834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D5-W05 · Apply workshop</a:t>
            </a:r>
            <a:endParaRPr lang="en-US" sz="950" dirty="0"/>
          </a:p>
        </p:txBody>
      </p:sp>
      <p:sp>
        <p:nvSpPr>
          <p:cNvPr id="8" name="Shape 6"/>
          <p:cNvSpPr/>
          <p:nvPr/>
        </p:nvSpPr>
        <p:spPr>
          <a:xfrm>
            <a:off x="7219188" y="274320"/>
            <a:ext cx="1540764" cy="329184"/>
          </a:xfrm>
          <a:prstGeom prst="roundRect">
            <a:avLst>
              <a:gd name="adj" fmla="val 50000"/>
            </a:avLst>
          </a:prstGeom>
          <a:solidFill>
            <a:srgbClr val="5A6472"/>
          </a:solidFill>
          <a:ln w="12700">
            <a:solidFill>
              <a:srgbClr val="5A6472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7219188" y="274320"/>
            <a:ext cx="154076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WELCOME · 1 MIN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822960"/>
            <a:ext cx="6949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300" kern="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BEFORE WE BEGIN</a:t>
            </a:r>
            <a:endParaRPr lang="en-US" sz="1000" dirty="0"/>
          </a:p>
        </p:txBody>
      </p:sp>
      <p:sp>
        <p:nvSpPr>
          <p:cNvPr id="11" name="Text 9"/>
          <p:cNvSpPr txBox="1"/>
          <p:nvPr/>
        </p:nvSpPr>
        <p:spPr>
          <a:xfrm>
            <a:off x="457200" y="1033272"/>
            <a:ext cx="6949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Our online classroom</a:t>
            </a:r>
            <a:endParaRPr lang="en-US" sz="2800" dirty="0"/>
          </a:p>
        </p:txBody>
      </p:sp>
      <p:sp>
        <p:nvSpPr>
          <p:cNvPr id="12" name="Text 10"/>
          <p:cNvSpPr txBox="1"/>
          <p:nvPr/>
        </p:nvSpPr>
        <p:spPr>
          <a:xfrm>
            <a:off x="7498080" y="868680"/>
            <a:ext cx="4233672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2800" b="1" dirty="0">
                <a:solidFill>
                  <a:srgbClr val="8A6D1E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آدَابُ الصَّفِّ</a:t>
            </a:r>
            <a:endParaRPr lang="ar-SA" sz="28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6455664"/>
            <a:ext cx="6400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Miftah Arabic · Development D5 · Hobbies, Sport and Leisure · D5-W05 · Apply workshop (D5-L09 + D5-L10)</a:t>
            </a:r>
            <a:endParaRPr lang="en-US" sz="850" dirty="0"/>
          </a:p>
        </p:txBody>
      </p:sp>
      <p:sp>
        <p:nvSpPr>
          <p:cNvPr id="15" name="Shape 12"/>
          <p:cNvSpPr/>
          <p:nvPr/>
        </p:nvSpPr>
        <p:spPr>
          <a:xfrm>
            <a:off x="457200" y="1828800"/>
            <a:ext cx="5394960" cy="932688"/>
          </a:xfrm>
          <a:prstGeom prst="roundRect">
            <a:avLst>
              <a:gd name="adj" fmla="val 7843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16" name="Shape 13"/>
          <p:cNvSpPr/>
          <p:nvPr/>
        </p:nvSpPr>
        <p:spPr>
          <a:xfrm>
            <a:off x="640080" y="2002536"/>
            <a:ext cx="585216" cy="585216"/>
          </a:xfrm>
          <a:prstGeom prst="ellipse">
            <a:avLst/>
          </a:prstGeom>
          <a:solidFill>
            <a:srgbClr val="EEF3FA"/>
          </a:solidFill>
          <a:ln w="12700">
            <a:solidFill>
              <a:srgbClr val="EEF3FA"/>
            </a:solidFill>
            <a:prstDash val="solid"/>
          </a:ln>
        </p:spPr>
      </p:sp>
      <p:pic>
        <p:nvPicPr>
          <p:cNvPr id="1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77240" y="2139696"/>
            <a:ext cx="310896" cy="310896"/>
          </a:xfrm>
          <a:prstGeom prst="rect">
            <a:avLst/>
          </a:prstGeom>
        </p:spPr>
      </p:pic>
      <p:sp>
        <p:nvSpPr>
          <p:cNvPr id="18" name="Text 14"/>
          <p:cNvSpPr txBox="1"/>
          <p:nvPr/>
        </p:nvSpPr>
        <p:spPr>
          <a:xfrm>
            <a:off x="1371600" y="1901952"/>
            <a:ext cx="438912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Camera on</a:t>
            </a:r>
            <a:endParaRPr lang="en-US" sz="1500" dirty="0"/>
          </a:p>
          <a:p>
            <a:pPr indent="0" marL="0">
              <a:buNone/>
            </a:pPr>
            <a:r>
              <a:rPr lang="en-US" sz="115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So I can see you learning and help you quickly.</a:t>
            </a:r>
            <a:endParaRPr lang="en-US" sz="1500" dirty="0"/>
          </a:p>
        </p:txBody>
      </p:sp>
      <p:sp>
        <p:nvSpPr>
          <p:cNvPr id="19" name="Shape 15"/>
          <p:cNvSpPr/>
          <p:nvPr/>
        </p:nvSpPr>
        <p:spPr>
          <a:xfrm>
            <a:off x="457200" y="2907792"/>
            <a:ext cx="5394960" cy="932688"/>
          </a:xfrm>
          <a:prstGeom prst="roundRect">
            <a:avLst>
              <a:gd name="adj" fmla="val 7843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20" name="Shape 16"/>
          <p:cNvSpPr/>
          <p:nvPr/>
        </p:nvSpPr>
        <p:spPr>
          <a:xfrm>
            <a:off x="640080" y="3081528"/>
            <a:ext cx="585216" cy="585216"/>
          </a:xfrm>
          <a:prstGeom prst="ellipse">
            <a:avLst/>
          </a:prstGeom>
          <a:solidFill>
            <a:srgbClr val="EEF3FA"/>
          </a:solidFill>
          <a:ln w="12700">
            <a:solidFill>
              <a:srgbClr val="EEF3FA"/>
            </a:solidFill>
            <a:prstDash val="solid"/>
          </a:ln>
        </p:spPr>
      </p:sp>
      <p:pic>
        <p:nvPicPr>
          <p:cNvPr id="21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240" y="3218688"/>
            <a:ext cx="310896" cy="310896"/>
          </a:xfrm>
          <a:prstGeom prst="rect">
            <a:avLst/>
          </a:prstGeom>
        </p:spPr>
      </p:pic>
      <p:sp>
        <p:nvSpPr>
          <p:cNvPr id="22" name="Text 17"/>
          <p:cNvSpPr txBox="1"/>
          <p:nvPr/>
        </p:nvSpPr>
        <p:spPr>
          <a:xfrm>
            <a:off x="1371600" y="2980944"/>
            <a:ext cx="438912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Mic muted</a:t>
            </a:r>
            <a:endParaRPr lang="en-US" sz="1500" dirty="0"/>
          </a:p>
          <a:p>
            <a:pPr indent="0" marL="0">
              <a:buNone/>
            </a:pPr>
            <a:r>
              <a:rPr lang="en-US" sz="115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Unmute only when invited to speak.</a:t>
            </a:r>
            <a:endParaRPr lang="en-US" sz="1500" dirty="0"/>
          </a:p>
        </p:txBody>
      </p:sp>
      <p:sp>
        <p:nvSpPr>
          <p:cNvPr id="23" name="Shape 18"/>
          <p:cNvSpPr/>
          <p:nvPr/>
        </p:nvSpPr>
        <p:spPr>
          <a:xfrm>
            <a:off x="457200" y="3986784"/>
            <a:ext cx="5394960" cy="932688"/>
          </a:xfrm>
          <a:prstGeom prst="roundRect">
            <a:avLst>
              <a:gd name="adj" fmla="val 7843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24" name="Shape 19"/>
          <p:cNvSpPr/>
          <p:nvPr/>
        </p:nvSpPr>
        <p:spPr>
          <a:xfrm>
            <a:off x="640080" y="4160520"/>
            <a:ext cx="585216" cy="585216"/>
          </a:xfrm>
          <a:prstGeom prst="ellipse">
            <a:avLst/>
          </a:prstGeom>
          <a:solidFill>
            <a:srgbClr val="EEF3FA"/>
          </a:solidFill>
          <a:ln w="12700">
            <a:solidFill>
              <a:srgbClr val="EEF3FA"/>
            </a:solidFill>
            <a:prstDash val="solid"/>
          </a:ln>
        </p:spPr>
      </p:sp>
      <p:pic>
        <p:nvPicPr>
          <p:cNvPr id="25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77240" y="4297680"/>
            <a:ext cx="310896" cy="310896"/>
          </a:xfrm>
          <a:prstGeom prst="rect">
            <a:avLst/>
          </a:prstGeom>
        </p:spPr>
      </p:pic>
      <p:sp>
        <p:nvSpPr>
          <p:cNvPr id="26" name="Text 20"/>
          <p:cNvSpPr txBox="1"/>
          <p:nvPr/>
        </p:nvSpPr>
        <p:spPr>
          <a:xfrm>
            <a:off x="1371600" y="4059936"/>
            <a:ext cx="438912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Chat for learning</a:t>
            </a:r>
            <a:endParaRPr lang="en-US" sz="1500" dirty="0"/>
          </a:p>
          <a:p>
            <a:pPr indent="0" marL="0">
              <a:buNone/>
            </a:pPr>
            <a:r>
              <a:rPr lang="en-US" sz="115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Answers, questions and Arabic only.</a:t>
            </a:r>
            <a:endParaRPr lang="en-US" sz="1500" dirty="0"/>
          </a:p>
        </p:txBody>
      </p:sp>
      <p:sp>
        <p:nvSpPr>
          <p:cNvPr id="27" name="Shape 21"/>
          <p:cNvSpPr/>
          <p:nvPr/>
        </p:nvSpPr>
        <p:spPr>
          <a:xfrm>
            <a:off x="457200" y="5065776"/>
            <a:ext cx="5394960" cy="932688"/>
          </a:xfrm>
          <a:prstGeom prst="roundRect">
            <a:avLst>
              <a:gd name="adj" fmla="val 7843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28" name="Shape 22"/>
          <p:cNvSpPr/>
          <p:nvPr/>
        </p:nvSpPr>
        <p:spPr>
          <a:xfrm>
            <a:off x="640080" y="5239512"/>
            <a:ext cx="585216" cy="585216"/>
          </a:xfrm>
          <a:prstGeom prst="ellipse">
            <a:avLst/>
          </a:prstGeom>
          <a:solidFill>
            <a:srgbClr val="EEF3FA"/>
          </a:solidFill>
          <a:ln w="12700">
            <a:solidFill>
              <a:srgbClr val="EEF3FA"/>
            </a:solidFill>
            <a:prstDash val="solid"/>
          </a:ln>
        </p:spPr>
      </p:sp>
      <p:pic>
        <p:nvPicPr>
          <p:cNvPr id="29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77240" y="5376672"/>
            <a:ext cx="310896" cy="310896"/>
          </a:xfrm>
          <a:prstGeom prst="rect">
            <a:avLst/>
          </a:prstGeom>
        </p:spPr>
      </p:pic>
      <p:sp>
        <p:nvSpPr>
          <p:cNvPr id="30" name="Text 23"/>
          <p:cNvSpPr txBox="1"/>
          <p:nvPr/>
        </p:nvSpPr>
        <p:spPr>
          <a:xfrm>
            <a:off x="1371600" y="5138928"/>
            <a:ext cx="438912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Raise your hand</a:t>
            </a:r>
            <a:endParaRPr lang="en-US" sz="1500" dirty="0"/>
          </a:p>
          <a:p>
            <a:pPr indent="0" marL="0">
              <a:buNone/>
            </a:pPr>
            <a:r>
              <a:rPr lang="en-US" sz="115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Use the hand button to ask for help.</a:t>
            </a:r>
            <a:endParaRPr lang="en-US" sz="1500" dirty="0"/>
          </a:p>
        </p:txBody>
      </p:sp>
      <p:sp>
        <p:nvSpPr>
          <p:cNvPr id="31" name="Shape 24"/>
          <p:cNvSpPr/>
          <p:nvPr/>
        </p:nvSpPr>
        <p:spPr>
          <a:xfrm>
            <a:off x="6172200" y="1828800"/>
            <a:ext cx="5559552" cy="4169664"/>
          </a:xfrm>
          <a:prstGeom prst="roundRect">
            <a:avLst>
              <a:gd name="adj" fmla="val 1754"/>
            </a:avLst>
          </a:prstGeom>
          <a:solidFill>
            <a:srgbClr val="F7F9FC"/>
          </a:solidFill>
          <a:ln w="9525">
            <a:solidFill>
              <a:srgbClr val="C9D6EA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32" name="Text 25"/>
          <p:cNvSpPr txBox="1"/>
          <p:nvPr/>
        </p:nvSpPr>
        <p:spPr>
          <a:xfrm>
            <a:off x="6400800" y="1938528"/>
            <a:ext cx="510235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HOW WE TALK — THE ORACY CODE</a:t>
            </a:r>
            <a:endParaRPr lang="en-US" sz="1100" dirty="0"/>
          </a:p>
        </p:txBody>
      </p:sp>
      <p:sp>
        <p:nvSpPr>
          <p:cNvPr id="33" name="Shape 26"/>
          <p:cNvSpPr/>
          <p:nvPr/>
        </p:nvSpPr>
        <p:spPr>
          <a:xfrm>
            <a:off x="6400800" y="2450592"/>
            <a:ext cx="548640" cy="548640"/>
          </a:xfrm>
          <a:prstGeom prst="ellipse">
            <a:avLst/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34" name="Text 27"/>
          <p:cNvSpPr txBox="1"/>
          <p:nvPr/>
        </p:nvSpPr>
        <p:spPr>
          <a:xfrm>
            <a:off x="6400800" y="2450592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D4AF37"/>
                </a:solidFill>
                <a:latin typeface="Arial" pitchFamily="34" charset="0"/>
                <a:cs typeface="Amiri" pitchFamily="2" charset="-78"/>
              </a:rPr>
              <a:t>●</a:t>
            </a:r>
            <a:endParaRPr lang="en-US" sz="1800" dirty="0"/>
          </a:p>
        </p:txBody>
      </p:sp>
      <p:sp>
        <p:nvSpPr>
          <p:cNvPr id="35" name="Text 28"/>
          <p:cNvSpPr txBox="1"/>
          <p:nvPr/>
        </p:nvSpPr>
        <p:spPr>
          <a:xfrm>
            <a:off x="7059168" y="2377440"/>
            <a:ext cx="201168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Think</a:t>
            </a:r>
            <a:endParaRPr lang="en-US" sz="1400" dirty="0"/>
          </a:p>
          <a:p>
            <a:pPr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silent preparation</a:t>
            </a:r>
            <a:endParaRPr lang="en-US" sz="1400" dirty="0"/>
          </a:p>
        </p:txBody>
      </p:sp>
      <p:sp>
        <p:nvSpPr>
          <p:cNvPr id="36" name="Shape 29"/>
          <p:cNvSpPr/>
          <p:nvPr/>
        </p:nvSpPr>
        <p:spPr>
          <a:xfrm>
            <a:off x="8997696" y="2450592"/>
            <a:ext cx="548640" cy="548640"/>
          </a:xfrm>
          <a:prstGeom prst="ellipse">
            <a:avLst/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37" name="Text 30"/>
          <p:cNvSpPr txBox="1"/>
          <p:nvPr/>
        </p:nvSpPr>
        <p:spPr>
          <a:xfrm>
            <a:off x="8997696" y="2450592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D4AF37"/>
                </a:solidFill>
                <a:latin typeface="Arial" pitchFamily="34" charset="0"/>
                <a:cs typeface="Amiri" pitchFamily="2" charset="-78"/>
              </a:rPr>
              <a:t>↔</a:t>
            </a:r>
            <a:endParaRPr lang="en-US" sz="1800" dirty="0"/>
          </a:p>
        </p:txBody>
      </p:sp>
      <p:sp>
        <p:nvSpPr>
          <p:cNvPr id="38" name="Text 31"/>
          <p:cNvSpPr txBox="1"/>
          <p:nvPr/>
        </p:nvSpPr>
        <p:spPr>
          <a:xfrm>
            <a:off x="9656064" y="2377440"/>
            <a:ext cx="201168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Rehearse</a:t>
            </a:r>
            <a:endParaRPr lang="en-US" sz="1400" dirty="0"/>
          </a:p>
          <a:p>
            <a:pPr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both partners speak</a:t>
            </a:r>
            <a:endParaRPr lang="en-US" sz="1400" dirty="0"/>
          </a:p>
        </p:txBody>
      </p:sp>
      <p:sp>
        <p:nvSpPr>
          <p:cNvPr id="39" name="Shape 32"/>
          <p:cNvSpPr/>
          <p:nvPr/>
        </p:nvSpPr>
        <p:spPr>
          <a:xfrm>
            <a:off x="6400800" y="3364992"/>
            <a:ext cx="548640" cy="548640"/>
          </a:xfrm>
          <a:prstGeom prst="ellipse">
            <a:avLst/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40" name="Text 33"/>
          <p:cNvSpPr txBox="1"/>
          <p:nvPr/>
        </p:nvSpPr>
        <p:spPr>
          <a:xfrm>
            <a:off x="6400800" y="3364992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D4AF37"/>
                </a:solidFill>
                <a:latin typeface="Arial" pitchFamily="34" charset="0"/>
                <a:cs typeface="Amiri" pitchFamily="2" charset="-78"/>
              </a:rPr>
              <a:t>+</a:t>
            </a:r>
            <a:endParaRPr lang="en-US" sz="1800" dirty="0"/>
          </a:p>
        </p:txBody>
      </p:sp>
      <p:sp>
        <p:nvSpPr>
          <p:cNvPr id="41" name="Text 34"/>
          <p:cNvSpPr txBox="1"/>
          <p:nvPr/>
        </p:nvSpPr>
        <p:spPr>
          <a:xfrm>
            <a:off x="7059168" y="3291840"/>
            <a:ext cx="201168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Build</a:t>
            </a:r>
            <a:endParaRPr lang="en-US" sz="1400" dirty="0"/>
          </a:p>
          <a:p>
            <a:pPr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add a reason or detail</a:t>
            </a:r>
            <a:endParaRPr lang="en-US" sz="1400" dirty="0"/>
          </a:p>
        </p:txBody>
      </p:sp>
      <p:sp>
        <p:nvSpPr>
          <p:cNvPr id="42" name="Shape 35"/>
          <p:cNvSpPr/>
          <p:nvPr/>
        </p:nvSpPr>
        <p:spPr>
          <a:xfrm>
            <a:off x="8997696" y="3364992"/>
            <a:ext cx="548640" cy="548640"/>
          </a:xfrm>
          <a:prstGeom prst="ellipse">
            <a:avLst/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43" name="Text 36"/>
          <p:cNvSpPr txBox="1"/>
          <p:nvPr/>
        </p:nvSpPr>
        <p:spPr>
          <a:xfrm>
            <a:off x="8997696" y="3364992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D4AF37"/>
                </a:solidFill>
                <a:latin typeface="Arial" pitchFamily="34" charset="0"/>
                <a:cs typeface="Amiri" pitchFamily="2" charset="-78"/>
              </a:rPr>
              <a:t>?</a:t>
            </a:r>
            <a:endParaRPr lang="en-US" sz="1800" dirty="0"/>
          </a:p>
        </p:txBody>
      </p:sp>
      <p:sp>
        <p:nvSpPr>
          <p:cNvPr id="44" name="Text 37"/>
          <p:cNvSpPr txBox="1"/>
          <p:nvPr/>
        </p:nvSpPr>
        <p:spPr>
          <a:xfrm>
            <a:off x="9656064" y="3291840"/>
            <a:ext cx="201168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Challenge</a:t>
            </a:r>
            <a:endParaRPr lang="en-US" sz="1400" dirty="0"/>
          </a:p>
          <a:p>
            <a:pPr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question respectfully</a:t>
            </a:r>
            <a:endParaRPr lang="en-US" sz="1400" dirty="0"/>
          </a:p>
        </p:txBody>
      </p:sp>
      <p:sp>
        <p:nvSpPr>
          <p:cNvPr id="45" name="Shape 38"/>
          <p:cNvSpPr/>
          <p:nvPr/>
        </p:nvSpPr>
        <p:spPr>
          <a:xfrm>
            <a:off x="6400800" y="4279392"/>
            <a:ext cx="548640" cy="548640"/>
          </a:xfrm>
          <a:prstGeom prst="ellipse">
            <a:avLst/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46" name="Text 39"/>
          <p:cNvSpPr txBox="1"/>
          <p:nvPr/>
        </p:nvSpPr>
        <p:spPr>
          <a:xfrm>
            <a:off x="6400800" y="4279392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D4AF37"/>
                </a:solidFill>
                <a:latin typeface="Arial" pitchFamily="34" charset="0"/>
                <a:cs typeface="Amiri" pitchFamily="2" charset="-78"/>
              </a:rPr>
              <a:t>◎</a:t>
            </a:r>
            <a:endParaRPr lang="en-US" sz="1800" dirty="0"/>
          </a:p>
        </p:txBody>
      </p:sp>
      <p:sp>
        <p:nvSpPr>
          <p:cNvPr id="47" name="Text 40"/>
          <p:cNvSpPr txBox="1"/>
          <p:nvPr/>
        </p:nvSpPr>
        <p:spPr>
          <a:xfrm>
            <a:off x="7059168" y="4206240"/>
            <a:ext cx="201168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Share</a:t>
            </a:r>
            <a:endParaRPr lang="en-US" sz="1400" dirty="0"/>
          </a:p>
          <a:p>
            <a:pPr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anyone may be invited</a:t>
            </a:r>
            <a:endParaRPr lang="en-US" sz="1400" dirty="0"/>
          </a:p>
        </p:txBody>
      </p:sp>
      <p:sp>
        <p:nvSpPr>
          <p:cNvPr id="48" name="Shape 41"/>
          <p:cNvSpPr/>
          <p:nvPr/>
        </p:nvSpPr>
        <p:spPr>
          <a:xfrm>
            <a:off x="8997696" y="4279392"/>
            <a:ext cx="548640" cy="548640"/>
          </a:xfrm>
          <a:prstGeom prst="ellipse">
            <a:avLst/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49" name="Text 42"/>
          <p:cNvSpPr txBox="1"/>
          <p:nvPr/>
        </p:nvSpPr>
        <p:spPr>
          <a:xfrm>
            <a:off x="8997696" y="4279392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D4AF37"/>
                </a:solidFill>
                <a:latin typeface="Arial" pitchFamily="34" charset="0"/>
                <a:cs typeface="Amiri" pitchFamily="2" charset="-78"/>
              </a:rPr>
              <a:t>↺</a:t>
            </a:r>
            <a:endParaRPr lang="en-US" sz="1800" dirty="0"/>
          </a:p>
        </p:txBody>
      </p:sp>
      <p:sp>
        <p:nvSpPr>
          <p:cNvPr id="50" name="Text 43"/>
          <p:cNvSpPr txBox="1"/>
          <p:nvPr/>
        </p:nvSpPr>
        <p:spPr>
          <a:xfrm>
            <a:off x="9656064" y="4206240"/>
            <a:ext cx="201168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Summarise</a:t>
            </a:r>
            <a:endParaRPr lang="en-US" sz="1400" dirty="0"/>
          </a:p>
          <a:p>
            <a:pPr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say it more precisely</a:t>
            </a:r>
            <a:endParaRPr lang="en-US" sz="1400" dirty="0"/>
          </a:p>
        </p:txBody>
      </p:sp>
      <p:sp>
        <p:nvSpPr>
          <p:cNvPr id="51" name="Text 44"/>
          <p:cNvSpPr txBox="1"/>
          <p:nvPr/>
        </p:nvSpPr>
        <p:spPr>
          <a:xfrm>
            <a:off x="6400800" y="5230368"/>
            <a:ext cx="5102352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i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I will always give you thinking and practice time before I ask anyone. Reading aloud is by invitation — you can always say “pass, please come back to me”.</a:t>
            </a:r>
            <a:endParaRPr lang="en-US" sz="1150" dirty="0"/>
          </a:p>
        </p:txBody>
      </p:sp>
      <p:sp>
        <p:nvSpPr>
          <p:cNvPr id="52" name="Text 45"/>
          <p:cNvSpPr txBox="1"/>
          <p:nvPr/>
        </p:nvSpPr>
        <p:spPr>
          <a:xfrm>
            <a:off x="10360152" y="6455664"/>
            <a:ext cx="1371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2 / 24</a:t>
            </a:r>
            <a:endParaRPr lang="en-US" sz="8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D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37744"/>
            <a:ext cx="420624" cy="420624"/>
          </a:xfrm>
          <a:prstGeom prst="ellipse">
            <a:avLst/>
          </a:prstGeom>
          <a:solidFill>
            <a:srgbClr val="1B3B6F"/>
          </a:solidFill>
          <a:ln w="12700">
            <a:solidFill>
              <a:srgbClr val="D4AF37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457200" y="21945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D4AF37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</a:t>
            </a:r>
            <a:endParaRPr lang="ar-SA" sz="18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Al Madina Online School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57200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ARABIC DEPARTMENT · MIFTAH ARABIC · IGCSE 0544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8897112" y="274320"/>
            <a:ext cx="2834640" cy="329184"/>
          </a:xfrm>
          <a:prstGeom prst="roundRect">
            <a:avLst>
              <a:gd name="adj" fmla="val 50000"/>
            </a:avLst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897112" y="274320"/>
            <a:ext cx="2834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D5-W05 · Apply workshop</a:t>
            </a:r>
            <a:endParaRPr lang="en-US" sz="950" dirty="0"/>
          </a:p>
        </p:txBody>
      </p:sp>
      <p:sp>
        <p:nvSpPr>
          <p:cNvPr id="8" name="Shape 6"/>
          <p:cNvSpPr/>
          <p:nvPr/>
        </p:nvSpPr>
        <p:spPr>
          <a:xfrm>
            <a:off x="7388352" y="274320"/>
            <a:ext cx="1371600" cy="329184"/>
          </a:xfrm>
          <a:prstGeom prst="roundRect">
            <a:avLst>
              <a:gd name="adj" fmla="val 50000"/>
            </a:avLst>
          </a:prstGeom>
          <a:solidFill>
            <a:srgbClr val="5A6472"/>
          </a:solidFill>
          <a:ln w="12700">
            <a:solidFill>
              <a:srgbClr val="5A6472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7388352" y="274320"/>
            <a:ext cx="13716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WELCOME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822960"/>
            <a:ext cx="6949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300" kern="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TODAY’S PLAN · LEARN, LEARN, APPLY</a:t>
            </a:r>
            <a:endParaRPr lang="en-US" sz="1000" dirty="0"/>
          </a:p>
        </p:txBody>
      </p:sp>
      <p:sp>
        <p:nvSpPr>
          <p:cNvPr id="11" name="Text 9"/>
          <p:cNvSpPr txBox="1"/>
          <p:nvPr/>
        </p:nvSpPr>
        <p:spPr>
          <a:xfrm>
            <a:off x="457200" y="1033272"/>
            <a:ext cx="6949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5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Two lessons — now use them together</a:t>
            </a:r>
            <a:endParaRPr lang="en-US" sz="2500" dirty="0"/>
          </a:p>
        </p:txBody>
      </p:sp>
      <p:sp>
        <p:nvSpPr>
          <p:cNvPr id="12" name="Text 10"/>
          <p:cNvSpPr txBox="1"/>
          <p:nvPr/>
        </p:nvSpPr>
        <p:spPr>
          <a:xfrm>
            <a:off x="7498080" y="868680"/>
            <a:ext cx="4233672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2800" b="1" dirty="0">
                <a:solidFill>
                  <a:srgbClr val="8A6D1E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خُطُوَاتُ الوَرْشَةِ</a:t>
            </a:r>
            <a:endParaRPr lang="ar-SA" sz="28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6455664"/>
            <a:ext cx="6400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Miftah Arabic · Development D5 · Hobbies, Sport and Leisure · D5-W05 · Apply workshop (D5-L09 + D5-L10)</a:t>
            </a:r>
            <a:endParaRPr lang="en-US" sz="850" dirty="0"/>
          </a:p>
        </p:txBody>
      </p:sp>
      <p:sp>
        <p:nvSpPr>
          <p:cNvPr id="15" name="Shape 12"/>
          <p:cNvSpPr/>
          <p:nvPr/>
        </p:nvSpPr>
        <p:spPr>
          <a:xfrm>
            <a:off x="457200" y="1828800"/>
            <a:ext cx="2152498" cy="3246120"/>
          </a:xfrm>
          <a:prstGeom prst="roundRect">
            <a:avLst>
              <a:gd name="adj" fmla="val 3398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16" name="Shape 13"/>
          <p:cNvSpPr/>
          <p:nvPr/>
        </p:nvSpPr>
        <p:spPr>
          <a:xfrm>
            <a:off x="566928" y="1938528"/>
            <a:ext cx="1933042" cy="566928"/>
          </a:xfrm>
          <a:prstGeom prst="roundRect">
            <a:avLst>
              <a:gd name="adj" fmla="val 9677"/>
            </a:avLst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17" name="Text 14"/>
          <p:cNvSpPr txBox="1"/>
          <p:nvPr/>
        </p:nvSpPr>
        <p:spPr>
          <a:xfrm>
            <a:off x="603504" y="1956816"/>
            <a:ext cx="185989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TEACHER INSTRUCTION</a:t>
            </a:r>
            <a:endParaRPr lang="en-US" sz="1000" dirty="0"/>
          </a:p>
        </p:txBody>
      </p:sp>
      <p:sp>
        <p:nvSpPr>
          <p:cNvPr id="18" name="Text 15"/>
          <p:cNvSpPr txBox="1"/>
          <p:nvPr/>
        </p:nvSpPr>
        <p:spPr>
          <a:xfrm>
            <a:off x="603504" y="2249424"/>
            <a:ext cx="185989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E8EDF5"/>
                </a:solidFill>
                <a:latin typeface="Calibri" pitchFamily="34" charset="0"/>
                <a:cs typeface="Amiri" pitchFamily="2" charset="-78"/>
              </a:rPr>
              <a:t>6 min</a:t>
            </a:r>
            <a:endParaRPr lang="en-US" sz="1000" dirty="0"/>
          </a:p>
        </p:txBody>
      </p:sp>
      <p:sp>
        <p:nvSpPr>
          <p:cNvPr id="19" name="Shape 16"/>
          <p:cNvSpPr/>
          <p:nvPr/>
        </p:nvSpPr>
        <p:spPr>
          <a:xfrm>
            <a:off x="1332281" y="2651760"/>
            <a:ext cx="402336" cy="402336"/>
          </a:xfrm>
          <a:prstGeom prst="ellipse">
            <a:avLst/>
          </a:prstGeom>
          <a:solidFill>
            <a:srgbClr val="F4F1EA"/>
          </a:solidFill>
          <a:ln w="12700">
            <a:solidFill>
              <a:srgbClr val="F4F1EA"/>
            </a:solidFill>
            <a:prstDash val="solid"/>
          </a:ln>
        </p:spPr>
      </p:sp>
      <p:sp>
        <p:nvSpPr>
          <p:cNvPr id="20" name="Text 17"/>
          <p:cNvSpPr txBox="1"/>
          <p:nvPr/>
        </p:nvSpPr>
        <p:spPr>
          <a:xfrm>
            <a:off x="1332281" y="2651760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1</a:t>
            </a:r>
            <a:endParaRPr lang="en-US" sz="1300" dirty="0"/>
          </a:p>
        </p:txBody>
      </p:sp>
      <p:sp>
        <p:nvSpPr>
          <p:cNvPr id="21" name="Text 18"/>
          <p:cNvSpPr txBox="1"/>
          <p:nvPr/>
        </p:nvSpPr>
        <p:spPr>
          <a:xfrm>
            <a:off x="585216" y="3145536"/>
            <a:ext cx="1896466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What we learnt: D5-L09 and D5-L10.</a:t>
            </a:r>
            <a:endParaRPr lang="en-US" sz="1200" dirty="0"/>
          </a:p>
        </p:txBody>
      </p:sp>
      <p:sp>
        <p:nvSpPr>
          <p:cNvPr id="22" name="Text 19"/>
          <p:cNvSpPr txBox="1"/>
          <p:nvPr/>
        </p:nvSpPr>
        <p:spPr>
          <a:xfrm>
            <a:off x="548640" y="4526280"/>
            <a:ext cx="1969618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مَاذَا تَعَلَّمْنَا؟</a:t>
            </a:r>
            <a:endParaRPr lang="ar-SA" sz="1500" dirty="0"/>
          </a:p>
        </p:txBody>
      </p:sp>
      <p:sp>
        <p:nvSpPr>
          <p:cNvPr id="23" name="Shape 20"/>
          <p:cNvSpPr/>
          <p:nvPr/>
        </p:nvSpPr>
        <p:spPr>
          <a:xfrm>
            <a:off x="2737714" y="1828800"/>
            <a:ext cx="2152498" cy="3246120"/>
          </a:xfrm>
          <a:prstGeom prst="roundRect">
            <a:avLst>
              <a:gd name="adj" fmla="val 3398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24" name="Shape 21"/>
          <p:cNvSpPr/>
          <p:nvPr/>
        </p:nvSpPr>
        <p:spPr>
          <a:xfrm>
            <a:off x="2847442" y="1938528"/>
            <a:ext cx="1933042" cy="566928"/>
          </a:xfrm>
          <a:prstGeom prst="roundRect">
            <a:avLst>
              <a:gd name="adj" fmla="val 9677"/>
            </a:avLst>
          </a:prstGeom>
          <a:solidFill>
            <a:srgbClr val="2F6FB0"/>
          </a:solidFill>
          <a:ln w="12700">
            <a:solidFill>
              <a:srgbClr val="2F6FB0"/>
            </a:solidFill>
            <a:prstDash val="solid"/>
          </a:ln>
        </p:spPr>
      </p:sp>
      <p:sp>
        <p:nvSpPr>
          <p:cNvPr id="25" name="Text 22"/>
          <p:cNvSpPr txBox="1"/>
          <p:nvPr/>
        </p:nvSpPr>
        <p:spPr>
          <a:xfrm>
            <a:off x="2884018" y="1956816"/>
            <a:ext cx="185989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WE DO</a:t>
            </a:r>
            <a:endParaRPr lang="en-US" sz="1000" dirty="0"/>
          </a:p>
        </p:txBody>
      </p:sp>
      <p:sp>
        <p:nvSpPr>
          <p:cNvPr id="26" name="Text 23"/>
          <p:cNvSpPr txBox="1"/>
          <p:nvPr/>
        </p:nvSpPr>
        <p:spPr>
          <a:xfrm>
            <a:off x="2884018" y="2249424"/>
            <a:ext cx="185989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E8EDF5"/>
                </a:solidFill>
                <a:latin typeface="Calibri" pitchFamily="34" charset="0"/>
                <a:cs typeface="Amiri" pitchFamily="2" charset="-78"/>
              </a:rPr>
              <a:t>8 min</a:t>
            </a:r>
            <a:endParaRPr lang="en-US" sz="1000" dirty="0"/>
          </a:p>
        </p:txBody>
      </p:sp>
      <p:sp>
        <p:nvSpPr>
          <p:cNvPr id="27" name="Shape 24"/>
          <p:cNvSpPr/>
          <p:nvPr/>
        </p:nvSpPr>
        <p:spPr>
          <a:xfrm>
            <a:off x="3612794" y="2651760"/>
            <a:ext cx="402336" cy="402336"/>
          </a:xfrm>
          <a:prstGeom prst="ellipse">
            <a:avLst/>
          </a:prstGeom>
          <a:solidFill>
            <a:srgbClr val="F4F1EA"/>
          </a:solidFill>
          <a:ln w="12700">
            <a:solidFill>
              <a:srgbClr val="F4F1EA"/>
            </a:solidFill>
            <a:prstDash val="solid"/>
          </a:ln>
        </p:spPr>
      </p:sp>
      <p:sp>
        <p:nvSpPr>
          <p:cNvPr id="28" name="Text 25"/>
          <p:cNvSpPr txBox="1"/>
          <p:nvPr/>
        </p:nvSpPr>
        <p:spPr>
          <a:xfrm>
            <a:off x="3612794" y="2651760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2</a:t>
            </a:r>
            <a:endParaRPr lang="en-US" sz="1300" dirty="0"/>
          </a:p>
        </p:txBody>
      </p:sp>
      <p:sp>
        <p:nvSpPr>
          <p:cNvPr id="29" name="Text 26"/>
          <p:cNvSpPr txBox="1"/>
          <p:nvPr/>
        </p:nvSpPr>
        <p:spPr>
          <a:xfrm>
            <a:off x="2865730" y="3145536"/>
            <a:ext cx="1896466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Part 1 · Remember: word race and “which lesson?” sort.</a:t>
            </a:r>
            <a:endParaRPr lang="en-US" sz="1200" dirty="0"/>
          </a:p>
        </p:txBody>
      </p:sp>
      <p:sp>
        <p:nvSpPr>
          <p:cNvPr id="30" name="Text 27"/>
          <p:cNvSpPr txBox="1"/>
          <p:nvPr/>
        </p:nvSpPr>
        <p:spPr>
          <a:xfrm>
            <a:off x="2829154" y="4526280"/>
            <a:ext cx="1969618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2F6FB0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تَذَكَّرْ</a:t>
            </a:r>
            <a:endParaRPr lang="ar-SA" sz="1500" dirty="0"/>
          </a:p>
        </p:txBody>
      </p:sp>
      <p:sp>
        <p:nvSpPr>
          <p:cNvPr id="31" name="Shape 28"/>
          <p:cNvSpPr/>
          <p:nvPr/>
        </p:nvSpPr>
        <p:spPr>
          <a:xfrm>
            <a:off x="5018227" y="1828800"/>
            <a:ext cx="2152498" cy="3246120"/>
          </a:xfrm>
          <a:prstGeom prst="roundRect">
            <a:avLst>
              <a:gd name="adj" fmla="val 3398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32" name="Shape 29"/>
          <p:cNvSpPr/>
          <p:nvPr/>
        </p:nvSpPr>
        <p:spPr>
          <a:xfrm>
            <a:off x="5127955" y="1938528"/>
            <a:ext cx="1933042" cy="566928"/>
          </a:xfrm>
          <a:prstGeom prst="roundRect">
            <a:avLst>
              <a:gd name="adj" fmla="val 9677"/>
            </a:avLst>
          </a:prstGeom>
          <a:solidFill>
            <a:srgbClr val="1E6B52"/>
          </a:solidFill>
          <a:ln w="12700">
            <a:solidFill>
              <a:srgbClr val="1E6B52"/>
            </a:solidFill>
            <a:prstDash val="solid"/>
          </a:ln>
        </p:spPr>
      </p:sp>
      <p:sp>
        <p:nvSpPr>
          <p:cNvPr id="33" name="Text 30"/>
          <p:cNvSpPr txBox="1"/>
          <p:nvPr/>
        </p:nvSpPr>
        <p:spPr>
          <a:xfrm>
            <a:off x="5164531" y="1956816"/>
            <a:ext cx="185989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YOU DO</a:t>
            </a:r>
            <a:endParaRPr lang="en-US" sz="1000" dirty="0"/>
          </a:p>
        </p:txBody>
      </p:sp>
      <p:sp>
        <p:nvSpPr>
          <p:cNvPr id="34" name="Text 31"/>
          <p:cNvSpPr txBox="1"/>
          <p:nvPr/>
        </p:nvSpPr>
        <p:spPr>
          <a:xfrm>
            <a:off x="5164531" y="2249424"/>
            <a:ext cx="185989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E8EDF5"/>
                </a:solidFill>
                <a:latin typeface="Calibri" pitchFamily="34" charset="0"/>
                <a:cs typeface="Amiri" pitchFamily="2" charset="-78"/>
              </a:rPr>
              <a:t>22 min</a:t>
            </a:r>
            <a:endParaRPr lang="en-US" sz="1000" dirty="0"/>
          </a:p>
        </p:txBody>
      </p:sp>
      <p:sp>
        <p:nvSpPr>
          <p:cNvPr id="35" name="Shape 32"/>
          <p:cNvSpPr/>
          <p:nvPr/>
        </p:nvSpPr>
        <p:spPr>
          <a:xfrm>
            <a:off x="5893308" y="2651760"/>
            <a:ext cx="402336" cy="402336"/>
          </a:xfrm>
          <a:prstGeom prst="ellipse">
            <a:avLst/>
          </a:prstGeom>
          <a:solidFill>
            <a:srgbClr val="F4F1EA"/>
          </a:solidFill>
          <a:ln w="12700">
            <a:solidFill>
              <a:srgbClr val="F4F1EA"/>
            </a:solidFill>
            <a:prstDash val="solid"/>
          </a:ln>
        </p:spPr>
      </p:sp>
      <p:sp>
        <p:nvSpPr>
          <p:cNvPr id="36" name="Text 33"/>
          <p:cNvSpPr txBox="1"/>
          <p:nvPr/>
        </p:nvSpPr>
        <p:spPr>
          <a:xfrm>
            <a:off x="5893308" y="2651760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3</a:t>
            </a:r>
            <a:endParaRPr lang="en-US" sz="1300" dirty="0"/>
          </a:p>
        </p:txBody>
      </p:sp>
      <p:sp>
        <p:nvSpPr>
          <p:cNvPr id="37" name="Text 34"/>
          <p:cNvSpPr txBox="1"/>
          <p:nvPr/>
        </p:nvSpPr>
        <p:spPr>
          <a:xfrm>
            <a:off x="5146243" y="3145536"/>
            <a:ext cx="1896466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Part 2 · Speak: say the model dialogue · question cards · role-play card · short talk.</a:t>
            </a:r>
            <a:endParaRPr lang="en-US" sz="1200" dirty="0"/>
          </a:p>
        </p:txBody>
      </p:sp>
      <p:sp>
        <p:nvSpPr>
          <p:cNvPr id="38" name="Text 35"/>
          <p:cNvSpPr txBox="1"/>
          <p:nvPr/>
        </p:nvSpPr>
        <p:spPr>
          <a:xfrm>
            <a:off x="5109667" y="4526280"/>
            <a:ext cx="1969618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E6B52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تَكَلَّمْ</a:t>
            </a:r>
            <a:endParaRPr lang="ar-SA" sz="1500" dirty="0"/>
          </a:p>
        </p:txBody>
      </p:sp>
      <p:sp>
        <p:nvSpPr>
          <p:cNvPr id="39" name="Shape 36"/>
          <p:cNvSpPr/>
          <p:nvPr/>
        </p:nvSpPr>
        <p:spPr>
          <a:xfrm>
            <a:off x="7298741" y="1828800"/>
            <a:ext cx="2152498" cy="3246120"/>
          </a:xfrm>
          <a:prstGeom prst="roundRect">
            <a:avLst>
              <a:gd name="adj" fmla="val 3398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40" name="Shape 37"/>
          <p:cNvSpPr/>
          <p:nvPr/>
        </p:nvSpPr>
        <p:spPr>
          <a:xfrm>
            <a:off x="7408469" y="1938528"/>
            <a:ext cx="1933042" cy="566928"/>
          </a:xfrm>
          <a:prstGeom prst="roundRect">
            <a:avLst>
              <a:gd name="adj" fmla="val 9677"/>
            </a:avLst>
          </a:prstGeom>
          <a:solidFill>
            <a:srgbClr val="1E6B52"/>
          </a:solidFill>
          <a:ln w="12700">
            <a:solidFill>
              <a:srgbClr val="1E6B52"/>
            </a:solidFill>
            <a:prstDash val="solid"/>
          </a:ln>
        </p:spPr>
      </p:sp>
      <p:sp>
        <p:nvSpPr>
          <p:cNvPr id="41" name="Text 38"/>
          <p:cNvSpPr txBox="1"/>
          <p:nvPr/>
        </p:nvSpPr>
        <p:spPr>
          <a:xfrm>
            <a:off x="7445045" y="1956816"/>
            <a:ext cx="185989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YOU DO</a:t>
            </a:r>
            <a:endParaRPr lang="en-US" sz="1000" dirty="0"/>
          </a:p>
        </p:txBody>
      </p:sp>
      <p:sp>
        <p:nvSpPr>
          <p:cNvPr id="42" name="Text 39"/>
          <p:cNvSpPr txBox="1"/>
          <p:nvPr/>
        </p:nvSpPr>
        <p:spPr>
          <a:xfrm>
            <a:off x="7445045" y="2249424"/>
            <a:ext cx="185989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E8EDF5"/>
                </a:solidFill>
                <a:latin typeface="Calibri" pitchFamily="34" charset="0"/>
                <a:cs typeface="Amiri" pitchFamily="2" charset="-78"/>
              </a:rPr>
              <a:t>19 min</a:t>
            </a:r>
            <a:endParaRPr lang="en-US" sz="1000" dirty="0"/>
          </a:p>
        </p:txBody>
      </p:sp>
      <p:sp>
        <p:nvSpPr>
          <p:cNvPr id="43" name="Shape 40"/>
          <p:cNvSpPr/>
          <p:nvPr/>
        </p:nvSpPr>
        <p:spPr>
          <a:xfrm>
            <a:off x="8173822" y="2651760"/>
            <a:ext cx="402336" cy="402336"/>
          </a:xfrm>
          <a:prstGeom prst="ellipse">
            <a:avLst/>
          </a:prstGeom>
          <a:solidFill>
            <a:srgbClr val="F4F1EA"/>
          </a:solidFill>
          <a:ln w="12700">
            <a:solidFill>
              <a:srgbClr val="F4F1EA"/>
            </a:solidFill>
            <a:prstDash val="solid"/>
          </a:ln>
        </p:spPr>
      </p:sp>
      <p:sp>
        <p:nvSpPr>
          <p:cNvPr id="44" name="Text 41"/>
          <p:cNvSpPr txBox="1"/>
          <p:nvPr/>
        </p:nvSpPr>
        <p:spPr>
          <a:xfrm>
            <a:off x="8173822" y="2651760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4</a:t>
            </a:r>
            <a:endParaRPr lang="en-US" sz="1300" dirty="0"/>
          </a:p>
        </p:txBody>
      </p:sp>
      <p:sp>
        <p:nvSpPr>
          <p:cNvPr id="45" name="Text 42"/>
          <p:cNvSpPr txBox="1"/>
          <p:nvPr/>
        </p:nvSpPr>
        <p:spPr>
          <a:xfrm>
            <a:off x="7426757" y="3145536"/>
            <a:ext cx="1896466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Part 3 · Write: sentence builder · spot and fix · write your text · buddy check.</a:t>
            </a:r>
            <a:endParaRPr lang="en-US" sz="1200" dirty="0"/>
          </a:p>
        </p:txBody>
      </p:sp>
      <p:sp>
        <p:nvSpPr>
          <p:cNvPr id="46" name="Text 43"/>
          <p:cNvSpPr txBox="1"/>
          <p:nvPr/>
        </p:nvSpPr>
        <p:spPr>
          <a:xfrm>
            <a:off x="7390181" y="4526280"/>
            <a:ext cx="1969618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E6B52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اكْتُبْ</a:t>
            </a:r>
            <a:endParaRPr lang="ar-SA" sz="1500" dirty="0"/>
          </a:p>
        </p:txBody>
      </p:sp>
      <p:sp>
        <p:nvSpPr>
          <p:cNvPr id="47" name="Shape 44"/>
          <p:cNvSpPr/>
          <p:nvPr/>
        </p:nvSpPr>
        <p:spPr>
          <a:xfrm>
            <a:off x="9579254" y="1828800"/>
            <a:ext cx="2152498" cy="3246120"/>
          </a:xfrm>
          <a:prstGeom prst="roundRect">
            <a:avLst>
              <a:gd name="adj" fmla="val 3398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48" name="Shape 45"/>
          <p:cNvSpPr/>
          <p:nvPr/>
        </p:nvSpPr>
        <p:spPr>
          <a:xfrm>
            <a:off x="9688982" y="1938528"/>
            <a:ext cx="1933042" cy="566928"/>
          </a:xfrm>
          <a:prstGeom prst="roundRect">
            <a:avLst>
              <a:gd name="adj" fmla="val 9677"/>
            </a:avLst>
          </a:prstGeom>
          <a:solidFill>
            <a:srgbClr val="8A6D1E"/>
          </a:solidFill>
          <a:ln w="12700">
            <a:solidFill>
              <a:srgbClr val="8A6D1E"/>
            </a:solidFill>
            <a:prstDash val="solid"/>
          </a:ln>
        </p:spPr>
      </p:sp>
      <p:sp>
        <p:nvSpPr>
          <p:cNvPr id="49" name="Text 46"/>
          <p:cNvSpPr txBox="1"/>
          <p:nvPr/>
        </p:nvSpPr>
        <p:spPr>
          <a:xfrm>
            <a:off x="9725558" y="1956816"/>
            <a:ext cx="185989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FEEDBACK</a:t>
            </a:r>
            <a:endParaRPr lang="en-US" sz="1000" dirty="0"/>
          </a:p>
        </p:txBody>
      </p:sp>
      <p:sp>
        <p:nvSpPr>
          <p:cNvPr id="50" name="Text 47"/>
          <p:cNvSpPr txBox="1"/>
          <p:nvPr/>
        </p:nvSpPr>
        <p:spPr>
          <a:xfrm>
            <a:off x="9725558" y="2249424"/>
            <a:ext cx="185989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E8EDF5"/>
                </a:solidFill>
                <a:latin typeface="Calibri" pitchFamily="34" charset="0"/>
                <a:cs typeface="Amiri" pitchFamily="2" charset="-78"/>
              </a:rPr>
              <a:t>5 min</a:t>
            </a:r>
            <a:endParaRPr lang="en-US" sz="1000" dirty="0"/>
          </a:p>
        </p:txBody>
      </p:sp>
      <p:sp>
        <p:nvSpPr>
          <p:cNvPr id="51" name="Shape 48"/>
          <p:cNvSpPr/>
          <p:nvPr/>
        </p:nvSpPr>
        <p:spPr>
          <a:xfrm>
            <a:off x="10454335" y="2651760"/>
            <a:ext cx="402336" cy="402336"/>
          </a:xfrm>
          <a:prstGeom prst="ellipse">
            <a:avLst/>
          </a:prstGeom>
          <a:solidFill>
            <a:srgbClr val="F4F1EA"/>
          </a:solidFill>
          <a:ln w="12700">
            <a:solidFill>
              <a:srgbClr val="F4F1EA"/>
            </a:solidFill>
            <a:prstDash val="solid"/>
          </a:ln>
        </p:spPr>
      </p:sp>
      <p:sp>
        <p:nvSpPr>
          <p:cNvPr id="52" name="Text 49"/>
          <p:cNvSpPr txBox="1"/>
          <p:nvPr/>
        </p:nvSpPr>
        <p:spPr>
          <a:xfrm>
            <a:off x="10454335" y="2651760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5</a:t>
            </a:r>
            <a:endParaRPr lang="en-US" sz="1300" dirty="0"/>
          </a:p>
        </p:txBody>
      </p:sp>
      <p:sp>
        <p:nvSpPr>
          <p:cNvPr id="53" name="Text 50"/>
          <p:cNvSpPr txBox="1"/>
          <p:nvPr/>
        </p:nvSpPr>
        <p:spPr>
          <a:xfrm>
            <a:off x="9707270" y="3145536"/>
            <a:ext cx="1896466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Check yourself with the models.</a:t>
            </a:r>
            <a:endParaRPr lang="en-US" sz="1200" dirty="0"/>
          </a:p>
        </p:txBody>
      </p:sp>
      <p:sp>
        <p:nvSpPr>
          <p:cNvPr id="54" name="Text 51"/>
          <p:cNvSpPr txBox="1"/>
          <p:nvPr/>
        </p:nvSpPr>
        <p:spPr>
          <a:xfrm>
            <a:off x="9670694" y="4526280"/>
            <a:ext cx="1969618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8A6D1E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قَارِنْ</a:t>
            </a:r>
            <a:endParaRPr lang="ar-SA" sz="1500" dirty="0"/>
          </a:p>
        </p:txBody>
      </p:sp>
      <p:sp>
        <p:nvSpPr>
          <p:cNvPr id="55" name="Shape 52"/>
          <p:cNvSpPr/>
          <p:nvPr/>
        </p:nvSpPr>
        <p:spPr>
          <a:xfrm>
            <a:off x="457200" y="5285232"/>
            <a:ext cx="11274552" cy="1024128"/>
          </a:xfrm>
          <a:prstGeom prst="roundRect">
            <a:avLst>
              <a:gd name="adj" fmla="val 7143"/>
            </a:avLst>
          </a:prstGeom>
          <a:solidFill>
            <a:srgbClr val="E9F5EE"/>
          </a:solidFill>
          <a:ln w="9525">
            <a:solidFill>
              <a:srgbClr val="9CCFB0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56" name="Text 53"/>
          <p:cNvSpPr txBox="1"/>
          <p:nvPr/>
        </p:nvSpPr>
        <p:spPr>
          <a:xfrm>
            <a:off x="685800" y="5358384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200" kern="0" dirty="0">
                <a:solidFill>
                  <a:srgbClr val="1E6B52"/>
                </a:solidFill>
                <a:latin typeface="Calibri" pitchFamily="34" charset="0"/>
                <a:cs typeface="Amiri" pitchFamily="2" charset="-78"/>
              </a:rPr>
              <a:t>HOW THE WORKSHOP RUNS</a:t>
            </a:r>
            <a:endParaRPr lang="en-US" sz="1000" dirty="0"/>
          </a:p>
        </p:txBody>
      </p:sp>
      <p:sp>
        <p:nvSpPr>
          <p:cNvPr id="57" name="Text 54"/>
          <p:cNvSpPr txBox="1"/>
          <p:nvPr/>
        </p:nvSpPr>
        <p:spPr>
          <a:xfrm>
            <a:off x="685800" y="5632704"/>
            <a:ext cx="1088136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50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Today there is no new language: you USE the words and structures of the last two lessons together. Everybody speaks in every step and everybody writes their own text. Choose your route — Core, Develop or Stretch — and move up when you are ready.</a:t>
            </a:r>
            <a:endParaRPr lang="en-US" sz="1250" dirty="0"/>
          </a:p>
        </p:txBody>
      </p:sp>
      <p:sp>
        <p:nvSpPr>
          <p:cNvPr id="58" name="Text 55"/>
          <p:cNvSpPr txBox="1"/>
          <p:nvPr/>
        </p:nvSpPr>
        <p:spPr>
          <a:xfrm>
            <a:off x="10360152" y="6455664"/>
            <a:ext cx="1371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3 / 24</a:t>
            </a:r>
            <a:endParaRPr lang="en-US" sz="8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D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37744"/>
            <a:ext cx="420624" cy="420624"/>
          </a:xfrm>
          <a:prstGeom prst="ellipse">
            <a:avLst/>
          </a:prstGeom>
          <a:solidFill>
            <a:srgbClr val="1B3B6F"/>
          </a:solidFill>
          <a:ln w="12700">
            <a:solidFill>
              <a:srgbClr val="D4AF37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457200" y="21945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D4AF37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</a:t>
            </a:r>
            <a:endParaRPr lang="ar-SA" sz="18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Al Madina Online School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57200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ARABIC DEPARTMENT · MIFTAH ARABIC · IGCSE 0544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8897112" y="274320"/>
            <a:ext cx="2834640" cy="329184"/>
          </a:xfrm>
          <a:prstGeom prst="roundRect">
            <a:avLst>
              <a:gd name="adj" fmla="val 50000"/>
            </a:avLst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897112" y="274320"/>
            <a:ext cx="2834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D5-W05 · Apply workshop</a:t>
            </a:r>
            <a:endParaRPr lang="en-US" sz="950" dirty="0"/>
          </a:p>
        </p:txBody>
      </p:sp>
      <p:sp>
        <p:nvSpPr>
          <p:cNvPr id="8" name="Shape 6"/>
          <p:cNvSpPr/>
          <p:nvPr/>
        </p:nvSpPr>
        <p:spPr>
          <a:xfrm>
            <a:off x="6308446" y="274320"/>
            <a:ext cx="2451506" cy="329184"/>
          </a:xfrm>
          <a:prstGeom prst="roundRect">
            <a:avLst>
              <a:gd name="adj" fmla="val 50000"/>
            </a:avLst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6308446" y="274320"/>
            <a:ext cx="245150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TEACHER INSTRUCTION · 3 MIN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822960"/>
            <a:ext cx="6949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300" kern="0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WHAT WE LEARNT THIS WEEK · D5-L09 + D5-L10</a:t>
            </a:r>
            <a:endParaRPr lang="en-US" sz="1000" dirty="0"/>
          </a:p>
        </p:txBody>
      </p:sp>
      <p:sp>
        <p:nvSpPr>
          <p:cNvPr id="11" name="Text 9"/>
          <p:cNvSpPr txBox="1"/>
          <p:nvPr/>
        </p:nvSpPr>
        <p:spPr>
          <a:xfrm>
            <a:off x="457200" y="1033272"/>
            <a:ext cx="6949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5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This week’s two lessons — and today’s goal</a:t>
            </a:r>
            <a:endParaRPr lang="en-US" sz="2250" dirty="0"/>
          </a:p>
        </p:txBody>
      </p:sp>
      <p:sp>
        <p:nvSpPr>
          <p:cNvPr id="12" name="Text 10"/>
          <p:cNvSpPr txBox="1"/>
          <p:nvPr/>
        </p:nvSpPr>
        <p:spPr>
          <a:xfrm>
            <a:off x="7498080" y="868680"/>
            <a:ext cx="4233672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2800" b="1" dirty="0">
                <a:solidFill>
                  <a:srgbClr val="8A6D1E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نُطَبِّقُ مَا تَعَلَّمْنَا</a:t>
            </a:r>
            <a:endParaRPr lang="ar-SA" sz="28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6455664"/>
            <a:ext cx="6400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Miftah Arabic · Development D5 · Hobbies, Sport and Leisure · D5-W05 · Apply workshop (D5-L09 + D5-L10)</a:t>
            </a:r>
            <a:endParaRPr lang="en-US" sz="850" dirty="0"/>
          </a:p>
        </p:txBody>
      </p:sp>
      <p:sp>
        <p:nvSpPr>
          <p:cNvPr id="15" name="Shape 12"/>
          <p:cNvSpPr/>
          <p:nvPr/>
        </p:nvSpPr>
        <p:spPr>
          <a:xfrm>
            <a:off x="457200" y="1810512"/>
            <a:ext cx="4663440" cy="4315968"/>
          </a:xfrm>
          <a:prstGeom prst="roundRect">
            <a:avLst>
              <a:gd name="adj" fmla="val 1695"/>
            </a:avLst>
          </a:prstGeom>
          <a:solidFill>
            <a:srgbClr val="F7F9FC"/>
          </a:solidFill>
          <a:ln w="9525">
            <a:solidFill>
              <a:srgbClr val="C9D6EA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16" name="Text 13"/>
          <p:cNvSpPr txBox="1"/>
          <p:nvPr/>
        </p:nvSpPr>
        <p:spPr>
          <a:xfrm>
            <a:off x="685800" y="1920240"/>
            <a:ext cx="2743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TODAY YOU WILL</a:t>
            </a:r>
            <a:endParaRPr lang="en-US" sz="1100" dirty="0"/>
          </a:p>
        </p:txBody>
      </p:sp>
      <p:sp>
        <p:nvSpPr>
          <p:cNvPr id="17" name="Text 14"/>
          <p:cNvSpPr txBox="1"/>
          <p:nvPr/>
        </p:nvSpPr>
        <p:spPr>
          <a:xfrm>
            <a:off x="2834640" y="1874520"/>
            <a:ext cx="2103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1600" dirty="0">
                <a:solidFill>
                  <a:srgbClr val="8A6D1E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سَتَتَعَلَّمُ اليَوْمَ</a:t>
            </a:r>
            <a:endParaRPr lang="ar-SA" sz="1600" dirty="0"/>
          </a:p>
        </p:txBody>
      </p:sp>
      <p:sp>
        <p:nvSpPr>
          <p:cNvPr id="18" name="Shape 15"/>
          <p:cNvSpPr/>
          <p:nvPr/>
        </p:nvSpPr>
        <p:spPr>
          <a:xfrm>
            <a:off x="685800" y="2395728"/>
            <a:ext cx="365760" cy="365760"/>
          </a:xfrm>
          <a:prstGeom prst="ellipse">
            <a:avLst/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19" name="Text 16"/>
          <p:cNvSpPr txBox="1"/>
          <p:nvPr/>
        </p:nvSpPr>
        <p:spPr>
          <a:xfrm>
            <a:off x="685800" y="2395728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D4AF37"/>
                </a:solidFill>
                <a:latin typeface="Calibri" pitchFamily="34" charset="0"/>
                <a:cs typeface="Amiri" pitchFamily="2" charset="-78"/>
              </a:rPr>
              <a:t>1</a:t>
            </a:r>
            <a:endParaRPr lang="en-US" sz="1200" dirty="0"/>
          </a:p>
        </p:txBody>
      </p:sp>
      <p:sp>
        <p:nvSpPr>
          <p:cNvPr id="20" name="Text 17"/>
          <p:cNvSpPr txBox="1"/>
          <p:nvPr/>
        </p:nvSpPr>
        <p:spPr>
          <a:xfrm>
            <a:off x="1188720" y="2286000"/>
            <a:ext cx="374904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D5-L09: Writing — My Leisure Life (Extended Writing)</a:t>
            </a:r>
            <a:endParaRPr lang="en-US" sz="1300" dirty="0"/>
          </a:p>
        </p:txBody>
      </p:sp>
      <p:sp>
        <p:nvSpPr>
          <p:cNvPr id="21" name="Shape 18"/>
          <p:cNvSpPr/>
          <p:nvPr/>
        </p:nvSpPr>
        <p:spPr>
          <a:xfrm>
            <a:off x="685800" y="3291840"/>
            <a:ext cx="365760" cy="365760"/>
          </a:xfrm>
          <a:prstGeom prst="ellipse">
            <a:avLst/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22" name="Text 19"/>
          <p:cNvSpPr txBox="1"/>
          <p:nvPr/>
        </p:nvSpPr>
        <p:spPr>
          <a:xfrm>
            <a:off x="685800" y="329184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D4AF37"/>
                </a:solidFill>
                <a:latin typeface="Calibri" pitchFamily="34" charset="0"/>
                <a:cs typeface="Amiri" pitchFamily="2" charset="-78"/>
              </a:rPr>
              <a:t>2</a:t>
            </a:r>
            <a:endParaRPr lang="en-US" sz="1200" dirty="0"/>
          </a:p>
        </p:txBody>
      </p:sp>
      <p:sp>
        <p:nvSpPr>
          <p:cNvPr id="23" name="Text 20"/>
          <p:cNvSpPr txBox="1"/>
          <p:nvPr/>
        </p:nvSpPr>
        <p:spPr>
          <a:xfrm>
            <a:off x="1188720" y="3182112"/>
            <a:ext cx="374904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D5-L10: Listening — Sport, Leisure and Past Events</a:t>
            </a:r>
            <a:endParaRPr lang="en-US" sz="1300" dirty="0"/>
          </a:p>
        </p:txBody>
      </p:sp>
      <p:sp>
        <p:nvSpPr>
          <p:cNvPr id="24" name="Shape 21"/>
          <p:cNvSpPr/>
          <p:nvPr/>
        </p:nvSpPr>
        <p:spPr>
          <a:xfrm>
            <a:off x="685800" y="4187952"/>
            <a:ext cx="365760" cy="365760"/>
          </a:xfrm>
          <a:prstGeom prst="ellipse">
            <a:avLst/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25" name="Text 22"/>
          <p:cNvSpPr txBox="1"/>
          <p:nvPr/>
        </p:nvSpPr>
        <p:spPr>
          <a:xfrm>
            <a:off x="685800" y="418795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D4AF37"/>
                </a:solidFill>
                <a:latin typeface="Calibri" pitchFamily="34" charset="0"/>
                <a:cs typeface="Amiri" pitchFamily="2" charset="-78"/>
              </a:rPr>
              <a:t>3</a:t>
            </a:r>
            <a:endParaRPr lang="en-US" sz="1200" dirty="0"/>
          </a:p>
        </p:txBody>
      </p:sp>
      <p:sp>
        <p:nvSpPr>
          <p:cNvPr id="26" name="Text 23"/>
          <p:cNvSpPr txBox="1"/>
          <p:nvPr/>
        </p:nvSpPr>
        <p:spPr>
          <a:xfrm>
            <a:off x="1188720" y="4078224"/>
            <a:ext cx="374904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Apply both: Listening card — which tense? · My leisure life: then, now and next</a:t>
            </a:r>
            <a:endParaRPr lang="en-US" sz="1300" dirty="0"/>
          </a:p>
        </p:txBody>
      </p:sp>
      <p:sp>
        <p:nvSpPr>
          <p:cNvPr id="27" name="Shape 24"/>
          <p:cNvSpPr/>
          <p:nvPr/>
        </p:nvSpPr>
        <p:spPr>
          <a:xfrm>
            <a:off x="5349240" y="1810512"/>
            <a:ext cx="6382512" cy="1353312"/>
          </a:xfrm>
          <a:prstGeom prst="roundRect">
            <a:avLst>
              <a:gd name="adj" fmla="val 5405"/>
            </a:avLst>
          </a:prstGeom>
          <a:solidFill>
            <a:srgbClr val="E9F5EE"/>
          </a:solidFill>
          <a:ln w="9525">
            <a:solidFill>
              <a:srgbClr val="2E8B57"/>
            </a:solidFill>
            <a:prstDash val="solid"/>
          </a:ln>
        </p:spPr>
      </p:sp>
      <p:sp>
        <p:nvSpPr>
          <p:cNvPr id="28" name="Shape 25"/>
          <p:cNvSpPr/>
          <p:nvPr/>
        </p:nvSpPr>
        <p:spPr>
          <a:xfrm>
            <a:off x="5532120" y="1947672"/>
            <a:ext cx="1143000" cy="292608"/>
          </a:xfrm>
          <a:prstGeom prst="roundRect">
            <a:avLst>
              <a:gd name="adj" fmla="val 50000"/>
            </a:avLst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29" name="Text 26"/>
          <p:cNvSpPr txBox="1"/>
          <p:nvPr/>
        </p:nvSpPr>
        <p:spPr>
          <a:xfrm>
            <a:off x="5532120" y="1947672"/>
            <a:ext cx="1143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CORE</a:t>
            </a:r>
            <a:endParaRPr lang="en-US" sz="950" dirty="0"/>
          </a:p>
        </p:txBody>
      </p:sp>
      <p:sp>
        <p:nvSpPr>
          <p:cNvPr id="30" name="Text 27"/>
          <p:cNvSpPr txBox="1"/>
          <p:nvPr/>
        </p:nvSpPr>
        <p:spPr>
          <a:xfrm>
            <a:off x="6766560" y="1947672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b="1" i="1" dirty="0">
                <a:solidFill>
                  <a:srgbClr val="2E8B57"/>
                </a:solidFill>
                <a:latin typeface="Calibri" pitchFamily="34" charset="0"/>
                <a:cs typeface="Amiri" pitchFamily="2" charset="-78"/>
              </a:rPr>
              <a:t>Everyone</a:t>
            </a:r>
            <a:endParaRPr lang="en-US" sz="1050" dirty="0"/>
          </a:p>
        </p:txBody>
      </p:sp>
      <p:sp>
        <p:nvSpPr>
          <p:cNvPr id="31" name="Text 28"/>
          <p:cNvSpPr txBox="1"/>
          <p:nvPr/>
        </p:nvSpPr>
        <p:spPr>
          <a:xfrm>
            <a:off x="5532120" y="2286000"/>
            <a:ext cx="6016752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2E8B57"/>
                </a:solidFill>
                <a:latin typeface="Calibri" pitchFamily="34" charset="0"/>
                <a:cs typeface="Amiri" pitchFamily="2" charset="-78"/>
              </a:rPr>
              <a:t>☐  Answer questions from BOTH lessons in full sentences.</a:t>
            </a:r>
            <a:endParaRPr lang="en-US" sz="1300" dirty="0"/>
          </a:p>
        </p:txBody>
      </p:sp>
      <p:sp>
        <p:nvSpPr>
          <p:cNvPr id="32" name="Text 29"/>
          <p:cNvSpPr txBox="1"/>
          <p:nvPr/>
        </p:nvSpPr>
        <p:spPr>
          <a:xfrm>
            <a:off x="5532120" y="2697480"/>
            <a:ext cx="6016752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2E8B57"/>
                </a:solidFill>
                <a:latin typeface="Calibri" pitchFamily="34" charset="0"/>
                <a:cs typeface="Amiri" pitchFamily="2" charset="-78"/>
              </a:rPr>
              <a:t>☐  Write the text using the frames.</a:t>
            </a:r>
            <a:endParaRPr lang="en-US" sz="1300" dirty="0"/>
          </a:p>
        </p:txBody>
      </p:sp>
      <p:sp>
        <p:nvSpPr>
          <p:cNvPr id="33" name="Shape 30"/>
          <p:cNvSpPr/>
          <p:nvPr/>
        </p:nvSpPr>
        <p:spPr>
          <a:xfrm>
            <a:off x="5349240" y="3273552"/>
            <a:ext cx="6382512" cy="1353312"/>
          </a:xfrm>
          <a:prstGeom prst="roundRect">
            <a:avLst>
              <a:gd name="adj" fmla="val 5405"/>
            </a:avLst>
          </a:prstGeom>
          <a:solidFill>
            <a:srgbClr val="FCF1E0"/>
          </a:solidFill>
          <a:ln w="9525">
            <a:solidFill>
              <a:srgbClr val="C9780A"/>
            </a:solidFill>
            <a:prstDash val="solid"/>
          </a:ln>
        </p:spPr>
      </p:sp>
      <p:sp>
        <p:nvSpPr>
          <p:cNvPr id="34" name="Shape 31"/>
          <p:cNvSpPr/>
          <p:nvPr/>
        </p:nvSpPr>
        <p:spPr>
          <a:xfrm>
            <a:off x="5532120" y="3410712"/>
            <a:ext cx="1143000" cy="292608"/>
          </a:xfrm>
          <a:prstGeom prst="roundRect">
            <a:avLst>
              <a:gd name="adj" fmla="val 50000"/>
            </a:avLst>
          </a:prstGeom>
          <a:solidFill>
            <a:srgbClr val="C9780A"/>
          </a:solidFill>
          <a:ln w="12700">
            <a:solidFill>
              <a:srgbClr val="C9780A"/>
            </a:solidFill>
            <a:prstDash val="solid"/>
          </a:ln>
        </p:spPr>
      </p:sp>
      <p:sp>
        <p:nvSpPr>
          <p:cNvPr id="35" name="Text 32"/>
          <p:cNvSpPr txBox="1"/>
          <p:nvPr/>
        </p:nvSpPr>
        <p:spPr>
          <a:xfrm>
            <a:off x="5532120" y="3410712"/>
            <a:ext cx="1143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DEVELOP</a:t>
            </a:r>
            <a:endParaRPr lang="en-US" sz="950" dirty="0"/>
          </a:p>
        </p:txBody>
      </p:sp>
      <p:sp>
        <p:nvSpPr>
          <p:cNvPr id="36" name="Text 33"/>
          <p:cNvSpPr txBox="1"/>
          <p:nvPr/>
        </p:nvSpPr>
        <p:spPr>
          <a:xfrm>
            <a:off x="6766560" y="3410712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b="1" i="1" dirty="0">
                <a:solidFill>
                  <a:srgbClr val="C9780A"/>
                </a:solidFill>
                <a:latin typeface="Calibri" pitchFamily="34" charset="0"/>
                <a:cs typeface="Amiri" pitchFamily="2" charset="-78"/>
              </a:rPr>
              <a:t>Most of us</a:t>
            </a:r>
            <a:endParaRPr lang="en-US" sz="1050" dirty="0"/>
          </a:p>
        </p:txBody>
      </p:sp>
      <p:sp>
        <p:nvSpPr>
          <p:cNvPr id="37" name="Text 34"/>
          <p:cNvSpPr txBox="1"/>
          <p:nvPr/>
        </p:nvSpPr>
        <p:spPr>
          <a:xfrm>
            <a:off x="5532120" y="3749040"/>
            <a:ext cx="6016752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C9780A"/>
                </a:solidFill>
                <a:latin typeface="Calibri" pitchFamily="34" charset="0"/>
                <a:cs typeface="Amiri" pitchFamily="2" charset="-78"/>
              </a:rPr>
              <a:t>☐  Join both lessons in one conversation and a one minute talk.</a:t>
            </a:r>
            <a:endParaRPr lang="en-US" sz="1300" dirty="0"/>
          </a:p>
        </p:txBody>
      </p:sp>
      <p:sp>
        <p:nvSpPr>
          <p:cNvPr id="38" name="Text 35"/>
          <p:cNvSpPr txBox="1"/>
          <p:nvPr/>
        </p:nvSpPr>
        <p:spPr>
          <a:xfrm>
            <a:off x="5532120" y="4160520"/>
            <a:ext cx="6016752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C9780A"/>
                </a:solidFill>
                <a:latin typeface="Calibri" pitchFamily="34" charset="0"/>
                <a:cs typeface="Amiri" pitchFamily="2" charset="-78"/>
              </a:rPr>
              <a:t>☐  Write the text, frames only if stuck.</a:t>
            </a:r>
            <a:endParaRPr lang="en-US" sz="1300" dirty="0"/>
          </a:p>
        </p:txBody>
      </p:sp>
      <p:sp>
        <p:nvSpPr>
          <p:cNvPr id="39" name="Shape 36"/>
          <p:cNvSpPr/>
          <p:nvPr/>
        </p:nvSpPr>
        <p:spPr>
          <a:xfrm>
            <a:off x="5349240" y="4736592"/>
            <a:ext cx="6382512" cy="1353312"/>
          </a:xfrm>
          <a:prstGeom prst="roundRect">
            <a:avLst>
              <a:gd name="adj" fmla="val 5405"/>
            </a:avLst>
          </a:prstGeom>
          <a:solidFill>
            <a:srgbClr val="FBEAEA"/>
          </a:solidFill>
          <a:ln w="9525">
            <a:solidFill>
              <a:srgbClr val="B83227"/>
            </a:solidFill>
            <a:prstDash val="solid"/>
          </a:ln>
        </p:spPr>
      </p:sp>
      <p:sp>
        <p:nvSpPr>
          <p:cNvPr id="40" name="Shape 37"/>
          <p:cNvSpPr/>
          <p:nvPr/>
        </p:nvSpPr>
        <p:spPr>
          <a:xfrm>
            <a:off x="5532120" y="4873752"/>
            <a:ext cx="1143000" cy="292608"/>
          </a:xfrm>
          <a:prstGeom prst="roundRect">
            <a:avLst>
              <a:gd name="adj" fmla="val 50000"/>
            </a:avLst>
          </a:prstGeom>
          <a:solidFill>
            <a:srgbClr val="B83227"/>
          </a:solidFill>
          <a:ln w="12700">
            <a:solidFill>
              <a:srgbClr val="B83227"/>
            </a:solidFill>
            <a:prstDash val="solid"/>
          </a:ln>
        </p:spPr>
      </p:sp>
      <p:sp>
        <p:nvSpPr>
          <p:cNvPr id="41" name="Text 38"/>
          <p:cNvSpPr txBox="1"/>
          <p:nvPr/>
        </p:nvSpPr>
        <p:spPr>
          <a:xfrm>
            <a:off x="5532120" y="4873752"/>
            <a:ext cx="1143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STRETCH</a:t>
            </a:r>
            <a:endParaRPr lang="en-US" sz="950" dirty="0"/>
          </a:p>
        </p:txBody>
      </p:sp>
      <p:sp>
        <p:nvSpPr>
          <p:cNvPr id="42" name="Text 39"/>
          <p:cNvSpPr txBox="1"/>
          <p:nvPr/>
        </p:nvSpPr>
        <p:spPr>
          <a:xfrm>
            <a:off x="6766560" y="4873752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b="1" i="1" dirty="0">
                <a:solidFill>
                  <a:srgbClr val="B83227"/>
                </a:solidFill>
                <a:latin typeface="Calibri" pitchFamily="34" charset="0"/>
                <a:cs typeface="Amiri" pitchFamily="2" charset="-78"/>
              </a:rPr>
              <a:t>Aim high</a:t>
            </a:r>
            <a:endParaRPr lang="en-US" sz="1050" dirty="0"/>
          </a:p>
        </p:txBody>
      </p:sp>
      <p:sp>
        <p:nvSpPr>
          <p:cNvPr id="43" name="Text 40"/>
          <p:cNvSpPr txBox="1"/>
          <p:nvPr/>
        </p:nvSpPr>
        <p:spPr>
          <a:xfrm>
            <a:off x="5532120" y="5212080"/>
            <a:ext cx="6016752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B83227"/>
                </a:solidFill>
                <a:latin typeface="Calibri" pitchFamily="34" charset="0"/>
                <a:cs typeface="Amiri" pitchFamily="2" charset="-78"/>
              </a:rPr>
              <a:t>☐  Speak without notes; add reasons and opinions.</a:t>
            </a:r>
            <a:endParaRPr lang="en-US" sz="1300" dirty="0"/>
          </a:p>
        </p:txBody>
      </p:sp>
      <p:sp>
        <p:nvSpPr>
          <p:cNvPr id="44" name="Text 41"/>
          <p:cNvSpPr txBox="1"/>
          <p:nvPr/>
        </p:nvSpPr>
        <p:spPr>
          <a:xfrm>
            <a:off x="5532120" y="5623560"/>
            <a:ext cx="6016752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B83227"/>
                </a:solidFill>
                <a:latin typeface="Calibri" pitchFamily="34" charset="0"/>
                <a:cs typeface="Amiri" pitchFamily="2" charset="-78"/>
              </a:rPr>
              <a:t>☐  Use more than one tense; give and justify opinions.</a:t>
            </a:r>
            <a:endParaRPr lang="en-US" sz="1300" dirty="0"/>
          </a:p>
        </p:txBody>
      </p:sp>
      <p:sp>
        <p:nvSpPr>
          <p:cNvPr id="45" name="Text 42"/>
          <p:cNvSpPr txBox="1"/>
          <p:nvPr/>
        </p:nvSpPr>
        <p:spPr>
          <a:xfrm>
            <a:off x="10360152" y="6455664"/>
            <a:ext cx="1371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4 / 24</a:t>
            </a:r>
            <a:endParaRPr lang="en-US" sz="8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D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37744"/>
            <a:ext cx="420624" cy="420624"/>
          </a:xfrm>
          <a:prstGeom prst="ellipse">
            <a:avLst/>
          </a:prstGeom>
          <a:solidFill>
            <a:srgbClr val="1B3B6F"/>
          </a:solidFill>
          <a:ln w="12700">
            <a:solidFill>
              <a:srgbClr val="D4AF37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457200" y="21945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D4AF37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</a:t>
            </a:r>
            <a:endParaRPr lang="ar-SA" sz="18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Al Madina Online School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57200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ARABIC DEPARTMENT · MIFTAH ARABIC · IGCSE 0544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8897112" y="274320"/>
            <a:ext cx="2834640" cy="329184"/>
          </a:xfrm>
          <a:prstGeom prst="roundRect">
            <a:avLst>
              <a:gd name="adj" fmla="val 50000"/>
            </a:avLst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897112" y="274320"/>
            <a:ext cx="2834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D5-W05 · Apply workshop</a:t>
            </a:r>
            <a:endParaRPr lang="en-US" sz="950" dirty="0"/>
          </a:p>
        </p:txBody>
      </p:sp>
      <p:sp>
        <p:nvSpPr>
          <p:cNvPr id="8" name="Shape 6"/>
          <p:cNvSpPr/>
          <p:nvPr/>
        </p:nvSpPr>
        <p:spPr>
          <a:xfrm>
            <a:off x="7370978" y="274320"/>
            <a:ext cx="1388974" cy="329184"/>
          </a:xfrm>
          <a:prstGeom prst="roundRect">
            <a:avLst>
              <a:gd name="adj" fmla="val 50000"/>
            </a:avLst>
          </a:prstGeom>
          <a:solidFill>
            <a:srgbClr val="2F6FB0"/>
          </a:solidFill>
          <a:ln w="12700">
            <a:solidFill>
              <a:srgbClr val="2F6FB0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7370978" y="274320"/>
            <a:ext cx="138897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WE DO · 4 MIN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822960"/>
            <a:ext cx="6949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300" kern="0" dirty="0">
                <a:solidFill>
                  <a:srgbClr val="2F6FB0"/>
                </a:solidFill>
                <a:latin typeface="Calibri" pitchFamily="34" charset="0"/>
                <a:cs typeface="Amiri" pitchFamily="2" charset="-78"/>
              </a:rPr>
              <a:t>PART 1 · STEP 1 · WORD RACE · 4 MINUTES</a:t>
            </a:r>
            <a:endParaRPr lang="en-US" sz="1000" dirty="0"/>
          </a:p>
        </p:txBody>
      </p:sp>
      <p:sp>
        <p:nvSpPr>
          <p:cNvPr id="11" name="Text 9"/>
          <p:cNvSpPr txBox="1"/>
          <p:nvPr/>
        </p:nvSpPr>
        <p:spPr>
          <a:xfrm>
            <a:off x="457200" y="1033272"/>
            <a:ext cx="6949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Word race: two lessons, one race</a:t>
            </a:r>
            <a:endParaRPr lang="en-US" sz="2800" dirty="0"/>
          </a:p>
        </p:txBody>
      </p:sp>
      <p:sp>
        <p:nvSpPr>
          <p:cNvPr id="12" name="Text 10"/>
          <p:cNvSpPr txBox="1"/>
          <p:nvPr/>
        </p:nvSpPr>
        <p:spPr>
          <a:xfrm>
            <a:off x="7498080" y="868680"/>
            <a:ext cx="4233672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2800" b="1" dirty="0">
                <a:solidFill>
                  <a:srgbClr val="8A6D1E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سِبَاقُ الكَلِمَاتِ</a:t>
            </a:r>
            <a:endParaRPr lang="ar-SA" sz="28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6455664"/>
            <a:ext cx="6400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Miftah Arabic · Development D5 · Hobbies, Sport and Leisure · D5-W05 · Apply workshop (D5-L09 + D5-L10)</a:t>
            </a:r>
            <a:endParaRPr lang="en-US" sz="850" dirty="0"/>
          </a:p>
        </p:txBody>
      </p:sp>
      <p:sp>
        <p:nvSpPr>
          <p:cNvPr id="15" name="Shape 12"/>
          <p:cNvSpPr/>
          <p:nvPr/>
        </p:nvSpPr>
        <p:spPr>
          <a:xfrm>
            <a:off x="457200" y="1810512"/>
            <a:ext cx="5715000" cy="4498848"/>
          </a:xfrm>
          <a:prstGeom prst="roundRect">
            <a:avLst>
              <a:gd name="adj" fmla="val 1626"/>
            </a:avLst>
          </a:prstGeom>
          <a:solidFill>
            <a:srgbClr val="F4F1EA"/>
          </a:solidFill>
          <a:ln w="9525">
            <a:solidFill>
              <a:srgbClr val="E8D49A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16" name="Shape 13"/>
          <p:cNvSpPr/>
          <p:nvPr/>
        </p:nvSpPr>
        <p:spPr>
          <a:xfrm>
            <a:off x="640080" y="1920240"/>
            <a:ext cx="3108960" cy="292608"/>
          </a:xfrm>
          <a:prstGeom prst="roundRect">
            <a:avLst>
              <a:gd name="adj" fmla="val 50000"/>
            </a:avLst>
          </a:prstGeom>
          <a:solidFill>
            <a:srgbClr val="8A6D1E"/>
          </a:solidFill>
          <a:ln w="12700">
            <a:solidFill>
              <a:srgbClr val="8A6D1E"/>
            </a:solidFill>
            <a:prstDash val="solid"/>
          </a:ln>
        </p:spPr>
      </p:sp>
      <p:sp>
        <p:nvSpPr>
          <p:cNvPr id="17" name="Text 14"/>
          <p:cNvSpPr txBox="1"/>
          <p:nvPr/>
        </p:nvSpPr>
        <p:spPr>
          <a:xfrm>
            <a:off x="640080" y="1920240"/>
            <a:ext cx="31089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STEP 1 · PAIRS</a:t>
            </a:r>
            <a:endParaRPr lang="en-US" sz="900" dirty="0"/>
          </a:p>
        </p:txBody>
      </p:sp>
      <p:sp>
        <p:nvSpPr>
          <p:cNvPr id="18" name="Text 15"/>
          <p:cNvSpPr txBox="1"/>
          <p:nvPr/>
        </p:nvSpPr>
        <p:spPr>
          <a:xfrm>
            <a:off x="640080" y="2286000"/>
            <a:ext cx="53492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🏁  English → Arabic, from both lessons</a:t>
            </a:r>
            <a:endParaRPr lang="en-US" sz="2200" dirty="0"/>
          </a:p>
        </p:txBody>
      </p:sp>
      <p:sp>
        <p:nvSpPr>
          <p:cNvPr id="19" name="Text 16"/>
          <p:cNvSpPr txBox="1"/>
          <p:nvPr/>
        </p:nvSpPr>
        <p:spPr>
          <a:xfrm>
            <a:off x="640080" y="2816352"/>
            <a:ext cx="534924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50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The next two slides show words from D5-L09 and D5-L10. Partner A says a word in ENGLISH; Partner B says it in ARABIC. One point for every correct answer in 90 seconds — then swap.</a:t>
            </a:r>
            <a:endParaRPr lang="en-US" sz="1350" dirty="0"/>
          </a:p>
        </p:txBody>
      </p:sp>
      <p:sp>
        <p:nvSpPr>
          <p:cNvPr id="20" name="Text 17"/>
          <p:cNvSpPr txBox="1"/>
          <p:nvPr/>
        </p:nvSpPr>
        <p:spPr>
          <a:xfrm>
            <a:off x="640080" y="4041648"/>
            <a:ext cx="53035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b="1" spc="2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HOW WE RUN IT ONLINE</a:t>
            </a:r>
            <a:endParaRPr lang="en-US" sz="950" dirty="0"/>
          </a:p>
        </p:txBody>
      </p:sp>
      <p:sp>
        <p:nvSpPr>
          <p:cNvPr id="21" name="Shape 18"/>
          <p:cNvSpPr/>
          <p:nvPr/>
        </p:nvSpPr>
        <p:spPr>
          <a:xfrm>
            <a:off x="658368" y="4407408"/>
            <a:ext cx="274320" cy="274320"/>
          </a:xfrm>
          <a:prstGeom prst="ellipse">
            <a:avLst/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22" name="Text 19"/>
          <p:cNvSpPr txBox="1"/>
          <p:nvPr/>
        </p:nvSpPr>
        <p:spPr>
          <a:xfrm>
            <a:off x="658368" y="4407408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1</a:t>
            </a:r>
            <a:endParaRPr lang="en-US" sz="1000" dirty="0"/>
          </a:p>
        </p:txBody>
      </p:sp>
      <p:sp>
        <p:nvSpPr>
          <p:cNvPr id="23" name="Text 20"/>
          <p:cNvSpPr txBox="1"/>
          <p:nvPr/>
        </p:nvSpPr>
        <p:spPr>
          <a:xfrm>
            <a:off x="1024128" y="4334256"/>
            <a:ext cx="4983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Teacher: first round together (3 words from each slide).</a:t>
            </a:r>
            <a:endParaRPr lang="en-US" sz="1150" dirty="0"/>
          </a:p>
        </p:txBody>
      </p:sp>
      <p:sp>
        <p:nvSpPr>
          <p:cNvPr id="24" name="Shape 21"/>
          <p:cNvSpPr/>
          <p:nvPr/>
        </p:nvSpPr>
        <p:spPr>
          <a:xfrm>
            <a:off x="658368" y="4864608"/>
            <a:ext cx="274320" cy="274320"/>
          </a:xfrm>
          <a:prstGeom prst="ellipse">
            <a:avLst/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25" name="Text 22"/>
          <p:cNvSpPr txBox="1"/>
          <p:nvPr/>
        </p:nvSpPr>
        <p:spPr>
          <a:xfrm>
            <a:off x="658368" y="4864608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2</a:t>
            </a:r>
            <a:endParaRPr lang="en-US" sz="1000" dirty="0"/>
          </a:p>
        </p:txBody>
      </p:sp>
      <p:sp>
        <p:nvSpPr>
          <p:cNvPr id="26" name="Text 23"/>
          <p:cNvSpPr txBox="1"/>
          <p:nvPr/>
        </p:nvSpPr>
        <p:spPr>
          <a:xfrm>
            <a:off x="1024128" y="4791456"/>
            <a:ext cx="4983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Pairs: 90 seconds each, as many as you can.</a:t>
            </a:r>
            <a:endParaRPr lang="en-US" sz="1150" dirty="0"/>
          </a:p>
        </p:txBody>
      </p:sp>
      <p:sp>
        <p:nvSpPr>
          <p:cNvPr id="27" name="Shape 24"/>
          <p:cNvSpPr/>
          <p:nvPr/>
        </p:nvSpPr>
        <p:spPr>
          <a:xfrm>
            <a:off x="658368" y="5321808"/>
            <a:ext cx="274320" cy="274320"/>
          </a:xfrm>
          <a:prstGeom prst="ellipse">
            <a:avLst/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28" name="Text 25"/>
          <p:cNvSpPr txBox="1"/>
          <p:nvPr/>
        </p:nvSpPr>
        <p:spPr>
          <a:xfrm>
            <a:off x="658368" y="5321808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3</a:t>
            </a:r>
            <a:endParaRPr lang="en-US" sz="1000" dirty="0"/>
          </a:p>
        </p:txBody>
      </p:sp>
      <p:sp>
        <p:nvSpPr>
          <p:cNvPr id="29" name="Text 26"/>
          <p:cNvSpPr txBox="1"/>
          <p:nvPr/>
        </p:nvSpPr>
        <p:spPr>
          <a:xfrm>
            <a:off x="1024128" y="5248656"/>
            <a:ext cx="4983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Mix the lessons: one word from slide 1, one from slide 2.</a:t>
            </a:r>
            <a:endParaRPr lang="en-US" sz="1150" dirty="0"/>
          </a:p>
        </p:txBody>
      </p:sp>
      <p:sp>
        <p:nvSpPr>
          <p:cNvPr id="30" name="Shape 27"/>
          <p:cNvSpPr/>
          <p:nvPr/>
        </p:nvSpPr>
        <p:spPr>
          <a:xfrm>
            <a:off x="658368" y="5779008"/>
            <a:ext cx="274320" cy="274320"/>
          </a:xfrm>
          <a:prstGeom prst="ellipse">
            <a:avLst/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31" name="Text 28"/>
          <p:cNvSpPr txBox="1"/>
          <p:nvPr/>
        </p:nvSpPr>
        <p:spPr>
          <a:xfrm>
            <a:off x="658368" y="5779008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4</a:t>
            </a:r>
            <a:endParaRPr lang="en-US" sz="1000" dirty="0"/>
          </a:p>
        </p:txBody>
      </p:sp>
      <p:sp>
        <p:nvSpPr>
          <p:cNvPr id="32" name="Text 29"/>
          <p:cNvSpPr txBox="1"/>
          <p:nvPr/>
        </p:nvSpPr>
        <p:spPr>
          <a:xfrm>
            <a:off x="1024128" y="5705856"/>
            <a:ext cx="4983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Last round: use two words — one from each lesson — in ONE sentence.</a:t>
            </a:r>
            <a:endParaRPr lang="en-US" sz="1150" dirty="0"/>
          </a:p>
        </p:txBody>
      </p:sp>
      <p:sp>
        <p:nvSpPr>
          <p:cNvPr id="33" name="Shape 30"/>
          <p:cNvSpPr/>
          <p:nvPr/>
        </p:nvSpPr>
        <p:spPr>
          <a:xfrm>
            <a:off x="6355080" y="1810512"/>
            <a:ext cx="5376672" cy="896112"/>
          </a:xfrm>
          <a:prstGeom prst="roundRect">
            <a:avLst>
              <a:gd name="adj" fmla="val 8163"/>
            </a:avLst>
          </a:prstGeom>
          <a:solidFill>
            <a:srgbClr val="E9F5EE"/>
          </a:solidFill>
          <a:ln w="9525">
            <a:solidFill>
              <a:srgbClr val="2E8B57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34" name="Shape 31"/>
          <p:cNvSpPr/>
          <p:nvPr/>
        </p:nvSpPr>
        <p:spPr>
          <a:xfrm>
            <a:off x="6473952" y="1901952"/>
            <a:ext cx="1051560" cy="256032"/>
          </a:xfrm>
          <a:prstGeom prst="roundRect">
            <a:avLst>
              <a:gd name="adj" fmla="val 50000"/>
            </a:avLst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35" name="Text 32"/>
          <p:cNvSpPr txBox="1"/>
          <p:nvPr/>
        </p:nvSpPr>
        <p:spPr>
          <a:xfrm>
            <a:off x="6473952" y="1901952"/>
            <a:ext cx="10515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CORE</a:t>
            </a:r>
            <a:endParaRPr lang="en-US" sz="850" dirty="0"/>
          </a:p>
        </p:txBody>
      </p:sp>
      <p:sp>
        <p:nvSpPr>
          <p:cNvPr id="36" name="Text 33"/>
          <p:cNvSpPr txBox="1"/>
          <p:nvPr/>
        </p:nvSpPr>
        <p:spPr>
          <a:xfrm>
            <a:off x="6473952" y="2176272"/>
            <a:ext cx="51206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Say the Arabic word clearly.</a:t>
            </a:r>
            <a:endParaRPr lang="en-US" sz="1150" dirty="0"/>
          </a:p>
        </p:txBody>
      </p:sp>
      <p:sp>
        <p:nvSpPr>
          <p:cNvPr id="37" name="Shape 34"/>
          <p:cNvSpPr/>
          <p:nvPr/>
        </p:nvSpPr>
        <p:spPr>
          <a:xfrm>
            <a:off x="6355080" y="2816352"/>
            <a:ext cx="5376672" cy="896112"/>
          </a:xfrm>
          <a:prstGeom prst="roundRect">
            <a:avLst>
              <a:gd name="adj" fmla="val 8163"/>
            </a:avLst>
          </a:prstGeom>
          <a:solidFill>
            <a:srgbClr val="FCF1E0"/>
          </a:solidFill>
          <a:ln w="9525">
            <a:solidFill>
              <a:srgbClr val="C9780A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38" name="Shape 35"/>
          <p:cNvSpPr/>
          <p:nvPr/>
        </p:nvSpPr>
        <p:spPr>
          <a:xfrm>
            <a:off x="6473952" y="2907792"/>
            <a:ext cx="1051560" cy="256032"/>
          </a:xfrm>
          <a:prstGeom prst="roundRect">
            <a:avLst>
              <a:gd name="adj" fmla="val 50000"/>
            </a:avLst>
          </a:prstGeom>
          <a:solidFill>
            <a:srgbClr val="C9780A"/>
          </a:solidFill>
          <a:ln w="12700">
            <a:solidFill>
              <a:srgbClr val="C9780A"/>
            </a:solidFill>
            <a:prstDash val="solid"/>
          </a:ln>
        </p:spPr>
      </p:sp>
      <p:sp>
        <p:nvSpPr>
          <p:cNvPr id="39" name="Text 36"/>
          <p:cNvSpPr txBox="1"/>
          <p:nvPr/>
        </p:nvSpPr>
        <p:spPr>
          <a:xfrm>
            <a:off x="6473952" y="2907792"/>
            <a:ext cx="10515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DEVELOP</a:t>
            </a:r>
            <a:endParaRPr lang="en-US" sz="850" dirty="0"/>
          </a:p>
        </p:txBody>
      </p:sp>
      <p:sp>
        <p:nvSpPr>
          <p:cNvPr id="40" name="Text 37"/>
          <p:cNvSpPr txBox="1"/>
          <p:nvPr/>
        </p:nvSpPr>
        <p:spPr>
          <a:xfrm>
            <a:off x="6473952" y="3182112"/>
            <a:ext cx="51206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Say the word, then a short sentence with it.</a:t>
            </a:r>
            <a:endParaRPr lang="en-US" sz="1150" dirty="0"/>
          </a:p>
        </p:txBody>
      </p:sp>
      <p:sp>
        <p:nvSpPr>
          <p:cNvPr id="41" name="Shape 38"/>
          <p:cNvSpPr/>
          <p:nvPr/>
        </p:nvSpPr>
        <p:spPr>
          <a:xfrm>
            <a:off x="6355080" y="3822192"/>
            <a:ext cx="5376672" cy="896112"/>
          </a:xfrm>
          <a:prstGeom prst="roundRect">
            <a:avLst>
              <a:gd name="adj" fmla="val 8163"/>
            </a:avLst>
          </a:prstGeom>
          <a:solidFill>
            <a:srgbClr val="FBEAEA"/>
          </a:solidFill>
          <a:ln w="9525">
            <a:solidFill>
              <a:srgbClr val="B83227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42" name="Shape 39"/>
          <p:cNvSpPr/>
          <p:nvPr/>
        </p:nvSpPr>
        <p:spPr>
          <a:xfrm>
            <a:off x="6473952" y="3913632"/>
            <a:ext cx="1051560" cy="256032"/>
          </a:xfrm>
          <a:prstGeom prst="roundRect">
            <a:avLst>
              <a:gd name="adj" fmla="val 50000"/>
            </a:avLst>
          </a:prstGeom>
          <a:solidFill>
            <a:srgbClr val="B83227"/>
          </a:solidFill>
          <a:ln w="12700">
            <a:solidFill>
              <a:srgbClr val="B83227"/>
            </a:solidFill>
            <a:prstDash val="solid"/>
          </a:ln>
        </p:spPr>
      </p:sp>
      <p:sp>
        <p:nvSpPr>
          <p:cNvPr id="43" name="Text 40"/>
          <p:cNvSpPr txBox="1"/>
          <p:nvPr/>
        </p:nvSpPr>
        <p:spPr>
          <a:xfrm>
            <a:off x="6473952" y="3913632"/>
            <a:ext cx="10515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STRETCH</a:t>
            </a:r>
            <a:endParaRPr lang="en-US" sz="850" dirty="0"/>
          </a:p>
        </p:txBody>
      </p:sp>
      <p:sp>
        <p:nvSpPr>
          <p:cNvPr id="44" name="Text 41"/>
          <p:cNvSpPr txBox="1"/>
          <p:nvPr/>
        </p:nvSpPr>
        <p:spPr>
          <a:xfrm>
            <a:off x="6473952" y="4187952"/>
            <a:ext cx="51206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Join a word from each lesson in one sentence with ‏</a:t>
            </a:r>
            <a:pPr algn="l" indent="0" marL="0">
              <a:buNone/>
            </a:pPr>
            <a:r>
              <a:rPr lang="ar-SA" altLang="en-US" sz="1500" dirty="0">
                <a:solidFill>
                  <a:srgbClr val="1F2A37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وَ</a:t>
            </a:r>
            <a:pPr algn="l" indent="0" marL="0">
              <a:buNone/>
            </a:pPr>
            <a:r>
              <a:rPr lang="en-US" sz="1150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‏ or ‏</a:t>
            </a:r>
            <a:pPr algn="l" indent="0" marL="0">
              <a:buNone/>
            </a:pPr>
            <a:r>
              <a:rPr lang="ar-SA" altLang="en-US" sz="1500" dirty="0">
                <a:solidFill>
                  <a:srgbClr val="1F2A37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لِأَنَّ</a:t>
            </a:r>
            <a:pPr algn="l" indent="0" marL="0">
              <a:buNone/>
            </a:pPr>
            <a:r>
              <a:rPr lang="en-US" sz="1150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‏.</a:t>
            </a:r>
            <a:endParaRPr lang="en-US" sz="1150" dirty="0"/>
          </a:p>
        </p:txBody>
      </p:sp>
      <p:sp>
        <p:nvSpPr>
          <p:cNvPr id="45" name="Shape 42"/>
          <p:cNvSpPr/>
          <p:nvPr/>
        </p:nvSpPr>
        <p:spPr>
          <a:xfrm>
            <a:off x="6355080" y="4828032"/>
            <a:ext cx="5376672" cy="1481328"/>
          </a:xfrm>
          <a:prstGeom prst="roundRect">
            <a:avLst>
              <a:gd name="adj" fmla="val 4938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46" name="Text 43"/>
          <p:cNvSpPr txBox="1"/>
          <p:nvPr/>
        </p:nvSpPr>
        <p:spPr>
          <a:xfrm>
            <a:off x="6492240" y="4882896"/>
            <a:ext cx="2743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b="1" spc="2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USEFUL LANGUAGE</a:t>
            </a:r>
            <a:endParaRPr lang="en-US" sz="950" dirty="0"/>
          </a:p>
        </p:txBody>
      </p:sp>
      <p:sp>
        <p:nvSpPr>
          <p:cNvPr id="47" name="Text 44"/>
          <p:cNvSpPr txBox="1"/>
          <p:nvPr/>
        </p:nvSpPr>
        <p:spPr>
          <a:xfrm>
            <a:off x="8732520" y="5138928"/>
            <a:ext cx="2880360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13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دَوْرُكَ! / دَوْرُكِ!</a:t>
            </a:r>
            <a:endParaRPr lang="ar-SA" sz="1300" dirty="0"/>
          </a:p>
        </p:txBody>
      </p:sp>
      <p:sp>
        <p:nvSpPr>
          <p:cNvPr id="48" name="Text 45"/>
          <p:cNvSpPr txBox="1"/>
          <p:nvPr/>
        </p:nvSpPr>
        <p:spPr>
          <a:xfrm>
            <a:off x="6492240" y="5138928"/>
            <a:ext cx="2194560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your turn! (m. / f.)</a:t>
            </a:r>
            <a:endParaRPr lang="en-US" sz="1000" dirty="0"/>
          </a:p>
        </p:txBody>
      </p:sp>
      <p:sp>
        <p:nvSpPr>
          <p:cNvPr id="49" name="Text 46"/>
          <p:cNvSpPr txBox="1"/>
          <p:nvPr/>
        </p:nvSpPr>
        <p:spPr>
          <a:xfrm>
            <a:off x="8732520" y="5422392"/>
            <a:ext cx="2880360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13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صَحِيحٌ!</a:t>
            </a:r>
            <a:endParaRPr lang="ar-SA" sz="1300" dirty="0"/>
          </a:p>
        </p:txBody>
      </p:sp>
      <p:sp>
        <p:nvSpPr>
          <p:cNvPr id="50" name="Text 47"/>
          <p:cNvSpPr txBox="1"/>
          <p:nvPr/>
        </p:nvSpPr>
        <p:spPr>
          <a:xfrm>
            <a:off x="6492240" y="5422392"/>
            <a:ext cx="2194560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correct!</a:t>
            </a:r>
            <a:endParaRPr lang="en-US" sz="1000" dirty="0"/>
          </a:p>
        </p:txBody>
      </p:sp>
      <p:sp>
        <p:nvSpPr>
          <p:cNvPr id="51" name="Text 48"/>
          <p:cNvSpPr txBox="1"/>
          <p:nvPr/>
        </p:nvSpPr>
        <p:spPr>
          <a:xfrm>
            <a:off x="8732520" y="5705856"/>
            <a:ext cx="2880360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13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حَاوِلْ مَرَّةً أُخْرَى</a:t>
            </a:r>
            <a:endParaRPr lang="ar-SA" sz="1300" dirty="0"/>
          </a:p>
        </p:txBody>
      </p:sp>
      <p:sp>
        <p:nvSpPr>
          <p:cNvPr id="52" name="Text 49"/>
          <p:cNvSpPr txBox="1"/>
          <p:nvPr/>
        </p:nvSpPr>
        <p:spPr>
          <a:xfrm>
            <a:off x="6492240" y="5705856"/>
            <a:ext cx="2194560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try again</a:t>
            </a:r>
            <a:endParaRPr lang="en-US" sz="1000" dirty="0"/>
          </a:p>
        </p:txBody>
      </p:sp>
      <p:sp>
        <p:nvSpPr>
          <p:cNvPr id="53" name="Text 50"/>
          <p:cNvSpPr txBox="1"/>
          <p:nvPr/>
        </p:nvSpPr>
        <p:spPr>
          <a:xfrm>
            <a:off x="8732520" y="5989320"/>
            <a:ext cx="2880360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13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نُقْطَةٌ لَكَ / لَكِ</a:t>
            </a:r>
            <a:endParaRPr lang="ar-SA" sz="1300" dirty="0"/>
          </a:p>
        </p:txBody>
      </p:sp>
      <p:sp>
        <p:nvSpPr>
          <p:cNvPr id="54" name="Text 51"/>
          <p:cNvSpPr txBox="1"/>
          <p:nvPr/>
        </p:nvSpPr>
        <p:spPr>
          <a:xfrm>
            <a:off x="6492240" y="5989320"/>
            <a:ext cx="2194560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a point for you (m. / f.)</a:t>
            </a:r>
            <a:endParaRPr lang="en-US" sz="1000" dirty="0"/>
          </a:p>
        </p:txBody>
      </p:sp>
      <p:sp>
        <p:nvSpPr>
          <p:cNvPr id="55" name="Text 52"/>
          <p:cNvSpPr txBox="1"/>
          <p:nvPr/>
        </p:nvSpPr>
        <p:spPr>
          <a:xfrm>
            <a:off x="10360152" y="6455664"/>
            <a:ext cx="1371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5 / 24</a:t>
            </a:r>
            <a:endParaRPr lang="en-US" sz="8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D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37744"/>
            <a:ext cx="420624" cy="420624"/>
          </a:xfrm>
          <a:prstGeom prst="ellipse">
            <a:avLst/>
          </a:prstGeom>
          <a:solidFill>
            <a:srgbClr val="1B3B6F"/>
          </a:solidFill>
          <a:ln w="12700">
            <a:solidFill>
              <a:srgbClr val="D4AF37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457200" y="21945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D4AF37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</a:t>
            </a:r>
            <a:endParaRPr lang="ar-SA" sz="18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Al Madina Online School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57200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ARABIC DEPARTMENT · MIFTAH ARABIC · IGCSE 0544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8897112" y="274320"/>
            <a:ext cx="2834640" cy="329184"/>
          </a:xfrm>
          <a:prstGeom prst="roundRect">
            <a:avLst>
              <a:gd name="adj" fmla="val 50000"/>
            </a:avLst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897112" y="274320"/>
            <a:ext cx="2834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D5-W05 · Apply workshop</a:t>
            </a:r>
            <a:endParaRPr lang="en-US" sz="950" dirty="0"/>
          </a:p>
        </p:txBody>
      </p:sp>
      <p:sp>
        <p:nvSpPr>
          <p:cNvPr id="8" name="Shape 6"/>
          <p:cNvSpPr/>
          <p:nvPr/>
        </p:nvSpPr>
        <p:spPr>
          <a:xfrm>
            <a:off x="6308446" y="274320"/>
            <a:ext cx="2451506" cy="329184"/>
          </a:xfrm>
          <a:prstGeom prst="roundRect">
            <a:avLst>
              <a:gd name="adj" fmla="val 50000"/>
            </a:avLst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6308446" y="274320"/>
            <a:ext cx="245150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TEACHER INSTRUCTION · 2 MIN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822960"/>
            <a:ext cx="6949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300" kern="0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STEP 1 · WORDS FROM D5-L09</a:t>
            </a:r>
            <a:endParaRPr lang="en-US" sz="1000" dirty="0"/>
          </a:p>
        </p:txBody>
      </p:sp>
      <p:sp>
        <p:nvSpPr>
          <p:cNvPr id="11" name="Text 9"/>
          <p:cNvSpPr txBox="1"/>
          <p:nvPr/>
        </p:nvSpPr>
        <p:spPr>
          <a:xfrm>
            <a:off x="457200" y="1033272"/>
            <a:ext cx="6949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5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D5-L09 · Writing — My Leisure Life (Extended Writing)</a:t>
            </a:r>
            <a:endParaRPr lang="en-US" sz="1750" dirty="0"/>
          </a:p>
        </p:txBody>
      </p:sp>
      <p:sp>
        <p:nvSpPr>
          <p:cNvPr id="12" name="Text 10"/>
          <p:cNvSpPr txBox="1"/>
          <p:nvPr/>
        </p:nvSpPr>
        <p:spPr>
          <a:xfrm>
            <a:off x="7498080" y="868680"/>
            <a:ext cx="4233672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2800" b="1" dirty="0">
                <a:solidFill>
                  <a:srgbClr val="8A6D1E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كَلِمَاتُ الدَّرْسِ الأَوَّلِ</a:t>
            </a:r>
            <a:endParaRPr lang="ar-SA" sz="28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6455664"/>
            <a:ext cx="6400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Miftah Arabic · Development D5 · Hobbies, Sport and Leisure · D5-W05 · Apply workshop (D5-L09 + D5-L10)</a:t>
            </a:r>
            <a:endParaRPr lang="en-US" sz="850" dirty="0"/>
          </a:p>
        </p:txBody>
      </p:sp>
      <p:sp>
        <p:nvSpPr>
          <p:cNvPr id="15" name="Shape 12"/>
          <p:cNvSpPr/>
          <p:nvPr/>
        </p:nvSpPr>
        <p:spPr>
          <a:xfrm>
            <a:off x="8101584" y="1810512"/>
            <a:ext cx="3639312" cy="2157984"/>
          </a:xfrm>
          <a:prstGeom prst="roundRect">
            <a:avLst>
              <a:gd name="adj" fmla="val 3390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16" name="Shape 13"/>
          <p:cNvSpPr/>
          <p:nvPr/>
        </p:nvSpPr>
        <p:spPr>
          <a:xfrm>
            <a:off x="8211312" y="1920240"/>
            <a:ext cx="310896" cy="310896"/>
          </a:xfrm>
          <a:prstGeom prst="ellipse">
            <a:avLst/>
          </a:prstGeom>
          <a:solidFill>
            <a:srgbClr val="F4F1EA"/>
          </a:solidFill>
          <a:ln w="12700">
            <a:solidFill>
              <a:srgbClr val="F4F1EA"/>
            </a:solidFill>
            <a:prstDash val="solid"/>
          </a:ln>
        </p:spPr>
      </p:sp>
      <p:sp>
        <p:nvSpPr>
          <p:cNvPr id="17" name="Text 14"/>
          <p:cNvSpPr txBox="1"/>
          <p:nvPr/>
        </p:nvSpPr>
        <p:spPr>
          <a:xfrm>
            <a:off x="8211312" y="192024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1</a:t>
            </a:r>
            <a:endParaRPr lang="en-US" sz="1000" dirty="0"/>
          </a:p>
        </p:txBody>
      </p:sp>
      <p:sp>
        <p:nvSpPr>
          <p:cNvPr id="18" name="Shape 15"/>
          <p:cNvSpPr/>
          <p:nvPr/>
        </p:nvSpPr>
        <p:spPr>
          <a:xfrm>
            <a:off x="8604504" y="1938528"/>
            <a:ext cx="833933" cy="256032"/>
          </a:xfrm>
          <a:prstGeom prst="roundRect">
            <a:avLst>
              <a:gd name="adj" fmla="val 50000"/>
            </a:avLst>
          </a:prstGeom>
          <a:solidFill>
            <a:srgbClr val="EFE7D2"/>
          </a:solidFill>
          <a:ln w="12700">
            <a:solidFill>
              <a:srgbClr val="EFE7D2"/>
            </a:solidFill>
            <a:prstDash val="solid"/>
          </a:ln>
        </p:spPr>
      </p:sp>
      <p:sp>
        <p:nvSpPr>
          <p:cNvPr id="19" name="Text 16"/>
          <p:cNvSpPr txBox="1"/>
          <p:nvPr/>
        </p:nvSpPr>
        <p:spPr>
          <a:xfrm>
            <a:off x="8604504" y="1938528"/>
            <a:ext cx="833933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An iḍāfa.</a:t>
            </a:r>
            <a:endParaRPr lang="en-US" sz="800" dirty="0"/>
          </a:p>
        </p:txBody>
      </p:sp>
      <p:sp>
        <p:nvSpPr>
          <p:cNvPr id="20" name="Shape 17"/>
          <p:cNvSpPr/>
          <p:nvPr/>
        </p:nvSpPr>
        <p:spPr>
          <a:xfrm>
            <a:off x="10872216" y="1938528"/>
            <a:ext cx="731520" cy="256032"/>
          </a:xfrm>
          <a:prstGeom prst="roundRect">
            <a:avLst>
              <a:gd name="adj" fmla="val 50000"/>
            </a:avLst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21" name="Text 18"/>
          <p:cNvSpPr txBox="1"/>
          <p:nvPr/>
        </p:nvSpPr>
        <p:spPr>
          <a:xfrm>
            <a:off x="10872216" y="1938528"/>
            <a:ext cx="7315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CORE</a:t>
            </a:r>
            <a:endParaRPr lang="en-US" sz="800" dirty="0"/>
          </a:p>
        </p:txBody>
      </p:sp>
      <p:sp>
        <p:nvSpPr>
          <p:cNvPr id="22" name="Text 19"/>
          <p:cNvSpPr txBox="1"/>
          <p:nvPr/>
        </p:nvSpPr>
        <p:spPr>
          <a:xfrm>
            <a:off x="8211312" y="2212848"/>
            <a:ext cx="3401568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30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تَنَوُّعُ الأَزْمِنَةِ</a:t>
            </a:r>
            <a:endParaRPr lang="ar-SA" sz="3000" dirty="0"/>
          </a:p>
        </p:txBody>
      </p:sp>
      <p:sp>
        <p:nvSpPr>
          <p:cNvPr id="23" name="Text 20"/>
          <p:cNvSpPr txBox="1"/>
          <p:nvPr/>
        </p:nvSpPr>
        <p:spPr>
          <a:xfrm>
            <a:off x="8238744" y="3127248"/>
            <a:ext cx="3364992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tense variety</a:t>
            </a:r>
            <a:endParaRPr lang="en-US" sz="1350" dirty="0"/>
          </a:p>
          <a:p>
            <a:pPr indent="0" marL="0">
              <a:buNone/>
            </a:pPr>
            <a:r>
              <a:rPr lang="en-US" sz="110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ta-naw-wu-ʿu al-az-mi-na-ti</a:t>
            </a:r>
            <a:endParaRPr lang="en-US" sz="1350" dirty="0"/>
          </a:p>
        </p:txBody>
      </p:sp>
      <p:sp>
        <p:nvSpPr>
          <p:cNvPr id="24" name="Shape 21"/>
          <p:cNvSpPr/>
          <p:nvPr/>
        </p:nvSpPr>
        <p:spPr>
          <a:xfrm>
            <a:off x="4279392" y="1810512"/>
            <a:ext cx="3639312" cy="2157984"/>
          </a:xfrm>
          <a:prstGeom prst="roundRect">
            <a:avLst>
              <a:gd name="adj" fmla="val 3390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25" name="Shape 22"/>
          <p:cNvSpPr/>
          <p:nvPr/>
        </p:nvSpPr>
        <p:spPr>
          <a:xfrm>
            <a:off x="4389120" y="1920240"/>
            <a:ext cx="310896" cy="310896"/>
          </a:xfrm>
          <a:prstGeom prst="ellipse">
            <a:avLst/>
          </a:prstGeom>
          <a:solidFill>
            <a:srgbClr val="F4F1EA"/>
          </a:solidFill>
          <a:ln w="12700">
            <a:solidFill>
              <a:srgbClr val="F4F1EA"/>
            </a:solidFill>
            <a:prstDash val="solid"/>
          </a:ln>
        </p:spPr>
      </p:sp>
      <p:sp>
        <p:nvSpPr>
          <p:cNvPr id="26" name="Text 23"/>
          <p:cNvSpPr txBox="1"/>
          <p:nvPr/>
        </p:nvSpPr>
        <p:spPr>
          <a:xfrm>
            <a:off x="4389120" y="192024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2</a:t>
            </a:r>
            <a:endParaRPr lang="en-US" sz="1000" dirty="0"/>
          </a:p>
        </p:txBody>
      </p:sp>
      <p:sp>
        <p:nvSpPr>
          <p:cNvPr id="27" name="Shape 24"/>
          <p:cNvSpPr/>
          <p:nvPr/>
        </p:nvSpPr>
        <p:spPr>
          <a:xfrm>
            <a:off x="7050024" y="1938528"/>
            <a:ext cx="731520" cy="256032"/>
          </a:xfrm>
          <a:prstGeom prst="roundRect">
            <a:avLst>
              <a:gd name="adj" fmla="val 50000"/>
            </a:avLst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28" name="Text 25"/>
          <p:cNvSpPr txBox="1"/>
          <p:nvPr/>
        </p:nvSpPr>
        <p:spPr>
          <a:xfrm>
            <a:off x="7050024" y="1938528"/>
            <a:ext cx="7315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CORE</a:t>
            </a:r>
            <a:endParaRPr lang="en-US" sz="800" dirty="0"/>
          </a:p>
        </p:txBody>
      </p:sp>
      <p:sp>
        <p:nvSpPr>
          <p:cNvPr id="29" name="Text 26"/>
          <p:cNvSpPr txBox="1"/>
          <p:nvPr/>
        </p:nvSpPr>
        <p:spPr>
          <a:xfrm>
            <a:off x="4389120" y="2212848"/>
            <a:ext cx="3401568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30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المُسَوَّدَةُ</a:t>
            </a:r>
            <a:endParaRPr lang="ar-SA" sz="3000" dirty="0"/>
          </a:p>
        </p:txBody>
      </p:sp>
      <p:sp>
        <p:nvSpPr>
          <p:cNvPr id="30" name="Text 27"/>
          <p:cNvSpPr txBox="1"/>
          <p:nvPr/>
        </p:nvSpPr>
        <p:spPr>
          <a:xfrm>
            <a:off x="4416552" y="3127248"/>
            <a:ext cx="3364992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draft</a:t>
            </a:r>
            <a:endParaRPr lang="en-US" sz="1350" dirty="0"/>
          </a:p>
          <a:p>
            <a:pPr indent="0" marL="0">
              <a:buNone/>
            </a:pPr>
            <a:r>
              <a:rPr lang="en-US" sz="110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al-mu-saw-wa-da-tu</a:t>
            </a:r>
            <a:endParaRPr lang="en-US" sz="1350" dirty="0"/>
          </a:p>
        </p:txBody>
      </p:sp>
      <p:sp>
        <p:nvSpPr>
          <p:cNvPr id="31" name="Shape 28"/>
          <p:cNvSpPr/>
          <p:nvPr/>
        </p:nvSpPr>
        <p:spPr>
          <a:xfrm>
            <a:off x="457200" y="1810512"/>
            <a:ext cx="3639312" cy="2157984"/>
          </a:xfrm>
          <a:prstGeom prst="roundRect">
            <a:avLst>
              <a:gd name="adj" fmla="val 3390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32" name="Shape 29"/>
          <p:cNvSpPr/>
          <p:nvPr/>
        </p:nvSpPr>
        <p:spPr>
          <a:xfrm>
            <a:off x="566928" y="1920240"/>
            <a:ext cx="310896" cy="310896"/>
          </a:xfrm>
          <a:prstGeom prst="ellipse">
            <a:avLst/>
          </a:prstGeom>
          <a:solidFill>
            <a:srgbClr val="F4F1EA"/>
          </a:solidFill>
          <a:ln w="12700">
            <a:solidFill>
              <a:srgbClr val="F4F1EA"/>
            </a:solidFill>
            <a:prstDash val="solid"/>
          </a:ln>
        </p:spPr>
      </p:sp>
      <p:sp>
        <p:nvSpPr>
          <p:cNvPr id="33" name="Text 30"/>
          <p:cNvSpPr txBox="1"/>
          <p:nvPr/>
        </p:nvSpPr>
        <p:spPr>
          <a:xfrm>
            <a:off x="566928" y="192024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3</a:t>
            </a:r>
            <a:endParaRPr lang="en-US" sz="1000" dirty="0"/>
          </a:p>
        </p:txBody>
      </p:sp>
      <p:sp>
        <p:nvSpPr>
          <p:cNvPr id="34" name="Shape 31"/>
          <p:cNvSpPr/>
          <p:nvPr/>
        </p:nvSpPr>
        <p:spPr>
          <a:xfrm>
            <a:off x="3227832" y="1938528"/>
            <a:ext cx="731520" cy="256032"/>
          </a:xfrm>
          <a:prstGeom prst="roundRect">
            <a:avLst>
              <a:gd name="adj" fmla="val 50000"/>
            </a:avLst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35" name="Text 32"/>
          <p:cNvSpPr txBox="1"/>
          <p:nvPr/>
        </p:nvSpPr>
        <p:spPr>
          <a:xfrm>
            <a:off x="3227832" y="1938528"/>
            <a:ext cx="7315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CORE</a:t>
            </a:r>
            <a:endParaRPr lang="en-US" sz="800" dirty="0"/>
          </a:p>
        </p:txBody>
      </p:sp>
      <p:sp>
        <p:nvSpPr>
          <p:cNvPr id="36" name="Text 33"/>
          <p:cNvSpPr txBox="1"/>
          <p:nvPr/>
        </p:nvSpPr>
        <p:spPr>
          <a:xfrm>
            <a:off x="566928" y="2212848"/>
            <a:ext cx="3401568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30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أَمَّا الآنَ فَـ</a:t>
            </a:r>
            <a:endParaRPr lang="ar-SA" sz="3000" dirty="0"/>
          </a:p>
        </p:txBody>
      </p:sp>
      <p:sp>
        <p:nvSpPr>
          <p:cNvPr id="37" name="Text 34"/>
          <p:cNvSpPr txBox="1"/>
          <p:nvPr/>
        </p:nvSpPr>
        <p:spPr>
          <a:xfrm>
            <a:off x="594360" y="3127248"/>
            <a:ext cx="3364992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as for now,</a:t>
            </a:r>
            <a:endParaRPr lang="en-US" sz="1350" dirty="0"/>
          </a:p>
          <a:p>
            <a:pPr indent="0" marL="0">
              <a:buNone/>
            </a:pPr>
            <a:r>
              <a:rPr lang="en-US" sz="110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am-mā al-ʾā-na fa</a:t>
            </a:r>
            <a:endParaRPr lang="en-US" sz="1350" dirty="0"/>
          </a:p>
        </p:txBody>
      </p:sp>
      <p:sp>
        <p:nvSpPr>
          <p:cNvPr id="38" name="Text 35"/>
          <p:cNvSpPr txBox="1"/>
          <p:nvPr/>
        </p:nvSpPr>
        <p:spPr>
          <a:xfrm>
            <a:off x="594360" y="3621024"/>
            <a:ext cx="336499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i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‏</a:t>
            </a:r>
            <a:pPr algn="l" indent="0" marL="0">
              <a:buNone/>
            </a:pPr>
            <a:r>
              <a:rPr lang="ar-SA" altLang="en-US" sz="1300" dirty="0">
                <a:solidFill>
                  <a:srgbClr val="8A6D1E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أَمَّا … فَـ</a:t>
            </a:r>
            <a:pPr algn="l" indent="0" marL="0">
              <a:buNone/>
            </a:pPr>
            <a:r>
              <a:rPr lang="en-US" sz="1000" i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‏ marks a contrast.</a:t>
            </a:r>
            <a:endParaRPr lang="en-US" sz="1000" dirty="0"/>
          </a:p>
        </p:txBody>
      </p:sp>
      <p:sp>
        <p:nvSpPr>
          <p:cNvPr id="39" name="Shape 36"/>
          <p:cNvSpPr/>
          <p:nvPr/>
        </p:nvSpPr>
        <p:spPr>
          <a:xfrm>
            <a:off x="8101584" y="4151376"/>
            <a:ext cx="3639312" cy="2157984"/>
          </a:xfrm>
          <a:prstGeom prst="roundRect">
            <a:avLst>
              <a:gd name="adj" fmla="val 3390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40" name="Shape 37"/>
          <p:cNvSpPr/>
          <p:nvPr/>
        </p:nvSpPr>
        <p:spPr>
          <a:xfrm>
            <a:off x="8211312" y="4261104"/>
            <a:ext cx="310896" cy="310896"/>
          </a:xfrm>
          <a:prstGeom prst="ellipse">
            <a:avLst/>
          </a:prstGeom>
          <a:solidFill>
            <a:srgbClr val="F4F1EA"/>
          </a:solidFill>
          <a:ln w="12700">
            <a:solidFill>
              <a:srgbClr val="F4F1EA"/>
            </a:solidFill>
            <a:prstDash val="solid"/>
          </a:ln>
        </p:spPr>
      </p:sp>
      <p:sp>
        <p:nvSpPr>
          <p:cNvPr id="41" name="Text 38"/>
          <p:cNvSpPr txBox="1"/>
          <p:nvPr/>
        </p:nvSpPr>
        <p:spPr>
          <a:xfrm>
            <a:off x="8211312" y="4261104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4</a:t>
            </a:r>
            <a:endParaRPr lang="en-US" sz="1000" dirty="0"/>
          </a:p>
        </p:txBody>
      </p:sp>
      <p:sp>
        <p:nvSpPr>
          <p:cNvPr id="42" name="Shape 39"/>
          <p:cNvSpPr/>
          <p:nvPr/>
        </p:nvSpPr>
        <p:spPr>
          <a:xfrm>
            <a:off x="10872216" y="4279392"/>
            <a:ext cx="731520" cy="256032"/>
          </a:xfrm>
          <a:prstGeom prst="roundRect">
            <a:avLst>
              <a:gd name="adj" fmla="val 50000"/>
            </a:avLst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43" name="Text 40"/>
          <p:cNvSpPr txBox="1"/>
          <p:nvPr/>
        </p:nvSpPr>
        <p:spPr>
          <a:xfrm>
            <a:off x="10872216" y="4279392"/>
            <a:ext cx="7315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CORE</a:t>
            </a:r>
            <a:endParaRPr lang="en-US" sz="800" dirty="0"/>
          </a:p>
        </p:txBody>
      </p:sp>
      <p:sp>
        <p:nvSpPr>
          <p:cNvPr id="44" name="Text 41"/>
          <p:cNvSpPr txBox="1"/>
          <p:nvPr/>
        </p:nvSpPr>
        <p:spPr>
          <a:xfrm>
            <a:off x="8211312" y="4553712"/>
            <a:ext cx="3401568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30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بِالإِضَافَةِ إِلَى ذٰلِكَ</a:t>
            </a:r>
            <a:endParaRPr lang="ar-SA" sz="3000" dirty="0"/>
          </a:p>
        </p:txBody>
      </p:sp>
      <p:sp>
        <p:nvSpPr>
          <p:cNvPr id="45" name="Text 42"/>
          <p:cNvSpPr txBox="1"/>
          <p:nvPr/>
        </p:nvSpPr>
        <p:spPr>
          <a:xfrm>
            <a:off x="8238744" y="5468112"/>
            <a:ext cx="3364992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in addition to that</a:t>
            </a:r>
            <a:endParaRPr lang="en-US" sz="1350" dirty="0"/>
          </a:p>
          <a:p>
            <a:pPr indent="0" marL="0">
              <a:buNone/>
            </a:pPr>
            <a:r>
              <a:rPr lang="en-US" sz="110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bil-ʾi-ḍā-fa-ti i-lā dhā-li-ka</a:t>
            </a:r>
            <a:endParaRPr lang="en-US" sz="1350" dirty="0"/>
          </a:p>
        </p:txBody>
      </p:sp>
      <p:sp>
        <p:nvSpPr>
          <p:cNvPr id="46" name="Shape 43"/>
          <p:cNvSpPr/>
          <p:nvPr/>
        </p:nvSpPr>
        <p:spPr>
          <a:xfrm>
            <a:off x="4279392" y="4151376"/>
            <a:ext cx="3639312" cy="2157984"/>
          </a:xfrm>
          <a:prstGeom prst="roundRect">
            <a:avLst>
              <a:gd name="adj" fmla="val 3390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47" name="Shape 44"/>
          <p:cNvSpPr/>
          <p:nvPr/>
        </p:nvSpPr>
        <p:spPr>
          <a:xfrm>
            <a:off x="4389120" y="4261104"/>
            <a:ext cx="310896" cy="310896"/>
          </a:xfrm>
          <a:prstGeom prst="ellipse">
            <a:avLst/>
          </a:prstGeom>
          <a:solidFill>
            <a:srgbClr val="F4F1EA"/>
          </a:solidFill>
          <a:ln w="12700">
            <a:solidFill>
              <a:srgbClr val="F4F1EA"/>
            </a:solidFill>
            <a:prstDash val="solid"/>
          </a:ln>
        </p:spPr>
      </p:sp>
      <p:sp>
        <p:nvSpPr>
          <p:cNvPr id="48" name="Text 45"/>
          <p:cNvSpPr txBox="1"/>
          <p:nvPr/>
        </p:nvSpPr>
        <p:spPr>
          <a:xfrm>
            <a:off x="4389120" y="4261104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5</a:t>
            </a:r>
            <a:endParaRPr lang="en-US" sz="1000" dirty="0"/>
          </a:p>
        </p:txBody>
      </p:sp>
      <p:sp>
        <p:nvSpPr>
          <p:cNvPr id="49" name="Shape 46"/>
          <p:cNvSpPr/>
          <p:nvPr/>
        </p:nvSpPr>
        <p:spPr>
          <a:xfrm>
            <a:off x="7050024" y="4279392"/>
            <a:ext cx="731520" cy="256032"/>
          </a:xfrm>
          <a:prstGeom prst="roundRect">
            <a:avLst>
              <a:gd name="adj" fmla="val 50000"/>
            </a:avLst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50" name="Text 47"/>
          <p:cNvSpPr txBox="1"/>
          <p:nvPr/>
        </p:nvSpPr>
        <p:spPr>
          <a:xfrm>
            <a:off x="7050024" y="4279392"/>
            <a:ext cx="7315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CORE</a:t>
            </a:r>
            <a:endParaRPr lang="en-US" sz="800" dirty="0"/>
          </a:p>
        </p:txBody>
      </p:sp>
      <p:sp>
        <p:nvSpPr>
          <p:cNvPr id="51" name="Text 48"/>
          <p:cNvSpPr txBox="1"/>
          <p:nvPr/>
        </p:nvSpPr>
        <p:spPr>
          <a:xfrm>
            <a:off x="4389120" y="4553712"/>
            <a:ext cx="3401568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30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فِي رَأْيِي</a:t>
            </a:r>
            <a:endParaRPr lang="ar-SA" sz="3000" dirty="0"/>
          </a:p>
        </p:txBody>
      </p:sp>
      <p:sp>
        <p:nvSpPr>
          <p:cNvPr id="52" name="Text 49"/>
          <p:cNvSpPr txBox="1"/>
          <p:nvPr/>
        </p:nvSpPr>
        <p:spPr>
          <a:xfrm>
            <a:off x="4416552" y="5468112"/>
            <a:ext cx="3364992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in my opinion</a:t>
            </a:r>
            <a:endParaRPr lang="en-US" sz="1350" dirty="0"/>
          </a:p>
          <a:p>
            <a:pPr indent="0" marL="0">
              <a:buNone/>
            </a:pPr>
            <a:r>
              <a:rPr lang="en-US" sz="110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fī raʾ-yī</a:t>
            </a:r>
            <a:endParaRPr lang="en-US" sz="1350" dirty="0"/>
          </a:p>
        </p:txBody>
      </p:sp>
      <p:sp>
        <p:nvSpPr>
          <p:cNvPr id="53" name="Shape 50"/>
          <p:cNvSpPr/>
          <p:nvPr/>
        </p:nvSpPr>
        <p:spPr>
          <a:xfrm>
            <a:off x="457200" y="4151376"/>
            <a:ext cx="3639312" cy="2157984"/>
          </a:xfrm>
          <a:prstGeom prst="roundRect">
            <a:avLst>
              <a:gd name="adj" fmla="val 3390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54" name="Shape 51"/>
          <p:cNvSpPr/>
          <p:nvPr/>
        </p:nvSpPr>
        <p:spPr>
          <a:xfrm>
            <a:off x="566928" y="4261104"/>
            <a:ext cx="310896" cy="310896"/>
          </a:xfrm>
          <a:prstGeom prst="ellipse">
            <a:avLst/>
          </a:prstGeom>
          <a:solidFill>
            <a:srgbClr val="F4F1EA"/>
          </a:solidFill>
          <a:ln w="12700">
            <a:solidFill>
              <a:srgbClr val="F4F1EA"/>
            </a:solidFill>
            <a:prstDash val="solid"/>
          </a:ln>
        </p:spPr>
      </p:sp>
      <p:sp>
        <p:nvSpPr>
          <p:cNvPr id="55" name="Text 52"/>
          <p:cNvSpPr txBox="1"/>
          <p:nvPr/>
        </p:nvSpPr>
        <p:spPr>
          <a:xfrm>
            <a:off x="566928" y="4261104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6</a:t>
            </a:r>
            <a:endParaRPr lang="en-US" sz="1000" dirty="0"/>
          </a:p>
        </p:txBody>
      </p:sp>
      <p:sp>
        <p:nvSpPr>
          <p:cNvPr id="56" name="Shape 53"/>
          <p:cNvSpPr/>
          <p:nvPr/>
        </p:nvSpPr>
        <p:spPr>
          <a:xfrm>
            <a:off x="3227832" y="4279392"/>
            <a:ext cx="731520" cy="256032"/>
          </a:xfrm>
          <a:prstGeom prst="roundRect">
            <a:avLst>
              <a:gd name="adj" fmla="val 50000"/>
            </a:avLst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57" name="Text 54"/>
          <p:cNvSpPr txBox="1"/>
          <p:nvPr/>
        </p:nvSpPr>
        <p:spPr>
          <a:xfrm>
            <a:off x="3227832" y="4279392"/>
            <a:ext cx="7315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CORE</a:t>
            </a:r>
            <a:endParaRPr lang="en-US" sz="800" dirty="0"/>
          </a:p>
        </p:txBody>
      </p:sp>
      <p:sp>
        <p:nvSpPr>
          <p:cNvPr id="58" name="Text 55"/>
          <p:cNvSpPr txBox="1"/>
          <p:nvPr/>
        </p:nvSpPr>
        <p:spPr>
          <a:xfrm>
            <a:off x="566928" y="4553712"/>
            <a:ext cx="3401568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30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أَتَمَنَّى أَنْ</a:t>
            </a:r>
            <a:endParaRPr lang="ar-SA" sz="3000" dirty="0"/>
          </a:p>
        </p:txBody>
      </p:sp>
      <p:sp>
        <p:nvSpPr>
          <p:cNvPr id="59" name="Text 56"/>
          <p:cNvSpPr txBox="1"/>
          <p:nvPr/>
        </p:nvSpPr>
        <p:spPr>
          <a:xfrm>
            <a:off x="594360" y="5468112"/>
            <a:ext cx="3364992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I hope to</a:t>
            </a:r>
            <a:endParaRPr lang="en-US" sz="1350" dirty="0"/>
          </a:p>
          <a:p>
            <a:pPr indent="0" marL="0">
              <a:buNone/>
            </a:pPr>
            <a:r>
              <a:rPr lang="en-US" sz="110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a-ta-man-nā an</a:t>
            </a:r>
            <a:endParaRPr lang="en-US" sz="1350" dirty="0"/>
          </a:p>
        </p:txBody>
      </p:sp>
      <p:sp>
        <p:nvSpPr>
          <p:cNvPr id="60" name="Text 57"/>
          <p:cNvSpPr txBox="1"/>
          <p:nvPr/>
        </p:nvSpPr>
        <p:spPr>
          <a:xfrm>
            <a:off x="10360152" y="6455664"/>
            <a:ext cx="1371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6 / 24</a:t>
            </a:r>
            <a:endParaRPr lang="en-US" sz="8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D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37744"/>
            <a:ext cx="420624" cy="420624"/>
          </a:xfrm>
          <a:prstGeom prst="ellipse">
            <a:avLst/>
          </a:prstGeom>
          <a:solidFill>
            <a:srgbClr val="1B3B6F"/>
          </a:solidFill>
          <a:ln w="12700">
            <a:solidFill>
              <a:srgbClr val="D4AF37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457200" y="21945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D4AF37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</a:t>
            </a:r>
            <a:endParaRPr lang="ar-SA" sz="18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Al Madina Online School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57200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ARABIC DEPARTMENT · MIFTAH ARABIC · IGCSE 0544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8897112" y="274320"/>
            <a:ext cx="2834640" cy="329184"/>
          </a:xfrm>
          <a:prstGeom prst="roundRect">
            <a:avLst>
              <a:gd name="adj" fmla="val 50000"/>
            </a:avLst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897112" y="274320"/>
            <a:ext cx="2834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D5-W05 · Apply workshop</a:t>
            </a:r>
            <a:endParaRPr lang="en-US" sz="950" dirty="0"/>
          </a:p>
        </p:txBody>
      </p:sp>
      <p:sp>
        <p:nvSpPr>
          <p:cNvPr id="8" name="Shape 6"/>
          <p:cNvSpPr/>
          <p:nvPr/>
        </p:nvSpPr>
        <p:spPr>
          <a:xfrm>
            <a:off x="6308446" y="274320"/>
            <a:ext cx="2451506" cy="329184"/>
          </a:xfrm>
          <a:prstGeom prst="roundRect">
            <a:avLst>
              <a:gd name="adj" fmla="val 50000"/>
            </a:avLst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6308446" y="274320"/>
            <a:ext cx="245150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TEACHER INSTRUCTION · 2 MIN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822960"/>
            <a:ext cx="6949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300" kern="0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STEP 1 · WORDS FROM D5-L10</a:t>
            </a:r>
            <a:endParaRPr lang="en-US" sz="1000" dirty="0"/>
          </a:p>
        </p:txBody>
      </p:sp>
      <p:sp>
        <p:nvSpPr>
          <p:cNvPr id="11" name="Text 9"/>
          <p:cNvSpPr txBox="1"/>
          <p:nvPr/>
        </p:nvSpPr>
        <p:spPr>
          <a:xfrm>
            <a:off x="457200" y="1033272"/>
            <a:ext cx="6949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D5-L10 · Listening — Sport, Leisure and Past Events</a:t>
            </a:r>
            <a:endParaRPr lang="en-US" sz="1800" dirty="0"/>
          </a:p>
        </p:txBody>
      </p:sp>
      <p:sp>
        <p:nvSpPr>
          <p:cNvPr id="12" name="Text 10"/>
          <p:cNvSpPr txBox="1"/>
          <p:nvPr/>
        </p:nvSpPr>
        <p:spPr>
          <a:xfrm>
            <a:off x="7498080" y="868680"/>
            <a:ext cx="4233672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2800" b="1" dirty="0">
                <a:solidFill>
                  <a:srgbClr val="8A6D1E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كَلِمَاتُ الدَّرْسِ الثَّانِي</a:t>
            </a:r>
            <a:endParaRPr lang="ar-SA" sz="28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6455664"/>
            <a:ext cx="6400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Miftah Arabic · Development D5 · Hobbies, Sport and Leisure · D5-W05 · Apply workshop (D5-L09 + D5-L10)</a:t>
            </a:r>
            <a:endParaRPr lang="en-US" sz="850" dirty="0"/>
          </a:p>
        </p:txBody>
      </p:sp>
      <p:sp>
        <p:nvSpPr>
          <p:cNvPr id="15" name="Shape 12"/>
          <p:cNvSpPr/>
          <p:nvPr/>
        </p:nvSpPr>
        <p:spPr>
          <a:xfrm>
            <a:off x="8101584" y="1810512"/>
            <a:ext cx="3639312" cy="2157984"/>
          </a:xfrm>
          <a:prstGeom prst="roundRect">
            <a:avLst>
              <a:gd name="adj" fmla="val 3390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16" name="Shape 13"/>
          <p:cNvSpPr/>
          <p:nvPr/>
        </p:nvSpPr>
        <p:spPr>
          <a:xfrm>
            <a:off x="8211312" y="1920240"/>
            <a:ext cx="310896" cy="310896"/>
          </a:xfrm>
          <a:prstGeom prst="ellipse">
            <a:avLst/>
          </a:prstGeom>
          <a:solidFill>
            <a:srgbClr val="F4F1EA"/>
          </a:solidFill>
          <a:ln w="12700">
            <a:solidFill>
              <a:srgbClr val="F4F1EA"/>
            </a:solidFill>
            <a:prstDash val="solid"/>
          </a:ln>
        </p:spPr>
      </p:sp>
      <p:sp>
        <p:nvSpPr>
          <p:cNvPr id="17" name="Text 14"/>
          <p:cNvSpPr txBox="1"/>
          <p:nvPr/>
        </p:nvSpPr>
        <p:spPr>
          <a:xfrm>
            <a:off x="8211312" y="192024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7</a:t>
            </a:r>
            <a:endParaRPr lang="en-US" sz="1000" dirty="0"/>
          </a:p>
        </p:txBody>
      </p:sp>
      <p:sp>
        <p:nvSpPr>
          <p:cNvPr id="18" name="Shape 15"/>
          <p:cNvSpPr/>
          <p:nvPr/>
        </p:nvSpPr>
        <p:spPr>
          <a:xfrm>
            <a:off x="10872216" y="1938528"/>
            <a:ext cx="731520" cy="256032"/>
          </a:xfrm>
          <a:prstGeom prst="roundRect">
            <a:avLst>
              <a:gd name="adj" fmla="val 50000"/>
            </a:avLst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19" name="Text 16"/>
          <p:cNvSpPr txBox="1"/>
          <p:nvPr/>
        </p:nvSpPr>
        <p:spPr>
          <a:xfrm>
            <a:off x="10872216" y="1938528"/>
            <a:ext cx="7315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CORE</a:t>
            </a:r>
            <a:endParaRPr lang="en-US" sz="800" dirty="0"/>
          </a:p>
        </p:txBody>
      </p:sp>
      <p:sp>
        <p:nvSpPr>
          <p:cNvPr id="20" name="Text 17"/>
          <p:cNvSpPr txBox="1"/>
          <p:nvPr/>
        </p:nvSpPr>
        <p:spPr>
          <a:xfrm>
            <a:off x="8211312" y="2212848"/>
            <a:ext cx="3401568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30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التَّعَرُّفُ عَلَى الأَفْعَالِ</a:t>
            </a:r>
            <a:endParaRPr lang="ar-SA" sz="3000" dirty="0"/>
          </a:p>
        </p:txBody>
      </p:sp>
      <p:sp>
        <p:nvSpPr>
          <p:cNvPr id="21" name="Text 18"/>
          <p:cNvSpPr txBox="1"/>
          <p:nvPr/>
        </p:nvSpPr>
        <p:spPr>
          <a:xfrm>
            <a:off x="8238744" y="3127248"/>
            <a:ext cx="3364992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recognising the verbs</a:t>
            </a:r>
            <a:endParaRPr lang="en-US" sz="1350" dirty="0"/>
          </a:p>
          <a:p>
            <a:pPr indent="0" marL="0">
              <a:buNone/>
            </a:pPr>
            <a:r>
              <a:rPr lang="en-US" sz="110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at-ta-ʿar-ru-fu ʿa-lā al-af-ʿā-li</a:t>
            </a:r>
            <a:endParaRPr lang="en-US" sz="1350" dirty="0"/>
          </a:p>
        </p:txBody>
      </p:sp>
      <p:sp>
        <p:nvSpPr>
          <p:cNvPr id="22" name="Shape 19"/>
          <p:cNvSpPr/>
          <p:nvPr/>
        </p:nvSpPr>
        <p:spPr>
          <a:xfrm>
            <a:off x="4279392" y="1810512"/>
            <a:ext cx="3639312" cy="2157984"/>
          </a:xfrm>
          <a:prstGeom prst="roundRect">
            <a:avLst>
              <a:gd name="adj" fmla="val 3390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23" name="Shape 20"/>
          <p:cNvSpPr/>
          <p:nvPr/>
        </p:nvSpPr>
        <p:spPr>
          <a:xfrm>
            <a:off x="4389120" y="1920240"/>
            <a:ext cx="310896" cy="310896"/>
          </a:xfrm>
          <a:prstGeom prst="ellipse">
            <a:avLst/>
          </a:prstGeom>
          <a:solidFill>
            <a:srgbClr val="F4F1EA"/>
          </a:solidFill>
          <a:ln w="12700">
            <a:solidFill>
              <a:srgbClr val="F4F1EA"/>
            </a:solidFill>
            <a:prstDash val="solid"/>
          </a:ln>
        </p:spPr>
      </p:sp>
      <p:sp>
        <p:nvSpPr>
          <p:cNvPr id="24" name="Text 21"/>
          <p:cNvSpPr txBox="1"/>
          <p:nvPr/>
        </p:nvSpPr>
        <p:spPr>
          <a:xfrm>
            <a:off x="4389120" y="192024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8</a:t>
            </a:r>
            <a:endParaRPr lang="en-US" sz="1000" dirty="0"/>
          </a:p>
        </p:txBody>
      </p:sp>
      <p:sp>
        <p:nvSpPr>
          <p:cNvPr id="25" name="Shape 22"/>
          <p:cNvSpPr/>
          <p:nvPr/>
        </p:nvSpPr>
        <p:spPr>
          <a:xfrm>
            <a:off x="7050024" y="1938528"/>
            <a:ext cx="731520" cy="256032"/>
          </a:xfrm>
          <a:prstGeom prst="roundRect">
            <a:avLst>
              <a:gd name="adj" fmla="val 50000"/>
            </a:avLst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26" name="Text 23"/>
          <p:cNvSpPr txBox="1"/>
          <p:nvPr/>
        </p:nvSpPr>
        <p:spPr>
          <a:xfrm>
            <a:off x="7050024" y="1938528"/>
            <a:ext cx="7315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CORE</a:t>
            </a:r>
            <a:endParaRPr lang="en-US" sz="800" dirty="0"/>
          </a:p>
        </p:txBody>
      </p:sp>
      <p:sp>
        <p:nvSpPr>
          <p:cNvPr id="27" name="Text 24"/>
          <p:cNvSpPr txBox="1"/>
          <p:nvPr/>
        </p:nvSpPr>
        <p:spPr>
          <a:xfrm>
            <a:off x="4389120" y="2212848"/>
            <a:ext cx="3401568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30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الكَلَامُ السَّرِيعُ</a:t>
            </a:r>
            <a:endParaRPr lang="ar-SA" sz="3000" dirty="0"/>
          </a:p>
        </p:txBody>
      </p:sp>
      <p:sp>
        <p:nvSpPr>
          <p:cNvPr id="28" name="Text 25"/>
          <p:cNvSpPr txBox="1"/>
          <p:nvPr/>
        </p:nvSpPr>
        <p:spPr>
          <a:xfrm>
            <a:off x="4416552" y="3127248"/>
            <a:ext cx="3364992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fast speech</a:t>
            </a:r>
            <a:endParaRPr lang="en-US" sz="1350" dirty="0"/>
          </a:p>
          <a:p>
            <a:pPr indent="0" marL="0">
              <a:buNone/>
            </a:pPr>
            <a:r>
              <a:rPr lang="en-US" sz="110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al-ka-lā-mu as-sa-rī-ʿu</a:t>
            </a:r>
            <a:endParaRPr lang="en-US" sz="1350" dirty="0"/>
          </a:p>
        </p:txBody>
      </p:sp>
      <p:sp>
        <p:nvSpPr>
          <p:cNvPr id="29" name="Shape 26"/>
          <p:cNvSpPr/>
          <p:nvPr/>
        </p:nvSpPr>
        <p:spPr>
          <a:xfrm>
            <a:off x="457200" y="1810512"/>
            <a:ext cx="3639312" cy="2157984"/>
          </a:xfrm>
          <a:prstGeom prst="roundRect">
            <a:avLst>
              <a:gd name="adj" fmla="val 3390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30" name="Shape 27"/>
          <p:cNvSpPr/>
          <p:nvPr/>
        </p:nvSpPr>
        <p:spPr>
          <a:xfrm>
            <a:off x="566928" y="1920240"/>
            <a:ext cx="310896" cy="310896"/>
          </a:xfrm>
          <a:prstGeom prst="ellipse">
            <a:avLst/>
          </a:prstGeom>
          <a:solidFill>
            <a:srgbClr val="F4F1EA"/>
          </a:solidFill>
          <a:ln w="12700">
            <a:solidFill>
              <a:srgbClr val="F4F1EA"/>
            </a:solidFill>
            <a:prstDash val="solid"/>
          </a:ln>
        </p:spPr>
      </p:sp>
      <p:sp>
        <p:nvSpPr>
          <p:cNvPr id="31" name="Text 28"/>
          <p:cNvSpPr txBox="1"/>
          <p:nvPr/>
        </p:nvSpPr>
        <p:spPr>
          <a:xfrm>
            <a:off x="566928" y="192024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9</a:t>
            </a:r>
            <a:endParaRPr lang="en-US" sz="1000" dirty="0"/>
          </a:p>
        </p:txBody>
      </p:sp>
      <p:sp>
        <p:nvSpPr>
          <p:cNvPr id="32" name="Shape 29"/>
          <p:cNvSpPr/>
          <p:nvPr/>
        </p:nvSpPr>
        <p:spPr>
          <a:xfrm>
            <a:off x="960120" y="1938528"/>
            <a:ext cx="1082650" cy="256032"/>
          </a:xfrm>
          <a:prstGeom prst="roundRect">
            <a:avLst>
              <a:gd name="adj" fmla="val 50000"/>
            </a:avLst>
          </a:prstGeom>
          <a:solidFill>
            <a:srgbClr val="EFE7D2"/>
          </a:solidFill>
          <a:ln w="12700">
            <a:solidFill>
              <a:srgbClr val="EFE7D2"/>
            </a:solidFill>
            <a:prstDash val="solid"/>
          </a:ln>
        </p:spPr>
      </p:sp>
      <p:sp>
        <p:nvSpPr>
          <p:cNvPr id="33" name="Text 30"/>
          <p:cNvSpPr txBox="1"/>
          <p:nvPr/>
        </p:nvSpPr>
        <p:spPr>
          <a:xfrm>
            <a:off x="960120" y="1938528"/>
            <a:ext cx="108265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Signals past.</a:t>
            </a:r>
            <a:endParaRPr lang="en-US" sz="800" dirty="0"/>
          </a:p>
        </p:txBody>
      </p:sp>
      <p:sp>
        <p:nvSpPr>
          <p:cNvPr id="34" name="Shape 31"/>
          <p:cNvSpPr/>
          <p:nvPr/>
        </p:nvSpPr>
        <p:spPr>
          <a:xfrm>
            <a:off x="3227832" y="1938528"/>
            <a:ext cx="731520" cy="256032"/>
          </a:xfrm>
          <a:prstGeom prst="roundRect">
            <a:avLst>
              <a:gd name="adj" fmla="val 50000"/>
            </a:avLst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35" name="Text 32"/>
          <p:cNvSpPr txBox="1"/>
          <p:nvPr/>
        </p:nvSpPr>
        <p:spPr>
          <a:xfrm>
            <a:off x="3227832" y="1938528"/>
            <a:ext cx="7315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CORE</a:t>
            </a:r>
            <a:endParaRPr lang="en-US" sz="800" dirty="0"/>
          </a:p>
        </p:txBody>
      </p:sp>
      <p:sp>
        <p:nvSpPr>
          <p:cNvPr id="36" name="Text 33"/>
          <p:cNvSpPr txBox="1"/>
          <p:nvPr/>
        </p:nvSpPr>
        <p:spPr>
          <a:xfrm>
            <a:off x="566928" y="2212848"/>
            <a:ext cx="3401568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30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أَمْسِ</a:t>
            </a:r>
            <a:endParaRPr lang="ar-SA" sz="3000" dirty="0"/>
          </a:p>
        </p:txBody>
      </p:sp>
      <p:sp>
        <p:nvSpPr>
          <p:cNvPr id="37" name="Text 34"/>
          <p:cNvSpPr txBox="1"/>
          <p:nvPr/>
        </p:nvSpPr>
        <p:spPr>
          <a:xfrm>
            <a:off x="594360" y="3127248"/>
            <a:ext cx="3364992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yesterday</a:t>
            </a:r>
            <a:endParaRPr lang="en-US" sz="1350" dirty="0"/>
          </a:p>
          <a:p>
            <a:pPr indent="0" marL="0">
              <a:buNone/>
            </a:pPr>
            <a:r>
              <a:rPr lang="en-US" sz="110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am-si</a:t>
            </a:r>
            <a:endParaRPr lang="en-US" sz="1350" dirty="0"/>
          </a:p>
        </p:txBody>
      </p:sp>
      <p:sp>
        <p:nvSpPr>
          <p:cNvPr id="38" name="Shape 35"/>
          <p:cNvSpPr/>
          <p:nvPr/>
        </p:nvSpPr>
        <p:spPr>
          <a:xfrm>
            <a:off x="8101584" y="4151376"/>
            <a:ext cx="3639312" cy="2157984"/>
          </a:xfrm>
          <a:prstGeom prst="roundRect">
            <a:avLst>
              <a:gd name="adj" fmla="val 3390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39" name="Shape 36"/>
          <p:cNvSpPr/>
          <p:nvPr/>
        </p:nvSpPr>
        <p:spPr>
          <a:xfrm>
            <a:off x="8211312" y="4261104"/>
            <a:ext cx="310896" cy="310896"/>
          </a:xfrm>
          <a:prstGeom prst="ellipse">
            <a:avLst/>
          </a:prstGeom>
          <a:solidFill>
            <a:srgbClr val="F4F1EA"/>
          </a:solidFill>
          <a:ln w="12700">
            <a:solidFill>
              <a:srgbClr val="F4F1EA"/>
            </a:solidFill>
            <a:prstDash val="solid"/>
          </a:ln>
        </p:spPr>
      </p:sp>
      <p:sp>
        <p:nvSpPr>
          <p:cNvPr id="40" name="Text 37"/>
          <p:cNvSpPr txBox="1"/>
          <p:nvPr/>
        </p:nvSpPr>
        <p:spPr>
          <a:xfrm>
            <a:off x="8211312" y="4261104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10</a:t>
            </a:r>
            <a:endParaRPr lang="en-US" sz="1000" dirty="0"/>
          </a:p>
        </p:txBody>
      </p:sp>
      <p:sp>
        <p:nvSpPr>
          <p:cNvPr id="41" name="Shape 38"/>
          <p:cNvSpPr/>
          <p:nvPr/>
        </p:nvSpPr>
        <p:spPr>
          <a:xfrm>
            <a:off x="8604504" y="4279392"/>
            <a:ext cx="1642262" cy="256032"/>
          </a:xfrm>
          <a:prstGeom prst="roundRect">
            <a:avLst>
              <a:gd name="adj" fmla="val 50000"/>
            </a:avLst>
          </a:prstGeom>
          <a:solidFill>
            <a:srgbClr val="EFE7D2"/>
          </a:solidFill>
          <a:ln w="12700">
            <a:solidFill>
              <a:srgbClr val="EFE7D2"/>
            </a:solidFill>
            <a:prstDash val="solid"/>
          </a:ln>
        </p:spPr>
      </p:sp>
      <p:sp>
        <p:nvSpPr>
          <p:cNvPr id="42" name="Text 39"/>
          <p:cNvSpPr txBox="1"/>
          <p:nvPr/>
        </p:nvSpPr>
        <p:spPr>
          <a:xfrm>
            <a:off x="8604504" y="4279392"/>
            <a:ext cx="164226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Signals present habit.</a:t>
            </a:r>
            <a:endParaRPr lang="en-US" sz="800" dirty="0"/>
          </a:p>
        </p:txBody>
      </p:sp>
      <p:sp>
        <p:nvSpPr>
          <p:cNvPr id="43" name="Shape 40"/>
          <p:cNvSpPr/>
          <p:nvPr/>
        </p:nvSpPr>
        <p:spPr>
          <a:xfrm>
            <a:off x="10872216" y="4279392"/>
            <a:ext cx="731520" cy="256032"/>
          </a:xfrm>
          <a:prstGeom prst="roundRect">
            <a:avLst>
              <a:gd name="adj" fmla="val 50000"/>
            </a:avLst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44" name="Text 41"/>
          <p:cNvSpPr txBox="1"/>
          <p:nvPr/>
        </p:nvSpPr>
        <p:spPr>
          <a:xfrm>
            <a:off x="10872216" y="4279392"/>
            <a:ext cx="7315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CORE</a:t>
            </a:r>
            <a:endParaRPr lang="en-US" sz="800" dirty="0"/>
          </a:p>
        </p:txBody>
      </p:sp>
      <p:sp>
        <p:nvSpPr>
          <p:cNvPr id="45" name="Text 42"/>
          <p:cNvSpPr txBox="1"/>
          <p:nvPr/>
        </p:nvSpPr>
        <p:spPr>
          <a:xfrm>
            <a:off x="8211312" y="4553712"/>
            <a:ext cx="3401568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30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كُلَّ يَوْمٍ</a:t>
            </a:r>
            <a:endParaRPr lang="ar-SA" sz="3000" dirty="0"/>
          </a:p>
        </p:txBody>
      </p:sp>
      <p:sp>
        <p:nvSpPr>
          <p:cNvPr id="46" name="Text 43"/>
          <p:cNvSpPr txBox="1"/>
          <p:nvPr/>
        </p:nvSpPr>
        <p:spPr>
          <a:xfrm>
            <a:off x="8238744" y="5468112"/>
            <a:ext cx="3364992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every day</a:t>
            </a:r>
            <a:endParaRPr lang="en-US" sz="1350" dirty="0"/>
          </a:p>
          <a:p>
            <a:pPr indent="0" marL="0">
              <a:buNone/>
            </a:pPr>
            <a:r>
              <a:rPr lang="en-US" sz="110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kul-la yaw-min</a:t>
            </a:r>
            <a:endParaRPr lang="en-US" sz="1350" dirty="0"/>
          </a:p>
        </p:txBody>
      </p:sp>
      <p:sp>
        <p:nvSpPr>
          <p:cNvPr id="47" name="Shape 44"/>
          <p:cNvSpPr/>
          <p:nvPr/>
        </p:nvSpPr>
        <p:spPr>
          <a:xfrm>
            <a:off x="4279392" y="4151376"/>
            <a:ext cx="3639312" cy="2157984"/>
          </a:xfrm>
          <a:prstGeom prst="roundRect">
            <a:avLst>
              <a:gd name="adj" fmla="val 3390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48" name="Shape 45"/>
          <p:cNvSpPr/>
          <p:nvPr/>
        </p:nvSpPr>
        <p:spPr>
          <a:xfrm>
            <a:off x="4389120" y="4261104"/>
            <a:ext cx="310896" cy="310896"/>
          </a:xfrm>
          <a:prstGeom prst="ellipse">
            <a:avLst/>
          </a:prstGeom>
          <a:solidFill>
            <a:srgbClr val="F4F1EA"/>
          </a:solidFill>
          <a:ln w="12700">
            <a:solidFill>
              <a:srgbClr val="F4F1EA"/>
            </a:solidFill>
            <a:prstDash val="solid"/>
          </a:ln>
        </p:spPr>
      </p:sp>
      <p:sp>
        <p:nvSpPr>
          <p:cNvPr id="49" name="Text 46"/>
          <p:cNvSpPr txBox="1"/>
          <p:nvPr/>
        </p:nvSpPr>
        <p:spPr>
          <a:xfrm>
            <a:off x="4389120" y="4261104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11</a:t>
            </a:r>
            <a:endParaRPr lang="en-US" sz="1000" dirty="0"/>
          </a:p>
        </p:txBody>
      </p:sp>
      <p:sp>
        <p:nvSpPr>
          <p:cNvPr id="50" name="Shape 47"/>
          <p:cNvSpPr/>
          <p:nvPr/>
        </p:nvSpPr>
        <p:spPr>
          <a:xfrm>
            <a:off x="4782312" y="4279392"/>
            <a:ext cx="1207008" cy="256032"/>
          </a:xfrm>
          <a:prstGeom prst="roundRect">
            <a:avLst>
              <a:gd name="adj" fmla="val 50000"/>
            </a:avLst>
          </a:prstGeom>
          <a:solidFill>
            <a:srgbClr val="EFE7D2"/>
          </a:solidFill>
          <a:ln w="12700">
            <a:solidFill>
              <a:srgbClr val="EFE7D2"/>
            </a:solidFill>
            <a:prstDash val="solid"/>
          </a:ln>
        </p:spPr>
      </p:sp>
      <p:sp>
        <p:nvSpPr>
          <p:cNvPr id="51" name="Text 48"/>
          <p:cNvSpPr txBox="1"/>
          <p:nvPr/>
        </p:nvSpPr>
        <p:spPr>
          <a:xfrm>
            <a:off x="4782312" y="4279392"/>
            <a:ext cx="120700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Signals future.</a:t>
            </a:r>
            <a:endParaRPr lang="en-US" sz="800" dirty="0"/>
          </a:p>
        </p:txBody>
      </p:sp>
      <p:sp>
        <p:nvSpPr>
          <p:cNvPr id="52" name="Shape 49"/>
          <p:cNvSpPr/>
          <p:nvPr/>
        </p:nvSpPr>
        <p:spPr>
          <a:xfrm>
            <a:off x="7050024" y="4279392"/>
            <a:ext cx="731520" cy="256032"/>
          </a:xfrm>
          <a:prstGeom prst="roundRect">
            <a:avLst>
              <a:gd name="adj" fmla="val 50000"/>
            </a:avLst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53" name="Text 50"/>
          <p:cNvSpPr txBox="1"/>
          <p:nvPr/>
        </p:nvSpPr>
        <p:spPr>
          <a:xfrm>
            <a:off x="7050024" y="4279392"/>
            <a:ext cx="7315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CORE</a:t>
            </a:r>
            <a:endParaRPr lang="en-US" sz="800" dirty="0"/>
          </a:p>
        </p:txBody>
      </p:sp>
      <p:sp>
        <p:nvSpPr>
          <p:cNvPr id="54" name="Text 51"/>
          <p:cNvSpPr txBox="1"/>
          <p:nvPr/>
        </p:nvSpPr>
        <p:spPr>
          <a:xfrm>
            <a:off x="4389120" y="4553712"/>
            <a:ext cx="3401568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30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الأُسْبُوعَ القَادِمَ</a:t>
            </a:r>
            <a:endParaRPr lang="ar-SA" sz="3000" dirty="0"/>
          </a:p>
        </p:txBody>
      </p:sp>
      <p:sp>
        <p:nvSpPr>
          <p:cNvPr id="55" name="Text 52"/>
          <p:cNvSpPr txBox="1"/>
          <p:nvPr/>
        </p:nvSpPr>
        <p:spPr>
          <a:xfrm>
            <a:off x="4416552" y="5468112"/>
            <a:ext cx="3364992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next week</a:t>
            </a:r>
            <a:endParaRPr lang="en-US" sz="1350" dirty="0"/>
          </a:p>
          <a:p>
            <a:pPr indent="0" marL="0">
              <a:buNone/>
            </a:pPr>
            <a:r>
              <a:rPr lang="en-US" sz="110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al-us-bū-ʿa al-qā-di-ma</a:t>
            </a:r>
            <a:endParaRPr lang="en-US" sz="1350" dirty="0"/>
          </a:p>
        </p:txBody>
      </p:sp>
      <p:sp>
        <p:nvSpPr>
          <p:cNvPr id="56" name="Shape 53"/>
          <p:cNvSpPr/>
          <p:nvPr/>
        </p:nvSpPr>
        <p:spPr>
          <a:xfrm>
            <a:off x="457200" y="4151376"/>
            <a:ext cx="3639312" cy="2157984"/>
          </a:xfrm>
          <a:prstGeom prst="roundRect">
            <a:avLst>
              <a:gd name="adj" fmla="val 3390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57" name="Shape 54"/>
          <p:cNvSpPr/>
          <p:nvPr/>
        </p:nvSpPr>
        <p:spPr>
          <a:xfrm>
            <a:off x="566928" y="4261104"/>
            <a:ext cx="310896" cy="310896"/>
          </a:xfrm>
          <a:prstGeom prst="ellipse">
            <a:avLst/>
          </a:prstGeom>
          <a:solidFill>
            <a:srgbClr val="F4F1EA"/>
          </a:solidFill>
          <a:ln w="12700">
            <a:solidFill>
              <a:srgbClr val="F4F1EA"/>
            </a:solidFill>
            <a:prstDash val="solid"/>
          </a:ln>
        </p:spPr>
      </p:sp>
      <p:sp>
        <p:nvSpPr>
          <p:cNvPr id="58" name="Text 55"/>
          <p:cNvSpPr txBox="1"/>
          <p:nvPr/>
        </p:nvSpPr>
        <p:spPr>
          <a:xfrm>
            <a:off x="566928" y="4261104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12</a:t>
            </a:r>
            <a:endParaRPr lang="en-US" sz="1000" dirty="0"/>
          </a:p>
        </p:txBody>
      </p:sp>
      <p:sp>
        <p:nvSpPr>
          <p:cNvPr id="59" name="Shape 56"/>
          <p:cNvSpPr/>
          <p:nvPr/>
        </p:nvSpPr>
        <p:spPr>
          <a:xfrm>
            <a:off x="3227832" y="4279392"/>
            <a:ext cx="731520" cy="256032"/>
          </a:xfrm>
          <a:prstGeom prst="roundRect">
            <a:avLst>
              <a:gd name="adj" fmla="val 50000"/>
            </a:avLst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60" name="Text 57"/>
          <p:cNvSpPr txBox="1"/>
          <p:nvPr/>
        </p:nvSpPr>
        <p:spPr>
          <a:xfrm>
            <a:off x="3227832" y="4279392"/>
            <a:ext cx="7315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CORE</a:t>
            </a:r>
            <a:endParaRPr lang="en-US" sz="800" dirty="0"/>
          </a:p>
        </p:txBody>
      </p:sp>
      <p:sp>
        <p:nvSpPr>
          <p:cNvPr id="61" name="Text 58"/>
          <p:cNvSpPr txBox="1"/>
          <p:nvPr/>
        </p:nvSpPr>
        <p:spPr>
          <a:xfrm>
            <a:off x="566928" y="4553712"/>
            <a:ext cx="3401568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30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فَازَ بِـ</a:t>
            </a:r>
            <a:endParaRPr lang="ar-SA" sz="3000" dirty="0"/>
          </a:p>
        </p:txBody>
      </p:sp>
      <p:sp>
        <p:nvSpPr>
          <p:cNvPr id="62" name="Text 59"/>
          <p:cNvSpPr txBox="1"/>
          <p:nvPr/>
        </p:nvSpPr>
        <p:spPr>
          <a:xfrm>
            <a:off x="594360" y="5468112"/>
            <a:ext cx="3364992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won</a:t>
            </a:r>
            <a:endParaRPr lang="en-US" sz="1350" dirty="0"/>
          </a:p>
          <a:p>
            <a:pPr indent="0" marL="0">
              <a:buNone/>
            </a:pPr>
            <a:r>
              <a:rPr lang="en-US" sz="110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fā-za bi</a:t>
            </a:r>
            <a:endParaRPr lang="en-US" sz="1350" dirty="0"/>
          </a:p>
        </p:txBody>
      </p:sp>
      <p:sp>
        <p:nvSpPr>
          <p:cNvPr id="63" name="Text 60"/>
          <p:cNvSpPr txBox="1"/>
          <p:nvPr/>
        </p:nvSpPr>
        <p:spPr>
          <a:xfrm>
            <a:off x="10360152" y="6455664"/>
            <a:ext cx="1371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7 / 24</a:t>
            </a:r>
            <a:endParaRPr lang="en-US" sz="8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D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37744"/>
            <a:ext cx="420624" cy="420624"/>
          </a:xfrm>
          <a:prstGeom prst="ellipse">
            <a:avLst/>
          </a:prstGeom>
          <a:solidFill>
            <a:srgbClr val="1B3B6F"/>
          </a:solidFill>
          <a:ln w="12700">
            <a:solidFill>
              <a:srgbClr val="D4AF37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457200" y="21945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D4AF37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</a:t>
            </a:r>
            <a:endParaRPr lang="ar-SA" sz="18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Al Madina Online School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57200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ARABIC DEPARTMENT · MIFTAH ARABIC · IGCSE 0544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8897112" y="274320"/>
            <a:ext cx="2834640" cy="329184"/>
          </a:xfrm>
          <a:prstGeom prst="roundRect">
            <a:avLst>
              <a:gd name="adj" fmla="val 50000"/>
            </a:avLst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897112" y="274320"/>
            <a:ext cx="2834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D5-W05 · Apply workshop</a:t>
            </a:r>
            <a:endParaRPr lang="en-US" sz="950" dirty="0"/>
          </a:p>
        </p:txBody>
      </p:sp>
      <p:sp>
        <p:nvSpPr>
          <p:cNvPr id="8" name="Shape 6"/>
          <p:cNvSpPr/>
          <p:nvPr/>
        </p:nvSpPr>
        <p:spPr>
          <a:xfrm>
            <a:off x="7370978" y="274320"/>
            <a:ext cx="1388974" cy="329184"/>
          </a:xfrm>
          <a:prstGeom prst="roundRect">
            <a:avLst>
              <a:gd name="adj" fmla="val 50000"/>
            </a:avLst>
          </a:prstGeom>
          <a:solidFill>
            <a:srgbClr val="2F6FB0"/>
          </a:solidFill>
          <a:ln w="12700">
            <a:solidFill>
              <a:srgbClr val="2F6FB0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7370978" y="274320"/>
            <a:ext cx="138897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WE DO · 4 MIN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822960"/>
            <a:ext cx="6949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300" kern="0" dirty="0">
                <a:solidFill>
                  <a:srgbClr val="2F6FB0"/>
                </a:solidFill>
                <a:latin typeface="Calibri" pitchFamily="34" charset="0"/>
                <a:cs typeface="Amiri" pitchFamily="2" charset="-78"/>
              </a:rPr>
              <a:t>PART 1 · STEP 2 · SORT IT · READ EACH CARD, THEN SORT IT</a:t>
            </a:r>
            <a:endParaRPr lang="en-US" sz="1000" dirty="0"/>
          </a:p>
        </p:txBody>
      </p:sp>
      <p:sp>
        <p:nvSpPr>
          <p:cNvPr id="11" name="Text 9"/>
          <p:cNvSpPr txBox="1"/>
          <p:nvPr/>
        </p:nvSpPr>
        <p:spPr>
          <a:xfrm>
            <a:off x="457200" y="1033272"/>
            <a:ext cx="6949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Then, or now and next?</a:t>
            </a:r>
            <a:endParaRPr lang="en-US" sz="2800" dirty="0"/>
          </a:p>
        </p:txBody>
      </p:sp>
      <p:sp>
        <p:nvSpPr>
          <p:cNvPr id="12" name="Text 10"/>
          <p:cNvSpPr txBox="1"/>
          <p:nvPr/>
        </p:nvSpPr>
        <p:spPr>
          <a:xfrm>
            <a:off x="7498080" y="868680"/>
            <a:ext cx="4233672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2800" b="1" dirty="0">
                <a:solidFill>
                  <a:srgbClr val="8A6D1E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صَنِّفِ البِطَاقَاتِ</a:t>
            </a:r>
            <a:endParaRPr lang="ar-SA" sz="28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6455664"/>
            <a:ext cx="6400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Miftah Arabic · Development D5 · Hobbies, Sport and Leisure · D5-W05 · Apply workshop (D5-L09 + D5-L10)</a:t>
            </a:r>
            <a:endParaRPr lang="en-US" sz="850" dirty="0"/>
          </a:p>
        </p:txBody>
      </p:sp>
      <p:sp>
        <p:nvSpPr>
          <p:cNvPr id="15" name="Shape 12"/>
          <p:cNvSpPr/>
          <p:nvPr/>
        </p:nvSpPr>
        <p:spPr>
          <a:xfrm>
            <a:off x="9015984" y="1810512"/>
            <a:ext cx="2715768" cy="438912"/>
          </a:xfrm>
          <a:prstGeom prst="roundRect">
            <a:avLst>
              <a:gd name="adj" fmla="val 12500"/>
            </a:avLst>
          </a:prstGeom>
          <a:solidFill>
            <a:srgbClr val="FFF4DC"/>
          </a:solidFill>
          <a:ln w="9525">
            <a:solidFill>
              <a:srgbClr val="E6C98A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16" name="Text 13"/>
          <p:cNvSpPr txBox="1"/>
          <p:nvPr/>
        </p:nvSpPr>
        <p:spPr>
          <a:xfrm>
            <a:off x="9107424" y="1810512"/>
            <a:ext cx="2532888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كُنْتُ أَلْعَبُ</a:t>
            </a:r>
            <a:endParaRPr lang="ar-SA" sz="1800" dirty="0"/>
          </a:p>
        </p:txBody>
      </p:sp>
      <p:sp>
        <p:nvSpPr>
          <p:cNvPr id="17" name="Shape 14"/>
          <p:cNvSpPr/>
          <p:nvPr/>
        </p:nvSpPr>
        <p:spPr>
          <a:xfrm>
            <a:off x="6163056" y="1810512"/>
            <a:ext cx="2715768" cy="438912"/>
          </a:xfrm>
          <a:prstGeom prst="roundRect">
            <a:avLst>
              <a:gd name="adj" fmla="val 12500"/>
            </a:avLst>
          </a:prstGeom>
          <a:solidFill>
            <a:srgbClr val="FFF4DC"/>
          </a:solidFill>
          <a:ln w="9525">
            <a:solidFill>
              <a:srgbClr val="E6C98A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18" name="Text 15"/>
          <p:cNvSpPr txBox="1"/>
          <p:nvPr/>
        </p:nvSpPr>
        <p:spPr>
          <a:xfrm>
            <a:off x="6254496" y="1810512"/>
            <a:ext cx="2532888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أَمَّا الآنَ فَأُمَارِسُ</a:t>
            </a:r>
            <a:endParaRPr lang="ar-SA" sz="1800" dirty="0"/>
          </a:p>
        </p:txBody>
      </p:sp>
      <p:sp>
        <p:nvSpPr>
          <p:cNvPr id="19" name="Shape 16"/>
          <p:cNvSpPr/>
          <p:nvPr/>
        </p:nvSpPr>
        <p:spPr>
          <a:xfrm>
            <a:off x="3310128" y="1810512"/>
            <a:ext cx="2715768" cy="438912"/>
          </a:xfrm>
          <a:prstGeom prst="roundRect">
            <a:avLst>
              <a:gd name="adj" fmla="val 12500"/>
            </a:avLst>
          </a:prstGeom>
          <a:solidFill>
            <a:srgbClr val="FFF4DC"/>
          </a:solidFill>
          <a:ln w="9525">
            <a:solidFill>
              <a:srgbClr val="E6C98A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20" name="Text 17"/>
          <p:cNvSpPr txBox="1"/>
          <p:nvPr/>
        </p:nvSpPr>
        <p:spPr>
          <a:xfrm>
            <a:off x="3401568" y="1810512"/>
            <a:ext cx="2532888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كُلَّ يَوْمٍ</a:t>
            </a:r>
            <a:endParaRPr lang="ar-SA" sz="1800" dirty="0"/>
          </a:p>
        </p:txBody>
      </p:sp>
      <p:sp>
        <p:nvSpPr>
          <p:cNvPr id="21" name="Shape 18"/>
          <p:cNvSpPr/>
          <p:nvPr/>
        </p:nvSpPr>
        <p:spPr>
          <a:xfrm>
            <a:off x="457200" y="1810512"/>
            <a:ext cx="2715768" cy="438912"/>
          </a:xfrm>
          <a:prstGeom prst="roundRect">
            <a:avLst>
              <a:gd name="adj" fmla="val 12500"/>
            </a:avLst>
          </a:prstGeom>
          <a:solidFill>
            <a:srgbClr val="FFF4DC"/>
          </a:solidFill>
          <a:ln w="9525">
            <a:solidFill>
              <a:srgbClr val="E6C98A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22" name="Text 19"/>
          <p:cNvSpPr txBox="1"/>
          <p:nvPr/>
        </p:nvSpPr>
        <p:spPr>
          <a:xfrm>
            <a:off x="548640" y="1810512"/>
            <a:ext cx="2532888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تَدَرَّبْتُ أَمْسِ</a:t>
            </a:r>
            <a:endParaRPr lang="ar-SA" sz="1800" dirty="0"/>
          </a:p>
        </p:txBody>
      </p:sp>
      <p:sp>
        <p:nvSpPr>
          <p:cNvPr id="23" name="Shape 20"/>
          <p:cNvSpPr/>
          <p:nvPr/>
        </p:nvSpPr>
        <p:spPr>
          <a:xfrm>
            <a:off x="9015984" y="2322576"/>
            <a:ext cx="2715768" cy="438912"/>
          </a:xfrm>
          <a:prstGeom prst="roundRect">
            <a:avLst>
              <a:gd name="adj" fmla="val 12500"/>
            </a:avLst>
          </a:prstGeom>
          <a:solidFill>
            <a:srgbClr val="FFF4DC"/>
          </a:solidFill>
          <a:ln w="9525">
            <a:solidFill>
              <a:srgbClr val="E6C98A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24" name="Text 21"/>
          <p:cNvSpPr txBox="1"/>
          <p:nvPr/>
        </p:nvSpPr>
        <p:spPr>
          <a:xfrm>
            <a:off x="9107424" y="2322576"/>
            <a:ext cx="2532888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فِي الطُّفُولَةِ</a:t>
            </a:r>
            <a:endParaRPr lang="ar-SA" sz="1800" dirty="0"/>
          </a:p>
        </p:txBody>
      </p:sp>
      <p:sp>
        <p:nvSpPr>
          <p:cNvPr id="25" name="Shape 22"/>
          <p:cNvSpPr/>
          <p:nvPr/>
        </p:nvSpPr>
        <p:spPr>
          <a:xfrm>
            <a:off x="6163056" y="2322576"/>
            <a:ext cx="2715768" cy="438912"/>
          </a:xfrm>
          <a:prstGeom prst="roundRect">
            <a:avLst>
              <a:gd name="adj" fmla="val 12500"/>
            </a:avLst>
          </a:prstGeom>
          <a:solidFill>
            <a:srgbClr val="FFF4DC"/>
          </a:solidFill>
          <a:ln w="9525">
            <a:solidFill>
              <a:srgbClr val="E6C98A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26" name="Text 23"/>
          <p:cNvSpPr txBox="1"/>
          <p:nvPr/>
        </p:nvSpPr>
        <p:spPr>
          <a:xfrm>
            <a:off x="6254496" y="2322576"/>
            <a:ext cx="2532888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سَأَشْتَرِكُ فِي نَادٍ</a:t>
            </a:r>
            <a:endParaRPr lang="ar-SA" sz="1800" dirty="0"/>
          </a:p>
        </p:txBody>
      </p:sp>
      <p:sp>
        <p:nvSpPr>
          <p:cNvPr id="27" name="Shape 24"/>
          <p:cNvSpPr/>
          <p:nvPr/>
        </p:nvSpPr>
        <p:spPr>
          <a:xfrm>
            <a:off x="3310128" y="2322576"/>
            <a:ext cx="2715768" cy="438912"/>
          </a:xfrm>
          <a:prstGeom prst="roundRect">
            <a:avLst>
              <a:gd name="adj" fmla="val 12500"/>
            </a:avLst>
          </a:prstGeom>
          <a:solidFill>
            <a:srgbClr val="FFF4DC"/>
          </a:solidFill>
          <a:ln w="9525">
            <a:solidFill>
              <a:srgbClr val="E6C98A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28" name="Text 25"/>
          <p:cNvSpPr txBox="1"/>
          <p:nvPr/>
        </p:nvSpPr>
        <p:spPr>
          <a:xfrm>
            <a:off x="3401568" y="2322576"/>
            <a:ext cx="2532888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أَنْوِي أَنْ أَتَعَلَّمَ</a:t>
            </a:r>
            <a:endParaRPr lang="ar-SA" sz="1800" dirty="0"/>
          </a:p>
        </p:txBody>
      </p:sp>
      <p:sp>
        <p:nvSpPr>
          <p:cNvPr id="29" name="Shape 26"/>
          <p:cNvSpPr/>
          <p:nvPr/>
        </p:nvSpPr>
        <p:spPr>
          <a:xfrm>
            <a:off x="457200" y="2322576"/>
            <a:ext cx="2715768" cy="438912"/>
          </a:xfrm>
          <a:prstGeom prst="roundRect">
            <a:avLst>
              <a:gd name="adj" fmla="val 12500"/>
            </a:avLst>
          </a:prstGeom>
          <a:solidFill>
            <a:srgbClr val="FFF4DC"/>
          </a:solidFill>
          <a:ln w="9525">
            <a:solidFill>
              <a:srgbClr val="E6C98A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30" name="Text 27"/>
          <p:cNvSpPr txBox="1"/>
          <p:nvPr/>
        </p:nvSpPr>
        <p:spPr>
          <a:xfrm>
            <a:off x="548640" y="2322576"/>
            <a:ext cx="2532888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شَارَكْتُ فِي سِبَاقٍ</a:t>
            </a:r>
            <a:endParaRPr lang="ar-SA" sz="1800" dirty="0"/>
          </a:p>
        </p:txBody>
      </p:sp>
      <p:sp>
        <p:nvSpPr>
          <p:cNvPr id="31" name="Shape 28"/>
          <p:cNvSpPr/>
          <p:nvPr/>
        </p:nvSpPr>
        <p:spPr>
          <a:xfrm>
            <a:off x="6185916" y="3017520"/>
            <a:ext cx="5545836" cy="3291840"/>
          </a:xfrm>
          <a:prstGeom prst="roundRect">
            <a:avLst>
              <a:gd name="adj" fmla="val 2222"/>
            </a:avLst>
          </a:prstGeom>
          <a:solidFill>
            <a:srgbClr val="EEF3FA"/>
          </a:solidFill>
          <a:ln w="9525">
            <a:solidFill>
              <a:srgbClr val="C9D6EA"/>
            </a:solidFill>
            <a:prstDash val="solid"/>
          </a:ln>
        </p:spPr>
      </p:sp>
      <p:sp>
        <p:nvSpPr>
          <p:cNvPr id="32" name="Shape 29"/>
          <p:cNvSpPr/>
          <p:nvPr/>
        </p:nvSpPr>
        <p:spPr>
          <a:xfrm>
            <a:off x="6323076" y="3127248"/>
            <a:ext cx="5271516" cy="310896"/>
          </a:xfrm>
          <a:prstGeom prst="roundRect">
            <a:avLst>
              <a:gd name="adj" fmla="val 50000"/>
            </a:avLst>
          </a:prstGeom>
          <a:solidFill>
            <a:srgbClr val="2F6FB0"/>
          </a:solidFill>
          <a:ln w="12700">
            <a:solidFill>
              <a:srgbClr val="2F6FB0"/>
            </a:solidFill>
            <a:prstDash val="solid"/>
          </a:ln>
        </p:spPr>
      </p:sp>
      <p:sp>
        <p:nvSpPr>
          <p:cNvPr id="33" name="Text 30"/>
          <p:cNvSpPr txBox="1"/>
          <p:nvPr/>
        </p:nvSpPr>
        <p:spPr>
          <a:xfrm>
            <a:off x="6323076" y="3127248"/>
            <a:ext cx="527151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1 · Then: past and “used to”</a:t>
            </a:r>
            <a:endParaRPr lang="en-US" sz="950" dirty="0"/>
          </a:p>
        </p:txBody>
      </p:sp>
      <p:sp>
        <p:nvSpPr>
          <p:cNvPr id="34" name="Shape 31"/>
          <p:cNvSpPr/>
          <p:nvPr/>
        </p:nvSpPr>
        <p:spPr>
          <a:xfrm>
            <a:off x="457200" y="3017520"/>
            <a:ext cx="5545836" cy="3291840"/>
          </a:xfrm>
          <a:prstGeom prst="roundRect">
            <a:avLst>
              <a:gd name="adj" fmla="val 2222"/>
            </a:avLst>
          </a:prstGeom>
          <a:solidFill>
            <a:srgbClr val="EEF3FA"/>
          </a:solidFill>
          <a:ln w="9525">
            <a:solidFill>
              <a:srgbClr val="C9D6EA"/>
            </a:solidFill>
            <a:prstDash val="solid"/>
          </a:ln>
        </p:spPr>
      </p:sp>
      <p:sp>
        <p:nvSpPr>
          <p:cNvPr id="35" name="Shape 32"/>
          <p:cNvSpPr/>
          <p:nvPr/>
        </p:nvSpPr>
        <p:spPr>
          <a:xfrm>
            <a:off x="594360" y="3127248"/>
            <a:ext cx="5271516" cy="310896"/>
          </a:xfrm>
          <a:prstGeom prst="roundRect">
            <a:avLst>
              <a:gd name="adj" fmla="val 50000"/>
            </a:avLst>
          </a:prstGeom>
          <a:solidFill>
            <a:srgbClr val="2F6FB0"/>
          </a:solidFill>
          <a:ln w="12700">
            <a:solidFill>
              <a:srgbClr val="2F6FB0"/>
            </a:solidFill>
            <a:prstDash val="solid"/>
          </a:ln>
        </p:spPr>
      </p:sp>
      <p:sp>
        <p:nvSpPr>
          <p:cNvPr id="36" name="Text 33"/>
          <p:cNvSpPr txBox="1"/>
          <p:nvPr/>
        </p:nvSpPr>
        <p:spPr>
          <a:xfrm>
            <a:off x="594360" y="3127248"/>
            <a:ext cx="527151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2 · Now and next: present and future</a:t>
            </a:r>
            <a:endParaRPr lang="en-US" sz="950" dirty="0"/>
          </a:p>
        </p:txBody>
      </p:sp>
      <p:sp>
        <p:nvSpPr>
          <p:cNvPr id="37" name="Text 34"/>
          <p:cNvSpPr txBox="1"/>
          <p:nvPr/>
        </p:nvSpPr>
        <p:spPr>
          <a:xfrm>
            <a:off x="10360152" y="6455664"/>
            <a:ext cx="1371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8 / 24</a:t>
            </a:r>
            <a:endParaRPr lang="en-US" sz="85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D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37744"/>
            <a:ext cx="420624" cy="420624"/>
          </a:xfrm>
          <a:prstGeom prst="ellipse">
            <a:avLst/>
          </a:prstGeom>
          <a:solidFill>
            <a:srgbClr val="1B3B6F"/>
          </a:solidFill>
          <a:ln w="12700">
            <a:solidFill>
              <a:srgbClr val="D4AF37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457200" y="21945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D4AF37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</a:t>
            </a:r>
            <a:endParaRPr lang="ar-SA" sz="18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Al Madina Online School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57200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ARABIC DEPARTMENT · MIFTAH ARABIC · IGCSE 0544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8897112" y="274320"/>
            <a:ext cx="2834640" cy="329184"/>
          </a:xfrm>
          <a:prstGeom prst="roundRect">
            <a:avLst>
              <a:gd name="adj" fmla="val 50000"/>
            </a:avLst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897112" y="274320"/>
            <a:ext cx="2834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D5-W05 · Apply workshop</a:t>
            </a:r>
            <a:endParaRPr lang="en-US" sz="950" dirty="0"/>
          </a:p>
        </p:txBody>
      </p:sp>
      <p:sp>
        <p:nvSpPr>
          <p:cNvPr id="8" name="Shape 6"/>
          <p:cNvSpPr/>
          <p:nvPr/>
        </p:nvSpPr>
        <p:spPr>
          <a:xfrm>
            <a:off x="7143293" y="274320"/>
            <a:ext cx="1616659" cy="329184"/>
          </a:xfrm>
          <a:prstGeom prst="roundRect">
            <a:avLst>
              <a:gd name="adj" fmla="val 50000"/>
            </a:avLst>
          </a:prstGeom>
          <a:solidFill>
            <a:srgbClr val="8A6D1E"/>
          </a:solidFill>
          <a:ln w="12700">
            <a:solidFill>
              <a:srgbClr val="8A6D1E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7143293" y="274320"/>
            <a:ext cx="1616659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FEEDBACK · 1 MIN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822960"/>
            <a:ext cx="6949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3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STEP 2 · ANSWERS</a:t>
            </a:r>
            <a:endParaRPr lang="en-US" sz="1000" dirty="0"/>
          </a:p>
        </p:txBody>
      </p:sp>
      <p:sp>
        <p:nvSpPr>
          <p:cNvPr id="11" name="Text 9"/>
          <p:cNvSpPr txBox="1"/>
          <p:nvPr/>
        </p:nvSpPr>
        <p:spPr>
          <a:xfrm>
            <a:off x="457200" y="1033272"/>
            <a:ext cx="6949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Sort: answers</a:t>
            </a:r>
            <a:endParaRPr lang="en-US" sz="2800" dirty="0"/>
          </a:p>
        </p:txBody>
      </p:sp>
      <p:sp>
        <p:nvSpPr>
          <p:cNvPr id="12" name="Text 10"/>
          <p:cNvSpPr txBox="1"/>
          <p:nvPr/>
        </p:nvSpPr>
        <p:spPr>
          <a:xfrm>
            <a:off x="7498080" y="868680"/>
            <a:ext cx="4233672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2800" b="1" dirty="0">
                <a:solidFill>
                  <a:srgbClr val="8A6D1E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صَنِّفِ البِطَاقَاتِ</a:t>
            </a:r>
            <a:endParaRPr lang="ar-SA" sz="28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6455664"/>
            <a:ext cx="6400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Miftah Arabic · Development D5 · Hobbies, Sport and Leisure · D5-W05 · Apply workshop (D5-L09 + D5-L10)</a:t>
            </a:r>
            <a:endParaRPr lang="en-US" sz="850" dirty="0"/>
          </a:p>
        </p:txBody>
      </p:sp>
      <p:sp>
        <p:nvSpPr>
          <p:cNvPr id="15" name="Shape 12"/>
          <p:cNvSpPr/>
          <p:nvPr/>
        </p:nvSpPr>
        <p:spPr>
          <a:xfrm>
            <a:off x="6185916" y="1810512"/>
            <a:ext cx="5545836" cy="4498848"/>
          </a:xfrm>
          <a:prstGeom prst="roundRect">
            <a:avLst>
              <a:gd name="adj" fmla="val 1626"/>
            </a:avLst>
          </a:prstGeom>
          <a:solidFill>
            <a:srgbClr val="EEF3FA"/>
          </a:solidFill>
          <a:ln w="9525">
            <a:solidFill>
              <a:srgbClr val="C9D6EA"/>
            </a:solidFill>
            <a:prstDash val="solid"/>
          </a:ln>
        </p:spPr>
      </p:sp>
      <p:sp>
        <p:nvSpPr>
          <p:cNvPr id="16" name="Shape 13"/>
          <p:cNvSpPr/>
          <p:nvPr/>
        </p:nvSpPr>
        <p:spPr>
          <a:xfrm>
            <a:off x="6323076" y="1920240"/>
            <a:ext cx="5271516" cy="310896"/>
          </a:xfrm>
          <a:prstGeom prst="roundRect">
            <a:avLst>
              <a:gd name="adj" fmla="val 50000"/>
            </a:avLst>
          </a:prstGeom>
          <a:solidFill>
            <a:srgbClr val="2F6FB0"/>
          </a:solidFill>
          <a:ln w="12700">
            <a:solidFill>
              <a:srgbClr val="2F6FB0"/>
            </a:solidFill>
            <a:prstDash val="solid"/>
          </a:ln>
        </p:spPr>
      </p:sp>
      <p:sp>
        <p:nvSpPr>
          <p:cNvPr id="17" name="Text 14"/>
          <p:cNvSpPr txBox="1"/>
          <p:nvPr/>
        </p:nvSpPr>
        <p:spPr>
          <a:xfrm>
            <a:off x="6323076" y="1920240"/>
            <a:ext cx="527151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1 · Then: past and “used to”</a:t>
            </a:r>
            <a:endParaRPr lang="en-US" sz="950" dirty="0"/>
          </a:p>
        </p:txBody>
      </p:sp>
      <p:sp>
        <p:nvSpPr>
          <p:cNvPr id="18" name="Shape 15"/>
          <p:cNvSpPr/>
          <p:nvPr/>
        </p:nvSpPr>
        <p:spPr>
          <a:xfrm>
            <a:off x="6323076" y="2377440"/>
            <a:ext cx="5271516" cy="438912"/>
          </a:xfrm>
          <a:prstGeom prst="roundRect">
            <a:avLst>
              <a:gd name="adj" fmla="val 12500"/>
            </a:avLst>
          </a:prstGeom>
          <a:solidFill>
            <a:srgbClr val="FFF4DC"/>
          </a:solidFill>
          <a:ln w="9525">
            <a:solidFill>
              <a:srgbClr val="E6C98A"/>
            </a:solidFill>
            <a:prstDash val="solid"/>
          </a:ln>
        </p:spPr>
      </p:sp>
      <p:sp>
        <p:nvSpPr>
          <p:cNvPr id="19" name="Text 16"/>
          <p:cNvSpPr txBox="1"/>
          <p:nvPr/>
        </p:nvSpPr>
        <p:spPr>
          <a:xfrm>
            <a:off x="6414516" y="2377440"/>
            <a:ext cx="5088636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كُنْتُ أَلْعَبُ</a:t>
            </a:r>
            <a:endParaRPr lang="ar-SA" sz="1800" dirty="0"/>
          </a:p>
        </p:txBody>
      </p:sp>
      <p:sp>
        <p:nvSpPr>
          <p:cNvPr id="20" name="Shape 17"/>
          <p:cNvSpPr/>
          <p:nvPr/>
        </p:nvSpPr>
        <p:spPr>
          <a:xfrm>
            <a:off x="6323076" y="2889504"/>
            <a:ext cx="5271516" cy="438912"/>
          </a:xfrm>
          <a:prstGeom prst="roundRect">
            <a:avLst>
              <a:gd name="adj" fmla="val 12500"/>
            </a:avLst>
          </a:prstGeom>
          <a:solidFill>
            <a:srgbClr val="FFF4DC"/>
          </a:solidFill>
          <a:ln w="9525">
            <a:solidFill>
              <a:srgbClr val="E6C98A"/>
            </a:solidFill>
            <a:prstDash val="solid"/>
          </a:ln>
        </p:spPr>
      </p:sp>
      <p:sp>
        <p:nvSpPr>
          <p:cNvPr id="21" name="Text 18"/>
          <p:cNvSpPr txBox="1"/>
          <p:nvPr/>
        </p:nvSpPr>
        <p:spPr>
          <a:xfrm>
            <a:off x="6414516" y="2889504"/>
            <a:ext cx="5088636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تَدَرَّبْتُ أَمْسِ</a:t>
            </a:r>
            <a:endParaRPr lang="ar-SA" sz="1800" dirty="0"/>
          </a:p>
        </p:txBody>
      </p:sp>
      <p:sp>
        <p:nvSpPr>
          <p:cNvPr id="22" name="Shape 19"/>
          <p:cNvSpPr/>
          <p:nvPr/>
        </p:nvSpPr>
        <p:spPr>
          <a:xfrm>
            <a:off x="6323076" y="3401568"/>
            <a:ext cx="5271516" cy="438912"/>
          </a:xfrm>
          <a:prstGeom prst="roundRect">
            <a:avLst>
              <a:gd name="adj" fmla="val 12500"/>
            </a:avLst>
          </a:prstGeom>
          <a:solidFill>
            <a:srgbClr val="FFF4DC"/>
          </a:solidFill>
          <a:ln w="9525">
            <a:solidFill>
              <a:srgbClr val="E6C98A"/>
            </a:solidFill>
            <a:prstDash val="solid"/>
          </a:ln>
        </p:spPr>
      </p:sp>
      <p:sp>
        <p:nvSpPr>
          <p:cNvPr id="23" name="Text 20"/>
          <p:cNvSpPr txBox="1"/>
          <p:nvPr/>
        </p:nvSpPr>
        <p:spPr>
          <a:xfrm>
            <a:off x="6414516" y="3401568"/>
            <a:ext cx="5088636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فِي الطُّفُولَةِ</a:t>
            </a:r>
            <a:endParaRPr lang="ar-SA" sz="1800" dirty="0"/>
          </a:p>
        </p:txBody>
      </p:sp>
      <p:sp>
        <p:nvSpPr>
          <p:cNvPr id="24" name="Shape 21"/>
          <p:cNvSpPr/>
          <p:nvPr/>
        </p:nvSpPr>
        <p:spPr>
          <a:xfrm>
            <a:off x="6323076" y="3913632"/>
            <a:ext cx="5271516" cy="438912"/>
          </a:xfrm>
          <a:prstGeom prst="roundRect">
            <a:avLst>
              <a:gd name="adj" fmla="val 12500"/>
            </a:avLst>
          </a:prstGeom>
          <a:solidFill>
            <a:srgbClr val="FFF4DC"/>
          </a:solidFill>
          <a:ln w="9525">
            <a:solidFill>
              <a:srgbClr val="E6C98A"/>
            </a:solidFill>
            <a:prstDash val="solid"/>
          </a:ln>
        </p:spPr>
      </p:sp>
      <p:sp>
        <p:nvSpPr>
          <p:cNvPr id="25" name="Text 22"/>
          <p:cNvSpPr txBox="1"/>
          <p:nvPr/>
        </p:nvSpPr>
        <p:spPr>
          <a:xfrm>
            <a:off x="6414516" y="3913632"/>
            <a:ext cx="5088636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شَارَكْتُ فِي سِبَاقٍ</a:t>
            </a:r>
            <a:endParaRPr lang="ar-SA" sz="1800" dirty="0"/>
          </a:p>
        </p:txBody>
      </p:sp>
      <p:sp>
        <p:nvSpPr>
          <p:cNvPr id="26" name="Shape 23"/>
          <p:cNvSpPr/>
          <p:nvPr/>
        </p:nvSpPr>
        <p:spPr>
          <a:xfrm>
            <a:off x="457200" y="1810512"/>
            <a:ext cx="5545836" cy="4498848"/>
          </a:xfrm>
          <a:prstGeom prst="roundRect">
            <a:avLst>
              <a:gd name="adj" fmla="val 1626"/>
            </a:avLst>
          </a:prstGeom>
          <a:solidFill>
            <a:srgbClr val="EEF3FA"/>
          </a:solidFill>
          <a:ln w="9525">
            <a:solidFill>
              <a:srgbClr val="C9D6EA"/>
            </a:solidFill>
            <a:prstDash val="solid"/>
          </a:ln>
        </p:spPr>
      </p:sp>
      <p:sp>
        <p:nvSpPr>
          <p:cNvPr id="27" name="Shape 24"/>
          <p:cNvSpPr/>
          <p:nvPr/>
        </p:nvSpPr>
        <p:spPr>
          <a:xfrm>
            <a:off x="594360" y="1920240"/>
            <a:ext cx="5271516" cy="310896"/>
          </a:xfrm>
          <a:prstGeom prst="roundRect">
            <a:avLst>
              <a:gd name="adj" fmla="val 50000"/>
            </a:avLst>
          </a:prstGeom>
          <a:solidFill>
            <a:srgbClr val="2F6FB0"/>
          </a:solidFill>
          <a:ln w="12700">
            <a:solidFill>
              <a:srgbClr val="2F6FB0"/>
            </a:solidFill>
            <a:prstDash val="solid"/>
          </a:ln>
        </p:spPr>
      </p:sp>
      <p:sp>
        <p:nvSpPr>
          <p:cNvPr id="28" name="Text 25"/>
          <p:cNvSpPr txBox="1"/>
          <p:nvPr/>
        </p:nvSpPr>
        <p:spPr>
          <a:xfrm>
            <a:off x="594360" y="1920240"/>
            <a:ext cx="527151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2 · Now and next: present and future</a:t>
            </a:r>
            <a:endParaRPr lang="en-US" sz="950" dirty="0"/>
          </a:p>
        </p:txBody>
      </p:sp>
      <p:sp>
        <p:nvSpPr>
          <p:cNvPr id="29" name="Shape 26"/>
          <p:cNvSpPr/>
          <p:nvPr/>
        </p:nvSpPr>
        <p:spPr>
          <a:xfrm>
            <a:off x="594360" y="2377440"/>
            <a:ext cx="5271516" cy="438912"/>
          </a:xfrm>
          <a:prstGeom prst="roundRect">
            <a:avLst>
              <a:gd name="adj" fmla="val 12500"/>
            </a:avLst>
          </a:prstGeom>
          <a:solidFill>
            <a:srgbClr val="FFF4DC"/>
          </a:solidFill>
          <a:ln w="9525">
            <a:solidFill>
              <a:srgbClr val="E6C98A"/>
            </a:solidFill>
            <a:prstDash val="solid"/>
          </a:ln>
        </p:spPr>
      </p:sp>
      <p:sp>
        <p:nvSpPr>
          <p:cNvPr id="30" name="Text 27"/>
          <p:cNvSpPr txBox="1"/>
          <p:nvPr/>
        </p:nvSpPr>
        <p:spPr>
          <a:xfrm>
            <a:off x="685800" y="2377440"/>
            <a:ext cx="5088636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أَمَّا الآنَ فَأُمَارِسُ</a:t>
            </a:r>
            <a:endParaRPr lang="ar-SA" sz="1800" dirty="0"/>
          </a:p>
        </p:txBody>
      </p:sp>
      <p:sp>
        <p:nvSpPr>
          <p:cNvPr id="31" name="Shape 28"/>
          <p:cNvSpPr/>
          <p:nvPr/>
        </p:nvSpPr>
        <p:spPr>
          <a:xfrm>
            <a:off x="594360" y="2889504"/>
            <a:ext cx="5271516" cy="438912"/>
          </a:xfrm>
          <a:prstGeom prst="roundRect">
            <a:avLst>
              <a:gd name="adj" fmla="val 12500"/>
            </a:avLst>
          </a:prstGeom>
          <a:solidFill>
            <a:srgbClr val="FFF4DC"/>
          </a:solidFill>
          <a:ln w="9525">
            <a:solidFill>
              <a:srgbClr val="E6C98A"/>
            </a:solidFill>
            <a:prstDash val="solid"/>
          </a:ln>
        </p:spPr>
      </p:sp>
      <p:sp>
        <p:nvSpPr>
          <p:cNvPr id="32" name="Text 29"/>
          <p:cNvSpPr txBox="1"/>
          <p:nvPr/>
        </p:nvSpPr>
        <p:spPr>
          <a:xfrm>
            <a:off x="685800" y="2889504"/>
            <a:ext cx="5088636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كُلَّ يَوْمٍ</a:t>
            </a:r>
            <a:endParaRPr lang="ar-SA" sz="1800" dirty="0"/>
          </a:p>
        </p:txBody>
      </p:sp>
      <p:sp>
        <p:nvSpPr>
          <p:cNvPr id="33" name="Shape 30"/>
          <p:cNvSpPr/>
          <p:nvPr/>
        </p:nvSpPr>
        <p:spPr>
          <a:xfrm>
            <a:off x="594360" y="3401568"/>
            <a:ext cx="5271516" cy="438912"/>
          </a:xfrm>
          <a:prstGeom prst="roundRect">
            <a:avLst>
              <a:gd name="adj" fmla="val 12500"/>
            </a:avLst>
          </a:prstGeom>
          <a:solidFill>
            <a:srgbClr val="FFF4DC"/>
          </a:solidFill>
          <a:ln w="9525">
            <a:solidFill>
              <a:srgbClr val="E6C98A"/>
            </a:solidFill>
            <a:prstDash val="solid"/>
          </a:ln>
        </p:spPr>
      </p:sp>
      <p:sp>
        <p:nvSpPr>
          <p:cNvPr id="34" name="Text 31"/>
          <p:cNvSpPr txBox="1"/>
          <p:nvPr/>
        </p:nvSpPr>
        <p:spPr>
          <a:xfrm>
            <a:off x="685800" y="3401568"/>
            <a:ext cx="5088636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سَأَشْتَرِكُ فِي نَادٍ</a:t>
            </a:r>
            <a:endParaRPr lang="ar-SA" sz="1800" dirty="0"/>
          </a:p>
        </p:txBody>
      </p:sp>
      <p:sp>
        <p:nvSpPr>
          <p:cNvPr id="35" name="Shape 32"/>
          <p:cNvSpPr/>
          <p:nvPr/>
        </p:nvSpPr>
        <p:spPr>
          <a:xfrm>
            <a:off x="594360" y="3913632"/>
            <a:ext cx="5271516" cy="438912"/>
          </a:xfrm>
          <a:prstGeom prst="roundRect">
            <a:avLst>
              <a:gd name="adj" fmla="val 12500"/>
            </a:avLst>
          </a:prstGeom>
          <a:solidFill>
            <a:srgbClr val="FFF4DC"/>
          </a:solidFill>
          <a:ln w="9525">
            <a:solidFill>
              <a:srgbClr val="E6C98A"/>
            </a:solidFill>
            <a:prstDash val="solid"/>
          </a:ln>
        </p:spPr>
      </p:sp>
      <p:sp>
        <p:nvSpPr>
          <p:cNvPr id="36" name="Text 33"/>
          <p:cNvSpPr txBox="1"/>
          <p:nvPr/>
        </p:nvSpPr>
        <p:spPr>
          <a:xfrm>
            <a:off x="685800" y="3913632"/>
            <a:ext cx="5088636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أَنْوِي أَنْ أَتَعَلَّمَ</a:t>
            </a:r>
            <a:endParaRPr lang="ar-SA" sz="1800" dirty="0"/>
          </a:p>
        </p:txBody>
      </p:sp>
      <p:sp>
        <p:nvSpPr>
          <p:cNvPr id="37" name="Text 34"/>
          <p:cNvSpPr txBox="1"/>
          <p:nvPr/>
        </p:nvSpPr>
        <p:spPr>
          <a:xfrm>
            <a:off x="10360152" y="6455664"/>
            <a:ext cx="1371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9 / 24</a:t>
            </a:r>
            <a:endParaRPr lang="en-US" sz="85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D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37744"/>
            <a:ext cx="420624" cy="420624"/>
          </a:xfrm>
          <a:prstGeom prst="ellipse">
            <a:avLst/>
          </a:prstGeom>
          <a:solidFill>
            <a:srgbClr val="1B3B6F"/>
          </a:solidFill>
          <a:ln w="12700">
            <a:solidFill>
              <a:srgbClr val="D4AF37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457200" y="21945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D4AF37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</a:t>
            </a:r>
            <a:endParaRPr lang="ar-SA" sz="18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Al Madina Online School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57200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ARABIC DEPARTMENT · MIFTAH ARABIC · IGCSE 0544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8897112" y="274320"/>
            <a:ext cx="2834640" cy="329184"/>
          </a:xfrm>
          <a:prstGeom prst="roundRect">
            <a:avLst>
              <a:gd name="adj" fmla="val 50000"/>
            </a:avLst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897112" y="274320"/>
            <a:ext cx="2834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D5-W05 · Apply workshop</a:t>
            </a:r>
            <a:endParaRPr lang="en-US" sz="950" dirty="0"/>
          </a:p>
        </p:txBody>
      </p:sp>
      <p:sp>
        <p:nvSpPr>
          <p:cNvPr id="8" name="Shape 6"/>
          <p:cNvSpPr/>
          <p:nvPr/>
        </p:nvSpPr>
        <p:spPr>
          <a:xfrm>
            <a:off x="7370978" y="274320"/>
            <a:ext cx="1388974" cy="329184"/>
          </a:xfrm>
          <a:prstGeom prst="roundRect">
            <a:avLst>
              <a:gd name="adj" fmla="val 50000"/>
            </a:avLst>
          </a:prstGeom>
          <a:solidFill>
            <a:srgbClr val="2F6FB0"/>
          </a:solidFill>
          <a:ln w="12700">
            <a:solidFill>
              <a:srgbClr val="2F6FB0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7370978" y="274320"/>
            <a:ext cx="138897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WE DO · 5 MIN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822960"/>
            <a:ext cx="6949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34" b="1" spc="150" kern="0" dirty="0">
                <a:solidFill>
                  <a:srgbClr val="2F6FB0"/>
                </a:solidFill>
                <a:latin typeface="Calibri" pitchFamily="34" charset="0"/>
                <a:cs typeface="Amiri" pitchFamily="2" charset="-78"/>
              </a:rPr>
              <a:t>PART 2 · STEP 3 · SAY THE MODEL DIALOGUE · BOTH LESSONS IN ONE CONVERSATION</a:t>
            </a:r>
            <a:endParaRPr lang="en-US" sz="934" dirty="0"/>
          </a:p>
        </p:txBody>
      </p:sp>
      <p:sp>
        <p:nvSpPr>
          <p:cNvPr id="11" name="Text 9"/>
          <p:cNvSpPr txBox="1"/>
          <p:nvPr/>
        </p:nvSpPr>
        <p:spPr>
          <a:xfrm>
            <a:off x="457200" y="1033272"/>
            <a:ext cx="6949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A podcast interview</a:t>
            </a:r>
            <a:endParaRPr lang="en-US" sz="2800" dirty="0"/>
          </a:p>
        </p:txBody>
      </p:sp>
      <p:sp>
        <p:nvSpPr>
          <p:cNvPr id="12" name="Text 10"/>
          <p:cNvSpPr txBox="1"/>
          <p:nvPr/>
        </p:nvSpPr>
        <p:spPr>
          <a:xfrm>
            <a:off x="7498080" y="868680"/>
            <a:ext cx="4233672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2800" b="1" dirty="0">
                <a:solidFill>
                  <a:srgbClr val="8A6D1E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مُقَابَلَةٌ فِي البُودْكَاسْتِ</a:t>
            </a:r>
            <a:endParaRPr lang="ar-SA" sz="28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6455664"/>
            <a:ext cx="6400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Miftah Arabic · Development D5 · Hobbies, Sport and Leisure · D5-W05 · Apply workshop (D5-L09 + D5-L10)</a:t>
            </a:r>
            <a:endParaRPr lang="en-US" sz="850" dirty="0"/>
          </a:p>
        </p:txBody>
      </p:sp>
      <p:sp>
        <p:nvSpPr>
          <p:cNvPr id="15" name="Shape 12"/>
          <p:cNvSpPr/>
          <p:nvPr/>
        </p:nvSpPr>
        <p:spPr>
          <a:xfrm>
            <a:off x="457200" y="1810512"/>
            <a:ext cx="11274552" cy="384048"/>
          </a:xfrm>
          <a:prstGeom prst="rect">
            <a:avLst/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7754112" y="1810512"/>
            <a:ext cx="390448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Meaning</a:t>
            </a:r>
            <a:endParaRPr lang="en-US" sz="1100" dirty="0"/>
          </a:p>
        </p:txBody>
      </p:sp>
      <p:sp>
        <p:nvSpPr>
          <p:cNvPr id="17" name="Text 14"/>
          <p:cNvSpPr txBox="1"/>
          <p:nvPr/>
        </p:nvSpPr>
        <p:spPr>
          <a:xfrm>
            <a:off x="1444752" y="1810512"/>
            <a:ext cx="616305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Say it in Arabic</a:t>
            </a:r>
            <a:endParaRPr lang="en-US" sz="1100" dirty="0"/>
          </a:p>
        </p:txBody>
      </p:sp>
      <p:sp>
        <p:nvSpPr>
          <p:cNvPr id="18" name="Text 15"/>
          <p:cNvSpPr txBox="1"/>
          <p:nvPr/>
        </p:nvSpPr>
        <p:spPr>
          <a:xfrm>
            <a:off x="530352" y="1810512"/>
            <a:ext cx="76809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Who</a:t>
            </a:r>
            <a:endParaRPr lang="en-US" sz="1100" dirty="0"/>
          </a:p>
        </p:txBody>
      </p:sp>
      <p:sp>
        <p:nvSpPr>
          <p:cNvPr id="19" name="Shape 16"/>
          <p:cNvSpPr/>
          <p:nvPr/>
        </p:nvSpPr>
        <p:spPr>
          <a:xfrm>
            <a:off x="457200" y="2267712"/>
            <a:ext cx="11274552" cy="559308"/>
          </a:xfrm>
          <a:prstGeom prst="roundRect">
            <a:avLst>
              <a:gd name="adj" fmla="val 8174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20" name="Text 17"/>
          <p:cNvSpPr txBox="1"/>
          <p:nvPr/>
        </p:nvSpPr>
        <p:spPr>
          <a:xfrm>
            <a:off x="7790688" y="2267712"/>
            <a:ext cx="3867912" cy="5593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What did you use to do as a child?</a:t>
            </a:r>
            <a:endParaRPr lang="en-US" sz="1100" dirty="0"/>
          </a:p>
        </p:txBody>
      </p:sp>
      <p:sp>
        <p:nvSpPr>
          <p:cNvPr id="21" name="Text 18"/>
          <p:cNvSpPr txBox="1"/>
          <p:nvPr/>
        </p:nvSpPr>
        <p:spPr>
          <a:xfrm>
            <a:off x="1463040" y="2267712"/>
            <a:ext cx="6126480" cy="5593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9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مَاذَا كُنْتَ تَفْعَلُ فِي الطُّفُولَةِ؟</a:t>
            </a:r>
            <a:endParaRPr lang="ar-SA" sz="1900" dirty="0"/>
          </a:p>
        </p:txBody>
      </p:sp>
      <p:sp>
        <p:nvSpPr>
          <p:cNvPr id="22" name="Text 19"/>
          <p:cNvSpPr txBox="1"/>
          <p:nvPr/>
        </p:nvSpPr>
        <p:spPr>
          <a:xfrm>
            <a:off x="566928" y="2267712"/>
            <a:ext cx="731520" cy="5593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A</a:t>
            </a:r>
            <a:endParaRPr lang="en-US" sz="1100" dirty="0"/>
          </a:p>
        </p:txBody>
      </p:sp>
      <p:sp>
        <p:nvSpPr>
          <p:cNvPr id="23" name="Shape 20"/>
          <p:cNvSpPr/>
          <p:nvPr/>
        </p:nvSpPr>
        <p:spPr>
          <a:xfrm>
            <a:off x="457200" y="2881884"/>
            <a:ext cx="11274552" cy="559308"/>
          </a:xfrm>
          <a:prstGeom prst="roundRect">
            <a:avLst>
              <a:gd name="adj" fmla="val 8174"/>
            </a:avLst>
          </a:prstGeom>
          <a:solidFill>
            <a:srgbClr val="F4F1EA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24" name="Text 21"/>
          <p:cNvSpPr txBox="1"/>
          <p:nvPr/>
        </p:nvSpPr>
        <p:spPr>
          <a:xfrm>
            <a:off x="7790688" y="2881884"/>
            <a:ext cx="3867912" cy="5593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I used to play tennis every Saturday with my father.</a:t>
            </a:r>
            <a:endParaRPr lang="en-US" sz="1100" dirty="0"/>
          </a:p>
        </p:txBody>
      </p:sp>
      <p:sp>
        <p:nvSpPr>
          <p:cNvPr id="25" name="Text 22"/>
          <p:cNvSpPr txBox="1"/>
          <p:nvPr/>
        </p:nvSpPr>
        <p:spPr>
          <a:xfrm>
            <a:off x="1463040" y="2881884"/>
            <a:ext cx="6126480" cy="5593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9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كُنْتُ أَلْعَبُ التِّنِسَ كُلَّ سَبْتٍ مَعَ أَبِي.</a:t>
            </a:r>
            <a:endParaRPr lang="ar-SA" sz="1900" dirty="0"/>
          </a:p>
        </p:txBody>
      </p:sp>
      <p:sp>
        <p:nvSpPr>
          <p:cNvPr id="26" name="Text 23"/>
          <p:cNvSpPr txBox="1"/>
          <p:nvPr/>
        </p:nvSpPr>
        <p:spPr>
          <a:xfrm>
            <a:off x="566928" y="2881884"/>
            <a:ext cx="731520" cy="5593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B</a:t>
            </a:r>
            <a:endParaRPr lang="en-US" sz="1100" dirty="0"/>
          </a:p>
        </p:txBody>
      </p:sp>
      <p:sp>
        <p:nvSpPr>
          <p:cNvPr id="27" name="Shape 24"/>
          <p:cNvSpPr/>
          <p:nvPr/>
        </p:nvSpPr>
        <p:spPr>
          <a:xfrm>
            <a:off x="457200" y="3496056"/>
            <a:ext cx="11274552" cy="559308"/>
          </a:xfrm>
          <a:prstGeom prst="roundRect">
            <a:avLst>
              <a:gd name="adj" fmla="val 8174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28" name="Text 25"/>
          <p:cNvSpPr txBox="1"/>
          <p:nvPr/>
        </p:nvSpPr>
        <p:spPr>
          <a:xfrm>
            <a:off x="7790688" y="3496056"/>
            <a:ext cx="3867912" cy="5593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And now?</a:t>
            </a:r>
            <a:endParaRPr lang="en-US" sz="1100" dirty="0"/>
          </a:p>
        </p:txBody>
      </p:sp>
      <p:sp>
        <p:nvSpPr>
          <p:cNvPr id="29" name="Text 26"/>
          <p:cNvSpPr txBox="1"/>
          <p:nvPr/>
        </p:nvSpPr>
        <p:spPr>
          <a:xfrm>
            <a:off x="1463040" y="3496056"/>
            <a:ext cx="6126480" cy="5593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9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وَالآنَ؟</a:t>
            </a:r>
            <a:endParaRPr lang="ar-SA" sz="1900" dirty="0"/>
          </a:p>
        </p:txBody>
      </p:sp>
      <p:sp>
        <p:nvSpPr>
          <p:cNvPr id="30" name="Text 27"/>
          <p:cNvSpPr txBox="1"/>
          <p:nvPr/>
        </p:nvSpPr>
        <p:spPr>
          <a:xfrm>
            <a:off x="566928" y="3496056"/>
            <a:ext cx="731520" cy="5593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A</a:t>
            </a:r>
            <a:endParaRPr lang="en-US" sz="1100" dirty="0"/>
          </a:p>
        </p:txBody>
      </p:sp>
      <p:sp>
        <p:nvSpPr>
          <p:cNvPr id="31" name="Shape 28"/>
          <p:cNvSpPr/>
          <p:nvPr/>
        </p:nvSpPr>
        <p:spPr>
          <a:xfrm>
            <a:off x="457200" y="4110228"/>
            <a:ext cx="11274552" cy="559308"/>
          </a:xfrm>
          <a:prstGeom prst="roundRect">
            <a:avLst>
              <a:gd name="adj" fmla="val 8174"/>
            </a:avLst>
          </a:prstGeom>
          <a:solidFill>
            <a:srgbClr val="F4F1EA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32" name="Text 29"/>
          <p:cNvSpPr txBox="1"/>
          <p:nvPr/>
        </p:nvSpPr>
        <p:spPr>
          <a:xfrm>
            <a:off x="7790688" y="4110228"/>
            <a:ext cx="3867912" cy="5593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But now I swim three times a week; yesterday I trained for two hours.</a:t>
            </a:r>
            <a:endParaRPr lang="en-US" sz="1100" dirty="0"/>
          </a:p>
        </p:txBody>
      </p:sp>
      <p:sp>
        <p:nvSpPr>
          <p:cNvPr id="33" name="Text 30"/>
          <p:cNvSpPr txBox="1"/>
          <p:nvPr/>
        </p:nvSpPr>
        <p:spPr>
          <a:xfrm>
            <a:off x="1463040" y="4110228"/>
            <a:ext cx="6126480" cy="5593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9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أَمَّا الآنَ فَأُمَارِسُ السِّبَاحَةَ ثَلَاثَ مَرَّاتٍ فِي الأُسْبُوعِ؛ أَمْسِ تَدَرَّبْتُ سَاعَتَيْنِ.</a:t>
            </a:r>
            <a:endParaRPr lang="ar-SA" sz="1900" dirty="0"/>
          </a:p>
        </p:txBody>
      </p:sp>
      <p:sp>
        <p:nvSpPr>
          <p:cNvPr id="34" name="Text 31"/>
          <p:cNvSpPr txBox="1"/>
          <p:nvPr/>
        </p:nvSpPr>
        <p:spPr>
          <a:xfrm>
            <a:off x="566928" y="4110228"/>
            <a:ext cx="731520" cy="5593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B</a:t>
            </a:r>
            <a:endParaRPr lang="en-US" sz="1100" dirty="0"/>
          </a:p>
        </p:txBody>
      </p:sp>
      <p:sp>
        <p:nvSpPr>
          <p:cNvPr id="35" name="Shape 32"/>
          <p:cNvSpPr/>
          <p:nvPr/>
        </p:nvSpPr>
        <p:spPr>
          <a:xfrm>
            <a:off x="457200" y="4724400"/>
            <a:ext cx="11274552" cy="559308"/>
          </a:xfrm>
          <a:prstGeom prst="roundRect">
            <a:avLst>
              <a:gd name="adj" fmla="val 8174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36" name="Text 33"/>
          <p:cNvSpPr txBox="1"/>
          <p:nvPr/>
        </p:nvSpPr>
        <p:spPr>
          <a:xfrm>
            <a:off x="7790688" y="4724400"/>
            <a:ext cx="3867912" cy="5593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And what are your plans?</a:t>
            </a:r>
            <a:endParaRPr lang="en-US" sz="1100" dirty="0"/>
          </a:p>
        </p:txBody>
      </p:sp>
      <p:sp>
        <p:nvSpPr>
          <p:cNvPr id="37" name="Text 34"/>
          <p:cNvSpPr txBox="1"/>
          <p:nvPr/>
        </p:nvSpPr>
        <p:spPr>
          <a:xfrm>
            <a:off x="1463040" y="4724400"/>
            <a:ext cx="6126480" cy="5593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9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وَمَا خُطَطُكَ؟</a:t>
            </a:r>
            <a:endParaRPr lang="ar-SA" sz="1900" dirty="0"/>
          </a:p>
        </p:txBody>
      </p:sp>
      <p:sp>
        <p:nvSpPr>
          <p:cNvPr id="38" name="Text 35"/>
          <p:cNvSpPr txBox="1"/>
          <p:nvPr/>
        </p:nvSpPr>
        <p:spPr>
          <a:xfrm>
            <a:off x="566928" y="4724400"/>
            <a:ext cx="731520" cy="5593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A</a:t>
            </a:r>
            <a:endParaRPr lang="en-US" sz="1100" dirty="0"/>
          </a:p>
        </p:txBody>
      </p:sp>
      <p:sp>
        <p:nvSpPr>
          <p:cNvPr id="39" name="Shape 36"/>
          <p:cNvSpPr/>
          <p:nvPr/>
        </p:nvSpPr>
        <p:spPr>
          <a:xfrm>
            <a:off x="457200" y="5338572"/>
            <a:ext cx="11274552" cy="559308"/>
          </a:xfrm>
          <a:prstGeom prst="roundRect">
            <a:avLst>
              <a:gd name="adj" fmla="val 8174"/>
            </a:avLst>
          </a:prstGeom>
          <a:solidFill>
            <a:srgbClr val="F4F1EA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40" name="Text 37"/>
          <p:cNvSpPr txBox="1"/>
          <p:nvPr/>
        </p:nvSpPr>
        <p:spPr>
          <a:xfrm>
            <a:off x="7790688" y="5338572"/>
            <a:ext cx="3867912" cy="5593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I will take part in a race next month, and I believe that sport teaches us patience.</a:t>
            </a:r>
            <a:endParaRPr lang="en-US" sz="1100" dirty="0"/>
          </a:p>
        </p:txBody>
      </p:sp>
      <p:sp>
        <p:nvSpPr>
          <p:cNvPr id="41" name="Text 38"/>
          <p:cNvSpPr txBox="1"/>
          <p:nvPr/>
        </p:nvSpPr>
        <p:spPr>
          <a:xfrm>
            <a:off x="1463040" y="5338572"/>
            <a:ext cx="6126480" cy="5593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9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سَأُشَارِكُ فِي سِبَاقٍ الشَّهْرَ القَادِمَ، وَأَعْتَقِدُ أَنَّ الرِّيَاضَةَ تُعَلِّمُنَا الصَّبْرَ.</a:t>
            </a:r>
            <a:endParaRPr lang="ar-SA" sz="1900" dirty="0"/>
          </a:p>
        </p:txBody>
      </p:sp>
      <p:sp>
        <p:nvSpPr>
          <p:cNvPr id="42" name="Text 39"/>
          <p:cNvSpPr txBox="1"/>
          <p:nvPr/>
        </p:nvSpPr>
        <p:spPr>
          <a:xfrm>
            <a:off x="566928" y="5338572"/>
            <a:ext cx="731520" cy="5593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B</a:t>
            </a:r>
            <a:endParaRPr lang="en-US" sz="1100" dirty="0"/>
          </a:p>
        </p:txBody>
      </p:sp>
      <p:sp>
        <p:nvSpPr>
          <p:cNvPr id="43" name="Text 40"/>
          <p:cNvSpPr txBox="1"/>
          <p:nvPr/>
        </p:nvSpPr>
        <p:spPr>
          <a:xfrm>
            <a:off x="457200" y="5943600"/>
            <a:ext cx="1127455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Round 1: read it in pairs (A and B). Round 2: swap letters. Round 3: cover the Arabic and say it from the English. Then change TWO details — one from each lesson — and say it again.</a:t>
            </a:r>
            <a:endParaRPr lang="en-US" sz="1100" dirty="0"/>
          </a:p>
        </p:txBody>
      </p:sp>
      <p:sp>
        <p:nvSpPr>
          <p:cNvPr id="44" name="Text 41"/>
          <p:cNvSpPr txBox="1"/>
          <p:nvPr/>
        </p:nvSpPr>
        <p:spPr>
          <a:xfrm>
            <a:off x="10360152" y="6455664"/>
            <a:ext cx="1371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10 / 24</a:t>
            </a:r>
            <a:endParaRPr lang="en-US" sz="85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D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37744"/>
            <a:ext cx="420624" cy="420624"/>
          </a:xfrm>
          <a:prstGeom prst="ellipse">
            <a:avLst/>
          </a:prstGeom>
          <a:solidFill>
            <a:srgbClr val="1B3B6F"/>
          </a:solidFill>
          <a:ln w="12700">
            <a:solidFill>
              <a:srgbClr val="D4AF37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457200" y="21945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D4AF37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</a:t>
            </a:r>
            <a:endParaRPr lang="ar-SA" sz="18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Al Madina Online School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57200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ARABIC DEPARTMENT · MIFTAH ARABIC · IGCSE 0544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8897112" y="274320"/>
            <a:ext cx="2834640" cy="329184"/>
          </a:xfrm>
          <a:prstGeom prst="roundRect">
            <a:avLst>
              <a:gd name="adj" fmla="val 50000"/>
            </a:avLst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897112" y="274320"/>
            <a:ext cx="2834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D5-W05 · Apply workshop</a:t>
            </a:r>
            <a:endParaRPr lang="en-US" sz="950" dirty="0"/>
          </a:p>
        </p:txBody>
      </p:sp>
      <p:sp>
        <p:nvSpPr>
          <p:cNvPr id="8" name="Shape 6"/>
          <p:cNvSpPr/>
          <p:nvPr/>
        </p:nvSpPr>
        <p:spPr>
          <a:xfrm>
            <a:off x="7295083" y="274320"/>
            <a:ext cx="1464869" cy="329184"/>
          </a:xfrm>
          <a:prstGeom prst="roundRect">
            <a:avLst>
              <a:gd name="adj" fmla="val 50000"/>
            </a:avLst>
          </a:prstGeom>
          <a:solidFill>
            <a:srgbClr val="1E6B52"/>
          </a:solidFill>
          <a:ln w="12700">
            <a:solidFill>
              <a:srgbClr val="1E6B52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7295083" y="274320"/>
            <a:ext cx="1464869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YOU DO · 6 MIN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822960"/>
            <a:ext cx="6949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150" kern="0" dirty="0">
                <a:solidFill>
                  <a:srgbClr val="1E6B52"/>
                </a:solidFill>
                <a:latin typeface="Calibri" pitchFamily="34" charset="0"/>
                <a:cs typeface="Amiri" pitchFamily="2" charset="-78"/>
              </a:rPr>
              <a:t>STEP 4 · QUESTION CARDS · QUESTIONS FROM BOTH LESSONS, MIXED</a:t>
            </a:r>
            <a:endParaRPr lang="en-US" sz="1000" dirty="0"/>
          </a:p>
        </p:txBody>
      </p:sp>
      <p:sp>
        <p:nvSpPr>
          <p:cNvPr id="11" name="Text 9"/>
          <p:cNvSpPr txBox="1"/>
          <p:nvPr/>
        </p:nvSpPr>
        <p:spPr>
          <a:xfrm>
            <a:off x="457200" y="1033272"/>
            <a:ext cx="6949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3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Mixed questions — answer, then add more</a:t>
            </a:r>
            <a:endParaRPr lang="en-US" sz="2300" dirty="0"/>
          </a:p>
        </p:txBody>
      </p:sp>
      <p:sp>
        <p:nvSpPr>
          <p:cNvPr id="12" name="Text 10"/>
          <p:cNvSpPr txBox="1"/>
          <p:nvPr/>
        </p:nvSpPr>
        <p:spPr>
          <a:xfrm>
            <a:off x="7498080" y="868680"/>
            <a:ext cx="4233672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2800" b="1" dirty="0">
                <a:solidFill>
                  <a:srgbClr val="8A6D1E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أَسْئِلَةٌ مِنَ الدَّرْسَيْنِ</a:t>
            </a:r>
            <a:endParaRPr lang="ar-SA" sz="28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6455664"/>
            <a:ext cx="6400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Miftah Arabic · Development D5 · Hobbies, Sport and Leisure · D5-W05 · Apply workshop (D5-L09 + D5-L10)</a:t>
            </a:r>
            <a:endParaRPr lang="en-US" sz="850" dirty="0"/>
          </a:p>
        </p:txBody>
      </p:sp>
      <p:sp>
        <p:nvSpPr>
          <p:cNvPr id="15" name="Shape 12"/>
          <p:cNvSpPr/>
          <p:nvPr/>
        </p:nvSpPr>
        <p:spPr>
          <a:xfrm>
            <a:off x="457200" y="1810512"/>
            <a:ext cx="11274552" cy="384048"/>
          </a:xfrm>
          <a:prstGeom prst="rect">
            <a:avLst/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9720072" y="1810512"/>
            <a:ext cx="193852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Add more (Develop · Stretch)</a:t>
            </a:r>
            <a:endParaRPr lang="en-US" sz="1100" dirty="0"/>
          </a:p>
        </p:txBody>
      </p:sp>
      <p:sp>
        <p:nvSpPr>
          <p:cNvPr id="17" name="Text 14"/>
          <p:cNvSpPr txBox="1"/>
          <p:nvPr/>
        </p:nvSpPr>
        <p:spPr>
          <a:xfrm>
            <a:off x="6976872" y="1810512"/>
            <a:ext cx="259689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Start your answer (Core)</a:t>
            </a:r>
            <a:endParaRPr lang="en-US" sz="1100" dirty="0"/>
          </a:p>
        </p:txBody>
      </p:sp>
      <p:sp>
        <p:nvSpPr>
          <p:cNvPr id="18" name="Text 15"/>
          <p:cNvSpPr txBox="1"/>
          <p:nvPr/>
        </p:nvSpPr>
        <p:spPr>
          <a:xfrm>
            <a:off x="4599432" y="1810512"/>
            <a:ext cx="223113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Meaning</a:t>
            </a:r>
            <a:endParaRPr lang="en-US" sz="1100" dirty="0"/>
          </a:p>
        </p:txBody>
      </p:sp>
      <p:sp>
        <p:nvSpPr>
          <p:cNvPr id="19" name="Text 16"/>
          <p:cNvSpPr txBox="1"/>
          <p:nvPr/>
        </p:nvSpPr>
        <p:spPr>
          <a:xfrm>
            <a:off x="1033272" y="1810512"/>
            <a:ext cx="341985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Partner A asks</a:t>
            </a:r>
            <a:endParaRPr lang="en-US" sz="1100" dirty="0"/>
          </a:p>
        </p:txBody>
      </p:sp>
      <p:sp>
        <p:nvSpPr>
          <p:cNvPr id="20" name="Text 17"/>
          <p:cNvSpPr txBox="1"/>
          <p:nvPr/>
        </p:nvSpPr>
        <p:spPr>
          <a:xfrm>
            <a:off x="530352" y="1810512"/>
            <a:ext cx="35661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#</a:t>
            </a:r>
            <a:endParaRPr lang="en-US" sz="1100" dirty="0"/>
          </a:p>
        </p:txBody>
      </p:sp>
      <p:sp>
        <p:nvSpPr>
          <p:cNvPr id="21" name="Shape 18"/>
          <p:cNvSpPr/>
          <p:nvPr/>
        </p:nvSpPr>
        <p:spPr>
          <a:xfrm>
            <a:off x="457200" y="2267712"/>
            <a:ext cx="11274552" cy="559308"/>
          </a:xfrm>
          <a:prstGeom prst="roundRect">
            <a:avLst>
              <a:gd name="adj" fmla="val 8174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22" name="Text 19"/>
          <p:cNvSpPr txBox="1"/>
          <p:nvPr/>
        </p:nvSpPr>
        <p:spPr>
          <a:xfrm>
            <a:off x="9738360" y="2267712"/>
            <a:ext cx="1901952" cy="5593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… وَمَرَّةً …</a:t>
            </a:r>
            <a:endParaRPr lang="ar-SA" sz="1500" dirty="0"/>
          </a:p>
        </p:txBody>
      </p:sp>
      <p:sp>
        <p:nvSpPr>
          <p:cNvPr id="23" name="Text 20"/>
          <p:cNvSpPr txBox="1"/>
          <p:nvPr/>
        </p:nvSpPr>
        <p:spPr>
          <a:xfrm>
            <a:off x="6995160" y="2267712"/>
            <a:ext cx="2560320" cy="5593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6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فِي الطُّفُولَةِ كُنْتُ أَلْعَبُ …</a:t>
            </a:r>
            <a:endParaRPr lang="ar-SA" sz="1600" dirty="0"/>
          </a:p>
        </p:txBody>
      </p:sp>
      <p:sp>
        <p:nvSpPr>
          <p:cNvPr id="24" name="Text 21"/>
          <p:cNvSpPr txBox="1"/>
          <p:nvPr/>
        </p:nvSpPr>
        <p:spPr>
          <a:xfrm>
            <a:off x="4636008" y="2267712"/>
            <a:ext cx="2194560" cy="5593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¶1 What did you use to do as a child?</a:t>
            </a:r>
            <a:endParaRPr lang="en-US" sz="1100" dirty="0"/>
          </a:p>
        </p:txBody>
      </p:sp>
      <p:sp>
        <p:nvSpPr>
          <p:cNvPr id="25" name="Text 22"/>
          <p:cNvSpPr txBox="1"/>
          <p:nvPr/>
        </p:nvSpPr>
        <p:spPr>
          <a:xfrm>
            <a:off x="1051560" y="2267712"/>
            <a:ext cx="3383280" cy="5593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¶١ مَاذَا كُنْتَ تَفْعَلُ فِي الطُّفُولَةِ؟</a:t>
            </a:r>
            <a:endParaRPr lang="ar-SA" sz="1700" dirty="0"/>
          </a:p>
        </p:txBody>
      </p:sp>
      <p:sp>
        <p:nvSpPr>
          <p:cNvPr id="26" name="Text 23"/>
          <p:cNvSpPr txBox="1"/>
          <p:nvPr/>
        </p:nvSpPr>
        <p:spPr>
          <a:xfrm>
            <a:off x="566928" y="2267712"/>
            <a:ext cx="320040" cy="5593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1</a:t>
            </a:r>
            <a:endParaRPr lang="en-US" sz="1100" dirty="0"/>
          </a:p>
        </p:txBody>
      </p:sp>
      <p:sp>
        <p:nvSpPr>
          <p:cNvPr id="27" name="Shape 24"/>
          <p:cNvSpPr/>
          <p:nvPr/>
        </p:nvSpPr>
        <p:spPr>
          <a:xfrm>
            <a:off x="11091672" y="2313432"/>
            <a:ext cx="548640" cy="182880"/>
          </a:xfrm>
          <a:prstGeom prst="roundRect">
            <a:avLst>
              <a:gd name="adj" fmla="val 50000"/>
            </a:avLst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28" name="Text 25"/>
          <p:cNvSpPr txBox="1"/>
          <p:nvPr/>
        </p:nvSpPr>
        <p:spPr>
          <a:xfrm>
            <a:off x="11091672" y="2313432"/>
            <a:ext cx="5486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CORE</a:t>
            </a:r>
            <a:endParaRPr lang="en-US" sz="650" dirty="0"/>
          </a:p>
        </p:txBody>
      </p:sp>
      <p:sp>
        <p:nvSpPr>
          <p:cNvPr id="29" name="Shape 26"/>
          <p:cNvSpPr/>
          <p:nvPr/>
        </p:nvSpPr>
        <p:spPr>
          <a:xfrm>
            <a:off x="457200" y="2881884"/>
            <a:ext cx="11274552" cy="559308"/>
          </a:xfrm>
          <a:prstGeom prst="roundRect">
            <a:avLst>
              <a:gd name="adj" fmla="val 8174"/>
            </a:avLst>
          </a:prstGeom>
          <a:solidFill>
            <a:srgbClr val="F4F1EA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30" name="Text 27"/>
          <p:cNvSpPr txBox="1"/>
          <p:nvPr/>
        </p:nvSpPr>
        <p:spPr>
          <a:xfrm>
            <a:off x="9738360" y="2881884"/>
            <a:ext cx="1901952" cy="5593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الدَّلِيلُ: «سَأُشَارِكُ»</a:t>
            </a:r>
            <a:endParaRPr lang="ar-SA" sz="1500" dirty="0"/>
          </a:p>
        </p:txBody>
      </p:sp>
      <p:sp>
        <p:nvSpPr>
          <p:cNvPr id="31" name="Text 28"/>
          <p:cNvSpPr txBox="1"/>
          <p:nvPr/>
        </p:nvSpPr>
        <p:spPr>
          <a:xfrm>
            <a:off x="6995160" y="2881884"/>
            <a:ext cx="2560320" cy="5593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6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الشَّهْرَ القَادِمَ …</a:t>
            </a:r>
            <a:endParaRPr lang="ar-SA" sz="1600" dirty="0"/>
          </a:p>
        </p:txBody>
      </p:sp>
      <p:sp>
        <p:nvSpPr>
          <p:cNvPr id="32" name="Text 29"/>
          <p:cNvSpPr txBox="1"/>
          <p:nvPr/>
        </p:nvSpPr>
        <p:spPr>
          <a:xfrm>
            <a:off x="4636008" y="2881884"/>
            <a:ext cx="2194560" cy="5593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“I took part in a race, and I’ll take part in another next month.” — When is the second race?</a:t>
            </a:r>
            <a:endParaRPr lang="en-US" sz="1050" dirty="0"/>
          </a:p>
        </p:txBody>
      </p:sp>
      <p:sp>
        <p:nvSpPr>
          <p:cNvPr id="33" name="Text 30"/>
          <p:cNvSpPr txBox="1"/>
          <p:nvPr/>
        </p:nvSpPr>
        <p:spPr>
          <a:xfrm>
            <a:off x="1051560" y="2881884"/>
            <a:ext cx="3383280" cy="5593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lnSpc>
                <a:spcPct val="120000"/>
              </a:lnSpc>
              <a:buNone/>
            </a:pPr>
            <a:r>
              <a:rPr lang="ar-SA" altLang="en-US" sz="12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شَارَكْتُ فِي سِبَاقٍ، وَسَأُشَارِكُ فِي سِبَاقٍ آخَرَ الشَّهْرَ القَادِمَ. — مَتَى السِّبَاقُ الثَّانِي؟</a:t>
            </a:r>
            <a:endParaRPr lang="ar-SA" sz="1200" dirty="0"/>
          </a:p>
        </p:txBody>
      </p:sp>
      <p:sp>
        <p:nvSpPr>
          <p:cNvPr id="34" name="Text 31"/>
          <p:cNvSpPr txBox="1"/>
          <p:nvPr/>
        </p:nvSpPr>
        <p:spPr>
          <a:xfrm>
            <a:off x="566928" y="2881884"/>
            <a:ext cx="320040" cy="5593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2</a:t>
            </a:r>
            <a:endParaRPr lang="en-US" sz="1100" dirty="0"/>
          </a:p>
        </p:txBody>
      </p:sp>
      <p:sp>
        <p:nvSpPr>
          <p:cNvPr id="35" name="Shape 32"/>
          <p:cNvSpPr/>
          <p:nvPr/>
        </p:nvSpPr>
        <p:spPr>
          <a:xfrm>
            <a:off x="11091672" y="2927604"/>
            <a:ext cx="548640" cy="182880"/>
          </a:xfrm>
          <a:prstGeom prst="roundRect">
            <a:avLst>
              <a:gd name="adj" fmla="val 50000"/>
            </a:avLst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36" name="Text 33"/>
          <p:cNvSpPr txBox="1"/>
          <p:nvPr/>
        </p:nvSpPr>
        <p:spPr>
          <a:xfrm>
            <a:off x="11091672" y="2927604"/>
            <a:ext cx="5486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CORE</a:t>
            </a:r>
            <a:endParaRPr lang="en-US" sz="650" dirty="0"/>
          </a:p>
        </p:txBody>
      </p:sp>
      <p:sp>
        <p:nvSpPr>
          <p:cNvPr id="37" name="Shape 34"/>
          <p:cNvSpPr/>
          <p:nvPr/>
        </p:nvSpPr>
        <p:spPr>
          <a:xfrm>
            <a:off x="457200" y="3496056"/>
            <a:ext cx="11274552" cy="559308"/>
          </a:xfrm>
          <a:prstGeom prst="roundRect">
            <a:avLst>
              <a:gd name="adj" fmla="val 8174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38" name="Text 35"/>
          <p:cNvSpPr txBox="1"/>
          <p:nvPr/>
        </p:nvSpPr>
        <p:spPr>
          <a:xfrm>
            <a:off x="9756648" y="3496056"/>
            <a:ext cx="1901952" cy="5593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…</a:t>
            </a:r>
            <a:endParaRPr lang="en-US" sz="1100" dirty="0"/>
          </a:p>
        </p:txBody>
      </p:sp>
      <p:sp>
        <p:nvSpPr>
          <p:cNvPr id="39" name="Text 36"/>
          <p:cNvSpPr txBox="1"/>
          <p:nvPr/>
        </p:nvSpPr>
        <p:spPr>
          <a:xfrm>
            <a:off x="6995160" y="3496056"/>
            <a:ext cx="2560320" cy="5593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6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أَتَذَكَّرُ يَوْمًا عِنْدَمَا …</a:t>
            </a:r>
            <a:endParaRPr lang="ar-SA" sz="1600" dirty="0"/>
          </a:p>
        </p:txBody>
      </p:sp>
      <p:sp>
        <p:nvSpPr>
          <p:cNvPr id="40" name="Text 37"/>
          <p:cNvSpPr txBox="1"/>
          <p:nvPr/>
        </p:nvSpPr>
        <p:spPr>
          <a:xfrm>
            <a:off x="4636008" y="3496056"/>
            <a:ext cx="2194560" cy="5593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¶1 Mention a special memory.</a:t>
            </a:r>
            <a:endParaRPr lang="en-US" sz="1100" dirty="0"/>
          </a:p>
        </p:txBody>
      </p:sp>
      <p:sp>
        <p:nvSpPr>
          <p:cNvPr id="41" name="Text 38"/>
          <p:cNvSpPr txBox="1"/>
          <p:nvPr/>
        </p:nvSpPr>
        <p:spPr>
          <a:xfrm>
            <a:off x="1051560" y="3496056"/>
            <a:ext cx="3383280" cy="5593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¶١ اذْكُرْ ذِكْرَى خَاصَّةً.</a:t>
            </a:r>
            <a:endParaRPr lang="ar-SA" sz="1700" dirty="0"/>
          </a:p>
        </p:txBody>
      </p:sp>
      <p:sp>
        <p:nvSpPr>
          <p:cNvPr id="42" name="Text 39"/>
          <p:cNvSpPr txBox="1"/>
          <p:nvPr/>
        </p:nvSpPr>
        <p:spPr>
          <a:xfrm>
            <a:off x="566928" y="3496056"/>
            <a:ext cx="320040" cy="5593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3</a:t>
            </a:r>
            <a:endParaRPr lang="en-US" sz="1100" dirty="0"/>
          </a:p>
        </p:txBody>
      </p:sp>
      <p:sp>
        <p:nvSpPr>
          <p:cNvPr id="43" name="Shape 40"/>
          <p:cNvSpPr/>
          <p:nvPr/>
        </p:nvSpPr>
        <p:spPr>
          <a:xfrm>
            <a:off x="11091672" y="3541776"/>
            <a:ext cx="548640" cy="182880"/>
          </a:xfrm>
          <a:prstGeom prst="roundRect">
            <a:avLst>
              <a:gd name="adj" fmla="val 50000"/>
            </a:avLst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44" name="Text 41"/>
          <p:cNvSpPr txBox="1"/>
          <p:nvPr/>
        </p:nvSpPr>
        <p:spPr>
          <a:xfrm>
            <a:off x="11091672" y="3541776"/>
            <a:ext cx="5486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CORE</a:t>
            </a:r>
            <a:endParaRPr lang="en-US" sz="650" dirty="0"/>
          </a:p>
        </p:txBody>
      </p:sp>
      <p:sp>
        <p:nvSpPr>
          <p:cNvPr id="45" name="Shape 42"/>
          <p:cNvSpPr/>
          <p:nvPr/>
        </p:nvSpPr>
        <p:spPr>
          <a:xfrm>
            <a:off x="457200" y="4110228"/>
            <a:ext cx="11274552" cy="559308"/>
          </a:xfrm>
          <a:prstGeom prst="roundRect">
            <a:avLst>
              <a:gd name="adj" fmla="val 8174"/>
            </a:avLst>
          </a:prstGeom>
          <a:solidFill>
            <a:srgbClr val="F4F1EA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46" name="Text 43"/>
          <p:cNvSpPr txBox="1"/>
          <p:nvPr/>
        </p:nvSpPr>
        <p:spPr>
          <a:xfrm>
            <a:off x="9756648" y="4110228"/>
            <a:ext cx="1901952" cy="5593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Trap: ‏</a:t>
            </a:r>
            <a:pPr algn="l" indent="0" marL="0">
              <a:buNone/>
            </a:pPr>
            <a:r>
              <a:rPr lang="ar-SA" altLang="en-US" sz="1450" dirty="0">
                <a:solidFill>
                  <a:srgbClr val="5A6472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التِّنِسُ</a:t>
            </a:r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‏ = ‏</a:t>
            </a:r>
            <a:pPr algn="l" indent="0" marL="0">
              <a:buNone/>
            </a:pPr>
            <a:r>
              <a:rPr lang="ar-SA" altLang="en-US" sz="1450" dirty="0">
                <a:solidFill>
                  <a:srgbClr val="5A6472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المَاضِي</a:t>
            </a:r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‏</a:t>
            </a:r>
            <a:endParaRPr lang="en-US" sz="1100" dirty="0"/>
          </a:p>
        </p:txBody>
      </p:sp>
      <p:sp>
        <p:nvSpPr>
          <p:cNvPr id="47" name="Text 44"/>
          <p:cNvSpPr txBox="1"/>
          <p:nvPr/>
        </p:nvSpPr>
        <p:spPr>
          <a:xfrm>
            <a:off x="6995160" y="4110228"/>
            <a:ext cx="2560320" cy="5593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6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الغُولْفَ …</a:t>
            </a:r>
            <a:endParaRPr lang="ar-SA" sz="1600" dirty="0"/>
          </a:p>
        </p:txBody>
      </p:sp>
      <p:sp>
        <p:nvSpPr>
          <p:cNvPr id="48" name="Text 45"/>
          <p:cNvSpPr txBox="1"/>
          <p:nvPr/>
        </p:nvSpPr>
        <p:spPr>
          <a:xfrm>
            <a:off x="4636008" y="4110228"/>
            <a:ext cx="2194560" cy="5593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“I used to play tennis; now I play golf.” — What now?</a:t>
            </a:r>
            <a:endParaRPr lang="en-US" sz="1100" dirty="0"/>
          </a:p>
        </p:txBody>
      </p:sp>
      <p:sp>
        <p:nvSpPr>
          <p:cNvPr id="49" name="Text 46"/>
          <p:cNvSpPr txBox="1"/>
          <p:nvPr/>
        </p:nvSpPr>
        <p:spPr>
          <a:xfrm>
            <a:off x="1051560" y="4110228"/>
            <a:ext cx="3383280" cy="5593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lnSpc>
                <a:spcPct val="120000"/>
              </a:lnSpc>
              <a:buNone/>
            </a:pPr>
            <a:r>
              <a:rPr lang="ar-SA" altLang="en-US" sz="125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كُنْتُ أَلْعَبُ التِّنِسَ، وَالآنَ أَلْعَبُ الغُولْفَ. — مَاذَا يَلْعَبُ الآنَ؟</a:t>
            </a:r>
            <a:endParaRPr lang="ar-SA" sz="1250" dirty="0"/>
          </a:p>
        </p:txBody>
      </p:sp>
      <p:sp>
        <p:nvSpPr>
          <p:cNvPr id="50" name="Text 47"/>
          <p:cNvSpPr txBox="1"/>
          <p:nvPr/>
        </p:nvSpPr>
        <p:spPr>
          <a:xfrm>
            <a:off x="566928" y="4110228"/>
            <a:ext cx="320040" cy="5593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4</a:t>
            </a:r>
            <a:endParaRPr lang="en-US" sz="1100" dirty="0"/>
          </a:p>
        </p:txBody>
      </p:sp>
      <p:sp>
        <p:nvSpPr>
          <p:cNvPr id="51" name="Shape 48"/>
          <p:cNvSpPr/>
          <p:nvPr/>
        </p:nvSpPr>
        <p:spPr>
          <a:xfrm>
            <a:off x="11091672" y="4155948"/>
            <a:ext cx="548640" cy="182880"/>
          </a:xfrm>
          <a:prstGeom prst="roundRect">
            <a:avLst>
              <a:gd name="adj" fmla="val 50000"/>
            </a:avLst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52" name="Text 49"/>
          <p:cNvSpPr txBox="1"/>
          <p:nvPr/>
        </p:nvSpPr>
        <p:spPr>
          <a:xfrm>
            <a:off x="11091672" y="4155948"/>
            <a:ext cx="5486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CORE</a:t>
            </a:r>
            <a:endParaRPr lang="en-US" sz="650" dirty="0"/>
          </a:p>
        </p:txBody>
      </p:sp>
      <p:sp>
        <p:nvSpPr>
          <p:cNvPr id="53" name="Shape 50"/>
          <p:cNvSpPr/>
          <p:nvPr/>
        </p:nvSpPr>
        <p:spPr>
          <a:xfrm>
            <a:off x="457200" y="4724400"/>
            <a:ext cx="11274552" cy="559308"/>
          </a:xfrm>
          <a:prstGeom prst="roundRect">
            <a:avLst>
              <a:gd name="adj" fmla="val 8174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54" name="Text 51"/>
          <p:cNvSpPr txBox="1"/>
          <p:nvPr/>
        </p:nvSpPr>
        <p:spPr>
          <a:xfrm>
            <a:off x="9738360" y="4724400"/>
            <a:ext cx="1901952" cy="5593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… بِالإِضَافَةِ إِلَى ذٰلِكَ …</a:t>
            </a:r>
            <a:endParaRPr lang="ar-SA" sz="1500" dirty="0"/>
          </a:p>
        </p:txBody>
      </p:sp>
      <p:sp>
        <p:nvSpPr>
          <p:cNvPr id="55" name="Text 52"/>
          <p:cNvSpPr txBox="1"/>
          <p:nvPr/>
        </p:nvSpPr>
        <p:spPr>
          <a:xfrm>
            <a:off x="6995160" y="4724400"/>
            <a:ext cx="2560320" cy="5593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6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أَمَّا الآنَ فَأُمَارِسُ …</a:t>
            </a:r>
            <a:endParaRPr lang="ar-SA" sz="1600" dirty="0"/>
          </a:p>
        </p:txBody>
      </p:sp>
      <p:sp>
        <p:nvSpPr>
          <p:cNvPr id="56" name="Text 53"/>
          <p:cNvSpPr txBox="1"/>
          <p:nvPr/>
        </p:nvSpPr>
        <p:spPr>
          <a:xfrm>
            <a:off x="4636008" y="4724400"/>
            <a:ext cx="2194560" cy="5593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¶2 What do you do now?</a:t>
            </a:r>
            <a:endParaRPr lang="en-US" sz="1100" dirty="0"/>
          </a:p>
        </p:txBody>
      </p:sp>
      <p:sp>
        <p:nvSpPr>
          <p:cNvPr id="57" name="Text 54"/>
          <p:cNvSpPr txBox="1"/>
          <p:nvPr/>
        </p:nvSpPr>
        <p:spPr>
          <a:xfrm>
            <a:off x="1051560" y="4724400"/>
            <a:ext cx="3383280" cy="5593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¶٢ مَاذَا تَفْعَلُ الآنَ؟</a:t>
            </a:r>
            <a:endParaRPr lang="ar-SA" sz="1700" dirty="0"/>
          </a:p>
        </p:txBody>
      </p:sp>
      <p:sp>
        <p:nvSpPr>
          <p:cNvPr id="58" name="Text 55"/>
          <p:cNvSpPr txBox="1"/>
          <p:nvPr/>
        </p:nvSpPr>
        <p:spPr>
          <a:xfrm>
            <a:off x="566928" y="4724400"/>
            <a:ext cx="320040" cy="5593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5</a:t>
            </a:r>
            <a:endParaRPr lang="en-US" sz="1100" dirty="0"/>
          </a:p>
        </p:txBody>
      </p:sp>
      <p:sp>
        <p:nvSpPr>
          <p:cNvPr id="59" name="Shape 56"/>
          <p:cNvSpPr/>
          <p:nvPr/>
        </p:nvSpPr>
        <p:spPr>
          <a:xfrm>
            <a:off x="457200" y="5338572"/>
            <a:ext cx="11274552" cy="559308"/>
          </a:xfrm>
          <a:prstGeom prst="roundRect">
            <a:avLst>
              <a:gd name="adj" fmla="val 8174"/>
            </a:avLst>
          </a:prstGeom>
          <a:solidFill>
            <a:srgbClr val="F4F1EA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60" name="Text 57"/>
          <p:cNvSpPr txBox="1"/>
          <p:nvPr/>
        </p:nvSpPr>
        <p:spPr>
          <a:xfrm>
            <a:off x="9756648" y="5338572"/>
            <a:ext cx="1901952" cy="5593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…</a:t>
            </a:r>
            <a:endParaRPr lang="en-US" sz="1100" dirty="0"/>
          </a:p>
        </p:txBody>
      </p:sp>
      <p:sp>
        <p:nvSpPr>
          <p:cNvPr id="61" name="Text 58"/>
          <p:cNvSpPr txBox="1"/>
          <p:nvPr/>
        </p:nvSpPr>
        <p:spPr>
          <a:xfrm>
            <a:off x="6995160" y="5338572"/>
            <a:ext cx="2560320" cy="5593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6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النِّهَائِيَّ …</a:t>
            </a:r>
            <a:endParaRPr lang="ar-SA" sz="1600" dirty="0"/>
          </a:p>
        </p:txBody>
      </p:sp>
      <p:sp>
        <p:nvSpPr>
          <p:cNvPr id="62" name="Text 59"/>
          <p:cNvSpPr txBox="1"/>
          <p:nvPr/>
        </p:nvSpPr>
        <p:spPr>
          <a:xfrm>
            <a:off x="4636008" y="5338572"/>
            <a:ext cx="2194560" cy="5593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“We watched the match yesterday; we will watch the final tomorrow.” — Tomorrow?</a:t>
            </a:r>
            <a:endParaRPr lang="en-US" sz="1100" dirty="0"/>
          </a:p>
        </p:txBody>
      </p:sp>
      <p:sp>
        <p:nvSpPr>
          <p:cNvPr id="63" name="Text 60"/>
          <p:cNvSpPr txBox="1"/>
          <p:nvPr/>
        </p:nvSpPr>
        <p:spPr>
          <a:xfrm>
            <a:off x="1051560" y="5338572"/>
            <a:ext cx="3383280" cy="5593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lnSpc>
                <a:spcPct val="120000"/>
              </a:lnSpc>
              <a:buNone/>
            </a:pPr>
            <a:r>
              <a:rPr lang="ar-SA" altLang="en-US" sz="12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شَاهَدْنَا المُبَارَاةَ أَمْسِ، وَسَنُشَاهِدُ النِّهَائِيَّ غَدًا. — مَاذَا سَيُشَاهِدُونَ غَدًا؟</a:t>
            </a:r>
            <a:endParaRPr lang="ar-SA" sz="1200" dirty="0"/>
          </a:p>
        </p:txBody>
      </p:sp>
      <p:sp>
        <p:nvSpPr>
          <p:cNvPr id="64" name="Text 61"/>
          <p:cNvSpPr txBox="1"/>
          <p:nvPr/>
        </p:nvSpPr>
        <p:spPr>
          <a:xfrm>
            <a:off x="566928" y="5338572"/>
            <a:ext cx="320040" cy="5593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6</a:t>
            </a:r>
            <a:endParaRPr lang="en-US" sz="1100" dirty="0"/>
          </a:p>
        </p:txBody>
      </p:sp>
      <p:sp>
        <p:nvSpPr>
          <p:cNvPr id="65" name="Text 62"/>
          <p:cNvSpPr txBox="1"/>
          <p:nvPr/>
        </p:nvSpPr>
        <p:spPr>
          <a:xfrm>
            <a:off x="457200" y="5943600"/>
            <a:ext cx="1127455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Odd numbers come from D5-L09, even numbers from D5-L10. Core: a full sentence from the starter. Develop: add the “more” part. Stretch: link two answers with ‏</a:t>
            </a:r>
            <a:pPr algn="l" indent="0" marL="0">
              <a:buNone/>
            </a:pPr>
            <a:r>
              <a:rPr lang="ar-SA" altLang="en-US" sz="145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وَ</a:t>
            </a:r>
            <a:pPr algn="l" indent="0" marL="0">
              <a:buNone/>
            </a:pPr>
            <a:r>
              <a:rPr lang="en-US" sz="110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‏, ‏</a:t>
            </a:r>
            <a:pPr algn="l" indent="0" marL="0">
              <a:buNone/>
            </a:pPr>
            <a:r>
              <a:rPr lang="ar-SA" altLang="en-US" sz="145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لِأَنَّ</a:t>
            </a:r>
            <a:pPr algn="l" indent="0" marL="0">
              <a:buNone/>
            </a:pPr>
            <a:r>
              <a:rPr lang="en-US" sz="110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‏ or ‏</a:t>
            </a:r>
            <a:pPr algn="l" indent="0" marL="0">
              <a:buNone/>
            </a:pPr>
            <a:r>
              <a:rPr lang="ar-SA" altLang="en-US" sz="145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لٰكِنَّ</a:t>
            </a:r>
            <a:pPr algn="l" indent="0" marL="0">
              <a:buNone/>
            </a:pPr>
            <a:r>
              <a:rPr lang="en-US" sz="110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‏. Swap after each question.</a:t>
            </a:r>
            <a:endParaRPr lang="en-US" sz="1100" dirty="0"/>
          </a:p>
        </p:txBody>
      </p:sp>
      <p:sp>
        <p:nvSpPr>
          <p:cNvPr id="66" name="Text 63"/>
          <p:cNvSpPr txBox="1"/>
          <p:nvPr/>
        </p:nvSpPr>
        <p:spPr>
          <a:xfrm>
            <a:off x="10360152" y="6455664"/>
            <a:ext cx="1371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11 / 24</a:t>
            </a:r>
            <a:endParaRPr lang="en-US" sz="85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D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37744"/>
            <a:ext cx="420624" cy="420624"/>
          </a:xfrm>
          <a:prstGeom prst="ellipse">
            <a:avLst/>
          </a:prstGeom>
          <a:solidFill>
            <a:srgbClr val="1B3B6F"/>
          </a:solidFill>
          <a:ln w="12700">
            <a:solidFill>
              <a:srgbClr val="D4AF37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457200" y="21945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D4AF37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</a:t>
            </a:r>
            <a:endParaRPr lang="ar-SA" sz="18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Al Madina Online School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57200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ARABIC DEPARTMENT · MIFTAH ARABIC · IGCSE 0544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8897112" y="274320"/>
            <a:ext cx="2834640" cy="329184"/>
          </a:xfrm>
          <a:prstGeom prst="roundRect">
            <a:avLst>
              <a:gd name="adj" fmla="val 50000"/>
            </a:avLst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897112" y="274320"/>
            <a:ext cx="2834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D5-W05 · Apply workshop</a:t>
            </a:r>
            <a:endParaRPr lang="en-US" sz="950" dirty="0"/>
          </a:p>
        </p:txBody>
      </p:sp>
      <p:sp>
        <p:nvSpPr>
          <p:cNvPr id="8" name="Shape 6"/>
          <p:cNvSpPr/>
          <p:nvPr/>
        </p:nvSpPr>
        <p:spPr>
          <a:xfrm>
            <a:off x="7295083" y="274320"/>
            <a:ext cx="1464869" cy="329184"/>
          </a:xfrm>
          <a:prstGeom prst="roundRect">
            <a:avLst>
              <a:gd name="adj" fmla="val 50000"/>
            </a:avLst>
          </a:prstGeom>
          <a:solidFill>
            <a:srgbClr val="1E6B52"/>
          </a:solidFill>
          <a:ln w="12700">
            <a:solidFill>
              <a:srgbClr val="1E6B52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7295083" y="274320"/>
            <a:ext cx="1464869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YOU DO · 7 MIN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822960"/>
            <a:ext cx="6949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34" b="1" spc="150" kern="0" dirty="0">
                <a:solidFill>
                  <a:srgbClr val="1E6B52"/>
                </a:solidFill>
                <a:latin typeface="Calibri" pitchFamily="34" charset="0"/>
                <a:cs typeface="Amiri" pitchFamily="2" charset="-78"/>
              </a:rPr>
              <a:t>STEP 5 · ROLE-PLAY CARD · PLANS FOR TASKS 1–2 ARE GIVEN — PLAN 3–5 YOURSELF</a:t>
            </a:r>
            <a:endParaRPr lang="en-US" sz="934" dirty="0"/>
          </a:p>
        </p:txBody>
      </p:sp>
      <p:sp>
        <p:nvSpPr>
          <p:cNvPr id="11" name="Text 9"/>
          <p:cNvSpPr txBox="1"/>
          <p:nvPr/>
        </p:nvSpPr>
        <p:spPr>
          <a:xfrm>
            <a:off x="457200" y="1033272"/>
            <a:ext cx="6949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Listening card — which tense?</a:t>
            </a:r>
            <a:endParaRPr lang="en-US" sz="2800" dirty="0"/>
          </a:p>
        </p:txBody>
      </p:sp>
      <p:sp>
        <p:nvSpPr>
          <p:cNvPr id="12" name="Text 10"/>
          <p:cNvSpPr txBox="1"/>
          <p:nvPr/>
        </p:nvSpPr>
        <p:spPr>
          <a:xfrm>
            <a:off x="7498080" y="868680"/>
            <a:ext cx="4233672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2800" b="1" dirty="0">
                <a:solidFill>
                  <a:srgbClr val="8A6D1E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أَيُّ زَمَنٍ؟</a:t>
            </a:r>
            <a:endParaRPr lang="ar-SA" sz="28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6455664"/>
            <a:ext cx="6400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Miftah Arabic · Development D5 · Hobbies, Sport and Leisure · D5-W05 · Apply workshop (D5-L09 + D5-L10)</a:t>
            </a:r>
            <a:endParaRPr lang="en-US" sz="850" dirty="0"/>
          </a:p>
        </p:txBody>
      </p:sp>
      <p:sp>
        <p:nvSpPr>
          <p:cNvPr id="15" name="Shape 12"/>
          <p:cNvSpPr/>
          <p:nvPr/>
        </p:nvSpPr>
        <p:spPr>
          <a:xfrm>
            <a:off x="457200" y="1810512"/>
            <a:ext cx="11274552" cy="384048"/>
          </a:xfrm>
          <a:prstGeom prst="rect">
            <a:avLst/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8257032" y="1810512"/>
            <a:ext cx="340156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Plan: first words</a:t>
            </a:r>
            <a:endParaRPr lang="en-US" sz="1100" dirty="0"/>
          </a:p>
        </p:txBody>
      </p:sp>
      <p:sp>
        <p:nvSpPr>
          <p:cNvPr id="17" name="Text 14"/>
          <p:cNvSpPr txBox="1"/>
          <p:nvPr/>
        </p:nvSpPr>
        <p:spPr>
          <a:xfrm>
            <a:off x="4965192" y="1810512"/>
            <a:ext cx="314553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Speaker’s task</a:t>
            </a:r>
            <a:endParaRPr lang="en-US" sz="1100" dirty="0"/>
          </a:p>
        </p:txBody>
      </p:sp>
      <p:sp>
        <p:nvSpPr>
          <p:cNvPr id="18" name="Text 15"/>
          <p:cNvSpPr txBox="1"/>
          <p:nvPr/>
        </p:nvSpPr>
        <p:spPr>
          <a:xfrm>
            <a:off x="1033272" y="1810512"/>
            <a:ext cx="378561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Partner A reads</a:t>
            </a:r>
            <a:endParaRPr lang="en-US" sz="1100" dirty="0"/>
          </a:p>
        </p:txBody>
      </p:sp>
      <p:sp>
        <p:nvSpPr>
          <p:cNvPr id="19" name="Text 16"/>
          <p:cNvSpPr txBox="1"/>
          <p:nvPr/>
        </p:nvSpPr>
        <p:spPr>
          <a:xfrm>
            <a:off x="530352" y="1810512"/>
            <a:ext cx="35661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#</a:t>
            </a:r>
            <a:endParaRPr lang="en-US" sz="1100" dirty="0"/>
          </a:p>
        </p:txBody>
      </p:sp>
      <p:sp>
        <p:nvSpPr>
          <p:cNvPr id="20" name="Shape 17"/>
          <p:cNvSpPr/>
          <p:nvPr/>
        </p:nvSpPr>
        <p:spPr>
          <a:xfrm>
            <a:off x="457200" y="2267712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21" name="Text 18"/>
          <p:cNvSpPr txBox="1"/>
          <p:nvPr/>
        </p:nvSpPr>
        <p:spPr>
          <a:xfrm>
            <a:off x="8275320" y="2267712"/>
            <a:ext cx="3364992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6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مَتَى ← سَأُشَارِكُ + الشَّهْرَ القَادِمَ</a:t>
            </a:r>
            <a:endParaRPr lang="ar-SA" sz="1600" dirty="0"/>
          </a:p>
        </p:txBody>
      </p:sp>
      <p:sp>
        <p:nvSpPr>
          <p:cNvPr id="22" name="Text 19"/>
          <p:cNvSpPr txBox="1"/>
          <p:nvPr/>
        </p:nvSpPr>
        <p:spPr>
          <a:xfrm>
            <a:off x="5001768" y="2267712"/>
            <a:ext cx="310896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Find the future detail.</a:t>
            </a:r>
            <a:endParaRPr lang="en-US" sz="1100" dirty="0"/>
          </a:p>
        </p:txBody>
      </p:sp>
      <p:sp>
        <p:nvSpPr>
          <p:cNvPr id="23" name="Text 20"/>
          <p:cNvSpPr txBox="1"/>
          <p:nvPr/>
        </p:nvSpPr>
        <p:spPr>
          <a:xfrm>
            <a:off x="1051560" y="2267712"/>
            <a:ext cx="3749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lnSpc>
                <a:spcPct val="120000"/>
              </a:lnSpc>
              <a:buNone/>
            </a:pPr>
            <a:r>
              <a:rPr lang="ar-SA" altLang="en-US" sz="13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«شَارَكْتُ فِي سِبَاقٍ، وَسَأُشَارِكُ فِي سِبَاقٍ آخَرَ الشَّهْرَ القَادِمَ.» — مَتَى السِّبَاقُ الثَّانِي؟</a:t>
            </a:r>
            <a:endParaRPr lang="ar-SA" sz="1300" dirty="0"/>
          </a:p>
        </p:txBody>
      </p:sp>
      <p:sp>
        <p:nvSpPr>
          <p:cNvPr id="24" name="Text 21"/>
          <p:cNvSpPr txBox="1"/>
          <p:nvPr/>
        </p:nvSpPr>
        <p:spPr>
          <a:xfrm>
            <a:off x="566928" y="2267712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1</a:t>
            </a:r>
            <a:endParaRPr lang="en-US" sz="1100" dirty="0"/>
          </a:p>
        </p:txBody>
      </p:sp>
      <p:sp>
        <p:nvSpPr>
          <p:cNvPr id="25" name="Shape 22"/>
          <p:cNvSpPr/>
          <p:nvPr/>
        </p:nvSpPr>
        <p:spPr>
          <a:xfrm>
            <a:off x="11091672" y="2313432"/>
            <a:ext cx="548640" cy="182880"/>
          </a:xfrm>
          <a:prstGeom prst="roundRect">
            <a:avLst>
              <a:gd name="adj" fmla="val 50000"/>
            </a:avLst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26" name="Text 23"/>
          <p:cNvSpPr txBox="1"/>
          <p:nvPr/>
        </p:nvSpPr>
        <p:spPr>
          <a:xfrm>
            <a:off x="11091672" y="2313432"/>
            <a:ext cx="5486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CORE</a:t>
            </a:r>
            <a:endParaRPr lang="en-US" sz="650" dirty="0"/>
          </a:p>
        </p:txBody>
      </p:sp>
      <p:sp>
        <p:nvSpPr>
          <p:cNvPr id="27" name="Shape 24"/>
          <p:cNvSpPr/>
          <p:nvPr/>
        </p:nvSpPr>
        <p:spPr>
          <a:xfrm>
            <a:off x="457200" y="3004718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4F1EA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28" name="Text 25"/>
          <p:cNvSpPr txBox="1"/>
          <p:nvPr/>
        </p:nvSpPr>
        <p:spPr>
          <a:xfrm>
            <a:off x="8275320" y="3004718"/>
            <a:ext cx="3364992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6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الآنَ ← أَلْعَبُ …</a:t>
            </a:r>
            <a:endParaRPr lang="ar-SA" sz="1600" dirty="0"/>
          </a:p>
        </p:txBody>
      </p:sp>
      <p:sp>
        <p:nvSpPr>
          <p:cNvPr id="29" name="Text 26"/>
          <p:cNvSpPr txBox="1"/>
          <p:nvPr/>
        </p:nvSpPr>
        <p:spPr>
          <a:xfrm>
            <a:off x="5001768" y="3004718"/>
            <a:ext cx="310896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Used to vs now.</a:t>
            </a:r>
            <a:endParaRPr lang="en-US" sz="1100" dirty="0"/>
          </a:p>
        </p:txBody>
      </p:sp>
      <p:sp>
        <p:nvSpPr>
          <p:cNvPr id="30" name="Text 27"/>
          <p:cNvSpPr txBox="1"/>
          <p:nvPr/>
        </p:nvSpPr>
        <p:spPr>
          <a:xfrm>
            <a:off x="1051560" y="3004718"/>
            <a:ext cx="3749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lnSpc>
                <a:spcPct val="120000"/>
              </a:lnSpc>
              <a:buNone/>
            </a:pPr>
            <a:r>
              <a:rPr lang="ar-SA" altLang="en-US" sz="135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«كُنْتُ أَلْعَبُ التِّنِسَ، وَالآنَ أَلْعَبُ الغُولْفَ.» — مَاذَا يَلْعَبُ الآنَ؟</a:t>
            </a:r>
            <a:endParaRPr lang="ar-SA" sz="1350" dirty="0"/>
          </a:p>
        </p:txBody>
      </p:sp>
      <p:sp>
        <p:nvSpPr>
          <p:cNvPr id="31" name="Text 28"/>
          <p:cNvSpPr txBox="1"/>
          <p:nvPr/>
        </p:nvSpPr>
        <p:spPr>
          <a:xfrm>
            <a:off x="566928" y="3004718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2</a:t>
            </a:r>
            <a:endParaRPr lang="en-US" sz="1100" dirty="0"/>
          </a:p>
        </p:txBody>
      </p:sp>
      <p:sp>
        <p:nvSpPr>
          <p:cNvPr id="32" name="Shape 29"/>
          <p:cNvSpPr/>
          <p:nvPr/>
        </p:nvSpPr>
        <p:spPr>
          <a:xfrm>
            <a:off x="11091672" y="3050438"/>
            <a:ext cx="548640" cy="182880"/>
          </a:xfrm>
          <a:prstGeom prst="roundRect">
            <a:avLst>
              <a:gd name="adj" fmla="val 50000"/>
            </a:avLst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33" name="Text 30"/>
          <p:cNvSpPr txBox="1"/>
          <p:nvPr/>
        </p:nvSpPr>
        <p:spPr>
          <a:xfrm>
            <a:off x="11091672" y="3050438"/>
            <a:ext cx="5486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CORE</a:t>
            </a:r>
            <a:endParaRPr lang="en-US" sz="650" dirty="0"/>
          </a:p>
        </p:txBody>
      </p:sp>
      <p:sp>
        <p:nvSpPr>
          <p:cNvPr id="34" name="Shape 31"/>
          <p:cNvSpPr/>
          <p:nvPr/>
        </p:nvSpPr>
        <p:spPr>
          <a:xfrm>
            <a:off x="457200" y="3741725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35" name="Text 32"/>
          <p:cNvSpPr txBox="1"/>
          <p:nvPr/>
        </p:nvSpPr>
        <p:spPr>
          <a:xfrm>
            <a:off x="8293608" y="3741725"/>
            <a:ext cx="3364992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______________</a:t>
            </a:r>
            <a:endParaRPr lang="en-US" sz="1100" dirty="0"/>
          </a:p>
        </p:txBody>
      </p:sp>
      <p:sp>
        <p:nvSpPr>
          <p:cNvPr id="36" name="Text 33"/>
          <p:cNvSpPr txBox="1"/>
          <p:nvPr/>
        </p:nvSpPr>
        <p:spPr>
          <a:xfrm>
            <a:off x="5001768" y="3741725"/>
            <a:ext cx="310896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The trap: ‏</a:t>
            </a:r>
            <a:pPr algn="l" indent="0" marL="0">
              <a:buNone/>
            </a:pPr>
            <a:r>
              <a:rPr lang="ar-SA" altLang="en-US" sz="1450" dirty="0">
                <a:solidFill>
                  <a:srgbClr val="5A6472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لَمْ … بَلْ</a:t>
            </a:r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 …‏</a:t>
            </a:r>
            <a:endParaRPr lang="en-US" sz="1100" dirty="0"/>
          </a:p>
        </p:txBody>
      </p:sp>
      <p:sp>
        <p:nvSpPr>
          <p:cNvPr id="37" name="Text 34"/>
          <p:cNvSpPr txBox="1"/>
          <p:nvPr/>
        </p:nvSpPr>
        <p:spPr>
          <a:xfrm>
            <a:off x="1051560" y="3741725"/>
            <a:ext cx="3749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lnSpc>
                <a:spcPct val="120000"/>
              </a:lnSpc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«لَمْ أَتَدَرَّبْ أَمْسِ، بَلْ تَدَرَّبْتُ اليَوْمَ صَبَاحًا.» — مَتَى تَدَرَّبَ؟</a:t>
            </a:r>
            <a:endParaRPr lang="ar-SA" sz="1500" dirty="0"/>
          </a:p>
        </p:txBody>
      </p:sp>
      <p:sp>
        <p:nvSpPr>
          <p:cNvPr id="38" name="Text 35"/>
          <p:cNvSpPr txBox="1"/>
          <p:nvPr/>
        </p:nvSpPr>
        <p:spPr>
          <a:xfrm>
            <a:off x="566928" y="3741725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3</a:t>
            </a:r>
            <a:endParaRPr lang="en-US" sz="1100" dirty="0"/>
          </a:p>
        </p:txBody>
      </p:sp>
      <p:sp>
        <p:nvSpPr>
          <p:cNvPr id="39" name="Shape 36"/>
          <p:cNvSpPr/>
          <p:nvPr/>
        </p:nvSpPr>
        <p:spPr>
          <a:xfrm>
            <a:off x="457200" y="4478731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4F1EA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40" name="Text 37"/>
          <p:cNvSpPr txBox="1"/>
          <p:nvPr/>
        </p:nvSpPr>
        <p:spPr>
          <a:xfrm>
            <a:off x="8293608" y="4478731"/>
            <a:ext cx="3364992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______________</a:t>
            </a:r>
            <a:endParaRPr lang="en-US" sz="1100" dirty="0"/>
          </a:p>
        </p:txBody>
      </p:sp>
      <p:sp>
        <p:nvSpPr>
          <p:cNvPr id="41" name="Text 38"/>
          <p:cNvSpPr txBox="1"/>
          <p:nvPr/>
        </p:nvSpPr>
        <p:spPr>
          <a:xfrm>
            <a:off x="5001768" y="4478731"/>
            <a:ext cx="310896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Who does what?</a:t>
            </a:r>
            <a:endParaRPr lang="en-US" sz="1100" dirty="0"/>
          </a:p>
        </p:txBody>
      </p:sp>
      <p:sp>
        <p:nvSpPr>
          <p:cNvPr id="42" name="Text 39"/>
          <p:cNvSpPr txBox="1"/>
          <p:nvPr/>
        </p:nvSpPr>
        <p:spPr>
          <a:xfrm>
            <a:off x="1051560" y="4478731"/>
            <a:ext cx="3749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lnSpc>
                <a:spcPct val="120000"/>
              </a:lnSpc>
              <a:buNone/>
            </a:pPr>
            <a:r>
              <a:rPr lang="ar-SA" altLang="en-US" sz="13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«أُخْتِي تَرْسُمُ كُلَّ يَوْمٍ، أَمَّا أَنَا فَأَعْزِفُ عَلَى البِيَانُو.» — مَنْ يَرْسُمُ؟</a:t>
            </a:r>
            <a:endParaRPr lang="ar-SA" sz="1300" dirty="0"/>
          </a:p>
        </p:txBody>
      </p:sp>
      <p:sp>
        <p:nvSpPr>
          <p:cNvPr id="43" name="Text 40"/>
          <p:cNvSpPr txBox="1"/>
          <p:nvPr/>
        </p:nvSpPr>
        <p:spPr>
          <a:xfrm>
            <a:off x="566928" y="4478731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4</a:t>
            </a:r>
            <a:endParaRPr lang="en-US" sz="1100" dirty="0"/>
          </a:p>
        </p:txBody>
      </p:sp>
      <p:sp>
        <p:nvSpPr>
          <p:cNvPr id="44" name="Shape 41"/>
          <p:cNvSpPr/>
          <p:nvPr/>
        </p:nvSpPr>
        <p:spPr>
          <a:xfrm>
            <a:off x="457200" y="5215738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45" name="Text 42"/>
          <p:cNvSpPr txBox="1"/>
          <p:nvPr/>
        </p:nvSpPr>
        <p:spPr>
          <a:xfrm>
            <a:off x="8293608" y="5215738"/>
            <a:ext cx="3364992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______________</a:t>
            </a:r>
            <a:endParaRPr lang="en-US" sz="1100" dirty="0"/>
          </a:p>
        </p:txBody>
      </p:sp>
      <p:sp>
        <p:nvSpPr>
          <p:cNvPr id="46" name="Text 43"/>
          <p:cNvSpPr txBox="1"/>
          <p:nvPr/>
        </p:nvSpPr>
        <p:spPr>
          <a:xfrm>
            <a:off x="5001768" y="5215738"/>
            <a:ext cx="310896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Three tenses in three sentences.</a:t>
            </a:r>
            <a:endParaRPr lang="en-US" sz="1100" dirty="0"/>
          </a:p>
        </p:txBody>
      </p:sp>
      <p:sp>
        <p:nvSpPr>
          <p:cNvPr id="47" name="Text 44"/>
          <p:cNvSpPr txBox="1"/>
          <p:nvPr/>
        </p:nvSpPr>
        <p:spPr>
          <a:xfrm>
            <a:off x="1051560" y="5215738"/>
            <a:ext cx="3749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lnSpc>
                <a:spcPct val="120000"/>
              </a:lnSpc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وَأَنْتَ: مَا هِوَايَتُكَ فِي الطُّفُولَةِ، وَالآنَ، وَفِي المُسْتَقْبَلِ؟</a:t>
            </a:r>
            <a:endParaRPr lang="ar-SA" sz="1500" dirty="0"/>
          </a:p>
        </p:txBody>
      </p:sp>
      <p:sp>
        <p:nvSpPr>
          <p:cNvPr id="48" name="Text 45"/>
          <p:cNvSpPr txBox="1"/>
          <p:nvPr/>
        </p:nvSpPr>
        <p:spPr>
          <a:xfrm>
            <a:off x="566928" y="5215738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5 !</a:t>
            </a:r>
            <a:endParaRPr lang="en-US" sz="1100" dirty="0"/>
          </a:p>
        </p:txBody>
      </p:sp>
      <p:sp>
        <p:nvSpPr>
          <p:cNvPr id="49" name="Text 46"/>
          <p:cNvSpPr txBox="1"/>
          <p:nvPr/>
        </p:nvSpPr>
        <p:spPr>
          <a:xfrm>
            <a:off x="457200" y="5943600"/>
            <a:ext cx="1127455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Partner A reads each clip twice. Say the tense and the clue (an ending, a prefix, ‏</a:t>
            </a:r>
            <a:pPr algn="l" indent="0" marL="0">
              <a:buNone/>
            </a:pPr>
            <a:r>
              <a:rPr lang="ar-SA" altLang="en-US" sz="145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سَـ</a:t>
            </a:r>
            <a:pPr algn="l" indent="0" marL="0">
              <a:buNone/>
            </a:pPr>
            <a:r>
              <a:rPr lang="en-US" sz="110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‏, ‏</a:t>
            </a:r>
            <a:pPr algn="l" indent="0" marL="0">
              <a:buNone/>
            </a:pPr>
            <a:r>
              <a:rPr lang="ar-SA" altLang="en-US" sz="145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كُنْتُ</a:t>
            </a:r>
            <a:pPr algn="l" indent="0" marL="0">
              <a:buNone/>
            </a:pPr>
            <a:r>
              <a:rPr lang="en-US" sz="110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‏, a time marker), then the answer. Task ! is your then–now–next. Then swap.</a:t>
            </a:r>
            <a:endParaRPr lang="en-US" sz="1100" dirty="0"/>
          </a:p>
        </p:txBody>
      </p:sp>
      <p:sp>
        <p:nvSpPr>
          <p:cNvPr id="50" name="Text 47"/>
          <p:cNvSpPr txBox="1"/>
          <p:nvPr/>
        </p:nvSpPr>
        <p:spPr>
          <a:xfrm>
            <a:off x="10360152" y="6455664"/>
            <a:ext cx="1371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12 / 24</a:t>
            </a:r>
            <a:endParaRPr lang="en-US" sz="85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D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37744"/>
            <a:ext cx="420624" cy="420624"/>
          </a:xfrm>
          <a:prstGeom prst="ellipse">
            <a:avLst/>
          </a:prstGeom>
          <a:solidFill>
            <a:srgbClr val="1B3B6F"/>
          </a:solidFill>
          <a:ln w="12700">
            <a:solidFill>
              <a:srgbClr val="D4AF37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457200" y="21945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D4AF37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</a:t>
            </a:r>
            <a:endParaRPr lang="ar-SA" sz="18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Al Madina Online School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57200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ARABIC DEPARTMENT · MIFTAH ARABIC · IGCSE 0544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8897112" y="274320"/>
            <a:ext cx="2834640" cy="329184"/>
          </a:xfrm>
          <a:prstGeom prst="roundRect">
            <a:avLst>
              <a:gd name="adj" fmla="val 50000"/>
            </a:avLst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897112" y="274320"/>
            <a:ext cx="2834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D5-W05 · Apply workshop</a:t>
            </a:r>
            <a:endParaRPr lang="en-US" sz="950" dirty="0"/>
          </a:p>
        </p:txBody>
      </p:sp>
      <p:sp>
        <p:nvSpPr>
          <p:cNvPr id="8" name="Shape 6"/>
          <p:cNvSpPr/>
          <p:nvPr/>
        </p:nvSpPr>
        <p:spPr>
          <a:xfrm>
            <a:off x="7295083" y="274320"/>
            <a:ext cx="1464869" cy="329184"/>
          </a:xfrm>
          <a:prstGeom prst="roundRect">
            <a:avLst>
              <a:gd name="adj" fmla="val 50000"/>
            </a:avLst>
          </a:prstGeom>
          <a:solidFill>
            <a:srgbClr val="1E6B52"/>
          </a:solidFill>
          <a:ln w="12700">
            <a:solidFill>
              <a:srgbClr val="1E6B52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7295083" y="274320"/>
            <a:ext cx="1464869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YOU DO · 4 MIN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822960"/>
            <a:ext cx="6949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300" kern="0" dirty="0">
                <a:solidFill>
                  <a:srgbClr val="1E6B52"/>
                </a:solidFill>
                <a:latin typeface="Calibri" pitchFamily="34" charset="0"/>
                <a:cs typeface="Amiri" pitchFamily="2" charset="-78"/>
              </a:rPr>
              <a:t>STEP 6 · SHORT TALK · ONE MINUTE</a:t>
            </a:r>
            <a:endParaRPr lang="en-US" sz="1000" dirty="0"/>
          </a:p>
        </p:txBody>
      </p:sp>
      <p:sp>
        <p:nvSpPr>
          <p:cNvPr id="11" name="Text 9"/>
          <p:cNvSpPr txBox="1"/>
          <p:nvPr/>
        </p:nvSpPr>
        <p:spPr>
          <a:xfrm>
            <a:off x="457200" y="1033272"/>
            <a:ext cx="6949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My podcast clip: then, now, next</a:t>
            </a:r>
            <a:endParaRPr lang="en-US" sz="2800" dirty="0"/>
          </a:p>
        </p:txBody>
      </p:sp>
      <p:sp>
        <p:nvSpPr>
          <p:cNvPr id="12" name="Text 10"/>
          <p:cNvSpPr txBox="1"/>
          <p:nvPr/>
        </p:nvSpPr>
        <p:spPr>
          <a:xfrm>
            <a:off x="7498080" y="868680"/>
            <a:ext cx="4233672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2650" b="1" dirty="0">
                <a:solidFill>
                  <a:srgbClr val="8A6D1E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مَقْطَعِي: المَاضِي وَالحَاضِرُ وَالمُسْتَقْبَلُ</a:t>
            </a:r>
            <a:endParaRPr lang="ar-SA" sz="265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6455664"/>
            <a:ext cx="6400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Miftah Arabic · Development D5 · Hobbies, Sport and Leisure · D5-W05 · Apply workshop (D5-L09 + D5-L10)</a:t>
            </a:r>
            <a:endParaRPr lang="en-US" sz="850" dirty="0"/>
          </a:p>
        </p:txBody>
      </p:sp>
      <p:sp>
        <p:nvSpPr>
          <p:cNvPr id="15" name="Shape 12"/>
          <p:cNvSpPr/>
          <p:nvPr/>
        </p:nvSpPr>
        <p:spPr>
          <a:xfrm>
            <a:off x="457200" y="1810512"/>
            <a:ext cx="5715000" cy="4498848"/>
          </a:xfrm>
          <a:prstGeom prst="roundRect">
            <a:avLst>
              <a:gd name="adj" fmla="val 1626"/>
            </a:avLst>
          </a:prstGeom>
          <a:solidFill>
            <a:srgbClr val="F4F1EA"/>
          </a:solidFill>
          <a:ln w="9525">
            <a:solidFill>
              <a:srgbClr val="E8D49A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16" name="Shape 13"/>
          <p:cNvSpPr/>
          <p:nvPr/>
        </p:nvSpPr>
        <p:spPr>
          <a:xfrm>
            <a:off x="640080" y="1920240"/>
            <a:ext cx="3108960" cy="292608"/>
          </a:xfrm>
          <a:prstGeom prst="roundRect">
            <a:avLst>
              <a:gd name="adj" fmla="val 50000"/>
            </a:avLst>
          </a:prstGeom>
          <a:solidFill>
            <a:srgbClr val="8A6D1E"/>
          </a:solidFill>
          <a:ln w="12700">
            <a:solidFill>
              <a:srgbClr val="8A6D1E"/>
            </a:solidFill>
            <a:prstDash val="solid"/>
          </a:ln>
        </p:spPr>
      </p:sp>
      <p:sp>
        <p:nvSpPr>
          <p:cNvPr id="17" name="Text 14"/>
          <p:cNvSpPr txBox="1"/>
          <p:nvPr/>
        </p:nvSpPr>
        <p:spPr>
          <a:xfrm>
            <a:off x="640080" y="1920240"/>
            <a:ext cx="31089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STEP 6 · PAIRS</a:t>
            </a:r>
            <a:endParaRPr lang="en-US" sz="900" dirty="0"/>
          </a:p>
        </p:txBody>
      </p:sp>
      <p:sp>
        <p:nvSpPr>
          <p:cNvPr id="18" name="Text 15"/>
          <p:cNvSpPr txBox="1"/>
          <p:nvPr/>
        </p:nvSpPr>
        <p:spPr>
          <a:xfrm>
            <a:off x="640080" y="2286000"/>
            <a:ext cx="53492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⏱  Talk for one minute — use both lessons</a:t>
            </a:r>
            <a:endParaRPr lang="en-US" sz="2200" dirty="0"/>
          </a:p>
        </p:txBody>
      </p:sp>
      <p:sp>
        <p:nvSpPr>
          <p:cNvPr id="19" name="Text 16"/>
          <p:cNvSpPr txBox="1"/>
          <p:nvPr/>
        </p:nvSpPr>
        <p:spPr>
          <a:xfrm>
            <a:off x="640080" y="2816352"/>
            <a:ext cx="534924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50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Record a one-minute clip about your free time in four parts: (1) what you used to do as a child + one memory, (2) your hobbies now and how often, (3) your plans, (4) your opinion on why hobbies matter. Your partner writes down every tense they hear.</a:t>
            </a:r>
            <a:endParaRPr lang="en-US" sz="1350" dirty="0"/>
          </a:p>
        </p:txBody>
      </p:sp>
      <p:sp>
        <p:nvSpPr>
          <p:cNvPr id="20" name="Text 17"/>
          <p:cNvSpPr txBox="1"/>
          <p:nvPr/>
        </p:nvSpPr>
        <p:spPr>
          <a:xfrm>
            <a:off x="640080" y="4041648"/>
            <a:ext cx="53035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b="1" spc="2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HOW WE RUN IT ONLINE</a:t>
            </a:r>
            <a:endParaRPr lang="en-US" sz="950" dirty="0"/>
          </a:p>
        </p:txBody>
      </p:sp>
      <p:sp>
        <p:nvSpPr>
          <p:cNvPr id="21" name="Shape 18"/>
          <p:cNvSpPr/>
          <p:nvPr/>
        </p:nvSpPr>
        <p:spPr>
          <a:xfrm>
            <a:off x="658368" y="4407408"/>
            <a:ext cx="274320" cy="274320"/>
          </a:xfrm>
          <a:prstGeom prst="ellipse">
            <a:avLst/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22" name="Text 19"/>
          <p:cNvSpPr txBox="1"/>
          <p:nvPr/>
        </p:nvSpPr>
        <p:spPr>
          <a:xfrm>
            <a:off x="658368" y="4407408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1</a:t>
            </a:r>
            <a:endParaRPr lang="en-US" sz="1000" dirty="0"/>
          </a:p>
        </p:txBody>
      </p:sp>
      <p:sp>
        <p:nvSpPr>
          <p:cNvPr id="23" name="Text 20"/>
          <p:cNvSpPr txBox="1"/>
          <p:nvPr/>
        </p:nvSpPr>
        <p:spPr>
          <a:xfrm>
            <a:off x="1024128" y="4334256"/>
            <a:ext cx="4983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Think for 30 seconds: 2 key words from EACH lesson, no sentences.</a:t>
            </a:r>
            <a:endParaRPr lang="en-US" sz="1150" dirty="0"/>
          </a:p>
        </p:txBody>
      </p:sp>
      <p:sp>
        <p:nvSpPr>
          <p:cNvPr id="24" name="Shape 21"/>
          <p:cNvSpPr/>
          <p:nvPr/>
        </p:nvSpPr>
        <p:spPr>
          <a:xfrm>
            <a:off x="658368" y="4864608"/>
            <a:ext cx="274320" cy="274320"/>
          </a:xfrm>
          <a:prstGeom prst="ellipse">
            <a:avLst/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25" name="Text 22"/>
          <p:cNvSpPr txBox="1"/>
          <p:nvPr/>
        </p:nvSpPr>
        <p:spPr>
          <a:xfrm>
            <a:off x="658368" y="4864608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2</a:t>
            </a:r>
            <a:endParaRPr lang="en-US" sz="1000" dirty="0"/>
          </a:p>
        </p:txBody>
      </p:sp>
      <p:sp>
        <p:nvSpPr>
          <p:cNvPr id="26" name="Text 23"/>
          <p:cNvSpPr txBox="1"/>
          <p:nvPr/>
        </p:nvSpPr>
        <p:spPr>
          <a:xfrm>
            <a:off x="1024128" y="4791456"/>
            <a:ext cx="4983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Speaker talks; the partner times it.</a:t>
            </a:r>
            <a:endParaRPr lang="en-US" sz="1150" dirty="0"/>
          </a:p>
        </p:txBody>
      </p:sp>
      <p:sp>
        <p:nvSpPr>
          <p:cNvPr id="27" name="Shape 24"/>
          <p:cNvSpPr/>
          <p:nvPr/>
        </p:nvSpPr>
        <p:spPr>
          <a:xfrm>
            <a:off x="658368" y="5321808"/>
            <a:ext cx="274320" cy="274320"/>
          </a:xfrm>
          <a:prstGeom prst="ellipse">
            <a:avLst/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28" name="Text 25"/>
          <p:cNvSpPr txBox="1"/>
          <p:nvPr/>
        </p:nvSpPr>
        <p:spPr>
          <a:xfrm>
            <a:off x="658368" y="5321808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3</a:t>
            </a:r>
            <a:endParaRPr lang="en-US" sz="1000" dirty="0"/>
          </a:p>
        </p:txBody>
      </p:sp>
      <p:sp>
        <p:nvSpPr>
          <p:cNvPr id="29" name="Text 26"/>
          <p:cNvSpPr txBox="1"/>
          <p:nvPr/>
        </p:nvSpPr>
        <p:spPr>
          <a:xfrm>
            <a:off x="1024128" y="5248656"/>
            <a:ext cx="4983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Partner: one thing that went well + one thing to improve.</a:t>
            </a:r>
            <a:endParaRPr lang="en-US" sz="1150" dirty="0"/>
          </a:p>
        </p:txBody>
      </p:sp>
      <p:sp>
        <p:nvSpPr>
          <p:cNvPr id="30" name="Shape 27"/>
          <p:cNvSpPr/>
          <p:nvPr/>
        </p:nvSpPr>
        <p:spPr>
          <a:xfrm>
            <a:off x="658368" y="5779008"/>
            <a:ext cx="274320" cy="274320"/>
          </a:xfrm>
          <a:prstGeom prst="ellipse">
            <a:avLst/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31" name="Text 28"/>
          <p:cNvSpPr txBox="1"/>
          <p:nvPr/>
        </p:nvSpPr>
        <p:spPr>
          <a:xfrm>
            <a:off x="658368" y="5779008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4</a:t>
            </a:r>
            <a:endParaRPr lang="en-US" sz="1000" dirty="0"/>
          </a:p>
        </p:txBody>
      </p:sp>
      <p:sp>
        <p:nvSpPr>
          <p:cNvPr id="32" name="Text 29"/>
          <p:cNvSpPr txBox="1"/>
          <p:nvPr/>
        </p:nvSpPr>
        <p:spPr>
          <a:xfrm>
            <a:off x="1024128" y="5705856"/>
            <a:ext cx="4983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Swap — then the teacher invites two volunteers.</a:t>
            </a:r>
            <a:endParaRPr lang="en-US" sz="1150" dirty="0"/>
          </a:p>
        </p:txBody>
      </p:sp>
      <p:sp>
        <p:nvSpPr>
          <p:cNvPr id="33" name="Shape 30"/>
          <p:cNvSpPr/>
          <p:nvPr/>
        </p:nvSpPr>
        <p:spPr>
          <a:xfrm>
            <a:off x="6355080" y="1810512"/>
            <a:ext cx="5376672" cy="896112"/>
          </a:xfrm>
          <a:prstGeom prst="roundRect">
            <a:avLst>
              <a:gd name="adj" fmla="val 8163"/>
            </a:avLst>
          </a:prstGeom>
          <a:solidFill>
            <a:srgbClr val="E9F5EE"/>
          </a:solidFill>
          <a:ln w="9525">
            <a:solidFill>
              <a:srgbClr val="2E8B57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34" name="Shape 31"/>
          <p:cNvSpPr/>
          <p:nvPr/>
        </p:nvSpPr>
        <p:spPr>
          <a:xfrm>
            <a:off x="6473952" y="1901952"/>
            <a:ext cx="1051560" cy="256032"/>
          </a:xfrm>
          <a:prstGeom prst="roundRect">
            <a:avLst>
              <a:gd name="adj" fmla="val 50000"/>
            </a:avLst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35" name="Text 32"/>
          <p:cNvSpPr txBox="1"/>
          <p:nvPr/>
        </p:nvSpPr>
        <p:spPr>
          <a:xfrm>
            <a:off x="6473952" y="1901952"/>
            <a:ext cx="10515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CORE</a:t>
            </a:r>
            <a:endParaRPr lang="en-US" sz="850" dirty="0"/>
          </a:p>
        </p:txBody>
      </p:sp>
      <p:sp>
        <p:nvSpPr>
          <p:cNvPr id="36" name="Text 33"/>
          <p:cNvSpPr txBox="1"/>
          <p:nvPr/>
        </p:nvSpPr>
        <p:spPr>
          <a:xfrm>
            <a:off x="6473952" y="2176272"/>
            <a:ext cx="51206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1450" dirty="0">
                <a:solidFill>
                  <a:srgbClr val="1F2A37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كُنْتُ أَلْعَبُ … · الآنَ أُمَارِسُ … · سَأَشْتَرِكُ …</a:t>
            </a:r>
            <a:endParaRPr lang="ar-SA" sz="1450" dirty="0"/>
          </a:p>
        </p:txBody>
      </p:sp>
      <p:sp>
        <p:nvSpPr>
          <p:cNvPr id="37" name="Shape 34"/>
          <p:cNvSpPr/>
          <p:nvPr/>
        </p:nvSpPr>
        <p:spPr>
          <a:xfrm>
            <a:off x="6355080" y="2816352"/>
            <a:ext cx="5376672" cy="896112"/>
          </a:xfrm>
          <a:prstGeom prst="roundRect">
            <a:avLst>
              <a:gd name="adj" fmla="val 8163"/>
            </a:avLst>
          </a:prstGeom>
          <a:solidFill>
            <a:srgbClr val="FCF1E0"/>
          </a:solidFill>
          <a:ln w="9525">
            <a:solidFill>
              <a:srgbClr val="C9780A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38" name="Shape 35"/>
          <p:cNvSpPr/>
          <p:nvPr/>
        </p:nvSpPr>
        <p:spPr>
          <a:xfrm>
            <a:off x="6473952" y="2907792"/>
            <a:ext cx="1051560" cy="256032"/>
          </a:xfrm>
          <a:prstGeom prst="roundRect">
            <a:avLst>
              <a:gd name="adj" fmla="val 50000"/>
            </a:avLst>
          </a:prstGeom>
          <a:solidFill>
            <a:srgbClr val="C9780A"/>
          </a:solidFill>
          <a:ln w="12700">
            <a:solidFill>
              <a:srgbClr val="C9780A"/>
            </a:solidFill>
            <a:prstDash val="solid"/>
          </a:ln>
        </p:spPr>
      </p:sp>
      <p:sp>
        <p:nvSpPr>
          <p:cNvPr id="39" name="Text 36"/>
          <p:cNvSpPr txBox="1"/>
          <p:nvPr/>
        </p:nvSpPr>
        <p:spPr>
          <a:xfrm>
            <a:off x="6473952" y="2907792"/>
            <a:ext cx="10515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DEVELOP</a:t>
            </a:r>
            <a:endParaRPr lang="en-US" sz="850" dirty="0"/>
          </a:p>
        </p:txBody>
      </p:sp>
      <p:sp>
        <p:nvSpPr>
          <p:cNvPr id="40" name="Text 37"/>
          <p:cNvSpPr txBox="1"/>
          <p:nvPr/>
        </p:nvSpPr>
        <p:spPr>
          <a:xfrm>
            <a:off x="6473952" y="3182112"/>
            <a:ext cx="51206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Add one past event with a time marker (‏</a:t>
            </a:r>
            <a:pPr algn="l" indent="0" marL="0">
              <a:buNone/>
            </a:pPr>
            <a:r>
              <a:rPr lang="ar-SA" altLang="en-US" sz="1500" dirty="0">
                <a:solidFill>
                  <a:srgbClr val="1F2A37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أَمْسِ</a:t>
            </a:r>
            <a:pPr algn="l" indent="0" marL="0">
              <a:buNone/>
            </a:pPr>
            <a:r>
              <a:rPr lang="en-US" sz="1150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 · </a:t>
            </a:r>
            <a:pPr algn="l" indent="0" marL="0">
              <a:buNone/>
            </a:pPr>
            <a:r>
              <a:rPr lang="ar-SA" altLang="en-US" sz="1500" dirty="0">
                <a:solidFill>
                  <a:srgbClr val="1F2A37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الأُسْبُوعَ المَاضِيَ</a:t>
            </a:r>
            <a:pPr algn="l" indent="0" marL="0">
              <a:buNone/>
            </a:pPr>
            <a:r>
              <a:rPr lang="en-US" sz="1150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‏).</a:t>
            </a:r>
            <a:endParaRPr lang="en-US" sz="1150" dirty="0"/>
          </a:p>
        </p:txBody>
      </p:sp>
      <p:sp>
        <p:nvSpPr>
          <p:cNvPr id="41" name="Shape 38"/>
          <p:cNvSpPr/>
          <p:nvPr/>
        </p:nvSpPr>
        <p:spPr>
          <a:xfrm>
            <a:off x="6355080" y="3822192"/>
            <a:ext cx="5376672" cy="896112"/>
          </a:xfrm>
          <a:prstGeom prst="roundRect">
            <a:avLst>
              <a:gd name="adj" fmla="val 8163"/>
            </a:avLst>
          </a:prstGeom>
          <a:solidFill>
            <a:srgbClr val="FBEAEA"/>
          </a:solidFill>
          <a:ln w="9525">
            <a:solidFill>
              <a:srgbClr val="B83227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42" name="Shape 39"/>
          <p:cNvSpPr/>
          <p:nvPr/>
        </p:nvSpPr>
        <p:spPr>
          <a:xfrm>
            <a:off x="6473952" y="3913632"/>
            <a:ext cx="1051560" cy="256032"/>
          </a:xfrm>
          <a:prstGeom prst="roundRect">
            <a:avLst>
              <a:gd name="adj" fmla="val 50000"/>
            </a:avLst>
          </a:prstGeom>
          <a:solidFill>
            <a:srgbClr val="B83227"/>
          </a:solidFill>
          <a:ln w="12700">
            <a:solidFill>
              <a:srgbClr val="B83227"/>
            </a:solidFill>
            <a:prstDash val="solid"/>
          </a:ln>
        </p:spPr>
      </p:sp>
      <p:sp>
        <p:nvSpPr>
          <p:cNvPr id="43" name="Text 40"/>
          <p:cNvSpPr txBox="1"/>
          <p:nvPr/>
        </p:nvSpPr>
        <p:spPr>
          <a:xfrm>
            <a:off x="6473952" y="3913632"/>
            <a:ext cx="10515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STRETCH</a:t>
            </a:r>
            <a:endParaRPr lang="en-US" sz="850" dirty="0"/>
          </a:p>
        </p:txBody>
      </p:sp>
      <p:sp>
        <p:nvSpPr>
          <p:cNvPr id="44" name="Text 41"/>
          <p:cNvSpPr txBox="1"/>
          <p:nvPr/>
        </p:nvSpPr>
        <p:spPr>
          <a:xfrm>
            <a:off x="6473952" y="4187952"/>
            <a:ext cx="51206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Add ‏</a:t>
            </a:r>
            <a:pPr algn="l" indent="0" marL="0">
              <a:buNone/>
            </a:pPr>
            <a:r>
              <a:rPr lang="ar-SA" altLang="en-US" sz="1500" dirty="0">
                <a:solidFill>
                  <a:srgbClr val="1F2A37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أَمَّا الآنَ فَ</a:t>
            </a:r>
            <a:pPr algn="l" indent="0" marL="0">
              <a:buNone/>
            </a:pPr>
            <a:r>
              <a:rPr lang="en-US" sz="1150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… · </a:t>
            </a:r>
            <a:pPr algn="l" indent="0" marL="0">
              <a:buNone/>
            </a:pPr>
            <a:r>
              <a:rPr lang="ar-SA" altLang="en-US" sz="1500" dirty="0">
                <a:solidFill>
                  <a:srgbClr val="1F2A37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أَنْوِي أَنْ</a:t>
            </a:r>
            <a:pPr algn="l" indent="0" marL="0">
              <a:buNone/>
            </a:pPr>
            <a:r>
              <a:rPr lang="en-US" sz="1150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 … · </a:t>
            </a:r>
            <a:pPr algn="l" indent="0" marL="0">
              <a:buNone/>
            </a:pPr>
            <a:r>
              <a:rPr lang="ar-SA" altLang="en-US" sz="1500" dirty="0">
                <a:solidFill>
                  <a:srgbClr val="1F2A37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أَعْتَقِدُ أَنَّ</a:t>
            </a:r>
            <a:pPr algn="l" indent="0" marL="0">
              <a:buNone/>
            </a:pPr>
            <a:r>
              <a:rPr lang="en-US" sz="1150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 …‏ and a trap with ‏</a:t>
            </a:r>
            <a:pPr algn="l" indent="0" marL="0">
              <a:buNone/>
            </a:pPr>
            <a:r>
              <a:rPr lang="ar-SA" altLang="en-US" sz="1500" dirty="0">
                <a:solidFill>
                  <a:srgbClr val="1F2A37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لَمْ … بَلْ</a:t>
            </a:r>
            <a:pPr algn="l" indent="0" marL="0">
              <a:buNone/>
            </a:pPr>
            <a:r>
              <a:rPr lang="en-US" sz="1150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 …‏</a:t>
            </a:r>
            <a:endParaRPr lang="en-US" sz="1150" dirty="0"/>
          </a:p>
        </p:txBody>
      </p:sp>
      <p:sp>
        <p:nvSpPr>
          <p:cNvPr id="45" name="Shape 42"/>
          <p:cNvSpPr/>
          <p:nvPr/>
        </p:nvSpPr>
        <p:spPr>
          <a:xfrm>
            <a:off x="6355080" y="4828032"/>
            <a:ext cx="5376672" cy="1481328"/>
          </a:xfrm>
          <a:prstGeom prst="roundRect">
            <a:avLst>
              <a:gd name="adj" fmla="val 4938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46" name="Text 43"/>
          <p:cNvSpPr txBox="1"/>
          <p:nvPr/>
        </p:nvSpPr>
        <p:spPr>
          <a:xfrm>
            <a:off x="6492240" y="4882896"/>
            <a:ext cx="2743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b="1" spc="2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USEFUL LANGUAGE</a:t>
            </a:r>
            <a:endParaRPr lang="en-US" sz="950" dirty="0"/>
          </a:p>
        </p:txBody>
      </p:sp>
      <p:sp>
        <p:nvSpPr>
          <p:cNvPr id="47" name="Text 44"/>
          <p:cNvSpPr txBox="1"/>
          <p:nvPr/>
        </p:nvSpPr>
        <p:spPr>
          <a:xfrm>
            <a:off x="8732520" y="5138928"/>
            <a:ext cx="2880360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13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أَوَّلًا … ثُمَّ …</a:t>
            </a:r>
            <a:endParaRPr lang="ar-SA" sz="1300" dirty="0"/>
          </a:p>
        </p:txBody>
      </p:sp>
      <p:sp>
        <p:nvSpPr>
          <p:cNvPr id="48" name="Text 45"/>
          <p:cNvSpPr txBox="1"/>
          <p:nvPr/>
        </p:nvSpPr>
        <p:spPr>
          <a:xfrm>
            <a:off x="6492240" y="5138928"/>
            <a:ext cx="2194560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first … then …</a:t>
            </a:r>
            <a:endParaRPr lang="en-US" sz="1000" dirty="0"/>
          </a:p>
        </p:txBody>
      </p:sp>
      <p:sp>
        <p:nvSpPr>
          <p:cNvPr id="49" name="Text 46"/>
          <p:cNvSpPr txBox="1"/>
          <p:nvPr/>
        </p:nvSpPr>
        <p:spPr>
          <a:xfrm>
            <a:off x="8732520" y="5422392"/>
            <a:ext cx="2880360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13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لِأَنَّ … · لِذٰلِكَ …</a:t>
            </a:r>
            <a:endParaRPr lang="ar-SA" sz="1300" dirty="0"/>
          </a:p>
        </p:txBody>
      </p:sp>
      <p:sp>
        <p:nvSpPr>
          <p:cNvPr id="50" name="Text 47"/>
          <p:cNvSpPr txBox="1"/>
          <p:nvPr/>
        </p:nvSpPr>
        <p:spPr>
          <a:xfrm>
            <a:off x="6492240" y="5422392"/>
            <a:ext cx="2194560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because … · so …</a:t>
            </a:r>
            <a:endParaRPr lang="en-US" sz="1000" dirty="0"/>
          </a:p>
        </p:txBody>
      </p:sp>
      <p:sp>
        <p:nvSpPr>
          <p:cNvPr id="51" name="Text 48"/>
          <p:cNvSpPr txBox="1"/>
          <p:nvPr/>
        </p:nvSpPr>
        <p:spPr>
          <a:xfrm>
            <a:off x="8732520" y="5705856"/>
            <a:ext cx="2880360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13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فِي رَأْيِي …</a:t>
            </a:r>
            <a:endParaRPr lang="ar-SA" sz="1300" dirty="0"/>
          </a:p>
        </p:txBody>
      </p:sp>
      <p:sp>
        <p:nvSpPr>
          <p:cNvPr id="52" name="Text 49"/>
          <p:cNvSpPr txBox="1"/>
          <p:nvPr/>
        </p:nvSpPr>
        <p:spPr>
          <a:xfrm>
            <a:off x="6492240" y="5705856"/>
            <a:ext cx="2194560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in my opinion …</a:t>
            </a:r>
            <a:endParaRPr lang="en-US" sz="1000" dirty="0"/>
          </a:p>
        </p:txBody>
      </p:sp>
      <p:sp>
        <p:nvSpPr>
          <p:cNvPr id="53" name="Text 50"/>
          <p:cNvSpPr txBox="1"/>
          <p:nvPr/>
        </p:nvSpPr>
        <p:spPr>
          <a:xfrm>
            <a:off x="8732520" y="5989320"/>
            <a:ext cx="2880360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13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فِي الخِتَامِ …</a:t>
            </a:r>
            <a:endParaRPr lang="ar-SA" sz="1300" dirty="0"/>
          </a:p>
        </p:txBody>
      </p:sp>
      <p:sp>
        <p:nvSpPr>
          <p:cNvPr id="54" name="Text 51"/>
          <p:cNvSpPr txBox="1"/>
          <p:nvPr/>
        </p:nvSpPr>
        <p:spPr>
          <a:xfrm>
            <a:off x="6492240" y="5989320"/>
            <a:ext cx="2194560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to finish …</a:t>
            </a:r>
            <a:endParaRPr lang="en-US" sz="1000" dirty="0"/>
          </a:p>
        </p:txBody>
      </p:sp>
      <p:sp>
        <p:nvSpPr>
          <p:cNvPr id="55" name="Text 52"/>
          <p:cNvSpPr txBox="1"/>
          <p:nvPr/>
        </p:nvSpPr>
        <p:spPr>
          <a:xfrm>
            <a:off x="10360152" y="6455664"/>
            <a:ext cx="1371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13 / 24</a:t>
            </a:r>
            <a:endParaRPr lang="en-US" sz="85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D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37744"/>
            <a:ext cx="420624" cy="420624"/>
          </a:xfrm>
          <a:prstGeom prst="ellipse">
            <a:avLst/>
          </a:prstGeom>
          <a:solidFill>
            <a:srgbClr val="1B3B6F"/>
          </a:solidFill>
          <a:ln w="12700">
            <a:solidFill>
              <a:srgbClr val="D4AF37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457200" y="21945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D4AF37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</a:t>
            </a:r>
            <a:endParaRPr lang="ar-SA" sz="18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Al Madina Online School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57200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ARABIC DEPARTMENT · MIFTAH ARABIC · IGCSE 0544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8897112" y="274320"/>
            <a:ext cx="2834640" cy="329184"/>
          </a:xfrm>
          <a:prstGeom prst="roundRect">
            <a:avLst>
              <a:gd name="adj" fmla="val 50000"/>
            </a:avLst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897112" y="274320"/>
            <a:ext cx="2834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D5-W05 · Apply workshop</a:t>
            </a:r>
            <a:endParaRPr lang="en-US" sz="950" dirty="0"/>
          </a:p>
        </p:txBody>
      </p:sp>
      <p:sp>
        <p:nvSpPr>
          <p:cNvPr id="8" name="Shape 6"/>
          <p:cNvSpPr/>
          <p:nvPr/>
        </p:nvSpPr>
        <p:spPr>
          <a:xfrm>
            <a:off x="7370978" y="274320"/>
            <a:ext cx="1388974" cy="329184"/>
          </a:xfrm>
          <a:prstGeom prst="roundRect">
            <a:avLst>
              <a:gd name="adj" fmla="val 50000"/>
            </a:avLst>
          </a:prstGeom>
          <a:solidFill>
            <a:srgbClr val="2F6FB0"/>
          </a:solidFill>
          <a:ln w="12700">
            <a:solidFill>
              <a:srgbClr val="2F6FB0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7370978" y="274320"/>
            <a:ext cx="138897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WE DO · 3 MIN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822960"/>
            <a:ext cx="6949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300" kern="0" dirty="0">
                <a:solidFill>
                  <a:srgbClr val="2F6FB0"/>
                </a:solidFill>
                <a:latin typeface="Calibri" pitchFamily="34" charset="0"/>
                <a:cs typeface="Amiri" pitchFamily="2" charset="-78"/>
              </a:rPr>
              <a:t>PART 3 · STEP 7 · SENTENCE BUILDER · FROM BOTH LESSONS</a:t>
            </a:r>
            <a:endParaRPr lang="en-US" sz="1000" dirty="0"/>
          </a:p>
        </p:txBody>
      </p:sp>
      <p:sp>
        <p:nvSpPr>
          <p:cNvPr id="11" name="Text 9"/>
          <p:cNvSpPr txBox="1"/>
          <p:nvPr/>
        </p:nvSpPr>
        <p:spPr>
          <a:xfrm>
            <a:off x="457200" y="1033272"/>
            <a:ext cx="6949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Build three correct sentences</a:t>
            </a:r>
            <a:endParaRPr lang="en-US" sz="2800" dirty="0"/>
          </a:p>
        </p:txBody>
      </p:sp>
      <p:sp>
        <p:nvSpPr>
          <p:cNvPr id="12" name="Text 10"/>
          <p:cNvSpPr txBox="1"/>
          <p:nvPr/>
        </p:nvSpPr>
        <p:spPr>
          <a:xfrm>
            <a:off x="7498080" y="868680"/>
            <a:ext cx="4233672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2800" b="1" dirty="0">
                <a:solidFill>
                  <a:srgbClr val="8A6D1E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ابْنِ الجُمْلَةَ</a:t>
            </a:r>
            <a:endParaRPr lang="ar-SA" sz="28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6455664"/>
            <a:ext cx="6400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Miftah Arabic · Development D5 · Hobbies, Sport and Leisure · D5-W05 · Apply workshop (D5-L09 + D5-L10)</a:t>
            </a:r>
            <a:endParaRPr lang="en-US" sz="850" dirty="0"/>
          </a:p>
        </p:txBody>
      </p:sp>
      <p:sp>
        <p:nvSpPr>
          <p:cNvPr id="15" name="Text 12"/>
          <p:cNvSpPr txBox="1"/>
          <p:nvPr/>
        </p:nvSpPr>
        <p:spPr>
          <a:xfrm>
            <a:off x="9180576" y="1700784"/>
            <a:ext cx="241401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2F6FB0"/>
                </a:solidFill>
                <a:latin typeface="Calibri" pitchFamily="34" charset="0"/>
                <a:cs typeface="Amiri" pitchFamily="2" charset="-78"/>
              </a:rPr>
              <a:t>Column 1 · start here</a:t>
            </a:r>
            <a:endParaRPr lang="en-US" sz="1000" dirty="0"/>
          </a:p>
        </p:txBody>
      </p:sp>
      <p:sp>
        <p:nvSpPr>
          <p:cNvPr id="16" name="Text 13"/>
          <p:cNvSpPr txBox="1"/>
          <p:nvPr/>
        </p:nvSpPr>
        <p:spPr>
          <a:xfrm>
            <a:off x="6624828" y="1700784"/>
            <a:ext cx="241401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2F6FB0"/>
                </a:solidFill>
                <a:latin typeface="Calibri" pitchFamily="34" charset="0"/>
                <a:cs typeface="Amiri" pitchFamily="2" charset="-78"/>
              </a:rPr>
              <a:t>Column 2</a:t>
            </a:r>
            <a:endParaRPr lang="en-US" sz="1000" dirty="0"/>
          </a:p>
        </p:txBody>
      </p:sp>
      <p:sp>
        <p:nvSpPr>
          <p:cNvPr id="17" name="Text 14"/>
          <p:cNvSpPr txBox="1"/>
          <p:nvPr/>
        </p:nvSpPr>
        <p:spPr>
          <a:xfrm>
            <a:off x="4069080" y="1700784"/>
            <a:ext cx="241401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2F6FB0"/>
                </a:solidFill>
                <a:latin typeface="Calibri" pitchFamily="34" charset="0"/>
                <a:cs typeface="Amiri" pitchFamily="2" charset="-78"/>
              </a:rPr>
              <a:t>Column 3</a:t>
            </a:r>
            <a:endParaRPr lang="en-US" sz="1000" dirty="0"/>
          </a:p>
        </p:txBody>
      </p:sp>
      <p:sp>
        <p:nvSpPr>
          <p:cNvPr id="18" name="Shape 15"/>
          <p:cNvSpPr/>
          <p:nvPr/>
        </p:nvSpPr>
        <p:spPr>
          <a:xfrm>
            <a:off x="457200" y="2011680"/>
            <a:ext cx="11274552" cy="1261872"/>
          </a:xfrm>
          <a:prstGeom prst="roundRect">
            <a:avLst>
              <a:gd name="adj" fmla="val 5797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19" name="Shape 16"/>
          <p:cNvSpPr/>
          <p:nvPr/>
        </p:nvSpPr>
        <p:spPr>
          <a:xfrm>
            <a:off x="594360" y="2148840"/>
            <a:ext cx="365760" cy="365760"/>
          </a:xfrm>
          <a:prstGeom prst="ellipse">
            <a:avLst/>
          </a:prstGeom>
          <a:solidFill>
            <a:srgbClr val="2F6FB0"/>
          </a:solidFill>
          <a:ln w="12700">
            <a:solidFill>
              <a:srgbClr val="2F6FB0"/>
            </a:solidFill>
            <a:prstDash val="solid"/>
          </a:ln>
        </p:spPr>
      </p:sp>
      <p:sp>
        <p:nvSpPr>
          <p:cNvPr id="20" name="Text 17"/>
          <p:cNvSpPr txBox="1"/>
          <p:nvPr/>
        </p:nvSpPr>
        <p:spPr>
          <a:xfrm>
            <a:off x="594360" y="214884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1</a:t>
            </a:r>
            <a:endParaRPr lang="en-US" sz="1200" dirty="0"/>
          </a:p>
        </p:txBody>
      </p:sp>
      <p:sp>
        <p:nvSpPr>
          <p:cNvPr id="21" name="Text 18"/>
          <p:cNvSpPr txBox="1"/>
          <p:nvPr/>
        </p:nvSpPr>
        <p:spPr>
          <a:xfrm>
            <a:off x="1051560" y="2121408"/>
            <a:ext cx="2834640" cy="10424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As a child I used to draw a lot.</a:t>
            </a:r>
            <a:endParaRPr lang="en-US" sz="1400" dirty="0"/>
          </a:p>
        </p:txBody>
      </p:sp>
      <p:sp>
        <p:nvSpPr>
          <p:cNvPr id="22" name="Shape 19"/>
          <p:cNvSpPr/>
          <p:nvPr/>
        </p:nvSpPr>
        <p:spPr>
          <a:xfrm>
            <a:off x="9180576" y="2103120"/>
            <a:ext cx="2414016" cy="512064"/>
          </a:xfrm>
          <a:prstGeom prst="roundRect">
            <a:avLst>
              <a:gd name="adj" fmla="val 10714"/>
            </a:avLst>
          </a:prstGeom>
          <a:solidFill>
            <a:srgbClr val="EEF3FA"/>
          </a:solidFill>
          <a:ln w="9525">
            <a:solidFill>
              <a:srgbClr val="C9D6EA"/>
            </a:solidFill>
            <a:prstDash val="solid"/>
          </a:ln>
        </p:spPr>
      </p:sp>
      <p:sp>
        <p:nvSpPr>
          <p:cNvPr id="23" name="Text 20"/>
          <p:cNvSpPr txBox="1"/>
          <p:nvPr/>
        </p:nvSpPr>
        <p:spPr>
          <a:xfrm>
            <a:off x="9235440" y="2103120"/>
            <a:ext cx="27432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2F6FB0"/>
                </a:solidFill>
                <a:latin typeface="Calibri" pitchFamily="34" charset="0"/>
                <a:cs typeface="Amiri" pitchFamily="2" charset="-78"/>
              </a:rPr>
              <a:t>A</a:t>
            </a:r>
            <a:endParaRPr lang="en-US" sz="1000" dirty="0"/>
          </a:p>
        </p:txBody>
      </p:sp>
      <p:sp>
        <p:nvSpPr>
          <p:cNvPr id="24" name="Text 21"/>
          <p:cNvSpPr txBox="1"/>
          <p:nvPr/>
        </p:nvSpPr>
        <p:spPr>
          <a:xfrm>
            <a:off x="9500616" y="2103120"/>
            <a:ext cx="2002536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1800" dirty="0">
                <a:solidFill>
                  <a:srgbClr val="1F2A37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فِي الطُّفُولَةِ</a:t>
            </a:r>
            <a:endParaRPr lang="ar-SA" sz="1800" dirty="0"/>
          </a:p>
        </p:txBody>
      </p:sp>
      <p:sp>
        <p:nvSpPr>
          <p:cNvPr id="25" name="Shape 22"/>
          <p:cNvSpPr/>
          <p:nvPr/>
        </p:nvSpPr>
        <p:spPr>
          <a:xfrm>
            <a:off x="9180576" y="2670048"/>
            <a:ext cx="2414016" cy="512064"/>
          </a:xfrm>
          <a:prstGeom prst="roundRect">
            <a:avLst>
              <a:gd name="adj" fmla="val 10714"/>
            </a:avLst>
          </a:prstGeom>
          <a:solidFill>
            <a:srgbClr val="EEF3FA"/>
          </a:solidFill>
          <a:ln w="9525">
            <a:solidFill>
              <a:srgbClr val="C9D6EA"/>
            </a:solidFill>
            <a:prstDash val="solid"/>
          </a:ln>
        </p:spPr>
      </p:sp>
      <p:sp>
        <p:nvSpPr>
          <p:cNvPr id="26" name="Text 23"/>
          <p:cNvSpPr txBox="1"/>
          <p:nvPr/>
        </p:nvSpPr>
        <p:spPr>
          <a:xfrm>
            <a:off x="9235440" y="2670048"/>
            <a:ext cx="27432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2F6FB0"/>
                </a:solidFill>
                <a:latin typeface="Calibri" pitchFamily="34" charset="0"/>
                <a:cs typeface="Amiri" pitchFamily="2" charset="-78"/>
              </a:rPr>
              <a:t>B</a:t>
            </a:r>
            <a:endParaRPr lang="en-US" sz="1000" dirty="0"/>
          </a:p>
        </p:txBody>
      </p:sp>
      <p:sp>
        <p:nvSpPr>
          <p:cNvPr id="27" name="Text 24"/>
          <p:cNvSpPr txBox="1"/>
          <p:nvPr/>
        </p:nvSpPr>
        <p:spPr>
          <a:xfrm>
            <a:off x="9500616" y="2670048"/>
            <a:ext cx="2002536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1800" dirty="0">
                <a:solidFill>
                  <a:srgbClr val="1F2A37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فِي المُسْتَقْبَلِ</a:t>
            </a:r>
            <a:endParaRPr lang="ar-SA" sz="1800" dirty="0"/>
          </a:p>
        </p:txBody>
      </p:sp>
      <p:sp>
        <p:nvSpPr>
          <p:cNvPr id="28" name="Shape 25"/>
          <p:cNvSpPr/>
          <p:nvPr/>
        </p:nvSpPr>
        <p:spPr>
          <a:xfrm>
            <a:off x="6624828" y="2103120"/>
            <a:ext cx="2414016" cy="512064"/>
          </a:xfrm>
          <a:prstGeom prst="roundRect">
            <a:avLst>
              <a:gd name="adj" fmla="val 10714"/>
            </a:avLst>
          </a:prstGeom>
          <a:solidFill>
            <a:srgbClr val="EEF3FA"/>
          </a:solidFill>
          <a:ln w="9525">
            <a:solidFill>
              <a:srgbClr val="C9D6EA"/>
            </a:solidFill>
            <a:prstDash val="solid"/>
          </a:ln>
        </p:spPr>
      </p:sp>
      <p:sp>
        <p:nvSpPr>
          <p:cNvPr id="29" name="Text 26"/>
          <p:cNvSpPr txBox="1"/>
          <p:nvPr/>
        </p:nvSpPr>
        <p:spPr>
          <a:xfrm>
            <a:off x="6679692" y="2103120"/>
            <a:ext cx="27432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2F6FB0"/>
                </a:solidFill>
                <a:latin typeface="Calibri" pitchFamily="34" charset="0"/>
                <a:cs typeface="Amiri" pitchFamily="2" charset="-78"/>
              </a:rPr>
              <a:t>A</a:t>
            </a:r>
            <a:endParaRPr lang="en-US" sz="1000" dirty="0"/>
          </a:p>
        </p:txBody>
      </p:sp>
      <p:sp>
        <p:nvSpPr>
          <p:cNvPr id="30" name="Text 27"/>
          <p:cNvSpPr txBox="1"/>
          <p:nvPr/>
        </p:nvSpPr>
        <p:spPr>
          <a:xfrm>
            <a:off x="6944868" y="2103120"/>
            <a:ext cx="2002536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1800" dirty="0">
                <a:solidFill>
                  <a:srgbClr val="1F2A37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كُنْتُ أَرْسُمُ</a:t>
            </a:r>
            <a:endParaRPr lang="ar-SA" sz="1800" dirty="0"/>
          </a:p>
        </p:txBody>
      </p:sp>
      <p:sp>
        <p:nvSpPr>
          <p:cNvPr id="31" name="Shape 28"/>
          <p:cNvSpPr/>
          <p:nvPr/>
        </p:nvSpPr>
        <p:spPr>
          <a:xfrm>
            <a:off x="6624828" y="2670048"/>
            <a:ext cx="2414016" cy="512064"/>
          </a:xfrm>
          <a:prstGeom prst="roundRect">
            <a:avLst>
              <a:gd name="adj" fmla="val 10714"/>
            </a:avLst>
          </a:prstGeom>
          <a:solidFill>
            <a:srgbClr val="EEF3FA"/>
          </a:solidFill>
          <a:ln w="9525">
            <a:solidFill>
              <a:srgbClr val="C9D6EA"/>
            </a:solidFill>
            <a:prstDash val="solid"/>
          </a:ln>
        </p:spPr>
      </p:sp>
      <p:sp>
        <p:nvSpPr>
          <p:cNvPr id="32" name="Text 29"/>
          <p:cNvSpPr txBox="1"/>
          <p:nvPr/>
        </p:nvSpPr>
        <p:spPr>
          <a:xfrm>
            <a:off x="6679692" y="2670048"/>
            <a:ext cx="27432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2F6FB0"/>
                </a:solidFill>
                <a:latin typeface="Calibri" pitchFamily="34" charset="0"/>
                <a:cs typeface="Amiri" pitchFamily="2" charset="-78"/>
              </a:rPr>
              <a:t>B</a:t>
            </a:r>
            <a:endParaRPr lang="en-US" sz="1000" dirty="0"/>
          </a:p>
        </p:txBody>
      </p:sp>
      <p:sp>
        <p:nvSpPr>
          <p:cNvPr id="33" name="Text 30"/>
          <p:cNvSpPr txBox="1"/>
          <p:nvPr/>
        </p:nvSpPr>
        <p:spPr>
          <a:xfrm>
            <a:off x="6944868" y="2670048"/>
            <a:ext cx="2002536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1800" dirty="0">
                <a:solidFill>
                  <a:srgbClr val="1F2A37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سَأَرْسُمُ</a:t>
            </a:r>
            <a:endParaRPr lang="ar-SA" sz="1800" dirty="0"/>
          </a:p>
        </p:txBody>
      </p:sp>
      <p:sp>
        <p:nvSpPr>
          <p:cNvPr id="34" name="Shape 31"/>
          <p:cNvSpPr/>
          <p:nvPr/>
        </p:nvSpPr>
        <p:spPr>
          <a:xfrm>
            <a:off x="4069080" y="2103120"/>
            <a:ext cx="2414016" cy="512064"/>
          </a:xfrm>
          <a:prstGeom prst="roundRect">
            <a:avLst>
              <a:gd name="adj" fmla="val 10714"/>
            </a:avLst>
          </a:prstGeom>
          <a:solidFill>
            <a:srgbClr val="EEF3FA"/>
          </a:solidFill>
          <a:ln w="9525">
            <a:solidFill>
              <a:srgbClr val="C9D6EA"/>
            </a:solidFill>
            <a:prstDash val="solid"/>
          </a:ln>
        </p:spPr>
      </p:sp>
      <p:sp>
        <p:nvSpPr>
          <p:cNvPr id="35" name="Text 32"/>
          <p:cNvSpPr txBox="1"/>
          <p:nvPr/>
        </p:nvSpPr>
        <p:spPr>
          <a:xfrm>
            <a:off x="4123944" y="2103120"/>
            <a:ext cx="27432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2F6FB0"/>
                </a:solidFill>
                <a:latin typeface="Calibri" pitchFamily="34" charset="0"/>
                <a:cs typeface="Amiri" pitchFamily="2" charset="-78"/>
              </a:rPr>
              <a:t>A</a:t>
            </a:r>
            <a:endParaRPr lang="en-US" sz="1000" dirty="0"/>
          </a:p>
        </p:txBody>
      </p:sp>
      <p:sp>
        <p:nvSpPr>
          <p:cNvPr id="36" name="Text 33"/>
          <p:cNvSpPr txBox="1"/>
          <p:nvPr/>
        </p:nvSpPr>
        <p:spPr>
          <a:xfrm>
            <a:off x="4389120" y="2103120"/>
            <a:ext cx="2002536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1800" dirty="0">
                <a:solidFill>
                  <a:srgbClr val="1F2A37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كَثِيرًا.</a:t>
            </a:r>
            <a:endParaRPr lang="ar-SA" sz="1800" dirty="0"/>
          </a:p>
        </p:txBody>
      </p:sp>
      <p:sp>
        <p:nvSpPr>
          <p:cNvPr id="37" name="Shape 34"/>
          <p:cNvSpPr/>
          <p:nvPr/>
        </p:nvSpPr>
        <p:spPr>
          <a:xfrm>
            <a:off x="4069080" y="2670048"/>
            <a:ext cx="2414016" cy="512064"/>
          </a:xfrm>
          <a:prstGeom prst="roundRect">
            <a:avLst>
              <a:gd name="adj" fmla="val 10714"/>
            </a:avLst>
          </a:prstGeom>
          <a:solidFill>
            <a:srgbClr val="EEF3FA"/>
          </a:solidFill>
          <a:ln w="9525">
            <a:solidFill>
              <a:srgbClr val="C9D6EA"/>
            </a:solidFill>
            <a:prstDash val="solid"/>
          </a:ln>
        </p:spPr>
      </p:sp>
      <p:sp>
        <p:nvSpPr>
          <p:cNvPr id="38" name="Text 35"/>
          <p:cNvSpPr txBox="1"/>
          <p:nvPr/>
        </p:nvSpPr>
        <p:spPr>
          <a:xfrm>
            <a:off x="4123944" y="2670048"/>
            <a:ext cx="27432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2F6FB0"/>
                </a:solidFill>
                <a:latin typeface="Calibri" pitchFamily="34" charset="0"/>
                <a:cs typeface="Amiri" pitchFamily="2" charset="-78"/>
              </a:rPr>
              <a:t>B</a:t>
            </a:r>
            <a:endParaRPr lang="en-US" sz="1000" dirty="0"/>
          </a:p>
        </p:txBody>
      </p:sp>
      <p:sp>
        <p:nvSpPr>
          <p:cNvPr id="39" name="Text 36"/>
          <p:cNvSpPr txBox="1"/>
          <p:nvPr/>
        </p:nvSpPr>
        <p:spPr>
          <a:xfrm>
            <a:off x="4389120" y="2670048"/>
            <a:ext cx="2002536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1800" dirty="0">
                <a:solidFill>
                  <a:srgbClr val="1F2A37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كَثِيرٌ.</a:t>
            </a:r>
            <a:endParaRPr lang="ar-SA" sz="1800" dirty="0"/>
          </a:p>
        </p:txBody>
      </p:sp>
      <p:sp>
        <p:nvSpPr>
          <p:cNvPr id="40" name="Shape 37"/>
          <p:cNvSpPr/>
          <p:nvPr/>
        </p:nvSpPr>
        <p:spPr>
          <a:xfrm>
            <a:off x="457200" y="3392424"/>
            <a:ext cx="11274552" cy="1261872"/>
          </a:xfrm>
          <a:prstGeom prst="roundRect">
            <a:avLst>
              <a:gd name="adj" fmla="val 5797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41" name="Shape 38"/>
          <p:cNvSpPr/>
          <p:nvPr/>
        </p:nvSpPr>
        <p:spPr>
          <a:xfrm>
            <a:off x="594360" y="3529584"/>
            <a:ext cx="365760" cy="365760"/>
          </a:xfrm>
          <a:prstGeom prst="ellipse">
            <a:avLst/>
          </a:prstGeom>
          <a:solidFill>
            <a:srgbClr val="2F6FB0"/>
          </a:solidFill>
          <a:ln w="12700">
            <a:solidFill>
              <a:srgbClr val="2F6FB0"/>
            </a:solidFill>
            <a:prstDash val="solid"/>
          </a:ln>
        </p:spPr>
      </p:sp>
      <p:sp>
        <p:nvSpPr>
          <p:cNvPr id="42" name="Text 39"/>
          <p:cNvSpPr txBox="1"/>
          <p:nvPr/>
        </p:nvSpPr>
        <p:spPr>
          <a:xfrm>
            <a:off x="594360" y="3529584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2</a:t>
            </a:r>
            <a:endParaRPr lang="en-US" sz="1200" dirty="0"/>
          </a:p>
        </p:txBody>
      </p:sp>
      <p:sp>
        <p:nvSpPr>
          <p:cNvPr id="43" name="Text 40"/>
          <p:cNvSpPr txBox="1"/>
          <p:nvPr/>
        </p:nvSpPr>
        <p:spPr>
          <a:xfrm>
            <a:off x="1051560" y="3502152"/>
            <a:ext cx="2834640" cy="10424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I used to swim, but now I run.</a:t>
            </a:r>
            <a:endParaRPr lang="en-US" sz="1400" dirty="0"/>
          </a:p>
        </p:txBody>
      </p:sp>
      <p:sp>
        <p:nvSpPr>
          <p:cNvPr id="44" name="Shape 41"/>
          <p:cNvSpPr/>
          <p:nvPr/>
        </p:nvSpPr>
        <p:spPr>
          <a:xfrm>
            <a:off x="9180576" y="3483864"/>
            <a:ext cx="2414016" cy="512064"/>
          </a:xfrm>
          <a:prstGeom prst="roundRect">
            <a:avLst>
              <a:gd name="adj" fmla="val 10714"/>
            </a:avLst>
          </a:prstGeom>
          <a:solidFill>
            <a:srgbClr val="EEF3FA"/>
          </a:solidFill>
          <a:ln w="9525">
            <a:solidFill>
              <a:srgbClr val="C9D6EA"/>
            </a:solidFill>
            <a:prstDash val="solid"/>
          </a:ln>
        </p:spPr>
      </p:sp>
      <p:sp>
        <p:nvSpPr>
          <p:cNvPr id="45" name="Text 42"/>
          <p:cNvSpPr txBox="1"/>
          <p:nvPr/>
        </p:nvSpPr>
        <p:spPr>
          <a:xfrm>
            <a:off x="9235440" y="3483864"/>
            <a:ext cx="27432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2F6FB0"/>
                </a:solidFill>
                <a:latin typeface="Calibri" pitchFamily="34" charset="0"/>
                <a:cs typeface="Amiri" pitchFamily="2" charset="-78"/>
              </a:rPr>
              <a:t>A</a:t>
            </a:r>
            <a:endParaRPr lang="en-US" sz="1000" dirty="0"/>
          </a:p>
        </p:txBody>
      </p:sp>
      <p:sp>
        <p:nvSpPr>
          <p:cNvPr id="46" name="Text 43"/>
          <p:cNvSpPr txBox="1"/>
          <p:nvPr/>
        </p:nvSpPr>
        <p:spPr>
          <a:xfrm>
            <a:off x="9500616" y="3483864"/>
            <a:ext cx="2002536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1800" dirty="0">
                <a:solidFill>
                  <a:srgbClr val="1F2A37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كُنْتُ أَسْبَحُ،</a:t>
            </a:r>
            <a:endParaRPr lang="ar-SA" sz="1800" dirty="0"/>
          </a:p>
        </p:txBody>
      </p:sp>
      <p:sp>
        <p:nvSpPr>
          <p:cNvPr id="47" name="Shape 44"/>
          <p:cNvSpPr/>
          <p:nvPr/>
        </p:nvSpPr>
        <p:spPr>
          <a:xfrm>
            <a:off x="9180576" y="4050792"/>
            <a:ext cx="2414016" cy="512064"/>
          </a:xfrm>
          <a:prstGeom prst="roundRect">
            <a:avLst>
              <a:gd name="adj" fmla="val 10714"/>
            </a:avLst>
          </a:prstGeom>
          <a:solidFill>
            <a:srgbClr val="EEF3FA"/>
          </a:solidFill>
          <a:ln w="9525">
            <a:solidFill>
              <a:srgbClr val="C9D6EA"/>
            </a:solidFill>
            <a:prstDash val="solid"/>
          </a:ln>
        </p:spPr>
      </p:sp>
      <p:sp>
        <p:nvSpPr>
          <p:cNvPr id="48" name="Text 45"/>
          <p:cNvSpPr txBox="1"/>
          <p:nvPr/>
        </p:nvSpPr>
        <p:spPr>
          <a:xfrm>
            <a:off x="9235440" y="4050792"/>
            <a:ext cx="27432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2F6FB0"/>
                </a:solidFill>
                <a:latin typeface="Calibri" pitchFamily="34" charset="0"/>
                <a:cs typeface="Amiri" pitchFamily="2" charset="-78"/>
              </a:rPr>
              <a:t>B</a:t>
            </a:r>
            <a:endParaRPr lang="en-US" sz="1000" dirty="0"/>
          </a:p>
        </p:txBody>
      </p:sp>
      <p:sp>
        <p:nvSpPr>
          <p:cNvPr id="49" name="Text 46"/>
          <p:cNvSpPr txBox="1"/>
          <p:nvPr/>
        </p:nvSpPr>
        <p:spPr>
          <a:xfrm>
            <a:off x="9500616" y="4050792"/>
            <a:ext cx="2002536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1800" dirty="0">
                <a:solidFill>
                  <a:srgbClr val="1F2A37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سَبَحْتُ،</a:t>
            </a:r>
            <a:endParaRPr lang="ar-SA" sz="1800" dirty="0"/>
          </a:p>
        </p:txBody>
      </p:sp>
      <p:sp>
        <p:nvSpPr>
          <p:cNvPr id="50" name="Shape 47"/>
          <p:cNvSpPr/>
          <p:nvPr/>
        </p:nvSpPr>
        <p:spPr>
          <a:xfrm>
            <a:off x="6624828" y="3483864"/>
            <a:ext cx="2414016" cy="512064"/>
          </a:xfrm>
          <a:prstGeom prst="roundRect">
            <a:avLst>
              <a:gd name="adj" fmla="val 10714"/>
            </a:avLst>
          </a:prstGeom>
          <a:solidFill>
            <a:srgbClr val="EEF3FA"/>
          </a:solidFill>
          <a:ln w="9525">
            <a:solidFill>
              <a:srgbClr val="C9D6EA"/>
            </a:solidFill>
            <a:prstDash val="solid"/>
          </a:ln>
        </p:spPr>
      </p:sp>
      <p:sp>
        <p:nvSpPr>
          <p:cNvPr id="51" name="Text 48"/>
          <p:cNvSpPr txBox="1"/>
          <p:nvPr/>
        </p:nvSpPr>
        <p:spPr>
          <a:xfrm>
            <a:off x="6679692" y="3483864"/>
            <a:ext cx="27432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2F6FB0"/>
                </a:solidFill>
                <a:latin typeface="Calibri" pitchFamily="34" charset="0"/>
                <a:cs typeface="Amiri" pitchFamily="2" charset="-78"/>
              </a:rPr>
              <a:t>A</a:t>
            </a:r>
            <a:endParaRPr lang="en-US" sz="1000" dirty="0"/>
          </a:p>
        </p:txBody>
      </p:sp>
      <p:sp>
        <p:nvSpPr>
          <p:cNvPr id="52" name="Text 49"/>
          <p:cNvSpPr txBox="1"/>
          <p:nvPr/>
        </p:nvSpPr>
        <p:spPr>
          <a:xfrm>
            <a:off x="6944868" y="3483864"/>
            <a:ext cx="2002536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1800" dirty="0">
                <a:solidFill>
                  <a:srgbClr val="1F2A37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وَلٰكِنَّنِي الآنَ</a:t>
            </a:r>
            <a:endParaRPr lang="ar-SA" sz="1800" dirty="0"/>
          </a:p>
        </p:txBody>
      </p:sp>
      <p:sp>
        <p:nvSpPr>
          <p:cNvPr id="53" name="Shape 50"/>
          <p:cNvSpPr/>
          <p:nvPr/>
        </p:nvSpPr>
        <p:spPr>
          <a:xfrm>
            <a:off x="6624828" y="4050792"/>
            <a:ext cx="2414016" cy="512064"/>
          </a:xfrm>
          <a:prstGeom prst="roundRect">
            <a:avLst>
              <a:gd name="adj" fmla="val 10714"/>
            </a:avLst>
          </a:prstGeom>
          <a:solidFill>
            <a:srgbClr val="EEF3FA"/>
          </a:solidFill>
          <a:ln w="9525">
            <a:solidFill>
              <a:srgbClr val="C9D6EA"/>
            </a:solidFill>
            <a:prstDash val="solid"/>
          </a:ln>
        </p:spPr>
      </p:sp>
      <p:sp>
        <p:nvSpPr>
          <p:cNvPr id="54" name="Text 51"/>
          <p:cNvSpPr txBox="1"/>
          <p:nvPr/>
        </p:nvSpPr>
        <p:spPr>
          <a:xfrm>
            <a:off x="6679692" y="4050792"/>
            <a:ext cx="27432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2F6FB0"/>
                </a:solidFill>
                <a:latin typeface="Calibri" pitchFamily="34" charset="0"/>
                <a:cs typeface="Amiri" pitchFamily="2" charset="-78"/>
              </a:rPr>
              <a:t>B</a:t>
            </a:r>
            <a:endParaRPr lang="en-US" sz="1000" dirty="0"/>
          </a:p>
        </p:txBody>
      </p:sp>
      <p:sp>
        <p:nvSpPr>
          <p:cNvPr id="55" name="Text 52"/>
          <p:cNvSpPr txBox="1"/>
          <p:nvPr/>
        </p:nvSpPr>
        <p:spPr>
          <a:xfrm>
            <a:off x="6944868" y="4050792"/>
            <a:ext cx="2002536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1800" dirty="0">
                <a:solidFill>
                  <a:srgbClr val="1F2A37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وَلٰكِنَّنِي أَمْسِ</a:t>
            </a:r>
            <a:endParaRPr lang="ar-SA" sz="1800" dirty="0"/>
          </a:p>
        </p:txBody>
      </p:sp>
      <p:sp>
        <p:nvSpPr>
          <p:cNvPr id="56" name="Shape 53"/>
          <p:cNvSpPr/>
          <p:nvPr/>
        </p:nvSpPr>
        <p:spPr>
          <a:xfrm>
            <a:off x="4069080" y="3483864"/>
            <a:ext cx="2414016" cy="512064"/>
          </a:xfrm>
          <a:prstGeom prst="roundRect">
            <a:avLst>
              <a:gd name="adj" fmla="val 10714"/>
            </a:avLst>
          </a:prstGeom>
          <a:solidFill>
            <a:srgbClr val="EEF3FA"/>
          </a:solidFill>
          <a:ln w="9525">
            <a:solidFill>
              <a:srgbClr val="C9D6EA"/>
            </a:solidFill>
            <a:prstDash val="solid"/>
          </a:ln>
        </p:spPr>
      </p:sp>
      <p:sp>
        <p:nvSpPr>
          <p:cNvPr id="57" name="Text 54"/>
          <p:cNvSpPr txBox="1"/>
          <p:nvPr/>
        </p:nvSpPr>
        <p:spPr>
          <a:xfrm>
            <a:off x="4123944" y="3483864"/>
            <a:ext cx="27432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2F6FB0"/>
                </a:solidFill>
                <a:latin typeface="Calibri" pitchFamily="34" charset="0"/>
                <a:cs typeface="Amiri" pitchFamily="2" charset="-78"/>
              </a:rPr>
              <a:t>A</a:t>
            </a:r>
            <a:endParaRPr lang="en-US" sz="1000" dirty="0"/>
          </a:p>
        </p:txBody>
      </p:sp>
      <p:sp>
        <p:nvSpPr>
          <p:cNvPr id="58" name="Text 55"/>
          <p:cNvSpPr txBox="1"/>
          <p:nvPr/>
        </p:nvSpPr>
        <p:spPr>
          <a:xfrm>
            <a:off x="4389120" y="3483864"/>
            <a:ext cx="2002536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1800" dirty="0">
                <a:solidFill>
                  <a:srgbClr val="1F2A37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أَرْكُضُ.</a:t>
            </a:r>
            <a:endParaRPr lang="ar-SA" sz="1800" dirty="0"/>
          </a:p>
        </p:txBody>
      </p:sp>
      <p:sp>
        <p:nvSpPr>
          <p:cNvPr id="59" name="Shape 56"/>
          <p:cNvSpPr/>
          <p:nvPr/>
        </p:nvSpPr>
        <p:spPr>
          <a:xfrm>
            <a:off x="4069080" y="4050792"/>
            <a:ext cx="2414016" cy="512064"/>
          </a:xfrm>
          <a:prstGeom prst="roundRect">
            <a:avLst>
              <a:gd name="adj" fmla="val 10714"/>
            </a:avLst>
          </a:prstGeom>
          <a:solidFill>
            <a:srgbClr val="EEF3FA"/>
          </a:solidFill>
          <a:ln w="9525">
            <a:solidFill>
              <a:srgbClr val="C9D6EA"/>
            </a:solidFill>
            <a:prstDash val="solid"/>
          </a:ln>
        </p:spPr>
      </p:sp>
      <p:sp>
        <p:nvSpPr>
          <p:cNvPr id="60" name="Text 57"/>
          <p:cNvSpPr txBox="1"/>
          <p:nvPr/>
        </p:nvSpPr>
        <p:spPr>
          <a:xfrm>
            <a:off x="4123944" y="4050792"/>
            <a:ext cx="27432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2F6FB0"/>
                </a:solidFill>
                <a:latin typeface="Calibri" pitchFamily="34" charset="0"/>
                <a:cs typeface="Amiri" pitchFamily="2" charset="-78"/>
              </a:rPr>
              <a:t>B</a:t>
            </a:r>
            <a:endParaRPr lang="en-US" sz="1000" dirty="0"/>
          </a:p>
        </p:txBody>
      </p:sp>
      <p:sp>
        <p:nvSpPr>
          <p:cNvPr id="61" name="Text 58"/>
          <p:cNvSpPr txBox="1"/>
          <p:nvPr/>
        </p:nvSpPr>
        <p:spPr>
          <a:xfrm>
            <a:off x="4389120" y="4050792"/>
            <a:ext cx="2002536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1800" dirty="0">
                <a:solidFill>
                  <a:srgbClr val="1F2A37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رَكَضْتُ.</a:t>
            </a:r>
            <a:endParaRPr lang="ar-SA" sz="1800" dirty="0"/>
          </a:p>
        </p:txBody>
      </p:sp>
      <p:sp>
        <p:nvSpPr>
          <p:cNvPr id="62" name="Shape 59"/>
          <p:cNvSpPr/>
          <p:nvPr/>
        </p:nvSpPr>
        <p:spPr>
          <a:xfrm>
            <a:off x="457200" y="4773168"/>
            <a:ext cx="11274552" cy="1261872"/>
          </a:xfrm>
          <a:prstGeom prst="roundRect">
            <a:avLst>
              <a:gd name="adj" fmla="val 5797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63" name="Shape 60"/>
          <p:cNvSpPr/>
          <p:nvPr/>
        </p:nvSpPr>
        <p:spPr>
          <a:xfrm>
            <a:off x="594360" y="4910328"/>
            <a:ext cx="365760" cy="365760"/>
          </a:xfrm>
          <a:prstGeom prst="ellipse">
            <a:avLst/>
          </a:prstGeom>
          <a:solidFill>
            <a:srgbClr val="2F6FB0"/>
          </a:solidFill>
          <a:ln w="12700">
            <a:solidFill>
              <a:srgbClr val="2F6FB0"/>
            </a:solidFill>
            <a:prstDash val="solid"/>
          </a:ln>
        </p:spPr>
      </p:sp>
      <p:sp>
        <p:nvSpPr>
          <p:cNvPr id="64" name="Text 61"/>
          <p:cNvSpPr txBox="1"/>
          <p:nvPr/>
        </p:nvSpPr>
        <p:spPr>
          <a:xfrm>
            <a:off x="594360" y="4910328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3</a:t>
            </a:r>
            <a:endParaRPr lang="en-US" sz="1200" dirty="0"/>
          </a:p>
        </p:txBody>
      </p:sp>
      <p:sp>
        <p:nvSpPr>
          <p:cNvPr id="65" name="Text 62"/>
          <p:cNvSpPr txBox="1"/>
          <p:nvPr/>
        </p:nvSpPr>
        <p:spPr>
          <a:xfrm>
            <a:off x="1051560" y="4882896"/>
            <a:ext cx="2834640" cy="10424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As for now, I play tennis.</a:t>
            </a:r>
            <a:endParaRPr lang="en-US" sz="1400" dirty="0"/>
          </a:p>
        </p:txBody>
      </p:sp>
      <p:sp>
        <p:nvSpPr>
          <p:cNvPr id="66" name="Shape 63"/>
          <p:cNvSpPr/>
          <p:nvPr/>
        </p:nvSpPr>
        <p:spPr>
          <a:xfrm>
            <a:off x="9180576" y="4864608"/>
            <a:ext cx="2414016" cy="512064"/>
          </a:xfrm>
          <a:prstGeom prst="roundRect">
            <a:avLst>
              <a:gd name="adj" fmla="val 10714"/>
            </a:avLst>
          </a:prstGeom>
          <a:solidFill>
            <a:srgbClr val="EEF3FA"/>
          </a:solidFill>
          <a:ln w="9525">
            <a:solidFill>
              <a:srgbClr val="C9D6EA"/>
            </a:solidFill>
            <a:prstDash val="solid"/>
          </a:ln>
        </p:spPr>
      </p:sp>
      <p:sp>
        <p:nvSpPr>
          <p:cNvPr id="67" name="Text 64"/>
          <p:cNvSpPr txBox="1"/>
          <p:nvPr/>
        </p:nvSpPr>
        <p:spPr>
          <a:xfrm>
            <a:off x="9235440" y="4864608"/>
            <a:ext cx="27432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2F6FB0"/>
                </a:solidFill>
                <a:latin typeface="Calibri" pitchFamily="34" charset="0"/>
                <a:cs typeface="Amiri" pitchFamily="2" charset="-78"/>
              </a:rPr>
              <a:t>A</a:t>
            </a:r>
            <a:endParaRPr lang="en-US" sz="1000" dirty="0"/>
          </a:p>
        </p:txBody>
      </p:sp>
      <p:sp>
        <p:nvSpPr>
          <p:cNvPr id="68" name="Text 65"/>
          <p:cNvSpPr txBox="1"/>
          <p:nvPr/>
        </p:nvSpPr>
        <p:spPr>
          <a:xfrm>
            <a:off x="9500616" y="4864608"/>
            <a:ext cx="2002536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1800" dirty="0">
                <a:solidFill>
                  <a:srgbClr val="1F2A37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أَمَّا الآنَ</a:t>
            </a:r>
            <a:endParaRPr lang="ar-SA" sz="1800" dirty="0"/>
          </a:p>
        </p:txBody>
      </p:sp>
      <p:sp>
        <p:nvSpPr>
          <p:cNvPr id="69" name="Shape 66"/>
          <p:cNvSpPr/>
          <p:nvPr/>
        </p:nvSpPr>
        <p:spPr>
          <a:xfrm>
            <a:off x="9180576" y="5431536"/>
            <a:ext cx="2414016" cy="512064"/>
          </a:xfrm>
          <a:prstGeom prst="roundRect">
            <a:avLst>
              <a:gd name="adj" fmla="val 10714"/>
            </a:avLst>
          </a:prstGeom>
          <a:solidFill>
            <a:srgbClr val="EEF3FA"/>
          </a:solidFill>
          <a:ln w="9525">
            <a:solidFill>
              <a:srgbClr val="C9D6EA"/>
            </a:solidFill>
            <a:prstDash val="solid"/>
          </a:ln>
        </p:spPr>
      </p:sp>
      <p:sp>
        <p:nvSpPr>
          <p:cNvPr id="70" name="Text 67"/>
          <p:cNvSpPr txBox="1"/>
          <p:nvPr/>
        </p:nvSpPr>
        <p:spPr>
          <a:xfrm>
            <a:off x="9235440" y="5431536"/>
            <a:ext cx="27432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2F6FB0"/>
                </a:solidFill>
                <a:latin typeface="Calibri" pitchFamily="34" charset="0"/>
                <a:cs typeface="Amiri" pitchFamily="2" charset="-78"/>
              </a:rPr>
              <a:t>B</a:t>
            </a:r>
            <a:endParaRPr lang="en-US" sz="1000" dirty="0"/>
          </a:p>
        </p:txBody>
      </p:sp>
      <p:sp>
        <p:nvSpPr>
          <p:cNvPr id="71" name="Text 68"/>
          <p:cNvSpPr txBox="1"/>
          <p:nvPr/>
        </p:nvSpPr>
        <p:spPr>
          <a:xfrm>
            <a:off x="9500616" y="5431536"/>
            <a:ext cx="2002536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1800" dirty="0">
                <a:solidFill>
                  <a:srgbClr val="1F2A37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أَمَّا الآنُ</a:t>
            </a:r>
            <a:endParaRPr lang="ar-SA" sz="1800" dirty="0"/>
          </a:p>
        </p:txBody>
      </p:sp>
      <p:sp>
        <p:nvSpPr>
          <p:cNvPr id="72" name="Shape 69"/>
          <p:cNvSpPr/>
          <p:nvPr/>
        </p:nvSpPr>
        <p:spPr>
          <a:xfrm>
            <a:off x="6624828" y="4864608"/>
            <a:ext cx="2414016" cy="512064"/>
          </a:xfrm>
          <a:prstGeom prst="roundRect">
            <a:avLst>
              <a:gd name="adj" fmla="val 10714"/>
            </a:avLst>
          </a:prstGeom>
          <a:solidFill>
            <a:srgbClr val="EEF3FA"/>
          </a:solidFill>
          <a:ln w="9525">
            <a:solidFill>
              <a:srgbClr val="C9D6EA"/>
            </a:solidFill>
            <a:prstDash val="solid"/>
          </a:ln>
        </p:spPr>
      </p:sp>
      <p:sp>
        <p:nvSpPr>
          <p:cNvPr id="73" name="Text 70"/>
          <p:cNvSpPr txBox="1"/>
          <p:nvPr/>
        </p:nvSpPr>
        <p:spPr>
          <a:xfrm>
            <a:off x="6679692" y="4864608"/>
            <a:ext cx="27432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2F6FB0"/>
                </a:solidFill>
                <a:latin typeface="Calibri" pitchFamily="34" charset="0"/>
                <a:cs typeface="Amiri" pitchFamily="2" charset="-78"/>
              </a:rPr>
              <a:t>A</a:t>
            </a:r>
            <a:endParaRPr lang="en-US" sz="1000" dirty="0"/>
          </a:p>
        </p:txBody>
      </p:sp>
      <p:sp>
        <p:nvSpPr>
          <p:cNvPr id="74" name="Text 71"/>
          <p:cNvSpPr txBox="1"/>
          <p:nvPr/>
        </p:nvSpPr>
        <p:spPr>
          <a:xfrm>
            <a:off x="6944868" y="4864608"/>
            <a:ext cx="2002536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1800" dirty="0">
                <a:solidFill>
                  <a:srgbClr val="1F2A37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فَأَلْعَبُ</a:t>
            </a:r>
            <a:endParaRPr lang="ar-SA" sz="1800" dirty="0"/>
          </a:p>
        </p:txBody>
      </p:sp>
      <p:sp>
        <p:nvSpPr>
          <p:cNvPr id="75" name="Shape 72"/>
          <p:cNvSpPr/>
          <p:nvPr/>
        </p:nvSpPr>
        <p:spPr>
          <a:xfrm>
            <a:off x="6624828" y="5431536"/>
            <a:ext cx="2414016" cy="512064"/>
          </a:xfrm>
          <a:prstGeom prst="roundRect">
            <a:avLst>
              <a:gd name="adj" fmla="val 10714"/>
            </a:avLst>
          </a:prstGeom>
          <a:solidFill>
            <a:srgbClr val="EEF3FA"/>
          </a:solidFill>
          <a:ln w="9525">
            <a:solidFill>
              <a:srgbClr val="C9D6EA"/>
            </a:solidFill>
            <a:prstDash val="solid"/>
          </a:ln>
        </p:spPr>
      </p:sp>
      <p:sp>
        <p:nvSpPr>
          <p:cNvPr id="76" name="Text 73"/>
          <p:cNvSpPr txBox="1"/>
          <p:nvPr/>
        </p:nvSpPr>
        <p:spPr>
          <a:xfrm>
            <a:off x="6679692" y="5431536"/>
            <a:ext cx="27432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2F6FB0"/>
                </a:solidFill>
                <a:latin typeface="Calibri" pitchFamily="34" charset="0"/>
                <a:cs typeface="Amiri" pitchFamily="2" charset="-78"/>
              </a:rPr>
              <a:t>B</a:t>
            </a:r>
            <a:endParaRPr lang="en-US" sz="1000" dirty="0"/>
          </a:p>
        </p:txBody>
      </p:sp>
      <p:sp>
        <p:nvSpPr>
          <p:cNvPr id="77" name="Text 74"/>
          <p:cNvSpPr txBox="1"/>
          <p:nvPr/>
        </p:nvSpPr>
        <p:spPr>
          <a:xfrm>
            <a:off x="6944868" y="5431536"/>
            <a:ext cx="2002536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1800" dirty="0">
                <a:solidFill>
                  <a:srgbClr val="1F2A37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أَلْعَبُ</a:t>
            </a:r>
            <a:endParaRPr lang="ar-SA" sz="1800" dirty="0"/>
          </a:p>
        </p:txBody>
      </p:sp>
      <p:sp>
        <p:nvSpPr>
          <p:cNvPr id="78" name="Shape 75"/>
          <p:cNvSpPr/>
          <p:nvPr/>
        </p:nvSpPr>
        <p:spPr>
          <a:xfrm>
            <a:off x="4069080" y="4864608"/>
            <a:ext cx="2414016" cy="512064"/>
          </a:xfrm>
          <a:prstGeom prst="roundRect">
            <a:avLst>
              <a:gd name="adj" fmla="val 10714"/>
            </a:avLst>
          </a:prstGeom>
          <a:solidFill>
            <a:srgbClr val="EEF3FA"/>
          </a:solidFill>
          <a:ln w="9525">
            <a:solidFill>
              <a:srgbClr val="C9D6EA"/>
            </a:solidFill>
            <a:prstDash val="solid"/>
          </a:ln>
        </p:spPr>
      </p:sp>
      <p:sp>
        <p:nvSpPr>
          <p:cNvPr id="79" name="Text 76"/>
          <p:cNvSpPr txBox="1"/>
          <p:nvPr/>
        </p:nvSpPr>
        <p:spPr>
          <a:xfrm>
            <a:off x="4123944" y="4864608"/>
            <a:ext cx="27432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2F6FB0"/>
                </a:solidFill>
                <a:latin typeface="Calibri" pitchFamily="34" charset="0"/>
                <a:cs typeface="Amiri" pitchFamily="2" charset="-78"/>
              </a:rPr>
              <a:t>A</a:t>
            </a:r>
            <a:endParaRPr lang="en-US" sz="1000" dirty="0"/>
          </a:p>
        </p:txBody>
      </p:sp>
      <p:sp>
        <p:nvSpPr>
          <p:cNvPr id="80" name="Text 77"/>
          <p:cNvSpPr txBox="1"/>
          <p:nvPr/>
        </p:nvSpPr>
        <p:spPr>
          <a:xfrm>
            <a:off x="4389120" y="4864608"/>
            <a:ext cx="2002536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1800" dirty="0">
                <a:solidFill>
                  <a:srgbClr val="1F2A37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التِّنِسَ.</a:t>
            </a:r>
            <a:endParaRPr lang="ar-SA" sz="1800" dirty="0"/>
          </a:p>
        </p:txBody>
      </p:sp>
      <p:sp>
        <p:nvSpPr>
          <p:cNvPr id="81" name="Shape 78"/>
          <p:cNvSpPr/>
          <p:nvPr/>
        </p:nvSpPr>
        <p:spPr>
          <a:xfrm>
            <a:off x="4069080" y="5431536"/>
            <a:ext cx="2414016" cy="512064"/>
          </a:xfrm>
          <a:prstGeom prst="roundRect">
            <a:avLst>
              <a:gd name="adj" fmla="val 10714"/>
            </a:avLst>
          </a:prstGeom>
          <a:solidFill>
            <a:srgbClr val="EEF3FA"/>
          </a:solidFill>
          <a:ln w="9525">
            <a:solidFill>
              <a:srgbClr val="C9D6EA"/>
            </a:solidFill>
            <a:prstDash val="solid"/>
          </a:ln>
        </p:spPr>
      </p:sp>
      <p:sp>
        <p:nvSpPr>
          <p:cNvPr id="82" name="Text 79"/>
          <p:cNvSpPr txBox="1"/>
          <p:nvPr/>
        </p:nvSpPr>
        <p:spPr>
          <a:xfrm>
            <a:off x="4123944" y="5431536"/>
            <a:ext cx="27432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2F6FB0"/>
                </a:solidFill>
                <a:latin typeface="Calibri" pitchFamily="34" charset="0"/>
                <a:cs typeface="Amiri" pitchFamily="2" charset="-78"/>
              </a:rPr>
              <a:t>B</a:t>
            </a:r>
            <a:endParaRPr lang="en-US" sz="1000" dirty="0"/>
          </a:p>
        </p:txBody>
      </p:sp>
      <p:sp>
        <p:nvSpPr>
          <p:cNvPr id="83" name="Text 80"/>
          <p:cNvSpPr txBox="1"/>
          <p:nvPr/>
        </p:nvSpPr>
        <p:spPr>
          <a:xfrm>
            <a:off x="4389120" y="5431536"/>
            <a:ext cx="2002536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1800" dirty="0">
                <a:solidFill>
                  <a:srgbClr val="1F2A37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التِّنِسُ.</a:t>
            </a:r>
            <a:endParaRPr lang="ar-SA" sz="1800" dirty="0"/>
          </a:p>
        </p:txBody>
      </p:sp>
      <p:sp>
        <p:nvSpPr>
          <p:cNvPr id="84" name="Text 81"/>
          <p:cNvSpPr txBox="1"/>
          <p:nvPr/>
        </p:nvSpPr>
        <p:spPr>
          <a:xfrm>
            <a:off x="10360152" y="6455664"/>
            <a:ext cx="1371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14 / 24</a:t>
            </a:r>
            <a:endParaRPr lang="en-US" sz="85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D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37744"/>
            <a:ext cx="420624" cy="420624"/>
          </a:xfrm>
          <a:prstGeom prst="ellipse">
            <a:avLst/>
          </a:prstGeom>
          <a:solidFill>
            <a:srgbClr val="1B3B6F"/>
          </a:solidFill>
          <a:ln w="12700">
            <a:solidFill>
              <a:srgbClr val="D4AF37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457200" y="21945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D4AF37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</a:t>
            </a:r>
            <a:endParaRPr lang="ar-SA" sz="18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Al Madina Online School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57200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ARABIC DEPARTMENT · MIFTAH ARABIC · IGCSE 0544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8897112" y="274320"/>
            <a:ext cx="2834640" cy="329184"/>
          </a:xfrm>
          <a:prstGeom prst="roundRect">
            <a:avLst>
              <a:gd name="adj" fmla="val 50000"/>
            </a:avLst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897112" y="274320"/>
            <a:ext cx="2834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D5-W05 · Apply workshop</a:t>
            </a:r>
            <a:endParaRPr lang="en-US" sz="950" dirty="0"/>
          </a:p>
        </p:txBody>
      </p:sp>
      <p:sp>
        <p:nvSpPr>
          <p:cNvPr id="8" name="Shape 6"/>
          <p:cNvSpPr/>
          <p:nvPr/>
        </p:nvSpPr>
        <p:spPr>
          <a:xfrm>
            <a:off x="7143293" y="274320"/>
            <a:ext cx="1616659" cy="329184"/>
          </a:xfrm>
          <a:prstGeom prst="roundRect">
            <a:avLst>
              <a:gd name="adj" fmla="val 50000"/>
            </a:avLst>
          </a:prstGeom>
          <a:solidFill>
            <a:srgbClr val="8A6D1E"/>
          </a:solidFill>
          <a:ln w="12700">
            <a:solidFill>
              <a:srgbClr val="8A6D1E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7143293" y="274320"/>
            <a:ext cx="1616659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FEEDBACK · 1 MIN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822960"/>
            <a:ext cx="6949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3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STEP 7 · CHECK YOUR SENTENCES</a:t>
            </a:r>
            <a:endParaRPr lang="en-US" sz="1000" dirty="0"/>
          </a:p>
        </p:txBody>
      </p:sp>
      <p:sp>
        <p:nvSpPr>
          <p:cNvPr id="11" name="Text 9"/>
          <p:cNvSpPr txBox="1"/>
          <p:nvPr/>
        </p:nvSpPr>
        <p:spPr>
          <a:xfrm>
            <a:off x="457200" y="1033272"/>
            <a:ext cx="6949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Sentence builder: answers</a:t>
            </a:r>
            <a:endParaRPr lang="en-US" sz="2800" dirty="0"/>
          </a:p>
        </p:txBody>
      </p:sp>
      <p:sp>
        <p:nvSpPr>
          <p:cNvPr id="12" name="Text 10"/>
          <p:cNvSpPr txBox="1"/>
          <p:nvPr/>
        </p:nvSpPr>
        <p:spPr>
          <a:xfrm>
            <a:off x="7498080" y="868680"/>
            <a:ext cx="4233672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2800" b="1" dirty="0">
                <a:solidFill>
                  <a:srgbClr val="8A6D1E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ابْنِ الجُمْلَةَ</a:t>
            </a:r>
            <a:endParaRPr lang="ar-SA" sz="28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6455664"/>
            <a:ext cx="6400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Miftah Arabic · Development D5 · Hobbies, Sport and Leisure · D5-W05 · Apply workshop (D5-L09 + D5-L10)</a:t>
            </a:r>
            <a:endParaRPr lang="en-US" sz="850" dirty="0"/>
          </a:p>
        </p:txBody>
      </p:sp>
      <p:sp>
        <p:nvSpPr>
          <p:cNvPr id="15" name="Shape 12"/>
          <p:cNvSpPr/>
          <p:nvPr/>
        </p:nvSpPr>
        <p:spPr>
          <a:xfrm>
            <a:off x="457200" y="1810512"/>
            <a:ext cx="11274552" cy="1353312"/>
          </a:xfrm>
          <a:prstGeom prst="roundRect">
            <a:avLst>
              <a:gd name="adj" fmla="val 5405"/>
            </a:avLst>
          </a:prstGeom>
          <a:solidFill>
            <a:srgbClr val="E6F4EC"/>
          </a:solidFill>
          <a:ln w="9525">
            <a:solidFill>
              <a:srgbClr val="9CCFB0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16" name="Shape 13"/>
          <p:cNvSpPr/>
          <p:nvPr/>
        </p:nvSpPr>
        <p:spPr>
          <a:xfrm>
            <a:off x="640080" y="1947672"/>
            <a:ext cx="365760" cy="365760"/>
          </a:xfrm>
          <a:prstGeom prst="ellipse">
            <a:avLst/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17" name="Text 14"/>
          <p:cNvSpPr txBox="1"/>
          <p:nvPr/>
        </p:nvSpPr>
        <p:spPr>
          <a:xfrm>
            <a:off x="640080" y="194767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1</a:t>
            </a:r>
            <a:endParaRPr lang="en-US" sz="1200" dirty="0"/>
          </a:p>
        </p:txBody>
      </p:sp>
      <p:sp>
        <p:nvSpPr>
          <p:cNvPr id="18" name="Text 15"/>
          <p:cNvSpPr txBox="1"/>
          <p:nvPr/>
        </p:nvSpPr>
        <p:spPr>
          <a:xfrm>
            <a:off x="1143000" y="1901952"/>
            <a:ext cx="3291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As a child I used to draw a lot.</a:t>
            </a:r>
            <a:endParaRPr lang="en-US" sz="1300" dirty="0"/>
          </a:p>
        </p:txBody>
      </p:sp>
      <p:sp>
        <p:nvSpPr>
          <p:cNvPr id="19" name="Text 16"/>
          <p:cNvSpPr txBox="1"/>
          <p:nvPr/>
        </p:nvSpPr>
        <p:spPr>
          <a:xfrm>
            <a:off x="1143000" y="2359152"/>
            <a:ext cx="32918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b="1" dirty="0">
                <a:solidFill>
                  <a:srgbClr val="1E6B52"/>
                </a:solidFill>
                <a:latin typeface="Calibri" pitchFamily="34" charset="0"/>
                <a:cs typeface="Amiri" pitchFamily="2" charset="-78"/>
              </a:rPr>
              <a:t>Columns = A · A · A</a:t>
            </a:r>
            <a:endParaRPr lang="en-US" sz="1050" dirty="0"/>
          </a:p>
        </p:txBody>
      </p:sp>
      <p:sp>
        <p:nvSpPr>
          <p:cNvPr id="20" name="Text 17"/>
          <p:cNvSpPr txBox="1"/>
          <p:nvPr/>
        </p:nvSpPr>
        <p:spPr>
          <a:xfrm>
            <a:off x="1143000" y="2633472"/>
            <a:ext cx="32918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Used to = </a:t>
            </a:r>
            <a:pPr algn="l" indent="0" marL="0">
              <a:buNone/>
            </a:pPr>
            <a:r>
              <a:rPr lang="ar-SA" altLang="en-US" sz="1350" dirty="0">
                <a:solidFill>
                  <a:srgbClr val="5A6472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كُنْتُ</a:t>
            </a:r>
            <a:pPr algn="l" indent="0" marL="0">
              <a:buNone/>
            </a:pPr>
            <a:r>
              <a:rPr lang="en-US" sz="10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 + present.</a:t>
            </a:r>
            <a:endParaRPr lang="en-US" sz="1050" dirty="0"/>
          </a:p>
        </p:txBody>
      </p:sp>
      <p:sp>
        <p:nvSpPr>
          <p:cNvPr id="21" name="Text 18"/>
          <p:cNvSpPr txBox="1"/>
          <p:nvPr/>
        </p:nvSpPr>
        <p:spPr>
          <a:xfrm>
            <a:off x="4572000" y="1901952"/>
            <a:ext cx="6949440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28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فِي الطُّفُولَةِ كُنْتُ أَرْسُمُ كَثِيرًا.</a:t>
            </a:r>
            <a:endParaRPr lang="ar-SA" sz="2800" dirty="0"/>
          </a:p>
        </p:txBody>
      </p:sp>
      <p:sp>
        <p:nvSpPr>
          <p:cNvPr id="22" name="Shape 19"/>
          <p:cNvSpPr/>
          <p:nvPr/>
        </p:nvSpPr>
        <p:spPr>
          <a:xfrm>
            <a:off x="457200" y="3291840"/>
            <a:ext cx="11274552" cy="1353312"/>
          </a:xfrm>
          <a:prstGeom prst="roundRect">
            <a:avLst>
              <a:gd name="adj" fmla="val 5405"/>
            </a:avLst>
          </a:prstGeom>
          <a:solidFill>
            <a:srgbClr val="E6F4EC"/>
          </a:solidFill>
          <a:ln w="9525">
            <a:solidFill>
              <a:srgbClr val="9CCFB0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23" name="Shape 20"/>
          <p:cNvSpPr/>
          <p:nvPr/>
        </p:nvSpPr>
        <p:spPr>
          <a:xfrm>
            <a:off x="640080" y="3429000"/>
            <a:ext cx="365760" cy="365760"/>
          </a:xfrm>
          <a:prstGeom prst="ellipse">
            <a:avLst/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24" name="Text 21"/>
          <p:cNvSpPr txBox="1"/>
          <p:nvPr/>
        </p:nvSpPr>
        <p:spPr>
          <a:xfrm>
            <a:off x="640080" y="342900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2</a:t>
            </a:r>
            <a:endParaRPr lang="en-US" sz="1200" dirty="0"/>
          </a:p>
        </p:txBody>
      </p:sp>
      <p:sp>
        <p:nvSpPr>
          <p:cNvPr id="25" name="Text 22"/>
          <p:cNvSpPr txBox="1"/>
          <p:nvPr/>
        </p:nvSpPr>
        <p:spPr>
          <a:xfrm>
            <a:off x="1143000" y="3383280"/>
            <a:ext cx="3291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I used to swim, but now I run.</a:t>
            </a:r>
            <a:endParaRPr lang="en-US" sz="1300" dirty="0"/>
          </a:p>
        </p:txBody>
      </p:sp>
      <p:sp>
        <p:nvSpPr>
          <p:cNvPr id="26" name="Text 23"/>
          <p:cNvSpPr txBox="1"/>
          <p:nvPr/>
        </p:nvSpPr>
        <p:spPr>
          <a:xfrm>
            <a:off x="1143000" y="3840480"/>
            <a:ext cx="32918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b="1" dirty="0">
                <a:solidFill>
                  <a:srgbClr val="1E6B52"/>
                </a:solidFill>
                <a:latin typeface="Calibri" pitchFamily="34" charset="0"/>
                <a:cs typeface="Amiri" pitchFamily="2" charset="-78"/>
              </a:rPr>
              <a:t>Columns = A · A · A</a:t>
            </a:r>
            <a:endParaRPr lang="en-US" sz="1050" dirty="0"/>
          </a:p>
        </p:txBody>
      </p:sp>
      <p:sp>
        <p:nvSpPr>
          <p:cNvPr id="27" name="Text 24"/>
          <p:cNvSpPr txBox="1"/>
          <p:nvPr/>
        </p:nvSpPr>
        <p:spPr>
          <a:xfrm>
            <a:off x="1143000" y="4114800"/>
            <a:ext cx="32918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Used to = </a:t>
            </a:r>
            <a:pPr algn="l" indent="0" marL="0">
              <a:buNone/>
            </a:pPr>
            <a:r>
              <a:rPr lang="ar-SA" altLang="en-US" sz="1350" dirty="0">
                <a:solidFill>
                  <a:srgbClr val="5A6472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كُنْتُ</a:t>
            </a:r>
            <a:pPr algn="l" indent="0" marL="0">
              <a:buNone/>
            </a:pPr>
            <a:r>
              <a:rPr lang="en-US" sz="10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 + present; now = present.</a:t>
            </a:r>
            <a:endParaRPr lang="en-US" sz="1050" dirty="0"/>
          </a:p>
        </p:txBody>
      </p:sp>
      <p:sp>
        <p:nvSpPr>
          <p:cNvPr id="28" name="Text 25"/>
          <p:cNvSpPr txBox="1"/>
          <p:nvPr/>
        </p:nvSpPr>
        <p:spPr>
          <a:xfrm>
            <a:off x="4572000" y="3383280"/>
            <a:ext cx="6949440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28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كُنْتُ أَسْبَحُ، وَلٰكِنَّنِي الآنَ أَرْكُضُ.</a:t>
            </a:r>
            <a:endParaRPr lang="ar-SA" sz="2800" dirty="0"/>
          </a:p>
        </p:txBody>
      </p:sp>
      <p:sp>
        <p:nvSpPr>
          <p:cNvPr id="29" name="Shape 26"/>
          <p:cNvSpPr/>
          <p:nvPr/>
        </p:nvSpPr>
        <p:spPr>
          <a:xfrm>
            <a:off x="457200" y="4773168"/>
            <a:ext cx="11274552" cy="1353312"/>
          </a:xfrm>
          <a:prstGeom prst="roundRect">
            <a:avLst>
              <a:gd name="adj" fmla="val 5405"/>
            </a:avLst>
          </a:prstGeom>
          <a:solidFill>
            <a:srgbClr val="E6F4EC"/>
          </a:solidFill>
          <a:ln w="9525">
            <a:solidFill>
              <a:srgbClr val="9CCFB0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30" name="Shape 27"/>
          <p:cNvSpPr/>
          <p:nvPr/>
        </p:nvSpPr>
        <p:spPr>
          <a:xfrm>
            <a:off x="640080" y="4910328"/>
            <a:ext cx="365760" cy="365760"/>
          </a:xfrm>
          <a:prstGeom prst="ellipse">
            <a:avLst/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31" name="Text 28"/>
          <p:cNvSpPr txBox="1"/>
          <p:nvPr/>
        </p:nvSpPr>
        <p:spPr>
          <a:xfrm>
            <a:off x="640080" y="4910328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3</a:t>
            </a:r>
            <a:endParaRPr lang="en-US" sz="1200" dirty="0"/>
          </a:p>
        </p:txBody>
      </p:sp>
      <p:sp>
        <p:nvSpPr>
          <p:cNvPr id="32" name="Text 29"/>
          <p:cNvSpPr txBox="1"/>
          <p:nvPr/>
        </p:nvSpPr>
        <p:spPr>
          <a:xfrm>
            <a:off x="1143000" y="4864608"/>
            <a:ext cx="3291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As for now, I play tennis.</a:t>
            </a:r>
            <a:endParaRPr lang="en-US" sz="1300" dirty="0"/>
          </a:p>
        </p:txBody>
      </p:sp>
      <p:sp>
        <p:nvSpPr>
          <p:cNvPr id="33" name="Text 30"/>
          <p:cNvSpPr txBox="1"/>
          <p:nvPr/>
        </p:nvSpPr>
        <p:spPr>
          <a:xfrm>
            <a:off x="1143000" y="5321808"/>
            <a:ext cx="32918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b="1" dirty="0">
                <a:solidFill>
                  <a:srgbClr val="1E6B52"/>
                </a:solidFill>
                <a:latin typeface="Calibri" pitchFamily="34" charset="0"/>
                <a:cs typeface="Amiri" pitchFamily="2" charset="-78"/>
              </a:rPr>
              <a:t>Columns = A · A · A</a:t>
            </a:r>
            <a:endParaRPr lang="en-US" sz="1050" dirty="0"/>
          </a:p>
        </p:txBody>
      </p:sp>
      <p:sp>
        <p:nvSpPr>
          <p:cNvPr id="34" name="Text 31"/>
          <p:cNvSpPr txBox="1"/>
          <p:nvPr/>
        </p:nvSpPr>
        <p:spPr>
          <a:xfrm>
            <a:off x="1143000" y="5596128"/>
            <a:ext cx="32918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ar-SA" altLang="en-US" sz="1350" dirty="0">
                <a:solidFill>
                  <a:srgbClr val="5A6472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أَمَّا</a:t>
            </a:r>
            <a:pPr algn="l" indent="0" marL="0">
              <a:buNone/>
            </a:pPr>
            <a:r>
              <a:rPr lang="en-US" sz="10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 … + fa-.</a:t>
            </a:r>
            <a:endParaRPr lang="en-US" sz="1050" dirty="0"/>
          </a:p>
        </p:txBody>
      </p:sp>
      <p:sp>
        <p:nvSpPr>
          <p:cNvPr id="35" name="Text 32"/>
          <p:cNvSpPr txBox="1"/>
          <p:nvPr/>
        </p:nvSpPr>
        <p:spPr>
          <a:xfrm>
            <a:off x="4572000" y="4864608"/>
            <a:ext cx="6949440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28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أَمَّا الآنَ فَأَلْعَبُ التِّنِسَ.</a:t>
            </a:r>
            <a:endParaRPr lang="ar-SA" sz="2800" dirty="0"/>
          </a:p>
        </p:txBody>
      </p:sp>
      <p:sp>
        <p:nvSpPr>
          <p:cNvPr id="36" name="Text 33"/>
          <p:cNvSpPr txBox="1"/>
          <p:nvPr/>
        </p:nvSpPr>
        <p:spPr>
          <a:xfrm>
            <a:off x="10360152" y="6455664"/>
            <a:ext cx="1371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15 / 24</a:t>
            </a:r>
            <a:endParaRPr lang="en-US" sz="85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D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37744"/>
            <a:ext cx="420624" cy="420624"/>
          </a:xfrm>
          <a:prstGeom prst="ellipse">
            <a:avLst/>
          </a:prstGeom>
          <a:solidFill>
            <a:srgbClr val="1B3B6F"/>
          </a:solidFill>
          <a:ln w="12700">
            <a:solidFill>
              <a:srgbClr val="D4AF37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457200" y="21945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D4AF37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</a:t>
            </a:r>
            <a:endParaRPr lang="ar-SA" sz="18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Al Madina Online School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57200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ARABIC DEPARTMENT · MIFTAH ARABIC · IGCSE 0544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8897112" y="274320"/>
            <a:ext cx="2834640" cy="329184"/>
          </a:xfrm>
          <a:prstGeom prst="roundRect">
            <a:avLst>
              <a:gd name="adj" fmla="val 50000"/>
            </a:avLst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897112" y="274320"/>
            <a:ext cx="2834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D5-W05 · Apply workshop</a:t>
            </a:r>
            <a:endParaRPr lang="en-US" sz="950" dirty="0"/>
          </a:p>
        </p:txBody>
      </p:sp>
      <p:sp>
        <p:nvSpPr>
          <p:cNvPr id="8" name="Shape 6"/>
          <p:cNvSpPr/>
          <p:nvPr/>
        </p:nvSpPr>
        <p:spPr>
          <a:xfrm>
            <a:off x="7370978" y="274320"/>
            <a:ext cx="1388974" cy="329184"/>
          </a:xfrm>
          <a:prstGeom prst="roundRect">
            <a:avLst>
              <a:gd name="adj" fmla="val 50000"/>
            </a:avLst>
          </a:prstGeom>
          <a:solidFill>
            <a:srgbClr val="2F6FB0"/>
          </a:solidFill>
          <a:ln w="12700">
            <a:solidFill>
              <a:srgbClr val="2F6FB0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7370978" y="274320"/>
            <a:ext cx="138897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WE DO · 3 MIN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822960"/>
            <a:ext cx="6949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300" kern="0" dirty="0">
                <a:solidFill>
                  <a:srgbClr val="2F6FB0"/>
                </a:solidFill>
                <a:latin typeface="Calibri" pitchFamily="34" charset="0"/>
                <a:cs typeface="Amiri" pitchFamily="2" charset="-78"/>
              </a:rPr>
              <a:t>STEP 8 · SPOT AND FIX · MISTAKES FROM BOTH LESSONS</a:t>
            </a:r>
            <a:endParaRPr lang="en-US" sz="1000" dirty="0"/>
          </a:p>
        </p:txBody>
      </p:sp>
      <p:sp>
        <p:nvSpPr>
          <p:cNvPr id="11" name="Text 9"/>
          <p:cNvSpPr txBox="1"/>
          <p:nvPr/>
        </p:nvSpPr>
        <p:spPr>
          <a:xfrm>
            <a:off x="457200" y="1033272"/>
            <a:ext cx="6949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Find the mistake, fix it</a:t>
            </a:r>
            <a:endParaRPr lang="en-US" sz="2800" dirty="0"/>
          </a:p>
        </p:txBody>
      </p:sp>
      <p:sp>
        <p:nvSpPr>
          <p:cNvPr id="12" name="Text 10"/>
          <p:cNvSpPr txBox="1"/>
          <p:nvPr/>
        </p:nvSpPr>
        <p:spPr>
          <a:xfrm>
            <a:off x="7498080" y="868680"/>
            <a:ext cx="4233672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2800" b="1" dirty="0">
                <a:solidFill>
                  <a:srgbClr val="8A6D1E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اكْتَشِفِ الخَطَأَ</a:t>
            </a:r>
            <a:endParaRPr lang="ar-SA" sz="28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6455664"/>
            <a:ext cx="6400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Miftah Arabic · Development D5 · Hobbies, Sport and Leisure · D5-W05 · Apply workshop (D5-L09 + D5-L10)</a:t>
            </a:r>
            <a:endParaRPr lang="en-US" sz="850" dirty="0"/>
          </a:p>
        </p:txBody>
      </p:sp>
      <p:sp>
        <p:nvSpPr>
          <p:cNvPr id="15" name="Shape 12"/>
          <p:cNvSpPr/>
          <p:nvPr/>
        </p:nvSpPr>
        <p:spPr>
          <a:xfrm>
            <a:off x="457200" y="1810512"/>
            <a:ext cx="11274552" cy="1298448"/>
          </a:xfrm>
          <a:prstGeom prst="roundRect">
            <a:avLst>
              <a:gd name="adj" fmla="val 5634"/>
            </a:avLst>
          </a:prstGeom>
          <a:solidFill>
            <a:srgbClr val="FBEAEA"/>
          </a:solidFill>
          <a:ln w="9525">
            <a:solidFill>
              <a:srgbClr val="E3B4AE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16" name="Shape 13"/>
          <p:cNvSpPr/>
          <p:nvPr/>
        </p:nvSpPr>
        <p:spPr>
          <a:xfrm>
            <a:off x="11183112" y="2249424"/>
            <a:ext cx="402336" cy="402336"/>
          </a:xfrm>
          <a:prstGeom prst="ellipse">
            <a:avLst/>
          </a:prstGeom>
          <a:solidFill>
            <a:srgbClr val="B83227"/>
          </a:solidFill>
          <a:ln w="12700">
            <a:solidFill>
              <a:srgbClr val="B83227"/>
            </a:solidFill>
            <a:prstDash val="solid"/>
          </a:ln>
        </p:spPr>
      </p:sp>
      <p:sp>
        <p:nvSpPr>
          <p:cNvPr id="17" name="Text 14"/>
          <p:cNvSpPr txBox="1"/>
          <p:nvPr/>
        </p:nvSpPr>
        <p:spPr>
          <a:xfrm>
            <a:off x="11183112" y="2249424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1</a:t>
            </a:r>
            <a:endParaRPr lang="en-US" sz="1300" dirty="0"/>
          </a:p>
        </p:txBody>
      </p:sp>
      <p:sp>
        <p:nvSpPr>
          <p:cNvPr id="18" name="Text 15"/>
          <p:cNvSpPr txBox="1"/>
          <p:nvPr/>
        </p:nvSpPr>
        <p:spPr>
          <a:xfrm>
            <a:off x="4023360" y="1901952"/>
            <a:ext cx="6976872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3000" b="1" dirty="0">
                <a:solidFill>
                  <a:srgbClr val="B83227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فِي الطُّفُولَةِ أَلْعَبُ فِي الحَدِيقَةِ.</a:t>
            </a:r>
            <a:endParaRPr lang="ar-SA" sz="3000" dirty="0"/>
          </a:p>
        </p:txBody>
      </p:sp>
      <p:sp>
        <p:nvSpPr>
          <p:cNvPr id="19" name="Text 16"/>
          <p:cNvSpPr txBox="1"/>
          <p:nvPr/>
        </p:nvSpPr>
        <p:spPr>
          <a:xfrm>
            <a:off x="731520" y="1901952"/>
            <a:ext cx="32004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Childhood = the past.</a:t>
            </a:r>
            <a:endParaRPr lang="en-US" sz="1300" dirty="0"/>
          </a:p>
        </p:txBody>
      </p:sp>
      <p:sp>
        <p:nvSpPr>
          <p:cNvPr id="20" name="Shape 17"/>
          <p:cNvSpPr/>
          <p:nvPr/>
        </p:nvSpPr>
        <p:spPr>
          <a:xfrm>
            <a:off x="457200" y="3255264"/>
            <a:ext cx="11274552" cy="1298448"/>
          </a:xfrm>
          <a:prstGeom prst="roundRect">
            <a:avLst>
              <a:gd name="adj" fmla="val 5634"/>
            </a:avLst>
          </a:prstGeom>
          <a:solidFill>
            <a:srgbClr val="FBEAEA"/>
          </a:solidFill>
          <a:ln w="9525">
            <a:solidFill>
              <a:srgbClr val="E3B4AE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21" name="Shape 18"/>
          <p:cNvSpPr/>
          <p:nvPr/>
        </p:nvSpPr>
        <p:spPr>
          <a:xfrm>
            <a:off x="11183112" y="3694176"/>
            <a:ext cx="402336" cy="402336"/>
          </a:xfrm>
          <a:prstGeom prst="ellipse">
            <a:avLst/>
          </a:prstGeom>
          <a:solidFill>
            <a:srgbClr val="B83227"/>
          </a:solidFill>
          <a:ln w="12700">
            <a:solidFill>
              <a:srgbClr val="B83227"/>
            </a:solidFill>
            <a:prstDash val="solid"/>
          </a:ln>
        </p:spPr>
      </p:sp>
      <p:sp>
        <p:nvSpPr>
          <p:cNvPr id="22" name="Text 19"/>
          <p:cNvSpPr txBox="1"/>
          <p:nvPr/>
        </p:nvSpPr>
        <p:spPr>
          <a:xfrm>
            <a:off x="11183112" y="3694176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2</a:t>
            </a:r>
            <a:endParaRPr lang="en-US" sz="1300" dirty="0"/>
          </a:p>
        </p:txBody>
      </p:sp>
      <p:sp>
        <p:nvSpPr>
          <p:cNvPr id="23" name="Text 20"/>
          <p:cNvSpPr txBox="1"/>
          <p:nvPr/>
        </p:nvSpPr>
        <p:spPr>
          <a:xfrm>
            <a:off x="4023360" y="3346704"/>
            <a:ext cx="6976872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3000" b="1" dirty="0">
                <a:solidFill>
                  <a:srgbClr val="B83227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«كُنْتُ أَلْعَبُ التِّنِسَ» ← يَلْعَبُ التِّنِسَ الآنَ.</a:t>
            </a:r>
            <a:endParaRPr lang="ar-SA" sz="3000" dirty="0"/>
          </a:p>
        </p:txBody>
      </p:sp>
      <p:sp>
        <p:nvSpPr>
          <p:cNvPr id="24" name="Text 21"/>
          <p:cNvSpPr txBox="1"/>
          <p:nvPr/>
        </p:nvSpPr>
        <p:spPr>
          <a:xfrm>
            <a:off x="731520" y="3346704"/>
            <a:ext cx="32004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ar-SA" altLang="en-US" sz="1700" dirty="0">
                <a:solidFill>
                  <a:srgbClr val="5A6472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كُنْتُ</a:t>
            </a:r>
            <a:pPr algn="l" indent="0" marL="0">
              <a:buNone/>
            </a:pPr>
            <a:r>
              <a:rPr lang="en-US" sz="130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 + present = ?</a:t>
            </a:r>
            <a:endParaRPr lang="en-US" sz="1300" dirty="0"/>
          </a:p>
        </p:txBody>
      </p:sp>
      <p:sp>
        <p:nvSpPr>
          <p:cNvPr id="25" name="Shape 22"/>
          <p:cNvSpPr/>
          <p:nvPr/>
        </p:nvSpPr>
        <p:spPr>
          <a:xfrm>
            <a:off x="457200" y="4700016"/>
            <a:ext cx="11274552" cy="1298448"/>
          </a:xfrm>
          <a:prstGeom prst="roundRect">
            <a:avLst>
              <a:gd name="adj" fmla="val 5634"/>
            </a:avLst>
          </a:prstGeom>
          <a:solidFill>
            <a:srgbClr val="FBEAEA"/>
          </a:solidFill>
          <a:ln w="9525">
            <a:solidFill>
              <a:srgbClr val="E3B4AE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26" name="Shape 23"/>
          <p:cNvSpPr/>
          <p:nvPr/>
        </p:nvSpPr>
        <p:spPr>
          <a:xfrm>
            <a:off x="11183112" y="5138928"/>
            <a:ext cx="402336" cy="402336"/>
          </a:xfrm>
          <a:prstGeom prst="ellipse">
            <a:avLst/>
          </a:prstGeom>
          <a:solidFill>
            <a:srgbClr val="B83227"/>
          </a:solidFill>
          <a:ln w="12700">
            <a:solidFill>
              <a:srgbClr val="B83227"/>
            </a:solidFill>
            <a:prstDash val="solid"/>
          </a:ln>
        </p:spPr>
      </p:sp>
      <p:sp>
        <p:nvSpPr>
          <p:cNvPr id="27" name="Text 24"/>
          <p:cNvSpPr txBox="1"/>
          <p:nvPr/>
        </p:nvSpPr>
        <p:spPr>
          <a:xfrm>
            <a:off x="11183112" y="5138928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3</a:t>
            </a:r>
            <a:endParaRPr lang="en-US" sz="1300" dirty="0"/>
          </a:p>
        </p:txBody>
      </p:sp>
      <p:sp>
        <p:nvSpPr>
          <p:cNvPr id="28" name="Text 25"/>
          <p:cNvSpPr txBox="1"/>
          <p:nvPr/>
        </p:nvSpPr>
        <p:spPr>
          <a:xfrm>
            <a:off x="4023360" y="4791456"/>
            <a:ext cx="6976872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3000" b="1" dirty="0">
                <a:solidFill>
                  <a:srgbClr val="B83227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أَمَّا الآنَ أُمَارِسُ السِّبَاحَةَ.</a:t>
            </a:r>
            <a:endParaRPr lang="ar-SA" sz="3000" dirty="0"/>
          </a:p>
        </p:txBody>
      </p:sp>
      <p:sp>
        <p:nvSpPr>
          <p:cNvPr id="29" name="Text 26"/>
          <p:cNvSpPr txBox="1"/>
          <p:nvPr/>
        </p:nvSpPr>
        <p:spPr>
          <a:xfrm>
            <a:off x="731520" y="4791456"/>
            <a:ext cx="32004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ar-SA" altLang="en-US" sz="1700" dirty="0">
                <a:solidFill>
                  <a:srgbClr val="5A6472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أَمَّا</a:t>
            </a:r>
            <a:pPr algn="l" indent="0" marL="0">
              <a:buNone/>
            </a:pPr>
            <a:r>
              <a:rPr lang="en-US" sz="130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 needs its partner.</a:t>
            </a:r>
            <a:endParaRPr lang="en-US" sz="1300" dirty="0"/>
          </a:p>
        </p:txBody>
      </p:sp>
      <p:sp>
        <p:nvSpPr>
          <p:cNvPr id="30" name="Text 27"/>
          <p:cNvSpPr txBox="1"/>
          <p:nvPr/>
        </p:nvSpPr>
        <p:spPr>
          <a:xfrm>
            <a:off x="10360152" y="6455664"/>
            <a:ext cx="1371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16 / 24</a:t>
            </a:r>
            <a:endParaRPr lang="en-US" sz="85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FFD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37744"/>
            <a:ext cx="420624" cy="420624"/>
          </a:xfrm>
          <a:prstGeom prst="ellipse">
            <a:avLst/>
          </a:prstGeom>
          <a:solidFill>
            <a:srgbClr val="1B3B6F"/>
          </a:solidFill>
          <a:ln w="12700">
            <a:solidFill>
              <a:srgbClr val="D4AF37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457200" y="21945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D4AF37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</a:t>
            </a:r>
            <a:endParaRPr lang="ar-SA" sz="18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Al Madina Online School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57200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ARABIC DEPARTMENT · MIFTAH ARABIC · IGCSE 0544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8897112" y="274320"/>
            <a:ext cx="2834640" cy="329184"/>
          </a:xfrm>
          <a:prstGeom prst="roundRect">
            <a:avLst>
              <a:gd name="adj" fmla="val 50000"/>
            </a:avLst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897112" y="274320"/>
            <a:ext cx="2834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D5-W05 · Apply workshop</a:t>
            </a:r>
            <a:endParaRPr lang="en-US" sz="950" dirty="0"/>
          </a:p>
        </p:txBody>
      </p:sp>
      <p:sp>
        <p:nvSpPr>
          <p:cNvPr id="8" name="Shape 6"/>
          <p:cNvSpPr/>
          <p:nvPr/>
        </p:nvSpPr>
        <p:spPr>
          <a:xfrm>
            <a:off x="7143293" y="274320"/>
            <a:ext cx="1616659" cy="329184"/>
          </a:xfrm>
          <a:prstGeom prst="roundRect">
            <a:avLst>
              <a:gd name="adj" fmla="val 50000"/>
            </a:avLst>
          </a:prstGeom>
          <a:solidFill>
            <a:srgbClr val="8A6D1E"/>
          </a:solidFill>
          <a:ln w="12700">
            <a:solidFill>
              <a:srgbClr val="8A6D1E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7143293" y="274320"/>
            <a:ext cx="1616659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FEEDBACK · 1 MIN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822960"/>
            <a:ext cx="6949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3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STEP 8 · CORRECTIONS</a:t>
            </a:r>
            <a:endParaRPr lang="en-US" sz="1000" dirty="0"/>
          </a:p>
        </p:txBody>
      </p:sp>
      <p:sp>
        <p:nvSpPr>
          <p:cNvPr id="11" name="Text 9"/>
          <p:cNvSpPr txBox="1"/>
          <p:nvPr/>
        </p:nvSpPr>
        <p:spPr>
          <a:xfrm>
            <a:off x="457200" y="1033272"/>
            <a:ext cx="6949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Spot and fix: corrections</a:t>
            </a:r>
            <a:endParaRPr lang="en-US" sz="2800" dirty="0"/>
          </a:p>
        </p:txBody>
      </p:sp>
      <p:sp>
        <p:nvSpPr>
          <p:cNvPr id="12" name="Text 10"/>
          <p:cNvSpPr txBox="1"/>
          <p:nvPr/>
        </p:nvSpPr>
        <p:spPr>
          <a:xfrm>
            <a:off x="7498080" y="868680"/>
            <a:ext cx="4233672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2800" b="1" dirty="0">
                <a:solidFill>
                  <a:srgbClr val="8A6D1E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اكْتَشِفِ الخَطَأَ</a:t>
            </a:r>
            <a:endParaRPr lang="ar-SA" sz="28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6455664"/>
            <a:ext cx="6400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Miftah Arabic · Development D5 · Hobbies, Sport and Leisure · D5-W05 · Apply workshop (D5-L09 + D5-L10)</a:t>
            </a:r>
            <a:endParaRPr lang="en-US" sz="850" dirty="0"/>
          </a:p>
        </p:txBody>
      </p:sp>
      <p:sp>
        <p:nvSpPr>
          <p:cNvPr id="15" name="Shape 12"/>
          <p:cNvSpPr/>
          <p:nvPr/>
        </p:nvSpPr>
        <p:spPr>
          <a:xfrm>
            <a:off x="457200" y="1810512"/>
            <a:ext cx="11274552" cy="1298448"/>
          </a:xfrm>
          <a:prstGeom prst="roundRect">
            <a:avLst>
              <a:gd name="adj" fmla="val 5634"/>
            </a:avLst>
          </a:prstGeom>
          <a:solidFill>
            <a:srgbClr val="E6F4EC"/>
          </a:solidFill>
          <a:ln w="9525">
            <a:solidFill>
              <a:srgbClr val="9CCFB0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16" name="Text 13"/>
          <p:cNvSpPr txBox="1"/>
          <p:nvPr/>
        </p:nvSpPr>
        <p:spPr>
          <a:xfrm>
            <a:off x="8503920" y="1901952"/>
            <a:ext cx="306324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1800" b="1" dirty="0">
                <a:solidFill>
                  <a:srgbClr val="B83227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فِي الطُّفُولَةِ أَلْعَبُ فِي الحَدِيقَةِ.</a:t>
            </a:r>
            <a:endParaRPr lang="ar-SA" sz="1800" dirty="0"/>
          </a:p>
        </p:txBody>
      </p:sp>
      <p:sp>
        <p:nvSpPr>
          <p:cNvPr id="17" name="Shape 14"/>
          <p:cNvSpPr/>
          <p:nvPr/>
        </p:nvSpPr>
        <p:spPr>
          <a:xfrm>
            <a:off x="8641080" y="2459736"/>
            <a:ext cx="2834640" cy="0"/>
          </a:xfrm>
          <a:prstGeom prst="line">
            <a:avLst/>
          </a:prstGeom>
          <a:noFill/>
          <a:ln w="15875">
            <a:solidFill>
              <a:srgbClr val="B83227"/>
            </a:solidFill>
            <a:prstDash val="solid"/>
          </a:ln>
        </p:spPr>
      </p:sp>
      <p:sp>
        <p:nvSpPr>
          <p:cNvPr id="18" name="Text 15"/>
          <p:cNvSpPr txBox="1"/>
          <p:nvPr/>
        </p:nvSpPr>
        <p:spPr>
          <a:xfrm>
            <a:off x="8138160" y="1901952"/>
            <a:ext cx="36576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←</a:t>
            </a:r>
            <a:endParaRPr lang="en-US" sz="2000" dirty="0"/>
          </a:p>
        </p:txBody>
      </p:sp>
      <p:sp>
        <p:nvSpPr>
          <p:cNvPr id="19" name="Text 16"/>
          <p:cNvSpPr txBox="1"/>
          <p:nvPr/>
        </p:nvSpPr>
        <p:spPr>
          <a:xfrm>
            <a:off x="3566160" y="1901952"/>
            <a:ext cx="452628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2400" b="1" dirty="0">
                <a:solidFill>
                  <a:srgbClr val="1E6B52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فِي الطُّفُولَةِ كُنْتُ أَلْعَبُ فِي الحَدِيقَةِ.</a:t>
            </a:r>
            <a:endParaRPr lang="ar-SA" sz="2400" dirty="0"/>
          </a:p>
        </p:txBody>
      </p:sp>
      <p:sp>
        <p:nvSpPr>
          <p:cNvPr id="20" name="Text 17"/>
          <p:cNvSpPr txBox="1"/>
          <p:nvPr/>
        </p:nvSpPr>
        <p:spPr>
          <a:xfrm>
            <a:off x="685800" y="1901952"/>
            <a:ext cx="278892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Habit in the past → ‏</a:t>
            </a:r>
            <a:pPr algn="l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كُنْتُ</a:t>
            </a:r>
            <a:pPr algn="l" indent="0" marL="0">
              <a:buNone/>
            </a:pPr>
            <a:r>
              <a:rPr lang="en-US" sz="115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‏ + present.</a:t>
            </a:r>
            <a:endParaRPr lang="en-US" sz="1150" dirty="0"/>
          </a:p>
        </p:txBody>
      </p:sp>
      <p:sp>
        <p:nvSpPr>
          <p:cNvPr id="21" name="Shape 18"/>
          <p:cNvSpPr/>
          <p:nvPr/>
        </p:nvSpPr>
        <p:spPr>
          <a:xfrm>
            <a:off x="457200" y="3255264"/>
            <a:ext cx="11274552" cy="1298448"/>
          </a:xfrm>
          <a:prstGeom prst="roundRect">
            <a:avLst>
              <a:gd name="adj" fmla="val 5634"/>
            </a:avLst>
          </a:prstGeom>
          <a:solidFill>
            <a:srgbClr val="E6F4EC"/>
          </a:solidFill>
          <a:ln w="9525">
            <a:solidFill>
              <a:srgbClr val="9CCFB0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22" name="Text 19"/>
          <p:cNvSpPr txBox="1"/>
          <p:nvPr/>
        </p:nvSpPr>
        <p:spPr>
          <a:xfrm>
            <a:off x="8503920" y="3346704"/>
            <a:ext cx="306324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lnSpc>
                <a:spcPct val="120000"/>
              </a:lnSpc>
              <a:buNone/>
            </a:pPr>
            <a:r>
              <a:rPr lang="ar-SA" altLang="en-US" sz="1800" b="1" dirty="0">
                <a:solidFill>
                  <a:srgbClr val="B83227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«كُنْتُ أَلْعَبُ التِّنِسَ» ← يَلْعَبُ التِّنِسَ الآنَ.</a:t>
            </a:r>
            <a:endParaRPr lang="ar-SA" sz="1800" dirty="0"/>
          </a:p>
        </p:txBody>
      </p:sp>
      <p:sp>
        <p:nvSpPr>
          <p:cNvPr id="23" name="Shape 20"/>
          <p:cNvSpPr/>
          <p:nvPr/>
        </p:nvSpPr>
        <p:spPr>
          <a:xfrm>
            <a:off x="8641080" y="3904488"/>
            <a:ext cx="2834640" cy="0"/>
          </a:xfrm>
          <a:prstGeom prst="line">
            <a:avLst/>
          </a:prstGeom>
          <a:noFill/>
          <a:ln w="15875">
            <a:solidFill>
              <a:srgbClr val="B83227"/>
            </a:solidFill>
            <a:prstDash val="solid"/>
          </a:ln>
        </p:spPr>
      </p:sp>
      <p:sp>
        <p:nvSpPr>
          <p:cNvPr id="24" name="Text 21"/>
          <p:cNvSpPr txBox="1"/>
          <p:nvPr/>
        </p:nvSpPr>
        <p:spPr>
          <a:xfrm>
            <a:off x="8138160" y="3346704"/>
            <a:ext cx="36576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←</a:t>
            </a:r>
            <a:endParaRPr lang="en-US" sz="2000" dirty="0"/>
          </a:p>
        </p:txBody>
      </p:sp>
      <p:sp>
        <p:nvSpPr>
          <p:cNvPr id="25" name="Text 22"/>
          <p:cNvSpPr txBox="1"/>
          <p:nvPr/>
        </p:nvSpPr>
        <p:spPr>
          <a:xfrm>
            <a:off x="3566160" y="3346704"/>
            <a:ext cx="452628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2400" b="1" dirty="0">
                <a:solidFill>
                  <a:srgbClr val="1E6B52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كَانَ يَلْعَبُ التِّنِسَ فِي المَاضِي.</a:t>
            </a:r>
            <a:endParaRPr lang="ar-SA" sz="2400" dirty="0"/>
          </a:p>
        </p:txBody>
      </p:sp>
      <p:sp>
        <p:nvSpPr>
          <p:cNvPr id="26" name="Text 23"/>
          <p:cNvSpPr txBox="1"/>
          <p:nvPr/>
        </p:nvSpPr>
        <p:spPr>
          <a:xfrm>
            <a:off x="685800" y="3346704"/>
            <a:ext cx="278892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‏</a:t>
            </a:r>
            <a:pPr algn="l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كُنْتُ</a:t>
            </a:r>
            <a:pPr algn="l" indent="0" marL="0">
              <a:buNone/>
            </a:pPr>
            <a:r>
              <a:rPr lang="en-US" sz="115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‏ + present = used to (past habit).</a:t>
            </a:r>
            <a:endParaRPr lang="en-US" sz="1150" dirty="0"/>
          </a:p>
        </p:txBody>
      </p:sp>
      <p:sp>
        <p:nvSpPr>
          <p:cNvPr id="27" name="Shape 24"/>
          <p:cNvSpPr/>
          <p:nvPr/>
        </p:nvSpPr>
        <p:spPr>
          <a:xfrm>
            <a:off x="457200" y="4700016"/>
            <a:ext cx="11274552" cy="1298448"/>
          </a:xfrm>
          <a:prstGeom prst="roundRect">
            <a:avLst>
              <a:gd name="adj" fmla="val 5634"/>
            </a:avLst>
          </a:prstGeom>
          <a:solidFill>
            <a:srgbClr val="E6F4EC"/>
          </a:solidFill>
          <a:ln w="9525">
            <a:solidFill>
              <a:srgbClr val="9CCFB0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28" name="Text 25"/>
          <p:cNvSpPr txBox="1"/>
          <p:nvPr/>
        </p:nvSpPr>
        <p:spPr>
          <a:xfrm>
            <a:off x="8503920" y="4791456"/>
            <a:ext cx="306324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1800" b="1" dirty="0">
                <a:solidFill>
                  <a:srgbClr val="B83227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أَمَّا الآنَ أُمَارِسُ السِّبَاحَةَ.</a:t>
            </a:r>
            <a:endParaRPr lang="ar-SA" sz="1800" dirty="0"/>
          </a:p>
        </p:txBody>
      </p:sp>
      <p:sp>
        <p:nvSpPr>
          <p:cNvPr id="29" name="Shape 26"/>
          <p:cNvSpPr/>
          <p:nvPr/>
        </p:nvSpPr>
        <p:spPr>
          <a:xfrm>
            <a:off x="8641080" y="5349240"/>
            <a:ext cx="2834640" cy="0"/>
          </a:xfrm>
          <a:prstGeom prst="line">
            <a:avLst/>
          </a:prstGeom>
          <a:noFill/>
          <a:ln w="15875">
            <a:solidFill>
              <a:srgbClr val="B83227"/>
            </a:solidFill>
            <a:prstDash val="solid"/>
          </a:ln>
        </p:spPr>
      </p:sp>
      <p:sp>
        <p:nvSpPr>
          <p:cNvPr id="30" name="Text 27"/>
          <p:cNvSpPr txBox="1"/>
          <p:nvPr/>
        </p:nvSpPr>
        <p:spPr>
          <a:xfrm>
            <a:off x="8138160" y="4791456"/>
            <a:ext cx="36576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←</a:t>
            </a:r>
            <a:endParaRPr lang="en-US" sz="2000" dirty="0"/>
          </a:p>
        </p:txBody>
      </p:sp>
      <p:sp>
        <p:nvSpPr>
          <p:cNvPr id="31" name="Text 28"/>
          <p:cNvSpPr txBox="1"/>
          <p:nvPr/>
        </p:nvSpPr>
        <p:spPr>
          <a:xfrm>
            <a:off x="3566160" y="4791456"/>
            <a:ext cx="452628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2400" b="1" dirty="0">
                <a:solidFill>
                  <a:srgbClr val="1E6B52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أَمَّا الآنَ فَأُمَارِسُ السِّبَاحَةَ.</a:t>
            </a:r>
            <a:endParaRPr lang="ar-SA" sz="2400" dirty="0"/>
          </a:p>
        </p:txBody>
      </p:sp>
      <p:sp>
        <p:nvSpPr>
          <p:cNvPr id="32" name="Text 29"/>
          <p:cNvSpPr txBox="1"/>
          <p:nvPr/>
        </p:nvSpPr>
        <p:spPr>
          <a:xfrm>
            <a:off x="685800" y="4791456"/>
            <a:ext cx="278892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‏</a:t>
            </a:r>
            <a:pPr algn="l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أَمَّا</a:t>
            </a:r>
            <a:pPr algn="l" indent="0" marL="0">
              <a:buNone/>
            </a:pPr>
            <a:r>
              <a:rPr lang="en-US" sz="115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 …‏ + fa-.</a:t>
            </a:r>
            <a:endParaRPr lang="en-US" sz="1150" dirty="0"/>
          </a:p>
        </p:txBody>
      </p:sp>
      <p:sp>
        <p:nvSpPr>
          <p:cNvPr id="33" name="Text 30"/>
          <p:cNvSpPr txBox="1"/>
          <p:nvPr/>
        </p:nvSpPr>
        <p:spPr>
          <a:xfrm>
            <a:off x="10360152" y="6455664"/>
            <a:ext cx="1371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17 / 24</a:t>
            </a:r>
            <a:endParaRPr lang="en-US" sz="85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FFD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37744"/>
            <a:ext cx="420624" cy="420624"/>
          </a:xfrm>
          <a:prstGeom prst="ellipse">
            <a:avLst/>
          </a:prstGeom>
          <a:solidFill>
            <a:srgbClr val="1B3B6F"/>
          </a:solidFill>
          <a:ln w="12700">
            <a:solidFill>
              <a:srgbClr val="D4AF37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457200" y="21945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D4AF37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</a:t>
            </a:r>
            <a:endParaRPr lang="ar-SA" sz="18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Al Madina Online School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57200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ARABIC DEPARTMENT · MIFTAH ARABIC · IGCSE 0544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8897112" y="274320"/>
            <a:ext cx="2834640" cy="329184"/>
          </a:xfrm>
          <a:prstGeom prst="roundRect">
            <a:avLst>
              <a:gd name="adj" fmla="val 50000"/>
            </a:avLst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897112" y="274320"/>
            <a:ext cx="2834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D5-W05 · Apply workshop</a:t>
            </a:r>
            <a:endParaRPr lang="en-US" sz="950" dirty="0"/>
          </a:p>
        </p:txBody>
      </p:sp>
      <p:sp>
        <p:nvSpPr>
          <p:cNvPr id="8" name="Shape 6"/>
          <p:cNvSpPr/>
          <p:nvPr/>
        </p:nvSpPr>
        <p:spPr>
          <a:xfrm>
            <a:off x="7295083" y="274320"/>
            <a:ext cx="1464869" cy="329184"/>
          </a:xfrm>
          <a:prstGeom prst="roundRect">
            <a:avLst>
              <a:gd name="adj" fmla="val 50000"/>
            </a:avLst>
          </a:prstGeom>
          <a:solidFill>
            <a:srgbClr val="1E6B52"/>
          </a:solidFill>
          <a:ln w="12700">
            <a:solidFill>
              <a:srgbClr val="1E6B52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7295083" y="274320"/>
            <a:ext cx="1464869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YOU DO · 2 MIN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822960"/>
            <a:ext cx="6949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300" kern="0" dirty="0">
                <a:solidFill>
                  <a:srgbClr val="1E6B52"/>
                </a:solidFill>
                <a:latin typeface="Calibri" pitchFamily="34" charset="0"/>
                <a:cs typeface="Amiri" pitchFamily="2" charset="-78"/>
              </a:rPr>
              <a:t>STEP 9 · WRITE YOUR TEXT · FRAMES IF YOU NEED THEM</a:t>
            </a:r>
            <a:endParaRPr lang="en-US" sz="1000" dirty="0"/>
          </a:p>
        </p:txBody>
      </p:sp>
      <p:sp>
        <p:nvSpPr>
          <p:cNvPr id="11" name="Text 9"/>
          <p:cNvSpPr txBox="1"/>
          <p:nvPr/>
        </p:nvSpPr>
        <p:spPr>
          <a:xfrm>
            <a:off x="457200" y="1033272"/>
            <a:ext cx="6949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Your writing frames</a:t>
            </a:r>
            <a:endParaRPr lang="en-US" sz="2800" dirty="0"/>
          </a:p>
        </p:txBody>
      </p:sp>
      <p:sp>
        <p:nvSpPr>
          <p:cNvPr id="12" name="Text 10"/>
          <p:cNvSpPr txBox="1"/>
          <p:nvPr/>
        </p:nvSpPr>
        <p:spPr>
          <a:xfrm>
            <a:off x="7498080" y="868680"/>
            <a:ext cx="4233672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2800" b="1" dirty="0">
                <a:solidFill>
                  <a:srgbClr val="8A6D1E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قَوَالِبُ الكِتَابَةِ</a:t>
            </a:r>
            <a:endParaRPr lang="ar-SA" sz="28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6455664"/>
            <a:ext cx="6400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Miftah Arabic · Development D5 · Hobbies, Sport and Leisure · D5-W05 · Apply workshop (D5-L09 + D5-L10)</a:t>
            </a:r>
            <a:endParaRPr lang="en-US" sz="850" dirty="0"/>
          </a:p>
        </p:txBody>
      </p:sp>
      <p:sp>
        <p:nvSpPr>
          <p:cNvPr id="15" name="Shape 12"/>
          <p:cNvSpPr/>
          <p:nvPr/>
        </p:nvSpPr>
        <p:spPr>
          <a:xfrm>
            <a:off x="457200" y="1810512"/>
            <a:ext cx="5541264" cy="3566160"/>
          </a:xfrm>
          <a:prstGeom prst="roundRect">
            <a:avLst>
              <a:gd name="adj" fmla="val 2051"/>
            </a:avLst>
          </a:prstGeom>
          <a:solidFill>
            <a:srgbClr val="FCF1E0"/>
          </a:solidFill>
          <a:ln w="9525">
            <a:solidFill>
              <a:srgbClr val="C9780A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16" name="Shape 13"/>
          <p:cNvSpPr/>
          <p:nvPr/>
        </p:nvSpPr>
        <p:spPr>
          <a:xfrm>
            <a:off x="594360" y="1901952"/>
            <a:ext cx="1051560" cy="274320"/>
          </a:xfrm>
          <a:prstGeom prst="roundRect">
            <a:avLst>
              <a:gd name="adj" fmla="val 50000"/>
            </a:avLst>
          </a:prstGeom>
          <a:solidFill>
            <a:srgbClr val="C9780A"/>
          </a:solidFill>
          <a:ln w="12700">
            <a:solidFill>
              <a:srgbClr val="C9780A"/>
            </a:solidFill>
            <a:prstDash val="solid"/>
          </a:ln>
        </p:spPr>
      </p:sp>
      <p:sp>
        <p:nvSpPr>
          <p:cNvPr id="17" name="Text 14"/>
          <p:cNvSpPr txBox="1"/>
          <p:nvPr/>
        </p:nvSpPr>
        <p:spPr>
          <a:xfrm>
            <a:off x="594360" y="1901952"/>
            <a:ext cx="1051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DEVELOP</a:t>
            </a:r>
            <a:endParaRPr lang="en-US" sz="850" dirty="0"/>
          </a:p>
        </p:txBody>
      </p:sp>
      <p:sp>
        <p:nvSpPr>
          <p:cNvPr id="18" name="Text 15"/>
          <p:cNvSpPr txBox="1"/>
          <p:nvPr/>
        </p:nvSpPr>
        <p:spPr>
          <a:xfrm>
            <a:off x="2468880" y="2249424"/>
            <a:ext cx="3383280" cy="53858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18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بِالإِضَافَةِ إِلَى ذٰلِكَ، ______ .</a:t>
            </a:r>
            <a:endParaRPr lang="ar-SA" sz="1800" dirty="0"/>
          </a:p>
        </p:txBody>
      </p:sp>
      <p:sp>
        <p:nvSpPr>
          <p:cNvPr id="19" name="Text 16"/>
          <p:cNvSpPr txBox="1"/>
          <p:nvPr/>
        </p:nvSpPr>
        <p:spPr>
          <a:xfrm>
            <a:off x="594360" y="2249424"/>
            <a:ext cx="1828800" cy="53858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In addition, …</a:t>
            </a:r>
            <a:endParaRPr lang="en-US" sz="1050" dirty="0"/>
          </a:p>
        </p:txBody>
      </p:sp>
      <p:sp>
        <p:nvSpPr>
          <p:cNvPr id="20" name="Text 17"/>
          <p:cNvSpPr txBox="1"/>
          <p:nvPr/>
        </p:nvSpPr>
        <p:spPr>
          <a:xfrm>
            <a:off x="2468880" y="2816352"/>
            <a:ext cx="3383280" cy="53858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18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أَنْوِي أَنْ ______ لِأَنَّ ______ .</a:t>
            </a:r>
            <a:endParaRPr lang="ar-SA" sz="1800" dirty="0"/>
          </a:p>
        </p:txBody>
      </p:sp>
      <p:sp>
        <p:nvSpPr>
          <p:cNvPr id="21" name="Text 18"/>
          <p:cNvSpPr txBox="1"/>
          <p:nvPr/>
        </p:nvSpPr>
        <p:spPr>
          <a:xfrm>
            <a:off x="594360" y="2816352"/>
            <a:ext cx="1828800" cy="53858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I intend to … because …</a:t>
            </a:r>
            <a:endParaRPr lang="en-US" sz="1050" dirty="0"/>
          </a:p>
        </p:txBody>
      </p:sp>
      <p:sp>
        <p:nvSpPr>
          <p:cNvPr id="22" name="Shape 19"/>
          <p:cNvSpPr/>
          <p:nvPr/>
        </p:nvSpPr>
        <p:spPr>
          <a:xfrm>
            <a:off x="6190488" y="1810512"/>
            <a:ext cx="5541264" cy="3566160"/>
          </a:xfrm>
          <a:prstGeom prst="roundRect">
            <a:avLst>
              <a:gd name="adj" fmla="val 2051"/>
            </a:avLst>
          </a:prstGeom>
          <a:solidFill>
            <a:srgbClr val="E9F5EE"/>
          </a:solidFill>
          <a:ln w="9525">
            <a:solidFill>
              <a:srgbClr val="2E8B57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23" name="Shape 20"/>
          <p:cNvSpPr/>
          <p:nvPr/>
        </p:nvSpPr>
        <p:spPr>
          <a:xfrm>
            <a:off x="10543032" y="1901952"/>
            <a:ext cx="1051560" cy="274320"/>
          </a:xfrm>
          <a:prstGeom prst="roundRect">
            <a:avLst>
              <a:gd name="adj" fmla="val 50000"/>
            </a:avLst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24" name="Text 21"/>
          <p:cNvSpPr txBox="1"/>
          <p:nvPr/>
        </p:nvSpPr>
        <p:spPr>
          <a:xfrm>
            <a:off x="10543032" y="1901952"/>
            <a:ext cx="1051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CORE</a:t>
            </a:r>
            <a:endParaRPr lang="en-US" sz="850" dirty="0"/>
          </a:p>
        </p:txBody>
      </p:sp>
      <p:sp>
        <p:nvSpPr>
          <p:cNvPr id="25" name="Text 22"/>
          <p:cNvSpPr txBox="1"/>
          <p:nvPr/>
        </p:nvSpPr>
        <p:spPr>
          <a:xfrm>
            <a:off x="8202168" y="2249424"/>
            <a:ext cx="3383280" cy="53858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18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فِي الطُّفُولَةِ كُنْتُ ______ .</a:t>
            </a:r>
            <a:endParaRPr lang="ar-SA" sz="1800" dirty="0"/>
          </a:p>
        </p:txBody>
      </p:sp>
      <p:sp>
        <p:nvSpPr>
          <p:cNvPr id="26" name="Text 23"/>
          <p:cNvSpPr txBox="1"/>
          <p:nvPr/>
        </p:nvSpPr>
        <p:spPr>
          <a:xfrm>
            <a:off x="6327648" y="2249424"/>
            <a:ext cx="1828800" cy="53858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¶1 As a child I used to …</a:t>
            </a:r>
            <a:endParaRPr lang="en-US" sz="1050" dirty="0"/>
          </a:p>
        </p:txBody>
      </p:sp>
      <p:sp>
        <p:nvSpPr>
          <p:cNvPr id="27" name="Text 24"/>
          <p:cNvSpPr txBox="1"/>
          <p:nvPr/>
        </p:nvSpPr>
        <p:spPr>
          <a:xfrm>
            <a:off x="8202168" y="2816352"/>
            <a:ext cx="3383280" cy="53858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18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وَفِي يَوْمٍ مِنَ الأَيَّامِ ______ .</a:t>
            </a:r>
            <a:endParaRPr lang="ar-SA" sz="1800" dirty="0"/>
          </a:p>
        </p:txBody>
      </p:sp>
      <p:sp>
        <p:nvSpPr>
          <p:cNvPr id="28" name="Text 25"/>
          <p:cNvSpPr txBox="1"/>
          <p:nvPr/>
        </p:nvSpPr>
        <p:spPr>
          <a:xfrm>
            <a:off x="6327648" y="2816352"/>
            <a:ext cx="1828800" cy="53858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¶1 And one day I …</a:t>
            </a:r>
            <a:endParaRPr lang="en-US" sz="1050" dirty="0"/>
          </a:p>
        </p:txBody>
      </p:sp>
      <p:sp>
        <p:nvSpPr>
          <p:cNvPr id="29" name="Text 26"/>
          <p:cNvSpPr txBox="1"/>
          <p:nvPr/>
        </p:nvSpPr>
        <p:spPr>
          <a:xfrm>
            <a:off x="8202168" y="3383280"/>
            <a:ext cx="3383280" cy="53858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16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أَمَّا الآنَ فَأُمَارِسُ ______ ______ فِي الأُسْبُوعِ.</a:t>
            </a:r>
            <a:endParaRPr lang="ar-SA" sz="1600" dirty="0"/>
          </a:p>
        </p:txBody>
      </p:sp>
      <p:sp>
        <p:nvSpPr>
          <p:cNvPr id="30" name="Text 27"/>
          <p:cNvSpPr txBox="1"/>
          <p:nvPr/>
        </p:nvSpPr>
        <p:spPr>
          <a:xfrm>
            <a:off x="6327648" y="3383280"/>
            <a:ext cx="1828800" cy="53858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¶2 But now I do … (how often) a week.</a:t>
            </a:r>
            <a:endParaRPr lang="en-US" sz="1050" dirty="0"/>
          </a:p>
        </p:txBody>
      </p:sp>
      <p:sp>
        <p:nvSpPr>
          <p:cNvPr id="31" name="Text 28"/>
          <p:cNvSpPr txBox="1"/>
          <p:nvPr/>
        </p:nvSpPr>
        <p:spPr>
          <a:xfrm>
            <a:off x="8202168" y="3950208"/>
            <a:ext cx="3383280" cy="53858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18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فِي المُسْتَقْبَلِ سَوْفَ ______ .</a:t>
            </a:r>
            <a:endParaRPr lang="ar-SA" sz="1800" dirty="0"/>
          </a:p>
        </p:txBody>
      </p:sp>
      <p:sp>
        <p:nvSpPr>
          <p:cNvPr id="32" name="Text 29"/>
          <p:cNvSpPr txBox="1"/>
          <p:nvPr/>
        </p:nvSpPr>
        <p:spPr>
          <a:xfrm>
            <a:off x="6327648" y="3950208"/>
            <a:ext cx="1828800" cy="53858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¶3 In future I will …</a:t>
            </a:r>
            <a:endParaRPr lang="en-US" sz="1050" dirty="0"/>
          </a:p>
        </p:txBody>
      </p:sp>
      <p:sp>
        <p:nvSpPr>
          <p:cNvPr id="33" name="Text 30"/>
          <p:cNvSpPr txBox="1"/>
          <p:nvPr/>
        </p:nvSpPr>
        <p:spPr>
          <a:xfrm>
            <a:off x="8202168" y="4517136"/>
            <a:ext cx="3383280" cy="53858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18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أَعْتَقِدُ أَنَّ الهِوَايَاتِ ______ .</a:t>
            </a:r>
            <a:endParaRPr lang="ar-SA" sz="1800" dirty="0"/>
          </a:p>
        </p:txBody>
      </p:sp>
      <p:sp>
        <p:nvSpPr>
          <p:cNvPr id="34" name="Text 31"/>
          <p:cNvSpPr txBox="1"/>
          <p:nvPr/>
        </p:nvSpPr>
        <p:spPr>
          <a:xfrm>
            <a:off x="6327648" y="4517136"/>
            <a:ext cx="1828800" cy="53858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¶4 I believe that hobbies …</a:t>
            </a:r>
            <a:endParaRPr lang="en-US" sz="1050" dirty="0"/>
          </a:p>
        </p:txBody>
      </p:sp>
      <p:sp>
        <p:nvSpPr>
          <p:cNvPr id="35" name="Shape 32"/>
          <p:cNvSpPr/>
          <p:nvPr/>
        </p:nvSpPr>
        <p:spPr>
          <a:xfrm>
            <a:off x="457200" y="5504688"/>
            <a:ext cx="11274552" cy="804672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36" name="Text 33"/>
          <p:cNvSpPr txBox="1"/>
          <p:nvPr/>
        </p:nvSpPr>
        <p:spPr>
          <a:xfrm>
            <a:off x="640080" y="5541264"/>
            <a:ext cx="18288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b="1" spc="2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WORD BANK</a:t>
            </a:r>
            <a:endParaRPr lang="en-US" sz="950" dirty="0"/>
          </a:p>
        </p:txBody>
      </p:sp>
      <p:sp>
        <p:nvSpPr>
          <p:cNvPr id="37" name="Text 34"/>
          <p:cNvSpPr txBox="1"/>
          <p:nvPr/>
        </p:nvSpPr>
        <p:spPr>
          <a:xfrm>
            <a:off x="640080" y="5760720"/>
            <a:ext cx="10908792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155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كُنْتُ أَلْعَبُ · كُنْتُ أَرْسُمُ  ·  أَمْسِ · الأُسْبُوعَ المَاضِيَ  ·  أَمَّا الآنَ فَ…  ·  مَرَّتَيْنِ فِي الأُسْبُوعِ  ·  سَأَشْتَرِكُ · سَوْفَ أَتَعَلَّمُ  ·  أَنْوِي أَنْ  ·  بِالإِضَافَةِ إِلَى ذٰلِكَ  ·  أَعْتَقِدُ أَنَّ</a:t>
            </a:r>
            <a:endParaRPr lang="ar-SA" sz="1550" dirty="0"/>
          </a:p>
        </p:txBody>
      </p:sp>
      <p:sp>
        <p:nvSpPr>
          <p:cNvPr id="38" name="Text 35"/>
          <p:cNvSpPr txBox="1"/>
          <p:nvPr/>
        </p:nvSpPr>
        <p:spPr>
          <a:xfrm>
            <a:off x="10360152" y="6455664"/>
            <a:ext cx="1371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18 / 24</a:t>
            </a:r>
            <a:endParaRPr lang="en-US" sz="85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FFD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37744"/>
            <a:ext cx="420624" cy="420624"/>
          </a:xfrm>
          <a:prstGeom prst="ellipse">
            <a:avLst/>
          </a:prstGeom>
          <a:solidFill>
            <a:srgbClr val="1B3B6F"/>
          </a:solidFill>
          <a:ln w="12700">
            <a:solidFill>
              <a:srgbClr val="D4AF37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457200" y="21945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D4AF37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</a:t>
            </a:r>
            <a:endParaRPr lang="ar-SA" sz="18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Al Madina Online School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57200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ARABIC DEPARTMENT · MIFTAH ARABIC · IGCSE 0544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8897112" y="274320"/>
            <a:ext cx="2834640" cy="329184"/>
          </a:xfrm>
          <a:prstGeom prst="roundRect">
            <a:avLst>
              <a:gd name="adj" fmla="val 50000"/>
            </a:avLst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897112" y="274320"/>
            <a:ext cx="2834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D5-W05 · Apply workshop</a:t>
            </a:r>
            <a:endParaRPr lang="en-US" sz="950" dirty="0"/>
          </a:p>
        </p:txBody>
      </p:sp>
      <p:sp>
        <p:nvSpPr>
          <p:cNvPr id="8" name="Shape 6"/>
          <p:cNvSpPr/>
          <p:nvPr/>
        </p:nvSpPr>
        <p:spPr>
          <a:xfrm>
            <a:off x="7219188" y="274320"/>
            <a:ext cx="1540764" cy="329184"/>
          </a:xfrm>
          <a:prstGeom prst="roundRect">
            <a:avLst>
              <a:gd name="adj" fmla="val 50000"/>
            </a:avLst>
          </a:prstGeom>
          <a:solidFill>
            <a:srgbClr val="1E6B52"/>
          </a:solidFill>
          <a:ln w="12700">
            <a:solidFill>
              <a:srgbClr val="1E6B52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7219188" y="274320"/>
            <a:ext cx="154076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YOU DO · 10 MIN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822960"/>
            <a:ext cx="6949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300" kern="0" dirty="0">
                <a:solidFill>
                  <a:srgbClr val="1E6B52"/>
                </a:solidFill>
                <a:latin typeface="Calibri" pitchFamily="34" charset="0"/>
                <a:cs typeface="Amiri" pitchFamily="2" charset="-78"/>
              </a:rPr>
              <a:t>STEP 9 · WRITE YOUR TEXT · ABOUT 60–80 WORDS</a:t>
            </a:r>
            <a:endParaRPr lang="en-US" sz="1000" dirty="0"/>
          </a:p>
        </p:txBody>
      </p:sp>
      <p:sp>
        <p:nvSpPr>
          <p:cNvPr id="11" name="Text 9"/>
          <p:cNvSpPr txBox="1"/>
          <p:nvPr/>
        </p:nvSpPr>
        <p:spPr>
          <a:xfrm>
            <a:off x="457200" y="1033272"/>
            <a:ext cx="6949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75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My leisure life: then, now and next</a:t>
            </a:r>
            <a:endParaRPr lang="en-US" sz="2750" dirty="0"/>
          </a:p>
        </p:txBody>
      </p:sp>
      <p:sp>
        <p:nvSpPr>
          <p:cNvPr id="12" name="Text 10"/>
          <p:cNvSpPr txBox="1"/>
          <p:nvPr/>
        </p:nvSpPr>
        <p:spPr>
          <a:xfrm>
            <a:off x="7498080" y="868680"/>
            <a:ext cx="4233672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2800" b="1" dirty="0">
                <a:solidFill>
                  <a:srgbClr val="8A6D1E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وَقْتُ فَرَاغِي</a:t>
            </a:r>
            <a:endParaRPr lang="ar-SA" sz="28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6455664"/>
            <a:ext cx="6400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Miftah Arabic · Development D5 · Hobbies, Sport and Leisure · D5-W05 · Apply workshop (D5-L09 + D5-L10)</a:t>
            </a:r>
            <a:endParaRPr lang="en-US" sz="850" dirty="0"/>
          </a:p>
        </p:txBody>
      </p:sp>
      <p:sp>
        <p:nvSpPr>
          <p:cNvPr id="15" name="Shape 12"/>
          <p:cNvSpPr/>
          <p:nvPr/>
        </p:nvSpPr>
        <p:spPr>
          <a:xfrm>
            <a:off x="457200" y="1810512"/>
            <a:ext cx="5577840" cy="4498848"/>
          </a:xfrm>
          <a:prstGeom prst="roundRect">
            <a:avLst>
              <a:gd name="adj" fmla="val 1626"/>
            </a:avLst>
          </a:prstGeom>
          <a:solidFill>
            <a:srgbClr val="F7F9FC"/>
          </a:solidFill>
          <a:ln w="9525">
            <a:solidFill>
              <a:srgbClr val="C9D6EA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16" name="Shape 13"/>
          <p:cNvSpPr/>
          <p:nvPr/>
        </p:nvSpPr>
        <p:spPr>
          <a:xfrm>
            <a:off x="640080" y="1938528"/>
            <a:ext cx="2061972" cy="292608"/>
          </a:xfrm>
          <a:prstGeom prst="roundRect">
            <a:avLst>
              <a:gd name="adj" fmla="val 50000"/>
            </a:avLst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17" name="Text 14"/>
          <p:cNvSpPr txBox="1"/>
          <p:nvPr/>
        </p:nvSpPr>
        <p:spPr>
          <a:xfrm>
            <a:off x="640080" y="1938528"/>
            <a:ext cx="20619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WRITING · DIRECTED TASK</a:t>
            </a:r>
            <a:endParaRPr lang="en-US" sz="950" dirty="0"/>
          </a:p>
        </p:txBody>
      </p:sp>
      <p:sp>
        <p:nvSpPr>
          <p:cNvPr id="18" name="Text 15"/>
          <p:cNvSpPr txBox="1"/>
          <p:nvPr/>
        </p:nvSpPr>
        <p:spPr>
          <a:xfrm>
            <a:off x="640080" y="2331720"/>
            <a:ext cx="52120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Write a text (about 60–80 words) in four short paragraphs. ¶1 past: what you used to do (‏</a:t>
            </a:r>
            <a:pPr algn="l" indent="0" marL="0">
              <a:buNone/>
            </a:pPr>
            <a:r>
              <a:rPr lang="ar-SA" altLang="en-US" sz="1450" b="1" dirty="0">
                <a:solidFill>
                  <a:srgbClr val="1F2A37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كُنْتُ</a:t>
            </a:r>
            <a:pPr algn="l" indent="0" marL="0">
              <a:buNone/>
            </a:pPr>
            <a:r>
              <a:rPr lang="en-US" sz="1100" b="1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‏ + present) + one memory with past verbs. ¶2 present: ‏</a:t>
            </a:r>
            <a:pPr algn="l" indent="0" marL="0">
              <a:buNone/>
            </a:pPr>
            <a:r>
              <a:rPr lang="ar-SA" altLang="en-US" sz="1450" b="1" dirty="0">
                <a:solidFill>
                  <a:srgbClr val="1F2A37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أَمَّا الآنَ فَ</a:t>
            </a:r>
            <a:pPr algn="l" indent="0" marL="0">
              <a:buNone/>
            </a:pPr>
            <a:r>
              <a:rPr lang="en-US" sz="1100" b="1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…‏ + two hobbies with frequency. ¶3 future: two plans. ¶4 opinion: why hobbies matter. Use at least one connector in each paragraph.</a:t>
            </a:r>
            <a:endParaRPr lang="en-US" sz="1100" dirty="0"/>
          </a:p>
        </p:txBody>
      </p:sp>
      <p:sp>
        <p:nvSpPr>
          <p:cNvPr id="19" name="Text 16"/>
          <p:cNvSpPr txBox="1"/>
          <p:nvPr/>
        </p:nvSpPr>
        <p:spPr>
          <a:xfrm>
            <a:off x="685800" y="3310128"/>
            <a:ext cx="521208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☐  All the bullet points, in order.</a:t>
            </a:r>
            <a:endParaRPr lang="en-US" sz="1200" dirty="0"/>
          </a:p>
        </p:txBody>
      </p:sp>
      <p:sp>
        <p:nvSpPr>
          <p:cNvPr id="20" name="Text 17"/>
          <p:cNvSpPr txBox="1"/>
          <p:nvPr/>
        </p:nvSpPr>
        <p:spPr>
          <a:xfrm>
            <a:off x="685800" y="3840480"/>
            <a:ext cx="521208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☐  Language from D5-L09 AND D5-L10.</a:t>
            </a:r>
            <a:endParaRPr lang="en-US" sz="1200" dirty="0"/>
          </a:p>
        </p:txBody>
      </p:sp>
      <p:sp>
        <p:nvSpPr>
          <p:cNvPr id="21" name="Text 18"/>
          <p:cNvSpPr txBox="1"/>
          <p:nvPr/>
        </p:nvSpPr>
        <p:spPr>
          <a:xfrm>
            <a:off x="685800" y="4370832"/>
            <a:ext cx="521208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☐  Linking words: ‏</a:t>
            </a:r>
            <a:pPr algn="l" indent="0" marL="0">
              <a:buNone/>
            </a:pPr>
            <a:r>
              <a:rPr lang="ar-SA" altLang="en-US" sz="1550" dirty="0">
                <a:solidFill>
                  <a:srgbClr val="1F2A37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وَ</a:t>
            </a:r>
            <a:pPr algn="l" indent="0" marL="0">
              <a:buNone/>
            </a:pPr>
            <a:r>
              <a:rPr lang="en-US" sz="1200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 · </a:t>
            </a:r>
            <a:pPr algn="l" indent="0" marL="0">
              <a:buNone/>
            </a:pPr>
            <a:r>
              <a:rPr lang="ar-SA" altLang="en-US" sz="1550" dirty="0">
                <a:solidFill>
                  <a:srgbClr val="1F2A37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ثُمَّ</a:t>
            </a:r>
            <a:pPr algn="l" indent="0" marL="0">
              <a:buNone/>
            </a:pPr>
            <a:r>
              <a:rPr lang="en-US" sz="1200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 · </a:t>
            </a:r>
            <a:pPr algn="l" indent="0" marL="0">
              <a:buNone/>
            </a:pPr>
            <a:r>
              <a:rPr lang="ar-SA" altLang="en-US" sz="1550" dirty="0">
                <a:solidFill>
                  <a:srgbClr val="1F2A37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لِأَنَّ</a:t>
            </a:r>
            <a:pPr algn="l" indent="0" marL="0">
              <a:buNone/>
            </a:pPr>
            <a:r>
              <a:rPr lang="en-US" sz="1200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 · </a:t>
            </a:r>
            <a:pPr algn="l" indent="0" marL="0">
              <a:buNone/>
            </a:pPr>
            <a:r>
              <a:rPr lang="ar-SA" altLang="en-US" sz="1550" dirty="0">
                <a:solidFill>
                  <a:srgbClr val="1F2A37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لٰكِنَّ</a:t>
            </a:r>
            <a:pPr algn="l" indent="0" marL="0">
              <a:buNone/>
            </a:pPr>
            <a:r>
              <a:rPr lang="en-US" sz="1200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‏.</a:t>
            </a:r>
            <a:endParaRPr lang="en-US" sz="1200" dirty="0"/>
          </a:p>
        </p:txBody>
      </p:sp>
      <p:sp>
        <p:nvSpPr>
          <p:cNvPr id="22" name="Text 19"/>
          <p:cNvSpPr txBox="1"/>
          <p:nvPr/>
        </p:nvSpPr>
        <p:spPr>
          <a:xfrm>
            <a:off x="685800" y="4901184"/>
            <a:ext cx="521208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☐  One opinion with a reason.</a:t>
            </a:r>
            <a:endParaRPr lang="en-US" sz="1200" dirty="0"/>
          </a:p>
        </p:txBody>
      </p:sp>
      <p:sp>
        <p:nvSpPr>
          <p:cNvPr id="23" name="Text 20"/>
          <p:cNvSpPr txBox="1"/>
          <p:nvPr/>
        </p:nvSpPr>
        <p:spPr>
          <a:xfrm>
            <a:off x="685800" y="5431536"/>
            <a:ext cx="521208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☐  Buddy check, then fix one thing.</a:t>
            </a:r>
            <a:endParaRPr lang="en-US" sz="1200" dirty="0"/>
          </a:p>
        </p:txBody>
      </p:sp>
      <p:sp>
        <p:nvSpPr>
          <p:cNvPr id="24" name="Shape 21"/>
          <p:cNvSpPr/>
          <p:nvPr/>
        </p:nvSpPr>
        <p:spPr>
          <a:xfrm>
            <a:off x="6217920" y="1810512"/>
            <a:ext cx="5513832" cy="4498848"/>
          </a:xfrm>
          <a:prstGeom prst="roundRect">
            <a:avLst>
              <a:gd name="adj" fmla="val 1626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25" name="Text 22"/>
          <p:cNvSpPr txBox="1"/>
          <p:nvPr/>
        </p:nvSpPr>
        <p:spPr>
          <a:xfrm>
            <a:off x="6400800" y="1901952"/>
            <a:ext cx="5120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b="1" spc="1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USEFUL LANGUAGE</a:t>
            </a:r>
            <a:endParaRPr lang="en-US" sz="950" dirty="0"/>
          </a:p>
        </p:txBody>
      </p:sp>
      <p:sp>
        <p:nvSpPr>
          <p:cNvPr id="26" name="Text 23"/>
          <p:cNvSpPr txBox="1"/>
          <p:nvPr/>
        </p:nvSpPr>
        <p:spPr>
          <a:xfrm>
            <a:off x="8412480" y="2231136"/>
            <a:ext cx="3154680" cy="4081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18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فِي الطُّفُولَةِ كُنْتُ …</a:t>
            </a:r>
            <a:endParaRPr lang="ar-SA" sz="1800" dirty="0"/>
          </a:p>
        </p:txBody>
      </p:sp>
      <p:sp>
        <p:nvSpPr>
          <p:cNvPr id="27" name="Text 24"/>
          <p:cNvSpPr txBox="1"/>
          <p:nvPr/>
        </p:nvSpPr>
        <p:spPr>
          <a:xfrm>
            <a:off x="6400800" y="2560320"/>
            <a:ext cx="5166360" cy="27651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as a child I used to …</a:t>
            </a:r>
            <a:endParaRPr lang="en-US" sz="1050" dirty="0"/>
          </a:p>
        </p:txBody>
      </p:sp>
      <p:sp>
        <p:nvSpPr>
          <p:cNvPr id="28" name="Text 25"/>
          <p:cNvSpPr txBox="1"/>
          <p:nvPr/>
        </p:nvSpPr>
        <p:spPr>
          <a:xfrm>
            <a:off x="8412480" y="2889504"/>
            <a:ext cx="3154680" cy="4081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18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أَمَّا الآنَ فَ…</a:t>
            </a:r>
            <a:endParaRPr lang="ar-SA" sz="1800" dirty="0"/>
          </a:p>
        </p:txBody>
      </p:sp>
      <p:sp>
        <p:nvSpPr>
          <p:cNvPr id="29" name="Text 26"/>
          <p:cNvSpPr txBox="1"/>
          <p:nvPr/>
        </p:nvSpPr>
        <p:spPr>
          <a:xfrm>
            <a:off x="6400800" y="3218688"/>
            <a:ext cx="5166360" cy="27651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but now …</a:t>
            </a:r>
            <a:endParaRPr lang="en-US" sz="1050" dirty="0"/>
          </a:p>
        </p:txBody>
      </p:sp>
      <p:sp>
        <p:nvSpPr>
          <p:cNvPr id="30" name="Text 27"/>
          <p:cNvSpPr txBox="1"/>
          <p:nvPr/>
        </p:nvSpPr>
        <p:spPr>
          <a:xfrm>
            <a:off x="8412480" y="3547872"/>
            <a:ext cx="3154680" cy="4081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18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سَأَشْتَرِكُ فِي … · أَنْوِي أَنْ …</a:t>
            </a:r>
            <a:endParaRPr lang="ar-SA" sz="1800" dirty="0"/>
          </a:p>
        </p:txBody>
      </p:sp>
      <p:sp>
        <p:nvSpPr>
          <p:cNvPr id="31" name="Text 28"/>
          <p:cNvSpPr txBox="1"/>
          <p:nvPr/>
        </p:nvSpPr>
        <p:spPr>
          <a:xfrm>
            <a:off x="6400800" y="3877056"/>
            <a:ext cx="5166360" cy="27651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I will join … · I intend to …</a:t>
            </a:r>
            <a:endParaRPr lang="en-US" sz="1050" dirty="0"/>
          </a:p>
        </p:txBody>
      </p:sp>
      <p:sp>
        <p:nvSpPr>
          <p:cNvPr id="32" name="Text 29"/>
          <p:cNvSpPr txBox="1"/>
          <p:nvPr/>
        </p:nvSpPr>
        <p:spPr>
          <a:xfrm>
            <a:off x="8412480" y="4206240"/>
            <a:ext cx="3154680" cy="4081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18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أَعْتَقِدُ أَنَّ … · وَفِي الخِتَامِ …</a:t>
            </a:r>
            <a:endParaRPr lang="ar-SA" sz="1800" dirty="0"/>
          </a:p>
        </p:txBody>
      </p:sp>
      <p:sp>
        <p:nvSpPr>
          <p:cNvPr id="33" name="Text 30"/>
          <p:cNvSpPr txBox="1"/>
          <p:nvPr/>
        </p:nvSpPr>
        <p:spPr>
          <a:xfrm>
            <a:off x="6400800" y="4535424"/>
            <a:ext cx="5166360" cy="27651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I believe that … · and finally …</a:t>
            </a:r>
            <a:endParaRPr lang="en-US" sz="1050" dirty="0"/>
          </a:p>
        </p:txBody>
      </p:sp>
      <p:sp>
        <p:nvSpPr>
          <p:cNvPr id="34" name="Text 31"/>
          <p:cNvSpPr txBox="1"/>
          <p:nvPr/>
        </p:nvSpPr>
        <p:spPr>
          <a:xfrm>
            <a:off x="10360152" y="6455664"/>
            <a:ext cx="1371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19 / 24</a:t>
            </a:r>
            <a:endParaRPr lang="en-US" sz="85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FFD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37744"/>
            <a:ext cx="420624" cy="420624"/>
          </a:xfrm>
          <a:prstGeom prst="ellipse">
            <a:avLst/>
          </a:prstGeom>
          <a:solidFill>
            <a:srgbClr val="1B3B6F"/>
          </a:solidFill>
          <a:ln w="12700">
            <a:solidFill>
              <a:srgbClr val="D4AF37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457200" y="21945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D4AF37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</a:t>
            </a:r>
            <a:endParaRPr lang="ar-SA" sz="18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Al Madina Online School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57200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ARABIC DEPARTMENT · MIFTAH ARABIC · IGCSE 0544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8897112" y="274320"/>
            <a:ext cx="2834640" cy="329184"/>
          </a:xfrm>
          <a:prstGeom prst="roundRect">
            <a:avLst>
              <a:gd name="adj" fmla="val 50000"/>
            </a:avLst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897112" y="274320"/>
            <a:ext cx="2834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D5-W05 · Apply workshop</a:t>
            </a:r>
            <a:endParaRPr lang="en-US" sz="950" dirty="0"/>
          </a:p>
        </p:txBody>
      </p:sp>
      <p:sp>
        <p:nvSpPr>
          <p:cNvPr id="8" name="Shape 6"/>
          <p:cNvSpPr/>
          <p:nvPr/>
        </p:nvSpPr>
        <p:spPr>
          <a:xfrm>
            <a:off x="7295083" y="274320"/>
            <a:ext cx="1464869" cy="329184"/>
          </a:xfrm>
          <a:prstGeom prst="roundRect">
            <a:avLst>
              <a:gd name="adj" fmla="val 50000"/>
            </a:avLst>
          </a:prstGeom>
          <a:solidFill>
            <a:srgbClr val="1E6B52"/>
          </a:solidFill>
          <a:ln w="12700">
            <a:solidFill>
              <a:srgbClr val="1E6B52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7295083" y="274320"/>
            <a:ext cx="1464869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YOU DO · 3 MIN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822960"/>
            <a:ext cx="6949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300" kern="0" dirty="0">
                <a:solidFill>
                  <a:srgbClr val="1E6B52"/>
                </a:solidFill>
                <a:latin typeface="Calibri" pitchFamily="34" charset="0"/>
                <a:cs typeface="Amiri" pitchFamily="2" charset="-78"/>
              </a:rPr>
              <a:t>STEP 9 · BUDDY CHECK · SWAP AND READ YOUR BUDDY’S TEXT</a:t>
            </a:r>
            <a:endParaRPr lang="en-US" sz="1000" dirty="0"/>
          </a:p>
        </p:txBody>
      </p:sp>
      <p:sp>
        <p:nvSpPr>
          <p:cNvPr id="11" name="Text 9"/>
          <p:cNvSpPr txBox="1"/>
          <p:nvPr/>
        </p:nvSpPr>
        <p:spPr>
          <a:xfrm>
            <a:off x="457200" y="1033272"/>
            <a:ext cx="6949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Buddy check: five points</a:t>
            </a:r>
            <a:endParaRPr lang="en-US" sz="2800" dirty="0"/>
          </a:p>
        </p:txBody>
      </p:sp>
      <p:sp>
        <p:nvSpPr>
          <p:cNvPr id="12" name="Text 10"/>
          <p:cNvSpPr txBox="1"/>
          <p:nvPr/>
        </p:nvSpPr>
        <p:spPr>
          <a:xfrm>
            <a:off x="7498080" y="868680"/>
            <a:ext cx="4233672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2800" b="1" dirty="0">
                <a:solidFill>
                  <a:srgbClr val="8A6D1E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رَاجِعْ مَعَ زَمِيلِكَ</a:t>
            </a:r>
            <a:endParaRPr lang="ar-SA" sz="28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6455664"/>
            <a:ext cx="6400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Miftah Arabic · Development D5 · Hobbies, Sport and Leisure · D5-W05 · Apply workshop (D5-L09 + D5-L10)</a:t>
            </a:r>
            <a:endParaRPr lang="en-US" sz="850" dirty="0"/>
          </a:p>
        </p:txBody>
      </p:sp>
      <p:sp>
        <p:nvSpPr>
          <p:cNvPr id="15" name="Shape 12"/>
          <p:cNvSpPr/>
          <p:nvPr/>
        </p:nvSpPr>
        <p:spPr>
          <a:xfrm>
            <a:off x="457200" y="1810512"/>
            <a:ext cx="11274552" cy="384048"/>
          </a:xfrm>
          <a:prstGeom prst="rect">
            <a:avLst/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8759952" y="1810512"/>
            <a:ext cx="28986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Line / example</a:t>
            </a:r>
            <a:endParaRPr lang="en-US" sz="1100" dirty="0"/>
          </a:p>
        </p:txBody>
      </p:sp>
      <p:sp>
        <p:nvSpPr>
          <p:cNvPr id="17" name="Text 14"/>
          <p:cNvSpPr txBox="1"/>
          <p:nvPr/>
        </p:nvSpPr>
        <p:spPr>
          <a:xfrm>
            <a:off x="7845552" y="1810512"/>
            <a:ext cx="76809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✓ / ✗</a:t>
            </a:r>
            <a:endParaRPr lang="en-US" sz="1100" dirty="0"/>
          </a:p>
        </p:txBody>
      </p:sp>
      <p:sp>
        <p:nvSpPr>
          <p:cNvPr id="18" name="Text 15"/>
          <p:cNvSpPr txBox="1"/>
          <p:nvPr/>
        </p:nvSpPr>
        <p:spPr>
          <a:xfrm>
            <a:off x="6565392" y="1810512"/>
            <a:ext cx="113385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Route</a:t>
            </a:r>
            <a:endParaRPr lang="en-US" sz="1100" dirty="0"/>
          </a:p>
        </p:txBody>
      </p:sp>
      <p:sp>
        <p:nvSpPr>
          <p:cNvPr id="19" name="Text 16"/>
          <p:cNvSpPr txBox="1"/>
          <p:nvPr/>
        </p:nvSpPr>
        <p:spPr>
          <a:xfrm>
            <a:off x="530352" y="1810512"/>
            <a:ext cx="588873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Did the writer …</a:t>
            </a:r>
            <a:endParaRPr lang="en-US" sz="1100" dirty="0"/>
          </a:p>
        </p:txBody>
      </p:sp>
      <p:sp>
        <p:nvSpPr>
          <p:cNvPr id="20" name="Shape 17"/>
          <p:cNvSpPr/>
          <p:nvPr/>
        </p:nvSpPr>
        <p:spPr>
          <a:xfrm>
            <a:off x="457200" y="2267712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21" name="Text 18"/>
          <p:cNvSpPr txBox="1"/>
          <p:nvPr/>
        </p:nvSpPr>
        <p:spPr>
          <a:xfrm>
            <a:off x="8796528" y="2267712"/>
            <a:ext cx="2862072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endParaRPr lang="en-US" sz="1100" dirty="0"/>
          </a:p>
        </p:txBody>
      </p:sp>
      <p:sp>
        <p:nvSpPr>
          <p:cNvPr id="22" name="Text 19"/>
          <p:cNvSpPr txBox="1"/>
          <p:nvPr/>
        </p:nvSpPr>
        <p:spPr>
          <a:xfrm>
            <a:off x="7882128" y="2267712"/>
            <a:ext cx="73152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endParaRPr lang="en-US" sz="1100" dirty="0"/>
          </a:p>
        </p:txBody>
      </p:sp>
      <p:sp>
        <p:nvSpPr>
          <p:cNvPr id="23" name="Text 20"/>
          <p:cNvSpPr txBox="1"/>
          <p:nvPr/>
        </p:nvSpPr>
        <p:spPr>
          <a:xfrm>
            <a:off x="6601968" y="2267712"/>
            <a:ext cx="10972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Core</a:t>
            </a:r>
            <a:endParaRPr lang="en-US" sz="1100" dirty="0"/>
          </a:p>
        </p:txBody>
      </p:sp>
      <p:sp>
        <p:nvSpPr>
          <p:cNvPr id="24" name="Text 21"/>
          <p:cNvSpPr txBox="1"/>
          <p:nvPr/>
        </p:nvSpPr>
        <p:spPr>
          <a:xfrm>
            <a:off x="566928" y="2267712"/>
            <a:ext cx="585216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answer EVERY bullet point?</a:t>
            </a:r>
            <a:endParaRPr lang="en-US" sz="1100" dirty="0"/>
          </a:p>
        </p:txBody>
      </p:sp>
      <p:sp>
        <p:nvSpPr>
          <p:cNvPr id="25" name="Shape 22"/>
          <p:cNvSpPr/>
          <p:nvPr/>
        </p:nvSpPr>
        <p:spPr>
          <a:xfrm>
            <a:off x="11091672" y="2313432"/>
            <a:ext cx="548640" cy="182880"/>
          </a:xfrm>
          <a:prstGeom prst="roundRect">
            <a:avLst>
              <a:gd name="adj" fmla="val 50000"/>
            </a:avLst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26" name="Text 23"/>
          <p:cNvSpPr txBox="1"/>
          <p:nvPr/>
        </p:nvSpPr>
        <p:spPr>
          <a:xfrm>
            <a:off x="11091672" y="2313432"/>
            <a:ext cx="5486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CORE</a:t>
            </a:r>
            <a:endParaRPr lang="en-US" sz="650" dirty="0"/>
          </a:p>
        </p:txBody>
      </p:sp>
      <p:sp>
        <p:nvSpPr>
          <p:cNvPr id="27" name="Shape 24"/>
          <p:cNvSpPr/>
          <p:nvPr/>
        </p:nvSpPr>
        <p:spPr>
          <a:xfrm>
            <a:off x="457200" y="3004718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4F1EA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28" name="Text 25"/>
          <p:cNvSpPr txBox="1"/>
          <p:nvPr/>
        </p:nvSpPr>
        <p:spPr>
          <a:xfrm>
            <a:off x="8796528" y="3004718"/>
            <a:ext cx="2862072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endParaRPr lang="en-US" sz="1100" dirty="0"/>
          </a:p>
        </p:txBody>
      </p:sp>
      <p:sp>
        <p:nvSpPr>
          <p:cNvPr id="29" name="Text 26"/>
          <p:cNvSpPr txBox="1"/>
          <p:nvPr/>
        </p:nvSpPr>
        <p:spPr>
          <a:xfrm>
            <a:off x="7882128" y="3004718"/>
            <a:ext cx="73152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endParaRPr lang="en-US" sz="1100" dirty="0"/>
          </a:p>
        </p:txBody>
      </p:sp>
      <p:sp>
        <p:nvSpPr>
          <p:cNvPr id="30" name="Text 27"/>
          <p:cNvSpPr txBox="1"/>
          <p:nvPr/>
        </p:nvSpPr>
        <p:spPr>
          <a:xfrm>
            <a:off x="6601968" y="3004718"/>
            <a:ext cx="10972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Core</a:t>
            </a:r>
            <a:endParaRPr lang="en-US" sz="1100" dirty="0"/>
          </a:p>
        </p:txBody>
      </p:sp>
      <p:sp>
        <p:nvSpPr>
          <p:cNvPr id="31" name="Text 28"/>
          <p:cNvSpPr txBox="1"/>
          <p:nvPr/>
        </p:nvSpPr>
        <p:spPr>
          <a:xfrm>
            <a:off x="566928" y="3004718"/>
            <a:ext cx="585216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write in three time zones with the right tense in each?</a:t>
            </a:r>
            <a:endParaRPr lang="en-US" sz="1100" dirty="0"/>
          </a:p>
        </p:txBody>
      </p:sp>
      <p:sp>
        <p:nvSpPr>
          <p:cNvPr id="32" name="Shape 29"/>
          <p:cNvSpPr/>
          <p:nvPr/>
        </p:nvSpPr>
        <p:spPr>
          <a:xfrm>
            <a:off x="11091672" y="3050438"/>
            <a:ext cx="548640" cy="182880"/>
          </a:xfrm>
          <a:prstGeom prst="roundRect">
            <a:avLst>
              <a:gd name="adj" fmla="val 50000"/>
            </a:avLst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33" name="Text 30"/>
          <p:cNvSpPr txBox="1"/>
          <p:nvPr/>
        </p:nvSpPr>
        <p:spPr>
          <a:xfrm>
            <a:off x="11091672" y="3050438"/>
            <a:ext cx="5486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CORE</a:t>
            </a:r>
            <a:endParaRPr lang="en-US" sz="650" dirty="0"/>
          </a:p>
        </p:txBody>
      </p:sp>
      <p:sp>
        <p:nvSpPr>
          <p:cNvPr id="34" name="Shape 31"/>
          <p:cNvSpPr/>
          <p:nvPr/>
        </p:nvSpPr>
        <p:spPr>
          <a:xfrm>
            <a:off x="457200" y="3741725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35" name="Text 32"/>
          <p:cNvSpPr txBox="1"/>
          <p:nvPr/>
        </p:nvSpPr>
        <p:spPr>
          <a:xfrm>
            <a:off x="8796528" y="3741725"/>
            <a:ext cx="2862072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endParaRPr lang="en-US" sz="1100" dirty="0"/>
          </a:p>
        </p:txBody>
      </p:sp>
      <p:sp>
        <p:nvSpPr>
          <p:cNvPr id="36" name="Text 33"/>
          <p:cNvSpPr txBox="1"/>
          <p:nvPr/>
        </p:nvSpPr>
        <p:spPr>
          <a:xfrm>
            <a:off x="7882128" y="3741725"/>
            <a:ext cx="73152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endParaRPr lang="en-US" sz="1100" dirty="0"/>
          </a:p>
        </p:txBody>
      </p:sp>
      <p:sp>
        <p:nvSpPr>
          <p:cNvPr id="37" name="Text 34"/>
          <p:cNvSpPr txBox="1"/>
          <p:nvPr/>
        </p:nvSpPr>
        <p:spPr>
          <a:xfrm>
            <a:off x="6601968" y="3741725"/>
            <a:ext cx="10972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Develop</a:t>
            </a:r>
            <a:endParaRPr lang="en-US" sz="1100" dirty="0"/>
          </a:p>
        </p:txBody>
      </p:sp>
      <p:sp>
        <p:nvSpPr>
          <p:cNvPr id="38" name="Text 35"/>
          <p:cNvSpPr txBox="1"/>
          <p:nvPr/>
        </p:nvSpPr>
        <p:spPr>
          <a:xfrm>
            <a:off x="566928" y="3741725"/>
            <a:ext cx="585216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catch “used to” and distractors that change the time?</a:t>
            </a:r>
            <a:endParaRPr lang="en-US" sz="1100" dirty="0"/>
          </a:p>
        </p:txBody>
      </p:sp>
      <p:sp>
        <p:nvSpPr>
          <p:cNvPr id="39" name="Shape 36"/>
          <p:cNvSpPr/>
          <p:nvPr/>
        </p:nvSpPr>
        <p:spPr>
          <a:xfrm>
            <a:off x="457200" y="4478731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4F1EA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40" name="Text 37"/>
          <p:cNvSpPr txBox="1"/>
          <p:nvPr/>
        </p:nvSpPr>
        <p:spPr>
          <a:xfrm>
            <a:off x="8796528" y="4478731"/>
            <a:ext cx="2862072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endParaRPr lang="en-US" sz="1100" dirty="0"/>
          </a:p>
        </p:txBody>
      </p:sp>
      <p:sp>
        <p:nvSpPr>
          <p:cNvPr id="41" name="Text 38"/>
          <p:cNvSpPr txBox="1"/>
          <p:nvPr/>
        </p:nvSpPr>
        <p:spPr>
          <a:xfrm>
            <a:off x="7882128" y="4478731"/>
            <a:ext cx="73152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endParaRPr lang="en-US" sz="1100" dirty="0"/>
          </a:p>
        </p:txBody>
      </p:sp>
      <p:sp>
        <p:nvSpPr>
          <p:cNvPr id="42" name="Text 39"/>
          <p:cNvSpPr txBox="1"/>
          <p:nvPr/>
        </p:nvSpPr>
        <p:spPr>
          <a:xfrm>
            <a:off x="6601968" y="4478731"/>
            <a:ext cx="10972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Develop</a:t>
            </a:r>
            <a:endParaRPr lang="en-US" sz="1100" dirty="0"/>
          </a:p>
        </p:txBody>
      </p:sp>
      <p:sp>
        <p:nvSpPr>
          <p:cNvPr id="43" name="Text 40"/>
          <p:cNvSpPr txBox="1"/>
          <p:nvPr/>
        </p:nvSpPr>
        <p:spPr>
          <a:xfrm>
            <a:off x="566928" y="4478731"/>
            <a:ext cx="585216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use linking words (‏</a:t>
            </a:r>
            <a:pPr algn="l" indent="0" marL="0">
              <a:buNone/>
            </a:pPr>
            <a:r>
              <a:rPr lang="ar-SA" altLang="en-US" sz="1450" dirty="0">
                <a:solidFill>
                  <a:srgbClr val="5A6472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وَ</a:t>
            </a:r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 · </a:t>
            </a:r>
            <a:pPr algn="l" indent="0" marL="0">
              <a:buNone/>
            </a:pPr>
            <a:r>
              <a:rPr lang="ar-SA" altLang="en-US" sz="1450" dirty="0">
                <a:solidFill>
                  <a:srgbClr val="5A6472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ثُمَّ</a:t>
            </a:r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 · </a:t>
            </a:r>
            <a:pPr algn="l" indent="0" marL="0">
              <a:buNone/>
            </a:pPr>
            <a:r>
              <a:rPr lang="ar-SA" altLang="en-US" sz="1450" dirty="0">
                <a:solidFill>
                  <a:srgbClr val="5A6472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لِأَنَّ</a:t>
            </a:r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 · </a:t>
            </a:r>
            <a:pPr algn="l" indent="0" marL="0">
              <a:buNone/>
            </a:pPr>
            <a:r>
              <a:rPr lang="ar-SA" altLang="en-US" sz="1450" dirty="0">
                <a:solidFill>
                  <a:srgbClr val="5A6472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لٰكِنَّ</a:t>
            </a:r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‏)?</a:t>
            </a:r>
            <a:endParaRPr lang="en-US" sz="1100" dirty="0"/>
          </a:p>
        </p:txBody>
      </p:sp>
      <p:sp>
        <p:nvSpPr>
          <p:cNvPr id="44" name="Shape 41"/>
          <p:cNvSpPr/>
          <p:nvPr/>
        </p:nvSpPr>
        <p:spPr>
          <a:xfrm>
            <a:off x="457200" y="5215738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45" name="Text 42"/>
          <p:cNvSpPr txBox="1"/>
          <p:nvPr/>
        </p:nvSpPr>
        <p:spPr>
          <a:xfrm>
            <a:off x="8796528" y="5215738"/>
            <a:ext cx="2862072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endParaRPr lang="en-US" sz="1100" dirty="0"/>
          </a:p>
        </p:txBody>
      </p:sp>
      <p:sp>
        <p:nvSpPr>
          <p:cNvPr id="46" name="Text 43"/>
          <p:cNvSpPr txBox="1"/>
          <p:nvPr/>
        </p:nvSpPr>
        <p:spPr>
          <a:xfrm>
            <a:off x="7882128" y="5215738"/>
            <a:ext cx="73152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endParaRPr lang="en-US" sz="1100" dirty="0"/>
          </a:p>
        </p:txBody>
      </p:sp>
      <p:sp>
        <p:nvSpPr>
          <p:cNvPr id="47" name="Text 44"/>
          <p:cNvSpPr txBox="1"/>
          <p:nvPr/>
        </p:nvSpPr>
        <p:spPr>
          <a:xfrm>
            <a:off x="6601968" y="5215738"/>
            <a:ext cx="10972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Stretch</a:t>
            </a:r>
            <a:endParaRPr lang="en-US" sz="1100" dirty="0"/>
          </a:p>
        </p:txBody>
      </p:sp>
      <p:sp>
        <p:nvSpPr>
          <p:cNvPr id="48" name="Text 45"/>
          <p:cNvSpPr txBox="1"/>
          <p:nvPr/>
        </p:nvSpPr>
        <p:spPr>
          <a:xfrm>
            <a:off x="566928" y="5215738"/>
            <a:ext cx="585216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use more than one tense and give an opinion with a reason?</a:t>
            </a:r>
            <a:endParaRPr lang="en-US" sz="1100" dirty="0"/>
          </a:p>
        </p:txBody>
      </p:sp>
      <p:sp>
        <p:nvSpPr>
          <p:cNvPr id="49" name="Text 46"/>
          <p:cNvSpPr txBox="1"/>
          <p:nvPr/>
        </p:nvSpPr>
        <p:spPr>
          <a:xfrm>
            <a:off x="457200" y="5943600"/>
            <a:ext cx="1127455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Give back: one thing that went well + one thing to improve. The writer fixes ONE thing straight away.</a:t>
            </a:r>
            <a:endParaRPr lang="en-US" sz="1150" dirty="0"/>
          </a:p>
        </p:txBody>
      </p:sp>
      <p:sp>
        <p:nvSpPr>
          <p:cNvPr id="50" name="Text 47"/>
          <p:cNvSpPr txBox="1"/>
          <p:nvPr/>
        </p:nvSpPr>
        <p:spPr>
          <a:xfrm>
            <a:off x="10360152" y="6455664"/>
            <a:ext cx="1371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20 / 24</a:t>
            </a:r>
            <a:endParaRPr lang="en-US" sz="85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FFFD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37744"/>
            <a:ext cx="420624" cy="420624"/>
          </a:xfrm>
          <a:prstGeom prst="ellipse">
            <a:avLst/>
          </a:prstGeom>
          <a:solidFill>
            <a:srgbClr val="1B3B6F"/>
          </a:solidFill>
          <a:ln w="12700">
            <a:solidFill>
              <a:srgbClr val="D4AF37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457200" y="21945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D4AF37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</a:t>
            </a:r>
            <a:endParaRPr lang="ar-SA" sz="18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Al Madina Online School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57200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ARABIC DEPARTMENT · MIFTAH ARABIC · IGCSE 0544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8897112" y="274320"/>
            <a:ext cx="2834640" cy="329184"/>
          </a:xfrm>
          <a:prstGeom prst="roundRect">
            <a:avLst>
              <a:gd name="adj" fmla="val 50000"/>
            </a:avLst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897112" y="274320"/>
            <a:ext cx="2834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D5-W05 · Apply workshop</a:t>
            </a:r>
            <a:endParaRPr lang="en-US" sz="950" dirty="0"/>
          </a:p>
        </p:txBody>
      </p:sp>
      <p:sp>
        <p:nvSpPr>
          <p:cNvPr id="8" name="Shape 6"/>
          <p:cNvSpPr/>
          <p:nvPr/>
        </p:nvSpPr>
        <p:spPr>
          <a:xfrm>
            <a:off x="7143293" y="274320"/>
            <a:ext cx="1616659" cy="329184"/>
          </a:xfrm>
          <a:prstGeom prst="roundRect">
            <a:avLst>
              <a:gd name="adj" fmla="val 50000"/>
            </a:avLst>
          </a:prstGeom>
          <a:solidFill>
            <a:srgbClr val="8A6D1E"/>
          </a:solidFill>
          <a:ln w="12700">
            <a:solidFill>
              <a:srgbClr val="8A6D1E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7143293" y="274320"/>
            <a:ext cx="1616659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FEEDBACK · 2 MIN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822960"/>
            <a:ext cx="6949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3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CHECK YOURSELF · ROLE-PLAY CARD</a:t>
            </a:r>
            <a:endParaRPr lang="en-US" sz="1000" dirty="0"/>
          </a:p>
        </p:txBody>
      </p:sp>
      <p:sp>
        <p:nvSpPr>
          <p:cNvPr id="11" name="Text 9"/>
          <p:cNvSpPr txBox="1"/>
          <p:nvPr/>
        </p:nvSpPr>
        <p:spPr>
          <a:xfrm>
            <a:off x="457200" y="1033272"/>
            <a:ext cx="6949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5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Role-play card: compare with a strong answer</a:t>
            </a:r>
            <a:endParaRPr lang="en-US" sz="2050" dirty="0"/>
          </a:p>
        </p:txBody>
      </p:sp>
      <p:sp>
        <p:nvSpPr>
          <p:cNvPr id="12" name="Text 10"/>
          <p:cNvSpPr txBox="1"/>
          <p:nvPr/>
        </p:nvSpPr>
        <p:spPr>
          <a:xfrm>
            <a:off x="7498080" y="868680"/>
            <a:ext cx="4233672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2800" b="1" dirty="0">
                <a:solidFill>
                  <a:srgbClr val="8A6D1E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قَارِنْ إِجَابَتَكَ</a:t>
            </a:r>
            <a:endParaRPr lang="ar-SA" sz="28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6455664"/>
            <a:ext cx="6400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Miftah Arabic · Development D5 · Hobbies, Sport and Leisure · D5-W05 · Apply workshop (D5-L09 + D5-L10)</a:t>
            </a:r>
            <a:endParaRPr lang="en-US" sz="850" dirty="0"/>
          </a:p>
        </p:txBody>
      </p:sp>
      <p:sp>
        <p:nvSpPr>
          <p:cNvPr id="15" name="Shape 12"/>
          <p:cNvSpPr/>
          <p:nvPr/>
        </p:nvSpPr>
        <p:spPr>
          <a:xfrm>
            <a:off x="457200" y="1810512"/>
            <a:ext cx="11274552" cy="384048"/>
          </a:xfrm>
          <a:prstGeom prst="rect">
            <a:avLst/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4782312" y="1810512"/>
            <a:ext cx="687628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A strong answer (with English)</a:t>
            </a:r>
            <a:endParaRPr lang="en-US" sz="1100" dirty="0"/>
          </a:p>
        </p:txBody>
      </p:sp>
      <p:sp>
        <p:nvSpPr>
          <p:cNvPr id="17" name="Text 14"/>
          <p:cNvSpPr txBox="1"/>
          <p:nvPr/>
        </p:nvSpPr>
        <p:spPr>
          <a:xfrm>
            <a:off x="1033272" y="1810512"/>
            <a:ext cx="360273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Partner A reads</a:t>
            </a:r>
            <a:endParaRPr lang="en-US" sz="1100" dirty="0"/>
          </a:p>
        </p:txBody>
      </p:sp>
      <p:sp>
        <p:nvSpPr>
          <p:cNvPr id="18" name="Text 15"/>
          <p:cNvSpPr txBox="1"/>
          <p:nvPr/>
        </p:nvSpPr>
        <p:spPr>
          <a:xfrm>
            <a:off x="530352" y="1810512"/>
            <a:ext cx="35661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#</a:t>
            </a:r>
            <a:endParaRPr lang="en-US" sz="1100" dirty="0"/>
          </a:p>
        </p:txBody>
      </p:sp>
      <p:sp>
        <p:nvSpPr>
          <p:cNvPr id="19" name="Shape 16"/>
          <p:cNvSpPr/>
          <p:nvPr/>
        </p:nvSpPr>
        <p:spPr>
          <a:xfrm>
            <a:off x="457200" y="2267712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20" name="Text 17"/>
          <p:cNvSpPr txBox="1"/>
          <p:nvPr/>
        </p:nvSpPr>
        <p:spPr>
          <a:xfrm>
            <a:off x="4800600" y="2286000"/>
            <a:ext cx="6839712" cy="422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الشَّهْرَ القَادِمَ.</a:t>
            </a:r>
            <a:endParaRPr lang="ar-SA" sz="1800" dirty="0"/>
          </a:p>
        </p:txBody>
      </p:sp>
      <p:sp>
        <p:nvSpPr>
          <p:cNvPr id="21" name="Text 18"/>
          <p:cNvSpPr txBox="1"/>
          <p:nvPr/>
        </p:nvSpPr>
        <p:spPr>
          <a:xfrm>
            <a:off x="4754880" y="2676997"/>
            <a:ext cx="6931152" cy="2592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Next month.</a:t>
            </a:r>
            <a:endParaRPr lang="en-US" sz="950" dirty="0"/>
          </a:p>
        </p:txBody>
      </p:sp>
      <p:sp>
        <p:nvSpPr>
          <p:cNvPr id="22" name="Text 19"/>
          <p:cNvSpPr txBox="1"/>
          <p:nvPr/>
        </p:nvSpPr>
        <p:spPr>
          <a:xfrm>
            <a:off x="1051560" y="2267712"/>
            <a:ext cx="356616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lnSpc>
                <a:spcPct val="120000"/>
              </a:lnSpc>
              <a:buNone/>
            </a:pPr>
            <a:r>
              <a:rPr lang="ar-SA" altLang="en-US" sz="13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«شَارَكْتُ فِي سِبَاقٍ، وَسَأُشَارِكُ فِي سِبَاقٍ آخَرَ الشَّهْرَ القَادِمَ.» — مَتَى السِّبَاقُ الثَّانِي؟</a:t>
            </a:r>
            <a:endParaRPr lang="ar-SA" sz="1300" dirty="0"/>
          </a:p>
        </p:txBody>
      </p:sp>
      <p:sp>
        <p:nvSpPr>
          <p:cNvPr id="23" name="Text 20"/>
          <p:cNvSpPr txBox="1"/>
          <p:nvPr/>
        </p:nvSpPr>
        <p:spPr>
          <a:xfrm>
            <a:off x="566928" y="2267712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1</a:t>
            </a:r>
            <a:endParaRPr lang="en-US" sz="1100" dirty="0"/>
          </a:p>
        </p:txBody>
      </p:sp>
      <p:sp>
        <p:nvSpPr>
          <p:cNvPr id="24" name="Shape 21"/>
          <p:cNvSpPr/>
          <p:nvPr/>
        </p:nvSpPr>
        <p:spPr>
          <a:xfrm>
            <a:off x="457200" y="3004718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4F1EA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25" name="Text 22"/>
          <p:cNvSpPr txBox="1"/>
          <p:nvPr/>
        </p:nvSpPr>
        <p:spPr>
          <a:xfrm>
            <a:off x="4800600" y="3023006"/>
            <a:ext cx="6839712" cy="422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يَلْعَبُ الغُولْفَ الآنَ؛ التِّنِسُ كَانَ فِي المَاضِي.</a:t>
            </a:r>
            <a:endParaRPr lang="ar-SA" sz="1800" dirty="0"/>
          </a:p>
        </p:txBody>
      </p:sp>
      <p:sp>
        <p:nvSpPr>
          <p:cNvPr id="26" name="Text 23"/>
          <p:cNvSpPr txBox="1"/>
          <p:nvPr/>
        </p:nvSpPr>
        <p:spPr>
          <a:xfrm>
            <a:off x="4754880" y="3414004"/>
            <a:ext cx="6931152" cy="2592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He plays golf now; tennis was in the past.</a:t>
            </a:r>
            <a:endParaRPr lang="en-US" sz="950" dirty="0"/>
          </a:p>
        </p:txBody>
      </p:sp>
      <p:sp>
        <p:nvSpPr>
          <p:cNvPr id="27" name="Text 24"/>
          <p:cNvSpPr txBox="1"/>
          <p:nvPr/>
        </p:nvSpPr>
        <p:spPr>
          <a:xfrm>
            <a:off x="1051560" y="3004718"/>
            <a:ext cx="356616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lnSpc>
                <a:spcPct val="120000"/>
              </a:lnSpc>
              <a:buNone/>
            </a:pPr>
            <a:r>
              <a:rPr lang="ar-SA" altLang="en-US" sz="13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«كُنْتُ أَلْعَبُ التِّنِسَ، وَالآنَ أَلْعَبُ الغُولْفَ.» — مَاذَا يَلْعَبُ الآنَ؟</a:t>
            </a:r>
            <a:endParaRPr lang="ar-SA" sz="1300" dirty="0"/>
          </a:p>
        </p:txBody>
      </p:sp>
      <p:sp>
        <p:nvSpPr>
          <p:cNvPr id="28" name="Text 25"/>
          <p:cNvSpPr txBox="1"/>
          <p:nvPr/>
        </p:nvSpPr>
        <p:spPr>
          <a:xfrm>
            <a:off x="566928" y="3004718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2</a:t>
            </a:r>
            <a:endParaRPr lang="en-US" sz="1100" dirty="0"/>
          </a:p>
        </p:txBody>
      </p:sp>
      <p:sp>
        <p:nvSpPr>
          <p:cNvPr id="29" name="Shape 26"/>
          <p:cNvSpPr/>
          <p:nvPr/>
        </p:nvSpPr>
        <p:spPr>
          <a:xfrm>
            <a:off x="457200" y="3741725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30" name="Text 27"/>
          <p:cNvSpPr txBox="1"/>
          <p:nvPr/>
        </p:nvSpPr>
        <p:spPr>
          <a:xfrm>
            <a:off x="4800600" y="3760013"/>
            <a:ext cx="6839712" cy="422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اليَوْمَ صَبَاحًا، لَيْسَ أَمْسِ.</a:t>
            </a:r>
            <a:endParaRPr lang="ar-SA" sz="1800" dirty="0"/>
          </a:p>
        </p:txBody>
      </p:sp>
      <p:sp>
        <p:nvSpPr>
          <p:cNvPr id="31" name="Text 28"/>
          <p:cNvSpPr txBox="1"/>
          <p:nvPr/>
        </p:nvSpPr>
        <p:spPr>
          <a:xfrm>
            <a:off x="4754880" y="4151010"/>
            <a:ext cx="6931152" cy="2592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This morning, not yesterday.</a:t>
            </a:r>
            <a:endParaRPr lang="en-US" sz="950" dirty="0"/>
          </a:p>
        </p:txBody>
      </p:sp>
      <p:sp>
        <p:nvSpPr>
          <p:cNvPr id="32" name="Text 29"/>
          <p:cNvSpPr txBox="1"/>
          <p:nvPr/>
        </p:nvSpPr>
        <p:spPr>
          <a:xfrm>
            <a:off x="1051560" y="3741725"/>
            <a:ext cx="356616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lnSpc>
                <a:spcPct val="120000"/>
              </a:lnSpc>
              <a:buNone/>
            </a:pPr>
            <a:r>
              <a:rPr lang="ar-SA" altLang="en-US" sz="14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«لَمْ أَتَدَرَّبْ أَمْسِ، بَلْ تَدَرَّبْتُ اليَوْمَ صَبَاحًا.» — مَتَى تَدَرَّبَ؟</a:t>
            </a:r>
            <a:endParaRPr lang="ar-SA" sz="1400" dirty="0"/>
          </a:p>
        </p:txBody>
      </p:sp>
      <p:sp>
        <p:nvSpPr>
          <p:cNvPr id="33" name="Text 30"/>
          <p:cNvSpPr txBox="1"/>
          <p:nvPr/>
        </p:nvSpPr>
        <p:spPr>
          <a:xfrm>
            <a:off x="566928" y="3741725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3</a:t>
            </a:r>
            <a:endParaRPr lang="en-US" sz="1100" dirty="0"/>
          </a:p>
        </p:txBody>
      </p:sp>
      <p:sp>
        <p:nvSpPr>
          <p:cNvPr id="34" name="Shape 31"/>
          <p:cNvSpPr/>
          <p:nvPr/>
        </p:nvSpPr>
        <p:spPr>
          <a:xfrm>
            <a:off x="457200" y="4478731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4F1EA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35" name="Text 32"/>
          <p:cNvSpPr txBox="1"/>
          <p:nvPr/>
        </p:nvSpPr>
        <p:spPr>
          <a:xfrm>
            <a:off x="4800600" y="4497019"/>
            <a:ext cx="6839712" cy="422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أُخْتُهُ تَرْسُمُ، وَهُوَ يَعْزِفُ عَلَى البِيَانُو.</a:t>
            </a:r>
            <a:endParaRPr lang="ar-SA" sz="1800" dirty="0"/>
          </a:p>
        </p:txBody>
      </p:sp>
      <p:sp>
        <p:nvSpPr>
          <p:cNvPr id="36" name="Text 33"/>
          <p:cNvSpPr txBox="1"/>
          <p:nvPr/>
        </p:nvSpPr>
        <p:spPr>
          <a:xfrm>
            <a:off x="4754880" y="4888017"/>
            <a:ext cx="6931152" cy="2592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His sister draws, and he plays the piano.</a:t>
            </a:r>
            <a:endParaRPr lang="en-US" sz="950" dirty="0"/>
          </a:p>
        </p:txBody>
      </p:sp>
      <p:sp>
        <p:nvSpPr>
          <p:cNvPr id="37" name="Text 34"/>
          <p:cNvSpPr txBox="1"/>
          <p:nvPr/>
        </p:nvSpPr>
        <p:spPr>
          <a:xfrm>
            <a:off x="1051560" y="4478731"/>
            <a:ext cx="356616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lnSpc>
                <a:spcPct val="120000"/>
              </a:lnSpc>
              <a:buNone/>
            </a:pPr>
            <a:r>
              <a:rPr lang="ar-SA" altLang="en-US" sz="13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«أُخْتِي تَرْسُمُ كُلَّ يَوْمٍ، أَمَّا أَنَا فَأَعْزِفُ عَلَى البِيَانُو.» — مَنْ يَرْسُمُ؟</a:t>
            </a:r>
            <a:endParaRPr lang="ar-SA" sz="1300" dirty="0"/>
          </a:p>
        </p:txBody>
      </p:sp>
      <p:sp>
        <p:nvSpPr>
          <p:cNvPr id="38" name="Text 35"/>
          <p:cNvSpPr txBox="1"/>
          <p:nvPr/>
        </p:nvSpPr>
        <p:spPr>
          <a:xfrm>
            <a:off x="566928" y="4478731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4</a:t>
            </a:r>
            <a:endParaRPr lang="en-US" sz="1100" dirty="0"/>
          </a:p>
        </p:txBody>
      </p:sp>
      <p:sp>
        <p:nvSpPr>
          <p:cNvPr id="39" name="Shape 36"/>
          <p:cNvSpPr/>
          <p:nvPr/>
        </p:nvSpPr>
        <p:spPr>
          <a:xfrm>
            <a:off x="457200" y="5215738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40" name="Text 37"/>
          <p:cNvSpPr txBox="1"/>
          <p:nvPr/>
        </p:nvSpPr>
        <p:spPr>
          <a:xfrm>
            <a:off x="4800600" y="5234026"/>
            <a:ext cx="6839712" cy="422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كُنْتُ أَرْسُمُ كَثِيرًا، أَمَّا الآنَ فَأَلْعَبُ الشِّطْرَنْجَ، وَسَأَتَعَلَّمُ البَرْمَجَةَ.</a:t>
            </a:r>
            <a:endParaRPr lang="ar-SA" sz="1800" dirty="0"/>
          </a:p>
        </p:txBody>
      </p:sp>
      <p:sp>
        <p:nvSpPr>
          <p:cNvPr id="41" name="Text 38"/>
          <p:cNvSpPr txBox="1"/>
          <p:nvPr/>
        </p:nvSpPr>
        <p:spPr>
          <a:xfrm>
            <a:off x="4754880" y="5625023"/>
            <a:ext cx="6931152" cy="2592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I used to draw a lot, but now I play chess, and I will learn programming.</a:t>
            </a:r>
            <a:endParaRPr lang="en-US" sz="950" dirty="0"/>
          </a:p>
        </p:txBody>
      </p:sp>
      <p:sp>
        <p:nvSpPr>
          <p:cNvPr id="42" name="Text 39"/>
          <p:cNvSpPr txBox="1"/>
          <p:nvPr/>
        </p:nvSpPr>
        <p:spPr>
          <a:xfrm>
            <a:off x="1051560" y="5215738"/>
            <a:ext cx="356616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lnSpc>
                <a:spcPct val="120000"/>
              </a:lnSpc>
              <a:buNone/>
            </a:pPr>
            <a:r>
              <a:rPr lang="ar-SA" altLang="en-US" sz="145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وَأَنْتَ: مَا هِوَايَتُكَ فِي الطُّفُولَةِ، وَالآنَ، وَفِي المُسْتَقْبَلِ؟</a:t>
            </a:r>
            <a:endParaRPr lang="ar-SA" sz="1450" dirty="0"/>
          </a:p>
        </p:txBody>
      </p:sp>
      <p:sp>
        <p:nvSpPr>
          <p:cNvPr id="43" name="Text 40"/>
          <p:cNvSpPr txBox="1"/>
          <p:nvPr/>
        </p:nvSpPr>
        <p:spPr>
          <a:xfrm>
            <a:off x="566928" y="5215738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5</a:t>
            </a:r>
            <a:endParaRPr lang="en-US" sz="1100" dirty="0"/>
          </a:p>
        </p:txBody>
      </p:sp>
      <p:sp>
        <p:nvSpPr>
          <p:cNvPr id="44" name="Text 41"/>
          <p:cNvSpPr txBox="1"/>
          <p:nvPr/>
        </p:nvSpPr>
        <p:spPr>
          <a:xfrm>
            <a:off x="457200" y="5943600"/>
            <a:ext cx="1127455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Did you answer every task in a full sentence? Find one phrase from each lesson in the models and say it aloud.</a:t>
            </a:r>
            <a:endParaRPr lang="en-US" sz="1150" dirty="0"/>
          </a:p>
        </p:txBody>
      </p:sp>
      <p:sp>
        <p:nvSpPr>
          <p:cNvPr id="45" name="Text 42"/>
          <p:cNvSpPr txBox="1"/>
          <p:nvPr/>
        </p:nvSpPr>
        <p:spPr>
          <a:xfrm>
            <a:off x="10360152" y="6455664"/>
            <a:ext cx="1371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21 / 24</a:t>
            </a:r>
            <a:endParaRPr lang="en-US" sz="85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FFD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37744"/>
            <a:ext cx="420624" cy="420624"/>
          </a:xfrm>
          <a:prstGeom prst="ellipse">
            <a:avLst/>
          </a:prstGeom>
          <a:solidFill>
            <a:srgbClr val="1B3B6F"/>
          </a:solidFill>
          <a:ln w="12700">
            <a:solidFill>
              <a:srgbClr val="D4AF37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457200" y="21945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D4AF37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</a:t>
            </a:r>
            <a:endParaRPr lang="ar-SA" sz="18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Al Madina Online School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57200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ARABIC DEPARTMENT · MIFTAH ARABIC · IGCSE 0544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8897112" y="274320"/>
            <a:ext cx="2834640" cy="329184"/>
          </a:xfrm>
          <a:prstGeom prst="roundRect">
            <a:avLst>
              <a:gd name="adj" fmla="val 50000"/>
            </a:avLst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897112" y="274320"/>
            <a:ext cx="2834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D5-W05 · Apply workshop</a:t>
            </a:r>
            <a:endParaRPr lang="en-US" sz="950" dirty="0"/>
          </a:p>
        </p:txBody>
      </p:sp>
      <p:sp>
        <p:nvSpPr>
          <p:cNvPr id="8" name="Shape 6"/>
          <p:cNvSpPr/>
          <p:nvPr/>
        </p:nvSpPr>
        <p:spPr>
          <a:xfrm>
            <a:off x="7143293" y="274320"/>
            <a:ext cx="1616659" cy="329184"/>
          </a:xfrm>
          <a:prstGeom prst="roundRect">
            <a:avLst>
              <a:gd name="adj" fmla="val 50000"/>
            </a:avLst>
          </a:prstGeom>
          <a:solidFill>
            <a:srgbClr val="8A6D1E"/>
          </a:solidFill>
          <a:ln w="12700">
            <a:solidFill>
              <a:srgbClr val="8A6D1E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7143293" y="274320"/>
            <a:ext cx="1616659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FEEDBACK · 2 MIN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822960"/>
            <a:ext cx="6949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3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CHECK YOURSELF · WRITE YOUR TEXT · A STRONG ANSWER</a:t>
            </a:r>
            <a:endParaRPr lang="en-US" sz="1000" dirty="0"/>
          </a:p>
        </p:txBody>
      </p:sp>
      <p:sp>
        <p:nvSpPr>
          <p:cNvPr id="11" name="Text 9"/>
          <p:cNvSpPr txBox="1"/>
          <p:nvPr/>
        </p:nvSpPr>
        <p:spPr>
          <a:xfrm>
            <a:off x="457200" y="1033272"/>
            <a:ext cx="6949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Writing: compare with a strong answer</a:t>
            </a:r>
            <a:endParaRPr lang="en-US" sz="2400" dirty="0"/>
          </a:p>
        </p:txBody>
      </p:sp>
      <p:sp>
        <p:nvSpPr>
          <p:cNvPr id="12" name="Text 10"/>
          <p:cNvSpPr txBox="1"/>
          <p:nvPr/>
        </p:nvSpPr>
        <p:spPr>
          <a:xfrm>
            <a:off x="7498080" y="868680"/>
            <a:ext cx="4233672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2800" b="1" dirty="0">
                <a:solidFill>
                  <a:srgbClr val="8A6D1E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قَارِنْ إِجَابَتَكَ</a:t>
            </a:r>
            <a:endParaRPr lang="ar-SA" sz="28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6455664"/>
            <a:ext cx="6400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Miftah Arabic · Development D5 · Hobbies, Sport and Leisure · D5-W05 · Apply workshop (D5-L09 + D5-L10)</a:t>
            </a:r>
            <a:endParaRPr lang="en-US" sz="850" dirty="0"/>
          </a:p>
        </p:txBody>
      </p:sp>
      <p:sp>
        <p:nvSpPr>
          <p:cNvPr id="15" name="Shape 12"/>
          <p:cNvSpPr/>
          <p:nvPr/>
        </p:nvSpPr>
        <p:spPr>
          <a:xfrm>
            <a:off x="457200" y="1810512"/>
            <a:ext cx="11274552" cy="3246120"/>
          </a:xfrm>
          <a:prstGeom prst="roundRect">
            <a:avLst>
              <a:gd name="adj" fmla="val 2254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16" name="Text 13"/>
          <p:cNvSpPr txBox="1"/>
          <p:nvPr/>
        </p:nvSpPr>
        <p:spPr>
          <a:xfrm>
            <a:off x="685800" y="1938528"/>
            <a:ext cx="10817352" cy="29900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lnSpc>
                <a:spcPct val="120000"/>
              </a:lnSpc>
              <a:buNone/>
            </a:pPr>
            <a:r>
              <a:rPr lang="ar-SA" altLang="en-US" sz="2600" dirty="0">
                <a:solidFill>
                  <a:srgbClr val="1F2A37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فِي الطُّفُولَةِ كُنْتُ أَلْعَبُ التِّنِسَ مَعَ أَبِي كُلَّ سَبْتٍ. وَفِي يَوْمٍ مِنَ الأَيَّامِ فُزْتُ عَلَيْهِ لِأَوَّلِ مَرَّةٍ!</a:t>
            </a:r>
            <a:endParaRPr lang="ar-SA" sz="2600" dirty="0"/>
          </a:p>
          <a:p>
            <a:pPr rtl="1" algn="r" indent="0" marL="0">
              <a:lnSpc>
                <a:spcPct val="120000"/>
              </a:lnSpc>
              <a:buNone/>
            </a:pPr>
            <a:r>
              <a:rPr lang="ar-SA" altLang="en-US" sz="2600" dirty="0">
                <a:solidFill>
                  <a:srgbClr val="1F2A37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أَمَّا الآنَ فَأُمَارِسُ السِّبَاحَةَ ثَلَاثَ مَرَّاتٍ فِي الأُسْبُوعِ، وَبِالإِضَافَةِ إِلَى ذٰلِكَ أَقْرَأُ الرِّوَايَاتِ كُلَّ مَسَاءٍ.</a:t>
            </a:r>
            <a:endParaRPr lang="ar-SA" sz="2600" dirty="0"/>
          </a:p>
          <a:p>
            <a:pPr rtl="1" algn="r" indent="0" marL="0">
              <a:lnSpc>
                <a:spcPct val="120000"/>
              </a:lnSpc>
              <a:buNone/>
            </a:pPr>
            <a:r>
              <a:rPr lang="ar-SA" altLang="en-US" sz="2600" dirty="0">
                <a:solidFill>
                  <a:srgbClr val="1F2A37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فِي المُسْتَقْبَلِ سَأُشَارِكُ فِي سِبَاقِ سِبَاحَةٍ، وَأَنْوِي أَنْ أَتَعَلَّمَ الغَوْصَ.</a:t>
            </a:r>
            <a:endParaRPr lang="ar-SA" sz="2600" dirty="0"/>
          </a:p>
          <a:p>
            <a:pPr rtl="1" algn="r" indent="0" marL="0">
              <a:lnSpc>
                <a:spcPct val="120000"/>
              </a:lnSpc>
              <a:buNone/>
            </a:pPr>
            <a:r>
              <a:rPr lang="ar-SA" altLang="en-US" sz="2600" dirty="0">
                <a:solidFill>
                  <a:srgbClr val="1F2A37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أَعْتَقِدُ أَنَّ الهِوَايَاتِ مُهِمَّةٌ لِأَنَّهَا تُرِيحُنَا وَتُعَلِّمُنَا الصَّبْرَ.</a:t>
            </a:r>
            <a:endParaRPr lang="ar-SA" sz="2600" dirty="0"/>
          </a:p>
        </p:txBody>
      </p:sp>
      <p:sp>
        <p:nvSpPr>
          <p:cNvPr id="17" name="Shape 14"/>
          <p:cNvSpPr/>
          <p:nvPr/>
        </p:nvSpPr>
        <p:spPr>
          <a:xfrm>
            <a:off x="457200" y="5166360"/>
            <a:ext cx="11274552" cy="1024128"/>
          </a:xfrm>
          <a:prstGeom prst="roundRect">
            <a:avLst>
              <a:gd name="adj" fmla="val 7143"/>
            </a:avLst>
          </a:prstGeom>
          <a:solidFill>
            <a:srgbClr val="F4F1EA"/>
          </a:solidFill>
          <a:ln w="9525">
            <a:solidFill>
              <a:srgbClr val="F4F1EA"/>
            </a:solidFill>
            <a:prstDash val="solid"/>
          </a:ln>
        </p:spPr>
      </p:sp>
      <p:sp>
        <p:nvSpPr>
          <p:cNvPr id="18" name="Text 15"/>
          <p:cNvSpPr txBox="1"/>
          <p:nvPr/>
        </p:nvSpPr>
        <p:spPr>
          <a:xfrm>
            <a:off x="640080" y="5202936"/>
            <a:ext cx="10908792" cy="9509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“As a child I used to play tennis with my father every Saturday. And one day I beat him for the first time! / But now I swim three times a week, and in addition I read novels every evening. / In future I will take part in a swimming race, and I intend to learn diving. / I believe hobbies are important because they relax us and teach us patience.”</a:t>
            </a:r>
            <a:endParaRPr lang="en-US" sz="1150" dirty="0"/>
          </a:p>
        </p:txBody>
      </p:sp>
      <p:sp>
        <p:nvSpPr>
          <p:cNvPr id="19" name="Text 16"/>
          <p:cNvSpPr txBox="1"/>
          <p:nvPr/>
        </p:nvSpPr>
        <p:spPr>
          <a:xfrm>
            <a:off x="457200" y="6053328"/>
            <a:ext cx="21945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b="1" spc="2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FIND IN THE MODEL:</a:t>
            </a:r>
            <a:endParaRPr lang="en-US" sz="950" dirty="0"/>
          </a:p>
        </p:txBody>
      </p:sp>
      <p:sp>
        <p:nvSpPr>
          <p:cNvPr id="20" name="Shape 17"/>
          <p:cNvSpPr/>
          <p:nvPr/>
        </p:nvSpPr>
        <p:spPr>
          <a:xfrm>
            <a:off x="2697480" y="6035040"/>
            <a:ext cx="2148840" cy="274320"/>
          </a:xfrm>
          <a:prstGeom prst="roundRect">
            <a:avLst>
              <a:gd name="adj" fmla="val 50000"/>
            </a:avLst>
          </a:prstGeom>
          <a:solidFill>
            <a:srgbClr val="1D5FBF"/>
          </a:solidFill>
          <a:ln w="12700">
            <a:solidFill>
              <a:srgbClr val="1D5FBF"/>
            </a:solidFill>
            <a:prstDash val="solid"/>
          </a:ln>
        </p:spPr>
      </p:sp>
      <p:sp>
        <p:nvSpPr>
          <p:cNvPr id="21" name="Text 18"/>
          <p:cNvSpPr txBox="1"/>
          <p:nvPr/>
        </p:nvSpPr>
        <p:spPr>
          <a:xfrm>
            <a:off x="2697480" y="6035040"/>
            <a:ext cx="2148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ar-SA" sz="950" b="1" dirty="0">
                <a:solidFill>
                  <a:srgbClr val="FFFFF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كُنْتُ أَلْعَبُ التِّنِسَ</a:t>
            </a:r>
            <a:endParaRPr lang="en-US" sz="950" dirty="0"/>
          </a:p>
        </p:txBody>
      </p:sp>
      <p:sp>
        <p:nvSpPr>
          <p:cNvPr id="22" name="Shape 19"/>
          <p:cNvSpPr/>
          <p:nvPr/>
        </p:nvSpPr>
        <p:spPr>
          <a:xfrm>
            <a:off x="4983480" y="6035040"/>
            <a:ext cx="2148840" cy="274320"/>
          </a:xfrm>
          <a:prstGeom prst="roundRect">
            <a:avLst>
              <a:gd name="adj" fmla="val 50000"/>
            </a:avLst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23" name="Text 20"/>
          <p:cNvSpPr txBox="1"/>
          <p:nvPr/>
        </p:nvSpPr>
        <p:spPr>
          <a:xfrm>
            <a:off x="4983480" y="6035040"/>
            <a:ext cx="2148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ar-SA" sz="950" b="1" dirty="0">
                <a:solidFill>
                  <a:srgbClr val="FFFFF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أَمَّا الآنَ فَأُمَارِسُ</a:t>
            </a:r>
            <a:endParaRPr lang="en-US" sz="950" dirty="0"/>
          </a:p>
        </p:txBody>
      </p:sp>
      <p:sp>
        <p:nvSpPr>
          <p:cNvPr id="24" name="Shape 21"/>
          <p:cNvSpPr/>
          <p:nvPr/>
        </p:nvSpPr>
        <p:spPr>
          <a:xfrm>
            <a:off x="7269480" y="6035040"/>
            <a:ext cx="2148840" cy="274320"/>
          </a:xfrm>
          <a:prstGeom prst="roundRect">
            <a:avLst>
              <a:gd name="adj" fmla="val 50000"/>
            </a:avLst>
          </a:prstGeom>
          <a:solidFill>
            <a:srgbClr val="C77700"/>
          </a:solidFill>
          <a:ln w="12700">
            <a:solidFill>
              <a:srgbClr val="C77700"/>
            </a:solidFill>
            <a:prstDash val="solid"/>
          </a:ln>
        </p:spPr>
      </p:sp>
      <p:sp>
        <p:nvSpPr>
          <p:cNvPr id="25" name="Text 22"/>
          <p:cNvSpPr txBox="1"/>
          <p:nvPr/>
        </p:nvSpPr>
        <p:spPr>
          <a:xfrm>
            <a:off x="7269480" y="6035040"/>
            <a:ext cx="2148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ar-SA" sz="950" b="1" dirty="0">
                <a:solidFill>
                  <a:srgbClr val="FFFFF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سَأُشَارِكُ فِي</a:t>
            </a:r>
            <a:endParaRPr lang="en-US" sz="950" dirty="0"/>
          </a:p>
        </p:txBody>
      </p:sp>
      <p:sp>
        <p:nvSpPr>
          <p:cNvPr id="26" name="Shape 23"/>
          <p:cNvSpPr/>
          <p:nvPr/>
        </p:nvSpPr>
        <p:spPr>
          <a:xfrm>
            <a:off x="9555480" y="6035040"/>
            <a:ext cx="2148840" cy="274320"/>
          </a:xfrm>
          <a:prstGeom prst="roundRect">
            <a:avLst>
              <a:gd name="adj" fmla="val 50000"/>
            </a:avLst>
          </a:prstGeom>
          <a:solidFill>
            <a:srgbClr val="7B3FA0"/>
          </a:solidFill>
          <a:ln w="12700">
            <a:solidFill>
              <a:srgbClr val="7B3FA0"/>
            </a:solidFill>
            <a:prstDash val="solid"/>
          </a:ln>
        </p:spPr>
      </p:sp>
      <p:sp>
        <p:nvSpPr>
          <p:cNvPr id="27" name="Text 24"/>
          <p:cNvSpPr txBox="1"/>
          <p:nvPr/>
        </p:nvSpPr>
        <p:spPr>
          <a:xfrm>
            <a:off x="9555480" y="6035040"/>
            <a:ext cx="2148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ar-SA" sz="950" b="1" dirty="0">
                <a:solidFill>
                  <a:srgbClr val="FFFFF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أَعْتَقِدُ أَنَّ</a:t>
            </a:r>
            <a:endParaRPr lang="en-US" sz="950" dirty="0"/>
          </a:p>
        </p:txBody>
      </p:sp>
      <p:sp>
        <p:nvSpPr>
          <p:cNvPr id="28" name="Text 25"/>
          <p:cNvSpPr txBox="1"/>
          <p:nvPr/>
        </p:nvSpPr>
        <p:spPr>
          <a:xfrm>
            <a:off x="10360152" y="6455664"/>
            <a:ext cx="1371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22 / 24</a:t>
            </a:r>
            <a:endParaRPr lang="en-US" sz="85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FFD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37744"/>
            <a:ext cx="420624" cy="420624"/>
          </a:xfrm>
          <a:prstGeom prst="ellipse">
            <a:avLst/>
          </a:prstGeom>
          <a:solidFill>
            <a:srgbClr val="1B3B6F"/>
          </a:solidFill>
          <a:ln w="12700">
            <a:solidFill>
              <a:srgbClr val="D4AF37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457200" y="21945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D4AF37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</a:t>
            </a:r>
            <a:endParaRPr lang="ar-SA" sz="18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Al Madina Online School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57200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ARABIC DEPARTMENT · MIFTAH ARABIC · IGCSE 0544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8897112" y="274320"/>
            <a:ext cx="2834640" cy="329184"/>
          </a:xfrm>
          <a:prstGeom prst="roundRect">
            <a:avLst>
              <a:gd name="adj" fmla="val 50000"/>
            </a:avLst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897112" y="274320"/>
            <a:ext cx="2834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D5-W05 · Apply workshop</a:t>
            </a:r>
            <a:endParaRPr lang="en-US" sz="950" dirty="0"/>
          </a:p>
        </p:txBody>
      </p:sp>
      <p:sp>
        <p:nvSpPr>
          <p:cNvPr id="8" name="Shape 6"/>
          <p:cNvSpPr/>
          <p:nvPr/>
        </p:nvSpPr>
        <p:spPr>
          <a:xfrm>
            <a:off x="7143293" y="274320"/>
            <a:ext cx="1616659" cy="329184"/>
          </a:xfrm>
          <a:prstGeom prst="roundRect">
            <a:avLst>
              <a:gd name="adj" fmla="val 50000"/>
            </a:avLst>
          </a:prstGeom>
          <a:solidFill>
            <a:srgbClr val="8A6D1E"/>
          </a:solidFill>
          <a:ln w="12700">
            <a:solidFill>
              <a:srgbClr val="8A6D1E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7143293" y="274320"/>
            <a:ext cx="1616659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FEEDBACK · 1 MIN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822960"/>
            <a:ext cx="6949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3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FEEDBACK · SUCCESS CRITERIA</a:t>
            </a:r>
            <a:endParaRPr lang="en-US" sz="1000" dirty="0"/>
          </a:p>
        </p:txBody>
      </p:sp>
      <p:sp>
        <p:nvSpPr>
          <p:cNvPr id="11" name="Text 9"/>
          <p:cNvSpPr txBox="1"/>
          <p:nvPr/>
        </p:nvSpPr>
        <p:spPr>
          <a:xfrm>
            <a:off x="457200" y="1033272"/>
            <a:ext cx="6949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Check your work</a:t>
            </a:r>
            <a:endParaRPr lang="en-US" sz="2800" dirty="0"/>
          </a:p>
        </p:txBody>
      </p:sp>
      <p:sp>
        <p:nvSpPr>
          <p:cNvPr id="12" name="Text 10"/>
          <p:cNvSpPr txBox="1"/>
          <p:nvPr/>
        </p:nvSpPr>
        <p:spPr>
          <a:xfrm>
            <a:off x="7498080" y="868680"/>
            <a:ext cx="4233672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2800" b="1" dirty="0">
                <a:solidFill>
                  <a:srgbClr val="8A6D1E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قَيِّمْ عَمَلَكَ</a:t>
            </a:r>
            <a:endParaRPr lang="ar-SA" sz="28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6455664"/>
            <a:ext cx="6400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Miftah Arabic · Development D5 · Hobbies, Sport and Leisure · D5-W05 · Apply workshop (D5-L09 + D5-L10)</a:t>
            </a:r>
            <a:endParaRPr lang="en-US" sz="850" dirty="0"/>
          </a:p>
        </p:txBody>
      </p:sp>
      <p:sp>
        <p:nvSpPr>
          <p:cNvPr id="15" name="Shape 12"/>
          <p:cNvSpPr/>
          <p:nvPr/>
        </p:nvSpPr>
        <p:spPr>
          <a:xfrm>
            <a:off x="457200" y="1810512"/>
            <a:ext cx="7406640" cy="771754"/>
          </a:xfrm>
          <a:prstGeom prst="roundRect">
            <a:avLst>
              <a:gd name="adj" fmla="val 9479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16" name="Shape 13"/>
          <p:cNvSpPr/>
          <p:nvPr/>
        </p:nvSpPr>
        <p:spPr>
          <a:xfrm>
            <a:off x="685800" y="2086661"/>
            <a:ext cx="219456" cy="219456"/>
          </a:xfrm>
          <a:prstGeom prst="rect">
            <a:avLst/>
          </a:prstGeom>
          <a:solidFill>
            <a:srgbClr val="FFFFFF"/>
          </a:solidFill>
          <a:ln w="19050">
            <a:solidFill>
              <a:srgbClr val="2E8B57"/>
            </a:solidFill>
            <a:prstDash val="solid"/>
          </a:ln>
        </p:spPr>
      </p:sp>
      <p:sp>
        <p:nvSpPr>
          <p:cNvPr id="17" name="Text 14"/>
          <p:cNvSpPr txBox="1"/>
          <p:nvPr/>
        </p:nvSpPr>
        <p:spPr>
          <a:xfrm>
            <a:off x="1097280" y="1810512"/>
            <a:ext cx="5394960" cy="7717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I answered questions from D5-L09 and D5-L10 in full sentences.</a:t>
            </a:r>
            <a:endParaRPr lang="en-US" sz="1300" dirty="0"/>
          </a:p>
        </p:txBody>
      </p:sp>
      <p:sp>
        <p:nvSpPr>
          <p:cNvPr id="18" name="Shape 15"/>
          <p:cNvSpPr/>
          <p:nvPr/>
        </p:nvSpPr>
        <p:spPr>
          <a:xfrm>
            <a:off x="6583680" y="2068373"/>
            <a:ext cx="1097280" cy="256032"/>
          </a:xfrm>
          <a:prstGeom prst="roundRect">
            <a:avLst>
              <a:gd name="adj" fmla="val 50000"/>
            </a:avLst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19" name="Text 16"/>
          <p:cNvSpPr txBox="1"/>
          <p:nvPr/>
        </p:nvSpPr>
        <p:spPr>
          <a:xfrm>
            <a:off x="6583680" y="2068373"/>
            <a:ext cx="10972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CORE</a:t>
            </a:r>
            <a:endParaRPr lang="en-US" sz="800" dirty="0"/>
          </a:p>
        </p:txBody>
      </p:sp>
      <p:sp>
        <p:nvSpPr>
          <p:cNvPr id="20" name="Shape 17"/>
          <p:cNvSpPr/>
          <p:nvPr/>
        </p:nvSpPr>
        <p:spPr>
          <a:xfrm>
            <a:off x="457200" y="2710282"/>
            <a:ext cx="7406640" cy="771754"/>
          </a:xfrm>
          <a:prstGeom prst="roundRect">
            <a:avLst>
              <a:gd name="adj" fmla="val 9479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21" name="Shape 18"/>
          <p:cNvSpPr/>
          <p:nvPr/>
        </p:nvSpPr>
        <p:spPr>
          <a:xfrm>
            <a:off x="685800" y="2986430"/>
            <a:ext cx="219456" cy="219456"/>
          </a:xfrm>
          <a:prstGeom prst="rect">
            <a:avLst/>
          </a:prstGeom>
          <a:solidFill>
            <a:srgbClr val="FFFFFF"/>
          </a:solidFill>
          <a:ln w="19050">
            <a:solidFill>
              <a:srgbClr val="2E8B57"/>
            </a:solidFill>
            <a:prstDash val="solid"/>
          </a:ln>
        </p:spPr>
      </p:sp>
      <p:sp>
        <p:nvSpPr>
          <p:cNvPr id="22" name="Text 19"/>
          <p:cNvSpPr txBox="1"/>
          <p:nvPr/>
        </p:nvSpPr>
        <p:spPr>
          <a:xfrm>
            <a:off x="1097280" y="2710282"/>
            <a:ext cx="5394960" cy="7717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I wrote a sentence for every bullet point.</a:t>
            </a:r>
            <a:endParaRPr lang="en-US" sz="1300" dirty="0"/>
          </a:p>
        </p:txBody>
      </p:sp>
      <p:sp>
        <p:nvSpPr>
          <p:cNvPr id="23" name="Shape 20"/>
          <p:cNvSpPr/>
          <p:nvPr/>
        </p:nvSpPr>
        <p:spPr>
          <a:xfrm>
            <a:off x="6583680" y="2968142"/>
            <a:ext cx="1097280" cy="256032"/>
          </a:xfrm>
          <a:prstGeom prst="roundRect">
            <a:avLst>
              <a:gd name="adj" fmla="val 50000"/>
            </a:avLst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24" name="Text 21"/>
          <p:cNvSpPr txBox="1"/>
          <p:nvPr/>
        </p:nvSpPr>
        <p:spPr>
          <a:xfrm>
            <a:off x="6583680" y="2968142"/>
            <a:ext cx="10972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CORE</a:t>
            </a:r>
            <a:endParaRPr lang="en-US" sz="800" dirty="0"/>
          </a:p>
        </p:txBody>
      </p:sp>
      <p:sp>
        <p:nvSpPr>
          <p:cNvPr id="25" name="Shape 22"/>
          <p:cNvSpPr/>
          <p:nvPr/>
        </p:nvSpPr>
        <p:spPr>
          <a:xfrm>
            <a:off x="457200" y="3610051"/>
            <a:ext cx="7406640" cy="771754"/>
          </a:xfrm>
          <a:prstGeom prst="roundRect">
            <a:avLst>
              <a:gd name="adj" fmla="val 9479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26" name="Shape 23"/>
          <p:cNvSpPr/>
          <p:nvPr/>
        </p:nvSpPr>
        <p:spPr>
          <a:xfrm>
            <a:off x="685800" y="3886200"/>
            <a:ext cx="219456" cy="219456"/>
          </a:xfrm>
          <a:prstGeom prst="rect">
            <a:avLst/>
          </a:prstGeom>
          <a:solidFill>
            <a:srgbClr val="FFFFFF"/>
          </a:solidFill>
          <a:ln w="19050">
            <a:solidFill>
              <a:srgbClr val="C9780A"/>
            </a:solidFill>
            <a:prstDash val="solid"/>
          </a:ln>
        </p:spPr>
      </p:sp>
      <p:sp>
        <p:nvSpPr>
          <p:cNvPr id="27" name="Text 24"/>
          <p:cNvSpPr txBox="1"/>
          <p:nvPr/>
        </p:nvSpPr>
        <p:spPr>
          <a:xfrm>
            <a:off x="1097280" y="3610051"/>
            <a:ext cx="5394960" cy="7717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I used language from BOTH lessons when I spoke and when I wrote.</a:t>
            </a:r>
            <a:endParaRPr lang="en-US" sz="1300" dirty="0"/>
          </a:p>
        </p:txBody>
      </p:sp>
      <p:sp>
        <p:nvSpPr>
          <p:cNvPr id="28" name="Shape 25"/>
          <p:cNvSpPr/>
          <p:nvPr/>
        </p:nvSpPr>
        <p:spPr>
          <a:xfrm>
            <a:off x="6583680" y="3867912"/>
            <a:ext cx="1097280" cy="256032"/>
          </a:xfrm>
          <a:prstGeom prst="roundRect">
            <a:avLst>
              <a:gd name="adj" fmla="val 50000"/>
            </a:avLst>
          </a:prstGeom>
          <a:solidFill>
            <a:srgbClr val="C9780A"/>
          </a:solidFill>
          <a:ln w="12700">
            <a:solidFill>
              <a:srgbClr val="C9780A"/>
            </a:solidFill>
            <a:prstDash val="solid"/>
          </a:ln>
        </p:spPr>
      </p:sp>
      <p:sp>
        <p:nvSpPr>
          <p:cNvPr id="29" name="Text 26"/>
          <p:cNvSpPr txBox="1"/>
          <p:nvPr/>
        </p:nvSpPr>
        <p:spPr>
          <a:xfrm>
            <a:off x="6583680" y="3867912"/>
            <a:ext cx="10972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DEVELOP</a:t>
            </a:r>
            <a:endParaRPr lang="en-US" sz="800" dirty="0"/>
          </a:p>
        </p:txBody>
      </p:sp>
      <p:sp>
        <p:nvSpPr>
          <p:cNvPr id="30" name="Shape 27"/>
          <p:cNvSpPr/>
          <p:nvPr/>
        </p:nvSpPr>
        <p:spPr>
          <a:xfrm>
            <a:off x="457200" y="4509821"/>
            <a:ext cx="7406640" cy="771754"/>
          </a:xfrm>
          <a:prstGeom prst="roundRect">
            <a:avLst>
              <a:gd name="adj" fmla="val 9479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31" name="Shape 28"/>
          <p:cNvSpPr/>
          <p:nvPr/>
        </p:nvSpPr>
        <p:spPr>
          <a:xfrm>
            <a:off x="685800" y="4785970"/>
            <a:ext cx="219456" cy="219456"/>
          </a:xfrm>
          <a:prstGeom prst="rect">
            <a:avLst/>
          </a:prstGeom>
          <a:solidFill>
            <a:srgbClr val="FFFFFF"/>
          </a:solidFill>
          <a:ln w="19050">
            <a:solidFill>
              <a:srgbClr val="C9780A"/>
            </a:solidFill>
            <a:prstDash val="solid"/>
          </a:ln>
        </p:spPr>
      </p:sp>
      <p:sp>
        <p:nvSpPr>
          <p:cNvPr id="32" name="Text 29"/>
          <p:cNvSpPr txBox="1"/>
          <p:nvPr/>
        </p:nvSpPr>
        <p:spPr>
          <a:xfrm>
            <a:off x="1097280" y="4509821"/>
            <a:ext cx="5394960" cy="7717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My buddy checked my text and I fixed one mistake.</a:t>
            </a:r>
            <a:endParaRPr lang="en-US" sz="1300" dirty="0"/>
          </a:p>
        </p:txBody>
      </p:sp>
      <p:sp>
        <p:nvSpPr>
          <p:cNvPr id="33" name="Shape 30"/>
          <p:cNvSpPr/>
          <p:nvPr/>
        </p:nvSpPr>
        <p:spPr>
          <a:xfrm>
            <a:off x="6583680" y="4767682"/>
            <a:ext cx="1097280" cy="256032"/>
          </a:xfrm>
          <a:prstGeom prst="roundRect">
            <a:avLst>
              <a:gd name="adj" fmla="val 50000"/>
            </a:avLst>
          </a:prstGeom>
          <a:solidFill>
            <a:srgbClr val="C9780A"/>
          </a:solidFill>
          <a:ln w="12700">
            <a:solidFill>
              <a:srgbClr val="C9780A"/>
            </a:solidFill>
            <a:prstDash val="solid"/>
          </a:ln>
        </p:spPr>
      </p:sp>
      <p:sp>
        <p:nvSpPr>
          <p:cNvPr id="34" name="Text 31"/>
          <p:cNvSpPr txBox="1"/>
          <p:nvPr/>
        </p:nvSpPr>
        <p:spPr>
          <a:xfrm>
            <a:off x="6583680" y="4767682"/>
            <a:ext cx="10972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DEVELOP</a:t>
            </a:r>
            <a:endParaRPr lang="en-US" sz="800" dirty="0"/>
          </a:p>
        </p:txBody>
      </p:sp>
      <p:sp>
        <p:nvSpPr>
          <p:cNvPr id="35" name="Shape 32"/>
          <p:cNvSpPr/>
          <p:nvPr/>
        </p:nvSpPr>
        <p:spPr>
          <a:xfrm>
            <a:off x="457200" y="5409590"/>
            <a:ext cx="7406640" cy="771754"/>
          </a:xfrm>
          <a:prstGeom prst="roundRect">
            <a:avLst>
              <a:gd name="adj" fmla="val 9479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36" name="Shape 33"/>
          <p:cNvSpPr/>
          <p:nvPr/>
        </p:nvSpPr>
        <p:spPr>
          <a:xfrm>
            <a:off x="685800" y="5685739"/>
            <a:ext cx="219456" cy="219456"/>
          </a:xfrm>
          <a:prstGeom prst="rect">
            <a:avLst/>
          </a:prstGeom>
          <a:solidFill>
            <a:srgbClr val="FFFFFF"/>
          </a:solidFill>
          <a:ln w="19050">
            <a:solidFill>
              <a:srgbClr val="B83227"/>
            </a:solidFill>
            <a:prstDash val="solid"/>
          </a:ln>
        </p:spPr>
      </p:sp>
      <p:sp>
        <p:nvSpPr>
          <p:cNvPr id="37" name="Text 34"/>
          <p:cNvSpPr txBox="1"/>
          <p:nvPr/>
        </p:nvSpPr>
        <p:spPr>
          <a:xfrm>
            <a:off x="1097280" y="5409590"/>
            <a:ext cx="5394960" cy="7717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I used more than one tense and gave opinions with reasons.</a:t>
            </a:r>
            <a:endParaRPr lang="en-US" sz="1300" dirty="0"/>
          </a:p>
        </p:txBody>
      </p:sp>
      <p:sp>
        <p:nvSpPr>
          <p:cNvPr id="38" name="Shape 35"/>
          <p:cNvSpPr/>
          <p:nvPr/>
        </p:nvSpPr>
        <p:spPr>
          <a:xfrm>
            <a:off x="6583680" y="5667451"/>
            <a:ext cx="1097280" cy="256032"/>
          </a:xfrm>
          <a:prstGeom prst="roundRect">
            <a:avLst>
              <a:gd name="adj" fmla="val 50000"/>
            </a:avLst>
          </a:prstGeom>
          <a:solidFill>
            <a:srgbClr val="B83227"/>
          </a:solidFill>
          <a:ln w="12700">
            <a:solidFill>
              <a:srgbClr val="B83227"/>
            </a:solidFill>
            <a:prstDash val="solid"/>
          </a:ln>
        </p:spPr>
      </p:sp>
      <p:sp>
        <p:nvSpPr>
          <p:cNvPr id="39" name="Text 36"/>
          <p:cNvSpPr txBox="1"/>
          <p:nvPr/>
        </p:nvSpPr>
        <p:spPr>
          <a:xfrm>
            <a:off x="6583680" y="5667451"/>
            <a:ext cx="10972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STRETCH</a:t>
            </a:r>
            <a:endParaRPr lang="en-US" sz="800" dirty="0"/>
          </a:p>
        </p:txBody>
      </p:sp>
      <p:sp>
        <p:nvSpPr>
          <p:cNvPr id="40" name="Shape 37"/>
          <p:cNvSpPr/>
          <p:nvPr/>
        </p:nvSpPr>
        <p:spPr>
          <a:xfrm>
            <a:off x="8092440" y="1810512"/>
            <a:ext cx="3639312" cy="2084832"/>
          </a:xfrm>
          <a:prstGeom prst="roundRect">
            <a:avLst>
              <a:gd name="adj" fmla="val 3509"/>
            </a:avLst>
          </a:prstGeom>
          <a:solidFill>
            <a:srgbClr val="E9F5EE"/>
          </a:solidFill>
          <a:ln w="9525">
            <a:solidFill>
              <a:srgbClr val="9CCFB0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41" name="Text 38"/>
          <p:cNvSpPr txBox="1"/>
          <p:nvPr/>
        </p:nvSpPr>
        <p:spPr>
          <a:xfrm>
            <a:off x="8275320" y="1920240"/>
            <a:ext cx="3273552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2E8B57"/>
                </a:solidFill>
                <a:latin typeface="Calibri" pitchFamily="34" charset="0"/>
                <a:cs typeface="Amiri" pitchFamily="2" charset="-78"/>
              </a:rPr>
              <a:t>WWW</a:t>
            </a:r>
            <a:endParaRPr lang="en-US" sz="1800" dirty="0"/>
          </a:p>
          <a:p>
            <a:pPr indent="0" marL="0">
              <a:buNone/>
            </a:pPr>
            <a:r>
              <a:rPr lang="en-US" sz="1200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What went well? One thing you did accurately.</a:t>
            </a:r>
            <a:endParaRPr lang="en-US" sz="1800" dirty="0"/>
          </a:p>
        </p:txBody>
      </p:sp>
      <p:sp>
        <p:nvSpPr>
          <p:cNvPr id="42" name="Shape 39"/>
          <p:cNvSpPr/>
          <p:nvPr/>
        </p:nvSpPr>
        <p:spPr>
          <a:xfrm>
            <a:off x="8092440" y="4041648"/>
            <a:ext cx="3639312" cy="2084832"/>
          </a:xfrm>
          <a:prstGeom prst="roundRect">
            <a:avLst>
              <a:gd name="adj" fmla="val 3509"/>
            </a:avLst>
          </a:prstGeom>
          <a:solidFill>
            <a:srgbClr val="FFF4E0"/>
          </a:solidFill>
          <a:ln w="9525">
            <a:solidFill>
              <a:srgbClr val="E8D49A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43" name="Text 40"/>
          <p:cNvSpPr txBox="1"/>
          <p:nvPr/>
        </p:nvSpPr>
        <p:spPr>
          <a:xfrm>
            <a:off x="8275320" y="4151376"/>
            <a:ext cx="3273552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C9780A"/>
                </a:solidFill>
                <a:latin typeface="Calibri" pitchFamily="34" charset="0"/>
                <a:cs typeface="Amiri" pitchFamily="2" charset="-78"/>
              </a:rPr>
              <a:t>EBI</a:t>
            </a:r>
            <a:endParaRPr lang="en-US" sz="1800" dirty="0"/>
          </a:p>
          <a:p>
            <a:pPr indent="0" marL="0">
              <a:buNone/>
            </a:pPr>
            <a:r>
              <a:rPr lang="en-US" sz="1200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Even better if… One thing you will fix or add.</a:t>
            </a:r>
            <a:endParaRPr lang="en-US" sz="1800" dirty="0"/>
          </a:p>
        </p:txBody>
      </p:sp>
      <p:sp>
        <p:nvSpPr>
          <p:cNvPr id="44" name="Text 41"/>
          <p:cNvSpPr txBox="1"/>
          <p:nvPr/>
        </p:nvSpPr>
        <p:spPr>
          <a:xfrm>
            <a:off x="10360152" y="6455664"/>
            <a:ext cx="1371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23 / 24</a:t>
            </a:r>
            <a:endParaRPr lang="en-US" sz="85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0D1F3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863840" y="1097280"/>
            <a:ext cx="5852160" cy="5852160"/>
          </a:xfrm>
          <a:prstGeom prst="ellipse">
            <a:avLst/>
          </a:prstGeom>
          <a:solidFill>
            <a:srgbClr val="14315C"/>
          </a:solidFill>
          <a:ln w="12700">
            <a:solidFill>
              <a:srgbClr val="14315C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9372600" y="2606040"/>
            <a:ext cx="1737360" cy="1737360"/>
          </a:xfrm>
          <a:prstGeom prst="ellipse">
            <a:avLst/>
          </a:prstGeom>
          <a:solidFill>
            <a:srgbClr val="D4AF37"/>
          </a:solidFill>
          <a:ln w="12700">
            <a:solidFill>
              <a:srgbClr val="D4AF37"/>
            </a:solidFill>
            <a:prstDash val="solid"/>
          </a:ln>
        </p:spPr>
      </p:sp>
      <p:pic>
        <p:nvPicPr>
          <p:cNvPr id="4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710928" y="2944368"/>
            <a:ext cx="1060704" cy="1060704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457200" y="128016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300" kern="0" dirty="0">
                <a:solidFill>
                  <a:srgbClr val="D4AF37"/>
                </a:solidFill>
                <a:latin typeface="Calibri" pitchFamily="34" charset="0"/>
                <a:cs typeface="Amiri" pitchFamily="2" charset="-78"/>
              </a:rPr>
              <a:t>D5-W05 COMPLETE</a:t>
            </a:r>
            <a:endParaRPr lang="en-US" sz="1100" dirty="0"/>
          </a:p>
        </p:txBody>
      </p:sp>
      <p:sp>
        <p:nvSpPr>
          <p:cNvPr id="6" name="Text 3"/>
          <p:cNvSpPr txBox="1"/>
          <p:nvPr/>
        </p:nvSpPr>
        <p:spPr>
          <a:xfrm>
            <a:off x="457200" y="1691640"/>
            <a:ext cx="73152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l" indent="0" marL="0">
              <a:buNone/>
            </a:pPr>
            <a:r>
              <a:rPr lang="ar-SA" altLang="en-US" sz="4000" b="1" dirty="0">
                <a:solidFill>
                  <a:srgbClr val="FFFFF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أَحْسَنْتُمْ! إِلَى اللِّقَاءِ</a:t>
            </a:r>
            <a:endParaRPr lang="ar-SA" sz="4000" dirty="0"/>
          </a:p>
        </p:txBody>
      </p:sp>
      <p:sp>
        <p:nvSpPr>
          <p:cNvPr id="7" name="Text 4"/>
          <p:cNvSpPr txBox="1"/>
          <p:nvPr/>
        </p:nvSpPr>
        <p:spPr>
          <a:xfrm>
            <a:off x="457200" y="2606040"/>
            <a:ext cx="73152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i="1" dirty="0">
                <a:solidFill>
                  <a:srgbClr val="C6D2E6"/>
                </a:solidFill>
                <a:latin typeface="Calibri" pitchFamily="34" charset="0"/>
                <a:cs typeface="Amiri" pitchFamily="2" charset="-78"/>
              </a:rPr>
              <a:t>Well done — you used two lessons together!</a:t>
            </a:r>
            <a:endParaRPr lang="en-US" sz="1600" dirty="0"/>
          </a:p>
        </p:txBody>
      </p:sp>
      <p:sp>
        <p:nvSpPr>
          <p:cNvPr id="8" name="Text 5"/>
          <p:cNvSpPr txBox="1"/>
          <p:nvPr/>
        </p:nvSpPr>
        <p:spPr>
          <a:xfrm>
            <a:off x="457200" y="356616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300" kern="0" dirty="0">
                <a:solidFill>
                  <a:srgbClr val="D4AF37"/>
                </a:solidFill>
                <a:latin typeface="Calibri" pitchFamily="34" charset="0"/>
                <a:cs typeface="Amiri" pitchFamily="2" charset="-78"/>
              </a:rPr>
              <a:t>NEXT LESSON</a:t>
            </a:r>
            <a:endParaRPr lang="en-US" sz="1100" dirty="0"/>
          </a:p>
        </p:txBody>
      </p:sp>
      <p:sp>
        <p:nvSpPr>
          <p:cNvPr id="9" name="Text 6"/>
          <p:cNvSpPr txBox="1"/>
          <p:nvPr/>
        </p:nvSpPr>
        <p:spPr>
          <a:xfrm>
            <a:off x="457200" y="3886200"/>
            <a:ext cx="7315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50" b="1" dirty="0">
                <a:solidFill>
                  <a:srgbClr val="FFFFFF"/>
                </a:solidFill>
                <a:latin typeface="Cambria" pitchFamily="34" charset="0"/>
                <a:cs typeface="Amiri" pitchFamily="2" charset="-78"/>
              </a:rPr>
              <a:t>D5-L11 · D5 Consolidation — Past Tense Mastery and Speaking Preparation</a:t>
            </a:r>
            <a:endParaRPr lang="en-US" sz="1650" dirty="0"/>
          </a:p>
        </p:txBody>
      </p:sp>
      <p:sp>
        <p:nvSpPr>
          <p:cNvPr id="10" name="Text 7"/>
          <p:cNvSpPr txBox="1"/>
          <p:nvPr/>
        </p:nvSpPr>
        <p:spPr>
          <a:xfrm>
            <a:off x="457200" y="4434840"/>
            <a:ext cx="7315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l" indent="0" marL="0">
              <a:buNone/>
            </a:pPr>
            <a:r>
              <a:rPr lang="ar-SA" altLang="en-US" sz="2400" b="1" dirty="0">
                <a:solidFill>
                  <a:srgbClr val="D4AF37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تَرْسِيخُ الوَحْدَةِ — إِتْقَانُ الفِعْلِ المَاضِي وَإِعْدَادُ التَّحَدُّثِ</a:t>
            </a:r>
            <a:endParaRPr lang="ar-SA" sz="2400" dirty="0"/>
          </a:p>
        </p:txBody>
      </p:sp>
      <p:sp>
        <p:nvSpPr>
          <p:cNvPr id="11" name="Text 8"/>
          <p:cNvSpPr txBox="1"/>
          <p:nvPr/>
        </p:nvSpPr>
        <p:spPr>
          <a:xfrm>
            <a:off x="457200" y="5303520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Remember: keep using this week’s language — say it, then write it.</a:t>
            </a:r>
            <a:endParaRPr lang="en-US" sz="13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Amiri" pitchFamily="2" charset="-78"/>
        <a:cs typeface="Amiri" pitchFamily="2" charset="-78"/>
        <a:font script="Arab" typeface="Amiri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Amiri" pitchFamily="2" charset="-78"/>
        <a:cs typeface="Amiri" pitchFamily="2" charset="-78"/>
        <a:font script="Arab" typeface="Amiri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24</Slides>
  <Notes>24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24</vt:i4>
      </vt:variant>
    </vt:vector>
  </HeadingPairs>
  <TitlesOfParts>
    <vt:vector size="27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</vt:vector>
  </TitlesOfParts>
  <Company>Al Madina Online School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D5-W05 · Apply Workshop — Leisure Podcast: Then, Now and Next</dc:title>
  <dc:subject>PptxGenJS Presentation</dc:subject>
  <dc:creator>Al Madina Online School · Arabic Department</dc:creator>
  <cp:lastModifiedBy>Al Madina Online School · Arabic Department</cp:lastModifiedBy>
  <cp:revision>1</cp:revision>
  <dcterms:created xsi:type="dcterms:W3CDTF">2026-10-26T15:42:33Z</dcterms:created>
  <dcterms:modified xsi:type="dcterms:W3CDTF">2026-10-26T15:42:33Z</dcterms:modified>
</cp:coreProperties>
</file>