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WORKSHOP AT A GLANCE — the third lesson of the week (Learn D5-L09 · Learn D5-L10 · Apply). 60 minutes on Teams: teacher-led in the main room for the short whole-class steps, pairs or breakout rooms of two or three for speaking, individual writing.
0–3 Welcome + plan · 3–6 What we learnt this week · PART 1 REMEMBER: word race (4) · which lesson? sort (4) · PART 2 SPEAK: new dialogue (5) · mixed question cards (6) · role-play card (7) · one minute talk (4) · PART 3 WRITE: sentence builder (3) · spot and fix (3) · connected writing (12) + buddy check (3) · CHECK YOURSELF: models + self-check (5).
PURPOSE: students APPLY the language of BOTH lessons in new contexts — the question cards, builder and common mistakes come from the two practice rooms; the dialogue, role-play, talk and writing task are new and join the lessons together.
CONTENT: D5-L09 (Writing — My Leisure Life (Extended Writing)) and D5-L10 (Listening — Sport, Leisure and Past Events).
SET-UP: share this deck or its PDF in the chat. Pairs or breakout rooms for Part 2 (same-level rooms keep the routes simple). Everyone writes in their own book or document in Part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min). Apply = use what you learnt in D5-L09 and D5-L10 in a NEW situation. Point out the step number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LEARNT (3 min, main room). Ask: “What can you say after D5-L09? After D5-L10?” Take two answers in the chat for each lesson (one word or one sentence is enough). Then read objective 3 — today’s new situation that needs BOTH lessons. Students tick their route goals at the end of the lesson.
D5-L09 language: three time zones: past (fī al-ṭufūlati laʿibtu · kuntu alʿabu) → present (ammā al-āna fa-umārisu …) → future (sa-ashtariku · anwī an …); ending with an opinion (aʿtaqidu anna …); connectors (bi-l-iḍāfati ilā dhālika · wa-fī al-khitām); planning, drafting and checking
D5-L10 language: hear the TENSE: past = an ending (tadarrabtu) · present = a prefix (atadarrabu) · future = sa- / sawfa (sa-atadarrabu) · used to = kāna + present (kuntu atadarrabu); time markers (ams · ʿādatan · kulla yawmin · ghadan · al-usbūʿa al-qādim); distractors that keep the words but change the 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(4 min). Quick, energetic retrieval. Model one round with a student, then pairs race. Collect the best score in the chat. Listen for words students hesitate over and revisit them in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D5-L09.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D5-L10.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STEP 3 (5 min). A NEW dialogue that joins D5-L09 and D5-L10. Teacher reads it once with a confident student; then pairs. Ask: “Which lines are from D5-L09? Which from D5-L10?” Hearing the tense (كُنْتُ + present · past endings · سَـ / سَوْفَ · time markers) comes from D5-L10; the then → now → next → opinion plan (أَمَّا الآنَ فَ… · أَعْتَقِدُ أَنَّ …) from D5-L09.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min, pairs or rooms). The questions come from the two practice rooms, now mixed so students switch between the lessons. Teacher: visit rooms and ask one Stretch follow-up question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STEP 5 (7 min). One NEW situation that needs both lessons: hearing past, used to, present and future (D5-L10) and placing each detail in the then–now–next plan (D5-L09). FADED SUPPORT: tasks 1–2 show the plan; students write their own plan for 3–5. To a girl Partner A says: وَأَنْتِ: مَا هِوَايَتُكِ …؟.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(4 min). Fluency: one talk that uses BOTH lessons. Two volunteers speak to the whole class at the end (open mic).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D5-L09 and D5-L10 practice rooms. Read the English, choose the correct part from each column (start on the RIGHT). Pairs agree, then check. Students copy the correct sentences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D5-L09 and D5-L10 practice rooms. Read the English, choose the correct part from each column (start on the RIGHT). Pairs agree, then check. Students copy the correct sentences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support. Core: use the Core frames for every bullet. Develop: use the Develop frames only if stuck. Stretch: no frames — add reasons, a time phrase and an extra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(10 min writing, everyone on their own). Core: frames for every bullet (50–60 words). Develop: 80–100 words, frames only if stuck. Stretch: no frames, add reasons and another time frame. Teacher reads ONE sentence per student (in the chat or the shared document) and gives one live correction.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BUDDY CHECK (3 min). Pairs swap texts (or share screens). Then everyone returns to the main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Each student finds one task they answered less fully and says it again using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 (50 words). CHECK YOURSELF (2 min). Find each bullet point in the model, and one phrase from D5-L09 and one from D5-L10. Then each student copies ONE phrase from the model into their own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YEAR 8  ·  DEVELOPMENT D5  ·  D5-L09 + D5-L10 · APPLY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D5-W05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Apply Workshop — Leisure Podcast: Then, Now and Next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التَّطْبِيقِ — بُودْكَاسْتُ وَقْتِ الفَرَاغِ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join hearing the tense with writing across time: they listen to podcast clips and decide past · used to · present · future from endings, prefixes and time markers, record their own then–now–next clip, and write a four-paragraph text about their leisure life with an opinion.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Apply workshop · D5-L09 + D5-L10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Development · A2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Pathways › Development › D5 › D5-L10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D5 · Hobbies, Sport and Leisure · D5-W05 · Apply workshop (D5-L09 + D5-L10)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PLAN · LEARN, LEARN, APPLY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Two lessons — now use them together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D5 · Hobbies, Sport and Leisure · D5-W05 · Apply workshop (D5-L09 + D5-L10)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 learnt: D5-L09 and D5-L10.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تَعَلَّمْنَا؟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1 · Remember: word race and “which lesson?” sort.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تَذَكَّرْ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22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2 · Speak: say the model dialogue · question cards · role-play card · short talk.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19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3 · Write: sentence builder · spot and fix · write your text · buddy check.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اكْتُبْ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WORKSHOP RUNS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Today there is no new language: you USE the words and structures of the last two lessons together. Everybody speaks in every step and everybody writes their own text. Choose your route — Core, Develop or Stretch — and move up when you are ready.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WHAT WE LEARNT THIS WEEK · D5-L09 + D5-L10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This week’s two lessons — and today’s goal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نُطَبِّقُ مَا تَعَلَّمْنَا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D5 · Hobbies, Sport and Leisure · D5-W05 · Apply workshop (D5-L09 + D5-L10)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4663440" cy="4315968"/>
          </a:xfrm>
          <a:prstGeom prst="roundRect">
            <a:avLst>
              <a:gd name="adj" fmla="val 1695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20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TODAY YOU WILL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83464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سَتَتَعَلَّمُ اليَوْمَ</a:t>
            </a:r>
            <a:endParaRPr lang="ar-SA" sz="1600" dirty="0"/>
          </a:p>
        </p:txBody>
      </p:sp>
      <p:sp>
        <p:nvSpPr>
          <p:cNvPr id="18" name="Shape 15"/>
          <p:cNvSpPr/>
          <p:nvPr/>
        </p:nvSpPr>
        <p:spPr>
          <a:xfrm>
            <a:off x="685800" y="2395728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22860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D5-L09: Writing — My Leisure Life (Extended Writing)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85800" y="3291840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3182112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D5-L10: Listening — Sport, Leisure and Past Events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85800" y="4187952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4078224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Apply both: Listening card — which tense? · My leisure life: then, now and next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349240" y="181051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32120" y="194767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532120" y="19476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6766560" y="1947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Everyone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532120" y="228600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Answer questions from BOTH lessons in full sentences.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532120" y="26974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Write the text using the frames.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349240" y="327355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532120" y="341071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532120" y="34107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6766560" y="3410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Most of us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532120" y="374904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Join both lessons in one conversation and a one minute talk.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532120" y="416052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Write the text, frames only if stuck.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349240" y="473659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532120" y="48737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532120" y="48737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6766560" y="4873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Aim high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5532120" y="52120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Speak without notes; add reasons and opinions.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5532120" y="562356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Use more than one tense; give and justify opinions.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1 · WORD RACE · 4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Word race: two lessons, one race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سِبَاقُ الكَلِمَاتِ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D5 · Hobbies, Sport and Leisure · D5-W05 · Apply workshop (D5-L09 + D5-L10)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🏁  English → Arabic, from both lessons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next two slides show words from D5-L09 and D5-L10. Partner A says a word in ENGLISH; Partner B says it in ARABIC. One point for every correct answer in 90 seconds — then swap.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Teacher: first round together (3 words from each slide).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Pairs: 90 seconds each, as many as you can.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Mix the lessons: one word from slide 1, one from slide 2.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use two words — one from each lesson — in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 clearly.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word, then a short sentence with it.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Join a word from each lesson in one sentence with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 or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correct!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حَاوِلْ مَرَّةً أُخْرَى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try again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نُقْطَةٌ لَكَ / لَكِ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point for you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D5-L09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D5-L09 · Writing — My Leisure Life (Extended Writing)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كَلِمَاتُ الدَّرْسِ الأَوَّلِ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D5 · Hobbies, Sport and Leisure · D5-W05 · Apply workshop (D5-L09 + D5-L10)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An iḍāfa.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تَنَوُّعُ الأَزْمِنَةِ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tense variety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ta-naw-wu-ʿu al-az-mi-na-ti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المُسَوَّدَةُ</a:t>
            </a:r>
            <a:endParaRPr lang="ar-SA" sz="3000" dirty="0"/>
          </a:p>
        </p:txBody>
      </p:sp>
      <p:sp>
        <p:nvSpPr>
          <p:cNvPr id="30" name="Text 27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draft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al-mu-saw-wa-da-tu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الآنَ فَـ</a:t>
            </a:r>
            <a:endParaRPr lang="ar-SA" sz="3000" dirty="0"/>
          </a:p>
        </p:txBody>
      </p:sp>
      <p:sp>
        <p:nvSpPr>
          <p:cNvPr id="37" name="Text 34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as for now,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am-mā al-ʾā-na fa</a:t>
            </a:r>
            <a:endParaRPr lang="en-US" sz="1350" dirty="0"/>
          </a:p>
        </p:txBody>
      </p:sp>
      <p:sp>
        <p:nvSpPr>
          <p:cNvPr id="38" name="Text 35"/>
          <p:cNvSpPr txBox="1"/>
          <p:nvPr/>
        </p:nvSpPr>
        <p:spPr>
          <a:xfrm>
            <a:off x="594360" y="3621024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‏</a:t>
            </a:r>
            <a:pPr algn="l" indent="0" marL="0">
              <a:buNone/>
            </a:pPr>
            <a:r>
              <a:rPr lang="ar-SA" altLang="en-US" sz="1300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… فَـ</a:t>
            </a:r>
            <a:pPr algn="l" indent="0" marL="0">
              <a:buNone/>
            </a:pPr>
            <a:r>
              <a:rPr lang="en-US" sz="100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‏ marks a contrast.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4" name="Text 41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</a:t>
            </a:r>
            <a:endParaRPr lang="ar-SA" sz="3000" dirty="0"/>
          </a:p>
        </p:txBody>
      </p:sp>
      <p:sp>
        <p:nvSpPr>
          <p:cNvPr id="45" name="Text 42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addition to that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bil-ʾi-ḍā-fa-ti i-lā dhā-li-ka</a:t>
            </a:r>
            <a:endParaRPr lang="en-US" sz="1350" dirty="0"/>
          </a:p>
        </p:txBody>
      </p:sp>
      <p:sp>
        <p:nvSpPr>
          <p:cNvPr id="46" name="Shape 43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1" name="Text 48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endParaRPr lang="ar-SA" sz="3000" dirty="0"/>
          </a:p>
        </p:txBody>
      </p:sp>
      <p:sp>
        <p:nvSpPr>
          <p:cNvPr id="52" name="Text 49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my opinion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fī raʾ-yī</a:t>
            </a:r>
            <a:endParaRPr lang="en-US" sz="1350" dirty="0"/>
          </a:p>
        </p:txBody>
      </p:sp>
      <p:sp>
        <p:nvSpPr>
          <p:cNvPr id="53" name="Shape 5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أَتَمَنَّى أَنْ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hope to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a-ta-man-nā an</a:t>
            </a:r>
            <a:endParaRPr lang="en-US" sz="1350" dirty="0"/>
          </a:p>
        </p:txBody>
      </p:sp>
      <p:sp>
        <p:nvSpPr>
          <p:cNvPr id="60" name="Text 5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D5-L10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D5-L10 · Listening — Sport, Leisure and Past Events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كَلِمَاتُ الدَّرْسِ الثَّانِي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D5 · Hobbies, Sport and Leisure · D5-W05 · Apply workshop (D5-L09 + D5-L10)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التَّعَرُّفُ عَلَى الأَفْعَالِ</a:t>
            </a:r>
            <a:endParaRPr lang="ar-SA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recognising the verbs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at-ta-ʿar-ru-fu ʿa-lā al-af-ʿā-li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الكَلَامُ السَّرِيعُ</a:t>
            </a:r>
            <a:endParaRPr lang="ar-SA" sz="3000" dirty="0"/>
          </a:p>
        </p:txBody>
      </p:sp>
      <p:sp>
        <p:nvSpPr>
          <p:cNvPr id="28" name="Text 25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fast speech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al-ka-lā-mu as-sa-rī-ʿu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960120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60120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Signals past.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</a:t>
            </a:r>
            <a:endParaRPr lang="ar-SA" sz="3000" dirty="0"/>
          </a:p>
        </p:txBody>
      </p:sp>
      <p:sp>
        <p:nvSpPr>
          <p:cNvPr id="37" name="Text 34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yesterday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am-si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8604504" y="4279392"/>
            <a:ext cx="164226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04504" y="4279392"/>
            <a:ext cx="16422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Signals present habit.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5" name="Text 42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endParaRPr lang="ar-SA" sz="3000" dirty="0"/>
          </a:p>
        </p:txBody>
      </p:sp>
      <p:sp>
        <p:nvSpPr>
          <p:cNvPr id="46" name="Text 43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 day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kul-la yaw-min</a:t>
            </a:r>
            <a:endParaRPr lang="en-US" sz="1350" dirty="0"/>
          </a:p>
        </p:txBody>
      </p:sp>
      <p:sp>
        <p:nvSpPr>
          <p:cNvPr id="47" name="Shape 4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4782312" y="427939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4782312" y="42793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Signals future.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4" name="Text 51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الأُسْبُوعَ القَادِمَ</a:t>
            </a:r>
            <a:endParaRPr lang="ar-SA" sz="3000" dirty="0"/>
          </a:p>
        </p:txBody>
      </p:sp>
      <p:sp>
        <p:nvSpPr>
          <p:cNvPr id="55" name="Text 52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next week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al-us-bū-ʿa al-qā-di-ma</a:t>
            </a:r>
            <a:endParaRPr lang="en-US" sz="1350" dirty="0"/>
          </a:p>
        </p:txBody>
      </p:sp>
      <p:sp>
        <p:nvSpPr>
          <p:cNvPr id="56" name="Shape 53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1" name="Text 58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فَازَ بِـ</a:t>
            </a:r>
            <a:endParaRPr lang="ar-SA" sz="3000" dirty="0"/>
          </a:p>
        </p:txBody>
      </p:sp>
      <p:sp>
        <p:nvSpPr>
          <p:cNvPr id="62" name="Text 59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fā-za bi</a:t>
            </a:r>
            <a:endParaRPr lang="en-US" sz="1350" dirty="0"/>
          </a:p>
        </p:txBody>
      </p:sp>
      <p:sp>
        <p:nvSpPr>
          <p:cNvPr id="63" name="Text 6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2 · SORT IT · READ EACH CARD, THEN SORT IT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Then, or now and next?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صَنِّفِ البِطَاقَاتِ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D5 · Hobbies, Sport and Leisure · D5-W05 · Apply workshop (D5-L09 + D5-L10)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9015984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9107424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أَلْعَبُ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6163056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254496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الآنَ فَأُمَارِسُ</a:t>
            </a:r>
            <a:endParaRPr lang="ar-SA" sz="1800" dirty="0"/>
          </a:p>
        </p:txBody>
      </p:sp>
      <p:sp>
        <p:nvSpPr>
          <p:cNvPr id="19" name="Shape 16"/>
          <p:cNvSpPr/>
          <p:nvPr/>
        </p:nvSpPr>
        <p:spPr>
          <a:xfrm>
            <a:off x="3310128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401568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endParaRPr lang="ar-SA" sz="1800" dirty="0"/>
          </a:p>
        </p:txBody>
      </p:sp>
      <p:sp>
        <p:nvSpPr>
          <p:cNvPr id="21" name="Shape 18"/>
          <p:cNvSpPr/>
          <p:nvPr/>
        </p:nvSpPr>
        <p:spPr>
          <a:xfrm>
            <a:off x="457200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548640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تَدَرَّبْتُ أَمْسِ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9015984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9107424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الطُّفُولَةِ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6163056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254496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سَأَشْتَرِكُ فِي نَادٍ</a:t>
            </a:r>
            <a:endParaRPr lang="ar-SA" sz="1800" dirty="0"/>
          </a:p>
        </p:txBody>
      </p:sp>
      <p:sp>
        <p:nvSpPr>
          <p:cNvPr id="27" name="Shape 24"/>
          <p:cNvSpPr/>
          <p:nvPr/>
        </p:nvSpPr>
        <p:spPr>
          <a:xfrm>
            <a:off x="3310128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3401568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أَنْوِي أَنْ أَتَعَلَّمَ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457200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548640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شَارَكْتُ فِي سِبَاقٍ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185916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23076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23076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Then: past and “used to”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7200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94360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Now and next: present and future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2 · ANSWERS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Sort: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صَنِّفِ البِطَاقَاتِ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D5 · Hobbies, Sport and Leisure · D5-W05 · Apply workshop (D5-L09 + D5-L10)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185916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23076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3076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Then: past and “used to”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323076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14516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أَلْعَبُ</a:t>
            </a:r>
            <a:endParaRPr lang="ar-SA" sz="1800" dirty="0"/>
          </a:p>
        </p:txBody>
      </p:sp>
      <p:sp>
        <p:nvSpPr>
          <p:cNvPr id="20" name="Shape 17"/>
          <p:cNvSpPr/>
          <p:nvPr/>
        </p:nvSpPr>
        <p:spPr>
          <a:xfrm>
            <a:off x="6323076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4516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تَدَرَّبْتُ أَمْسِ</a:t>
            </a:r>
            <a:endParaRPr lang="ar-SA" sz="1800" dirty="0"/>
          </a:p>
        </p:txBody>
      </p:sp>
      <p:sp>
        <p:nvSpPr>
          <p:cNvPr id="22" name="Shape 19"/>
          <p:cNvSpPr/>
          <p:nvPr/>
        </p:nvSpPr>
        <p:spPr>
          <a:xfrm>
            <a:off x="6323076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14516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الطُّفُولَةِ</a:t>
            </a:r>
            <a:endParaRPr lang="ar-SA" sz="1800" dirty="0"/>
          </a:p>
        </p:txBody>
      </p:sp>
      <p:sp>
        <p:nvSpPr>
          <p:cNvPr id="24" name="Shape 21"/>
          <p:cNvSpPr/>
          <p:nvPr/>
        </p:nvSpPr>
        <p:spPr>
          <a:xfrm>
            <a:off x="6323076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14516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شَارَكْتُ فِي سِبَاقٍ</a:t>
            </a:r>
            <a:endParaRPr lang="ar-SA" sz="1800" dirty="0"/>
          </a:p>
        </p:txBody>
      </p:sp>
      <p:sp>
        <p:nvSpPr>
          <p:cNvPr id="26" name="Shape 23"/>
          <p:cNvSpPr/>
          <p:nvPr/>
        </p:nvSpPr>
        <p:spPr>
          <a:xfrm>
            <a:off x="457200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4360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Now and next: present and future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94360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5800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الآنَ فَأُمَارِسُ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594360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5800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endParaRPr lang="ar-SA" sz="1800" dirty="0"/>
          </a:p>
        </p:txBody>
      </p:sp>
      <p:sp>
        <p:nvSpPr>
          <p:cNvPr id="33" name="Shape 30"/>
          <p:cNvSpPr/>
          <p:nvPr/>
        </p:nvSpPr>
        <p:spPr>
          <a:xfrm>
            <a:off x="594360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5800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سَأَشْتَرِكُ فِي نَادٍ</a:t>
            </a:r>
            <a:endParaRPr lang="ar-SA" sz="1800" dirty="0"/>
          </a:p>
        </p:txBody>
      </p:sp>
      <p:sp>
        <p:nvSpPr>
          <p:cNvPr id="35" name="Shape 32"/>
          <p:cNvSpPr/>
          <p:nvPr/>
        </p:nvSpPr>
        <p:spPr>
          <a:xfrm>
            <a:off x="594360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5800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أَنْوِي أَنْ أَتَعَلَّمَ</a:t>
            </a:r>
            <a:endParaRPr lang="ar-SA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4" b="1" spc="15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2 · STEP 3 · SAY THE MODEL DIALOGUE · BOTH LESSONS IN ONE CONVERSATION</a:t>
            </a:r>
            <a:endParaRPr lang="en-US" sz="934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 podcast interview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مُقَابَلَةٌ فِي البُودْكَاسْتِ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D5 · Hobbies, Sport and Leisure · D5-W05 · Apply workshop (D5-L09 + D5-L10)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54112" y="1810512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444752" y="1810512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Say it in Arabic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Who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90688" y="226771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did you use to do as a child?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226771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كُنْتَ تَفْعَلُ فِي الطُّفُولَةِ؟</a:t>
            </a:r>
            <a:endParaRPr lang="ar-SA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226771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90688" y="2881884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used to play tennis every Saturday with my father.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2881884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أَلْعَبُ التِّنِسَ كُلَّ سَبْتٍ مَعَ أَبِي.</a:t>
            </a:r>
            <a:endParaRPr lang="ar-SA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881884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90688" y="3496056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now?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463040" y="3496056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وَالآنَ؟</a:t>
            </a:r>
            <a:endParaRPr lang="ar-SA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3496056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90688" y="4110228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But now I swim three times a week; yesterday I trained for two hours.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463040" y="4110228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الآنَ فَأُمَارِسُ السِّبَاحَةَ ثَلَاثَ مَرَّاتٍ فِي الأُسْبُوعِ؛ أَمْسِ تَدَرَّبْتُ سَاعَتَيْنِ.</a:t>
            </a:r>
            <a:endParaRPr lang="ar-SA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4110228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90688" y="4724400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what are your plans?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463040" y="4724400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خُطَطُكَ؟</a:t>
            </a:r>
            <a:endParaRPr lang="ar-SA" sz="19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724400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90688" y="533857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take part in a race next month, and I believe that sport teaches us patience.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463040" y="533857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سَأُشَارِكُ فِي سِبَاقٍ الشَّهْرَ القَادِمَ، وَأَعْتَقِدُ أَنَّ الرِّيَاضَةَ تُعَلِّمُنَا الصَّبْرَ.</a:t>
            </a:r>
            <a:endParaRPr lang="ar-SA" sz="19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533857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Round 1: read it in pairs (A and B). Round 2: swap letters. Round 3: cover the Arabic and say it from the English. Then change TWO details — one from each lesson — and say it again.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QUESTION CARDS · QUESTIONS FROM BOTH LESSONS, MIXED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Mixed questions — answer, then add more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أَسْئِلَةٌ مِنَ الدَّرْسَيْنِ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D5 · Hobbies, Sport and Leisure · D5-W05 · Apply workshop (D5-L09 + D5-L10)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720072" y="181051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Add more (Develop · Stretch)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976872" y="181051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your answer (Core)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738360" y="226771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وَمَرَّةً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995160" y="226771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الطُّفُولَةِ كُنْتُ أَلْعَبُ …</a:t>
            </a:r>
            <a:endParaRPr lang="ar-SA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636008" y="2267712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¶1 What did you use to do as a child?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¶١ مَاذَا كُنْتَ تَفْعَلُ فِي الطُّفُولَةِ؟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738360" y="2881884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الدَّلِيلُ: «سَأُشَارِكُ»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995160" y="2881884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الشَّهْرَ القَادِمَ …</a:t>
            </a:r>
            <a:endParaRPr lang="ar-SA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4636008" y="2881884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“I took part in a race, and I’ll take part in another next month.” — When is the second race?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شَارَكْتُ فِي سِبَاقٍ، وَسَأُشَارِكُ فِي سِبَاقٍ آخَرَ الشَّهْرَ القَادِمَ. — مَتَى السِّبَاقُ الثَّانِي؟</a:t>
            </a:r>
            <a:endParaRPr lang="ar-SA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756648" y="3496056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6995160" y="3496056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أَتَذَكَّرُ يَوْمًا عِنْدَمَا …</a:t>
            </a:r>
            <a:endParaRPr lang="ar-SA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4636008" y="3496056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¶1 Mention a special memory.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¶١ اذْكُرْ ذِكْرَى خَاصَّةً.</a:t>
            </a:r>
            <a:endParaRPr lang="ar-SA" sz="17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11091672" y="354177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1091672" y="35417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756648" y="4110228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Trap: 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التِّنِسُ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 = 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المَاضِي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995160" y="4110228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الغُولْفَ …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4636008" y="4110228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“I used to play tennis; now I play golf.” — What now?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1051560" y="4110228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أَلْعَبُ التِّنِسَ، وَالآنَ أَلْعَبُ الغُولْفَ. — مَاذَا يَلْعَبُ الآنَ؟</a:t>
            </a:r>
            <a:endParaRPr lang="ar-SA" sz="1250" dirty="0"/>
          </a:p>
        </p:txBody>
      </p:sp>
      <p:sp>
        <p:nvSpPr>
          <p:cNvPr id="50" name="Text 47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11091672" y="415594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1091672" y="41559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3" name="Shape 50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738360" y="4724400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بِالإِضَافَةِ إِلَى ذٰلِكَ …</a:t>
            </a:r>
            <a:endParaRPr lang="ar-SA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6995160" y="4724400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الآنَ فَأُمَارِسُ …</a:t>
            </a:r>
            <a:endParaRPr lang="ar-SA" sz="1600" dirty="0"/>
          </a:p>
        </p:txBody>
      </p:sp>
      <p:sp>
        <p:nvSpPr>
          <p:cNvPr id="56" name="Text 53"/>
          <p:cNvSpPr txBox="1"/>
          <p:nvPr/>
        </p:nvSpPr>
        <p:spPr>
          <a:xfrm>
            <a:off x="4636008" y="4724400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¶2 What do you do now?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1051560" y="4724400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¶٢ مَاذَا تَفْعَلُ الآنَ؟</a:t>
            </a:r>
            <a:endParaRPr lang="ar-SA" sz="17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756648" y="533857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…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6995160" y="533857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النِّهَائِيَّ …</a:t>
            </a:r>
            <a:endParaRPr lang="ar-SA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4636008" y="5338572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“We watched the match yesterday; we will watch the final tomorrow.” — Tomorrow?</a:t>
            </a:r>
            <a:endParaRPr lang="en-US" sz="1100" dirty="0"/>
          </a:p>
        </p:txBody>
      </p:sp>
      <p:sp>
        <p:nvSpPr>
          <p:cNvPr id="63" name="Text 60"/>
          <p:cNvSpPr txBox="1"/>
          <p:nvPr/>
        </p:nvSpPr>
        <p:spPr>
          <a:xfrm>
            <a:off x="1051560" y="5338572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شَاهَدْنَا المُبَارَاةَ أَمْسِ، وَسَنُشَاهِدُ النِّهَائِيَّ غَدًا. — مَاذَا سَيُشَاهِدُونَ غَدًا؟</a:t>
            </a:r>
            <a:endParaRPr lang="ar-SA" sz="1200" dirty="0"/>
          </a:p>
        </p:txBody>
      </p:sp>
      <p:sp>
        <p:nvSpPr>
          <p:cNvPr id="64" name="Text 61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5" name="Text 6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Odd numbers come from D5-L09, even numbers from D5-L10. Core: a full sentence from the starter. Develop: add the “more” part. Stretch: link two answers with ‏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‏, ‏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 or ‏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‏. Swap after each question.</a:t>
            </a:r>
            <a:endParaRPr lang="en-US" sz="110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7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4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ROLE-PLAY CARD · PLANS FOR TASKS 1–2 ARE GIVEN — PLAN 3–5 YOURSELF</a:t>
            </a:r>
            <a:endParaRPr lang="en-US" sz="934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Listening card — which tense?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زَمَنٍ؟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D5 · Hobbies, Sport and Leisure · D5-W05 · Apply workshop (D5-L09 + D5-L10)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reads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← سَأُشَارِكُ + الشَّهْرَ القَادِمَ</a:t>
            </a:r>
            <a:endParaRPr lang="ar-SA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Find the future detail.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«شَارَكْتُ فِي سِبَاقٍ، وَسَأُشَارِكُ فِي سِبَاقٍ آخَرَ الشَّهْرَ القَادِمَ.» — مَتَى السِّبَاقُ الثَّانِي؟</a:t>
            </a:r>
            <a:endParaRPr lang="ar-SA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الآنَ ← أَلْعَبُ …</a:t>
            </a:r>
            <a:endParaRPr lang="ar-SA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to vs now.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«كُنْتُ أَلْعَبُ التِّنِسَ، وَالآنَ أَلْعَبُ الغُولْفَ.» — مَاذَا يَلْعَبُ الآنَ؟</a:t>
            </a:r>
            <a:endParaRPr lang="ar-SA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trap: 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لَمْ … بَلْ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…‏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«لَمْ أَتَدَرَّبْ أَمْسِ، بَلْ تَدَرَّبْتُ اليَوْمَ صَبَاحًا.» — مَتَى تَدَرَّبَ؟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does what?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«أُخْتِي تَرْسُمُ كُلَّ يَوْمٍ، أَمَّا أَنَا فَأَعْزِفُ عَلَى البِيَانُو.» — مَنْ يَرْسُمُ؟</a:t>
            </a:r>
            <a:endParaRPr lang="ar-SA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Three tenses in three sentences.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وَأَنْتَ: مَا هِوَايَتُكَ فِي الطُّفُولَةِ، وَالآنَ، وَفِي المُسْتَقْبَلِ؟</a:t>
            </a:r>
            <a:endParaRPr lang="ar-SA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Partner A reads each clip twice. Say the tense and the clue (an ending, a prefix, ‏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‏, ‏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‏, a time marker), then the answer. Task ! is your then–now–next. Then swap.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6 · SHORT TALK · ONE MINUTE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My podcast clip: then, now, next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5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مَقْطَعِي: المَاضِي وَالحَاضِرُ وَالمُسْتَقْبَلُ</a:t>
            </a:r>
            <a:endParaRPr lang="ar-SA" sz="26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D5 · Hobbies, Sport and Leisure · D5-W05 · Apply workshop (D5-L09 + D5-L10)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6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use both lessons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Record a one-minute clip about your free time in four parts: (1) what you used to do as a child + one memory, (2) your hobbies now and how often, (3) your plans, (4) your opinion on why hobbies matter. Your partner writes down every tense they hear.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Think for 30 seconds: 2 key words from EACH lesson,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partner times it.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Partner: one thing that went well + one thing to improve.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— then the teacher invites two volunteers.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أَلْعَبُ … · الآنَ أُمَارِسُ … · سَأَشْتَرِكُ …</a:t>
            </a:r>
            <a:endParaRPr lang="ar-SA" sz="14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one past event with a time marker (‏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الأُسْبُوعَ المَاضِيَ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‏).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الآنَ فَ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…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أَنْوِي أَنْ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…‏ and a trap with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لَمْ … بَلْ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…‏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… then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· لِذٰلِكَ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… · so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my opinion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finish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3 · STEP 7 · SENTENCE BUILDER ·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Build three correct sentences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الجُمْلَةَ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D5 · Hobbies, Sport and Leisure · D5-W05 · Apply workshop (D5-L09 + D5-L10)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9180576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1 · start here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624828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2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069080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011680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" y="2148840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" y="2121408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As a child I used to draw a lot.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180576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35440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500616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الطُّفُولَةِ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9180576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35440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500616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المُسْتَقْبَلِ</a:t>
            </a:r>
            <a:endParaRPr lang="ar-SA" sz="1800" dirty="0"/>
          </a:p>
        </p:txBody>
      </p:sp>
      <p:sp>
        <p:nvSpPr>
          <p:cNvPr id="28" name="Shape 25"/>
          <p:cNvSpPr/>
          <p:nvPr/>
        </p:nvSpPr>
        <p:spPr>
          <a:xfrm>
            <a:off x="6624828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9692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944868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أَرْسُمُ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624828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79692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944868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سَأَرْسُمُ</a:t>
            </a:r>
            <a:endParaRPr lang="ar-SA" sz="1800" dirty="0"/>
          </a:p>
        </p:txBody>
      </p:sp>
      <p:sp>
        <p:nvSpPr>
          <p:cNvPr id="34" name="Shape 31"/>
          <p:cNvSpPr/>
          <p:nvPr/>
        </p:nvSpPr>
        <p:spPr>
          <a:xfrm>
            <a:off x="4069080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123944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4389120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كَثِيرًا.</a:t>
            </a:r>
            <a:endParaRPr lang="ar-SA" sz="1800" dirty="0"/>
          </a:p>
        </p:txBody>
      </p:sp>
      <p:sp>
        <p:nvSpPr>
          <p:cNvPr id="37" name="Shape 34"/>
          <p:cNvSpPr/>
          <p:nvPr/>
        </p:nvSpPr>
        <p:spPr>
          <a:xfrm>
            <a:off x="4069080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123944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4389120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كَثِيرٌ.</a:t>
            </a:r>
            <a:endParaRPr lang="ar-SA" sz="1800" dirty="0"/>
          </a:p>
        </p:txBody>
      </p:sp>
      <p:sp>
        <p:nvSpPr>
          <p:cNvPr id="40" name="Shape 37"/>
          <p:cNvSpPr/>
          <p:nvPr/>
        </p:nvSpPr>
        <p:spPr>
          <a:xfrm>
            <a:off x="457200" y="3392424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9436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3502152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I used to swim, but now I run.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9180576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235440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9500616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أَسْبَحُ،</a:t>
            </a:r>
            <a:endParaRPr lang="ar-SA" sz="1800" dirty="0"/>
          </a:p>
        </p:txBody>
      </p:sp>
      <p:sp>
        <p:nvSpPr>
          <p:cNvPr id="47" name="Shape 44"/>
          <p:cNvSpPr/>
          <p:nvPr/>
        </p:nvSpPr>
        <p:spPr>
          <a:xfrm>
            <a:off x="9180576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235440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9500616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سَبَحْتُ،</a:t>
            </a:r>
            <a:endParaRPr lang="ar-SA" sz="1800" dirty="0"/>
          </a:p>
        </p:txBody>
      </p:sp>
      <p:sp>
        <p:nvSpPr>
          <p:cNvPr id="50" name="Shape 47"/>
          <p:cNvSpPr/>
          <p:nvPr/>
        </p:nvSpPr>
        <p:spPr>
          <a:xfrm>
            <a:off x="6624828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679692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6944868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وَلٰكِنَّنِي الآنَ</a:t>
            </a:r>
            <a:endParaRPr lang="ar-SA" sz="1800" dirty="0"/>
          </a:p>
        </p:txBody>
      </p:sp>
      <p:sp>
        <p:nvSpPr>
          <p:cNvPr id="53" name="Shape 50"/>
          <p:cNvSpPr/>
          <p:nvPr/>
        </p:nvSpPr>
        <p:spPr>
          <a:xfrm>
            <a:off x="6624828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679692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6944868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وَلٰكِنَّنِي أَمْسِ</a:t>
            </a:r>
            <a:endParaRPr lang="ar-SA" sz="1800" dirty="0"/>
          </a:p>
        </p:txBody>
      </p:sp>
      <p:sp>
        <p:nvSpPr>
          <p:cNvPr id="56" name="Shape 53"/>
          <p:cNvSpPr/>
          <p:nvPr/>
        </p:nvSpPr>
        <p:spPr>
          <a:xfrm>
            <a:off x="4069080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123944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4389120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أَرْكُضُ.</a:t>
            </a:r>
            <a:endParaRPr lang="ar-SA" sz="1800" dirty="0"/>
          </a:p>
        </p:txBody>
      </p:sp>
      <p:sp>
        <p:nvSpPr>
          <p:cNvPr id="59" name="Shape 56"/>
          <p:cNvSpPr/>
          <p:nvPr/>
        </p:nvSpPr>
        <p:spPr>
          <a:xfrm>
            <a:off x="4069080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123944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4389120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رَكَضْتُ.</a:t>
            </a:r>
            <a:endParaRPr lang="ar-SA" sz="1800" dirty="0"/>
          </a:p>
        </p:txBody>
      </p:sp>
      <p:sp>
        <p:nvSpPr>
          <p:cNvPr id="62" name="Shape 59"/>
          <p:cNvSpPr/>
          <p:nvPr/>
        </p:nvSpPr>
        <p:spPr>
          <a:xfrm>
            <a:off x="457200" y="4773168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594360" y="4910328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9436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1051560" y="4882896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As for now, I play tennis.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9180576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235440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9500616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الآنَ</a:t>
            </a:r>
            <a:endParaRPr lang="ar-SA" sz="1800" dirty="0"/>
          </a:p>
        </p:txBody>
      </p:sp>
      <p:sp>
        <p:nvSpPr>
          <p:cNvPr id="69" name="Shape 66"/>
          <p:cNvSpPr/>
          <p:nvPr/>
        </p:nvSpPr>
        <p:spPr>
          <a:xfrm>
            <a:off x="9180576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235440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9500616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الآنُ</a:t>
            </a:r>
            <a:endParaRPr lang="ar-SA" sz="1800" dirty="0"/>
          </a:p>
        </p:txBody>
      </p:sp>
      <p:sp>
        <p:nvSpPr>
          <p:cNvPr id="72" name="Shape 69"/>
          <p:cNvSpPr/>
          <p:nvPr/>
        </p:nvSpPr>
        <p:spPr>
          <a:xfrm>
            <a:off x="6624828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679692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6944868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فَأَلْعَبُ</a:t>
            </a:r>
            <a:endParaRPr lang="ar-SA" sz="1800" dirty="0"/>
          </a:p>
        </p:txBody>
      </p:sp>
      <p:sp>
        <p:nvSpPr>
          <p:cNvPr id="75" name="Shape 72"/>
          <p:cNvSpPr/>
          <p:nvPr/>
        </p:nvSpPr>
        <p:spPr>
          <a:xfrm>
            <a:off x="6624828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679692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6944868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أَلْعَبُ</a:t>
            </a:r>
            <a:endParaRPr lang="ar-SA" sz="1800" dirty="0"/>
          </a:p>
        </p:txBody>
      </p:sp>
      <p:sp>
        <p:nvSpPr>
          <p:cNvPr id="78" name="Shape 75"/>
          <p:cNvSpPr/>
          <p:nvPr/>
        </p:nvSpPr>
        <p:spPr>
          <a:xfrm>
            <a:off x="4069080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123944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4389120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التِّنِسَ.</a:t>
            </a:r>
            <a:endParaRPr lang="ar-SA" sz="1800" dirty="0"/>
          </a:p>
        </p:txBody>
      </p:sp>
      <p:sp>
        <p:nvSpPr>
          <p:cNvPr id="81" name="Shape 78"/>
          <p:cNvSpPr/>
          <p:nvPr/>
        </p:nvSpPr>
        <p:spPr>
          <a:xfrm>
            <a:off x="4069080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123944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83" name="Text 80"/>
          <p:cNvSpPr txBox="1"/>
          <p:nvPr/>
        </p:nvSpPr>
        <p:spPr>
          <a:xfrm>
            <a:off x="4389120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التِّنِسُ.</a:t>
            </a:r>
            <a:endParaRPr lang="ar-SA" sz="1800" dirty="0"/>
          </a:p>
        </p:txBody>
      </p:sp>
      <p:sp>
        <p:nvSpPr>
          <p:cNvPr id="84" name="Text 8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7 · CHECK YOUR SENTENCES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Sentence builder: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الجُمْلَةَ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D5 · Hobbies, Sport and Leisure · D5-W05 · Apply workshop (D5-L09 + D5-L10)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47672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19019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As a child I used to draw a lot.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2359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263347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to =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+ present.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1901952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الطُّفُولَةِ كُنْتُ أَرْسُمُ كَثِيرًا.</a:t>
            </a:r>
            <a:endParaRPr lang="ar-SA" sz="2800" dirty="0"/>
          </a:p>
        </p:txBody>
      </p:sp>
      <p:sp>
        <p:nvSpPr>
          <p:cNvPr id="22" name="Shape 19"/>
          <p:cNvSpPr/>
          <p:nvPr/>
        </p:nvSpPr>
        <p:spPr>
          <a:xfrm>
            <a:off x="457200" y="3291840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I used to swim, but now I run.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" y="3840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" y="41148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to =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+ present; now = present.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3383280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أَسْبَحُ، وَلٰكِنَّنِي الآنَ أَرْكُضُ.</a:t>
            </a:r>
            <a:endParaRPr lang="ar-SA" sz="2800" dirty="0"/>
          </a:p>
        </p:txBody>
      </p:sp>
      <p:sp>
        <p:nvSpPr>
          <p:cNvPr id="29" name="Shape 26"/>
          <p:cNvSpPr/>
          <p:nvPr/>
        </p:nvSpPr>
        <p:spPr>
          <a:xfrm>
            <a:off x="457200" y="4773168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0080" y="4910328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143000" y="4864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As for now, I play tennis.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143000" y="5321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559612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… + fa-.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4572000" y="4864608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الآنَ فَأَلْعَبُ التِّنِسَ.</a:t>
            </a:r>
            <a:endParaRPr lang="ar-SA" sz="2800" dirty="0"/>
          </a:p>
        </p:txBody>
      </p:sp>
      <p:sp>
        <p:nvSpPr>
          <p:cNvPr id="36" name="Text 3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8 · SPOT AND FIX · MISTAKES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Find the mistake, fix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D5 · Hobbies, Sport and Leisure · D5-W05 · Apply workshop (D5-L09 + D5-L10)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183112" y="2249424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183112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023360" y="1901952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الطُّفُولَةِ أَلْعَبُ فِي الحَدِيقَةِ.</a:t>
            </a:r>
            <a:endParaRPr lang="ar-SA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190195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Childhood = the past.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183112" y="3694176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183112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023360" y="3346704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«كُنْتُ أَلْعَبُ التِّنِسَ» ← يَلْعَبُ التِّنِسَ الآنَ.</a:t>
            </a:r>
            <a:endParaRPr lang="ar-SA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3346704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7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</a:t>
            </a:r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+ present = ?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183112" y="5138928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183112" y="5138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023360" y="4791456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الآنَ أُمَارِسُ السِّبَاحَةَ.</a:t>
            </a:r>
            <a:endParaRPr lang="ar-SA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4791456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7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</a:t>
            </a:r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needs its partner.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8 · CORRECTIONS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Spot and fix: corrections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D5 · Hobbies, Sport and Leisure · D5-W05 · Apply workshop (D5-L09 + D5-L10)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503920" y="190195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الطُّفُولَةِ أَلْعَبُ فِي الحَدِيقَةِ.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8641080" y="2459736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38160" y="1901952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3566160" y="1901952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الطُّفُولَةِ كُنْتُ أَلْعَبُ فِي الحَدِيقَةِ.</a:t>
            </a:r>
            <a:endParaRPr lang="ar-SA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1901952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Habit in the past → ‏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 + present.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503920" y="334670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«كُنْتُ أَلْعَبُ التِّنِسَ» ← يَلْعَبُ التِّنِسَ الآنَ.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8641080" y="3904488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38160" y="3346704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3566160" y="3346704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يَلْعَبُ التِّنِسَ فِي المَاضِي.</a:t>
            </a:r>
            <a:endParaRPr lang="ar-SA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3346704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 + present = used to (past habit).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503920" y="4791456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الآنَ أُمَارِسُ السِّبَاحَةَ.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8641080" y="5349240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38160" y="4791456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3566160" y="4791456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الآنَ فَأُمَارِسُ السِّبَاحَةَ.</a:t>
            </a:r>
            <a:endParaRPr lang="ar-SA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" y="4791456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…‏ + fa-.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WRITE YOUR TEXT · FRAMES IF YOU NEED THEM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writing frames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قَوَالِبُ الكِتَابَةِ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D5 · Hobbies, Sport and Leisure · D5-W05 · Apply workshop (D5-L09 + D5-L10)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ذٰلِكَ، ______ .</a:t>
            </a:r>
            <a:endParaRPr lang="ar-SA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addition, …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2468880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أَنْوِي أَنْ ______ لِأَنَّ ______ 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intend to … because …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190488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543032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543032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8202168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الطُّفُولَةِ كُنْتُ ______ 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327648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¶1 As a child I used to …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202168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يَوْمٍ مِنَ الأَيَّامِ ______ .</a:t>
            </a:r>
            <a:endParaRPr lang="ar-SA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6327648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¶1 And one day I …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202168" y="3383280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الآنَ فَأُمَارِسُ ______ ______ فِي الأُسْبُوعِ.</a:t>
            </a:r>
            <a:endParaRPr lang="ar-SA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327648" y="3383280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¶2 But now I do … (how often) a week.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202168" y="3950208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المُسْتَقْبَلِ سَوْفَ ______ .</a:t>
            </a:r>
            <a:endParaRPr lang="ar-SA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6327648" y="3950208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¶3 In future I will …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8202168" y="4517136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الهِوَايَاتِ ______ .</a:t>
            </a:r>
            <a:endParaRPr lang="ar-SA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6327648" y="4517136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¶4 I believe that hobbies …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57200" y="5504688"/>
            <a:ext cx="1127455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640080" y="55412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WORD BANK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640080" y="5760720"/>
            <a:ext cx="10908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أَلْعَبُ · كُنْتُ أَرْسُمُ  ·  أَمْسِ · الأُسْبُوعَ المَاضِيَ  ·  أَمَّا الآنَ فَ…  ·  مَرَّتَيْنِ فِي الأُسْبُوعِ  ·  سَأَشْتَرِكُ · سَوْفَ أَتَعَلَّمُ  ·  أَنْوِي أَنْ  ·  بِالإِضَافَةِ إِلَى ذٰلِكَ  ·  أَعْتَقِدُ أَنَّ</a:t>
            </a:r>
            <a:endParaRPr lang="ar-SA" sz="1550" dirty="0"/>
          </a:p>
        </p:txBody>
      </p:sp>
      <p:sp>
        <p:nvSpPr>
          <p:cNvPr id="38" name="Text 3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24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10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WRITE YOUR TEXT · ABOUT 60–80 WORDS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My leisure life: then, now and next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وَقْتُ فَرَاغِي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D5 · Hobbies, Sport and Leisure · D5-W05 · Apply workshop (D5-L09 + D5-L10)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7784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38528"/>
            <a:ext cx="2061972" cy="292608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38528"/>
            <a:ext cx="2061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WRITING · DIRECTED TASK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3317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Write a text (about 60–80 words) in four short paragraphs. ¶1 past: what you used to do (‏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</a:t>
            </a:r>
            <a:pPr algn="l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 + present) + one memory with past verbs. ¶2 present: ‏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الآنَ فَ</a:t>
            </a:r>
            <a:pPr algn="l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…‏ + two hobbies with frequency. ¶3 future: two plans. ¶4 opinion: why hobbies matter. Use at least one connector in each paragraph.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31012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All the bullet points, in order.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384048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Language from D5-L09 AND D5-L10.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437083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Linking words: ‏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490118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One opinion with a reason.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543153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Buddy check, then fix one thing.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17920" y="1810512"/>
            <a:ext cx="551383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400800" y="19019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8412480" y="2231136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الطُّفُولَةِ كُنْتُ …</a:t>
            </a:r>
            <a:endParaRPr lang="ar-SA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2560320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 a child I used to …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412480" y="2889504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الآنَ فَ…</a:t>
            </a:r>
            <a:endParaRPr lang="ar-SA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0" y="3218688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but now …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412480" y="3547872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سَأَشْتَرِكُ فِي … · أَنْوِي أَنْ …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0" y="3877056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join … · I intend to …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412480" y="4206240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… · وَفِي الخِتَامِ …</a:t>
            </a:r>
            <a:endParaRPr lang="ar-SA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4535424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believe that … · and finally …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24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BUDDY CHECK · SWAP AND READ YOUR BUDDY’S TEXT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Buddy check: five points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رَاجِعْ مَعَ زَمِيلِكَ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D5 · Hobbies, Sport and Leisure · D5-W05 · Apply workshop (D5-L09 + D5-L10)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Line / example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455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565392" y="181051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Did the writer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882128" y="2267712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601968" y="2267712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EVERY bullet point?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300471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882128" y="300471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601968" y="300471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write in three time zones with the right tense in each?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741725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882128" y="3741725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601968" y="3741725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catch “used to” and distractors that change the time?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478731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882128" y="4478731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601968" y="4478731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linking words (‏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‏)?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521573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882128" y="521573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601968" y="521573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more than one tense and give an opinion with a reason?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Give back: one thing that went well + one thing to improve. The writer fixes ONE thing straight away.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24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ROLE-PLAY CARD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Role-play card: compare with a strong answer</a:t>
            </a:r>
            <a:endParaRPr lang="en-US" sz="2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D5 · Hobbies, Sport and Leisure · D5-W05 · Apply workshop (D5-L09 + D5-L10)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الشَّهْرَ القَادِمَ.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Next month.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«شَارَكْتُ فِي سِبَاقٍ، وَسَأُشَارِكُ فِي سِبَاقٍ آخَرَ الشَّهْرَ القَادِمَ.» — مَتَى السِّبَاقُ الثَّانِي؟</a:t>
            </a:r>
            <a:endParaRPr lang="ar-SA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يَلْعَبُ الغُولْفَ الآنَ؛ التِّنِسُ كَانَ فِي المَاضِي.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 plays golf now; tennis was in the past.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«كُنْتُ أَلْعَبُ التِّنِسَ، وَالآنَ أَلْعَبُ الغُولْفَ.» — مَاذَا يَلْعَبُ الآنَ؟</a:t>
            </a:r>
            <a:endParaRPr lang="ar-SA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اليَوْمَ صَبَاحًا، لَيْسَ أَمْسِ.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This morning, not yesterday.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«لَمْ أَتَدَرَّبْ أَمْسِ، بَلْ تَدَرَّبْتُ اليَوْمَ صَبَاحًا.» — مَتَى تَدَرَّبَ؟</a:t>
            </a:r>
            <a:endParaRPr lang="ar-SA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أُخْتُهُ تَرْسُمُ، وَهُوَ يَعْزِفُ عَلَى البِيَانُو.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His sister draws, and he plays the piano.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«أُخْتِي تَرْسُمُ كُلَّ يَوْمٍ، أَمَّا أَنَا فَأَعْزِفُ عَلَى البِيَانُو.» — مَنْ يَرْسُمُ؟</a:t>
            </a:r>
            <a:endParaRPr lang="ar-SA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أَرْسُمُ كَثِيرًا، أَمَّا الآنَ فَأَلْعَبُ الشِّطْرَنْجَ، وَسَأَتَعَلَّمُ البَرْمَجَةَ.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used to draw a lot, but now I play chess, and I will learn programming.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وَأَنْتَ: مَا هِوَايَتُكَ فِي الطُّفُولَةِ، وَالآنَ، وَفِي المُسْتَقْبَلِ؟</a:t>
            </a:r>
            <a:endParaRPr lang="ar-SA" sz="145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Did you answer every task in a full sentence? Find one phrase from each lesson in the models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24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WRITE YOUR TEXT · A STRONG ANSWER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Writing: compare with a strong answer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D5 · Hobbies, Sport and Leisure · D5-W05 · Apply workshop (D5-L09 + D5-L10)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38528"/>
            <a:ext cx="108173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الطُّفُولَةِ كُنْتُ أَلْعَبُ التِّنِسَ مَعَ أَبِي كُلَّ سَبْتٍ. وَفِي يَوْمٍ مِنَ الأَيَّامِ فُزْتُ عَلَيْهِ لِأَوَّلِ مَرَّةٍ!</a:t>
            </a:r>
            <a:endParaRPr lang="ar-SA" sz="26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الآنَ فَأُمَارِسُ السِّبَاحَةَ ثَلَاثَ مَرَّاتٍ فِي الأُسْبُوعِ، وَبِالإِضَافَةِ إِلَى ذٰلِكَ أَقْرَأُ الرِّوَايَاتِ كُلَّ مَسَاءٍ.</a:t>
            </a:r>
            <a:endParaRPr lang="ar-SA" sz="26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المُسْتَقْبَلِ سَأُشَارِكُ فِي سِبَاقِ سِبَاحَةٍ، وَأَنْوِي أَنْ أَتَعَلَّمَ الغَوْصَ.</a:t>
            </a:r>
            <a:endParaRPr lang="ar-SA" sz="26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الهِوَايَاتِ مُهِمَّةٌ لِأَنَّهَا تُرِيحُنَا وَتُعَلِّمُنَا الصَّبْرَ.</a:t>
            </a:r>
            <a:endParaRPr lang="ar-SA" sz="2600" dirty="0"/>
          </a:p>
        </p:txBody>
      </p:sp>
      <p:sp>
        <p:nvSpPr>
          <p:cNvPr id="17" name="Shape 14"/>
          <p:cNvSpPr/>
          <p:nvPr/>
        </p:nvSpPr>
        <p:spPr>
          <a:xfrm>
            <a:off x="457200" y="5166360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5202936"/>
            <a:ext cx="109087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“As a child I used to play tennis with my father every Saturday. And one day I beat him for the first time! / But now I swim three times a week, and in addition I read novels every evening. / In future I will take part in a swimming race, and I intend to learn diving. / I believe hobbies are important because they relax us and teach us patience.”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053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FIND IN THE MODEL: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697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D5FBF"/>
          </a:solidFill>
          <a:ln w="12700">
            <a:solidFill>
              <a:srgbClr val="1D5F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97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أَلْعَبُ التِّنِسَ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983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83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أَمَّا الآنَ فَأُمَارِسُ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269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69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سَأُشَارِكُ فِي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555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555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24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D5 · Hobbies, Sport and Leisure · D5-W05 · Apply workshop (D5-L09 + D5-L10)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questions from D5-L09 and D5-L10 in full sentences.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wrote a sentence for every bullet point.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language from BOTH lessons when I spoke and when I wrote.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buddy checked my text and I fixed one mistake.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more than one tense and gave opinions with reasons.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24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D5-W05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used two lessons together!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LESSON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D5-L11 · D5 Consolidation — Past Tense Mastery and Speaking Preparation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تَرْسِيخُ الوَحْدَةِ — إِتْقَانُ الفِعْلِ المَاضِي وَإِعْدَادُ التَّحَدُّثِ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keep using this week’s language — say it, then write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D5-W05 · Apply Workshop — Leisure Podcast: Then, Now and Next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2026-10-26T15:42:43Z</dcterms:created>
  <dcterms:modified xsi:type="dcterms:W3CDTF">2026-10-26T15:42:43Z</dcterms:modified>
</cp:coreProperties>
</file>