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D5-L11 · Learn D5-L12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D5-L11 (D5 Consolidation — Past Tense Mastery and Speaking Preparation) and D5-L12 (Review and Unit Assessment: Hobbies, Sport and Leisure).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D5-L11 and D5-L12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D5-L11? After D5-L12?” Take two answers in the chat for each lesson (one word or one sentence is enough). Then read objective 3 — today’s new situation that needs BOTH lessons. Students tick their route goals at the end of the lesson.
D5-L11 language: answer a past question in the past (kayfa badaʾta? — badaʾtu …); fix the stem before the suffix (zāra → zurtu · mashā → mashaytu · nāma → nimtu); extend every answer with a reason and an example; buy time or repair in Arabic (daʿnī ufakkiru · ʿafwan, aqṣidu … · fī al-ḥaqīqa …)
D5-L12 language: D5 review: hobby verbs + prepositions (yaʿzifu ʿalā · yastamiʿu ilā); results (fāza bi- / ʿalā); past singular and plural endings (-tu · -ta · -ti · -a · -at · -nā · -tum · -ū); irregular stems (zurtu · mashaynā · nimnā · qālū); kāna + -an and kuntu + present; arts verbs (yuʿabbiru ʿan · yuʾaththiru fī); travel past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D5-L12.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D5-L11 and D5-L12. Teacher reads it once with a confident student; then pairs. Ask: “Which lines are from D5-L11? Which from D5-L12?” Fixing the stem before the ending (زُرْنَا · مَشَيْنَا · قَالَ) and extending each answer with a reason and an example come from D5-L11; the scene with كَانَ + -an and the reflection revise D5-L05, as in the D5-L12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past questions answered in the past with correct stems, reasons and examples (D5-L11), across every D5 topic (D5-L12). FADED SUPPORT: tasks 1–2 show the plan; students write their own plan for 3–5. To a girl Partner A says: مَاذَا تَفْعَلِينَ؟ · كَيْفَ بَدَأْتِ؟ · أَيْنَ سَتَذْهَبِينَ؟.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D5-L11 and D5-L12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D5-L11 and D5-L12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and one phrase from D5-L11 and one from D5-L12.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D5-L11 + D5-L12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Best Day of My Life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أَفْضَلُ يَوْمٍ فِي حَيَاتِي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use all of D5 for one real purpose: they tell and write about the best day of their life — the scene with </a:t>
            </a:r>
            <a:pPr algn="l" indent="0" marL="0">
              <a:buNone/>
            </a:pPr>
            <a:r>
              <a:rPr lang="ar-SA" altLang="en-US" sz="1500" dirty="0">
                <a:solidFill>
                  <a:srgbClr val="C6D2E6"/>
                </a:solidFill>
                <a:latin typeface="Amiri" pitchFamily="2" charset="-78"/>
                <a:ea typeface="Amiri" pitchFamily="2" charset="-78"/>
                <a:cs typeface="Amiri" pitchFamily="2" charset="-78"/>
              </a:rPr>
              <a:t>كَانَ</a:t>
            </a:r>
            <a:pPr algn="l" indent="0" marL="0">
              <a:buNone/>
            </a:pPr>
            <a:r>
              <a:rPr lang="en-US" sz="1150" dirty="0">
                <a:solidFill>
                  <a:srgbClr val="C6D2E6"/>
                </a:solidFill>
                <a:latin typeface="Calibri" pitchFamily="34" charset="0"/>
                <a:cs typeface="Amiri" pitchFamily="2" charset="-78"/>
              </a:rPr>
              <a:t>, regular and irregular past verbs for I · we · they, a reason and an example, a reflection — and then answer the exam-style email about hobbies now, a childhood hobby, a memorable event and future plans.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D5-L11 + D5-L12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D5</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D5-L11 and D5-L12.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D5-L11 + D5-L12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D5-L11: D5 Consolidation — Past Tense Mastery and Speaking Preparation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D5-L12: Review and Unit Assessment: Hobbies, Sport and Leisure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Speaking card — the exam conversation · Exam-style email: my free time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D5-L11 and D5-L12.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D5-L11 · D5 Consolidation — Past Tense Mastery and Speaking Preparation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الحَدِيثُ بِالفِعْلِ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speaking in the past tense</a:t>
            </a:r>
            <a:endParaRPr lang="en-US" sz="1350" dirty="0"/>
          </a:p>
          <a:p>
            <a:pPr indent="0" marL="0">
              <a:buNone/>
            </a:pPr>
            <a:r>
              <a:rPr lang="en-US" sz="1100" i="1" dirty="0">
                <a:solidFill>
                  <a:srgbClr val="5A6472"/>
                </a:solidFill>
                <a:latin typeface="Calibri" pitchFamily="34" charset="0"/>
                <a:cs typeface="Amiri" pitchFamily="2" charset="-78"/>
              </a:rPr>
              <a:t>al-ḥa-dī-thu bil-fiʿ-li al-mā-ḍī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repair phrase.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عَفْوًا، أَقْصِدُ</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mean</a:t>
            </a:r>
            <a:endParaRPr lang="en-US" sz="1350" dirty="0"/>
          </a:p>
          <a:p>
            <a:pPr indent="0" marL="0">
              <a:buNone/>
            </a:pPr>
            <a:r>
              <a:rPr lang="en-US" sz="1100" i="1" dirty="0">
                <a:solidFill>
                  <a:srgbClr val="5A6472"/>
                </a:solidFill>
                <a:latin typeface="Calibri" pitchFamily="34" charset="0"/>
                <a:cs typeface="Amiri" pitchFamily="2" charset="-78"/>
              </a:rPr>
              <a:t>ʿaf-wan, aq-ṣi-du</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8" name="Shape 45"/>
          <p:cNvSpPr/>
          <p:nvPr/>
        </p:nvSpPr>
        <p:spPr>
          <a:xfrm>
            <a:off x="4782312" y="4279392"/>
            <a:ext cx="1455725"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4782312"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Buys thinking time.</a:t>
            </a:r>
            <a:endParaRPr lang="en-US" sz="8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سُؤَالٌ جَيِّدٌ</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question</a:t>
            </a:r>
            <a:endParaRPr lang="en-US" sz="1350" dirty="0"/>
          </a:p>
          <a:p>
            <a:pPr indent="0" marL="0">
              <a:buNone/>
            </a:pPr>
            <a:r>
              <a:rPr lang="en-US" sz="1100" i="1" dirty="0">
                <a:solidFill>
                  <a:srgbClr val="5A6472"/>
                </a:solidFill>
                <a:latin typeface="Calibri" pitchFamily="34" charset="0"/>
                <a:cs typeface="Amiri" pitchFamily="2" charset="-78"/>
              </a:rPr>
              <a:t>su-ʾā-lun jay-yi-dun</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7" name="Shape 5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9" name="Shape 5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هَلْ يُمْكِنُ أَنْ تُعِيدَ السُّؤَالَ؟</a:t>
            </a:r>
            <a:endParaRPr lang="ar-SA" sz="2900" dirty="0"/>
          </a:p>
        </p:txBody>
      </p:sp>
      <p:sp>
        <p:nvSpPr>
          <p:cNvPr id="62" name="Text 5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could you repeat the question?</a:t>
            </a:r>
            <a:endParaRPr lang="en-US" sz="1350" dirty="0"/>
          </a:p>
          <a:p>
            <a:pPr indent="0" marL="0">
              <a:buNone/>
            </a:pPr>
            <a:r>
              <a:rPr lang="en-US" sz="1100" i="1" dirty="0">
                <a:solidFill>
                  <a:srgbClr val="5A6472"/>
                </a:solidFill>
                <a:latin typeface="Calibri" pitchFamily="34" charset="0"/>
                <a:cs typeface="Amiri" pitchFamily="2" charset="-78"/>
              </a:rPr>
              <a:t>hal yum-ki-nu an tu-ʿī-da as-su-ʾā-la?</a:t>
            </a:r>
            <a:endParaRPr lang="en-US" sz="1350" dirty="0"/>
          </a:p>
        </p:txBody>
      </p:sp>
      <p:sp>
        <p:nvSpPr>
          <p:cNvPr id="63" name="Shape 60"/>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a woman</a:t>
            </a:r>
            <a:endParaRPr lang="en-US" sz="700" dirty="0"/>
          </a:p>
        </p:txBody>
      </p:sp>
      <p:sp>
        <p:nvSpPr>
          <p:cNvPr id="65" name="Text 62"/>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هَلْ يُمْكِنُ أَنْ تُعِيدِي السُّؤَالَ؟</a:t>
            </a:r>
            <a:endParaRPr lang="ar-SA"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D5-L12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D5-L12 · Review and Unit Assessment: Hobbies, Sport and Leisure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أَعْزِفُ عَلَى العُودِ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play the oud</a:t>
            </a:r>
            <a:endParaRPr lang="en-US" sz="1350" dirty="0"/>
          </a:p>
          <a:p>
            <a:pPr indent="0" marL="0">
              <a:buNone/>
            </a:pPr>
            <a:r>
              <a:rPr lang="en-US" sz="1100" i="1" dirty="0">
                <a:solidFill>
                  <a:srgbClr val="5A6472"/>
                </a:solidFill>
                <a:latin typeface="Calibri" pitchFamily="34" charset="0"/>
                <a:cs typeface="Amiri" pitchFamily="2" charset="-78"/>
              </a:rPr>
              <a:t>aʿ-zi-fu ʿa-lā al-ʿū-di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فَازَ عَلَى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beat (a team)</a:t>
            </a:r>
            <a:endParaRPr lang="en-US" sz="1350" dirty="0"/>
          </a:p>
          <a:p>
            <a:pPr indent="0" marL="0">
              <a:buNone/>
            </a:pPr>
            <a:r>
              <a:rPr lang="en-US" sz="1100" i="1" dirty="0">
                <a:solidFill>
                  <a:srgbClr val="5A6472"/>
                </a:solidFill>
                <a:latin typeface="Calibri" pitchFamily="34" charset="0"/>
                <a:cs typeface="Amiri" pitchFamily="2" charset="-78"/>
              </a:rPr>
              <a:t>fā-za ʿa-lā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ذَهَبْتُ · ذَهَبَتْ</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went · she went</a:t>
            </a:r>
            <a:endParaRPr lang="en-US" sz="1350" dirty="0"/>
          </a:p>
          <a:p>
            <a:pPr indent="0" marL="0">
              <a:buNone/>
            </a:pPr>
            <a:r>
              <a:rPr lang="en-US" sz="1100" i="1" dirty="0">
                <a:solidFill>
                  <a:srgbClr val="5A6472"/>
                </a:solidFill>
                <a:latin typeface="Calibri" pitchFamily="34" charset="0"/>
                <a:cs typeface="Amiri" pitchFamily="2" charset="-78"/>
              </a:rPr>
              <a:t>dha-hab-tu · dha-ha-bat</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زُرْنَا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visited</a:t>
            </a:r>
            <a:endParaRPr lang="en-US" sz="1350" dirty="0"/>
          </a:p>
          <a:p>
            <a:pPr indent="0" marL="0">
              <a:buNone/>
            </a:pPr>
            <a:r>
              <a:rPr lang="en-US" sz="1100" i="1" dirty="0">
                <a:solidFill>
                  <a:srgbClr val="5A6472"/>
                </a:solidFill>
                <a:latin typeface="Calibri" pitchFamily="34" charset="0"/>
                <a:cs typeface="Amiri" pitchFamily="2" charset="-78"/>
              </a:rPr>
              <a:t>zur-nā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كُنْتُ أَلْعَبُ</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used to play</a:t>
            </a:r>
            <a:endParaRPr lang="en-US" sz="1350" dirty="0"/>
          </a:p>
          <a:p>
            <a:pPr indent="0" marL="0">
              <a:buNone/>
            </a:pPr>
            <a:r>
              <a:rPr lang="en-US" sz="1100" i="1" dirty="0">
                <a:solidFill>
                  <a:srgbClr val="5A6472"/>
                </a:solidFill>
                <a:latin typeface="Calibri" pitchFamily="34" charset="0"/>
                <a:cs typeface="Amiri" pitchFamily="2" charset="-78"/>
              </a:rPr>
              <a:t>kun-tu al-ʿa-bu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Regular or irregular past?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مَشَيْنَا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شَرِبْنَا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رَكَضُوا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نِمْنَا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قَالُوا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ذَهَبَتْ</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Regular past stems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Irregular past stems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Regular past stems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شَرِبْنَا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رَكَضُوا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Irregular past stems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مَشَيْنَا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نِمْنَا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قَالُوا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best day — one polished answer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جَوَابٌ مُتْقَنٌ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best day of your life.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صِفْ أَفْضَلَ يَوْمٍ فِي حَيَاتِكَ.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 day was Eid day at my grandfather’s house; the weather was sunny and lovely.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 ذٰلِكَ اليَوْمُ يَوْمَ العِيدِ فِي بَيْتِ جَدِّي؛ كَانَ الجَوُّ مُشْمِسًا وَجَمِيلًا.</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(all) do?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فَعَلْتُمْ؟</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visited relatives, we walked to the park, and the children played football.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زُرْنَا الأَقَارِبَ، وَمَشَيْنَا إِلَى الحَدِيقَةِ، وَلَعِبَ الأَطْفَالُ كُرَةَ القَدَمِ.</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was it the best day?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لِمَاذَا كَانَ أَفْضَلَ يَوْمٍ؟</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the whole family was together; for example, my grandfather told funny stories. I still remember his laugh.</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لِأَنَّ العَائِلَةَ كُلَّهَا كَانَتْ مَعًا؛ عَلَى سَبِيلِ المِثَالِ، قَالَ جَدِّي قِصَصًا مُضْحِكَةً. مَا زِلْتُ أَتَذَكَّرُ ضَحِكَهُ.</a:t>
            </a:r>
            <a:endParaRPr lang="ar-SA" sz="14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 لِأَنَّ … · عَلَى سَبِيلِ المِثَالِ …</a:t>
            </a:r>
            <a:endParaRPr lang="ar-SA" sz="135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العُطْلَةِ المَاضِيَةِ زُرْتُ / سَافَرْتُ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last holiday?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فِي العُطْلَةِ المَاضِيَةِ؟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مَرَّتَيْنِ فِي الأُسْبُوعِ</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أَلْعَبُ … / أَعْزِفُ عَلَى … / أَسْتَمِعُ إِلَى …</a:t>
            </a:r>
            <a:endParaRPr lang="ar-SA" sz="15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in your free time?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وَقْتِ فَرَاغِكَ؟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بَدَأْتُ … عِنْدَمَا كُنْتُ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 start your favourite sport?</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بَدَأْتَ رِيَاضَتَكَ المُفَضَّلَةَ؟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56648" y="4110228"/>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أُعْجَبُ بِ… لِأَنَّهُ / لِأَنَّهَا فَازَ / فَازَتْ بِ…</a:t>
            </a:r>
            <a:endParaRPr lang="ar-SA" sz="145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athlete do you admire? What did they do?</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الرِّيَاضِيُّ الَّذِي تُعْجَبُ بِهِ؟ مَاذَا فَعَلَ؟</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وَرَأَيْنَا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ذَهَبْنَا إِلَى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all go on the last school trip?</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ذَهَبْتُمْ فِي آخِرِ رِحْلَةٍ مَدْرَسِيَّةٍ؟</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مَا زِلْتُ أَتَذَكَّرُ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كُنْتُ فِي … وَكَانَ … وَفَجْأَةً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a lovely memory.</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احْكِ عَنْ ذِكْرَى جَمِيلَةٍ.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D5-L11, even numbers from D5-L12.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Speaking card — the exam conversation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مُحَادَثَةُ الامْتِحَانِ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أَعْزِفُ عَلَى … · أُمَارِسُ … مَرَّتَيْنِ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hobbies with the right verbs and frequency.</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وَقْتِ فَرَاغِكَ؟ وَكَمْ مَرَّةً؟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كُنْتُ … ، وَلٰكِنْ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 + a reason you stopped.</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الهِوَايَةُ الَّتِي كُنْتَ تُمَارِسُهَا فِي الطُّفُولَةِ؟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 they actions, two irregular.</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فَعَلْتُمْ فِي آخِرِ رِحْلَةٍ مَدْرَسِيَّةٍ؟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 past question in the past + an example.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بَدَأْتَ رِيَاضَتَكَ المُفَضَّلَةَ؟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Switch to the future; buy time if needed.</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سَتَذْهَبُ فِي الإِجَازَةِ القَادِمَةِ؟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Partner A = the examiner.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best day of my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يَوْمٍ فِي حَيَاتِي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Answer the exam question for one minute: «‏</a:t>
            </a:r>
            <a:pPr algn="l" indent="0" marL="0">
              <a:buNone/>
            </a:pPr>
            <a:r>
              <a:rPr lang="ar-SA" altLang="en-US" sz="1750" dirty="0">
                <a:solidFill>
                  <a:srgbClr val="1F2A37"/>
                </a:solidFill>
                <a:latin typeface="Amiri" pitchFamily="2" charset="-78"/>
                <a:ea typeface="Amiri" pitchFamily="2" charset="-78"/>
                <a:cs typeface="Amiri" pitchFamily="2" charset="-78"/>
              </a:rPr>
              <a:t>صِفْ أَفْضَلَ يَوْمٍ فِي حَيَاتِكَ</a:t>
            </a:r>
            <a:pPr algn="l" indent="0" marL="0">
              <a:buNone/>
            </a:pPr>
            <a:r>
              <a:rPr lang="en-US" sz="1350" dirty="0">
                <a:solidFill>
                  <a:srgbClr val="1F2A37"/>
                </a:solidFill>
                <a:latin typeface="Calibri" pitchFamily="34" charset="0"/>
                <a:cs typeface="Amiri" pitchFamily="2" charset="-78"/>
              </a:rPr>
              <a:t>‏». Include the scene (‏</a:t>
            </a:r>
            <a:pPr algn="l" indent="0" marL="0">
              <a:buNone/>
            </a:pPr>
            <a:r>
              <a:rPr lang="ar-SA" altLang="en-US" sz="1750" dirty="0">
                <a:solidFill>
                  <a:srgbClr val="1F2A37"/>
                </a:solidFill>
                <a:latin typeface="Amiri" pitchFamily="2" charset="-78"/>
                <a:ea typeface="Amiri" pitchFamily="2" charset="-78"/>
                <a:cs typeface="Amiri" pitchFamily="2" charset="-78"/>
              </a:rPr>
              <a:t>كَانَ</a:t>
            </a:r>
            <a:pPr algn="l" indent="0" marL="0">
              <a:buNone/>
            </a:pPr>
            <a:r>
              <a:rPr lang="en-US" sz="1350" dirty="0">
                <a:solidFill>
                  <a:srgbClr val="1F2A37"/>
                </a:solidFill>
                <a:latin typeface="Calibri" pitchFamily="34" charset="0"/>
                <a:cs typeface="Amiri" pitchFamily="2" charset="-78"/>
              </a:rPr>
              <a:t>‏ + -an), five past verbs (two irregular), a “we” action and a “they” action, a reason and an example, and a reflection. Your partner listens for every stem.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كَانَ ذٰلِكَ اليَوْمُ … · ذَهَبْتُ … · لَعِبْنَا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irregular stems (‏</a:t>
            </a:r>
            <a:pPr algn="l" indent="0" marL="0">
              <a:buNone/>
            </a:pPr>
            <a:r>
              <a:rPr lang="ar-SA" altLang="en-US" sz="1500" dirty="0">
                <a:solidFill>
                  <a:srgbClr val="1F2A37"/>
                </a:solidFill>
                <a:latin typeface="Amiri" pitchFamily="2" charset="-78"/>
                <a:ea typeface="Amiri" pitchFamily="2" charset="-78"/>
                <a:cs typeface="Amiri" pitchFamily="2" charset="-78"/>
              </a:rPr>
              <a:t>زُرْنَا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مَشَيْنَا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قَالُوا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لِأَنَّ … عَلَى سَبِيلِ المِثَالِ</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كُنَّا</a:t>
            </a:r>
            <a:pPr algn="l" indent="0" marL="0">
              <a:buNone/>
            </a:pPr>
            <a:r>
              <a:rPr lang="en-US" sz="1150" dirty="0">
                <a:solidFill>
                  <a:srgbClr val="1F2A37"/>
                </a:solidFill>
                <a:latin typeface="Calibri" pitchFamily="34" charset="0"/>
                <a:cs typeface="Amiri" pitchFamily="2" charset="-78"/>
              </a:rPr>
              <a:t>‏ + present, ‏</a:t>
            </a:r>
            <a:pPr algn="l" indent="0" marL="0">
              <a:buNone/>
            </a:pPr>
            <a:r>
              <a:rPr lang="ar-SA" altLang="en-US" sz="1500" dirty="0">
                <a:solidFill>
                  <a:srgbClr val="1F2A37"/>
                </a:solidFill>
                <a:latin typeface="Amiri" pitchFamily="2" charset="-78"/>
                <a:ea typeface="Amiri" pitchFamily="2" charset="-78"/>
                <a:cs typeface="Amiri" pitchFamily="2" charset="-78"/>
              </a:rPr>
              <a:t>فَجْأَةً</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مَا زِلْتُ أَتَذَكَّرُ</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slept early because I was tired.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نِمْتُ</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نَامْتُ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مُبَكِّرٌ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لِأَنَّنِي كُنْتُ مُتْعَبًا.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لِأَنَّنِي كُنْتُ مُتْعَبٌ.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listens to music and plays the piano.</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تَسْتَمِعُ أُخْتِي إِلَى المُوسِيقَى</a:t>
            </a:r>
            <a:endParaRPr lang="ar-SA" sz="17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يَسْتَمِعُ أُخْتِي المُوسِيقَى</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وَتَعْزِفُ</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وَتَلْعَبُ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البِيَانُو.</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البِيَانُو.</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walked to the stadium.</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مَشَيْنَا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مَشَانَا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المَلْعَبِ.</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المَلْعَبُ.</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slept early because I was tired.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نَامَ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نِمْتُ</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كُنْتُ</a:t>
            </a:r>
            <a:pPr algn="l" indent="0" marL="0">
              <a:buNone/>
            </a:pPr>
            <a:r>
              <a:rPr lang="en-US" sz="1050" i="1" dirty="0">
                <a:solidFill>
                  <a:srgbClr val="5A6472"/>
                </a:solidFill>
                <a:latin typeface="Calibri" pitchFamily="34" charset="0"/>
                <a:cs typeface="Amiri" pitchFamily="2" charset="-78"/>
              </a:rPr>
              <a:t> + -an.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نِمْتُ مُبَكِّرًا لِأَنَّنِي كُنْتُ مُتْعَبًا.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listens to music and plays the piano.</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ta-; </a:t>
            </a:r>
            <a:pPr algn="l" indent="0" marL="0">
              <a:buNone/>
            </a:pPr>
            <a:r>
              <a:rPr lang="ar-SA" altLang="en-US" sz="1350" dirty="0">
                <a:solidFill>
                  <a:srgbClr val="5A6472"/>
                </a:solidFill>
                <a:latin typeface="Amiri" pitchFamily="2" charset="-78"/>
                <a:ea typeface="Amiri" pitchFamily="2" charset="-78"/>
                <a:cs typeface="Amiri" pitchFamily="2" charset="-78"/>
              </a:rPr>
              <a:t>يَسْتَمِعُ إِلَى</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يَعْزِفُ عَلَى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تَسْتَمِعُ أُخْتِي إِلَى المُوسِيقَى وَتَعْزِفُ عَلَى البِيَانُو.</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walked to the stadium.</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مَشَى</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مَشَيْنَا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مَشَيْنَا إِلَى المَلْعَبِ.</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بَدَأْتَ؟ — أَبْدَأُ فِي السَّابِعَةِ.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question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لَعِبَ التِّنِسَ وَفَازَ عَلَى الكَأْسِ.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زَارْتُ عَمِّي أَمْسِ.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Fix the stem first.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بَدَأْتَ؟ — أَبْدَأُ فِي السَّابِعَةِ.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بَدَأْتُ فِي السَّابِعَةِ.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a past question in the past.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لَعِبَ التِّنِسَ وَفَازَ عَلَى الكَأْسِ.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لَعِبَتِ التِّنِسَ وَفَازَتْ بِالكَأْسِ.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-at; win a title = ‏</a:t>
            </a:r>
            <a:pPr algn="l" indent="0" marL="0">
              <a:buNone/>
            </a:pPr>
            <a:r>
              <a:rPr lang="ar-SA" altLang="en-US" sz="1500" b="1" dirty="0">
                <a:solidFill>
                  <a:srgbClr val="1B3B6F"/>
                </a:solidFill>
                <a:latin typeface="Amiri" pitchFamily="2" charset="-78"/>
                <a:ea typeface="Amiri" pitchFamily="2" charset="-78"/>
                <a:cs typeface="Amiri" pitchFamily="2" charset="-78"/>
              </a:rPr>
              <a:t>فَازَ 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زَارْتُ عَمِّي أَمْسِ.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زُرْتُ عَمِّي أَمْسِ.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زَارَ → زُرْتُ.</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 قَالُوا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they said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زِلْتُ أَتَذَكَّرُ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still remember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وَقْتِ فَرَاغِي ______ ______ فِي الأُسْبُوعِ.</a:t>
            </a:r>
            <a:endParaRPr lang="ar-SA" sz="17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 my free time I … (how often) a week.</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الطُّفُولَةِ كُنْتُ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As a child I used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الصَّيْفَ المَاضِيَ زُرْنَا ______ ، وَ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Last summer we visited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كَانَ الجَوُّ ______ ، وَكَانَتِ الرِّحْلَةُ ______ .</a:t>
            </a:r>
            <a:endParaRPr lang="ar-SA" sz="17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The weather was …, and the trip was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الإِجَازَةِ القَادِمَةِ سَأُسَافِرُ إِلَى ______ .</a:t>
            </a:r>
            <a:endParaRPr lang="ar-SA" sz="175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Next holiday I will travel to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أَعْزِفُ عَلَى · أَسْتَمِعُ إِلَى  ·  كُنْتُ أَجْمَعُ · كُنْتُ أَلْعَبُ  ·  سَافَرْنَا · زُرْنَا  ·  مَشَيْنَا · نِمْنَا · قَالُوا  ·  كَانَ + مُشْمِسًا  ·  عَلَى سَبِيلِ المِثَالِ  ·  مَا زِلْتُ أَتَذَكَّرُ  ·  سَأُسَافِرُ · أَنْوِي أَنْ</a:t>
            </a:r>
            <a:endParaRPr lang="ar-SA" sz="14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Exam-style email: my free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وَقْتُ فَرَاغِي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an email (about 60–80 words) to an Arabic-speaking friend. Answer ALL four bullets: • your hobbies now and how often • a hobby you used to do as a child • a memorable trip or event (what you and others did) • your plans for next holiday. Check every past stem before you finish.</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D5-L11 AND D5-L12.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أَلْعَبُ … · أَعْزِفُ عَلَى … · مَرَّتَيْنِ فِي الأُسْبُوعِ</a:t>
            </a:r>
            <a:endParaRPr lang="ar-SA" sz="16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play … · I play (an instrument) · twice a week</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الطُّفُولَةِ كُنْتُ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a child I used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سَافَرْنَا … · زُرْنَا … · كَانَ الطَّقْسُ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travelled … · we visited … · the weather was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سَأُسَافِرُ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holiday I will travel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past questions in the past with correct stems?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plural endings, irregular stems and ‏</a:t>
            </a:r>
            <a:pPr algn="l" indent="0" marL="0">
              <a:buNone/>
            </a:pPr>
            <a:r>
              <a:rPr lang="ar-SA" altLang="en-US" sz="1450" dirty="0">
                <a:solidFill>
                  <a:srgbClr val="5A6472"/>
                </a:solidFill>
                <a:latin typeface="Amiri" pitchFamily="2" charset="-78"/>
                <a:ea typeface="Amiri" pitchFamily="2" charset="-78"/>
                <a:cs typeface="Amiri" pitchFamily="2" charset="-78"/>
              </a:rPr>
              <a:t>كُنْتُ</a:t>
            </a:r>
            <a:pPr algn="l" indent="0" marL="0">
              <a:buNone/>
            </a:pPr>
            <a:r>
              <a:rPr lang="en-US" sz="1100" dirty="0">
                <a:solidFill>
                  <a:srgbClr val="5A6472"/>
                </a:solidFill>
                <a:latin typeface="Calibri" pitchFamily="34" charset="0"/>
                <a:cs typeface="Amiri" pitchFamily="2" charset="-78"/>
              </a:rPr>
              <a:t>‏ + present accurately?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أَعْزِفُ عَلَى الجِيتَارِ كُلَّ يَوْمٍ، وَأُمَارِسُ الكَارَاتِيهْ مَرَّتَيْنِ فِي الأُسْبُوعِ.</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play the guitar every day, and I do karate twice a week.</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فِي وَقْتِ فَرَاغِكَ؟ وَكَمْ مَرَّةً؟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أَجْمَعُ الطَّوَابِعَ، وَلٰكِنِّي تَوَقَّفْتُ لِأَنِّي أَصْبَحْتُ مَشْغُولًا.</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used to collect stamps, but I stopped because I became busy.</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الهِوَايَةُ الَّتِي كُنْتَ تُمَارِسُهَا فِي الطُّفُولَةِ؟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زُرْنَا مَتْحَفَ العُلُومِ، وَمَشَيْنَا فِي الحَدِيقَةِ، وَقَالَ المُعَلِّمُونَ إِنَّنَا كُنَّا رَائِعِينَ.</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visited the science museum, walked in the park, and the teachers said we were great.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فَعَلْتُمْ فِي آخِرِ رِحْلَةٍ مَدْرَسِيَّةٍ؟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بَدَأْتُ عِنْدَمَا كَانَ عُمْرِي ثَمَانِيَ سَنَوَاتٍ؛ عَلَى سَبِيلِ المِثَالِ، اشْتَرَكْتُ فِي نَادِي الحَيِّ.</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started when I was eight; for example, I joined the local club.</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بَدَأْتَ رِيَاضَتَكَ المُفَضَّلَةَ؟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دَعْنِي أُفَكِّرُ… فِي الحَقِيقَةِ، سَأُسَافِرُ إِلَى المَغْرِبِ لِأَنَّ خَالِي يَسْكُنُ هُنَاكَ.</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Let me think… actually, I will travel to Morocco because my uncle lives there.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سَتَذْهَبُ فِي الإِجَازَةِ القَادِمَةِ؟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يَا كَرِيمُ! فِي وَقْتِ فَرَاغِي أَعْزِفُ عَلَى الجِيتَارِ كُلَّ يَوْمٍ، وَأُمَارِسُ الكَارَاتِيهْ مَرَّتَيْنِ فِي الأُسْبُوعِ. فِي الطُّفُولَةِ كُنْتُ أَجْمَعُ الطَّوَابِعَ مَعَ جَدِّي. الصَّيْفَ المَاضِيَ زُرْنَا اسْكُتْلَنْدَا؛ مَشَيْنَا فِي الجِبَالِ، وَنِمْنَا فِي خَيْمَةٍ، وَقَالَ أَبِي إِنَّهَا أَجْمَلُ رِحْلَةٍ. كَانَ الجَوُّ بَارِدًا، وَلٰكِنَّ الطَّبِيعَةَ كَانَتْ رَائِعَةً. مَا زِلْتُ أَتَذَكَّرُ البُحَيْرَةَ الزَّرْقَاءَ. فِي الإِجَازَةِ القَادِمَةِ سَأُسَافِرُ إِلَى المَغْرِبِ، لِأَنَّ خَالِي يَسْكُنُ هُنَاكَ.</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Karim! In my free time I play the guitar every day, and I do karate twice a week. As a child I used to collect stamps with my grandfather. Last summer we visited Scotland; we walked in the mountains, slept in a tent, and my father said it was the best trip. The weather was cold, but the nature was amazing. I still remember the blue lake. Next holiday I will travel to Morocco, because my uncle lives there.”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أَجْمَعُ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مَشَيْنَا فِي الجِبَالِ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وَنِمْنَا فِي خَيْمَةٍ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سَأُسَافِرُ إِلَى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D5-W06 · Apply workshop (D5-L11 + D5-L12)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D5-L11 and D5-L12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D5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D5-W06 · Apply Workshop — The Best Day of My Life</dc:title>
  <dc:subject>PptxGenJS Presentation</dc:subject>
  <dc:creator>Al Madina Online School · Arabic Department</dc:creator>
  <cp:lastModifiedBy>Al Madina Online School · Arabic Department</cp:lastModifiedBy>
  <cp:revision>1</cp:revision>
  <dcterms:created xsi:type="dcterms:W3CDTF">2026-10-26T15:42:34Z</dcterms:created>
  <dcterms:modified xsi:type="dcterms:W3CDTF">2026-10-26T15:42:34Z</dcterms:modified>
</cp:coreProperties>
</file>