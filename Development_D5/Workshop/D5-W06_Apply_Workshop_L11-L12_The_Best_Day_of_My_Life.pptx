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D5-L11 · Learn D5-L12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one minute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D5-L11 (D5 Consolidation — Past Tense Mastery and Speaking Preparation) and D5-L12 (Review and Unit Assessment: Hobbies, Sport and Leisure).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D5-L11 and D5-L12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D5-L11? After D5-L12?” Take two answers in the chat for each lesson (one word or one sentence is enough). Then read objective 3 — today’s new situation that needs BOTH lessons. Students tick their route goals at the end of the lesson.
D5-L11 language: answer a past question in the past (kayfa badaʾta? — badaʾtu …); fix the stem before the suffix (zāra → zurtu · mashā → mashaytu · nāma → nimtu); extend every answer with a reason and an example; buy time or repair in Arabic (daʿnī ufakkiru · ʿafwan, aqṣidu … · fī al-ḥaqīqa …)
D5-L12 language: D5 review: hobby verbs + prepositions (yaʿzifu ʿalā · yastamiʿu ilā); results (fāza bi- / ʿalā); past singular and plural endings (-tu · -ta · -ti · -a · -at · -nā · -tum · -ū); irregular stems (zurtu · mashaynā · nimnā · qālū); kāna + -an and kuntu + present; arts verbs (yuʿabbiru ʿan · yuʾaththiru fī); travel past →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D5-L11.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D5-L12.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D5-L11 and D5-L12. Teacher reads it once with a confident student; then pairs. Ask: “Which lines are from D5-L11? Which from D5-L12?” Fixing the stem before the ending (زُرْنَا · مَشَيْنَا · قَالَ) and extending each answer with a reason and an example come from D5-L11; the scene with كَانَ + -an and the reflection revise D5-L05, as in the D5-L12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past questions answered in the past with correct stems, reasons and examples (D5-L11), across every D5 topic (D5-L12). FADED SUPPORT: tasks 1–2 show the plan; students write their own plan for 3–5. To a girl Partner A says: مَاذَا تَفْعَلِينَ؟ · كَيْفَ بَدَأْتِ؟ · أَيْنَ سَتَذْهَبِينَ؟.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D5-L11 and D5-L12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D5-L11 and D5-L12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(50–60 words). Develop: 80–100 words, frames only if stuck. Stretch: no frames, add reasons and another time frame.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(60 words). CHECK YOURSELF (2 min). Find each bullet point in the model, and one phrase from D5-L11 and one from D5-L12.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8  ·  DEVELOPMENT D5  ·  D5-L11 + D5-L12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D5-W06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The Best Day of My Life</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أَفْضَلُ يَوْمٍ فِي حَيَاتِي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150" dirty="0">
                <a:solidFill>
                  <a:srgbClr val="C6D2E6"/>
                </a:solidFill>
                <a:latin typeface="Calibri" pitchFamily="34" charset="0"/>
                <a:cs typeface="Amiri" pitchFamily="2" charset="-78"/>
              </a:rPr>
              <a:t>Students use all of D5 for one real purpose: they tell and write about the best day of their life — the scene with </a:t>
            </a:r>
            <a:pPr algn="l" indent="0" marL="0">
              <a:buNone/>
            </a:pPr>
            <a:r>
              <a:rPr lang="ar-SA" altLang="en-US" sz="1500" dirty="0">
                <a:solidFill>
                  <a:srgbClr val="C6D2E6"/>
                </a:solidFill>
                <a:latin typeface="Amiri" pitchFamily="2" charset="-78"/>
                <a:ea typeface="Amiri" pitchFamily="2" charset="-78"/>
                <a:cs typeface="Amiri" pitchFamily="2" charset="-78"/>
              </a:rPr>
              <a:t>كَانَ</a:t>
            </a:r>
            <a:pPr algn="l" indent="0" marL="0">
              <a:buNone/>
            </a:pPr>
            <a:r>
              <a:rPr lang="en-US" sz="1150" dirty="0">
                <a:solidFill>
                  <a:srgbClr val="C6D2E6"/>
                </a:solidFill>
                <a:latin typeface="Calibri" pitchFamily="34" charset="0"/>
                <a:cs typeface="Amiri" pitchFamily="2" charset="-78"/>
              </a:rPr>
              <a:t>, regular and irregular past verbs for I · we · they, a reason and an example, a reflection — and then answer the exam-style email about hobbies now, a childhood hobby, a memorable event and future plans.</a:t>
            </a:r>
            <a:endParaRPr lang="en-US" sz="11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D5-L11 + D5-L12</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Development · end of unit D5</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Development › D5 › D5-L12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D5-L11 and D5-L12.</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D5-L11 + D5-L12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D5-L11: D5 Consolidation — Past Tense Mastery and Speaking Preparation</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D5-L12: Review and Unit Assessment: Hobbies, Sport and Leisure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Speaking card — the exam conversation · Exam-style email: my free time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one minute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Use more than one tense; give and justify opinions.</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D5-L11 and D5-L12.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D5-L11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D5-L11 · D5 Consolidation — Past Tense Mastery and Speaking Preparation</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الحَدِيثُ بِالفِعْلِ المَاضِي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speaking in the past tense</a:t>
            </a:r>
            <a:endParaRPr lang="en-US" sz="1350" dirty="0"/>
          </a:p>
          <a:p>
            <a:pPr indent="0" marL="0">
              <a:buNone/>
            </a:pPr>
            <a:r>
              <a:rPr lang="en-US" sz="1100" i="1" dirty="0">
                <a:solidFill>
                  <a:srgbClr val="5A6472"/>
                </a:solidFill>
                <a:latin typeface="Calibri" pitchFamily="34" charset="0"/>
                <a:cs typeface="Amiri" pitchFamily="2" charset="-78"/>
              </a:rPr>
              <a:t>al-ḥa-dī-thu bil-fiʿ-li al-mā-ḍī</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الطَّلَاقَةُ</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fluency</a:t>
            </a:r>
            <a:endParaRPr lang="en-US" sz="1350" dirty="0"/>
          </a:p>
          <a:p>
            <a:pPr indent="0" marL="0">
              <a:buNone/>
            </a:pPr>
            <a:r>
              <a:rPr lang="en-US" sz="1100" i="1" dirty="0">
                <a:solidFill>
                  <a:srgbClr val="5A6472"/>
                </a:solidFill>
                <a:latin typeface="Calibri" pitchFamily="34" charset="0"/>
                <a:cs typeface="Amiri" pitchFamily="2" charset="-78"/>
              </a:rPr>
              <a:t>aṭ-ṭa-lā-qa-tu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عَلَى سَبِيلِ المِثَالِ</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for example</a:t>
            </a:r>
            <a:endParaRPr lang="en-US" sz="1350" dirty="0"/>
          </a:p>
          <a:p>
            <a:pPr indent="0" marL="0">
              <a:buNone/>
            </a:pPr>
            <a:r>
              <a:rPr lang="en-US" sz="1100" i="1" dirty="0">
                <a:solidFill>
                  <a:srgbClr val="5A6472"/>
                </a:solidFill>
                <a:latin typeface="Calibri" pitchFamily="34" charset="0"/>
                <a:cs typeface="Amiri" pitchFamily="2" charset="-78"/>
              </a:rPr>
              <a:t>ʿa-lā sa-bī-li al-mi-thā-li</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1269187"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 repair phrase.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عَفْوًا، أَقْصِدُ</a:t>
            </a:r>
            <a:endParaRPr lang="ar-SA" sz="3000" dirty="0"/>
          </a:p>
        </p:txBody>
      </p:sp>
      <p:sp>
        <p:nvSpPr>
          <p:cNvPr id="44" name="Text 4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sorry, I mean</a:t>
            </a:r>
            <a:endParaRPr lang="en-US" sz="1350" dirty="0"/>
          </a:p>
          <a:p>
            <a:pPr indent="0" marL="0">
              <a:buNone/>
            </a:pPr>
            <a:r>
              <a:rPr lang="en-US" sz="1100" i="1" dirty="0">
                <a:solidFill>
                  <a:srgbClr val="5A6472"/>
                </a:solidFill>
                <a:latin typeface="Calibri" pitchFamily="34" charset="0"/>
                <a:cs typeface="Amiri" pitchFamily="2" charset="-78"/>
              </a:rPr>
              <a:t>ʿaf-wan, aq-ṣi-du</a:t>
            </a:r>
            <a:endParaRPr lang="en-US" sz="1350" dirty="0"/>
          </a:p>
        </p:txBody>
      </p:sp>
      <p:sp>
        <p:nvSpPr>
          <p:cNvPr id="45" name="Shape 4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4389120"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48" name="Shape 45"/>
          <p:cNvSpPr/>
          <p:nvPr/>
        </p:nvSpPr>
        <p:spPr>
          <a:xfrm>
            <a:off x="4782312" y="4279392"/>
            <a:ext cx="1455725"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4782312"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Buys thinking time.</a:t>
            </a:r>
            <a:endParaRPr lang="en-US" sz="8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سُؤَالٌ جَيِّدٌ</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good question</a:t>
            </a:r>
            <a:endParaRPr lang="en-US" sz="1350" dirty="0"/>
          </a:p>
          <a:p>
            <a:pPr indent="0" marL="0">
              <a:buNone/>
            </a:pPr>
            <a:r>
              <a:rPr lang="en-US" sz="1100" i="1" dirty="0">
                <a:solidFill>
                  <a:srgbClr val="5A6472"/>
                </a:solidFill>
                <a:latin typeface="Calibri" pitchFamily="34" charset="0"/>
                <a:cs typeface="Amiri" pitchFamily="2" charset="-78"/>
              </a:rPr>
              <a:t>su-ʾā-lun jay-yi-dun</a:t>
            </a:r>
            <a:endParaRPr lang="en-US" sz="1350" dirty="0"/>
          </a:p>
        </p:txBody>
      </p:sp>
      <p:sp>
        <p:nvSpPr>
          <p:cNvPr id="54" name="Shape 51"/>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66928"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7" name="Shape 54"/>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9" name="Shape 56"/>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2900" b="1" dirty="0">
                <a:solidFill>
                  <a:srgbClr val="1B3B6F"/>
                </a:solidFill>
                <a:latin typeface="Amiri" pitchFamily="2" charset="-78"/>
                <a:ea typeface="Amiri" pitchFamily="2" charset="-78"/>
                <a:cs typeface="Amiri" pitchFamily="2" charset="-78"/>
              </a:rPr>
              <a:t>هَلْ يُمْكِنُ أَنْ تُعِيدَ السُّؤَالَ؟</a:t>
            </a:r>
            <a:endParaRPr lang="ar-SA" sz="2900" dirty="0"/>
          </a:p>
        </p:txBody>
      </p:sp>
      <p:sp>
        <p:nvSpPr>
          <p:cNvPr id="62" name="Text 5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could you repeat the question?</a:t>
            </a:r>
            <a:endParaRPr lang="en-US" sz="1350" dirty="0"/>
          </a:p>
          <a:p>
            <a:pPr indent="0" marL="0">
              <a:buNone/>
            </a:pPr>
            <a:r>
              <a:rPr lang="en-US" sz="1100" i="1" dirty="0">
                <a:solidFill>
                  <a:srgbClr val="5A6472"/>
                </a:solidFill>
                <a:latin typeface="Calibri" pitchFamily="34" charset="0"/>
                <a:cs typeface="Amiri" pitchFamily="2" charset="-78"/>
              </a:rPr>
              <a:t>hal yum-ki-nu an tu-ʿī-da as-su-ʾā-la?</a:t>
            </a:r>
            <a:endParaRPr lang="en-US" sz="1350" dirty="0"/>
          </a:p>
        </p:txBody>
      </p:sp>
      <p:sp>
        <p:nvSpPr>
          <p:cNvPr id="63" name="Shape 60"/>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to a woman</a:t>
            </a:r>
            <a:endParaRPr lang="en-US" sz="700" dirty="0"/>
          </a:p>
        </p:txBody>
      </p:sp>
      <p:sp>
        <p:nvSpPr>
          <p:cNvPr id="65" name="Text 62"/>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هَلْ يُمْكِنُ أَنْ تُعِيدِي السُّؤَالَ؟</a:t>
            </a:r>
            <a:endParaRPr lang="ar-SA" sz="135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D5-L12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D5-L12 · Review and Unit Assessment: Hobbies, Sport and Leisure</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أَعْزِفُ عَلَى العُودِ</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play the oud</a:t>
            </a:r>
            <a:endParaRPr lang="en-US" sz="1350" dirty="0"/>
          </a:p>
          <a:p>
            <a:pPr indent="0" marL="0">
              <a:buNone/>
            </a:pPr>
            <a:r>
              <a:rPr lang="en-US" sz="1100" i="1" dirty="0">
                <a:solidFill>
                  <a:srgbClr val="5A6472"/>
                </a:solidFill>
                <a:latin typeface="Calibri" pitchFamily="34" charset="0"/>
                <a:cs typeface="Amiri" pitchFamily="2" charset="-78"/>
              </a:rPr>
              <a:t>aʿ-zi-fu ʿa-lā al-ʿū-di</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فَازَ عَلَى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beat (a team)</a:t>
            </a:r>
            <a:endParaRPr lang="en-US" sz="1350" dirty="0"/>
          </a:p>
          <a:p>
            <a:pPr indent="0" marL="0">
              <a:buNone/>
            </a:pPr>
            <a:r>
              <a:rPr lang="en-US" sz="1100" i="1" dirty="0">
                <a:solidFill>
                  <a:srgbClr val="5A6472"/>
                </a:solidFill>
                <a:latin typeface="Calibri" pitchFamily="34" charset="0"/>
                <a:cs typeface="Amiri" pitchFamily="2" charset="-78"/>
              </a:rPr>
              <a:t>fā-za ʿa-lā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ذَهَبْتُ · ذَهَبَتْ</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went · she went</a:t>
            </a:r>
            <a:endParaRPr lang="en-US" sz="1350" dirty="0"/>
          </a:p>
          <a:p>
            <a:pPr indent="0" marL="0">
              <a:buNone/>
            </a:pPr>
            <a:r>
              <a:rPr lang="en-US" sz="1100" i="1" dirty="0">
                <a:solidFill>
                  <a:srgbClr val="5A6472"/>
                </a:solidFill>
                <a:latin typeface="Calibri" pitchFamily="34" charset="0"/>
                <a:cs typeface="Amiri" pitchFamily="2" charset="-78"/>
              </a:rPr>
              <a:t>dha-hab-tu · dha-ha-bat</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زُرْنَا</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we visited</a:t>
            </a:r>
            <a:endParaRPr lang="en-US" sz="1350" dirty="0"/>
          </a:p>
          <a:p>
            <a:pPr indent="0" marL="0">
              <a:buNone/>
            </a:pPr>
            <a:r>
              <a:rPr lang="en-US" sz="1100" i="1" dirty="0">
                <a:solidFill>
                  <a:srgbClr val="5A6472"/>
                </a:solidFill>
                <a:latin typeface="Calibri" pitchFamily="34" charset="0"/>
                <a:cs typeface="Amiri" pitchFamily="2" charset="-78"/>
              </a:rPr>
              <a:t>zur-nā</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كُنْتُ أَلْعَبُ</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used to play</a:t>
            </a:r>
            <a:endParaRPr lang="en-US" sz="1350" dirty="0"/>
          </a:p>
          <a:p>
            <a:pPr indent="0" marL="0">
              <a:buNone/>
            </a:pPr>
            <a:r>
              <a:rPr lang="en-US" sz="1100" i="1" dirty="0">
                <a:solidFill>
                  <a:srgbClr val="5A6472"/>
                </a:solidFill>
                <a:latin typeface="Calibri" pitchFamily="34" charset="0"/>
                <a:cs typeface="Amiri" pitchFamily="2" charset="-78"/>
              </a:rPr>
              <a:t>kun-tu al-ʿa-bu</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يُعَبِّرُ عَنْ</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expresses</a:t>
            </a:r>
            <a:endParaRPr lang="en-US" sz="1350" dirty="0"/>
          </a:p>
          <a:p>
            <a:pPr indent="0" marL="0">
              <a:buNone/>
            </a:pPr>
            <a:r>
              <a:rPr lang="en-US" sz="1100" i="1" dirty="0">
                <a:solidFill>
                  <a:srgbClr val="5A6472"/>
                </a:solidFill>
                <a:latin typeface="Calibri" pitchFamily="34" charset="0"/>
                <a:cs typeface="Amiri" pitchFamily="2" charset="-78"/>
              </a:rPr>
              <a:t>yu-ʿab-bi-ru ʿan</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2 · SORT IT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Regular or irregular past?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لَعِبْتُ</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مَشَيْنَا</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شَرِبْنَا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رَكَضُوا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نِمْنَا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قَالُوا</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Regular past stems</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Irregular past stems</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 البِطَاقَاتِ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Regular past stems</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لَعِبْتُ</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شَرِبْنَا</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رَكَضُوا</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ذَهَبَتْ</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Irregular past stems</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زُرْتُ</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مَشَيْنَا</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نِمْنَا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قَالُوا</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cs typeface="Amiri" pitchFamily="2" charset="-78"/>
              </a:rPr>
              <a:t>The best day — one polished answer</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جَوَابٌ مُتْقَنٌ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Describe the best day of your life.</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صِفْ أَفْضَلَ يَوْمٍ فِي حَيَاتِكَ.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That day was Eid day at my grandfather’s house; the weather was sunny and lovely.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كَانَ ذٰلِكَ اليَوْمُ يَوْمَ العِيدِ فِي بَيْتِ جَدِّي؛ كَانَ الجَوُّ مُشْمِسًا وَجَمِيلًا.</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 (all) do?</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مَاذَا فَعَلْتُمْ؟</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visited relatives, we walked to the park, and the children played football.</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زُرْنَا الأَقَارِبَ، وَمَشَيْنَا إِلَى الحَدِيقَةِ، وَلَعِبَ الأَطْفَالُ كُرَةَ القَدَمِ.</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Why was it the best day?</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لِمَاذَا كَانَ أَفْضَلَ يَوْمٍ؟</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Because the whole family was together; for example, my grandfather told funny stories. I still remember his laugh.</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لِأَنَّ العَائِلَةَ كُلَّهَا كَانَتْ مَعًا؛ عَلَى سَبِيلِ المِثَالِ، قَالَ جَدِّي قِصَصًا مُضْحِكَةً. مَا زِلْتُ أَتَذَكَّرُ ضَحِكَهُ.</a:t>
            </a:r>
            <a:endParaRPr lang="ar-SA" sz="145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 لِأَنَّ … · عَلَى سَبِيلِ المِثَالِ …</a:t>
            </a:r>
            <a:endParaRPr lang="ar-SA" sz="135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العُطْلَةِ المَاضِيَةِ زُرْتُ / سَافَرْتُ …</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did you do last holiday?</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فَعَلْتَ فِي العُطْلَةِ المَاضِيَةِ؟</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مَرَّتَيْنِ فِي الأُسْبُوعِ</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أَلْعَبُ … / أَعْزِفُ عَلَى … / أَسْتَمِعُ إِلَى …</a:t>
            </a:r>
            <a:endParaRPr lang="ar-SA" sz="15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do in your free time?</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فِي وَقْتِ فَرَاغِكَ؟</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ثُمَّ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بَدَأْتُ … عِنْدَمَا كُنْتُ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did you start your favourite sport?</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بَدَأْتَ رِيَاضَتَكَ المُفَضَّلَةَ؟</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56648" y="4110228"/>
            <a:ext cx="190195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450" b="1" dirty="0">
                <a:solidFill>
                  <a:srgbClr val="1B3B6F"/>
                </a:solidFill>
                <a:latin typeface="Amiri" pitchFamily="2" charset="-78"/>
                <a:ea typeface="Amiri" pitchFamily="2" charset="-78"/>
                <a:cs typeface="Amiri" pitchFamily="2" charset="-78"/>
              </a:rPr>
              <a:t>أُعْجَبُ بِ… لِأَنَّهُ / لِأَنَّهَا فَازَ / فَازَتْ بِ…</a:t>
            </a:r>
            <a:endParaRPr lang="ar-SA" sz="145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athlete do you admire? What did they do?</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الرِّيَاضِيُّ الَّذِي تُعْجَبُ بِهِ؟ مَاذَا فَعَلَ؟</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وَرَأَيْنَا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ذَهَبْنَا إِلَى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did you all go on the last school trip?</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ذَهَبْتُمْ فِي آخِرِ رِحْلَةٍ مَدْرَسِيَّةٍ؟</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مَا زِلْتُ أَتَذَكَّرُ …</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كُنْتُ فِي … وَكَانَ … وَفَجْأَةً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Tell a lovely memory.</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احْكِ عَنْ ذِكْرَى جَمِيلَةٍ.</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D5-L11, even numbers from D5-L12.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1E6B52"/>
                </a:solidFill>
                <a:latin typeface="Calibri" pitchFamily="34" charset="0"/>
                <a:cs typeface="Amiri" pitchFamily="2" charset="-78"/>
              </a:rPr>
              <a:t>STEP 5 · ROLE-PLAY CARD · PLANS FOR TASKS 1–2 ARE GIVEN — PLAN 3–5 YOURSELF</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Speaking card — the exam conversation</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مُحَادَثَةُ الامْتِحَانِ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 أَعْزِفُ عَلَى … · أُمَارِسُ … مَرَّتَيْنِ …</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hobbies with the right verbs and frequency.</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تَفْعَلُ فِي وَقْتِ فَرَاغِكَ؟ وَكَمْ مَرَّةً؟</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 كُنْتُ … ، وَلٰكِنْ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Used to + a reason you stopped.</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الهِوَايَةُ الَّتِي كُنْتَ تُمَارِسُهَا فِي الطُّفُولَةِ؟</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93608" y="3741725"/>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 they actions, two irregular.</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فَعَلْتُمْ فِي آخِرِ رِحْلَةٍ مَدْرَسِيَّةٍ؟</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293608" y="4478731"/>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1" name="Text 38"/>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a past question in the past + an example.</a:t>
            </a:r>
            <a:endParaRPr lang="en-US" sz="1100" dirty="0"/>
          </a:p>
        </p:txBody>
      </p:sp>
      <p:sp>
        <p:nvSpPr>
          <p:cNvPr id="42" name="Text 39"/>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بَدَأْتَ رِيَاضَتَكَ المُفَضَّلَةَ؟</a:t>
            </a:r>
            <a:endParaRPr lang="ar-SA" sz="1700" dirty="0"/>
          </a:p>
        </p:txBody>
      </p:sp>
      <p:sp>
        <p:nvSpPr>
          <p:cNvPr id="43" name="Text 40"/>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293608" y="5215738"/>
            <a:ext cx="33649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______________</a:t>
            </a:r>
            <a:endParaRPr lang="en-US" sz="1100" dirty="0"/>
          </a:p>
        </p:txBody>
      </p:sp>
      <p:sp>
        <p:nvSpPr>
          <p:cNvPr id="46" name="Text 43"/>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Switch to the future; buy time if needed.</a:t>
            </a:r>
            <a:endParaRPr lang="en-US" sz="1100" dirty="0"/>
          </a:p>
        </p:txBody>
      </p:sp>
      <p:sp>
        <p:nvSpPr>
          <p:cNvPr id="47" name="Text 44"/>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سَتَذْهَبُ فِي الإِجَازَةِ القَادِمَةِ؟</a:t>
            </a:r>
            <a:endParaRPr lang="ar-SA" sz="1700" dirty="0"/>
          </a:p>
        </p:txBody>
      </p:sp>
      <p:sp>
        <p:nvSpPr>
          <p:cNvPr id="48" name="Text 45"/>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Speaker = the candidate · Partner A = the examiner. Write the plan for tasks 3–5 in your book first. Task ! is a surprise — Partner A reads it without warning. Then swap roles.</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ONE MINUTE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best day of my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أَفْضَلُ يَوْمٍ فِي حَيَاتِي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one minute — use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Answer the exam question for one minute: «‏</a:t>
            </a:r>
            <a:pPr algn="l" indent="0" marL="0">
              <a:buNone/>
            </a:pPr>
            <a:r>
              <a:rPr lang="ar-SA" altLang="en-US" sz="1750" dirty="0">
                <a:solidFill>
                  <a:srgbClr val="1F2A37"/>
                </a:solidFill>
                <a:latin typeface="Amiri" pitchFamily="2" charset="-78"/>
                <a:ea typeface="Amiri" pitchFamily="2" charset="-78"/>
                <a:cs typeface="Amiri" pitchFamily="2" charset="-78"/>
              </a:rPr>
              <a:t>صِفْ أَفْضَلَ يَوْمٍ فِي حَيَاتِكَ</a:t>
            </a:r>
            <a:pPr algn="l" indent="0" marL="0">
              <a:buNone/>
            </a:pPr>
            <a:r>
              <a:rPr lang="en-US" sz="1350" dirty="0">
                <a:solidFill>
                  <a:srgbClr val="1F2A37"/>
                </a:solidFill>
                <a:latin typeface="Calibri" pitchFamily="34" charset="0"/>
                <a:cs typeface="Amiri" pitchFamily="2" charset="-78"/>
              </a:rPr>
              <a:t>‏». Include the scene (‏</a:t>
            </a:r>
            <a:pPr algn="l" indent="0" marL="0">
              <a:buNone/>
            </a:pPr>
            <a:r>
              <a:rPr lang="ar-SA" altLang="en-US" sz="1750" dirty="0">
                <a:solidFill>
                  <a:srgbClr val="1F2A37"/>
                </a:solidFill>
                <a:latin typeface="Amiri" pitchFamily="2" charset="-78"/>
                <a:ea typeface="Amiri" pitchFamily="2" charset="-78"/>
                <a:cs typeface="Amiri" pitchFamily="2" charset="-78"/>
              </a:rPr>
              <a:t>كَانَ</a:t>
            </a:r>
            <a:pPr algn="l" indent="0" marL="0">
              <a:buNone/>
            </a:pPr>
            <a:r>
              <a:rPr lang="en-US" sz="1350" dirty="0">
                <a:solidFill>
                  <a:srgbClr val="1F2A37"/>
                </a:solidFill>
                <a:latin typeface="Calibri" pitchFamily="34" charset="0"/>
                <a:cs typeface="Amiri" pitchFamily="2" charset="-78"/>
              </a:rPr>
              <a:t>‏ + -an), five past verbs (two irregular), a “we” action and a “they” action, a reason and an example, and a reflection. Your partner listens for every stem.</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كَانَ ذٰلِكَ اليَوْمُ … · ذَهَبْتُ … · لَعِبْنَا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two irregular stems (‏</a:t>
            </a:r>
            <a:pPr algn="l" indent="0" marL="0">
              <a:buNone/>
            </a:pPr>
            <a:r>
              <a:rPr lang="ar-SA" altLang="en-US" sz="1500" dirty="0">
                <a:solidFill>
                  <a:srgbClr val="1F2A37"/>
                </a:solidFill>
                <a:latin typeface="Amiri" pitchFamily="2" charset="-78"/>
                <a:ea typeface="Amiri" pitchFamily="2" charset="-78"/>
                <a:cs typeface="Amiri" pitchFamily="2" charset="-78"/>
              </a:rPr>
              <a:t>زُرْنَا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مَشَيْنَا</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قَالُوا</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لِأَنَّ … عَلَى سَبِيلِ المِثَالِ</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كُنَّا</a:t>
            </a:r>
            <a:pPr algn="l" indent="0" marL="0">
              <a:buNone/>
            </a:pPr>
            <a:r>
              <a:rPr lang="en-US" sz="1150" dirty="0">
                <a:solidFill>
                  <a:srgbClr val="1F2A37"/>
                </a:solidFill>
                <a:latin typeface="Calibri" pitchFamily="34" charset="0"/>
                <a:cs typeface="Amiri" pitchFamily="2" charset="-78"/>
              </a:rPr>
              <a:t>‏ + present, ‏</a:t>
            </a:r>
            <a:pPr algn="l" indent="0" marL="0">
              <a:buNone/>
            </a:pPr>
            <a:r>
              <a:rPr lang="ar-SA" altLang="en-US" sz="1500" dirty="0">
                <a:solidFill>
                  <a:srgbClr val="1F2A37"/>
                </a:solidFill>
                <a:latin typeface="Amiri" pitchFamily="2" charset="-78"/>
                <a:ea typeface="Amiri" pitchFamily="2" charset="-78"/>
                <a:cs typeface="Amiri" pitchFamily="2" charset="-78"/>
              </a:rPr>
              <a:t>فَجْأَةً</a:t>
            </a:r>
            <a:pPr algn="l" indent="0" marL="0">
              <a:buNone/>
            </a:pPr>
            <a:r>
              <a:rPr lang="en-US" sz="1150" dirty="0">
                <a:solidFill>
                  <a:srgbClr val="1F2A37"/>
                </a:solidFill>
                <a:latin typeface="Calibri" pitchFamily="34" charset="0"/>
                <a:cs typeface="Amiri" pitchFamily="2" charset="-78"/>
              </a:rPr>
              <a:t>‏ and ‏</a:t>
            </a:r>
            <a:pPr algn="l" indent="0" marL="0">
              <a:buNone/>
            </a:pPr>
            <a:r>
              <a:rPr lang="ar-SA" altLang="en-US" sz="1500" dirty="0">
                <a:solidFill>
                  <a:srgbClr val="1F2A37"/>
                </a:solidFill>
                <a:latin typeface="Amiri" pitchFamily="2" charset="-78"/>
                <a:ea typeface="Amiri" pitchFamily="2" charset="-78"/>
                <a:cs typeface="Amiri" pitchFamily="2" charset="-78"/>
              </a:rPr>
              <a:t>مَا زِلْتُ أَتَذَكَّرُ</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أَوَّلًا … ثُمَّ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first … then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لِأَنَّ … · لِذٰلِكَ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because … · so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رَأْيِي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in my opinion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فِي الخِتَامِ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to finish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slept early because I was tired.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نِمْتُ</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نَامْتُ</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مُبَكِّرًا</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مُبَكِّرٌ</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لِأَنَّنِي كُنْتُ مُتْعَبًا.</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لِأَنَّنِي كُنْتُ مُتْعَبٌ.</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My sister listens to music and plays the piano.</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700" dirty="0">
                <a:solidFill>
                  <a:srgbClr val="1F2A37"/>
                </a:solidFill>
                <a:latin typeface="Amiri" pitchFamily="2" charset="-78"/>
                <a:ea typeface="Amiri" pitchFamily="2" charset="-78"/>
                <a:cs typeface="Amiri" pitchFamily="2" charset="-78"/>
              </a:rPr>
              <a:t>تَسْتَمِعُ أُخْتِي إِلَى المُوسِيقَى</a:t>
            </a:r>
            <a:endParaRPr lang="ar-SA" sz="17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يَسْتَمِعُ أُخْتِي المُوسِيقَى</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وَتَعْزِفُ</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وَتَلْعَبُ</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عَلَى البِيَانُو.</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البِيَانُو.</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walked to the stadium.</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مَشَيْنَا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مَشَانَا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إِلَى</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المَلْعَبِ.</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المَلْعَبُ.</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slept early because I was tired.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نَامَ</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نِمْتُ</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كُنْتُ</a:t>
            </a:r>
            <a:pPr algn="l" indent="0" marL="0">
              <a:buNone/>
            </a:pPr>
            <a:r>
              <a:rPr lang="en-US" sz="1050" i="1" dirty="0">
                <a:solidFill>
                  <a:srgbClr val="5A6472"/>
                </a:solidFill>
                <a:latin typeface="Calibri" pitchFamily="34" charset="0"/>
                <a:cs typeface="Amiri" pitchFamily="2" charset="-78"/>
              </a:rPr>
              <a:t> + -an.</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نِمْتُ مُبَكِّرًا لِأَنَّنِي كُنْتُ مُتْعَبًا.</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My sister listens to music and plays the piano.</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She → ta-; </a:t>
            </a:r>
            <a:pPr algn="l" indent="0" marL="0">
              <a:buNone/>
            </a:pPr>
            <a:r>
              <a:rPr lang="ar-SA" altLang="en-US" sz="1350" dirty="0">
                <a:solidFill>
                  <a:srgbClr val="5A6472"/>
                </a:solidFill>
                <a:latin typeface="Amiri" pitchFamily="2" charset="-78"/>
                <a:ea typeface="Amiri" pitchFamily="2" charset="-78"/>
                <a:cs typeface="Amiri" pitchFamily="2" charset="-78"/>
              </a:rPr>
              <a:t>يَسْتَمِعُ إِلَى</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يَعْزِفُ عَلَى</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تَسْتَمِعُ أُخْتِي إِلَى المُوسِيقَى وَتَعْزِفُ عَلَى البِيَانُو.</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walked to the stadium.</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مَشَى</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مَشَيْنَا</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مَشَيْنَا إِلَى المَلْعَبِ.</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كَيْفَ بَدَأْتَ؟ — أَبْدَأُ فِي السَّابِعَةِ.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Past question → ?</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لَعِبَ التِّنِسَ وَفَازَ عَلَى الكَأْسِ.</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Two errors.</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زَارْتُ عَمِّي أَمْسِ.</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Fix the stem first.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كَيْفَ بَدَأْتَ؟ — أَبْدَأُ فِي السَّابِعَةِ.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بَدَأْتُ فِي السَّابِعَةِ.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Answer a past question in the past.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لَعِبَ التِّنِسَ وَفَازَ عَلَى الكَأْسِ.</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لَعِبَتِ التِّنِسَ وَفَازَتْ بِالكَأْسِ.</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She → -at; win a title = ‏</a:t>
            </a:r>
            <a:pPr algn="l" indent="0" marL="0">
              <a:buNone/>
            </a:pPr>
            <a:r>
              <a:rPr lang="ar-SA" altLang="en-US" sz="1500" b="1" dirty="0">
                <a:solidFill>
                  <a:srgbClr val="1B3B6F"/>
                </a:solidFill>
                <a:latin typeface="Amiri" pitchFamily="2" charset="-78"/>
                <a:ea typeface="Amiri" pitchFamily="2" charset="-78"/>
                <a:cs typeface="Amiri" pitchFamily="2" charset="-78"/>
              </a:rPr>
              <a:t>فَازَ بِ</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زَارْتُ عَمِّي أَمْسِ.</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زُرْتُ عَمِّي أَمْسِ.</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rtl="1" algn="r" indent="0" marL="0">
              <a:buNone/>
            </a:pPr>
            <a:r>
              <a:rPr lang="ar-SA" altLang="en-US" sz="1450" dirty="0">
                <a:solidFill>
                  <a:srgbClr val="1B3B6F"/>
                </a:solidFill>
                <a:latin typeface="Amiri" pitchFamily="2" charset="-78"/>
                <a:ea typeface="Amiri" pitchFamily="2" charset="-78"/>
                <a:cs typeface="Amiri" pitchFamily="2" charset="-78"/>
              </a:rPr>
              <a:t>زَارَ → زُرْتُ.</a:t>
            </a:r>
            <a:endParaRPr lang="ar-SA" sz="14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قَالَ / قَالُوا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He / they said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زِلْتُ أَتَذَكَّرُ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still remember …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فِي وَقْتِ فَرَاغِي ______ ______ فِي الأُسْبُوعِ.</a:t>
            </a:r>
            <a:endParaRPr lang="ar-SA" sz="175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In my free time I … (how often) a week.</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الطُّفُولَةِ كُنْتُ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As a child I used to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الصَّيْفَ المَاضِيَ زُرْنَا ______ ، وَ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Last summer we visited …, and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كَانَ الجَوُّ ______ ، وَكَانَتِ الرِّحْلَةُ ______ .</a:t>
            </a:r>
            <a:endParaRPr lang="ar-SA" sz="17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The weather was …, and the trip was …</a:t>
            </a:r>
            <a:endParaRPr lang="en-US" sz="1050" dirty="0"/>
          </a:p>
        </p:txBody>
      </p:sp>
      <p:sp>
        <p:nvSpPr>
          <p:cNvPr id="33" name="Text 30"/>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750" b="1" dirty="0">
                <a:solidFill>
                  <a:srgbClr val="1B3B6F"/>
                </a:solidFill>
                <a:latin typeface="Amiri" pitchFamily="2" charset="-78"/>
                <a:ea typeface="Amiri" pitchFamily="2" charset="-78"/>
                <a:cs typeface="Amiri" pitchFamily="2" charset="-78"/>
              </a:rPr>
              <a:t>فِي الإِجَازَةِ القَادِمَةِ سَأُسَافِرُ إِلَى ______ .</a:t>
            </a:r>
            <a:endParaRPr lang="ar-SA" sz="1750" dirty="0"/>
          </a:p>
        </p:txBody>
      </p:sp>
      <p:sp>
        <p:nvSpPr>
          <p:cNvPr id="34" name="Text 31"/>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Next holiday I will travel to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أَعْزِفُ عَلَى · أَسْتَمِعُ إِلَى  ·  كُنْتُ أَجْمَعُ · كُنْتُ أَلْعَبُ  ·  سَافَرْنَا · زُرْنَا  ·  مَشَيْنَا · نِمْنَا · قَالُوا  ·  كَانَ + مُشْمِسًا  ·  عَلَى سَبِيلِ المِثَالِ  ·  مَا زِلْتُ أَتَذَكَّرُ  ·  سَأُسَافِرُ · أَنْوِي أَنْ</a:t>
            </a:r>
            <a:endParaRPr lang="ar-SA" sz="14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60–80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Exam-style email: my free time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وَقْتُ فَرَاغِي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2061972"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2061972"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DIRECTED TASK</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Write an email (about 60–80 words) to an Arabic-speaking friend. Answer ALL four bullets: • your hobbies now and how often • a hobby you used to do as a child • a memorable trip or event (what you and others did) • your plans for next holiday. Check every past stem before you finish.</a:t>
            </a:r>
            <a:endParaRPr lang="en-US" sz="11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All the bullet points, in order.</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D5-L11 AND D5-L12.</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Linking words: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ثُمَّ</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لٰكِنَّ</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opinion with a reason.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أَلْعَبُ … · أَعْزِفُ عَلَى … · مَرَّتَيْنِ فِي الأُسْبُوعِ</a:t>
            </a:r>
            <a:endParaRPr lang="ar-SA" sz="16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play … · I play (an instrument) · twice a week</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الطُّفُولَةِ كُنْتُ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as a child I used to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سَافَرْنَا … · زُرْنَا … · كَانَ الطَّقْسُ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travelled … · we visited … · the weather was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الإِجَازَةِ القَادِمَةِ سَأُسَافِرُ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next holiday I will travel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past questions in the past with correct stems?</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plural endings, irregular stems and ‏</a:t>
            </a:r>
            <a:pPr algn="l" indent="0" marL="0">
              <a:buNone/>
            </a:pPr>
            <a:r>
              <a:rPr lang="ar-SA" altLang="en-US" sz="1450" dirty="0">
                <a:solidFill>
                  <a:srgbClr val="5A6472"/>
                </a:solidFill>
                <a:latin typeface="Amiri" pitchFamily="2" charset="-78"/>
                <a:ea typeface="Amiri" pitchFamily="2" charset="-78"/>
                <a:cs typeface="Amiri" pitchFamily="2" charset="-78"/>
              </a:rPr>
              <a:t>كُنْتُ</a:t>
            </a:r>
            <a:pPr algn="l" indent="0" marL="0">
              <a:buNone/>
            </a:pPr>
            <a:r>
              <a:rPr lang="en-US" sz="1100" dirty="0">
                <a:solidFill>
                  <a:srgbClr val="5A6472"/>
                </a:solidFill>
                <a:latin typeface="Calibri" pitchFamily="34" charset="0"/>
                <a:cs typeface="Amiri" pitchFamily="2" charset="-78"/>
              </a:rPr>
              <a:t>‏ + present accurately?</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more than one tense and give an opinion with a reason?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أَعْزِفُ عَلَى الجِيتَارِ كُلَّ يَوْمٍ، وَأُمَارِسُ الكَارَاتِيهْ مَرَّتَيْنِ فِي الأُسْبُوعِ.</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play the guitar every day, and I do karate twice a week.</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تَفْعَلُ فِي وَقْتِ فَرَاغِكَ؟ وَكَمْ مَرَّةً؟</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كُنْتُ أَجْمَعُ الطَّوَابِعَ، وَلٰكِنِّي تَوَقَّفْتُ لِأَنِّي أَصْبَحْتُ مَشْغُولًا.</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used to collect stamps, but I stopped because I became busy.</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 الهِوَايَةُ الَّتِي كُنْتَ تُمَارِسُهَا فِي الطُّفُولَةِ؟</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زُرْنَا مَتْحَفَ العُلُومِ، وَمَشَيْنَا فِي الحَدِيقَةِ، وَقَالَ المُعَلِّمُونَ إِنَّنَا كُنَّا رَائِعِينَ.</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We visited the science museum, walked in the park, and the teachers said we were great.</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مَاذَا فَعَلْتُمْ فِي آخِرِ رِحْلَةٍ مَدْرَسِيَّةٍ؟</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بَدَأْتُ عِنْدَمَا كَانَ عُمْرِي ثَمَانِيَ سَنَوَاتٍ؛ عَلَى سَبِيلِ المِثَالِ، اشْتَرَكْتُ فِي نَادِي الحَيِّ.</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started when I was eight; for example, I joined the local club.</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بَدَأْتَ رِيَاضَتَكَ المُفَضَّلَةَ؟</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دَعْنِي أُفَكِّرُ… فِي الحَقِيقَةِ، سَأُسَافِرُ إِلَى المَغْرِبِ لِأَنَّ خَالِي يَسْكُنُ هُنَاكَ.</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Let me think… actually, I will travel to Morocco because my uncle lives there.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أَيْنَ سَتَذْهَبُ فِي الإِجَازَةِ القَادِمَةِ؟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أَهْلًا يَا كَرِيمُ! فِي وَقْتِ فَرَاغِي أَعْزِفُ عَلَى الجِيتَارِ كُلَّ يَوْمٍ، وَأُمَارِسُ الكَارَاتِيهْ مَرَّتَيْنِ فِي الأُسْبُوعِ. فِي الطُّفُولَةِ كُنْتُ أَجْمَعُ الطَّوَابِعَ مَعَ جَدِّي. الصَّيْفَ المَاضِيَ زُرْنَا اسْكُتْلَنْدَا؛ مَشَيْنَا فِي الجِبَالِ، وَنِمْنَا فِي خَيْمَةٍ، وَقَالَ أَبِي إِنَّهَا أَجْمَلُ رِحْلَةٍ. كَانَ الجَوُّ بَارِدًا، وَلٰكِنَّ الطَّبِيعَةَ كَانَتْ رَائِعَةً. مَا زِلْتُ أَتَذَكَّرُ البُحَيْرَةَ الزَّرْقَاءَ. فِي الإِجَازَةِ القَادِمَةِ سَأُسَافِرُ إِلَى المَغْرِبِ، لِأَنَّ خَالِي يَسْكُنُ هُنَاكَ.</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“Hello, Karim! In my free time I play the guitar every day, and I do karate twice a week. As a child I used to collect stamps with my grandfather. Last summer we visited Scotland; we walked in the mountains, slept in a tent, and my father said it was the best trip. The weather was cold, but the nature was amazing. I still remember the blue lake. Next holiday I will travel to Morocco, because my uncle lives there.”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كُنْتُ أَجْمَعُ</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مَشَيْنَا فِي الجِبَالِ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وَنِمْنَا فِي خَيْمَةٍ</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سَأُسَافِرُ إِلَى</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D5-W06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Development D5 · Hobbies, Sport and Leisure · D5-W06 · Apply workshop (D5-L11 + D5-L12)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D5-L11 and D5-L12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more than one tense and gave opinions with reasons.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D5-W06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150" b="1" dirty="0">
                <a:solidFill>
                  <a:srgbClr val="FFFFFF"/>
                </a:solidFill>
                <a:latin typeface="Cambria" pitchFamily="34" charset="0"/>
                <a:cs typeface="Amiri" pitchFamily="2" charset="-78"/>
              </a:rPr>
              <a:t>D5 complete · Well done — the unit is complete</a:t>
            </a:r>
            <a:endParaRPr lang="en-US" sz="21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أَحْسَنْتُمْ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unit’s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D5-W06 · Apply Workshop — The Best Day of My Life</dc:title>
  <dc:subject>PptxGenJS Presentation</dc:subject>
  <dc:creator>Al Madina Online School · Arabic Department</dc:creator>
  <cp:lastModifiedBy>Al Madina Online School · Arabic Department</cp:lastModifiedBy>
  <cp:revision>1</cp:revision>
  <dcterms:created xsi:type="dcterms:W3CDTF">2026-10-26T15:48:15Z</dcterms:created>
  <dcterms:modified xsi:type="dcterms:W3CDTF">2026-10-26T15:48:15Z</dcterms:modified>
</cp:coreProperties>
</file>