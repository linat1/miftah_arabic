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D5-L02. The website lesson “Sport — Vocabulary, Famous Athletes and Cultural Context”: vocabulary, grammar rules and quiz, patterns, common mistakes, sorter, listening, reading, speaking prompts and model, writing task and model, differentiation, final check and the lesson mission. Picture match: website visual game “Sport — Vocabulary, Famous Athletes and Cultural Context”.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sports + one result sentence (فَازَ فَرِيقُنَا) + one admiration sentence (يُعْجِبُنِي هٰذَا اللَّاعِبُ). Develop: فَازَ بِـ vs فَازَ عَلَى, a rule with يَجِبُ عَلَى … أَنْ, أُعْجَبُ بِـ + reason. Stretch: the website ~70-word athlete profile with both admiration structures and a contrast (لٰكِنَّهُ خَسِرَ … · وَمَعَ ذٰلِكَ).
• فَازَ · خَسِرَ · تَعَادَلَ are PAST verbs: learn them as chunks today; D5-L03 teaches the full past-tense system.
• Cultural context: invite students to name Arab / Muslim athletes they admire (football, squash, athletics, weightlifting) — any athlete works for the writing task.
• TEACHER-WRITTEN ITEMS: one quiz distractor replaced (it differed only in a vowel ending), one missing vowel added in the listening script and English added to the model sentences.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D5-L01. Questions 4–5 retrieve the D5-L01 collocation and preference structures.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You win a PRIZE with bi- and you beat a TEAM with ʿalā.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مشہور، متواضع are shared; بطل is known from Islamic texts. CAREFUL: Urdu مقابلہ = a match / contest, but in Arabic a match is مُبَارَاةٌ and مُقَابَلَةٌ is an interview. فَازَ is related to Urdu فائز (successful) and فوز (victory).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Sports (website vocabulary (1 of 3)). Hear → Say → See → Use. Transliteration is printed for Core students (cover it for Develop/Stretch).
Sports. Most take يَلْعَبُ (ball games) or يُمَارِسُ (activities) — D5-L01. Notice the iḍāfa: كُرَةُ القَدَمِ = “ball of the foot”.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Sports (website vocabulary (2 of 3)). Hear → Say → See → Use. Transliteration is printed for Core students (cover it for Develop/Stretch).
Sports. Most take يَلْعَبُ (ball games) or يُمَارِسُ (activities) — D5-L01. Notice the iḍāfa: كُرَةُ القَدَمِ = “ball of the foot”.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Sports (website vocabulary (3 of 3)). Hear → Say → See → Use. Transliteration is printed for Core students (cover it for Develop/Stretch).
Sports. Most take يَلْعَبُ (ball games) or يُمَارِسُ (activities) — D5-L01. Notice the iḍāfa: كُرَةُ القَدَمِ = “ball of the foot”.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Matches and results (website vocabulary (1 of 2)). Hear → Say → See → Use. Transliteration is printed for Core students (cover it for Develop/Stretch).
Matches and results. فَازَ / خَسِرَ / تَعَادَلَ are PAST verbs (he won / lost / drew); for “she”, add -at: فَازَتْ · خَسِرَتْ.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Matches and results (website vocabulary (2 of 2)). Hear → Say → See → Use. Transliteration is printed for Core students (cover it for Develop/Stretch).
Matches and results. فَازَ / خَسِرَ / تَعَادَلَ are PAST verbs (he won / lost / drew); for “she”, add -at: فَازَتْ · خَسِرَتْ.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Rules and admiration (website vocabulary (1 of 2)). Hear → Say → See → Use. Transliteration is printed for Core students (cover it for Develop/Stretch).
Rules and admiration. Cards show m. / f. / pl. for people and adjectives: لَاعِبٌ · لَاعِبَةٌ · لَاعِبُونَ.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Rules and admiration (website vocabulary (2 of 2)). Hear → Say → See → Use. Transliteration is printed for Core students (cover it for Develop/Stretch).
Rules and admiration. Cards show m. / f. / pl. for people and adjectives: لَاعِبٌ · لَاعِبَةٌ · لَاعِبُونَ.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“Reporting a win” (بِـ introduces what was won; عَلَى introduces who was beaten; both are followed by the genitive) and “Losing and drawing” (تَعَادَلَ is Form VI, a mutual action, so its subject is usually dual or plural). Website teaching point: “You are already reading past tense” — learn them as chunks now.
Website mistake: فَازَ عَلَى البُطُولَةِ ✗ → فَازَ بِالبُطُولَةِ.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“Stating a rule” (the person obliged follows عَلَى in the genitive; the action follows أَنْ in the subjunctive; مَمْنُوعٌ introduces a prohibition with a verbal noun) and “Expressing admiration” (with يُعْجِبُنِي the admired person is the grammatical SUBJECT — يُعْجِبُنِي هٰذَا اللَّاعِبُ; أُعْجَبُ is passive in form and fixed with بِـ).
Core: يُعْجِبُنِي + name is enough. Website mistake: يَجِبُ عَلَى اللَّاعِبُونَ أَنْ يَتَدَرَّبُونَ ✗ → اللَّاعِبِينَ … يَتَدَرَّبُوا.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structures carry this lesson: reporting a result, stating a rule, and saying why you admire someone. Each has a fixed preposition or a fixed verb form — check it before you choose.”
• Reporting a win: بِـ introduces what was won; عَلَى introduces who was beaten. Both are followed by the genitive.
• Losing and drawing: خَسِرَ takes a direct object or فِي with a match. تَعَادَلَ is Form VI, a mutual action, so its subject is usually dual or plural.
• Stating a rule: The person obliged follows عَلَى in the genitive; the action follows أَنْ in the subjunctive. مَمْنُوعٌ introduces a prohibition with a verbal noun.
• Expressing admiration: With يُعْجِبُنِي the admired person is the grammatical subject. أُعْجَبُ is a passive form and is fixed with بِـ.
Website common error: Do not choose an answer only because it contains the right sport. Check the preposition after فَازَ, the case after عَلَى, and whether the verb after أَنْ is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6,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with the website writing model: “Prize or opponent? bi- or ʿalā? Is the athlete he or she?” Then repeat the reason for a female athlete: أُعْجَبُ بِهَا لِأَنَّهَا مُتَوَاضِعَةٌ.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Sport — Vocabulary, Famous Athletes and Cultural Context”)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add a result (فَازَ فَرِيقِي …) or a frequency. Other website cards: tennis, cycling and swimming (the swimming card is printed أَمَارِسُ on the website — the correct form is أُمَارِسُ).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Sport — Vocabulary, Famous Athletes and Cultural Context”)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add a result (فَازَ فَرِيقِي …) or a frequency. Other website cards: tennis, cycling and swimming (the swimming card is printed أَمَارِسُ on the website — the correct form is أُمَارِسُ).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from each column about a sport you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from each column about a sport you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5,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(the three results). Develop / Stretch: all 5 — and the score (2–1).
Listen 1: just listen. Listen 2: note answers. Then chat the letters.
Support: after the second listening, show the read-along slide (Arabic + English, line by line) for Core students.
SCRIPT (read aloud):
فِي المُبَارَاةِ النِّهَائِيَّةِ أَمْسِ، فَازَ فَرِيقُنَا عَلَى الفَرِيقِ الضَّيْفِ بِهَدَفَيْنِ مُقَابِلَ هَدَفٍ وَاحِدٍ. وَفِي الأُسْبُوعِ المَاضِي خَسِرَ الفَرِيقُ مُبَارَاتَهُ، وَقَبْلَ ذٰلِكَ تَعَادَلَ الفَرِيقَانِ فِي النِّقَاطِ. أَمَّا أَنَا فَيُعْجِبُنِي لَاعِبُنَا الجَدِيدُ كَثِيرًا، وَأُعْجَبُ بِتَوَاضُعِهِ وَاجْتِهَادِهِ، لِأَنَّهُ يَتَدَرَّبُ يَوْمِيًّا رَغْمَ نَجَاحِهِ الكَبِيرِ. وَقَدْ فَازَ بِمِيدَالِيَةٍ ذَهَبِيَّةٍ فِي بُطُولَةٍ كَبِيرَةٍ.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فَازَ بِهِ؟ (Asking about the achievement)
B: فَازَ بِالمِيدَالِيَةِ الذَّهَبِيَّةِ، وَأُعْجَبُ بِتَوَاضُعِهِ لِأَنَّهُ يَتَدَرَّبُ يَوْمِيًّا. (Result plus admiration and reason)
Website prompts and model (four lines: question → name → achievement → result + admiration + reason). Website task: “my sporting hero”. To a girl: يُعْجِبُكِ · تُفَضِّلِينَ.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sentences: three naming sports with their verbs and two reporting a result. · Develop — Link the sentences into a profile that adds an admiration structure and a reason. · Stretch — Contrast individual and team sport using رَغْمَ or مَعَ ذٰلِكَ, keeping every case ending accurate.
Website writing task (Stretch): Write about seventy words on an athlete you admire: the sport played, a major achievement using فَازَ بِـ, two personality adjectives, and why you admire them using أُعْجَبُ بِـ … لِأَنَّهُ / لِأَنَّهَا.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يُعْجِبُنِي … · فَازَ بِالبُطُولَةِ · فَازَ فَرِيقُهُ عَلَى فِرَقٍ قَوِيَّةٍ · خَسِرَ المُبَارَاةَ · مُتَوَاضِعٌ وَمُجْتَهِدٌ · أُعْجَبُ بِهِ لِأَنَّهُ … · يَجِبُ عَلَى اللَّاعِبِينَ أَنْ يَتَدَرَّبُوا.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(D5-L03 · The Past Tense — Form I Regular Singular Verbs) will spend class time USING this language, so students prepare it tonight — short, simple, easy to access (school guidance: “Simple, Short, Interesting, Relevant, Easy to access”). The five words come from the website D5-L03 vocabulary (the past tense).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Sport — Vocabulary, Famous Athletes and Cultural Context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الرِّيَاضَةُ وَالرِّيَاضِيُّونَ المَشْهُورُونَ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sports, report results (</a:t>
            </a:r>
            <a:pPr algn="l" indent="0" marL="0">
              <a:buNone/>
            </a:pPr>
            <a:r>
              <a:rPr lang="ar-SA" altLang="en-US" sz="1800" dirty="0">
                <a:solidFill>
                  <a:srgbClr val="C6D2E6"/>
                </a:solidFill>
                <a:latin typeface="Amiri" pitchFamily="2" charset="-78"/>
                <a:cs typeface="Amiri" pitchFamily="2" charset="-78"/>
              </a:rPr>
              <a:t>فَازَ بِالبُطُولَةِ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فَازَ عَلَى الفَرِيقِ</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خَسِرَ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تَعَادَلَ</a:t>
            </a:r>
            <a:pPr algn="l" indent="0" marL="0">
              <a:buNone/>
            </a:pPr>
            <a:r>
              <a:rPr lang="en-US" sz="1400" dirty="0">
                <a:solidFill>
                  <a:srgbClr val="C6D2E6"/>
                </a:solidFill>
                <a:latin typeface="Calibri" pitchFamily="34" charset="0"/>
                <a:cs typeface="Amiri" pitchFamily="2" charset="-78"/>
              </a:rPr>
              <a:t>), state rules (</a:t>
            </a:r>
            <a:pPr algn="l" indent="0" marL="0">
              <a:buNone/>
            </a:pPr>
            <a:r>
              <a:rPr lang="ar-SA" altLang="en-US" sz="1800" dirty="0">
                <a:solidFill>
                  <a:srgbClr val="C6D2E6"/>
                </a:solidFill>
                <a:latin typeface="Amiri" pitchFamily="2" charset="-78"/>
                <a:cs typeface="Amiri" pitchFamily="2" charset="-78"/>
              </a:rPr>
              <a:t>يَجِبُ عَلَى … أَنْ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مَمْنُوعٌ</a:t>
            </a:r>
            <a:pPr algn="l" indent="0" marL="0">
              <a:buNone/>
            </a:pPr>
            <a:r>
              <a:rPr lang="en-US" sz="1400" dirty="0">
                <a:solidFill>
                  <a:srgbClr val="C6D2E6"/>
                </a:solidFill>
                <a:latin typeface="Calibri" pitchFamily="34" charset="0"/>
                <a:cs typeface="Amiri" pitchFamily="2" charset="-78"/>
              </a:rPr>
              <a:t>) and say why you admire an athlete (</a:t>
            </a:r>
            <a:pPr algn="l" indent="0" marL="0">
              <a:buNone/>
            </a:pPr>
            <a:r>
              <a:rPr lang="ar-SA" altLang="en-US" sz="1800" dirty="0">
                <a:solidFill>
                  <a:srgbClr val="C6D2E6"/>
                </a:solidFill>
                <a:latin typeface="Amiri" pitchFamily="2" charset="-78"/>
                <a:cs typeface="Amiri" pitchFamily="2" charset="-78"/>
              </a:rPr>
              <a:t>أُعْجَبُ بِـ … لِأَنَّهُ</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D5-L02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Results, rules and admiration — three fixed patterns.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structures, fix preposition slips, then a match report.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مُبَارَاةٌ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match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championship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فَازَ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won (a prize)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lost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drew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بُطُولَةٌ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player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goal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championship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كُرَةَ القَدَمِ مَرَّتَيْنِ فِي الأُسْبُوعِ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أَعْزِفُ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أَلْعَبُ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أُفَضِّلُ السِّبَاحَةَ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الجَرْيِ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مُبَارَاةٌ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match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championship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فَازَ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won (a prize)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lost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drew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بُطُولَةٌ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player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goal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championship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كُرَةَ القَدَمِ مَرَّتَيْنِ فِي الأُسْبُوعِ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أَعْزِفُ</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أَسْتَمِعُ</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أَلْعَبُ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D5-L01: collocation.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أُفَضِّلُ السِّبَاحَةَ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الجَرْيِ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D5-L01: preference.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You win a PRIZE with bi- and you beat a TEAM with ʿalā.</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فَازَ </a:t>
            </a:r>
            <a:pPr rtl="1" algn="ctr" indent="0" marL="0">
              <a:lnSpc>
                <a:spcPct val="120000"/>
              </a:lnSpc>
              <a:buNone/>
            </a:pPr>
            <a:r>
              <a:rPr lang="ar-SA" altLang="en-US" sz="1950" b="1" dirty="0">
                <a:solidFill>
                  <a:srgbClr val="1D5FBF"/>
                </a:solidFill>
                <a:latin typeface="Amiri" pitchFamily="2" charset="-78"/>
                <a:cs typeface="Amiri" pitchFamily="2" charset="-78"/>
              </a:rPr>
              <a:t>بِالبُطُولَةِ</a:t>
            </a:r>
            <a:pPr rtl="1" algn="ctr" indent="0" marL="0">
              <a:lnSpc>
                <a:spcPct val="120000"/>
              </a:lnSpc>
              <a:buNone/>
            </a:pPr>
            <a:r>
              <a:rPr lang="ar-SA" altLang="en-US" sz="1950" b="1" dirty="0">
                <a:solidFill>
                  <a:srgbClr val="1B3B6F"/>
                </a:solidFill>
                <a:latin typeface="Amiri" pitchFamily="2" charset="-78"/>
                <a:cs typeface="Amiri" pitchFamily="2" charset="-78"/>
              </a:rPr>
              <a:t> · فَازَ </a:t>
            </a:r>
            <a:pPr rtl="1" algn="ctr" indent="0" marL="0">
              <a:lnSpc>
                <a:spcPct val="120000"/>
              </a:lnSpc>
              <a:buNone/>
            </a:pPr>
            <a:r>
              <a:rPr lang="ar-SA" altLang="en-US" sz="1950" b="1" dirty="0">
                <a:solidFill>
                  <a:srgbClr val="0E7C86"/>
                </a:solidFill>
                <a:latin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cs typeface="Amiri" pitchFamily="2" charset="-78"/>
              </a:rPr>
              <a:t> الفَرِيقِ الضَّيْفِ</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fifteen sports and use each with its verb.</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Report a result with </a:t>
            </a:r>
            <a:pPr algn="l" indent="0" marL="0">
              <a:buNone/>
            </a:pPr>
            <a:r>
              <a:rPr lang="ar-SA" altLang="en-US" sz="1700" dirty="0">
                <a:solidFill>
                  <a:srgbClr val="1F2A37"/>
                </a:solidFill>
                <a:latin typeface="Amiri" pitchFamily="2" charset="-78"/>
                <a:cs typeface="Amiri" pitchFamily="2" charset="-78"/>
              </a:rPr>
              <a:t>فَازَ بِـ / فَازَ عَلَى / خَسِرَ / تَعَادَلَ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 rule with </a:t>
            </a:r>
            <a:pPr algn="l" indent="0" marL="0">
              <a:buNone/>
            </a:pPr>
            <a:r>
              <a:rPr lang="ar-SA" altLang="en-US" sz="1700" dirty="0">
                <a:solidFill>
                  <a:srgbClr val="1F2A37"/>
                </a:solidFill>
                <a:latin typeface="Amiri" pitchFamily="2" charset="-78"/>
                <a:cs typeface="Amiri" pitchFamily="2" charset="-78"/>
              </a:rPr>
              <a:t>يَجِبُ عَلَى … أَنْ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يُسْمَحُ بِـ</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مَمْنُوعٌ</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why you admire an athlete with </a:t>
            </a:r>
            <a:pPr algn="l" indent="0" marL="0">
              <a:buNone/>
            </a:pPr>
            <a:r>
              <a:rPr lang="ar-SA" altLang="en-US" sz="1700" dirty="0">
                <a:solidFill>
                  <a:srgbClr val="1F2A37"/>
                </a:solidFill>
                <a:latin typeface="Amiri" pitchFamily="2" charset="-78"/>
                <a:cs typeface="Amiri" pitchFamily="2" charset="-78"/>
              </a:rPr>
              <a:t>يُعْجِبُنِي / أُعْجَبُ بِـ</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لِأَنَّهُ / لِأَنَّهَا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sports.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 team won or lost.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cs typeface="Amiri" pitchFamily="2" charset="-78"/>
              </a:rPr>
              <a:t>فَازَ بِـ</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cs typeface="Amiri" pitchFamily="2" charset="-78"/>
              </a:rPr>
              <a:t>فَازَ عَلَى</a:t>
            </a:r>
            <a:pPr algn="l" indent="0" marL="0">
              <a:buNone/>
            </a:pPr>
            <a:r>
              <a:rPr lang="en-US" sz="1300" b="1" dirty="0">
                <a:solidFill>
                  <a:srgbClr val="C9780A"/>
                </a:solidFill>
                <a:latin typeface="Calibri" pitchFamily="34" charset="0"/>
                <a:cs typeface="Amiri" pitchFamily="2" charset="-78"/>
              </a:rPr>
              <a:t>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state a rule with </a:t>
            </a:r>
            <a:pPr algn="l" indent="0" marL="0">
              <a:buNone/>
            </a:pPr>
            <a:r>
              <a:rPr lang="ar-SA" altLang="en-US" sz="1700" b="1" dirty="0">
                <a:solidFill>
                  <a:srgbClr val="C9780A"/>
                </a:solidFill>
                <a:latin typeface="Amiri" pitchFamily="2" charset="-78"/>
                <a:cs typeface="Amiri" pitchFamily="2" charset="-78"/>
              </a:rPr>
              <a:t>يَجِبُ عَلَى … أَنْ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athlete profile with a reason.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contrast a win and a loss.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Sports · 15</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Matches and results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Rules and admiration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مُقَابَلَةٌ / مُبَارَاةٌ</a:t>
            </a:r>
            <a:endParaRPr lang="ar-SA" sz="185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match, contest · Arabic match = مُبَارَاةٌ</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كُشْتِي → مُصَارَعَةٌ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‎کشتی‎ </a:t>
            </a:r>
            <a:pPr indent="0" marL="0">
              <a:buNone/>
            </a:pPr>
            <a:r>
              <a:rPr lang="en-US" sz="950" b="1" dirty="0">
                <a:solidFill>
                  <a:srgbClr val="2E8B57"/>
                </a:solidFill>
                <a:latin typeface="Calibri" pitchFamily="34" charset="0"/>
                <a:cs typeface="Amiri" pitchFamily="2" charset="-78"/>
              </a:rPr>
              <a:t> kushtī · wrestling (Arabic: مُصَارَعَةٌ)</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بَطَلٌ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‎بطل‎ </a:t>
            </a:r>
            <a:pPr indent="0" marL="0">
              <a:buNone/>
            </a:pPr>
            <a:r>
              <a:rPr lang="en-US" sz="950" b="1" dirty="0">
                <a:solidFill>
                  <a:srgbClr val="2E8B57"/>
                </a:solidFill>
                <a:latin typeface="Calibri" pitchFamily="34" charset="0"/>
                <a:cs typeface="Amiri" pitchFamily="2" charset="-78"/>
              </a:rPr>
              <a:t> baṭal · champion, hero</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مَشْهُورٌ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‎مشہور‎ </a:t>
            </a:r>
            <a:pPr indent="0" marL="0">
              <a:buNone/>
            </a:pPr>
            <a:r>
              <a:rPr lang="en-US" sz="950" b="1" dirty="0">
                <a:solidFill>
                  <a:srgbClr val="2E8B57"/>
                </a:solidFill>
                <a:latin typeface="Calibri" pitchFamily="34" charset="0"/>
                <a:cs typeface="Amiri" pitchFamily="2" charset="-78"/>
              </a:rPr>
              <a:t> mashhūr · famous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مُتَوَاضِعٌ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‎متواضع / عاجز‎ </a:t>
            </a:r>
            <a:pPr indent="0" marL="0">
              <a:buNone/>
            </a:pPr>
            <a:r>
              <a:rPr lang="en-US" sz="950" b="1" dirty="0">
                <a:solidFill>
                  <a:srgbClr val="2E8B57"/>
                </a:solidFill>
                <a:latin typeface="Calibri" pitchFamily="34" charset="0"/>
                <a:cs typeface="Amiri" pitchFamily="2" charset="-78"/>
              </a:rPr>
              <a:t> mutawāziʿ · modest, humble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Sports (1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كُرَةُ القَدَمِ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football</a:t>
            </a:r>
            <a:endParaRPr lang="en-US" sz="1350" dirty="0"/>
          </a:p>
          <a:p>
            <a:pPr indent="0" marL="0">
              <a:buNone/>
            </a:pPr>
            <a:r>
              <a:rPr lang="en-US" sz="1100" i="1" dirty="0">
                <a:solidFill>
                  <a:srgbClr val="5A6472"/>
                </a:solidFill>
                <a:latin typeface="Calibri" pitchFamily="34" charset="0"/>
                <a:cs typeface="Amiri" pitchFamily="2" charset="-78"/>
              </a:rPr>
              <a:t>ku-ra-tu al-qa-da-mi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كُرَةُ السَّلَّةِ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basketball</a:t>
            </a:r>
            <a:endParaRPr lang="en-US" sz="1350" dirty="0"/>
          </a:p>
          <a:p>
            <a:pPr indent="0" marL="0">
              <a:buNone/>
            </a:pPr>
            <a:r>
              <a:rPr lang="en-US" sz="1100" i="1" dirty="0">
                <a:solidFill>
                  <a:srgbClr val="5A6472"/>
                </a:solidFill>
                <a:latin typeface="Calibri" pitchFamily="34" charset="0"/>
                <a:cs typeface="Amiri" pitchFamily="2" charset="-78"/>
              </a:rPr>
              <a:t>ku-ra-tu as-sal-la-ti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كُرَةُ الطَّائِرَةِ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volleyball</a:t>
            </a:r>
            <a:endParaRPr lang="en-US" sz="1350" dirty="0"/>
          </a:p>
          <a:p>
            <a:pPr indent="0" marL="0">
              <a:buNone/>
            </a:pPr>
            <a:r>
              <a:rPr lang="en-US" sz="1100" i="1" dirty="0">
                <a:solidFill>
                  <a:srgbClr val="5A6472"/>
                </a:solidFill>
                <a:latin typeface="Calibri" pitchFamily="34" charset="0"/>
                <a:cs typeface="Amiri" pitchFamily="2" charset="-78"/>
              </a:rPr>
              <a:t>ku-ra-tu aṭ-ṭā-ʾi-ra-ti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كُرَةُ اليَدِ</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handball</a:t>
            </a:r>
            <a:endParaRPr lang="en-US" sz="1350" dirty="0"/>
          </a:p>
          <a:p>
            <a:pPr indent="0" marL="0">
              <a:buNone/>
            </a:pPr>
            <a:r>
              <a:rPr lang="en-US" sz="1100" i="1" dirty="0">
                <a:solidFill>
                  <a:srgbClr val="5A6472"/>
                </a:solidFill>
                <a:latin typeface="Calibri" pitchFamily="34" charset="0"/>
                <a:cs typeface="Amiri" pitchFamily="2" charset="-78"/>
              </a:rPr>
              <a:t>ku-ra-tu al-ya-di</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السِّبَاحَةُ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a:t>
            </a:r>
            <a:endParaRPr lang="en-US" sz="1350" dirty="0"/>
          </a:p>
          <a:p>
            <a:pPr indent="0" marL="0">
              <a:buNone/>
            </a:pPr>
            <a:r>
              <a:rPr lang="en-US" sz="1100" i="1" dirty="0">
                <a:solidFill>
                  <a:srgbClr val="5A6472"/>
                </a:solidFill>
                <a:latin typeface="Calibri" pitchFamily="34" charset="0"/>
                <a:cs typeface="Amiri" pitchFamily="2" charset="-78"/>
              </a:rPr>
              <a:t>as-si-bā-ḥa-tu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Sports (2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tennis</a:t>
            </a:r>
            <a:endParaRPr lang="en-US" sz="1350" dirty="0"/>
          </a:p>
          <a:p>
            <a:pPr indent="0" marL="0">
              <a:buNone/>
            </a:pPr>
            <a:r>
              <a:rPr lang="en-US" sz="1100" i="1" dirty="0">
                <a:solidFill>
                  <a:srgbClr val="5A6472"/>
                </a:solidFill>
                <a:latin typeface="Calibri" pitchFamily="34" charset="0"/>
                <a:cs typeface="Amiri" pitchFamily="2" charset="-78"/>
              </a:rPr>
              <a:t>at-ti-ni-su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listed as </a:t>
            </a:r>
            <a:pPr algn="l" indent="0" marL="0">
              <a:buNone/>
            </a:pPr>
            <a:r>
              <a:rPr lang="ar-SA" altLang="en-US" sz="1300" dirty="0">
                <a:solidFill>
                  <a:srgbClr val="8A6D1E"/>
                </a:solidFill>
                <a:latin typeface="Amiri" pitchFamily="2" charset="-78"/>
                <a:cs typeface="Amiri" pitchFamily="2" charset="-78"/>
              </a:rPr>
              <a:t>كُرَةُ المِضْرَبِ</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رَفْعُ الأَثْقَالِ</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weightlifting</a:t>
            </a:r>
            <a:endParaRPr lang="en-US" sz="1350" dirty="0"/>
          </a:p>
          <a:p>
            <a:pPr indent="0" marL="0">
              <a:buNone/>
            </a:pPr>
            <a:r>
              <a:rPr lang="en-US" sz="1100" i="1" dirty="0">
                <a:solidFill>
                  <a:srgbClr val="5A6472"/>
                </a:solidFill>
                <a:latin typeface="Calibri" pitchFamily="34" charset="0"/>
                <a:cs typeface="Amiri" pitchFamily="2" charset="-78"/>
              </a:rPr>
              <a:t>raf-ʿu al-ath-qā-li</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 iḍāfa: </a:t>
            </a:r>
            <a:pPr algn="l" indent="0" marL="0">
              <a:buNone/>
            </a:pPr>
            <a:r>
              <a:rPr lang="ar-SA" altLang="en-US" sz="1300" dirty="0">
                <a:solidFill>
                  <a:srgbClr val="8A6D1E"/>
                </a:solidFill>
                <a:latin typeface="Amiri" pitchFamily="2" charset="-78"/>
                <a:cs typeface="Amiri" pitchFamily="2" charset="-78"/>
              </a:rPr>
              <a:t>الأَثْقَالِ</a:t>
            </a:r>
            <a:pPr algn="l" indent="0" marL="0">
              <a:buNone/>
            </a:pPr>
            <a:r>
              <a:rPr lang="en-US" sz="1000" i="1" dirty="0">
                <a:solidFill>
                  <a:srgbClr val="8A6D1E"/>
                </a:solidFill>
                <a:latin typeface="Calibri" pitchFamily="34" charset="0"/>
                <a:cs typeface="Amiri" pitchFamily="2" charset="-78"/>
              </a:rPr>
              <a:t> is genitive.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فُنُونُ القِتَالِ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martial arts</a:t>
            </a:r>
            <a:endParaRPr lang="en-US" sz="1350" dirty="0"/>
          </a:p>
          <a:p>
            <a:pPr indent="0" marL="0">
              <a:buNone/>
            </a:pPr>
            <a:r>
              <a:rPr lang="en-US" sz="1100" i="1" dirty="0">
                <a:solidFill>
                  <a:srgbClr val="5A6472"/>
                </a:solidFill>
                <a:latin typeface="Calibri" pitchFamily="34" charset="0"/>
                <a:cs typeface="Amiri" pitchFamily="2" charset="-78"/>
              </a:rPr>
              <a:t>fu-nū-nu al-qi-tā-li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الجِمْبَازُ</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gymnastics</a:t>
            </a:r>
            <a:endParaRPr lang="en-US" sz="1350" dirty="0"/>
          </a:p>
          <a:p>
            <a:pPr indent="0" marL="0">
              <a:buNone/>
            </a:pPr>
            <a:r>
              <a:rPr lang="en-US" sz="1100" i="1" dirty="0">
                <a:solidFill>
                  <a:srgbClr val="5A6472"/>
                </a:solidFill>
                <a:latin typeface="Calibri" pitchFamily="34" charset="0"/>
                <a:cs typeface="Amiri" pitchFamily="2" charset="-78"/>
              </a:rPr>
              <a:t>al-jim-bā-zu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رُكُوبُ الدَّرَّاجَاتِ</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cycling</a:t>
            </a:r>
            <a:endParaRPr lang="en-US" sz="1350" dirty="0"/>
          </a:p>
          <a:p>
            <a:pPr indent="0" marL="0">
              <a:buNone/>
            </a:pPr>
            <a:r>
              <a:rPr lang="en-US" sz="1100" i="1" dirty="0">
                <a:solidFill>
                  <a:srgbClr val="5A6472"/>
                </a:solidFill>
                <a:latin typeface="Calibri" pitchFamily="34" charset="0"/>
                <a:cs typeface="Amiri" pitchFamily="2" charset="-78"/>
              </a:rPr>
              <a:t>ru-kū-bu ad-dar-rā-jā-ti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Sports (3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70444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 forms are current.</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الجَرْيُ / العَدْوُ</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running</a:t>
            </a:r>
            <a:endParaRPr lang="en-US" sz="1350" dirty="0"/>
          </a:p>
          <a:p>
            <a:pPr indent="0" marL="0">
              <a:buNone/>
            </a:pPr>
            <a:r>
              <a:rPr lang="en-US" sz="1100" i="1" dirty="0">
                <a:solidFill>
                  <a:srgbClr val="5A6472"/>
                </a:solidFill>
                <a:latin typeface="Calibri" pitchFamily="34" charset="0"/>
                <a:cs typeface="Amiri" pitchFamily="2" charset="-78"/>
              </a:rPr>
              <a:t>al-jar-yu / al-ʿad-wu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4782312" y="1938528"/>
            <a:ext cx="170444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Form III verbal noun.</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المُلَاكَمَةُ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boxing</a:t>
            </a:r>
            <a:endParaRPr lang="en-US" sz="1350" dirty="0"/>
          </a:p>
          <a:p>
            <a:pPr indent="0" marL="0">
              <a:buNone/>
            </a:pPr>
            <a:r>
              <a:rPr lang="en-US" sz="1100" i="1" dirty="0">
                <a:solidFill>
                  <a:srgbClr val="5A6472"/>
                </a:solidFill>
                <a:latin typeface="Calibri" pitchFamily="34" charset="0"/>
                <a:cs typeface="Amiri" pitchFamily="2" charset="-78"/>
              </a:rPr>
              <a:t>al-mu-lā-ka-ma-tu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الجُودُو</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judo</a:t>
            </a:r>
            <a:endParaRPr lang="en-US" sz="1350" dirty="0"/>
          </a:p>
          <a:p>
            <a:pPr indent="0" marL="0">
              <a:buNone/>
            </a:pPr>
            <a:r>
              <a:rPr lang="en-US" sz="1100" i="1" dirty="0">
                <a:solidFill>
                  <a:srgbClr val="5A6472"/>
                </a:solidFill>
                <a:latin typeface="Calibri" pitchFamily="34" charset="0"/>
                <a:cs typeface="Amiri" pitchFamily="2" charset="-78"/>
              </a:rPr>
              <a:t>al-jū-dū</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أَلْعَابُ القُوَى</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athletics</a:t>
            </a:r>
            <a:endParaRPr lang="en-US" sz="1350" dirty="0"/>
          </a:p>
          <a:p>
            <a:pPr indent="0" marL="0">
              <a:buNone/>
            </a:pPr>
            <a:r>
              <a:rPr lang="en-US" sz="1100" i="1" dirty="0">
                <a:solidFill>
                  <a:srgbClr val="5A6472"/>
                </a:solidFill>
                <a:latin typeface="Calibri" pitchFamily="34" charset="0"/>
                <a:cs typeface="Amiri" pitchFamily="2" charset="-78"/>
              </a:rPr>
              <a:t>al-ʿā-bu al-qu-wā</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الشِّطْرَنْجُ</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chess</a:t>
            </a:r>
            <a:endParaRPr lang="en-US" sz="1350" dirty="0"/>
          </a:p>
          <a:p>
            <a:pPr indent="0" marL="0">
              <a:buNone/>
            </a:pPr>
            <a:r>
              <a:rPr lang="en-US" sz="1100" i="1" dirty="0">
                <a:solidFill>
                  <a:srgbClr val="5A6472"/>
                </a:solidFill>
                <a:latin typeface="Calibri" pitchFamily="34" charset="0"/>
                <a:cs typeface="Amiri" pitchFamily="2" charset="-78"/>
              </a:rPr>
              <a:t>ash-shiṭ-ran-ju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Matches and results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فَرِيقٌ</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a:t>
            </a:r>
            <a:endParaRPr lang="en-US" sz="1350" dirty="0"/>
          </a:p>
          <a:p>
            <a:pPr indent="0" marL="0">
              <a:buNone/>
            </a:pPr>
            <a:r>
              <a:rPr lang="en-US" sz="1100" i="1" dirty="0">
                <a:solidFill>
                  <a:srgbClr val="5A6472"/>
                </a:solidFill>
                <a:latin typeface="Calibri" pitchFamily="34" charset="0"/>
                <a:cs typeface="Amiri" pitchFamily="2" charset="-78"/>
              </a:rPr>
              <a:t>fa-rī-qun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فِرَقٌ</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Shape 27"/>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 مُبَارَيَاتٌ.</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مُبَارَاةٌ</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match</a:t>
            </a:r>
            <a:endParaRPr lang="en-US" sz="1350" dirty="0"/>
          </a:p>
          <a:p>
            <a:pPr indent="0" marL="0">
              <a:buNone/>
            </a:pPr>
            <a:r>
              <a:rPr lang="en-US" sz="1100" i="1" dirty="0">
                <a:solidFill>
                  <a:srgbClr val="5A6472"/>
                </a:solidFill>
                <a:latin typeface="Calibri" pitchFamily="34" charset="0"/>
                <a:cs typeface="Amiri" pitchFamily="2" charset="-78"/>
              </a:rPr>
              <a:t>mu-bā-rā-tun</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بُطُولَةٌ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championship</a:t>
            </a:r>
            <a:endParaRPr lang="en-US" sz="1350" dirty="0"/>
          </a:p>
          <a:p>
            <a:pPr indent="0" marL="0">
              <a:buNone/>
            </a:pPr>
            <a:r>
              <a:rPr lang="en-US" sz="1100" i="1" dirty="0">
                <a:solidFill>
                  <a:srgbClr val="5A6472"/>
                </a:solidFill>
                <a:latin typeface="Calibri" pitchFamily="34" charset="0"/>
                <a:cs typeface="Amiri" pitchFamily="2" charset="-78"/>
              </a:rPr>
              <a:t>bu-ṭū-la-tun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result, score</a:t>
            </a:r>
            <a:endParaRPr lang="en-US" sz="1350" dirty="0"/>
          </a:p>
          <a:p>
            <a:pPr indent="0" marL="0">
              <a:buNone/>
            </a:pPr>
            <a:r>
              <a:rPr lang="en-US" sz="1100" i="1" dirty="0">
                <a:solidFill>
                  <a:srgbClr val="5A6472"/>
                </a:solidFill>
                <a:latin typeface="Calibri" pitchFamily="34" charset="0"/>
                <a:cs typeface="Amiri" pitchFamily="2" charset="-78"/>
              </a:rPr>
              <a:t>na-tī-ja-tun</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9" name="Text 4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هَدَفٌ / أَهْدَافٌ</a:t>
            </a:r>
            <a:endParaRPr lang="ar-SA" sz="3000" dirty="0"/>
          </a:p>
        </p:txBody>
      </p:sp>
      <p:sp>
        <p:nvSpPr>
          <p:cNvPr id="50" name="Text 4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goal / goals</a:t>
            </a:r>
            <a:endParaRPr lang="en-US" sz="1350" dirty="0"/>
          </a:p>
          <a:p>
            <a:pPr indent="0" marL="0">
              <a:buNone/>
            </a:pPr>
            <a:r>
              <a:rPr lang="en-US" sz="1100" i="1" dirty="0">
                <a:solidFill>
                  <a:srgbClr val="5A6472"/>
                </a:solidFill>
                <a:latin typeface="Calibri" pitchFamily="34" charset="0"/>
                <a:cs typeface="Amiri" pitchFamily="2" charset="-78"/>
              </a:rPr>
              <a:t>ha-da-fun / ah-dā-fun</a:t>
            </a:r>
            <a:endParaRPr lang="en-US" sz="1350" dirty="0"/>
          </a:p>
        </p:txBody>
      </p:sp>
      <p:sp>
        <p:nvSpPr>
          <p:cNvPr id="51" name="Shape 4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4" name="Shape 5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فَازَ بِـ</a:t>
            </a:r>
            <a:endParaRPr lang="ar-SA" sz="3000" dirty="0"/>
          </a:p>
        </p:txBody>
      </p:sp>
      <p:sp>
        <p:nvSpPr>
          <p:cNvPr id="57" name="Text 5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won (a prize or title)</a:t>
            </a:r>
            <a:endParaRPr lang="en-US" sz="1350" dirty="0"/>
          </a:p>
          <a:p>
            <a:pPr indent="0" marL="0">
              <a:buNone/>
            </a:pPr>
            <a:r>
              <a:rPr lang="en-US" sz="1100" i="1" dirty="0">
                <a:solidFill>
                  <a:srgbClr val="5A6472"/>
                </a:solidFill>
                <a:latin typeface="Calibri" pitchFamily="34" charset="0"/>
                <a:cs typeface="Amiri" pitchFamily="2" charset="-78"/>
              </a:rPr>
              <a:t>fā-za bi</a:t>
            </a:r>
            <a:endParaRPr lang="en-US" sz="1350" dirty="0"/>
          </a:p>
        </p:txBody>
      </p:sp>
      <p:sp>
        <p:nvSpPr>
          <p:cNvPr id="58" name="Text 55"/>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بِـ</a:t>
            </a:r>
            <a:pPr algn="l" indent="0" marL="0">
              <a:buNone/>
            </a:pPr>
            <a:r>
              <a:rPr lang="en-US" sz="1000" i="1" dirty="0">
                <a:solidFill>
                  <a:srgbClr val="8A6D1E"/>
                </a:solidFill>
                <a:latin typeface="Calibri" pitchFamily="34" charset="0"/>
                <a:cs typeface="Amiri" pitchFamily="2" charset="-78"/>
              </a:rPr>
              <a:t> introduces what was won.</a:t>
            </a:r>
            <a:endParaRPr lang="en-US" sz="100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Matches and results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فَازَ عَلَى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won against</a:t>
            </a:r>
            <a:endParaRPr lang="en-US" sz="1350" dirty="0"/>
          </a:p>
          <a:p>
            <a:pPr indent="0" marL="0">
              <a:buNone/>
            </a:pPr>
            <a:r>
              <a:rPr lang="en-US" sz="1100" i="1" dirty="0">
                <a:solidFill>
                  <a:srgbClr val="5A6472"/>
                </a:solidFill>
                <a:latin typeface="Calibri" pitchFamily="34" charset="0"/>
                <a:cs typeface="Amiri" pitchFamily="2" charset="-78"/>
              </a:rPr>
              <a:t>fā-za ʿa-lā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 introduces the opponent.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6" name="Shape 23"/>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خَسِرَ</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lost</a:t>
            </a:r>
            <a:endParaRPr lang="en-US" sz="1350" dirty="0"/>
          </a:p>
          <a:p>
            <a:pPr indent="0" marL="0">
              <a:buNone/>
            </a:pPr>
            <a:r>
              <a:rPr lang="en-US" sz="1100" i="1" dirty="0">
                <a:solidFill>
                  <a:srgbClr val="5A6472"/>
                </a:solidFill>
                <a:latin typeface="Calibri" pitchFamily="34" charset="0"/>
                <a:cs typeface="Amiri" pitchFamily="2" charset="-78"/>
              </a:rPr>
              <a:t>kha-si-ra</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خَسِرَتْ</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8" name="Shape 35"/>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تَعَادَلَ</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drew</a:t>
            </a:r>
            <a:endParaRPr lang="en-US" sz="1350" dirty="0"/>
          </a:p>
          <a:p>
            <a:pPr indent="0" marL="0">
              <a:buNone/>
            </a:pPr>
            <a:r>
              <a:rPr lang="en-US" sz="1100" i="1" dirty="0">
                <a:solidFill>
                  <a:srgbClr val="5A6472"/>
                </a:solidFill>
                <a:latin typeface="Calibri" pitchFamily="34" charset="0"/>
                <a:cs typeface="Amiri" pitchFamily="2" charset="-78"/>
              </a:rPr>
              <a:t>ta-ʿā-da-la</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تَعَادَلَتْ</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مِيدَالِيَةٌ</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medal</a:t>
            </a:r>
            <a:endParaRPr lang="en-US" sz="1350" dirty="0"/>
          </a:p>
          <a:p>
            <a:pPr indent="0" marL="0">
              <a:buNone/>
            </a:pPr>
            <a:r>
              <a:rPr lang="en-US" sz="1100" i="1" dirty="0">
                <a:solidFill>
                  <a:srgbClr val="5A6472"/>
                </a:solidFill>
                <a:latin typeface="Calibri" pitchFamily="34" charset="0"/>
                <a:cs typeface="Amiri" pitchFamily="2" charset="-78"/>
              </a:rPr>
              <a:t>mī-dā-li-ya-tun</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53" name="Shape 5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5" name="Text 5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بَطَلٌ / بَطَلَةٌ</a:t>
            </a:r>
            <a:endParaRPr lang="ar-SA" sz="3000" dirty="0"/>
          </a:p>
        </p:txBody>
      </p:sp>
      <p:sp>
        <p:nvSpPr>
          <p:cNvPr id="56" name="Text 5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champion (m. / f.)</a:t>
            </a:r>
            <a:endParaRPr lang="en-US" sz="1350" dirty="0"/>
          </a:p>
          <a:p>
            <a:pPr indent="0" marL="0">
              <a:buNone/>
            </a:pPr>
            <a:r>
              <a:rPr lang="en-US" sz="1100" i="1" dirty="0">
                <a:solidFill>
                  <a:srgbClr val="5A6472"/>
                </a:solidFill>
                <a:latin typeface="Calibri" pitchFamily="34" charset="0"/>
                <a:cs typeface="Amiri" pitchFamily="2" charset="-78"/>
              </a:rPr>
              <a:t>ba-ṭa-lun / ba-ṭa-la-tun</a:t>
            </a:r>
            <a:endParaRPr lang="en-US" sz="1350" dirty="0"/>
          </a:p>
        </p:txBody>
      </p:sp>
      <p:sp>
        <p:nvSpPr>
          <p:cNvPr id="57" name="Shape 54"/>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أَبْطَالٌ / بَطَلَاتٌ</a:t>
            </a:r>
            <a:endParaRPr lang="ar-SA" sz="1500" dirty="0"/>
          </a:p>
        </p:txBody>
      </p:sp>
      <p:sp>
        <p:nvSpPr>
          <p:cNvPr id="60" name="Shape 57"/>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2" name="Text 59"/>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بَطَلَةٌ</a:t>
            </a:r>
            <a:endParaRPr lang="ar-SA" sz="150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رَقْمٌ قِيَاسِيٌّ</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record</a:t>
            </a:r>
            <a:endParaRPr lang="en-US" sz="1350" dirty="0"/>
          </a:p>
          <a:p>
            <a:pPr indent="0" marL="0">
              <a:buNone/>
            </a:pPr>
            <a:r>
              <a:rPr lang="en-US" sz="1100" i="1" dirty="0">
                <a:solidFill>
                  <a:srgbClr val="5A6472"/>
                </a:solidFill>
                <a:latin typeface="Calibri" pitchFamily="34" charset="0"/>
                <a:cs typeface="Amiri" pitchFamily="2" charset="-78"/>
              </a:rPr>
              <a:t>raq-mun qi-yā-siy-yun</a:t>
            </a:r>
            <a:endParaRPr lang="en-US" sz="1350" dirty="0"/>
          </a:p>
        </p:txBody>
      </p:sp>
      <p:sp>
        <p:nvSpPr>
          <p:cNvPr id="68" name="Text 65"/>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adjective agrees with the masculine noun.</a:t>
            </a:r>
            <a:endParaRPr lang="en-US" sz="10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Rules and admiration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يَجِبُ عَلَى … أَنْ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 must</a:t>
            </a:r>
            <a:endParaRPr lang="en-US" sz="1350" dirty="0"/>
          </a:p>
          <a:p>
            <a:pPr indent="0" marL="0">
              <a:buNone/>
            </a:pPr>
            <a:r>
              <a:rPr lang="en-US" sz="1100" i="1" dirty="0">
                <a:solidFill>
                  <a:srgbClr val="5A6472"/>
                </a:solidFill>
                <a:latin typeface="Calibri" pitchFamily="34" charset="0"/>
                <a:cs typeface="Amiri" pitchFamily="2" charset="-78"/>
              </a:rPr>
              <a:t>ya-ji-bu ʿa-lā … an</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is followed by the subjunctive.</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4" name="Text 2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يُسْمَحُ بِـ</a:t>
            </a:r>
            <a:endParaRPr lang="ar-SA" sz="3000" dirty="0"/>
          </a:p>
        </p:txBody>
      </p:sp>
      <p:sp>
        <p:nvSpPr>
          <p:cNvPr id="25" name="Text 2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permitted to</a:t>
            </a:r>
            <a:endParaRPr lang="en-US" sz="1350" dirty="0"/>
          </a:p>
          <a:p>
            <a:pPr indent="0" marL="0">
              <a:buNone/>
            </a:pPr>
            <a:r>
              <a:rPr lang="en-US" sz="1100" i="1" dirty="0">
                <a:solidFill>
                  <a:srgbClr val="5A6472"/>
                </a:solidFill>
                <a:latin typeface="Calibri" pitchFamily="34" charset="0"/>
                <a:cs typeface="Amiri" pitchFamily="2" charset="-78"/>
              </a:rPr>
              <a:t>yus-ma-ḥu bi</a:t>
            </a:r>
            <a:endParaRPr lang="en-US" sz="1350" dirty="0"/>
          </a:p>
        </p:txBody>
      </p:sp>
      <p:sp>
        <p:nvSpPr>
          <p:cNvPr id="26" name="Text 23"/>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verb, so it takes </a:t>
            </a:r>
            <a:pPr algn="l" indent="0" marL="0">
              <a:buNone/>
            </a:pPr>
            <a:r>
              <a:rPr lang="ar-SA" altLang="en-US" sz="1300" dirty="0">
                <a:solidFill>
                  <a:srgbClr val="8A6D1E"/>
                </a:solidFill>
                <a:latin typeface="Amiri" pitchFamily="2" charset="-78"/>
                <a:cs typeface="Amiri" pitchFamily="2" charset="-78"/>
              </a:rPr>
              <a:t>بِـ</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مَمْنُوعٌ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forbidden</a:t>
            </a:r>
            <a:endParaRPr lang="en-US" sz="1350" dirty="0"/>
          </a:p>
          <a:p>
            <a:pPr indent="0" marL="0">
              <a:buNone/>
            </a:pPr>
            <a:r>
              <a:rPr lang="en-US" sz="1100" i="1" dirty="0">
                <a:solidFill>
                  <a:srgbClr val="5A6472"/>
                </a:solidFill>
                <a:latin typeface="Calibri" pitchFamily="34" charset="0"/>
                <a:cs typeface="Amiri" pitchFamily="2" charset="-78"/>
              </a:rPr>
              <a:t>mam-nū-ʿun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35" name="Shape 3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لَاعِبٌ / لَاعِبُونَ</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player / players</a:t>
            </a:r>
            <a:endParaRPr lang="en-US" sz="1350" dirty="0"/>
          </a:p>
          <a:p>
            <a:pPr indent="0" marL="0">
              <a:buNone/>
            </a:pPr>
            <a:r>
              <a:rPr lang="en-US" sz="1100" i="1" dirty="0">
                <a:solidFill>
                  <a:srgbClr val="5A6472"/>
                </a:solidFill>
                <a:latin typeface="Calibri" pitchFamily="34" charset="0"/>
                <a:cs typeface="Amiri" pitchFamily="2" charset="-78"/>
              </a:rPr>
              <a:t>lā-ʿi-bun / lā-ʿi-bū-na</a:t>
            </a:r>
            <a:endParaRPr lang="en-US" sz="1350" dirty="0"/>
          </a:p>
        </p:txBody>
      </p:sp>
      <p:sp>
        <p:nvSpPr>
          <p:cNvPr id="41" name="Shape 3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لَاعِبُونَ / لَاعِبَاتٌ</a:t>
            </a:r>
            <a:endParaRPr lang="ar-SA" sz="1500" dirty="0"/>
          </a:p>
        </p:txBody>
      </p:sp>
      <p:sp>
        <p:nvSpPr>
          <p:cNvPr id="44" name="Shape 4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6" name="Text 4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لَاعِبَةٌ</a:t>
            </a:r>
            <a:endParaRPr lang="ar-SA" sz="15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يُعْجِبُنِي</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admire it (lit. it pleases me)</a:t>
            </a:r>
            <a:endParaRPr lang="en-US" sz="1350" dirty="0"/>
          </a:p>
          <a:p>
            <a:pPr indent="0" marL="0">
              <a:buNone/>
            </a:pPr>
            <a:r>
              <a:rPr lang="en-US" sz="1100" i="1" dirty="0">
                <a:solidFill>
                  <a:srgbClr val="5A6472"/>
                </a:solidFill>
                <a:latin typeface="Calibri" pitchFamily="34" charset="0"/>
                <a:cs typeface="Amiri" pitchFamily="2" charset="-78"/>
              </a:rPr>
              <a:t>yuʿ-ji-bu-nī</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thing admired is the subject.</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Rules and admiration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أُعْجَبُ بِـ</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impressed by</a:t>
            </a:r>
            <a:endParaRPr lang="en-US" sz="1350" dirty="0"/>
          </a:p>
          <a:p>
            <a:pPr indent="0" marL="0">
              <a:buNone/>
            </a:pPr>
            <a:r>
              <a:rPr lang="en-US" sz="1100" i="1" dirty="0">
                <a:solidFill>
                  <a:srgbClr val="5A6472"/>
                </a:solidFill>
                <a:latin typeface="Calibri" pitchFamily="34" charset="0"/>
                <a:cs typeface="Amiri" pitchFamily="2" charset="-78"/>
              </a:rPr>
              <a:t>uʿ-ja-bu bi</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form, fixed with </a:t>
            </a:r>
            <a:pPr algn="l" indent="0" marL="0">
              <a:buNone/>
            </a:pPr>
            <a:r>
              <a:rPr lang="ar-SA" altLang="en-US" sz="1300" dirty="0">
                <a:solidFill>
                  <a:srgbClr val="8A6D1E"/>
                </a:solidFill>
                <a:latin typeface="Amiri" pitchFamily="2" charset="-78"/>
                <a:cs typeface="Amiri" pitchFamily="2" charset="-78"/>
              </a:rPr>
              <a:t>بِـ</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24" name="Shape 2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5" name="Text 2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إِنْجَازٌ</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achievement</a:t>
            </a:r>
            <a:endParaRPr lang="en-US" sz="1350" dirty="0"/>
          </a:p>
          <a:p>
            <a:pPr indent="0" marL="0">
              <a:buNone/>
            </a:pPr>
            <a:r>
              <a:rPr lang="en-US" sz="1100" i="1" dirty="0">
                <a:solidFill>
                  <a:srgbClr val="5A6472"/>
                </a:solidFill>
                <a:latin typeface="Calibri" pitchFamily="34" charset="0"/>
                <a:cs typeface="Amiri" pitchFamily="2" charset="-78"/>
              </a:rPr>
              <a:t>in-jā-zun</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31" name="Shape 28"/>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3" name="Text 3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مُتَوَاضِعٌ</a:t>
            </a:r>
            <a:endParaRPr lang="ar-SA" sz="3000" dirty="0"/>
          </a:p>
        </p:txBody>
      </p:sp>
      <p:sp>
        <p:nvSpPr>
          <p:cNvPr id="34" name="Text 3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mu-ta-wā-ḍi-ʿun</a:t>
            </a:r>
            <a:endParaRPr lang="en-US" sz="1350" dirty="0"/>
          </a:p>
        </p:txBody>
      </p:sp>
      <p:sp>
        <p:nvSpPr>
          <p:cNvPr id="35" name="Shape 32"/>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7" name="Text 34"/>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مُتَوَاضِعُونَ</a:t>
            </a:r>
            <a:endParaRPr lang="ar-SA" sz="1500" dirty="0"/>
          </a:p>
        </p:txBody>
      </p:sp>
      <p:sp>
        <p:nvSpPr>
          <p:cNvPr id="38" name="Shape 35"/>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0" name="Text 37"/>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مُتَوَاضِعَةٌ</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4" name="Shape 4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مُجْتَهِدٌ</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a:t>
            </a:r>
            <a:endParaRPr lang="en-US" sz="1350" dirty="0"/>
          </a:p>
        </p:txBody>
      </p:sp>
      <p:sp>
        <p:nvSpPr>
          <p:cNvPr id="48" name="Shape 4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مُجْتَهِدُونَ</a:t>
            </a:r>
            <a:endParaRPr lang="ar-SA" sz="1500" dirty="0"/>
          </a:p>
        </p:txBody>
      </p:sp>
      <p:sp>
        <p:nvSpPr>
          <p:cNvPr id="51" name="Shape 4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3" name="Text 5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مُجْتَهِدَةٌ</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37</a:t>
            </a:r>
            <a:endParaRPr lang="en-US" sz="1000" dirty="0"/>
          </a:p>
        </p:txBody>
      </p:sp>
      <p:sp>
        <p:nvSpPr>
          <p:cNvPr id="57" name="Shape 54"/>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مَشْهُورٌ</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famous</a:t>
            </a:r>
            <a:endParaRPr lang="en-US" sz="1350" dirty="0"/>
          </a:p>
          <a:p>
            <a:pPr indent="0" marL="0">
              <a:buNone/>
            </a:pPr>
            <a:r>
              <a:rPr lang="en-US" sz="1100" i="1" dirty="0">
                <a:solidFill>
                  <a:srgbClr val="5A6472"/>
                </a:solidFill>
                <a:latin typeface="Calibri" pitchFamily="34" charset="0"/>
                <a:cs typeface="Amiri" pitchFamily="2" charset="-78"/>
              </a:rPr>
              <a:t>mash-hū-run</a:t>
            </a:r>
            <a:endParaRPr lang="en-US" sz="1350" dirty="0"/>
          </a:p>
        </p:txBody>
      </p:sp>
      <p:sp>
        <p:nvSpPr>
          <p:cNvPr id="63" name="Shape 60"/>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مَشْهُورُونَ</a:t>
            </a:r>
            <a:endParaRPr lang="ar-SA" sz="1500" dirty="0"/>
          </a:p>
        </p:txBody>
      </p:sp>
      <p:sp>
        <p:nvSpPr>
          <p:cNvPr id="66" name="Shape 63"/>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8" name="Text 65"/>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مَشْهُورَةٌ</a:t>
            </a:r>
            <a:endParaRPr lang="ar-SA" sz="15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REPORTING RESULTS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Won, lost or drew?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النَّتَائِجُ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90779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won a PRIZE</a:t>
            </a:r>
            <a:endParaRPr lang="en-US" sz="1100" dirty="0"/>
          </a:p>
        </p:txBody>
      </p:sp>
      <p:sp>
        <p:nvSpPr>
          <p:cNvPr id="21" name="Text 18"/>
          <p:cNvSpPr txBox="1"/>
          <p:nvPr/>
        </p:nvSpPr>
        <p:spPr>
          <a:xfrm>
            <a:off x="2926080" y="2286000"/>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فَازَ </a:t>
            </a:r>
            <a:pPr rtl="1" algn="ctr" indent="0" marL="0">
              <a:buNone/>
            </a:pPr>
            <a:r>
              <a:rPr lang="ar-SA" altLang="en-US" sz="1950" b="1" dirty="0">
                <a:solidFill>
                  <a:srgbClr val="1D5FBF"/>
                </a:solidFill>
                <a:latin typeface="Amiri" pitchFamily="2" charset="-78"/>
                <a:cs typeface="Amiri" pitchFamily="2" charset="-78"/>
              </a:rPr>
              <a:t>بِالمِيدَالِيَةِ</a:t>
            </a:r>
            <a:pPr rtl="1" algn="ctr" indent="0" marL="0">
              <a:buNone/>
            </a:pPr>
            <a:r>
              <a:rPr lang="ar-SA" altLang="en-US" sz="1950" b="1" dirty="0">
                <a:solidFill>
                  <a:srgbClr val="1B3B6F"/>
                </a:solidFill>
                <a:latin typeface="Amiri" pitchFamily="2" charset="-78"/>
                <a:cs typeface="Amiri" pitchFamily="2" charset="-78"/>
              </a:rPr>
              <a:t> الذَّهَبِيَّةِ.</a:t>
            </a:r>
            <a:endParaRPr lang="ar-SA" sz="1950" dirty="0"/>
          </a:p>
        </p:txBody>
      </p:sp>
      <p:sp>
        <p:nvSpPr>
          <p:cNvPr id="22" name="Text 19"/>
          <p:cNvSpPr txBox="1"/>
          <p:nvPr/>
        </p:nvSpPr>
        <p:spPr>
          <a:xfrm>
            <a:off x="2880360" y="2676997"/>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won the gold medal.</a:t>
            </a:r>
            <a:endParaRPr lang="en-US" sz="950" dirty="0"/>
          </a:p>
        </p:txBody>
      </p:sp>
      <p:sp>
        <p:nvSpPr>
          <p:cNvPr id="23" name="Text 20"/>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فَازَ بِـ</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beat an OPPONENT</a:t>
            </a:r>
            <a:endParaRPr lang="en-US" sz="1100" dirty="0"/>
          </a:p>
        </p:txBody>
      </p:sp>
      <p:sp>
        <p:nvSpPr>
          <p:cNvPr id="28" name="Text 25"/>
          <p:cNvSpPr txBox="1"/>
          <p:nvPr/>
        </p:nvSpPr>
        <p:spPr>
          <a:xfrm>
            <a:off x="2926080" y="3023006"/>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فَازَ فَرِيقُنَا </a:t>
            </a:r>
            <a:pPr rtl="1" algn="ctr" indent="0" marL="0">
              <a:buNone/>
            </a:pPr>
            <a:r>
              <a:rPr lang="ar-SA" altLang="en-US" sz="1950" b="1" dirty="0">
                <a:solidFill>
                  <a:srgbClr val="0E7C86"/>
                </a:solidFill>
                <a:latin typeface="Amiri" pitchFamily="2" charset="-78"/>
                <a:cs typeface="Amiri" pitchFamily="2" charset="-78"/>
              </a:rPr>
              <a:t>عَلَى</a:t>
            </a:r>
            <a:pPr rtl="1" algn="ctr" indent="0" marL="0">
              <a:buNone/>
            </a:pPr>
            <a:r>
              <a:rPr lang="ar-SA" altLang="en-US" sz="1950" b="1" dirty="0">
                <a:solidFill>
                  <a:srgbClr val="1B3B6F"/>
                </a:solidFill>
                <a:latin typeface="Amiri" pitchFamily="2" charset="-78"/>
                <a:cs typeface="Amiri" pitchFamily="2" charset="-78"/>
              </a:rPr>
              <a:t> الفَرِيقِ الضَّيْفِ.</a:t>
            </a:r>
            <a:endParaRPr lang="ar-SA" sz="1950" dirty="0"/>
          </a:p>
        </p:txBody>
      </p:sp>
      <p:sp>
        <p:nvSpPr>
          <p:cNvPr id="29" name="Text 26"/>
          <p:cNvSpPr txBox="1"/>
          <p:nvPr/>
        </p:nvSpPr>
        <p:spPr>
          <a:xfrm>
            <a:off x="2880360" y="3414004"/>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Our team beat the visiting team.</a:t>
            </a:r>
            <a:endParaRPr lang="en-US" sz="950" dirty="0"/>
          </a:p>
        </p:txBody>
      </p:sp>
      <p:sp>
        <p:nvSpPr>
          <p:cNvPr id="30" name="Text 27"/>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فَازَ عَلَى</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lost</a:t>
            </a:r>
            <a:endParaRPr lang="en-US" sz="1100" dirty="0"/>
          </a:p>
        </p:txBody>
      </p:sp>
      <p:sp>
        <p:nvSpPr>
          <p:cNvPr id="35" name="Text 32"/>
          <p:cNvSpPr txBox="1"/>
          <p:nvPr/>
        </p:nvSpPr>
        <p:spPr>
          <a:xfrm>
            <a:off x="2926080" y="3760013"/>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خَسِرَ الفَرِيقُ المُبَارَاةَ النِّهَائِيَّةَ.</a:t>
            </a:r>
            <a:endParaRPr lang="ar-SA" sz="1950" dirty="0"/>
          </a:p>
        </p:txBody>
      </p:sp>
      <p:sp>
        <p:nvSpPr>
          <p:cNvPr id="36" name="Text 33"/>
          <p:cNvSpPr txBox="1"/>
          <p:nvPr/>
        </p:nvSpPr>
        <p:spPr>
          <a:xfrm>
            <a:off x="2880360" y="4151010"/>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team lost the final.</a:t>
            </a:r>
            <a:endParaRPr lang="en-US" sz="950" dirty="0"/>
          </a:p>
        </p:txBody>
      </p:sp>
      <p:sp>
        <p:nvSpPr>
          <p:cNvPr id="37" name="Text 34"/>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خَسِرَ</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drew (two sides)</a:t>
            </a:r>
            <a:endParaRPr lang="en-US" sz="1100" dirty="0"/>
          </a:p>
        </p:txBody>
      </p:sp>
      <p:sp>
        <p:nvSpPr>
          <p:cNvPr id="42" name="Text 39"/>
          <p:cNvSpPr txBox="1"/>
          <p:nvPr/>
        </p:nvSpPr>
        <p:spPr>
          <a:xfrm>
            <a:off x="2926080" y="4497019"/>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تَعَادَلَ الفَرِيقَانِ فِي النِّقَاطِ.</a:t>
            </a:r>
            <a:endParaRPr lang="ar-SA" sz="1950" dirty="0"/>
          </a:p>
        </p:txBody>
      </p:sp>
      <p:sp>
        <p:nvSpPr>
          <p:cNvPr id="43" name="Text 40"/>
          <p:cNvSpPr txBox="1"/>
          <p:nvPr/>
        </p:nvSpPr>
        <p:spPr>
          <a:xfrm>
            <a:off x="2880360" y="4888017"/>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two teams drew on points.</a:t>
            </a:r>
            <a:endParaRPr lang="en-US" sz="950" dirty="0"/>
          </a:p>
        </p:txBody>
      </p:sp>
      <p:sp>
        <p:nvSpPr>
          <p:cNvPr id="44" name="Text 41"/>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تَعَادَلَ</a:t>
            </a:r>
            <a:endParaRPr lang="ar-SA" sz="22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won</a:t>
            </a:r>
            <a:endParaRPr lang="en-US" sz="1100" dirty="0"/>
          </a:p>
        </p:txBody>
      </p:sp>
      <p:sp>
        <p:nvSpPr>
          <p:cNvPr id="47" name="Text 44"/>
          <p:cNvSpPr txBox="1"/>
          <p:nvPr/>
        </p:nvSpPr>
        <p:spPr>
          <a:xfrm>
            <a:off x="2926080" y="5234026"/>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فَازَتِ البَطَلَةُ بِالمِيدَالِيَةِ الفِضِّيَّةِ.</a:t>
            </a:r>
            <a:endParaRPr lang="ar-SA" sz="1950" dirty="0"/>
          </a:p>
        </p:txBody>
      </p:sp>
      <p:sp>
        <p:nvSpPr>
          <p:cNvPr id="48" name="Text 45"/>
          <p:cNvSpPr txBox="1"/>
          <p:nvPr/>
        </p:nvSpPr>
        <p:spPr>
          <a:xfrm>
            <a:off x="2880360" y="5625023"/>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(female) champion won the silver medal.</a:t>
            </a:r>
            <a:endParaRPr lang="en-US" sz="950" dirty="0"/>
          </a:p>
        </p:txBody>
      </p:sp>
      <p:sp>
        <p:nvSpPr>
          <p:cNvPr id="49" name="Text 46"/>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فَازَتْ</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Scores: a 2–1 win is “by two goals to one” (bi-hadafayni muqābila hadafin wāḥid) — see the listening.</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RULES AND ADMIRATION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Rules and the athletes we admire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القَوَاعِدُ وَالإِعْجَابُ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RULE · DEVELOP</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يَجِبُ عَلَى … 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يَجِبُ عَلَى اللَّاعِبِينَ أَنْ يَحْتَرِمُوا الحَكَمَ.</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Players must respect the referee.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ʿalā + -īna; an + -ū.</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FORBIDDEN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مَمْنُوعٌ لَمْسُ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مَمْنُوعٌ لَمْسُ الكُرَةِ بِاليَدَيْنِ.</a:t>
            </a:r>
            <a:endParaRPr lang="ar-SA" sz="27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Touching the ball with the hands is forbidden.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verbal noun.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ADMIRE · CORE / STRETCH</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يُعْجِبُنِي · أُعْجَبُ بِـ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أُعْجَبُ بِهٰذِهِ البَطَلَةِ لِأَنَّهَا مُجْتَهِدَةٌ.</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admire this champion because she is hard-working.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Reason agrees.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t>
            </a:r>
            <a:pPr algn="l" indent="0" marL="0">
              <a:buNone/>
            </a:pPr>
            <a:r>
              <a:rPr lang="ar-SA" altLang="en-US" sz="1500" dirty="0">
                <a:solidFill>
                  <a:srgbClr val="1F2A37"/>
                </a:solidFill>
                <a:latin typeface="Amiri" pitchFamily="2" charset="-78"/>
                <a:cs typeface="Amiri" pitchFamily="2" charset="-78"/>
              </a:rPr>
              <a:t>أُعْجَبُ</a:t>
            </a:r>
            <a:pPr algn="l" indent="0" marL="0">
              <a:buNone/>
            </a:pPr>
            <a:r>
              <a:rPr lang="en-US" sz="1150" dirty="0">
                <a:solidFill>
                  <a:srgbClr val="1F2A37"/>
                </a:solidFill>
                <a:latin typeface="Calibri" pitchFamily="34" charset="0"/>
                <a:cs typeface="Amiri" pitchFamily="2" charset="-78"/>
              </a:rPr>
              <a:t> always needs bi-.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2" charset="-78"/>
                <a:cs typeface="Amiri" pitchFamily="2" charset="-78"/>
              </a:rPr>
              <a:t>أُعْجَبُ بِاللَّاعِبِ.</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أُعْجَبُ اللَّاعِبَ.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Results, rules and admiration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النَّتَائِجُ وَالقَوَاعِدُ وَالإِعْجَابُ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Reporting a win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فَازَ</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cs typeface="Amiri" pitchFamily="2" charset="-78"/>
              </a:rPr>
              <a:t>بِـ</a:t>
            </a:r>
            <a:pPr algn="l" indent="0" marL="0">
              <a:buNone/>
            </a:pPr>
            <a:r>
              <a:rPr lang="en-US" sz="1050" dirty="0">
                <a:solidFill>
                  <a:srgbClr val="5A6472"/>
                </a:solidFill>
                <a:latin typeface="Calibri" pitchFamily="34" charset="0"/>
                <a:cs typeface="Amiri" pitchFamily="2" charset="-78"/>
              </a:rPr>
              <a:t> (the prize) / </a:t>
            </a:r>
            <a:pPr algn="l" indent="0" marL="0">
              <a:buNone/>
            </a:pPr>
            <a:r>
              <a:rPr lang="ar-SA" altLang="en-US" sz="1350" dirty="0">
                <a:solidFill>
                  <a:srgbClr val="5A6472"/>
                </a:solidFill>
                <a:latin typeface="Amiri" pitchFamily="2" charset="-78"/>
                <a:cs typeface="Amiri" pitchFamily="2" charset="-78"/>
              </a:rPr>
              <a:t>عَلَى</a:t>
            </a:r>
            <a:pPr algn="l" indent="0" marL="0">
              <a:buNone/>
            </a:pPr>
            <a:r>
              <a:rPr lang="en-US" sz="1050" dirty="0">
                <a:solidFill>
                  <a:srgbClr val="5A6472"/>
                </a:solidFill>
                <a:latin typeface="Calibri" pitchFamily="34" charset="0"/>
                <a:cs typeface="Amiri" pitchFamily="2" charset="-78"/>
              </a:rPr>
              <a:t> (the opponent)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فَازَ بِالمِيدَالِيَةِ الذَّهَبِيَّةِ   ·   فَازَ عَلَى الفَرِيقِ الضَّيْفِ</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Losing and drawing</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خَسِرَ</a:t>
            </a:r>
            <a:pPr algn="l" indent="0" marL="0">
              <a:buNone/>
            </a:pPr>
            <a:r>
              <a:rPr lang="en-US" sz="1050" dirty="0">
                <a:solidFill>
                  <a:srgbClr val="5A6472"/>
                </a:solidFill>
                <a:latin typeface="Calibri" pitchFamily="34" charset="0"/>
                <a:cs typeface="Amiri" pitchFamily="2" charset="-78"/>
              </a:rPr>
              <a:t> + object / </a:t>
            </a:r>
            <a:pPr algn="l" indent="0" marL="0">
              <a:buNone/>
            </a:pPr>
            <a:r>
              <a:rPr lang="ar-SA" altLang="en-US" sz="1350" dirty="0">
                <a:solidFill>
                  <a:srgbClr val="5A6472"/>
                </a:solidFill>
                <a:latin typeface="Amiri" pitchFamily="2" charset="-78"/>
                <a:cs typeface="Amiri" pitchFamily="2" charset="-78"/>
              </a:rPr>
              <a:t>تَعَادَلَ</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cs typeface="Amiri" pitchFamily="2" charset="-78"/>
              </a:rPr>
              <a:t>الفَرِيقَانِ</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خَسِرَ الفَرِيقُ المُبَارَاةَ النِّهَائِيَّةَ   ·   تَعَادَلَ الفَرِيقَانِ فِي النِّقَاطِ</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Stating a rule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يَجِبُ عَلَى</a:t>
            </a:r>
            <a:pPr algn="l" indent="0" marL="0">
              <a:buNone/>
            </a:pPr>
            <a:r>
              <a:rPr lang="en-US" sz="1050" dirty="0">
                <a:solidFill>
                  <a:srgbClr val="5A6472"/>
                </a:solidFill>
                <a:latin typeface="Calibri" pitchFamily="34" charset="0"/>
                <a:cs typeface="Amiri" pitchFamily="2" charset="-78"/>
              </a:rPr>
              <a:t> + person + </a:t>
            </a:r>
            <a:pPr algn="l" indent="0" marL="0">
              <a:buNone/>
            </a:pPr>
            <a:r>
              <a:rPr lang="ar-SA" altLang="en-US" sz="1350" dirty="0">
                <a:solidFill>
                  <a:srgbClr val="5A6472"/>
                </a:solidFill>
                <a:latin typeface="Amiri" pitchFamily="2" charset="-78"/>
                <a:cs typeface="Amiri" pitchFamily="2" charset="-78"/>
              </a:rPr>
              <a:t>أَنْ</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يَجِبُ عَلَى اللَّاعِبِينَ أَنْ يَحْتَرِمُوا الحَكَمَ   ·   مَمْنُوعٌ لَمْسُ الكُرَةِ بِاليَدَيْنِ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Expressing admiration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يُعْجِبُنِي</a:t>
            </a:r>
            <a:pPr algn="l" indent="0" marL="0">
              <a:buNone/>
            </a:pPr>
            <a:r>
              <a:rPr lang="en-US" sz="1050" dirty="0">
                <a:solidFill>
                  <a:srgbClr val="5A6472"/>
                </a:solidFill>
                <a:latin typeface="Calibri" pitchFamily="34" charset="0"/>
                <a:cs typeface="Amiri" pitchFamily="2" charset="-78"/>
              </a:rPr>
              <a:t> + subject  /  </a:t>
            </a:r>
            <a:pPr algn="l" indent="0" marL="0">
              <a:buNone/>
            </a:pPr>
            <a:r>
              <a:rPr lang="ar-SA" altLang="en-US" sz="1350" dirty="0">
                <a:solidFill>
                  <a:srgbClr val="5A6472"/>
                </a:solidFill>
                <a:latin typeface="Amiri" pitchFamily="2" charset="-78"/>
                <a:cs typeface="Amiri" pitchFamily="2" charset="-78"/>
              </a:rPr>
              <a:t>أُعْجَبُ بِـ</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يُعْجِبُنِي هٰذَا اللَّاعِبُ   ·   أُعْجَبُ بِتَوَاضُعِهِ</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winning a championship.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الفَرِيقُ عَلَى البُطُولَةِ.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الفَرِيقُ البُطُولَةَ.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الفَرِيقُ بِالبُطُولَةِ.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beating an opponent.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المُنْتَخَبُ عَلَى الفَرِيقِ الضَّيْفِ.</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المُنْتَخَبُ بِالفَرِيقِ الضَّيْفِ.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المُنْتَخَبُ إِلَى الفَرِيقِ الضَّيْفِ.</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admiration sentence.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يُعْجِبُنِي عَلَى هٰذَا اللَّاعِبِ كَثِيرًا.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يُعْجِبُنِي هٰذَا اللَّاعِبُ كَثِيرًا.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يُعْجِبُنِي بِهٰذَا اللَّاعِبِ كَثِيرًا.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whose reason agrees accurately.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بِهٰذِهِ البَطَلَةِ لِأَنَّهَا مُجْتَهِدَةٌ.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بِهٰذِهِ البَطَلَةِ لِأَنَّهُ مُجْتَهِدٌ.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بِهٰذِهِ البَطَلَةِ لِأَنَّهَا مُجْتَهِدٌ.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winning a championship.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الفَرِيقُ عَلَى البُطُولَةِ.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الفَرِيقُ البُطُولَةَ.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فَازَ الفَرِيقُ بِالبُطُولَةِ.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introduces the thing won, and the noun after it is genitive.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beating an opponent.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فَازَ المُنْتَخَبُ عَلَى الفَرِيقِ الضَّيْفِ.</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المُنْتَخَبُ بِالفَرِيقِ الضَّيْفِ.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المُنْتَخَبُ إِلَى الفَرِيقِ الضَّيْفِ.</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introduces the opponent who was beaten.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admiration sentence.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يُعْجِبُنِي عَلَى هٰذَا اللَّاعِبِ كَثِيرًا.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يُعْجِبُنِي هٰذَا اللَّاعِبُ كَثِيرًا.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يُعْجِبُنِي بِهٰذَا اللَّاعِبِ كَثِيرًا.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With </a:t>
            </a:r>
            <a:pPr algn="l" indent="0" marL="0">
              <a:buNone/>
            </a:pPr>
            <a:r>
              <a:rPr lang="ar-SA" altLang="en-US" sz="1350" dirty="0">
                <a:solidFill>
                  <a:srgbClr val="8A6D1E"/>
                </a:solidFill>
                <a:latin typeface="Amiri" pitchFamily="2" charset="-78"/>
                <a:cs typeface="Amiri" pitchFamily="2" charset="-78"/>
              </a:rPr>
              <a:t>يُعْجِبُنِي</a:t>
            </a:r>
            <a:pPr algn="l" indent="0" marL="0">
              <a:buNone/>
            </a:pPr>
            <a:r>
              <a:rPr lang="en-US" sz="1050" i="1" dirty="0">
                <a:solidFill>
                  <a:srgbClr val="8A6D1E"/>
                </a:solidFill>
                <a:latin typeface="Calibri" pitchFamily="34" charset="0"/>
                <a:cs typeface="Amiri" pitchFamily="2" charset="-78"/>
              </a:rPr>
              <a:t> the admired person is the subject, so it is nominative.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whose reason agrees accurately.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أُعْجَبُ بِهٰذِهِ البَطَلَةِ لِأَنَّهَا مُجْتَهِدَةٌ.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أُعْجَبُ بِهٰذِهِ البَطَلَةِ لِأَنَّهُ مُجْتَهِدٌ.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أُعْجَبُ بِهٰذِهِ البَطَلَةِ لِأَنَّهَا مُجْتَهِدٌ.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البَطَلَة</a:t>
            </a:r>
            <a:pPr algn="l" indent="0" marL="0">
              <a:buNone/>
            </a:pPr>
            <a:r>
              <a:rPr lang="en-US" sz="1050" i="1" dirty="0">
                <a:solidFill>
                  <a:srgbClr val="8A6D1E"/>
                </a:solidFill>
                <a:latin typeface="Calibri" pitchFamily="34" charset="0"/>
                <a:cs typeface="Amiri" pitchFamily="2" charset="-78"/>
              </a:rPr>
              <a:t> is feminine, so both the pronoun and the adjective are feminine.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describe an athlete I admire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Admire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يُعْجِبُنِي</a:t>
            </a:r>
            <a:pPr rtl="1" algn="ctr" indent="0" marL="0">
              <a:buNone/>
            </a:pPr>
            <a:r>
              <a:rPr lang="ar-SA" altLang="en-US" sz="2800" b="1" dirty="0">
                <a:solidFill>
                  <a:srgbClr val="1B3B6F"/>
                </a:solidFill>
                <a:latin typeface="Amiri" pitchFamily="2" charset="-78"/>
                <a:cs typeface="Amiri" pitchFamily="2" charset="-78"/>
              </a:rPr>
              <a:t> هٰذَا اللَّاعِبُ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Player = subject.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Prize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فَازَ </a:t>
            </a:r>
            <a:pPr rtl="1" algn="ctr" indent="0" marL="0">
              <a:buNone/>
            </a:pPr>
            <a:r>
              <a:rPr lang="ar-SA" altLang="en-US" sz="2800" b="1" dirty="0">
                <a:solidFill>
                  <a:srgbClr val="1D5FBF"/>
                </a:solidFill>
                <a:latin typeface="Amiri" pitchFamily="2" charset="-78"/>
                <a:cs typeface="Amiri" pitchFamily="2" charset="-78"/>
              </a:rPr>
              <a:t>بِالبُطُولَةِ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Prize: 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Opponent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فَازَ </a:t>
            </a:r>
            <a:pPr rtl="1" algn="ctr" indent="0" marL="0">
              <a:buNone/>
            </a:pPr>
            <a:r>
              <a:rPr lang="ar-SA" altLang="en-US" sz="2800" b="1" dirty="0">
                <a:solidFill>
                  <a:srgbClr val="0E7C86"/>
                </a:solidFill>
                <a:latin typeface="Amiri" pitchFamily="2" charset="-78"/>
                <a:cs typeface="Amiri" pitchFamily="2" charset="-78"/>
              </a:rPr>
              <a:t>عَلَى</a:t>
            </a:r>
            <a:pPr rtl="1" algn="ctr" indent="0" marL="0">
              <a:buNone/>
            </a:pPr>
            <a:r>
              <a:rPr lang="ar-SA" altLang="en-US" sz="2800" b="1" dirty="0">
                <a:solidFill>
                  <a:srgbClr val="1B3B6F"/>
                </a:solidFill>
                <a:latin typeface="Amiri" pitchFamily="2" charset="-78"/>
                <a:cs typeface="Amiri" pitchFamily="2" charset="-78"/>
              </a:rPr>
              <a:t> فِرَقٍ قَوِيَّةٍ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Opponent: ʿalā.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D6336C"/>
                </a:solidFill>
                <a:latin typeface="Amiri" pitchFamily="2" charset="-78"/>
                <a:cs typeface="Amiri" pitchFamily="2" charset="-78"/>
              </a:rPr>
              <a:t>أُعْجَبُ بِهِ</a:t>
            </a:r>
            <a:pPr rtl="1" algn="ctr" indent="0" marL="0">
              <a:buNone/>
            </a:pPr>
            <a:r>
              <a:rPr lang="ar-SA" altLang="en-US" sz="2550" b="1" dirty="0">
                <a:solidFill>
                  <a:srgbClr val="1B3B6F"/>
                </a:solidFill>
                <a:latin typeface="Amiri" pitchFamily="2" charset="-78"/>
                <a:cs typeface="Amiri" pitchFamily="2" charset="-78"/>
              </a:rPr>
              <a:t> لِأَنَّهُ مُتَوَاضِعٌ</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-hu.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ADMIRATION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PRIZE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OPPONENT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cs typeface="Amiri" pitchFamily="2" charset="-78"/>
              </a:rPr>
              <a:t>يُعْجِبُنِي</a:t>
            </a:r>
            <a:pPr rtl="1" algn="r" indent="0" marL="0">
              <a:lnSpc>
                <a:spcPct val="120000"/>
              </a:lnSpc>
              <a:buNone/>
            </a:pPr>
            <a:r>
              <a:rPr lang="ar-SA" altLang="en-US" sz="1400" b="1" dirty="0">
                <a:solidFill>
                  <a:srgbClr val="1B3B6F"/>
                </a:solidFill>
                <a:latin typeface="Amiri" pitchFamily="2" charset="-78"/>
                <a:cs typeface="Amiri" pitchFamily="2" charset="-78"/>
              </a:rPr>
              <a:t> لَاعِبُ كُرَةِ القَدَمِ فِي فَرِيقِنَا الوَطَنِيِّ كَثِيرًا. فِي المَوْسِمِ المَاضِي فَازَ </a:t>
            </a:r>
            <a:pPr rtl="1" algn="r" indent="0" marL="0">
              <a:lnSpc>
                <a:spcPct val="120000"/>
              </a:lnSpc>
              <a:buNone/>
            </a:pPr>
            <a:r>
              <a:rPr lang="ar-SA" altLang="en-US" sz="1400" b="1" dirty="0">
                <a:solidFill>
                  <a:srgbClr val="1D5FBF"/>
                </a:solidFill>
                <a:latin typeface="Amiri" pitchFamily="2" charset="-78"/>
                <a:cs typeface="Amiri" pitchFamily="2" charset="-78"/>
              </a:rPr>
              <a:t>بِالبُطُولَةِ</a:t>
            </a:r>
            <a:pPr rtl="1" algn="r" indent="0" marL="0">
              <a:lnSpc>
                <a:spcPct val="120000"/>
              </a:lnSpc>
              <a:buNone/>
            </a:pPr>
            <a:r>
              <a:rPr lang="ar-SA" altLang="en-US" sz="1400" b="1" dirty="0">
                <a:solidFill>
                  <a:srgbClr val="1B3B6F"/>
                </a:solidFill>
                <a:latin typeface="Amiri" pitchFamily="2" charset="-78"/>
                <a:cs typeface="Amiri" pitchFamily="2" charset="-78"/>
              </a:rPr>
              <a:t>، وَفَازَ فَرِيقُهُ </a:t>
            </a:r>
            <a:pPr rtl="1" algn="r" indent="0" marL="0">
              <a:lnSpc>
                <a:spcPct val="120000"/>
              </a:lnSpc>
              <a:buNone/>
            </a:pPr>
            <a:r>
              <a:rPr lang="ar-SA" altLang="en-US" sz="1400" b="1" dirty="0">
                <a:solidFill>
                  <a:srgbClr val="0E7C86"/>
                </a:solidFill>
                <a:latin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cs typeface="Amiri" pitchFamily="2" charset="-78"/>
              </a:rPr>
              <a:t> فِرَقٍ قَوِيَّةٍ. هُوَ مُتَوَاضِعٌ وَمُجْتَهِدٌ، وَ</a:t>
            </a:r>
            <a:pPr rtl="1" algn="r" indent="0" marL="0">
              <a:lnSpc>
                <a:spcPct val="120000"/>
              </a:lnSpc>
              <a:buNone/>
            </a:pPr>
            <a:r>
              <a:rPr lang="ar-SA" altLang="en-US" sz="1400" b="1" dirty="0">
                <a:solidFill>
                  <a:srgbClr val="D6336C"/>
                </a:solidFill>
                <a:latin typeface="Amiri" pitchFamily="2" charset="-78"/>
                <a:cs typeface="Amiri" pitchFamily="2" charset="-78"/>
              </a:rPr>
              <a:t>أُعْجَبُ بِهِ</a:t>
            </a:r>
            <a:pPr rtl="1" algn="r" indent="0" marL="0">
              <a:lnSpc>
                <a:spcPct val="120000"/>
              </a:lnSpc>
              <a:buNone/>
            </a:pPr>
            <a:r>
              <a:rPr lang="ar-SA" altLang="en-US" sz="1400" b="1" dirty="0">
                <a:solidFill>
                  <a:srgbClr val="1B3B6F"/>
                </a:solidFill>
                <a:latin typeface="Amiri" pitchFamily="2" charset="-78"/>
                <a:cs typeface="Amiri" pitchFamily="2" charset="-78"/>
              </a:rPr>
              <a:t> لِأَنَّهُ يَحْتَرِمُ مُنَافِسِيهِ.</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really admire the footballer in our national team. Last season he won the championship, and his team beat strong teams. He is modest and hard-working, and I admire him because he respects his opponents.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فَازَ بِالمِيدَالِيَةِ الذَّهَبِيَّةِ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won the gold medal</a:t>
            </a:r>
            <a:endParaRPr lang="en-US" sz="1250" dirty="0"/>
          </a:p>
          <a:p>
            <a:pPr indent="0" marL="0">
              <a:buNone/>
            </a:pPr>
            <a:r>
              <a:rPr lang="en-US" sz="1050" i="1" dirty="0">
                <a:solidFill>
                  <a:srgbClr val="8A6D1E"/>
                </a:solidFill>
                <a:latin typeface="Calibri" pitchFamily="34" charset="0"/>
                <a:cs typeface="Amiri" pitchFamily="2" charset="-78"/>
              </a:rPr>
              <a:t>بِـ marks the prize won, and the noun after it is genitive.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يَجِبُ عَلَى اللَّاعِبِينَ أَنْ يَتَدَرَّبُوا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players must train</a:t>
            </a:r>
            <a:endParaRPr lang="en-US" sz="1250" dirty="0"/>
          </a:p>
          <a:p>
            <a:pPr indent="0" marL="0">
              <a:buNone/>
            </a:pPr>
            <a:r>
              <a:rPr lang="en-US" sz="1050" i="1" dirty="0">
                <a:solidFill>
                  <a:srgbClr val="8A6D1E"/>
                </a:solidFill>
                <a:latin typeface="Calibri" pitchFamily="34" charset="0"/>
                <a:cs typeface="Amiri" pitchFamily="2" charset="-78"/>
              </a:rPr>
              <a:t>Genitive after عَلَى, subjunctive after أَنْ.</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أُعْجَبُ بِتَوَاضُعِهِ</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admire his modesty</a:t>
            </a:r>
            <a:endParaRPr lang="en-US" sz="1250" dirty="0"/>
          </a:p>
          <a:p>
            <a:pPr indent="0" marL="0">
              <a:buNone/>
            </a:pPr>
            <a:r>
              <a:rPr lang="en-US" sz="1050" i="1" dirty="0">
                <a:solidFill>
                  <a:srgbClr val="8A6D1E"/>
                </a:solidFill>
                <a:latin typeface="Calibri" pitchFamily="34" charset="0"/>
                <a:cs typeface="Amiri" pitchFamily="2" charset="-78"/>
              </a:rPr>
              <a:t>أُعْجَبُ is passive in form and always takes بِـ.</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SPORT — VOCABULARY, FAMOUS ATHLETES AND CULTURAL CONTEXT”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sport?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الرِّيَاضَةُ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football</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basketball</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32"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runner</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أَجْرِي ثَلَاثَ مَرَّاتٍ فِي الأُسْبُوعِ.</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أَلْعَبُ كُرَةَ القَدَمِ.</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أَلْعَبُ كُرَةَ السَّلَّةِ.</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الرِّيَاضَةُ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football</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أَلْعَبُ كُرَةَ القَدَمِ.</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play football.</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basketball</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أَلْعَبُ كُرَةَ السَّلَّةِ.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play basketball.</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42"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runner</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أَجْرِي ثَلَاثَ مَرَّاتٍ فِي الأُسْبُوعِ.</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run three times a week.</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فَازَ بِـ</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خَسِرَ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تَعَادَلَ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يَجِبُ عَلَى … أَنْ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مَمْنُوعٌ</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يُسْمَحُ بِـ</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يُعْجِبُنِي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أُعْجَبُ بِـ</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إِنْجَازٌ رَائِعٌ</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Result verb</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Rule structure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Admiration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Result verb</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فَازَ بِـ</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خَسِرَ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تَعَادَلَ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Rule structure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يَجِبُ عَلَى … أَنْ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مَمْنُوعٌ</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يُسْمَحُ بِـ</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Admiration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يُعْجِبُنِي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أُعْجَبُ بِـ</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إِنْجَازٌ رَائِعٌ</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4, 5,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drawing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تَعَادَلَ الفَرِيقُ فِي النِّقَاطِ.</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تَعَادَلَ الفَرِيقَيْنِ فِي النِّقَاطِ.</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تَعَادَلَ الفَرِيقَانِ فِي النِّقَاطِ.</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rule.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عَلَى اللَّاعِبُونَ أَنْ يَحْتَرِمُونَ الحَكَمَ.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عَلَى اللَّاعِبِينَ أَنْ يَحْتَرِمُوا الحَكَمَ.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اللَّاعِبِينَ أَنْ يَحْتَرِمُوا الحَكَمَ.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prohibition.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مَمْنُوعٌ يَلْمِسُ الكُرَةَ بِاليَدَيْنِ.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مَمْنُوعٌ لَمْسُ الكُرَةِ بِاليَدَيْنِ.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مَمْنُوعَةٌ لَمْسُ الكُرَةِ بِاليَدَيْنِ.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أُعْجَبُ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تَوَاضُعَهُ وَاجْتِهَادَهُ.</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عَلَى تَوَاضُعِهِ وَاجْتِهَادِهِ.</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بِتَوَاضُعِهِ وَاجْتِهَادِهِ.</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drawing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تَعَادَلَ الفَرِيقُ فِي النِّقَاطِ.</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تَعَادَلَ الفَرِيقَيْنِ فِي النِّقَاطِ.</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تَعَادَلَ الفَرِيقَانِ فِي النِّقَاطِ.</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تَعَادَلَ</a:t>
            </a:r>
            <a:pPr algn="l" indent="0" marL="0">
              <a:buNone/>
            </a:pPr>
            <a:r>
              <a:rPr lang="en-US" sz="1050" i="1" dirty="0">
                <a:solidFill>
                  <a:srgbClr val="8A6D1E"/>
                </a:solidFill>
                <a:latin typeface="Calibri" pitchFamily="34" charset="0"/>
                <a:cs typeface="Amiri" pitchFamily="2" charset="-78"/>
              </a:rPr>
              <a:t> describes a mutual action, so the dual subject </a:t>
            </a:r>
            <a:pPr algn="l" indent="0" marL="0">
              <a:buNone/>
            </a:pPr>
            <a:r>
              <a:rPr lang="ar-SA" altLang="en-US" sz="1350" dirty="0">
                <a:solidFill>
                  <a:srgbClr val="8A6D1E"/>
                </a:solidFill>
                <a:latin typeface="Amiri" pitchFamily="2" charset="-78"/>
                <a:cs typeface="Amiri" pitchFamily="2" charset="-78"/>
              </a:rPr>
              <a:t>الفَرِيقَانِ</a:t>
            </a:r>
            <a:pPr algn="l" indent="0" marL="0">
              <a:buNone/>
            </a:pPr>
            <a:r>
              <a:rPr lang="en-US" sz="1050" i="1" dirty="0">
                <a:solidFill>
                  <a:srgbClr val="8A6D1E"/>
                </a:solidFill>
                <a:latin typeface="Calibri" pitchFamily="34" charset="0"/>
                <a:cs typeface="Amiri" pitchFamily="2" charset="-78"/>
              </a:rPr>
              <a:t> is nominative.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rule.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عَلَى اللَّاعِبُونَ أَنْ يَحْتَرِمُونَ الحَكَمَ.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عَلَى اللَّاعِبِينَ أَنْ يَحْتَرِمُوا الحَكَمَ.</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اللَّاعِبِينَ أَنْ يَحْتَرِمُوا الحَكَمَ.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takes the genitive </a:t>
            </a:r>
            <a:pPr algn="l" indent="0" marL="0">
              <a:buNone/>
            </a:pPr>
            <a:r>
              <a:rPr lang="ar-SA" altLang="en-US" sz="1350" dirty="0">
                <a:solidFill>
                  <a:srgbClr val="8A6D1E"/>
                </a:solidFill>
                <a:latin typeface="Amiri" pitchFamily="2" charset="-78"/>
                <a:cs typeface="Amiri" pitchFamily="2" charset="-78"/>
              </a:rPr>
              <a:t>اللَّاعِبِينَ</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the subjunctive </a:t>
            </a:r>
            <a:pPr algn="l" indent="0" marL="0">
              <a:buNone/>
            </a:pPr>
            <a:r>
              <a:rPr lang="ar-SA" altLang="en-US" sz="1350" dirty="0">
                <a:solidFill>
                  <a:srgbClr val="8A6D1E"/>
                </a:solidFill>
                <a:latin typeface="Amiri" pitchFamily="2" charset="-78"/>
                <a:cs typeface="Amiri" pitchFamily="2" charset="-78"/>
              </a:rPr>
              <a:t>يَحْتَرِمُوا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prohibition.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مَمْنُوعٌ يَلْمِسُ الكُرَةَ بِاليَدَيْنِ.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مَمْنُوعٌ لَمْسُ الكُرَةِ بِاليَدَيْنِ.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مَمْنُوعَةٌ لَمْسُ الكُرَةِ بِاليَدَيْنِ.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مَمْنُوعٌ</a:t>
            </a:r>
            <a:pPr algn="l" indent="0" marL="0">
              <a:buNone/>
            </a:pPr>
            <a:r>
              <a:rPr lang="en-US" sz="1050" i="1" dirty="0">
                <a:solidFill>
                  <a:srgbClr val="8A6D1E"/>
                </a:solidFill>
                <a:latin typeface="Calibri" pitchFamily="34" charset="0"/>
                <a:cs typeface="Amiri" pitchFamily="2" charset="-78"/>
              </a:rPr>
              <a:t> is followed by a verbal noun, and </a:t>
            </a:r>
            <a:pPr algn="l" indent="0" marL="0">
              <a:buNone/>
            </a:pPr>
            <a:r>
              <a:rPr lang="ar-SA" altLang="en-US" sz="1350" dirty="0">
                <a:solidFill>
                  <a:srgbClr val="8A6D1E"/>
                </a:solidFill>
                <a:latin typeface="Amiri" pitchFamily="2" charset="-78"/>
                <a:cs typeface="Amiri" pitchFamily="2" charset="-78"/>
              </a:rPr>
              <a:t>لَمْسٌ</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أُعْجَبُ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أُعْجَبُ تَوَاضُعَهُ وَاجْتِهَادَهُ.</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أُعْجَبُ عَلَى تَوَاضُعِهِ وَاجْتِهَادِهِ.</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أُعْجَبُ بِتَوَاضُعِهِ وَاجْتِهَادِهِ.</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أُعْجَبُ</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the noun after it is genitive.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فَازَ عَلَى البُطُولَةِ.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prize or an opponent?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يَجِبُ عَلَى اللَّاعِبُونَ أَنْ يَتَدَرَّبُونَ.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ʿalā: -ūna or -īna?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أُعْجَبُ اللَّاعِبَ.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 after uʿjabu?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فَازَ عَلَى البُطُولَةِ.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فَازَ بِالبُطُولَةِ.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 is for the opponent; the prize takes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يَجِبُ عَلَى اللَّاعِبُونَ أَنْ يَتَدَرَّبُونَ.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يَجِبُ عَلَى اللَّاعِبِينَ أَنْ يَتَدَرَّبُوا.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 takes the genitive, and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takes the subjunctive.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أُعْجَبُ اللَّاعِبَ.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أُعْجَبُ بِاللَّاعِبِ.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أُعْجَبُ</a:t>
            </a:r>
            <a:pPr algn="l" indent="0" marL="0">
              <a:buNone/>
            </a:pPr>
            <a:r>
              <a:rPr lang="en-US" sz="1150" b="1" dirty="0">
                <a:solidFill>
                  <a:srgbClr val="1B3B6F"/>
                </a:solidFill>
                <a:latin typeface="Calibri" pitchFamily="34" charset="0"/>
                <a:cs typeface="Amiri" pitchFamily="2" charset="-78"/>
              </a:rPr>
              <a:t> needs the preposition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Listening: a match report and an admired athlete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result of yesterday's final?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team won 2–1</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team lost 2–1</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teams drew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week?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team won the championship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match was cancelled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team lost its match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before that?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team won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team lost again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two teams drew</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admire in the new player?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modesty and hard work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height and speed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fame and wealth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admire him?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never loses a match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trains daily despite his success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plays for a foreign team</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Three results: won · lost · drew.</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المُبَارَاةِ النِّهَائِيَّةِ أَمْسِ، فَازَ فَرِيقُنَا عَلَى الفَرِيقِ الضَّيْفِ</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final yesterday, our team beat the visiting team</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بِهَدَفَيْنِ مُقَابِلَ هَدَفٍ وَاحِدٍ.</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two goals to one.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وَفِي الأُسْبُوعِ المَاضِي خَسِرَ الفَرِيقُ مُبَارَاتَهُ، وَقَبْلَ ذٰلِكَ تَعَادَلَ الفَرِيقَانِ فِي النِّقَاطِ.</a:t>
            </a:r>
            <a:endParaRPr lang="ar-SA" sz="18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week the team lost its match, and before that the two teams drew on points.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أَنَا فَيُعْجِبُنِي لَاعِبُنَا الجَدِيدُ كَثِيرًا، وَأُعْجَبُ بِتَوَاضُعِهِ وَاجْتِهَادِهِ،</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me, I really like our new player, and I admire his modesty and hard work,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لِأَنَّهُ يَتَدَرَّبُ يَوْمِيًّا رَغْمَ نَجَاحِهِ الكَبِيرِ. وَقَدْ فَازَ بِمِيدَالِيَةٍ ذَهَبِيَّةٍ فِي بُطُولَةٍ كَبِيرَةٍ.</a:t>
            </a:r>
            <a:endParaRPr lang="ar-SA" sz="18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he trains every day despite his great success. He has won a gold medal in a big championship.</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result of yesterday's final?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Our team won 2–1</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Our team lost 2–1</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teams drew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فَازَ فَرِيقُنَا … بِهَدَفَيْنِ مُقَابِلَ هَدَفٍ وَاحِدٍ.</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week?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team won the championship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match was cancelled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team lost its match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خَسِرَ الفَرِيقُ مُبَارَاتَهُ.</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before that?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team won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team lost again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two teams drew</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تَعَادَلَ الفَرِيقَانِ فِي النِّقَاطِ.</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admire in the new player?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modesty and hard work</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height and speed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fame and wealth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أُعْجَبُ بِتَوَاضُعِهِ وَاجْتِهَادِهِ.</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admire him?</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never loses a match</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trains daily despite his success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plays for a foreign team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 يَتَدَرَّبُ يَوْمِيًّا رَغْمَ نَجَاحِهِ الكَبِيرِ.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Three results: won · lost · drew.</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sporting hero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الرِّيَاضِيُّ الَّذِي يُعْجِبُكَ؟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فَازَ بِهِ فِي المَوْسِمِ المَاضِي؟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تُفَضِّلُ الرِّيَاضَةَ الفَرْدِيَّةَ أَمِ الجَمَاعِيَّةَ؟ 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يُعْجِبُنِي ___ لِأَنَّهُ / لِأَنَّهَا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فَازَ / فَازَتْ بِـ ___ ، وَفَازَ عَلَى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أُفَضِّلُ الرِّيَاضَةَ ___ عَلَى ___ لِأَنَّ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الرِّيَاضِيُّ الَّذِي يُعْجِبُكَ؟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athlete do you admire?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يُعْجِبُنِي لَاعِبٌ مَشْهُورٌ فِي فَرِيقِنَا الوَطَنِيِّ.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admire a famous player in our national team.</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three naming sports with their verbs and two reporting a result.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sports with their verbs + two results (won / lost).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Link the sentences into a profile that adds an admiration structure and a reason.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 athlete profile with fāza bi-, a rule and uʿjabu bi- … li-anna.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Contrast individual and team sport using </a:t>
            </a:r>
            <a:pPr algn="l" indent="0" marL="0">
              <a:buNone/>
            </a:pPr>
            <a:r>
              <a:rPr lang="ar-SA" altLang="en-US" sz="1800" b="1" dirty="0">
                <a:solidFill>
                  <a:srgbClr val="1F2A37"/>
                </a:solidFill>
                <a:latin typeface="Amiri" pitchFamily="2" charset="-78"/>
                <a:cs typeface="Amiri" pitchFamily="2" charset="-78"/>
              </a:rPr>
              <a:t>رَغْمَ</a:t>
            </a:r>
            <a:pPr algn="l" indent="0" marL="0">
              <a:buNone/>
            </a:pPr>
            <a:r>
              <a:rPr lang="en-US" sz="1400" b="1" dirty="0">
                <a:solidFill>
                  <a:srgbClr val="1F2A37"/>
                </a:solidFill>
                <a:latin typeface="Calibri" pitchFamily="34" charset="0"/>
                <a:cs typeface="Amiri" pitchFamily="2" charset="-78"/>
              </a:rPr>
              <a:t> or </a:t>
            </a:r>
            <a:pPr algn="l" indent="0" marL="0">
              <a:buNone/>
            </a:pPr>
            <a:r>
              <a:rPr lang="ar-SA" altLang="en-US" sz="1800" b="1" dirty="0">
                <a:solidFill>
                  <a:srgbClr val="1F2A37"/>
                </a:solidFill>
                <a:latin typeface="Amiri" pitchFamily="2" charset="-78"/>
                <a:cs typeface="Amiri" pitchFamily="2" charset="-78"/>
              </a:rPr>
              <a:t>مَعَ ذٰلِكَ</a:t>
            </a:r>
            <a:pPr algn="l" indent="0" marL="0">
              <a:buNone/>
            </a:pPr>
            <a:r>
              <a:rPr lang="en-US" sz="1400" b="1" dirty="0">
                <a:solidFill>
                  <a:srgbClr val="1F2A37"/>
                </a:solidFill>
                <a:latin typeface="Calibri" pitchFamily="34" charset="0"/>
                <a:cs typeface="Amiri" pitchFamily="2" charset="-78"/>
              </a:rPr>
              <a:t>, keeping every case ending accurate.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sport, achievement, two adjectives, both admiration structures and a contrast.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هُوَ مُتَوَاضِعٌ وَمُجْتَهِدٌ. / هِيَ مُتَوَاضِعَةٌ وَمُجْتَهِدَةٌ.</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modest and hard-working.</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أُعْجَبُ بِهِ / بِهَا لِأَنَّهُ /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admire him / her 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لٰكِنَّهُ / لٰكِنَّهَا خَسِرَ / خَسِرَتْ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he / she lost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عَلَى اللَّاعِبِينَ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Players must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يُعْجِبُنِي ______ كَثِيرًا.</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admire … a lot.</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يَلْعَبُ / تَلْعَبُ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plays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فَازَ / فَازَتْ بِـ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won the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فَازَ فَرِيقُهُ / فَرِيقُهَا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team beat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يُعْجِبُنِي  ·  أُعْجَبُ بِـ  ·  فَازَ بِـ  ·  فَازَ عَلَى  ·  خَسِرَ  ·  تَعَادَلَ  ·  بُطُولَةٌ  ·  مِيدَالِيَةٌ ذَهَبِيَّةٌ  ·  مُتَوَاضِعٌ  ·  مُجْتَهِدٌ  ·  مَشْهُورٌ  ·  يَجِبُ عَلَى …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seventy words on an athlete you admire: the sport played, a major achievement using </a:t>
            </a:r>
            <a:pPr algn="l" indent="0" marL="0">
              <a:buNone/>
            </a:pPr>
            <a:r>
              <a:rPr lang="ar-SA" altLang="en-US" sz="1750" b="1" dirty="0">
                <a:solidFill>
                  <a:srgbClr val="1F2A37"/>
                </a:solidFill>
                <a:latin typeface="Amiri" pitchFamily="2" charset="-78"/>
                <a:cs typeface="Amiri" pitchFamily="2" charset="-78"/>
              </a:rPr>
              <a:t>فَازَ بِـ</a:t>
            </a:r>
            <a:pPr algn="l" indent="0" marL="0">
              <a:buNone/>
            </a:pPr>
            <a:r>
              <a:rPr lang="en-US" sz="1350" b="1" dirty="0">
                <a:solidFill>
                  <a:srgbClr val="1F2A37"/>
                </a:solidFill>
                <a:latin typeface="Calibri" pitchFamily="34" charset="0"/>
                <a:cs typeface="Amiri" pitchFamily="2" charset="-78"/>
              </a:rPr>
              <a:t>, two personality adjectives, and why you admire them using </a:t>
            </a:r>
            <a:pPr algn="l" indent="0" marL="0">
              <a:buNone/>
            </a:pPr>
            <a:r>
              <a:rPr lang="ar-SA" altLang="en-US" sz="1750" b="1" dirty="0">
                <a:solidFill>
                  <a:srgbClr val="1F2A37"/>
                </a:solidFill>
                <a:latin typeface="Amiri" pitchFamily="2" charset="-78"/>
                <a:cs typeface="Amiri" pitchFamily="2" charset="-78"/>
              </a:rPr>
              <a:t>أُعْجَبُ بِـ … لِأَنَّهُ / لِأَنَّهَا</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result phrase from </a:t>
            </a:r>
            <a:pPr algn="l" indent="0" marL="0">
              <a:buNone/>
            </a:pPr>
            <a:r>
              <a:rPr lang="ar-SA" altLang="en-US" sz="1550" dirty="0">
                <a:solidFill>
                  <a:srgbClr val="1F2A37"/>
                </a:solidFill>
                <a:latin typeface="Amiri" pitchFamily="2" charset="-78"/>
                <a:cs typeface="Amiri" pitchFamily="2" charset="-78"/>
              </a:rPr>
              <a:t>فَازَ بِـ / فَازَ عَلَى / خَسِرَ / تَعَادَلَ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Both admiration structures: </a:t>
            </a:r>
            <a:pPr algn="l" indent="0" marL="0">
              <a:buNone/>
            </a:pPr>
            <a:r>
              <a:rPr lang="ar-SA" altLang="en-US" sz="1550" dirty="0">
                <a:solidFill>
                  <a:srgbClr val="1F2A37"/>
                </a:solidFill>
                <a:latin typeface="Amiri" pitchFamily="2" charset="-78"/>
                <a:cs typeface="Amiri" pitchFamily="2" charset="-78"/>
              </a:rPr>
              <a:t>يُعْجِبُنِي</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أُعْجَبُ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personality adjectives that agree with their noun.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reason with </a:t>
            </a:r>
            <a:pPr algn="l" indent="0" marL="0">
              <a:buNone/>
            </a:pPr>
            <a:r>
              <a:rPr lang="ar-SA" altLang="en-US" sz="1550" dirty="0">
                <a:solidFill>
                  <a:srgbClr val="1F2A37"/>
                </a:solidFill>
                <a:latin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where the pronoun matches the athlete's gender.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المَوْسِمِ المَاضِي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season</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يَحْتَرِمُ مُنَافِسِيهِ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respects his opponents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رَغْمَ نَجَاحِهِ الكَبِيرِ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despite his great success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العَمَلُ الجَمَاعِيُّ أَهَمُّ مِنَ الإِنْجَازِ الفَرْدِيِّ</a:t>
            </a:r>
            <a:endParaRPr lang="ar-SA" sz="175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teamwork matters more than individual achievement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وَمَعَ ذٰلِكَ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yet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يُعْجِبُنِي لَاعِبُ كُرَةِ القَدَمِ فِي فَرِيقِنَا الوَطَنِيِّ كَثِيرًا. فِي المَوْسِمِ المَاضِي فَازَ بِالبُطُولَةِ، وَفَازَ فَرِيقُهُ عَلَى فِرَقٍ قَوِيَّةٍ. وَلٰكِنَّهُ خَسِرَ المُبَارَاةَ النِّهَائِيَّةَ فِي بُطُولَةٍ أُخْرَى. هُوَ مُتَوَاضِعٌ وَمُجْتَهِدٌ، وَأُعْجَبُ بِهِ لِأَنَّهُ يَحْتَرِمُ مُنَافِسِيهِ. وَفِي رَأْيِي يَجِبُ عَلَى اللَّاعِبِينَ أَنْ يَتَدَرَّبُوا بِانْتِظَامٍ.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really admire the footballer in our national team. Last season he won the championship, and his team beat strong teams. But he lost the final in another championship. He is modest and hard-working, and I admire him because he respects his opponents. In my opinion, players must train regularly.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both admiration structures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فَازَ بِـ and فَازَ عَلَى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personality adjectives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 with لِأَنَّهُ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sport with the right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a result (won / lost).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bi- for the prize and ʿalā for the opponent.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agree with the athlete (m. / f.).</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both </a:t>
            </a:r>
            <a:pPr algn="l" indent="0" marL="0">
              <a:buNone/>
            </a:pPr>
            <a:r>
              <a:rPr lang="ar-SA" altLang="en-US" sz="1700" dirty="0">
                <a:solidFill>
                  <a:srgbClr val="1F2A37"/>
                </a:solidFill>
                <a:latin typeface="Amiri" pitchFamily="2" charset="-78"/>
                <a:cs typeface="Amiri" pitchFamily="2" charset="-78"/>
              </a:rPr>
              <a:t>يُعْجِبُنِي</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أُعْجَبُ بِـ</a:t>
            </a:r>
            <a:pPr algn="l" indent="0" marL="0">
              <a:buNone/>
            </a:pPr>
            <a:r>
              <a:rPr lang="en-US" sz="1300" dirty="0">
                <a:solidFill>
                  <a:srgbClr val="1F2A37"/>
                </a:solidFill>
                <a:latin typeface="Calibri" pitchFamily="34" charset="0"/>
                <a:cs typeface="Amiri" pitchFamily="2" charset="-78"/>
              </a:rPr>
              <a:t> with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result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فَازَتِ البَطَلَةُ بِالمِيدَالِيَةِ الفِضِّيَّةِ.</a:t>
            </a:r>
            <a:endParaRPr lang="ar-SA" sz="17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فَازَتِ البَطَلَةُ عَلَى المِيدَالِيَةِ الفِضِّيَّةِ.</a:t>
            </a:r>
            <a:endParaRPr lang="ar-SA" sz="17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فَازَتِ البَطَلَةُ المِيدَالِيَةَ الفِضِّيَّةَ.</a:t>
            </a:r>
            <a:endParaRPr lang="ar-SA" sz="17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rule.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يَجِبُ عَلَى اللَّاعِبِ أَنْ يَتَدَرَّبُ بِانْتِظَامٍ.</a:t>
            </a:r>
            <a:endParaRPr lang="ar-SA" sz="18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يَجِبُ عَلَى اللَّاعِبِ أَنْ يَتَدَرَّبَ بِانْتِظَامٍ.</a:t>
            </a:r>
            <a:endParaRPr lang="ar-SA" sz="18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يَجِبُ عَلَى اللَّاعِبُ أَنْ يَتَدَرَّبَ بِانْتِظَامٍ.</a:t>
            </a:r>
            <a:endParaRPr lang="ar-SA" sz="180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admiration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بِإِنْجَازِهَا الكَبِيرِ.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إِنْجَازَهَا الكَبِيرَ.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بِإِنْجَازُهَا الكَبِيرُ.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result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750" b="1" dirty="0">
                <a:solidFill>
                  <a:srgbClr val="1F2A37"/>
                </a:solidFill>
                <a:latin typeface="Amiri" pitchFamily="2" charset="-78"/>
                <a:cs typeface="Amiri" pitchFamily="2" charset="-78"/>
              </a:rPr>
              <a:t>فَازَتِ البَطَلَةُ بِالمِيدَالِيَةِ الفِضِّيَّةِ.</a:t>
            </a:r>
            <a:endParaRPr lang="ar-SA" sz="17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750" dirty="0">
                <a:solidFill>
                  <a:srgbClr val="9AA1AB"/>
                </a:solidFill>
                <a:latin typeface="Amiri" pitchFamily="2" charset="-78"/>
                <a:cs typeface="Amiri" pitchFamily="2" charset="-78"/>
              </a:rPr>
              <a:t>فَازَتِ البَطَلَةُ عَلَى المِيدَالِيَةِ الفِضِّيَّةِ.</a:t>
            </a:r>
            <a:endParaRPr lang="ar-SA" sz="17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750" dirty="0">
                <a:solidFill>
                  <a:srgbClr val="9AA1AB"/>
                </a:solidFill>
                <a:latin typeface="Amiri" pitchFamily="2" charset="-78"/>
                <a:cs typeface="Amiri" pitchFamily="2" charset="-78"/>
              </a:rPr>
              <a:t>فَازَتِ البَطَلَةُ المِيدَالِيَةَ الفِضِّيَّةَ.</a:t>
            </a:r>
            <a:endParaRPr lang="ar-SA" sz="17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prize won follows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in the genitive.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rule.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cs typeface="Amiri" pitchFamily="2" charset="-78"/>
              </a:rPr>
              <a:t>يَجِبُ عَلَى اللَّاعِبِ أَنْ يَتَدَرَّبُ بِانْتِظَامٍ.</a:t>
            </a:r>
            <a:endParaRPr lang="ar-SA" sz="180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cs typeface="Amiri" pitchFamily="2" charset="-78"/>
              </a:rPr>
              <a:t>يَجِبُ عَلَى اللَّاعِبِ أَنْ يَتَدَرَّبَ بِانْتِظَامٍ.</a:t>
            </a:r>
            <a:endParaRPr lang="ar-SA" sz="180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cs typeface="Amiri" pitchFamily="2" charset="-78"/>
              </a:rPr>
              <a:t>يَجِبُ عَلَى اللَّاعِبُ أَنْ يَتَدَرَّبَ بِانْتِظَامٍ.</a:t>
            </a:r>
            <a:endParaRPr lang="ar-SA" sz="180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requires the subjunctive </a:t>
            </a:r>
            <a:pPr algn="l" indent="0" marL="0">
              <a:buNone/>
            </a:pPr>
            <a:r>
              <a:rPr lang="ar-SA" altLang="en-US" sz="1350" dirty="0">
                <a:solidFill>
                  <a:srgbClr val="8A6D1E"/>
                </a:solidFill>
                <a:latin typeface="Amiri" pitchFamily="2" charset="-78"/>
                <a:cs typeface="Amiri" pitchFamily="2" charset="-78"/>
              </a:rPr>
              <a:t>يَتَدَرَّبَ</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requires the genitive.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admiration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أُعْجَبُ بِإِنْجَازِهَا الكَبِيرِ.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أُعْجَبُ إِنْجَازَهَا الكَبِيرَ.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أُعْجَبُ بِإِنْجَازُهَا الكَبِيرُ.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أُعْجَبُ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the noun and its adjective are both genitive.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 athlete profile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يُعْجِبُنِي هٰذَا اللَّاعِبُ كَثِيرًا. هُوَ لَاعِبُ كُرَةِ قَدَمٍ مَشْهُورٌ يَلْعَبُ لِفَرِيقٍ أُورُوبِّيٍّ كَبِيرٍ. فَازَ بِجَوَائِزَ عَدِيدَةٍ، وَيُعْتَبَرُ مِنْ أَفْضَلِ اللَّاعِبِينَ فِي العَالَمِ. وَفِي المَوْسِمِ المَاضِي فَازَ عَلَى فِرَقٍ قَوِيَّةٍ وَسَجَّلَ أَهْدَافًا كَثِيرَةً، لٰكِنَّهُ خَسِرَ المُبَارَاةَ النِّهَائِيَّةَ. وَمَعَ ذٰلِكَ أُعْجَبُ بِهِ لِأَنَّهُ مُتَوَاضِعٌ وَمُجْتَهِدٌ رَغْمَ نَجَاحِهِ الكَبِيرِ. وَيَقُولُ دَائِمًا إِنَّ العَمَلَ الجَمَاعِيَّ أَهَمُّ مِنَ الإِنْجَازِ الفَرْدِيِّ.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يَلْعَبُ لِفَرِيقٍ</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plays for a team</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أُورُوبِّيٍّ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European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بِجَوَائِزَ عَدِيدَةٍ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many prizes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يُعْتَبَرُ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considered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أَفْضَلِ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best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المَوْسِمِ المَاضِي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last season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سَجَّلَ أَهْدَافًا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scored goals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المُبَارَاةَ النِّهَائِيَّةَ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final</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رَغْمَ</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despite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العَمَلَ الجَمَاعِيَّ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teamwork</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sport does he play?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Handball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Football</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Tennis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win?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medal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yet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Numerous prizes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in the final?</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lost it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won it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drawn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he admired?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the tallest player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modest and hard-working</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earns the most money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always say?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Teamwork matters more than individual achievement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Winning is all that matters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is not important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sport does he play?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Handball</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Football</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Tennis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هُوَ لَاعِبُ كُرَةِ قَدَمٍ مَشْهُورٌ.</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win?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medal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yet</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Numerous prizes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فَازَ بِجَوَائِزَ عَدِيدَةٍ.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in the final?</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lost it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won it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drawn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لٰكِنَّهُ خَسِرَ المُبَارَاةَ النِّهَائِيَّةَ.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he admired?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the tallest player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is modest and hard-working</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earns the most money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أُعْجَبُ بِهِ لِأَنَّهُ مُتَوَاضِعٌ وَمُجْتَهِدٌ.</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always say?</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Teamwork matters more than individual achievement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Winning is all that matters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 is not important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إِنَّ العَمَلَ الجَمَاعِيَّ أَهَمُّ مِنَ الإِنْجَازِ الفَرْدِيِّ.</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Sport Mission — Results, Rules and Admiration</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reports winning a title accurately?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فَازَ الفَرِيقُ عَلَى البُطُولَةِ الوَطَنِيَّةِ.</a:t>
            </a:r>
            <a:endParaRPr lang="ar-SA" sz="18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فَازَ الفَرِيقُ بِالبُطُولَةِ الوَطَنِيَّةِ.</a:t>
            </a:r>
            <a:endParaRPr lang="ar-SA" sz="18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فَازَ الفَرِيقُ البُطُولَةَ الوَطَنِيَّةَ.</a:t>
            </a:r>
            <a:endParaRPr lang="ar-SA" sz="18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reports beating a rival accurately?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فَازَتْ عَلَى مُنَافِسَتِهَا فِي النِّهَائِيِّ.</a:t>
            </a:r>
            <a:endParaRPr lang="ar-SA" sz="200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فَازَتْ بِمُنَافِسَتِهَا فِي النِّهَائِيِّ.</a:t>
            </a:r>
            <a:endParaRPr lang="ar-SA" sz="200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فَازَتْ مُنَافِسَتَهَا فِي النِّهَائِيِّ.</a:t>
            </a:r>
            <a:endParaRPr lang="ar-SA" sz="200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drawing sentence is accurate?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تَعَادَلَ الفَرِيقَيْنِ فِي المُبَارَاةِ.</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تَعَادَلَتِ الفَرِيقَانِ فِي المُبَارَاةِ.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تَعَادَلَ الفَرِيقَانِ فِي المُبَارَاةِ.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rule is accurate?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مَمْنُوعٌ يَسْتَعْمِلُ اليَدَيْنِ فِي كُرَةِ القَدَمِ.</a:t>
            </a:r>
            <a:endParaRPr lang="ar-SA" sz="16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مَمْنُوعَةٌ اسْتِعْمَالُ اليَدَيْنِ فِي كُرَةِ القَدَمِ.</a:t>
            </a:r>
            <a:endParaRPr lang="ar-SA" sz="16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مَمْنُوعٌ اسْتِعْمَالُ اليَدَيْنِ فِي كُرَةِ القَدَمِ.</a:t>
            </a:r>
            <a:endParaRPr lang="ar-SA" sz="16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admiration sentence is accurate?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بِرُوحِ الفَرِيقِ.</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رُوحَ الفَرِيقِ.</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أُعْجَبُ عَلَى رُوحِ الفَرِيقِ.</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a result and a reason?</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فَازَ بِالمِيدَالِيَةِ لِأَنَّهُ.</a:t>
            </a:r>
            <a:endParaRPr lang="ar-SA" sz="18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فَازَ بِالمِيدَالِيَةِ لِأَنَّهُ تَدَرَّبَ كَثِيرًا.</a:t>
            </a:r>
            <a:endParaRPr lang="ar-SA" sz="18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المِيدَالِيَةَ فَازَ لِأَنَّ تَدَرَّبَ.</a:t>
            </a:r>
            <a:endParaRPr lang="ar-SA" sz="18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reports winning a title accurately?</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الفَرِيقُ عَلَى البُطُولَةِ الوَطَنِيَّةِ.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فَازَ الفَرِيقُ بِالبُطُولَةِ الوَطَنِيَّةِ.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الفَرِيقُ البُطُولَةَ الوَطَنِيَّةَ.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marks the title won.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reports beating a rival accurately?</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فَازَتْ عَلَى مُنَافِسَتِهَا فِي النِّهَائِيِّ.</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فَازَتْ بِمُنَافِسَتِهَا فِي النِّهَائِيِّ.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فَازَتْ مُنَافِسَتَهَا فِي النِّهَائِيِّ.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marks the opponent beaten.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drawing sentence is accurate?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تَعَادَلَ الفَرِيقَيْنِ فِي المُبَارَاةِ.</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تَعَادَلَتِ الفَرِيقَانِ فِي المُبَارَاةِ.</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تَعَادَلَ الفَرِيقَانِ فِي المُبَارَاةِ.</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subject is nominative </a:t>
            </a:r>
            <a:pPr algn="l" indent="0" marL="0">
              <a:buNone/>
            </a:pPr>
            <a:r>
              <a:rPr lang="ar-SA" altLang="en-US" sz="1350" dirty="0">
                <a:solidFill>
                  <a:srgbClr val="8A6D1E"/>
                </a:solidFill>
                <a:latin typeface="Amiri" pitchFamily="2" charset="-78"/>
                <a:cs typeface="Amiri" pitchFamily="2" charset="-78"/>
              </a:rPr>
              <a:t>الفَرِيقَانِ</a:t>
            </a:r>
            <a:pPr algn="l" indent="0" marL="0">
              <a:buNone/>
            </a:pPr>
            <a:r>
              <a:rPr lang="en-US" sz="1050" i="1" dirty="0">
                <a:solidFill>
                  <a:srgbClr val="8A6D1E"/>
                </a:solidFill>
                <a:latin typeface="Calibri" pitchFamily="34" charset="0"/>
                <a:cs typeface="Amiri" pitchFamily="2" charset="-78"/>
              </a:rPr>
              <a:t> and the verb is masculine.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rule is accurate?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مَمْنُوعٌ يَسْتَعْمِلُ اليَدَيْنِ فِي كُرَةِ القَدَمِ.</a:t>
            </a:r>
            <a:endParaRPr lang="ar-SA" sz="16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مَمْنُوعَةٌ اسْتِعْمَالُ اليَدَيْنِ فِي كُرَةِ القَدَمِ.</a:t>
            </a:r>
            <a:endParaRPr lang="ar-SA" sz="16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2" charset="-78"/>
                <a:cs typeface="Amiri" pitchFamily="2" charset="-78"/>
              </a:rPr>
              <a:t>مَمْنُوعٌ اسْتِعْمَالُ اليَدَيْنِ فِي كُرَةِ القَدَمِ.</a:t>
            </a:r>
            <a:endParaRPr lang="ar-SA" sz="16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مَمْنُوعٌ</a:t>
            </a:r>
            <a:pPr algn="l" indent="0" marL="0">
              <a:buNone/>
            </a:pPr>
            <a:r>
              <a:rPr lang="en-US" sz="1050" i="1" dirty="0">
                <a:solidFill>
                  <a:srgbClr val="8A6D1E"/>
                </a:solidFill>
                <a:latin typeface="Calibri" pitchFamily="34" charset="0"/>
                <a:cs typeface="Amiri" pitchFamily="2" charset="-78"/>
              </a:rPr>
              <a:t> is followed by a masculine verbal noun.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admiration sentence is accurate?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أُعْجَبُ بِرُوحِ الفَرِيقِ.</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أُعْجَبُ رُوحَ الفَرِيقِ.</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أُعْجَبُ عَلَى رُوحِ الفَرِيقِ.</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أُعْجَبُ</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a result and a reason?</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بِالمِيدَالِيَةِ لِأَنَّهُ.</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فَازَ بِالمِيدَالِيَةِ لِأَنَّهُ تَدَرَّبَ كَثِيرًا.</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المِيدَالِيَةَ فَازَ لِأَنَّ تَدَرَّبَ.</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accurate answer states the result and follows it with a complete reason.</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D5-L03 · The Past Tense — Form I Regular Singular Verbs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الفِعْلُ المَاضِي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past-tense verb</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ذَهَبَ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went</a:t>
            </a:r>
            <a:pPr indent="0" marL="0">
              <a:buNone/>
            </a:pPr>
            <a:r>
              <a:rPr lang="en-US" sz="1000" i="1" dirty="0">
                <a:solidFill>
                  <a:srgbClr val="5A6472"/>
                </a:solidFill>
                <a:latin typeface="Calibri" pitchFamily="34" charset="0"/>
                <a:cs typeface="Amiri" pitchFamily="2" charset="-78"/>
              </a:rPr>
              <a:t>  ذَهَبْتُ I went</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لَعِبَ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played</a:t>
            </a:r>
            <a:pPr indent="0" marL="0">
              <a:buNone/>
            </a:pPr>
            <a:r>
              <a:rPr lang="en-US" sz="1000" i="1" dirty="0">
                <a:solidFill>
                  <a:srgbClr val="5A6472"/>
                </a:solidFill>
                <a:latin typeface="Calibri" pitchFamily="34" charset="0"/>
                <a:cs typeface="Amiri" pitchFamily="2" charset="-78"/>
              </a:rPr>
              <a:t>  لَعِبْتُ I played</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أَمْسِ</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yesterday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الأُسْبُوعَ المَاضِيَ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last week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did you do last weekend? Try one sentence with </a:t>
            </a:r>
            <a:pPr algn="l" indent="0" marL="0">
              <a:buNone/>
            </a:pPr>
            <a:r>
              <a:rPr lang="ar-SA" altLang="en-US" sz="1350" dirty="0">
                <a:solidFill>
                  <a:srgbClr val="1F2A37"/>
                </a:solidFill>
                <a:latin typeface="Amiri" pitchFamily="2" charset="-78"/>
                <a:cs typeface="Amiri" pitchFamily="2" charset="-78"/>
              </a:rPr>
              <a:t>ذَهَبْتُ</a:t>
            </a:r>
            <a:pPr algn="l" indent="0" marL="0">
              <a:buNone/>
            </a:pPr>
            <a:r>
              <a:rPr lang="en-US" sz="1050" dirty="0">
                <a:solidFill>
                  <a:srgbClr val="1F2A37"/>
                </a:solidFill>
                <a:latin typeface="Calibri" pitchFamily="34" charset="0"/>
                <a:cs typeface="Amiri" pitchFamily="2" charset="-78"/>
              </a:rPr>
              <a:t> or </a:t>
            </a:r>
            <a:pPr algn="l" indent="0" marL="0">
              <a:buNone/>
            </a:pPr>
            <a:r>
              <a:rPr lang="ar-SA" altLang="en-US" sz="1350" dirty="0">
                <a:solidFill>
                  <a:srgbClr val="1F2A37"/>
                </a:solidFill>
                <a:latin typeface="Amiri" pitchFamily="2" charset="-78"/>
                <a:cs typeface="Amiri" pitchFamily="2" charset="-78"/>
              </a:rPr>
              <a:t>لَعِبْتُ</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فِي نِهَايَةِ الأُسْبُوعِ المَاضِي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sports words; write five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50–60-word athlete profile with </a:t>
            </a:r>
            <a:pPr algn="l" indent="0" marL="0">
              <a:buNone/>
            </a:pPr>
            <a:r>
              <a:rPr lang="ar-SA" altLang="en-US" sz="1550" dirty="0">
                <a:solidFill>
                  <a:srgbClr val="1F2A37"/>
                </a:solidFill>
                <a:latin typeface="Amiri" pitchFamily="2" charset="-78"/>
                <a:cs typeface="Amiri" pitchFamily="2" charset="-78"/>
              </a:rPr>
              <a:t>فَازَ بِـ</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أُعْجَبُ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 70 words, both admiration structures and a contrast.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D5-L03 · The Past Tense — Form I Regular Singular Verbs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الفِعْلُ المَاضِي — المُفْرَدُ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فَازَ بِـ</a:t>
            </a:r>
            <a:pPr algn="l" indent="0" marL="0">
              <a:buNone/>
            </a:pPr>
            <a:r>
              <a:rPr lang="en-US" sz="1300" b="1" dirty="0">
                <a:solidFill>
                  <a:srgbClr val="FFFFFF"/>
                </a:solidFill>
                <a:latin typeface="Calibri" pitchFamily="34" charset="0"/>
                <a:cs typeface="Amiri" pitchFamily="2" charset="-78"/>
              </a:rPr>
              <a:t> the prize · </a:t>
            </a:r>
            <a:pPr algn="l" indent="0" marL="0">
              <a:buNone/>
            </a:pPr>
            <a:r>
              <a:rPr lang="ar-SA" altLang="en-US" sz="1700" b="1" dirty="0">
                <a:solidFill>
                  <a:srgbClr val="FFFFFF"/>
                </a:solidFill>
                <a:latin typeface="Amiri" pitchFamily="2" charset="-78"/>
                <a:cs typeface="Amiri" pitchFamily="2" charset="-78"/>
              </a:rPr>
              <a:t>فَازَ عَلَى</a:t>
            </a:r>
            <a:pPr algn="l" indent="0" marL="0">
              <a:buNone/>
            </a:pPr>
            <a:r>
              <a:rPr lang="en-US" sz="1300" b="1" dirty="0">
                <a:solidFill>
                  <a:srgbClr val="FFFFFF"/>
                </a:solidFill>
                <a:latin typeface="Calibri" pitchFamily="34" charset="0"/>
                <a:cs typeface="Amiri" pitchFamily="2" charset="-78"/>
              </a:rPr>
              <a:t> the opponent · </a:t>
            </a:r>
            <a:pPr algn="l" indent="0" marL="0">
              <a:buNone/>
            </a:pPr>
            <a:r>
              <a:rPr lang="ar-SA" altLang="en-US" sz="1700" b="1" dirty="0">
                <a:solidFill>
                  <a:srgbClr val="FFFFFF"/>
                </a:solidFill>
                <a:latin typeface="Amiri" pitchFamily="2" charset="-78"/>
                <a:cs typeface="Amiri" pitchFamily="2" charset="-78"/>
              </a:rPr>
              <a:t>أُعْجَبُ بِـ</a:t>
            </a:r>
            <a:pPr algn="l" indent="0" marL="0">
              <a:buNone/>
            </a:pPr>
            <a:r>
              <a:rPr lang="en-US" sz="1300" b="1" dirty="0">
                <a:solidFill>
                  <a:srgbClr val="FFFFFF"/>
                </a:solidFill>
                <a:latin typeface="Calibri" pitchFamily="34" charset="0"/>
                <a:cs typeface="Amiri" pitchFamily="2" charset="-78"/>
              </a:rPr>
              <a:t> the person — and give a reason that agrees.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D5-L02 · Sport — Vocabulary, Famous Athletes and Cultural Context</dc:title>
  <dc:subject>PptxGenJS Presentation</dc:subject>
  <dc:creator>Al Madina Online School · Arabic Department</dc:creator>
  <cp:lastModifiedBy>Al Madina Online School · Arabic Department</cp:lastModifiedBy>
  <cp:revision>1</cp:revision>
  <dcterms:created xsi:type="dcterms:W3CDTF">2026-10-11T06:40:58Z</dcterms:created>
  <dcterms:modified xsi:type="dcterms:W3CDTF">2026-10-11T06:40:58Z</dcterms:modified>
</cp:coreProperties>
</file>