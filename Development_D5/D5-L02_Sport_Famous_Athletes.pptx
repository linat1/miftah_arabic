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D5-L02. The website lesson “Sport — Vocabulary, Famous Athletes and Cultural Context”: vocabulary, grammar rules and quiz, patterns, common mistakes, sorter, listening, reading, speaking prompts and model, writing task and model, differentiation, final check and the lesson mission. Picture match: website visual game “Sport — Vocabulary, Famous Athletes and Cultural Context”.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sports + one result sentence (فَازَ فَرِيقُنَا) + one admiration sentence (يُعْجِبُنِي هٰذَا اللَّاعِبُ). Develop: فَازَ بِـ vs فَازَ عَلَى, a rule with يَجِبُ عَلَى … أَنْ, أُعْجَبُ بِـ + reason. Stretch: the website ~70-word athlete profile with both admiration structures and a contrast (لٰكِنَّهُ خَسِرَ … · وَمَعَ ذٰلِكَ).
• فَازَ · خَسِرَ · تَعَادَلَ are PAST verbs: learn them as chunks today; D5-L03 teaches the full past-tense system.
• Cultural context: invite students to name Arab / Muslim athletes they admire (football, squash, athletics, weightlifting) — any athlete works for the writing task.
• TEACHER-WRITTEN ITEMS: one quiz distractor replaced (it differed only in a vowel ending), one missing vowel added in the listening script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D5-L01. Questions 4–5 retrieve the D5-L01 collocation and preference structures.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win a PRIZE with bi- and you beat a TEAM with ʿalā.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مشہور، متواضع are shared; بطل is known from Islamic texts. CAREFUL: Urdu مقابلہ = a match / contest, but in Arabic a match is مُبَارَاةٌ and مُقَابَلَةٌ is an interview. فَازَ is related to Urdu فائز (successful) and فوز (victory).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(1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(2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(3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Matches and results (website vocabulary (1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Matches and results (website vocabulary (2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Rules and admiration (website vocabulary (1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Rules and admiration (website vocabulary (2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“Reporting a win” (بِـ introduces what was won; عَلَى introduces who was beaten; both are followed by the genitive) and “Losing and drawing” (تَعَادَلَ is Form VI, a mutual action, so its subject is usually dual or plural). Website teaching point: “You are already reading past tense” — learn them as chunks now.
Website mistake: فَازَ عَلَى البُطُولَةِ ✗ → فَازَ بِالبُطُولَةِ.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“Stating a rule” (the person obliged follows عَلَى in the genitive; the action follows أَنْ in the subjunctive; مَمْنُوعٌ introduces a prohibition with a verbal noun) and “Expressing admiration” (with يُعْجِبُنِي the admired person is the grammatical SUBJECT — يُعْجِبُنِي هٰذَا اللَّاعِبُ; أُعْجَبُ is passive in form and fixed with بِـ).
Core: يُعْجِبُنِي + name is enough. Website mistake: يَجِبُ عَلَى اللَّاعِبُونَ أَنْ يَتَدَرَّبُونَ ✗ → اللَّاعِبِينَ … يَتَدَرَّبُوا.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structures carry this lesson: reporting a result, stating a rule, and saying why you admire someone. Each has a fixed preposition or a fixed verb form — check it before you choose.”
• Reporting a win: بِـ introduces what was won; عَلَى introduces who was beaten. Both are followed by the genitive.
• Losing and drawing: خَسِرَ takes a direct object or فِي with a match. تَعَادَلَ is Form VI, a mutual action, so its subject is usually dual or plural.
• Stating a rule: The person obliged follows عَلَى in the genitive; the action follows أَنْ in the subjunctive. مَمْنُوعٌ introduces a prohibition with a verbal noun.
• Expressing admiration: With يُعْجِبُنِي the admired person is the grammatical subject. أُعْجَبُ is a passive form and is fixed with بِـ.
Website common error: Do not choose an answer only because it contains the right sport. Check the preposition after فَازَ, the case after عَلَى, and whether the verb after أَنْ is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with the website writing model: “Prize or opponent? bi- or ʿalā? Is the athlete he or she?” Then repeat the reason for a female athlete: أُعْجَبُ بِهَا لِأَنَّهَا مُتَوَاضِعَةٌ.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(the three results). Develop / Stretch: all 5 — and the score (2–1).
Listen 1: just listen. Listen 2: note answers. Then chat the letters.
Support: after the second listening, show the read-along slide (Arabic + English, line by line) for Core students.
SCRIPT (read aloud):
فِي المُبَارَاةِ النِّهَائِيَّةِ أَمْسِ، فَازَ فَرِيقُنَا عَلَى الفَرِيقِ الضَّيْفِ بِهَدَفَيْنِ مُقَابِلَ هَدَفٍ وَاحِدٍ. وَفِي الأُسْبُوعِ المَاضِي خَسِرَ الفَرِيقُ مُبَارَاتَهُ، وَقَبْلَ ذٰلِكَ تَعَادَلَ الفَرِيقَانِ فِي النِّقَاطِ. أَمَّا أَنَا فَيُعْجِبُنِي لَاعِبُنَا الجَدِيدُ كَثِيرًا، وَأُعْجَبُ بِتَوَاضُعِهِ وَاجْتِهَادِهِ، لِأَنَّهُ يَتَدَرَّبُ يَوْمِيًّا رَغْمَ نَجَاحِهِ الكَبِيرِ. وَقَدْ فَازَ بِمِيدَالِيَةٍ ذَهَبِيَّةٍ فِي بُطُولَةٍ كَبِيرَةٍ.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فَازَ بِهِ؟ (Asking about the achievement)
B: فَازَ بِالمِيدَالِيَةِ الذَّهَبِيَّةِ، وَأُعْجَبُ بِتَوَاضُعِهِ لِأَنَّهُ يَتَدَرَّبُ يَوْمِيًّا. (Result plus admiration and reason)
Website prompts and model (four lines: question → name → achievement → result + admiration + reason). Website task: “my sporting hero”. To a girl: يُعْجِبُكِ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three naming sports with their verbs and two reporting a result. · Develop — Link the sentences into a profile that adds an admiration structure and a reason. · Stretch — Contrast individual and team sport using رَغْمَ or مَعَ ذٰلِكَ, keeping every case ending accurate.
Website writing task (Stretch): Write about seventy words on an athlete you admire: the sport played, a major achievement using فَازَ بِـ, two personality adjectives, and why you admire them using أُعْجَبُ بِـ … لِأَنَّهُ / لِأَنَّهَا.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يُعْجِبُنِي … · فَازَ بِالبُطُولَةِ · فَازَ فَرِيقُهُ عَلَى فِرَقٍ قَوِيَّةٍ · خَسِرَ المُبَارَاةَ · مُتَوَاضِعٌ وَمُجْتَهِدٌ · أُعْجَبُ بِهِ لِأَنَّهُ … · يَجِبُ عَلَى اللَّاعِبِينَ أَنْ يَتَدَرَّبُوا.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(D5-L03 · The Past Tense — Form I Regular Singular Verbs) will spend class time USING this language, so students prepare it tonight — short, simple, easy to access (school guidance: “Simple, Short, Interesting, Relevant, Easy to access”). The five words come from the website D5-L03 vocabulary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Sport — Vocabulary, Famous Athletes and Cultural Context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الرِّيَاضَةُ وَالرِّيَاضِيُّونَ المَشْهُورُونَ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sports, report results (</a:t>
            </a:r>
            <a:pPr algn="l" indent="0" marL="0">
              <a:buNone/>
            </a:pPr>
            <a:r>
              <a:rPr lang="ar-SA" altLang="en-US" sz="1800" dirty="0">
                <a:solidFill>
                  <a:srgbClr val="C6D2E6"/>
                </a:solidFill>
                <a:latin typeface="Amiri" pitchFamily="34" charset="0"/>
                <a:ea typeface="Amiri" pitchFamily="34" charset="-122"/>
                <a:cs typeface="Amiri" pitchFamily="34" charset="-120"/>
              </a:rPr>
              <a:t>فَازَ بِالبُطُولَةِ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فَازَ عَلَى الفَرِيقِ</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خَسِرَ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تَعَادَلَ</a:t>
            </a:r>
            <a:pPr algn="l" indent="0" marL="0">
              <a:buNone/>
            </a:pPr>
            <a:r>
              <a:rPr lang="en-US" sz="1400" dirty="0">
                <a:solidFill>
                  <a:srgbClr val="C6D2E6"/>
                </a:solidFill>
                <a:latin typeface="Calibri" pitchFamily="34" charset="0"/>
                <a:ea typeface="Calibri" pitchFamily="34" charset="-122"/>
                <a:cs typeface="Calibri" pitchFamily="34" charset="-120"/>
              </a:rPr>
              <a:t>), state rules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 أَنْ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مَمْنُوعٌ</a:t>
            </a:r>
            <a:pPr algn="l" indent="0" marL="0">
              <a:buNone/>
            </a:pPr>
            <a:r>
              <a:rPr lang="en-US" sz="1400" dirty="0">
                <a:solidFill>
                  <a:srgbClr val="C6D2E6"/>
                </a:solidFill>
                <a:latin typeface="Calibri" pitchFamily="34" charset="0"/>
                <a:ea typeface="Calibri" pitchFamily="34" charset="-122"/>
                <a:cs typeface="Calibri" pitchFamily="34" charset="-120"/>
              </a:rPr>
              <a:t>) and say why you admire an athlete (</a:t>
            </a:r>
            <a:pPr algn="l" indent="0" marL="0">
              <a:buNone/>
            </a:pPr>
            <a:r>
              <a:rPr lang="ar-SA" altLang="en-US" sz="1800" dirty="0">
                <a:solidFill>
                  <a:srgbClr val="C6D2E6"/>
                </a:solidFill>
                <a:latin typeface="Amiri" pitchFamily="34" charset="0"/>
                <a:ea typeface="Amiri" pitchFamily="34" charset="-122"/>
                <a:cs typeface="Amiri" pitchFamily="34" charset="-120"/>
              </a:rPr>
              <a:t>أُعْجَبُ بِـ … لِأَنَّهُ</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D5-L02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Results, rules and admiration — three fixed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structures, fix preposition slips, then a match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مُبَارَاةٌ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match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فَازَ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(a prize)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drew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بُطُولَةٌ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player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القَدَمِ 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السِّبَاحَةَ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الجَرْيِ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مُبَارَاةٌ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match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championship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فَازَ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won (a prize)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drew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بُطُولَةٌ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player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القَدَمِ 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D5-L01: collocation.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السِّبَاحَةَ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الجَرْيِ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D5-L01: preference.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You win a PRIZE with bi- and you beat a TEAM with ʿalā.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فَازَ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البُطُولَةِ · فَازَ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الفَرِيقِ الضَّيْفِ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fifteen sports and use each with its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Report a result with </a:t>
            </a:r>
            <a:pPr algn="l" indent="0" marL="0">
              <a:buNone/>
            </a:pPr>
            <a:r>
              <a:rPr lang="ar-SA" altLang="en-US" sz="1700" dirty="0">
                <a:solidFill>
                  <a:srgbClr val="1F2A37"/>
                </a:solidFill>
                <a:latin typeface="Amiri" pitchFamily="34" charset="0"/>
                <a:ea typeface="Amiri" pitchFamily="34" charset="-122"/>
                <a:cs typeface="Amiri" pitchFamily="34" charset="-120"/>
              </a:rPr>
              <a:t>فَازَ بِـ / فَازَ عَلَى / خَسِرَ / تَعَادَلَ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rule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يُسْمَحُ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مَمْنُوعٌ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why you admire an athlete with </a:t>
            </a:r>
            <a:pPr algn="l" indent="0" marL="0">
              <a:buNone/>
            </a:pPr>
            <a:r>
              <a:rPr lang="ar-SA" altLang="en-US" sz="1700" dirty="0">
                <a:solidFill>
                  <a:srgbClr val="1F2A37"/>
                </a:solidFill>
                <a:latin typeface="Amiri" pitchFamily="34" charset="0"/>
                <a:ea typeface="Amiri" pitchFamily="34" charset="-122"/>
                <a:cs typeface="Amiri" pitchFamily="34" charset="-120"/>
              </a:rPr>
              <a:t>يُعْجِبُنِي / أُعْجَبُ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لِأَنَّهُ / لِأَنَّهَا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sports.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team won or lost.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فَازَ بِـ</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فَازَ عَلَى</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rule with </a:t>
            </a:r>
            <a:pPr algn="l" indent="0" marL="0">
              <a:buNone/>
            </a:pPr>
            <a:r>
              <a:rPr lang="ar-SA" altLang="en-US" sz="1700" b="1" dirty="0">
                <a:solidFill>
                  <a:srgbClr val="C9780A"/>
                </a:solidFill>
                <a:latin typeface="Amiri" pitchFamily="34" charset="0"/>
                <a:ea typeface="Amiri" pitchFamily="34" charset="-122"/>
                <a:cs typeface="Amiri" pitchFamily="34" charset="-120"/>
              </a:rPr>
              <a:t>يَجِبُ عَلَى … أَنْ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athlete profile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a win and a loss.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Sports · 15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Matches and results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Rules and admiration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مُقَابَلَةٌ / مُبَارَاةٌ</a:t>
            </a:r>
            <a:endParaRPr lang="ar-SA" sz="185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match, contest · Arabic match = مُبَارَاةٌ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كُشْتِي → مُصَارَعَةٌ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‎کشتی‎ </a:t>
            </a:r>
            <a:pPr indent="0" marL="0">
              <a:buNone/>
            </a:pPr>
            <a:r>
              <a:rPr lang="en-US" sz="950" b="1" dirty="0">
                <a:solidFill>
                  <a:srgbClr val="2E8B57"/>
                </a:solidFill>
                <a:latin typeface="Calibri" pitchFamily="34" charset="0"/>
                <a:ea typeface="Calibri" pitchFamily="34" charset="-122"/>
                <a:cs typeface="Calibri" pitchFamily="34" charset="-120"/>
              </a:rPr>
              <a:t> kushtī · wrestling (Arabic: مُصَارَعَةٌ)</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بَطَلٌ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‎بطل‎ </a:t>
            </a:r>
            <a:pPr indent="0" marL="0">
              <a:buNone/>
            </a:pPr>
            <a:r>
              <a:rPr lang="en-US" sz="950" b="1" dirty="0">
                <a:solidFill>
                  <a:srgbClr val="2E8B57"/>
                </a:solidFill>
                <a:latin typeface="Calibri" pitchFamily="34" charset="0"/>
                <a:ea typeface="Calibri" pitchFamily="34" charset="-122"/>
                <a:cs typeface="Calibri" pitchFamily="34" charset="-120"/>
              </a:rPr>
              <a:t> baṭal · champion, hero</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مَشْهُورٌ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‎مشہور‎ </a:t>
            </a:r>
            <a:pPr indent="0" marL="0">
              <a:buNone/>
            </a:pPr>
            <a:r>
              <a:rPr lang="en-US" sz="950" b="1" dirty="0">
                <a:solidFill>
                  <a:srgbClr val="2E8B57"/>
                </a:solidFill>
                <a:latin typeface="Calibri" pitchFamily="34" charset="0"/>
                <a:ea typeface="Calibri" pitchFamily="34" charset="-122"/>
                <a:cs typeface="Calibri" pitchFamily="34" charset="-120"/>
              </a:rPr>
              <a:t> mashhūr · famous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مُتَوَاضِعٌ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‎متواضع / عاجز‎ </a:t>
            </a:r>
            <a:pPr indent="0" marL="0">
              <a:buNone/>
            </a:pPr>
            <a:r>
              <a:rPr lang="en-US" sz="950" b="1" dirty="0">
                <a:solidFill>
                  <a:srgbClr val="2E8B57"/>
                </a:solidFill>
                <a:latin typeface="Calibri" pitchFamily="34" charset="0"/>
                <a:ea typeface="Calibri" pitchFamily="34" charset="-122"/>
                <a:cs typeface="Calibri" pitchFamily="34" charset="-120"/>
              </a:rPr>
              <a:t> mutawāziʿ · modest, humble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القَدَمِ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al-qa-da-mi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basketball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as-sal-la-ti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الطَّائِرَةِ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volleyball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aṭ-ṭā-ʾi-ra-ti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handball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al-ya-di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tennis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at-ti-ni-su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listed as </a:t>
            </a:r>
            <a:pPr algn="l" indent="0" marL="0">
              <a:buNone/>
            </a:pPr>
            <a:r>
              <a:rPr lang="ar-SA" altLang="en-US" sz="1300" dirty="0">
                <a:solidFill>
                  <a:srgbClr val="8A6D1E"/>
                </a:solidFill>
                <a:latin typeface="Amiri" pitchFamily="34" charset="0"/>
                <a:ea typeface="Amiri" pitchFamily="34" charset="-122"/>
                <a:cs typeface="Amiri" pitchFamily="34" charset="-120"/>
              </a:rPr>
              <a:t>كُرَةُ المِضْرَبِ</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رَفْعُ الأَثْقَالِ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weightlifting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raf-ʿu al-ath-qā-li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a:t>
            </a:r>
            <a:pPr algn="l" indent="0" marL="0">
              <a:buNone/>
            </a:pPr>
            <a:r>
              <a:rPr lang="ar-SA" altLang="en-US" sz="1300" dirty="0">
                <a:solidFill>
                  <a:srgbClr val="8A6D1E"/>
                </a:solidFill>
                <a:latin typeface="Amiri" pitchFamily="34" charset="0"/>
                <a:ea typeface="Amiri" pitchFamily="34" charset="-122"/>
                <a:cs typeface="Amiri" pitchFamily="34" charset="-120"/>
              </a:rPr>
              <a:t>الأَثْقَالِ</a:t>
            </a:r>
            <a:pPr algn="l" indent="0" marL="0">
              <a:buNone/>
            </a:pPr>
            <a:r>
              <a:rPr lang="en-US" sz="1000" i="1" dirty="0">
                <a:solidFill>
                  <a:srgbClr val="8A6D1E"/>
                </a:solidFill>
                <a:latin typeface="Calibri" pitchFamily="34" charset="0"/>
                <a:ea typeface="Calibri" pitchFamily="34" charset="-122"/>
                <a:cs typeface="Calibri" pitchFamily="34" charset="-120"/>
              </a:rPr>
              <a:t> is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فُنُونُ القِتَالِ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martial arts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fu-nū-nu al-qi-tā-li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الجِمْبَازُ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gymnastics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al-jim-bā-zu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70444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الجَرْيُ / العَدْوُ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al-jar-yu / al-ʿad-wu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Form III verbal noun.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المُلَاكَمَةُ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boxing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al-mu-lā-ka-ma-tu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الجُودُو</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al-jū-dū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أَلْعَابُ القُوَى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athletics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al-ʿā-bu al-qu-wā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الشِّطْرَنْجُ</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ash-shiṭ-ran-ju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Matches and results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فَرِيقٌ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fa-rī-qun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فِرَقٌ</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مُبَارَيَاتٌ.</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مُبَارَاةٌ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mu-bā-rā-tun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بُطُولَةٌ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championship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bu-ṭū-la-tun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 score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 أَهْدَافٌ</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goal / goals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 ah-dā-fun</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فَازَ بِـ</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won (a prize or title)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fā-za bi</a:t>
            </a:r>
            <a:endParaRPr lang="en-US" sz="1350" dirty="0"/>
          </a:p>
        </p:txBody>
      </p:sp>
      <p:sp>
        <p:nvSpPr>
          <p:cNvPr id="58" name="Text 5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 introduces what was won.</a:t>
            </a:r>
            <a:endParaRPr lang="en-US" sz="10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Matches and results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فَازَ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won against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fā-za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 introduces the opponent.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6" name="Shape 23"/>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خَسِرَ</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kha-si-ra</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خَسِرَتْ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Shape 3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تَعَادَلَ</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ta-ʿā-da-la</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تَعَادَلَتْ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مِيدَالِيَةٌ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mī-dā-li-ya-tun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بَطَلٌ / بَطَلَةٌ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champion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ba-ṭa-lun / ba-ṭa-la-tun</a:t>
            </a:r>
            <a:endParaRPr lang="en-US" sz="1350" dirty="0"/>
          </a:p>
        </p:txBody>
      </p:sp>
      <p:sp>
        <p:nvSpPr>
          <p:cNvPr id="57" name="Shape 5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أَبْطَالٌ / بَطَلَاتٌ</a:t>
            </a:r>
            <a:endParaRPr lang="ar-SA" sz="1500" dirty="0"/>
          </a:p>
        </p:txBody>
      </p:sp>
      <p:sp>
        <p:nvSpPr>
          <p:cNvPr id="60" name="Shape 5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2" name="Text 5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بَطَلَةٌ</a:t>
            </a:r>
            <a:endParaRPr lang="ar-SA" sz="15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رَقْمٌ قِيَاسِيٌّ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raq-mun qi-yā-siy-yun</a:t>
            </a:r>
            <a:endParaRPr lang="en-US" sz="1350" dirty="0"/>
          </a:p>
        </p:txBody>
      </p:sp>
      <p:sp>
        <p:nvSpPr>
          <p:cNvPr id="68" name="Text 6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with the masculine noun.</a:t>
            </a:r>
            <a:endParaRPr lang="en-US" sz="10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admiration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عَلَى …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 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ʿa-lā … an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is followed by the subjunctive.</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يُسْمَحُ بِـ</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permitted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yus-ma-ḥu bi</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verb, so it takes </a:t>
            </a:r>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مَمْنُوعٌ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forbidden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mam-nū-ʿun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لَاعِبٌ / لَاعِبُونَ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player / players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lā-ʿi-bun / lā-ʿi-bū-na</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لَاعِبُونَ / لَاعِبَاتٌ</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لَاعِبَةٌ</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يُعْجِبُنِي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admire it (lit. it pleases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yuʿ-ji-bu-nī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thing admired is the subject.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admiration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أُعْجَبُ بِـ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impressed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uʿ-ja-bu bi</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form, fixed with </a:t>
            </a:r>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24" name="Shape 2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31" name="Shape 2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3" name="Text 3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مُتَوَاضِعٌ</a:t>
            </a:r>
            <a:endParaRPr lang="ar-SA" sz="3000" dirty="0"/>
          </a:p>
        </p:txBody>
      </p:sp>
      <p:sp>
        <p:nvSpPr>
          <p:cNvPr id="34" name="Text 3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mu-ta-wā-ḍi-ʿun</a:t>
            </a:r>
            <a:endParaRPr lang="en-US" sz="1350" dirty="0"/>
          </a:p>
        </p:txBody>
      </p:sp>
      <p:sp>
        <p:nvSpPr>
          <p:cNvPr id="35" name="Shape 32"/>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مُتَوَاضِعُونَ</a:t>
            </a:r>
            <a:endParaRPr lang="ar-SA" sz="1500" dirty="0"/>
          </a:p>
        </p:txBody>
      </p:sp>
      <p:sp>
        <p:nvSpPr>
          <p:cNvPr id="38" name="Shape 35"/>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0" name="Text 37"/>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مُتَوَاضِعَةٌ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57" name="Shape 54"/>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مَشْهُورٌ</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mash-hū-run</a:t>
            </a:r>
            <a:endParaRPr lang="en-US" sz="1350" dirty="0"/>
          </a:p>
        </p:txBody>
      </p:sp>
      <p:sp>
        <p:nvSpPr>
          <p:cNvPr id="63" name="Shape 6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مَشْهُورُونَ</a:t>
            </a:r>
            <a:endParaRPr lang="ar-SA" sz="1500" dirty="0"/>
          </a:p>
        </p:txBody>
      </p:sp>
      <p:sp>
        <p:nvSpPr>
          <p:cNvPr id="66" name="Shape 6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8" name="Text 6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مَشْهُورَةٌ</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REPORTING RESULTS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Won, lost or drew?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won a PRIZE</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 </a:t>
            </a:r>
            <a:pPr rtl="1" algn="ctr" indent="0" marL="0">
              <a:buNone/>
            </a:pPr>
            <a:r>
              <a:rPr lang="ar-SA" altLang="en-US" sz="1950" b="1" dirty="0">
                <a:solidFill>
                  <a:srgbClr val="1D5FBF"/>
                </a:solidFill>
                <a:latin typeface="Amiri" pitchFamily="34" charset="0"/>
                <a:ea typeface="Amiri" pitchFamily="34" charset="-122"/>
                <a:cs typeface="Amiri" pitchFamily="34" charset="-120"/>
              </a:rPr>
              <a:t>بِالمِيدَالِيَةِ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الذَّهَبِيَّةِ.</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won the gold medal.</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بِـ</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beat an OPPONENT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 فَرِيقُنَا </a:t>
            </a:r>
            <a:pPr rtl="1" algn="ctr" indent="0" marL="0">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الفَرِيقِ الضَّيْفِ.</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team beat the visiting team.</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عَلَى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lost</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خَسِرَ الفَرِيقُ المُبَارَاةَ النِّهَائِيَّةَ.</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team lost the final.</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خَسِرَ</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drew (two sides)</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تَعَادَلَ الفَرِيقَانِ فِي النِّقَاطِ.</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two teams drew on points.</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تَعَادَلَ</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won</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فَازَتِ البَطَلَةُ بِالمِيدَالِيَةِ الفِضِّيَّةِ.</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(female) champion won the silver medal.</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فَازَتْ</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Scores: a 2–1 win is “by two goals to one” (bi-hadafayni muqābila hadafin wāḥid) — see the listening.</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RULES AND ADMIRATION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the athletes we admire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القَوَاعِدُ وَالإِعْجَابُ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RULE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عَلَى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عَلَى اللَّاعِبِينَ أَنْ يَحْتَرِمُوا الحَكَمَ.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Players must respect the referee.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-īna; an + -ū.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FORBIDDEN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مَمْنُوعٌ لَمْسُ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مَمْنُوعٌ لَمْسُ الكُرَةِ بِاليَدَيْنِ.</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Touching the ball with the hands is forbidden.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verbal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ADMIRE · CORE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يُعْجِبُنِي · أُعْجَبُ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أُعْجَبُ بِهٰذِهِ البَطَلَةِ لِأَنَّهَا مُجْتَهِدَةٌ.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admire this champion because she is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Reason agrees.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t>
            </a:r>
            <a:pPr algn="l" indent="0" marL="0">
              <a:buNone/>
            </a:pPr>
            <a:r>
              <a:rPr lang="ar-SA" altLang="en-US" sz="1500" dirty="0">
                <a:solidFill>
                  <a:srgbClr val="1F2A37"/>
                </a:solidFill>
                <a:latin typeface="Amiri" pitchFamily="34" charset="0"/>
                <a:ea typeface="Amiri" pitchFamily="34" charset="-122"/>
                <a:cs typeface="Amiri" pitchFamily="34" charset="-120"/>
              </a:rPr>
              <a:t>أُعْجَبُ</a:t>
            </a:r>
            <a:pPr algn="l" indent="0" marL="0">
              <a:buNone/>
            </a:pPr>
            <a:r>
              <a:rPr lang="en-US" sz="1150" dirty="0">
                <a:solidFill>
                  <a:srgbClr val="1F2A37"/>
                </a:solidFill>
                <a:latin typeface="Calibri" pitchFamily="34" charset="0"/>
                <a:ea typeface="Calibri" pitchFamily="34" charset="-122"/>
                <a:cs typeface="Calibri" pitchFamily="34" charset="-120"/>
              </a:rPr>
              <a:t> always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أُعْجَبُ بِاللَّاعِبِ.</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أُعْجَبُ اللَّاعِبَ.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Results, rules and admiration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النَّتَائِجُ وَالقَوَاعِدُ وَالإِعْجَابُ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Reporting a win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فَازَ</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بِـ</a:t>
            </a:r>
            <a:pPr algn="l" indent="0" marL="0">
              <a:buNone/>
            </a:pPr>
            <a:r>
              <a:rPr lang="en-US" sz="1050" dirty="0">
                <a:solidFill>
                  <a:srgbClr val="5A6472"/>
                </a:solidFill>
                <a:latin typeface="Calibri" pitchFamily="34" charset="0"/>
                <a:ea typeface="Calibri" pitchFamily="34" charset="-122"/>
                <a:cs typeface="Calibri" pitchFamily="34" charset="-120"/>
              </a:rPr>
              <a:t> (the prize) /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dirty="0">
                <a:solidFill>
                  <a:srgbClr val="5A6472"/>
                </a:solidFill>
                <a:latin typeface="Calibri" pitchFamily="34" charset="0"/>
                <a:ea typeface="Calibri" pitchFamily="34" charset="-122"/>
                <a:cs typeface="Calibri" pitchFamily="34" charset="-120"/>
              </a:rPr>
              <a:t> (the opponent)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فَازَ بِالمِيدَالِيَةِ الذَّهَبِيَّةِ   ·   فَازَ عَلَى الفَرِيقِ الضَّيْفِ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Losing and drawing</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خَسِرَ</a:t>
            </a:r>
            <a:pPr algn="l" indent="0" marL="0">
              <a:buNone/>
            </a:pPr>
            <a:r>
              <a:rPr lang="en-US" sz="1050" dirty="0">
                <a:solidFill>
                  <a:srgbClr val="5A6472"/>
                </a:solidFill>
                <a:latin typeface="Calibri" pitchFamily="34" charset="0"/>
                <a:ea typeface="Calibri" pitchFamily="34" charset="-122"/>
                <a:cs typeface="Calibri" pitchFamily="34" charset="-120"/>
              </a:rPr>
              <a:t> + object / </a:t>
            </a:r>
            <a:pPr algn="l" indent="0" marL="0">
              <a:buNone/>
            </a:pPr>
            <a:r>
              <a:rPr lang="ar-SA" altLang="en-US" sz="1350" dirty="0">
                <a:solidFill>
                  <a:srgbClr val="5A6472"/>
                </a:solidFill>
                <a:latin typeface="Amiri" pitchFamily="34" charset="0"/>
                <a:ea typeface="Amiri" pitchFamily="34" charset="-122"/>
                <a:cs typeface="Amiri" pitchFamily="34" charset="-120"/>
              </a:rPr>
              <a:t>تَعَادَلَ</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الفَرِيقَانِ</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خَسِرَ الفَرِيقُ المُبَارَاةَ النِّهَائِيَّةَ   ·   تَعَادَلَ الفَرِيقَانِ فِي النِّقَاطِ</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Stating a rule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person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اللَّاعِبِينَ أَنْ يَحْتَرِمُوا الحَكَمَ   ·   مَمْنُوعٌ لَمْسُ الكُرَةِ بِاليَدَيْنِ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Expressing admiration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يُعْجِبُنِي</a:t>
            </a:r>
            <a:pPr algn="l" indent="0" marL="0">
              <a:buNone/>
            </a:pPr>
            <a:r>
              <a:rPr lang="en-US" sz="1050" dirty="0">
                <a:solidFill>
                  <a:srgbClr val="5A6472"/>
                </a:solidFill>
                <a:latin typeface="Calibri" pitchFamily="34" charset="0"/>
                <a:ea typeface="Calibri" pitchFamily="34" charset="-122"/>
                <a:cs typeface="Calibri" pitchFamily="34" charset="-120"/>
              </a:rPr>
              <a:t> + subject  /  </a:t>
            </a:r>
            <a:pPr algn="l" indent="0" marL="0">
              <a:buNone/>
            </a:pPr>
            <a:r>
              <a:rPr lang="ar-SA" altLang="en-US" sz="1350" dirty="0">
                <a:solidFill>
                  <a:srgbClr val="5A6472"/>
                </a:solidFill>
                <a:latin typeface="Amiri" pitchFamily="34" charset="0"/>
                <a:ea typeface="Amiri" pitchFamily="34" charset="-122"/>
                <a:cs typeface="Amiri" pitchFamily="34" charset="-120"/>
              </a:rPr>
              <a:t>أُعْجَبُ بِـ</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يُعْجِبُنِي هٰذَا اللَّاعِبُ   ·   أُعْجَبُ بِتَوَاضُعِهِ</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winning a championship.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عَلَى البُطُولَةِ.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البُطُولَةَ.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بِالبُطُولَةِ.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beating an opponent.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عَلَى الفَرِيقِ الضَّيْفِ.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بِالفَرِيقِ الضَّيْفِ.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إِلَى الفَرِيقِ الضَّيْفِ.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عَلَى هٰذَا اللَّاعِبِ كَثِيرًا.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هٰذَا اللَّاعِبُ كَثِيرًا.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بِهٰذَا اللَّاعِبِ كَثِيرًا.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whose reason agrees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لِأَنَّهَا مُجْتَهِدَةٌ.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لِأَنَّهَا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winning a championship.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عَلَى البُطُولَةِ.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البُطُولَةَ.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الفَرِيقُ بِالبُطُولَةِ.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thing won,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beating an opponent.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المُنْتَخَبُ عَلَى الفَرِيقِ الضَّيْفِ.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المُنْتَخَبُ بِالفَرِيقِ الضَّيْفِ.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المُنْتَخَبُ إِلَى الفَرِيقِ الضَّيْفِ.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introduces the opponent who was beaten.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يُعْجِبُنِي عَلَى هٰذَا اللَّاعِبِ كَثِيرًا.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يُعْجِبُنِي هٰذَا اللَّاعِبُ كَثِيرًا.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يُعْجِبُنِي بِهٰذَا اللَّاعِبِ كَثِيرًا.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يُعْجِبُنِي</a:t>
            </a:r>
            <a:pPr algn="l" indent="0" marL="0">
              <a:buNone/>
            </a:pPr>
            <a:r>
              <a:rPr lang="en-US" sz="1050" i="1" dirty="0">
                <a:solidFill>
                  <a:srgbClr val="8A6D1E"/>
                </a:solidFill>
                <a:latin typeface="Calibri" pitchFamily="34" charset="0"/>
                <a:ea typeface="Calibri" pitchFamily="34" charset="-122"/>
                <a:cs typeface="Calibri" pitchFamily="34" charset="-120"/>
              </a:rPr>
              <a:t> the admired person is the subject, so it is nominative.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whose reason agrees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بِهٰذِهِ البَطَلَةِ لِأَنَّهَا مُجْتَهِدَةٌ.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بِهٰذِهِ البَطَلَةِ لِأَنَّهُ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بِهٰذِهِ البَطَلَةِ لِأَنَّهَا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البَطَلَة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both the pronoun and the adjective are feminine.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describe an athlete I admire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Admire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يُعْجِبُنِي</a:t>
            </a:r>
            <a:pPr rtl="1" algn="ctr" indent="0" marL="0">
              <a:buNone/>
            </a:pPr>
            <a:r>
              <a:rPr lang="ar-SA" altLang="en-US" sz="2800" b="1" dirty="0">
                <a:solidFill>
                  <a:srgbClr val="1B3B6F"/>
                </a:solidFill>
                <a:latin typeface="Amiri" pitchFamily="34" charset="0"/>
                <a:ea typeface="Amiri" pitchFamily="34" charset="-122"/>
                <a:cs typeface="Amiri" pitchFamily="34" charset="-120"/>
              </a:rPr>
              <a:t> هٰذَا اللَّاعِبُ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Player =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فَازَ </a:t>
            </a:r>
            <a:pPr rtl="1" algn="ctr" indent="0" marL="0">
              <a:buNone/>
            </a:pPr>
            <a:r>
              <a:rPr lang="ar-SA" altLang="en-US" sz="2800" b="1" dirty="0">
                <a:solidFill>
                  <a:srgbClr val="1D5FBF"/>
                </a:solidFill>
                <a:latin typeface="Amiri" pitchFamily="34" charset="0"/>
                <a:ea typeface="Amiri" pitchFamily="34" charset="-122"/>
                <a:cs typeface="Amiri" pitchFamily="34" charset="-120"/>
              </a:rPr>
              <a:t>بِـ</a:t>
            </a:r>
            <a:pPr rtl="1" algn="ctr" indent="0" marL="0">
              <a:buNone/>
            </a:pPr>
            <a:r>
              <a:rPr lang="ar-SA" altLang="en-US" sz="2800" b="1" dirty="0">
                <a:solidFill>
                  <a:srgbClr val="1B3B6F"/>
                </a:solidFill>
                <a:latin typeface="Amiri" pitchFamily="34" charset="0"/>
                <a:ea typeface="Amiri" pitchFamily="34" charset="-122"/>
                <a:cs typeface="Amiri" pitchFamily="34" charset="-120"/>
              </a:rPr>
              <a:t>البُطُولَةِ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Prize: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Opponent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فَازَ </a:t>
            </a:r>
            <a:pPr rtl="1" algn="ctr" indent="0" marL="0">
              <a:buNone/>
            </a:pPr>
            <a:r>
              <a:rPr lang="ar-SA" altLang="en-US" sz="28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فِرَقٍ قَوِيَّةٍ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Opponent: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34" charset="0"/>
                <a:ea typeface="Amiri" pitchFamily="34" charset="-122"/>
                <a:cs typeface="Amiri" pitchFamily="34" charset="-120"/>
              </a:rPr>
              <a:t>أُعْجَبُ بِهِ</a:t>
            </a:r>
            <a:pPr rtl="1" algn="ctr" indent="0" marL="0">
              <a:buNone/>
            </a:pPr>
            <a:r>
              <a:rPr lang="ar-SA" altLang="en-US" sz="2550" b="1" dirty="0">
                <a:solidFill>
                  <a:srgbClr val="1B3B6F"/>
                </a:solidFill>
                <a:latin typeface="Amiri" pitchFamily="34" charset="0"/>
                <a:ea typeface="Amiri" pitchFamily="34" charset="-122"/>
                <a:cs typeface="Amiri" pitchFamily="34" charset="-120"/>
              </a:rPr>
              <a:t> لِأَنَّهُ مُتَوَاضِعٌ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ADMIRATION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PRIZE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OPPONENT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يُعْجِبُنِي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لَاعِبُ كُرَةِ القَدَمِ فِي فَرِيقِنَا الوَطَنِيِّ كَثِيرًا. فِي المَوْسِمِ المَاضِي فَازَ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بِالبُطُولَةِ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وَفَازَ فَرِيقُهُ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فِرَقٍ قَوِيَّةٍ. هُوَ مُتَوَاضِعٌ وَمُجْتَهِدٌ،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أُعْجَبُ بِهِ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 يَحْتَرِمُ مُنَافِسِيهِ.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really admire the footballer in our national team. Last season he won the championship, and his team beat strong teams. He is modest and hard-working, and I admire him because he respects his opponents.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فَازَ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won the gold medal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marks the prize won,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اللَّاعِبِينَ أَنْ يَتَدَرَّبُوا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players must train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Genitive after عَلَى, subjunctive after أَنْ.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أُعْجَبُ بِتَوَاضُعِهِ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admire his modesty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أُعْجَبُ is passive in form and always takes بِـ.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SPORT — VOCABULARY, FAMOUS ATHLETES AND CULTURAL CONTEXT”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sport?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basketball</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runner</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السَّلَّةِ.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basketball</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السَّلَّةِ.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basketball.</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runner</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بِـ</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خَسِرَ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تَعَادَلَ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مَمْنُوعٌ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يُسْمَحُ بِـ</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يُعْجِبُنِي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أُعْجَبُ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إِنْجَازٌ رَائِعٌ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Result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Rule structure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Admiration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Result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بِـ</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خَسِرَ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تَعَادَلَ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Rule structure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مَمْنُوعٌ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يُسْمَحُ بِـ</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Admiration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يُعْجِبُنِي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أُعْجَبُ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إِنْجَازٌ رَائِعٌ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drawing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 فِي النِّقَاطِ.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الفَرِيقَيْنِ فِي النِّقَاطِ.</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الفَرِيقَانِ فِي النِّقَاطِ.</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اللَّاعِبُونَ أَنْ يَحْتَرِمُونَ الحَكَمَ.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اللَّاعِبِينَ أَنْ يَحْتَرِمُوا الحَكَمَ.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اللَّاعِبِينَ أَنْ يَحْتَرِمُوا الحَكَمَ.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يَلْمِسُ الكُرَةَ بِاليَدَيْنِ.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لَمْسُ الكُرَةِ بِاليَدَيْنِ.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مَمْنُوعَةٌ لَمْسُ الكُرَةِ بِاليَدَيْنِ.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أُعْجَبُ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تَوَاضُعَهُ وَاجْتِهَادَهُ.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عَلَى تَوَاضُعِهِ وَاجْتِهَادِهِ.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بِتَوَاضُعِهِ وَاجْتِهَادِهِ.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drawing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 فِي النِّقَاطِ.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الفَرِيقَيْنِ فِي النِّقَاطِ.</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تَعَادَلَ الفَرِيقَانِ فِي النِّقَاطِ.</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تَعَادَلَ</a:t>
            </a:r>
            <a:pPr algn="l" indent="0" marL="0">
              <a:buNone/>
            </a:pPr>
            <a:r>
              <a:rPr lang="en-US" sz="1050" i="1" dirty="0">
                <a:solidFill>
                  <a:srgbClr val="8A6D1E"/>
                </a:solidFill>
                <a:latin typeface="Calibri" pitchFamily="34" charset="0"/>
                <a:ea typeface="Calibri" pitchFamily="34" charset="-122"/>
                <a:cs typeface="Calibri" pitchFamily="34" charset="-120"/>
              </a:rPr>
              <a:t> describes a mutual action, so the dual subject </a:t>
            </a:r>
            <a:pPr algn="l" indent="0" marL="0">
              <a:buNone/>
            </a:pPr>
            <a:r>
              <a:rPr lang="ar-SA" altLang="en-US" sz="1350" dirty="0">
                <a:solidFill>
                  <a:srgbClr val="8A6D1E"/>
                </a:solidFill>
                <a:latin typeface="Amiri" pitchFamily="34" charset="0"/>
                <a:ea typeface="Amiri" pitchFamily="34" charset="-122"/>
                <a:cs typeface="Amiri" pitchFamily="34" charset="-120"/>
              </a:rPr>
              <a:t>الفَرِيقَانِ</a:t>
            </a:r>
            <a:pPr algn="l" indent="0" marL="0">
              <a:buNone/>
            </a:pPr>
            <a:r>
              <a:rPr lang="en-US" sz="1050" i="1" dirty="0">
                <a:solidFill>
                  <a:srgbClr val="8A6D1E"/>
                </a:solidFill>
                <a:latin typeface="Calibri" pitchFamily="34" charset="0"/>
                <a:ea typeface="Calibri" pitchFamily="34" charset="-122"/>
                <a:cs typeface="Calibri" pitchFamily="34" charset="-120"/>
              </a:rPr>
              <a: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اللَّاعِبُونَ أَنْ يَحْتَرِمُونَ الحَكَمَ.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اللَّاعِبِينَ أَنْ يَحْتَرِمُوا الحَكَمَ.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اللَّاعِبِينَ أَنْ يَحْتَرِمُوا الحَكَمَ.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 </a:t>
            </a:r>
            <a:pPr algn="l" indent="0" marL="0">
              <a:buNone/>
            </a:pPr>
            <a:r>
              <a:rPr lang="ar-SA" altLang="en-US" sz="1350" dirty="0">
                <a:solidFill>
                  <a:srgbClr val="8A6D1E"/>
                </a:solidFill>
                <a:latin typeface="Amiri" pitchFamily="34" charset="0"/>
                <a:ea typeface="Amiri" pitchFamily="34" charset="-122"/>
                <a:cs typeface="Amiri" pitchFamily="34" charset="-120"/>
              </a:rPr>
              <a:t>اللَّاعِبِينَ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يَحْتَرِمُوا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 يَلْمِسُ الكُرَةَ بِاليَدَيْنِ.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مَمْنُوعٌ لَمْسُ الكُرَةِ بِاليَدَيْنِ.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مَمْنُوعَةٌ لَمْسُ الكُرَةِ بِاليَدَيْنِ.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verbal noun, and </a:t>
            </a:r>
            <a:pPr algn="l" indent="0" marL="0">
              <a:buNone/>
            </a:pPr>
            <a:r>
              <a:rPr lang="ar-SA" altLang="en-US" sz="1350" dirty="0">
                <a:solidFill>
                  <a:srgbClr val="8A6D1E"/>
                </a:solidFill>
                <a:latin typeface="Amiri" pitchFamily="34" charset="0"/>
                <a:ea typeface="Amiri" pitchFamily="34" charset="-122"/>
                <a:cs typeface="Amiri" pitchFamily="34" charset="-120"/>
              </a:rPr>
              <a:t>لَمْسٌ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أُعْجَبُ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تَوَاضُعَهُ وَاجْتِهَادَهُ.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عَلَى تَوَاضُعِهِ وَاجْتِهَادِهِ.</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بِتَوَاضُعِهِ وَاجْتِهَادِهِ.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noun after it is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فَازَ عَلَى البُطُولَةِ.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prize or an opponent?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اللَّاعِبُونَ أَنْ يَتَدَرَّبُونَ.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ʿalā: -ūna or -īna?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أُعْجَبُ اللَّاعِبَ.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uʿjabu?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فَازَ عَلَى البُطُولَةِ.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فَازَ بِالبُطُولَةِ.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is for the opponent; the prize takes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اللَّاعِبُونَ أَنْ يَتَدَرَّبُونَ.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اللَّاعِبِينَ أَنْ يَتَدَرَّبُوا.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takes the genitive, and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takes the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أُعْجَبُ اللَّاعِبَ.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أُعْجَبُ بِاللَّاعِبِ.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أُعْجَبُ</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a match report and an admired athlete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 of yesterday's final?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team won 2–1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team lost 2–1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teams drew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week?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won the championship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match was cancelled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lost its match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before that?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won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lost again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teams drew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admire in the new player?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modesty and hard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height and speed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fame and wealth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admire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never loses a match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daily despite his success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plays for a foreign team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results: won · lost · drew.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المُبَارَاةِ النِّهَائِيَّةِ أَمْسِ، فَازَ فَرِيقُنَا عَلَى الفَرِيقِ الضَّيْفِ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final yesterday, our team beat the visiting team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بِهَدَفَيْنِ مُقَابِلَ هَدَفٍ وَاحِدٍ.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two goals to 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وَفِي الأُسْبُوعِ المَاضِي خَسِرَ الفَرِيقُ مُبَارَاتَهُ، وَقَبْلَ ذٰلِكَ تَعَادَلَ الفَرِيقَانِ فِي النِّقَاطِ.</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 the team lost its match, and before that the two teams drew on points.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أَنَا فَيُعْجِبُنِي لَاعِبُنَا الجَدِيدُ كَثِيرًا، وَأُعْجَبُ بِتَوَاضُعِهِ وَاجْتِهَادِهِ،</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me, I really like our new player, and I admire his modesty and hard 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لِأَنَّهُ يَتَدَرَّبُ يَوْمِيًّا رَغْمَ نَجَاحِهِ الكَبِيرِ. وَقَدْ فَازَ بِمِيدَالِيَةٍ ذَهَبِيَّةٍ فِي بُطُولَةٍ كَبِيرَةٍ.</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trains every day despite his great success. He has won a gold medal in a big championship.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 of yesterday's final?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Our team won 2–1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 team lost 2–1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teams drew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فَرِيقُنَا … بِهَدَفَيْنِ مُقَابِلَ هَدَفٍ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week?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won the championship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match was cancelled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team lost its match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خَسِرَ الفَرِيقُ مُبَارَاتَهُ.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before that?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won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lost again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two teams drew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تَعَادَلَ الفَرِيقَانِ فِي النِّقَاطِ.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admire in the new player?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modesty and hard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height and speed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fame and wealth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أُعْجَبُ بِتَوَاضُعِهِ وَاجْتِهَادِهِ.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admire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never loses a match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trains daily despite his success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plays for a foreign team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يَتَدَرَّبُ يَوْمِيًّا رَغْمَ نَجَاحِهِ الكَبِيرِ.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results: won · lost · drew.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sporting hero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الرِّيَاضِيُّ الَّذِي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فَازَ بِهِ فِي المَوْسِمِ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الرِّيَاضَةَ الفَرْدِيَّةَ أَمِ الجَمَاعِيَّةَ؟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يُعْجِبُنِي ___ لِأَنَّهُ / لِأَنَّهَا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فَازَ / فَازَتْ بِـ ___ ، وَفَازَ عَلَى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الرِّيَاضَةَ ___ عَلَى ___ لِأَنَّ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الرِّيَاضِيُّ الَّذِي يُعْجِبُكَ؟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athlete do you admire?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يُعْجِبُنِي لَاعِبٌ مَشْهُورٌ فِي فَرِيقِنَا الوَطَنِيِّ.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admire a famous player in our national team.</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three naming sports with their verbs and two reporting a result.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sports with their verbs + two results (won / lost).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Link the sentences into a profile that adds an admiration structure and a reason.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 athlete profile with fāza bi-, a rule and uʿjabu bi- …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individual and team sport using </a:t>
            </a:r>
            <a:pPr algn="l" indent="0" marL="0">
              <a:buNone/>
            </a:pPr>
            <a:r>
              <a:rPr lang="ar-SA" altLang="en-US" sz="1800" b="1" dirty="0">
                <a:solidFill>
                  <a:srgbClr val="1F2A37"/>
                </a:solidFill>
                <a:latin typeface="Amiri" pitchFamily="34" charset="0"/>
                <a:ea typeface="Amiri" pitchFamily="34" charset="-122"/>
                <a:cs typeface="Amiri" pitchFamily="34" charset="-120"/>
              </a:rPr>
              <a:t>رَغْمَ</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مَعَ ذٰلِكَ</a:t>
            </a:r>
            <a:pPr algn="l" indent="0" marL="0">
              <a:buNone/>
            </a:pPr>
            <a:r>
              <a:rPr lang="en-US" sz="1400" b="1" dirty="0">
                <a:solidFill>
                  <a:srgbClr val="1F2A37"/>
                </a:solidFill>
                <a:latin typeface="Calibri" pitchFamily="34" charset="0"/>
                <a:ea typeface="Calibri" pitchFamily="34" charset="-122"/>
                <a:cs typeface="Calibri" pitchFamily="34" charset="-120"/>
              </a:rPr>
              <a:t>, keeping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sport, achievement, two adjectives, both admiration structures and a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هُوَ مُتَوَاضِعٌ وَمُجْتَهِدٌ. / هِيَ مُتَوَاضِعَةٌ وَمُجْتَهِدَةٌ.</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modest and hard-working.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أُعْجَبُ بِهِ / بِهَا لِأَنَّهُ /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admire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 لٰكِنَّهَا خَسِرَ / خَسِرَتْ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he / she lost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اللَّاعِبِينَ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Players must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يُعْجِبُنِي ______ كَثِيرًا.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admire … a lot.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يَلْعَبُ / تَلْعَبُ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plays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 فَازَتْ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won the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فَرِيقُهُ / فَرِيقُهَا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team beat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يُعْجِبُنِي  ·  أُعْجَبُ بِـ  ·  فَازَ بِـ  ·  فَازَ عَلَى  ·  خَسِرَ  ·  تَعَادَلَ  ·  بُطُولَةٌ  ·  مِيدَالِيَةٌ ذَهَبِيَّةٌ  ·  مُتَوَاضِعٌ  ·  مُجْتَهِدٌ  ·  مَشْهُورٌ  ·  يَجِبُ عَلَى …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on an athlete you admire: the sport played, a major achievement using </a:t>
            </a:r>
            <a:pPr algn="l" indent="0" marL="0">
              <a:buNone/>
            </a:pPr>
            <a:r>
              <a:rPr lang="ar-SA" altLang="en-US" sz="1750" b="1" dirty="0">
                <a:solidFill>
                  <a:srgbClr val="1F2A37"/>
                </a:solidFill>
                <a:latin typeface="Amiri" pitchFamily="34" charset="0"/>
                <a:ea typeface="Amiri" pitchFamily="34" charset="-122"/>
                <a:cs typeface="Amiri" pitchFamily="34" charset="-120"/>
              </a:rPr>
              <a:t>فَازَ بِـ</a:t>
            </a:r>
            <a:pPr algn="l" indent="0" marL="0">
              <a:buNone/>
            </a:pPr>
            <a:r>
              <a:rPr lang="en-US" sz="1350" b="1" dirty="0">
                <a:solidFill>
                  <a:srgbClr val="1F2A37"/>
                </a:solidFill>
                <a:latin typeface="Calibri" pitchFamily="34" charset="0"/>
                <a:ea typeface="Calibri" pitchFamily="34" charset="-122"/>
                <a:cs typeface="Calibri" pitchFamily="34" charset="-120"/>
              </a:rPr>
              <a:t>, two personality adjectives, and why you admire them using </a:t>
            </a:r>
            <a:pPr algn="l" indent="0" marL="0">
              <a:buNone/>
            </a:pPr>
            <a:r>
              <a:rPr lang="ar-SA" altLang="en-US" sz="1750" b="1" dirty="0">
                <a:solidFill>
                  <a:srgbClr val="1F2A37"/>
                </a:solidFill>
                <a:latin typeface="Amiri" pitchFamily="34" charset="0"/>
                <a:ea typeface="Amiri" pitchFamily="34" charset="-122"/>
                <a:cs typeface="Amiri" pitchFamily="34" charset="-120"/>
              </a:rPr>
              <a:t>أُعْجَبُ بِـ … لِأَنَّهُ / لِأَنَّهَا</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result phrase from </a:t>
            </a:r>
            <a:pPr algn="l" indent="0" marL="0">
              <a:buNone/>
            </a:pPr>
            <a:r>
              <a:rPr lang="ar-SA" altLang="en-US" sz="1550" dirty="0">
                <a:solidFill>
                  <a:srgbClr val="1F2A37"/>
                </a:solidFill>
                <a:latin typeface="Amiri" pitchFamily="34" charset="0"/>
                <a:ea typeface="Amiri" pitchFamily="34" charset="-122"/>
                <a:cs typeface="Amiri" pitchFamily="34" charset="-120"/>
              </a:rPr>
              <a:t>فَازَ بِـ / فَازَ عَلَى / خَسِرَ / تَعَادَلَ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admiration structures: </a:t>
            </a:r>
            <a:pPr algn="l" indent="0" marL="0">
              <a:buNone/>
            </a:pPr>
            <a:r>
              <a:rPr lang="ar-SA" altLang="en-US" sz="1550" dirty="0">
                <a:solidFill>
                  <a:srgbClr val="1F2A37"/>
                </a:solidFill>
                <a:latin typeface="Amiri" pitchFamily="34" charset="0"/>
                <a:ea typeface="Amiri" pitchFamily="34" charset="-122"/>
                <a:cs typeface="Amiri" pitchFamily="34" charset="-120"/>
              </a:rPr>
              <a:t>يُعْجِبُنِي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أُعْجَبُ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personality adjectives that agree with their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reason with </a:t>
            </a:r>
            <a:pPr algn="l" indent="0" marL="0">
              <a:buNone/>
            </a:pPr>
            <a:r>
              <a:rPr lang="ar-SA" altLang="en-US" sz="1550" dirty="0">
                <a:solidFill>
                  <a:srgbClr val="1F2A37"/>
                </a:solidFill>
                <a:latin typeface="Amiri" pitchFamily="34" charset="0"/>
                <a:ea typeface="Amiri" pitchFamily="34" charset="-122"/>
                <a:cs typeface="Amiri" pitchFamily="34" charset="-120"/>
              </a:rPr>
              <a:t>لِأَنَّ</a:t>
            </a:r>
            <a:pPr algn="l" indent="0" marL="0">
              <a:buNone/>
            </a:pPr>
            <a:r>
              <a:rPr lang="en-US" sz="1200" dirty="0">
                <a:solidFill>
                  <a:srgbClr val="1F2A37"/>
                </a:solidFill>
                <a:latin typeface="Calibri" pitchFamily="34" charset="0"/>
                <a:ea typeface="Calibri" pitchFamily="34" charset="-122"/>
                <a:cs typeface="Calibri" pitchFamily="34" charset="-120"/>
              </a:rPr>
              <a:t> where the pronoun matches the athlete's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المَوْسِمِ المَاضِي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season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يَحْتَرِمُ مُنَافِسِيهِ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respects his opponents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رَغْمَ نَجَاحِهِ الكَبِيرِ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despite his great success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العَمَلُ الجَمَاعِيُّ أَهَمُّ مِنَ الإِنْجَازِ الفَرْدِيِّ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teamwork matters more than individual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يُعْجِبُنِي لَاعِبُ كُرَةِ القَدَمِ فِي فَرِيقِنَا الوَطَنِيِّ كَثِيرًا. فِي المَوْسِمِ المَاضِي فَازَ بِالبُطُولَةِ، وَفَازَ فَرِيقُهُ عَلَى فِرَقٍ قَوِيَّةٍ. وَلٰكِنَّهُ خَسِرَ المُبَارَاةَ النِّهَائِيَّةَ فِي بُطُولَةٍ أُخْرَى. هُوَ مُتَوَاضِعٌ وَمُجْتَهِدٌ، وَأُعْجَبُ بِهِ لِأَنَّهُ يَحْتَرِمُ مُنَافِسِيهِ. وَفِي رَأْيِي يَجِبُ عَلَى اللَّاعِبِينَ أَنْ يَتَدَرَّبُوا بِانْتِظَامٍ.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really admire the footballer in our national team. Last season he won the championship, and his team beat strong teams. But he lost the final in another championship. He is modest and hard-working, and I admire him because he respects his opponents. In my opinion, players must train regularly.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both admiration structures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فَازَ بِـ and فَازَ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personality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sport with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 result (won / lost).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bi- for the prize and ʿalā for the opponent.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with the athlete (m. / f.).</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a:t>
            </a:r>
            <a:pPr algn="l" indent="0" marL="0">
              <a:buNone/>
            </a:pPr>
            <a:r>
              <a:rPr lang="ar-SA" altLang="en-US" sz="1700" dirty="0">
                <a:solidFill>
                  <a:srgbClr val="1F2A37"/>
                </a:solidFill>
                <a:latin typeface="Amiri" pitchFamily="34" charset="0"/>
                <a:ea typeface="Amiri" pitchFamily="34" charset="-122"/>
                <a:cs typeface="Amiri" pitchFamily="34" charset="-120"/>
              </a:rPr>
              <a:t>يُعْجِبُنِي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أُعْجَبُ بِـ</a:t>
            </a:r>
            <a:pPr algn="l" indent="0" marL="0">
              <a:buNone/>
            </a:pPr>
            <a:r>
              <a:rPr lang="en-US" sz="1300" dirty="0">
                <a:solidFill>
                  <a:srgbClr val="1F2A37"/>
                </a:solidFill>
                <a:latin typeface="Calibri" pitchFamily="34" charset="0"/>
                <a:ea typeface="Calibri" pitchFamily="34" charset="-122"/>
                <a:cs typeface="Calibri" pitchFamily="34" charset="-120"/>
              </a:rPr>
              <a:t>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بِالمِيدَالِيَةِ الفِضِّيَّةِ.</a:t>
            </a:r>
            <a:endParaRPr lang="ar-SA" sz="17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عَلَى المِيدَالِيَةِ الفِضِّيَّةِ.</a:t>
            </a:r>
            <a:endParaRPr lang="ar-SA" sz="17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المِيدَالِيَةَ الفِضِّيَّةَ.</a:t>
            </a:r>
            <a:endParaRPr lang="ar-SA" sz="17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إِنْجَازَهَا الكَبِيرَ.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b="1" dirty="0">
                <a:solidFill>
                  <a:srgbClr val="1F2A37"/>
                </a:solidFill>
                <a:latin typeface="Amiri" pitchFamily="34" charset="0"/>
                <a:ea typeface="Amiri" pitchFamily="34" charset="-122"/>
                <a:cs typeface="Amiri" pitchFamily="34" charset="-120"/>
              </a:rPr>
              <a:t>فَازَتِ البَطَلَةُ بِالمِيدَالِيَةِ الفِضِّيَّةِ.</a:t>
            </a:r>
            <a:endParaRPr lang="ar-SA" sz="17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فَازَتِ البَطَلَةُ عَلَى المِيدَالِيَةِ الفِضِّيَّةِ.</a:t>
            </a:r>
            <a:endParaRPr lang="ar-SA" sz="17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فَازَتِ البَطَلَةُ المِيدَالِيَةَ الفِضِّيَّةَ.</a:t>
            </a:r>
            <a:endParaRPr lang="ar-SA" sz="17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prize won follows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يَتَدَرَّبَ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requires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أُعْجَبُ إِنْجَازَهَا الكَبِيرَ.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أُعْجَبُ بِإِنْجَازُهَا الكَبِيرُ.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noun and its adjective are both genitive.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 athlete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يُعْجِبُنِي هٰذَا اللَّاعِبُ كَثِيرًا. هُوَ لَاعِبُ كُرَةِ قَدَمٍ مَشْهُورٌ يَلْعَبُ لِفَرِيقٍ أُورُوبِّيٍّ كَبِيرٍ. فَازَ بِجَوَائِزَ عَدِيدَةٍ، وَيُعْتَبَرُ مِنْ أَفْضَلِ اللَّاعِبِينَ فِي العَالَمِ. وَفِي المَوْسِمِ المَاضِي فَازَ عَلَى فِرَقٍ قَوِيَّةٍ وَسَجَّلَ أَهْدَافًا كَثِيرَةً، لٰكِنَّهُ خَسِرَ المُبَارَاةَ النِّهَائِيَّةَ. وَمَعَ ذٰلِكَ أُعْجَبُ بِهِ لِأَنَّهُ مُتَوَاضِعٌ وَمُجْتَهِدٌ رَغْمَ نَجَاحِهِ الكَبِيرِ. وَيَقُولُ دَائِمًا إِنَّ العَمَلَ الجَمَاعِيَّ أَهَمُّ مِنَ الإِنْجَازِ الفَرْدِيِّ.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يَلْعَبُ لِفَرِيقٍ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plays for a team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أُورُوبِّيٍّ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European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بِجَوَائِزَ عَدِيدَةٍ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many prizes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يُعْتَبَرُ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أَفْضَلِ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best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المَوْسِمِ المَاضِي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season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 أَهْدَافًا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scored goals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المُبَارَاةَ النِّهَائِيَّةَ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رَغْمَ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despite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 الجَمَاعِيَّ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teamwork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does he play?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Handball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Tennis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win?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medal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yet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Numerous prizes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the final?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 it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it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drawn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 admired?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the tallest player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modest and hard-working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earns the most money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always say?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 matters more than individual achievement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Winning is all that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is not important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does he play?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Handball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Football</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Tennis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 لَاعِبُ كُرَةِ قَدَمٍ مَشْهُورٌ.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win?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medal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yet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Numerous prizes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بِجَوَائِزَ عَدِيدَةٍ.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the final?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lost it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won it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drawn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لٰكِنَّهُ خَسِرَ المُبَارَاةَ النِّهَائِيَّةَ.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 admired?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the tallest player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modest and hard-working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earns the most money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أُعْجَبُ بِهِ لِأَنَّهُ مُتَوَاضِعٌ وَمُجْتَهِدٌ.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always say?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Teamwork matters more than individual achievement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Winning is all that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is not important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إِنَّ العَمَلَ الجَمَاعِيَّ أَهَمُّ مِنَ الإِنْجَازِ الفَرْدِيِّ.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Sport Mission — Results, Rules and Admiration</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winning a title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عَلَى البُطُولَةِ الوَطَنِيَّةِ.</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بِالبُطُولَةِ الوَطَنِيَّةِ.</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البُطُولَةَ الوَطَنِيَّةَ.</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beating a rival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عَلَى مُنَافِسَتِهَا فِي النِّهَائِيِّ.</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بِمُنَافِسَتِهَا فِي النِّهَائِيِّ.</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مُنَافِسَتَهَا فِي النِّهَائِيِّ.</a:t>
            </a:r>
            <a:endParaRPr lang="ar-SA" sz="20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drawing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الفَرِيقَيْنِ فِي المُبَارَاةِ.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تَعَادَلَتِ الفَرِيقَانِ فِي المُبَارَاةِ.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الفَرِيقَانِ فِي المُبَارَاةِ.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 يَسْتَعْمِلُ اليَدَيْنِ فِي كُرَةِ القَدَمِ.</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مَمْنُوعَةٌ اسْتِعْمَالُ اليَدَيْنِ فِي كُرَةِ القَدَمِ.</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 اسْتِعْمَالُ اليَدَيْنِ فِي كُرَةِ القَدَمِ.</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admiration sentence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بِرُوحِ الفَرِيقِ.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رُوحَ الفَرِيقِ.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عَلَى رُوحِ الفَرِيقِ.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 result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بِالمِيدَالِيَةِ لِأَنَّهُ.</a:t>
            </a:r>
            <a:endParaRPr lang="ar-SA" sz="18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بِالمِيدَالِيَةِ لِأَنَّهُ تَدَرَّبَ كَثِيرًا.</a:t>
            </a:r>
            <a:endParaRPr lang="ar-SA" sz="18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المِيدَالِيَةَ فَازَ لِأَنَّ تَدَرَّبَ.</a:t>
            </a:r>
            <a:endParaRPr lang="ar-SA" sz="18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winning a title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عَلَى البُطُولَةِ الوَطَنِيَّةِ.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الفَرِيقُ بِالبُطُولَةِ الوَطَنِيَّةِ.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البُطُولَةَ الوَطَنِيَّةَ.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marks the title won.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beating a rival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فَازَتْ عَلَى مُنَافِسَتِهَا فِي النِّهَائِيِّ.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فَازَتْ بِمُنَافِسَتِهَا فِي النِّهَائِيِّ.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فَازَتْ مُنَافِسَتَهَا فِي النِّهَائِيِّ.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marks the opponent beaten.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drawing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الفَرِيقَيْنِ فِي المُبَارَاةِ.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تَعَادَلَتِ الفَرِيقَانِ فِي المُبَارَاةِ.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تَعَادَلَ الفَرِيقَانِ فِي المُبَارَاةِ.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subject is nominative </a:t>
            </a:r>
            <a:pPr algn="l" indent="0" marL="0">
              <a:buNone/>
            </a:pPr>
            <a:r>
              <a:rPr lang="ar-SA" altLang="en-US" sz="1350" dirty="0">
                <a:solidFill>
                  <a:srgbClr val="8A6D1E"/>
                </a:solidFill>
                <a:latin typeface="Amiri" pitchFamily="34" charset="0"/>
                <a:ea typeface="Amiri" pitchFamily="34" charset="-122"/>
                <a:cs typeface="Amiri" pitchFamily="34" charset="-120"/>
              </a:rPr>
              <a:t>الفَرِيقَانِ</a:t>
            </a:r>
            <a:pPr algn="l" indent="0" marL="0">
              <a:buNone/>
            </a:pPr>
            <a:r>
              <a:rPr lang="en-US" sz="1050" i="1" dirty="0">
                <a:solidFill>
                  <a:srgbClr val="8A6D1E"/>
                </a:solidFill>
                <a:latin typeface="Calibri" pitchFamily="34" charset="0"/>
                <a:ea typeface="Calibri" pitchFamily="34" charset="-122"/>
                <a:cs typeface="Calibri" pitchFamily="34" charset="-120"/>
              </a:rPr>
              <a:t> and the verb is masculine.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مَمْنُوعٌ يَسْتَعْمِلُ اليَدَيْنِ فِي كُرَةِ القَدَمِ.</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مَمْنُوعَةٌ اسْتِعْمَالُ اليَدَيْنِ فِي كُرَةِ القَدَمِ.</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مَمْنُوعٌ اسْتِعْمَالُ اليَدَيْنِ فِي كُرَةِ القَدَمِ.</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masculine verbal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admiration sentence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بِرُوحِ الفَرِيقِ.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رُوحَ الفَرِيقِ.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عَلَى رُوحِ الفَرِيقِ.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 result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بِالمِيدَالِيَةِ لِأَنَّهُ.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بِالمِيدَالِيَةِ لِأَنَّهُ تَدَرَّبَ كَثِيرًا.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المِيدَالِيَةَ فَازَ لِأَنَّ تَدَرَّبَ.</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answer states the result and follows it with a complete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D5-L03 · The Past Tense — Form I Regular Singular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الفِعْلُ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past-tense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went</a:t>
            </a:r>
            <a:pPr indent="0" marL="0">
              <a:buNone/>
            </a:pPr>
            <a:r>
              <a:rPr lang="en-US" sz="1000" i="1" dirty="0">
                <a:solidFill>
                  <a:srgbClr val="5A6472"/>
                </a:solidFill>
                <a:latin typeface="Calibri" pitchFamily="34" charset="0"/>
                <a:ea typeface="Calibri" pitchFamily="34" charset="-122"/>
                <a:cs typeface="Calibri" pitchFamily="34" charset="-120"/>
              </a:rPr>
              <a:t>  ذَهَبْتُ I went</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played</a:t>
            </a:r>
            <a:pPr indent="0" marL="0">
              <a:buNone/>
            </a:pPr>
            <a:r>
              <a:rPr lang="en-US" sz="1000" i="1" dirty="0">
                <a:solidFill>
                  <a:srgbClr val="5A6472"/>
                </a:solidFill>
                <a:latin typeface="Calibri" pitchFamily="34" charset="0"/>
                <a:ea typeface="Calibri" pitchFamily="34" charset="-122"/>
                <a:cs typeface="Calibri" pitchFamily="34" charset="-120"/>
              </a:rPr>
              <a:t>  لَعِبْتُ I played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yesterday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المَاضِيَ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last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did you do last weekend? Try one sentence with </a:t>
            </a:r>
            <a:pPr algn="l" indent="0" marL="0">
              <a:buNone/>
            </a:pPr>
            <a:r>
              <a:rPr lang="ar-SA" altLang="en-US" sz="1350" dirty="0">
                <a:solidFill>
                  <a:srgbClr val="1F2A37"/>
                </a:solidFill>
                <a:latin typeface="Amiri" pitchFamily="34" charset="0"/>
                <a:ea typeface="Amiri" pitchFamily="34" charset="-122"/>
                <a:cs typeface="Amiri" pitchFamily="34" charset="-120"/>
              </a:rPr>
              <a:t>ذَهَبْتُ</a:t>
            </a:r>
            <a:pPr algn="l" indent="0" marL="0">
              <a:buNone/>
            </a:pPr>
            <a:r>
              <a:rPr lang="en-US" sz="1050" dirty="0">
                <a:solidFill>
                  <a:srgbClr val="1F2A37"/>
                </a:solidFill>
                <a:latin typeface="Calibri" pitchFamily="34" charset="0"/>
                <a:ea typeface="Calibri" pitchFamily="34" charset="-122"/>
                <a:cs typeface="Calibri" pitchFamily="34" charset="-120"/>
              </a:rPr>
              <a:t> or </a:t>
            </a:r>
            <a:pPr algn="l" indent="0" marL="0">
              <a:buNone/>
            </a:pPr>
            <a:r>
              <a:rPr lang="ar-SA" altLang="en-US" sz="1350" dirty="0">
                <a:solidFill>
                  <a:srgbClr val="1F2A37"/>
                </a:solidFill>
                <a:latin typeface="Amiri" pitchFamily="34" charset="0"/>
                <a:ea typeface="Amiri" pitchFamily="34" charset="-122"/>
                <a:cs typeface="Amiri" pitchFamily="34" charset="-120"/>
              </a:rPr>
              <a:t>لَعِبْتُ</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نِهَايَةِ الأُسْبُوعِ المَاضِي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sports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athlete profile with </a:t>
            </a:r>
            <a:pPr algn="l" indent="0" marL="0">
              <a:buNone/>
            </a:pPr>
            <a:r>
              <a:rPr lang="ar-SA" altLang="en-US" sz="1550" dirty="0">
                <a:solidFill>
                  <a:srgbClr val="1F2A37"/>
                </a:solidFill>
                <a:latin typeface="Amiri" pitchFamily="34" charset="0"/>
                <a:ea typeface="Amiri" pitchFamily="34" charset="-122"/>
                <a:cs typeface="Amiri" pitchFamily="34" charset="-120"/>
              </a:rPr>
              <a:t>فَازَ بِـ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أُعْجَبُ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70 words, both admiration structures and a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D5-L03 · The Past Tense — Form I Regular Singular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المَاضِي — المُفْرَدُ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فَازَ بِـ</a:t>
            </a:r>
            <a:pPr algn="l" indent="0" marL="0">
              <a:buNone/>
            </a:pPr>
            <a:r>
              <a:rPr lang="en-US" sz="1300" b="1" dirty="0">
                <a:solidFill>
                  <a:srgbClr val="FFFFFF"/>
                </a:solidFill>
                <a:latin typeface="Calibri" pitchFamily="34" charset="0"/>
                <a:ea typeface="Calibri" pitchFamily="34" charset="-122"/>
                <a:cs typeface="Calibri" pitchFamily="34" charset="-120"/>
              </a:rPr>
              <a:t> the prize · </a:t>
            </a:r>
            <a:pPr algn="l" indent="0" marL="0">
              <a:buNone/>
            </a:pPr>
            <a:r>
              <a:rPr lang="ar-SA" altLang="en-US" sz="1700" b="1" dirty="0">
                <a:solidFill>
                  <a:srgbClr val="FFFFFF"/>
                </a:solidFill>
                <a:latin typeface="Amiri" pitchFamily="34" charset="0"/>
                <a:ea typeface="Amiri" pitchFamily="34" charset="-122"/>
                <a:cs typeface="Amiri" pitchFamily="34" charset="-120"/>
              </a:rPr>
              <a:t>فَازَ عَلَى</a:t>
            </a:r>
            <a:pPr algn="l" indent="0" marL="0">
              <a:buNone/>
            </a:pPr>
            <a:r>
              <a:rPr lang="en-US" sz="1300" b="1" dirty="0">
                <a:solidFill>
                  <a:srgbClr val="FFFFFF"/>
                </a:solidFill>
                <a:latin typeface="Calibri" pitchFamily="34" charset="0"/>
                <a:ea typeface="Calibri" pitchFamily="34" charset="-122"/>
                <a:cs typeface="Calibri" pitchFamily="34" charset="-120"/>
              </a:rPr>
              <a:t> the opponent · </a:t>
            </a:r>
            <a:pPr algn="l" indent="0" marL="0">
              <a:buNone/>
            </a:pPr>
            <a:r>
              <a:rPr lang="ar-SA" altLang="en-US" sz="1700" b="1" dirty="0">
                <a:solidFill>
                  <a:srgbClr val="FFFFFF"/>
                </a:solidFill>
                <a:latin typeface="Amiri" pitchFamily="34" charset="0"/>
                <a:ea typeface="Amiri" pitchFamily="34" charset="-122"/>
                <a:cs typeface="Amiri" pitchFamily="34" charset="-120"/>
              </a:rPr>
              <a:t>أُعْجَبُ بِـ</a:t>
            </a:r>
            <a:pPr algn="l" indent="0" marL="0">
              <a:buNone/>
            </a:pPr>
            <a:r>
              <a:rPr lang="en-US" sz="1300" b="1" dirty="0">
                <a:solidFill>
                  <a:srgbClr val="FFFFFF"/>
                </a:solidFill>
                <a:latin typeface="Calibri" pitchFamily="34" charset="0"/>
                <a:ea typeface="Calibri" pitchFamily="34" charset="-122"/>
                <a:cs typeface="Calibri" pitchFamily="34" charset="-120"/>
              </a:rPr>
              <a:t> the person — and give a reason that agrees.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D5-L02 · Sport — Vocabulary, Famous Athletes and Cultural Context</dc:title>
  <dc:subject>PptxGenJS Presentation</dc:subject>
  <dc:creator>Al Madina Online School · Arabic Department</dc:creator>
  <cp:lastModifiedBy>Al Madina Online School · Arabic Department</cp:lastModifiedBy>
  <cp:revision>1</cp:revision>
  <dcterms:created xsi:type="dcterms:W3CDTF">2026-10-03T06:08:57Z</dcterms:created>
  <dcterms:modified xsi:type="dcterms:W3CDTF">2026-10-03T06:08:57Z</dcterms:modified>
</cp:coreProperties>
</file>