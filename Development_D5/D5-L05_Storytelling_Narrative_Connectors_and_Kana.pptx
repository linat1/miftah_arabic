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D5-L05. The website lesson “Storytelling — Narrative Connectors and كَانَ Description”: vocabulary, grammar rules and quiz, patterns, common mistakes, sorter, listening, reading, speaking prompts and model, writing task and model, differentiation, final check and the lesson mission. Picture match: website visual game “Storytelling — Narrative Connectors and كَانَ Description”.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 six-sentence story with the frame — فِي البِدَايَةِ كَانَ … · ثُمَّ … · فَجْأَةً … · فِي النِّهَايَةِ … — and كَانَ + adjective with -an (جَمِيلًا). Develop: add a past habit (كَانَ يَلْعَبُ · كُنَّا نَتَدَرَّبُ) and كُنْتُ / كُنَّا. Stretch: the website 90–100-word anecdote with four connectors and a reflective close.
• THE accuracy point of the lesson: after كَانَ the describing word ends in -an / -a (accusative). Students circle كَانَ and check the word after the subject.
• Builds on D5-L03 / L04 (past endings, hollow verbs: كَانَ works like قَالَ → كُنْتُ). D5-L06 uses these narratives for music and art.
• TEACHER-WRITTEN ITEMS: two vowel-only quiz distractors replaced (the key case-ending error is kept on purpose), English added to the patterns and speaking model; the website visual game repeats D5-L03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D5-L04. Questions 4–5 retrieve D5-L04 (hollow verbs — كَانَ works the same way — and connectors).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After كَانَ, the describing word changes its ending: -un becomes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قصہ، حکایت، تجربہ are shared. CAREFUL: Urdu ذکر = mention / remembrance of Allah; Arabic ذِكْرَى = a memory (ذِكْرَيَاتٌ = memories). Urdu آخر = last / finally; Arabic says أَخِيرًا for “finally”.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Narrative connectors (website vocabulary (1 of 2)). Hear → Say → See → Use. Transliteration is printed for Core students (cover it for Develop/Stretch).
Narrative connectors: one for each stage of the story — beginning · next · turn · feelings ·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Narrative connectors (website vocabulary (2 of 2)). Hear → Say → See → Use. Transliteration is printed for Core students (cover it for Develop/Stretch).
Narrative connectors: one for each stage of the story — beginning · next · turn · feelings ·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كَانَ and its forms (website vocabulary (1 of 2)). Hear → Say → See → Use. Transliteration is printed for Core students (cover it for Develop/Stretch).
كَانَ and its forms. Cards show he / she / they. كَانَ is HOLLOW: كُنْتُ · كُنَّا (like قُلْتُ · قُلْنَا). كَانَ + present verb = “used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كَانَ and its forms (website vocabulary (2 of 2)). Hear → Say → See → Use. Transliteration is printed for Core students (cover it for Develop/Stretch).
كَانَ and its forms. Cards show he / she / they. كَانَ is HOLLOW: كُنْتُ · كُنَّا (like قُلْتُ · قُلْنَا). كَانَ + present verb = “used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Telling and remembering (website vocabulary (1 of 2)). Hear → Say → See → Use. Transliteration is printed for Core students (cover it for Develop/Stretch).
Telling and remembering: words for the closing reflection. لَنْ + subjunctive (لَنْ أَنْسَى = I will never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Telling and remembering (website vocabulary (2 of 2)). Hear → Say → See → Use. Transliteration is printed for Core students (cover it for Develop/Stretch).
Telling and remembering: words for the closing reflection. لَنْ + subjunctive (لَنْ أَنْسَى = I will never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“كَانَ with a description” (the predicate takes the accusative — adjectives and nouns), “كَانَ with a present verb” (a repeated or ongoing past action; only كَانَ carries the past) and “كَانَ is a hollow verb” (كُنْتُ / كُنَّا, exactly as قُلْتُ / قُلْنَا). Website teaching point: “كَانَ changes the ending of what follows.”
Website mistakes: كَانَ الطَّقْسُ جَمِيلٌ ✗ · كَانَ لَعِبَ كُلَّ يَوْمٍ ✗ · كَانْتُ سَعِيدًا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“The narrative arc” (setting → events → turn → resolution: فِي البِدَايَةِ opens, ثُمَّ continues, فَجْأَةً / فِي تِلْكَ اللَّحْظَةِ marks the turn, فِي النِّهَايَةِ / أَخِيرًا closes). Website teaching point: “Connectors carry the shape of the story.”
فُزْنَا = we won (فَازَ is hollow: فُزْتُ · فُزْنَا).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“Two structures build the story and one set of connectors shapes it. Watch the ending on the predicate of كَانَ, and keep the second verb in the present when you mean a past habit.”
• كَانَ with a description: The predicate of كَانَ takes the accusative. This applies to adjectives and to nouns.
• كَانَ with a present verb: This expresses a repeated or ongoing past action. Both verbs agree with the same subject; only كَانَ carries the past.
• كَانَ is a hollow verb: Before a consonant suffix the long ā shortens to u, exactly as with قَالَ.
• The narrative arc: فِي البِدَايَةِ opens, ثُمَّ continues, فَجْأَةً or فِي تِلْكَ اللَّحْظَةِ marks the turn, and فِي النِّهَايَةِ or أَخِيرًا closes.
Website common error: Leaving the predicate of كَانَ in the nominative is the most frequent narrative error. If كَانَ or كَانَتْ opens the clause, check that the describing word ends in a fatḥa or tanwīn fatḥ.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built from the website listening anecdote. Think aloud at each كَانَ: “Is the next word a description? Then -an.” Students copy and circle every كَانَ / كَانَتْ.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a mini-story aloud: one item from each column,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a mini-story aloud: one item from each column,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5 — and write down every connector you hear in order.
Listen 1: just listen. Listen 2: note answers. Then chat the letters.
Support: after the second listening, show the read-along slide (Arabic + English, line by line) for Core students.
SCRIPT (read aloud):
فِي البِدَايَةِ كَانَ اليَوْمُ عَادِيًّا، وَكَانَ الطَّقْسُ جَمِيلًا. كُنَّا مُتَحَمِّسِينَ لِأَنَّهَا المُبَارَاةُ النِّهَائِيَّةُ. فِي المَاضِي كَانَ فَرِيقُنَا يَتَدَرَّبُ ثَلَاثَ مَرَّاتٍ فِي الأُسْبُوعِ. ثُمَّ بَدَأَتِ المُبَارَاةُ، وَكَانَتْ صَعْبَةً جِدًّا. فَجْأَةً سَقَطَ لَاعِبُنَا وَأُصِيبَ، وَلِلْأَسَفِ خَرَجَ مِنَ المَلْعَبِ. فِي تِلْكَ اللَّحْظَةِ ظَنَنَّا أَنَّنَا سَنَخْسَرُ. لٰكِنْ لِحُسْنِ الحَظِّ سَجَّلَ زَمِيلُهُ هَدَفًا رَائِعًا. وَفِي النِّهَايَةِ فُزْنَا بِالمُبَارَاةِ، وَمَا زِلْتُ أَتَذَكَّرُ ذٰلِكَ اليَوْمَ.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حَدَثَ بَعْدَ ذٰلِكَ؟ (And what happened after that?)
B: فَجْأَةً سَقَطَ لَاعِبُنَا، وَلٰكِنْ لِحُسْنِ الحَظِّ فُزْنَا فِي النِّهَايَةِ، وَمَا زِلْتُ أَتَذَكَّرُ ذٰلِكَ اليَوْمَ. (Suddenly our player fell, but luckily we won in the end, and I still remember that day.)
Website prompts and model (four lines: question → setting with كَانَ → “what happened next?” → turn, resolution and reflection). Partner listens for كَانَ + -an and claps once when they hear it. To a girl: اِحْكِي لِي · كُنْتِ تَفْعَلِينَ · طُفُولَتِكِ · مَا زِلْتِ.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narrative frame to write six sentences: a setting with كَانَ, three events and a resolution. · Develop — Add a past habit with كَانَ plus a present verb and two emotional connectors. · Stretch — Vary the verbs across all persons, add a reflective close, and keep every predicate of كَانَ accusative.
Website writing task (Stretch): Write a ninety- to one-hundred-word anecdote about a hobby, sport or leisure experience. Set the scene with كَانَ, include one past habit with كَانَ plus a present verb, mark the turn with فَجْأَةً, resolve with فِي النِّهَايَةِ and close with a reflection.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كَانَ اليَوْمُ عَادِيًّا · كَانَ الطَّقْسُ حَارًّا · كَانَتْ صَعْبَةً · كُنَّا مُتَحَمِّسِينَ · كُنَّا نَتَدَرَّبُ · فِي البِدَايَةِ · ثُمَّ · فَجْأَةً · لِلْأَسَفِ · فِي تِلْكَ اللَّحْظَةِ · لِحُسْنِ الحَظِّ · فِي النِّهَايَةِ · مَا زِلْتُ أَتَذَكَّرُ.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(D5-L06 · Music, Arts and Arabic Culture) will spend class time USING this language, so students prepare it tonight — short, simple, easy to access (school guidance: “Simple, Short, Interesting, Relevant, Easy to access”). The five words come from the website D5-L06 vocabulary (music, arts and Arabic culture).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Storytelling — Narrative Connectors and </a:t>
            </a:r>
            <a:pPr algn="l" indent="0" marL="0">
              <a:buNone/>
            </a:pPr>
            <a:r>
              <a:rPr lang="ar-SA" altLang="en-US" sz="3450" b="1" dirty="0">
                <a:solidFill>
                  <a:srgbClr val="FFFFFF"/>
                </a:solidFill>
                <a:latin typeface="Amiri" pitchFamily="2" charset="-78"/>
                <a:cs typeface="Amiri" pitchFamily="2" charset="-78"/>
              </a:rPr>
              <a:t>كَانَ</a:t>
            </a:r>
            <a:pPr algn="l" indent="0" marL="0">
              <a:buNone/>
            </a:pPr>
            <a:r>
              <a:rPr lang="en-US" sz="2650" b="1" dirty="0">
                <a:solidFill>
                  <a:srgbClr val="FFFFFF"/>
                </a:solidFill>
                <a:latin typeface="Cambria" pitchFamily="34" charset="0"/>
                <a:cs typeface="Amiri" pitchFamily="2" charset="-78"/>
              </a:rPr>
              <a:t> Description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رِوَايَةُ القِصَصِ — رَوَابِطُ السَّرْدِ وَكَانَ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Tell a story with a shape — set the scene (</a:t>
            </a:r>
            <a:pPr algn="l" indent="0" marL="0">
              <a:buNone/>
            </a:pPr>
            <a:r>
              <a:rPr lang="ar-SA" altLang="en-US" sz="1800" dirty="0">
                <a:solidFill>
                  <a:srgbClr val="C6D2E6"/>
                </a:solidFill>
                <a:latin typeface="Amiri" pitchFamily="2" charset="-78"/>
                <a:cs typeface="Amiri" pitchFamily="2" charset="-78"/>
              </a:rPr>
              <a:t>كَانَ الطَّقْسُ جَمِيلًا</a:t>
            </a:r>
            <a:pPr algn="l" indent="0" marL="0">
              <a:buNone/>
            </a:pPr>
            <a:r>
              <a:rPr lang="en-US" sz="1400" dirty="0">
                <a:solidFill>
                  <a:srgbClr val="C6D2E6"/>
                </a:solidFill>
                <a:latin typeface="Calibri" pitchFamily="34" charset="0"/>
                <a:cs typeface="Amiri" pitchFamily="2" charset="-78"/>
              </a:rPr>
              <a:t>), say what used to happen (</a:t>
            </a:r>
            <a:pPr algn="l" indent="0" marL="0">
              <a:buNone/>
            </a:pPr>
            <a:r>
              <a:rPr lang="ar-SA" altLang="en-US" sz="1800" dirty="0">
                <a:solidFill>
                  <a:srgbClr val="C6D2E6"/>
                </a:solidFill>
                <a:latin typeface="Amiri" pitchFamily="2" charset="-78"/>
                <a:cs typeface="Amiri" pitchFamily="2" charset="-78"/>
              </a:rPr>
              <a:t>كَانَ يَلْعَبُ</a:t>
            </a:r>
            <a:pPr algn="l" indent="0" marL="0">
              <a:buNone/>
            </a:pPr>
            <a:r>
              <a:rPr lang="en-US" sz="1400" dirty="0">
                <a:solidFill>
                  <a:srgbClr val="C6D2E6"/>
                </a:solidFill>
                <a:latin typeface="Calibri" pitchFamily="34" charset="0"/>
                <a:cs typeface="Amiri" pitchFamily="2" charset="-78"/>
              </a:rPr>
              <a:t>), mark the turn (</a:t>
            </a:r>
            <a:pPr algn="l" indent="0" marL="0">
              <a:buNone/>
            </a:pPr>
            <a:r>
              <a:rPr lang="ar-SA" altLang="en-US" sz="1800" dirty="0">
                <a:solidFill>
                  <a:srgbClr val="C6D2E6"/>
                </a:solidFill>
                <a:latin typeface="Amiri" pitchFamily="2" charset="-78"/>
                <a:cs typeface="Amiri" pitchFamily="2" charset="-78"/>
              </a:rPr>
              <a:t>فَجْأَةً</a:t>
            </a:r>
            <a:pPr algn="l" indent="0" marL="0">
              <a:buNone/>
            </a:pPr>
            <a:r>
              <a:rPr lang="en-US" sz="1400" dirty="0">
                <a:solidFill>
                  <a:srgbClr val="C6D2E6"/>
                </a:solidFill>
                <a:latin typeface="Calibri" pitchFamily="34" charset="0"/>
                <a:cs typeface="Amiri" pitchFamily="2" charset="-78"/>
              </a:rPr>
              <a:t>) and close with a reflection (</a:t>
            </a:r>
            <a:pPr algn="l" indent="0" marL="0">
              <a:buNone/>
            </a:pPr>
            <a:r>
              <a:rPr lang="ar-SA" altLang="en-US" sz="1800" dirty="0">
                <a:solidFill>
                  <a:srgbClr val="C6D2E6"/>
                </a:solidFill>
                <a:latin typeface="Amiri" pitchFamily="2" charset="-78"/>
                <a:cs typeface="Amiri" pitchFamily="2" charset="-78"/>
              </a:rPr>
              <a:t>مَا زِلْتُ أَتَذَكَّرُ</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D5-L05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ar-SA" altLang="en-US" sz="1550" dirty="0">
                <a:solidFill>
                  <a:srgbClr val="1F2A37"/>
                </a:solidFill>
                <a:latin typeface="Amiri" pitchFamily="2" charset="-78"/>
                <a:cs typeface="Amiri" pitchFamily="2" charset="-78"/>
              </a:rPr>
              <a:t>كَانَ</a:t>
            </a:r>
            <a:pPr algn="ctr" indent="0" marL="0">
              <a:buNone/>
            </a:pPr>
            <a:r>
              <a:rPr lang="en-US" sz="1200" dirty="0">
                <a:solidFill>
                  <a:srgbClr val="1F2A37"/>
                </a:solidFill>
                <a:latin typeface="Calibri" pitchFamily="34" charset="0"/>
                <a:cs typeface="Amiri" pitchFamily="2" charset="-78"/>
              </a:rPr>
              <a:t> + description, </a:t>
            </a:r>
            <a:pPr algn="ctr" indent="0" marL="0">
              <a:buNone/>
            </a:pPr>
            <a:r>
              <a:rPr lang="ar-SA" altLang="en-US" sz="1550" dirty="0">
                <a:solidFill>
                  <a:srgbClr val="1F2A37"/>
                </a:solidFill>
                <a:latin typeface="Amiri" pitchFamily="2" charset="-78"/>
                <a:cs typeface="Amiri" pitchFamily="2" charset="-78"/>
              </a:rPr>
              <a:t>كَانَ</a:t>
            </a:r>
            <a:pPr algn="ctr" indent="0" marL="0">
              <a:buNone/>
            </a:pPr>
            <a:r>
              <a:rPr lang="en-US" sz="1200" dirty="0">
                <a:solidFill>
                  <a:srgbClr val="1F2A37"/>
                </a:solidFill>
                <a:latin typeface="Calibri" pitchFamily="34" charset="0"/>
                <a:cs typeface="Amiri" pitchFamily="2" charset="-78"/>
              </a:rPr>
              <a:t> + habit, and the story arc.</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connectors by stage, fix </a:t>
            </a:r>
            <a:pPr algn="ctr" indent="0" marL="0">
              <a:buNone/>
            </a:pPr>
            <a:r>
              <a:rPr lang="ar-SA" altLang="en-US" sz="1550" dirty="0">
                <a:solidFill>
                  <a:srgbClr val="1F2A37"/>
                </a:solidFill>
                <a:latin typeface="Amiri" pitchFamily="2" charset="-78"/>
                <a:cs typeface="Amiri" pitchFamily="2" charset="-78"/>
              </a:rPr>
              <a:t>كَانَ</a:t>
            </a:r>
            <a:pPr algn="ctr" indent="0" marL="0">
              <a:buNone/>
            </a:pPr>
            <a:r>
              <a:rPr lang="en-US" sz="1200" dirty="0">
                <a:solidFill>
                  <a:srgbClr val="1F2A37"/>
                </a:solidFill>
                <a:latin typeface="Calibri" pitchFamily="34" charset="0"/>
                <a:cs typeface="Amiri" pitchFamily="2" charset="-78"/>
              </a:rPr>
              <a:t> slips, then the final-match anecdote.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فِي النِّهَايَةِ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beginning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that moment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ذِكْرَى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memory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story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experience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كَانَتْ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will be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was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 form of </a:t>
            </a:r>
            <a:pPr algn="l" indent="0" marL="0">
              <a:buNone/>
            </a:pPr>
            <a:r>
              <a:rPr lang="ar-SA" altLang="en-US" sz="1650" b="1" dirty="0">
                <a:solidFill>
                  <a:srgbClr val="1B3B6F"/>
                </a:solidFill>
                <a:latin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قَالْنَا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قَوَلْنَا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قُلْنَا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“fortunately”?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لِحُسْنِ الحَظِّ</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لِلْأَسَفِ</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فَجْأَةً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فِي النِّهَايَةِ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beginning</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end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that moment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ذِكْرَى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memory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story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experience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كَانَتْ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will be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was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“we” form of </a:t>
            </a:r>
            <a:pPr algn="l" indent="0" marL="0">
              <a:buNone/>
            </a:pPr>
            <a:r>
              <a:rPr lang="ar-SA" altLang="en-US" sz="1650" b="1" dirty="0">
                <a:solidFill>
                  <a:srgbClr val="1B3B6F"/>
                </a:solidFill>
                <a:latin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قَالْنَا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قَوَلْنَا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قُلْنَا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D5-L04: hollow verbs.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“fortunately”?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لِحُسْنِ الحَظِّ</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لِلْأَسَفِ</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فَجْأَةً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D5-L04.</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After </a:t>
            </a:r>
            <a:pPr algn="l" indent="0" marL="0">
              <a:buNone/>
            </a:pPr>
            <a:r>
              <a:rPr lang="ar-SA" altLang="en-US" sz="1700" b="1" dirty="0">
                <a:solidFill>
                  <a:srgbClr val="1F2A37"/>
                </a:solidFill>
                <a:latin typeface="Amiri" pitchFamily="2" charset="-78"/>
                <a:cs typeface="Amiri" pitchFamily="2" charset="-78"/>
              </a:rPr>
              <a:t>كَانَ</a:t>
            </a:r>
            <a:pPr algn="l" indent="0" marL="0">
              <a:buNone/>
            </a:pPr>
            <a:r>
              <a:rPr lang="en-US" sz="1300" b="1" dirty="0">
                <a:solidFill>
                  <a:srgbClr val="1F2A37"/>
                </a:solidFill>
                <a:latin typeface="Calibri" pitchFamily="34" charset="0"/>
                <a:cs typeface="Amiri" pitchFamily="2" charset="-78"/>
              </a:rPr>
              <a:t>, the describing word changes its ending: -un becomes -an.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300" b="1" dirty="0">
                <a:solidFill>
                  <a:srgbClr val="1B3B6F"/>
                </a:solidFill>
                <a:latin typeface="Amiri" pitchFamily="2" charset="-78"/>
                <a:cs typeface="Amiri" pitchFamily="2" charset="-78"/>
              </a:rPr>
              <a:t>الطَّقْسُ </a:t>
            </a:r>
            <a:pPr rtl="1" algn="ctr" indent="0" marL="0">
              <a:lnSpc>
                <a:spcPct val="120000"/>
              </a:lnSpc>
              <a:buNone/>
            </a:pPr>
            <a:r>
              <a:rPr lang="ar-SA" altLang="en-US" sz="2300" b="1" dirty="0">
                <a:solidFill>
                  <a:srgbClr val="0E7C86"/>
                </a:solidFill>
                <a:latin typeface="Amiri" pitchFamily="2" charset="-78"/>
                <a:cs typeface="Amiri" pitchFamily="2" charset="-78"/>
              </a:rPr>
              <a:t>جَمِيلٌ</a:t>
            </a:r>
            <a:pPr rtl="1" algn="ctr" indent="0" marL="0">
              <a:lnSpc>
                <a:spcPct val="120000"/>
              </a:lnSpc>
              <a:buNone/>
            </a:pPr>
            <a:r>
              <a:rPr lang="ar-SA" altLang="en-US" sz="2300" b="1" dirty="0">
                <a:solidFill>
                  <a:srgbClr val="1B3B6F"/>
                </a:solidFill>
                <a:latin typeface="Amiri" pitchFamily="2" charset="-78"/>
                <a:cs typeface="Amiri" pitchFamily="2" charset="-78"/>
              </a:rPr>
              <a:t> · كَانَ الطَّقْسُ </a:t>
            </a:r>
            <a:pPr rtl="1" algn="ctr" indent="0" marL="0">
              <a:lnSpc>
                <a:spcPct val="120000"/>
              </a:lnSpc>
              <a:buNone/>
            </a:pPr>
            <a:r>
              <a:rPr lang="ar-SA" altLang="en-US" sz="2300" b="1" dirty="0">
                <a:solidFill>
                  <a:srgbClr val="D6336C"/>
                </a:solidFill>
                <a:latin typeface="Amiri" pitchFamily="2" charset="-78"/>
                <a:cs typeface="Amiri" pitchFamily="2" charset="-78"/>
              </a:rPr>
              <a:t>جَمِيلًا</a:t>
            </a:r>
            <a:endParaRPr lang="ar-SA" sz="23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past scene with </a:t>
            </a:r>
            <a:pPr algn="l" indent="0" marL="0">
              <a:buNone/>
            </a:pPr>
            <a:r>
              <a:rPr lang="ar-SA" altLang="en-US" sz="1700" dirty="0">
                <a:solidFill>
                  <a:srgbClr val="1F2A37"/>
                </a:solidFill>
                <a:latin typeface="Amiri" pitchFamily="2" charset="-78"/>
                <a:cs typeface="Amiri" pitchFamily="2" charset="-78"/>
              </a:rPr>
              <a:t>كَانَ</a:t>
            </a:r>
            <a:pPr algn="l" indent="0" marL="0">
              <a:buNone/>
            </a:pPr>
            <a:r>
              <a:rPr lang="en-US" sz="1300" dirty="0">
                <a:solidFill>
                  <a:srgbClr val="1F2A37"/>
                </a:solidFill>
                <a:latin typeface="Calibri" pitchFamily="34" charset="0"/>
                <a:cs typeface="Amiri" pitchFamily="2" charset="-78"/>
              </a:rPr>
              <a:t> + accusative (</a:t>
            </a:r>
            <a:pPr algn="l" indent="0" marL="0">
              <a:buNone/>
            </a:pPr>
            <a:r>
              <a:rPr lang="ar-SA" altLang="en-US" sz="1700" dirty="0">
                <a:solidFill>
                  <a:srgbClr val="1F2A37"/>
                </a:solidFill>
                <a:latin typeface="Amiri" pitchFamily="2" charset="-78"/>
                <a:cs typeface="Amiri" pitchFamily="2" charset="-78"/>
              </a:rPr>
              <a:t>كَانَ الطَّقْسُ جَمِيلًا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a past habit with </a:t>
            </a:r>
            <a:pPr algn="l" indent="0" marL="0">
              <a:buNone/>
            </a:pPr>
            <a:r>
              <a:rPr lang="ar-SA" altLang="en-US" sz="1700" dirty="0">
                <a:solidFill>
                  <a:srgbClr val="1F2A37"/>
                </a:solidFill>
                <a:latin typeface="Amiri" pitchFamily="2" charset="-78"/>
                <a:cs typeface="Amiri" pitchFamily="2" charset="-78"/>
              </a:rPr>
              <a:t>كَانَ</a:t>
            </a:r>
            <a:pPr algn="l" indent="0" marL="0">
              <a:buNone/>
            </a:pPr>
            <a:r>
              <a:rPr lang="en-US" sz="1300" dirty="0">
                <a:solidFill>
                  <a:srgbClr val="1F2A37"/>
                </a:solidFill>
                <a:latin typeface="Calibri" pitchFamily="34" charset="0"/>
                <a:cs typeface="Amiri" pitchFamily="2" charset="-78"/>
              </a:rPr>
              <a:t> + present verb (</a:t>
            </a:r>
            <a:pPr algn="l" indent="0" marL="0">
              <a:buNone/>
            </a:pPr>
            <a:r>
              <a:rPr lang="ar-SA" altLang="en-US" sz="1700" dirty="0">
                <a:solidFill>
                  <a:srgbClr val="1F2A37"/>
                </a:solidFill>
                <a:latin typeface="Amiri" pitchFamily="2" charset="-78"/>
                <a:cs typeface="Amiri" pitchFamily="2" charset="-78"/>
              </a:rPr>
              <a:t>كَانَ يَلْعَبُ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كُنْتُ / كُنَّا</a:t>
            </a:r>
            <a:pPr algn="l" indent="0" marL="0">
              <a:buNone/>
            </a:pPr>
            <a:r>
              <a:rPr lang="en-US" sz="1300" dirty="0">
                <a:solidFill>
                  <a:srgbClr val="1F2A37"/>
                </a:solidFill>
                <a:latin typeface="Calibri" pitchFamily="34" charset="0"/>
                <a:cs typeface="Amiri" pitchFamily="2" charset="-78"/>
              </a:rPr>
              <a:t> (hollow, like </a:t>
            </a:r>
            <a:pPr algn="l" indent="0" marL="0">
              <a:buNone/>
            </a:pPr>
            <a:r>
              <a:rPr lang="ar-SA" altLang="en-US" sz="1700" dirty="0">
                <a:solidFill>
                  <a:srgbClr val="1F2A37"/>
                </a:solidFill>
                <a:latin typeface="Amiri" pitchFamily="2" charset="-78"/>
                <a:cs typeface="Amiri" pitchFamily="2" charset="-78"/>
              </a:rPr>
              <a:t>قُلْتُ</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Shape a story with connectors and close with a reflection.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set the scene with </a:t>
            </a:r>
            <a:pPr algn="l" indent="0" marL="0">
              <a:buNone/>
            </a:pPr>
            <a:r>
              <a:rPr lang="ar-SA" altLang="en-US" sz="1700" b="1" dirty="0">
                <a:solidFill>
                  <a:srgbClr val="2E8B57"/>
                </a:solidFill>
                <a:latin typeface="Amiri" pitchFamily="2" charset="-78"/>
                <a:cs typeface="Amiri" pitchFamily="2" charset="-78"/>
              </a:rPr>
              <a:t>كَانَ</a:t>
            </a:r>
            <a:pPr algn="l" indent="0" marL="0">
              <a:buNone/>
            </a:pPr>
            <a:r>
              <a:rPr lang="en-US" sz="1300" b="1" dirty="0">
                <a:solidFill>
                  <a:srgbClr val="2E8B57"/>
                </a:solidFill>
                <a:latin typeface="Calibri" pitchFamily="34" charset="0"/>
                <a:cs typeface="Amiri" pitchFamily="2" charset="-78"/>
              </a:rPr>
              <a:t> + -an.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tell a story with four connectors.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used to happen (</a:t>
            </a:r>
            <a:pPr algn="l" indent="0" marL="0">
              <a:buNone/>
            </a:pPr>
            <a:r>
              <a:rPr lang="ar-SA" altLang="en-US" sz="1700" b="1" dirty="0">
                <a:solidFill>
                  <a:srgbClr val="C9780A"/>
                </a:solidFill>
                <a:latin typeface="Amiri" pitchFamily="2" charset="-78"/>
                <a:cs typeface="Amiri" pitchFamily="2" charset="-78"/>
              </a:rPr>
              <a:t>كَانَ يَلْعَبُ</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cs typeface="Amiri" pitchFamily="2" charset="-78"/>
              </a:rPr>
              <a:t>كُنْتُ</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cs typeface="Amiri" pitchFamily="2" charset="-78"/>
              </a:rPr>
              <a:t>كُنَّا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90–100-word anecdote.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close with a reflection (</a:t>
            </a:r>
            <a:pPr algn="l" indent="0" marL="0">
              <a:buNone/>
            </a:pPr>
            <a:r>
              <a:rPr lang="ar-SA" altLang="en-US" sz="1700" b="1" dirty="0">
                <a:solidFill>
                  <a:srgbClr val="B83227"/>
                </a:solidFill>
                <a:latin typeface="Amiri" pitchFamily="2" charset="-78"/>
                <a:cs typeface="Amiri" pitchFamily="2" charset="-78"/>
              </a:rPr>
              <a:t>لَنْ أَنْسَى</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Narrative connectors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كَانَ and its forms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Telling and remembering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قِصَّةٌ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‎قصہ‎ </a:t>
            </a:r>
            <a:pPr indent="0" marL="0">
              <a:buNone/>
            </a:pPr>
            <a:r>
              <a:rPr lang="en-US" sz="950" b="1" dirty="0">
                <a:solidFill>
                  <a:srgbClr val="2E8B57"/>
                </a:solidFill>
                <a:latin typeface="Calibri" pitchFamily="34" charset="0"/>
                <a:cs typeface="Amiri" pitchFamily="2" charset="-78"/>
              </a:rPr>
              <a:t> qissa · story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حِكَايَةٌ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‎حکایت‎ </a:t>
            </a:r>
            <a:pPr indent="0" marL="0">
              <a:buNone/>
            </a:pPr>
            <a:r>
              <a:rPr lang="en-US" sz="950" b="1" dirty="0">
                <a:solidFill>
                  <a:srgbClr val="2E8B57"/>
                </a:solidFill>
                <a:latin typeface="Calibri" pitchFamily="34" charset="0"/>
                <a:cs typeface="Amiri" pitchFamily="2" charset="-78"/>
              </a:rPr>
              <a:t> ḥikāyat · tale, anecdote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تَجْرِبَةٌ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‎تجربہ‎ </a:t>
            </a:r>
            <a:pPr indent="0" marL="0">
              <a:buNone/>
            </a:pPr>
            <a:r>
              <a:rPr lang="en-US" sz="950" b="1" dirty="0">
                <a:solidFill>
                  <a:srgbClr val="2E8B57"/>
                </a:solidFill>
                <a:latin typeface="Calibri" pitchFamily="34" charset="0"/>
                <a:cs typeface="Amiri" pitchFamily="2" charset="-78"/>
              </a:rPr>
              <a:t> tajriba · experience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ذِكْرَى</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‎ذکر / یاد‎ </a:t>
            </a:r>
            <a:pPr indent="0" marL="0">
              <a:buNone/>
            </a:pPr>
            <a:r>
              <a:rPr lang="en-US" sz="950" b="1" dirty="0">
                <a:solidFill>
                  <a:srgbClr val="2E8B57"/>
                </a:solidFill>
                <a:latin typeface="Calibri" pitchFamily="34" charset="0"/>
                <a:cs typeface="Amiri" pitchFamily="2" charset="-78"/>
              </a:rPr>
              <a:t> zikr · Urdu ذکر: mention · Arabic ذِكْرَى: memory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آخِرًا → أَخِيرًا</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‎آخر‎ </a:t>
            </a:r>
            <a:pPr indent="0" marL="0">
              <a:buNone/>
            </a:pPr>
            <a:r>
              <a:rPr lang="en-US" sz="950" b="1" dirty="0">
                <a:solidFill>
                  <a:srgbClr val="2E8B57"/>
                </a:solidFill>
                <a:latin typeface="Calibri" pitchFamily="34" charset="0"/>
                <a:cs typeface="Amiri" pitchFamily="2" charset="-78"/>
              </a:rPr>
              <a:t> ākhir · finally (Arabic أَخِيرًا)</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Narrative connectors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البِدَايَةِ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the beginning</a:t>
            </a:r>
            <a:endParaRPr lang="en-US" sz="1350" dirty="0"/>
          </a:p>
          <a:p>
            <a:pPr indent="0" marL="0">
              <a:buNone/>
            </a:pPr>
            <a:r>
              <a:rPr lang="en-US" sz="1100" i="1" dirty="0">
                <a:solidFill>
                  <a:srgbClr val="5A6472"/>
                </a:solidFill>
                <a:latin typeface="Calibri" pitchFamily="34" charset="0"/>
                <a:cs typeface="Amiri" pitchFamily="2" charset="-78"/>
              </a:rPr>
              <a:t>fī al-bi-dā-ya-ti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ثُمَّ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فَجْأَةً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suddenly</a:t>
            </a:r>
            <a:endParaRPr lang="en-US" sz="1350" dirty="0"/>
          </a:p>
          <a:p>
            <a:pPr indent="0" marL="0">
              <a:buNone/>
            </a:pPr>
            <a:r>
              <a:rPr lang="en-US" sz="1100" i="1" dirty="0">
                <a:solidFill>
                  <a:srgbClr val="5A6472"/>
                </a:solidFill>
                <a:latin typeface="Calibri" pitchFamily="34" charset="0"/>
                <a:cs typeface="Amiri" pitchFamily="2" charset="-78"/>
              </a:rPr>
              <a:t>faj-ʾa-tan</a:t>
            </a:r>
            <a:endParaRPr lang="en-US" sz="1350" dirty="0"/>
          </a:p>
        </p:txBody>
      </p:sp>
      <p:sp>
        <p:nvSpPr>
          <p:cNvPr id="36" name="Text 3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Adverbial accusative; marks the turning point.</a:t>
            </a:r>
            <a:endParaRPr lang="en-US" sz="10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تِلْكَ اللَّحْظَةِ</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that moment</a:t>
            </a:r>
            <a:endParaRPr lang="en-US" sz="1350" dirty="0"/>
          </a:p>
          <a:p>
            <a:pPr indent="0" marL="0">
              <a:buNone/>
            </a:pPr>
            <a:r>
              <a:rPr lang="en-US" sz="1100" i="1" dirty="0">
                <a:solidFill>
                  <a:srgbClr val="5A6472"/>
                </a:solidFill>
                <a:latin typeface="Calibri" pitchFamily="34" charset="0"/>
                <a:cs typeface="Amiri" pitchFamily="2" charset="-78"/>
              </a:rPr>
              <a:t>fī til-ka all-laḥ-ẓa-ti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Narrative connectors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لِحُسْنِ الحَظِّ</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fortunately</a:t>
            </a:r>
            <a:endParaRPr lang="en-US" sz="1350" dirty="0"/>
          </a:p>
          <a:p>
            <a:pPr indent="0" marL="0">
              <a:buNone/>
            </a:pPr>
            <a:r>
              <a:rPr lang="en-US" sz="1100" i="1" dirty="0">
                <a:solidFill>
                  <a:srgbClr val="5A6472"/>
                </a:solidFill>
                <a:latin typeface="Calibri" pitchFamily="34" charset="0"/>
                <a:cs typeface="Amiri" pitchFamily="2" charset="-78"/>
              </a:rPr>
              <a:t>li-ḥus-ni al-ḥaẓ-ẓi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لِلْأَسَفِ</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unfortunately</a:t>
            </a:r>
            <a:endParaRPr lang="en-US" sz="1350" dirty="0"/>
          </a:p>
          <a:p>
            <a:pPr indent="0" marL="0">
              <a:buNone/>
            </a:pPr>
            <a:r>
              <a:rPr lang="en-US" sz="1100" i="1" dirty="0">
                <a:solidFill>
                  <a:srgbClr val="5A6472"/>
                </a:solidFill>
                <a:latin typeface="Calibri" pitchFamily="34" charset="0"/>
                <a:cs typeface="Amiri" pitchFamily="2" charset="-78"/>
              </a:rPr>
              <a:t>lil-ʾa-sa-fi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النِّهَايَةِ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end</a:t>
            </a:r>
            <a:endParaRPr lang="en-US" sz="1350" dirty="0"/>
          </a:p>
          <a:p>
            <a:pPr indent="0" marL="0">
              <a:buNone/>
            </a:pPr>
            <a:r>
              <a:rPr lang="en-US" sz="1100" i="1" dirty="0">
                <a:solidFill>
                  <a:srgbClr val="5A6472"/>
                </a:solidFill>
                <a:latin typeface="Calibri" pitchFamily="34" charset="0"/>
                <a:cs typeface="Amiri" pitchFamily="2" charset="-78"/>
              </a:rPr>
              <a:t>fī an-ni-hā-ya-ti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أَخِيرًا</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finally</a:t>
            </a:r>
            <a:endParaRPr lang="en-US" sz="1350" dirty="0"/>
          </a:p>
          <a:p>
            <a:pPr indent="0" marL="0">
              <a:buNone/>
            </a:pPr>
            <a:r>
              <a:rPr lang="en-US" sz="1100" i="1" dirty="0">
                <a:solidFill>
                  <a:srgbClr val="5A6472"/>
                </a:solidFill>
                <a:latin typeface="Calibri" pitchFamily="34" charset="0"/>
                <a:cs typeface="Amiri" pitchFamily="2" charset="-78"/>
              </a:rPr>
              <a:t>a-khī-ran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ar-SA" altLang="en-US" sz="3650" b="1" dirty="0">
                <a:solidFill>
                  <a:srgbClr val="1B3B6F"/>
                </a:solidFill>
                <a:latin typeface="Amiri" pitchFamily="2" charset="-78"/>
                <a:cs typeface="Amiri" pitchFamily="2" charset="-78"/>
              </a:rPr>
              <a:t>كَانَ</a:t>
            </a:r>
            <a:pPr algn="l" indent="0" marL="0">
              <a:buNone/>
            </a:pPr>
            <a:r>
              <a:rPr lang="en-US" sz="2800" b="1" dirty="0">
                <a:solidFill>
                  <a:srgbClr val="1B3B6F"/>
                </a:solidFill>
                <a:latin typeface="Cambria" pitchFamily="34" charset="0"/>
                <a:cs typeface="Amiri" pitchFamily="2" charset="-78"/>
              </a:rPr>
              <a:t> and its forms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 (m. sing.)</a:t>
            </a:r>
            <a:endParaRPr lang="en-US" sz="1350" dirty="0"/>
          </a:p>
          <a:p>
            <a:pPr indent="0" marL="0">
              <a:buNone/>
            </a:pPr>
            <a:r>
              <a:rPr lang="en-US" sz="1100" i="1" dirty="0">
                <a:solidFill>
                  <a:srgbClr val="5A6472"/>
                </a:solidFill>
                <a:latin typeface="Calibri" pitchFamily="34" charset="0"/>
                <a:cs typeface="Amiri" pitchFamily="2" charset="-78"/>
              </a:rPr>
              <a:t>kā-na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كَانُوا</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كَانَتْ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كَانَتْ</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 (f. sing.)</a:t>
            </a:r>
            <a:endParaRPr lang="en-US" sz="1350" dirty="0"/>
          </a:p>
          <a:p>
            <a:pPr indent="0" marL="0">
              <a:buNone/>
            </a:pPr>
            <a:r>
              <a:rPr lang="en-US" sz="1100" i="1" dirty="0">
                <a:solidFill>
                  <a:srgbClr val="5A6472"/>
                </a:solidFill>
                <a:latin typeface="Calibri" pitchFamily="34" charset="0"/>
                <a:cs typeface="Amiri" pitchFamily="2" charset="-78"/>
              </a:rPr>
              <a:t>kā-nat</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كَانُوا</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were (m. pl.)</a:t>
            </a:r>
            <a:endParaRPr lang="en-US" sz="1350" dirty="0"/>
          </a:p>
          <a:p>
            <a:pPr indent="0" marL="0">
              <a:buNone/>
            </a:pPr>
            <a:r>
              <a:rPr lang="en-US" sz="1100" i="1" dirty="0">
                <a:solidFill>
                  <a:srgbClr val="5A6472"/>
                </a:solidFill>
                <a:latin typeface="Calibri" pitchFamily="34" charset="0"/>
                <a:cs typeface="Amiri" pitchFamily="2" charset="-78"/>
              </a:rPr>
              <a:t>kā-nū</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we</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كُنْتُ</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was</a:t>
            </a:r>
            <a:endParaRPr lang="en-US" sz="1350" dirty="0"/>
          </a:p>
          <a:p>
            <a:pPr indent="0" marL="0">
              <a:buNone/>
            </a:pPr>
            <a:r>
              <a:rPr lang="en-US" sz="1100" i="1" dirty="0">
                <a:solidFill>
                  <a:srgbClr val="5A6472"/>
                </a:solidFill>
                <a:latin typeface="Calibri" pitchFamily="34" charset="0"/>
                <a:cs typeface="Amiri" pitchFamily="2" charset="-78"/>
              </a:rPr>
              <a:t>kun-tu</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3" name="Text 5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كُنَّا</a:t>
            </a:r>
            <a:endParaRPr lang="ar-SA" sz="15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ar-SA" altLang="en-US" sz="3650" b="1" dirty="0">
                <a:solidFill>
                  <a:srgbClr val="1B3B6F"/>
                </a:solidFill>
                <a:latin typeface="Amiri" pitchFamily="2" charset="-78"/>
                <a:cs typeface="Amiri" pitchFamily="2" charset="-78"/>
              </a:rPr>
              <a:t>كَانَ</a:t>
            </a:r>
            <a:pPr algn="l" indent="0" marL="0">
              <a:buNone/>
            </a:pPr>
            <a:r>
              <a:rPr lang="en-US" sz="2800" b="1" dirty="0">
                <a:solidFill>
                  <a:srgbClr val="1B3B6F"/>
                </a:solidFill>
                <a:latin typeface="Cambria" pitchFamily="34" charset="0"/>
                <a:cs typeface="Amiri" pitchFamily="2" charset="-78"/>
              </a:rPr>
              <a:t> and its forms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كُنَّا</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were</a:t>
            </a:r>
            <a:endParaRPr lang="en-US" sz="1350" dirty="0"/>
          </a:p>
          <a:p>
            <a:pPr indent="0" marL="0">
              <a:buNone/>
            </a:pPr>
            <a:r>
              <a:rPr lang="en-US" sz="1100" i="1" dirty="0">
                <a:solidFill>
                  <a:srgbClr val="5A6472"/>
                </a:solidFill>
                <a:latin typeface="Calibri" pitchFamily="34" charset="0"/>
                <a:cs typeface="Amiri" pitchFamily="2" charset="-78"/>
              </a:rPr>
              <a:t>kun-nā</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3" name="Shape 2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كَانَ يَلْعَبُ</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used to play</a:t>
            </a:r>
            <a:endParaRPr lang="en-US" sz="1350" dirty="0"/>
          </a:p>
          <a:p>
            <a:pPr indent="0" marL="0">
              <a:buNone/>
            </a:pPr>
            <a:r>
              <a:rPr lang="en-US" sz="1100" i="1" dirty="0">
                <a:solidFill>
                  <a:srgbClr val="5A6472"/>
                </a:solidFill>
                <a:latin typeface="Calibri" pitchFamily="34" charset="0"/>
                <a:cs typeface="Amiri" pitchFamily="2" charset="-78"/>
              </a:rPr>
              <a:t>kā-na yal-ʿa-bu</a:t>
            </a:r>
            <a:endParaRPr lang="en-US" sz="1350" dirty="0"/>
          </a:p>
        </p:txBody>
      </p:sp>
      <p:sp>
        <p:nvSpPr>
          <p:cNvPr id="29" name="Shape 2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كَانُوا يَلْعَبُونَ</a:t>
            </a:r>
            <a:endParaRPr lang="ar-SA" sz="1500" dirty="0"/>
          </a:p>
        </p:txBody>
      </p:sp>
      <p:sp>
        <p:nvSpPr>
          <p:cNvPr id="32" name="Shape 2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4" name="Text 3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كَانَتْ تَلْعَبُ</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كَانَتْ تُشَاهِدُ</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used to watch</a:t>
            </a:r>
            <a:endParaRPr lang="en-US" sz="1350" dirty="0"/>
          </a:p>
          <a:p>
            <a:pPr indent="0" marL="0">
              <a:buNone/>
            </a:pPr>
            <a:r>
              <a:rPr lang="en-US" sz="1100" i="1" dirty="0">
                <a:solidFill>
                  <a:srgbClr val="5A6472"/>
                </a:solidFill>
                <a:latin typeface="Calibri" pitchFamily="34" charset="0"/>
                <a:cs typeface="Amiri" pitchFamily="2" charset="-78"/>
              </a:rPr>
              <a:t>kā-nat tu-shā-hi-du</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كَانُوا يَتَدَرَّبُونَ</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they used to train</a:t>
            </a:r>
            <a:endParaRPr lang="en-US" sz="1350" dirty="0"/>
          </a:p>
          <a:p>
            <a:pPr indent="0" marL="0">
              <a:buNone/>
            </a:pPr>
            <a:r>
              <a:rPr lang="en-US" sz="1100" i="1" dirty="0">
                <a:solidFill>
                  <a:srgbClr val="5A6472"/>
                </a:solidFill>
                <a:latin typeface="Calibri" pitchFamily="34" charset="0"/>
                <a:cs typeface="Amiri" pitchFamily="2" charset="-78"/>
              </a:rPr>
              <a:t>kā-nū ya-ta-dar-ra-bū-na</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Telling and remembering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158008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Weak-final: رَوَيْتُ.</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رَوَى / يَرْوِي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narrated / narrates</a:t>
            </a:r>
            <a:endParaRPr lang="en-US" sz="1350" dirty="0"/>
          </a:p>
          <a:p>
            <a:pPr indent="0" marL="0">
              <a:buNone/>
            </a:pPr>
            <a:r>
              <a:rPr lang="en-US" sz="1100" i="1" dirty="0">
                <a:solidFill>
                  <a:srgbClr val="5A6472"/>
                </a:solidFill>
                <a:latin typeface="Calibri" pitchFamily="34" charset="0"/>
                <a:cs typeface="Amiri" pitchFamily="2" charset="-78"/>
              </a:rPr>
              <a:t>ra-wā / yar-wī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Shape 22"/>
          <p:cNvSpPr/>
          <p:nvPr/>
        </p:nvSpPr>
        <p:spPr>
          <a:xfrm>
            <a:off x="4782312" y="1938528"/>
            <a:ext cx="1580083"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Weak-final: حَكَيْتُ.</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حَكَى / يَحْكِي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told a story / tells</a:t>
            </a:r>
            <a:endParaRPr lang="en-US" sz="1350" dirty="0"/>
          </a:p>
          <a:p>
            <a:pPr indent="0" marL="0">
              <a:buNone/>
            </a:pPr>
            <a:r>
              <a:rPr lang="en-US" sz="1100" i="1" dirty="0">
                <a:solidFill>
                  <a:srgbClr val="5A6472"/>
                </a:solidFill>
                <a:latin typeface="Calibri" pitchFamily="34" charset="0"/>
                <a:cs typeface="Amiri" pitchFamily="2" charset="-78"/>
              </a:rPr>
              <a:t>ḥa-kā / yaḥ-kī</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Shape 2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ذِكْرَى / ذِكْرَيَاتٌ</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memory / memories</a:t>
            </a:r>
            <a:endParaRPr lang="en-US" sz="1350" dirty="0"/>
          </a:p>
          <a:p>
            <a:pPr indent="0" marL="0">
              <a:buNone/>
            </a:pPr>
            <a:r>
              <a:rPr lang="en-US" sz="1100" i="1" dirty="0">
                <a:solidFill>
                  <a:srgbClr val="5A6472"/>
                </a:solidFill>
                <a:latin typeface="Calibri" pitchFamily="34" charset="0"/>
                <a:cs typeface="Amiri" pitchFamily="2" charset="-78"/>
              </a:rPr>
              <a:t>dhik-rā / dhik-ra-yā-tun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تَجْرِبَةٌ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experience</a:t>
            </a:r>
            <a:endParaRPr lang="en-US" sz="1350" dirty="0"/>
          </a:p>
          <a:p>
            <a:pPr indent="0" marL="0">
              <a:buNone/>
            </a:pPr>
            <a:r>
              <a:rPr lang="en-US" sz="1100" i="1" dirty="0">
                <a:solidFill>
                  <a:srgbClr val="5A6472"/>
                </a:solidFill>
                <a:latin typeface="Calibri" pitchFamily="34" charset="0"/>
                <a:cs typeface="Amiri" pitchFamily="2" charset="-78"/>
              </a:rPr>
              <a:t>taj-ri-ba-tun</a:t>
            </a:r>
            <a:endParaRPr lang="en-US" sz="1350" dirty="0"/>
          </a:p>
        </p:txBody>
      </p:sp>
      <p:sp>
        <p:nvSpPr>
          <p:cNvPr id="43" name="Text 40"/>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Plural </a:t>
            </a:r>
            <a:pPr algn="l" indent="0" marL="0">
              <a:buNone/>
            </a:pPr>
            <a:r>
              <a:rPr lang="ar-SA" altLang="en-US" sz="1300" dirty="0">
                <a:solidFill>
                  <a:srgbClr val="8A6D1E"/>
                </a:solidFill>
                <a:latin typeface="Amiri" pitchFamily="2" charset="-78"/>
                <a:cs typeface="Amiri" pitchFamily="2" charset="-78"/>
              </a:rPr>
              <a:t>تَجَارِبُ</a:t>
            </a:r>
            <a:pPr algn="l" indent="0" marL="0">
              <a:buNone/>
            </a:pPr>
            <a:r>
              <a:rPr lang="en-US" sz="1000" i="1" dirty="0">
                <a:solidFill>
                  <a:srgbClr val="8A6D1E"/>
                </a:solidFill>
                <a:latin typeface="Calibri" pitchFamily="34" charset="0"/>
                <a:cs typeface="Amiri" pitchFamily="2" charset="-78"/>
              </a:rPr>
              <a:t>, a diptote.</a:t>
            </a:r>
            <a:endParaRPr lang="en-US" sz="10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Telling and remembering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مَا زِلْتُ أَتَذَكَّرُ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still remember</a:t>
            </a:r>
            <a:endParaRPr lang="en-US" sz="1350" dirty="0"/>
          </a:p>
          <a:p>
            <a:pPr indent="0" marL="0">
              <a:buNone/>
            </a:pPr>
            <a:r>
              <a:rPr lang="en-US" sz="1100" i="1" dirty="0">
                <a:solidFill>
                  <a:srgbClr val="5A6472"/>
                </a:solidFill>
                <a:latin typeface="Calibri" pitchFamily="34" charset="0"/>
                <a:cs typeface="Amiri" pitchFamily="2" charset="-78"/>
              </a:rPr>
              <a:t>mā zil-tu a-ta-dhak-ka-ru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مَا زَالَ</a:t>
            </a:r>
            <a:pPr algn="l" indent="0" marL="0">
              <a:buNone/>
            </a:pPr>
            <a:r>
              <a:rPr lang="en-US" sz="1000" i="1" dirty="0">
                <a:solidFill>
                  <a:srgbClr val="8A6D1E"/>
                </a:solidFill>
                <a:latin typeface="Calibri" pitchFamily="34" charset="0"/>
                <a:cs typeface="Amiri" pitchFamily="2" charset="-78"/>
              </a:rPr>
              <a:t> plus a present verb.</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لَنْ أَنْسَى</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never forget</a:t>
            </a:r>
            <a:endParaRPr lang="en-US" sz="1350" dirty="0"/>
          </a:p>
          <a:p>
            <a:pPr indent="0" marL="0">
              <a:buNone/>
            </a:pPr>
            <a:r>
              <a:rPr lang="en-US" sz="1100" i="1" dirty="0">
                <a:solidFill>
                  <a:srgbClr val="5A6472"/>
                </a:solidFill>
                <a:latin typeface="Calibri" pitchFamily="34" charset="0"/>
                <a:cs typeface="Amiri" pitchFamily="2" charset="-78"/>
              </a:rPr>
              <a:t>lan an-sā</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لَنْ</a:t>
            </a:r>
            <a:pPr algn="l" indent="0" marL="0">
              <a:buNone/>
            </a:pPr>
            <a:r>
              <a:rPr lang="en-US" sz="1000" i="1" dirty="0">
                <a:solidFill>
                  <a:srgbClr val="8A6D1E"/>
                </a:solidFill>
                <a:latin typeface="Calibri" pitchFamily="34" charset="0"/>
                <a:cs typeface="Amiri" pitchFamily="2" charset="-78"/>
              </a:rPr>
              <a:t> takes the subjunctive.</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 أَنْسَى</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do not forget</a:t>
            </a:r>
            <a:endParaRPr lang="en-US" sz="1350" dirty="0"/>
          </a:p>
          <a:p>
            <a:pPr indent="0" marL="0">
              <a:buNone/>
            </a:pPr>
            <a:r>
              <a:rPr lang="en-US" sz="1100" i="1" dirty="0">
                <a:solidFill>
                  <a:srgbClr val="5A6472"/>
                </a:solidFill>
                <a:latin typeface="Calibri" pitchFamily="34" charset="0"/>
                <a:cs typeface="Amiri" pitchFamily="2" charset="-78"/>
              </a:rPr>
              <a:t>lā an-sā</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يَوْمٌ لَا يُنْسَى</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unforgettable day</a:t>
            </a:r>
            <a:endParaRPr lang="en-US" sz="1350" dirty="0"/>
          </a:p>
          <a:p>
            <a:pPr indent="0" marL="0">
              <a:buNone/>
            </a:pPr>
            <a:r>
              <a:rPr lang="en-US" sz="1100" i="1" dirty="0">
                <a:solidFill>
                  <a:srgbClr val="5A6472"/>
                </a:solidFill>
                <a:latin typeface="Calibri" pitchFamily="34" charset="0"/>
                <a:cs typeface="Amiri" pitchFamily="2" charset="-78"/>
              </a:rPr>
              <a:t>yaw-mun lā yun-sā</a:t>
            </a:r>
            <a:endParaRPr lang="en-US" sz="1350" dirty="0"/>
          </a:p>
        </p:txBody>
      </p:sp>
      <p:sp>
        <p:nvSpPr>
          <p:cNvPr id="39" name="Text 3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passive present verb used as a description.</a:t>
            </a:r>
            <a:endParaRPr lang="en-US"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KĀNA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Was, used to, I was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كَانَ وَأَخَوَاتُهَا فِي القِصَّةِ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27249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predicate: -an</a:t>
            </a:r>
            <a:endParaRPr lang="en-US" sz="1100" dirty="0"/>
          </a:p>
        </p:txBody>
      </p:sp>
      <p:sp>
        <p:nvSpPr>
          <p:cNvPr id="21" name="Text 18"/>
          <p:cNvSpPr txBox="1"/>
          <p:nvPr/>
        </p:nvSpPr>
        <p:spPr>
          <a:xfrm>
            <a:off x="2743200" y="2286000"/>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كَانَ الطَّقْسُ </a:t>
            </a:r>
            <a:pPr rtl="1" algn="ctr" indent="0" marL="0">
              <a:buNone/>
            </a:pPr>
            <a:r>
              <a:rPr lang="ar-SA" altLang="en-US" sz="1950" b="1" dirty="0">
                <a:solidFill>
                  <a:srgbClr val="D6336C"/>
                </a:solidFill>
                <a:latin typeface="Amiri" pitchFamily="2" charset="-78"/>
                <a:cs typeface="Amiri" pitchFamily="2" charset="-78"/>
              </a:rPr>
              <a:t>جَمِيلًا</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22" name="Text 19"/>
          <p:cNvSpPr txBox="1"/>
          <p:nvPr/>
        </p:nvSpPr>
        <p:spPr>
          <a:xfrm>
            <a:off x="2697480" y="2676997"/>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weather was beautiful.</a:t>
            </a:r>
            <a:endParaRPr lang="en-US" sz="950" dirty="0"/>
          </a:p>
        </p:txBody>
      </p:sp>
      <p:sp>
        <p:nvSpPr>
          <p:cNvPr id="23" name="Text 20"/>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description</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kānat + -atan</a:t>
            </a:r>
            <a:endParaRPr lang="en-US" sz="1100" dirty="0"/>
          </a:p>
        </p:txBody>
      </p:sp>
      <p:sp>
        <p:nvSpPr>
          <p:cNvPr id="28" name="Text 25"/>
          <p:cNvSpPr txBox="1"/>
          <p:nvPr/>
        </p:nvSpPr>
        <p:spPr>
          <a:xfrm>
            <a:off x="2743200" y="3023006"/>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كَانَتِ المُبَارَاةُ </a:t>
            </a:r>
            <a:pPr rtl="1" algn="ctr" indent="0" marL="0">
              <a:buNone/>
            </a:pPr>
            <a:r>
              <a:rPr lang="ar-SA" altLang="en-US" sz="1950" b="1" dirty="0">
                <a:solidFill>
                  <a:srgbClr val="D6336C"/>
                </a:solidFill>
                <a:latin typeface="Amiri" pitchFamily="2" charset="-78"/>
                <a:cs typeface="Amiri" pitchFamily="2" charset="-78"/>
              </a:rPr>
              <a:t>صَعْبَةً</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29" name="Text 26"/>
          <p:cNvSpPr txBox="1"/>
          <p:nvPr/>
        </p:nvSpPr>
        <p:spPr>
          <a:xfrm>
            <a:off x="2697480" y="3414004"/>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match was difficult.</a:t>
            </a:r>
            <a:endParaRPr lang="en-US" sz="950" dirty="0"/>
          </a:p>
        </p:txBody>
      </p:sp>
      <p:sp>
        <p:nvSpPr>
          <p:cNvPr id="30" name="Text 27"/>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description (f.)</a:t>
            </a:r>
            <a:endParaRPr lang="en-US" sz="11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 + present</a:t>
            </a:r>
            <a:endParaRPr lang="en-US" sz="1100" dirty="0"/>
          </a:p>
        </p:txBody>
      </p:sp>
      <p:sp>
        <p:nvSpPr>
          <p:cNvPr id="35" name="Text 32"/>
          <p:cNvSpPr txBox="1"/>
          <p:nvPr/>
        </p:nvSpPr>
        <p:spPr>
          <a:xfrm>
            <a:off x="2743200" y="3760013"/>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كَانَ </a:t>
            </a:r>
            <a:pPr rtl="1" algn="ctr" indent="0" marL="0">
              <a:buNone/>
            </a:pPr>
            <a:r>
              <a:rPr lang="ar-SA" altLang="en-US" sz="1950" b="1" dirty="0">
                <a:solidFill>
                  <a:srgbClr val="0E7C86"/>
                </a:solidFill>
                <a:latin typeface="Amiri" pitchFamily="2" charset="-78"/>
                <a:cs typeface="Amiri" pitchFamily="2" charset="-78"/>
              </a:rPr>
              <a:t>يَلْعَبُ</a:t>
            </a:r>
            <a:pPr rtl="1" algn="ctr" indent="0" marL="0">
              <a:buNone/>
            </a:pPr>
            <a:r>
              <a:rPr lang="ar-SA" altLang="en-US" sz="1950" b="1" dirty="0">
                <a:solidFill>
                  <a:srgbClr val="1B3B6F"/>
                </a:solidFill>
                <a:latin typeface="Amiri" pitchFamily="2" charset="-78"/>
                <a:cs typeface="Amiri" pitchFamily="2" charset="-78"/>
              </a:rPr>
              <a:t> كُرَةَ القَدَمِ كُلَّ يَوْمٍ.</a:t>
            </a:r>
            <a:endParaRPr lang="ar-SA" sz="1950" dirty="0"/>
          </a:p>
        </p:txBody>
      </p:sp>
      <p:sp>
        <p:nvSpPr>
          <p:cNvPr id="36" name="Text 33"/>
          <p:cNvSpPr txBox="1"/>
          <p:nvPr/>
        </p:nvSpPr>
        <p:spPr>
          <a:xfrm>
            <a:off x="2697480" y="4151010"/>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used to play football every day.</a:t>
            </a:r>
            <a:endParaRPr lang="en-US" sz="950" dirty="0"/>
          </a:p>
        </p:txBody>
      </p:sp>
      <p:sp>
        <p:nvSpPr>
          <p:cNvPr id="37" name="Text 34"/>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habit</a:t>
            </a:r>
            <a:endParaRPr lang="en-US" sz="11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verbs agree</a:t>
            </a:r>
            <a:endParaRPr lang="en-US" sz="1100" dirty="0"/>
          </a:p>
        </p:txBody>
      </p:sp>
      <p:sp>
        <p:nvSpPr>
          <p:cNvPr id="40" name="Text 37"/>
          <p:cNvSpPr txBox="1"/>
          <p:nvPr/>
        </p:nvSpPr>
        <p:spPr>
          <a:xfrm>
            <a:off x="2743200" y="4497019"/>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كَانَتْ </a:t>
            </a:r>
            <a:pPr rtl="1" algn="ctr" indent="0" marL="0">
              <a:buNone/>
            </a:pPr>
            <a:r>
              <a:rPr lang="ar-SA" altLang="en-US" sz="1950" b="1" dirty="0">
                <a:solidFill>
                  <a:srgbClr val="0E7C86"/>
                </a:solidFill>
                <a:latin typeface="Amiri" pitchFamily="2" charset="-78"/>
                <a:cs typeface="Amiri" pitchFamily="2" charset="-78"/>
              </a:rPr>
              <a:t>تُشَاهِدُ</a:t>
            </a:r>
            <a:pPr rtl="1" algn="ctr" indent="0" marL="0">
              <a:buNone/>
            </a:pPr>
            <a:r>
              <a:rPr lang="ar-SA" altLang="en-US" sz="1950" b="1" dirty="0">
                <a:solidFill>
                  <a:srgbClr val="1B3B6F"/>
                </a:solidFill>
                <a:latin typeface="Amiri" pitchFamily="2" charset="-78"/>
                <a:cs typeface="Amiri" pitchFamily="2" charset="-78"/>
              </a:rPr>
              <a:t> التِّلْفَازَ كُلَّ مَسَاءٍ.</a:t>
            </a:r>
            <a:endParaRPr lang="ar-SA" sz="1950" dirty="0"/>
          </a:p>
        </p:txBody>
      </p:sp>
      <p:sp>
        <p:nvSpPr>
          <p:cNvPr id="41" name="Text 38"/>
          <p:cNvSpPr txBox="1"/>
          <p:nvPr/>
        </p:nvSpPr>
        <p:spPr>
          <a:xfrm>
            <a:off x="2697480" y="4888017"/>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used to watch TV every evening.</a:t>
            </a:r>
            <a:endParaRPr lang="en-US" sz="950" dirty="0"/>
          </a:p>
        </p:txBody>
      </p:sp>
      <p:sp>
        <p:nvSpPr>
          <p:cNvPr id="42" name="Text 39"/>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habit (f.)</a:t>
            </a:r>
            <a:endParaRPr lang="en-US" sz="110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 → kun-</a:t>
            </a:r>
            <a:endParaRPr lang="en-US" sz="1100" dirty="0"/>
          </a:p>
        </p:txBody>
      </p:sp>
      <p:sp>
        <p:nvSpPr>
          <p:cNvPr id="45" name="Text 42"/>
          <p:cNvSpPr txBox="1"/>
          <p:nvPr/>
        </p:nvSpPr>
        <p:spPr>
          <a:xfrm>
            <a:off x="2743200" y="5234026"/>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cs typeface="Amiri" pitchFamily="2" charset="-78"/>
              </a:rPr>
              <a:t>كُنْتُ</a:t>
            </a:r>
            <a:pPr rtl="1" algn="ctr" indent="0" marL="0">
              <a:buNone/>
            </a:pPr>
            <a:r>
              <a:rPr lang="ar-SA" altLang="en-US" sz="1950" b="1" dirty="0">
                <a:solidFill>
                  <a:srgbClr val="1B3B6F"/>
                </a:solidFill>
                <a:latin typeface="Amiri" pitchFamily="2" charset="-78"/>
                <a:cs typeface="Amiri" pitchFamily="2" charset="-78"/>
              </a:rPr>
              <a:t> سَعِيدًا · </a:t>
            </a:r>
            <a:pPr rtl="1" algn="ctr" indent="0" marL="0">
              <a:buNone/>
            </a:pPr>
            <a:r>
              <a:rPr lang="ar-SA" altLang="en-US" sz="1950" b="1" dirty="0">
                <a:solidFill>
                  <a:srgbClr val="1D5FBF"/>
                </a:solidFill>
                <a:latin typeface="Amiri" pitchFamily="2" charset="-78"/>
                <a:cs typeface="Amiri" pitchFamily="2" charset="-78"/>
              </a:rPr>
              <a:t>كُنَّا</a:t>
            </a:r>
            <a:pPr rtl="1" algn="ctr" indent="0" marL="0">
              <a:buNone/>
            </a:pPr>
            <a:r>
              <a:rPr lang="ar-SA" altLang="en-US" sz="1950" b="1" dirty="0">
                <a:solidFill>
                  <a:srgbClr val="1B3B6F"/>
                </a:solidFill>
                <a:latin typeface="Amiri" pitchFamily="2" charset="-78"/>
                <a:cs typeface="Amiri" pitchFamily="2" charset="-78"/>
              </a:rPr>
              <a:t> مُتَحَمِّسِينَ</a:t>
            </a:r>
            <a:endParaRPr lang="ar-SA" sz="1950" dirty="0"/>
          </a:p>
        </p:txBody>
      </p:sp>
      <p:sp>
        <p:nvSpPr>
          <p:cNvPr id="46" name="Text 43"/>
          <p:cNvSpPr txBox="1"/>
          <p:nvPr/>
        </p:nvSpPr>
        <p:spPr>
          <a:xfrm>
            <a:off x="2697480" y="5625023"/>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was happy · we were excited</a:t>
            </a:r>
            <a:endParaRPr lang="en-US" sz="950" dirty="0"/>
          </a:p>
        </p:txBody>
      </p:sp>
      <p:sp>
        <p:nvSpPr>
          <p:cNvPr id="47" name="Text 44"/>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 we were</a:t>
            </a:r>
            <a:endParaRPr lang="en-US" sz="1100" dirty="0"/>
          </a:p>
        </p:txBody>
      </p:sp>
      <p:sp>
        <p:nvSpPr>
          <p:cNvPr id="48" name="Shape 45"/>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kāna / kānat + noun (-u) + description (-an): the most common accuracy mark in a story.</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FOCUS · PART 2 · THE NARRATIVE ARC (WEBSITE RULE 4) · ALL ROUTES</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shape of a story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بِنَاءُ القِصَّةِ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SCENE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فِي البِدَايَةِ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cs typeface="Amiri" pitchFamily="2" charset="-78"/>
              </a:rPr>
              <a:t>فِي البِدَايَةِ كَانَ كُلُّ شَيْءٍ هَادِئًا.</a:t>
            </a:r>
            <a:endParaRPr lang="ar-SA" sz="23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At the beginning everything was calm.</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kāna + -an.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TURN · CORE</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فَجْأَةً · فِي تِلْكَ اللَّحْظَةِ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فَجْأَةً تَغَيَّرَ كُلُّ شَيْءٍ.</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Suddenly everything changed.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turning point.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21259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21259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END · DEVELOP / STRETCH</a:t>
            </a:r>
            <a:endParaRPr lang="en-US" sz="850" dirty="0"/>
          </a:p>
        </p:txBody>
      </p:sp>
      <p:sp>
        <p:nvSpPr>
          <p:cNvPr id="34" name="Text 31"/>
          <p:cNvSpPr txBox="1"/>
          <p:nvPr/>
        </p:nvSpPr>
        <p:spPr>
          <a:xfrm>
            <a:off x="2766060" y="1874520"/>
            <a:ext cx="1190244" cy="365760"/>
          </a:xfrm>
          <a:prstGeom prst="rect">
            <a:avLst/>
          </a:prstGeom>
          <a:noFill/>
          <a:ln/>
        </p:spPr>
        <p:txBody>
          <a:bodyPr wrap="square" lIns="0" tIns="0" rIns="0" bIns="0" rtlCol="0" anchor="ctr"/>
          <a:lstStyle/>
          <a:p>
            <a:pPr rtl="1" algn="r" indent="0" marL="0">
              <a:buNone/>
            </a:pPr>
            <a:r>
              <a:rPr lang="ar-SA" altLang="en-US" sz="1150" b="1" dirty="0">
                <a:solidFill>
                  <a:srgbClr val="8A6D1E"/>
                </a:solidFill>
                <a:latin typeface="Amiri" pitchFamily="2" charset="-78"/>
                <a:cs typeface="Amiri" pitchFamily="2" charset="-78"/>
              </a:rPr>
              <a:t>فِي النِّهَايَةِ · لَنْ أَنْسَى</a:t>
            </a:r>
            <a:endParaRPr lang="ar-SA" sz="115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فِي النِّهَايَةِ فُزْنَا، وَلَنْ أَنْسَى ذٰلِكَ اليَوْمَ.</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the end we won, and I will never forget that day.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Resolve + reflect.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the predicate of kāna is accusative.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كَانَ جَمِيلًا</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كَانَ جَمِيلٌ</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cs typeface="Amiri" pitchFamily="2" charset="-78"/>
              </a:rPr>
              <a:t>كَانَ وَالعَادَةُ المَاضِيَةُ وَبِنَاءُ السَّرْدِ</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 with a description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كَانَ</a:t>
            </a:r>
            <a:pPr algn="l" indent="0" marL="0">
              <a:buNone/>
            </a:pPr>
            <a:r>
              <a:rPr lang="en-US" sz="1050" dirty="0">
                <a:solidFill>
                  <a:srgbClr val="5A6472"/>
                </a:solidFill>
                <a:latin typeface="Calibri" pitchFamily="34" charset="0"/>
                <a:cs typeface="Amiri" pitchFamily="2" charset="-78"/>
              </a:rPr>
              <a:t> + nominative subject + accusative predicate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كَانَ الطَّقْسُ جَمِيلًا   ·   كَانَتِ المُبَارَاةُ صَعْبَةً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 with a present verb</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كَانَ</a:t>
            </a:r>
            <a:pPr algn="l" indent="0" marL="0">
              <a:buNone/>
            </a:pPr>
            <a:r>
              <a:rPr lang="en-US" sz="1050" dirty="0">
                <a:solidFill>
                  <a:srgbClr val="5A6472"/>
                </a:solidFill>
                <a:latin typeface="Calibri" pitchFamily="34" charset="0"/>
                <a:cs typeface="Amiri" pitchFamily="2" charset="-78"/>
              </a:rPr>
              <a:t> + present-tense verb</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كَانَ يَلْعَبُ كُرَةَ القَدَمِ كُلَّ يَوْمٍ   ·   كَانَتْ تُشَاهِدُ التِّلْفَازَ كُلَّ مَسَاءٍ</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 is a hollow verb</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كَانَ → كُنْتُ / كُنَّا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كُنْتُ سَعِيدًا فِي ذٰلِكَ اليَوْمِ   ·   كُنَّا مُتَحَمِّسِينَ لِلْمُبَارَاةِ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The narrative arc</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setting → events → turn → resolution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فِي البِدَايَةِ كَانَ كُلُّ شَيْءٍ هَادِئًا   ·   فَجْأَةً تَغَيَّرَ كُلُّ شَيْءٍ</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description with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الطَّقْسُ جَمِيلٌ.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الطَّقْسُ يَكُونُ جَمِيلًا.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الطَّقْسُ جَمِيلًا.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means “he used to play every day”.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يَلْعَبُ كُلَّ يَوْمٍ.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لَعِبَ كُلَّ يَوْمٍ.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يَكُونُ يَلْعَبُ كُلَّ يَوْمٍ.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marks the turning point of a story?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فَجْأَةً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البِدَايَةِ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أَخِيرًا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description with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الطَّقْسُ جَمِيلٌ.</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الطَّقْسُ يَكُونُ جَمِيلًا.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 الطَّقْسُ جَمِيلًا.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stays nominative and the predicate becomes accusative.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means “he used to play every day”.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 يَلْعَبُ كُلَّ يَوْمٍ.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لَعِبَ كُلَّ يَوْمٍ.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يَكُونُ يَلْعَبُ كُلَّ يَوْمٍ.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 expresses a past habit.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كَانْتُ</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كُنْتُ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كِنْتُ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is hollow, so the middle vowel shortens to u before the suffix.</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marks the turning point of a story?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فَجْأَةً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البِدَايَةِ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أَخِيرًا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فَجْأَةً</a:t>
            </a:r>
            <a:pPr algn="l" indent="0" marL="0">
              <a:buNone/>
            </a:pPr>
            <a:r>
              <a:rPr lang="en-US" sz="1050" i="1" dirty="0">
                <a:solidFill>
                  <a:srgbClr val="8A6D1E"/>
                </a:solidFill>
                <a:latin typeface="Calibri" pitchFamily="34" charset="0"/>
                <a:cs typeface="Amiri" pitchFamily="2" charset="-78"/>
              </a:rPr>
              <a:t> signals the sudden change that turns the narrative.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tell the story of a match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Scene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0E7C86"/>
                </a:solidFill>
                <a:latin typeface="Amiri" pitchFamily="2" charset="-78"/>
                <a:cs typeface="Amiri" pitchFamily="2" charset="-78"/>
              </a:rPr>
              <a:t>فِي البِدَايَةِ</a:t>
            </a:r>
            <a:pPr rtl="1" algn="ctr" indent="0" marL="0">
              <a:lnSpc>
                <a:spcPct val="120000"/>
              </a:lnSpc>
              <a:buNone/>
            </a:pPr>
            <a:r>
              <a:rPr lang="ar-SA" altLang="en-US" sz="1850" b="1" dirty="0">
                <a:solidFill>
                  <a:srgbClr val="1B3B6F"/>
                </a:solidFill>
                <a:latin typeface="Amiri" pitchFamily="2" charset="-78"/>
                <a:cs typeface="Amiri" pitchFamily="2" charset="-78"/>
              </a:rPr>
              <a:t> كَانَ الطَّقْسُ </a:t>
            </a:r>
            <a:pPr rtl="1" algn="ctr" indent="0" marL="0">
              <a:lnSpc>
                <a:spcPct val="120000"/>
              </a:lnSpc>
              <a:buNone/>
            </a:pPr>
            <a:r>
              <a:rPr lang="ar-SA" altLang="en-US" sz="1850" b="1" dirty="0">
                <a:solidFill>
                  <a:srgbClr val="D6336C"/>
                </a:solidFill>
                <a:latin typeface="Amiri" pitchFamily="2" charset="-78"/>
                <a:cs typeface="Amiri" pitchFamily="2" charset="-78"/>
              </a:rPr>
              <a:t>جَمِيلًا</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kāna + -an.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Habit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كَانَ فَرِيقُنَا </a:t>
            </a:r>
            <a:pPr rtl="1" algn="ctr" indent="0" marL="0">
              <a:buNone/>
            </a:pPr>
            <a:r>
              <a:rPr lang="ar-SA" altLang="en-US" sz="2800" b="1" dirty="0">
                <a:solidFill>
                  <a:srgbClr val="1D5FBF"/>
                </a:solidFill>
                <a:latin typeface="Amiri" pitchFamily="2" charset="-78"/>
                <a:cs typeface="Amiri" pitchFamily="2" charset="-78"/>
              </a:rPr>
              <a:t>يَتَدَرَّبُ</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Used to: present.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Turn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فَجْأَةً</a:t>
            </a:r>
            <a:pPr rtl="1" algn="ctr" indent="0" marL="0">
              <a:buNone/>
            </a:pPr>
            <a:r>
              <a:rPr lang="ar-SA" altLang="en-US" sz="2800" b="1" dirty="0">
                <a:solidFill>
                  <a:srgbClr val="1B3B6F"/>
                </a:solidFill>
                <a:latin typeface="Amiri" pitchFamily="2" charset="-78"/>
                <a:cs typeface="Amiri" pitchFamily="2" charset="-78"/>
              </a:rPr>
              <a:t> سَقَطَ لَاعِبُنَا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surprise.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End</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فِي النِّهَايَةِ</a:t>
            </a:r>
            <a:pPr rtl="1" algn="ctr" indent="0" marL="0">
              <a:buNone/>
            </a:pPr>
            <a:r>
              <a:rPr lang="ar-SA" altLang="en-US" sz="2800" b="1" dirty="0">
                <a:solidFill>
                  <a:srgbClr val="1B3B6F"/>
                </a:solidFill>
                <a:latin typeface="Amiri" pitchFamily="2" charset="-78"/>
                <a:cs typeface="Amiri" pitchFamily="2" charset="-78"/>
              </a:rPr>
              <a:t> فُزْنَا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Resolve.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CONNECTOR</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KĀNA + -AN</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HABIT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cs typeface="Amiri" pitchFamily="2" charset="-78"/>
              </a:rPr>
              <a:t>فِي البِدَايَةِ</a:t>
            </a:r>
            <a:pPr rtl="1" algn="r" indent="0" marL="0">
              <a:lnSpc>
                <a:spcPct val="120000"/>
              </a:lnSpc>
              <a:buNone/>
            </a:pPr>
            <a:r>
              <a:rPr lang="ar-SA" altLang="en-US" sz="1400" b="1" dirty="0">
                <a:solidFill>
                  <a:srgbClr val="1B3B6F"/>
                </a:solidFill>
                <a:latin typeface="Amiri" pitchFamily="2" charset="-78"/>
                <a:cs typeface="Amiri" pitchFamily="2" charset="-78"/>
              </a:rPr>
              <a:t> كَانَ اليَوْمُ </a:t>
            </a:r>
            <a:pPr rtl="1" algn="r" indent="0" marL="0">
              <a:lnSpc>
                <a:spcPct val="120000"/>
              </a:lnSpc>
              <a:buNone/>
            </a:pPr>
            <a:r>
              <a:rPr lang="ar-SA" altLang="en-US" sz="1400" b="1" dirty="0">
                <a:solidFill>
                  <a:srgbClr val="D6336C"/>
                </a:solidFill>
                <a:latin typeface="Amiri" pitchFamily="2" charset="-78"/>
                <a:cs typeface="Amiri" pitchFamily="2" charset="-78"/>
              </a:rPr>
              <a:t>عَادِيًّا</a:t>
            </a:r>
            <a:pPr rtl="1" algn="r" indent="0" marL="0">
              <a:lnSpc>
                <a:spcPct val="120000"/>
              </a:lnSpc>
              <a:buNone/>
            </a:pPr>
            <a:r>
              <a:rPr lang="ar-SA" altLang="en-US" sz="1400" b="1" dirty="0">
                <a:solidFill>
                  <a:srgbClr val="1B3B6F"/>
                </a:solidFill>
                <a:latin typeface="Amiri" pitchFamily="2" charset="-78"/>
                <a:cs typeface="Amiri" pitchFamily="2" charset="-78"/>
              </a:rPr>
              <a:t>، وَكَانَ الطَّقْسُ </a:t>
            </a:r>
            <a:pPr rtl="1" algn="r" indent="0" marL="0">
              <a:lnSpc>
                <a:spcPct val="120000"/>
              </a:lnSpc>
              <a:buNone/>
            </a:pPr>
            <a:r>
              <a:rPr lang="ar-SA" altLang="en-US" sz="1400" b="1" dirty="0">
                <a:solidFill>
                  <a:srgbClr val="D6336C"/>
                </a:solidFill>
                <a:latin typeface="Amiri" pitchFamily="2" charset="-78"/>
                <a:cs typeface="Amiri" pitchFamily="2" charset="-78"/>
              </a:rPr>
              <a:t>جَمِيلًا</a:t>
            </a:r>
            <a:pPr rtl="1" algn="r" indent="0" marL="0">
              <a:lnSpc>
                <a:spcPct val="120000"/>
              </a:lnSpc>
              <a:buNone/>
            </a:pPr>
            <a:r>
              <a:rPr lang="ar-SA" altLang="en-US" sz="1400" b="1" dirty="0">
                <a:solidFill>
                  <a:srgbClr val="1B3B6F"/>
                </a:solidFill>
                <a:latin typeface="Amiri" pitchFamily="2" charset="-78"/>
                <a:cs typeface="Amiri" pitchFamily="2" charset="-78"/>
              </a:rPr>
              <a:t>. فِي المَاضِي كَانَ فَرِيقُنَا </a:t>
            </a:r>
            <a:pPr rtl="1" algn="r" indent="0" marL="0">
              <a:lnSpc>
                <a:spcPct val="120000"/>
              </a:lnSpc>
              <a:buNone/>
            </a:pPr>
            <a:r>
              <a:rPr lang="ar-SA" altLang="en-US" sz="1400" b="1" dirty="0">
                <a:solidFill>
                  <a:srgbClr val="1D5FBF"/>
                </a:solidFill>
                <a:latin typeface="Amiri" pitchFamily="2" charset="-78"/>
                <a:cs typeface="Amiri" pitchFamily="2" charset="-78"/>
              </a:rPr>
              <a:t>يَتَدَرَّبُ</a:t>
            </a:r>
            <a:pPr rtl="1" algn="r" indent="0" marL="0">
              <a:lnSpc>
                <a:spcPct val="120000"/>
              </a:lnSpc>
              <a:buNone/>
            </a:pPr>
            <a:r>
              <a:rPr lang="ar-SA" altLang="en-US" sz="1400" b="1" dirty="0">
                <a:solidFill>
                  <a:srgbClr val="1B3B6F"/>
                </a:solidFill>
                <a:latin typeface="Amiri" pitchFamily="2" charset="-78"/>
                <a:cs typeface="Amiri" pitchFamily="2" charset="-78"/>
              </a:rPr>
              <a:t> ثَلَاثَ مَرَّاتٍ فِي الأُسْبُوعِ. </a:t>
            </a:r>
            <a:pPr rtl="1" algn="r" indent="0" marL="0">
              <a:lnSpc>
                <a:spcPct val="120000"/>
              </a:lnSpc>
              <a:buNone/>
            </a:pPr>
            <a:r>
              <a:rPr lang="ar-SA" altLang="en-US" sz="1400" b="1" dirty="0">
                <a:solidFill>
                  <a:srgbClr val="0E7C86"/>
                </a:solidFill>
                <a:latin typeface="Amiri" pitchFamily="2" charset="-78"/>
                <a:cs typeface="Amiri" pitchFamily="2" charset="-78"/>
              </a:rPr>
              <a:t>ثُمَّ</a:t>
            </a:r>
            <a:pPr rtl="1" algn="r" indent="0" marL="0">
              <a:lnSpc>
                <a:spcPct val="120000"/>
              </a:lnSpc>
              <a:buNone/>
            </a:pPr>
            <a:r>
              <a:rPr lang="ar-SA" altLang="en-US" sz="1400" b="1" dirty="0">
                <a:solidFill>
                  <a:srgbClr val="1B3B6F"/>
                </a:solidFill>
                <a:latin typeface="Amiri" pitchFamily="2" charset="-78"/>
                <a:cs typeface="Amiri" pitchFamily="2" charset="-78"/>
              </a:rPr>
              <a:t> بَدَأَتِ المُبَارَاةُ، وَكَانَتْ </a:t>
            </a:r>
            <a:pPr rtl="1" algn="r" indent="0" marL="0">
              <a:lnSpc>
                <a:spcPct val="120000"/>
              </a:lnSpc>
              <a:buNone/>
            </a:pPr>
            <a:r>
              <a:rPr lang="ar-SA" altLang="en-US" sz="1400" b="1" dirty="0">
                <a:solidFill>
                  <a:srgbClr val="D6336C"/>
                </a:solidFill>
                <a:latin typeface="Amiri" pitchFamily="2" charset="-78"/>
                <a:cs typeface="Amiri" pitchFamily="2" charset="-78"/>
              </a:rPr>
              <a:t>صَعْبَةً</a:t>
            </a:r>
            <a:pPr rtl="1" algn="r" indent="0" marL="0">
              <a:lnSpc>
                <a:spcPct val="120000"/>
              </a:lnSpc>
              <a:buNone/>
            </a:pPr>
            <a:r>
              <a:rPr lang="ar-SA" altLang="en-US" sz="1400" b="1" dirty="0">
                <a:solidFill>
                  <a:srgbClr val="1B3B6F"/>
                </a:solidFill>
                <a:latin typeface="Amiri" pitchFamily="2" charset="-78"/>
                <a:cs typeface="Amiri" pitchFamily="2" charset="-78"/>
              </a:rPr>
              <a:t> جِدًّا. </a:t>
            </a:r>
            <a:pPr rtl="1" algn="r" indent="0" marL="0">
              <a:lnSpc>
                <a:spcPct val="120000"/>
              </a:lnSpc>
              <a:buNone/>
            </a:pPr>
            <a:r>
              <a:rPr lang="ar-SA" altLang="en-US" sz="1400" b="1" dirty="0">
                <a:solidFill>
                  <a:srgbClr val="0E7C86"/>
                </a:solidFill>
                <a:latin typeface="Amiri" pitchFamily="2" charset="-78"/>
                <a:cs typeface="Amiri" pitchFamily="2" charset="-78"/>
              </a:rPr>
              <a:t>فَجْأَةً</a:t>
            </a:r>
            <a:pPr rtl="1" algn="r" indent="0" marL="0">
              <a:lnSpc>
                <a:spcPct val="120000"/>
              </a:lnSpc>
              <a:buNone/>
            </a:pPr>
            <a:r>
              <a:rPr lang="ar-SA" altLang="en-US" sz="1400" b="1" dirty="0">
                <a:solidFill>
                  <a:srgbClr val="1B3B6F"/>
                </a:solidFill>
                <a:latin typeface="Amiri" pitchFamily="2" charset="-78"/>
                <a:cs typeface="Amiri" pitchFamily="2" charset="-78"/>
              </a:rPr>
              <a:t> سَقَطَ لَاعِبُنَا. </a:t>
            </a:r>
            <a:pPr rtl="1" algn="r" indent="0" marL="0">
              <a:lnSpc>
                <a:spcPct val="120000"/>
              </a:lnSpc>
              <a:buNone/>
            </a:pPr>
            <a:r>
              <a:rPr lang="ar-SA" altLang="en-US" sz="1400" b="1" dirty="0">
                <a:solidFill>
                  <a:srgbClr val="0E7C86"/>
                </a:solidFill>
                <a:latin typeface="Amiri" pitchFamily="2" charset="-78"/>
                <a:cs typeface="Amiri" pitchFamily="2" charset="-78"/>
              </a:rPr>
              <a:t>فِي النِّهَايَةِ</a:t>
            </a:r>
            <a:pPr rtl="1" algn="r" indent="0" marL="0">
              <a:lnSpc>
                <a:spcPct val="120000"/>
              </a:lnSpc>
              <a:buNone/>
            </a:pPr>
            <a:r>
              <a:rPr lang="ar-SA" altLang="en-US" sz="1400" b="1" dirty="0">
                <a:solidFill>
                  <a:srgbClr val="1B3B6F"/>
                </a:solidFill>
                <a:latin typeface="Amiri" pitchFamily="2" charset="-78"/>
                <a:cs typeface="Amiri" pitchFamily="2" charset="-78"/>
              </a:rPr>
              <a:t> فُزْنَا بِالمُبَارَاةِ.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At the beginning the day was ordinary, and the weather was beautiful. In the past our team used to train three times a week. Then the match started, and it was very difficult. Suddenly our player fell. In the end we won the match.</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كَانَ الطَّقْسُ جَمِيلًا</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weather was beautiful.</a:t>
            </a:r>
            <a:endParaRPr lang="en-US" sz="1250" dirty="0"/>
          </a:p>
          <a:p>
            <a:pPr indent="0" marL="0">
              <a:buNone/>
            </a:pPr>
            <a:r>
              <a:rPr lang="en-US" sz="1050" i="1" dirty="0">
                <a:solidFill>
                  <a:srgbClr val="8A6D1E"/>
                </a:solidFill>
                <a:latin typeface="Calibri" pitchFamily="34" charset="0"/>
                <a:cs typeface="Amiri" pitchFamily="2" charset="-78"/>
              </a:rPr>
              <a:t>Nominative subject, accusative predicate.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كَانَ يَلْعَبُ كُلَّ يَوْمٍ</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used to play every day.</a:t>
            </a:r>
            <a:endParaRPr lang="en-US" sz="1250" dirty="0"/>
          </a:p>
          <a:p>
            <a:pPr indent="0" marL="0">
              <a:buNone/>
            </a:pPr>
            <a:r>
              <a:rPr lang="en-US" sz="1050" i="1" dirty="0">
                <a:solidFill>
                  <a:srgbClr val="8A6D1E"/>
                </a:solidFill>
                <a:latin typeface="Calibri" pitchFamily="34" charset="0"/>
                <a:cs typeface="Amiri" pitchFamily="2" charset="-78"/>
              </a:rPr>
              <a:t>كَانَ carries the past; the second verb stays present.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فَجْأَةً تَغَيَّرَ كُلُّ شَيْءٍ</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Suddenly everything changed.</a:t>
            </a:r>
            <a:endParaRPr lang="en-US" sz="1250" dirty="0"/>
          </a:p>
          <a:p>
            <a:pPr indent="0" marL="0">
              <a:buNone/>
            </a:pPr>
            <a:r>
              <a:rPr lang="en-US" sz="1050" i="1" dirty="0">
                <a:solidFill>
                  <a:srgbClr val="8A6D1E"/>
                </a:solidFill>
                <a:latin typeface="Calibri" pitchFamily="34" charset="0"/>
                <a:cs typeface="Amiri" pitchFamily="2" charset="-78"/>
              </a:rPr>
              <a:t>فَجْأَةً opens the clause and marks the turn.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البِدَايَةِ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 الطَّقْسُ جَمِيلًا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كُنَّا مُتَحَمِّسِينَ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فَجْأَةً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تِلْكَ اللَّحْظَةِ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لِلْأَسَفِ</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النِّهَايَةِ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أَخِيرًا</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زِلْتُ أَتَذَكَّرُ</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Sets the scene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Marks the turn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Closes the story</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Sets the scene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البِدَايَةِ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 الطَّقْسُ جَمِيلًا</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كُنَّا مُتَحَمِّسِينَ</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Marks the turn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فَجْأَةً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تِلْكَ اللَّحْظَةِ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لِلْأَسَفِ</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Closes the story</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النِّهَايَةِ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أَخِيرًا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زِلْتُ أَتَذَكَّرُ</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description.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المُبَارَاةُ صَعْبَةٌ جِدًّا.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المُبَارَاةُ صَعْبَةً جِدًّا.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المُبَارَاةُ صَعْبَةً جِدًّا.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habit for a female subject.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شَاهَدَتِ التِّلْفَازَ كُلَّ مَسَاءٍ.</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تُشَاهِدُ التِّلْفَازَ كُلَّ مَسَاءٍ.</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تُشَاهِدُ التِّلْفَازَ كُلَّ مَسَاءٍ.</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closing reflection.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زِلْتُ تَذَكَّرْتُ ذٰلِكَ اليَوْمَ.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زِلْتُ أَتَذَكَّرُ ذٰلِكَ اليَوْمَ.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 زَالَ أَتَذَكَّرُ ذٰلِكَ اليَوْمَ.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لَنْ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 أَنْسَى عَنْ هٰذِهِ التَّجْرِبَةِ.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 نَسِيتُ هٰذِهِ التَّجْرِبَةَ.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 أَنْسَى هٰذِهِ التَّجْرِبَةَ.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description.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كَانَتِ المُبَارَاةُ صَعْبَةٌ جِدًّا.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المُبَارَاةُ صَعْبَةً جِدًّا.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 المُبَارَاةُ صَعْبَةً جِدًّا.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agrees with the feminine subject, and the predicate is accusative.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habit for a female subject.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كَانَتْ شَاهَدَتِ التِّلْفَازَ كُلَّ مَسَاءٍ.</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 تُشَاهِدُ التِّلْفَازَ كُلَّ مَسَاءٍ.</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تُشَاهِدُ التِّلْفَازَ كُلَّ مَسَاءٍ.</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verbs agree as feminine, and the second stays present.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closing reflection.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زِلْتُ تَذَكَّرْتُ ذٰلِكَ اليَوْمَ.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 زِلْتُ أَتَذَكَّرُ ذٰلِكَ اليَوْمَ.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 زَالَ أَتَذَكَّرُ ذٰلِكَ اليَوْمَ.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مَا زِلْتُ</a:t>
            </a:r>
            <a:pPr algn="l" indent="0" marL="0">
              <a:buNone/>
            </a:pPr>
            <a:r>
              <a:rPr lang="en-US" sz="1050" i="1" dirty="0">
                <a:solidFill>
                  <a:srgbClr val="8A6D1E"/>
                </a:solidFill>
                <a:latin typeface="Calibri" pitchFamily="34" charset="0"/>
                <a:cs typeface="Amiri" pitchFamily="2" charset="-78"/>
              </a:rPr>
              <a:t> agrees with </a:t>
            </a:r>
            <a:pPr algn="l" indent="0" marL="0">
              <a:buNone/>
            </a:pPr>
            <a:r>
              <a:rPr lang="ar-SA" altLang="en-US" sz="1350" dirty="0">
                <a:solidFill>
                  <a:srgbClr val="8A6D1E"/>
                </a:solidFill>
                <a:latin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and is followed by a present verb.</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لَنْ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لَنْ أَنْسَى عَنْ هٰذِهِ التَّجْرِبَةِ.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لَنْ نَسِيتُ هٰذِهِ التَّجْرِبَةَ.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لَنْ أَنْسَى هٰذِهِ التَّجْرِبَةَ.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لَنْ</a:t>
            </a:r>
            <a:pPr algn="l" indent="0" marL="0">
              <a:buNone/>
            </a:pPr>
            <a:r>
              <a:rPr lang="en-US" sz="1050" i="1" dirty="0">
                <a:solidFill>
                  <a:srgbClr val="8A6D1E"/>
                </a:solidFill>
                <a:latin typeface="Calibri" pitchFamily="34" charset="0"/>
                <a:cs typeface="Amiri" pitchFamily="2" charset="-78"/>
              </a:rPr>
              <a:t> takes a subjunctive present verb, and the object is accusative.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كَانَ الطَّقْسُ جَمِيلٌ.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kāna: -un or -an?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كَانَ لَعِبَ كُلَّ يَوْمٍ.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Used to: past or present verb?</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كَانْتُ سَعِيدًا.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kāna + -tu: which stem?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كَانَ الطَّقْسُ جَمِيلٌ.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كَانَ الطَّقْسُ جَمِيلًا.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predicate of </a:t>
            </a:r>
            <a:pPr algn="l" indent="0" marL="0">
              <a:buNone/>
            </a:pPr>
            <a:r>
              <a:rPr lang="ar-SA" altLang="en-US" sz="1500" b="1" dirty="0">
                <a:solidFill>
                  <a:srgbClr val="1B3B6F"/>
                </a:solidFill>
                <a:latin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must be accusative.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كَانَ لَعِبَ كُلَّ يَوْمٍ.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كَانَ يَلْعَبُ كُلَّ يَوْمٍ.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past habit needs </a:t>
            </a:r>
            <a:pPr algn="l" indent="0" marL="0">
              <a:buNone/>
            </a:pPr>
            <a:r>
              <a:rPr lang="ar-SA" altLang="en-US" sz="1500" b="1" dirty="0">
                <a:solidFill>
                  <a:srgbClr val="1B3B6F"/>
                </a:solidFill>
                <a:latin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plus a present verb, not two past verbs.</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كَانْتُ سَعِيدًا.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كُنْتُ سَعِيدًا.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is hollow, so the stem shortens to </a:t>
            </a:r>
            <a:pPr algn="l" indent="0" marL="0">
              <a:buNone/>
            </a:pPr>
            <a:r>
              <a:rPr lang="ar-SA" altLang="en-US" sz="1500" b="1" dirty="0">
                <a:solidFill>
                  <a:srgbClr val="1B3B6F"/>
                </a:solidFill>
                <a:latin typeface="Amiri" pitchFamily="2" charset="-78"/>
                <a:cs typeface="Amiri" pitchFamily="2" charset="-78"/>
              </a:rPr>
              <a:t>كُنْـ</a:t>
            </a:r>
            <a:pPr algn="l" indent="0" marL="0">
              <a:buNone/>
            </a:pPr>
            <a:r>
              <a:rPr lang="en-US" sz="1150" b="1" dirty="0">
                <a:solidFill>
                  <a:srgbClr val="1B3B6F"/>
                </a:solidFill>
                <a:latin typeface="Calibri" pitchFamily="34" charset="0"/>
                <a:cs typeface="Amiri" pitchFamily="2" charset="-78"/>
              </a:rPr>
              <a:t> before the suffix.</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Listening: an anecdote from the final match</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setting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ordinary day with fine weather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stormy afternoon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cold winter morning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team used to do?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 only at weekends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 every day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 three times a week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suddenly?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rain started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referee stopped the match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player fell and was injured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think at that moment?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they would lose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they would win easily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match would be cancelled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 story end?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drew</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won the match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lost narrowly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البِدَايَةِ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فَجْأَةً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النِّهَايَةِ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فِي البِدَايَةِ كَانَ اليَوْمُ عَادِيًّا، وَكَانَ الطَّقْسُ جَمِيلًا. كُنَّا مُتَحَمِّسِينَ لِأَنَّهَا المُبَارَاةُ النِّهَائِيَّةُ.</a:t>
            </a:r>
            <a:endParaRPr lang="ar-SA" sz="16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beginning the day was ordinary and the weather was beautiful. We were excited because it was the final.</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فِي المَاضِي كَانَ فَرِيقُنَا يَتَدَرَّبُ ثَلَاثَ مَرَّاتٍ فِي الأُسْبُوعِ. ثُمَّ بَدَأَتِ المُبَارَاةُ، وَكَانَتْ صَعْبَةً جِدًّا.</a:t>
            </a:r>
            <a:endParaRPr lang="ar-SA" sz="16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past our team used to train three times a week. Then the match started, and it was very difficult.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فَجْأَةً سَقَطَ لَاعِبُنَا وَأُصِيبَ، وَلِلْأَسَفِ خَرَجَ مِنَ المَلْعَبِ.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Suddenly our player fell and was injured, and unfortunately he left the pitch.</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فِي تِلْكَ اللَّحْظَةِ ظَنَنَّا أَنَّنَا سَنَخْسَرُ. لٰكِنْ لِحُسْنِ الحَظِّ سَجَّلَ زَمِيلُهُ هَدَفًا رَائِعًا.</a:t>
            </a:r>
            <a:endParaRPr lang="ar-SA" sz="19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that moment we thought we would lose. But luckily his teammate scored a wonderful goal.</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النِّهَايَةِ فُزْنَا بِالمُبَارَاةِ، وَمَا زِلْتُ أَتَذَكَّرُ ذٰلِكَ اليَوْمَ.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end we won the match, and I still remember that day.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setting described?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ordinary day with fine weather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stormy afternoon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cold winter morning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كَانَ اليَوْمُ عَادِيًّا، وَكَانَ الطَّقْسُ جَمِيلًا.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team used to do?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 only at weekends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 every day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Train three times a week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كَانَ فَرِيقُنَا يَتَدَرَّبُ ثَلَاثَ مَرَّاتٍ فِي الأُسْبُوعِ.</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suddenly?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rain started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referee stopped the match</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player fell and was injured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فَجْأَةً سَقَطَ لَاعِبُنَا وَأُصِيبَ.</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think at that moment?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they would lose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they would win easily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match would be cancelled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تِلْكَ اللَّحْظَةِ ظَنَنَّا أَنَّنَا سَنَخْسَرُ.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 story end?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drew</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won the match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lost narrowly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النِّهَايَةِ فُزْنَا بِالمُبَارَاةِ.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البِدَايَةِ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فَجْأَةً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النِّهَايَةِ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tell a memorable story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اِحْكِ لِي عَنْ يَوْمٍ لَا تَنْسَاهُ. كَيْفَ كَانَ الطَّقْسُ؟</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كُنْتَ تَفْعَلُ فِي طُفُولَتِكَ فِي وَقْتِ فَرَاغِكَ؟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انْتَهَتِ القِصَّةُ؟ وَهَلْ مَا زِلْتَ تَتَذَكَّرُهَا؟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D5FBF"/>
                </a:solidFill>
                <a:latin typeface="Amiri" pitchFamily="2" charset="-78"/>
                <a:cs typeface="Amiri" pitchFamily="2" charset="-78"/>
              </a:rPr>
              <a:t>فِي البِدَايَةِ كَانَ الطَّقْسُ ___ ، وَفَجْأَةً ___ .</a:t>
            </a:r>
            <a:endParaRPr lang="ar-SA" sz="14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 طُفُولَتِي كُنْتُ ___ كُلَّ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 النِّهَايَةِ ___ ، وَلَنْ أَنْسَى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اِحْكِ لِي عَنْ يَوْمٍ لَا تَنْسَاهُ.</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Tell me about a day you will never forget.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فِي البِدَايَةِ كَانَ اليَوْمُ عَادِيًّا، وَكَانَ الطَّقْسُ جَمِيلًا.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At the beginning the day was ordinary, and the weather was beautiful.</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narrative frame to write six sentences: a setting with </a:t>
            </a:r>
            <a:pPr algn="l" indent="0" marL="0">
              <a:buNone/>
            </a:pPr>
            <a:r>
              <a:rPr lang="ar-SA" altLang="en-US" sz="1800" b="1" dirty="0">
                <a:solidFill>
                  <a:srgbClr val="1F2A37"/>
                </a:solidFill>
                <a:latin typeface="Amiri" pitchFamily="2" charset="-78"/>
                <a:cs typeface="Amiri" pitchFamily="2" charset="-78"/>
              </a:rPr>
              <a:t>كَانَ</a:t>
            </a:r>
            <a:pPr algn="l" indent="0" marL="0">
              <a:buNone/>
            </a:pPr>
            <a:r>
              <a:rPr lang="en-US" sz="1400" b="1" dirty="0">
                <a:solidFill>
                  <a:srgbClr val="1F2A37"/>
                </a:solidFill>
                <a:latin typeface="Calibri" pitchFamily="34" charset="0"/>
                <a:cs typeface="Amiri" pitchFamily="2" charset="-78"/>
              </a:rPr>
              <a:t>, three events and a resolution.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frame: a setting with كَانَ, three events, a resolution.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70–90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 habit with </a:t>
            </a:r>
            <a:pPr algn="l" indent="0" marL="0">
              <a:buNone/>
            </a:pPr>
            <a:r>
              <a:rPr lang="ar-SA" altLang="en-US" sz="1800" b="1" dirty="0">
                <a:solidFill>
                  <a:srgbClr val="1F2A37"/>
                </a:solidFill>
                <a:latin typeface="Amiri" pitchFamily="2" charset="-78"/>
                <a:cs typeface="Amiri" pitchFamily="2" charset="-78"/>
              </a:rPr>
              <a:t>كَانَ</a:t>
            </a:r>
            <a:pPr algn="l" indent="0" marL="0">
              <a:buNone/>
            </a:pPr>
            <a:r>
              <a:rPr lang="en-US" sz="1400" b="1" dirty="0">
                <a:solidFill>
                  <a:srgbClr val="1F2A37"/>
                </a:solidFill>
                <a:latin typeface="Calibri" pitchFamily="34" charset="0"/>
                <a:cs typeface="Amiri" pitchFamily="2" charset="-78"/>
              </a:rPr>
              <a:t> plus a present verb and two emotional connectors.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past habit (كَانَ + present) and two feeling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Vary the verbs across all persons, add a reflective close, and keep every predicate of </a:t>
            </a:r>
            <a:pPr algn="l" indent="0" marL="0">
              <a:buNone/>
            </a:pPr>
            <a:r>
              <a:rPr lang="ar-SA" altLang="en-US" sz="1800" b="1" dirty="0">
                <a:solidFill>
                  <a:srgbClr val="1F2A37"/>
                </a:solidFill>
                <a:latin typeface="Amiri" pitchFamily="2" charset="-78"/>
                <a:cs typeface="Amiri" pitchFamily="2" charset="-78"/>
              </a:rPr>
              <a:t>كَانَ</a:t>
            </a:r>
            <a:pPr algn="l" indent="0" marL="0">
              <a:buNone/>
            </a:pPr>
            <a:r>
              <a:rPr lang="en-US" sz="1400" b="1" dirty="0">
                <a:solidFill>
                  <a:srgbClr val="1F2A37"/>
                </a:solidFill>
                <a:latin typeface="Calibri" pitchFamily="34" charset="0"/>
                <a:cs typeface="Amiri" pitchFamily="2" charset="-78"/>
              </a:rPr>
              <a:t> accusative.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scene · habit · فَجْأَةً · فِي النِّهَايَةِ · reflection.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المَاضِي كُنَّا نَـ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past we used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كَانَتِ المُبَارَاةُ ______ جِدًّا.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match was very … (end in -atan)</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تِلْكَ اللَّحْظَةِ شَعَرْتُ بِـ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that moment I felt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زِلْتُ أَتَذَكَّرُ ذٰلِكَ اليَوْمَ.</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still remember that day.</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البِدَايَةِ كَانَ الطَّقْسُ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the beginning the weather was … (end in -an)</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we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فَجْأَةً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Suddenly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النِّهَايَةِ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end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البِدَايَةِ  ·  ثُمَّ  ·  فَجْأَةً  ·  فِي تِلْكَ اللَّحْظَةِ  ·  لِحُسْنِ الحَظِّ  ·  لِلْأَسَفِ  ·  فِي النِّهَايَةِ  ·  كَانَ  ·  كَانَتْ  ·  كُنْتُ  ·  كُنَّا  ·  لَنْ أَنْسَى</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ninety- to one-hundred-word anecdote about a hobby, sport or leisure experience. Set the scene with </a:t>
            </a:r>
            <a:pPr algn="l" indent="0" marL="0">
              <a:buNone/>
            </a:pPr>
            <a:r>
              <a:rPr lang="ar-SA" altLang="en-US" sz="1700" b="1" dirty="0">
                <a:solidFill>
                  <a:srgbClr val="1F2A37"/>
                </a:solidFill>
                <a:latin typeface="Amiri" pitchFamily="2" charset="-78"/>
                <a:cs typeface="Amiri" pitchFamily="2" charset="-78"/>
              </a:rPr>
              <a:t>كَانَ</a:t>
            </a:r>
            <a:pPr algn="l" indent="0" marL="0">
              <a:buNone/>
            </a:pPr>
            <a:r>
              <a:rPr lang="en-US" sz="1300" b="1" dirty="0">
                <a:solidFill>
                  <a:srgbClr val="1F2A37"/>
                </a:solidFill>
                <a:latin typeface="Calibri" pitchFamily="34" charset="0"/>
                <a:cs typeface="Amiri" pitchFamily="2" charset="-78"/>
              </a:rPr>
              <a:t>, include one past habit with </a:t>
            </a:r>
            <a:pPr algn="l" indent="0" marL="0">
              <a:buNone/>
            </a:pPr>
            <a:r>
              <a:rPr lang="ar-SA" altLang="en-US" sz="1700" b="1" dirty="0">
                <a:solidFill>
                  <a:srgbClr val="1F2A37"/>
                </a:solidFill>
                <a:latin typeface="Amiri" pitchFamily="2" charset="-78"/>
                <a:cs typeface="Amiri" pitchFamily="2" charset="-78"/>
              </a:rPr>
              <a:t>كَانَ</a:t>
            </a:r>
            <a:pPr algn="l" indent="0" marL="0">
              <a:buNone/>
            </a:pPr>
            <a:r>
              <a:rPr lang="en-US" sz="1300" b="1" dirty="0">
                <a:solidFill>
                  <a:srgbClr val="1F2A37"/>
                </a:solidFill>
                <a:latin typeface="Calibri" pitchFamily="34" charset="0"/>
                <a:cs typeface="Amiri" pitchFamily="2" charset="-78"/>
              </a:rPr>
              <a:t> plus a present verb, mark the turn with </a:t>
            </a:r>
            <a:pPr algn="l" indent="0" marL="0">
              <a:buNone/>
            </a:pPr>
            <a:r>
              <a:rPr lang="ar-SA" altLang="en-US" sz="1700" b="1" dirty="0">
                <a:solidFill>
                  <a:srgbClr val="1F2A37"/>
                </a:solidFill>
                <a:latin typeface="Amiri" pitchFamily="2" charset="-78"/>
                <a:cs typeface="Amiri" pitchFamily="2" charset="-78"/>
              </a:rPr>
              <a:t>فَجْأَةً</a:t>
            </a:r>
            <a:pPr algn="l" indent="0" marL="0">
              <a:buNone/>
            </a:pPr>
            <a:r>
              <a:rPr lang="en-US" sz="1300" b="1" dirty="0">
                <a:solidFill>
                  <a:srgbClr val="1F2A37"/>
                </a:solidFill>
                <a:latin typeface="Calibri" pitchFamily="34" charset="0"/>
                <a:cs typeface="Amiri" pitchFamily="2" charset="-78"/>
              </a:rPr>
              <a:t>, resolve with </a:t>
            </a:r>
            <a:pPr algn="l" indent="0" marL="0">
              <a:buNone/>
            </a:pPr>
            <a:r>
              <a:rPr lang="ar-SA" altLang="en-US" sz="1700" b="1" dirty="0">
                <a:solidFill>
                  <a:srgbClr val="1F2A37"/>
                </a:solidFill>
                <a:latin typeface="Amiri" pitchFamily="2" charset="-78"/>
                <a:cs typeface="Amiri" pitchFamily="2" charset="-78"/>
              </a:rPr>
              <a:t>فِي النِّهَايَةِ</a:t>
            </a:r>
            <a:pPr algn="l" indent="0" marL="0">
              <a:buNone/>
            </a:pPr>
            <a:r>
              <a:rPr lang="en-US" sz="1300" b="1" dirty="0">
                <a:solidFill>
                  <a:srgbClr val="1F2A37"/>
                </a:solidFill>
                <a:latin typeface="Calibri" pitchFamily="34" charset="0"/>
                <a:cs typeface="Amiri" pitchFamily="2" charset="-78"/>
              </a:rPr>
              <a:t> and close with a reflection.</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setting sentence with </a:t>
            </a:r>
            <a:pPr algn="l" indent="0" marL="0">
              <a:buNone/>
            </a:pPr>
            <a:r>
              <a:rPr lang="ar-SA" altLang="en-US" sz="1550" dirty="0">
                <a:solidFill>
                  <a:srgbClr val="1F2A37"/>
                </a:solidFill>
                <a:latin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and an accusative predicate.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past habit using </a:t>
            </a:r>
            <a:pPr algn="l" indent="0" marL="0">
              <a:buNone/>
            </a:pPr>
            <a:r>
              <a:rPr lang="ar-SA" altLang="en-US" sz="1550" dirty="0">
                <a:solidFill>
                  <a:srgbClr val="1F2A37"/>
                </a:solidFill>
                <a:latin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plus a present verb.</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four connectors, including </a:t>
            </a:r>
            <a:pPr algn="l" indent="0" marL="0">
              <a:buNone/>
            </a:pPr>
            <a:r>
              <a:rPr lang="ar-SA" altLang="en-US" sz="1550" dirty="0">
                <a:solidFill>
                  <a:srgbClr val="1F2A37"/>
                </a:solidFill>
                <a:latin typeface="Amiri" pitchFamily="2" charset="-78"/>
                <a:cs typeface="Amiri" pitchFamily="2" charset="-78"/>
              </a:rPr>
              <a:t>فَجْأَةً</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فِي النِّهَايَةِ</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closing reflection with </a:t>
            </a:r>
            <a:pPr algn="l" indent="0" marL="0">
              <a:buNone/>
            </a:pPr>
            <a:r>
              <a:rPr lang="ar-SA" altLang="en-US" sz="1550" dirty="0">
                <a:solidFill>
                  <a:srgbClr val="1F2A37"/>
                </a:solidFill>
                <a:latin typeface="Amiri" pitchFamily="2" charset="-78"/>
                <a:cs typeface="Amiri" pitchFamily="2" charset="-78"/>
              </a:rPr>
              <a:t>مَا زِلْتُ أَتَذَكَّرُ</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لَنْ أَنْسَى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cs typeface="Amiri" pitchFamily="2" charset="-78"/>
              </a:rPr>
              <a:t>كُنَّا مُتَحَمِّسِينَ لِأَنَّهَا كَانَتْ أَوَّلَ مُبَارَاةٍ لَنَا</a:t>
            </a:r>
            <a:endParaRPr lang="ar-SA" sz="16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were excited because it was our first match</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قَالَ لَنَا المُدَرِّبُ: لَا تَسْتَسْلِمُوا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coach told us: don’t give up</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شَعَرْنَا بِالحُزْنِ</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felt sad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يَوْمٌ لَا يُنْسَى</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unforgettable day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حَتَّى الآنَ</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until now</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البِدَايَةِ كَانَ اليَوْمُ عَادِيًّا، وَكَانَ الطَّقْسُ حَارًّا. كُنَّا مُتَحَمِّسِينَ لِأَنَّهَا كَانَتْ أَوَّلَ مُبَارَاةٍ لَنَا. فِي المَاضِي كُنَّا نَتَدَرَّبُ مَرَّتَيْنِ فِي الأُسْبُوعِ فَقَطْ. ثُمَّ بَدَأَتِ المُبَارَاةُ، وَكَانَتْ صَعْبَةً جِدًّا. فَجْأَةً سَجَّلَ الفَرِيقُ الآخَرُ هَدَفًا، وَلِلْأَسَفِ شَعَرْنَا بِالحُزْنِ. فِي تِلْكَ اللَّحْظَةِ قَالَ لَنَا المُدَرِّبُ: لَا تَسْتَسْلِمُوا. وَلِحُسْنِ الحَظِّ سَجَّلْنَا هَدَفَيْنِ. فِي النِّهَايَةِ فُزْنَا بِالمُبَارَاةِ، وَمَا زِلْتُ أَتَذَكَّرُ ذٰلِكَ اليَوْمَ حَتَّى الآنَ.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At the beginning the day was ordinary, and the weather was hot. We were excited because it was our first match. In the past we used to train only twice a week. Then the match started, and it was very difficult. Suddenly the other team scored a goal, and unfortunately we felt sad. At that moment the coach told us: “Don’t give up.” Luckily we scored two goals. In the end we won the match, and I still remember that day even now.</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 -an (twice)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past habit (كُنَّا نَتَدَرَّبُ)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connectors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reflective close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cs typeface="Amiri" pitchFamily="2" charset="-78"/>
              </a:rPr>
              <a:t>كَانَ</a:t>
            </a:r>
            <a:pPr algn="l" indent="0" marL="0">
              <a:buNone/>
            </a:pPr>
            <a:r>
              <a:rPr lang="en-US" sz="1300" dirty="0">
                <a:solidFill>
                  <a:srgbClr val="1F2A37"/>
                </a:solidFill>
                <a:latin typeface="Calibri" pitchFamily="34" charset="0"/>
                <a:cs typeface="Amiri" pitchFamily="2" charset="-78"/>
              </a:rPr>
              <a:t> my description ends in -an.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story has a beginning, a turn and an end.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كَانَ</a:t>
            </a:r>
            <a:pPr algn="l" indent="0" marL="0">
              <a:buNone/>
            </a:pPr>
            <a:r>
              <a:rPr lang="en-US" sz="1300" dirty="0">
                <a:solidFill>
                  <a:srgbClr val="1F2A37"/>
                </a:solidFill>
                <a:latin typeface="Calibri" pitchFamily="34" charset="0"/>
                <a:cs typeface="Amiri" pitchFamily="2" charset="-78"/>
              </a:rPr>
              <a:t> + a present verb for a habit.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كُنْتُ</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cs typeface="Amiri" pitchFamily="2" charset="-78"/>
              </a:rPr>
              <a:t>كُنَّا</a:t>
            </a:r>
            <a:pPr algn="l" indent="0" marL="0">
              <a:buNone/>
            </a:pPr>
            <a:r>
              <a:rPr lang="en-US" sz="1300" dirty="0">
                <a:solidFill>
                  <a:srgbClr val="1F2A37"/>
                </a:solidFill>
                <a:latin typeface="Calibri" pitchFamily="34" charset="0"/>
                <a:cs typeface="Amiri" pitchFamily="2" charset="-78"/>
              </a:rPr>
              <a:t>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closed with </a:t>
            </a:r>
            <a:pPr algn="l" indent="0" marL="0">
              <a:buNone/>
            </a:pPr>
            <a:r>
              <a:rPr lang="ar-SA" altLang="en-US" sz="1700" dirty="0">
                <a:solidFill>
                  <a:srgbClr val="1F2A37"/>
                </a:solidFill>
                <a:latin typeface="Amiri" pitchFamily="2" charset="-78"/>
                <a:cs typeface="Amiri" pitchFamily="2" charset="-78"/>
              </a:rPr>
              <a:t>مَا زِلْتُ أَتَذَكَّرُ</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cs typeface="Amiri" pitchFamily="2" charset="-78"/>
              </a:rPr>
              <a:t>لَنْ أَنْسَى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setting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الحَفْلَةُ رَائِعَةً.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الحَفْلَةُ رَائِعَةٌ.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الحَفْلَةُ رَائِعَةً.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habit.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كُنَّا تَدَرَّبْنَا كُلَّ سَبْتٍ.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كُنَّا نَتَدَرَّبُ كُلَّ سَبْتٍ.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نَتَدَرَّبُ كُلَّ سَبْتٍ.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closes a narrative?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النِّهَايَةِ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البِدَايَةِ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فَجْأَةً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setting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كَانَتِ الحَفْلَةُ رَائِعَةً.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كَانَتِ الحَفْلَةُ رَائِعَةٌ.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كَانَ الحَفْلَةُ رَائِعَةً.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agrees with the feminine subject and its predicate is accusative.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habit.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كُنَّا تَدَرَّبْنَا كُلَّ سَبْتٍ.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كُنَّا نَتَدَرَّبُ كُلَّ سَبْتٍ.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كَانَ نَتَدَرَّبُ كُلَّ سَبْتٍ.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كُنَّا</a:t>
            </a:r>
            <a:pPr algn="l" indent="0" marL="0">
              <a:buNone/>
            </a:pPr>
            <a:r>
              <a:rPr lang="en-US" sz="1050" i="1" dirty="0">
                <a:solidFill>
                  <a:srgbClr val="8A6D1E"/>
                </a:solidFill>
                <a:latin typeface="Calibri" pitchFamily="34" charset="0"/>
                <a:cs typeface="Amiri" pitchFamily="2" charset="-78"/>
              </a:rPr>
              <a:t> agrees with </a:t>
            </a:r>
            <a:pPr algn="l" indent="0" marL="0">
              <a:buNone/>
            </a:pPr>
            <a:r>
              <a:rPr lang="ar-SA" altLang="en-US" sz="1350" dirty="0">
                <a:solidFill>
                  <a:srgbClr val="8A6D1E"/>
                </a:solidFill>
                <a:latin typeface="Amiri" pitchFamily="2" charset="-78"/>
                <a:cs typeface="Amiri" pitchFamily="2" charset="-78"/>
              </a:rPr>
              <a:t>نَحْنُ</a:t>
            </a:r>
            <a:pPr algn="l" indent="0" marL="0">
              <a:buNone/>
            </a:pPr>
            <a:r>
              <a:rPr lang="en-US" sz="1050" i="1" dirty="0">
                <a:solidFill>
                  <a:srgbClr val="8A6D1E"/>
                </a:solidFill>
                <a:latin typeface="Calibri" pitchFamily="34" charset="0"/>
                <a:cs typeface="Amiri" pitchFamily="2" charset="-78"/>
              </a:rPr>
              <a:t> and is followed by a present verb.</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closes a narrative?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فِي النِّهَايَةِ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البِدَايَةِ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فَجْأَةً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فِي النِّهَايَةِ</a:t>
            </a:r>
            <a:pPr algn="l" indent="0" marL="0">
              <a:buNone/>
            </a:pPr>
            <a:r>
              <a:rPr lang="en-US" sz="1050" i="1" dirty="0">
                <a:solidFill>
                  <a:srgbClr val="8A6D1E"/>
                </a:solidFill>
                <a:latin typeface="Calibri" pitchFamily="34" charset="0"/>
                <a:cs typeface="Amiri" pitchFamily="2" charset="-78"/>
              </a:rPr>
              <a:t> resolves the story.</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Reading: a memory from a first concert</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البِدَايَةِ كُنْتُ خَائِفًا قَلِيلًا، لِأَنَّهَا كَانَتْ أَوَّلَ حَفْلَةٍ مُوسِيقِيَّةٍ لِي. كَانَ المَسْرَحُ كَبِيرًا وَكَانَ الجُمْهُورُ كَثِيرًا. فِي الطُّفُولَةِ كُنْتُ أَعْزِفُ عَلَى العُودِ فِي البَيْتِ فَقَطْ، وَكَانَ أَبِي يَسْتَمِعُ إِلَيَّ كُلَّ مَسَاءٍ. ثُمَّ بَدَأَتِ الفِرْقَةُ، وَفَجْأَةً نَسِيتُ الخَوْفَ تَمَامًا. فِي تِلْكَ اللَّحْظَةِ شَعَرْتُ بِسَعَادَةٍ كَبِيرَةٍ. لِلْأَسَفِ انْتَهَتِ الحَفْلَةُ بِسُرْعَةٍ، وَلٰكِنْ فِي النِّهَايَةِ صَفَّقَ الجُمْهُورُ طَوِيلًا. لَنْ أَنْسَى تِلْكَ التَّجْرِبَةَ أَبَدًا.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خَائِفًا</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afraid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حَفْلَةٍ مُوسِيقِيَّةٍ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concert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المَسْرَحُ</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stage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الجُمْهُورُ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audience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الطُّفُولَةِ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childhood</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يَسْتَمِعُ إِلَيَّ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listened to me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الفِرْقَةُ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band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نَسِيتُ الخَوْفَ</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forgot my fear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شَعَرْتُ بِسَعَادَةٍ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felt happy</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صَفَّقَ</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clapped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 writer feel at the beginning?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Completely confident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little afraid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Bored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writer used to play the oud?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theatre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school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home only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father used to do?</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 every evening</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 with him</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Record the music</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suddenly?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lights went out</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fear disappeared</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audience left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writer close the account?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Saying the experience will never be forgotten</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Saying it was disappointing</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Saying it was too long</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 writer feel at the beginning?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Completely confident</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little afraid</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Bored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البِدَايَةِ كُنْتُ خَائِفًا قَلِيلًا.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writer used to play the oud?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theatre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school</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home only</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كُنْتُ أَعْزِفُ عَلَى العُودِ فِي البَيْتِ فَقَطْ.</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father used to do?</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Listen every evening</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 with him</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Record the music</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كَانَ أَبِي يَسْتَمِعُ إِلَيَّ كُلَّ مَسَاءٍ.</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suddenly?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lights went out</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fear disappeared</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audience left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فَجْأَةً نَسِيتُ الخَوْفَ تَمَامًا.</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writer close the account?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Saying the experience will never be forgotten</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Saying it was disappointing</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Saying it was too long</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لَنْ أَنْسَى تِلْكَ التَّجْرِبَةَ أَبَدًا.</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Storytelling Mission — </a:t>
            </a:r>
            <a:pPr algn="l" indent="0" marL="0">
              <a:buNone/>
            </a:pPr>
            <a:r>
              <a:rPr lang="ar-SA" altLang="en-US" sz="2300" b="1" dirty="0">
                <a:solidFill>
                  <a:srgbClr val="1B3B6F"/>
                </a:solidFill>
                <a:latin typeface="Amiri" pitchFamily="2" charset="-78"/>
                <a:cs typeface="Amiri" pitchFamily="2" charset="-78"/>
              </a:rPr>
              <a:t>كَانَ</a:t>
            </a:r>
            <a:pPr algn="l" indent="0" marL="0">
              <a:buNone/>
            </a:pPr>
            <a:r>
              <a:rPr lang="en-US" sz="1750" b="1" dirty="0">
                <a:solidFill>
                  <a:srgbClr val="1B3B6F"/>
                </a:solidFill>
                <a:latin typeface="Cambria" pitchFamily="34" charset="0"/>
                <a:cs typeface="Amiri" pitchFamily="2" charset="-78"/>
              </a:rPr>
              <a:t>, Habit and the Narrative Arc</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setting sentence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المَلْعَبُ مُمْتَلِئٌ.</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المَلْعَبُ مُمْتَلِئًا.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المَلْعَبَ مُمْتَلِئًا.</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“she used to watch”?</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تُشَاهِدُ</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شَاهَدَتْ</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تُشَاهِدُ</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a:t>
            </a:r>
            <a:pPr algn="l" indent="0" marL="0">
              <a:buNone/>
            </a:pPr>
            <a:r>
              <a:rPr lang="ar-SA" altLang="en-US" sz="1650" b="1" dirty="0">
                <a:solidFill>
                  <a:srgbClr val="1B3B6F"/>
                </a:solidFill>
                <a:latin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كَانَّا</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كُنَّا</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“unfortunately”?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لِحُسْنِ الحَظِّ</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أَخِيرًا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لِلْأَسَفِ</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cs typeface="Amiri" pitchFamily="2" charset="-78"/>
              </a:rPr>
              <a:t>رَوَى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رَوَيْتُ</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رَوَانِي</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رَوَوْتُ</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places the connector naturally?</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سَقَطَ فَجْأَةً المَطَرُ جِدًّا.</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فَجْأَةً سَقَطَ المَطَرُ.</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المَطَرُ فَجْأَةً سَقَطَ هُوَ.</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setting sentence is accurate?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المَلْعَبُ مُمْتَلِئٌ.</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 المَلْعَبُ مُمْتَلِئًا.</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المَلْعَبَ مُمْتَلِئًا.</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Nominative subject, accusative predicate.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“she used to watch”?</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 تُشَاهِدُ</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كَانَتْ شَاهَدَتْ</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تُشَاهِدُ</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plus a present verb expresses a past habit.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a:t>
            </a:r>
            <a:pPr algn="l" indent="0" marL="0">
              <a:buNone/>
            </a:pPr>
            <a:r>
              <a:rPr lang="ar-SA" altLang="en-US" sz="1650" b="1" dirty="0">
                <a:solidFill>
                  <a:srgbClr val="1B3B6F"/>
                </a:solidFill>
                <a:latin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كَانَّا</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كِنَّا</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كُنَّا</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hollow stem shortens to </a:t>
            </a:r>
            <a:pPr algn="l" indent="0" marL="0">
              <a:buNone/>
            </a:pPr>
            <a:r>
              <a:rPr lang="ar-SA" altLang="en-US" sz="1350" dirty="0">
                <a:solidFill>
                  <a:srgbClr val="8A6D1E"/>
                </a:solidFill>
                <a:latin typeface="Amiri" pitchFamily="2" charset="-78"/>
                <a:cs typeface="Amiri" pitchFamily="2" charset="-78"/>
              </a:rPr>
              <a:t>كُنْـ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“unfortunately”?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لِحُسْنِ الحَظِّ</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أَخِيرًا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لِلْأَسَفِ</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لِلْأَسَفِ</a:t>
            </a:r>
            <a:pPr algn="l" indent="0" marL="0">
              <a:buNone/>
            </a:pPr>
            <a:r>
              <a:rPr lang="en-US" sz="1050" i="1" dirty="0">
                <a:solidFill>
                  <a:srgbClr val="8A6D1E"/>
                </a:solidFill>
                <a:latin typeface="Calibri" pitchFamily="34" charset="0"/>
                <a:cs typeface="Amiri" pitchFamily="2" charset="-78"/>
              </a:rPr>
              <a:t> means unfortunately.</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cs typeface="Amiri" pitchFamily="2" charset="-78"/>
              </a:rPr>
              <a:t>رَوَى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رَوَيْتُ</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رَوَانِي</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رَوَوْتُ</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weak-final verb takes yāʾ before the suffix.</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places the connector naturally?</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سَقَطَ فَجْأَةً المَطَرُ جِدًّا.</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فَجْأَةً سَقَطَ المَطَرُ.</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المَطَرُ فَجْأَةً سَقَطَ هُوَ.</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فَجْأَةً</a:t>
            </a:r>
            <a:pPr algn="l" indent="0" marL="0">
              <a:buNone/>
            </a:pPr>
            <a:r>
              <a:rPr lang="en-US" sz="1050" i="1" dirty="0">
                <a:solidFill>
                  <a:srgbClr val="8A6D1E"/>
                </a:solidFill>
                <a:latin typeface="Calibri" pitchFamily="34" charset="0"/>
                <a:cs typeface="Amiri" pitchFamily="2" charset="-78"/>
              </a:rPr>
              <a:t> normally opens the clause it turns.</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D5-L05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D5-L06 · Music, Arts and Arabic Culture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العُودُ</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oud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فِرْقَةٌ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band, ensemble</a:t>
            </a:r>
            <a:pPr indent="0" marL="0">
              <a:buNone/>
            </a:pPr>
            <a:r>
              <a:rPr lang="en-US" sz="1000" i="1" dirty="0">
                <a:solidFill>
                  <a:srgbClr val="5A6472"/>
                </a:solidFill>
                <a:latin typeface="Calibri" pitchFamily="34" charset="0"/>
                <a:cs typeface="Amiri" pitchFamily="2" charset="-78"/>
              </a:rPr>
              <a:t>  pl. فِرَقٌ</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فَنَّانٌ / فَنَّانَةٌ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artist (m / f)</a:t>
            </a:r>
            <a:pPr indent="0" marL="0">
              <a:buNone/>
            </a:pPr>
            <a:r>
              <a:rPr lang="en-US" sz="1000" i="1" dirty="0">
                <a:solidFill>
                  <a:srgbClr val="5A6472"/>
                </a:solidFill>
                <a:latin typeface="Calibri" pitchFamily="34" charset="0"/>
                <a:cs typeface="Amiri" pitchFamily="2" charset="-78"/>
              </a:rPr>
              <a:t>  pl. فَنَّانُونَ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الخَطُّ العَرَبِيُّ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Arabic calligraphy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يُعَبِّرُ عَنْ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expresses</a:t>
            </a:r>
            <a:pPr indent="0" marL="0">
              <a:buNone/>
            </a:pPr>
            <a:r>
              <a:rPr lang="en-US" sz="1000" i="1" dirty="0">
                <a:solidFill>
                  <a:srgbClr val="5A6472"/>
                </a:solidFill>
                <a:latin typeface="Calibri" pitchFamily="34" charset="0"/>
                <a:cs typeface="Amiri" pitchFamily="2" charset="-78"/>
              </a:rPr>
              <a:t>  تُعَبِّرُ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Do you know an Arabic or Islamic art form (calligraphy, nasheed, the oud)? Note one thing about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أَعْرِفُ … ، وَهُوَ / هِيَ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8 connectors in story order; write the six-sentence frame story.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70–90-word story with a past habit and </a:t>
            </a:r>
            <a:pPr algn="l" indent="0" marL="0">
              <a:buNone/>
            </a:pPr>
            <a:r>
              <a:rPr lang="ar-SA" altLang="en-US" sz="1550" dirty="0">
                <a:solidFill>
                  <a:srgbClr val="1F2A37"/>
                </a:solidFill>
                <a:latin typeface="Amiri" pitchFamily="2" charset="-78"/>
                <a:cs typeface="Amiri" pitchFamily="2" charset="-78"/>
              </a:rPr>
              <a:t>كُنْتُ / كُنَّا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90–100-word anecdote with four connectors and a reflection.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50" b="1" dirty="0">
                <a:solidFill>
                  <a:srgbClr val="FFFFFF"/>
                </a:solidFill>
                <a:latin typeface="Cambria" pitchFamily="34" charset="0"/>
                <a:cs typeface="Amiri" pitchFamily="2" charset="-78"/>
              </a:rPr>
              <a:t>D5-L06 · Music, Arts and Arabic Culture</a:t>
            </a:r>
            <a:endParaRPr lang="en-US" sz="24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المُوسِيقَى وَالفُنُونُ وَالثَّقَافَةُ العَرَبِيَّةُ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cs typeface="Amiri" pitchFamily="2" charset="-78"/>
              </a:rPr>
              <a:t>كَانَ</a:t>
            </a:r>
            <a:pPr algn="l" indent="0" marL="0">
              <a:buNone/>
            </a:pPr>
            <a:r>
              <a:rPr lang="en-US" sz="1300" b="1" dirty="0">
                <a:solidFill>
                  <a:srgbClr val="FFFFFF"/>
                </a:solidFill>
                <a:latin typeface="Calibri" pitchFamily="34" charset="0"/>
                <a:cs typeface="Amiri" pitchFamily="2" charset="-78"/>
              </a:rPr>
              <a:t> + description = -an · </a:t>
            </a:r>
            <a:pPr algn="l" indent="0" marL="0">
              <a:buNone/>
            </a:pPr>
            <a:r>
              <a:rPr lang="ar-SA" altLang="en-US" sz="1700" b="1" dirty="0">
                <a:solidFill>
                  <a:srgbClr val="FFFFFF"/>
                </a:solidFill>
                <a:latin typeface="Amiri" pitchFamily="2" charset="-78"/>
                <a:cs typeface="Amiri" pitchFamily="2" charset="-78"/>
              </a:rPr>
              <a:t>كَانَ</a:t>
            </a:r>
            <a:pPr algn="l" indent="0" marL="0">
              <a:buNone/>
            </a:pPr>
            <a:r>
              <a:rPr lang="en-US" sz="1300" b="1" dirty="0">
                <a:solidFill>
                  <a:srgbClr val="FFFFFF"/>
                </a:solidFill>
                <a:latin typeface="Calibri" pitchFamily="34" charset="0"/>
                <a:cs typeface="Amiri" pitchFamily="2" charset="-78"/>
              </a:rPr>
              <a:t> + present = used to · and give your story a shape: beginning → turn → end → reflection.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D5-L05 · Storytelling — Narrative Connectors and كَانَ Description</dc:title>
  <dc:subject>PptxGenJS Presentation</dc:subject>
  <dc:creator>Al Madina Online School · Arabic Department</dc:creator>
  <cp:lastModifiedBy>Al Madina Online School · Arabic Department</cp:lastModifiedBy>
  <cp:revision>1</cp:revision>
  <dcterms:created xsi:type="dcterms:W3CDTF">2026-10-11T06:41:00Z</dcterms:created>
  <dcterms:modified xsi:type="dcterms:W3CDTF">2026-10-11T06:41:00Z</dcterms:modified>
</cp:coreProperties>
</file>