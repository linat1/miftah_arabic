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spine (not marked) · 6–7 Assessment map · 7–21 Listening (20) · 21–29 Reading (10) · 29–46 Writing (20) · 46–56 Speaking (10, one-to-one or trusted pairs) · 56–60 Profile and D6 target.
FLEX slides are optional. Use them if the class is moving quickly; otherwise the same activities are on the website for homework.
Content source: Miftah Arabic website, Pathways › Development › D5 Hobbies, Sport and Leisure › D5-L12. The website D5-L12 is a four-skill, 60-mark unit assessment: a twelve-question grammar spine (revision, not counted), Part A listening (three texts — a sporting life 8 · two friends’ holidays 6 · a cultural evening 6 = 20), Part B1 reading (a leisure life story: 10), Part B2 writing (five-field leisure profile 5 + 130–140-word article 15, marked task / range / accuracy) and Part C speaking (role play at the leisure centre 4 + topic conversation 6), then a D6 target. Website: “Past-tense suffix accuracy is the primary Accuracy criterion in every component.”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Text 3 (a heritage concert) and the cultural field of the profile can be answered about a nasheed evening or a calligraphy exhibition instead (see D5-L06).
• Website: “Past-tense suffix accuracy is the primary Accuracy criterion in every component.”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D5-L11. Questions 2–5 are from the website twelve-question grammar spine (used diagnostically; the items that differ only in vowel endings are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(website twelve-question grammar spine, correct answers): لَعِبْتُ · رَسَمَتْ · ذَهَبُوا · شَاهَدْنَا · قُلْنَا · زُرْتُ · مَشَيْنَا · كَانَ الطَّقْسُ جَمِيلًا · كَانَتْ تُشَاهِدُ · أُمَارِسُ السِّبَاحَةَ مَرَّتَيْنِ · فَازَ … بِـ / أُعْجِبْتُ بِـ · فَجْأَةً بَدَأَ … سَأَعُودُ.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 QUESTIONS 1–4 (website Part A, 20 marks). Website: “Read the questions first, decide which tense each one targets.” Each recording may be played twice; students answer after the second reading.
SCRIPT: فِي الطُّفُولَةِ كُنْتُ أَلْعَبُ كُرَةَ الطَّائِرَةِ فِي نَادِي الحَيِّ، وَكَانَ مُدَرِّبِي يُشَجِّعُنِي كَثِيرًا. أَمَّا الآنَ فَأَتَدَرَّبُ عَادَةً ثَلَاثَ مَرَّاتٍ فِي الأُسْبُوعِ. وَفِي العَامِ المَاضِي فُزْتُ بِالمِيدَالِيَةِ البُرُونْزِيَّةِ فِي بُطُولَةِ المَدَارِسِ، وَكَانَ ذٰلِكَ أَجْمَلَ إِنْجَازٍ لِي. وَالشَّهْرَ القَادِمَ سَأُشَارِكُ فِي بُطُولَةٍ إِقْلِيمِيَّةٍ. فِي رَأْيِي الرِّيَاضَةُ تُعَلِّمُ الصَّبْرَ. وَالأُسْبُوعَ المَاضِيَ حَضَرْتُ حَفْلَةً مُوسِيقِيَّةً تُرَاثِيَّةً مَعَ أُسْرَتِي، وَأُعْجِبْتُ بِعَازِفِ العُودِ لِأَنَّهُ مُتَوَاضِعٌ وَمُجْتَهِدٌ.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tense each question targeted.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 QUESTIONS 5–8 (website Part A, 20 marks). Website: “Read the questions first, decide which tense each one targets.” Each recording may be played twice; students answer after the second reading.
SCRIPT: فِي الطُّفُولَةِ كُنْتُ أَلْعَبُ كُرَةَ الطَّائِرَةِ فِي نَادِي الحَيِّ، وَكَانَ مُدَرِّبِي يُشَجِّعُنِي كَثِيرًا. أَمَّا الآنَ فَأَتَدَرَّبُ عَادَةً ثَلَاثَ مَرَّاتٍ فِي الأُسْبُوعِ. وَفِي العَامِ المَاضِي فُزْتُ بِالمِيدَالِيَةِ البُرُونْزِيَّةِ فِي بُطُولَةِ المَدَارِسِ، وَكَانَ ذٰلِكَ أَجْمَلَ إِنْجَازٍ لِي. وَالشَّهْرَ القَادِمَ سَأُشَارِكُ فِي بُطُولَةٍ إِقْلِيمِيَّةٍ. فِي رَأْيِي الرِّيَاضَةُ تُعَلِّمُ الصَّبْرَ. وَالأُسْبُوعَ المَاضِيَ حَضَرْتُ حَفْلَةً مُوسِيقِيَّةً تُرَاثِيَّةً مَعَ أُسْرَتِي، وَأُعْجِبْتُ بِعَازِفِ العُودِ لِأَنَّهُ مُتَوَاضِعٌ وَمُجْتَهِدٌ.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tense each question targeted.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2 · 6 QUESTIONS (website Part A, 20 marks). Website: “Read the questions first, decide which tense each one targets.” Each recording may be played twice; students answer after the second reading.
SCRIPT: سَامِي: فِي الصَّيْفِ المَاضِي سَافَرْتُ إِلَى مَدِينَةٍ سَاحِلِيَّةٍ وَأَقَمْتُ فِي فُنْدُقٍ صَغِيرٍ. لَيْلَى: وَأَنَا حَجَزْتُ رِحْلَةً جَبَلِيَّةً، وَمَشَيْنَا سَاعَتَيْنِ حَتَّى وَصَلْنَا إِلَى القِمَّةِ. سَامِي: اسْتَمْتَعْتُ بِالشَّاطِئِ كَثِيرًا، وَاكْتَشَفْتُ سُوقًا قَدِيمًا. لَيْلَى: أَنَا أَيْضًا اسْتَمْتَعْتُ بِالرِّحْلَةِ، وَلٰكِنْ لِلْأَسَفِ نَسِيتُ الكَامِيرَا فِي الفُنْدُقِ. سَامِي: وَأَنَا نَسِيتُ حَقِيبَتِي فِي المَحَطَّةِ! لِحُسْنِ الحَظِّ وَجَدْتُهَا. لَيْلَى: فِي المُسْتَقْبَلِ سَأَعُودُ إِلَى الجَبَلِ مَرَّةً أُخْرَى. سَامِي: وَأَنَا سَأَعُودُ إِلَى الشَّاطِئِ.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tense each question targeted.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3 · 6 QUESTIONS (website Part A, 20 marks). Website: “Read the questions first, decide which tense each one targets.” Each recording may be played twice; students answer after the second reading.
SCRIPT: فِي الأُسْبُوعِ المَاضِي نَظَّمَ المَرْكَزُ الثَّقَافِيُّ أُمْسِيَةً مُوسِيقِيَّةً. عَزَفَتْ فِرْقَةٌ صَغِيرَةٌ عَلَى العُودِ وَالنَّايِ وَالقَانُونِ، وَعَبَّرَتِ المُوسِيقَى عَنْ تُرَاثٍ طَوِيلٍ. حَضَرَ أَكْثَرُ مِنْ مِئَتَيْ شَخْصٍ، وَأَثَّرَتِ الأُمْسِيَةُ فِي الجُمْهُورِ كَثِيرًا. وَبَعْدَ الحَفْلَةِ افْتَتَحَ المَرْكَزُ مَعْرِضًا لِلْخَطِّ العَرَبِيِّ، وَأَلْهَمَتِ الزَّخْرَفَةُ عَدَدًا مِنَ الطُّلَّابِ. وَفِي بَعْضِ المَدَارِسِ يَتَعَلَّمُ الأَطْفَالُ هٰذِهِ الآلَاتِ، وَلٰكِنْ لَيْسَ دَائِمًا؛ فَالأَذْوَاقُ تَخْتَلِفُ.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tense each question targeted.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B1). No English support on assessment texts. Strategy: read the question, decide the tense it targets, find the time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evidence · R4 tense gap-fill).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evidence · R4 tense gap-fill).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1 (website, 5 marks): one mark per field completed accurately in Arabic (a phrase is enough; the collocation verb, the hollow stem أَقَمْتُ and the suffix must be correct for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“Write 130–140 words. Narrate a past experience, describe your present habit, state a future plan and give an opinion.” Mark scheme exactly as on the website. The D5-L09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(website, 4 marks). Teacher plays the receptionist: أَهْلًا وَسَهْلًا فِي المَرْكَزِ. كَيْفَ أُسَاعِدُكَ؟ Answers to model: عِنْدَنَا سِبَاحَةٌ وَكُرَةُ سَلَّةٍ وَيُوغَا. · نَفْتَحُ مِنَ التَّاسِعَةِ صَبَاحًا إِلَى التَّاسِعَةِ مَسَاءً. Then listen for prompt 3 (e.g. فِي المَرَّةِ المَاضِيَةِ سَبَحْتُ وَلَعِبْتُ …) and prompt 4 (سَأَتَدَرَّبُ / أَنْوِي أَنْ …). To a girl: فَعَلْتِ · تَنْوِينَ.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CONVERSATION (website, 6 marks): mirror the tense of each question (D5-L11). Allow time-buying phrases (دَعْنِي أُفَكِّرُ). To a girl: هِوَايَتُكِ · بَدَأْتِ · مَرَرْتِ · خُطَطُكِ.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D1–D4 assessments.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(D6-L01 · Countries, Nationalities and Languages of the Arab World) will spend class time USING this language, so students prepare it tonight — short, simple, easy to access (school guidance: “Simple, Short, Interesting, Relevant, Easy to access”). D6 begins with the Arab world (website D6-L01 “Countries, Nationalities and Languages of the Arab World”).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Hobbies, Sport and Leisure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hobbies, sport, holidays and culture — with the past tense accurate in every skill — then choose one precise next step for D6.</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D5-L12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D5</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D5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D6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D6: the Arab world.</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comprehension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listening comprehension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conversation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قُلْنَا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قَالْنَا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قَوَلْنَا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used to watch”?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شَاهَدَتْ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سَتُشَاهِدُ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تُشَاهِدُ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أَلْعَبُ السِّبَاحَةَ مَرَّتَيْنِ فِي الأُسْبُوعِ.</a:t>
            </a:r>
            <a:endParaRPr lang="ar-SA" sz="18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أَعْزِفُ السِّبَاحَةَ مَرَّتَيْنِ فِي الأُسْبُوعِ.</a:t>
            </a:r>
            <a:endParaRPr lang="ar-SA" sz="18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أُمَارِسُ السِّبَاحَةَ مَرَّتَيْنِ فِي الأُسْبُوعِ.</a:t>
            </a:r>
            <a:endParaRPr lang="ar-SA" sz="18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فَجْأَةً بَدَأَ المَطَرُ، وَفِي المُسْتَقْبَلِ سَأَعُودُ.</a:t>
            </a:r>
            <a:endParaRPr lang="ar-SA" sz="16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فَجْأَةً بَدَأَ المَطَرُ، وَفِي المُسْتَقْبَلِ عُدْتُ.</a:t>
            </a:r>
            <a:endParaRPr lang="ar-SA" sz="16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فَجْأَةً سَيَبْدَأُ المَطَرُ، وَأَمْسِ عُدْتُ.</a:t>
            </a:r>
            <a:endParaRPr lang="ar-SA" sz="16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comprehension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listening comprehension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conversation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قُلْنَا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قَالْنَا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قَوَلْنَا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used to watch”?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 شَاهَدَتْ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سَتُشَاهِدُ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تُشَاهِدُ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أَلْعَبُ السِّبَاحَةَ مَرَّتَيْنِ فِي الأُسْبُوعِ.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أَعْزِفُ السِّبَاحَةَ مَرَّتَيْنِ فِي الأُسْبُوعِ.</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أُمَارِسُ السِّبَاحَةَ مَرَّتَيْنِ فِي الأُسْبُوعِ.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10.</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2" charset="-78"/>
                <a:cs typeface="Amiri" pitchFamily="2" charset="-78"/>
              </a:rPr>
              <a:t>فَجْأَةً بَدَأَ المَطَرُ، وَفِي المُسْتَقْبَلِ سَأَعُودُ.</a:t>
            </a:r>
            <a:endParaRPr lang="ar-SA" sz="16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فَجْأَةً بَدَأَ المَطَرُ، وَفِي المُسْتَقْبَلِ عُدْتُ.</a:t>
            </a:r>
            <a:endParaRPr lang="ar-SA" sz="16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فَجْأَةً سَيَبْدَأُ المَطَرُ، وَأَمْسِ عُدْتُ.</a:t>
            </a:r>
            <a:endParaRPr lang="ar-SA" sz="16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12.</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اللَّاحِقَةُ · الجَذْرُ الشَّاذُّ · كَانَ · التَّلَازُمُ · الزَّمَنُ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D5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past-tense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D5-L03 · L04</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لَعِبْتُ · رَسَمَتْ · ذَهَبُوا · شَاهَدْنَا</a:t>
            </a:r>
            <a:endParaRPr lang="ar-SA" sz="22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 ending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D5-L04 · L07</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قُلْنَا · زُرْتُ · مَشَيْنَا</a:t>
            </a:r>
            <a:endParaRPr lang="ar-SA" sz="22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irregular stem</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D5-L05</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كَانَ الطَّقْسُ جَمِيلًا · كَانَتْ تُشَاهِدُ</a:t>
            </a:r>
            <a:endParaRPr lang="ar-SA" sz="22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D5-L01 · L02</a:t>
            </a:r>
            <a:endParaRPr lang="en-US" sz="1100" dirty="0"/>
          </a:p>
        </p:txBody>
      </p:sp>
      <p:sp>
        <p:nvSpPr>
          <p:cNvPr id="37" name="Text 34"/>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أُمَارِسُ السِّبَاحَةَ · فَازَ بِالبُطُولَةِ · أُعْجِبْتُ بِـ</a:t>
            </a:r>
            <a:endParaRPr lang="ar-SA" sz="22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collocation</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D5-L07 · L09</a:t>
            </a:r>
            <a:endParaRPr lang="en-US" sz="1100" dirty="0"/>
          </a:p>
        </p:txBody>
      </p:sp>
      <p:sp>
        <p:nvSpPr>
          <p:cNvPr id="41" name="Text 38"/>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فَجْأَةً بَدَأَ … وَفِي المُسْتَقْبَلِ سَأَعُودُ</a:t>
            </a:r>
            <a:endParaRPr lang="ar-SA" sz="22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tense switch</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past-tense suffix accuracy is the main Accuracy criterion in EVERY part today.</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 sporting life (8) · two friends’ holidays (6) · a cultural evening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leisure life story: main idea, detail, evidence and a tense gap-fill</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leisure profile (5) + a 130–140-word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at the leisure centre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sporting life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sport did the speaker play in childhood?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Handball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Basketball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Volleyball</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speaker train now?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next competition?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week</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month</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month</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greatest achievement?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bronze medal at the schools championship</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gold medal at a regional event</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Captaincy of the team</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sporting life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sport did the speaker play in childhood?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Handball</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Basketball</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Volleyball</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كُنْتُ أَلْعَبُ كُرَةَ الطَّائِرَةِ فِي نَادِي الحَيِّ.</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speaker train now?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a week</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الآنَ فَأَتَدَرَّبُ عَادَةً ثَلَاثَ مَرَّاتٍ فِي الأُسْبُوعِ.</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next competition?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week</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Next month</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month</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وَالشَّهْرَ القَادِمَ سَأُشَارِكُ فِي بُطُولَةٍ إِقْلِيمِيَّةٍ.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greatest achievement?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bronze medal at the schools championship</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gold medal at a regional event</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Captaincy of the team</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فُزْتُ بِالمِيدَالِيَةِ البُرُونْزِيَّةِ فِي بُطُولَةِ المَدَارِسِ.</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sporting life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opinion of sport?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teaches patience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expensive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takes too much time</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last week?</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Won a match</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Attended a heritage concert</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Started a new sport</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speaker admire, and why?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oud player, for being modest and hard-working</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coach, for being strict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teammate, for being fast</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cultural activity is mentioned?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calligraphy exhibition</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theatre play</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traditional music concert</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sporting life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opinion of sport?</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teaches patience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expensive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takes too much time</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رَأْيِي الرِّيَاضَةُ تُعَلِّمُ الصَّبْرَ.</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last week?</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Won a match</a:t>
            </a:r>
            <a:endParaRPr lang="en-US" sz="1250" dirty="0"/>
          </a:p>
        </p:txBody>
      </p:sp>
      <p:sp>
        <p:nvSpPr>
          <p:cNvPr id="37" name="Shape 34"/>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6368796"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Attended a heritage concert</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Started a new sport</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وَالأُسْبُوعَ المَاضِيَ حَضَرْتُ حَفْلَةً مُوسِيقِيَّةً تُرَاثِيَّةً.</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speaker admire, and why?</a:t>
            </a:r>
            <a:endParaRPr lang="en-US" sz="1250" dirty="0"/>
          </a:p>
        </p:txBody>
      </p:sp>
      <p:sp>
        <p:nvSpPr>
          <p:cNvPr id="49" name="Shape 46"/>
          <p:cNvSpPr/>
          <p:nvPr/>
        </p:nvSpPr>
        <p:spPr>
          <a:xfrm>
            <a:off x="548640" y="4794504"/>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4831080"/>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oud player, for being modest and hard-working</a:t>
            </a:r>
            <a:endParaRPr lang="en-US" sz="125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coach, for being strict</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teammate, for being fast</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أُعْجِبْتُ بِعَازِفِ العُودِ لِأَنَّهُ مُتَوَاضِعٌ وَمُجْتَهِدٌ.</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cultural activity is mentioned?</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calligraphy exhibition</a:t>
            </a:r>
            <a:endParaRPr lang="en-US" sz="1250" dirty="0"/>
          </a:p>
        </p:txBody>
      </p:sp>
      <p:sp>
        <p:nvSpPr>
          <p:cNvPr id="67" name="Shape 64"/>
          <p:cNvSpPr/>
          <p:nvPr/>
        </p:nvSpPr>
        <p:spPr>
          <a:xfrm>
            <a:off x="6368796"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theatre play</a:t>
            </a:r>
            <a:endParaRPr lang="en-US" sz="1250" dirty="0"/>
          </a:p>
        </p:txBody>
      </p:sp>
      <p:sp>
        <p:nvSpPr>
          <p:cNvPr id="70" name="Shape 67"/>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368796"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traditional music concert</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حَفْلَةً مُوسِيقِيَّةً تُرَاثِيَّةً</a:t>
            </a:r>
            <a:pPr algn="l" indent="0" marL="0">
              <a:buNone/>
            </a:pPr>
            <a:r>
              <a:rPr lang="en-US" sz="1050" i="1" dirty="0">
                <a:solidFill>
                  <a:srgbClr val="8A6D1E"/>
                </a:solidFill>
                <a:latin typeface="Calibri" pitchFamily="34" charset="0"/>
                <a:cs typeface="Amiri" pitchFamily="2" charset="-78"/>
              </a:rPr>
              <a:t> is the cultural activity named.</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 and Layla’s holidays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stayed in a small hotel?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booked a mountain trip?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discovered an old market?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said they enjoyed the trip?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only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forgot something?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plans to return?</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only</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Sami and Layla’s holidays: answers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stayed in a small hotel?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سَامِي: أَقَمْتُ فِي فُنْدُقٍ صَغِيرٍ.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booked a mountain trip?</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لَيْلَى: حَجَزْتُ رِحْلَةً جَبَلِيَّةً.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discovered an old market?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سَامِي: اكْتَشَفْتُ سُوقًا قَدِيمًا.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said they enjoyed the trip?</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 only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Sami says </a:t>
            </a:r>
            <a:pPr algn="l" indent="0" marL="0">
              <a:buNone/>
            </a:pPr>
            <a:r>
              <a:rPr lang="ar-SA" altLang="en-US" sz="1350" dirty="0">
                <a:solidFill>
                  <a:srgbClr val="8A6D1E"/>
                </a:solidFill>
                <a:latin typeface="Amiri" pitchFamily="2" charset="-78"/>
                <a:cs typeface="Amiri" pitchFamily="2" charset="-78"/>
              </a:rPr>
              <a:t>اسْتَمْتَعْتُ بِالشَّاطِئِ</a:t>
            </a:r>
            <a:pPr algn="l" indent="0" marL="0">
              <a:buNone/>
            </a:pPr>
            <a:r>
              <a:rPr lang="en-US" sz="1050" i="1" dirty="0">
                <a:solidFill>
                  <a:srgbClr val="8A6D1E"/>
                </a:solidFill>
                <a:latin typeface="Calibri" pitchFamily="34" charset="0"/>
                <a:cs typeface="Amiri" pitchFamily="2" charset="-78"/>
              </a:rPr>
              <a:t> and Layla says </a:t>
            </a:r>
            <a:pPr algn="l" indent="0" marL="0">
              <a:buNone/>
            </a:pPr>
            <a:r>
              <a:rPr lang="ar-SA" altLang="en-US" sz="1350" dirty="0">
                <a:solidFill>
                  <a:srgbClr val="8A6D1E"/>
                </a:solidFill>
                <a:latin typeface="Amiri" pitchFamily="2" charset="-78"/>
                <a:cs typeface="Amiri" pitchFamily="2" charset="-78"/>
              </a:rPr>
              <a:t>اسْتَمْتَعْتُ بِالرِّحْلَةِ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forgot something?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Layla forgot the camera; Sami forgot his suitcase.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plans to return?</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97" name="Shape 94"/>
          <p:cNvSpPr/>
          <p:nvPr/>
        </p:nvSpPr>
        <p:spPr>
          <a:xfrm>
            <a:off x="827836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 only</a:t>
            </a:r>
            <a:endParaRPr lang="en-US" sz="1250" dirty="0"/>
          </a:p>
        </p:txBody>
      </p:sp>
      <p:sp>
        <p:nvSpPr>
          <p:cNvPr id="100" name="Shape 97"/>
          <p:cNvSpPr/>
          <p:nvPr/>
        </p:nvSpPr>
        <p:spPr>
          <a:xfrm>
            <a:off x="8186928" y="5538216"/>
            <a:ext cx="3453384"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827836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close with </a:t>
            </a:r>
            <a:pPr algn="l" indent="0" marL="0">
              <a:buNone/>
            </a:pPr>
            <a:r>
              <a:rPr lang="ar-SA" altLang="en-US" sz="1350" dirty="0">
                <a:solidFill>
                  <a:srgbClr val="8A6D1E"/>
                </a:solidFill>
                <a:latin typeface="Amiri" pitchFamily="2" charset="-78"/>
                <a:cs typeface="Amiri" pitchFamily="2" charset="-78"/>
              </a:rPr>
              <a:t>سَأَعُودُ</a:t>
            </a:r>
            <a:pPr algn="l" indent="0" marL="0">
              <a:buNone/>
            </a:pPr>
            <a:r>
              <a:rPr lang="en-US" sz="1050" i="1" dirty="0">
                <a:solidFill>
                  <a:srgbClr val="8A6D1E"/>
                </a:solidFill>
                <a:latin typeface="Calibri" pitchFamily="34" charset="0"/>
                <a:cs typeface="Amiri" pitchFamily="2" charset="-78"/>
              </a:rPr>
              <a:t> — to the mountain and to the beach.</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cultural evening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ensemble.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ensemble played oud, nay and qanun.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orchestra played violins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soloist played the piano.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audience.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than fifty attended.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event was cancelled.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than two hundred people attended.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after the concert.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match began.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calligraphy exhibition opened.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centre closed for repairs.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effect.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 were bored.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ornamentation inspired a number of students.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 stayed for the exhibition.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what music expressed.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modern political message.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complaint.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heritage.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closing claim qualified?</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Children learn these instruments in some schools, but not always.</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children learn these instruments.</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children learn these instruments.</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cultural evening: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ensemble.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small ensemble played oud, nay and qanun.</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large orchestra played violins only.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soloist played the piano.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عَزَفَتْ فِرْقَةٌ صَغِيرَةٌ عَلَى العُودِ وَالنَّايِ وَالقَانُونِ.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audience.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Fewer than fifty attended.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event was cancelled.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More than two hundred people attended.</a:t>
            </a:r>
            <a:endParaRPr lang="en-US" sz="12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حَضَرَ أَكْثَرُ مِنْ مِئَتَيْ شَخْصٍ.</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after the concert.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match began.</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calligraphy exhibition opened.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centre closed for repairs.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افْتَتَحَ المَرْكَزُ مَعْرِضًا لِلْخَطِّ العَرَبِيِّ.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effect.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students were bored.</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ornamentation inspired a number of students.</a:t>
            </a:r>
            <a:endParaRPr lang="en-US" sz="11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 stayed for the exhibition.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أَلْهَمَتِ الزَّخْرَفَةُ عَدَدًا مِنَ الطُّلَّابِ.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what music expressed.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modern political message.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complaint.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long heritage.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عَبَّرَتِ المُوسِيقَى عَنْ تُرَاثٍ طَوِيلٍ.</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closing claim qualified?</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Children learn these instruments in some schools, but not always.</a:t>
            </a:r>
            <a:endParaRPr lang="en-US" sz="11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children learn these instruments.</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children learn these instruments.</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بَعْضِ المَدَارِسِ … وَلٰكِنْ لَيْسَ دَائِمًا؛ فَالأَذْوَاقُ تَخْتَلِفُ.</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leisure year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سَنَةٌ مِنْ حَيَاتِي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الطُّفُولَةِ كُنْتُ أَلْعَبُ كُرَةَ السَّلَّةِ فِي الشَّارِعِ مَعَ أَصْدِقَائِي كُلَّ مَسَاءٍ، وَكَانَ أَخِي الأَكْبَرُ يُشَجِّعُنِي دَائِمًا. وَفِي العَامِ المَاضِي اشْتَرَكْتُ فِي نَادٍ قَرِيبٍ وَتَدَرَّبْتُ ثَلَاثَ مَرَّاتٍ فِي الأُسْبُوعِ. فَجْأَةً أُصِبْتُ فِي كَتِفِي، وَلِلْأَسَفِ تَوَقَّفْتُ شَهْرًا كَامِلًا. وَلٰكِنْ لِحُسْنِ الحَظِّ عُدْتُ بَعْدَ ذٰلِكَ أَقْوَى، وَفُزْنَا بِالمَرْكَزِ الثَّانِي فِي بُطُولَةِ المَدَارِسِ. أَمَّا الآنَ فَأُمَارِسُ السِّبَاحَةَ مَرَّتَيْنِ فِي الأُسْبُوعِ، وَأَسْتَمْتِعُ بِهَا أَكْثَرَ مِنَ الجَرْيِ. وَفِي المُسْتَقْبَلِ سَأَشْتَرِكُ فِي بُطُولَةٍ جَدِيدَةٍ، وَأَنْوِي أَنْ أَتَعَلَّمَ العَزْفَ عَلَى العُودِ. بِصَرَاحَةٍ، كَانَتْ تِلْكَ السَّنَةُ مِنْ أَجْمَلِ سَنَوَاتِ حَيَاتِي.</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current hobby?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Basketball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Playing the oud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Moved to another city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Joined a nearby club and trained three times a week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Stopped all sport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stop for a month?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Examinations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shoulder injury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family trip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know the year ended positively? Choose the best evidence.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فَجْأَةً أُصِبْتُ فِي كَتِفِي</a:t>
            </a:r>
            <a:endParaRPr lang="ar-SA" sz="17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تَوَقَّفْتُ شَهْرًا كَامِلًا</a:t>
            </a:r>
            <a:endParaRPr lang="ar-SA" sz="17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كَانَتْ تِلْكَ السَّنَةُ مِنْ أَجْمَلِ سَنَوَاتِ حَيَاتِي</a:t>
            </a:r>
            <a:endParaRPr lang="ar-SA" sz="17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shows the setback was overcome?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لِحُسْنِ الحَظِّ عُدْتُ بَعْدَ ذٰلِكَ أَقْوَى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لِلْأَسَفِ تَوَقَّفْتُ شَهْرًا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أُصِبْتُ فِي كَتِفِي</a:t>
            </a:r>
            <a:endParaRPr lang="ar-SA" sz="2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current hobby?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Basketball</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Playing the oud</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Swimming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الآنَ فَأُمَارِسُ السِّبَاحَةَ مَرَّتَيْنِ فِي الأُسْبُوعِ.</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Moved to another city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Joined a nearby club and trained three times a week</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Stopped all sport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cs typeface="Amiri" pitchFamily="2" charset="-78"/>
              </a:rPr>
              <a:t>فِي العَامِ المَاضِي اشْتَرَكْتُ فِي نَادٍ قَرِيبٍ وَتَدَرَّبْتُ ثَلَاثَ مَرَّاتٍ فِي الأُسْبُوعِ.</a:t>
            </a:r>
            <a:endParaRPr lang="ar-SA"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stop for a month?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Examinations</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shoulder injury</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family trip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فَجْأَةً أُصِبْتُ فِي كَتِفِي.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know the year ended positively? Choose the best evidence.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فَجْأَةً أُصِبْتُ فِي كَتِفِي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تَوَقَّفْتُ شَهْرًا كَامِلًا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تِلْكَ السَّنَةُ مِنْ أَجْمَلِ سَنَوَاتِ حَيَاتِي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closing evaluation states directly that it was one of the finest years.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shows the setback was overcome?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لِحُسْنِ الحَظِّ عُدْتُ بَعْدَ ذٰلِكَ أَقْوَى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لِلْأَسَفِ تَوَقَّفْتُ شَهْرًا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أُصِبْتُ فِي كَتِفِي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لِحُسْنِ الحَظِّ</a:t>
            </a:r>
            <a:pPr algn="l" indent="0" marL="0">
              <a:buNone/>
            </a:pPr>
            <a:r>
              <a:rPr lang="en-US" sz="1050" i="1" dirty="0">
                <a:solidFill>
                  <a:srgbClr val="8A6D1E"/>
                </a:solidFill>
                <a:latin typeface="Calibri" pitchFamily="34" charset="0"/>
                <a:cs typeface="Amiri" pitchFamily="2" charset="-78"/>
              </a:rPr>
              <a:t> introduces the recovery.</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cs typeface="Amiri" pitchFamily="2" charset="-78"/>
              </a:rPr>
              <a:t>وَفِي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بُطُولَةٍ 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اشْتَرَكْتُ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سَأَشْتَرِكُ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أَشْتَرِكُ</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did the writer train at the club?</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evening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encouraged the writer in childhood?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friend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older brother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result did the team achieve?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Second place in the schools championship</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place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did not qualify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does the writer prefer now?</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Running over swimming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 over running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Basketball over swimming</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cs typeface="Amiri" pitchFamily="2" charset="-78"/>
              </a:rPr>
              <a:t>وَفِي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بُطُولَةٍ 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اشْتَرَكْتُ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سَأَشْتَرِكُ</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كُنْتُ أَشْتَرِكُ</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المُسْتَقْبَلِ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did the writer train at the club?</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a week</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evening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تَدَرَّبْتُ ثَلَاثَ مَرَّاتٍ فِي الأُسْبُوعِ.</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encouraged the writer in childhood?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coach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friend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older brother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كَانَ أَخِي الأَكْبَرُ يُشَجِّعُنِي دَائِمًا.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result did the team achieve?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Second place in the schools championship</a:t>
            </a:r>
            <a:endParaRPr lang="en-US" sz="12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First place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did not qualify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فُزْنَا بِالمَرْكَزِ الثَّانِي فِي بُطُولَةِ المَدَارِسِ.</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does the writer prefer now?</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Running over swimming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Swimming over running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Basketball over swimming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أَسْتَمْتِعُ بِهَا أَكْثَرَ مِنَ الجَرْيِ.</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LEISURE PROFILE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leisure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مِلَفُّ التَّرْفِيهِ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هِوَايَتِي المُفَضَّلَةُ مَعَ الفِعْلِ الصَّحِيحِ</a:t>
            </a:r>
            <a:endParaRPr lang="ar-SA" sz="20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Favourite hobby with its correct collocation verb</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الرِّيَاضَةُ الَّتِي أُمَارِسُهَا</a:t>
            </a:r>
            <a:endParaRPr lang="ar-SA" sz="20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The sport you play</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47472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وِجْهَةُ إِجَازَتِي الأَخِيرَةِ (اِسْتَعْمِلْ حَجَزَ أَوْ أَقَامَ)</a:t>
            </a:r>
            <a:endParaRPr lang="ar-SA" sz="17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Last holiday destination — use ḥajaza or aqāma</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نَشَاطٌ ثَقَافِيٌّ حَضَرْتُهُ</a:t>
            </a:r>
            <a:endParaRPr lang="ar-SA" sz="20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 cultural activity you attended</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خُطَّتِي التَّرْفِيهِيَّةُ القَادِمَةُ</a:t>
            </a:r>
            <a:endParaRPr lang="ar-SA" sz="20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Your next leisure plan</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cs typeface="Amiri" pitchFamily="2" charset="-78"/>
              </a:rPr>
              <a:t>أُمَارِسُ السِّبَاحَةَ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كُرَةُ السَّلَّةِ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أَقَمْتُ فِي فُنْدُقٍ فِي عَمَّانَ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حَضَرْتُ مَعْرِضًا لِلْخَطِّ العَرَبِيِّ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سَأَتَعَلَّمُ العَزْفَ عَلَى العُودِ</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130–140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My free time: past, present and future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المَاضِي وَالحَاضِرُ وَالمُسْتَقْبَلُ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/5</a:t>
            </a:r>
            <a:endParaRPr lang="en-US" sz="1100" dirty="0"/>
          </a:p>
        </p:txBody>
      </p:sp>
      <p:sp>
        <p:nvSpPr>
          <p:cNvPr id="20" name="Text 17"/>
          <p:cNvSpPr txBox="1"/>
          <p:nvPr/>
        </p:nvSpPr>
        <p:spPr>
          <a:xfrm>
            <a:off x="566928" y="2267712"/>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hobby / sport with its collocation · a past experience (3+ events) · a future plan · an opinion</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6+ different past verbs · sa- / sawfa · a narrative connector · kāna or a cultural verb</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past suffixes across 6+ verbs · collocation preposition · agreement</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Plan past · present · future (D5-L09), then check every ending.</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 play: at the leisure centre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فِي المَرْكَزِ التَّرْفِيهِيِّ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Tense / 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what activities are available — present tense.</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اِسْأَلْ عَنِ الأَنْشِطَةِ المُتَوَفِّرَةِ فِي المَرْكَزِ.</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opening times — present tense.</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اِسْأَلْ عَنْ أَوْقَاتِ العَمَلِ.</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did here last time — past tense; suffix accuracy assessed.</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قُلْ مَاذَا فَعَلْتَ هُنَا فِي المَرَّةِ المَاضِيَةِ.</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plan to do next time — future.</a:t>
            </a:r>
            <a:endParaRPr lang="en-US" sz="1100" dirty="0"/>
          </a:p>
        </p:txBody>
      </p:sp>
      <p:sp>
        <p:nvSpPr>
          <p:cNvPr id="35" name="Text 32"/>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قُلْ مَاذَا تَنْوِي أَنْ تَفْعَلَ فِي المَرَّةِ القَادِمَةِ.</a:t>
            </a:r>
            <a:endParaRPr lang="ar-SA" sz="2000" dirty="0"/>
          </a:p>
        </p:txBody>
      </p:sp>
      <p:sp>
        <p:nvSpPr>
          <p:cNvPr id="36" name="Shape 3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communication 2 · accuracy 2 (the past suffix in prompt 3).</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required.</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مَا هِوَايَتُكَ المُفَضَّلَةُ وَكَيْفَ بَدَأْتَ بِهَا؟</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narrative required.</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صِفْ تَجْرِبَةً رِيَاضِيَّةً مَرَرْتَ بِهَا.</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required.</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مَا خُطَطُكَ لِلْإِجَازَةِ القَادِمَةِ؟</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communication 3 · quality of language 3 (past suffix accuracy, collocation, tense variety).</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D5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D5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accurate past-tense storytelling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D5-L03 to L05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hobbies and sports with the right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I did with the right past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irregular verbs (</a:t>
            </a:r>
            <a:pPr algn="l" indent="0" marL="0">
              <a:buNone/>
            </a:pPr>
            <a:r>
              <a:rPr lang="ar-SA" altLang="en-US" sz="1700" dirty="0">
                <a:solidFill>
                  <a:srgbClr val="1F2A37"/>
                </a:solidFill>
                <a:latin typeface="Amiri" pitchFamily="2" charset="-78"/>
                <a:cs typeface="Amiri" pitchFamily="2" charset="-78"/>
              </a:rPr>
              <a:t>زُرْتُ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قُلْنَا</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مَشَيْنَا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tell a story with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and connectors.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130–140 words across three tenses.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D5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D6-L01 · Countries, Nationalities and Languages of the Arab World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دَوْلَةٌ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country, state</a:t>
            </a:r>
            <a:pPr indent="0" marL="0">
              <a:buNone/>
            </a:pPr>
            <a:r>
              <a:rPr lang="en-US" sz="1000" i="1" dirty="0">
                <a:solidFill>
                  <a:srgbClr val="5A6472"/>
                </a:solidFill>
                <a:latin typeface="Calibri" pitchFamily="34" charset="0"/>
                <a:cs typeface="Amiri" pitchFamily="2" charset="-78"/>
              </a:rPr>
              <a:t>  pl. دُوَلٌ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جِنْسِيَّةٌ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nationality</a:t>
            </a:r>
            <a:pPr indent="0" marL="0">
              <a:buNone/>
            </a:pPr>
            <a:r>
              <a:rPr lang="en-US" sz="1000" i="1" dirty="0">
                <a:solidFill>
                  <a:srgbClr val="5A6472"/>
                </a:solidFill>
                <a:latin typeface="Calibri" pitchFamily="34" charset="0"/>
                <a:cs typeface="Amiri" pitchFamily="2" charset="-78"/>
              </a:rPr>
              <a:t>  pl. جِنْسِيَّاتٌ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لُغَةٌ رَسْمِيَّةٌ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official language</a:t>
            </a:r>
            <a:pPr indent="0" marL="0">
              <a:buNone/>
            </a:pPr>
            <a:r>
              <a:rPr lang="en-US" sz="1000" i="1" dirty="0">
                <a:solidFill>
                  <a:srgbClr val="5A6472"/>
                </a:solidFill>
                <a:latin typeface="Calibri" pitchFamily="34" charset="0"/>
                <a:cs typeface="Amiri" pitchFamily="2" charset="-78"/>
              </a:rPr>
              <a:t>  pl. لُغَاتٌ رَسْمِيَّةٌ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العَرَبِيَّةُ الفُصْحَى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Standard Arabic</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اللَّهَجَاتُ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dialects</a:t>
            </a:r>
            <a:pPr indent="0" marL="0">
              <a:buNone/>
            </a:pPr>
            <a:r>
              <a:rPr lang="en-US" sz="1000" i="1" dirty="0">
                <a:solidFill>
                  <a:srgbClr val="5A6472"/>
                </a:solidFill>
                <a:latin typeface="Calibri" pitchFamily="34" charset="0"/>
                <a:cs typeface="Amiri" pitchFamily="2" charset="-78"/>
              </a:rPr>
              <a:t>  sing. لَهْجَةٌ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three Arab countries and the country your family comes from. Which languages are spoken there?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عَائِلَتِي مِنْ … وَاللُّغَةُ الرَّسْمِيَّةُ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D5-L12 section with your lowest score; learn the five D6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then learn the five D6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about Arab countries and their languages, using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D6-L01 · Countries, Nationalities and Languages of the Arab World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دُوَلُ العَالَمِ العَرَبِيِّ وَجِنْسِيَّاتُهَا وَلُغَاتُهَا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D5 complete — well done! Carry the past-tense checklist into D6: person ending · stem · kāna · collocation · tense.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D5-L12 · Review and Unit Assessment: Hobbies, Sport and Leisure</dc:title>
  <dc:subject>PptxGenJS Presentation</dc:subject>
  <dc:creator>Al Madina Online School · Arabic Department</dc:creator>
  <cp:lastModifiedBy>Al Madina Online School · Arabic Department</cp:lastModifiedBy>
  <cp:revision>1</cp:revision>
  <dcterms:created xsi:type="dcterms:W3CDTF">2026-10-11T06:41:05Z</dcterms:created>
  <dcterms:modified xsi:type="dcterms:W3CDTF">2026-10-11T06:41:05Z</dcterms:modified>
</cp:coreProperties>
</file>