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D6 target.
FLEX slides are optional. Use them if the class is moving quickly; otherwise the same activities are on the website for homework.
Content source: Miftah Arabic website, Pathways › Development › D5 Hobbies, Sport and Leisure › D5-L12. The website D5-L12 is a four-skill, 60-mark unit assessment: a twelve-question grammar spine (revision, not counted), Part A listening (three texts — a sporting life 8 · two friends’ holidays 6 · a cultural evening 6 = 20), Part B1 reading (a leisure life story: 10), Part B2 writing (five-field leisure profile 5 + 130–140-word article 15, marked task / range / accuracy) and Part C speaking (role play at the leisure centre 4 + topic conversation 6), then a D6 target. Website: “Past-tense suffix accuracy is the primary Accuracy criterion in every component.”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Text 3 (a heritage concert) and the cultural field of the profile can be answered about a nasheed evening or a calligraphy exhibition instead (see D5-L06).
• Website: “Past-tense suffix accuracy is the primary Accuracy criterion in every component.”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D5-L11.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لَعِبْتُ · رَسَمَتْ · ذَهَبُوا · شَاهَدْنَا · قُلْنَا · زُرْتُ · مَشَيْنَا · كَانَ الطَّقْسُ جَمِيلًا · كَانَتْ تُشَاهِدُ · أُمَارِسُ السِّبَاحَةَ مَرَّتَيْنِ · فَازَ … بِـ / أُعْجِبْتُ بِـ · فَجْأَةً بَدَأَ … سَأَعُودُ.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Website: “Read the questions first, decide which tense each one targets.” Each recording may be played twice; students answer after the second reading.
SCRIPT: فِي الطُّفُولَةِ كُنْتُ أَلْعَبُ كُرَةَ الطَّائِرَةِ فِي نَادِي الحَيِّ، وَكَانَ مُدَرِّبِي يُشَجِّعُنِي كَثِيرًا. أَمَّا الآنَ فَأَتَدَرَّبُ عَادَةً ثَلَاثَ مَرَّاتٍ فِي الأُسْبُوعِ. وَفِي العَامِ المَاضِي فُزْتُ بِالمِيدَالِيَةِ البُرُونْزِيَّةِ فِي بُطُولَةِ المَدَارِسِ، وَكَانَ ذٰلِكَ أَجْمَلَ إِنْجَازٍ لِي. وَالشَّهْرَ القَادِمَ سَأُشَارِكُ فِي بُطُولَةٍ إِقْلِيمِيَّةٍ. فِي رَأْيِي الرِّيَاضَةُ تُعَلِّمُ الصَّبْرَ. وَالأُسْبُوعَ المَاضِيَ حَضَرْتُ حَفْلَةً مُوسِيقِيَّةً تُرَاثِيَّةً مَعَ أُسْرَتِي، وَأُعْجِبْتُ بِعَازِفِ العُودِ لِأَنَّهُ مُتَوَاضِعٌ وَمُجْتَهِدٌ.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Website: “Read the questions first, decide which tense each one targets.” Each recording may be played twice; students answer after the second reading.
SCRIPT: فِي الطُّفُولَةِ كُنْتُ أَلْعَبُ كُرَةَ الطَّائِرَةِ فِي نَادِي الحَيِّ، وَكَانَ مُدَرِّبِي يُشَجِّعُنِي كَثِيرًا. أَمَّا الآنَ فَأَتَدَرَّبُ عَادَةً ثَلَاثَ مَرَّاتٍ فِي الأُسْبُوعِ. وَفِي العَامِ المَاضِي فُزْتُ بِالمِيدَالِيَةِ البُرُونْزِيَّةِ فِي بُطُولَةِ المَدَارِسِ، وَكَانَ ذٰلِكَ أَجْمَلَ إِنْجَازٍ لِي. وَالشَّهْرَ القَادِمَ سَأُشَارِكُ فِي بُطُولَةٍ إِقْلِيمِيَّةٍ. فِي رَأْيِي الرِّيَاضَةُ تُعَلِّمُ الصَّبْرَ. وَالأُسْبُوعَ المَاضِيَ حَضَرْتُ حَفْلَةً مُوسِيقِيَّةً تُرَاثِيَّةً مَعَ أُسْرَتِي، وَأُعْجِبْتُ بِعَازِفِ العُودِ لِأَنَّهُ مُتَوَاضِعٌ وَمُجْتَهِدٌ.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Website: “Read the questions first, decide which tense each one targets.” Each recording may be played twice; students answer after the second reading.
SCRIPT: سَامِي: فِي الصَّيْفِ المَاضِي سَافَرْتُ إِلَى مَدِينَةٍ سَاحِلِيَّةٍ وَأَقَمْتُ فِي فُنْدُقٍ صَغِيرٍ. لَيْلَى: وَأَنَا حَجَزْتُ رِحْلَةً جَبَلِيَّةً، وَمَشَيْنَا سَاعَتَيْنِ حَتَّى وَصَلْنَا إِلَى القِمَّةِ. سَامِي: اسْتَمْتَعْتُ بِالشَّاطِئِ كَثِيرًا، وَاكْتَشَفْتُ سُوقًا قَدِيمًا. لَيْلَى: أَنَا أَيْضًا اسْتَمْتَعْتُ بِالرِّحْلَةِ، وَلٰكِنْ لِلْأَسَفِ نَسِيتُ الكَامِيرَا فِي الفُنْدُقِ. سَامِي: وَأَنَا نَسِيتُ حَقِيبَتِي فِي المَحَطَّةِ! لِحُسْنِ الحَظِّ وَجَدْتُهَا. لَيْلَى: فِي المُسْتَقْبَلِ سَأَعُودُ إِلَى الجَبَلِ مَرَّةً أُخْرَى. سَامِي: وَأَنَا سَأَعُودُ إِلَى الشَّاطِئِ.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Website: “Read the questions first, decide which tense each one targets.” Each recording may be played twice; students answer after the second reading.
SCRIPT: فِي الأُسْبُوعِ المَاضِي نَظَّمَ المَرْكَزُ الثَّقَافِيُّ أُمْسِيَةً مُوسِيقِيَّةً. عَزَفَتْ فِرْقَةٌ صَغِيرَةٌ عَلَى العُودِ وَالنَّايِ وَالقَانُونِ، وَعَبَّرَتِ المُوسِيقَى عَنْ تُرَاثٍ طَوِيلٍ. حَضَرَ أَكْثَرُ مِنْ مِئَتَيْ شَخْصٍ، وَأَثَّرَتِ الأُمْسِيَةُ فِي الجُمْهُورِ كَثِيرًا. وَبَعْدَ الحَفْلَةِ افْتَتَحَ المَرْكَزُ مَعْرِضًا لِلْخَطِّ العَرَبِيِّ، وَأَلْهَمَتِ الزَّخْرَفَةُ عَدَدًا مِنَ الطُّلَّابِ. وَفِي بَعْضِ المَدَارِسِ يَتَعَلَّمُ الأَطْفَالُ هٰذِهِ الآلَاتِ، وَلٰكِنْ لَيْسَ دَائِمًا؛ فَالأَذْوَاقُ تَخْتَلِفُ.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tense each question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read the question, decide the tense it targets, find the time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evidence · R4 tense gap-fill).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evidence · R4 tense gap-fill).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the collocation verb, the hollow stem أَقَمْتُ and the suffix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Narrate a past experience, describe your present habit, state a future plan and give an opinion.” Mark scheme exactly as on the website. The D5-L09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the receptionist: أَهْلًا وَسَهْلًا فِي المَرْكَزِ. كَيْفَ أُسَاعِدُكَ؟ Answers to model: عِنْدَنَا سِبَاحَةٌ وَكُرَةُ سَلَّةٍ وَيُوغَا. · نَفْتَحُ مِنَ التَّاسِعَةِ صَبَاحًا إِلَى التَّاسِعَةِ مَسَاءً. Then listen for prompt 3 (e.g. فِي المَرَّةِ المَاضِيَةِ سَبَحْتُ وَلَعِبْتُ …) and prompt 4 (سَأَتَدَرَّبُ / أَنْوِي أَنْ …). To a girl: فَعَلْتِ · تَنْوِينَ.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mirror the tense of each question (D5-L11). Allow time-buying phrases (دَعْنِي أُفَكِّرُ). To a girl: هِوَايَتُكِ · بَدَأْتِ · مَرَرْتِ · خُطَطُكِ.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D1–D4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(D6-L01 · Countries, Nationalities and Languages of the Arab World) will spend class time USING this language, so students prepare it tonight — short, simple, easy to access (school guidance: “Simple, Short, Interesting, Relevant, Easy to access”). D6 begins with the Arab world (website D6-L01 “Countries, Nationalities and Languages of the Arab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Hobbies, Sport and Leisure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hobbies, sport, holidays and culture — with the past tense accurate in every skill — then choose one precise next step for D6.</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D5-L12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D5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D6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D6: the Arab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قَوَلْنَا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used to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شَاهَدَتْ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سَتُشَاهِدُ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تُشَاهِدُ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أَلْعَبُ السِّبَاحَةَ مَرَّتَيْنِ فِي الأُسْبُوعِ.</a:t>
            </a:r>
            <a:endParaRPr lang="ar-SA" sz="18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أَعْزِفُ السِّبَاحَةَ مَرَّتَيْنِ فِي الأُسْبُوعِ.</a:t>
            </a:r>
            <a:endParaRPr lang="ar-SA" sz="18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أُمَارِسُ السِّبَاحَةَ مَرَّتَيْنِ فِي الأُسْبُوعِ.</a:t>
            </a:r>
            <a:endParaRPr lang="ar-SA" sz="18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فَجْأَةً بَدَأَ المَطَرُ، وَفِي المُسْتَقْبَلِ سَأَعُودُ.</a:t>
            </a:r>
            <a:endParaRPr lang="ar-SA" sz="16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فَجْأَةً بَدَأَ المَطَرُ، وَفِي المُسْتَقْبَلِ عُدْتُ.</a:t>
            </a:r>
            <a:endParaRPr lang="ar-SA" sz="16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فَجْأَةً سَيَبْدَأُ المَطَرُ، وَأَمْسِ عُدْتُ.</a:t>
            </a:r>
            <a:endParaRPr lang="ar-SA" sz="16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قَوَلْنَا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used to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شَاهَدَتْ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سَتُشَاهِدُ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تُشَاهِدُ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 السِّبَاحَةَ مَرَّتَيْنِ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 السِّبَاحَةَ مَرَّتَيْنِ فِي الأُسْبُوعِ.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أُمَارِسُ السِّبَاحَةَ مَرَّتَيْنِ فِي الأُسْبُوعِ.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فَجْأَةً بَدَأَ المَطَرُ، وَفِي المُسْتَقْبَلِ سَأَعُودُ.</a:t>
            </a:r>
            <a:endParaRPr lang="ar-SA" sz="16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فَجْأَةً بَدَأَ المَطَرُ، وَفِي المُسْتَقْبَلِ عُدْتُ.</a:t>
            </a:r>
            <a:endParaRPr lang="ar-SA" sz="16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فَجْأَةً سَيَبْدَأُ المَطَرُ، وَأَمْسِ عُدْتُ.</a:t>
            </a:r>
            <a:endParaRPr lang="ar-SA" sz="16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اللَّاحِقَةُ · الجَذْرُ الشَّاذُّ · كَانَ · التَّلَازُمُ · الزَّمَنُ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D5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past-tense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D5-L03 · L04</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لَعِبْتُ · رَسَمَتْ · ذَهَبُوا · شَاهَدْنَا</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 ending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D5-L04 · L07</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قُلْنَا · زُرْتُ · مَشَيْنَا</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irregular stem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D5-L05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الطَّقْسُ جَمِيلًا · كَانَتْ تُشَاهِدُ</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D5-L01 · L02</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أُمَارِسُ السِّبَاحَةَ · فَازَ بِالبُطُولَةِ · أُعْجِبْتُ بِـ</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collocation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D5-L07 · L09</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فَجْأَةً بَدَأَ … وَفِي المُسْتَقْبَلِ سَأَعُودُ</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tense switch</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past-tense suffix accuracy is the main Accuracy criterion in EVERY part today.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sporting life (8) · two friends’ holidays (6) · a cultural evening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leisure life story: main idea, detail, evidence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leisure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at the leisure centre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sporting life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sport did the speaker play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Basketball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Volleyball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speaker train 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next competition?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month</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greatest achievement?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bronze medal at the schools championship</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gold medal at a regional event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Captaincy of the team</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sporting life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sport did the speaker play in childhood?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Handball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Basketball</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Volleyball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أَلْعَبُ كُرَةَ الطَّائِرَةِ فِي نَادِي الحَيِّ.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speaker train 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week</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فَأَتَدَرَّبُ عَادَةً ثَلَاثَ مَرَّاتٍ فِي الأُسْبُوعِ.</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next competition?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month</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وَالشَّهْرَ القَادِمَ سَأُشَارِكُ فِي بُطُولَةٍ إِقْلِيمِيَّةٍ.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greatest achievement?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bronze medal at the schools championship</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gold medal at a regional event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Captaincy of the team</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فُزْتُ بِالمِيدَالِيَةِ البُرُونْزِيَّةِ فِي بُطُولَةِ المَدَارِسِ.</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sporting life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opinion of 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teaches patience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expensive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takes too much time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last week?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Won a match</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Attended a heritage concert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Started a new sport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speaker admire, and why?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oud player, for being modest and hard-working</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coach, for being strict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teammate, for being fast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cultural activity is mentioned?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calligraphy exhibition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theatre play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traditional music concert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sporting life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opinion of sport?</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teaches patience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expensive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takes too much time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رَأْيِي الرِّيَاضَةُ تُعَلِّمُ الصَّبْرَ.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last week?</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Won a match</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Attended a heritage concert</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Started a new sport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وَالأُسْبُوعَ المَاضِيَ حَضَرْتُ حَفْلَةً مُوسِيقِيَّةً تُرَاثِيَّةً.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speaker admire, and why?</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oud player, for being modest and hard-working</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coach, for being strict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teammate, for being fast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أُعْجِبْتُ بِعَازِفِ العُودِ لِأَنَّهُ مُتَوَاضِعٌ وَمُجْتَهِدٌ.</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cultural activity is mentioned?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calligraphy exhibition</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theatre play</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traditional music concert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حَفْلَةً مُوسِيقِيَّةً تُرَاثِيَّةً</a:t>
            </a:r>
            <a:pPr algn="l" indent="0" marL="0">
              <a:buNone/>
            </a:pPr>
            <a:r>
              <a:rPr lang="en-US" sz="1050" i="1" dirty="0">
                <a:solidFill>
                  <a:srgbClr val="8A6D1E"/>
                </a:solidFill>
                <a:latin typeface="Calibri" pitchFamily="34" charset="0"/>
                <a:ea typeface="Calibri" pitchFamily="34" charset="-122"/>
                <a:cs typeface="Calibri" pitchFamily="34" charset="-120"/>
              </a:rPr>
              <a:t> is the cultural activity named.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 and Layla’s holidays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stayed in a small hotel?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booked a mountain trip?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discovered an old market?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said they enjoyed the trip?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forgot something?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plans to return?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only</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Sami and Layla’s holidays: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stayed in a small hotel?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أَقَمْتُ فِي فُنْدُقٍ صَغِيرٍ.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booked a mountain trip?</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حَجَزْتُ رِحْلَةً جَبَلِيَّةً.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discovered an old market?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اكْتَشَفْتُ سُوقًا قَدِيمًا.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said they enjoyed the trip?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Sami says </a:t>
            </a:r>
            <a:pPr algn="l" indent="0" marL="0">
              <a:buNone/>
            </a:pPr>
            <a:r>
              <a:rPr lang="ar-SA" altLang="en-US" sz="1350" dirty="0">
                <a:solidFill>
                  <a:srgbClr val="8A6D1E"/>
                </a:solidFill>
                <a:latin typeface="Amiri" pitchFamily="34" charset="0"/>
                <a:ea typeface="Amiri" pitchFamily="34" charset="-122"/>
                <a:cs typeface="Amiri" pitchFamily="34" charset="-120"/>
              </a:rPr>
              <a:t>اسْتَمْتَعْتُ بِالشَّاطِئِ</a:t>
            </a:r>
            <a:pPr algn="l" indent="0" marL="0">
              <a:buNone/>
            </a:pPr>
            <a:r>
              <a:rPr lang="en-US" sz="1050" i="1" dirty="0">
                <a:solidFill>
                  <a:srgbClr val="8A6D1E"/>
                </a:solidFill>
                <a:latin typeface="Calibri" pitchFamily="34" charset="0"/>
                <a:ea typeface="Calibri" pitchFamily="34" charset="-122"/>
                <a:cs typeface="Calibri" pitchFamily="34" charset="-120"/>
              </a:rPr>
              <a:t> and Layla says </a:t>
            </a:r>
            <a:pPr algn="l" indent="0" marL="0">
              <a:buNone/>
            </a:pPr>
            <a:r>
              <a:rPr lang="ar-SA" altLang="en-US" sz="1350" dirty="0">
                <a:solidFill>
                  <a:srgbClr val="8A6D1E"/>
                </a:solidFill>
                <a:latin typeface="Amiri" pitchFamily="34" charset="0"/>
                <a:ea typeface="Amiri" pitchFamily="34" charset="-122"/>
                <a:cs typeface="Amiri" pitchFamily="34" charset="-120"/>
              </a:rPr>
              <a:t>اسْتَمْتَعْتُ بِالرِّحْلَةِ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forgot something?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Layla forgot the camera; Sami forgot his suitcase.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plans to return?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 only</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close with </a:t>
            </a:r>
            <a:pPr algn="l" indent="0" marL="0">
              <a:buNone/>
            </a:pPr>
            <a:r>
              <a:rPr lang="ar-SA" altLang="en-US" sz="1350" dirty="0">
                <a:solidFill>
                  <a:srgbClr val="8A6D1E"/>
                </a:solidFill>
                <a:latin typeface="Amiri" pitchFamily="34" charset="0"/>
                <a:ea typeface="Amiri" pitchFamily="34" charset="-122"/>
                <a:cs typeface="Amiri" pitchFamily="34" charset="-120"/>
              </a:rPr>
              <a:t>سَأَعُودُ</a:t>
            </a:r>
            <a:pPr algn="l" indent="0" marL="0">
              <a:buNone/>
            </a:pPr>
            <a:r>
              <a:rPr lang="en-US" sz="1050" i="1" dirty="0">
                <a:solidFill>
                  <a:srgbClr val="8A6D1E"/>
                </a:solidFill>
                <a:latin typeface="Calibri" pitchFamily="34" charset="0"/>
                <a:ea typeface="Calibri" pitchFamily="34" charset="-122"/>
                <a:cs typeface="Calibri" pitchFamily="34" charset="-120"/>
              </a:rPr>
              <a:t> — to the mountain and to the beach.</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cultural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ensemble.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ensemble played oud, nay and qanun.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 orchestra played violins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soloist played the piano.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audience.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than fifty attended.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event was cancelled.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than two hundred people attended.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after the concert.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match began.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calligraphy exhibition opened.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centre closed for repairs.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effect.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 were bored.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ornamentation inspired a number of students.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 stayed for the exhibition.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what music expressed.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modern political message.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personal complaint.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heritage.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closing claim qualified?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Children learn these instruments in some schools, but not always.</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children learn these instruments.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children learn these instruments.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cultural evening: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ensemble.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small ensemble played oud, nay and qanun.</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large orchestra played violins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soloist played the piano.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عَزَفَتْ فِرْقَةٌ صَغِيرَةٌ عَلَى العُودِ وَالنَّايِ وَالقَانُونِ.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audience.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Fewer than fifty attended.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event was cancelled.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More than two hundred people attended.</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حَضَرَ أَكْثَرُ مِنْ مِئَتَيْ شَخْصٍ.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after the concert.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match began.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calligraphy exhibition opened.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centre closed for repairs.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افْتَتَحَ المَرْكَزُ مَعْرِضًا لِلْخَطِّ العَرَبِيِّ.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effect.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students were bored.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ornamentation inspired a number of students.</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 stayed for the exhibition.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أَلْهَمَتِ الزَّخْرَفَةُ عَدَدًا مِنَ الطُّلَّابِ.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what music expressed.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modern political message.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personal complaint.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long heritage.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عَبَّرَتِ المُوسِيقَى عَنْ تُرَاثٍ طَوِيلٍ.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closing claim qualified?</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Children learn these instruments in some schools, but not always.</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children learn these instruments.</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children learn these instruments.</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المَدَارِسِ … وَلٰكِنْ لَيْسَ دَائِمًا؛ فَالأَذْوَاقُ تَخْتَلِفُ.</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leisure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سَنَةٌ مِنْ حَيَاتِي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الطُّفُولَةِ كُنْتُ أَلْعَبُ كُرَةَ السَّلَّةِ فِي الشَّارِعِ مَعَ أَصْدِقَائِي كُلَّ مَسَاءٍ، وَكَانَ أَخِي الأَكْبَرُ يُشَجِّعُنِي دَائِمًا. وَفِي العَامِ المَاضِي اشْتَرَكْتُ فِي نَادٍ قَرِيبٍ وَتَدَرَّبْتُ ثَلَاثَ مَرَّاتٍ فِي الأُسْبُوعِ. فَجْأَةً أُصِبْتُ فِي كَتِفِي، وَلِلْأَسَفِ تَوَقَّفْتُ شَهْرًا كَامِلًا. وَلٰكِنْ لِحُسْنِ الحَظِّ عُدْتُ بَعْدَ ذٰلِكَ أَقْوَى، وَفُزْنَا بِالمَرْكَزِ الثَّانِي فِي بُطُولَةِ المَدَارِسِ. أَمَّا الآنَ فَأُمَارِسُ السِّبَاحَةَ مَرَّتَيْنِ فِي الأُسْبُوعِ، وَأَسْتَمْتِعُ بِهَا أَكْثَرَ مِنَ الجَرْيِ. وَفِي المُسْتَقْبَلِ سَأَشْتَرِكُ فِي بُطُولَةٍ جَدِيدَةٍ، وَأَنْوِي أَنْ أَتَعَلَّمَ العَزْفَ عَلَى العُودِ. بِصَرَاحَةٍ، كَانَتْ تِلْكَ السَّنَةُ مِنْ أَجْمَلِ سَنَوَاتِ حَيَاتِي.</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current hobby?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Basketball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Playing the oud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Moved to another 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Joined a nearby club and trained three times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Stopped all 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stop for a month?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Examinations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shoulder injury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family trip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know the year ended positively? Choose the best evidence.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فَجْأَةً أُصِبْتُ فِي كَتِفِي</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تَوَقَّفْتُ شَهْرًا كَامِلًا</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كَانَتْ تِلْكَ السَّنَةُ مِنْ أَجْمَلِ سَنَوَاتِ حَيَاتِي</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shows the setback was overcome?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لِحُسْنِ الحَظِّ عُدْتُ بَعْدَ ذٰلِكَ أَقْوَى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لِلْأَسَفِ تَوَقَّفْتُ شَهْرًا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أُصِبْتُ فِي كَتِفِي</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current hobby?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Basketball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Playing the oud</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فَأُمَارِسُ السِّبَاحَةَ مَرَّتَيْنِ فِي الأُسْبُوعِ.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Moved to another city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Joined a nearby club and trained three times a week</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Stopped all 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فِي العَامِ المَاضِي اشْتَرَكْتُ فِي نَادٍ قَرِيبٍ وَتَدَرَّبْتُ ثَلَاثَ مَرَّاتٍ فِي الأُسْبُوعِ.</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stop for a month?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Examinations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shoulder injury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family trip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فَجْأَةً أُصِبْتُ فِي كَتِفِي.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know the year ended positively? Choose the best evidence.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فَجْأَةً أُصِبْتُ فِي كَتِفِي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تَوَقَّفْتُ شَهْرًا كَامِلًا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تِلْكَ السَّنَةُ مِنْ أَجْمَلِ سَنَوَاتِ حَيَاتِي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closing evaluation states directly that it was one of the finest years.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shows the setback was overcome?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لِحُسْنِ الحَظِّ عُدْتُ بَعْدَ ذٰلِكَ أَقْوَى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لِلْأَسَفِ تَوَقَّفْتُ شَهْرًا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أُصِبْتُ فِي كَتِفِي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لِحُسْنِ الحَظِّ</a:t>
            </a:r>
            <a:pPr algn="l" indent="0" marL="0">
              <a:buNone/>
            </a:pPr>
            <a:r>
              <a:rPr lang="en-US" sz="1050" i="1" dirty="0">
                <a:solidFill>
                  <a:srgbClr val="8A6D1E"/>
                </a:solidFill>
                <a:latin typeface="Calibri" pitchFamily="34" charset="0"/>
                <a:ea typeface="Calibri" pitchFamily="34" charset="-122"/>
                <a:cs typeface="Calibri" pitchFamily="34" charset="-120"/>
              </a:rPr>
              <a:t> introduces the recovery.</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بُطُولَةٍ 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اشْتَرَكْتُ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سَأَشْتَرِكُ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أَشْتَرِكُ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did the writer train at the club?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evening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encouraged the writer in childhood?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friend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older brother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result did the team achieve?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Second place in the schools championship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place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did not qualify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does the writer prefer now?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Running over 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 over running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Basketball over swimming</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بُطُولَةٍ 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اشْتَرَكْتُ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سَأَشْتَرِكُ</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أَشْتَرِكُ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المُسْتَقْبَلِ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did the writer train at the club?</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week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evening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تَدَرَّبْتُ ثَلَاثَ مَرَّاتٍ فِي الأُسْبُوعِ.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encouraged the writer in childhood?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coach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friend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older brother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أَخِي الأَكْبَرُ يُشَجِّعُنِي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result did the team achieve?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Second place in the schools championship</a:t>
            </a:r>
            <a:endParaRPr lang="en-US" sz="1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First place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did not qualify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فُزْنَا بِالمَرْكَزِ الثَّانِي فِي بُطُولَةِ المَدَارِسِ.</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does the writer prefer now?</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Running over 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 over running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Basketball over 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أَسْتَمْتِعُ بِهَا أَكْثَرَ مِنَ الجَرْيِ.</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LEISURE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leisure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التَّرْفِيهِ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هِوَايَتِي المُفَضَّلَةُ مَعَ الفِعْلِ الصَّحِيحِ</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Favourite hobby with its correct collocation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الرِّيَاضَةُ الَّتِي أُمَارِسُهَا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The sport you play</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وِجْهَةُ إِجَازَتِي الأَخِيرَةِ (اِسْتَعْمِلْ حَجَزَ أَوْ أَقَامَ)</a:t>
            </a:r>
            <a:endParaRPr lang="ar-SA" sz="17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Last holiday destination — use ḥajaza or aqāma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نَشَاطٌ ثَقَافِيٌّ حَضَرْتُهُ</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cultural activity you attended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خُطَّتِي التَّرْفِيهِيَّةُ القَادِمَةُ</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Your next leisure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أُمَارِسُ السِّبَاحَةَ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كُرَةُ السَّلَّةِ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أَقَمْتُ فِي فُنْدُقٍ فِي عَمَّانَ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حَضَرْتُ مَعْرِضًا لِلْخَطِّ العَرَبِيِّ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سَأَتَعَلَّمُ العَزْفَ عَلَى العُودِ</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My free time: past, present and future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وَالحَاضِرُ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hobby / sport with its collocation · a past experience (3+ events) · a future plan · an opinion</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6+ different past verbs · sa- / sawfa · a narrative connector · kāna or a cultural verb</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past suffixes across 6+ verbs · collocation preposition · agreement</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past · present · future (D5-L09), then check every ending.</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 play: at the leisure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المَرْكَزِ التَّرْفِيهِيِّ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 / 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what activities are available — present tense.</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اِسْأَلْ عَنِ الأَنْشِطَةِ المُتَوَفِّرَةِ فِي المَرْكَزِ.</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opening times — present tense.</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اِسْأَلْ عَنْ أَوْقَاتِ العَمَلِ.</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you did here last time — past tense; suffix accuracy assessed.</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قُلْ مَاذَا فَعَلْتَ هُنَا فِي المَرَّةِ المَاضِيَةِ.</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you plan to do next time — future.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قُلْ مَاذَا تَنْوِي أَنْ تَفْعَلَ فِي المَرَّةِ القَادِمَةِ.</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communication 2 · accuracy 2 (the past suffix in prompt 3).</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required.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هِوَايَتُكَ المُفَضَّلَةُ وَكَيْفَ بَدَأْتَ بِهَا؟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narrative required.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تَجْرِبَةً رِيَاضِيَّةً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required.</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خُطَطُكَ لِلْإِجَازَةِ القَادِمَةِ؟</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communication 3 · quality of language 3 (past suffix accuracy, collocation, tense variety).</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D5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past-tense storytelling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D5-L03 to L05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hobbies and sports with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 did with the right past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irregular verbs (</a:t>
            </a:r>
            <a:pPr algn="l" indent="0" marL="0">
              <a:buNone/>
            </a:pPr>
            <a:r>
              <a:rPr lang="ar-SA" altLang="en-US" sz="1700" dirty="0">
                <a:solidFill>
                  <a:srgbClr val="1F2A37"/>
                </a:solidFill>
                <a:latin typeface="Amiri" pitchFamily="34" charset="0"/>
                <a:ea typeface="Amiri" pitchFamily="34" charset="-122"/>
                <a:cs typeface="Amiri" pitchFamily="34" charset="-120"/>
              </a:rPr>
              <a:t>زُرْتُ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قُلْنَا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مَشَيْنَا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tell a story with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and connectors.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130–140 words across three tenses.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D5-L12 · D5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D6-L01 · Countries, Nationalities and Languages of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country, state</a:t>
            </a:r>
            <a:pPr indent="0" marL="0">
              <a:buNone/>
            </a:pPr>
            <a:r>
              <a:rPr lang="en-US" sz="1000" i="1" dirty="0">
                <a:solidFill>
                  <a:srgbClr val="5A6472"/>
                </a:solidFill>
                <a:latin typeface="Calibri" pitchFamily="34" charset="0"/>
                <a:ea typeface="Calibri" pitchFamily="34" charset="-122"/>
                <a:cs typeface="Calibri" pitchFamily="34" charset="-120"/>
              </a:rPr>
              <a:t>  pl. دُوَلٌ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nationality</a:t>
            </a:r>
            <a:pPr indent="0" marL="0">
              <a:buNone/>
            </a:pPr>
            <a:r>
              <a:rPr lang="en-US" sz="1000" i="1" dirty="0">
                <a:solidFill>
                  <a:srgbClr val="5A6472"/>
                </a:solidFill>
                <a:latin typeface="Calibri" pitchFamily="34" charset="0"/>
                <a:ea typeface="Calibri" pitchFamily="34" charset="-122"/>
                <a:cs typeface="Calibri" pitchFamily="34" charset="-120"/>
              </a:rPr>
              <a:t>  pl. جِنْسِيَّاتٌ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official language</a:t>
            </a:r>
            <a:pPr indent="0" marL="0">
              <a:buNone/>
            </a:pPr>
            <a:r>
              <a:rPr lang="en-US" sz="1000" i="1" dirty="0">
                <a:solidFill>
                  <a:srgbClr val="5A6472"/>
                </a:solidFill>
                <a:latin typeface="Calibri" pitchFamily="34" charset="0"/>
                <a:ea typeface="Calibri" pitchFamily="34" charset="-122"/>
                <a:cs typeface="Calibri" pitchFamily="34" charset="-120"/>
              </a:rPr>
              <a:t>  pl. لُغَاتٌ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العَرَبِيَّةُ الفُصْحَى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Standard Arabic</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اللَّهَجَاتُ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dialects</a:t>
            </a:r>
            <a:pPr indent="0" marL="0">
              <a:buNone/>
            </a:pPr>
            <a:r>
              <a:rPr lang="en-US" sz="1000" i="1" dirty="0">
                <a:solidFill>
                  <a:srgbClr val="5A6472"/>
                </a:solidFill>
                <a:latin typeface="Calibri" pitchFamily="34" charset="0"/>
                <a:ea typeface="Calibri" pitchFamily="34" charset="-122"/>
                <a:cs typeface="Calibri" pitchFamily="34" charset="-120"/>
              </a:rPr>
              <a:t>  sing. لَهْجَةٌ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three Arab countries and the country your family comes from. Which languages are spoken there?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عَائِلَتِي مِنْ … وَاللُّغَةُ الرَّسْمِيَّةُ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D5-L12 section with your lowest score; learn the five D6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then learn the five D6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Arab countries and their languages,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D6-L01 · Countries, Nationalities and Languages of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دُوَلُ العَالَمِ العَرَبِيِّ وَجِنْسِيَّاتُهَا وَلُغَاتُهَا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D5 complete — well done! Carry the past-tense checklist into D6: person ending · stem · kāna · collocation · tense.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D5-L12 · Review and Unit Assessment: Hobbies, Sport and Leisure</dc:title>
  <dc:subject>PptxGenJS Presentation</dc:subject>
  <dc:creator>Al Madina Online School · Arabic Department</dc:creator>
  <cp:lastModifiedBy>Al Madina Online School · Arabic Department</cp:lastModifiedBy>
  <cp:revision>1</cp:revision>
  <dcterms:created xsi:type="dcterms:W3CDTF">2026-10-03T10:16:08Z</dcterms:created>
  <dcterms:modified xsi:type="dcterms:W3CDTF">2026-10-03T10:16:08Z</dcterms:modified>
</cp:coreProperties>
</file>