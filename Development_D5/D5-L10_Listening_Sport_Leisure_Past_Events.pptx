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D5-L10. The website lesson “Listening — Sport, Leisure and Past Events”: vocabulary, grammar rules and quiz, patterns, common mistakes, sorter, listening, reading, speaking prompts and model, writing task and model, differentiation, final check and the lesson mission. Picture match: website visual game “Listening — Sport, Leisure and Past Events”.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LISTENING-SKILLS lesson: the website text is one athlete across three tenses (childhood · last year · now · next week · in years).
• Before listening, students mark every question P / N / F (past / now / future) — the website strategy. Then they listen for that verb form, not the topic.
• Core: questions 1, 2 and 3 + sort ten verbs P / N / F. Develop: all questions, justifying two from the verb form. Stretch: the website ~70-word summary in the third person, every verb in the tense the text used.
• Read the text yourself at natural speed. Do NOT show the script until after the second listening.
• TEACHER-WRITTEN ITEMS: the website common mistakes (English listening habits) rebuilt as Arabic sentence pairs on the same three points; English added to the patterns and speaking model; the website visual game repeats D5-L02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D5-L09. Questions 4–5 retrieve D5-L09 (أَمَّا الآنَ فَـ) and D5-L05 (كَانَ + present).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Same activity, different time: listen to the START and the END of the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ماضی، حال، مستقبل are exactly the Urdu grammar words for past, present, future. عادت (habit) is the root of Arabic عَادَةً = usually — a habit word that signals the PRESENT tense.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strategy (website vocabulary (1 of 2)). Hear → Say → See → Use. Transliteration is printed for Core students (cover it for Develop/Stretch).
Listening strategy: words for HOW we listen (gist, detail, distractors).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Listening strategy (website vocabulary (2 of 2)). Hear → Say → See → Use. Transliteration is printed for Core students (cover it for Develop/Stretch).
Listening strategy: words for HOW we listen (gist, detail, distractors).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Tense markers to hear (website vocabulary (1 of 2)). Hear → Say → See → Use. Transliteration is printed for Core students (cover it for Develop/Stretch).
Tense markers to hear: each one predicts the tense of the verb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Tense markers to hear (website vocabulary (2 of 2)). Hear → Say → See → Use. Transliteration is printed for Core students (cover it for Develop/Stretch).
Tense markers to hear: each one predicts the tense of the verb next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Sport and leisure in speech (website vocabulary (1 of 2)). Hear → Say → See → Use. Transliteration is printed for Core students (cover it for Develop/Stretch).
Sport and leisure in speech: verbs you will hear in all three tenses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Sport and leisure in speech (website vocabulary (2 of 2)). Hear → Say → See → Use. Transliteration is printed for Core students (cover it for Develop/Stretch).
Sport and leisure in speech: verbs you will hear in all three tenses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“Past is marked by a suffix” (no prefix; the information sits at the end — listen through to the final syllable), “Present is marked by a prefix” (+ عَادَةً / كُلَّ يَوْمٍ = habit) and “Future adds سَـ or سَوْفَ” (in fast speech the سَـ is short — listen at the very start). Website teaching point: “Annotate the tense before you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“Tense-only distractors” (a common wrong option repeats the words of the text but changes the time — check the verb form before choosing). Website mistakes (listening habits): hearing تَدَرَّبَ and answering “he trains” · hearing سَيَفُوزُ and answering “he won” · hearing كَانَ يَلْعَبُ and answering “he plays”.
In the error box the CROSSED item is the distractor when the recording said فَازَ.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things separate the tenses in speech: the prefix, the suffix and the time expression. Any one of them can decide an answer, and the distractors usually change only the tense.”
• Past is marked by a suffix: There is no prefix. The information sits at the end of the word, so listen through to the final syllable.
• Present is marked by a prefix: The person is signalled at the start of the word. A present verb with عَادَةً or كُلَّ يَوْمٍ describes a habit.
• Future adds سَـ or سَوْفَ: The future is the present with a marker in front. In fast speech the سَـ is short, so listen for it at the very start.
• Tense-only distractors: A common wrong option repeats the words of the text but changes the time. Check the verb form before choosing.
Website common error: Choosing an option because it repeats words you heard. The distractor usually keeps the vocabulary and changes only the tense, so decide from the verb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model the annotate → predict → hear → reject routine on question 2. The copy box shows the transcript AFTER annotation (show it only after the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sentence about yourself in each tense: أَمْسِ … · عَادَةً … · غَدًا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sentence about yourself in each tense: أَمْسِ … · عَادَةً … · غَدًا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 and write the verb that proves each answer.
Listen 1: just listen. Listen 2: note answers. Then chat the letters.
Support: after the second listening, show the read-along slide (Arabic + English, line by line) for Core students.
SCRIPT (read aloud):
فِي الطُّفُولَةِ كُنْتُ أَلْعَبُ كُرَةَ اليَدِ فِي المَدْرَسَةِ، وَكَانَ مُدَرِّبِي يُشَجِّعُنِي كَثِيرًا. وَفِي العَامِ المَاضِي شَارَكْتُ فِي بُطُولَةٍ كَبِيرَةٍ وَفُزْتُ بِمِيدَالِيَةٍ فِضِّيَّةٍ. أَمَّا الآنَ فَأَتَدَرَّبُ عَادَةً أَرْبَعَ مَرَّاتٍ فِي الأُسْبُوعِ، وَأُفَضِّلُ التَّدْرِيبَ الصَّبَاحِيَّ. وَفِي رَأْيِي الرِّيَاضَةُ تُعَلِّمُ الصَّبْرَ وَالعَمَلَ الجَمَاعِيَّ. وَالأُسْبُوعَ القَادِمَ سَأُشَارِكُ فِي مُبَارَاةٍ وَدِّيَّةٍ، وَسَوْفَ أُحَاوِلُ أَنْ أُحَسِّنَ نَتِيجَتِي. وَبَعْدَ سَنَوَاتٍ أَنْوِي أَنْ أُدَرِّبَ الأَطْفَالَ.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يَفْعَلُ الآنَ؟ (And what does he do now?)
B: يَتَدَرَّبُ عَادَةً أَرْبَعَ مَرَّاتٍ فِي الأُسْبُوعِ، وَالأُسْبُوعَ القَادِمَ سَيُشَارِكُ فِي مُبَارَاةٍ. (He usually trains four times a week, and next week he will take part in a match.)
Website prompts and model: retell in the THIRD person (I → he): كُنْتُ → كَانَ · شَارَكْتُ → شَارَكَ · أَتَدَرَّبُ → يَتَدَرَّبُ · سَأُشَارِكُ → سَيُشَارِكُ. This person-switch is the hidden skill of the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Sort ten verbs from the text into past, present and future. · Develop — Answer the comprehension questions and justify two answers from the verb form. · Stretch — Rewrite three sentences of the transcript in a different tense and explain what changes.
Website writing task (Stretch): Write about seventy words summarising the listening text. Report what the speaker did in the past, what they do now and what they will do, keeping each verb in the tense the text used.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كَانَ … يَلْعَبُ · كَانَ مُدَرِّبُهُ يُشَجِّعُهُ · شَارَكَ · فَازَ · يَتَدَرَّبُ عَادَةً · يُفَضِّلُ · يَرَى أَنَّ … · سَيُشَارِكُ · سَوْفَ يُحَاوِلُ أَنْ يُحَسِّنَ.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(D5-L11 · D5 Consolidation — Past Tense Mastery and Speaking Preparation) will spend class time USING this language, so students prepare it tonight — short, simple, easy to access (school guidance: “Simple, Short, Interesting, Relevant, Easy to access”). The five words come from the website D5-L11 vocabulary (speaking under pressure and repair phrases).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Listening — Sport, Leisure and Past Events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الاِسْتِمَاعُ — الرِّيَاضَةُ وَالتَّرْفِيهُ وَالأَحْدَاثُ المَاضِيَةُ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Hear the TENSE in fast speech: past = an ending (</a:t>
            </a:r>
            <a:pPr algn="l" indent="0" marL="0">
              <a:buNone/>
            </a:pPr>
            <a:r>
              <a:rPr lang="ar-SA" altLang="en-US" sz="1800" dirty="0">
                <a:solidFill>
                  <a:srgbClr val="C6D2E6"/>
                </a:solidFill>
                <a:latin typeface="Amiri" pitchFamily="2" charset="-78"/>
                <a:cs typeface="Amiri" pitchFamily="2" charset="-78"/>
              </a:rPr>
              <a:t>تَدَرَّبْتُ</a:t>
            </a:r>
            <a:pPr algn="l" indent="0" marL="0">
              <a:buNone/>
            </a:pPr>
            <a:r>
              <a:rPr lang="en-US" sz="1400" dirty="0">
                <a:solidFill>
                  <a:srgbClr val="C6D2E6"/>
                </a:solidFill>
                <a:latin typeface="Calibri" pitchFamily="34" charset="0"/>
                <a:cs typeface="Amiri" pitchFamily="2" charset="-78"/>
              </a:rPr>
              <a:t>), present = a prefix (</a:t>
            </a:r>
            <a:pPr algn="l" indent="0" marL="0">
              <a:buNone/>
            </a:pPr>
            <a:r>
              <a:rPr lang="ar-SA" altLang="en-US" sz="1800" dirty="0">
                <a:solidFill>
                  <a:srgbClr val="C6D2E6"/>
                </a:solidFill>
                <a:latin typeface="Amiri" pitchFamily="2" charset="-78"/>
                <a:cs typeface="Amiri" pitchFamily="2" charset="-78"/>
              </a:rPr>
              <a:t>أَتَدَرَّبُ</a:t>
            </a:r>
            <a:pPr algn="l" indent="0" marL="0">
              <a:buNone/>
            </a:pPr>
            <a:r>
              <a:rPr lang="en-US" sz="1400" dirty="0">
                <a:solidFill>
                  <a:srgbClr val="C6D2E6"/>
                </a:solidFill>
                <a:latin typeface="Calibri" pitchFamily="34" charset="0"/>
                <a:cs typeface="Amiri" pitchFamily="2" charset="-78"/>
              </a:rPr>
              <a:t>), future = </a:t>
            </a:r>
            <a:pPr algn="l" indent="0" marL="0">
              <a:buNone/>
            </a:pPr>
            <a:r>
              <a:rPr lang="ar-SA" altLang="en-US" sz="1800" dirty="0">
                <a:solidFill>
                  <a:srgbClr val="C6D2E6"/>
                </a:solidFill>
                <a:latin typeface="Amiri" pitchFamily="2" charset="-78"/>
                <a:cs typeface="Amiri" pitchFamily="2" charset="-78"/>
              </a:rPr>
              <a:t>سَـ / سَوْفَ</a:t>
            </a:r>
            <a:pPr algn="l" indent="0" marL="0">
              <a:buNone/>
            </a:pPr>
            <a:r>
              <a:rPr lang="en-US" sz="1400" dirty="0">
                <a:solidFill>
                  <a:srgbClr val="C6D2E6"/>
                </a:solidFill>
                <a:latin typeface="Calibri" pitchFamily="34" charset="0"/>
                <a:cs typeface="Amiri" pitchFamily="2" charset="-78"/>
              </a:rPr>
              <a:t> (</a:t>
            </a:r>
            <a:pPr algn="l" indent="0" marL="0">
              <a:buNone/>
            </a:pPr>
            <a:r>
              <a:rPr lang="ar-SA" altLang="en-US" sz="1800" dirty="0">
                <a:solidFill>
                  <a:srgbClr val="C6D2E6"/>
                </a:solidFill>
                <a:latin typeface="Amiri" pitchFamily="2" charset="-78"/>
                <a:cs typeface="Amiri" pitchFamily="2" charset="-78"/>
              </a:rPr>
              <a:t>سَأَتَدَرَّبُ</a:t>
            </a:r>
            <a:pPr algn="l" indent="0" marL="0">
              <a:buNone/>
            </a:pPr>
            <a:r>
              <a:rPr lang="en-US" sz="1400" dirty="0">
                <a:solidFill>
                  <a:srgbClr val="C6D2E6"/>
                </a:solidFill>
                <a:latin typeface="Calibri" pitchFamily="34" charset="0"/>
                <a:cs typeface="Amiri" pitchFamily="2" charset="-78"/>
              </a:rPr>
              <a:t>), used to = </a:t>
            </a:r>
            <a:pPr algn="l" indent="0" marL="0">
              <a:buNone/>
            </a:pPr>
            <a:r>
              <a:rPr lang="ar-SA" altLang="en-US" sz="1800" dirty="0">
                <a:solidFill>
                  <a:srgbClr val="C6D2E6"/>
                </a:solidFill>
                <a:latin typeface="Amiri" pitchFamily="2" charset="-78"/>
                <a:cs typeface="Amiri" pitchFamily="2" charset="-78"/>
              </a:rPr>
              <a:t>كَانَ يَـ</a:t>
            </a:r>
            <a:pPr algn="l" indent="0" marL="0">
              <a:buNone/>
            </a:pPr>
            <a:r>
              <a:rPr lang="en-US" sz="1400" dirty="0">
                <a:solidFill>
                  <a:srgbClr val="C6D2E6"/>
                </a:solidFill>
                <a:latin typeface="Calibri" pitchFamily="34" charset="0"/>
                <a:cs typeface="Amiri" pitchFamily="2" charset="-78"/>
              </a:rPr>
              <a:t> … — and don’t fall for distractors that keep the words but change the time.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D5-L10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D5-L10</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Suffix, prefix, sa- / sawfa, kāna ya-: four sounds of time.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verbs by tense, fix tense slips, then the athlete’s story.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tomorrow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usually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yesterday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الأُسْبُوعَ القَادِمَ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week</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week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week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المُلْهِيَاتُ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details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fast speech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distractors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 مَارَسْتُ السِّبَاحَةَ.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 سَأُمَارِسُ أَمْسِ.</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 الآنَ فَأُمَارِسُ السِّبَاحَةَ.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cs typeface="Amiri" pitchFamily="2" charset="-78"/>
              </a:rPr>
              <a:t>كُنْتُ أَلْعَبُ</a:t>
            </a:r>
            <a:pPr algn="l" indent="0" marL="0">
              <a:buNone/>
            </a:pPr>
            <a:r>
              <a:rPr lang="en-US" sz="1250" b="1" dirty="0">
                <a:solidFill>
                  <a:srgbClr val="1B3B6F"/>
                </a:solidFill>
                <a:latin typeface="Calibri" pitchFamily="34" charset="0"/>
                <a:cs typeface="Amiri" pitchFamily="2" charset="-78"/>
              </a:rPr>
              <a:t>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used to play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will play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play now</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tomorrow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usually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yesterday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(D5-L09).</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الأُسْبُوعَ القَادِمَ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next week</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last week</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week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(D5-L09).</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المُلْهِيَاتُ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details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fast speech</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distractors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(D5-L09).</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 الآنَ مَارَسْتُ السِّبَاحَةَ.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 الآنَ سَأُمَارِسُ أَمْسِ.</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أَمَّا الآنَ فَأُمَارِسُ السِّبَاحَةَ.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D5-L09.</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cs typeface="Amiri" pitchFamily="2" charset="-78"/>
              </a:rPr>
              <a:t>كُنْتُ أَلْعَبُ</a:t>
            </a:r>
            <a:pPr algn="l" indent="0" marL="0">
              <a:buNone/>
            </a:pPr>
            <a:r>
              <a:rPr lang="en-US" sz="1250" b="1" dirty="0">
                <a:solidFill>
                  <a:srgbClr val="1B3B6F"/>
                </a:solidFill>
                <a:latin typeface="Calibri" pitchFamily="34" charset="0"/>
                <a:cs typeface="Amiri" pitchFamily="2" charset="-78"/>
              </a:rPr>
              <a:t>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used to play</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will play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play now</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D5-L05: kāna + present.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Same activity, different time: listen to the START and the END of the verb.</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cs typeface="Amiri" pitchFamily="2" charset="-78"/>
              </a:rPr>
              <a:t>تَدَرَّبْتُ</a:t>
            </a:r>
            <a:pPr rtl="1" algn="ctr" indent="0" marL="0">
              <a:lnSpc>
                <a:spcPct val="120000"/>
              </a:lnSpc>
              <a:buNone/>
            </a:pPr>
            <a:r>
              <a:rPr lang="ar-SA" altLang="en-US" sz="1950" b="1" dirty="0">
                <a:solidFill>
                  <a:srgbClr val="1B3B6F"/>
                </a:solidFill>
                <a:latin typeface="Amiri" pitchFamily="2" charset="-78"/>
                <a:cs typeface="Amiri" pitchFamily="2" charset="-78"/>
              </a:rPr>
              <a:t> أَمْسِ · </a:t>
            </a:r>
            <a:pPr rtl="1" algn="ctr" indent="0" marL="0">
              <a:lnSpc>
                <a:spcPct val="120000"/>
              </a:lnSpc>
              <a:buNone/>
            </a:pPr>
            <a:r>
              <a:rPr lang="ar-SA" altLang="en-US" sz="1950" b="1" dirty="0">
                <a:solidFill>
                  <a:srgbClr val="D6336C"/>
                </a:solidFill>
                <a:latin typeface="Amiri" pitchFamily="2" charset="-78"/>
                <a:cs typeface="Amiri" pitchFamily="2" charset="-78"/>
              </a:rPr>
              <a:t>أَتَدَرَّبُ</a:t>
            </a:r>
            <a:pPr rtl="1" algn="ctr" indent="0" marL="0">
              <a:lnSpc>
                <a:spcPct val="120000"/>
              </a:lnSpc>
              <a:buNone/>
            </a:pPr>
            <a:r>
              <a:rPr lang="ar-SA" altLang="en-US" sz="1950" b="1" dirty="0">
                <a:solidFill>
                  <a:srgbClr val="1B3B6F"/>
                </a:solidFill>
                <a:latin typeface="Amiri" pitchFamily="2" charset="-78"/>
                <a:cs typeface="Amiri" pitchFamily="2" charset="-78"/>
              </a:rPr>
              <a:t> عَادَةً · </a:t>
            </a:r>
            <a:pPr rtl="1" algn="ctr" indent="0" marL="0">
              <a:lnSpc>
                <a:spcPct val="120000"/>
              </a:lnSpc>
              <a:buNone/>
            </a:pPr>
            <a:r>
              <a:rPr lang="ar-SA" altLang="en-US" sz="1950" b="1" dirty="0">
                <a:solidFill>
                  <a:srgbClr val="1D5FBF"/>
                </a:solidFill>
                <a:latin typeface="Amiri" pitchFamily="2" charset="-78"/>
                <a:cs typeface="Amiri" pitchFamily="2" charset="-78"/>
              </a:rPr>
              <a:t>سَأَتَدَرَّبُ</a:t>
            </a:r>
            <a:pPr rtl="1" algn="ctr" indent="0" marL="0">
              <a:lnSpc>
                <a:spcPct val="120000"/>
              </a:lnSpc>
              <a:buNone/>
            </a:pPr>
            <a:r>
              <a:rPr lang="ar-SA" altLang="en-US" sz="1950" b="1" dirty="0">
                <a:solidFill>
                  <a:srgbClr val="1B3B6F"/>
                </a:solidFill>
                <a:latin typeface="Amiri" pitchFamily="2" charset="-78"/>
                <a:cs typeface="Amiri" pitchFamily="2" charset="-78"/>
              </a:rPr>
              <a:t> غَدًا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past verbs from their ending (</a:t>
            </a:r>
            <a:pPr algn="l" indent="0" marL="0">
              <a:buNone/>
            </a:pPr>
            <a:r>
              <a:rPr lang="ar-SA" altLang="en-US" sz="1700" dirty="0">
                <a:solidFill>
                  <a:srgbClr val="1F2A37"/>
                </a:solidFill>
                <a:latin typeface="Amiri" pitchFamily="2" charset="-78"/>
                <a:cs typeface="Amiri" pitchFamily="2" charset="-78"/>
              </a:rPr>
              <a:t>تَدَرَّبْتُ</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تَدَرَّبْنَا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present verbs from their prefix and habit words (</a:t>
            </a:r>
            <a:pPr algn="l" indent="0" marL="0">
              <a:buNone/>
            </a:pPr>
            <a:r>
              <a:rPr lang="ar-SA" altLang="en-US" sz="1700" dirty="0">
                <a:solidFill>
                  <a:srgbClr val="1F2A37"/>
                </a:solidFill>
                <a:latin typeface="Amiri" pitchFamily="2" charset="-78"/>
                <a:cs typeface="Amiri" pitchFamily="2" charset="-78"/>
              </a:rPr>
              <a:t>أَتَدَرَّبُ عَادَةً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the future marker </a:t>
            </a:r>
            <a:pPr algn="l" indent="0" marL="0">
              <a:buNone/>
            </a:pPr>
            <a:r>
              <a:rPr lang="ar-SA" altLang="en-US" sz="1700" dirty="0">
                <a:solidFill>
                  <a:srgbClr val="1F2A37"/>
                </a:solidFill>
                <a:latin typeface="Amiri" pitchFamily="2" charset="-78"/>
                <a:cs typeface="Amiri" pitchFamily="2" charset="-78"/>
              </a:rPr>
              <a:t>سَـ / سَوْفَ</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كَانَ</a:t>
            </a:r>
            <a:pPr algn="l" indent="0" marL="0">
              <a:buNone/>
            </a:pPr>
            <a:r>
              <a:rPr lang="en-US" sz="1300" dirty="0">
                <a:solidFill>
                  <a:srgbClr val="1F2A37"/>
                </a:solidFill>
                <a:latin typeface="Calibri" pitchFamily="34" charset="0"/>
                <a:cs typeface="Amiri" pitchFamily="2" charset="-78"/>
              </a:rPr>
              <a:t> + present.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Avoid distractors that keep the words but change the tense.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sort verbs into past, now and future.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hear </a:t>
            </a:r>
            <a:pPr algn="l" indent="0" marL="0">
              <a:buNone/>
            </a:pPr>
            <a:r>
              <a:rPr lang="ar-SA" altLang="en-US" sz="1700" b="1" dirty="0">
                <a:solidFill>
                  <a:srgbClr val="2E8B57"/>
                </a:solidFill>
                <a:latin typeface="Amiri" pitchFamily="2" charset="-78"/>
                <a:cs typeface="Amiri" pitchFamily="2" charset="-78"/>
              </a:rPr>
              <a:t>أَمْسِ / عَادَةً / غَدًا</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justify an answer from the verb form.</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hear </a:t>
            </a:r>
            <a:pPr algn="l" indent="0" marL="0">
              <a:buNone/>
            </a:pPr>
            <a:r>
              <a:rPr lang="ar-SA" altLang="en-US" sz="1700" b="1" dirty="0">
                <a:solidFill>
                  <a:srgbClr val="C9780A"/>
                </a:solidFill>
                <a:latin typeface="Amiri" pitchFamily="2" charset="-78"/>
                <a:cs typeface="Amiri" pitchFamily="2" charset="-78"/>
              </a:rPr>
              <a:t>كَانَ يَـ</a:t>
            </a:r>
            <a:pPr algn="l" indent="0" marL="0">
              <a:buNone/>
            </a:pPr>
            <a:r>
              <a:rPr lang="en-US" sz="1300" b="1" dirty="0">
                <a:solidFill>
                  <a:srgbClr val="C9780A"/>
                </a:solidFill>
                <a:latin typeface="Calibri" pitchFamily="34" charset="0"/>
                <a:cs typeface="Amiri" pitchFamily="2" charset="-78"/>
              </a:rPr>
              <a:t> … (used to).</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summarise a text keeping every tense.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spot tense-only distractors.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Listening strategy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Tense markers to hear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Sport and leisure in speech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زَمَنٌ</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‎زمانہ‎ </a:t>
            </a:r>
            <a:pPr indent="0" marL="0">
              <a:buNone/>
            </a:pPr>
            <a:r>
              <a:rPr lang="en-US" sz="950" b="1" dirty="0">
                <a:solidFill>
                  <a:srgbClr val="2E8B57"/>
                </a:solidFill>
                <a:latin typeface="Calibri" pitchFamily="34" charset="0"/>
                <a:cs typeface="Amiri" pitchFamily="2" charset="-78"/>
              </a:rPr>
              <a:t> zamāna · time / tense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مَاضٍ · حَاضِرٌ · مُسْتَقْبَلٌ</a:t>
            </a:r>
            <a:endParaRPr lang="ar-SA" sz="145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‎ماضی · حال · مستقبل‎ </a:t>
            </a:r>
            <a:pPr indent="0" marL="0">
              <a:buNone/>
            </a:pPr>
            <a:r>
              <a:rPr lang="en-US" sz="950" b="1" dirty="0">
                <a:solidFill>
                  <a:srgbClr val="2E8B57"/>
                </a:solidFill>
                <a:latin typeface="Calibri" pitchFamily="34" charset="0"/>
                <a:cs typeface="Amiri" pitchFamily="2" charset="-78"/>
              </a:rPr>
              <a:t> māzī · ḥāl · mustaqbil · past · present · future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عَادَةً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ʿādat · Urdu: a habit · Arabic عَادَةً: usually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تَفْصِيلٌ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tafṣīl · detail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قَادِمٌ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‎آئندہ‎ </a:t>
            </a:r>
            <a:pPr indent="0" marL="0">
              <a:buNone/>
            </a:pPr>
            <a:r>
              <a:rPr lang="en-US" sz="950" b="1" dirty="0">
                <a:solidFill>
                  <a:srgbClr val="2E8B57"/>
                </a:solidFill>
                <a:latin typeface="Calibri" pitchFamily="34" charset="0"/>
                <a:cs typeface="Amiri" pitchFamily="2" charset="-78"/>
              </a:rPr>
              <a:t> āʾinda · next, coming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التَّعَرُّفُ عَلَى الأَفْعَالِ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recognising the verbs</a:t>
            </a:r>
            <a:endParaRPr lang="en-US" sz="1350" dirty="0"/>
          </a:p>
          <a:p>
            <a:pPr indent="0" marL="0">
              <a:buNone/>
            </a:pPr>
            <a:r>
              <a:rPr lang="en-US" sz="1100" i="1" dirty="0">
                <a:solidFill>
                  <a:srgbClr val="5A6472"/>
                </a:solidFill>
                <a:latin typeface="Calibri" pitchFamily="34" charset="0"/>
                <a:cs typeface="Amiri" pitchFamily="2" charset="-78"/>
              </a:rPr>
              <a:t>at-ta-ʿar-ru-fu ʿa-lā al-af-ʿā-li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اللَّاحِقَةُ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suffix</a:t>
            </a:r>
            <a:endParaRPr lang="en-US" sz="1350" dirty="0"/>
          </a:p>
          <a:p>
            <a:pPr indent="0" marL="0">
              <a:buNone/>
            </a:pPr>
            <a:r>
              <a:rPr lang="en-US" sz="1100" i="1" dirty="0">
                <a:solidFill>
                  <a:srgbClr val="5A6472"/>
                </a:solidFill>
                <a:latin typeface="Calibri" pitchFamily="34" charset="0"/>
                <a:cs typeface="Amiri" pitchFamily="2" charset="-78"/>
              </a:rPr>
              <a:t>all-lā-ḥi-qa-tu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الكَلَامُ السَّرِيعُ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fast speech</a:t>
            </a:r>
            <a:endParaRPr lang="en-US" sz="1350" dirty="0"/>
          </a:p>
          <a:p>
            <a:pPr indent="0" marL="0">
              <a:buNone/>
            </a:pPr>
            <a:r>
              <a:rPr lang="en-US" sz="1100" i="1" dirty="0">
                <a:solidFill>
                  <a:srgbClr val="5A6472"/>
                </a:solidFill>
                <a:latin typeface="Calibri" pitchFamily="34" charset="0"/>
                <a:cs typeface="Amiri" pitchFamily="2" charset="-78"/>
              </a:rPr>
              <a:t>al-ka-lā-mu as-sa-rī-ʿu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تَوَقَّعَ / يَتَوَقَّعُ</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predicted / predicts</a:t>
            </a:r>
            <a:endParaRPr lang="en-US" sz="1350" dirty="0"/>
          </a:p>
          <a:p>
            <a:pPr indent="0" marL="0">
              <a:buNone/>
            </a:pPr>
            <a:r>
              <a:rPr lang="en-US" sz="1100" i="1" dirty="0">
                <a:solidFill>
                  <a:srgbClr val="5A6472"/>
                </a:solidFill>
                <a:latin typeface="Calibri" pitchFamily="34" charset="0"/>
                <a:cs typeface="Amiri" pitchFamily="2" charset="-78"/>
              </a:rPr>
              <a:t>ta-waq-qa-ʿa / ya-ta-waq-qa-ʿu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strategy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المُلْهِيَاتُ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distractors</a:t>
            </a:r>
            <a:endParaRPr lang="en-US" sz="1350" dirty="0"/>
          </a:p>
          <a:p>
            <a:pPr indent="0" marL="0">
              <a:buNone/>
            </a:pPr>
            <a:r>
              <a:rPr lang="en-US" sz="1100" i="1" dirty="0">
                <a:solidFill>
                  <a:srgbClr val="5A6472"/>
                </a:solidFill>
                <a:latin typeface="Calibri" pitchFamily="34" charset="0"/>
                <a:cs typeface="Amiri" pitchFamily="2" charset="-78"/>
              </a:rPr>
              <a:t>al-mul-hi-yā-tu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الفِكْرَةُ العَامَّةُ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general idea</a:t>
            </a:r>
            <a:endParaRPr lang="en-US" sz="1350" dirty="0"/>
          </a:p>
          <a:p>
            <a:pPr indent="0" marL="0">
              <a:buNone/>
            </a:pPr>
            <a:r>
              <a:rPr lang="en-US" sz="1100" i="1" dirty="0">
                <a:solidFill>
                  <a:srgbClr val="5A6472"/>
                </a:solidFill>
                <a:latin typeface="Calibri" pitchFamily="34" charset="0"/>
                <a:cs typeface="Amiri" pitchFamily="2" charset="-78"/>
              </a:rPr>
              <a:t>al-fik-ra-tu al-ʿām-ma-tu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التَّفْصِيلُ الدَّقِيقُ</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precise detail</a:t>
            </a:r>
            <a:endParaRPr lang="en-US" sz="1350" dirty="0"/>
          </a:p>
          <a:p>
            <a:pPr indent="0" marL="0">
              <a:buNone/>
            </a:pPr>
            <a:r>
              <a:rPr lang="en-US" sz="1100" i="1" dirty="0">
                <a:solidFill>
                  <a:srgbClr val="5A6472"/>
                </a:solidFill>
                <a:latin typeface="Calibri" pitchFamily="34" charset="0"/>
                <a:cs typeface="Amiri" pitchFamily="2" charset="-78"/>
              </a:rPr>
              <a:t>at-taf-ṣī-lu ad-da-qī-qu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Shape 32"/>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Hollow: أَعَدْتُ.</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أَعَادَ / يُعِيدُ</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repeated / repeats</a:t>
            </a:r>
            <a:endParaRPr lang="en-US" sz="1350" dirty="0"/>
          </a:p>
          <a:p>
            <a:pPr indent="0" marL="0">
              <a:buNone/>
            </a:pPr>
            <a:r>
              <a:rPr lang="en-US" sz="1100" i="1" dirty="0">
                <a:solidFill>
                  <a:srgbClr val="5A6472"/>
                </a:solidFill>
                <a:latin typeface="Calibri" pitchFamily="34" charset="0"/>
                <a:cs typeface="Amiri" pitchFamily="2" charset="-78"/>
              </a:rPr>
              <a:t>a-ʿā-da / yu-ʿī-du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Tense markers to hear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أَمْسِ</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yesterday</a:t>
            </a:r>
            <a:endParaRPr lang="en-US" sz="1350" dirty="0"/>
          </a:p>
          <a:p>
            <a:pPr indent="0" marL="0">
              <a:buNone/>
            </a:pPr>
            <a:r>
              <a:rPr lang="en-US" sz="1100" i="1" dirty="0">
                <a:solidFill>
                  <a:srgbClr val="5A6472"/>
                </a:solidFill>
                <a:latin typeface="Calibri" pitchFamily="34" charset="0"/>
                <a:cs typeface="Amiri" pitchFamily="2" charset="-78"/>
              </a:rPr>
              <a:t>am-si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7" name="Shape 24"/>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past.</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الأُسْبُوعَ المَاضِيَ</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week</a:t>
            </a:r>
            <a:endParaRPr lang="en-US" sz="1350" dirty="0"/>
          </a:p>
          <a:p>
            <a:pPr indent="0" marL="0">
              <a:buNone/>
            </a:pPr>
            <a:r>
              <a:rPr lang="en-US" sz="1100" i="1" dirty="0">
                <a:solidFill>
                  <a:srgbClr val="5A6472"/>
                </a:solidFill>
                <a:latin typeface="Calibri" pitchFamily="34" charset="0"/>
                <a:cs typeface="Amiri" pitchFamily="2" charset="-78"/>
              </a:rPr>
              <a:t>al-us-bū-ʿa al-mā-ḍi-ya</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4" name="Shape 31"/>
          <p:cNvSpPr/>
          <p:nvPr/>
        </p:nvSpPr>
        <p:spPr>
          <a:xfrm>
            <a:off x="960120" y="1938528"/>
            <a:ext cx="1642262"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present habit.</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عَادَةً</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3" name="Shape 40"/>
          <p:cNvSpPr/>
          <p:nvPr/>
        </p:nvSpPr>
        <p:spPr>
          <a:xfrm>
            <a:off x="8604504" y="4279392"/>
            <a:ext cx="1642262"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present habit.</a:t>
            </a:r>
            <a:endParaRPr lang="en-US" sz="800" dirty="0"/>
          </a:p>
        </p:txBody>
      </p:sp>
      <p:sp>
        <p:nvSpPr>
          <p:cNvPr id="45" name="Shape 4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 يَوْمٍ</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every day</a:t>
            </a:r>
            <a:endParaRPr lang="en-US" sz="1350" dirty="0"/>
          </a:p>
          <a:p>
            <a:pPr indent="0" marL="0">
              <a:buNone/>
            </a:pPr>
            <a:r>
              <a:rPr lang="en-US" sz="1100" i="1" dirty="0">
                <a:solidFill>
                  <a:srgbClr val="5A6472"/>
                </a:solidFill>
                <a:latin typeface="Calibri" pitchFamily="34" charset="0"/>
                <a:cs typeface="Amiri" pitchFamily="2" charset="-78"/>
              </a:rPr>
              <a:t>kul-la yaw-min</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Tense markers to hear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present.</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الآنَ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now</a:t>
            </a:r>
            <a:endParaRPr lang="en-US" sz="1350" dirty="0"/>
          </a:p>
          <a:p>
            <a:pPr indent="0" marL="0">
              <a:buNone/>
            </a:pPr>
            <a:r>
              <a:rPr lang="en-US" sz="1100" i="1" dirty="0">
                <a:solidFill>
                  <a:srgbClr val="5A6472"/>
                </a:solidFill>
                <a:latin typeface="Calibri" pitchFamily="34" charset="0"/>
                <a:cs typeface="Amiri" pitchFamily="2" charset="-78"/>
              </a:rPr>
              <a:t>al-ʾā-na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Shape 22"/>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future.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غَدًا</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tomorrow</a:t>
            </a:r>
            <a:endParaRPr lang="en-US" sz="1350" dirty="0"/>
          </a:p>
          <a:p>
            <a:pPr indent="0" marL="0">
              <a:buNone/>
            </a:pPr>
            <a:r>
              <a:rPr lang="en-US" sz="1100" i="1" dirty="0">
                <a:solidFill>
                  <a:srgbClr val="5A6472"/>
                </a:solidFill>
                <a:latin typeface="Calibri" pitchFamily="34" charset="0"/>
                <a:cs typeface="Amiri" pitchFamily="2" charset="-78"/>
              </a:rPr>
              <a:t>gha-dan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Shape 31"/>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future.</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الأُسْبُوعَ القَادِمَ</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next week</a:t>
            </a:r>
            <a:endParaRPr lang="en-US" sz="1350" dirty="0"/>
          </a:p>
          <a:p>
            <a:pPr indent="0" marL="0">
              <a:buNone/>
            </a:pPr>
            <a:r>
              <a:rPr lang="en-US" sz="1100" i="1" dirty="0">
                <a:solidFill>
                  <a:srgbClr val="5A6472"/>
                </a:solidFill>
                <a:latin typeface="Calibri" pitchFamily="34" charset="0"/>
                <a:cs typeface="Amiri" pitchFamily="2" charset="-78"/>
              </a:rPr>
              <a:t>al-us-bū-ʿa al-qā-di-ma</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3" name="Shape 40"/>
          <p:cNvSpPr/>
          <p:nvPr/>
        </p:nvSpPr>
        <p:spPr>
          <a:xfrm>
            <a:off x="8604504" y="4279392"/>
            <a:ext cx="1207008"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Signals future.</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قَرِيبًا</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soon</a:t>
            </a:r>
            <a:endParaRPr lang="en-US" sz="1350" dirty="0"/>
          </a:p>
          <a:p>
            <a:pPr indent="0" marL="0">
              <a:buNone/>
            </a:pPr>
            <a:r>
              <a:rPr lang="en-US" sz="1100" i="1" dirty="0">
                <a:solidFill>
                  <a:srgbClr val="5A6472"/>
                </a:solidFill>
                <a:latin typeface="Calibri" pitchFamily="34" charset="0"/>
                <a:cs typeface="Amiri" pitchFamily="2" charset="-78"/>
              </a:rPr>
              <a:t>qa-rī-ban</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Sport and leisure in speech (1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مُبَارَاةٌ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match</a:t>
            </a:r>
            <a:endParaRPr lang="en-US" sz="1350" dirty="0"/>
          </a:p>
          <a:p>
            <a:pPr indent="0" marL="0">
              <a:buNone/>
            </a:pPr>
            <a:r>
              <a:rPr lang="en-US" sz="1100" i="1" dirty="0">
                <a:solidFill>
                  <a:srgbClr val="5A6472"/>
                </a:solidFill>
                <a:latin typeface="Calibri" pitchFamily="34" charset="0"/>
                <a:cs typeface="Amiri" pitchFamily="2" charset="-78"/>
              </a:rPr>
              <a:t>mu-bā-rā-tun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بُطُولَةٌ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championship</a:t>
            </a:r>
            <a:endParaRPr lang="en-US" sz="1350" dirty="0"/>
          </a:p>
          <a:p>
            <a:pPr indent="0" marL="0">
              <a:buNone/>
            </a:pPr>
            <a:r>
              <a:rPr lang="en-US" sz="1100" i="1" dirty="0">
                <a:solidFill>
                  <a:srgbClr val="5A6472"/>
                </a:solidFill>
                <a:latin typeface="Calibri" pitchFamily="34" charset="0"/>
                <a:cs typeface="Amiri" pitchFamily="2" charset="-78"/>
              </a:rPr>
              <a:t>bu-ṭū-la-tun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8" name="Shape 2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تَدَرَّبَ / يَتَدَرَّبُ</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trained / trains</a:t>
            </a:r>
            <a:endParaRPr lang="en-US" sz="1350" dirty="0"/>
          </a:p>
          <a:p>
            <a:pPr indent="0" marL="0">
              <a:buNone/>
            </a:pPr>
            <a:r>
              <a:rPr lang="en-US" sz="1100" i="1" dirty="0">
                <a:solidFill>
                  <a:srgbClr val="5A6472"/>
                </a:solidFill>
                <a:latin typeface="Calibri" pitchFamily="34" charset="0"/>
                <a:cs typeface="Amiri" pitchFamily="2" charset="-78"/>
              </a:rPr>
              <a:t>ta-dar-ra-ba / ya-ta-dar-ra-bu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Shape 32"/>
          <p:cNvSpPr/>
          <p:nvPr/>
        </p:nvSpPr>
        <p:spPr>
          <a:xfrm>
            <a:off x="8604504" y="4279392"/>
            <a:ext cx="1393546"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III with فِي.</a:t>
            </a:r>
            <a:endParaRPr lang="en-US" sz="8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شَارَكَ فِي</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took part in</a:t>
            </a:r>
            <a:endParaRPr lang="en-US" sz="1350" dirty="0"/>
          </a:p>
          <a:p>
            <a:pPr indent="0" marL="0">
              <a:buNone/>
            </a:pPr>
            <a:r>
              <a:rPr lang="en-US" sz="1100" i="1" dirty="0">
                <a:solidFill>
                  <a:srgbClr val="5A6472"/>
                </a:solidFill>
                <a:latin typeface="Calibri" pitchFamily="34" charset="0"/>
                <a:cs typeface="Amiri" pitchFamily="2" charset="-78"/>
              </a:rPr>
              <a:t>shā-ra-ka fī</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Sport and leisure in speech (2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فَازَ بِـ</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won</a:t>
            </a:r>
            <a:endParaRPr lang="en-US" sz="1350" dirty="0"/>
          </a:p>
          <a:p>
            <a:pPr indent="0" marL="0">
              <a:buNone/>
            </a:pPr>
            <a:r>
              <a:rPr lang="en-US" sz="1100" i="1" dirty="0">
                <a:solidFill>
                  <a:srgbClr val="5A6472"/>
                </a:solidFill>
                <a:latin typeface="Calibri" pitchFamily="34" charset="0"/>
                <a:cs typeface="Amiri" pitchFamily="2" charset="-78"/>
              </a:rPr>
              <a:t>fā-za bi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حَضَرَ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attended</a:t>
            </a:r>
            <a:endParaRPr lang="en-US" sz="1350" dirty="0"/>
          </a:p>
          <a:p>
            <a:pPr indent="0" marL="0">
              <a:buNone/>
            </a:pPr>
            <a:r>
              <a:rPr lang="en-US" sz="1100" i="1" dirty="0">
                <a:solidFill>
                  <a:srgbClr val="5A6472"/>
                </a:solidFill>
                <a:latin typeface="Calibri" pitchFamily="34" charset="0"/>
                <a:cs typeface="Amiri" pitchFamily="2" charset="-78"/>
              </a:rPr>
              <a:t>ḥa-ḍa-ra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2" name="Shape 29"/>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IV.</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أَنْجَزَ</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achieved</a:t>
            </a:r>
            <a:endParaRPr lang="en-US" sz="1350" dirty="0"/>
          </a:p>
          <a:p>
            <a:pPr indent="0" marL="0">
              <a:buNone/>
            </a:pPr>
            <a:r>
              <a:rPr lang="en-US" sz="1100" i="1" dirty="0">
                <a:solidFill>
                  <a:srgbClr val="5A6472"/>
                </a:solidFill>
                <a:latin typeface="Calibri" pitchFamily="34" charset="0"/>
                <a:cs typeface="Amiri" pitchFamily="2" charset="-78"/>
              </a:rPr>
              <a:t>an-ja-za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9" name="Shape 36"/>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اِعْتَزَلَ</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retired (from sport)</a:t>
            </a:r>
            <a:endParaRPr lang="en-US" sz="1350" dirty="0"/>
          </a:p>
          <a:p>
            <a:pPr indent="0" marL="0">
              <a:buNone/>
            </a:pPr>
            <a:r>
              <a:rPr lang="en-US" sz="1100" i="1" dirty="0">
                <a:solidFill>
                  <a:srgbClr val="5A6472"/>
                </a:solidFill>
                <a:latin typeface="Calibri" pitchFamily="34" charset="0"/>
                <a:cs typeface="Amiri" pitchFamily="2" charset="-78"/>
              </a:rPr>
              <a:t>iʿ-ta-za-la</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SOUND OF EACH TENSE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now or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مَاضٍ أَمْ حَاضِرٌ أَمْ 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919472" y="1810512"/>
            <a:ext cx="6739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23591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Listen for</a:t>
            </a:r>
            <a:endParaRPr lang="en-US" sz="1100" dirty="0"/>
          </a:p>
        </p:txBody>
      </p:sp>
      <p:sp>
        <p:nvSpPr>
          <p:cNvPr id="18" name="Text 15"/>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Tense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937760" y="2286000"/>
            <a:ext cx="6702552"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تَدَرَّبْتُ</a:t>
            </a:r>
            <a:pPr rtl="1" algn="ctr" indent="0" marL="0">
              <a:buNone/>
            </a:pPr>
            <a:r>
              <a:rPr lang="ar-SA" altLang="en-US" sz="2100" b="1" dirty="0">
                <a:solidFill>
                  <a:srgbClr val="1B3B6F"/>
                </a:solidFill>
                <a:latin typeface="Amiri" pitchFamily="2" charset="-78"/>
                <a:cs typeface="Amiri" pitchFamily="2" charset="-78"/>
              </a:rPr>
              <a:t> أَمْسِ · </a:t>
            </a:r>
            <a:pPr rtl="1" algn="ctr" indent="0" marL="0">
              <a:buNone/>
            </a:pPr>
            <a:r>
              <a:rPr lang="ar-SA" altLang="en-US" sz="2100" b="1" dirty="0">
                <a:solidFill>
                  <a:srgbClr val="0E7C86"/>
                </a:solidFill>
                <a:latin typeface="Amiri" pitchFamily="2" charset="-78"/>
                <a:cs typeface="Amiri" pitchFamily="2" charset="-78"/>
              </a:rPr>
              <a:t>تَدَرَّبْنَا</a:t>
            </a:r>
            <a:pPr rtl="1" algn="ctr" indent="0" marL="0">
              <a:buNone/>
            </a:pPr>
            <a:r>
              <a:rPr lang="ar-SA" altLang="en-US" sz="2100" b="1" dirty="0">
                <a:solidFill>
                  <a:srgbClr val="1B3B6F"/>
                </a:solidFill>
                <a:latin typeface="Amiri" pitchFamily="2" charset="-78"/>
                <a:cs typeface="Amiri" pitchFamily="2" charset="-78"/>
              </a:rPr>
              <a:t> الأُسْبُوعَ المَاضِيَ</a:t>
            </a:r>
            <a:endParaRPr lang="ar-SA" sz="2100" dirty="0"/>
          </a:p>
        </p:txBody>
      </p:sp>
      <p:sp>
        <p:nvSpPr>
          <p:cNvPr id="21" name="Text 18"/>
          <p:cNvSpPr txBox="1"/>
          <p:nvPr/>
        </p:nvSpPr>
        <p:spPr>
          <a:xfrm>
            <a:off x="4892040" y="2706624"/>
            <a:ext cx="6793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trained yesterday · we trained last week</a:t>
            </a:r>
            <a:endParaRPr lang="en-US" sz="950" dirty="0"/>
          </a:p>
        </p:txBody>
      </p:sp>
      <p:sp>
        <p:nvSpPr>
          <p:cNvPr id="22" name="Text 19"/>
          <p:cNvSpPr txBox="1"/>
          <p:nvPr/>
        </p:nvSpPr>
        <p:spPr>
          <a:xfrm>
            <a:off x="2395728"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ENDING, no prefix</a:t>
            </a:r>
            <a:endParaRPr lang="en-US" sz="1100" dirty="0"/>
          </a:p>
        </p:txBody>
      </p:sp>
      <p:sp>
        <p:nvSpPr>
          <p:cNvPr id="23" name="Text 20"/>
          <p:cNvSpPr txBox="1"/>
          <p:nvPr/>
        </p:nvSpPr>
        <p:spPr>
          <a:xfrm>
            <a:off x="56692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4937760" y="3072384"/>
            <a:ext cx="6702552"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أَتَدَرَّبُ</a:t>
            </a:r>
            <a:pPr rtl="1" algn="ctr" indent="0" marL="0">
              <a:buNone/>
            </a:pPr>
            <a:r>
              <a:rPr lang="ar-SA" altLang="en-US" sz="2100" b="1" dirty="0">
                <a:solidFill>
                  <a:srgbClr val="1B3B6F"/>
                </a:solidFill>
                <a:latin typeface="Amiri" pitchFamily="2" charset="-78"/>
                <a:cs typeface="Amiri" pitchFamily="2" charset="-78"/>
              </a:rPr>
              <a:t> عَادَةً مَسَاءً · </a:t>
            </a:r>
            <a:pPr rtl="1" algn="ctr" indent="0" marL="0">
              <a:buNone/>
            </a:pPr>
            <a:r>
              <a:rPr lang="ar-SA" altLang="en-US" sz="2100" b="1" dirty="0">
                <a:solidFill>
                  <a:srgbClr val="D6336C"/>
                </a:solidFill>
                <a:latin typeface="Amiri" pitchFamily="2" charset="-78"/>
                <a:cs typeface="Amiri" pitchFamily="2" charset="-78"/>
              </a:rPr>
              <a:t>يَتَدَرَّبُ</a:t>
            </a:r>
            <a:pPr rtl="1" algn="ctr" indent="0" marL="0">
              <a:buNone/>
            </a:pPr>
            <a:r>
              <a:rPr lang="ar-SA" altLang="en-US" sz="2100" b="1" dirty="0">
                <a:solidFill>
                  <a:srgbClr val="1B3B6F"/>
                </a:solidFill>
                <a:latin typeface="Amiri" pitchFamily="2" charset="-78"/>
                <a:cs typeface="Amiri" pitchFamily="2" charset="-78"/>
              </a:rPr>
              <a:t> كُلَّ يَوْمٍ</a:t>
            </a:r>
            <a:endParaRPr lang="ar-SA" sz="2100" dirty="0"/>
          </a:p>
        </p:txBody>
      </p:sp>
      <p:sp>
        <p:nvSpPr>
          <p:cNvPr id="28" name="Text 25"/>
          <p:cNvSpPr txBox="1"/>
          <p:nvPr/>
        </p:nvSpPr>
        <p:spPr>
          <a:xfrm>
            <a:off x="4892040" y="3493008"/>
            <a:ext cx="6793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usually train in the evening · he trains every day</a:t>
            </a:r>
            <a:endParaRPr lang="en-US" sz="950" dirty="0"/>
          </a:p>
        </p:txBody>
      </p:sp>
      <p:sp>
        <p:nvSpPr>
          <p:cNvPr id="29" name="Text 26"/>
          <p:cNvSpPr txBox="1"/>
          <p:nvPr/>
        </p:nvSpPr>
        <p:spPr>
          <a:xfrm>
            <a:off x="2395728"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PREFIX + </a:t>
            </a:r>
            <a:pPr algn="l" indent="0" marL="0">
              <a:buNone/>
            </a:pPr>
            <a:r>
              <a:rPr lang="ar-SA" altLang="en-US" sz="1450" dirty="0">
                <a:solidFill>
                  <a:srgbClr val="5A6472"/>
                </a:solidFill>
                <a:latin typeface="Amiri" pitchFamily="2" charset="-78"/>
                <a:cs typeface="Amiri" pitchFamily="2" charset="-78"/>
              </a:rPr>
              <a:t>عَادَةً</a:t>
            </a:r>
            <a:endParaRPr lang="en-US" sz="1100" dirty="0"/>
          </a:p>
        </p:txBody>
      </p:sp>
      <p:sp>
        <p:nvSpPr>
          <p:cNvPr id="30" name="Text 27"/>
          <p:cNvSpPr txBox="1"/>
          <p:nvPr/>
        </p:nvSpPr>
        <p:spPr>
          <a:xfrm>
            <a:off x="56692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present habit</a:t>
            </a:r>
            <a:endParaRPr lang="en-US" sz="11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4937760" y="3858768"/>
            <a:ext cx="6702552"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سَأُشَارِكُ</a:t>
            </a:r>
            <a:pPr rtl="1" algn="ctr" indent="0" marL="0">
              <a:buNone/>
            </a:pPr>
            <a:r>
              <a:rPr lang="ar-SA" altLang="en-US" sz="2100" b="1" dirty="0">
                <a:solidFill>
                  <a:srgbClr val="1B3B6F"/>
                </a:solidFill>
                <a:latin typeface="Amiri" pitchFamily="2" charset="-78"/>
                <a:cs typeface="Amiri" pitchFamily="2" charset="-78"/>
              </a:rPr>
              <a:t> غَدًا · </a:t>
            </a:r>
            <a:pPr rtl="1" algn="ctr" indent="0" marL="0">
              <a:buNone/>
            </a:pPr>
            <a:r>
              <a:rPr lang="ar-SA" altLang="en-US" sz="2100" b="1" dirty="0">
                <a:solidFill>
                  <a:srgbClr val="1D5FBF"/>
                </a:solidFill>
                <a:latin typeface="Amiri" pitchFamily="2" charset="-78"/>
                <a:cs typeface="Amiri" pitchFamily="2" charset="-78"/>
              </a:rPr>
              <a:t>سَوْفَ</a:t>
            </a:r>
            <a:pPr rtl="1" algn="ctr" indent="0" marL="0">
              <a:buNone/>
            </a:pPr>
            <a:r>
              <a:rPr lang="ar-SA" altLang="en-US" sz="2100" b="1" dirty="0">
                <a:solidFill>
                  <a:srgbClr val="1B3B6F"/>
                </a:solidFill>
                <a:latin typeface="Amiri" pitchFamily="2" charset="-78"/>
                <a:cs typeface="Amiri" pitchFamily="2" charset="-78"/>
              </a:rPr>
              <a:t> نَحْضُرُ المُبَارَاةَ</a:t>
            </a:r>
            <a:endParaRPr lang="ar-SA" sz="2100" dirty="0"/>
          </a:p>
        </p:txBody>
      </p:sp>
      <p:sp>
        <p:nvSpPr>
          <p:cNvPr id="35" name="Text 32"/>
          <p:cNvSpPr txBox="1"/>
          <p:nvPr/>
        </p:nvSpPr>
        <p:spPr>
          <a:xfrm>
            <a:off x="4892040" y="4279392"/>
            <a:ext cx="6793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take part tomorrow · we will attend the match</a:t>
            </a:r>
            <a:endParaRPr lang="en-US" sz="950" dirty="0"/>
          </a:p>
        </p:txBody>
      </p:sp>
      <p:sp>
        <p:nvSpPr>
          <p:cNvPr id="36" name="Text 33"/>
          <p:cNvSpPr txBox="1"/>
          <p:nvPr/>
        </p:nvSpPr>
        <p:spPr>
          <a:xfrm>
            <a:off x="2395728"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sawfa at the START</a:t>
            </a:r>
            <a:endParaRPr lang="en-US" sz="1100" dirty="0"/>
          </a:p>
        </p:txBody>
      </p:sp>
      <p:sp>
        <p:nvSpPr>
          <p:cNvPr id="37" name="Text 34"/>
          <p:cNvSpPr txBox="1"/>
          <p:nvPr/>
        </p:nvSpPr>
        <p:spPr>
          <a:xfrm>
            <a:off x="56692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a:t>
            </a:r>
            <a:endParaRPr lang="en-US" sz="110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4937760" y="4645152"/>
            <a:ext cx="6702552"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كُنْتُ</a:t>
            </a:r>
            <a:pPr rtl="1" algn="ctr" indent="0" marL="0">
              <a:buNone/>
            </a:pPr>
            <a:r>
              <a:rPr lang="ar-SA" altLang="en-US" sz="2100" b="1" dirty="0">
                <a:solidFill>
                  <a:srgbClr val="1B3B6F"/>
                </a:solidFill>
                <a:latin typeface="Amiri" pitchFamily="2" charset="-78"/>
                <a:cs typeface="Amiri" pitchFamily="2" charset="-78"/>
              </a:rPr>
              <a:t> أَلْعَبُ كُرَةَ اليَدِ</a:t>
            </a:r>
            <a:endParaRPr lang="ar-SA" sz="2100" dirty="0"/>
          </a:p>
        </p:txBody>
      </p:sp>
      <p:sp>
        <p:nvSpPr>
          <p:cNvPr id="42" name="Text 39"/>
          <p:cNvSpPr txBox="1"/>
          <p:nvPr/>
        </p:nvSpPr>
        <p:spPr>
          <a:xfrm>
            <a:off x="4892040" y="5065776"/>
            <a:ext cx="679399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used to play handball</a:t>
            </a:r>
            <a:endParaRPr lang="en-US" sz="950" dirty="0"/>
          </a:p>
        </p:txBody>
      </p:sp>
      <p:sp>
        <p:nvSpPr>
          <p:cNvPr id="43" name="Text 40"/>
          <p:cNvSpPr txBox="1"/>
          <p:nvPr/>
        </p:nvSpPr>
        <p:spPr>
          <a:xfrm>
            <a:off x="2395728"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kāna + present</a:t>
            </a:r>
            <a:endParaRPr lang="en-US" sz="1100" dirty="0"/>
          </a:p>
        </p:txBody>
      </p:sp>
      <p:sp>
        <p:nvSpPr>
          <p:cNvPr id="44" name="Text 41"/>
          <p:cNvSpPr txBox="1"/>
          <p:nvPr/>
        </p:nvSpPr>
        <p:spPr>
          <a:xfrm>
            <a:off x="56692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used to</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Before the audio: write P, N or F next to every question.</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2 · TENSE-ONLY DISTRACTORS (WEBSITE RULE 4) · DEVELOP / STRETCH</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words, different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نَفْسُ الكَلِمَاتِ، زَمَنٌ آخَرُ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PAST vs FUTURE</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فَازَ · سَيَفُوزُ</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فَازَ · سَيَفُوزُ</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won · he will win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Check the start.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PAST vs HABIT</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تَدَرَّبَ · يَتَدَرَّبُ</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تَدَرَّبَ · يَتَدَرَّبُ</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trained · he trains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Prefix = now.</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USED TO</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كَانَ يَلْعَبُ</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كَانَ يَلْعَبُ · يَلْعَبُ</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he used to play · he plays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kāna = past.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the distractor keeps the words but changes the tense.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فَازَ بِالبُطُولَةِ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cs typeface="Amiri" pitchFamily="2" charset="-78"/>
              </a:rPr>
              <a:t>سَيَفُوزُ بِالبُطُولَةِ</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Hearing tense in connected speech</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تَمْيِيزُ الزَّمَنِ فِي الكَلَامِ المُتَّصِلِ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Past is marked by a suffix</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تَدَرَّبْتُ / تَدَرَّبَ / تَدَرَّبْنَا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تَدَرَّبْتُ أَمْسِ   ·   تَدَرَّبْنَا الأُسْبُوعَ المَاضِيَ</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Present is marked by a prefix</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أَتَدَرَّبُ / يَتَدَرَّبُ / نَتَدَرَّبُ</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أَتَدَرَّبُ عَادَةً مَسَاءً   ·   يَتَدَرَّبُ كُلَّ يَوْمٍ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Future adds </a:t>
            </a:r>
            <a:pPr algn="l" indent="0" marL="0">
              <a:buNone/>
            </a:pPr>
            <a:r>
              <a:rPr lang="ar-SA" altLang="en-US" sz="1650" b="1" dirty="0">
                <a:solidFill>
                  <a:srgbClr val="1B3B6F"/>
                </a:solidFill>
                <a:latin typeface="Amiri" pitchFamily="2" charset="-78"/>
                <a:cs typeface="Amiri" pitchFamily="2" charset="-78"/>
              </a:rPr>
              <a:t>سَـ</a:t>
            </a:r>
            <a:pPr algn="l" indent="0" marL="0">
              <a:buNone/>
            </a:pPr>
            <a:r>
              <a:rPr lang="en-US" sz="1250" b="1" dirty="0">
                <a:solidFill>
                  <a:srgbClr val="1B3B6F"/>
                </a:solidFill>
                <a:latin typeface="Calibri" pitchFamily="34" charset="0"/>
                <a:cs typeface="Amiri" pitchFamily="2" charset="-78"/>
              </a:rPr>
              <a:t> or </a:t>
            </a:r>
            <a:pPr algn="l" indent="0" marL="0">
              <a:buNone/>
            </a:pPr>
            <a:r>
              <a:rPr lang="ar-SA" altLang="en-US" sz="1650" b="1" dirty="0">
                <a:solidFill>
                  <a:srgbClr val="1B3B6F"/>
                </a:solidFill>
                <a:latin typeface="Amiri" pitchFamily="2" charset="-78"/>
                <a:cs typeface="Amiri" pitchFamily="2" charset="-78"/>
              </a:rPr>
              <a:t>سَوْفَ</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سَأَتَدَرَّبُ / سَوْفَ نَتَدَرَّبُ</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سَأُشَارِكُ غَدًا   ·   سَوْفَ نَحْضُرُ المُبَارَاةَ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Tense-only distractors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same vocabulary, different tense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فَازَ بِالبُطُولَةِ · سَيَفُوزُ بِالبُطُولَةِ   ·   تَدَرَّبَ أَمْسِ · يَتَدَرَّبُ عَادَةً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أَتَدَرَّبُ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سَأَتَدَرَّبُ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تَدَرَّبْتُ</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future?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سَنُشَارِكُ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شَارَكْنَا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نُشَارِكُ</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عَادَةً</a:t>
            </a:r>
            <a:pPr algn="l" indent="0" marL="0">
              <a:buNone/>
            </a:pPr>
            <a:r>
              <a:rPr lang="en-US" sz="1250" b="1" dirty="0">
                <a:solidFill>
                  <a:srgbClr val="1B3B6F"/>
                </a:solidFill>
                <a:latin typeface="Calibri" pitchFamily="34" charset="0"/>
                <a:cs typeface="Amiri" pitchFamily="2" charset="-78"/>
              </a:rPr>
              <a:t>. Which tense should you expect?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 habit</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الأُسْبُوعَ القَادِمَ</a:t>
            </a:r>
            <a:pPr algn="l" indent="0" marL="0">
              <a:buNone/>
            </a:pPr>
            <a:r>
              <a:rPr lang="en-US" sz="1250" b="1" dirty="0">
                <a:solidFill>
                  <a:srgbClr val="1B3B6F"/>
                </a:solidFill>
                <a:latin typeface="Calibri" pitchFamily="34" charset="0"/>
                <a:cs typeface="Amiri" pitchFamily="2" charset="-78"/>
              </a:rPr>
              <a:t>. Which tense should you expect?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 habit</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أَتَدَرَّبُ</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سَأَتَدَرَّبُ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تَدَرَّبْتُ</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 with no prefix marks the past.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future?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سَنُشَارِكُ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شَارَكْنَا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نُشَارِكُ</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before a present verb marks the future.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عَادَةً</a:t>
            </a:r>
            <a:pPr algn="l" indent="0" marL="0">
              <a:buNone/>
            </a:pPr>
            <a:r>
              <a:rPr lang="en-US" sz="1250" b="1" dirty="0">
                <a:solidFill>
                  <a:srgbClr val="1B3B6F"/>
                </a:solidFill>
                <a:latin typeface="Calibri" pitchFamily="34" charset="0"/>
                <a:cs typeface="Amiri" pitchFamily="2" charset="-78"/>
              </a:rPr>
              <a:t>. Which tense should you expect?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Present habit</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Future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عَادَةً</a:t>
            </a:r>
            <a:pPr algn="l" indent="0" marL="0">
              <a:buNone/>
            </a:pPr>
            <a:r>
              <a:rPr lang="en-US" sz="1050" i="1" dirty="0">
                <a:solidFill>
                  <a:srgbClr val="8A6D1E"/>
                </a:solidFill>
                <a:latin typeface="Calibri" pitchFamily="34" charset="0"/>
                <a:cs typeface="Amiri" pitchFamily="2" charset="-78"/>
              </a:rPr>
              <a:t> introduces a habit, so the verb will be present.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الأُسْبُوعَ القَادِمَ</a:t>
            </a:r>
            <a:pPr algn="l" indent="0" marL="0">
              <a:buNone/>
            </a:pPr>
            <a:r>
              <a:rPr lang="en-US" sz="1250" b="1" dirty="0">
                <a:solidFill>
                  <a:srgbClr val="1B3B6F"/>
                </a:solidFill>
                <a:latin typeface="Calibri" pitchFamily="34" charset="0"/>
                <a:cs typeface="Amiri" pitchFamily="2" charset="-78"/>
              </a:rPr>
              <a:t>. Which tense should you expect?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Future</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Present habit</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future time phrase requires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or </a:t>
            </a:r>
            <a:pPr algn="l" indent="0" marL="0">
              <a:buNone/>
            </a:pPr>
            <a:r>
              <a:rPr lang="ar-SA" altLang="en-US" sz="1350" dirty="0">
                <a:solidFill>
                  <a:srgbClr val="8A6D1E"/>
                </a:solidFill>
                <a:latin typeface="Amiri" pitchFamily="2" charset="-78"/>
                <a:cs typeface="Amiri" pitchFamily="2" charset="-78"/>
              </a:rPr>
              <a:t>سَوْفَ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annotate, then listen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Read the question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مَاذَا حَدَثَ فِي العَامِ المَاضِي؟</a:t>
            </a:r>
            <a:endParaRPr lang="ar-SA" sz="19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year → P.</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Predict</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فِي العَامِ المَاضِي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Expect a past ending.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Hear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cs typeface="Amiri" pitchFamily="2" charset="-78"/>
              </a:rPr>
              <a:t>شَارَكْتُ</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0E7C86"/>
                </a:solidFill>
                <a:latin typeface="Amiri" pitchFamily="2" charset="-78"/>
                <a:cs typeface="Amiri" pitchFamily="2" charset="-78"/>
              </a:rPr>
              <a:t>فُزْتُ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prefix: past.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Reject</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cs typeface="Amiri" pitchFamily="2" charset="-78"/>
              </a:rPr>
              <a:t>سَأُشَارِكُ</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Future: wrong time.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NOW</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FUTURE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فِي الطُّفُولَةِ </a:t>
            </a:r>
            <a:pPr rtl="1" algn="r" indent="0" marL="0">
              <a:lnSpc>
                <a:spcPct val="120000"/>
              </a:lnSpc>
              <a:buNone/>
            </a:pPr>
            <a:r>
              <a:rPr lang="ar-SA" altLang="en-US" sz="1400" b="1" dirty="0">
                <a:solidFill>
                  <a:srgbClr val="0E7C86"/>
                </a:solidFill>
                <a:latin typeface="Amiri" pitchFamily="2" charset="-78"/>
                <a:cs typeface="Amiri" pitchFamily="2" charset="-78"/>
              </a:rPr>
              <a:t>كُنْتُ</a:t>
            </a:r>
            <a:pPr rtl="1" algn="r" indent="0" marL="0">
              <a:lnSpc>
                <a:spcPct val="120000"/>
              </a:lnSpc>
              <a:buNone/>
            </a:pPr>
            <a:r>
              <a:rPr lang="ar-SA" altLang="en-US" sz="1400" b="1" dirty="0">
                <a:solidFill>
                  <a:srgbClr val="1B3B6F"/>
                </a:solidFill>
                <a:latin typeface="Amiri" pitchFamily="2" charset="-78"/>
                <a:cs typeface="Amiri" pitchFamily="2" charset="-78"/>
              </a:rPr>
              <a:t> أَلْعَبُ كُرَةَ اليَدِ. وَفِي العَامِ المَاضِي </a:t>
            </a:r>
            <a:pPr rtl="1" algn="r" indent="0" marL="0">
              <a:lnSpc>
                <a:spcPct val="120000"/>
              </a:lnSpc>
              <a:buNone/>
            </a:pPr>
            <a:r>
              <a:rPr lang="ar-SA" altLang="en-US" sz="1400" b="1" dirty="0">
                <a:solidFill>
                  <a:srgbClr val="0E7C86"/>
                </a:solidFill>
                <a:latin typeface="Amiri" pitchFamily="2" charset="-78"/>
                <a:cs typeface="Amiri" pitchFamily="2" charset="-78"/>
              </a:rPr>
              <a:t>شَارَكْتُ</a:t>
            </a:r>
            <a:pPr rtl="1" algn="r" indent="0" marL="0">
              <a:lnSpc>
                <a:spcPct val="120000"/>
              </a:lnSpc>
              <a:buNone/>
            </a:pPr>
            <a:r>
              <a:rPr lang="ar-SA" altLang="en-US" sz="1400" b="1" dirty="0">
                <a:solidFill>
                  <a:srgbClr val="1B3B6F"/>
                </a:solidFill>
                <a:latin typeface="Amiri" pitchFamily="2" charset="-78"/>
                <a:cs typeface="Amiri" pitchFamily="2" charset="-78"/>
              </a:rPr>
              <a:t> فِي بُطُولَةٍ </a:t>
            </a:r>
            <a:pPr rtl="1" algn="r" indent="0" marL="0">
              <a:lnSpc>
                <a:spcPct val="120000"/>
              </a:lnSpc>
              <a:buNone/>
            </a:pPr>
            <a:r>
              <a:rPr lang="ar-SA" altLang="en-US" sz="1400" b="1" dirty="0">
                <a:solidFill>
                  <a:srgbClr val="0E7C86"/>
                </a:solidFill>
                <a:latin typeface="Amiri" pitchFamily="2" charset="-78"/>
                <a:cs typeface="Amiri" pitchFamily="2" charset="-78"/>
              </a:rPr>
              <a:t>وَفُزْتُ</a:t>
            </a:r>
            <a:pPr rtl="1" algn="r" indent="0" marL="0">
              <a:lnSpc>
                <a:spcPct val="120000"/>
              </a:lnSpc>
              <a:buNone/>
            </a:pPr>
            <a:r>
              <a:rPr lang="ar-SA" altLang="en-US" sz="1400" b="1" dirty="0">
                <a:solidFill>
                  <a:srgbClr val="1B3B6F"/>
                </a:solidFill>
                <a:latin typeface="Amiri" pitchFamily="2" charset="-78"/>
                <a:cs typeface="Amiri" pitchFamily="2" charset="-78"/>
              </a:rPr>
              <a:t> بِمِيدَالِيَةٍ فِضِّيَّةٍ. أَمَّا الآنَ </a:t>
            </a:r>
            <a:pPr rtl="1" algn="r" indent="0" marL="0">
              <a:lnSpc>
                <a:spcPct val="120000"/>
              </a:lnSpc>
              <a:buNone/>
            </a:pPr>
            <a:r>
              <a:rPr lang="ar-SA" altLang="en-US" sz="1400" b="1" dirty="0">
                <a:solidFill>
                  <a:srgbClr val="D6336C"/>
                </a:solidFill>
                <a:latin typeface="Amiri" pitchFamily="2" charset="-78"/>
                <a:cs typeface="Amiri" pitchFamily="2" charset="-78"/>
              </a:rPr>
              <a:t>فَأَتَدَرَّبُ</a:t>
            </a:r>
            <a:pPr rtl="1" algn="r" indent="0" marL="0">
              <a:lnSpc>
                <a:spcPct val="120000"/>
              </a:lnSpc>
              <a:buNone/>
            </a:pPr>
            <a:r>
              <a:rPr lang="ar-SA" altLang="en-US" sz="1400" b="1" dirty="0">
                <a:solidFill>
                  <a:srgbClr val="1B3B6F"/>
                </a:solidFill>
                <a:latin typeface="Amiri" pitchFamily="2" charset="-78"/>
                <a:cs typeface="Amiri" pitchFamily="2" charset="-78"/>
              </a:rPr>
              <a:t> عَادَةً أَرْبَعَ مَرَّاتٍ فِي الأُسْبُوعِ. وَالأُسْبُوعَ القَادِمَ </a:t>
            </a:r>
            <a:pPr rtl="1" algn="r" indent="0" marL="0">
              <a:lnSpc>
                <a:spcPct val="120000"/>
              </a:lnSpc>
              <a:buNone/>
            </a:pPr>
            <a:r>
              <a:rPr lang="ar-SA" altLang="en-US" sz="1400" b="1" dirty="0">
                <a:solidFill>
                  <a:srgbClr val="1D5FBF"/>
                </a:solidFill>
                <a:latin typeface="Amiri" pitchFamily="2" charset="-78"/>
                <a:cs typeface="Amiri" pitchFamily="2" charset="-78"/>
              </a:rPr>
              <a:t>سَأُشَارِكُ</a:t>
            </a:r>
            <a:pPr rtl="1" algn="r" indent="0" marL="0">
              <a:lnSpc>
                <a:spcPct val="120000"/>
              </a:lnSpc>
              <a:buNone/>
            </a:pPr>
            <a:r>
              <a:rPr lang="ar-SA" altLang="en-US" sz="1400" b="1" dirty="0">
                <a:solidFill>
                  <a:srgbClr val="1B3B6F"/>
                </a:solidFill>
                <a:latin typeface="Amiri" pitchFamily="2" charset="-78"/>
                <a:cs typeface="Amiri" pitchFamily="2" charset="-78"/>
              </a:rPr>
              <a:t> فِي مُبَارَاةٍ وَدِّيَّةٍ.</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In childhood I used to play handball. Last year I took part in a championship and won a silver medal. Now I usually train four times a week. Next week I will take part in a friendly match.</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تَدَرَّبْتُ أَمْسِ</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trained yesterday</a:t>
            </a:r>
            <a:endParaRPr lang="en-US" sz="1250" dirty="0"/>
          </a:p>
          <a:p>
            <a:pPr indent="0" marL="0">
              <a:buNone/>
            </a:pPr>
            <a:r>
              <a:rPr lang="en-US" sz="1050" i="1" dirty="0">
                <a:solidFill>
                  <a:srgbClr val="8A6D1E"/>
                </a:solidFill>
                <a:latin typeface="Calibri" pitchFamily="34" charset="0"/>
                <a:cs typeface="Amiri" pitchFamily="2" charset="-78"/>
              </a:rPr>
              <a:t>No prefix, and the tense information is at the end.</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أَتَدَرَّبُ عَادَةً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usually train</a:t>
            </a:r>
            <a:endParaRPr lang="en-US" sz="1250" dirty="0"/>
          </a:p>
          <a:p>
            <a:pPr indent="0" marL="0">
              <a:buNone/>
            </a:pPr>
            <a:r>
              <a:rPr lang="en-US" sz="1050" i="1" dirty="0">
                <a:solidFill>
                  <a:srgbClr val="8A6D1E"/>
                </a:solidFill>
                <a:latin typeface="Calibri" pitchFamily="34" charset="0"/>
                <a:cs typeface="Amiri" pitchFamily="2" charset="-78"/>
              </a:rPr>
              <a:t>A prefix plus عَادَةً signals a present habit.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سَأَتَدَرَّبُ غَدًا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train tomorrow</a:t>
            </a:r>
            <a:endParaRPr lang="en-US" sz="1250" dirty="0"/>
          </a:p>
          <a:p>
            <a:pPr indent="0" marL="0">
              <a:buNone/>
            </a:pPr>
            <a:r>
              <a:rPr lang="en-US" sz="1050" i="1" dirty="0">
                <a:solidFill>
                  <a:srgbClr val="8A6D1E"/>
                </a:solidFill>
                <a:latin typeface="Calibri" pitchFamily="34" charset="0"/>
                <a:cs typeface="Amiri" pitchFamily="2" charset="-78"/>
              </a:rPr>
              <a:t>The سَـ is short but decisive.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شَارَكْتُ فِي البُطُولَةِ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فَازَ بِالمِيدَالِيَةِ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حَضَرْنَا المُبَارَاةَ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أَتَدَرَّبُ عَادَةً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يَلْعَبُ كُلَّ يَوْمٍ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نُمَارِسُ السِّبَاحَةَ أُسْبُوعِيًّا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سَأُشَارِكُ غَدًا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نَحْضُرُ النِّهَائِيَّ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سَيَعْتَزِلُ قَرِيبًا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habit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Past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شَارَكْتُ فِي البُطُولَةِ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فَازَ بِالمِيدَالِيَةِ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حَضَرْنَا المُبَارَاةَ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Present habit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أَتَدَرَّبُ عَادَةً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يَلْعَبُ كُلَّ يَوْمٍ</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نُمَارِسُ السِّبَاحَةَ أُسْبُوعِيًّا</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سَأُشَارِكُ غَدًا</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سَوْفَ نَحْضُرُ النِّهَائِيَّ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سَيَعْتَزِلُ قَرِيبًا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text says </a:t>
            </a:r>
            <a:pPr algn="l" indent="0" marL="0">
              <a:buNone/>
            </a:pPr>
            <a:r>
              <a:rPr lang="ar-SA" altLang="en-US" sz="1650" b="1" dirty="0">
                <a:solidFill>
                  <a:srgbClr val="1B3B6F"/>
                </a:solidFill>
                <a:latin typeface="Amiri" pitchFamily="2" charset="-78"/>
                <a:cs typeface="Amiri" pitchFamily="2" charset="-78"/>
              </a:rPr>
              <a:t>فَازَ بِالبُطُولَةِ</a:t>
            </a:r>
            <a:pPr algn="l" indent="0" marL="0">
              <a:buNone/>
            </a:pPr>
            <a:r>
              <a:rPr lang="en-US" sz="1250" b="1" dirty="0">
                <a:solidFill>
                  <a:srgbClr val="1B3B6F"/>
                </a:solidFill>
                <a:latin typeface="Calibri" pitchFamily="34" charset="0"/>
                <a:cs typeface="Amiri" pitchFamily="2" charset="-78"/>
              </a:rPr>
              <a:t>. Which option matches?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will win the championship.</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usually wins the championship.</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won the championship.</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text says </a:t>
            </a:r>
            <a:pPr algn="l" indent="0" marL="0">
              <a:buNone/>
            </a:pPr>
            <a:r>
              <a:rPr lang="ar-SA" altLang="en-US" sz="1650" b="1" dirty="0">
                <a:solidFill>
                  <a:srgbClr val="1B3B6F"/>
                </a:solidFill>
                <a:latin typeface="Amiri" pitchFamily="2" charset="-78"/>
                <a:cs typeface="Amiri" pitchFamily="2" charset="-78"/>
              </a:rPr>
              <a:t>كَانَ يَتَدَرَّبُ كُلَّ يَوْمٍ</a:t>
            </a:r>
            <a:pPr algn="l" indent="0" marL="0">
              <a:buNone/>
            </a:pPr>
            <a:r>
              <a:rPr lang="en-US" sz="1250" b="1" dirty="0">
                <a:solidFill>
                  <a:srgbClr val="1B3B6F"/>
                </a:solidFill>
                <a:latin typeface="Calibri" pitchFamily="34" charset="0"/>
                <a:cs typeface="Amiri" pitchFamily="2" charset="-78"/>
              </a:rPr>
              <a:t>. What does it mean?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trains every day now.</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used to train every day.</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will train every day.</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tells you the speaker is talking about herself?</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ـَتْ</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ـُوا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safest first step before the audio starts?</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every option into English.</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 the transcript first.</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Mark each question with the tense it targets.</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text says </a:t>
            </a:r>
            <a:pPr algn="l" indent="0" marL="0">
              <a:buNone/>
            </a:pPr>
            <a:r>
              <a:rPr lang="ar-SA" altLang="en-US" sz="1650" b="1" dirty="0">
                <a:solidFill>
                  <a:srgbClr val="1B3B6F"/>
                </a:solidFill>
                <a:latin typeface="Amiri" pitchFamily="2" charset="-78"/>
                <a:cs typeface="Amiri" pitchFamily="2" charset="-78"/>
              </a:rPr>
              <a:t>فَازَ بِالبُطُولَةِ</a:t>
            </a:r>
            <a:pPr algn="l" indent="0" marL="0">
              <a:buNone/>
            </a:pPr>
            <a:r>
              <a:rPr lang="en-US" sz="1250" b="1" dirty="0">
                <a:solidFill>
                  <a:srgbClr val="1B3B6F"/>
                </a:solidFill>
                <a:latin typeface="Calibri" pitchFamily="34" charset="0"/>
                <a:cs typeface="Amiri" pitchFamily="2" charset="-78"/>
              </a:rPr>
              <a:t>. Which option matches?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will win the championship.</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usually wins the championship.</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won the championship.</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فَازَ</a:t>
            </a:r>
            <a:pPr algn="l" indent="0" marL="0">
              <a:buNone/>
            </a:pPr>
            <a:r>
              <a:rPr lang="en-US" sz="1050" i="1" dirty="0">
                <a:solidFill>
                  <a:srgbClr val="8A6D1E"/>
                </a:solidFill>
                <a:latin typeface="Calibri" pitchFamily="34" charset="0"/>
                <a:cs typeface="Amiri" pitchFamily="2" charset="-78"/>
              </a:rPr>
              <a:t> is past, so only the completed action matches.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text says </a:t>
            </a:r>
            <a:pPr algn="l" indent="0" marL="0">
              <a:buNone/>
            </a:pPr>
            <a:r>
              <a:rPr lang="ar-SA" altLang="en-US" sz="1650" b="1" dirty="0">
                <a:solidFill>
                  <a:srgbClr val="1B3B6F"/>
                </a:solidFill>
                <a:latin typeface="Amiri" pitchFamily="2" charset="-78"/>
                <a:cs typeface="Amiri" pitchFamily="2" charset="-78"/>
              </a:rPr>
              <a:t>كَانَ يَتَدَرَّبُ كُلَّ يَوْمٍ</a:t>
            </a:r>
            <a:pPr algn="l" indent="0" marL="0">
              <a:buNone/>
            </a:pPr>
            <a:r>
              <a:rPr lang="en-US" sz="1250" b="1" dirty="0">
                <a:solidFill>
                  <a:srgbClr val="1B3B6F"/>
                </a:solidFill>
                <a:latin typeface="Calibri" pitchFamily="34" charset="0"/>
                <a:cs typeface="Amiri" pitchFamily="2" charset="-78"/>
              </a:rPr>
              <a:t>. What does it mean?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trains every day now.</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used to train every day.</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will train every day.</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 describes a past habit.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tells you the speaker is talking about herself?</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ـَتْ</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ـْتُ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ـُوا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 is the </a:t>
            </a:r>
            <a:pPr algn="l" indent="0" marL="0">
              <a:buNone/>
            </a:pPr>
            <a:r>
              <a:rPr lang="ar-SA" altLang="en-US" sz="1350" dirty="0">
                <a:solidFill>
                  <a:srgbClr val="8A6D1E"/>
                </a:solidFill>
                <a:latin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suffix.</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safest first step before the audio starts?</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every option into English.</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 the transcript first.</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Mark each question with the tense it targets.</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Predicting the tense tells you exactly which verb form to listen for.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أَمْسِ يَتَدَرَّبُ فِي النَّادِي.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Yesterday → which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غَدًا فَازَ بِالبُطُولَةِ.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Tomorrow → which marker?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فِي الطُّفُولَةِ كَانَ لَعِبَ كُرَةَ اليَدِ.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Used to → kāna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أَمْسِ يَتَدَرَّبُ فِي النَّادِي.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أَمْسِ تَدَرَّبَ فِي النَّادِي.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Yesterday needs a past verb (no prefix).</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غَدًا فَازَ بِالبُطُولَةِ.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غَدًا سَيَفُوزُ بِالبُطُولَةِ.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Tomorrow needs sa- + present.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فِي الطُّفُولَةِ كَانَ لَعِبَ كُرَةَ اليَدِ.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فِي الطُّفُولَةِ كَانَ يَلْعَبُ كُرَةَ اليَدِ.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Used to = kāna + PRESENT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an athlete across three tenses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speaker do in childhood?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Used to play handball at school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Trained four times a week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Coached children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Won a gold medal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Retired from sport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Won a silver medal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speaker train now?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week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 times a week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next week?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friendly match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championship final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training camp</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long-term intention?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move abroad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coach children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stop competing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Mark P / N / F first.</a:t>
            </a:r>
            <a:endParaRPr lang="en-US" sz="1250" dirty="0"/>
          </a:p>
          <a:p>
            <a:pPr algn="l" indent="0" marL="0">
              <a:buNone/>
            </a:pPr>
            <a:r>
              <a:rPr lang="en-US" sz="1250" dirty="0">
                <a:solidFill>
                  <a:srgbClr val="1E6B52"/>
                </a:solidFill>
                <a:latin typeface="Calibri" pitchFamily="34" charset="0"/>
                <a:cs typeface="Amiri" pitchFamily="2" charset="-78"/>
              </a:rPr>
              <a:t>Core: questions 1, 2 and 3.</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الطُّفُولَةِ كُنْتُ أَلْعَبُ كُرَةَ اليَدِ فِي المَدْرَسَةِ، وَكَانَ مُدَرِّبِي يُشَجِّعُنِي كَثِيرًا.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childhood I used to play handball at school, and my coach encouraged me a lot.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العَامِ المَاضِي شَارَكْتُ فِي بُطُولَةٍ كَبِيرَةٍ وَفُزْتُ بِمِيدَالِيَةٍ فِضِّيَّةٍ.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year I took part in a big championship and won a silver medal.</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الآنَ فَأَتَدَرَّبُ عَادَةً أَرْبَعَ مَرَّاتٍ فِي الأُسْبُوعِ، وَأُفَضِّلُ التَّدْرِيبَ الصَّبَاحِيَّ.</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now, I usually train four times a week, and I prefer morning training.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وَفِي رَأْيِي الرِّيَاضَةُ تُعَلِّمُ الصَّبْرَ وَالعَمَلَ الجَمَاعِيَّ.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my opinion sport teaches patience and teamwork.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وَالأُسْبُوعَ القَادِمَ سَأُشَارِكُ فِي مُبَارَاةٍ وَدِّيَّةٍ، وَسَوْفَ أُحَاوِلُ أَنْ أُحَسِّنَ نَتِيجَتِي. وَبَعْدَ سَنَوَاتٍ أَنْوِي أَنْ أُدَرِّبَ الأَطْفَالَ.</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week I will take part in a friendly match and will try to improve my result. In years to come I intend to coach children.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speaker do in childhood?</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Used to play handball at school</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Trained four times a week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Coached children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كُنْتُ أَلْعَبُ كُرَةَ اليَدِ فِي المَدْرَسَةِ</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Won a gold medal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Retired from sport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Won a silver medal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فُزْتُ بِمِيدَالِيَةٍ فِضِّيَّةٍ.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the speaker train now?</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Twice a week</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 times a week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أَتَدَرَّبُ عَادَةً أَرْبَعَ مَرَّاتٍ فِي الأُسْبُوعِ.</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next week?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friendly match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championship final</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training camp</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الأُسْبُوعَ القَادِمَ سَأُشَارِكُ فِي مُبَارَاةٍ وَدِّيَّةٍ.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long-term intention?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move abroad</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coach children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stop competing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أَنْوِي أَنْ أُدَرِّبَ الأَطْفَالَ.</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Mark P / N / F first.</a:t>
            </a:r>
            <a:endParaRPr lang="en-US" sz="1250" dirty="0"/>
          </a:p>
          <a:p>
            <a:pPr algn="l" indent="0" marL="0">
              <a:buNone/>
            </a:pPr>
            <a:r>
              <a:rPr lang="en-US" sz="1250" dirty="0">
                <a:solidFill>
                  <a:srgbClr val="1E6B52"/>
                </a:solidFill>
                <a:latin typeface="Calibri" pitchFamily="34" charset="0"/>
                <a:cs typeface="Amiri" pitchFamily="2" charset="-78"/>
              </a:rPr>
              <a:t>Core: questions 1, 2 and 3.</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retell what you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فَعَلَ المُتَحَدِّثُ فِي الطُّفُولَةِ؟ وَمَاذَا فَعَلَ فِي العَامِ المَاضِي؟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يَفْعَلُ الآنَ عَادَةً؟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خُطَطُهُ لِلْمُسْتَقْبَلِ؟ اِسْتَعْمِلْ سَـ أَوْ سَوْفَ.</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D5FBF"/>
                </a:solidFill>
                <a:latin typeface="Amiri" pitchFamily="2" charset="-78"/>
                <a:cs typeface="Amiri" pitchFamily="2" charset="-78"/>
              </a:rPr>
              <a:t>فِي الطُّفُولَةِ كَانَ ___ ، وَفِي العَامِ المَاضِي ___ .</a:t>
            </a:r>
            <a:endParaRPr lang="ar-SA" sz="12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الآنَ يَتَدَرَّبُ عَادَةً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F2A37"/>
                </a:solidFill>
                <a:latin typeface="Amiri" pitchFamily="2" charset="-78"/>
                <a:cs typeface="Amiri" pitchFamily="2" charset="-78"/>
              </a:rPr>
              <a:t>الأُسْبُوعَ القَادِمَ سَـ ___ ، وَبَعْدَ سَنَوَاتٍ يَنْوِي أَنْ ___ .</a:t>
            </a:r>
            <a:endParaRPr lang="ar-SA" sz="11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فَعَلَ المُتَحَدِّثُ فِي العَامِ المَاضِي؟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did the speaker do last year?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شَارَكَ فِي بُطُولَةٍ كَبِيرَةٍ وَفَازَ بِمِيدَالِيَةٍ فِضِّيَّةٍ.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 took part in a big championship and won a silver medal.</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Sort ten verbs from the text into past, present and future.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past, two present, two future sentences about the speaker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Answer the comprehension questions and justify two answers from the verb form.</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summary in the third person with كَانَ + present.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Rewrite three sentences of the transcript in a different tense and explain what changes.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summarise the text keeping every verb in the tense it used.</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 مُدَرِّبُهُ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coach used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يُفَضِّلُ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prefers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يَرَى أَنَّ الرِّيَاضَةَ تُعَلِّمُ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thinks that sport teaches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يَنْوِي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intends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الطُّفُولَةِ كَانَ يَلْعَبُ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childhood he used to play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العَامِ المَاضِي فَازَ بِـ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year he won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الآنَ يَتَدَرَّبُ عَادَةً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Now he usually trains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الأُسْبُوعَ القَادِمَ سَيُشَارِكُ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week he will take part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كَانَ يَلْعَبُ  ·  شَارَكَ فِي  ·  فَازَ بِـ  ·  يَتَدَرَّبُ  ·  عَادَةً  ·  أَرْبَعَ مَرَّاتٍ  ·  يُفَضِّلُ  ·  سَيُشَارِكُ  ·  سَوْفَ يُحَاوِلُ  ·  يَنْوِي أَنْ  ·  الأُسْبُوعَ القَادِمَ  ·  بَعْدَ سَنَوَاتٍ</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seventy words summarising the listening text. Report what the speaker did in the past, what they do now and what they will do, keeping each verb in the tense the text used.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three past verbs with accurate suffixes.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present verbs describing a habit.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future verb with </a:t>
            </a:r>
            <a:pPr algn="l" indent="0" marL="0">
              <a:buNone/>
            </a:pPr>
            <a:r>
              <a:rPr lang="ar-SA" altLang="en-US" sz="1550" dirty="0">
                <a:solidFill>
                  <a:srgbClr val="1F2A37"/>
                </a:solidFill>
                <a:latin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سَوْفَ</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plus present construction for a past habit.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 مُدَرِّبُهُ يُشَجِّعُهُ كَثِيرًا</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coach used to encourage him a lot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فَازَ بِمِيدَالِيَةٍ فِضِّيَّةٍ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won a silver medal</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يُفَضِّلُ التَّدْرِيبَ الصَّبَاحِيَّ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prefers morning training</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سَوْفَ يُحَاوِلُ أَنْ يُحَسِّنَ نَتِيجَتَهُ</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will try to improve his result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يَنْوِي أَنْ يُدَرِّبَ الأَطْفَالَ</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intends to coach children</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الطُّفُولَةِ كَانَ المُتَحَدِّثُ يَلْعَبُ كُرَةَ اليَدِ فِي المَدْرَسَةِ، وَكَانَ مُدَرِّبُهُ يُشَجِّعُهُ كَثِيرًا. وَفِي العَامِ المَاضِي شَارَكَ فِي بُطُولَةٍ كَبِيرَةٍ وَفَازَ بِمِيدَالِيَةٍ فِضِّيَّةٍ. أَمَّا الآنَ فَيَتَدَرَّبُ عَادَةً أَرْبَعَ مَرَّاتٍ فِي الأُسْبُوعِ، وَيُفَضِّلُ التَّدْرِيبَ الصَّبَاحِيَّ. وَيَرَى أَنَّ الرِّيَاضَةَ تُعَلِّمُ الصَّبْرَ. وَالأُسْبُوعَ القَادِمَ سَيُشَارِكُ فِي مُبَارَاةٍ وَدِّيَّةٍ، وَسَوْفَ يُحَاوِلُ أَنْ يُحَسِّنَ نَتِيجَتَهُ.</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childhood the speaker used to play handball at school, and his coach encouraged him a lot. Last year he took part in a big championship and won a silver medal. As for now, he usually trains four times a week and prefers morning training. He thinks sport teaches patience. Next week he will take part in a friendly match, and he will try to improve his result.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كَانَ + present (twice)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past verbs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present habit verbs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future verbs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marked every question P / N / F before listening.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past verbs have no prefix.</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t>
            </a:r>
            <a:pPr algn="l" indent="0" marL="0">
              <a:buNone/>
            </a:pPr>
            <a:r>
              <a:rPr lang="ar-SA" altLang="en-US" sz="1700" dirty="0">
                <a:solidFill>
                  <a:srgbClr val="1F2A37"/>
                </a:solidFill>
                <a:latin typeface="Amiri" pitchFamily="2" charset="-78"/>
                <a:cs typeface="Amiri" pitchFamily="2" charset="-78"/>
              </a:rPr>
              <a:t>كَانَ</a:t>
            </a:r>
            <a:pPr algn="l" indent="0" marL="0">
              <a:buNone/>
            </a:pPr>
            <a:r>
              <a:rPr lang="en-US" sz="1300" dirty="0">
                <a:solidFill>
                  <a:srgbClr val="1F2A37"/>
                </a:solidFill>
                <a:latin typeface="Calibri" pitchFamily="34" charset="0"/>
                <a:cs typeface="Amiri" pitchFamily="2" charset="-78"/>
              </a:rPr>
              <a:t> + present for “used to”.</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switched “I” to “he” correctly.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verb in my summary keeps the tense of the text.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حَضَرْنَا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نَحْضُرُ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سَنَحْضُرُ</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غَدًا</a:t>
            </a:r>
            <a:pPr algn="l" indent="0" marL="0">
              <a:buNone/>
            </a:pPr>
            <a:r>
              <a:rPr lang="en-US" sz="1250" b="1" dirty="0">
                <a:solidFill>
                  <a:srgbClr val="1B3B6F"/>
                </a:solidFill>
                <a:latin typeface="Calibri" pitchFamily="34" charset="0"/>
                <a:cs typeface="Amiri" pitchFamily="2" charset="-78"/>
              </a:rPr>
              <a:t>. Which form should follow?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شَارَكَ</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سَيُشَارِكُ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يُشَارِكُ</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 يُشَجِّعُ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used to encourage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encourages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will encourage</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past?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حَضَرْنَا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نَحْضُرُ</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سَنَحْضُرُ</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suffix with no prefix marks the past.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غَدًا</a:t>
            </a:r>
            <a:pPr algn="l" indent="0" marL="0">
              <a:buNone/>
            </a:pPr>
            <a:r>
              <a:rPr lang="en-US" sz="1250" b="1" dirty="0">
                <a:solidFill>
                  <a:srgbClr val="1B3B6F"/>
                </a:solidFill>
                <a:latin typeface="Calibri" pitchFamily="34" charset="0"/>
                <a:cs typeface="Amiri" pitchFamily="2" charset="-78"/>
              </a:rPr>
              <a:t>. Which form should follow?</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شَارَكَ</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سَيُشَارِكُ</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كَانَ يُشَارِكُ</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غَدًا</a:t>
            </a:r>
            <a:pPr algn="l" indent="0" marL="0">
              <a:buNone/>
            </a:pPr>
            <a:r>
              <a:rPr lang="en-US" sz="1050" i="1" dirty="0">
                <a:solidFill>
                  <a:srgbClr val="8A6D1E"/>
                </a:solidFill>
                <a:latin typeface="Calibri" pitchFamily="34" charset="0"/>
                <a:cs typeface="Amiri" pitchFamily="2" charset="-78"/>
              </a:rPr>
              <a:t> requires the future.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 يُشَجِّعُ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used to encourage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encourages</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will encourage</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 is a past habit.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the transcript, annotated for tense</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اِقْرَأِ النَّصَّ وَحَدِّدْ زَمَنَ كُلِّ فِعْلٍ. فِي الصَّيْفِ المَاضِي حَضَرْنَا مِهْرَجَانًا رِيَاضِيًّا فِي المَدِينَةِ. شَارَكَ فِيهِ لَاعِبُونَ مِنْ مَدَارِسَ كَثِيرَةٍ، وَفَازَ فَرِيقُنَا بِالمَرْكَزِ الثَّانِي. وَكَانَ الجُمْهُورُ يُشَجِّعُ بِحَمَاسٍ طَوَالَ اليَوْمِ. أَمَّا الآنَ فَنَتَدَرَّبُ عَادَةً مَرَّتَيْنِ فِي الأُسْبُوعِ اسْتِعْدَادًا لِلْمَوْسِمِ الجَدِيدِ. وَفِي الشَّهْرِ القَادِمِ سَوْفَ نُشَارِكُ فِي بُطُولَةٍ أُخْرَى، وَنَتَمَنَّى أَنْ نَفُوزَ بِالمَرْكَزِ الأَوَّلِ هٰذِهِ المَرَّةَ.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حَدِّدْ زَمَنَ كُلِّ فِعْلٍ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identify the tense of each verb</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مِهْرَجَانًا رِيَاضِيًّا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sports festival</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المَرْكَزِ الثَّانِي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second place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الجُمْهُورُ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crowd</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بِحَمَاسٍ</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enthusiastically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طَوَالَ اليَوْمِ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all day long</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اسْتِعْدَادًا لِـ</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preparing for</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المَوْسِمِ الجَدِيدِ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new season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الشَّهْرِ القَادِمِ</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next month</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نَتَمَنَّى أَنْ نَفُوزَ</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hope to win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is </a:t>
            </a:r>
            <a:pPr algn="l" indent="0" marL="0">
              <a:buNone/>
            </a:pPr>
            <a:r>
              <a:rPr lang="ar-SA" altLang="en-US" sz="1650" b="1" dirty="0">
                <a:solidFill>
                  <a:srgbClr val="1B3B6F"/>
                </a:solidFill>
                <a:latin typeface="Amiri" pitchFamily="2" charset="-78"/>
                <a:cs typeface="Amiri" pitchFamily="2" charset="-78"/>
              </a:rPr>
              <a:t>حَضَرْنَا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position did the team take?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First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Third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Second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 الجُمْهُورُ يُشَجِّعُ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audience was cheering</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audience will cheer</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audience cheers now</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is </a:t>
            </a:r>
            <a:pPr algn="l" indent="0" marL="0">
              <a:buNone/>
            </a:pPr>
            <a:r>
              <a:rPr lang="ar-SA" altLang="en-US" sz="1650" b="1" dirty="0">
                <a:solidFill>
                  <a:srgbClr val="1B3B6F"/>
                </a:solidFill>
                <a:latin typeface="Amiri" pitchFamily="2" charset="-78"/>
                <a:cs typeface="Amiri" pitchFamily="2" charset="-78"/>
              </a:rPr>
              <a:t>نَتَدَرَّبُ عَادَةً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 habit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planned for next month?</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Another championship</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friendly match</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training break</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is </a:t>
            </a:r>
            <a:pPr algn="l" indent="0" marL="0">
              <a:buNone/>
            </a:pPr>
            <a:r>
              <a:rPr lang="ar-SA" altLang="en-US" sz="1650" b="1" dirty="0">
                <a:solidFill>
                  <a:srgbClr val="1B3B6F"/>
                </a:solidFill>
                <a:latin typeface="Amiri" pitchFamily="2" charset="-78"/>
                <a:cs typeface="Amiri" pitchFamily="2" charset="-78"/>
              </a:rPr>
              <a:t>حَضَرْنَا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Present</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Past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Future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cs typeface="Amiri" pitchFamily="2" charset="-78"/>
              </a:rPr>
              <a:t>ـنَا</a:t>
            </a:r>
            <a:pPr algn="l" indent="0" marL="0">
              <a:buNone/>
            </a:pPr>
            <a:r>
              <a:rPr lang="en-US" sz="1050" i="1" dirty="0">
                <a:solidFill>
                  <a:srgbClr val="8A6D1E"/>
                </a:solidFill>
                <a:latin typeface="Calibri" pitchFamily="34" charset="0"/>
                <a:cs typeface="Amiri" pitchFamily="2" charset="-78"/>
              </a:rPr>
              <a:t> suffix with no prefix marks the past.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position did the team take?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First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Third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Second</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فَازَ فَرِيقُنَا بِالمَرْكَزِ الثَّانِي.</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كَانَ الجُمْهُورُ يُشَجِّعُ</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audience was cheering</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audience will cheer</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audience cheers now</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 describes an ongoing past action.</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is </a:t>
            </a:r>
            <a:pPr algn="l" indent="0" marL="0">
              <a:buNone/>
            </a:pPr>
            <a:r>
              <a:rPr lang="ar-SA" altLang="en-US" sz="1650" b="1" dirty="0">
                <a:solidFill>
                  <a:srgbClr val="1B3B6F"/>
                </a:solidFill>
                <a:latin typeface="Amiri" pitchFamily="2" charset="-78"/>
                <a:cs typeface="Amiri" pitchFamily="2" charset="-78"/>
              </a:rPr>
              <a:t>نَتَدَرَّبُ عَادَةً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Present habit</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Future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prefix plus </a:t>
            </a:r>
            <a:pPr algn="l" indent="0" marL="0">
              <a:buNone/>
            </a:pPr>
            <a:r>
              <a:rPr lang="ar-SA" altLang="en-US" sz="1350" dirty="0">
                <a:solidFill>
                  <a:srgbClr val="8A6D1E"/>
                </a:solidFill>
                <a:latin typeface="Amiri" pitchFamily="2" charset="-78"/>
                <a:cs typeface="Amiri" pitchFamily="2" charset="-78"/>
              </a:rPr>
              <a:t>عَادَةً</a:t>
            </a:r>
            <a:pPr algn="l" indent="0" marL="0">
              <a:buNone/>
            </a:pPr>
            <a:r>
              <a:rPr lang="en-US" sz="1050" i="1" dirty="0">
                <a:solidFill>
                  <a:srgbClr val="8A6D1E"/>
                </a:solidFill>
                <a:latin typeface="Calibri" pitchFamily="34" charset="0"/>
                <a:cs typeface="Amiri" pitchFamily="2" charset="-78"/>
              </a:rPr>
              <a:t> marks a present habit.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planned for next month?</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Another championship</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friendly match</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training break</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الشَّهْرِ القَادِمِ سَوْفَ نُشَارِكُ فِي بُطُولَةٍ أُخْرَى.</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Listening Mission — Hearing the Tense</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أَفُوزُ</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فُزْتُ</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سَأَفُوزُ</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future?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سَوْفَ نَحْضُرُ</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حَضَرْنَا</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نَحْضُرُ</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past habit?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تَدَرَّبَ</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يَتَدَرَّبُ</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يَتَدَرَّبُ</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عَادَةً</a:t>
            </a:r>
            <a:pPr algn="l" indent="0" marL="0">
              <a:buNone/>
            </a:pPr>
            <a:r>
              <a:rPr lang="en-US" sz="1250" b="1" dirty="0">
                <a:solidFill>
                  <a:srgbClr val="1B3B6F"/>
                </a:solidFill>
                <a:latin typeface="Calibri" pitchFamily="34" charset="0"/>
                <a:cs typeface="Amiri" pitchFamily="2" charset="-78"/>
              </a:rPr>
              <a:t>. Which verb fits?</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شَارَكْتُ</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سَأُشَارِكُ</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أُشَارِكُ</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“took part in”?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شَارَكَ فِي</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اِعْتَزَلَ</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أَعَادَ</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suffix marks </a:t>
            </a:r>
            <a:pPr algn="l" indent="0" marL="0">
              <a:buNone/>
            </a:pPr>
            <a:r>
              <a:rPr lang="ar-SA" altLang="en-US" sz="1650" b="1" dirty="0">
                <a:solidFill>
                  <a:srgbClr val="1B3B6F"/>
                </a:solidFill>
                <a:latin typeface="Amiri" pitchFamily="2" charset="-78"/>
                <a:cs typeface="Amiri" pitchFamily="2" charset="-78"/>
              </a:rPr>
              <a:t>أَنْتِ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ـْتَ</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ـْتِ</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ـْتُ</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past?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أَفُوزُ</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فُزْتُ</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سَأَفُوزُ</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 suffix with no prefix marks the past.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future?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سَوْفَ نَحْضُرُ</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حَضَرْنَا</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نَحْضُرُ</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سَوْفَ</a:t>
            </a:r>
            <a:pPr algn="l" indent="0" marL="0">
              <a:buNone/>
            </a:pPr>
            <a:r>
              <a:rPr lang="en-US" sz="1050" i="1" dirty="0">
                <a:solidFill>
                  <a:srgbClr val="8A6D1E"/>
                </a:solidFill>
                <a:latin typeface="Calibri" pitchFamily="34" charset="0"/>
                <a:cs typeface="Amiri" pitchFamily="2" charset="-78"/>
              </a:rPr>
              <a:t> marks the future.</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past habit?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تَدَرَّبَ</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يَتَدَرَّبُ</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 يَتَدَرَّبُ</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كَانَ</a:t>
            </a:r>
            <a:pPr algn="l" indent="0" marL="0">
              <a:buNone/>
            </a:pPr>
            <a:r>
              <a:rPr lang="en-US" sz="1050" i="1" dirty="0">
                <a:solidFill>
                  <a:srgbClr val="8A6D1E"/>
                </a:solidFill>
                <a:latin typeface="Calibri" pitchFamily="34" charset="0"/>
                <a:cs typeface="Amiri" pitchFamily="2" charset="-78"/>
              </a:rPr>
              <a:t> plus a present verb is a past habit.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hear </a:t>
            </a:r>
            <a:pPr algn="l" indent="0" marL="0">
              <a:buNone/>
            </a:pPr>
            <a:r>
              <a:rPr lang="ar-SA" altLang="en-US" sz="1650" b="1" dirty="0">
                <a:solidFill>
                  <a:srgbClr val="1B3B6F"/>
                </a:solidFill>
                <a:latin typeface="Amiri" pitchFamily="2" charset="-78"/>
                <a:cs typeface="Amiri" pitchFamily="2" charset="-78"/>
              </a:rPr>
              <a:t>عَادَةً</a:t>
            </a:r>
            <a:pPr algn="l" indent="0" marL="0">
              <a:buNone/>
            </a:pPr>
            <a:r>
              <a:rPr lang="en-US" sz="1250" b="1" dirty="0">
                <a:solidFill>
                  <a:srgbClr val="1B3B6F"/>
                </a:solidFill>
                <a:latin typeface="Calibri" pitchFamily="34" charset="0"/>
                <a:cs typeface="Amiri" pitchFamily="2" charset="-78"/>
              </a:rPr>
              <a:t>. Which verb fits?</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شَارَكْتُ</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سَأُشَارِكُ</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أُشَارِكُ</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عَادَةً</a:t>
            </a:r>
            <a:pPr algn="l" indent="0" marL="0">
              <a:buNone/>
            </a:pPr>
            <a:r>
              <a:rPr lang="en-US" sz="1050" i="1" dirty="0">
                <a:solidFill>
                  <a:srgbClr val="8A6D1E"/>
                </a:solidFill>
                <a:latin typeface="Calibri" pitchFamily="34" charset="0"/>
                <a:cs typeface="Amiri" pitchFamily="2" charset="-78"/>
              </a:rPr>
              <a:t> introduces a present habit.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“took part in”?</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شَارَكَ فِي</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اِعْتَزَلَ</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أَعَادَ</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شَارَكَ فِي</a:t>
            </a:r>
            <a:pPr algn="l" indent="0" marL="0">
              <a:buNone/>
            </a:pPr>
            <a:r>
              <a:rPr lang="en-US" sz="1050" i="1" dirty="0">
                <a:solidFill>
                  <a:srgbClr val="8A6D1E"/>
                </a:solidFill>
                <a:latin typeface="Calibri" pitchFamily="34" charset="0"/>
                <a:cs typeface="Amiri" pitchFamily="2" charset="-78"/>
              </a:rPr>
              <a:t> means took part in.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suffix marks </a:t>
            </a:r>
            <a:pPr algn="l" indent="0" marL="0">
              <a:buNone/>
            </a:pPr>
            <a:r>
              <a:rPr lang="ar-SA" altLang="en-US" sz="1650" b="1" dirty="0">
                <a:solidFill>
                  <a:srgbClr val="1B3B6F"/>
                </a:solidFill>
                <a:latin typeface="Amiri" pitchFamily="2" charset="-78"/>
                <a:cs typeface="Amiri" pitchFamily="2" charset="-78"/>
              </a:rPr>
              <a:t>أَنْتِ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ـْتَ</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ـْتِ</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ـْتُ</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kasra ending addresses one female.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D5-L10 · Listening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D5-L11: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D5-L11 · D5 Consolidation — Past Tense Mastery and Speaking Preparation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الطَّلَاقَةُ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fluency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التَّرَدُّدُ</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hesitation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عَفْوًا، أَقْصِدُ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sorry, I mean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دَعْنِي أُفَكِّرُ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let me think</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أُعِيدُ الصِّيَاغَةَ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rephrase</a:t>
            </a:r>
            <a:pPr indent="0" marL="0">
              <a:buNone/>
            </a:pPr>
            <a:r>
              <a:rPr lang="en-US" sz="1000" i="1" dirty="0">
                <a:solidFill>
                  <a:srgbClr val="5A6472"/>
                </a:solidFill>
                <a:latin typeface="Calibri" pitchFamily="34" charset="0"/>
                <a:cs typeface="Amiri" pitchFamily="2" charset="-78"/>
              </a:rPr>
              <a:t>  يُعِيدُ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a 30-second answer: “What did you do last weekend?” — two past verbs and one connector.</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فِي نِهَايَةِ الأُسْبُوعِ المَاضِي … ثُمَّ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Sort the 10 transcript verbs into P / N / F; learn the five speaking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50–60-word third-person summary of the listening.</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 70 words, every verb in the text’s tense.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D5-L11 · D5 Consolidation — Past Tense Mastery and Speaking Preparation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تَرْسِيخُ الوَحْدَةِ — إِتْقَانُ الفِعْلِ المَاضِي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mark P / N / F first — then listen to the START (prefix, sa-) and the END (suffix) of every verb.</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D5-L10 · Listening — Sport, Leisure and Past Events</dc:title>
  <dc:subject>PptxGenJS Presentation</dc:subject>
  <dc:creator>Al Madina Online School · Arabic Department</dc:creator>
  <cp:lastModifiedBy>Al Madina Online School · Arabic Department</cp:lastModifiedBy>
  <cp:revision>1</cp:revision>
  <dcterms:created xsi:type="dcterms:W3CDTF">2026-10-11T06:41:03Z</dcterms:created>
  <dcterms:modified xsi:type="dcterms:W3CDTF">2026-10-11T06:41:03Z</dcterms:modified>
</cp:coreProperties>
</file>