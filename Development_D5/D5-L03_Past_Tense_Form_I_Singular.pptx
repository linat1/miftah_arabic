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D5-L03. The website lesson “The Past Tense — Form I Regular Singular Verbs”: vocabulary, grammar rules and quiz, patterns, common mistakes, sorter, listening, reading, speaking prompts and model, writing task and model, differentiation, final check and the lesson mission. Picture match: website visual game “The Past Tense — Form I Regular Singular Verbs”.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أَنَا and هِيَ / هُوَ forms of six verbs (ذَهَبْتُ · ذَهَبَ · ذَهَبَتْ) + أَمْسِ at the start. Develop: all five singular forms, including أَنْتَ / أَنْتِ in questions, and the فَعِلَ verbs (لَعِبَ · شَرِبَ · سَمِعَ). Stretch: the website ten-sentence task with four time expressions, and present / past / future of one verb.
• The key idea: the ROOT never changes; the ENDING says who. ـْتُ / ـْتَ / ـْتِ share the same letters — only the final vowel differs, so students MUST write it (these quiz items deliberately differ only in vowels).
• Past forms met as chunks in D5-L02 (فَازَ · خَسِرَ) now become a system. D5-L04 adds نَحْنُ / أَنْتُمْ / هُمْ and irregular verbs.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D5-L02. Questions 4–5 retrieve D5-L02 (فَازَتْ · فَازَ بِـ) — the past forms students already know as chunks.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root stays, the ending moves — and the ending tells you WHO.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ماضی، فعل، لاحقہ are the same grammar words used in Urdu grammar (ماضی مطلق = simple past). CAREFUL: Urdu کل means both yesterday and tomorrow — Arabic has two words: أَمْسِ (yesterday) and غَدًا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the past tense (website vocabulary). Hear → Say → See → Use. Transliteration is printed for Core students (cover it for Develop/Stretch).
Talking about the past tense: the grammar words we use today (root, suffix,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Past-tense verbs (website vocabulary (1 of 2)). Hear → Say → See → Use. Transliteration is printed for Core students (cover it for Develop/Stretch).
Past-tense verbs. The card shows “he” (the dictionary form) with I and she underneath. فَعِلَ verbs keep a KASRA in the middle: لَعِبَ · سَمِعَ · 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Past-tense verbs (website vocabulary (2 of 2)). Hear → Say → See → Use. Transliteration is printed for Core students (cover it for Develop/Stretch).
Past-tense verbs. The card shows “he” (the dictionary form) with I and she underneath. فَعِلَ verbs keep a KASRA in the middle: لَعِبَ · سَمِعَ · 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When it happened (website vocabulary). Hear → Say → See → Use. Transliteration is printed for Core students (cover it for Develop/Stretch).
When it happened: put these FIRST in the sentence. After فِي and قَبْلَ / مُنْذُ the noun is genitive (قَبْلَ شَهْرٍ).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“هُوَ and هِيَ” (the هُوَ form is the bare past; هِيَ adds ـَتْ with a sukūn), “أَنَا” (the tāʾ carries a ḍamma; the letter before it takes a sukūn) and “أَنْتَ and أَنْتِ” (same consonants; a fatḥa addresses a male, a kasra a female). Website teaching point: “Three short vowels do the hardest work.”
Drill: teacher says a person, students chorus the form (أَنَا → لَعِبْتُ …). Core: أَنَا · هُوَ · هِيَ rows only.
Pattern note: لَعِبَ is a فَعِلَ verb (kasra in the middle) — the endings are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“Past time expressions come first” (Arabic normally opens the sentence with the past time expression; the verb stays in the past whatever the expression). Website mistakes: أَمْسِ أَذْهَبُ ✗ → أَمْسِ ذَهَبْتُ · هَلْ شَاهَدْتَ المُبَارَاةَ يَا سَلْمَى ✗ → شَاهَدْتِ.
Stretch (website quiz 8): three tenses of one verb — تَسْبَحُ / سَبَحَتْ / سَتَسْبَحُ.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“One root, five endings. Learn the endings as a set, then attach them to any regular Form I verb. Watch the middle vowel: فَعَلَ verbs keep a fatḥa, فَعِلَ verbs keep a kasra.”
• هُوَ and هِيَ: The هُوَ form is the bare past tense. The هِيَ form adds ـَتْ with a sukūn on the tāʾ.
• أَنَا: The tāʾ carries a ḍamma. The letter before it takes a sukūn.
• أَنْتَ and أَنْتِ: Same consonants as the أَنَا form; only the final short vowel differs. A fatḥa addresses a male, a kasra a female.
• Past time expressions come first: Arabic normally opens the sentence with the past time expression. The verb stays in the past whatever the expression.
Website common error: The أَنَا, أَنْتَ and أَنْتِ forms share the same consonants. If you leave the final short vowel off, your reader cannot tell who performed the action. Write it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from the website writing model: “Who did it? Which ending? Did I write the last vowel?” Point to each coloured ending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Past Tense — Form I Regular Singular Verbs”)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the person: لَعِبَتْ سَلْمَى … · هَلْ سَافَرْتَ …؟ · هَلْ سَبَحْتِ …؟ Other website cards: قَرَأْتُ كِتَابًا · تَنَاوَلْنَا العَشَاءَ مَعًا · شَاهَدْنَا فِيلْمًا (the نَحْنُ forms are D5-L04).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Past Tense — Form I Regular Singular Verbs”)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the person: لَعِبَتْ سَلْمَى … · هَلْ سَافَرْتَ …؟ · هَلْ سَبَحْتِ …؟ Other website cards: قَرَأْتُ كِتَابًا · تَنَاوَلْنَا العَشَاءَ مَعًا · شَاهَدْنَا فِيلْمًا (the نَحْنُ forms are D5-L04).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each column into the هُوَ form aloud: ذَهَبَ · لَعِبَ · شَاهَدَ.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each column into the هُوَ form aloud: ذَهَبَ · لَعِبَ · شَاهَدَ.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list every past verb you hear by person.
Listen 1: just listen. Listen 2: note answers. Then chat the letters.
Support: after the second listening, show the read-along slide (Arabic + English, line by line) for Core students.
SCRIPT (read aloud):
أَمْسِ ذَهَبْتُ إِلَى النَّادِي وَلَعِبْتُ كُرَةَ السَّلَّةِ مَعَ أَصْدِقَائِي. وَبَعْدَ ذٰلِكَ رَجَعْتُ إِلَى البَيْتِ وَطَبَخْتُ العَشَاءَ. أَمَّا أُخْتِي سَلْمَى فَقَدْ رَسَمَتْ لَوْحَةً جَمِيلَةً، ثُمَّ خَرَجَتْ مَعَ صَدِيقَتِهَا. وَفِي المَسَاءِ شَاهَدْنَا فِيلْمًا مَعًا. وَقَالَتْ لِي أُمِّي: هَلْ قَرَأْتَ الكِتَابَ يَا يُوسُفُ؟ فَأَجَبْتُ: نَعَمْ، قَرَأْتُهُ مُنْذُ 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فَعَلَتْ أُخْتُكَ؟ (Switching person)
B: رَسَمَتْ لَوْحَةً جَمِيلَةً، ثُمَّ خَرَجَتْ مَعَ صَدِيقَتِهَا. (هِيَ past forms)
Website prompts and model (four lines: past question → أَنَا forms → switch person → هِيَ forms). Partner B must change person when asked about a sister. To a girl: مَاذَا فَعَلْتِ؟ · عَائِلَتُكِ · قَرَأْتِ.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Complete the conjugation table for three verbs, then write four sentences with أَنَا and هِيَ. · Develop — Write a short paragraph that moves between أَنَا and هِيَ and opens with a time expression. · Stretch — Contrast present, past and future for the same verb in one linked paragraph, keeping every suffix accurate.
Website writing task (Stretch): Write ten sentences about last week: four with أَنَا, three with هُوَ or هِيَ, two addressing a friend with أَنْتَ or أَنْتِ, and one using مُنْذُ or قَبْلَ. Use a different verb each time.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ذَهَبْتُ · قَرَأْتُ · شَاهَدْتُ · طَبَخْتُ · لَعِبَ · رَسَمَتْ · وَصَلْتُ · خَرَجْتُ; time: أَمْسِ · الأُسْبُوعَ المَاضِيَ · فِي الإِجَازَةِ · مُنْذُ أُسْبُوعٍ · قَبْلَ شَهْرٍ. Develop / Stretch: add two أَنْتَ / أَنْتِ questions to complete the website task.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(D5-L04 · Past Tense — Plural Forms and Irregular Verbs) will spend class time USING this language, so students prepare it tonight — short, simple, easy to access (school guidance: “Simple, Short, Interesting, Relevant, Easy to access”). The five words come from the website D5-L04 vocabulary (plural past forms and irregular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The Past Tense — Form I Regular Singular Verbs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الفِعْلُ المَاضِي — المُفْرَدُ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what you, he, she and “you” did: one root, five endings (</a:t>
            </a:r>
            <a:pPr algn="l" indent="0" marL="0">
              <a:buNone/>
            </a:pPr>
            <a:r>
              <a:rPr lang="ar-SA" altLang="en-US" sz="1800" dirty="0">
                <a:solidFill>
                  <a:srgbClr val="C6D2E6"/>
                </a:solidFill>
                <a:latin typeface="Amiri" pitchFamily="2" charset="-78"/>
                <a:ea typeface="Amiri" pitchFamily="2" charset="-78"/>
                <a:cs typeface="Amiri" pitchFamily="2" charset="-78"/>
              </a:rPr>
              <a:t>ذَهَبْتُ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ذَهَبْتَ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ذَهَبْتِ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ذَهَبَ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ذَهَبَتْ</a:t>
            </a:r>
            <a:pPr algn="l" indent="0" marL="0">
              <a:buNone/>
            </a:pPr>
            <a:r>
              <a:rPr lang="en-US" sz="1400" dirty="0">
                <a:solidFill>
                  <a:srgbClr val="C6D2E6"/>
                </a:solidFill>
                <a:latin typeface="Calibri" pitchFamily="34" charset="0"/>
                <a:cs typeface="Amiri" pitchFamily="2" charset="-78"/>
              </a:rPr>
              <a:t>) — and open the sentence with a past time expression (</a:t>
            </a:r>
            <a:pPr algn="l" indent="0" marL="0">
              <a:buNone/>
            </a:pPr>
            <a:r>
              <a:rPr lang="ar-SA" altLang="en-US" sz="1800" dirty="0">
                <a:solidFill>
                  <a:srgbClr val="C6D2E6"/>
                </a:solidFill>
                <a:latin typeface="Amiri" pitchFamily="2" charset="-78"/>
                <a:ea typeface="Amiri" pitchFamily="2" charset="-78"/>
                <a:cs typeface="Amiri" pitchFamily="2" charset="-78"/>
              </a:rPr>
              <a:t>أَمْسِ</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الأُسْبُوعَ المَاضِيَ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مُنْذُ أُسْبُوعٍ</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D5-L03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One root, five endings; time expression first.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person, fix person slips, then what everyone did yesterday.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tomorrow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الأُسْبُوعَ المَاضِيَ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week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goes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will go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فَازَتِ البَطَلَةُ</a:t>
            </a:r>
            <a:pPr algn="l" indent="0" marL="0">
              <a:buNone/>
            </a:pPr>
            <a:r>
              <a:rPr lang="en-US" sz="1250" b="1" dirty="0">
                <a:solidFill>
                  <a:srgbClr val="1B3B6F"/>
                </a:solidFill>
                <a:latin typeface="Calibri" pitchFamily="34" charset="0"/>
                <a:cs typeface="Amiri" pitchFamily="2" charset="-78"/>
              </a:rPr>
              <a:t> — who won?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(the champion)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الفَرِيقُ بِالبُطُولَةِ.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الفَرِيقُ عَلَى البُطُولَةِ.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الفَرِيقُ إِلَى البُطُولَةِ.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tomorrow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yesterday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الأُسْبُوعَ المَاضِيَ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last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week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week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goes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will go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فَازَتِ البَطَلَةُ</a:t>
            </a:r>
            <a:pPr algn="l" indent="0" marL="0">
              <a:buNone/>
            </a:pPr>
            <a:r>
              <a:rPr lang="en-US" sz="1250" b="1" dirty="0">
                <a:solidFill>
                  <a:srgbClr val="1B3B6F"/>
                </a:solidFill>
                <a:latin typeface="Calibri" pitchFamily="34" charset="0"/>
                <a:cs typeface="Amiri" pitchFamily="2" charset="-78"/>
              </a:rPr>
              <a:t> — who won?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(the champion)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D5-L02: the -at ending.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فَازَ الفَرِيقُ بِالبُطُولَةِ.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الفَرِيقُ عَلَى البُطُولَةِ.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الفَرِيقُ إِلَى البُطُولَةِ.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root stays, the ending moves — and the ending tells you WHO.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لَعِبْتُ</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لَعِبْتَ</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لَعِبْتِ</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لَعِبَ · </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لَعِبَتْ</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past tense for </a:t>
            </a:r>
            <a:pPr algn="l" indent="0" marL="0">
              <a:buNone/>
            </a:pPr>
            <a:r>
              <a:rPr lang="ar-SA" altLang="en-US" sz="1700" dirty="0">
                <a:solidFill>
                  <a:srgbClr val="1F2A37"/>
                </a:solidFill>
                <a:latin typeface="Amiri" pitchFamily="2" charset="-78"/>
                <a:ea typeface="Amiri" pitchFamily="2" charset="-78"/>
                <a:cs typeface="Amiri" pitchFamily="2" charset="-78"/>
              </a:rPr>
              <a:t>أَنَا</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أَنْتَ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أَنْتِ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هُوَ</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هِيَ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and write the final short vowel that shows the person.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a:t>
            </a:r>
            <a:pPr algn="l" indent="0" marL="0">
              <a:buNone/>
            </a:pPr>
            <a:r>
              <a:rPr lang="ar-SA" altLang="en-US" sz="1700" dirty="0">
                <a:solidFill>
                  <a:srgbClr val="1F2A37"/>
                </a:solidFill>
                <a:latin typeface="Amiri" pitchFamily="2" charset="-78"/>
                <a:ea typeface="Amiri" pitchFamily="2" charset="-78"/>
                <a:cs typeface="Amiri" pitchFamily="2" charset="-78"/>
              </a:rPr>
              <a:t>فَعَلَ</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فَعِلَ</a:t>
            </a:r>
            <a:pPr algn="l" indent="0" marL="0">
              <a:buNone/>
            </a:pPr>
            <a:r>
              <a:rPr lang="en-US" sz="1300" dirty="0">
                <a:solidFill>
                  <a:srgbClr val="1F2A37"/>
                </a:solidFill>
                <a:latin typeface="Calibri" pitchFamily="34" charset="0"/>
                <a:cs typeface="Amiri" pitchFamily="2" charset="-78"/>
              </a:rPr>
              <a:t> patterns.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Open a sentence with a past time expression and keep the verb in the past.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did (</a:t>
            </a:r>
            <a:pPr algn="l" indent="0" marL="0">
              <a:buNone/>
            </a:pPr>
            <a:r>
              <a:rPr lang="ar-SA" altLang="en-US" sz="1700" b="1" dirty="0">
                <a:solidFill>
                  <a:srgbClr val="2E8B57"/>
                </a:solidFill>
                <a:latin typeface="Amiri" pitchFamily="2" charset="-78"/>
                <a:ea typeface="Amiri" pitchFamily="2" charset="-78"/>
                <a:cs typeface="Amiri" pitchFamily="2" charset="-78"/>
              </a:rPr>
              <a:t>ذَهَبْتُ</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he / she did (</a:t>
            </a:r>
            <a:pPr algn="l" indent="0" marL="0">
              <a:buNone/>
            </a:pPr>
            <a:r>
              <a:rPr lang="ar-SA" altLang="en-US" sz="1700" b="1" dirty="0">
                <a:solidFill>
                  <a:srgbClr val="2E8B57"/>
                </a:solidFill>
                <a:latin typeface="Amiri" pitchFamily="2" charset="-78"/>
                <a:ea typeface="Amiri" pitchFamily="2" charset="-78"/>
                <a:cs typeface="Amiri" pitchFamily="2" charset="-78"/>
              </a:rPr>
              <a:t>ذَهَبَ / ذَهَبَتْ</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“did you …?” to a boy and a girl.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فَعِلَ</a:t>
            </a:r>
            <a:pPr algn="l" indent="0" marL="0">
              <a:buNone/>
            </a:pPr>
            <a:r>
              <a:rPr lang="en-US" sz="1300" b="1" dirty="0">
                <a:solidFill>
                  <a:srgbClr val="C9780A"/>
                </a:solidFill>
                <a:latin typeface="Calibri" pitchFamily="34" charset="0"/>
                <a:cs typeface="Amiri" pitchFamily="2" charset="-78"/>
              </a:rPr>
              <a:t> verbs (</a:t>
            </a:r>
            <a:pPr algn="l" indent="0" marL="0">
              <a:buNone/>
            </a:pPr>
            <a:r>
              <a:rPr lang="ar-SA" altLang="en-US" sz="1700" b="1" dirty="0">
                <a:solidFill>
                  <a:srgbClr val="C9780A"/>
                </a:solidFill>
                <a:latin typeface="Amiri" pitchFamily="2" charset="-78"/>
                <a:ea typeface="Amiri" pitchFamily="2" charset="-78"/>
                <a:cs typeface="Amiri" pitchFamily="2" charset="-78"/>
              </a:rPr>
              <a:t>لَعِبَ</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شَرِبَ</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ten past sentences with four time expressions.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present, past and future of one verb.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23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Talking about the past tense · 5</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Past-tense verbs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When it happened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مَاضٍ / المَاضِي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‎ماضی‎ </a:t>
            </a:r>
            <a:pPr indent="0" marL="0">
              <a:buNone/>
            </a:pPr>
            <a:r>
              <a:rPr lang="en-US" sz="950" b="1" dirty="0">
                <a:solidFill>
                  <a:srgbClr val="2E8B57"/>
                </a:solidFill>
                <a:latin typeface="Calibri" pitchFamily="34" charset="0"/>
                <a:cs typeface="Amiri" pitchFamily="2" charset="-78"/>
              </a:rPr>
              <a:t> māzī · the past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فِعْلٌ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‎فعل‎ </a:t>
            </a:r>
            <a:pPr indent="0" marL="0">
              <a:buNone/>
            </a:pPr>
            <a:r>
              <a:rPr lang="en-US" sz="950" b="1" dirty="0">
                <a:solidFill>
                  <a:srgbClr val="2E8B57"/>
                </a:solidFill>
                <a:latin typeface="Calibri" pitchFamily="34" charset="0"/>
                <a:cs typeface="Amiri" pitchFamily="2" charset="-78"/>
              </a:rPr>
              <a:t> feʿl · a verb</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لَاحِقَةٌ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‎لاحقہ‎ </a:t>
            </a:r>
            <a:pPr indent="0" marL="0">
              <a:buNone/>
            </a:pPr>
            <a:r>
              <a:rPr lang="en-US" sz="950" b="1" dirty="0">
                <a:solidFill>
                  <a:srgbClr val="2E8B57"/>
                </a:solidFill>
                <a:latin typeface="Calibri" pitchFamily="34" charset="0"/>
                <a:cs typeface="Amiri" pitchFamily="2" charset="-78"/>
              </a:rPr>
              <a:t> lāḥiqa · a suffix</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جَذْرٌ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‎جڑ‎ </a:t>
            </a:r>
            <a:pPr indent="0" marL="0">
              <a:buNone/>
            </a:pPr>
            <a:r>
              <a:rPr lang="en-US" sz="950" b="1" dirty="0">
                <a:solidFill>
                  <a:srgbClr val="2E8B57"/>
                </a:solidFill>
                <a:latin typeface="Calibri" pitchFamily="34" charset="0"/>
                <a:cs typeface="Amiri" pitchFamily="2" charset="-78"/>
              </a:rPr>
              <a:t> jaṛ · root (sound-alike)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أَمْسِ</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‎کل‎ </a:t>
            </a:r>
            <a:pPr indent="0" marL="0">
              <a:buNone/>
            </a:pPr>
            <a:r>
              <a:rPr lang="ar-SA" sz="950" b="1" dirty="0">
                <a:solidFill>
                  <a:srgbClr val="2E8B57"/>
                </a:solidFill>
                <a:latin typeface="Calibri" pitchFamily="34" charset="0"/>
                <a:ea typeface="Amiri" pitchFamily="2" charset="-78"/>
                <a:cs typeface="Amiri" pitchFamily="2" charset="-78"/>
              </a:rPr>
              <a:t> kal · yesterday (Urdu کل = yesterday OR tomorrow)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the past tense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past-tense verb</a:t>
            </a:r>
            <a:endParaRPr lang="en-US" sz="1350" dirty="0"/>
          </a:p>
          <a:p>
            <a:pPr indent="0" marL="0">
              <a:buNone/>
            </a:pPr>
            <a:r>
              <a:rPr lang="en-US" sz="1100" i="1" dirty="0">
                <a:solidFill>
                  <a:srgbClr val="5A6472"/>
                </a:solidFill>
                <a:latin typeface="Calibri" pitchFamily="34" charset="0"/>
                <a:cs typeface="Amiri" pitchFamily="2" charset="-78"/>
              </a:rPr>
              <a:t>al-fiʿ-lu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لَاحِقَةٌ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suffix</a:t>
            </a:r>
            <a:endParaRPr lang="en-US" sz="1350" dirty="0"/>
          </a:p>
          <a:p>
            <a:pPr indent="0" marL="0">
              <a:buNone/>
            </a:pPr>
            <a:r>
              <a:rPr lang="en-US" sz="1100" i="1" dirty="0">
                <a:solidFill>
                  <a:srgbClr val="5A6472"/>
                </a:solidFill>
                <a:latin typeface="Calibri" pitchFamily="34" charset="0"/>
                <a:cs typeface="Amiri" pitchFamily="2" charset="-78"/>
              </a:rPr>
              <a:t>lā-ḥi-qa-tun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الجَذْرُ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root</a:t>
            </a:r>
            <a:endParaRPr lang="en-US" sz="1350" dirty="0"/>
          </a:p>
          <a:p>
            <a:pPr indent="0" marL="0">
              <a:buNone/>
            </a:pPr>
            <a:r>
              <a:rPr lang="en-US" sz="1100" i="1" dirty="0">
                <a:solidFill>
                  <a:srgbClr val="5A6472"/>
                </a:solidFill>
                <a:latin typeface="Calibri" pitchFamily="34" charset="0"/>
                <a:cs typeface="Amiri" pitchFamily="2" charset="-78"/>
              </a:rPr>
              <a:t>al-jadh-ru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وَزْنُ فَعَلَ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فَعَلَ pattern</a:t>
            </a:r>
            <a:endParaRPr lang="en-US" sz="1350" dirty="0"/>
          </a:p>
          <a:p>
            <a:pPr indent="0" marL="0">
              <a:buNone/>
            </a:pPr>
            <a:r>
              <a:rPr lang="en-US" sz="1100" i="1" dirty="0">
                <a:solidFill>
                  <a:srgbClr val="5A6472"/>
                </a:solidFill>
                <a:latin typeface="Calibri" pitchFamily="34" charset="0"/>
                <a:cs typeface="Amiri" pitchFamily="2" charset="-78"/>
              </a:rPr>
              <a:t>waz-nu fa-ʿa-la</a:t>
            </a:r>
            <a:endParaRPr lang="en-US" sz="1350" dirty="0"/>
          </a:p>
        </p:txBody>
      </p:sp>
      <p:sp>
        <p:nvSpPr>
          <p:cNvPr id="37" name="Text 3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middle consonant carries a fatḥa.</a:t>
            </a:r>
            <a:endParaRPr lang="en-US" sz="1000" dirty="0"/>
          </a:p>
        </p:txBody>
      </p:sp>
      <p:sp>
        <p:nvSpPr>
          <p:cNvPr id="38" name="Shape 3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389120"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1" name="Text 3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وَزْنُ فَعِلَ</a:t>
            </a:r>
            <a:endParaRPr lang="ar-SA" sz="3000" dirty="0"/>
          </a:p>
        </p:txBody>
      </p:sp>
      <p:sp>
        <p:nvSpPr>
          <p:cNvPr id="42" name="Text 39"/>
          <p:cNvSpPr txBox="1"/>
          <p:nvPr/>
        </p:nvSpPr>
        <p:spPr>
          <a:xfrm>
            <a:off x="4416552" y="546811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فَعِلَ pattern</a:t>
            </a:r>
            <a:endParaRPr lang="en-US" sz="1350" dirty="0"/>
          </a:p>
          <a:p>
            <a:pPr indent="0" marL="0">
              <a:buNone/>
            </a:pPr>
            <a:r>
              <a:rPr lang="en-US" sz="1100" i="1" dirty="0">
                <a:solidFill>
                  <a:srgbClr val="5A6472"/>
                </a:solidFill>
                <a:latin typeface="Calibri" pitchFamily="34" charset="0"/>
                <a:cs typeface="Amiri" pitchFamily="2" charset="-78"/>
              </a:rPr>
              <a:t>waz-nu fa-ʿi-la</a:t>
            </a:r>
            <a:endParaRPr lang="en-US" sz="1350" dirty="0"/>
          </a:p>
        </p:txBody>
      </p:sp>
      <p:sp>
        <p:nvSpPr>
          <p:cNvPr id="43" name="Text 40"/>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middle consonant carries a kasra.</a:t>
            </a:r>
            <a:endParaRPr lang="en-US" sz="10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Past-tense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ذَهَبَ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went</a:t>
            </a:r>
            <a:endParaRPr lang="en-US" sz="1350" dirty="0"/>
          </a:p>
          <a:p>
            <a:pPr indent="0" marL="0">
              <a:buNone/>
            </a:pPr>
            <a:r>
              <a:rPr lang="en-US" sz="1100" i="1" dirty="0">
                <a:solidFill>
                  <a:srgbClr val="5A6472"/>
                </a:solidFill>
                <a:latin typeface="Calibri" pitchFamily="34" charset="0"/>
                <a:cs typeface="Amiri" pitchFamily="2" charset="-78"/>
              </a:rPr>
              <a:t>dha-ha-ba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ذَهَبَتْ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ذَهَبْتُ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played</a:t>
            </a:r>
            <a:endParaRPr lang="en-US" sz="1350" dirty="0"/>
          </a:p>
          <a:p>
            <a:pPr indent="0" marL="0">
              <a:buNone/>
            </a:pPr>
            <a:r>
              <a:rPr lang="en-US" sz="1100" i="1" dirty="0">
                <a:solidFill>
                  <a:srgbClr val="5A6472"/>
                </a:solidFill>
                <a:latin typeface="Calibri" pitchFamily="34" charset="0"/>
                <a:cs typeface="Amiri" pitchFamily="2" charset="-78"/>
              </a:rPr>
              <a:t>la-ʿi-ba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لَعِبَتْ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لَعِبْتُ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شَاهَدَ</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watched</a:t>
            </a:r>
            <a:endParaRPr lang="en-US" sz="1350" dirty="0"/>
          </a:p>
          <a:p>
            <a:pPr indent="0" marL="0">
              <a:buNone/>
            </a:pPr>
            <a:r>
              <a:rPr lang="en-US" sz="1100" i="1" dirty="0">
                <a:solidFill>
                  <a:srgbClr val="5A6472"/>
                </a:solidFill>
                <a:latin typeface="Calibri" pitchFamily="34" charset="0"/>
                <a:cs typeface="Amiri" pitchFamily="2" charset="-78"/>
              </a:rPr>
              <a:t>shā-ha-da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شَاهَدَتْ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شَاهَدْتُ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63" name="Shape 6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ate</a:t>
            </a:r>
            <a:endParaRPr lang="en-US" sz="1350" dirty="0"/>
          </a:p>
          <a:p>
            <a:pPr indent="0" marL="0">
              <a:buNone/>
            </a:pPr>
            <a:r>
              <a:rPr lang="en-US" sz="1100" i="1" dirty="0">
                <a:solidFill>
                  <a:srgbClr val="5A6472"/>
                </a:solidFill>
                <a:latin typeface="Calibri" pitchFamily="34" charset="0"/>
                <a:cs typeface="Amiri" pitchFamily="2" charset="-78"/>
              </a:rPr>
              <a:t>a-ka-la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أَكَلَتْ</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أَكَلْتُ</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8" name="Shape 7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wrote</a:t>
            </a:r>
            <a:endParaRPr lang="en-US" sz="1350" dirty="0"/>
          </a:p>
          <a:p>
            <a:pPr indent="0" marL="0">
              <a:buNone/>
            </a:pPr>
            <a:r>
              <a:rPr lang="en-US" sz="1100" i="1" dirty="0">
                <a:solidFill>
                  <a:srgbClr val="5A6472"/>
                </a:solidFill>
                <a:latin typeface="Calibri" pitchFamily="34" charset="0"/>
                <a:cs typeface="Amiri" pitchFamily="2" charset="-78"/>
              </a:rPr>
              <a:t>ka-ta-ba</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كَتَبَتْ</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كَتَبْتُ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93" name="Shape 9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قَرَأَ</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a:t>
            </a:r>
            <a:endParaRPr lang="en-US" sz="1350" dirty="0"/>
          </a:p>
          <a:p>
            <a:pPr indent="0" marL="0">
              <a:buNone/>
            </a:pPr>
            <a:r>
              <a:rPr lang="en-US" sz="1100" i="1" dirty="0">
                <a:solidFill>
                  <a:srgbClr val="5A6472"/>
                </a:solidFill>
                <a:latin typeface="Calibri" pitchFamily="34" charset="0"/>
                <a:cs typeface="Amiri" pitchFamily="2" charset="-78"/>
              </a:rPr>
              <a:t>qa-ra-ʾa</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قَرَأَتْ</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قَرَأْتُ</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Past-tense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drew</a:t>
            </a:r>
            <a:endParaRPr lang="en-US" sz="1350" dirty="0"/>
          </a:p>
          <a:p>
            <a:pPr indent="0" marL="0">
              <a:buNone/>
            </a:pPr>
            <a:r>
              <a:rPr lang="en-US" sz="1100" i="1" dirty="0">
                <a:solidFill>
                  <a:srgbClr val="5A6472"/>
                </a:solidFill>
                <a:latin typeface="Calibri" pitchFamily="34" charset="0"/>
                <a:cs typeface="Amiri" pitchFamily="2" charset="-78"/>
              </a:rPr>
              <a:t>ra-sa-ma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طَبَخَ</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cooked</a:t>
            </a:r>
            <a:endParaRPr lang="en-US" sz="1350" dirty="0"/>
          </a:p>
          <a:p>
            <a:pPr indent="0" marL="0">
              <a:buNone/>
            </a:pPr>
            <a:r>
              <a:rPr lang="en-US" sz="1100" i="1" dirty="0">
                <a:solidFill>
                  <a:srgbClr val="5A6472"/>
                </a:solidFill>
                <a:latin typeface="Calibri" pitchFamily="34" charset="0"/>
                <a:cs typeface="Amiri" pitchFamily="2" charset="-78"/>
              </a:rPr>
              <a:t>ṭa-ba-kha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طَبَخَتْ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طَبَخْتُ</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6" name="Shape 4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وَصَلَ</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arrived</a:t>
            </a:r>
            <a:endParaRPr lang="en-US" sz="1350" dirty="0"/>
          </a:p>
          <a:p>
            <a:pPr indent="0" marL="0">
              <a:buNone/>
            </a:pPr>
            <a:r>
              <a:rPr lang="en-US" sz="1100" i="1" dirty="0">
                <a:solidFill>
                  <a:srgbClr val="5A6472"/>
                </a:solidFill>
                <a:latin typeface="Calibri" pitchFamily="34" charset="0"/>
                <a:cs typeface="Amiri" pitchFamily="2" charset="-78"/>
              </a:rPr>
              <a:t>wa-ṣa-la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وَصَلَتْ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وَصَلْتُ</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9" name="Shape 5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خَرَجَ</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went out</a:t>
            </a:r>
            <a:endParaRPr lang="en-US" sz="1350" dirty="0"/>
          </a:p>
          <a:p>
            <a:pPr indent="0" marL="0">
              <a:buNone/>
            </a:pPr>
            <a:r>
              <a:rPr lang="en-US" sz="1100" i="1" dirty="0">
                <a:solidFill>
                  <a:srgbClr val="5A6472"/>
                </a:solidFill>
                <a:latin typeface="Calibri" pitchFamily="34" charset="0"/>
                <a:cs typeface="Amiri" pitchFamily="2" charset="-78"/>
              </a:rPr>
              <a:t>kha-ra-ja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خَرَجَتْ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خَرَجْتُ</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4" name="Shape 7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سَمِعَ</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heard</a:t>
            </a:r>
            <a:endParaRPr lang="en-US" sz="1350" dirty="0"/>
          </a:p>
          <a:p>
            <a:pPr indent="0" marL="0">
              <a:buNone/>
            </a:pPr>
            <a:r>
              <a:rPr lang="en-US" sz="1100" i="1" dirty="0">
                <a:solidFill>
                  <a:srgbClr val="5A6472"/>
                </a:solidFill>
                <a:latin typeface="Calibri" pitchFamily="34" charset="0"/>
                <a:cs typeface="Amiri" pitchFamily="2" charset="-78"/>
              </a:rPr>
              <a:t>sa-mi-ʿa</a:t>
            </a:r>
            <a:endParaRPr lang="en-US" sz="1350" dirty="0"/>
          </a:p>
        </p:txBody>
      </p:sp>
      <p:sp>
        <p:nvSpPr>
          <p:cNvPr id="78" name="Shape 7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0" name="Text 7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سَمِعَتْ</a:t>
            </a:r>
            <a:endParaRPr lang="ar-SA" sz="1500" dirty="0"/>
          </a:p>
        </p:txBody>
      </p:sp>
      <p:sp>
        <p:nvSpPr>
          <p:cNvPr id="81" name="Shape 7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3" name="Text 8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سَمِعْتُ</a:t>
            </a:r>
            <a:endParaRPr lang="ar-SA" sz="1500" dirty="0"/>
          </a:p>
        </p:txBody>
      </p:sp>
      <p:sp>
        <p:nvSpPr>
          <p:cNvPr id="84" name="Shape 8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566928" y="4261104"/>
            <a:ext cx="310896" cy="310896"/>
          </a:xfrm>
          <a:prstGeom prst="ellipse">
            <a:avLst/>
          </a:prstGeom>
          <a:solidFill>
            <a:srgbClr val="F4F1EA"/>
          </a:solidFill>
          <a:ln w="12700">
            <a:solidFill>
              <a:srgbClr val="F4F1EA"/>
            </a:solidFill>
            <a:prstDash val="solid"/>
          </a:ln>
        </p:spPr>
      </p:sp>
      <p:sp>
        <p:nvSpPr>
          <p:cNvPr id="86" name="Text 8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7" name="Shape 84"/>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8" name="Text 85"/>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شَرِبَ</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drank</a:t>
            </a:r>
            <a:endParaRPr lang="en-US" sz="1350" dirty="0"/>
          </a:p>
          <a:p>
            <a:pPr indent="0" marL="0">
              <a:buNone/>
            </a:pPr>
            <a:r>
              <a:rPr lang="en-US" sz="1100" i="1" dirty="0">
                <a:solidFill>
                  <a:srgbClr val="5A6472"/>
                </a:solidFill>
                <a:latin typeface="Calibri" pitchFamily="34" charset="0"/>
                <a:cs typeface="Amiri" pitchFamily="2" charset="-78"/>
              </a:rPr>
              <a:t>sha-ri-ba</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شَرِبَتْ</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96" name="Text 93"/>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شَرِبْتُ</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it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yesterday</a:t>
            </a:r>
            <a:endParaRPr lang="en-US" sz="1350" dirty="0"/>
          </a:p>
          <a:p>
            <a:pPr indent="0" marL="0">
              <a:buNone/>
            </a:pPr>
            <a:r>
              <a:rPr lang="en-US" sz="1100" i="1" dirty="0">
                <a:solidFill>
                  <a:srgbClr val="5A6472"/>
                </a:solidFill>
                <a:latin typeface="Calibri" pitchFamily="34" charset="0"/>
                <a:cs typeface="Amiri" pitchFamily="2" charset="-78"/>
              </a:rPr>
              <a:t>am-si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Indeclinable, always ends in kasra.</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الأُسْبُوعَ المَاضِيَ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week</a:t>
            </a:r>
            <a:endParaRPr lang="en-US" sz="1350" dirty="0"/>
          </a:p>
          <a:p>
            <a:pPr indent="0" marL="0">
              <a:buNone/>
            </a:pPr>
            <a:r>
              <a:rPr lang="en-US" sz="1100" i="1" dirty="0">
                <a:solidFill>
                  <a:srgbClr val="5A6472"/>
                </a:solidFill>
                <a:latin typeface="Calibri" pitchFamily="34" charset="0"/>
                <a:cs typeface="Amiri" pitchFamily="2" charset="-78"/>
              </a:rPr>
              <a:t>al-us-bū-ʿa al-mā-ḍi-ya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Adverbial, so it is accusative.</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أُسْبُوعٍ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week ago</a:t>
            </a:r>
            <a:endParaRPr lang="en-US" sz="1350" dirty="0"/>
          </a:p>
          <a:p>
            <a:pPr indent="0" marL="0">
              <a:buNone/>
            </a:pPr>
            <a:r>
              <a:rPr lang="en-US" sz="1100" i="1" dirty="0">
                <a:solidFill>
                  <a:srgbClr val="5A6472"/>
                </a:solidFill>
                <a:latin typeface="Calibri" pitchFamily="34" charset="0"/>
                <a:cs typeface="Amiri" pitchFamily="2" charset="-78"/>
              </a:rPr>
              <a:t>mun-dhu us-bū-ʿin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مُنْذُ</a:t>
            </a:r>
            <a:pPr algn="l" indent="0" marL="0">
              <a:buNone/>
            </a:pPr>
            <a:r>
              <a:rPr lang="en-US" sz="1000" i="1" dirty="0">
                <a:solidFill>
                  <a:srgbClr val="8A6D1E"/>
                </a:solidFill>
                <a:latin typeface="Calibri" pitchFamily="34" charset="0"/>
                <a:cs typeface="Amiri" pitchFamily="2" charset="-78"/>
              </a:rPr>
              <a:t> takes the genitive.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الإِجَازَةِ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during the holiday</a:t>
            </a:r>
            <a:endParaRPr lang="en-US" sz="1350" dirty="0"/>
          </a:p>
          <a:p>
            <a:pPr indent="0" marL="0">
              <a:buNone/>
            </a:pPr>
            <a:r>
              <a:rPr lang="en-US" sz="1100" i="1" dirty="0">
                <a:solidFill>
                  <a:srgbClr val="5A6472"/>
                </a:solidFill>
                <a:latin typeface="Calibri" pitchFamily="34" charset="0"/>
                <a:cs typeface="Amiri" pitchFamily="2" charset="-78"/>
              </a:rPr>
              <a:t>fī al-i-jā-za-ti</a:t>
            </a:r>
            <a:endParaRPr lang="en-US" sz="1350" dirty="0"/>
          </a:p>
        </p:txBody>
      </p:sp>
      <p:sp>
        <p:nvSpPr>
          <p:cNvPr id="44" name="Shape 4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389120"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شَهْرٍ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month ago</a:t>
            </a:r>
            <a:endParaRPr lang="en-US" sz="1350" dirty="0"/>
          </a:p>
          <a:p>
            <a:pPr indent="0" marL="0">
              <a:buNone/>
            </a:pPr>
            <a:r>
              <a:rPr lang="en-US" sz="1100" i="1" dirty="0">
                <a:solidFill>
                  <a:srgbClr val="5A6472"/>
                </a:solidFill>
                <a:latin typeface="Calibri" pitchFamily="34" charset="0"/>
                <a:cs typeface="Amiri" pitchFamily="2" charset="-78"/>
              </a:rPr>
              <a:t>qab-la shah-rin</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قَبْلَ</a:t>
            </a:r>
            <a:pPr algn="l" indent="0" marL="0">
              <a:buNone/>
            </a:pPr>
            <a:r>
              <a:rPr lang="en-US" sz="1000" i="1" dirty="0">
                <a:solidFill>
                  <a:srgbClr val="8A6D1E"/>
                </a:solidFill>
                <a:latin typeface="Calibri" pitchFamily="34" charset="0"/>
                <a:cs typeface="Amiri" pitchFamily="2" charset="-78"/>
              </a:rPr>
              <a:t> takes the genitive.</a:t>
            </a:r>
            <a:endParaRPr lang="en-US" sz="100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الصَّيْفِ المَاضِي</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summer</a:t>
            </a:r>
            <a:endParaRPr lang="en-US" sz="1350" dirty="0"/>
          </a:p>
          <a:p>
            <a:pPr indent="0" marL="0">
              <a:buNone/>
            </a:pPr>
            <a:r>
              <a:rPr lang="en-US" sz="1100" i="1" dirty="0">
                <a:solidFill>
                  <a:srgbClr val="5A6472"/>
                </a:solidFill>
                <a:latin typeface="Calibri" pitchFamily="34" charset="0"/>
                <a:cs typeface="Amiri" pitchFamily="2" charset="-78"/>
              </a:rPr>
              <a:t>fī aṣ-ṣay-fi al-mā-ḍī</a:t>
            </a:r>
            <a:endParaRPr lang="en-US" sz="1350" dirty="0"/>
          </a:p>
        </p:txBody>
      </p:sp>
      <p:sp>
        <p:nvSpPr>
          <p:cNvPr id="55" name="Text 52"/>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المَاضِي</a:t>
            </a:r>
            <a:pPr algn="l" indent="0" marL="0">
              <a:buNone/>
            </a:pPr>
            <a:r>
              <a:rPr lang="en-US" sz="1000" i="1" dirty="0">
                <a:solidFill>
                  <a:srgbClr val="8A6D1E"/>
                </a:solidFill>
                <a:latin typeface="Calibri" pitchFamily="34" charset="0"/>
                <a:cs typeface="Amiri" pitchFamily="2" charset="-78"/>
              </a:rPr>
              <a:t> keeps its yāʾ after </a:t>
            </a:r>
            <a:pPr algn="l" indent="0" marL="0">
              <a:buNone/>
            </a:pPr>
            <a:r>
              <a:rPr lang="ar-SA" altLang="en-US" sz="1300" dirty="0">
                <a:solidFill>
                  <a:srgbClr val="8A6D1E"/>
                </a:solidFill>
                <a:latin typeface="Amiri" pitchFamily="2" charset="-78"/>
                <a:ea typeface="Amiri" pitchFamily="2" charset="-78"/>
                <a:cs typeface="Amiri" pitchFamily="2" charset="-78"/>
              </a:rPr>
              <a:t>فِي</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FIVE SINGULAR ENDINGS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root, five endings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جَذْرٌ وَاحِدٌ، خَمْسُ لَوَاحِقَ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7" name="Text 14"/>
          <p:cNvSpPr txBox="1"/>
          <p:nvPr/>
        </p:nvSpPr>
        <p:spPr>
          <a:xfrm>
            <a:off x="720547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شَاهَدَ</a:t>
            </a:r>
            <a:pPr algn="ctr" indent="0" marL="0">
              <a:buNone/>
            </a:pPr>
            <a:r>
              <a:rPr lang="en-US" sz="1100" b="1" dirty="0">
                <a:solidFill>
                  <a:srgbClr val="FFFFFF"/>
                </a:solidFill>
                <a:latin typeface="Calibri" pitchFamily="34" charset="0"/>
                <a:cs typeface="Amiri" pitchFamily="2" charset="-78"/>
              </a:rPr>
              <a:t> (watched)</a:t>
            </a:r>
            <a:endParaRPr lang="en-US" sz="1100" dirty="0"/>
          </a:p>
        </p:txBody>
      </p:sp>
      <p:sp>
        <p:nvSpPr>
          <p:cNvPr id="18" name="Text 15"/>
          <p:cNvSpPr txBox="1"/>
          <p:nvPr/>
        </p:nvSpPr>
        <p:spPr>
          <a:xfrm>
            <a:off x="473659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لَعِبَ</a:t>
            </a:r>
            <a:pPr algn="ctr" indent="0" marL="0">
              <a:buNone/>
            </a:pPr>
            <a:r>
              <a:rPr lang="en-US" sz="1100" b="1" dirty="0">
                <a:solidFill>
                  <a:srgbClr val="FFFFFF"/>
                </a:solidFill>
                <a:latin typeface="Calibri" pitchFamily="34" charset="0"/>
                <a:cs typeface="Amiri" pitchFamily="2" charset="-78"/>
              </a:rPr>
              <a:t> (played)</a:t>
            </a:r>
            <a:endParaRPr lang="en-US" sz="1100" dirty="0"/>
          </a:p>
        </p:txBody>
      </p:sp>
      <p:sp>
        <p:nvSpPr>
          <p:cNvPr id="19" name="Text 16"/>
          <p:cNvSpPr txBox="1"/>
          <p:nvPr/>
        </p:nvSpPr>
        <p:spPr>
          <a:xfrm>
            <a:off x="226771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ذَهَبَ</a:t>
            </a:r>
            <a:pPr algn="ctr" indent="0" marL="0">
              <a:buNone/>
            </a:pPr>
            <a:r>
              <a:rPr lang="en-US" sz="1100" b="1" dirty="0">
                <a:solidFill>
                  <a:srgbClr val="FFFFFF"/>
                </a:solidFill>
                <a:latin typeface="Calibri" pitchFamily="34" charset="0"/>
                <a:cs typeface="Amiri" pitchFamily="2" charset="-78"/>
              </a:rPr>
              <a:t> (went)</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-tu</a:t>
            </a:r>
            <a:endParaRPr lang="en-US" sz="1100" dirty="0"/>
          </a:p>
        </p:txBody>
      </p:sp>
      <p:sp>
        <p:nvSpPr>
          <p:cNvPr id="23" name="Text 20"/>
          <p:cNvSpPr txBox="1"/>
          <p:nvPr/>
        </p:nvSpPr>
        <p:spPr>
          <a:xfrm>
            <a:off x="722376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شَاهَدْتُ</a:t>
            </a:r>
            <a:endParaRPr lang="ar-SA" sz="2600" dirty="0"/>
          </a:p>
        </p:txBody>
      </p:sp>
      <p:sp>
        <p:nvSpPr>
          <p:cNvPr id="24" name="Text 21"/>
          <p:cNvSpPr txBox="1"/>
          <p:nvPr/>
        </p:nvSpPr>
        <p:spPr>
          <a:xfrm>
            <a:off x="475488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لَعِبْتُ</a:t>
            </a:r>
            <a:endParaRPr lang="ar-SA" sz="2600" dirty="0"/>
          </a:p>
        </p:txBody>
      </p:sp>
      <p:sp>
        <p:nvSpPr>
          <p:cNvPr id="25" name="Text 22"/>
          <p:cNvSpPr txBox="1"/>
          <p:nvPr/>
        </p:nvSpPr>
        <p:spPr>
          <a:xfrm>
            <a:off x="228600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ذَهَبْتُ</a:t>
            </a:r>
            <a:endParaRPr lang="ar-SA" sz="2600" dirty="0"/>
          </a:p>
        </p:txBody>
      </p:sp>
      <p:sp>
        <p:nvSpPr>
          <p:cNvPr id="26" name="Text 23"/>
          <p:cNvSpPr txBox="1"/>
          <p:nvPr/>
        </p:nvSpPr>
        <p:spPr>
          <a:xfrm>
            <a:off x="548640" y="2267712"/>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-ta</a:t>
            </a:r>
            <a:endParaRPr lang="en-US" sz="1100" dirty="0"/>
          </a:p>
        </p:txBody>
      </p:sp>
      <p:sp>
        <p:nvSpPr>
          <p:cNvPr id="31" name="Text 28"/>
          <p:cNvSpPr txBox="1"/>
          <p:nvPr/>
        </p:nvSpPr>
        <p:spPr>
          <a:xfrm>
            <a:off x="722376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شَاهَدْتَ</a:t>
            </a:r>
            <a:endParaRPr lang="ar-SA" sz="2600" dirty="0"/>
          </a:p>
        </p:txBody>
      </p:sp>
      <p:sp>
        <p:nvSpPr>
          <p:cNvPr id="32" name="Text 29"/>
          <p:cNvSpPr txBox="1"/>
          <p:nvPr/>
        </p:nvSpPr>
        <p:spPr>
          <a:xfrm>
            <a:off x="475488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لَعِبْتَ</a:t>
            </a:r>
            <a:endParaRPr lang="ar-SA" sz="2600" dirty="0"/>
          </a:p>
        </p:txBody>
      </p:sp>
      <p:sp>
        <p:nvSpPr>
          <p:cNvPr id="33" name="Text 30"/>
          <p:cNvSpPr txBox="1"/>
          <p:nvPr/>
        </p:nvSpPr>
        <p:spPr>
          <a:xfrm>
            <a:off x="228600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ذَهَبْتَ</a:t>
            </a:r>
            <a:endParaRPr lang="ar-SA" sz="2600" dirty="0"/>
          </a:p>
        </p:txBody>
      </p:sp>
      <p:sp>
        <p:nvSpPr>
          <p:cNvPr id="34" name="Text 31"/>
          <p:cNvSpPr txBox="1"/>
          <p:nvPr/>
        </p:nvSpPr>
        <p:spPr>
          <a:xfrm>
            <a:off x="548640" y="300471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أَنْتَ</a:t>
            </a:r>
            <a:endParaRPr lang="ar-SA" sz="220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 -ti</a:t>
            </a:r>
            <a:endParaRPr lang="en-US" sz="1100" dirty="0"/>
          </a:p>
        </p:txBody>
      </p:sp>
      <p:sp>
        <p:nvSpPr>
          <p:cNvPr id="37" name="Text 34"/>
          <p:cNvSpPr txBox="1"/>
          <p:nvPr/>
        </p:nvSpPr>
        <p:spPr>
          <a:xfrm>
            <a:off x="722376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شَاهَدْتِ</a:t>
            </a:r>
            <a:endParaRPr lang="ar-SA" sz="2600" dirty="0"/>
          </a:p>
        </p:txBody>
      </p:sp>
      <p:sp>
        <p:nvSpPr>
          <p:cNvPr id="38" name="Text 35"/>
          <p:cNvSpPr txBox="1"/>
          <p:nvPr/>
        </p:nvSpPr>
        <p:spPr>
          <a:xfrm>
            <a:off x="475488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لَعِبْتِ</a:t>
            </a:r>
            <a:endParaRPr lang="ar-SA" sz="2600" dirty="0"/>
          </a:p>
        </p:txBody>
      </p:sp>
      <p:sp>
        <p:nvSpPr>
          <p:cNvPr id="39" name="Text 36"/>
          <p:cNvSpPr txBox="1"/>
          <p:nvPr/>
        </p:nvSpPr>
        <p:spPr>
          <a:xfrm>
            <a:off x="228600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ذَهَبْتِ</a:t>
            </a:r>
            <a:endParaRPr lang="ar-SA" sz="2600" dirty="0"/>
          </a:p>
        </p:txBody>
      </p:sp>
      <p:sp>
        <p:nvSpPr>
          <p:cNvPr id="40" name="Text 37"/>
          <p:cNvSpPr txBox="1"/>
          <p:nvPr/>
        </p:nvSpPr>
        <p:spPr>
          <a:xfrm>
            <a:off x="548640" y="3741725"/>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أَنْتِ</a:t>
            </a:r>
            <a:endParaRPr lang="ar-SA" sz="220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no ending</a:t>
            </a:r>
            <a:endParaRPr lang="en-US" sz="1100" dirty="0"/>
          </a:p>
        </p:txBody>
      </p:sp>
      <p:sp>
        <p:nvSpPr>
          <p:cNvPr id="43" name="Text 40"/>
          <p:cNvSpPr txBox="1"/>
          <p:nvPr/>
        </p:nvSpPr>
        <p:spPr>
          <a:xfrm>
            <a:off x="722376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شَاهَدَ</a:t>
            </a:r>
            <a:endParaRPr lang="ar-SA" sz="2600" dirty="0"/>
          </a:p>
        </p:txBody>
      </p:sp>
      <p:sp>
        <p:nvSpPr>
          <p:cNvPr id="44" name="Text 41"/>
          <p:cNvSpPr txBox="1"/>
          <p:nvPr/>
        </p:nvSpPr>
        <p:spPr>
          <a:xfrm>
            <a:off x="475488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a:t>
            </a:r>
            <a:endParaRPr lang="ar-SA" sz="2600" dirty="0"/>
          </a:p>
        </p:txBody>
      </p:sp>
      <p:sp>
        <p:nvSpPr>
          <p:cNvPr id="45" name="Text 42"/>
          <p:cNvSpPr txBox="1"/>
          <p:nvPr/>
        </p:nvSpPr>
        <p:spPr>
          <a:xfrm>
            <a:off x="228600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ذَهَبَ</a:t>
            </a:r>
            <a:endParaRPr lang="ar-SA" sz="2600" dirty="0"/>
          </a:p>
        </p:txBody>
      </p:sp>
      <p:sp>
        <p:nvSpPr>
          <p:cNvPr id="46" name="Text 43"/>
          <p:cNvSpPr txBox="1"/>
          <p:nvPr/>
        </p:nvSpPr>
        <p:spPr>
          <a:xfrm>
            <a:off x="548640" y="4478731"/>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a:t>
            </a:r>
            <a:endParaRPr lang="ar-SA" sz="2200" dirty="0"/>
          </a:p>
        </p:txBody>
      </p:sp>
      <p:sp>
        <p:nvSpPr>
          <p:cNvPr id="47" name="Shape 4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-at</a:t>
            </a:r>
            <a:endParaRPr lang="en-US" sz="1100" dirty="0"/>
          </a:p>
        </p:txBody>
      </p:sp>
      <p:sp>
        <p:nvSpPr>
          <p:cNvPr id="51" name="Text 48"/>
          <p:cNvSpPr txBox="1"/>
          <p:nvPr/>
        </p:nvSpPr>
        <p:spPr>
          <a:xfrm>
            <a:off x="722376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شَاهَدَتْ</a:t>
            </a:r>
            <a:endParaRPr lang="ar-SA" sz="2600" dirty="0"/>
          </a:p>
        </p:txBody>
      </p:sp>
      <p:sp>
        <p:nvSpPr>
          <p:cNvPr id="52" name="Text 49"/>
          <p:cNvSpPr txBox="1"/>
          <p:nvPr/>
        </p:nvSpPr>
        <p:spPr>
          <a:xfrm>
            <a:off x="475488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لَعِبَتْ</a:t>
            </a:r>
            <a:endParaRPr lang="ar-SA" sz="2600" dirty="0"/>
          </a:p>
        </p:txBody>
      </p:sp>
      <p:sp>
        <p:nvSpPr>
          <p:cNvPr id="53" name="Text 50"/>
          <p:cNvSpPr txBox="1"/>
          <p:nvPr/>
        </p:nvSpPr>
        <p:spPr>
          <a:xfrm>
            <a:off x="228600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ذَهَبَتْ</a:t>
            </a:r>
            <a:endParaRPr lang="ar-SA" sz="2600" dirty="0"/>
          </a:p>
        </p:txBody>
      </p:sp>
      <p:sp>
        <p:nvSpPr>
          <p:cNvPr id="54" name="Text 51"/>
          <p:cNvSpPr txBox="1"/>
          <p:nvPr/>
        </p:nvSpPr>
        <p:spPr>
          <a:xfrm>
            <a:off x="548640" y="521573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a:t>
            </a:r>
            <a:endParaRPr lang="ar-SA" sz="2200" dirty="0"/>
          </a:p>
        </p:txBody>
      </p:sp>
      <p:sp>
        <p:nvSpPr>
          <p:cNvPr id="55" name="Shape 5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 you (m.) / you (f.): the same letters — only the LAST vowel (-tu · -ta · -ti) shows the person. Always write it.</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TIME FIRST, VERB IN THE PAST (WEBSITE RULE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did it happen?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مَتَى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TIME FIRST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أَمْسِ لَعِبْتُ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أَمْسِ لَعِبْتُ كُرَةَ القَدَمِ.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Yesterday I played football.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Time, then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A FRIEND · DEVELOP</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شَاهَدْتَ · شَاهَدْتِ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هَلْ شَاهَدْتِ المُبَارَاةَ يَا سَلْمَى؟</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Did you watch the match, Salma?</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girl: -ti.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AGO · STRETCH</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مُنْذُ أُسْبُوعٍ · قَبْلَ شَهْرٍ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قَرَأْتُ الكِتَابَ مُنْذُ أُسْبُوعٍ.</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read the book a week ago.</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Genitive after mundhu.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Salma is “she” — use the -at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سَلْمَى لَعِبَتْ كُرَةَ السَّلَّةِ.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سَلْمَى لَعِبْتُ كُرَةَ السَّلَّةِ.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past-tense suffix system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نِظَامُ لَوَاحِقِ الفِعْلِ المَاضِي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هِيَ</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هُوَ</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فَعَلَ</a:t>
            </a:r>
            <a:pPr algn="l" indent="0" marL="0">
              <a:buNone/>
            </a:pPr>
            <a:r>
              <a:rPr lang="en-US" sz="1050" dirty="0">
                <a:solidFill>
                  <a:srgbClr val="5A6472"/>
                </a:solidFill>
                <a:latin typeface="Calibri" pitchFamily="34" charset="0"/>
                <a:cs typeface="Amiri" pitchFamily="2" charset="-78"/>
              </a:rPr>
              <a:t> (no suffix) · </a:t>
            </a:r>
            <a:pPr algn="l" indent="0" marL="0">
              <a:buNone/>
            </a:pPr>
            <a:r>
              <a:rPr lang="ar-SA" altLang="en-US" sz="1350" dirty="0">
                <a:solidFill>
                  <a:srgbClr val="5A6472"/>
                </a:solidFill>
                <a:latin typeface="Amiri" pitchFamily="2" charset="-78"/>
                <a:ea typeface="Amiri" pitchFamily="2" charset="-78"/>
                <a:cs typeface="Amiri" pitchFamily="2" charset="-78"/>
              </a:rPr>
              <a:t>هِيَ</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فَعَلَتْ</a:t>
            </a:r>
            <a:pPr algn="l" indent="0" marL="0">
              <a:buNone/>
            </a:pPr>
            <a:r>
              <a:rPr lang="en-US" sz="1050"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ـَتْ</a:t>
            </a:r>
            <a:pPr algn="l" indent="0" marL="0">
              <a:buNone/>
            </a:pPr>
            <a:r>
              <a:rPr lang="en-US" sz="1050" dirty="0">
                <a:solidFill>
                  <a:srgbClr val="5A6472"/>
                </a:solidFill>
                <a:latin typeface="Calibri" pitchFamily="34" charset="0"/>
                <a:cs typeface="Amiri" pitchFamily="2" charset="-78"/>
              </a:rPr>
              <a: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لَعِبَ يُوسُفُ   ·   لَعِبَتْ سَلْمَى</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أَنَا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أَنَا → فَعَلْتُ (ـْتُ)</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ذَهَبْتُ إِلَى النَّادِي   ·   قَرَأْتُ رِوَايَةً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أَنْتِ</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أَنْتَ → فَعَلْتَ (ـْتَ) · أَنْتِ → فَعَلْتِ (ـْتِ)</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هَلْ شَاهَدْتَ المُبَارَاةَ؟   ·   هَلْ شَاهَدْتِ المُبَارَاةَ؟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time expressions come first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time expression + past verb + rest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أَمْسِ لَعِبْتُ كُرَةَ القَدَمِ   ·   الأُسْبُوعَ المَاضِيَ شَاهَدْتُ فِيلْمًا رَائِعًا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addresses one female accurately?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شَاهَدْتَ المُبَارَاةَ؟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شَاهَدْتِ المُبَارَاةَ؟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شَاهَدَتْ المُبَارَاةَ؟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أَمْسِ ___ سَلْمَى فِي الحَدِيقَةِ.</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رَسَمْتِ</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with a ḍamma.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ذَهَبَتْ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with a fatḥa before the tāʾ and a sukūn on it.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addresses one female accurately?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شَاهَدْتَ المُبَارَاةَ؟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شَاهَدْتِ المُبَارَاةَ؟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شَاهَدَتْ المُبَارَاةَ؟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Addressing </a:t>
            </a:r>
            <a:pPr algn="l" indent="0" marL="0">
              <a:buNone/>
            </a:pPr>
            <a:r>
              <a:rPr lang="ar-SA" altLang="en-US" sz="1350" dirty="0">
                <a:solidFill>
                  <a:srgbClr val="8A6D1E"/>
                </a:solidFill>
                <a:latin typeface="Amiri" pitchFamily="2" charset="-78"/>
                <a:ea typeface="Amiri" pitchFamily="2" charset="-78"/>
                <a:cs typeface="Amiri" pitchFamily="2" charset="-78"/>
              </a:rPr>
              <a:t>أَنْتِ</a:t>
            </a:r>
            <a:pPr algn="l" indent="0" marL="0">
              <a:buNone/>
            </a:pPr>
            <a:r>
              <a:rPr lang="en-US" sz="1050" i="1" dirty="0">
                <a:solidFill>
                  <a:srgbClr val="8A6D1E"/>
                </a:solidFill>
                <a:latin typeface="Calibri" pitchFamily="34" charset="0"/>
                <a:cs typeface="Amiri" pitchFamily="2" charset="-78"/>
              </a:rPr>
              <a:t> requires the kasra ending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أَمْسِ ___ سَلْمَى فِي الحَدِيقَةِ.</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رَسَمَتْ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رَسَمْتِ</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سَلْمَى</a:t>
            </a:r>
            <a:pPr algn="l" indent="0" marL="0">
              <a:buNone/>
            </a:pPr>
            <a:r>
              <a:rPr lang="en-US" sz="1050" i="1" dirty="0">
                <a:solidFill>
                  <a:srgbClr val="8A6D1E"/>
                </a:solidFill>
                <a:latin typeface="Calibri" pitchFamily="34" charset="0"/>
                <a:cs typeface="Amiri" pitchFamily="2" charset="-78"/>
              </a:rPr>
              <a:t> is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so the verb takes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tell you about yesterday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Time first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أَمْسِ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time word.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 did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ذَهَبْتُ</a:t>
            </a:r>
            <a:pPr rtl="1" algn="ctr" indent="0" marL="0">
              <a:buNone/>
            </a:pPr>
            <a:r>
              <a:rPr lang="ar-SA" altLang="en-US" sz="2800" b="1" dirty="0">
                <a:solidFill>
                  <a:srgbClr val="1B3B6F"/>
                </a:solidFill>
                <a:latin typeface="Amiri" pitchFamily="2" charset="-78"/>
                <a:ea typeface="Amiri" pitchFamily="2" charset="-78"/>
                <a:cs typeface="Amiri" pitchFamily="2" charset="-78"/>
              </a:rPr>
              <a:t> إِلَى النَّادِي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-tu.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did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سَلْمَى </a:t>
            </a:r>
            <a:pPr rtl="1" algn="ctr" indent="0" marL="0">
              <a:buNone/>
            </a:pPr>
            <a:r>
              <a:rPr lang="ar-SA" altLang="en-US" sz="2800" b="1" dirty="0">
                <a:solidFill>
                  <a:srgbClr val="1D5FBF"/>
                </a:solidFill>
                <a:latin typeface="Amiri" pitchFamily="2" charset="-78"/>
                <a:ea typeface="Amiri" pitchFamily="2" charset="-78"/>
                <a:cs typeface="Amiri" pitchFamily="2" charset="-78"/>
              </a:rPr>
              <a:t>رَسَمَتْ</a:t>
            </a:r>
            <a:pPr rtl="1" algn="ctr" indent="0" marL="0">
              <a:buNone/>
            </a:pPr>
            <a:r>
              <a:rPr lang="ar-SA" altLang="en-US" sz="2800" b="1" dirty="0">
                <a:solidFill>
                  <a:srgbClr val="1B3B6F"/>
                </a:solidFill>
                <a:latin typeface="Amiri" pitchFamily="2" charset="-78"/>
                <a:ea typeface="Amiri" pitchFamily="2" charset="-78"/>
                <a:cs typeface="Amiri" pitchFamily="2" charset="-78"/>
              </a:rPr>
              <a:t> لَوْحَةً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Ask him</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هَلْ </a:t>
            </a:r>
            <a:pPr rtl="1" algn="ctr" indent="0" marL="0">
              <a:buNone/>
            </a:pPr>
            <a:r>
              <a:rPr lang="ar-SA" altLang="en-US" sz="2800" b="1" dirty="0">
                <a:solidFill>
                  <a:srgbClr val="D6336C"/>
                </a:solidFill>
                <a:latin typeface="Amiri" pitchFamily="2" charset="-78"/>
                <a:ea typeface="Amiri" pitchFamily="2" charset="-78"/>
                <a:cs typeface="Amiri" pitchFamily="2" charset="-78"/>
              </a:rPr>
              <a:t>قَرَأْتَ</a:t>
            </a:r>
            <a:pPr rtl="1" algn="ctr" indent="0" marL="0">
              <a:buNone/>
            </a:pPr>
            <a:r>
              <a:rPr lang="ar-SA" altLang="en-US" sz="2800" b="1" dirty="0">
                <a:solidFill>
                  <a:srgbClr val="1B3B6F"/>
                </a:solidFill>
                <a:latin typeface="Amiri" pitchFamily="2" charset="-78"/>
                <a:ea typeface="Amiri" pitchFamily="2" charset="-78"/>
                <a:cs typeface="Amiri" pitchFamily="2" charset="-78"/>
              </a:rPr>
              <a:t> الكِتَابَ؟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You (m.): -ta.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 / YOU</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أَمْسِ</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ذَهَبْتُ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إِلَى المَكْتَبَةِ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وَقَرَأْتُ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كِتَابًا مُمْتِعًا.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الأُسْبُوعَ المَاضِيَ</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شَاهَدْتُ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فِيلْمًا طَوِيلًا مَعَ أَصْدِقَائِي. أَمَّا أَخِي فَقَدْ لَعِبَ كُرَةَ القَدَمِ، وَأُخْتِي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رَسَمَتْ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لَوْحَةً جَمِيلَةً.</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Yesterday I went to the library and read an enjoyable book. Last week I watched a long film with my friends. As for my brother, he played football, and my sister drew a beautiful picture.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لَعِبْتُ / لَعِبْتَ / لَعِبْتِ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played / you (m.) played / you (f.) played</a:t>
            </a:r>
            <a:endParaRPr lang="en-US" sz="1250" dirty="0"/>
          </a:p>
          <a:p>
            <a:pPr indent="0" marL="0">
              <a:buNone/>
            </a:pPr>
            <a:r>
              <a:rPr lang="en-US" sz="1050" i="1" dirty="0">
                <a:solidFill>
                  <a:srgbClr val="8A6D1E"/>
                </a:solidFill>
                <a:latin typeface="Calibri" pitchFamily="34" charset="0"/>
                <a:cs typeface="Amiri" pitchFamily="2" charset="-78"/>
              </a:rPr>
              <a:t>Identical consonants; only the final short vowel changes the person.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لَعِبَتْ سَلْمَى</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Salma played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هِيَ suffix is ـَتْ with a sukūn on the tāʾ.</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أَمْسِ ذَهَبْتُ إِلَى النَّادِي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Yesterday I went to the club</a:t>
            </a:r>
            <a:endParaRPr lang="en-US" sz="1250" dirty="0"/>
          </a:p>
          <a:p>
            <a:pPr indent="0" marL="0">
              <a:buNone/>
            </a:pPr>
            <a:r>
              <a:rPr lang="en-US" sz="1050" i="1" dirty="0">
                <a:solidFill>
                  <a:srgbClr val="8A6D1E"/>
                </a:solidFill>
                <a:latin typeface="Calibri" pitchFamily="34" charset="0"/>
                <a:cs typeface="Amiri" pitchFamily="2" charset="-78"/>
              </a:rPr>
              <a:t>The past time expression opens the sentence.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PAST TENSE — FORM I REGULAR SINGULAR VERBS”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did I do?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football, yesterday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summer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swimming, the sea</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سَافَرْتُ إِلَى مِصْرَ فِي الصَّيْفِ المَاضِي.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سَبَحْتُ فِي البَحْرِ.</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لَعِبْتُ كُرَةَ القَدَمِ أَمْسِ.</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football, yesterday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لَعِبْتُ كُرَةَ القَدَمِ أَمْسِ.</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played football yesterday.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summer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سَافَرْتُ إِلَى مِصْرَ فِي الصَّيْفِ المَاضِي.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travelled to Egypt last summer.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swimming, the sea</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سَبَحْتُ فِي البَحْرِ.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swam in the sea.</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قَرَأْتُ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طَبَخْتُ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رَسَمَتْ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خَرَجَتْ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شَاهَدْتِ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كَتَبْتِ</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سَمِعْتِ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أَنَا</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هِيَ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أَنْتِ</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أَنَا</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قَرَأْتُ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طَبَخْتُ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هِيَ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رَسَمَتْ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خَرَجَتْ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أَنْتِ</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شَاهَدْتِ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سَمِعْتِ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follows the </a:t>
            </a:r>
            <a:pPr algn="l" indent="0" marL="0">
              <a:buNone/>
            </a:pPr>
            <a:r>
              <a:rPr lang="ar-SA" altLang="en-US" sz="1650" b="1" dirty="0">
                <a:solidFill>
                  <a:srgbClr val="1B3B6F"/>
                </a:solidFill>
                <a:latin typeface="Amiri" pitchFamily="2" charset="-78"/>
                <a:ea typeface="Amiri" pitchFamily="2" charset="-78"/>
                <a:cs typeface="Amiri" pitchFamily="2" charset="-78"/>
              </a:rPr>
              <a:t>فَعِلَ</a:t>
            </a:r>
            <a:pPr algn="l" indent="0" marL="0">
              <a:buNone/>
            </a:pPr>
            <a:r>
              <a:rPr lang="en-US" sz="1250" b="1" dirty="0">
                <a:solidFill>
                  <a:srgbClr val="1B3B6F"/>
                </a:solidFill>
                <a:latin typeface="Calibri" pitchFamily="34" charset="0"/>
                <a:cs typeface="Amiri" pitchFamily="2" charset="-78"/>
              </a:rPr>
              <a:t>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sentence with a time expression.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الأُسْبُوعُ المَاضِي ذَهَبْتُ إِلَى المَسْبَحِ.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الأُسْبُوعَ المَاضِيَ ذَهَبْتُ إِلَى المَسْبَحِ.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الأُسْبُوعَ المَاضِيَ أَذْهَبُ إِلَى المَسْبَحِ.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أُسْبُوعٍ قَرَأْتُ كِتَابًا مُمْتِعًا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الآنَ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three-tense set for </a:t>
            </a:r>
            <a:pPr algn="l" indent="0" marL="0">
              <a:buNone/>
            </a:pPr>
            <a:r>
              <a:rPr lang="ar-SA" altLang="en-US" sz="1650" b="1" dirty="0">
                <a:solidFill>
                  <a:srgbClr val="1B3B6F"/>
                </a:solidFill>
                <a:latin typeface="Amiri" pitchFamily="2" charset="-78"/>
                <a:ea typeface="Amiri" pitchFamily="2" charset="-78"/>
                <a:cs typeface="Amiri" pitchFamily="2" charset="-78"/>
              </a:rPr>
              <a:t>سَبَحَ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تَسْبَحُ / سَبَحْتُ / سَتَسْبَحُ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سَبَحَتْ / تَسْبَحُ / سَبَحَتْ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تَسْبَحُ / سَبَحَتْ / سَتَسْبَحُ</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follows the </a:t>
            </a:r>
            <a:pPr algn="l" indent="0" marL="0">
              <a:buNone/>
            </a:pPr>
            <a:r>
              <a:rPr lang="ar-SA" altLang="en-US" sz="1650" b="1" dirty="0">
                <a:solidFill>
                  <a:srgbClr val="1B3B6F"/>
                </a:solidFill>
                <a:latin typeface="Amiri" pitchFamily="2" charset="-78"/>
                <a:ea typeface="Amiri" pitchFamily="2" charset="-78"/>
                <a:cs typeface="Amiri" pitchFamily="2" charset="-78"/>
              </a:rPr>
              <a:t>فَعِلَ</a:t>
            </a:r>
            <a:pPr algn="l" indent="0" marL="0">
              <a:buNone/>
            </a:pPr>
            <a:r>
              <a:rPr lang="en-US" sz="1250" b="1" dirty="0">
                <a:solidFill>
                  <a:srgbClr val="1B3B6F"/>
                </a:solidFill>
                <a:latin typeface="Calibri" pitchFamily="34" charset="0"/>
                <a:cs typeface="Amiri" pitchFamily="2" charset="-78"/>
              </a:rPr>
              <a:t>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شَرِبَ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شَرِبَ</a:t>
            </a:r>
            <a:pPr algn="l" indent="0" marL="0">
              <a:buNone/>
            </a:pPr>
            <a:r>
              <a:rPr lang="en-US" sz="1050" i="1" dirty="0">
                <a:solidFill>
                  <a:srgbClr val="8A6D1E"/>
                </a:solidFill>
                <a:latin typeface="Calibri" pitchFamily="34" charset="0"/>
                <a:cs typeface="Amiri" pitchFamily="2" charset="-78"/>
              </a:rPr>
              <a:t> carries a kasra on its middle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sentence with a time expression.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الأُسْبُوعُ المَاضِي ذَهَبْتُ إِلَى المَسْبَحِ.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الأُسْبُوعَ المَاضِيَ ذَهَبْتُ إِلَى المَسْبَحِ.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الأُسْبُوعَ المَاضِيَ أَذْهَبُ إِلَى المَسْبَحِ.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time phrase is adverbial and accusative, and the verb must be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أُسْبُوعٍ قَرَأْتُ كِتَابًا مُمْتِعًا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مُنْذُ</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الآنَ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مُنْذُ</a:t>
            </a:r>
            <a:pPr algn="l" indent="0" marL="0">
              <a:buNone/>
            </a:pPr>
            <a:r>
              <a:rPr lang="en-US" sz="1050" i="1" dirty="0">
                <a:solidFill>
                  <a:srgbClr val="8A6D1E"/>
                </a:solidFill>
                <a:latin typeface="Calibri" pitchFamily="34" charset="0"/>
                <a:cs typeface="Amiri" pitchFamily="2" charset="-78"/>
              </a:rPr>
              <a:t> is followed by a genitive noun and suits a completed period.</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three-tense set for </a:t>
            </a:r>
            <a:pPr algn="l" indent="0" marL="0">
              <a:buNone/>
            </a:pPr>
            <a:r>
              <a:rPr lang="ar-SA" altLang="en-US" sz="1650" b="1" dirty="0">
                <a:solidFill>
                  <a:srgbClr val="1B3B6F"/>
                </a:solidFill>
                <a:latin typeface="Amiri" pitchFamily="2" charset="-78"/>
                <a:ea typeface="Amiri" pitchFamily="2" charset="-78"/>
                <a:cs typeface="Amiri" pitchFamily="2" charset="-78"/>
              </a:rPr>
              <a:t>سَبَحَ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تَسْبَحُ / سَبَحْتُ / سَتَسْبَحُ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سَبَحَتْ / تَسْبَحُ / سَبَحَتْ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تَسْبَحُ / سَبَحَتْ / سَتَسْبَحُ</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the present is </a:t>
            </a:r>
            <a:pPr algn="l" indent="0" marL="0">
              <a:buNone/>
            </a:pPr>
            <a:r>
              <a:rPr lang="ar-SA" altLang="en-US" sz="1350" dirty="0">
                <a:solidFill>
                  <a:srgbClr val="8A6D1E"/>
                </a:solidFill>
                <a:latin typeface="Amiri" pitchFamily="2" charset="-78"/>
                <a:ea typeface="Amiri" pitchFamily="2" charset="-78"/>
                <a:cs typeface="Amiri" pitchFamily="2" charset="-78"/>
              </a:rPr>
              <a:t>تَسْبَحُ</a:t>
            </a:r>
            <a:pPr algn="l" indent="0" marL="0">
              <a:buNone/>
            </a:pPr>
            <a:r>
              <a:rPr lang="en-US" sz="1050" i="1" dirty="0">
                <a:solidFill>
                  <a:srgbClr val="8A6D1E"/>
                </a:solidFill>
                <a:latin typeface="Calibri" pitchFamily="34" charset="0"/>
                <a:cs typeface="Amiri" pitchFamily="2" charset="-78"/>
              </a:rPr>
              <a:t>, the past </a:t>
            </a:r>
            <a:pPr algn="l" indent="0" marL="0">
              <a:buNone/>
            </a:pPr>
            <a:r>
              <a:rPr lang="ar-SA" altLang="en-US" sz="1350" dirty="0">
                <a:solidFill>
                  <a:srgbClr val="8A6D1E"/>
                </a:solidFill>
                <a:latin typeface="Amiri" pitchFamily="2" charset="-78"/>
                <a:ea typeface="Amiri" pitchFamily="2" charset="-78"/>
                <a:cs typeface="Amiri" pitchFamily="2" charset="-78"/>
              </a:rPr>
              <a:t>سَبَحَتْ</a:t>
            </a:r>
            <a:pPr algn="l" indent="0" marL="0">
              <a:buNone/>
            </a:pPr>
            <a:r>
              <a:rPr lang="en-US" sz="1050" i="1" dirty="0">
                <a:solidFill>
                  <a:srgbClr val="8A6D1E"/>
                </a:solidFill>
                <a:latin typeface="Calibri" pitchFamily="34" charset="0"/>
                <a:cs typeface="Amiri" pitchFamily="2" charset="-78"/>
              </a:rPr>
              <a:t> and the future </a:t>
            </a:r>
            <a:pPr algn="l" indent="0" marL="0">
              <a:buNone/>
            </a:pPr>
            <a:r>
              <a:rPr lang="ar-SA" altLang="en-US" sz="1350" dirty="0">
                <a:solidFill>
                  <a:srgbClr val="8A6D1E"/>
                </a:solidFill>
                <a:latin typeface="Amiri" pitchFamily="2" charset="-78"/>
                <a:ea typeface="Amiri" pitchFamily="2" charset="-78"/>
                <a:cs typeface="Amiri" pitchFamily="2" charset="-78"/>
              </a:rPr>
              <a:t>سَتَسْبَحُ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أَمْسِ أَذْهَبُ إِلَى النَّادِي.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amsi: 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سَلْمَى لَعِبْتُ كُرَةَ السَّلَّةِ.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Salma: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هَلْ شَاهَدْتَ المُبَارَاةَ يَا سَلْمَى؟</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girl: -ta or -ti?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أَمْسِ أَذْهَبُ إِلَى النَّادِي.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أَمْسِ ذَهَبْتُ إِلَى النَّادِي.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أَمْسِ</a:t>
            </a:r>
            <a:pPr algn="l" indent="0" marL="0">
              <a:buNone/>
            </a:pPr>
            <a:r>
              <a:rPr lang="en-US" sz="1150" b="1" dirty="0">
                <a:solidFill>
                  <a:srgbClr val="1B3B6F"/>
                </a:solidFill>
                <a:latin typeface="Calibri" pitchFamily="34" charset="0"/>
                <a:cs typeface="Amiri" pitchFamily="2" charset="-78"/>
              </a:rPr>
              <a:t> requires a past-tense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سَلْمَى لَعِبْتُ كُرَةَ السَّلَّةِ.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سَلْمَى لَعِبَتْ كُرَةَ السَّلَّةِ.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سَلْمَى</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ea typeface="Amiri" pitchFamily="2" charset="-78"/>
                <a:cs typeface="Amiri" pitchFamily="2" charset="-78"/>
              </a:rPr>
              <a:t>هِيَ</a:t>
            </a:r>
            <a:pPr algn="l" indent="0" marL="0">
              <a:buNone/>
            </a:pPr>
            <a:r>
              <a:rPr lang="en-US" sz="1150" b="1" dirty="0">
                <a:solidFill>
                  <a:srgbClr val="1B3B6F"/>
                </a:solidFill>
                <a:latin typeface="Calibri" pitchFamily="34" charset="0"/>
                <a:cs typeface="Amiri" pitchFamily="2" charset="-78"/>
              </a:rPr>
              <a:t>, so the suffix is </a:t>
            </a:r>
            <a:pPr algn="l" indent="0" marL="0">
              <a:buNone/>
            </a:pPr>
            <a:r>
              <a:rPr lang="ar-SA" altLang="en-US" sz="1500" b="1" dirty="0">
                <a:solidFill>
                  <a:srgbClr val="1B3B6F"/>
                </a:solidFill>
                <a:latin typeface="Amiri" pitchFamily="2" charset="-78"/>
                <a:ea typeface="Amiri" pitchFamily="2" charset="-78"/>
                <a:cs typeface="Amiri" pitchFamily="2" charset="-78"/>
              </a:rPr>
              <a:t>ـَتْ</a:t>
            </a:r>
            <a:pPr algn="l" indent="0" marL="0">
              <a:buNone/>
            </a:pPr>
            <a:r>
              <a:rPr lang="en-US" sz="1150" b="1" dirty="0">
                <a:solidFill>
                  <a:srgbClr val="1B3B6F"/>
                </a:solidFill>
                <a:latin typeface="Calibri" pitchFamily="34" charset="0"/>
                <a:cs typeface="Amiri" pitchFamily="2" charset="-78"/>
              </a:rPr>
              <a:t>, not the </a:t>
            </a:r>
            <a:pPr algn="l" indent="0" marL="0">
              <a:buNone/>
            </a:pPr>
            <a:r>
              <a:rPr lang="ar-SA" altLang="en-US" sz="1500" b="1" dirty="0">
                <a:solidFill>
                  <a:srgbClr val="1B3B6F"/>
                </a:solidFill>
                <a:latin typeface="Amiri" pitchFamily="2" charset="-78"/>
                <a:ea typeface="Amiri" pitchFamily="2" charset="-78"/>
                <a:cs typeface="Amiri" pitchFamily="2" charset="-78"/>
              </a:rPr>
              <a:t>أَنَا</a:t>
            </a:r>
            <a:pPr algn="l" indent="0" marL="0">
              <a:buNone/>
            </a:pPr>
            <a:r>
              <a:rPr lang="en-US" sz="1150" b="1" dirty="0">
                <a:solidFill>
                  <a:srgbClr val="1B3B6F"/>
                </a:solidFill>
                <a:latin typeface="Calibri" pitchFamily="34" charset="0"/>
                <a:cs typeface="Amiri" pitchFamily="2" charset="-78"/>
              </a:rPr>
              <a:t>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هَلْ شَاهَدْتَ المُبَارَاةَ يَا سَلْمَى؟</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هَلْ شَاهَدْتِ المُبَارَاةَ يَا سَلْمَى؟</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Addressing a female requires the kasra ending </a:t>
            </a:r>
            <a:pPr algn="l" indent="0" marL="0">
              <a:buNone/>
            </a:pPr>
            <a:r>
              <a:rPr lang="ar-SA" altLang="en-US" sz="1500" b="1" dirty="0">
                <a:solidFill>
                  <a:srgbClr val="1B3B6F"/>
                </a:solidFill>
                <a:latin typeface="Amiri" pitchFamily="2" charset="-78"/>
                <a:ea typeface="Amiri" pitchFamily="2" charset="-78"/>
                <a:cs typeface="Amiri" pitchFamily="2" charset="-78"/>
              </a:rPr>
              <a:t>ـْتِ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what everyone did yesterday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at the club?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Played basketball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Swam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Watched a match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after returning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Drew a picture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a 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Cooked dinner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Salmā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Cooked then slept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Played basketball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Drew a picture then went out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does the mother use to address Yūsuf?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had he read the book?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week ago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summer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Who? I (Yusuf) · Salma · Mum.</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أَمْسِ ذَهَبْتُ إِلَى النَّادِي وَلَعِبْتُ كُرَةَ السَّلَّةِ مَعَ أَصْدِقَائِي.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 I went to the club and played basketball with my friends.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وَبَعْدَ ذٰلِكَ رَجَعْتُ إِلَى البَيْتِ وَطَبَخْتُ العَشَاءَ.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I went back home and cooked dinner.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أُخْتِي سَلْمَى فَقَدْ رَسَمَتْ لَوْحَةً جَمِيلَةً، ثُمَّ خَرَجَتْ مَعَ صَدِيقَتِهَا.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my sister Salma, she drew a beautiful picture, then went out with her friend.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المَسَاءِ شَاهَدْنَا فِيلْمًا مَعًا.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we watched a film together.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وَقَالَتْ لِي أُمِّي: هَلْ قَرَأْتَ الكِتَابَ يَا يُوسُفُ؟ فَأَجَبْتُ: نَعَمْ، قَرَأْتُهُ مُنْذُ أُسْبُوعٍ.</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mother said to me: “Did you read the book, Yusuf?” I answered: “Yes, I read it a week ago.”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at the club?</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Played basketball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Swam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Watched a match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لَعِبْتُ كُرَةَ السَّلَّةِ مَعَ أَصْدِقَائِي.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after returning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Drew a picture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a 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Cooked dinner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رَجَعْتُ إِلَى البَيْتِ وَطَبَخْتُ العَشَاءَ.</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Salmā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Cooked then slept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Played basketball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Drew a picture then went out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رَسَمَتْ لَوْحَةً جَمِيلَةً، ثُمَّ خَرَجَتْ.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does the mother use to address Yūsuf?</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قَرَأْتَ</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Yūsuf is male, so the </a:t>
            </a:r>
            <a:pPr algn="l" indent="0" marL="0">
              <a:buNone/>
            </a:pPr>
            <a:r>
              <a:rPr lang="ar-SA" altLang="en-US" sz="1350" dirty="0">
                <a:solidFill>
                  <a:srgbClr val="8A6D1E"/>
                </a:solidFill>
                <a:latin typeface="Amiri" pitchFamily="2" charset="-78"/>
                <a:ea typeface="Amiri" pitchFamily="2" charset="-78"/>
                <a:cs typeface="Amiri" pitchFamily="2" charset="-78"/>
              </a:rPr>
              <a:t>أَنْتَ</a:t>
            </a:r>
            <a:pPr algn="l" indent="0" marL="0">
              <a:buNone/>
            </a:pPr>
            <a:r>
              <a:rPr lang="en-US" sz="1050" i="1" dirty="0">
                <a:solidFill>
                  <a:srgbClr val="8A6D1E"/>
                </a:solidFill>
                <a:latin typeface="Calibri" pitchFamily="34" charset="0"/>
                <a:cs typeface="Amiri" pitchFamily="2" charset="-78"/>
              </a:rPr>
              <a:t> ending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is used.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had he read the book?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Yesterday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week ago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summer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قَرَأْتُهُ مُنْذُ أُسْبُوعٍ.</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Who? I (Yusuf) · Salma · Mum.</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my weekend in the past tense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فِي نِهَايَةِ الأُسْبُوعِ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عَائِلَتُكَ فِي الإِجَازَةِ؟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قَرَأْتَ آخِرَ كِتَابٍ؟ وَهَلْ أَعْجَبَكَ؟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نِهَايَةِ الأُسْبُوعِ ذَهَبْتُ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أُخْتِي ___ـَتْ ، وَأَخِي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قَرَأْتُ ___ مُنْذُ ___ ، وَأَعْجَبَنِي لِأَنَّ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فَعَلْتَ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you do yesterday?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أَمْسِ ذَهَبْتُ إِلَى النَّادِي وَلَعِبْتُ كُرَةَ السَّلَّةِ.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Yesterday I went to the club and played basketball.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the conjugation table for three verbs, then write four sentences with </a:t>
            </a:r>
            <a:pPr algn="l" indent="0" marL="0">
              <a:buNone/>
            </a:pPr>
            <a:r>
              <a:rPr lang="ar-SA" altLang="en-US" sz="1800" b="1" dirty="0">
                <a:solidFill>
                  <a:srgbClr val="1F2A37"/>
                </a:solidFill>
                <a:latin typeface="Amiri" pitchFamily="2" charset="-78"/>
                <a:ea typeface="Amiri" pitchFamily="2" charset="-78"/>
                <a:cs typeface="Amiri" pitchFamily="2" charset="-78"/>
              </a:rPr>
              <a:t>أَنَا</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هِيَ</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Three with أَنَا and three with هُوَ / هِيَ, each starting with a time word.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short paragraph that moves between </a:t>
            </a:r>
            <a:pPr algn="l" indent="0" marL="0">
              <a:buNone/>
            </a:pPr>
            <a:r>
              <a:rPr lang="ar-SA" altLang="en-US" sz="1800" b="1" dirty="0">
                <a:solidFill>
                  <a:srgbClr val="1F2A37"/>
                </a:solidFill>
                <a:latin typeface="Amiri" pitchFamily="2" charset="-78"/>
                <a:ea typeface="Amiri" pitchFamily="2" charset="-78"/>
                <a:cs typeface="Amiri" pitchFamily="2" charset="-78"/>
              </a:rPr>
              <a:t>أَنَا</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هِيَ</a:t>
            </a:r>
            <a:pPr algn="l" indent="0" marL="0">
              <a:buNone/>
            </a:pPr>
            <a:r>
              <a:rPr lang="en-US" sz="1400" b="1" dirty="0">
                <a:solidFill>
                  <a:srgbClr val="1F2A37"/>
                </a:solidFill>
                <a:latin typeface="Calibri" pitchFamily="34" charset="0"/>
                <a:cs typeface="Amiri" pitchFamily="2" charset="-78"/>
              </a:rPr>
              <a:t> and opens with a time expression.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paragraph moving between أَنَا and هِيَ, plus one question to a friend (ـْتَ / ـْتِ).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Contrast present, past and future for the same verb in one linked paragraph, keeping every suffix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4 أَنَا · 3 هُوَ / هِيَ · 2 أَنْتَ / أَنْتِ · 1 مُنْذُ / قَبْلَ, a new verb each time.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قَرَأْتَ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you (m.) read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شَاهَدْتِ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you (f.) watch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أُسْبُوعٍ ______ 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week ago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الإِجَازَةِ ______ 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During the holiday she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ذَهَبْتُ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went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الأُسْبُوعَ المَاضِيَ شَاهَدْتُ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I watched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لَعِبَ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played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رَسَمَتْ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drew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ذَهَبْتُ  ·  لَعِبْتُ  ·  شَاهَدْتُ  ·  قَرَأْتُ  ·  كَتَبْتُ  ·  طَبَخْتُ  ·  رَسَمَتْ  ·  خَرَجَتْ  ·  أَمْسِ  ·  الأُسْبُوعَ المَاضِيَ  ·  مُنْذُ أُسْبُوعٍ  ·  قَبْلَ شَهْرٍ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ten sentences about last week: four with </a:t>
            </a:r>
            <a:pPr algn="l" indent="0" marL="0">
              <a:buNone/>
            </a:pPr>
            <a:r>
              <a:rPr lang="ar-SA" altLang="en-US" sz="1750" b="1" dirty="0">
                <a:solidFill>
                  <a:srgbClr val="1F2A37"/>
                </a:solidFill>
                <a:latin typeface="Amiri" pitchFamily="2" charset="-78"/>
                <a:ea typeface="Amiri" pitchFamily="2" charset="-78"/>
                <a:cs typeface="Amiri" pitchFamily="2" charset="-78"/>
              </a:rPr>
              <a:t>أَنَا</a:t>
            </a:r>
            <a:pPr algn="l" indent="0" marL="0">
              <a:buNone/>
            </a:pPr>
            <a:r>
              <a:rPr lang="en-US" sz="1350" b="1" dirty="0">
                <a:solidFill>
                  <a:srgbClr val="1F2A37"/>
                </a:solidFill>
                <a:latin typeface="Calibri" pitchFamily="34" charset="0"/>
                <a:cs typeface="Amiri" pitchFamily="2" charset="-78"/>
              </a:rPr>
              <a:t>, three with </a:t>
            </a:r>
            <a:pPr algn="l" indent="0" marL="0">
              <a:buNone/>
            </a:pPr>
            <a:r>
              <a:rPr lang="ar-SA" altLang="en-US" sz="1750" b="1" dirty="0">
                <a:solidFill>
                  <a:srgbClr val="1F2A37"/>
                </a:solidFill>
                <a:latin typeface="Amiri" pitchFamily="2" charset="-78"/>
                <a:ea typeface="Amiri" pitchFamily="2" charset="-78"/>
                <a:cs typeface="Amiri" pitchFamily="2" charset="-78"/>
              </a:rPr>
              <a:t>هُوَ</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هِيَ</a:t>
            </a:r>
            <a:pPr algn="l" indent="0" marL="0">
              <a:buNone/>
            </a:pPr>
            <a:r>
              <a:rPr lang="en-US" sz="1350" b="1" dirty="0">
                <a:solidFill>
                  <a:srgbClr val="1F2A37"/>
                </a:solidFill>
                <a:latin typeface="Calibri" pitchFamily="34" charset="0"/>
                <a:cs typeface="Amiri" pitchFamily="2" charset="-78"/>
              </a:rPr>
              <a:t>, two addressing a friend with </a:t>
            </a:r>
            <a:pPr algn="l" indent="0" marL="0">
              <a:buNone/>
            </a:pPr>
            <a:r>
              <a:rPr lang="ar-SA" altLang="en-US" sz="1750" b="1" dirty="0">
                <a:solidFill>
                  <a:srgbClr val="1F2A37"/>
                </a:solidFill>
                <a:latin typeface="Amiri" pitchFamily="2" charset="-78"/>
                <a:ea typeface="Amiri" pitchFamily="2" charset="-78"/>
                <a:cs typeface="Amiri" pitchFamily="2" charset="-78"/>
              </a:rPr>
              <a:t>أَنْتَ</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أَنْتِ</a:t>
            </a:r>
            <a:pPr algn="l" indent="0" marL="0">
              <a:buNone/>
            </a:pPr>
            <a:r>
              <a:rPr lang="en-US" sz="1350" b="1" dirty="0">
                <a:solidFill>
                  <a:srgbClr val="1F2A37"/>
                </a:solidFill>
                <a:latin typeface="Calibri" pitchFamily="34" charset="0"/>
                <a:cs typeface="Amiri" pitchFamily="2" charset="-78"/>
              </a:rPr>
              <a:t>, and one using </a:t>
            </a:r>
            <a:pPr algn="l" indent="0" marL="0">
              <a:buNone/>
            </a:pPr>
            <a:r>
              <a:rPr lang="ar-SA" altLang="en-US" sz="1750" b="1" dirty="0">
                <a:solidFill>
                  <a:srgbClr val="1F2A37"/>
                </a:solidFill>
                <a:latin typeface="Amiri" pitchFamily="2" charset="-78"/>
                <a:ea typeface="Amiri" pitchFamily="2" charset="-78"/>
                <a:cs typeface="Amiri" pitchFamily="2" charset="-78"/>
              </a:rPr>
              <a:t>مُنْذُ</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قَبْلَ</a:t>
            </a:r>
            <a:pPr algn="l" indent="0" marL="0">
              <a:buNone/>
            </a:pPr>
            <a:r>
              <a:rPr lang="en-US" sz="1350" b="1" dirty="0">
                <a:solidFill>
                  <a:srgbClr val="1F2A37"/>
                </a:solidFill>
                <a:latin typeface="Calibri" pitchFamily="34" charset="0"/>
                <a:cs typeface="Amiri" pitchFamily="2" charset="-78"/>
              </a:rPr>
              <a:t>. Use a different verb each time.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verb is past tense with the correct suffix for its person.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t>
            </a:r>
            <a:pPr algn="l" indent="0" marL="0">
              <a:buNone/>
            </a:pPr>
            <a:r>
              <a:rPr lang="ar-SA" altLang="en-US" sz="1550" dirty="0">
                <a:solidFill>
                  <a:srgbClr val="1F2A37"/>
                </a:solidFill>
                <a:latin typeface="Amiri" pitchFamily="2" charset="-78"/>
                <a:ea typeface="Amiri" pitchFamily="2" charset="-78"/>
                <a:cs typeface="Amiri" pitchFamily="2" charset="-78"/>
              </a:rPr>
              <a:t>أَنَا</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أَنْتَ</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أَنْتِ</a:t>
            </a:r>
            <a:pPr algn="l" indent="0" marL="0">
              <a:buNone/>
            </a:pPr>
            <a:r>
              <a:rPr lang="en-US" sz="1200" dirty="0">
                <a:solidFill>
                  <a:srgbClr val="1F2A37"/>
                </a:solidFill>
                <a:latin typeface="Calibri" pitchFamily="34" charset="0"/>
                <a:cs typeface="Amiri" pitchFamily="2" charset="-78"/>
              </a:rPr>
              <a:t> forms all carry their final short vowel.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different past time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present-tense verb after a past time expression.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سَافَرْتُ إِلَى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summer I travelled to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مُبَكِّرًا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arrived early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أَخِي فَقَدْ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my brother, he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أَسْبَحُ / سَبَحْتُ / سَأَسْبَحُ</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swim / swam / will swim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زِلْتُ أَتَذَكَّرُ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still remember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أَمْسِ ذَهَبْتُ إِلَى المَكْتَبَةِ وَقَرَأْتُ كِتَابًا مُمْتِعًا. الأُسْبُوعَ المَاضِيَ شَاهَدْتُ فِيلْمًا طَوِيلًا مَعَ أَصْدِقَائِي. وَفِي الإِجَازَةِ طَبَخْتُ طَعَامًا عَرَبِيًّا مَعَ أُمِّي. أَمَّا أَخِي فَقَدْ لَعِبَ كُرَةَ القَدَمِ، وَأُخْتِي رَسَمَتْ لَوْحَةً جَمِيلَةً. مُنْذُ أُسْبُوعٍ وَصَلْتُ مُبَكِّرًا إِلَى المَدْرَسَةِ، وَقَبْلَ شَهْرٍ خَرَجْتُ مَعَ عَائِلَتِي إِلَى الحَدِيقَةِ.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Yesterday I went to the library and read an enjoyable book. Last week I watched a long film with my friends. During the holiday I cooked Arabic food with my mother. As for my brother, he played football, and my sister drew a beautiful picture. A week ago I arrived early at school, and a month ago I went out with my family to the park.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four أَنَا forms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one هُوَ and one هِيَ form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time expressions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مُنْذُ or قَبْلَ + genitive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is in the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-tu for “I” and -at for “she”.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questions use -ta (boy) and -ti (girl).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sentence starts with a time expression.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ten different verbs and four time expressions.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يُوسُفُ إِلَى المَلْعَبِ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time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شَهْرٍ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شَهْرًا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الشَّهْرُ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كَتَبْتِ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كَتَبْتَ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Addressing a female uses the kasra ending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يُوسُفُ إِلَى المَلْعَبِ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ذَهَبَتْ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ذَهَبَ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ذَهَبْتُ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يُوسُف</a:t>
            </a:r>
            <a:pPr algn="l" indent="0" marL="0">
              <a:buNone/>
            </a:pPr>
            <a:r>
              <a:rPr lang="en-US" sz="1050" i="1" dirty="0">
                <a:solidFill>
                  <a:srgbClr val="8A6D1E"/>
                </a:solidFill>
                <a:latin typeface="Calibri" pitchFamily="34" charset="0"/>
                <a:cs typeface="Amiri" pitchFamily="2" charset="-78"/>
              </a:rPr>
              <a:t> is </a:t>
            </a:r>
            <a:pPr algn="l" indent="0" marL="0">
              <a:buNone/>
            </a:pPr>
            <a:r>
              <a:rPr lang="ar-SA" altLang="en-US" sz="1350" dirty="0">
                <a:solidFill>
                  <a:srgbClr val="8A6D1E"/>
                </a:solidFill>
                <a:latin typeface="Amiri" pitchFamily="2" charset="-78"/>
                <a:ea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 which is the bare past form.</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time phrase.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قَبْلَ شَهْرٍ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قَبْلَ شَهْرًا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قَبْلَ الشَّهْرُ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قَبْلَ</a:t>
            </a:r>
            <a:pPr algn="l" indent="0" marL="0">
              <a:buNone/>
            </a:pPr>
            <a:r>
              <a:rPr lang="en-US" sz="1050" i="1" dirty="0">
                <a:solidFill>
                  <a:srgbClr val="8A6D1E"/>
                </a:solidFill>
                <a:latin typeface="Calibri" pitchFamily="34" charset="0"/>
                <a:cs typeface="Amiri" pitchFamily="2" charset="-78"/>
              </a:rPr>
              <a:t> is followed by a genitive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diary page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الإِجَازَةِ المَاضِيَةِ ذَهَبْتُ مَعَ عَائِلَتِي إِلَى مَدِينَةٍ سَاحِلِيَّةٍ. وَصَلْنَا صَبَاحًا، وَفِي اليَوْمِ الأَوَّلِ سَبَحْتُ كَثِيرًا وَلَعِبْتُ كُرَةَ الطَّائِرَةِ عَلَى الشَّاطِئِ. أَمَّا أُخْتِي فَقَدْ رَسَمَتِ البَحْرَ وَكَتَبَتْ قِصَّةً قَصِيرَةً. وَفِي المَسَاءِ أَكَلْنَا سَمَكًا طَازِجًا فِي مَطْعَمٍ صَغِيرٍ. قَبْلَ شَهْرٍ عُدْنَا إِلَى المَدْرَسَةِ، وَلٰكِنَّنِي مَا زِلْتُ أَتَذَكَّرُ تِلْكَ الأَيَّامَ لِأَنَّهَا كَانَتْ مُمْتِعَةً حَقًّا.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الإِجَازَةِ المَاضِيَةِ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last holiday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مَدِينَةٍ سَاحِلِيَّةٍ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coastal city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وَصَلْنَا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arrived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سَبَحْتُ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swam</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الشَّاطِئِ</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beach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كَتَبَتْ قِصَّةً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wrote a story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سَمَكًا طَازِجًا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fresh fish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عُدْنَا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returned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زِلْتُ أَتَذَكَّرُ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still remember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كَانَتْ مُمْتِعَةً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were enjoyable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go?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mountain village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coastal city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capital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do on the first day?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Drew and wrote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Cooked fish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Swam and played volleyball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sister do?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Drew the sea and wrote a story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Swam all day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Stayed at the hotel</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return to school?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month ago</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week</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still remember those days?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truly enjoyable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very short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expensive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go?</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mountain village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coastal city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capital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ذَهَبْتُ مَعَ عَائِلَتِي إِلَى مَدِينَةٍ سَاحِلِيَّةٍ.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do on the first day?</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Drew and wrote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Cooked fish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Swam and played volleyball</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سَبَحْتُ كَثِيرًا وَلَعِبْتُ كُرَةَ الطَّائِرَةِ.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sister do?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Drew the sea and wrote a story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Swam all day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Stayed at the hotel</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رَسَمَتِ البَحْرَ وَكَتَبَتْ قِصَّةً قَصِيرَةً.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return to school?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Yesterday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month ago</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week</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شَهْرٍ عُدْنَا إِلَى المَدْرَسَةِ.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still remember those days?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were truly enjoyable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very short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expensive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كَانَتْ مُمْتِعَةً حَقًّا.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Past-Tense Mission — Five Persons, One Root</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form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about Salmā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خَرَجَتْ مُبَكِّرًا.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خَرَجْتُ مُبَكِّرًا.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خَرَجْتِ مُبَكِّرًا.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a male friend?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سَمِعْتِ الخَبَرَ؟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سَمِعَتْ الخَبَرَ؟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سَمِعْتَ الخَبَرَ؟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on the </a:t>
            </a:r>
            <a:pPr algn="l" indent="0" marL="0">
              <a:buNone/>
            </a:pPr>
            <a:r>
              <a:rPr lang="ar-SA" altLang="en-US" sz="1650" b="1" dirty="0">
                <a:solidFill>
                  <a:srgbClr val="1B3B6F"/>
                </a:solidFill>
                <a:latin typeface="Amiri" pitchFamily="2" charset="-78"/>
                <a:ea typeface="Amiri" pitchFamily="2" charset="-78"/>
                <a:cs typeface="Amiri" pitchFamily="2" charset="-78"/>
              </a:rPr>
              <a:t>فَعِلَ</a:t>
            </a:r>
            <a:pPr algn="l" indent="0" marL="0">
              <a:buNone/>
            </a:pPr>
            <a:r>
              <a:rPr lang="en-US" sz="1250" b="1" dirty="0">
                <a:solidFill>
                  <a:srgbClr val="1B3B6F"/>
                </a:solidFill>
                <a:latin typeface="Calibri" pitchFamily="34" charset="0"/>
                <a:cs typeface="Amiri" pitchFamily="2" charset="-78"/>
              </a:rPr>
              <a:t> pattern?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طَبَخَ</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keeps the tense consistent?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شَاهَدْتُ فِيلْمًا طَوِيلًا.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أُشَاهِدُ فِيلْمًا طَوِيلًا.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سَأُشَاهِدُ فِيلْمًا طَوِيلًا.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three-tense set is accurate for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تَطْبُخُ / طَبَخْتُ / سَتَطْبُخُ</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تَطْبُخُ / طَبَخَتْ / سَتَطْبُخُ</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طَبَخَتْ / تَطْبُخُ / طَبَخَتْ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form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ending is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about Salmā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سَلْمَى خَرَجَتْ مُبَكِّرًا.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سَلْمَى خَرَجْتُ مُبَكِّرًا.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سَلْمَى خَرَجْتِ مُبَكِّرًا.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subject takes the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a male friend?</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سَمِعْتِ الخَبَرَ؟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سَمِعَتْ الخَبَرَ؟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سَمِعْتَ الخَبَرَ؟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أَنْتَ</a:t>
            </a:r>
            <a:pPr algn="l" indent="0" marL="0">
              <a:buNone/>
            </a:pPr>
            <a:r>
              <a:rPr lang="en-US" sz="1050" i="1" dirty="0">
                <a:solidFill>
                  <a:srgbClr val="8A6D1E"/>
                </a:solidFill>
                <a:latin typeface="Calibri" pitchFamily="34" charset="0"/>
                <a:cs typeface="Amiri" pitchFamily="2" charset="-78"/>
              </a:rPr>
              <a:t> takes the fatḥa ending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on the </a:t>
            </a:r>
            <a:pPr algn="l" indent="0" marL="0">
              <a:buNone/>
            </a:pPr>
            <a:r>
              <a:rPr lang="ar-SA" altLang="en-US" sz="1650" b="1" dirty="0">
                <a:solidFill>
                  <a:srgbClr val="1B3B6F"/>
                </a:solidFill>
                <a:latin typeface="Amiri" pitchFamily="2" charset="-78"/>
                <a:ea typeface="Amiri" pitchFamily="2" charset="-78"/>
                <a:cs typeface="Amiri" pitchFamily="2" charset="-78"/>
              </a:rPr>
              <a:t>فَعِلَ</a:t>
            </a:r>
            <a:pPr algn="l" indent="0" marL="0">
              <a:buNone/>
            </a:pPr>
            <a:r>
              <a:rPr lang="en-US" sz="1250" b="1" dirty="0">
                <a:solidFill>
                  <a:srgbClr val="1B3B6F"/>
                </a:solidFill>
                <a:latin typeface="Calibri" pitchFamily="34" charset="0"/>
                <a:cs typeface="Amiri" pitchFamily="2" charset="-78"/>
              </a:rPr>
              <a:t> pattern?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طَبَخَ</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لَعِبَ</a:t>
            </a:r>
            <a:pPr algn="l" indent="0" marL="0">
              <a:buNone/>
            </a:pPr>
            <a:r>
              <a:rPr lang="en-US" sz="1050" i="1" dirty="0">
                <a:solidFill>
                  <a:srgbClr val="8A6D1E"/>
                </a:solidFill>
                <a:latin typeface="Calibri" pitchFamily="34" charset="0"/>
                <a:cs typeface="Amiri" pitchFamily="2" charset="-78"/>
              </a:rPr>
              <a:t> carries a kasra on the middle letter.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keeps the tense consistent?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أَمْسِ شَاهَدْتُ فِيلْمًا طَوِيلًا.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 أُشَاهِدُ فِيلْمًا طَوِيلًا.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 سَأُشَاهِدُ فِيلْمًا طَوِيلًا.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requires the past tense.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three-tense set is accurate for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تَطْبُخُ / طَبَخْتُ / سَتَطْبُخُ</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تَطْبُخُ / طَبَخَتْ / سَتَطْبُخُ</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طَبَخَتْ / تَطْبُخُ / طَبَخَتْ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Present </a:t>
            </a:r>
            <a:pPr algn="l" indent="0" marL="0">
              <a:buNone/>
            </a:pPr>
            <a:r>
              <a:rPr lang="ar-SA" altLang="en-US" sz="1350" dirty="0">
                <a:solidFill>
                  <a:srgbClr val="8A6D1E"/>
                </a:solidFill>
                <a:latin typeface="Amiri" pitchFamily="2" charset="-78"/>
                <a:ea typeface="Amiri" pitchFamily="2" charset="-78"/>
                <a:cs typeface="Amiri" pitchFamily="2" charset="-78"/>
              </a:rPr>
              <a:t>تَطْبُخُ</a:t>
            </a:r>
            <a:pPr algn="l" indent="0" marL="0">
              <a:buNone/>
            </a:pPr>
            <a:r>
              <a:rPr lang="en-US" sz="1050" i="1" dirty="0">
                <a:solidFill>
                  <a:srgbClr val="8A6D1E"/>
                </a:solidFill>
                <a:latin typeface="Calibri" pitchFamily="34" charset="0"/>
                <a:cs typeface="Amiri" pitchFamily="2" charset="-78"/>
              </a:rPr>
              <a:t>, past </a:t>
            </a:r>
            <a:pPr algn="l" indent="0" marL="0">
              <a:buNone/>
            </a:pPr>
            <a:r>
              <a:rPr lang="ar-SA" altLang="en-US" sz="1350" dirty="0">
                <a:solidFill>
                  <a:srgbClr val="8A6D1E"/>
                </a:solidFill>
                <a:latin typeface="Amiri" pitchFamily="2" charset="-78"/>
                <a:ea typeface="Amiri" pitchFamily="2" charset="-78"/>
                <a:cs typeface="Amiri" pitchFamily="2" charset="-78"/>
              </a:rPr>
              <a:t>طَبَخَتْ</a:t>
            </a:r>
            <a:pPr algn="l" indent="0" marL="0">
              <a:buNone/>
            </a:pPr>
            <a:r>
              <a:rPr lang="en-US" sz="1050" i="1" dirty="0">
                <a:solidFill>
                  <a:srgbClr val="8A6D1E"/>
                </a:solidFill>
                <a:latin typeface="Calibri" pitchFamily="34" charset="0"/>
                <a:cs typeface="Amiri" pitchFamily="2" charset="-78"/>
              </a:rPr>
              <a:t>, future </a:t>
            </a:r>
            <a:pPr algn="l" indent="0" marL="0">
              <a:buNone/>
            </a:pPr>
            <a:r>
              <a:rPr lang="ar-SA" altLang="en-US" sz="1350" dirty="0">
                <a:solidFill>
                  <a:srgbClr val="8A6D1E"/>
                </a:solidFill>
                <a:latin typeface="Amiri" pitchFamily="2" charset="-78"/>
                <a:ea typeface="Amiri" pitchFamily="2" charset="-78"/>
                <a:cs typeface="Amiri" pitchFamily="2" charset="-78"/>
              </a:rPr>
              <a:t>سَتَطْبُخُ</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D5-L04 · Past Tense — Plural Forms and Irregular 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ذَهَبْنَا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went</a:t>
            </a:r>
            <a:pPr indent="0" marL="0">
              <a:buNone/>
            </a:pPr>
            <a:r>
              <a:rPr lang="ar-SA" sz="1000" i="1" dirty="0">
                <a:solidFill>
                  <a:srgbClr val="5A6472"/>
                </a:solidFill>
                <a:latin typeface="Calibri" pitchFamily="34" charset="0"/>
                <a:ea typeface="Amiri" pitchFamily="2" charset="-78"/>
                <a:cs typeface="Amiri" pitchFamily="2" charset="-78"/>
              </a:rPr>
              <a:t>  ذَهَبُوا they went</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لَعِبُوا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played</a:t>
            </a:r>
            <a:pPr indent="0" marL="0">
              <a:buNone/>
            </a:pPr>
            <a:r>
              <a:rPr lang="ar-SA" sz="1000" i="1" dirty="0">
                <a:solidFill>
                  <a:srgbClr val="5A6472"/>
                </a:solidFill>
                <a:latin typeface="Calibri" pitchFamily="34" charset="0"/>
                <a:ea typeface="Amiri" pitchFamily="2" charset="-78"/>
                <a:cs typeface="Amiri" pitchFamily="2" charset="-78"/>
              </a:rPr>
              <a:t>  لَعِبْنَا we played</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قُلْنَا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said</a:t>
            </a:r>
            <a:pPr indent="0" marL="0">
              <a:buNone/>
            </a:pPr>
            <a:r>
              <a:rPr lang="ar-SA" sz="1000" i="1" dirty="0">
                <a:solidFill>
                  <a:srgbClr val="5A6472"/>
                </a:solidFill>
                <a:latin typeface="Calibri" pitchFamily="34" charset="0"/>
                <a:ea typeface="Amiri" pitchFamily="2" charset="-78"/>
                <a:cs typeface="Amiri" pitchFamily="2" charset="-78"/>
              </a:rPr>
              <a:t>  قَالَ he said</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رَأَيْنَا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saw</a:t>
            </a:r>
            <a:pPr indent="0" marL="0">
              <a:buNone/>
            </a:pPr>
            <a:r>
              <a:rPr lang="ar-SA" sz="1000" i="1" dirty="0">
                <a:solidFill>
                  <a:srgbClr val="5A6472"/>
                </a:solidFill>
                <a:latin typeface="Calibri" pitchFamily="34" charset="0"/>
                <a:ea typeface="Amiri" pitchFamily="2" charset="-78"/>
                <a:cs typeface="Amiri" pitchFamily="2" charset="-78"/>
              </a:rPr>
              <a:t>  رَأَى he saw</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together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did you and your family do together last weekend? Try “we …”.</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نِهَايَةِ الأُسْبُوعِ ذَهَبْنَا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five endings with </a:t>
            </a:r>
            <a:pPr algn="l" indent="0" marL="0">
              <a:buNone/>
            </a:pPr>
            <a:r>
              <a:rPr lang="ar-SA" altLang="en-US" sz="1550" dirty="0">
                <a:solidFill>
                  <a:srgbClr val="1F2A37"/>
                </a:solidFill>
                <a:latin typeface="Amiri" pitchFamily="2" charset="-78"/>
                <a:ea typeface="Amiri" pitchFamily="2" charset="-78"/>
                <a:cs typeface="Amiri" pitchFamily="2" charset="-78"/>
              </a:rPr>
              <a:t>ذَهَبَ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لَعِبَ</a:t>
            </a:r>
            <a:pPr algn="l" indent="0" marL="0">
              <a:buNone/>
            </a:pPr>
            <a:r>
              <a:rPr lang="en-US" sz="1200" dirty="0">
                <a:solidFill>
                  <a:srgbClr val="1F2A37"/>
                </a:solidFill>
                <a:latin typeface="Calibri" pitchFamily="34" charset="0"/>
                <a:cs typeface="Amiri" pitchFamily="2" charset="-78"/>
              </a:rPr>
              <a:t>; write six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 8-sentence paragraph with </a:t>
            </a:r>
            <a:pPr algn="l" indent="0" marL="0">
              <a:buNone/>
            </a:pPr>
            <a:r>
              <a:rPr lang="ar-SA" altLang="en-US" sz="1550" dirty="0">
                <a:solidFill>
                  <a:srgbClr val="1F2A37"/>
                </a:solidFill>
                <a:latin typeface="Amiri" pitchFamily="2" charset="-78"/>
                <a:ea typeface="Amiri" pitchFamily="2" charset="-78"/>
                <a:cs typeface="Amiri" pitchFamily="2" charset="-78"/>
              </a:rPr>
              <a:t>أَنَا</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هِيَ</a:t>
            </a:r>
            <a:pPr algn="l" indent="0" marL="0">
              <a:buNone/>
            </a:pPr>
            <a:r>
              <a:rPr lang="en-US" sz="1200" dirty="0">
                <a:solidFill>
                  <a:srgbClr val="1F2A37"/>
                </a:solidFill>
                <a:latin typeface="Calibri" pitchFamily="34" charset="0"/>
                <a:cs typeface="Amiri" pitchFamily="2" charset="-78"/>
              </a:rPr>
              <a:t> and one question (</a:t>
            </a:r>
            <a:pPr algn="l" indent="0" marL="0">
              <a:buNone/>
            </a:pPr>
            <a:r>
              <a:rPr lang="ar-SA" altLang="en-US" sz="1550" dirty="0">
                <a:solidFill>
                  <a:srgbClr val="1F2A37"/>
                </a:solidFill>
                <a:latin typeface="Amiri" pitchFamily="2" charset="-78"/>
                <a:ea typeface="Amiri" pitchFamily="2" charset="-78"/>
                <a:cs typeface="Amiri" pitchFamily="2" charset="-78"/>
              </a:rPr>
              <a:t>ـْتَ / ـْتِ</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ten past sentences, ten verbs, four time expressions.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D5-L04 · Past Tense — Plural Forms and Irregular Verbs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الفِعْلُ المَاضِي — الجَمْعُ وَالأَفْعَالُ الشَّاذَّةُ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root stays, the ending moves — </a:t>
            </a:r>
            <a:pPr algn="l" indent="0" marL="0">
              <a:buNone/>
            </a:pPr>
            <a:r>
              <a:rPr lang="ar-SA" altLang="en-US" sz="1700" b="1" dirty="0">
                <a:solidFill>
                  <a:srgbClr val="FFFFFF"/>
                </a:solidFill>
                <a:latin typeface="Amiri" pitchFamily="2" charset="-78"/>
                <a:ea typeface="Amiri" pitchFamily="2" charset="-78"/>
                <a:cs typeface="Amiri" pitchFamily="2" charset="-78"/>
              </a:rPr>
              <a:t>ـْتُ</a:t>
            </a:r>
            <a:pPr algn="l" indent="0" marL="0">
              <a:buNone/>
            </a:pPr>
            <a:r>
              <a:rPr lang="en-US" sz="1300" b="1" dirty="0">
                <a:solidFill>
                  <a:srgbClr val="FFFFFF"/>
                </a:solidFill>
                <a:latin typeface="Calibri" pitchFamily="34" charset="0"/>
                <a:cs typeface="Amiri" pitchFamily="2" charset="-78"/>
              </a:rPr>
              <a:t> I · </a:t>
            </a:r>
            <a:pPr algn="l" indent="0" marL="0">
              <a:buNone/>
            </a:pPr>
            <a:r>
              <a:rPr lang="ar-SA" altLang="en-US" sz="1700" b="1" dirty="0">
                <a:solidFill>
                  <a:srgbClr val="FFFFFF"/>
                </a:solidFill>
                <a:latin typeface="Amiri" pitchFamily="2" charset="-78"/>
                <a:ea typeface="Amiri" pitchFamily="2" charset="-78"/>
                <a:cs typeface="Amiri" pitchFamily="2" charset="-78"/>
              </a:rPr>
              <a:t>ـْتَ</a:t>
            </a:r>
            <a:pPr algn="l" indent="0" marL="0">
              <a:buNone/>
            </a:pPr>
            <a:r>
              <a:rPr lang="en-US" sz="1300" b="1" dirty="0">
                <a:solidFill>
                  <a:srgbClr val="FFFFFF"/>
                </a:solidFill>
                <a:latin typeface="Calibri" pitchFamily="34" charset="0"/>
                <a:cs typeface="Amiri" pitchFamily="2" charset="-78"/>
              </a:rPr>
              <a:t> you (m.) · </a:t>
            </a:r>
            <a:pPr algn="l" indent="0" marL="0">
              <a:buNone/>
            </a:pPr>
            <a:r>
              <a:rPr lang="ar-SA" altLang="en-US" sz="1700" b="1" dirty="0">
                <a:solidFill>
                  <a:srgbClr val="FFFFFF"/>
                </a:solidFill>
                <a:latin typeface="Amiri" pitchFamily="2" charset="-78"/>
                <a:ea typeface="Amiri" pitchFamily="2" charset="-78"/>
                <a:cs typeface="Amiri" pitchFamily="2" charset="-78"/>
              </a:rPr>
              <a:t>ـْتِ</a:t>
            </a:r>
            <a:pPr algn="l" indent="0" marL="0">
              <a:buNone/>
            </a:pPr>
            <a:r>
              <a:rPr lang="en-US" sz="1300" b="1" dirty="0">
                <a:solidFill>
                  <a:srgbClr val="FFFFFF"/>
                </a:solidFill>
                <a:latin typeface="Calibri" pitchFamily="34" charset="0"/>
                <a:cs typeface="Amiri" pitchFamily="2" charset="-78"/>
              </a:rPr>
              <a:t> you (f.) · </a:t>
            </a:r>
            <a:pPr algn="l" indent="0" marL="0">
              <a:buNone/>
            </a:pPr>
            <a:r>
              <a:rPr lang="ar-SA" altLang="en-US" sz="1700" b="1" dirty="0">
                <a:solidFill>
                  <a:srgbClr val="FFFFFF"/>
                </a:solidFill>
                <a:latin typeface="Amiri" pitchFamily="2" charset="-78"/>
                <a:ea typeface="Amiri" pitchFamily="2" charset="-78"/>
                <a:cs typeface="Amiri" pitchFamily="2" charset="-78"/>
              </a:rPr>
              <a:t>ـَ</a:t>
            </a:r>
            <a:pPr algn="l" indent="0" marL="0">
              <a:buNone/>
            </a:pPr>
            <a:r>
              <a:rPr lang="en-US" sz="1300" b="1" dirty="0">
                <a:solidFill>
                  <a:srgbClr val="FFFFFF"/>
                </a:solidFill>
                <a:latin typeface="Calibri" pitchFamily="34" charset="0"/>
                <a:cs typeface="Amiri" pitchFamily="2" charset="-78"/>
              </a:rPr>
              <a:t> he · </a:t>
            </a:r>
            <a:pPr algn="l" indent="0" marL="0">
              <a:buNone/>
            </a:pPr>
            <a:r>
              <a:rPr lang="ar-SA" altLang="en-US" sz="1700" b="1" dirty="0">
                <a:solidFill>
                  <a:srgbClr val="FFFFFF"/>
                </a:solidFill>
                <a:latin typeface="Amiri" pitchFamily="2" charset="-78"/>
                <a:ea typeface="Amiri" pitchFamily="2" charset="-78"/>
                <a:cs typeface="Amiri" pitchFamily="2" charset="-78"/>
              </a:rPr>
              <a:t>ـَتْ</a:t>
            </a:r>
            <a:pPr algn="l" indent="0" marL="0">
              <a:buNone/>
            </a:pPr>
            <a:r>
              <a:rPr lang="en-US" sz="1300" b="1" dirty="0">
                <a:solidFill>
                  <a:srgbClr val="FFFFFF"/>
                </a:solidFill>
                <a:latin typeface="Calibri" pitchFamily="34" charset="0"/>
                <a:cs typeface="Amiri" pitchFamily="2" charset="-78"/>
              </a:rPr>
              <a:t> she — and write the last vowel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D5-L03 · The Past Tense — Form I Regular Singular Verbs</dc:title>
  <dc:subject>PptxGenJS Presentation</dc:subject>
  <dc:creator>Al Madina Online School · Arabic Department</dc:creator>
  <cp:lastModifiedBy>Al Madina Online School · Arabic Department</cp:lastModifiedBy>
  <cp:revision>1</cp:revision>
  <dcterms:created xsi:type="dcterms:W3CDTF">2026-10-11T06:40:58Z</dcterms:created>
  <dcterms:modified xsi:type="dcterms:W3CDTF">2026-10-11T06:40:58Z</dcterms:modified>
</cp:coreProperties>
</file>