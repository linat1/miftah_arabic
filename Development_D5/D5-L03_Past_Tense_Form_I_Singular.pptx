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D5 Hobbies, Sport and Leisure › D5-L03. The website lesson “The Past Tense — Form I Regular Singular Verbs”: vocabulary, grammar rules and quiz, patterns, common mistakes, sorter, listening, reading, speaking prompts and model, writing task and model, differentiation, final check and the lesson mission. Picture match: website visual game “The Past Tense — Form I Regular Singular Verbs”.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أَنَا and هِيَ / هُوَ forms of six verbs (ذَهَبْتُ · ذَهَبَ · ذَهَبَتْ) + أَمْسِ at the start. Develop: all five singular forms, including أَنْتَ / أَنْتِ in questions, and the فَعِلَ verbs (لَعِبَ · شَرِبَ · سَمِعَ). Stretch: the website ten-sentence task with four time expressions, and present / past / future of one verb.
• The key idea: the ROOT never changes; the ENDING says who. ـْتُ / ـْتَ / ـْتِ share the same letters — only the final vowel differs, so students MUST write it (these quiz items deliberately differ only in vowels).
• Past forms met as chunks in D5-L02 (فَازَ · خَسِرَ) now become a system. D5-L04 adds نَحْنُ / أَنْتُمْ / هُمْ and irregular verbs.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Questions 1–3 test three of the five words prepared at home at the end of D5-L02. Questions 4–5 retrieve D5-L02 (فَازَتْ · فَازَ بِـ) — the past forms students already know as chunks.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root stays, the ending moves — and the ending tells you WHO.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ماضی، فعل، لاحقہ are the same grammar words used in Urdu grammar (ماضی مطلق = simple past). CAREFUL: Urdu کل means both yesterday and tomorrow — Arabic has two words: أَمْسِ (yesterday) and غَدًا (tomorrow).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Talking about the past tense (website vocabulary). Hear → Say → See → Use. Transliteration is printed for Core students (cover it for Develop/Stretch).
Talking about the past tense: the grammar words we use today (root, suffix,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Past-tense verbs (website vocabulary (1 of 2)). Hear → Say → See → Use. Transliteration is printed for Core students (cover it for Develop/Stretch).
Past-tense verbs. The card shows “he” (the dictionary form) with I and she underneath. فَعِلَ verbs keep a KASRA in the middle: لَعِبَ · سَمِعَ · شَرِبَ.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Past-tense verbs (website vocabulary (2 of 2)). Hear → Say → See → Use. Transliteration is printed for Core students (cover it for Develop/Stretch).
Past-tense verbs. The card shows “he” (the dictionary form) with I and she underneath. فَعِلَ verbs keep a KASRA in the middle: لَعِبَ · سَمِعَ · شَرِبَ.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When it happened (website vocabulary). Hear → Say → See → Use. Transliteration is printed for Core students (cover it for Develop/Stretch).
When it happened: put these FIRST in the sentence. After فِي and قَبْلَ / مُنْذُ the noun is genitive (قَبْلَ شَهْرٍ).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“هُوَ and هِيَ” (the هُوَ form is the bare past; هِيَ adds ـَتْ with a sukūn), “أَنَا” (the tāʾ carries a ḍamma; the letter before it takes a sukūn) and “أَنْتَ and أَنْتِ” (same consonants; a fatḥa addresses a male, a kasra a female). Website teaching point: “Three short vowels do the hardest work.”
Drill: teacher says a person, students chorus the form (أَنَا → لَعِبْتُ …). Core: أَنَا · هُوَ · هِيَ rows only.
Pattern note: لَعِبَ is a فَعِلَ verb (kasra in the middle) — the endings are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 “Past time expressions come first” (Arabic normally opens the sentence with the past time expression; the verb stays in the past whatever the expression). Website mistakes: أَمْسِ أَذْهَبُ ✗ → أَمْسِ ذَهَبْتُ · هَلْ شَاهَدْتَ المُبَارَاةَ يَا سَلْمَى ✗ → شَاهَدْتِ.
Stretch (website quiz 8): three tenses of one verb — تَسْبَحُ / سَبَحَتْ / سَتَسْبَحُ.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“One root, five endings. Learn the endings as a set, then attach them to any regular Form I verb. Watch the middle vowel: فَعَلَ verbs keep a fatḥa, فَعِلَ verbs keep a kasra.”
• هُوَ and هِيَ: The هُوَ form is the bare past tense. The هِيَ form adds ـَتْ with a sukūn on the tāʾ.
• أَنَا: The tāʾ carries a ḍamma. The letter before it takes a sukūn.
• أَنْتَ and أَنْتِ: Same consonants as the أَنَا form; only the final short vowel differs. A fatḥa addresses a male, a kasra a female.
• Past time expressions come first: Arabic normally opens the sentence with the past time expression. The verb stays in the past whatever the expression.
Website common error: The أَنَا, أَنْتَ and أَنْتِ forms share the same consonants. If you leave the final short vowel off, your reader cannot tell who performed the action. Write it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from the website writing model: “Who did it? Which ending? Did I write the last vowel?” Point to each coloured ending in the copy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The Past Tense — Form I Regular Singular Verbs”)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change the person: لَعِبَتْ سَلْمَى … · هَلْ سَافَرْتَ …؟ · هَلْ سَبَحْتِ …؟ Other website cards: قَرَأْتُ كِتَابًا · تَنَاوَلْنَا العَشَاءَ مَعًا · شَاهَدْنَا فِيلْمًا (the نَحْنُ forms are D5-L04).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The Past Tense — Form I Regular Singular Verbs”)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change the person: لَعِبَتْ سَلْمَى … · هَلْ سَافَرْتَ …؟ · هَلْ سَبَحْتِ …؟ Other website cards: قَرَأْتُ كِتَابًا · تَنَاوَلْنَا العَشَاءَ مَعًا · شَاهَدْنَا فِيلْمًا (the نَحْنُ forms are D5-L04).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turn each column into the هُوَ form aloud: ذَهَبَ · لَعِبَ · شَاهَدَ.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turn each column into the هُوَ form aloud: ذَهَبَ · لَعِبَ · شَاهَدَ.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5. Develop / Stretch: all 5 — and list every past verb you hear by person.
Listen 1: just listen. Listen 2: note answers. Then chat the letters.
Support: after the second listening, show the read-along slide (Arabic + English, line by line) for Core students.
SCRIPT (read aloud):
أَمْسِ ذَهَبْتُ إِلَى النَّادِي وَلَعِبْتُ كُرَةَ السَّلَّةِ مَعَ أَصْدِقَائِي. وَبَعْدَ ذٰلِكَ رَجَعْتُ إِلَى البَيْتِ وَطَبَخْتُ العَشَاءَ. أَمَّا أُخْتِي سَلْمَى فَقَدْ رَسَمَتْ لَوْحَةً جَمِيلَةً، ثُمَّ خَرَجَتْ مَعَ صَدِيقَتِهَا. وَفِي المَسَاءِ شَاهَدْنَا فِيلْمًا مَعًا. وَقَالَتْ لِي أُمِّي: هَلْ قَرَأْتَ الكِتَابَ يَا يُوسُفُ؟ فَأَجَبْتُ: نَعَمْ، قَرَأْتُهُ مُنْذُ أُسْبُوعٍ.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وَمَاذَا فَعَلَتْ أُخْتُكَ؟ (Switching person)
B: رَسَمَتْ لَوْحَةً جَمِيلَةً، ثُمَّ خَرَجَتْ مَعَ صَدِيقَتِهَا. (هِيَ past forms)
Website prompts and model (four lines: past question → أَنَا forms → switch person → هِيَ forms). Partner B must change person when asked about a sister. To a girl: مَاذَا فَعَلْتِ؟ · عَائِلَتُكِ · قَرَأْتِ.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Complete the conjugation table for three verbs, then write four sentences with أَنَا and هِيَ. · Develop — Write a short paragraph that moves between أَنَا and هِيَ and opens with a time expression. · Stretch — Contrast present, past and future for the same verb in one linked paragraph, keeping every suffix accurate.
Website writing task (Stretch): Write ten sentences about last week: four with أَنَا, three with هُوَ or هِيَ, two addressing a friend with أَنْتَ or أَنْتِ, and one using مُنْذُ or قَبْلَ. Use a different verb each time.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ذَهَبْتُ · قَرَأْتُ · شَاهَدْتُ · طَبَخْتُ · لَعِبَ · رَسَمَتْ · وَصَلْتُ · خَرَجْتُ; time: أَمْسِ · الأُسْبُوعَ المَاضِيَ · فِي الإِجَازَةِ · مُنْذُ أُسْبُوعٍ · قَبْلَ شَهْرٍ. Develop / Stretch: add two أَنْتَ / أَنْتِ questions to complete the website task.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(D5-L04 · Past Tense — Plural Forms and Irregular Verbs) will spend class time USING this language, so students prepare it tonight — short, simple, easy to access (school guidance: “Simple, Short, Interesting, Relevant, Easy to access”). The five words come from the website D5-L04 vocabulary (plural past forms and irregular verbs).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D5  ·  D5-L03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D5-L03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The Past Tense — Form I Regular Singular Verbs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الفِعْلُ المَاضِي — المُفْرَدُ</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Say what you, he, she and “you” did: one root, five endings (</a:t>
            </a:r>
            <a:pPr algn="l" indent="0" marL="0">
              <a:buNone/>
            </a:pPr>
            <a:r>
              <a:rPr lang="ar-SA" altLang="en-US" sz="1800" dirty="0">
                <a:solidFill>
                  <a:srgbClr val="C6D2E6"/>
                </a:solidFill>
                <a:latin typeface="Amiri" pitchFamily="2" charset="-78"/>
                <a:ea typeface="Amiri" pitchFamily="2" charset="-78"/>
                <a:cs typeface="Amiri" pitchFamily="2" charset="-78"/>
              </a:rPr>
              <a:t>ذَهَبْتُ</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ذَهَبْتَ</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ذَهَبْتِ</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ذَهَبَ</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ذَهَبَتْ</a:t>
            </a:r>
            <a:pPr algn="l" indent="0" marL="0">
              <a:buNone/>
            </a:pPr>
            <a:r>
              <a:rPr lang="en-US" sz="1400" dirty="0">
                <a:solidFill>
                  <a:srgbClr val="C6D2E6"/>
                </a:solidFill>
                <a:latin typeface="Calibri" pitchFamily="34" charset="0"/>
                <a:cs typeface="Amiri" pitchFamily="2" charset="-78"/>
              </a:rPr>
              <a:t>) — and open the sentence with a past time expression (</a:t>
            </a:r>
            <a:pPr algn="l" indent="0" marL="0">
              <a:buNone/>
            </a:pPr>
            <a:r>
              <a:rPr lang="ar-SA" altLang="en-US" sz="1800" dirty="0">
                <a:solidFill>
                  <a:srgbClr val="C6D2E6"/>
                </a:solidFill>
                <a:latin typeface="Amiri" pitchFamily="2" charset="-78"/>
                <a:ea typeface="Amiri" pitchFamily="2" charset="-78"/>
                <a:cs typeface="Amiri" pitchFamily="2" charset="-78"/>
              </a:rPr>
              <a:t>أَمْسِ</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الأُسْبُوعَ المَاضِيَ</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مُنْذُ أُسْبُوعٍ</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D5-L03 · Development D5 · Hobbies, Sport and Leisure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D5 › D5-L03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One root, five endings; time expression first.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verbs by person, fix person slips, then what everyone did yesterday.</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D5-L04.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أَمْسِ</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tomorrow</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yesterday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today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الأُسْبُوعَ المَاضِيَ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last week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next week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week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ar-SA" altLang="en-US" sz="1650" b="1" dirty="0">
                <a:solidFill>
                  <a:srgbClr val="1B3B6F"/>
                </a:solidFill>
                <a:latin typeface="Amiri" pitchFamily="2" charset="-78"/>
                <a:ea typeface="Amiri" pitchFamily="2" charset="-78"/>
                <a:cs typeface="Amiri" pitchFamily="2" charset="-78"/>
              </a:rPr>
              <a:t>ذَهَبَ</a:t>
            </a:r>
            <a:pPr algn="l" indent="0" marL="0">
              <a:buNone/>
            </a:pPr>
            <a:r>
              <a:rPr lang="en-US" sz="1250" b="1" dirty="0">
                <a:solidFill>
                  <a:srgbClr val="1B3B6F"/>
                </a:solidFill>
                <a:latin typeface="Calibri" pitchFamily="34" charset="0"/>
                <a:cs typeface="Amiri" pitchFamily="2" charset="-78"/>
              </a:rPr>
              <a:t> means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goes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will go</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went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ar-SA" altLang="en-US" sz="1650" b="1" dirty="0">
                <a:solidFill>
                  <a:srgbClr val="1B3B6F"/>
                </a:solidFill>
                <a:latin typeface="Amiri" pitchFamily="2" charset="-78"/>
                <a:ea typeface="Amiri" pitchFamily="2" charset="-78"/>
                <a:cs typeface="Amiri" pitchFamily="2" charset="-78"/>
              </a:rPr>
              <a:t>فَازَتِ البَطَلَةُ</a:t>
            </a:r>
            <a:pPr algn="l" indent="0" marL="0">
              <a:buNone/>
            </a:pPr>
            <a:r>
              <a:rPr lang="en-US" sz="1250" b="1" dirty="0">
                <a:solidFill>
                  <a:srgbClr val="1B3B6F"/>
                </a:solidFill>
                <a:latin typeface="Calibri" pitchFamily="34" charset="0"/>
                <a:cs typeface="Amiri" pitchFamily="2" charset="-78"/>
              </a:rPr>
              <a:t> — who won?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(the champion)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فَازَ الفَرِيقُ بِالبُطُولَةِ.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فَازَ الفَرِيقُ عَلَى البُطُولَةِ.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فَازَ الفَرِيقُ إِلَى البُطُولَةِ.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أَمْسِ</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tomorrow</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yesterday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today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(D5-L02).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الأُسْبُوعَ المَاضِيَ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last week</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next week</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week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(D5-L02).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ar-SA" altLang="en-US" sz="1650" b="1" dirty="0">
                <a:solidFill>
                  <a:srgbClr val="1B3B6F"/>
                </a:solidFill>
                <a:latin typeface="Amiri" pitchFamily="2" charset="-78"/>
                <a:ea typeface="Amiri" pitchFamily="2" charset="-78"/>
                <a:cs typeface="Amiri" pitchFamily="2" charset="-78"/>
              </a:rPr>
              <a:t>ذَهَبَ</a:t>
            </a:r>
            <a:pPr algn="l" indent="0" marL="0">
              <a:buNone/>
            </a:pPr>
            <a:r>
              <a:rPr lang="en-US" sz="1250" b="1" dirty="0">
                <a:solidFill>
                  <a:srgbClr val="1B3B6F"/>
                </a:solidFill>
                <a:latin typeface="Calibri" pitchFamily="34" charset="0"/>
                <a:cs typeface="Amiri" pitchFamily="2" charset="-78"/>
              </a:rPr>
              <a:t> means …</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goes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will go</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went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(D5-L02).</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ar-SA" altLang="en-US" sz="1650" b="1" dirty="0">
                <a:solidFill>
                  <a:srgbClr val="1B3B6F"/>
                </a:solidFill>
                <a:latin typeface="Amiri" pitchFamily="2" charset="-78"/>
                <a:ea typeface="Amiri" pitchFamily="2" charset="-78"/>
                <a:cs typeface="Amiri" pitchFamily="2" charset="-78"/>
              </a:rPr>
              <a:t>فَازَتِ البَطَلَةُ</a:t>
            </a:r>
            <a:pPr algn="l" indent="0" marL="0">
              <a:buNone/>
            </a:pPr>
            <a:r>
              <a:rPr lang="en-US" sz="1250" b="1" dirty="0">
                <a:solidFill>
                  <a:srgbClr val="1B3B6F"/>
                </a:solidFill>
                <a:latin typeface="Calibri" pitchFamily="34" charset="0"/>
                <a:cs typeface="Amiri" pitchFamily="2" charset="-78"/>
              </a:rPr>
              <a:t> — who won?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she (the champion)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D5-L02: the -at ending.</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فَازَ الفَرِيقُ بِالبُطُولَةِ.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فَازَ الفَرِيقُ عَلَى البُطُولَةِ.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فَازَ الفَرِيقُ إِلَى البُطُولَةِ.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D5-L02.</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The root stays, the ending moves — and the ending tells you WHO.</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050" b="1" dirty="0">
                <a:solidFill>
                  <a:srgbClr val="D6336C"/>
                </a:solidFill>
                <a:latin typeface="Amiri" pitchFamily="2" charset="-78"/>
                <a:ea typeface="Amiri" pitchFamily="2" charset="-78"/>
                <a:cs typeface="Amiri" pitchFamily="2" charset="-78"/>
              </a:rPr>
              <a:t>لَعِبْتُ</a:t>
            </a:r>
            <a:pPr rtl="1" algn="ctr" indent="0" marL="0">
              <a:lnSpc>
                <a:spcPct val="120000"/>
              </a:lnSpc>
              <a:buNone/>
            </a:pPr>
            <a:r>
              <a:rPr lang="ar-SA" altLang="en-US" sz="2050" b="1" dirty="0">
                <a:solidFill>
                  <a:srgbClr val="1B3B6F"/>
                </a:solidFill>
                <a:latin typeface="Amiri" pitchFamily="2" charset="-78"/>
                <a:cs typeface="Amiri" pitchFamily="2" charset="-78"/>
              </a:rPr>
              <a:t> · </a:t>
            </a:r>
            <a:pPr rtl="1" algn="ctr" indent="0" marL="0">
              <a:lnSpc>
                <a:spcPct val="120000"/>
              </a:lnSpc>
              <a:buNone/>
            </a:pPr>
            <a:r>
              <a:rPr lang="ar-SA" altLang="en-US" sz="2050" b="1" dirty="0">
                <a:solidFill>
                  <a:srgbClr val="D6336C"/>
                </a:solidFill>
                <a:latin typeface="Amiri" pitchFamily="2" charset="-78"/>
                <a:ea typeface="Amiri" pitchFamily="2" charset="-78"/>
                <a:cs typeface="Amiri" pitchFamily="2" charset="-78"/>
              </a:rPr>
              <a:t>لَعِبْتَ</a:t>
            </a:r>
            <a:pPr rtl="1" algn="ctr" indent="0" marL="0">
              <a:lnSpc>
                <a:spcPct val="120000"/>
              </a:lnSpc>
              <a:buNone/>
            </a:pPr>
            <a:r>
              <a:rPr lang="ar-SA" altLang="en-US" sz="2050" b="1" dirty="0">
                <a:solidFill>
                  <a:srgbClr val="1B3B6F"/>
                </a:solidFill>
                <a:latin typeface="Amiri" pitchFamily="2" charset="-78"/>
                <a:cs typeface="Amiri" pitchFamily="2" charset="-78"/>
              </a:rPr>
              <a:t> · </a:t>
            </a:r>
            <a:pPr rtl="1" algn="ctr" indent="0" marL="0">
              <a:lnSpc>
                <a:spcPct val="120000"/>
              </a:lnSpc>
              <a:buNone/>
            </a:pPr>
            <a:r>
              <a:rPr lang="ar-SA" altLang="en-US" sz="2050" b="1" dirty="0">
                <a:solidFill>
                  <a:srgbClr val="D6336C"/>
                </a:solidFill>
                <a:latin typeface="Amiri" pitchFamily="2" charset="-78"/>
                <a:ea typeface="Amiri" pitchFamily="2" charset="-78"/>
                <a:cs typeface="Amiri" pitchFamily="2" charset="-78"/>
              </a:rPr>
              <a:t>لَعِبْتِ</a:t>
            </a:r>
            <a:pPr rtl="1" algn="ctr" indent="0" marL="0">
              <a:lnSpc>
                <a:spcPct val="120000"/>
              </a:lnSpc>
              <a:buNone/>
            </a:pPr>
            <a:r>
              <a:rPr lang="ar-SA" altLang="en-US" sz="2050" b="1" dirty="0">
                <a:solidFill>
                  <a:srgbClr val="1B3B6F"/>
                </a:solidFill>
                <a:latin typeface="Amiri" pitchFamily="2" charset="-78"/>
                <a:ea typeface="Amiri" pitchFamily="2" charset="-78"/>
                <a:cs typeface="Amiri" pitchFamily="2" charset="-78"/>
              </a:rPr>
              <a:t> · لَعِبَ · </a:t>
            </a:r>
            <a:pPr rtl="1" algn="ctr" indent="0" marL="0">
              <a:lnSpc>
                <a:spcPct val="120000"/>
              </a:lnSpc>
              <a:buNone/>
            </a:pPr>
            <a:r>
              <a:rPr lang="ar-SA" altLang="en-US" sz="2050" b="1" dirty="0">
                <a:solidFill>
                  <a:srgbClr val="D6336C"/>
                </a:solidFill>
                <a:latin typeface="Amiri" pitchFamily="2" charset="-78"/>
                <a:ea typeface="Amiri" pitchFamily="2" charset="-78"/>
                <a:cs typeface="Amiri" pitchFamily="2" charset="-78"/>
              </a:rPr>
              <a:t>لَعِبَتْ</a:t>
            </a:r>
            <a:endParaRPr lang="ar-SA" sz="20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Form the past tense for </a:t>
            </a:r>
            <a:pPr algn="l" indent="0" marL="0">
              <a:buNone/>
            </a:pPr>
            <a:r>
              <a:rPr lang="ar-SA" altLang="en-US" sz="1700" dirty="0">
                <a:solidFill>
                  <a:srgbClr val="1F2A37"/>
                </a:solidFill>
                <a:latin typeface="Amiri" pitchFamily="2" charset="-78"/>
                <a:ea typeface="Amiri" pitchFamily="2" charset="-78"/>
                <a:cs typeface="Amiri" pitchFamily="2" charset="-78"/>
              </a:rPr>
              <a:t>أَنَا</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أَنْتَ</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أَنْتِ</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هُوَ</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هِيَ</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Hear and write the final short vowel that shows the person.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the </a:t>
            </a:r>
            <a:pPr algn="l" indent="0" marL="0">
              <a:buNone/>
            </a:pPr>
            <a:r>
              <a:rPr lang="ar-SA" altLang="en-US" sz="1700" dirty="0">
                <a:solidFill>
                  <a:srgbClr val="1F2A37"/>
                </a:solidFill>
                <a:latin typeface="Amiri" pitchFamily="2" charset="-78"/>
                <a:ea typeface="Amiri" pitchFamily="2" charset="-78"/>
                <a:cs typeface="Amiri" pitchFamily="2" charset="-78"/>
              </a:rPr>
              <a:t>فَعَلَ</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ea typeface="Amiri" pitchFamily="2" charset="-78"/>
                <a:cs typeface="Amiri" pitchFamily="2" charset="-78"/>
              </a:rPr>
              <a:t>فَعِلَ</a:t>
            </a:r>
            <a:pPr algn="l" indent="0" marL="0">
              <a:buNone/>
            </a:pPr>
            <a:r>
              <a:rPr lang="en-US" sz="1300" dirty="0">
                <a:solidFill>
                  <a:srgbClr val="1F2A37"/>
                </a:solidFill>
                <a:latin typeface="Calibri" pitchFamily="34" charset="0"/>
                <a:cs typeface="Amiri" pitchFamily="2" charset="-78"/>
              </a:rPr>
              <a:t> patterns.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Open a sentence with a past time expression and keep the verb in the past.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what I did (</a:t>
            </a:r>
            <a:pPr algn="l" indent="0" marL="0">
              <a:buNone/>
            </a:pPr>
            <a:r>
              <a:rPr lang="ar-SA" altLang="en-US" sz="1700" b="1" dirty="0">
                <a:solidFill>
                  <a:srgbClr val="2E8B57"/>
                </a:solidFill>
                <a:latin typeface="Amiri" pitchFamily="2" charset="-78"/>
                <a:ea typeface="Amiri" pitchFamily="2" charset="-78"/>
                <a:cs typeface="Amiri" pitchFamily="2" charset="-78"/>
              </a:rPr>
              <a:t>ذَهَبْتُ</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what he / she did (</a:t>
            </a:r>
            <a:pPr algn="l" indent="0" marL="0">
              <a:buNone/>
            </a:pPr>
            <a:r>
              <a:rPr lang="ar-SA" altLang="en-US" sz="1700" b="1" dirty="0">
                <a:solidFill>
                  <a:srgbClr val="2E8B57"/>
                </a:solidFill>
                <a:latin typeface="Amiri" pitchFamily="2" charset="-78"/>
                <a:ea typeface="Amiri" pitchFamily="2" charset="-78"/>
                <a:cs typeface="Amiri" pitchFamily="2" charset="-78"/>
              </a:rPr>
              <a:t>ذَهَبَ / ذَهَبَتْ</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ask “did you …?” to a boy and a girl.</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a:t>
            </a:r>
            <a:pPr algn="l" indent="0" marL="0">
              <a:buNone/>
            </a:pPr>
            <a:r>
              <a:rPr lang="ar-SA" altLang="en-US" sz="1700" b="1" dirty="0">
                <a:solidFill>
                  <a:srgbClr val="C9780A"/>
                </a:solidFill>
                <a:latin typeface="Amiri" pitchFamily="2" charset="-78"/>
                <a:ea typeface="Amiri" pitchFamily="2" charset="-78"/>
                <a:cs typeface="Amiri" pitchFamily="2" charset="-78"/>
              </a:rPr>
              <a:t>فَعِلَ</a:t>
            </a:r>
            <a:pPr algn="l" indent="0" marL="0">
              <a:buNone/>
            </a:pPr>
            <a:r>
              <a:rPr lang="en-US" sz="1300" b="1" dirty="0">
                <a:solidFill>
                  <a:srgbClr val="C9780A"/>
                </a:solidFill>
                <a:latin typeface="Calibri" pitchFamily="34" charset="0"/>
                <a:cs typeface="Amiri" pitchFamily="2" charset="-78"/>
              </a:rPr>
              <a:t> verbs (</a:t>
            </a:r>
            <a:pPr algn="l" indent="0" marL="0">
              <a:buNone/>
            </a:pPr>
            <a:r>
              <a:rPr lang="ar-SA" altLang="en-US" sz="1700" b="1" dirty="0">
                <a:solidFill>
                  <a:srgbClr val="C9780A"/>
                </a:solidFill>
                <a:latin typeface="Amiri" pitchFamily="2" charset="-78"/>
                <a:ea typeface="Amiri" pitchFamily="2" charset="-78"/>
                <a:cs typeface="Amiri" pitchFamily="2" charset="-78"/>
              </a:rPr>
              <a:t>لَعِبَ</a:t>
            </a:r>
            <a:pPr algn="l" indent="0" marL="0">
              <a:buNone/>
            </a:pPr>
            <a:r>
              <a:rPr lang="en-US" sz="1300" b="1" dirty="0">
                <a:solidFill>
                  <a:srgbClr val="C9780A"/>
                </a:solidFill>
                <a:latin typeface="Calibri" pitchFamily="34" charset="0"/>
                <a:cs typeface="Amiri" pitchFamily="2" charset="-78"/>
              </a:rPr>
              <a:t> · </a:t>
            </a:r>
            <a:pPr algn="l" indent="0" marL="0">
              <a:buNone/>
            </a:pPr>
            <a:r>
              <a:rPr lang="ar-SA" altLang="en-US" sz="1700" b="1" dirty="0">
                <a:solidFill>
                  <a:srgbClr val="C9780A"/>
                </a:solidFill>
                <a:latin typeface="Amiri" pitchFamily="2" charset="-78"/>
                <a:ea typeface="Amiri" pitchFamily="2" charset="-78"/>
                <a:cs typeface="Amiri" pitchFamily="2" charset="-78"/>
              </a:rPr>
              <a:t>شَرِبَ</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ten past sentences with four time expressions.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give present, past and future of one verb.</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23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Talking about the past tense · 5</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Past-tense verbs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When it happened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مَاضٍ / المَاضِي</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‎ماضی‎ </a:t>
            </a:r>
            <a:pPr indent="0" marL="0">
              <a:buNone/>
            </a:pPr>
            <a:r>
              <a:rPr lang="en-US" sz="950" b="1" dirty="0">
                <a:solidFill>
                  <a:srgbClr val="2E8B57"/>
                </a:solidFill>
                <a:latin typeface="Calibri" pitchFamily="34" charset="0"/>
                <a:cs typeface="Amiri" pitchFamily="2" charset="-78"/>
              </a:rPr>
              <a:t> māzī · the past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فِعْلٌ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‎فعل‎ </a:t>
            </a:r>
            <a:pPr indent="0" marL="0">
              <a:buNone/>
            </a:pPr>
            <a:r>
              <a:rPr lang="en-US" sz="950" b="1" dirty="0">
                <a:solidFill>
                  <a:srgbClr val="2E8B57"/>
                </a:solidFill>
                <a:latin typeface="Calibri" pitchFamily="34" charset="0"/>
                <a:cs typeface="Amiri" pitchFamily="2" charset="-78"/>
              </a:rPr>
              <a:t> feʿl · a verb</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لَاحِقَةٌ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‎لاحقہ‎ </a:t>
            </a:r>
            <a:pPr indent="0" marL="0">
              <a:buNone/>
            </a:pPr>
            <a:r>
              <a:rPr lang="en-US" sz="950" b="1" dirty="0">
                <a:solidFill>
                  <a:srgbClr val="2E8B57"/>
                </a:solidFill>
                <a:latin typeface="Calibri" pitchFamily="34" charset="0"/>
                <a:cs typeface="Amiri" pitchFamily="2" charset="-78"/>
              </a:rPr>
              <a:t> lāḥiqa · a suffix</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جَذْرٌ</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‎جڑ‎ </a:t>
            </a:r>
            <a:pPr indent="0" marL="0">
              <a:buNone/>
            </a:pPr>
            <a:r>
              <a:rPr lang="en-US" sz="950" b="1" dirty="0">
                <a:solidFill>
                  <a:srgbClr val="2E8B57"/>
                </a:solidFill>
                <a:latin typeface="Calibri" pitchFamily="34" charset="0"/>
                <a:cs typeface="Amiri" pitchFamily="2" charset="-78"/>
              </a:rPr>
              <a:t> jaṛ · root (sound-alike)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أَمْسِ</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‎کل‎ </a:t>
            </a:r>
            <a:pPr indent="0" marL="0">
              <a:buNone/>
            </a:pPr>
            <a:r>
              <a:rPr lang="ar-SA" sz="950" b="1" dirty="0">
                <a:solidFill>
                  <a:srgbClr val="2E8B57"/>
                </a:solidFill>
                <a:latin typeface="Calibri" pitchFamily="34" charset="0"/>
                <a:ea typeface="Amiri" pitchFamily="2" charset="-78"/>
                <a:cs typeface="Amiri" pitchFamily="2" charset="-78"/>
              </a:rPr>
              <a:t> kal · yesterday (Urdu کل = yesterday OR tomorrow)</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Talking about the past tense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الفِعْلُ المَاضِي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past-tense verb</a:t>
            </a:r>
            <a:endParaRPr lang="en-US" sz="1350" dirty="0"/>
          </a:p>
          <a:p>
            <a:pPr indent="0" marL="0">
              <a:buNone/>
            </a:pPr>
            <a:r>
              <a:rPr lang="en-US" sz="1100" i="1" dirty="0">
                <a:solidFill>
                  <a:srgbClr val="5A6472"/>
                </a:solidFill>
                <a:latin typeface="Calibri" pitchFamily="34" charset="0"/>
                <a:cs typeface="Amiri" pitchFamily="2" charset="-78"/>
              </a:rPr>
              <a:t>al-fiʿ-lu al-mā-ḍī</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لَاحِقَةٌ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suffix</a:t>
            </a:r>
            <a:endParaRPr lang="en-US" sz="1350" dirty="0"/>
          </a:p>
          <a:p>
            <a:pPr indent="0" marL="0">
              <a:buNone/>
            </a:pPr>
            <a:r>
              <a:rPr lang="en-US" sz="1100" i="1" dirty="0">
                <a:solidFill>
                  <a:srgbClr val="5A6472"/>
                </a:solidFill>
                <a:latin typeface="Calibri" pitchFamily="34" charset="0"/>
                <a:cs typeface="Amiri" pitchFamily="2" charset="-78"/>
              </a:rPr>
              <a:t>lā-ḥi-qa-tun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الجَذْرُ</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root</a:t>
            </a:r>
            <a:endParaRPr lang="en-US" sz="1350" dirty="0"/>
          </a:p>
          <a:p>
            <a:pPr indent="0" marL="0">
              <a:buNone/>
            </a:pPr>
            <a:r>
              <a:rPr lang="en-US" sz="1100" i="1" dirty="0">
                <a:solidFill>
                  <a:srgbClr val="5A6472"/>
                </a:solidFill>
                <a:latin typeface="Calibri" pitchFamily="34" charset="0"/>
                <a:cs typeface="Amiri" pitchFamily="2" charset="-78"/>
              </a:rPr>
              <a:t>al-jadh-ru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وَزْنُ فَعَلَ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ar-SA" sz="1350" b="1" dirty="0">
                <a:solidFill>
                  <a:srgbClr val="1F2A37"/>
                </a:solidFill>
                <a:latin typeface="Calibri" pitchFamily="34" charset="0"/>
                <a:ea typeface="Amiri" pitchFamily="2" charset="-78"/>
                <a:cs typeface="Amiri" pitchFamily="2" charset="-78"/>
              </a:rPr>
              <a:t>the فَعَلَ pattern</a:t>
            </a:r>
            <a:endParaRPr lang="en-US" sz="1350" dirty="0"/>
          </a:p>
          <a:p>
            <a:pPr indent="0" marL="0">
              <a:buNone/>
            </a:pPr>
            <a:r>
              <a:rPr lang="en-US" sz="1100" i="1" dirty="0">
                <a:solidFill>
                  <a:srgbClr val="5A6472"/>
                </a:solidFill>
                <a:latin typeface="Calibri" pitchFamily="34" charset="0"/>
                <a:cs typeface="Amiri" pitchFamily="2" charset="-78"/>
              </a:rPr>
              <a:t>waz-nu fa-ʿa-la</a:t>
            </a:r>
            <a:endParaRPr lang="en-US" sz="1350" dirty="0"/>
          </a:p>
        </p:txBody>
      </p:sp>
      <p:sp>
        <p:nvSpPr>
          <p:cNvPr id="37" name="Text 34"/>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middle consonant carries a fatḥa.</a:t>
            </a:r>
            <a:endParaRPr lang="en-US" sz="1000" dirty="0"/>
          </a:p>
        </p:txBody>
      </p:sp>
      <p:sp>
        <p:nvSpPr>
          <p:cNvPr id="38" name="Shape 3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389120"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1" name="Text 38"/>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وَزْنُ فَعِلَ</a:t>
            </a:r>
            <a:endParaRPr lang="ar-SA" sz="3000" dirty="0"/>
          </a:p>
        </p:txBody>
      </p:sp>
      <p:sp>
        <p:nvSpPr>
          <p:cNvPr id="42" name="Text 39"/>
          <p:cNvSpPr txBox="1"/>
          <p:nvPr/>
        </p:nvSpPr>
        <p:spPr>
          <a:xfrm>
            <a:off x="4416552" y="5468112"/>
            <a:ext cx="3364992" cy="512064"/>
          </a:xfrm>
          <a:prstGeom prst="rect">
            <a:avLst/>
          </a:prstGeom>
          <a:noFill/>
          <a:ln/>
        </p:spPr>
        <p:txBody>
          <a:bodyPr wrap="square" lIns="0" tIns="0" rIns="0" bIns="0" rtlCol="0" anchor="t"/>
          <a:lstStyle/>
          <a:p>
            <a:pPr indent="0" marL="0">
              <a:buNone/>
            </a:pPr>
            <a:r>
              <a:rPr lang="ar-SA" sz="1350" b="1" dirty="0">
                <a:solidFill>
                  <a:srgbClr val="1F2A37"/>
                </a:solidFill>
                <a:latin typeface="Calibri" pitchFamily="34" charset="0"/>
                <a:ea typeface="Amiri" pitchFamily="2" charset="-78"/>
                <a:cs typeface="Amiri" pitchFamily="2" charset="-78"/>
              </a:rPr>
              <a:t>the فَعِلَ pattern</a:t>
            </a:r>
            <a:endParaRPr lang="en-US" sz="1350" dirty="0"/>
          </a:p>
          <a:p>
            <a:pPr indent="0" marL="0">
              <a:buNone/>
            </a:pPr>
            <a:r>
              <a:rPr lang="en-US" sz="1100" i="1" dirty="0">
                <a:solidFill>
                  <a:srgbClr val="5A6472"/>
                </a:solidFill>
                <a:latin typeface="Calibri" pitchFamily="34" charset="0"/>
                <a:cs typeface="Amiri" pitchFamily="2" charset="-78"/>
              </a:rPr>
              <a:t>waz-nu fa-ʿi-la</a:t>
            </a:r>
            <a:endParaRPr lang="en-US" sz="1350" dirty="0"/>
          </a:p>
        </p:txBody>
      </p:sp>
      <p:sp>
        <p:nvSpPr>
          <p:cNvPr id="43" name="Text 40"/>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middle consonant carries a kasra.</a:t>
            </a:r>
            <a:endParaRPr lang="en-US" sz="10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Past-tense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ذَهَبَ</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went</a:t>
            </a:r>
            <a:endParaRPr lang="en-US" sz="1350" dirty="0"/>
          </a:p>
          <a:p>
            <a:pPr indent="0" marL="0">
              <a:buNone/>
            </a:pPr>
            <a:r>
              <a:rPr lang="en-US" sz="1100" i="1" dirty="0">
                <a:solidFill>
                  <a:srgbClr val="5A6472"/>
                </a:solidFill>
                <a:latin typeface="Calibri" pitchFamily="34" charset="0"/>
                <a:cs typeface="Amiri" pitchFamily="2" charset="-78"/>
              </a:rPr>
              <a:t>dha-ha-ba</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ذَهَبَتْ</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ذَهَبْتُ</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3" name="Shape 3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لَعِبَ</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played</a:t>
            </a:r>
            <a:endParaRPr lang="en-US" sz="1350" dirty="0"/>
          </a:p>
          <a:p>
            <a:pPr indent="0" marL="0">
              <a:buNone/>
            </a:pPr>
            <a:r>
              <a:rPr lang="en-US" sz="1100" i="1" dirty="0">
                <a:solidFill>
                  <a:srgbClr val="5A6472"/>
                </a:solidFill>
                <a:latin typeface="Calibri" pitchFamily="34" charset="0"/>
                <a:cs typeface="Amiri" pitchFamily="2" charset="-78"/>
              </a:rPr>
              <a:t>la-ʿi-ba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لَعِبَتْ</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لَعِبْتُ</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8" name="Shape 45"/>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شَاهَدَ</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watched</a:t>
            </a:r>
            <a:endParaRPr lang="en-US" sz="1350" dirty="0"/>
          </a:p>
          <a:p>
            <a:pPr indent="0" marL="0">
              <a:buNone/>
            </a:pPr>
            <a:r>
              <a:rPr lang="en-US" sz="1100" i="1" dirty="0">
                <a:solidFill>
                  <a:srgbClr val="5A6472"/>
                </a:solidFill>
                <a:latin typeface="Calibri" pitchFamily="34" charset="0"/>
                <a:cs typeface="Amiri" pitchFamily="2" charset="-78"/>
              </a:rPr>
              <a:t>shā-ha-da</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شَاهَدَتْ</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شَاهَدْتُ</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63" name="Shape 60"/>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أَكَلَ</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ate</a:t>
            </a:r>
            <a:endParaRPr lang="en-US" sz="1350" dirty="0"/>
          </a:p>
          <a:p>
            <a:pPr indent="0" marL="0">
              <a:buNone/>
            </a:pPr>
            <a:r>
              <a:rPr lang="en-US" sz="1100" i="1" dirty="0">
                <a:solidFill>
                  <a:srgbClr val="5A6472"/>
                </a:solidFill>
                <a:latin typeface="Calibri" pitchFamily="34" charset="0"/>
                <a:cs typeface="Amiri" pitchFamily="2" charset="-78"/>
              </a:rPr>
              <a:t>a-ka-la</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أَكَلَتْ</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أَكَلْتُ</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78" name="Shape 75"/>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كَتَبَ</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wrote</a:t>
            </a:r>
            <a:endParaRPr lang="en-US" sz="1350" dirty="0"/>
          </a:p>
          <a:p>
            <a:pPr indent="0" marL="0">
              <a:buNone/>
            </a:pPr>
            <a:r>
              <a:rPr lang="en-US" sz="1100" i="1" dirty="0">
                <a:solidFill>
                  <a:srgbClr val="5A6472"/>
                </a:solidFill>
                <a:latin typeface="Calibri" pitchFamily="34" charset="0"/>
                <a:cs typeface="Amiri" pitchFamily="2" charset="-78"/>
              </a:rPr>
              <a:t>ka-ta-ba</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86" name="Text 8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كَتَبَتْ</a:t>
            </a:r>
            <a:endParaRPr lang="ar-SA" sz="150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89" name="Text 86"/>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كَتَبْتُ</a:t>
            </a:r>
            <a:endParaRPr lang="ar-SA" sz="150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93" name="Shape 90"/>
          <p:cNvSpPr/>
          <p:nvPr/>
        </p:nvSpPr>
        <p:spPr>
          <a:xfrm>
            <a:off x="960120" y="4279392"/>
            <a:ext cx="709574"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95" name="Shape 9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6" name="Text 9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7" name="Text 94"/>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قَرَأَ</a:t>
            </a:r>
            <a:endParaRPr lang="ar-SA" sz="3000" dirty="0"/>
          </a:p>
        </p:txBody>
      </p:sp>
      <p:sp>
        <p:nvSpPr>
          <p:cNvPr id="98" name="Text 95"/>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read</a:t>
            </a:r>
            <a:endParaRPr lang="en-US" sz="1350" dirty="0"/>
          </a:p>
          <a:p>
            <a:pPr indent="0" marL="0">
              <a:buNone/>
            </a:pPr>
            <a:r>
              <a:rPr lang="en-US" sz="1100" i="1" dirty="0">
                <a:solidFill>
                  <a:srgbClr val="5A6472"/>
                </a:solidFill>
                <a:latin typeface="Calibri" pitchFamily="34" charset="0"/>
                <a:cs typeface="Amiri" pitchFamily="2" charset="-78"/>
              </a:rPr>
              <a:t>qa-ra-ʾa</a:t>
            </a:r>
            <a:endParaRPr lang="en-US" sz="1350" dirty="0"/>
          </a:p>
        </p:txBody>
      </p:sp>
      <p:sp>
        <p:nvSpPr>
          <p:cNvPr id="99" name="Shape 96"/>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101" name="Text 98"/>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قَرَأَتْ</a:t>
            </a:r>
            <a:endParaRPr lang="ar-SA" sz="1500" dirty="0"/>
          </a:p>
        </p:txBody>
      </p:sp>
      <p:sp>
        <p:nvSpPr>
          <p:cNvPr id="102" name="Shape 99"/>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104" name="Text 101"/>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قَرَأْتُ</a:t>
            </a:r>
            <a:endParaRPr lang="ar-SA" sz="150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Past-tense verbs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رَسَمَ</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drew</a:t>
            </a:r>
            <a:endParaRPr lang="en-US" sz="1350" dirty="0"/>
          </a:p>
          <a:p>
            <a:pPr indent="0" marL="0">
              <a:buNone/>
            </a:pPr>
            <a:r>
              <a:rPr lang="en-US" sz="1100" i="1" dirty="0">
                <a:solidFill>
                  <a:srgbClr val="5A6472"/>
                </a:solidFill>
                <a:latin typeface="Calibri" pitchFamily="34" charset="0"/>
                <a:cs typeface="Amiri" pitchFamily="2" charset="-78"/>
              </a:rPr>
              <a:t>ra-sa-ma</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رَسَمَتْ</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رَسَمْتُ</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3" name="Shape 3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طَبَخَ</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cooked</a:t>
            </a:r>
            <a:endParaRPr lang="en-US" sz="1350" dirty="0"/>
          </a:p>
          <a:p>
            <a:pPr indent="0" marL="0">
              <a:buNone/>
            </a:pPr>
            <a:r>
              <a:rPr lang="en-US" sz="1100" i="1" dirty="0">
                <a:solidFill>
                  <a:srgbClr val="5A6472"/>
                </a:solidFill>
                <a:latin typeface="Calibri" pitchFamily="34" charset="0"/>
                <a:cs typeface="Amiri" pitchFamily="2" charset="-78"/>
              </a:rPr>
              <a:t>ṭa-ba-kha</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طَبَخَتْ</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2" name="Text 3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طَبَخْتُ</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46" name="Shape 43"/>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48" name="Text 4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وَصَلَ</a:t>
            </a:r>
            <a:endParaRPr lang="ar-SA" sz="3000" dirty="0"/>
          </a:p>
        </p:txBody>
      </p:sp>
      <p:sp>
        <p:nvSpPr>
          <p:cNvPr id="49" name="Text 4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arrived</a:t>
            </a:r>
            <a:endParaRPr lang="en-US" sz="1350" dirty="0"/>
          </a:p>
          <a:p>
            <a:pPr indent="0" marL="0">
              <a:buNone/>
            </a:pPr>
            <a:r>
              <a:rPr lang="en-US" sz="1100" i="1" dirty="0">
                <a:solidFill>
                  <a:srgbClr val="5A6472"/>
                </a:solidFill>
                <a:latin typeface="Calibri" pitchFamily="34" charset="0"/>
                <a:cs typeface="Amiri" pitchFamily="2" charset="-78"/>
              </a:rPr>
              <a:t>wa-ṣa-la</a:t>
            </a:r>
            <a:endParaRPr lang="en-US" sz="1350" dirty="0"/>
          </a:p>
        </p:txBody>
      </p:sp>
      <p:sp>
        <p:nvSpPr>
          <p:cNvPr id="50" name="Shape 47"/>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2" name="Text 49"/>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وَصَلَتْ</a:t>
            </a:r>
            <a:endParaRPr lang="ar-SA" sz="1500" dirty="0"/>
          </a:p>
        </p:txBody>
      </p:sp>
      <p:sp>
        <p:nvSpPr>
          <p:cNvPr id="53" name="Shape 50"/>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5" name="Text 52"/>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وَصَلْتُ</a:t>
            </a:r>
            <a:endParaRPr lang="ar-SA" sz="150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59" name="Shape 56"/>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61" name="Shape 5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3" name="Text 6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خَرَجَ</a:t>
            </a:r>
            <a:endParaRPr lang="ar-SA" sz="3000" dirty="0"/>
          </a:p>
        </p:txBody>
      </p:sp>
      <p:sp>
        <p:nvSpPr>
          <p:cNvPr id="64" name="Text 6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went out</a:t>
            </a:r>
            <a:endParaRPr lang="en-US" sz="1350" dirty="0"/>
          </a:p>
          <a:p>
            <a:pPr indent="0" marL="0">
              <a:buNone/>
            </a:pPr>
            <a:r>
              <a:rPr lang="en-US" sz="1100" i="1" dirty="0">
                <a:solidFill>
                  <a:srgbClr val="5A6472"/>
                </a:solidFill>
                <a:latin typeface="Calibri" pitchFamily="34" charset="0"/>
                <a:cs typeface="Amiri" pitchFamily="2" charset="-78"/>
              </a:rPr>
              <a:t>kha-ra-ja</a:t>
            </a:r>
            <a:endParaRPr lang="en-US" sz="1350" dirty="0"/>
          </a:p>
        </p:txBody>
      </p:sp>
      <p:sp>
        <p:nvSpPr>
          <p:cNvPr id="65" name="Shape 62"/>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7" name="Text 64"/>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خَرَجَتْ</a:t>
            </a:r>
            <a:endParaRPr lang="ar-SA" sz="1500" dirty="0"/>
          </a:p>
        </p:txBody>
      </p:sp>
      <p:sp>
        <p:nvSpPr>
          <p:cNvPr id="68" name="Shape 65"/>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70" name="Text 67"/>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خَرَجْتُ</a:t>
            </a:r>
            <a:endParaRPr lang="ar-SA" sz="1500" dirty="0"/>
          </a:p>
        </p:txBody>
      </p:sp>
      <p:sp>
        <p:nvSpPr>
          <p:cNvPr id="71" name="Shape 6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389120" y="4261104"/>
            <a:ext cx="310896" cy="310896"/>
          </a:xfrm>
          <a:prstGeom prst="ellipse">
            <a:avLst/>
          </a:prstGeom>
          <a:solidFill>
            <a:srgbClr val="F4F1EA"/>
          </a:solidFill>
          <a:ln w="12700">
            <a:solidFill>
              <a:srgbClr val="F4F1EA"/>
            </a:solidFill>
            <a:prstDash val="solid"/>
          </a:ln>
        </p:spPr>
      </p:sp>
      <p:sp>
        <p:nvSpPr>
          <p:cNvPr id="73" name="Text 7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74" name="Shape 71"/>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75" name="Text 72"/>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76" name="Text 7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سَمِعَ</a:t>
            </a:r>
            <a:endParaRPr lang="ar-SA" sz="3000" dirty="0"/>
          </a:p>
        </p:txBody>
      </p:sp>
      <p:sp>
        <p:nvSpPr>
          <p:cNvPr id="77" name="Text 7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heard</a:t>
            </a:r>
            <a:endParaRPr lang="en-US" sz="1350" dirty="0"/>
          </a:p>
          <a:p>
            <a:pPr indent="0" marL="0">
              <a:buNone/>
            </a:pPr>
            <a:r>
              <a:rPr lang="en-US" sz="1100" i="1" dirty="0">
                <a:solidFill>
                  <a:srgbClr val="5A6472"/>
                </a:solidFill>
                <a:latin typeface="Calibri" pitchFamily="34" charset="0"/>
                <a:cs typeface="Amiri" pitchFamily="2" charset="-78"/>
              </a:rPr>
              <a:t>sa-mi-ʿa</a:t>
            </a:r>
            <a:endParaRPr lang="en-US" sz="1350" dirty="0"/>
          </a:p>
        </p:txBody>
      </p:sp>
      <p:sp>
        <p:nvSpPr>
          <p:cNvPr id="78" name="Shape 75"/>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80" name="Text 77"/>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سَمِعَتْ</a:t>
            </a:r>
            <a:endParaRPr lang="ar-SA" sz="1500" dirty="0"/>
          </a:p>
        </p:txBody>
      </p:sp>
      <p:sp>
        <p:nvSpPr>
          <p:cNvPr id="81" name="Shape 78"/>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83" name="Text 80"/>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سَمِعْتُ</a:t>
            </a:r>
            <a:endParaRPr lang="ar-SA" sz="1500" dirty="0"/>
          </a:p>
        </p:txBody>
      </p:sp>
      <p:sp>
        <p:nvSpPr>
          <p:cNvPr id="84" name="Shape 8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566928" y="4261104"/>
            <a:ext cx="310896" cy="310896"/>
          </a:xfrm>
          <a:prstGeom prst="ellipse">
            <a:avLst/>
          </a:prstGeom>
          <a:solidFill>
            <a:srgbClr val="F4F1EA"/>
          </a:solidFill>
          <a:ln w="12700">
            <a:solidFill>
              <a:srgbClr val="F4F1EA"/>
            </a:solidFill>
            <a:prstDash val="solid"/>
          </a:ln>
        </p:spPr>
      </p:sp>
      <p:sp>
        <p:nvSpPr>
          <p:cNvPr id="86" name="Text 8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87" name="Shape 84"/>
          <p:cNvSpPr/>
          <p:nvPr/>
        </p:nvSpPr>
        <p:spPr>
          <a:xfrm>
            <a:off x="960120" y="4279392"/>
            <a:ext cx="709574" cy="256032"/>
          </a:xfrm>
          <a:prstGeom prst="roundRect">
            <a:avLst>
              <a:gd name="adj" fmla="val 50000"/>
            </a:avLst>
          </a:prstGeom>
          <a:solidFill>
            <a:srgbClr val="EFE7D2"/>
          </a:solidFill>
          <a:ln w="12700">
            <a:solidFill>
              <a:srgbClr val="EFE7D2"/>
            </a:solidFill>
            <a:prstDash val="solid"/>
          </a:ln>
        </p:spPr>
      </p:sp>
      <p:sp>
        <p:nvSpPr>
          <p:cNvPr id="88" name="Text 85"/>
          <p:cNvSpPr txBox="1"/>
          <p:nvPr/>
        </p:nvSpPr>
        <p:spPr>
          <a:xfrm>
            <a:off x="960120"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89" name="Text 86"/>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شَرِبَ</a:t>
            </a:r>
            <a:endParaRPr lang="ar-SA" sz="3000" dirty="0"/>
          </a:p>
        </p:txBody>
      </p:sp>
      <p:sp>
        <p:nvSpPr>
          <p:cNvPr id="90" name="Text 87"/>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drank</a:t>
            </a:r>
            <a:endParaRPr lang="en-US" sz="1350" dirty="0"/>
          </a:p>
          <a:p>
            <a:pPr indent="0" marL="0">
              <a:buNone/>
            </a:pPr>
            <a:r>
              <a:rPr lang="en-US" sz="1100" i="1" dirty="0">
                <a:solidFill>
                  <a:srgbClr val="5A6472"/>
                </a:solidFill>
                <a:latin typeface="Calibri" pitchFamily="34" charset="0"/>
                <a:cs typeface="Amiri" pitchFamily="2" charset="-78"/>
              </a:rPr>
              <a:t>sha-ri-ba</a:t>
            </a:r>
            <a:endParaRPr lang="en-US" sz="1350" dirty="0"/>
          </a:p>
        </p:txBody>
      </p:sp>
      <p:sp>
        <p:nvSpPr>
          <p:cNvPr id="91" name="Shape 88"/>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93" name="Text 90"/>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شَرِبَتْ</a:t>
            </a:r>
            <a:endParaRPr lang="ar-SA" sz="1500" dirty="0"/>
          </a:p>
        </p:txBody>
      </p:sp>
      <p:sp>
        <p:nvSpPr>
          <p:cNvPr id="94" name="Shape 91"/>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96" name="Text 93"/>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شَرِبْتُ</a:t>
            </a:r>
            <a:endParaRPr lang="ar-SA" sz="150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When it happened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أَمْسِ</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yesterday</a:t>
            </a:r>
            <a:endParaRPr lang="en-US" sz="1350" dirty="0"/>
          </a:p>
          <a:p>
            <a:pPr indent="0" marL="0">
              <a:buNone/>
            </a:pPr>
            <a:r>
              <a:rPr lang="en-US" sz="1100" i="1" dirty="0">
                <a:solidFill>
                  <a:srgbClr val="5A6472"/>
                </a:solidFill>
                <a:latin typeface="Calibri" pitchFamily="34" charset="0"/>
                <a:cs typeface="Amiri" pitchFamily="2" charset="-78"/>
              </a:rPr>
              <a:t>am-si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Indeclinable, always ends in kasra.</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الأُسْبُوعَ المَاضِيَ</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last week</a:t>
            </a:r>
            <a:endParaRPr lang="en-US" sz="1350" dirty="0"/>
          </a:p>
          <a:p>
            <a:pPr indent="0" marL="0">
              <a:buNone/>
            </a:pPr>
            <a:r>
              <a:rPr lang="en-US" sz="1100" i="1" dirty="0">
                <a:solidFill>
                  <a:srgbClr val="5A6472"/>
                </a:solidFill>
                <a:latin typeface="Calibri" pitchFamily="34" charset="0"/>
                <a:cs typeface="Amiri" pitchFamily="2" charset="-78"/>
              </a:rPr>
              <a:t>al-us-bū-ʿa al-mā-ḍi-ya</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Adverbial, so it is accusative.</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مُنْذُ أُسْبُوعٍ</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week ago</a:t>
            </a:r>
            <a:endParaRPr lang="en-US" sz="1350" dirty="0"/>
          </a:p>
          <a:p>
            <a:pPr indent="0" marL="0">
              <a:buNone/>
            </a:pPr>
            <a:r>
              <a:rPr lang="en-US" sz="1100" i="1" dirty="0">
                <a:solidFill>
                  <a:srgbClr val="5A6472"/>
                </a:solidFill>
                <a:latin typeface="Calibri" pitchFamily="34" charset="0"/>
                <a:cs typeface="Amiri" pitchFamily="2" charset="-78"/>
              </a:rPr>
              <a:t>mun-dhu us-bū-ʿin</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مُنْذُ</a:t>
            </a:r>
            <a:pPr algn="l" indent="0" marL="0">
              <a:buNone/>
            </a:pPr>
            <a:r>
              <a:rPr lang="en-US" sz="1000" i="1" dirty="0">
                <a:solidFill>
                  <a:srgbClr val="8A6D1E"/>
                </a:solidFill>
                <a:latin typeface="Calibri" pitchFamily="34" charset="0"/>
                <a:cs typeface="Amiri" pitchFamily="2" charset="-78"/>
              </a:rPr>
              <a:t> takes the genitive.</a:t>
            </a:r>
            <a:endParaRPr lang="en-US" sz="10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42" name="Text 3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الإِجَازَةِ</a:t>
            </a:r>
            <a:endParaRPr lang="ar-SA" sz="3000" dirty="0"/>
          </a:p>
        </p:txBody>
      </p:sp>
      <p:sp>
        <p:nvSpPr>
          <p:cNvPr id="43" name="Text 4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during the holiday</a:t>
            </a:r>
            <a:endParaRPr lang="en-US" sz="1350" dirty="0"/>
          </a:p>
          <a:p>
            <a:pPr indent="0" marL="0">
              <a:buNone/>
            </a:pPr>
            <a:r>
              <a:rPr lang="en-US" sz="1100" i="1" dirty="0">
                <a:solidFill>
                  <a:srgbClr val="5A6472"/>
                </a:solidFill>
                <a:latin typeface="Calibri" pitchFamily="34" charset="0"/>
                <a:cs typeface="Amiri" pitchFamily="2" charset="-78"/>
              </a:rPr>
              <a:t>fī al-i-jā-za-ti</a:t>
            </a:r>
            <a:endParaRPr lang="en-US" sz="1350" dirty="0"/>
          </a:p>
        </p:txBody>
      </p:sp>
      <p:sp>
        <p:nvSpPr>
          <p:cNvPr id="44" name="Shape 4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389120"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47" name="Text 4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قَبْلَ شَهْرٍ</a:t>
            </a:r>
            <a:endParaRPr lang="ar-SA" sz="3000" dirty="0"/>
          </a:p>
        </p:txBody>
      </p:sp>
      <p:sp>
        <p:nvSpPr>
          <p:cNvPr id="48" name="Text 4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month ago</a:t>
            </a:r>
            <a:endParaRPr lang="en-US" sz="1350" dirty="0"/>
          </a:p>
          <a:p>
            <a:pPr indent="0" marL="0">
              <a:buNone/>
            </a:pPr>
            <a:r>
              <a:rPr lang="en-US" sz="1100" i="1" dirty="0">
                <a:solidFill>
                  <a:srgbClr val="5A6472"/>
                </a:solidFill>
                <a:latin typeface="Calibri" pitchFamily="34" charset="0"/>
                <a:cs typeface="Amiri" pitchFamily="2" charset="-78"/>
              </a:rPr>
              <a:t>qab-la shah-rin</a:t>
            </a:r>
            <a:endParaRPr lang="en-US" sz="1350" dirty="0"/>
          </a:p>
        </p:txBody>
      </p:sp>
      <p:sp>
        <p:nvSpPr>
          <p:cNvPr id="49" name="Text 46"/>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قَبْلَ</a:t>
            </a:r>
            <a:pPr algn="l" indent="0" marL="0">
              <a:buNone/>
            </a:pPr>
            <a:r>
              <a:rPr lang="en-US" sz="1000" i="1" dirty="0">
                <a:solidFill>
                  <a:srgbClr val="8A6D1E"/>
                </a:solidFill>
                <a:latin typeface="Calibri" pitchFamily="34" charset="0"/>
                <a:cs typeface="Amiri" pitchFamily="2" charset="-78"/>
              </a:rPr>
              <a:t> takes the genitive.</a:t>
            </a:r>
            <a:endParaRPr lang="en-US" sz="100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53" name="Text 5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الصَّيْفِ المَاضِي</a:t>
            </a:r>
            <a:endParaRPr lang="ar-SA" sz="3000" dirty="0"/>
          </a:p>
        </p:txBody>
      </p:sp>
      <p:sp>
        <p:nvSpPr>
          <p:cNvPr id="54" name="Text 5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last summer</a:t>
            </a:r>
            <a:endParaRPr lang="en-US" sz="1350" dirty="0"/>
          </a:p>
          <a:p>
            <a:pPr indent="0" marL="0">
              <a:buNone/>
            </a:pPr>
            <a:r>
              <a:rPr lang="en-US" sz="1100" i="1" dirty="0">
                <a:solidFill>
                  <a:srgbClr val="5A6472"/>
                </a:solidFill>
                <a:latin typeface="Calibri" pitchFamily="34" charset="0"/>
                <a:cs typeface="Amiri" pitchFamily="2" charset="-78"/>
              </a:rPr>
              <a:t>fī aṣ-ṣay-fi al-mā-ḍī</a:t>
            </a:r>
            <a:endParaRPr lang="en-US" sz="1350" dirty="0"/>
          </a:p>
        </p:txBody>
      </p:sp>
      <p:sp>
        <p:nvSpPr>
          <p:cNvPr id="55" name="Text 52"/>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المَاضِي</a:t>
            </a:r>
            <a:pPr algn="l" indent="0" marL="0">
              <a:buNone/>
            </a:pPr>
            <a:r>
              <a:rPr lang="en-US" sz="1000" i="1" dirty="0">
                <a:solidFill>
                  <a:srgbClr val="8A6D1E"/>
                </a:solidFill>
                <a:latin typeface="Calibri" pitchFamily="34" charset="0"/>
                <a:cs typeface="Amiri" pitchFamily="2" charset="-78"/>
              </a:rPr>
              <a:t> keeps its yāʾ after </a:t>
            </a:r>
            <a:pPr algn="l" indent="0" marL="0">
              <a:buNone/>
            </a:pPr>
            <a:r>
              <a:rPr lang="ar-SA" altLang="en-US" sz="1300" dirty="0">
                <a:solidFill>
                  <a:srgbClr val="8A6D1E"/>
                </a:solidFill>
                <a:latin typeface="Amiri" pitchFamily="2" charset="-78"/>
                <a:ea typeface="Amiri" pitchFamily="2" charset="-78"/>
                <a:cs typeface="Amiri" pitchFamily="2" charset="-78"/>
              </a:rPr>
              <a:t>فِي</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FIVE SINGULAR ENDINGS (WEBSITE RULES 1–3)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root, five endings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جَذْرٌ وَاحِدٌ، خَمْسُ لَوَاحِقَ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74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Ending</a:t>
            </a:r>
            <a:endParaRPr lang="en-US" sz="1100" dirty="0"/>
          </a:p>
        </p:txBody>
      </p:sp>
      <p:sp>
        <p:nvSpPr>
          <p:cNvPr id="17" name="Text 14"/>
          <p:cNvSpPr txBox="1"/>
          <p:nvPr/>
        </p:nvSpPr>
        <p:spPr>
          <a:xfrm>
            <a:off x="7205472" y="1810512"/>
            <a:ext cx="2322576" cy="384048"/>
          </a:xfrm>
          <a:prstGeom prst="rect">
            <a:avLst/>
          </a:prstGeom>
          <a:noFill/>
          <a:ln/>
        </p:spPr>
        <p:txBody>
          <a:bodyPr wrap="square" lIns="0" tIns="0" rIns="0" bIns="0" rtlCol="0" anchor="ctr"/>
          <a:lstStyle/>
          <a:p>
            <a:pPr algn="ctr" indent="0" marL="0">
              <a:buNone/>
            </a:pPr>
            <a:r>
              <a:rPr lang="ar-SA" altLang="en-US" sz="1450" b="1" dirty="0">
                <a:solidFill>
                  <a:srgbClr val="FFFFFF"/>
                </a:solidFill>
                <a:latin typeface="Amiri" pitchFamily="2" charset="-78"/>
                <a:ea typeface="Amiri" pitchFamily="2" charset="-78"/>
                <a:cs typeface="Amiri" pitchFamily="2" charset="-78"/>
              </a:rPr>
              <a:t>شَاهَدَ</a:t>
            </a:r>
            <a:pPr algn="ctr" indent="0" marL="0">
              <a:buNone/>
            </a:pPr>
            <a:r>
              <a:rPr lang="en-US" sz="1100" b="1" dirty="0">
                <a:solidFill>
                  <a:srgbClr val="FFFFFF"/>
                </a:solidFill>
                <a:latin typeface="Calibri" pitchFamily="34" charset="0"/>
                <a:cs typeface="Amiri" pitchFamily="2" charset="-78"/>
              </a:rPr>
              <a:t> (watched)</a:t>
            </a:r>
            <a:endParaRPr lang="en-US" sz="1100" dirty="0"/>
          </a:p>
        </p:txBody>
      </p:sp>
      <p:sp>
        <p:nvSpPr>
          <p:cNvPr id="18" name="Text 15"/>
          <p:cNvSpPr txBox="1"/>
          <p:nvPr/>
        </p:nvSpPr>
        <p:spPr>
          <a:xfrm>
            <a:off x="4736592" y="1810512"/>
            <a:ext cx="2322576" cy="384048"/>
          </a:xfrm>
          <a:prstGeom prst="rect">
            <a:avLst/>
          </a:prstGeom>
          <a:noFill/>
          <a:ln/>
        </p:spPr>
        <p:txBody>
          <a:bodyPr wrap="square" lIns="0" tIns="0" rIns="0" bIns="0" rtlCol="0" anchor="ctr"/>
          <a:lstStyle/>
          <a:p>
            <a:pPr algn="ctr" indent="0" marL="0">
              <a:buNone/>
            </a:pPr>
            <a:r>
              <a:rPr lang="ar-SA" altLang="en-US" sz="1450" b="1" dirty="0">
                <a:solidFill>
                  <a:srgbClr val="FFFFFF"/>
                </a:solidFill>
                <a:latin typeface="Amiri" pitchFamily="2" charset="-78"/>
                <a:ea typeface="Amiri" pitchFamily="2" charset="-78"/>
                <a:cs typeface="Amiri" pitchFamily="2" charset="-78"/>
              </a:rPr>
              <a:t>لَعِبَ</a:t>
            </a:r>
            <a:pPr algn="ctr" indent="0" marL="0">
              <a:buNone/>
            </a:pPr>
            <a:r>
              <a:rPr lang="en-US" sz="1100" b="1" dirty="0">
                <a:solidFill>
                  <a:srgbClr val="FFFFFF"/>
                </a:solidFill>
                <a:latin typeface="Calibri" pitchFamily="34" charset="0"/>
                <a:cs typeface="Amiri" pitchFamily="2" charset="-78"/>
              </a:rPr>
              <a:t> (played)</a:t>
            </a:r>
            <a:endParaRPr lang="en-US" sz="1100" dirty="0"/>
          </a:p>
        </p:txBody>
      </p:sp>
      <p:sp>
        <p:nvSpPr>
          <p:cNvPr id="19" name="Text 16"/>
          <p:cNvSpPr txBox="1"/>
          <p:nvPr/>
        </p:nvSpPr>
        <p:spPr>
          <a:xfrm>
            <a:off x="2267712" y="1810512"/>
            <a:ext cx="2322576" cy="384048"/>
          </a:xfrm>
          <a:prstGeom prst="rect">
            <a:avLst/>
          </a:prstGeom>
          <a:noFill/>
          <a:ln/>
        </p:spPr>
        <p:txBody>
          <a:bodyPr wrap="square" lIns="0" tIns="0" rIns="0" bIns="0" rtlCol="0" anchor="ctr"/>
          <a:lstStyle/>
          <a:p>
            <a:pPr algn="ctr" indent="0" marL="0">
              <a:buNone/>
            </a:pPr>
            <a:r>
              <a:rPr lang="ar-SA" altLang="en-US" sz="1450" b="1" dirty="0">
                <a:solidFill>
                  <a:srgbClr val="FFFFFF"/>
                </a:solidFill>
                <a:latin typeface="Amiri" pitchFamily="2" charset="-78"/>
                <a:ea typeface="Amiri" pitchFamily="2" charset="-78"/>
                <a:cs typeface="Amiri" pitchFamily="2" charset="-78"/>
              </a:rPr>
              <a:t>ذَهَبَ</a:t>
            </a:r>
            <a:pPr algn="ctr" indent="0" marL="0">
              <a:buNone/>
            </a:pPr>
            <a:r>
              <a:rPr lang="en-US" sz="1100" b="1" dirty="0">
                <a:solidFill>
                  <a:srgbClr val="FFFFFF"/>
                </a:solidFill>
                <a:latin typeface="Calibri" pitchFamily="34" charset="0"/>
                <a:cs typeface="Amiri" pitchFamily="2" charset="-78"/>
              </a:rPr>
              <a:t> (went)</a:t>
            </a:r>
            <a:endParaRPr lang="en-US" sz="1100" dirty="0"/>
          </a:p>
        </p:txBody>
      </p:sp>
      <p:sp>
        <p:nvSpPr>
          <p:cNvPr id="20" name="Text 17"/>
          <p:cNvSpPr txBox="1"/>
          <p:nvPr/>
        </p:nvSpPr>
        <p:spPr>
          <a:xfrm>
            <a:off x="53035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Person</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710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-tu</a:t>
            </a:r>
            <a:endParaRPr lang="en-US" sz="1100" dirty="0"/>
          </a:p>
        </p:txBody>
      </p:sp>
      <p:sp>
        <p:nvSpPr>
          <p:cNvPr id="23" name="Text 20"/>
          <p:cNvSpPr txBox="1"/>
          <p:nvPr/>
        </p:nvSpPr>
        <p:spPr>
          <a:xfrm>
            <a:off x="7223760" y="2267712"/>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2" charset="-78"/>
                <a:ea typeface="Amiri" pitchFamily="2" charset="-78"/>
                <a:cs typeface="Amiri" pitchFamily="2" charset="-78"/>
              </a:rPr>
              <a:t>شَاهَدْتُ</a:t>
            </a:r>
            <a:endParaRPr lang="ar-SA" sz="2600" dirty="0"/>
          </a:p>
        </p:txBody>
      </p:sp>
      <p:sp>
        <p:nvSpPr>
          <p:cNvPr id="24" name="Text 21"/>
          <p:cNvSpPr txBox="1"/>
          <p:nvPr/>
        </p:nvSpPr>
        <p:spPr>
          <a:xfrm>
            <a:off x="4754880" y="2267712"/>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2" charset="-78"/>
                <a:ea typeface="Amiri" pitchFamily="2" charset="-78"/>
                <a:cs typeface="Amiri" pitchFamily="2" charset="-78"/>
              </a:rPr>
              <a:t>لَعِبْتُ</a:t>
            </a:r>
            <a:endParaRPr lang="ar-SA" sz="2600" dirty="0"/>
          </a:p>
        </p:txBody>
      </p:sp>
      <p:sp>
        <p:nvSpPr>
          <p:cNvPr id="25" name="Text 22"/>
          <p:cNvSpPr txBox="1"/>
          <p:nvPr/>
        </p:nvSpPr>
        <p:spPr>
          <a:xfrm>
            <a:off x="2286000" y="2267712"/>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2" charset="-78"/>
                <a:ea typeface="Amiri" pitchFamily="2" charset="-78"/>
                <a:cs typeface="Amiri" pitchFamily="2" charset="-78"/>
              </a:rPr>
              <a:t>ذَهَبْتُ</a:t>
            </a:r>
            <a:endParaRPr lang="ar-SA" sz="2600" dirty="0"/>
          </a:p>
        </p:txBody>
      </p:sp>
      <p:sp>
        <p:nvSpPr>
          <p:cNvPr id="26" name="Text 23"/>
          <p:cNvSpPr txBox="1"/>
          <p:nvPr/>
        </p:nvSpPr>
        <p:spPr>
          <a:xfrm>
            <a:off x="548640" y="2267712"/>
            <a:ext cx="15544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أَنَا</a:t>
            </a:r>
            <a:endParaRPr lang="ar-SA" sz="22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710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(m.): -ta</a:t>
            </a:r>
            <a:endParaRPr lang="en-US" sz="1100" dirty="0"/>
          </a:p>
        </p:txBody>
      </p:sp>
      <p:sp>
        <p:nvSpPr>
          <p:cNvPr id="31" name="Text 28"/>
          <p:cNvSpPr txBox="1"/>
          <p:nvPr/>
        </p:nvSpPr>
        <p:spPr>
          <a:xfrm>
            <a:off x="7223760" y="3004718"/>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ea typeface="Amiri" pitchFamily="2" charset="-78"/>
                <a:cs typeface="Amiri" pitchFamily="2" charset="-78"/>
              </a:rPr>
              <a:t>شَاهَدْتَ</a:t>
            </a:r>
            <a:endParaRPr lang="ar-SA" sz="2600" dirty="0"/>
          </a:p>
        </p:txBody>
      </p:sp>
      <p:sp>
        <p:nvSpPr>
          <p:cNvPr id="32" name="Text 29"/>
          <p:cNvSpPr txBox="1"/>
          <p:nvPr/>
        </p:nvSpPr>
        <p:spPr>
          <a:xfrm>
            <a:off x="4754880" y="3004718"/>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ea typeface="Amiri" pitchFamily="2" charset="-78"/>
                <a:cs typeface="Amiri" pitchFamily="2" charset="-78"/>
              </a:rPr>
              <a:t>لَعِبْتَ</a:t>
            </a:r>
            <a:endParaRPr lang="ar-SA" sz="2600" dirty="0"/>
          </a:p>
        </p:txBody>
      </p:sp>
      <p:sp>
        <p:nvSpPr>
          <p:cNvPr id="33" name="Text 30"/>
          <p:cNvSpPr txBox="1"/>
          <p:nvPr/>
        </p:nvSpPr>
        <p:spPr>
          <a:xfrm>
            <a:off x="2286000" y="3004718"/>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ea typeface="Amiri" pitchFamily="2" charset="-78"/>
                <a:cs typeface="Amiri" pitchFamily="2" charset="-78"/>
              </a:rPr>
              <a:t>ذَهَبْتَ</a:t>
            </a:r>
            <a:endParaRPr lang="ar-SA" sz="2600" dirty="0"/>
          </a:p>
        </p:txBody>
      </p:sp>
      <p:sp>
        <p:nvSpPr>
          <p:cNvPr id="34" name="Text 31"/>
          <p:cNvSpPr txBox="1"/>
          <p:nvPr/>
        </p:nvSpPr>
        <p:spPr>
          <a:xfrm>
            <a:off x="548640" y="3004718"/>
            <a:ext cx="15544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أَنْتَ</a:t>
            </a:r>
            <a:endParaRPr lang="ar-SA" sz="2200" dirty="0"/>
          </a:p>
        </p:txBody>
      </p:sp>
      <p:sp>
        <p:nvSpPr>
          <p:cNvPr id="35" name="Shape 32"/>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9710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(f.): -ti</a:t>
            </a:r>
            <a:endParaRPr lang="en-US" sz="1100" dirty="0"/>
          </a:p>
        </p:txBody>
      </p:sp>
      <p:sp>
        <p:nvSpPr>
          <p:cNvPr id="37" name="Text 34"/>
          <p:cNvSpPr txBox="1"/>
          <p:nvPr/>
        </p:nvSpPr>
        <p:spPr>
          <a:xfrm>
            <a:off x="7223760" y="3741725"/>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2" charset="-78"/>
                <a:ea typeface="Amiri" pitchFamily="2" charset="-78"/>
                <a:cs typeface="Amiri" pitchFamily="2" charset="-78"/>
              </a:rPr>
              <a:t>شَاهَدْتِ</a:t>
            </a:r>
            <a:endParaRPr lang="ar-SA" sz="2600" dirty="0"/>
          </a:p>
        </p:txBody>
      </p:sp>
      <p:sp>
        <p:nvSpPr>
          <p:cNvPr id="38" name="Text 35"/>
          <p:cNvSpPr txBox="1"/>
          <p:nvPr/>
        </p:nvSpPr>
        <p:spPr>
          <a:xfrm>
            <a:off x="4754880" y="3741725"/>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2" charset="-78"/>
                <a:ea typeface="Amiri" pitchFamily="2" charset="-78"/>
                <a:cs typeface="Amiri" pitchFamily="2" charset="-78"/>
              </a:rPr>
              <a:t>لَعِبْتِ</a:t>
            </a:r>
            <a:endParaRPr lang="ar-SA" sz="2600" dirty="0"/>
          </a:p>
        </p:txBody>
      </p:sp>
      <p:sp>
        <p:nvSpPr>
          <p:cNvPr id="39" name="Text 36"/>
          <p:cNvSpPr txBox="1"/>
          <p:nvPr/>
        </p:nvSpPr>
        <p:spPr>
          <a:xfrm>
            <a:off x="2286000" y="3741725"/>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2" charset="-78"/>
                <a:ea typeface="Amiri" pitchFamily="2" charset="-78"/>
                <a:cs typeface="Amiri" pitchFamily="2" charset="-78"/>
              </a:rPr>
              <a:t>ذَهَبْتِ</a:t>
            </a:r>
            <a:endParaRPr lang="ar-SA" sz="2600" dirty="0"/>
          </a:p>
        </p:txBody>
      </p:sp>
      <p:sp>
        <p:nvSpPr>
          <p:cNvPr id="40" name="Text 37"/>
          <p:cNvSpPr txBox="1"/>
          <p:nvPr/>
        </p:nvSpPr>
        <p:spPr>
          <a:xfrm>
            <a:off x="548640" y="3741725"/>
            <a:ext cx="15544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أَنْتِ</a:t>
            </a:r>
            <a:endParaRPr lang="ar-SA" sz="220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9710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 no ending</a:t>
            </a:r>
            <a:endParaRPr lang="en-US" sz="1100" dirty="0"/>
          </a:p>
        </p:txBody>
      </p:sp>
      <p:sp>
        <p:nvSpPr>
          <p:cNvPr id="43" name="Text 40"/>
          <p:cNvSpPr txBox="1"/>
          <p:nvPr/>
        </p:nvSpPr>
        <p:spPr>
          <a:xfrm>
            <a:off x="7223760" y="4478731"/>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شَاهَدَ</a:t>
            </a:r>
            <a:endParaRPr lang="ar-SA" sz="2600" dirty="0"/>
          </a:p>
        </p:txBody>
      </p:sp>
      <p:sp>
        <p:nvSpPr>
          <p:cNvPr id="44" name="Text 41"/>
          <p:cNvSpPr txBox="1"/>
          <p:nvPr/>
        </p:nvSpPr>
        <p:spPr>
          <a:xfrm>
            <a:off x="4754880" y="4478731"/>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لَعِبَ</a:t>
            </a:r>
            <a:endParaRPr lang="ar-SA" sz="2600" dirty="0"/>
          </a:p>
        </p:txBody>
      </p:sp>
      <p:sp>
        <p:nvSpPr>
          <p:cNvPr id="45" name="Text 42"/>
          <p:cNvSpPr txBox="1"/>
          <p:nvPr/>
        </p:nvSpPr>
        <p:spPr>
          <a:xfrm>
            <a:off x="2286000" y="4478731"/>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ذَهَبَ</a:t>
            </a:r>
            <a:endParaRPr lang="ar-SA" sz="2600" dirty="0"/>
          </a:p>
        </p:txBody>
      </p:sp>
      <p:sp>
        <p:nvSpPr>
          <p:cNvPr id="46" name="Text 43"/>
          <p:cNvSpPr txBox="1"/>
          <p:nvPr/>
        </p:nvSpPr>
        <p:spPr>
          <a:xfrm>
            <a:off x="548640" y="4478731"/>
            <a:ext cx="15544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هُوَ</a:t>
            </a:r>
            <a:endParaRPr lang="ar-SA" sz="2200" dirty="0"/>
          </a:p>
        </p:txBody>
      </p:sp>
      <p:sp>
        <p:nvSpPr>
          <p:cNvPr id="47" name="Shape 44"/>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0" name="Text 47"/>
          <p:cNvSpPr txBox="1"/>
          <p:nvPr/>
        </p:nvSpPr>
        <p:spPr>
          <a:xfrm>
            <a:off x="9710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 -at</a:t>
            </a:r>
            <a:endParaRPr lang="en-US" sz="1100" dirty="0"/>
          </a:p>
        </p:txBody>
      </p:sp>
      <p:sp>
        <p:nvSpPr>
          <p:cNvPr id="51" name="Text 48"/>
          <p:cNvSpPr txBox="1"/>
          <p:nvPr/>
        </p:nvSpPr>
        <p:spPr>
          <a:xfrm>
            <a:off x="7223760" y="5215738"/>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2" charset="-78"/>
                <a:ea typeface="Amiri" pitchFamily="2" charset="-78"/>
                <a:cs typeface="Amiri" pitchFamily="2" charset="-78"/>
              </a:rPr>
              <a:t>شَاهَدَتْ</a:t>
            </a:r>
            <a:endParaRPr lang="ar-SA" sz="2600" dirty="0"/>
          </a:p>
        </p:txBody>
      </p:sp>
      <p:sp>
        <p:nvSpPr>
          <p:cNvPr id="52" name="Text 49"/>
          <p:cNvSpPr txBox="1"/>
          <p:nvPr/>
        </p:nvSpPr>
        <p:spPr>
          <a:xfrm>
            <a:off x="4754880" y="5215738"/>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2" charset="-78"/>
                <a:ea typeface="Amiri" pitchFamily="2" charset="-78"/>
                <a:cs typeface="Amiri" pitchFamily="2" charset="-78"/>
              </a:rPr>
              <a:t>لَعِبَتْ</a:t>
            </a:r>
            <a:endParaRPr lang="ar-SA" sz="2600" dirty="0"/>
          </a:p>
        </p:txBody>
      </p:sp>
      <p:sp>
        <p:nvSpPr>
          <p:cNvPr id="53" name="Text 50"/>
          <p:cNvSpPr txBox="1"/>
          <p:nvPr/>
        </p:nvSpPr>
        <p:spPr>
          <a:xfrm>
            <a:off x="2286000" y="5215738"/>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2" charset="-78"/>
                <a:ea typeface="Amiri" pitchFamily="2" charset="-78"/>
                <a:cs typeface="Amiri" pitchFamily="2" charset="-78"/>
              </a:rPr>
              <a:t>ذَهَبَتْ</a:t>
            </a:r>
            <a:endParaRPr lang="ar-SA" sz="2600" dirty="0"/>
          </a:p>
        </p:txBody>
      </p:sp>
      <p:sp>
        <p:nvSpPr>
          <p:cNvPr id="54" name="Text 51"/>
          <p:cNvSpPr txBox="1"/>
          <p:nvPr/>
        </p:nvSpPr>
        <p:spPr>
          <a:xfrm>
            <a:off x="548640" y="5215738"/>
            <a:ext cx="15544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هِيَ</a:t>
            </a:r>
            <a:endParaRPr lang="ar-SA" sz="2200" dirty="0"/>
          </a:p>
        </p:txBody>
      </p:sp>
      <p:sp>
        <p:nvSpPr>
          <p:cNvPr id="55" name="Shape 52"/>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 / you (m.) / you (f.): the same letters — only the LAST vowel (-tu · -ta · -ti) shows the person. Always write it.</a:t>
            </a:r>
            <a:endParaRPr lang="en-US" sz="11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TIME FIRST, VERB IN THE PAST (WEBSITE RULE 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When did it happen?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مَتَى 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44018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TIME FIRST · CORE</a:t>
            </a:r>
            <a:endParaRPr lang="en-US" sz="850" dirty="0"/>
          </a:p>
        </p:txBody>
      </p:sp>
      <p:sp>
        <p:nvSpPr>
          <p:cNvPr id="18" name="Text 15"/>
          <p:cNvSpPr txBox="1"/>
          <p:nvPr/>
        </p:nvSpPr>
        <p:spPr>
          <a:xfrm>
            <a:off x="9718548"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أَمْسِ لَعِبْتُ</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أَمْسِ لَعِبْتُ كُرَةَ القَدَمِ.</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Yesterday I played football.</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Time, then verb.</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78308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ASK A FRIEND · DEVELOP</a:t>
            </a:r>
            <a:endParaRPr lang="en-US" sz="850" dirty="0"/>
          </a:p>
        </p:txBody>
      </p:sp>
      <p:sp>
        <p:nvSpPr>
          <p:cNvPr id="26" name="Text 23"/>
          <p:cNvSpPr txBox="1"/>
          <p:nvPr/>
        </p:nvSpPr>
        <p:spPr>
          <a:xfrm>
            <a:off x="6242304"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شَاهَدْتَ · شَاهَدْتِ</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هَلْ شَاهَدْتِ المُبَارَاةَ يَا سَلْمَى؟</a:t>
            </a:r>
            <a:endParaRPr lang="ar-SA" sz="25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Did you watch the match, Salma?</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 girl: -ti.</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1658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AGO · STRETCH</a:t>
            </a:r>
            <a:endParaRPr lang="en-US" sz="850" dirty="0"/>
          </a:p>
        </p:txBody>
      </p:sp>
      <p:sp>
        <p:nvSpPr>
          <p:cNvPr id="34" name="Text 31"/>
          <p:cNvSpPr txBox="1"/>
          <p:nvPr/>
        </p:nvSpPr>
        <p:spPr>
          <a:xfrm>
            <a:off x="1805940"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مُنْذُ أُسْبُوعٍ · قَبْلَ شَهْرٍ</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ea typeface="Amiri" pitchFamily="2" charset="-78"/>
                <a:cs typeface="Amiri" pitchFamily="2" charset="-78"/>
              </a:rPr>
              <a:t>قَرَأْتُ الكِتَابَ مُنْذُ أُسْبُوعٍ.</a:t>
            </a:r>
            <a:endParaRPr lang="ar-SA" sz="30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read the book a week ago.</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Genitive after mundhu.</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Salma is “she” — use the -at ending.</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سَلْمَى لَعِبَتْ كُرَةَ السَّلَّةِ.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سَلْمَى لَعِبْتُ كُرَةَ السَّلَّةِ.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past-tense suffix system</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نِظَامُ لَوَاحِقِ الفِعْلِ المَاضِي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a:t>
            </a:r>
            <a:pPr algn="l" indent="0" marL="0">
              <a:buNone/>
            </a:pPr>
            <a:r>
              <a:rPr lang="ar-SA" altLang="en-US" sz="1650" b="1" dirty="0">
                <a:solidFill>
                  <a:srgbClr val="1B3B6F"/>
                </a:solidFill>
                <a:latin typeface="Amiri" pitchFamily="2" charset="-78"/>
                <a:ea typeface="Amiri" pitchFamily="2" charset="-78"/>
                <a:cs typeface="Amiri" pitchFamily="2" charset="-78"/>
              </a:rPr>
              <a:t>هُوَ</a:t>
            </a:r>
            <a:pPr algn="l" indent="0" marL="0">
              <a:buNone/>
            </a:pPr>
            <a:r>
              <a:rPr lang="en-US" sz="1250" b="1" dirty="0">
                <a:solidFill>
                  <a:srgbClr val="1B3B6F"/>
                </a:solidFill>
                <a:latin typeface="Calibri" pitchFamily="34" charset="0"/>
                <a:cs typeface="Amiri" pitchFamily="2" charset="-78"/>
              </a:rPr>
              <a:t> and </a:t>
            </a:r>
            <a:pPr algn="l" indent="0" marL="0">
              <a:buNone/>
            </a:pPr>
            <a:r>
              <a:rPr lang="ar-SA" altLang="en-US" sz="1650" b="1" dirty="0">
                <a:solidFill>
                  <a:srgbClr val="1B3B6F"/>
                </a:solidFill>
                <a:latin typeface="Amiri" pitchFamily="2" charset="-78"/>
                <a:ea typeface="Amiri" pitchFamily="2" charset="-78"/>
                <a:cs typeface="Amiri" pitchFamily="2" charset="-78"/>
              </a:rPr>
              <a:t>هِيَ</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هُوَ</a:t>
            </a:r>
            <a:pPr algn="l" indent="0" marL="0">
              <a:buNone/>
            </a:pPr>
            <a:r>
              <a:rPr lang="en-US" sz="1050" dirty="0">
                <a:solidFill>
                  <a:srgbClr val="5A6472"/>
                </a:solidFill>
                <a:latin typeface="Calibri" pitchFamily="34" charset="0"/>
                <a:cs typeface="Amiri" pitchFamily="2" charset="-78"/>
              </a:rPr>
              <a:t> → </a:t>
            </a:r>
            <a:pPr algn="l" indent="0" marL="0">
              <a:buNone/>
            </a:pPr>
            <a:r>
              <a:rPr lang="ar-SA" altLang="en-US" sz="1350" dirty="0">
                <a:solidFill>
                  <a:srgbClr val="5A6472"/>
                </a:solidFill>
                <a:latin typeface="Amiri" pitchFamily="2" charset="-78"/>
                <a:ea typeface="Amiri" pitchFamily="2" charset="-78"/>
                <a:cs typeface="Amiri" pitchFamily="2" charset="-78"/>
              </a:rPr>
              <a:t>فَعَلَ</a:t>
            </a:r>
            <a:pPr algn="l" indent="0" marL="0">
              <a:buNone/>
            </a:pPr>
            <a:r>
              <a:rPr lang="en-US" sz="1050" dirty="0">
                <a:solidFill>
                  <a:srgbClr val="5A6472"/>
                </a:solidFill>
                <a:latin typeface="Calibri" pitchFamily="34" charset="0"/>
                <a:cs typeface="Amiri" pitchFamily="2" charset="-78"/>
              </a:rPr>
              <a:t> (no suffix) · </a:t>
            </a:r>
            <a:pPr algn="l" indent="0" marL="0">
              <a:buNone/>
            </a:pPr>
            <a:r>
              <a:rPr lang="ar-SA" altLang="en-US" sz="1350" dirty="0">
                <a:solidFill>
                  <a:srgbClr val="5A6472"/>
                </a:solidFill>
                <a:latin typeface="Amiri" pitchFamily="2" charset="-78"/>
                <a:ea typeface="Amiri" pitchFamily="2" charset="-78"/>
                <a:cs typeface="Amiri" pitchFamily="2" charset="-78"/>
              </a:rPr>
              <a:t>هِيَ</a:t>
            </a:r>
            <a:pPr algn="l" indent="0" marL="0">
              <a:buNone/>
            </a:pPr>
            <a:r>
              <a:rPr lang="en-US" sz="1050" dirty="0">
                <a:solidFill>
                  <a:srgbClr val="5A6472"/>
                </a:solidFill>
                <a:latin typeface="Calibri" pitchFamily="34" charset="0"/>
                <a:cs typeface="Amiri" pitchFamily="2" charset="-78"/>
              </a:rPr>
              <a:t> → </a:t>
            </a:r>
            <a:pPr algn="l" indent="0" marL="0">
              <a:buNone/>
            </a:pPr>
            <a:r>
              <a:rPr lang="ar-SA" altLang="en-US" sz="1350" dirty="0">
                <a:solidFill>
                  <a:srgbClr val="5A6472"/>
                </a:solidFill>
                <a:latin typeface="Amiri" pitchFamily="2" charset="-78"/>
                <a:ea typeface="Amiri" pitchFamily="2" charset="-78"/>
                <a:cs typeface="Amiri" pitchFamily="2" charset="-78"/>
              </a:rPr>
              <a:t>فَعَلَتْ</a:t>
            </a:r>
            <a:pPr algn="l" indent="0" marL="0">
              <a:buNone/>
            </a:pPr>
            <a:r>
              <a:rPr lang="en-US" sz="1050" dirty="0">
                <a:solidFill>
                  <a:srgbClr val="5A6472"/>
                </a:solidFill>
                <a:latin typeface="Calibri" pitchFamily="34" charset="0"/>
                <a:cs typeface="Amiri" pitchFamily="2" charset="-78"/>
              </a:rPr>
              <a:t> (</a:t>
            </a:r>
            <a:pPr algn="l" indent="0" marL="0">
              <a:buNone/>
            </a:pPr>
            <a:r>
              <a:rPr lang="ar-SA" altLang="en-US" sz="1350" dirty="0">
                <a:solidFill>
                  <a:srgbClr val="5A6472"/>
                </a:solidFill>
                <a:latin typeface="Amiri" pitchFamily="2" charset="-78"/>
                <a:ea typeface="Amiri" pitchFamily="2" charset="-78"/>
                <a:cs typeface="Amiri" pitchFamily="2" charset="-78"/>
              </a:rPr>
              <a:t>ـَتْ</a:t>
            </a:r>
            <a:pPr algn="l" indent="0" marL="0">
              <a:buNone/>
            </a:pPr>
            <a:r>
              <a:rPr lang="en-US" sz="1050" dirty="0">
                <a:solidFill>
                  <a:srgbClr val="5A6472"/>
                </a:solidFill>
                <a:latin typeface="Calibri" pitchFamily="34" charset="0"/>
                <a:cs typeface="Amiri" pitchFamily="2" charset="-78"/>
              </a:rPr>
              <a: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لَعِبَ يُوسُفُ   ·   لَعِبَتْ سَلْمَى</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a:t>
            </a:r>
            <a:pPr algn="l" indent="0" marL="0">
              <a:buNone/>
            </a:pPr>
            <a:r>
              <a:rPr lang="ar-SA" altLang="en-US" sz="1650" b="1" dirty="0">
                <a:solidFill>
                  <a:srgbClr val="1B3B6F"/>
                </a:solidFill>
                <a:latin typeface="Amiri" pitchFamily="2" charset="-78"/>
                <a:ea typeface="Amiri" pitchFamily="2" charset="-78"/>
                <a:cs typeface="Amiri" pitchFamily="2" charset="-78"/>
              </a:rPr>
              <a:t>أَنَا</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أَنَا → فَعَلْتُ (ـْتُ)</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ذَهَبْتُ إِلَى النَّادِي   ·   قَرَأْتُ رِوَايَةً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a:t>
            </a:r>
            <a:pPr algn="l" indent="0" marL="0">
              <a:buNone/>
            </a:pPr>
            <a:r>
              <a:rPr lang="ar-SA" altLang="en-US" sz="1650" b="1" dirty="0">
                <a:solidFill>
                  <a:srgbClr val="1B3B6F"/>
                </a:solidFill>
                <a:latin typeface="Amiri" pitchFamily="2" charset="-78"/>
                <a:ea typeface="Amiri" pitchFamily="2" charset="-78"/>
                <a:cs typeface="Amiri" pitchFamily="2" charset="-78"/>
              </a:rPr>
              <a:t>أَنْتَ</a:t>
            </a:r>
            <a:pPr algn="l" indent="0" marL="0">
              <a:buNone/>
            </a:pPr>
            <a:r>
              <a:rPr lang="en-US" sz="1250" b="1" dirty="0">
                <a:solidFill>
                  <a:srgbClr val="1B3B6F"/>
                </a:solidFill>
                <a:latin typeface="Calibri" pitchFamily="34" charset="0"/>
                <a:cs typeface="Amiri" pitchFamily="2" charset="-78"/>
              </a:rPr>
              <a:t> and </a:t>
            </a:r>
            <a:pPr algn="l" indent="0" marL="0">
              <a:buNone/>
            </a:pPr>
            <a:r>
              <a:rPr lang="ar-SA" altLang="en-US" sz="1650" b="1" dirty="0">
                <a:solidFill>
                  <a:srgbClr val="1B3B6F"/>
                </a:solidFill>
                <a:latin typeface="Amiri" pitchFamily="2" charset="-78"/>
                <a:ea typeface="Amiri" pitchFamily="2" charset="-78"/>
                <a:cs typeface="Amiri" pitchFamily="2" charset="-78"/>
              </a:rPr>
              <a:t>أَنْتِ</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أَنْتَ → فَعَلْتَ (ـْتَ) · أَنْتِ → فَعَلْتِ (ـْتِ)</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هَلْ شَاهَدْتَ المُبَارَاةَ؟   ·   هَلْ شَاهَدْتِ المُبَارَاةَ؟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Past time expressions come first</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time expression + past verb + rest</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أَمْسِ لَعِبْتُ كُرَةَ القَدَمِ   ·   الأُسْبُوعَ المَاضِيَ شَاهَدْتُ فِيلْمًا رَائِعًا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ea typeface="Amiri" pitchFamily="2" charset="-78"/>
                <a:cs typeface="Amiri" pitchFamily="2" charset="-78"/>
              </a:rPr>
              <a:t>أَنَا</a:t>
            </a:r>
            <a:pPr algn="l" indent="0" marL="0">
              <a:buNone/>
            </a:pPr>
            <a:r>
              <a:rPr lang="en-US" sz="1250" b="1" dirty="0">
                <a:solidFill>
                  <a:srgbClr val="1B3B6F"/>
                </a:solidFill>
                <a:latin typeface="Calibri" pitchFamily="34" charset="0"/>
                <a:cs typeface="Amiri" pitchFamily="2" charset="-78"/>
              </a:rPr>
              <a:t> form of </a:t>
            </a:r>
            <a:pPr algn="l" indent="0" marL="0">
              <a:buNone/>
            </a:pPr>
            <a:r>
              <a:rPr lang="ar-SA" altLang="en-US" sz="1650" b="1" dirty="0">
                <a:solidFill>
                  <a:srgbClr val="1B3B6F"/>
                </a:solidFill>
                <a:latin typeface="Amiri" pitchFamily="2" charset="-78"/>
                <a:ea typeface="Amiri" pitchFamily="2" charset="-78"/>
                <a:cs typeface="Amiri" pitchFamily="2" charset="-78"/>
              </a:rPr>
              <a:t>لَعِبَ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لَعِبْتَ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لَعِبَتْ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لَعِبْتُ</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ea typeface="Amiri" pitchFamily="2" charset="-78"/>
                <a:cs typeface="Amiri" pitchFamily="2" charset="-78"/>
              </a:rPr>
              <a:t>هِيَ</a:t>
            </a:r>
            <a:pPr algn="l" indent="0" marL="0">
              <a:buNone/>
            </a:pPr>
            <a:r>
              <a:rPr lang="en-US" sz="1250" b="1" dirty="0">
                <a:solidFill>
                  <a:srgbClr val="1B3B6F"/>
                </a:solidFill>
                <a:latin typeface="Calibri" pitchFamily="34" charset="0"/>
                <a:cs typeface="Amiri" pitchFamily="2" charset="-78"/>
              </a:rPr>
              <a:t> form of </a:t>
            </a:r>
            <a:pPr algn="l" indent="0" marL="0">
              <a:buNone/>
            </a:pPr>
            <a:r>
              <a:rPr lang="ar-SA" altLang="en-US" sz="1650" b="1" dirty="0">
                <a:solidFill>
                  <a:srgbClr val="1B3B6F"/>
                </a:solidFill>
                <a:latin typeface="Amiri" pitchFamily="2" charset="-78"/>
                <a:ea typeface="Amiri" pitchFamily="2" charset="-78"/>
                <a:cs typeface="Amiri" pitchFamily="2" charset="-78"/>
              </a:rPr>
              <a:t>ذَهَبَ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ذَهَبَتْ</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ذَهَبْتُ</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ذَهَبْتِ</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addresses one female accurately?</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شَاهَدْتَ المُبَارَاةَ؟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شَاهَدْتِ المُبَارَاةَ؟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شَاهَدَتْ المُبَارَاةَ؟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أَمْسِ ___ سَلْمَى فِي الحَدِيقَةِ.</a:t>
            </a:r>
            <a:endParaRPr lang="ar-SA" sz="150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رَسَمَتْ</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رَسَمْتُ</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رَسَمْتِ</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ea typeface="Amiri" pitchFamily="2" charset="-78"/>
                <a:cs typeface="Amiri" pitchFamily="2" charset="-78"/>
              </a:rPr>
              <a:t>أَنَا</a:t>
            </a:r>
            <a:pPr algn="l" indent="0" marL="0">
              <a:buNone/>
            </a:pPr>
            <a:r>
              <a:rPr lang="en-US" sz="1250" b="1" dirty="0">
                <a:solidFill>
                  <a:srgbClr val="1B3B6F"/>
                </a:solidFill>
                <a:latin typeface="Calibri" pitchFamily="34" charset="0"/>
                <a:cs typeface="Amiri" pitchFamily="2" charset="-78"/>
              </a:rPr>
              <a:t> form of </a:t>
            </a:r>
            <a:pPr algn="l" indent="0" marL="0">
              <a:buNone/>
            </a:pPr>
            <a:r>
              <a:rPr lang="ar-SA" altLang="en-US" sz="1650" b="1" dirty="0">
                <a:solidFill>
                  <a:srgbClr val="1B3B6F"/>
                </a:solidFill>
                <a:latin typeface="Amiri" pitchFamily="2" charset="-78"/>
                <a:ea typeface="Amiri" pitchFamily="2" charset="-78"/>
                <a:cs typeface="Amiri" pitchFamily="2" charset="-78"/>
              </a:rPr>
              <a:t>لَعِبَ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لَعِبْتَ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لَعِبَتْ</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لَعِبْتُ</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t>
            </a:r>
            <a:pPr algn="l" indent="0" marL="0">
              <a:buNone/>
            </a:pPr>
            <a:r>
              <a:rPr lang="ar-SA" altLang="en-US" sz="1350" dirty="0">
                <a:solidFill>
                  <a:srgbClr val="8A6D1E"/>
                </a:solidFill>
                <a:latin typeface="Amiri" pitchFamily="2" charset="-78"/>
                <a:ea typeface="Amiri" pitchFamily="2" charset="-78"/>
                <a:cs typeface="Amiri" pitchFamily="2" charset="-78"/>
              </a:rPr>
              <a:t>أَنَا</a:t>
            </a:r>
            <a:pPr algn="l" indent="0" marL="0">
              <a:buNone/>
            </a:pPr>
            <a:r>
              <a:rPr lang="en-US" sz="1050" i="1" dirty="0">
                <a:solidFill>
                  <a:srgbClr val="8A6D1E"/>
                </a:solidFill>
                <a:latin typeface="Calibri" pitchFamily="34" charset="0"/>
                <a:cs typeface="Amiri" pitchFamily="2" charset="-78"/>
              </a:rPr>
              <a:t> suffix is </a:t>
            </a:r>
            <a:pPr algn="l" indent="0" marL="0">
              <a:buNone/>
            </a:pPr>
            <a:r>
              <a:rPr lang="ar-SA" altLang="en-US" sz="1350" dirty="0">
                <a:solidFill>
                  <a:srgbClr val="8A6D1E"/>
                </a:solidFill>
                <a:latin typeface="Amiri" pitchFamily="2" charset="-78"/>
                <a:ea typeface="Amiri" pitchFamily="2" charset="-78"/>
                <a:cs typeface="Amiri" pitchFamily="2" charset="-78"/>
              </a:rPr>
              <a:t>ـْتُ</a:t>
            </a:r>
            <a:pPr algn="l" indent="0" marL="0">
              <a:buNone/>
            </a:pPr>
            <a:r>
              <a:rPr lang="en-US" sz="1050" i="1" dirty="0">
                <a:solidFill>
                  <a:srgbClr val="8A6D1E"/>
                </a:solidFill>
                <a:latin typeface="Calibri" pitchFamily="34" charset="0"/>
                <a:cs typeface="Amiri" pitchFamily="2" charset="-78"/>
              </a:rPr>
              <a:t> with a ḍamma.</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ea typeface="Amiri" pitchFamily="2" charset="-78"/>
                <a:cs typeface="Amiri" pitchFamily="2" charset="-78"/>
              </a:rPr>
              <a:t>هِيَ</a:t>
            </a:r>
            <a:pPr algn="l" indent="0" marL="0">
              <a:buNone/>
            </a:pPr>
            <a:r>
              <a:rPr lang="en-US" sz="1250" b="1" dirty="0">
                <a:solidFill>
                  <a:srgbClr val="1B3B6F"/>
                </a:solidFill>
                <a:latin typeface="Calibri" pitchFamily="34" charset="0"/>
                <a:cs typeface="Amiri" pitchFamily="2" charset="-78"/>
              </a:rPr>
              <a:t> form of </a:t>
            </a:r>
            <a:pPr algn="l" indent="0" marL="0">
              <a:buNone/>
            </a:pPr>
            <a:r>
              <a:rPr lang="ar-SA" altLang="en-US" sz="1650" b="1" dirty="0">
                <a:solidFill>
                  <a:srgbClr val="1B3B6F"/>
                </a:solidFill>
                <a:latin typeface="Amiri" pitchFamily="2" charset="-78"/>
                <a:ea typeface="Amiri" pitchFamily="2" charset="-78"/>
                <a:cs typeface="Amiri" pitchFamily="2" charset="-78"/>
              </a:rPr>
              <a:t>ذَهَبَ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ذَهَبَتْ</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ذَهَبْتُ</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ذَهَبْتِ</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t>
            </a:r>
            <a:pPr algn="l" indent="0" marL="0">
              <a:buNone/>
            </a:pPr>
            <a:r>
              <a:rPr lang="ar-SA" altLang="en-US" sz="1350" dirty="0">
                <a:solidFill>
                  <a:srgbClr val="8A6D1E"/>
                </a:solidFill>
                <a:latin typeface="Amiri" pitchFamily="2" charset="-78"/>
                <a:ea typeface="Amiri" pitchFamily="2" charset="-78"/>
                <a:cs typeface="Amiri" pitchFamily="2" charset="-78"/>
              </a:rPr>
              <a:t>هِيَ</a:t>
            </a:r>
            <a:pPr algn="l" indent="0" marL="0">
              <a:buNone/>
            </a:pPr>
            <a:r>
              <a:rPr lang="en-US" sz="1050" i="1" dirty="0">
                <a:solidFill>
                  <a:srgbClr val="8A6D1E"/>
                </a:solidFill>
                <a:latin typeface="Calibri" pitchFamily="34" charset="0"/>
                <a:cs typeface="Amiri" pitchFamily="2" charset="-78"/>
              </a:rPr>
              <a:t> suffix is </a:t>
            </a:r>
            <a:pPr algn="l" indent="0" marL="0">
              <a:buNone/>
            </a:pPr>
            <a:r>
              <a:rPr lang="ar-SA" altLang="en-US" sz="1350" dirty="0">
                <a:solidFill>
                  <a:srgbClr val="8A6D1E"/>
                </a:solidFill>
                <a:latin typeface="Amiri" pitchFamily="2" charset="-78"/>
                <a:ea typeface="Amiri" pitchFamily="2" charset="-78"/>
                <a:cs typeface="Amiri" pitchFamily="2" charset="-78"/>
              </a:rPr>
              <a:t>ـَتْ</a:t>
            </a:r>
            <a:pPr algn="l" indent="0" marL="0">
              <a:buNone/>
            </a:pPr>
            <a:r>
              <a:rPr lang="en-US" sz="1050" i="1" dirty="0">
                <a:solidFill>
                  <a:srgbClr val="8A6D1E"/>
                </a:solidFill>
                <a:latin typeface="Calibri" pitchFamily="34" charset="0"/>
                <a:cs typeface="Amiri" pitchFamily="2" charset="-78"/>
              </a:rPr>
              <a:t>, with a fatḥa before the tāʾ and a sukūn on it.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addresses one female accurately?</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هَلْ شَاهَدْتَ المُبَارَاةَ؟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هَلْ شَاهَدْتِ المُبَارَاةَ؟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هَلْ شَاهَدَتْ المُبَارَاةَ؟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Addressing </a:t>
            </a:r>
            <a:pPr algn="l" indent="0" marL="0">
              <a:buNone/>
            </a:pPr>
            <a:r>
              <a:rPr lang="ar-SA" altLang="en-US" sz="1350" dirty="0">
                <a:solidFill>
                  <a:srgbClr val="8A6D1E"/>
                </a:solidFill>
                <a:latin typeface="Amiri" pitchFamily="2" charset="-78"/>
                <a:ea typeface="Amiri" pitchFamily="2" charset="-78"/>
                <a:cs typeface="Amiri" pitchFamily="2" charset="-78"/>
              </a:rPr>
              <a:t>أَنْتِ</a:t>
            </a:r>
            <a:pPr algn="l" indent="0" marL="0">
              <a:buNone/>
            </a:pPr>
            <a:r>
              <a:rPr lang="en-US" sz="1050" i="1" dirty="0">
                <a:solidFill>
                  <a:srgbClr val="8A6D1E"/>
                </a:solidFill>
                <a:latin typeface="Calibri" pitchFamily="34" charset="0"/>
                <a:cs typeface="Amiri" pitchFamily="2" charset="-78"/>
              </a:rPr>
              <a:t> requires the kasra ending </a:t>
            </a:r>
            <a:pPr algn="l" indent="0" marL="0">
              <a:buNone/>
            </a:pPr>
            <a:r>
              <a:rPr lang="ar-SA" altLang="en-US" sz="1350" dirty="0">
                <a:solidFill>
                  <a:srgbClr val="8A6D1E"/>
                </a:solidFill>
                <a:latin typeface="Amiri" pitchFamily="2" charset="-78"/>
                <a:ea typeface="Amiri" pitchFamily="2" charset="-78"/>
                <a:cs typeface="Amiri" pitchFamily="2" charset="-78"/>
              </a:rPr>
              <a:t>ـْتِ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أَمْسِ ___ سَلْمَى فِي الحَدِيقَةِ.</a:t>
            </a:r>
            <a:endParaRPr lang="ar-SA" sz="150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رَسَمَتْ</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رَسَمْتُ</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رَسَمْتِ</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سَلْمَى</a:t>
            </a:r>
            <a:pPr algn="l" indent="0" marL="0">
              <a:buNone/>
            </a:pPr>
            <a:r>
              <a:rPr lang="en-US" sz="1050" i="1" dirty="0">
                <a:solidFill>
                  <a:srgbClr val="8A6D1E"/>
                </a:solidFill>
                <a:latin typeface="Calibri" pitchFamily="34" charset="0"/>
                <a:cs typeface="Amiri" pitchFamily="2" charset="-78"/>
              </a:rPr>
              <a:t> is </a:t>
            </a:r>
            <a:pPr algn="l" indent="0" marL="0">
              <a:buNone/>
            </a:pPr>
            <a:r>
              <a:rPr lang="ar-SA" altLang="en-US" sz="1350" dirty="0">
                <a:solidFill>
                  <a:srgbClr val="8A6D1E"/>
                </a:solidFill>
                <a:latin typeface="Amiri" pitchFamily="2" charset="-78"/>
                <a:ea typeface="Amiri" pitchFamily="2" charset="-78"/>
                <a:cs typeface="Amiri" pitchFamily="2" charset="-78"/>
              </a:rPr>
              <a:t>هِيَ</a:t>
            </a:r>
            <a:pPr algn="l" indent="0" marL="0">
              <a:buNone/>
            </a:pPr>
            <a:r>
              <a:rPr lang="en-US" sz="1050" i="1" dirty="0">
                <a:solidFill>
                  <a:srgbClr val="8A6D1E"/>
                </a:solidFill>
                <a:latin typeface="Calibri" pitchFamily="34" charset="0"/>
                <a:cs typeface="Amiri" pitchFamily="2" charset="-78"/>
              </a:rPr>
              <a:t>, so the verb takes </a:t>
            </a:r>
            <a:pPr algn="l" indent="0" marL="0">
              <a:buNone/>
            </a:pPr>
            <a:r>
              <a:rPr lang="ar-SA" altLang="en-US" sz="1350" dirty="0">
                <a:solidFill>
                  <a:srgbClr val="8A6D1E"/>
                </a:solidFill>
                <a:latin typeface="Amiri" pitchFamily="2" charset="-78"/>
                <a:ea typeface="Amiri" pitchFamily="2" charset="-78"/>
                <a:cs typeface="Amiri" pitchFamily="2" charset="-78"/>
              </a:rPr>
              <a:t>ـَتْ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Watch me tell you about yesterday</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Time first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ea typeface="Amiri" pitchFamily="2" charset="-78"/>
                <a:cs typeface="Amiri" pitchFamily="2" charset="-78"/>
              </a:rPr>
              <a:t>أَمْسِ</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Past time word.</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I did</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ea typeface="Amiri" pitchFamily="2" charset="-78"/>
                <a:cs typeface="Amiri" pitchFamily="2" charset="-78"/>
              </a:rPr>
              <a:t>ذَهَبْتُ</a:t>
            </a:r>
            <a:pPr rtl="1" algn="ctr" indent="0" marL="0">
              <a:buNone/>
            </a:pPr>
            <a:r>
              <a:rPr lang="ar-SA" altLang="en-US" sz="2800" b="1" dirty="0">
                <a:solidFill>
                  <a:srgbClr val="1B3B6F"/>
                </a:solidFill>
                <a:latin typeface="Amiri" pitchFamily="2" charset="-78"/>
                <a:ea typeface="Amiri" pitchFamily="2" charset="-78"/>
                <a:cs typeface="Amiri" pitchFamily="2" charset="-78"/>
              </a:rPr>
              <a:t> إِلَى النَّادِي</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 -tu.</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She did</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سَلْمَى </a:t>
            </a:r>
            <a:pPr rtl="1" algn="ctr" indent="0" marL="0">
              <a:buNone/>
            </a:pPr>
            <a:r>
              <a:rPr lang="ar-SA" altLang="en-US" sz="2800" b="1" dirty="0">
                <a:solidFill>
                  <a:srgbClr val="1D5FBF"/>
                </a:solidFill>
                <a:latin typeface="Amiri" pitchFamily="2" charset="-78"/>
                <a:ea typeface="Amiri" pitchFamily="2" charset="-78"/>
                <a:cs typeface="Amiri" pitchFamily="2" charset="-78"/>
              </a:rPr>
              <a:t>رَسَمَتْ</a:t>
            </a:r>
            <a:pPr rtl="1" algn="ctr" indent="0" marL="0">
              <a:buNone/>
            </a:pPr>
            <a:r>
              <a:rPr lang="ar-SA" altLang="en-US" sz="2800" b="1" dirty="0">
                <a:solidFill>
                  <a:srgbClr val="1B3B6F"/>
                </a:solidFill>
                <a:latin typeface="Amiri" pitchFamily="2" charset="-78"/>
                <a:ea typeface="Amiri" pitchFamily="2" charset="-78"/>
                <a:cs typeface="Amiri" pitchFamily="2" charset="-78"/>
              </a:rPr>
              <a:t> لَوْحَةً</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She: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Ask him</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هَلْ </a:t>
            </a:r>
            <a:pPr rtl="1" algn="ctr" indent="0" marL="0">
              <a:buNone/>
            </a:pPr>
            <a:r>
              <a:rPr lang="ar-SA" altLang="en-US" sz="2800" b="1" dirty="0">
                <a:solidFill>
                  <a:srgbClr val="D6336C"/>
                </a:solidFill>
                <a:latin typeface="Amiri" pitchFamily="2" charset="-78"/>
                <a:ea typeface="Amiri" pitchFamily="2" charset="-78"/>
                <a:cs typeface="Amiri" pitchFamily="2" charset="-78"/>
              </a:rPr>
              <a:t>قَرَأْتَ</a:t>
            </a:r>
            <a:pPr rtl="1" algn="ctr" indent="0" marL="0">
              <a:buNone/>
            </a:pPr>
            <a:r>
              <a:rPr lang="ar-SA" altLang="en-US" sz="2800" b="1" dirty="0">
                <a:solidFill>
                  <a:srgbClr val="1B3B6F"/>
                </a:solidFill>
                <a:latin typeface="Amiri" pitchFamily="2" charset="-78"/>
                <a:ea typeface="Amiri" pitchFamily="2" charset="-78"/>
                <a:cs typeface="Amiri" pitchFamily="2" charset="-78"/>
              </a:rPr>
              <a:t> الكِتَابَ؟</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You (m.): -ta.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TIME</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I / YOU</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SHE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0E7C86"/>
                </a:solidFill>
                <a:latin typeface="Amiri" pitchFamily="2" charset="-78"/>
                <a:ea typeface="Amiri" pitchFamily="2" charset="-78"/>
                <a:cs typeface="Amiri" pitchFamily="2" charset="-78"/>
              </a:rPr>
              <a:t>أَمْسِ</a:t>
            </a:r>
            <a:pPr rtl="1" algn="r" indent="0" marL="0">
              <a:lnSpc>
                <a:spcPct val="120000"/>
              </a:lnSpc>
              <a:buNone/>
            </a:pPr>
            <a:r>
              <a:rPr lang="ar-SA" altLang="en-US" sz="1550" b="1" dirty="0">
                <a:solidFill>
                  <a:srgbClr val="1B3B6F"/>
                </a:solidFill>
                <a:latin typeface="Amiri" pitchFamily="2" charset="-78"/>
                <a:cs typeface="Amiri" pitchFamily="2" charset="-78"/>
              </a:rPr>
              <a:t> </a:t>
            </a:r>
            <a:pPr rtl="1" algn="r" indent="0" marL="0">
              <a:lnSpc>
                <a:spcPct val="120000"/>
              </a:lnSpc>
              <a:buNone/>
            </a:pPr>
            <a:r>
              <a:rPr lang="ar-SA" altLang="en-US" sz="1550" b="1" dirty="0">
                <a:solidFill>
                  <a:srgbClr val="D6336C"/>
                </a:solidFill>
                <a:latin typeface="Amiri" pitchFamily="2" charset="-78"/>
                <a:ea typeface="Amiri" pitchFamily="2" charset="-78"/>
                <a:cs typeface="Amiri" pitchFamily="2" charset="-78"/>
              </a:rPr>
              <a:t>ذَهَبْتُ</a:t>
            </a:r>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 إِلَى المَكْتَبَةِ </a:t>
            </a:r>
            <a:pPr rtl="1" algn="r" indent="0" marL="0">
              <a:lnSpc>
                <a:spcPct val="120000"/>
              </a:lnSpc>
              <a:buNone/>
            </a:pPr>
            <a:r>
              <a:rPr lang="ar-SA" altLang="en-US" sz="1550" b="1" dirty="0">
                <a:solidFill>
                  <a:srgbClr val="D6336C"/>
                </a:solidFill>
                <a:latin typeface="Amiri" pitchFamily="2" charset="-78"/>
                <a:ea typeface="Amiri" pitchFamily="2" charset="-78"/>
                <a:cs typeface="Amiri" pitchFamily="2" charset="-78"/>
              </a:rPr>
              <a:t>وَقَرَأْتُ</a:t>
            </a:r>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 كِتَابًا مُمْتِعًا. </a:t>
            </a:r>
            <a:pPr rtl="1" algn="r" indent="0" marL="0">
              <a:lnSpc>
                <a:spcPct val="120000"/>
              </a:lnSpc>
              <a:buNone/>
            </a:pPr>
            <a:r>
              <a:rPr lang="ar-SA" altLang="en-US" sz="1550" b="1" dirty="0">
                <a:solidFill>
                  <a:srgbClr val="0E7C86"/>
                </a:solidFill>
                <a:latin typeface="Amiri" pitchFamily="2" charset="-78"/>
                <a:ea typeface="Amiri" pitchFamily="2" charset="-78"/>
                <a:cs typeface="Amiri" pitchFamily="2" charset="-78"/>
              </a:rPr>
              <a:t>الأُسْبُوعَ المَاضِيَ</a:t>
            </a:r>
            <a:pPr rtl="1" algn="r" indent="0" marL="0">
              <a:lnSpc>
                <a:spcPct val="120000"/>
              </a:lnSpc>
              <a:buNone/>
            </a:pPr>
            <a:r>
              <a:rPr lang="ar-SA" altLang="en-US" sz="1550" b="1" dirty="0">
                <a:solidFill>
                  <a:srgbClr val="1B3B6F"/>
                </a:solidFill>
                <a:latin typeface="Amiri" pitchFamily="2" charset="-78"/>
                <a:cs typeface="Amiri" pitchFamily="2" charset="-78"/>
              </a:rPr>
              <a:t> </a:t>
            </a:r>
            <a:pPr rtl="1" algn="r" indent="0" marL="0">
              <a:lnSpc>
                <a:spcPct val="120000"/>
              </a:lnSpc>
              <a:buNone/>
            </a:pPr>
            <a:r>
              <a:rPr lang="ar-SA" altLang="en-US" sz="1550" b="1" dirty="0">
                <a:solidFill>
                  <a:srgbClr val="D6336C"/>
                </a:solidFill>
                <a:latin typeface="Amiri" pitchFamily="2" charset="-78"/>
                <a:ea typeface="Amiri" pitchFamily="2" charset="-78"/>
                <a:cs typeface="Amiri" pitchFamily="2" charset="-78"/>
              </a:rPr>
              <a:t>شَاهَدْتُ</a:t>
            </a:r>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 فِيلْمًا طَوِيلًا مَعَ أَصْدِقَائِي. أَمَّا أَخِي فَقَدْ لَعِبَ كُرَةَ القَدَمِ، وَأُخْتِي </a:t>
            </a:r>
            <a:pPr rtl="1" algn="r" indent="0" marL="0">
              <a:lnSpc>
                <a:spcPct val="120000"/>
              </a:lnSpc>
              <a:buNone/>
            </a:pPr>
            <a:r>
              <a:rPr lang="ar-SA" altLang="en-US" sz="1550" b="1" dirty="0">
                <a:solidFill>
                  <a:srgbClr val="1D5FBF"/>
                </a:solidFill>
                <a:latin typeface="Amiri" pitchFamily="2" charset="-78"/>
                <a:ea typeface="Amiri" pitchFamily="2" charset="-78"/>
                <a:cs typeface="Amiri" pitchFamily="2" charset="-78"/>
              </a:rPr>
              <a:t>رَسَمَتْ</a:t>
            </a:r>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 لَوْحَةً جَمِيلَةً.</a:t>
            </a:r>
            <a:endParaRPr lang="ar-SA" sz="155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Yesterday I went to the library and read an enjoyable book. Last week I watched a long film with my friends. As for my brother, he played football, and my sister drew a beautiful picture.</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لَعِبْتُ / لَعِبْتَ / لَعِبْتِ</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played / you (m.) played / you (f.) played</a:t>
            </a:r>
            <a:endParaRPr lang="en-US" sz="1250" dirty="0"/>
          </a:p>
          <a:p>
            <a:pPr indent="0" marL="0">
              <a:buNone/>
            </a:pPr>
            <a:r>
              <a:rPr lang="en-US" sz="1050" i="1" dirty="0">
                <a:solidFill>
                  <a:srgbClr val="8A6D1E"/>
                </a:solidFill>
                <a:latin typeface="Calibri" pitchFamily="34" charset="0"/>
                <a:cs typeface="Amiri" pitchFamily="2" charset="-78"/>
              </a:rPr>
              <a:t>Identical consonants; only the final short vowel changes the person.</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لَعِبَتْ سَلْمَى</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Salma played</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The هِيَ suffix is ـَتْ with a sukūn on the tāʾ.</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أَمْسِ ذَهَبْتُ إِلَى النَّادِي</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Yesterday I went to the club</a:t>
            </a:r>
            <a:endParaRPr lang="en-US" sz="1250" dirty="0"/>
          </a:p>
          <a:p>
            <a:pPr indent="0" marL="0">
              <a:buNone/>
            </a:pPr>
            <a:r>
              <a:rPr lang="en-US" sz="1050" i="1" dirty="0">
                <a:solidFill>
                  <a:srgbClr val="8A6D1E"/>
                </a:solidFill>
                <a:latin typeface="Calibri" pitchFamily="34" charset="0"/>
                <a:cs typeface="Amiri" pitchFamily="2" charset="-78"/>
              </a:rPr>
              <a:t>The past time expression opens the sentence.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THE PAST TENSE — FORM I REGULAR SINGULAR VERBS”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did I do?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مَاذَا 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football, yesterday</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plane, summer</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swimming, the sea</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سَافَرْتُ إِلَى مِصْرَ فِي الصَّيْفِ المَاضِي.</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سَبَحْتُ فِي البَحْرِ.</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لَعِبْتُ كُرَةَ القَدَمِ أَمْسِ.</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مَاذَا 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football, yesterday</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لَعِبْتُ كُرَةَ القَدَمِ أَمْسِ.</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played football yesterday.</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plane, summer</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سَافَرْتُ إِلَى مِصْرَ فِي الصَّيْفِ المَاضِي.</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travelled to Egypt last summer.</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swimming, the sea</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سَبَحْتُ فِي البَحْرِ.</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swam in the sea.</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ذَهَبْتُ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قَرَأْتُ</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طَبَخْتُ</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لَعِبَتْ</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رَسَمَتْ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خَرَجَتْ</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شَاهَدْتِ</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كَتَبْتِ</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سَمِعْتِ</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أَنَا</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هِيَ</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3 · أَنْتِ</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أَنَا</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ذَهَبْتُ</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قَرَأْتُ</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طَبَخْتُ</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هِيَ</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لَعِبَتْ</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رَسَمَتْ</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خَرَجَتْ</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3 · أَنْتِ</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شَاهَدْتِ</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كَتَبْتِ</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سَمِعْتِ</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follows the </a:t>
            </a:r>
            <a:pPr algn="l" indent="0" marL="0">
              <a:buNone/>
            </a:pPr>
            <a:r>
              <a:rPr lang="ar-SA" altLang="en-US" sz="1650" b="1" dirty="0">
                <a:solidFill>
                  <a:srgbClr val="1B3B6F"/>
                </a:solidFill>
                <a:latin typeface="Amiri" pitchFamily="2" charset="-78"/>
                <a:ea typeface="Amiri" pitchFamily="2" charset="-78"/>
                <a:cs typeface="Amiri" pitchFamily="2" charset="-78"/>
              </a:rPr>
              <a:t>فَعِلَ</a:t>
            </a:r>
            <a:pPr algn="l" indent="0" marL="0">
              <a:buNone/>
            </a:pPr>
            <a:r>
              <a:rPr lang="en-US" sz="1250" b="1" dirty="0">
                <a:solidFill>
                  <a:srgbClr val="1B3B6F"/>
                </a:solidFill>
                <a:latin typeface="Calibri" pitchFamily="34" charset="0"/>
                <a:cs typeface="Amiri" pitchFamily="2" charset="-78"/>
              </a:rPr>
              <a:t> pattern?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رَسَمَ</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شَرِبَ</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sentence with a time expression.</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الأُسْبُوعُ المَاضِي ذَهَبْتُ إِلَى المَسْبَحِ.</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الأُسْبُوعَ المَاضِيَ ذَهَبْتُ إِلَى المَسْبَحِ.</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الأُسْبُوعَ المَاضِيَ أَذْهَبُ إِلَى المَسْبَحِ.</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أُسْبُوعٍ قَرَأْتُ كِتَابًا مُمْتِعًا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أَمْسِ</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مُنْذُ</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الآنَ</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three-tense set for </a:t>
            </a:r>
            <a:pPr algn="l" indent="0" marL="0">
              <a:buNone/>
            </a:pPr>
            <a:r>
              <a:rPr lang="ar-SA" altLang="en-US" sz="1650" b="1" dirty="0">
                <a:solidFill>
                  <a:srgbClr val="1B3B6F"/>
                </a:solidFill>
                <a:latin typeface="Amiri" pitchFamily="2" charset="-78"/>
                <a:ea typeface="Amiri" pitchFamily="2" charset="-78"/>
                <a:cs typeface="Amiri" pitchFamily="2" charset="-78"/>
              </a:rPr>
              <a:t>سَبَحَ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تَسْبَحُ / سَبَحْتُ / سَتَسْبَحُ</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سَبَحَتْ / تَسْبَحُ / سَبَحَتْ</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تَسْبَحُ / سَبَحَتْ / سَتَسْبَحُ</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follows the </a:t>
            </a:r>
            <a:pPr algn="l" indent="0" marL="0">
              <a:buNone/>
            </a:pPr>
            <a:r>
              <a:rPr lang="ar-SA" altLang="en-US" sz="1650" b="1" dirty="0">
                <a:solidFill>
                  <a:srgbClr val="1B3B6F"/>
                </a:solidFill>
                <a:latin typeface="Amiri" pitchFamily="2" charset="-78"/>
                <a:ea typeface="Amiri" pitchFamily="2" charset="-78"/>
                <a:cs typeface="Amiri" pitchFamily="2" charset="-78"/>
              </a:rPr>
              <a:t>فَعِلَ</a:t>
            </a:r>
            <a:pPr algn="l" indent="0" marL="0">
              <a:buNone/>
            </a:pPr>
            <a:r>
              <a:rPr lang="en-US" sz="1250" b="1" dirty="0">
                <a:solidFill>
                  <a:srgbClr val="1B3B6F"/>
                </a:solidFill>
                <a:latin typeface="Calibri" pitchFamily="34" charset="0"/>
                <a:cs typeface="Amiri" pitchFamily="2" charset="-78"/>
              </a:rPr>
              <a:t> pattern?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كَتَبَ</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رَسَمَ</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شَرِبَ</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شَرِبَ</a:t>
            </a:r>
            <a:pPr algn="l" indent="0" marL="0">
              <a:buNone/>
            </a:pPr>
            <a:r>
              <a:rPr lang="en-US" sz="1050" i="1" dirty="0">
                <a:solidFill>
                  <a:srgbClr val="8A6D1E"/>
                </a:solidFill>
                <a:latin typeface="Calibri" pitchFamily="34" charset="0"/>
                <a:cs typeface="Amiri" pitchFamily="2" charset="-78"/>
              </a:rPr>
              <a:t> carries a kasra on its middle letter.</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sentence with a time expression.</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الأُسْبُوعُ المَاضِي ذَهَبْتُ إِلَى المَسْبَحِ.</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الأُسْبُوعَ المَاضِيَ ذَهَبْتُ إِلَى المَسْبَحِ.</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الأُسْبُوعَ المَاضِيَ أَذْهَبُ إِلَى المَسْبَحِ.</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time phrase is adverbial and accusative, and the verb must be past.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أُسْبُوعٍ قَرَأْتُ كِتَابًا مُمْتِعًا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أَمْسِ</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مُنْذُ</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الآنَ</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مُنْذُ</a:t>
            </a:r>
            <a:pPr algn="l" indent="0" marL="0">
              <a:buNone/>
            </a:pPr>
            <a:r>
              <a:rPr lang="en-US" sz="1050" i="1" dirty="0">
                <a:solidFill>
                  <a:srgbClr val="8A6D1E"/>
                </a:solidFill>
                <a:latin typeface="Calibri" pitchFamily="34" charset="0"/>
                <a:cs typeface="Amiri" pitchFamily="2" charset="-78"/>
              </a:rPr>
              <a:t> is followed by a genitive noun and suits a completed period.</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three-tense set for </a:t>
            </a:r>
            <a:pPr algn="l" indent="0" marL="0">
              <a:buNone/>
            </a:pPr>
            <a:r>
              <a:rPr lang="ar-SA" altLang="en-US" sz="1650" b="1" dirty="0">
                <a:solidFill>
                  <a:srgbClr val="1B3B6F"/>
                </a:solidFill>
                <a:latin typeface="Amiri" pitchFamily="2" charset="-78"/>
                <a:ea typeface="Amiri" pitchFamily="2" charset="-78"/>
                <a:cs typeface="Amiri" pitchFamily="2" charset="-78"/>
              </a:rPr>
              <a:t>سَبَحَ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تَسْبَحُ / سَبَحْتُ / سَتَسْبَحُ</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سَبَحَتْ / تَسْبَحُ / سَبَحَتْ</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تَسْبَحُ / سَبَحَتْ / سَتَسْبَحُ</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 </a:t>
            </a:r>
            <a:pPr algn="l" indent="0" marL="0">
              <a:buNone/>
            </a:pPr>
            <a:r>
              <a:rPr lang="ar-SA" altLang="en-US" sz="1350" dirty="0">
                <a:solidFill>
                  <a:srgbClr val="8A6D1E"/>
                </a:solidFill>
                <a:latin typeface="Amiri" pitchFamily="2" charset="-78"/>
                <a:ea typeface="Amiri" pitchFamily="2" charset="-78"/>
                <a:cs typeface="Amiri" pitchFamily="2" charset="-78"/>
              </a:rPr>
              <a:t>هِيَ</a:t>
            </a:r>
            <a:pPr algn="l" indent="0" marL="0">
              <a:buNone/>
            </a:pPr>
            <a:r>
              <a:rPr lang="en-US" sz="1050" i="1" dirty="0">
                <a:solidFill>
                  <a:srgbClr val="8A6D1E"/>
                </a:solidFill>
                <a:latin typeface="Calibri" pitchFamily="34" charset="0"/>
                <a:cs typeface="Amiri" pitchFamily="2" charset="-78"/>
              </a:rPr>
              <a:t> the present is </a:t>
            </a:r>
            <a:pPr algn="l" indent="0" marL="0">
              <a:buNone/>
            </a:pPr>
            <a:r>
              <a:rPr lang="ar-SA" altLang="en-US" sz="1350" dirty="0">
                <a:solidFill>
                  <a:srgbClr val="8A6D1E"/>
                </a:solidFill>
                <a:latin typeface="Amiri" pitchFamily="2" charset="-78"/>
                <a:ea typeface="Amiri" pitchFamily="2" charset="-78"/>
                <a:cs typeface="Amiri" pitchFamily="2" charset="-78"/>
              </a:rPr>
              <a:t>تَسْبَحُ</a:t>
            </a:r>
            <a:pPr algn="l" indent="0" marL="0">
              <a:buNone/>
            </a:pPr>
            <a:r>
              <a:rPr lang="en-US" sz="1050" i="1" dirty="0">
                <a:solidFill>
                  <a:srgbClr val="8A6D1E"/>
                </a:solidFill>
                <a:latin typeface="Calibri" pitchFamily="34" charset="0"/>
                <a:cs typeface="Amiri" pitchFamily="2" charset="-78"/>
              </a:rPr>
              <a:t>, the past </a:t>
            </a:r>
            <a:pPr algn="l" indent="0" marL="0">
              <a:buNone/>
            </a:pPr>
            <a:r>
              <a:rPr lang="ar-SA" altLang="en-US" sz="1350" dirty="0">
                <a:solidFill>
                  <a:srgbClr val="8A6D1E"/>
                </a:solidFill>
                <a:latin typeface="Amiri" pitchFamily="2" charset="-78"/>
                <a:ea typeface="Amiri" pitchFamily="2" charset="-78"/>
                <a:cs typeface="Amiri" pitchFamily="2" charset="-78"/>
              </a:rPr>
              <a:t>سَبَحَتْ</a:t>
            </a:r>
            <a:pPr algn="l" indent="0" marL="0">
              <a:buNone/>
            </a:pPr>
            <a:r>
              <a:rPr lang="en-US" sz="1050" i="1" dirty="0">
                <a:solidFill>
                  <a:srgbClr val="8A6D1E"/>
                </a:solidFill>
                <a:latin typeface="Calibri" pitchFamily="34" charset="0"/>
                <a:cs typeface="Amiri" pitchFamily="2" charset="-78"/>
              </a:rPr>
              <a:t> and the future </a:t>
            </a:r>
            <a:pPr algn="l" indent="0" marL="0">
              <a:buNone/>
            </a:pPr>
            <a:r>
              <a:rPr lang="ar-SA" altLang="en-US" sz="1350" dirty="0">
                <a:solidFill>
                  <a:srgbClr val="8A6D1E"/>
                </a:solidFill>
                <a:latin typeface="Amiri" pitchFamily="2" charset="-78"/>
                <a:ea typeface="Amiri" pitchFamily="2" charset="-78"/>
                <a:cs typeface="Amiri" pitchFamily="2" charset="-78"/>
              </a:rPr>
              <a:t>سَتَسْبَحُ</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أَمْسِ أَذْهَبُ إِلَى النَّادِي.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amsi: past or present?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سَلْمَى لَعِبْتُ كُرَةَ السَّلَّةِ.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Salma: which ending?</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هَلْ شَاهَدْتَ المُبَارَاةَ يَا سَلْمَى؟</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 girl: -ta or -ti?</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أَمْسِ أَذْهَبُ إِلَى النَّادِي.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أَمْسِ ذَهَبْتُ إِلَى النَّادِي.</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أَمْسِ</a:t>
            </a:r>
            <a:pPr algn="l" indent="0" marL="0">
              <a:buNone/>
            </a:pPr>
            <a:r>
              <a:rPr lang="en-US" sz="1150" b="1" dirty="0">
                <a:solidFill>
                  <a:srgbClr val="1B3B6F"/>
                </a:solidFill>
                <a:latin typeface="Calibri" pitchFamily="34" charset="0"/>
                <a:cs typeface="Amiri" pitchFamily="2" charset="-78"/>
              </a:rPr>
              <a:t> requires a past-tense verb.</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سَلْمَى لَعِبْتُ كُرَةَ السَّلَّةِ.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سَلْمَى لَعِبَتْ كُرَةَ السَّلَّةِ.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سَلْمَى</a:t>
            </a:r>
            <a:pPr algn="l" indent="0" marL="0">
              <a:buNone/>
            </a:pPr>
            <a:r>
              <a:rPr lang="en-US" sz="1150" b="1" dirty="0">
                <a:solidFill>
                  <a:srgbClr val="1B3B6F"/>
                </a:solidFill>
                <a:latin typeface="Calibri" pitchFamily="34" charset="0"/>
                <a:cs typeface="Amiri" pitchFamily="2" charset="-78"/>
              </a:rPr>
              <a:t> is </a:t>
            </a:r>
            <a:pPr algn="l" indent="0" marL="0">
              <a:buNone/>
            </a:pPr>
            <a:r>
              <a:rPr lang="ar-SA" altLang="en-US" sz="1500" b="1" dirty="0">
                <a:solidFill>
                  <a:srgbClr val="1B3B6F"/>
                </a:solidFill>
                <a:latin typeface="Amiri" pitchFamily="2" charset="-78"/>
                <a:ea typeface="Amiri" pitchFamily="2" charset="-78"/>
                <a:cs typeface="Amiri" pitchFamily="2" charset="-78"/>
              </a:rPr>
              <a:t>هِيَ</a:t>
            </a:r>
            <a:pPr algn="l" indent="0" marL="0">
              <a:buNone/>
            </a:pPr>
            <a:r>
              <a:rPr lang="en-US" sz="1150" b="1" dirty="0">
                <a:solidFill>
                  <a:srgbClr val="1B3B6F"/>
                </a:solidFill>
                <a:latin typeface="Calibri" pitchFamily="34" charset="0"/>
                <a:cs typeface="Amiri" pitchFamily="2" charset="-78"/>
              </a:rPr>
              <a:t>, so the suffix is </a:t>
            </a:r>
            <a:pPr algn="l" indent="0" marL="0">
              <a:buNone/>
            </a:pPr>
            <a:r>
              <a:rPr lang="ar-SA" altLang="en-US" sz="1500" b="1" dirty="0">
                <a:solidFill>
                  <a:srgbClr val="1B3B6F"/>
                </a:solidFill>
                <a:latin typeface="Amiri" pitchFamily="2" charset="-78"/>
                <a:ea typeface="Amiri" pitchFamily="2" charset="-78"/>
                <a:cs typeface="Amiri" pitchFamily="2" charset="-78"/>
              </a:rPr>
              <a:t>ـَتْ</a:t>
            </a:r>
            <a:pPr algn="l" indent="0" marL="0">
              <a:buNone/>
            </a:pPr>
            <a:r>
              <a:rPr lang="en-US" sz="1150" b="1" dirty="0">
                <a:solidFill>
                  <a:srgbClr val="1B3B6F"/>
                </a:solidFill>
                <a:latin typeface="Calibri" pitchFamily="34" charset="0"/>
                <a:cs typeface="Amiri" pitchFamily="2" charset="-78"/>
              </a:rPr>
              <a:t>, not the </a:t>
            </a:r>
            <a:pPr algn="l" indent="0" marL="0">
              <a:buNone/>
            </a:pPr>
            <a:r>
              <a:rPr lang="ar-SA" altLang="en-US" sz="1500" b="1" dirty="0">
                <a:solidFill>
                  <a:srgbClr val="1B3B6F"/>
                </a:solidFill>
                <a:latin typeface="Amiri" pitchFamily="2" charset="-78"/>
                <a:ea typeface="Amiri" pitchFamily="2" charset="-78"/>
                <a:cs typeface="Amiri" pitchFamily="2" charset="-78"/>
              </a:rPr>
              <a:t>أَنَا</a:t>
            </a:r>
            <a:pPr algn="l" indent="0" marL="0">
              <a:buNone/>
            </a:pPr>
            <a:r>
              <a:rPr lang="en-US" sz="1150" b="1" dirty="0">
                <a:solidFill>
                  <a:srgbClr val="1B3B6F"/>
                </a:solidFill>
                <a:latin typeface="Calibri" pitchFamily="34" charset="0"/>
                <a:cs typeface="Amiri" pitchFamily="2" charset="-78"/>
              </a:rPr>
              <a:t> ending.</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هَلْ شَاهَدْتَ المُبَارَاةَ يَا سَلْمَى؟</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هَلْ شَاهَدْتِ المُبَارَاةَ يَا سَلْمَى؟</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Addressing a female requires the kasra ending </a:t>
            </a:r>
            <a:pPr algn="l" indent="0" marL="0">
              <a:buNone/>
            </a:pPr>
            <a:r>
              <a:rPr lang="ar-SA" altLang="en-US" sz="1500" b="1" dirty="0">
                <a:solidFill>
                  <a:srgbClr val="1B3B6F"/>
                </a:solidFill>
                <a:latin typeface="Amiri" pitchFamily="2" charset="-78"/>
                <a:ea typeface="Amiri" pitchFamily="2" charset="-78"/>
                <a:cs typeface="Amiri" pitchFamily="2" charset="-78"/>
              </a:rPr>
              <a:t>ـْتِ</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Listening: what everyone did yesterday</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speaker do at the club?</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Played basketball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Swam</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Watched a match</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speaker do after returning home?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Drew a picture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 a book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Cooked dinner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Salmā do?</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Cooked then slept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Played basketball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Drew a picture then went out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does the mother use to address Yūsuf?</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قَرَأْتَ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قَرَأْتِ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قَرَأَتْ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had he read the book?</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Yesterday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week ago</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Last summer</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buNone/>
            </a:pPr>
            <a:r>
              <a:rPr lang="en-US" sz="1250" dirty="0">
                <a:solidFill>
                  <a:srgbClr val="1E6B52"/>
                </a:solidFill>
                <a:latin typeface="Calibri" pitchFamily="34" charset="0"/>
                <a:cs typeface="Amiri" pitchFamily="2" charset="-78"/>
              </a:rPr>
              <a:t>Who? I (Yusuf) · Salma · Mum.</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أَمْسِ ذَهَبْتُ إِلَى النَّادِي وَلَعِبْتُ كُرَةَ السَّلَّةِ مَعَ أَصْدِقَائِي.</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Yesterday I went to the club and played basketball with my friends.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وَبَعْدَ ذٰلِكَ رَجَعْتُ إِلَى البَيْتِ وَطَبَخْتُ العَشَاءَ.</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that I went back home and cooked dinner.</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أَمَّا أُخْتِي سَلْمَى فَقَدْ رَسَمَتْ لَوْحَةً جَمِيلَةً، ثُمَّ خَرَجَتْ مَعَ صَدِيقَتِهَا.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for my sister Salma, she drew a beautiful picture, then went out with her friend.</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وَفِي المَسَاءِ شَاهَدْنَا فِيلْمًا مَعًا.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evening we watched a film together.</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ea typeface="Amiri" pitchFamily="2" charset="-78"/>
                <a:cs typeface="Amiri" pitchFamily="2" charset="-78"/>
              </a:rPr>
              <a:t>وَقَالَتْ لِي أُمِّي: هَلْ قَرَأْتَ الكِتَابَ يَا يُوسُفُ؟ فَأَجَبْتُ: نَعَمْ، قَرَأْتُهُ مُنْذُ أُسْبُوعٍ.</a:t>
            </a:r>
            <a:endParaRPr lang="ar-SA" sz="19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mother said to me: “Did you read the book, Yusuf?” I answered: “Yes, I read it a week ago.”</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speaker do at the club?</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Played basketball</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Swam</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Watched a match</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لَعِبْتُ كُرَةَ السَّلَّةِ مَعَ أَصْدِقَائِي.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speaker do after returning home?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Drew a picture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 a book</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Cooked dinner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رَجَعْتُ إِلَى البَيْتِ وَطَبَخْتُ العَشَاءَ.</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Salmā do?</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Cooked then slept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Played basketball</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Drew a picture then went out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رَسَمَتْ لَوْحَةً جَمِيلَةً، ثُمَّ خَرَجَتْ.</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does the mother use to address Yūsuf?</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قَرَأْتَ</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قَرَأْتِ</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قَرَأَتْ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Yūsuf is male, so the </a:t>
            </a:r>
            <a:pPr algn="l" indent="0" marL="0">
              <a:buNone/>
            </a:pPr>
            <a:r>
              <a:rPr lang="ar-SA" altLang="en-US" sz="1350" dirty="0">
                <a:solidFill>
                  <a:srgbClr val="8A6D1E"/>
                </a:solidFill>
                <a:latin typeface="Amiri" pitchFamily="2" charset="-78"/>
                <a:ea typeface="Amiri" pitchFamily="2" charset="-78"/>
                <a:cs typeface="Amiri" pitchFamily="2" charset="-78"/>
              </a:rPr>
              <a:t>أَنْتَ</a:t>
            </a:r>
            <a:pPr algn="l" indent="0" marL="0">
              <a:buNone/>
            </a:pPr>
            <a:r>
              <a:rPr lang="en-US" sz="1050" i="1" dirty="0">
                <a:solidFill>
                  <a:srgbClr val="8A6D1E"/>
                </a:solidFill>
                <a:latin typeface="Calibri" pitchFamily="34" charset="0"/>
                <a:cs typeface="Amiri" pitchFamily="2" charset="-78"/>
              </a:rPr>
              <a:t> ending </a:t>
            </a:r>
            <a:pPr algn="l" indent="0" marL="0">
              <a:buNone/>
            </a:pPr>
            <a:r>
              <a:rPr lang="ar-SA" altLang="en-US" sz="1350" dirty="0">
                <a:solidFill>
                  <a:srgbClr val="8A6D1E"/>
                </a:solidFill>
                <a:latin typeface="Amiri" pitchFamily="2" charset="-78"/>
                <a:ea typeface="Amiri" pitchFamily="2" charset="-78"/>
                <a:cs typeface="Amiri" pitchFamily="2" charset="-78"/>
              </a:rPr>
              <a:t>ـْتَ</a:t>
            </a:r>
            <a:pPr algn="l" indent="0" marL="0">
              <a:buNone/>
            </a:pPr>
            <a:r>
              <a:rPr lang="en-US" sz="1050" i="1" dirty="0">
                <a:solidFill>
                  <a:srgbClr val="8A6D1E"/>
                </a:solidFill>
                <a:latin typeface="Calibri" pitchFamily="34" charset="0"/>
                <a:cs typeface="Amiri" pitchFamily="2" charset="-78"/>
              </a:rPr>
              <a:t> is used.</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had he read the book?</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Yesterday</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week ago</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Last summer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قَرَأْتُهُ مُنْذُ أُسْبُوعٍ.</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buNone/>
            </a:pPr>
            <a:r>
              <a:rPr lang="en-US" sz="1250" dirty="0">
                <a:solidFill>
                  <a:srgbClr val="1E6B52"/>
                </a:solidFill>
                <a:latin typeface="Calibri" pitchFamily="34" charset="0"/>
                <a:cs typeface="Amiri" pitchFamily="2" charset="-78"/>
              </a:rPr>
              <a:t>Who? I (Yusuf) · Salma · Mum.</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Speaking: my weekend in the past tense</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فَعَلْتَ فِي نِهَايَةِ الأُسْبُوعِ المَاضِي؟</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فَعَلَتْ عَائِلَتُكَ فِي الإِجَازَةِ؟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مَتَى قَرَأْتَ آخِرَ كِتَابٍ؟ وَهَلْ أَعْجَبَكَ؟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فِي نِهَايَةِ الأُسْبُوعِ ذَهَبْتُ ___ وَ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أُخْتِي ___ـَتْ ، وَأَخِي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قَرَأْتُ ___ مُنْذُ ___ ، وَأَعْجَبَنِي لِأَنَّ ___ .</a:t>
            </a:r>
            <a:endParaRPr lang="ar-SA" sz="14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مَاذَا فَعَلْتَ أَمْسِ؟</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did you do yesterday?</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أَمْسِ ذَهَبْتُ إِلَى النَّادِي وَلَعِبْتُ كُرَةَ السَّلَّةِ.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Yesterday I went to the club and played basketball.</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Complete the conjugation table for three verbs, then write four sentences with </a:t>
            </a:r>
            <a:pPr algn="l" indent="0" marL="0">
              <a:buNone/>
            </a:pPr>
            <a:r>
              <a:rPr lang="ar-SA" altLang="en-US" sz="1800" b="1" dirty="0">
                <a:solidFill>
                  <a:srgbClr val="1F2A37"/>
                </a:solidFill>
                <a:latin typeface="Amiri" pitchFamily="2" charset="-78"/>
                <a:ea typeface="Amiri" pitchFamily="2" charset="-78"/>
                <a:cs typeface="Amiri" pitchFamily="2" charset="-78"/>
              </a:rPr>
              <a:t>أَنَا</a:t>
            </a:r>
            <a:pPr algn="l" indent="0" marL="0">
              <a:buNone/>
            </a:pPr>
            <a:r>
              <a:rPr lang="en-US" sz="1400" b="1" dirty="0">
                <a:solidFill>
                  <a:srgbClr val="1F2A37"/>
                </a:solidFill>
                <a:latin typeface="Calibri" pitchFamily="34" charset="0"/>
                <a:cs typeface="Amiri" pitchFamily="2" charset="-78"/>
              </a:rPr>
              <a:t> and </a:t>
            </a:r>
            <a:pPr algn="l" indent="0" marL="0">
              <a:buNone/>
            </a:pPr>
            <a:r>
              <a:rPr lang="ar-SA" altLang="en-US" sz="1800" b="1" dirty="0">
                <a:solidFill>
                  <a:srgbClr val="1F2A37"/>
                </a:solidFill>
                <a:latin typeface="Amiri" pitchFamily="2" charset="-78"/>
                <a:ea typeface="Amiri" pitchFamily="2" charset="-78"/>
                <a:cs typeface="Amiri" pitchFamily="2" charset="-78"/>
              </a:rPr>
              <a:t>هِيَ</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Three with أَنَا and three with هُوَ / هِيَ, each starting with a time word.</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 short paragraph that moves between </a:t>
            </a:r>
            <a:pPr algn="l" indent="0" marL="0">
              <a:buNone/>
            </a:pPr>
            <a:r>
              <a:rPr lang="ar-SA" altLang="en-US" sz="1800" b="1" dirty="0">
                <a:solidFill>
                  <a:srgbClr val="1F2A37"/>
                </a:solidFill>
                <a:latin typeface="Amiri" pitchFamily="2" charset="-78"/>
                <a:ea typeface="Amiri" pitchFamily="2" charset="-78"/>
                <a:cs typeface="Amiri" pitchFamily="2" charset="-78"/>
              </a:rPr>
              <a:t>أَنَا</a:t>
            </a:r>
            <a:pPr algn="l" indent="0" marL="0">
              <a:buNone/>
            </a:pPr>
            <a:r>
              <a:rPr lang="en-US" sz="1400" b="1" dirty="0">
                <a:solidFill>
                  <a:srgbClr val="1F2A37"/>
                </a:solidFill>
                <a:latin typeface="Calibri" pitchFamily="34" charset="0"/>
                <a:cs typeface="Amiri" pitchFamily="2" charset="-78"/>
              </a:rPr>
              <a:t> and </a:t>
            </a:r>
            <a:pPr algn="l" indent="0" marL="0">
              <a:buNone/>
            </a:pPr>
            <a:r>
              <a:rPr lang="ar-SA" altLang="en-US" sz="1800" b="1" dirty="0">
                <a:solidFill>
                  <a:srgbClr val="1F2A37"/>
                </a:solidFill>
                <a:latin typeface="Amiri" pitchFamily="2" charset="-78"/>
                <a:ea typeface="Amiri" pitchFamily="2" charset="-78"/>
                <a:cs typeface="Amiri" pitchFamily="2" charset="-78"/>
              </a:rPr>
              <a:t>هِيَ</a:t>
            </a:r>
            <a:pPr algn="l" indent="0" marL="0">
              <a:buNone/>
            </a:pPr>
            <a:r>
              <a:rPr lang="en-US" sz="1400" b="1" dirty="0">
                <a:solidFill>
                  <a:srgbClr val="1F2A37"/>
                </a:solidFill>
                <a:latin typeface="Calibri" pitchFamily="34" charset="0"/>
                <a:cs typeface="Amiri" pitchFamily="2" charset="-78"/>
              </a:rPr>
              <a:t> and opens with a time expression.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A paragraph moving between أَنَا and هِيَ, plus one question to a friend (ـْتَ / ـْتِ).</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Contrast present, past and future for the same verb in one linked paragraph, keeping every suffix accurate.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Website task: 4 أَنَا · 3 هُوَ / هِيَ · 2 أَنْتَ / أَنْتِ · 1 مُنْذُ / قَبْلَ, a new verb each time.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قَرَأْتَ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Did you (m.) read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شَاهَدْتِ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Did you (f.) watch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مُنْذُ أُسْبُوعٍ ______ تُ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week ago I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الإِجَازَةِ ______ تْ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During the holiday she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أَمْسِ ذَهَبْتُ إِلَى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Yesterday I went to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الأُسْبُوعَ المَاضِيَ شَاهَدْتُ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Last week I watched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أَخِي لَعِبَ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brother played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أُخْتِي رَسَمَتْ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sister drew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ذَهَبْتُ  ·  لَعِبْتُ  ·  شَاهَدْتُ  ·  قَرَأْتُ  ·  كَتَبْتُ  ·  طَبَخْتُ  ·  رَسَمَتْ  ·  خَرَجَتْ  ·  أَمْسِ  ·  الأُسْبُوعَ المَاضِيَ  ·  مُنْذُ أُسْبُوعٍ  ·  قَبْلَ شَهْرٍ</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ten sentences about last week: four with </a:t>
            </a:r>
            <a:pPr algn="l" indent="0" marL="0">
              <a:buNone/>
            </a:pPr>
            <a:r>
              <a:rPr lang="ar-SA" altLang="en-US" sz="1750" b="1" dirty="0">
                <a:solidFill>
                  <a:srgbClr val="1F2A37"/>
                </a:solidFill>
                <a:latin typeface="Amiri" pitchFamily="2" charset="-78"/>
                <a:ea typeface="Amiri" pitchFamily="2" charset="-78"/>
                <a:cs typeface="Amiri" pitchFamily="2" charset="-78"/>
              </a:rPr>
              <a:t>أَنَا</a:t>
            </a:r>
            <a:pPr algn="l" indent="0" marL="0">
              <a:buNone/>
            </a:pPr>
            <a:r>
              <a:rPr lang="en-US" sz="1350" b="1" dirty="0">
                <a:solidFill>
                  <a:srgbClr val="1F2A37"/>
                </a:solidFill>
                <a:latin typeface="Calibri" pitchFamily="34" charset="0"/>
                <a:cs typeface="Amiri" pitchFamily="2" charset="-78"/>
              </a:rPr>
              <a:t>, three with </a:t>
            </a:r>
            <a:pPr algn="l" indent="0" marL="0">
              <a:buNone/>
            </a:pPr>
            <a:r>
              <a:rPr lang="ar-SA" altLang="en-US" sz="1750" b="1" dirty="0">
                <a:solidFill>
                  <a:srgbClr val="1F2A37"/>
                </a:solidFill>
                <a:latin typeface="Amiri" pitchFamily="2" charset="-78"/>
                <a:ea typeface="Amiri" pitchFamily="2" charset="-78"/>
                <a:cs typeface="Amiri" pitchFamily="2" charset="-78"/>
              </a:rPr>
              <a:t>هُوَ</a:t>
            </a:r>
            <a:pPr algn="l" indent="0" marL="0">
              <a:buNone/>
            </a:pPr>
            <a:r>
              <a:rPr lang="en-US" sz="1350" b="1" dirty="0">
                <a:solidFill>
                  <a:srgbClr val="1F2A37"/>
                </a:solidFill>
                <a:latin typeface="Calibri" pitchFamily="34" charset="0"/>
                <a:cs typeface="Amiri" pitchFamily="2" charset="-78"/>
              </a:rPr>
              <a:t> or </a:t>
            </a:r>
            <a:pPr algn="l" indent="0" marL="0">
              <a:buNone/>
            </a:pPr>
            <a:r>
              <a:rPr lang="ar-SA" altLang="en-US" sz="1750" b="1" dirty="0">
                <a:solidFill>
                  <a:srgbClr val="1F2A37"/>
                </a:solidFill>
                <a:latin typeface="Amiri" pitchFamily="2" charset="-78"/>
                <a:ea typeface="Amiri" pitchFamily="2" charset="-78"/>
                <a:cs typeface="Amiri" pitchFamily="2" charset="-78"/>
              </a:rPr>
              <a:t>هِيَ</a:t>
            </a:r>
            <a:pPr algn="l" indent="0" marL="0">
              <a:buNone/>
            </a:pPr>
            <a:r>
              <a:rPr lang="en-US" sz="1350" b="1" dirty="0">
                <a:solidFill>
                  <a:srgbClr val="1F2A37"/>
                </a:solidFill>
                <a:latin typeface="Calibri" pitchFamily="34" charset="0"/>
                <a:cs typeface="Amiri" pitchFamily="2" charset="-78"/>
              </a:rPr>
              <a:t>, two addressing a friend with </a:t>
            </a:r>
            <a:pPr algn="l" indent="0" marL="0">
              <a:buNone/>
            </a:pPr>
            <a:r>
              <a:rPr lang="ar-SA" altLang="en-US" sz="1750" b="1" dirty="0">
                <a:solidFill>
                  <a:srgbClr val="1F2A37"/>
                </a:solidFill>
                <a:latin typeface="Amiri" pitchFamily="2" charset="-78"/>
                <a:ea typeface="Amiri" pitchFamily="2" charset="-78"/>
                <a:cs typeface="Amiri" pitchFamily="2" charset="-78"/>
              </a:rPr>
              <a:t>أَنْتَ</a:t>
            </a:r>
            <a:pPr algn="l" indent="0" marL="0">
              <a:buNone/>
            </a:pPr>
            <a:r>
              <a:rPr lang="en-US" sz="1350" b="1" dirty="0">
                <a:solidFill>
                  <a:srgbClr val="1F2A37"/>
                </a:solidFill>
                <a:latin typeface="Calibri" pitchFamily="34" charset="0"/>
                <a:cs typeface="Amiri" pitchFamily="2" charset="-78"/>
              </a:rPr>
              <a:t> or </a:t>
            </a:r>
            <a:pPr algn="l" indent="0" marL="0">
              <a:buNone/>
            </a:pPr>
            <a:r>
              <a:rPr lang="ar-SA" altLang="en-US" sz="1750" b="1" dirty="0">
                <a:solidFill>
                  <a:srgbClr val="1F2A37"/>
                </a:solidFill>
                <a:latin typeface="Amiri" pitchFamily="2" charset="-78"/>
                <a:ea typeface="Amiri" pitchFamily="2" charset="-78"/>
                <a:cs typeface="Amiri" pitchFamily="2" charset="-78"/>
              </a:rPr>
              <a:t>أَنْتِ</a:t>
            </a:r>
            <a:pPr algn="l" indent="0" marL="0">
              <a:buNone/>
            </a:pPr>
            <a:r>
              <a:rPr lang="en-US" sz="1350" b="1" dirty="0">
                <a:solidFill>
                  <a:srgbClr val="1F2A37"/>
                </a:solidFill>
                <a:latin typeface="Calibri" pitchFamily="34" charset="0"/>
                <a:cs typeface="Amiri" pitchFamily="2" charset="-78"/>
              </a:rPr>
              <a:t>, and one using </a:t>
            </a:r>
            <a:pPr algn="l" indent="0" marL="0">
              <a:buNone/>
            </a:pPr>
            <a:r>
              <a:rPr lang="ar-SA" altLang="en-US" sz="1750" b="1" dirty="0">
                <a:solidFill>
                  <a:srgbClr val="1F2A37"/>
                </a:solidFill>
                <a:latin typeface="Amiri" pitchFamily="2" charset="-78"/>
                <a:ea typeface="Amiri" pitchFamily="2" charset="-78"/>
                <a:cs typeface="Amiri" pitchFamily="2" charset="-78"/>
              </a:rPr>
              <a:t>مُنْذُ</a:t>
            </a:r>
            <a:pPr algn="l" indent="0" marL="0">
              <a:buNone/>
            </a:pPr>
            <a:r>
              <a:rPr lang="en-US" sz="1350" b="1" dirty="0">
                <a:solidFill>
                  <a:srgbClr val="1F2A37"/>
                </a:solidFill>
                <a:latin typeface="Calibri" pitchFamily="34" charset="0"/>
                <a:cs typeface="Amiri" pitchFamily="2" charset="-78"/>
              </a:rPr>
              <a:t> or </a:t>
            </a:r>
            <a:pPr algn="l" indent="0" marL="0">
              <a:buNone/>
            </a:pPr>
            <a:r>
              <a:rPr lang="ar-SA" altLang="en-US" sz="1750" b="1" dirty="0">
                <a:solidFill>
                  <a:srgbClr val="1F2A37"/>
                </a:solidFill>
                <a:latin typeface="Amiri" pitchFamily="2" charset="-78"/>
                <a:ea typeface="Amiri" pitchFamily="2" charset="-78"/>
                <a:cs typeface="Amiri" pitchFamily="2" charset="-78"/>
              </a:rPr>
              <a:t>قَبْلَ</a:t>
            </a:r>
            <a:pPr algn="l" indent="0" marL="0">
              <a:buNone/>
            </a:pPr>
            <a:r>
              <a:rPr lang="en-US" sz="1350" b="1" dirty="0">
                <a:solidFill>
                  <a:srgbClr val="1F2A37"/>
                </a:solidFill>
                <a:latin typeface="Calibri" pitchFamily="34" charset="0"/>
                <a:cs typeface="Amiri" pitchFamily="2" charset="-78"/>
              </a:rPr>
              <a:t>. Use a different verb each time.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verb is past tense with the correct suffix for its person.</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a:t>
            </a:r>
            <a:pPr algn="l" indent="0" marL="0">
              <a:buNone/>
            </a:pPr>
            <a:r>
              <a:rPr lang="ar-SA" altLang="en-US" sz="1550" dirty="0">
                <a:solidFill>
                  <a:srgbClr val="1F2A37"/>
                </a:solidFill>
                <a:latin typeface="Amiri" pitchFamily="2" charset="-78"/>
                <a:ea typeface="Amiri" pitchFamily="2" charset="-78"/>
                <a:cs typeface="Amiri" pitchFamily="2" charset="-78"/>
              </a:rPr>
              <a:t>أَنَا</a:t>
            </a:r>
            <a:pPr algn="l" indent="0" marL="0">
              <a:buNone/>
            </a:pPr>
            <a:r>
              <a:rPr lang="en-US" sz="1200" dirty="0">
                <a:solidFill>
                  <a:srgbClr val="1F2A37"/>
                </a:solidFill>
                <a:latin typeface="Calibri" pitchFamily="34" charset="0"/>
                <a:cs typeface="Amiri" pitchFamily="2" charset="-78"/>
              </a:rPr>
              <a:t>, </a:t>
            </a:r>
            <a:pPr algn="l" indent="0" marL="0">
              <a:buNone/>
            </a:pPr>
            <a:r>
              <a:rPr lang="ar-SA" altLang="en-US" sz="1550" dirty="0">
                <a:solidFill>
                  <a:srgbClr val="1F2A37"/>
                </a:solidFill>
                <a:latin typeface="Amiri" pitchFamily="2" charset="-78"/>
                <a:ea typeface="Amiri" pitchFamily="2" charset="-78"/>
                <a:cs typeface="Amiri" pitchFamily="2" charset="-78"/>
              </a:rPr>
              <a:t>أَنْتَ</a:t>
            </a:r>
            <a:pPr algn="l" indent="0" marL="0">
              <a:buNone/>
            </a:pPr>
            <a:r>
              <a:rPr lang="en-US" sz="1200" dirty="0">
                <a:solidFill>
                  <a:srgbClr val="1F2A37"/>
                </a:solidFill>
                <a:latin typeface="Calibri" pitchFamily="34" charset="0"/>
                <a:cs typeface="Amiri" pitchFamily="2" charset="-78"/>
              </a:rPr>
              <a:t> and </a:t>
            </a:r>
            <a:pPr algn="l" indent="0" marL="0">
              <a:buNone/>
            </a:pPr>
            <a:r>
              <a:rPr lang="ar-SA" altLang="en-US" sz="1550" dirty="0">
                <a:solidFill>
                  <a:srgbClr val="1F2A37"/>
                </a:solidFill>
                <a:latin typeface="Amiri" pitchFamily="2" charset="-78"/>
                <a:ea typeface="Amiri" pitchFamily="2" charset="-78"/>
                <a:cs typeface="Amiri" pitchFamily="2" charset="-78"/>
              </a:rPr>
              <a:t>أَنْتِ</a:t>
            </a:r>
            <a:pPr algn="l" indent="0" marL="0">
              <a:buNone/>
            </a:pPr>
            <a:r>
              <a:rPr lang="en-US" sz="1200" dirty="0">
                <a:solidFill>
                  <a:srgbClr val="1F2A37"/>
                </a:solidFill>
                <a:latin typeface="Calibri" pitchFamily="34" charset="0"/>
                <a:cs typeface="Amiri" pitchFamily="2" charset="-78"/>
              </a:rPr>
              <a:t> forms all carry their final short vowel.</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four different past time expressions.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No present-tense verb after a past time expression.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الصَّيْفِ المَاضِي سَافَرْتُ إِلَى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last summer I travelled to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وَصَلْتُ مُبَكِّرًا</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arrived early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أَمَّا أَخِي فَقَدْ …</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as for my brother, he …</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أَسْبَحُ / سَبَحْتُ / سَأَسْبَحُ</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swim / swam / will swim</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زِلْتُ أَتَذَكَّرُ</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still remember</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أَمْسِ ذَهَبْتُ إِلَى المَكْتَبَةِ وَقَرَأْتُ كِتَابًا مُمْتِعًا. الأُسْبُوعَ المَاضِيَ شَاهَدْتُ فِيلْمًا طَوِيلًا مَعَ أَصْدِقَائِي. وَفِي الإِجَازَةِ طَبَخْتُ طَعَامًا عَرَبِيًّا مَعَ أُمِّي. أَمَّا أَخِي فَقَدْ لَعِبَ كُرَةَ القَدَمِ، وَأُخْتِي رَسَمَتْ لَوْحَةً جَمِيلَةً. مُنْذُ أُسْبُوعٍ وَصَلْتُ مُبَكِّرًا إِلَى المَدْرَسَةِ، وَقَبْلَ شَهْرٍ خَرَجْتُ مَعَ عَائِلَتِي إِلَى الحَدِيقَةِ.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Yesterday I went to the library and read an enjoyable book. Last week I watched a long film with my friends. During the holiday I cooked Arabic food with my mother. As for my brother, he played football, and my sister drew a beautiful picture. A week ago I arrived early at school, and a month ago I went out with my family to the park.</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four أَنَا forms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one هُوَ and one هِيَ form</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four time expressions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مُنْذُ or قَبْلَ + genitive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verb is in the past.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-tu for “I” and -at for “she”.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questions use -ta (boy) and -ti (girl).</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Each sentence starts with a time expression.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ten different verbs and four time expressions.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ea typeface="Amiri" pitchFamily="2" charset="-78"/>
                <a:cs typeface="Amiri" pitchFamily="2" charset="-78"/>
              </a:rPr>
              <a:t>أَنْتِ</a:t>
            </a:r>
            <a:pPr algn="l" indent="0" marL="0">
              <a:buNone/>
            </a:pPr>
            <a:r>
              <a:rPr lang="en-US" sz="1250" b="1" dirty="0">
                <a:solidFill>
                  <a:srgbClr val="1B3B6F"/>
                </a:solidFill>
                <a:latin typeface="Calibri" pitchFamily="34" charset="0"/>
                <a:cs typeface="Amiri" pitchFamily="2" charset="-78"/>
              </a:rPr>
              <a:t> form.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كَتَبَتْ</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أَمْسِ</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يُوسُفُ إِلَى المَلْعَبِ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ذَهَبَتْ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ذَهَبَ</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ذَهَبْتُ</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time phrase.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قَبْلَ شَهْرٍ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قَبْلَ شَهْرًا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قَبْلَ الشَّهْرُ</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ea typeface="Amiri" pitchFamily="2" charset="-78"/>
                <a:cs typeface="Amiri" pitchFamily="2" charset="-78"/>
              </a:rPr>
              <a:t>أَنْتِ</a:t>
            </a:r>
            <a:pPr algn="l" indent="0" marL="0">
              <a:buNone/>
            </a:pPr>
            <a:r>
              <a:rPr lang="en-US" sz="1250" b="1" dirty="0">
                <a:solidFill>
                  <a:srgbClr val="1B3B6F"/>
                </a:solidFill>
                <a:latin typeface="Calibri" pitchFamily="34" charset="0"/>
                <a:cs typeface="Amiri" pitchFamily="2" charset="-78"/>
              </a:rPr>
              <a:t> form.</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كَتَبْتِ</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كَتَبْتَ</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كَتَبَتْ</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Addressing a female uses the kasra ending </a:t>
            </a:r>
            <a:pPr algn="l" indent="0" marL="0">
              <a:buNone/>
            </a:pPr>
            <a:r>
              <a:rPr lang="ar-SA" altLang="en-US" sz="1350" dirty="0">
                <a:solidFill>
                  <a:srgbClr val="8A6D1E"/>
                </a:solidFill>
                <a:latin typeface="Amiri" pitchFamily="2" charset="-78"/>
                <a:ea typeface="Amiri" pitchFamily="2" charset="-78"/>
                <a:cs typeface="Amiri" pitchFamily="2" charset="-78"/>
              </a:rPr>
              <a:t>ـْتِ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أَمْسِ</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يُوسُفُ إِلَى المَلْعَبِ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ذَهَبَتْ</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ذَهَبَ</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ذَهَبْتُ</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يُوسُف</a:t>
            </a:r>
            <a:pPr algn="l" indent="0" marL="0">
              <a:buNone/>
            </a:pPr>
            <a:r>
              <a:rPr lang="en-US" sz="1050" i="1" dirty="0">
                <a:solidFill>
                  <a:srgbClr val="8A6D1E"/>
                </a:solidFill>
                <a:latin typeface="Calibri" pitchFamily="34" charset="0"/>
                <a:cs typeface="Amiri" pitchFamily="2" charset="-78"/>
              </a:rPr>
              <a:t> is </a:t>
            </a:r>
            <a:pPr algn="l" indent="0" marL="0">
              <a:buNone/>
            </a:pPr>
            <a:r>
              <a:rPr lang="ar-SA" altLang="en-US" sz="1350" dirty="0">
                <a:solidFill>
                  <a:srgbClr val="8A6D1E"/>
                </a:solidFill>
                <a:latin typeface="Amiri" pitchFamily="2" charset="-78"/>
                <a:ea typeface="Amiri" pitchFamily="2" charset="-78"/>
                <a:cs typeface="Amiri" pitchFamily="2" charset="-78"/>
              </a:rPr>
              <a:t>هُوَ</a:t>
            </a:r>
            <a:pPr algn="l" indent="0" marL="0">
              <a:buNone/>
            </a:pPr>
            <a:r>
              <a:rPr lang="en-US" sz="1050" i="1" dirty="0">
                <a:solidFill>
                  <a:srgbClr val="8A6D1E"/>
                </a:solidFill>
                <a:latin typeface="Calibri" pitchFamily="34" charset="0"/>
                <a:cs typeface="Amiri" pitchFamily="2" charset="-78"/>
              </a:rPr>
              <a:t>, which is the bare past form.</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time phrase.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قَبْلَ شَهْرٍ</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قَبْلَ شَهْرًا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قَبْلَ الشَّهْرُ</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قَبْلَ</a:t>
            </a:r>
            <a:pPr algn="l" indent="0" marL="0">
              <a:buNone/>
            </a:pPr>
            <a:r>
              <a:rPr lang="en-US" sz="1050" i="1" dirty="0">
                <a:solidFill>
                  <a:srgbClr val="8A6D1E"/>
                </a:solidFill>
                <a:latin typeface="Calibri" pitchFamily="34" charset="0"/>
                <a:cs typeface="Amiri" pitchFamily="2" charset="-78"/>
              </a:rPr>
              <a:t> is followed by a genitive noun.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 diary page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الإِجَازَةِ المَاضِيَةِ ذَهَبْتُ مَعَ عَائِلَتِي إِلَى مَدِينَةٍ سَاحِلِيَّةٍ. وَصَلْنَا صَبَاحًا، وَفِي اليَوْمِ الأَوَّلِ سَبَحْتُ كَثِيرًا وَلَعِبْتُ كُرَةَ الطَّائِرَةِ عَلَى الشَّاطِئِ. أَمَّا أُخْتِي فَقَدْ رَسَمَتِ البَحْرَ وَكَتَبَتْ قِصَّةً قَصِيرَةً. وَفِي المَسَاءِ أَكَلْنَا سَمَكًا طَازِجًا فِي مَطْعَمٍ صَغِيرٍ. قَبْلَ شَهْرٍ عُدْنَا إِلَى المَدْرَسَةِ، وَلٰكِنَّنِي مَا زِلْتُ أَتَذَكَّرُ تِلْكَ الأَيَّامَ لِأَنَّهَا كَانَتْ مُمْتِعَةً حَقًّا.</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الإِجَازَةِ المَاضِيَةِ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last holiday</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مَدِينَةٍ سَاحِلِيَّةٍ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coastal city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وَصَلْنَا</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arrived</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سَبَحْتُ</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swam</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الشَّاطِئِ</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beach</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كَتَبَتْ قِصَّةً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she wrote a story</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سَمَكًا طَازِجًا</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fresh fish</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عُدْنَا</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returned</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مَا زِلْتُ أَتَذَكَّرُ</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still remember</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كَانَتْ مُمْتِعَةً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they were enjoyable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the family go?</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mountain village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coastal city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capital</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writer do on the first day?</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Drew and wrote</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Cooked fish</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Swam and played volleyball</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sister do?</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Drew the sea and wrote a story</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Swam all day</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Stayed at the hotel</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did they return to school?</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Yesterday</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month ago</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Last week</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writer still remember those days?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were truly enjoyable</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were very short</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were expensive</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the family go?</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mountain village</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coastal city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capital</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ذَهَبْتُ مَعَ عَائِلَتِي إِلَى مَدِينَةٍ سَاحِلِيَّةٍ.</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writer do on the first day?</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Drew and wrote</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Cooked fish</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Swam and played volleyball</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سَبَحْتُ كَثِيرًا وَلَعِبْتُ كُرَةَ الطَّائِرَةِ.</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sister do?</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Drew the sea and wrote a story</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Swam all day</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Stayed at the hotel</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رَسَمَتِ البَحْرَ وَكَتَبَتْ قِصَّةً قَصِيرَةً.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did they return to school?</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Yesterday</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month ago</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Last week</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قَبْلَ شَهْرٍ عُدْنَا إِلَى المَدْرَسَةِ.</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writer still remember those days?</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They were truly enjoyable</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were very short</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were expensive</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لِأَنَّهَا كَانَتْ مُمْتِعَةً حَقًّا.</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Past-Tense Mission — Five Persons, One Root</a:t>
            </a:r>
            <a:endParaRPr lang="en-US" sz="21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a:t>
            </a:r>
            <a:pPr algn="l" indent="0" marL="0">
              <a:buNone/>
            </a:pPr>
            <a:r>
              <a:rPr lang="ar-SA" altLang="en-US" sz="1650" b="1" dirty="0">
                <a:solidFill>
                  <a:srgbClr val="1B3B6F"/>
                </a:solidFill>
                <a:latin typeface="Amiri" pitchFamily="2" charset="-78"/>
                <a:ea typeface="Amiri" pitchFamily="2" charset="-78"/>
                <a:cs typeface="Amiri" pitchFamily="2" charset="-78"/>
              </a:rPr>
              <a:t>أَنَا</a:t>
            </a:r>
            <a:pPr algn="l" indent="0" marL="0">
              <a:buNone/>
            </a:pPr>
            <a:r>
              <a:rPr lang="en-US" sz="1250" b="1" dirty="0">
                <a:solidFill>
                  <a:srgbClr val="1B3B6F"/>
                </a:solidFill>
                <a:latin typeface="Calibri" pitchFamily="34" charset="0"/>
                <a:cs typeface="Amiri" pitchFamily="2" charset="-78"/>
              </a:rPr>
              <a:t> past form of </a:t>
            </a:r>
            <a:pPr algn="l" indent="0" marL="0">
              <a:buNone/>
            </a:pPr>
            <a:r>
              <a:rPr lang="ar-SA" altLang="en-US" sz="1650" b="1" dirty="0">
                <a:solidFill>
                  <a:srgbClr val="1B3B6F"/>
                </a:solidFill>
                <a:latin typeface="Amiri" pitchFamily="2" charset="-78"/>
                <a:ea typeface="Amiri" pitchFamily="2" charset="-78"/>
                <a:cs typeface="Amiri" pitchFamily="2" charset="-78"/>
              </a:rPr>
              <a:t>كَتَبَ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كَتَبْتَ</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كَتَبَتْ</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about Salmā is accurate?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سَلْمَى خَرَجَتْ مُبَكِّرًا.</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سَلْمَى خَرَجْتُ مُبَكِّرًا.</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سَلْمَى خَرَجْتِ مُبَكِّرًا.</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addresses a male friend?</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سَمِعْتِ الخَبَرَ؟</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سَمِعَتْ الخَبَرَ؟</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سَمِعْتَ الخَبَرَ؟</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on the </a:t>
            </a:r>
            <a:pPr algn="l" indent="0" marL="0">
              <a:buNone/>
            </a:pPr>
            <a:r>
              <a:rPr lang="ar-SA" altLang="en-US" sz="1650" b="1" dirty="0">
                <a:solidFill>
                  <a:srgbClr val="1B3B6F"/>
                </a:solidFill>
                <a:latin typeface="Amiri" pitchFamily="2" charset="-78"/>
                <a:ea typeface="Amiri" pitchFamily="2" charset="-78"/>
                <a:cs typeface="Amiri" pitchFamily="2" charset="-78"/>
              </a:rPr>
              <a:t>فَعِلَ</a:t>
            </a:r>
            <a:pPr algn="l" indent="0" marL="0">
              <a:buNone/>
            </a:pPr>
            <a:r>
              <a:rPr lang="en-US" sz="1250" b="1" dirty="0">
                <a:solidFill>
                  <a:srgbClr val="1B3B6F"/>
                </a:solidFill>
                <a:latin typeface="Calibri" pitchFamily="34" charset="0"/>
                <a:cs typeface="Amiri" pitchFamily="2" charset="-78"/>
              </a:rPr>
              <a:t> pattern?</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طَبَخَ</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وَصَلَ</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لَعِبَ</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keeps the tense consistent?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أَمْسِ شَاهَدْتُ فِيلْمًا طَوِيلًا.</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أَمْسِ أُشَاهِدُ فِيلْمًا طَوِيلًا.</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أَمْسِ سَأُشَاهِدُ فِيلْمًا طَوِيلًا.</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three-tense set is accurate for </a:t>
            </a:r>
            <a:pPr algn="l" indent="0" marL="0">
              <a:buNone/>
            </a:pPr>
            <a:r>
              <a:rPr lang="ar-SA" altLang="en-US" sz="1650" b="1" dirty="0">
                <a:solidFill>
                  <a:srgbClr val="1B3B6F"/>
                </a:solidFill>
                <a:latin typeface="Amiri" pitchFamily="2" charset="-78"/>
                <a:ea typeface="Amiri" pitchFamily="2" charset="-78"/>
                <a:cs typeface="Amiri" pitchFamily="2" charset="-78"/>
              </a:rPr>
              <a:t>هِيَ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تَطْبُخُ / طَبَخْتُ / سَتَطْبُخُ</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تَطْبُخُ / طَبَخَتْ / سَتَطْبُخُ</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طَبَخَتْ / تَطْبُخُ / طَبَخَتْ</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a:t>
            </a:r>
            <a:pPr algn="l" indent="0" marL="0">
              <a:buNone/>
            </a:pPr>
            <a:r>
              <a:rPr lang="ar-SA" altLang="en-US" sz="1650" b="1" dirty="0">
                <a:solidFill>
                  <a:srgbClr val="1B3B6F"/>
                </a:solidFill>
                <a:latin typeface="Amiri" pitchFamily="2" charset="-78"/>
                <a:ea typeface="Amiri" pitchFamily="2" charset="-78"/>
                <a:cs typeface="Amiri" pitchFamily="2" charset="-78"/>
              </a:rPr>
              <a:t>أَنَا</a:t>
            </a:r>
            <a:pPr algn="l" indent="0" marL="0">
              <a:buNone/>
            </a:pPr>
            <a:r>
              <a:rPr lang="en-US" sz="1250" b="1" dirty="0">
                <a:solidFill>
                  <a:srgbClr val="1B3B6F"/>
                </a:solidFill>
                <a:latin typeface="Calibri" pitchFamily="34" charset="0"/>
                <a:cs typeface="Amiri" pitchFamily="2" charset="-78"/>
              </a:rPr>
              <a:t> past form of </a:t>
            </a:r>
            <a:pPr algn="l" indent="0" marL="0">
              <a:buNone/>
            </a:pPr>
            <a:r>
              <a:rPr lang="ar-SA" altLang="en-US" sz="1650" b="1" dirty="0">
                <a:solidFill>
                  <a:srgbClr val="1B3B6F"/>
                </a:solidFill>
                <a:latin typeface="Amiri" pitchFamily="2" charset="-78"/>
                <a:ea typeface="Amiri" pitchFamily="2" charset="-78"/>
                <a:cs typeface="Amiri" pitchFamily="2" charset="-78"/>
              </a:rPr>
              <a:t>كَتَبَ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كَتَبْتَ</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كَتَبْتُ</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كَتَبَتْ</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t>
            </a:r>
            <a:pPr algn="l" indent="0" marL="0">
              <a:buNone/>
            </a:pPr>
            <a:r>
              <a:rPr lang="ar-SA" altLang="en-US" sz="1350" dirty="0">
                <a:solidFill>
                  <a:srgbClr val="8A6D1E"/>
                </a:solidFill>
                <a:latin typeface="Amiri" pitchFamily="2" charset="-78"/>
                <a:ea typeface="Amiri" pitchFamily="2" charset="-78"/>
                <a:cs typeface="Amiri" pitchFamily="2" charset="-78"/>
              </a:rPr>
              <a:t>أَنَا</a:t>
            </a:r>
            <a:pPr algn="l" indent="0" marL="0">
              <a:buNone/>
            </a:pPr>
            <a:r>
              <a:rPr lang="en-US" sz="1050" i="1" dirty="0">
                <a:solidFill>
                  <a:srgbClr val="8A6D1E"/>
                </a:solidFill>
                <a:latin typeface="Calibri" pitchFamily="34" charset="0"/>
                <a:cs typeface="Amiri" pitchFamily="2" charset="-78"/>
              </a:rPr>
              <a:t> ending is </a:t>
            </a:r>
            <a:pPr algn="l" indent="0" marL="0">
              <a:buNone/>
            </a:pPr>
            <a:r>
              <a:rPr lang="ar-SA" altLang="en-US" sz="1350" dirty="0">
                <a:solidFill>
                  <a:srgbClr val="8A6D1E"/>
                </a:solidFill>
                <a:latin typeface="Amiri" pitchFamily="2" charset="-78"/>
                <a:ea typeface="Amiri" pitchFamily="2" charset="-78"/>
                <a:cs typeface="Amiri" pitchFamily="2" charset="-78"/>
              </a:rPr>
              <a:t>ـْتُ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about Salmā is accurate?</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سَلْمَى خَرَجَتْ مُبَكِّرًا.</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سَلْمَى خَرَجْتُ مُبَكِّرًا.</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سَلْمَى خَرَجْتِ مُبَكِّرًا.</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a:t>
            </a:r>
            <a:pPr algn="l" indent="0" marL="0">
              <a:buNone/>
            </a:pPr>
            <a:r>
              <a:rPr lang="ar-SA" altLang="en-US" sz="1350" dirty="0">
                <a:solidFill>
                  <a:srgbClr val="8A6D1E"/>
                </a:solidFill>
                <a:latin typeface="Amiri" pitchFamily="2" charset="-78"/>
                <a:ea typeface="Amiri" pitchFamily="2" charset="-78"/>
                <a:cs typeface="Amiri" pitchFamily="2" charset="-78"/>
              </a:rPr>
              <a:t>هِيَ</a:t>
            </a:r>
            <a:pPr algn="l" indent="0" marL="0">
              <a:buNone/>
            </a:pPr>
            <a:r>
              <a:rPr lang="en-US" sz="1050" i="1" dirty="0">
                <a:solidFill>
                  <a:srgbClr val="8A6D1E"/>
                </a:solidFill>
                <a:latin typeface="Calibri" pitchFamily="34" charset="0"/>
                <a:cs typeface="Amiri" pitchFamily="2" charset="-78"/>
              </a:rPr>
              <a:t> subject takes the </a:t>
            </a:r>
            <a:pPr algn="l" indent="0" marL="0">
              <a:buNone/>
            </a:pPr>
            <a:r>
              <a:rPr lang="ar-SA" altLang="en-US" sz="1350" dirty="0">
                <a:solidFill>
                  <a:srgbClr val="8A6D1E"/>
                </a:solidFill>
                <a:latin typeface="Amiri" pitchFamily="2" charset="-78"/>
                <a:ea typeface="Amiri" pitchFamily="2" charset="-78"/>
                <a:cs typeface="Amiri" pitchFamily="2" charset="-78"/>
              </a:rPr>
              <a:t>ـَتْ</a:t>
            </a:r>
            <a:pPr algn="l" indent="0" marL="0">
              <a:buNone/>
            </a:pPr>
            <a:r>
              <a:rPr lang="en-US" sz="1050" i="1" dirty="0">
                <a:solidFill>
                  <a:srgbClr val="8A6D1E"/>
                </a:solidFill>
                <a:latin typeface="Calibri" pitchFamily="34" charset="0"/>
                <a:cs typeface="Amiri" pitchFamily="2" charset="-78"/>
              </a:rPr>
              <a:t> ending.</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addresses a male friend?</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هَلْ سَمِعْتِ الخَبَرَ؟</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هَلْ سَمِعَتْ الخَبَرَ؟</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هَلْ سَمِعْتَ الخَبَرَ؟</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أَنْتَ</a:t>
            </a:r>
            <a:pPr algn="l" indent="0" marL="0">
              <a:buNone/>
            </a:pPr>
            <a:r>
              <a:rPr lang="en-US" sz="1050" i="1" dirty="0">
                <a:solidFill>
                  <a:srgbClr val="8A6D1E"/>
                </a:solidFill>
                <a:latin typeface="Calibri" pitchFamily="34" charset="0"/>
                <a:cs typeface="Amiri" pitchFamily="2" charset="-78"/>
              </a:rPr>
              <a:t> takes the fatḥa ending </a:t>
            </a:r>
            <a:pPr algn="l" indent="0" marL="0">
              <a:buNone/>
            </a:pPr>
            <a:r>
              <a:rPr lang="ar-SA" altLang="en-US" sz="1350" dirty="0">
                <a:solidFill>
                  <a:srgbClr val="8A6D1E"/>
                </a:solidFill>
                <a:latin typeface="Amiri" pitchFamily="2" charset="-78"/>
                <a:ea typeface="Amiri" pitchFamily="2" charset="-78"/>
                <a:cs typeface="Amiri" pitchFamily="2" charset="-78"/>
              </a:rPr>
              <a:t>ـْتَ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on the </a:t>
            </a:r>
            <a:pPr algn="l" indent="0" marL="0">
              <a:buNone/>
            </a:pPr>
            <a:r>
              <a:rPr lang="ar-SA" altLang="en-US" sz="1650" b="1" dirty="0">
                <a:solidFill>
                  <a:srgbClr val="1B3B6F"/>
                </a:solidFill>
                <a:latin typeface="Amiri" pitchFamily="2" charset="-78"/>
                <a:ea typeface="Amiri" pitchFamily="2" charset="-78"/>
                <a:cs typeface="Amiri" pitchFamily="2" charset="-78"/>
              </a:rPr>
              <a:t>فَعِلَ</a:t>
            </a:r>
            <a:pPr algn="l" indent="0" marL="0">
              <a:buNone/>
            </a:pPr>
            <a:r>
              <a:rPr lang="en-US" sz="1250" b="1" dirty="0">
                <a:solidFill>
                  <a:srgbClr val="1B3B6F"/>
                </a:solidFill>
                <a:latin typeface="Calibri" pitchFamily="34" charset="0"/>
                <a:cs typeface="Amiri" pitchFamily="2" charset="-78"/>
              </a:rPr>
              <a:t> pattern?</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طَبَخَ</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وَصَلَ</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لَعِبَ</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لَعِبَ</a:t>
            </a:r>
            <a:pPr algn="l" indent="0" marL="0">
              <a:buNone/>
            </a:pPr>
            <a:r>
              <a:rPr lang="en-US" sz="1050" i="1" dirty="0">
                <a:solidFill>
                  <a:srgbClr val="8A6D1E"/>
                </a:solidFill>
                <a:latin typeface="Calibri" pitchFamily="34" charset="0"/>
                <a:cs typeface="Amiri" pitchFamily="2" charset="-78"/>
              </a:rPr>
              <a:t> carries a kasra on the middle letter.</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keeps the tense consistent?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أَمْسِ شَاهَدْتُ فِيلْمًا طَوِيلًا.</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أَمْسِ أُشَاهِدُ فِيلْمًا طَوِيلًا.</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أَمْسِ سَأُشَاهِدُ فِيلْمًا طَوِيلًا.</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أَمْسِ</a:t>
            </a:r>
            <a:pPr algn="l" indent="0" marL="0">
              <a:buNone/>
            </a:pPr>
            <a:r>
              <a:rPr lang="en-US" sz="1050" i="1" dirty="0">
                <a:solidFill>
                  <a:srgbClr val="8A6D1E"/>
                </a:solidFill>
                <a:latin typeface="Calibri" pitchFamily="34" charset="0"/>
                <a:cs typeface="Amiri" pitchFamily="2" charset="-78"/>
              </a:rPr>
              <a:t> requires the past tense.</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three-tense set is accurate for </a:t>
            </a:r>
            <a:pPr algn="l" indent="0" marL="0">
              <a:buNone/>
            </a:pPr>
            <a:r>
              <a:rPr lang="ar-SA" altLang="en-US" sz="1650" b="1" dirty="0">
                <a:solidFill>
                  <a:srgbClr val="1B3B6F"/>
                </a:solidFill>
                <a:latin typeface="Amiri" pitchFamily="2" charset="-78"/>
                <a:ea typeface="Amiri" pitchFamily="2" charset="-78"/>
                <a:cs typeface="Amiri" pitchFamily="2" charset="-78"/>
              </a:rPr>
              <a:t>هِيَ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تَطْبُخُ / طَبَخْتُ / سَتَطْبُخُ</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تَطْبُخُ / طَبَخَتْ / سَتَطْبُخُ</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طَبَخَتْ / تَطْبُخُ / طَبَخَتْ</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Present </a:t>
            </a:r>
            <a:pPr algn="l" indent="0" marL="0">
              <a:buNone/>
            </a:pPr>
            <a:r>
              <a:rPr lang="ar-SA" altLang="en-US" sz="1350" dirty="0">
                <a:solidFill>
                  <a:srgbClr val="8A6D1E"/>
                </a:solidFill>
                <a:latin typeface="Amiri" pitchFamily="2" charset="-78"/>
                <a:ea typeface="Amiri" pitchFamily="2" charset="-78"/>
                <a:cs typeface="Amiri" pitchFamily="2" charset="-78"/>
              </a:rPr>
              <a:t>تَطْبُخُ</a:t>
            </a:r>
            <a:pPr algn="l" indent="0" marL="0">
              <a:buNone/>
            </a:pPr>
            <a:r>
              <a:rPr lang="en-US" sz="1050" i="1" dirty="0">
                <a:solidFill>
                  <a:srgbClr val="8A6D1E"/>
                </a:solidFill>
                <a:latin typeface="Calibri" pitchFamily="34" charset="0"/>
                <a:cs typeface="Amiri" pitchFamily="2" charset="-78"/>
              </a:rPr>
              <a:t>, past </a:t>
            </a:r>
            <a:pPr algn="l" indent="0" marL="0">
              <a:buNone/>
            </a:pPr>
            <a:r>
              <a:rPr lang="ar-SA" altLang="en-US" sz="1350" dirty="0">
                <a:solidFill>
                  <a:srgbClr val="8A6D1E"/>
                </a:solidFill>
                <a:latin typeface="Amiri" pitchFamily="2" charset="-78"/>
                <a:ea typeface="Amiri" pitchFamily="2" charset="-78"/>
                <a:cs typeface="Amiri" pitchFamily="2" charset="-78"/>
              </a:rPr>
              <a:t>طَبَخَتْ</a:t>
            </a:r>
            <a:pPr algn="l" indent="0" marL="0">
              <a:buNone/>
            </a:pPr>
            <a:r>
              <a:rPr lang="en-US" sz="1050" i="1" dirty="0">
                <a:solidFill>
                  <a:srgbClr val="8A6D1E"/>
                </a:solidFill>
                <a:latin typeface="Calibri" pitchFamily="34" charset="0"/>
                <a:cs typeface="Amiri" pitchFamily="2" charset="-78"/>
              </a:rPr>
              <a:t>, future </a:t>
            </a:r>
            <a:pPr algn="l" indent="0" marL="0">
              <a:buNone/>
            </a:pPr>
            <a:r>
              <a:rPr lang="ar-SA" altLang="en-US" sz="1350" dirty="0">
                <a:solidFill>
                  <a:srgbClr val="8A6D1E"/>
                </a:solidFill>
                <a:latin typeface="Amiri" pitchFamily="2" charset="-78"/>
                <a:ea typeface="Amiri" pitchFamily="2" charset="-78"/>
                <a:cs typeface="Amiri" pitchFamily="2" charset="-78"/>
              </a:rPr>
              <a:t>سَتَطْبُخُ</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D5-L04: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D5-L04 · Past Tense — Plural Forms and Irregular Verbs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ذَهَبْنَا</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we went</a:t>
            </a:r>
            <a:pPr indent="0" marL="0">
              <a:buNone/>
            </a:pPr>
            <a:r>
              <a:rPr lang="ar-SA" sz="1000" i="1" dirty="0">
                <a:solidFill>
                  <a:srgbClr val="5A6472"/>
                </a:solidFill>
                <a:latin typeface="Calibri" pitchFamily="34" charset="0"/>
                <a:ea typeface="Amiri" pitchFamily="2" charset="-78"/>
                <a:cs typeface="Amiri" pitchFamily="2" charset="-78"/>
              </a:rPr>
              <a:t>  ذَهَبُوا they went</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لَعِبُوا</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they played</a:t>
            </a:r>
            <a:pPr indent="0" marL="0">
              <a:buNone/>
            </a:pPr>
            <a:r>
              <a:rPr lang="ar-SA" sz="1000" i="1" dirty="0">
                <a:solidFill>
                  <a:srgbClr val="5A6472"/>
                </a:solidFill>
                <a:latin typeface="Calibri" pitchFamily="34" charset="0"/>
                <a:ea typeface="Amiri" pitchFamily="2" charset="-78"/>
                <a:cs typeface="Amiri" pitchFamily="2" charset="-78"/>
              </a:rPr>
              <a:t>  لَعِبْنَا we played</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قُلْنَا</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we said</a:t>
            </a:r>
            <a:pPr indent="0" marL="0">
              <a:buNone/>
            </a:pPr>
            <a:r>
              <a:rPr lang="ar-SA" sz="1000" i="1" dirty="0">
                <a:solidFill>
                  <a:srgbClr val="5A6472"/>
                </a:solidFill>
                <a:latin typeface="Calibri" pitchFamily="34" charset="0"/>
                <a:ea typeface="Amiri" pitchFamily="2" charset="-78"/>
                <a:cs typeface="Amiri" pitchFamily="2" charset="-78"/>
              </a:rPr>
              <a:t>  قَالَ he said</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رَأَيْنَا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we saw</a:t>
            </a:r>
            <a:pPr indent="0" marL="0">
              <a:buNone/>
            </a:pPr>
            <a:r>
              <a:rPr lang="ar-SA" sz="1000" i="1" dirty="0">
                <a:solidFill>
                  <a:srgbClr val="5A6472"/>
                </a:solidFill>
                <a:latin typeface="Calibri" pitchFamily="34" charset="0"/>
                <a:ea typeface="Amiri" pitchFamily="2" charset="-78"/>
                <a:cs typeface="Amiri" pitchFamily="2" charset="-78"/>
              </a:rPr>
              <a:t>  رَأَى he saw</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مَعًا</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together</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did you and your family do together last weekend? Try “we …”.</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فِي نِهَايَةِ الأُسْبُوعِ ذَهَبْنَا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five endings with </a:t>
            </a:r>
            <a:pPr algn="l" indent="0" marL="0">
              <a:buNone/>
            </a:pPr>
            <a:r>
              <a:rPr lang="ar-SA" altLang="en-US" sz="1550" dirty="0">
                <a:solidFill>
                  <a:srgbClr val="1F2A37"/>
                </a:solidFill>
                <a:latin typeface="Amiri" pitchFamily="2" charset="-78"/>
                <a:ea typeface="Amiri" pitchFamily="2" charset="-78"/>
                <a:cs typeface="Amiri" pitchFamily="2" charset="-78"/>
              </a:rPr>
              <a:t>ذَهَبَ</a:t>
            </a:r>
            <a:pPr algn="l" indent="0" marL="0">
              <a:buNone/>
            </a:pPr>
            <a:r>
              <a:rPr lang="en-US" sz="1200" dirty="0">
                <a:solidFill>
                  <a:srgbClr val="1F2A37"/>
                </a:solidFill>
                <a:latin typeface="Calibri" pitchFamily="34" charset="0"/>
                <a:cs typeface="Amiri" pitchFamily="2" charset="-78"/>
              </a:rPr>
              <a:t> and </a:t>
            </a:r>
            <a:pPr algn="l" indent="0" marL="0">
              <a:buNone/>
            </a:pPr>
            <a:r>
              <a:rPr lang="ar-SA" altLang="en-US" sz="1550" dirty="0">
                <a:solidFill>
                  <a:srgbClr val="1F2A37"/>
                </a:solidFill>
                <a:latin typeface="Amiri" pitchFamily="2" charset="-78"/>
                <a:ea typeface="Amiri" pitchFamily="2" charset="-78"/>
                <a:cs typeface="Amiri" pitchFamily="2" charset="-78"/>
              </a:rPr>
              <a:t>لَعِبَ</a:t>
            </a:r>
            <a:pPr algn="l" indent="0" marL="0">
              <a:buNone/>
            </a:pPr>
            <a:r>
              <a:rPr lang="en-US" sz="1200" dirty="0">
                <a:solidFill>
                  <a:srgbClr val="1F2A37"/>
                </a:solidFill>
                <a:latin typeface="Calibri" pitchFamily="34" charset="0"/>
                <a:cs typeface="Amiri" pitchFamily="2" charset="-78"/>
              </a:rPr>
              <a:t>; write six sentences from the frames.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An 8-sentence paragraph with </a:t>
            </a:r>
            <a:pPr algn="l" indent="0" marL="0">
              <a:buNone/>
            </a:pPr>
            <a:r>
              <a:rPr lang="ar-SA" altLang="en-US" sz="1550" dirty="0">
                <a:solidFill>
                  <a:srgbClr val="1F2A37"/>
                </a:solidFill>
                <a:latin typeface="Amiri" pitchFamily="2" charset="-78"/>
                <a:ea typeface="Amiri" pitchFamily="2" charset="-78"/>
                <a:cs typeface="Amiri" pitchFamily="2" charset="-78"/>
              </a:rPr>
              <a:t>أَنَا</a:t>
            </a:r>
            <a:pPr algn="l" indent="0" marL="0">
              <a:buNone/>
            </a:pPr>
            <a:r>
              <a:rPr lang="en-US" sz="1200" dirty="0">
                <a:solidFill>
                  <a:srgbClr val="1F2A37"/>
                </a:solidFill>
                <a:latin typeface="Calibri" pitchFamily="34" charset="0"/>
                <a:cs typeface="Amiri" pitchFamily="2" charset="-78"/>
              </a:rPr>
              <a:t>, </a:t>
            </a:r>
            <a:pPr algn="l" indent="0" marL="0">
              <a:buNone/>
            </a:pPr>
            <a:r>
              <a:rPr lang="ar-SA" altLang="en-US" sz="1550" dirty="0">
                <a:solidFill>
                  <a:srgbClr val="1F2A37"/>
                </a:solidFill>
                <a:latin typeface="Amiri" pitchFamily="2" charset="-78"/>
                <a:ea typeface="Amiri" pitchFamily="2" charset="-78"/>
                <a:cs typeface="Amiri" pitchFamily="2" charset="-78"/>
              </a:rPr>
              <a:t>هِيَ</a:t>
            </a:r>
            <a:pPr algn="l" indent="0" marL="0">
              <a:buNone/>
            </a:pPr>
            <a:r>
              <a:rPr lang="en-US" sz="1200" dirty="0">
                <a:solidFill>
                  <a:srgbClr val="1F2A37"/>
                </a:solidFill>
                <a:latin typeface="Calibri" pitchFamily="34" charset="0"/>
                <a:cs typeface="Amiri" pitchFamily="2" charset="-78"/>
              </a:rPr>
              <a:t> and one question (</a:t>
            </a:r>
            <a:pPr algn="l" indent="0" marL="0">
              <a:buNone/>
            </a:pPr>
            <a:r>
              <a:rPr lang="ar-SA" altLang="en-US" sz="1550" dirty="0">
                <a:solidFill>
                  <a:srgbClr val="1F2A37"/>
                </a:solidFill>
                <a:latin typeface="Amiri" pitchFamily="2" charset="-78"/>
                <a:ea typeface="Amiri" pitchFamily="2" charset="-78"/>
                <a:cs typeface="Amiri" pitchFamily="2" charset="-78"/>
              </a:rPr>
              <a:t>ـْتَ / ـْتِ</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ten past sentences, ten verbs, four time expressions.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D5-L03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50" b="1" dirty="0">
                <a:solidFill>
                  <a:srgbClr val="FFFFFF"/>
                </a:solidFill>
                <a:latin typeface="Cambria" pitchFamily="34" charset="0"/>
                <a:cs typeface="Amiri" pitchFamily="2" charset="-78"/>
              </a:rPr>
              <a:t>D5-L04 · Past Tense — Plural Forms and Irregular Verbs</a:t>
            </a:r>
            <a:endParaRPr lang="en-US" sz="17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الفِعْلُ المَاضِي — الجَمْعُ وَالأَفْعَالُ الشَّاذَّةُ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the root stays, the ending moves — </a:t>
            </a:r>
            <a:pPr algn="l" indent="0" marL="0">
              <a:buNone/>
            </a:pPr>
            <a:r>
              <a:rPr lang="ar-SA" altLang="en-US" sz="1700" b="1" dirty="0">
                <a:solidFill>
                  <a:srgbClr val="FFFFFF"/>
                </a:solidFill>
                <a:latin typeface="Amiri" pitchFamily="2" charset="-78"/>
                <a:ea typeface="Amiri" pitchFamily="2" charset="-78"/>
                <a:cs typeface="Amiri" pitchFamily="2" charset="-78"/>
              </a:rPr>
              <a:t>ـْتُ</a:t>
            </a:r>
            <a:pPr algn="l" indent="0" marL="0">
              <a:buNone/>
            </a:pPr>
            <a:r>
              <a:rPr lang="en-US" sz="1300" b="1" dirty="0">
                <a:solidFill>
                  <a:srgbClr val="FFFFFF"/>
                </a:solidFill>
                <a:latin typeface="Calibri" pitchFamily="34" charset="0"/>
                <a:cs typeface="Amiri" pitchFamily="2" charset="-78"/>
              </a:rPr>
              <a:t> I · </a:t>
            </a:r>
            <a:pPr algn="l" indent="0" marL="0">
              <a:buNone/>
            </a:pPr>
            <a:r>
              <a:rPr lang="ar-SA" altLang="en-US" sz="1700" b="1" dirty="0">
                <a:solidFill>
                  <a:srgbClr val="FFFFFF"/>
                </a:solidFill>
                <a:latin typeface="Amiri" pitchFamily="2" charset="-78"/>
                <a:ea typeface="Amiri" pitchFamily="2" charset="-78"/>
                <a:cs typeface="Amiri" pitchFamily="2" charset="-78"/>
              </a:rPr>
              <a:t>ـْتَ</a:t>
            </a:r>
            <a:pPr algn="l" indent="0" marL="0">
              <a:buNone/>
            </a:pPr>
            <a:r>
              <a:rPr lang="en-US" sz="1300" b="1" dirty="0">
                <a:solidFill>
                  <a:srgbClr val="FFFFFF"/>
                </a:solidFill>
                <a:latin typeface="Calibri" pitchFamily="34" charset="0"/>
                <a:cs typeface="Amiri" pitchFamily="2" charset="-78"/>
              </a:rPr>
              <a:t> you (m.) · </a:t>
            </a:r>
            <a:pPr algn="l" indent="0" marL="0">
              <a:buNone/>
            </a:pPr>
            <a:r>
              <a:rPr lang="ar-SA" altLang="en-US" sz="1700" b="1" dirty="0">
                <a:solidFill>
                  <a:srgbClr val="FFFFFF"/>
                </a:solidFill>
                <a:latin typeface="Amiri" pitchFamily="2" charset="-78"/>
                <a:ea typeface="Amiri" pitchFamily="2" charset="-78"/>
                <a:cs typeface="Amiri" pitchFamily="2" charset="-78"/>
              </a:rPr>
              <a:t>ـْتِ</a:t>
            </a:r>
            <a:pPr algn="l" indent="0" marL="0">
              <a:buNone/>
            </a:pPr>
            <a:r>
              <a:rPr lang="en-US" sz="1300" b="1" dirty="0">
                <a:solidFill>
                  <a:srgbClr val="FFFFFF"/>
                </a:solidFill>
                <a:latin typeface="Calibri" pitchFamily="34" charset="0"/>
                <a:cs typeface="Amiri" pitchFamily="2" charset="-78"/>
              </a:rPr>
              <a:t> you (f.) · </a:t>
            </a:r>
            <a:pPr algn="l" indent="0" marL="0">
              <a:buNone/>
            </a:pPr>
            <a:r>
              <a:rPr lang="ar-SA" altLang="en-US" sz="1700" b="1" dirty="0">
                <a:solidFill>
                  <a:srgbClr val="FFFFFF"/>
                </a:solidFill>
                <a:latin typeface="Amiri" pitchFamily="2" charset="-78"/>
                <a:ea typeface="Amiri" pitchFamily="2" charset="-78"/>
                <a:cs typeface="Amiri" pitchFamily="2" charset="-78"/>
              </a:rPr>
              <a:t>ـَ</a:t>
            </a:r>
            <a:pPr algn="l" indent="0" marL="0">
              <a:buNone/>
            </a:pPr>
            <a:r>
              <a:rPr lang="en-US" sz="1300" b="1" dirty="0">
                <a:solidFill>
                  <a:srgbClr val="FFFFFF"/>
                </a:solidFill>
                <a:latin typeface="Calibri" pitchFamily="34" charset="0"/>
                <a:cs typeface="Amiri" pitchFamily="2" charset="-78"/>
              </a:rPr>
              <a:t> he · </a:t>
            </a:r>
            <a:pPr algn="l" indent="0" marL="0">
              <a:buNone/>
            </a:pPr>
            <a:r>
              <a:rPr lang="ar-SA" altLang="en-US" sz="1700" b="1" dirty="0">
                <a:solidFill>
                  <a:srgbClr val="FFFFFF"/>
                </a:solidFill>
                <a:latin typeface="Amiri" pitchFamily="2" charset="-78"/>
                <a:ea typeface="Amiri" pitchFamily="2" charset="-78"/>
                <a:cs typeface="Amiri" pitchFamily="2" charset="-78"/>
              </a:rPr>
              <a:t>ـَتْ</a:t>
            </a:r>
            <a:pPr algn="l" indent="0" marL="0">
              <a:buNone/>
            </a:pPr>
            <a:r>
              <a:rPr lang="en-US" sz="1300" b="1" dirty="0">
                <a:solidFill>
                  <a:srgbClr val="FFFFFF"/>
                </a:solidFill>
                <a:latin typeface="Calibri" pitchFamily="34" charset="0"/>
                <a:cs typeface="Amiri" pitchFamily="2" charset="-78"/>
              </a:rPr>
              <a:t> she — and write the last vowel every time.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D5-L03 · The Past Tense — Form I Regular Singular Verbs</dc:title>
  <dc:subject>PptxGenJS Presentation</dc:subject>
  <dc:creator>Al Madina Online School · Arabic Department</dc:creator>
  <cp:lastModifiedBy>Al Madina Online School · Arabic Department</cp:lastModifiedBy>
  <cp:revision>1</cp:revision>
  <dcterms:created xsi:type="dcterms:W3CDTF">2026-10-11T06:40:58Z</dcterms:created>
  <dcterms:modified xsi:type="dcterms:W3CDTF">2026-10-11T06:40:58Z</dcterms:modified>
</cp:coreProperties>
</file>