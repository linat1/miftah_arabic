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D5-L07. The website lesson “Holidays and Travel — Past and Future”: vocabulary, grammar rules and quiz, patterns, common mistakes, sorter, listening, reading, speaking prompts and model, writing task and model, differentiation, final check and the lesson mission. Picture match: website visual game “Holidays and Travel — Past and Future”.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travel words + six past sentences with the right preposition (سَافَرْتُ إِلَى · أَقَمْتُ فِي). Develop: hollow verbs (زُرْتُ · أَقَمْتُ · عُدْنَا), an evaluation and ONE future sentence with سَـ. Stretch: the website 90–100-word account with a past habit (كُنَّا نَمْشِي …) and a clean switch to the future.
• Exam skill: “one account, two tenses” — past narrative, then future plan. Examiners reward the switch only when each tense stays where it belongs.
• Builds on D5-L03 / L04 (past endings, hollow verbs), D5-L05 (كَانَ + habit). Travel / Umrah / visiting family abroad all work as topics.
• TEACHER-WRITTEN ITEMS: six quiz distractors that differed only in vowels replaced, and English added to the patterns and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home at the end of D5-L06. Question 4 retrieves the D5-L04 hollow-verb rule (زَارَ works the same way); question 5 retrieves D5-L06.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Past first, then the future — and keep each tense in its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سفر، مسافر are shared. CAREFUL: Urdu زیارت often means visiting a shrine; Arabic زِيَارَةٌ is any visit (زُرْتُ صَدِيقِي). Urdu رحلت = death (a polite word), but Arabic رِحْلَةٌ = a trip! Urdu تذکرہ = mention / biography; Arabic تَذْكِرَةٌ = a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Travel verbs in the past (website vocabulary (1 of 2)). Hear → Say → See → Use. Transliteration is printed for Core students (cover it for Develop/Stretch).
Travel verbs in the past: cards show I / she. HOLLOW verbs keep the long ā for he / she (زَارَ · زَارَتْ) but shorten it for I / we (زُرْتُ · زُرْنَا).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Travel verbs in the past (website vocabulary (2 of 2)). Hear → Say → See → Use. Transliteration is printed for Core students (cover it for Develop/Stretch).
Travel verbs in the past: cards show I / she. HOLLOW verbs keep the long ā for he / she (زَارَ · زَارَتْ) but shorten it for I / we (زُرْتُ · زُرْنَا).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Places and travel items (website vocabulary (1 of 2)). Hear → Say → See → Use. Transliteration is printed for Core students (cover it for Develop/Stretch).
Places and travel items. Plurals on the cards where useful (فَنَادِقُ · تَذَاكِرُ).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Places and travel items (website vocabulary (2 of 2)). Hear → Say → See → Use. Transliteration is printed for Core students (cover it for Develop/Stretch).
Places and travel items. Plurals on the cards where useful (فَنَادِقُ · تَذَاكِرُ).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Evaluating and looking ahead (website vocabulary (1 of 2)). Hear → Say → See → Use. Transliteration is printed for Core students (cover it for Develop/Stretch).
Evaluating and looking ahead: سَـ is attached to the verb, سَوْفَ is a separate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Evaluating and looking ahead (website vocabulary (2 of 2)). Hear → Say → See → Use. Transliteration is printed for Core students (cover it for Develop/Stretch).
Evaluating and looking ahead: سَـ is attached to the verb, سَوْفَ is a separate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“Hollow verbs in the past” (before a consonant suffix the long middle vowel shortens; the bare هُوَ form keeps the long vowel) and “Fixed prepositions on travel verbs” (each verb keeps its own preposition; the noun after it is genitive). Website teaching point: “the same rule you met with قَالَ in Lesson 4.”
Website mistakes: زَارْتُ ✗ → زُرْتُ · اسْتَمْتَعْتُ الرِّحْلَةَ ✗ → بِالرِّحْلَةِ.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“Marking the future” (سَـ attaches directly; سَوْفَ stands separately and is slightly more emphatic) and “Evaluating the trip” (مِنْ + a superlative introduces the group; the noun after it is genitive). Website teaching point: “One account, two tenses.”
Hope to return to Makkah / Madinah is a natural Stretch sentence: أَتَمَنَّى أَنْ أَزُورَ المَدِينَةَ المُنَوَّرَةَ مَرَّةً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“Travel verbs bring three challenges at once: hollow stems, fixed prepositions, and a clean switch to the future. Deal with them one at a time.”
• Hollow verbs in the past: Before a consonant suffix the long middle vowel shortens. The bare هُوَ form keeps the long vowel.
• Fixed prepositions on travel verbs: Each verb keeps its own preposition, and the noun after it is genitive.
• Marking the future: سَـ attaches directly to the verb; سَوْفَ stands separately and is slightly more emphatic.
• Evaluating the trip: مِنْ plus a superlative introduces the group the thing belongs to; the noun after the superlative is genitive.
Website common error: Writing زَارْتُ or أَقَامْتُ keeps the long vowel that Arabic drops. If a consonant suffix follows a hollow verb, the middle vowel must shorten.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5,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built from the website listening. Think aloud: “Which preposition does this verb need? Is it hollow? Past or future here?” Students copy and draw a line where the tense switches.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Holidays and Travel — Past and Future”)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switch each to the future: سَأَقْضِي العُطْلَةَ … · سَأُسَافِرُ بِالطَّائِرَةِ · سَأُقِيمُ فِي فُنْدُقٍ. Other website cards: mountains, a new city, tourist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Holidays and Travel — Past and Future”)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switch each to the future: سَأَقْضِي العُطْلَةَ … · سَأُسَافِرُ بِالطَّائِرَةِ · سَأُقِيمُ فِي فُنْدُقٍ. Other website cards: mountains, a new city, tourist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a three-sentence account aloud: one past, one evaluation, one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a three-sentence account aloud: one past, one evaluation, one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4,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 and note where the speaker switches to the future.
Listen 1: just listen. Listen 2: note answers. Then chat the letters.
Support: after the second listening, show the read-along slide (Arabic + English, line by line) for Core students.
SCRIPT (read aloud):
فِي الصَّيْفِ المَاضِي سَافَرْنَا إِلَى مَدِينَةٍ سَاحِلِيَّةٍ. حَجَزْنَا التَّذَاكِرَ قَبْلَ شَهْرٍ، ثُمَّ رَكِبْنَا القِطَارَ مِنَ المَحَطَّةِ. أَقَمْنَا فِي فُنْدُقٍ صَغِيرٍ قَرِيبٍ مِنَ الشَّاطِئِ. فِي اليَوْمِ الأَوَّلِ زُرْنَا المَعَالِمَ السِّيَاحِيَّةَ وَاكْتَشَفْنَا سُوقًا قَدِيمًا جَمِيلًا. اسْتَمْتَعْتُ بِالرِّحْلَةِ كَثِيرًا، وَكَانَتْ مِنْ أَجْمَلِ الرِّحْلَاتِ. لِلْأَسَفِ نَسِيتُ حَقِيبَةَ السَّفَرِ فِي المَحَطَّةِ، وَلٰكِنْ لِحُسْنِ الحَظِّ وَجَدْنَاهَا. فِي المُسْتَقْبَلِ سَأَزُورُ تِلْكَ المَدِينَةَ مَرَّةً أُخْرَى، وَسَوْفَ نَحْجِزُ مُبَكِّرًا.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وَبِمَاذَا اسْتَمْتَعْتَ هُنَاكَ؟ (And what did you enjoy there?)
B: اسْتَمْتَعْتُ بِالشَّاطِئِ وَالسُّوقِ القَدِيمِ، وَفِي المُسْتَقْبَلِ سَأَزُورُهَا مَرَّةً أُخْرَى. (I enjoyed the beach and the old market, and in the future I will visit it again.)
Website prompts and model (past question → hollow verb + preposition → follow-up with بِـ → evaluation and future switch). To a girl: سَافَرْتِ · أَقَمْتِ · زُرْتِ · اسْتَمْتَعْتِ · سَتُسَافِرِينَ.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six past sentences about a trip using the travel verbs and their prepositions. · Develop — Add an evaluation and a future sentence with سَـ. · Stretch — Include a past habit with كَانَ plus a present verb and keep every hollow stem accurate.
Website writing task (Stretch): Write ninety to one hundred words about a holiday. Narrate what you booked, where you stayed, what you visited and what you enjoyed, then close with a future plan using سَـ or سَوْفَ.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سَافَرْتُ إِلَى · حَجَزْنَا · رَكِبْنَا · أَقَمْنَا فِي · كُنَّا نَمْشِي (habit) · زُرْنَا · اكْتَشَفْنَا · اسْتَمْتَعْتُ بِـ · كَانَتْ مِنْ أَجْمَلِ الرِّحْلَاتِ · سَأَعُودُ · سَوْفَ أُقِيمُ.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(D5-L08 · Reading — Leisure, Sport and Past Experience Texts) will spend class time USING this language, so students prepare it tonight — short, simple, easy to access (school guidance: “Simple, Short, Interesting, Relevant, Easy to access”). The five words come from the website D5-L08 vocabulary (reading text types and strategy).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cs typeface="Amiri" pitchFamily="2" charset="-78"/>
              </a:rPr>
              <a:t>Holidays and Travel — Past and Future</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الإِجَازَاتُ وَالسَّفَرُ — المَاضِي وَالمُسْتَقْبَلُ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Tell the story of a trip — where you went, stayed and what you visited (</a:t>
            </a:r>
            <a:pPr algn="l" indent="0" marL="0">
              <a:buNone/>
            </a:pPr>
            <a:r>
              <a:rPr lang="ar-SA" altLang="en-US" sz="1800" dirty="0">
                <a:solidFill>
                  <a:srgbClr val="C6D2E6"/>
                </a:solidFill>
                <a:latin typeface="Amiri" pitchFamily="2" charset="-78"/>
                <a:ea typeface="Amiri" pitchFamily="2" charset="-78"/>
                <a:cs typeface="Amiri" pitchFamily="2" charset="-78"/>
              </a:rPr>
              <a:t>سَافَرْتُ إِلَى</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أَقَمْتُ فِي</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زُرْتُ</a:t>
            </a:r>
            <a:pPr algn="l" indent="0" marL="0">
              <a:buNone/>
            </a:pPr>
            <a:r>
              <a:rPr lang="en-US" sz="1400" dirty="0">
                <a:solidFill>
                  <a:srgbClr val="C6D2E6"/>
                </a:solidFill>
                <a:latin typeface="Calibri" pitchFamily="34" charset="0"/>
                <a:cs typeface="Amiri" pitchFamily="2" charset="-78"/>
              </a:rPr>
              <a:t>) — judge it (</a:t>
            </a:r>
            <a:pPr algn="l" indent="0" marL="0">
              <a:buNone/>
            </a:pPr>
            <a:r>
              <a:rPr lang="ar-SA" altLang="en-US" sz="1800" dirty="0">
                <a:solidFill>
                  <a:srgbClr val="C6D2E6"/>
                </a:solidFill>
                <a:latin typeface="Amiri" pitchFamily="2" charset="-78"/>
                <a:ea typeface="Amiri" pitchFamily="2" charset="-78"/>
                <a:cs typeface="Amiri" pitchFamily="2" charset="-78"/>
              </a:rPr>
              <a:t>كَانَتْ مِنْ أَجْمَلِ الرِّحْلَاتِ</a:t>
            </a:r>
            <a:pPr algn="l" indent="0" marL="0">
              <a:buNone/>
            </a:pPr>
            <a:r>
              <a:rPr lang="en-US" sz="1400" dirty="0">
                <a:solidFill>
                  <a:srgbClr val="C6D2E6"/>
                </a:solidFill>
                <a:latin typeface="Calibri" pitchFamily="34" charset="0"/>
                <a:cs typeface="Amiri" pitchFamily="2" charset="-78"/>
              </a:rPr>
              <a:t>) and switch cleanly to the future (</a:t>
            </a:r>
            <a:pPr algn="l" indent="0" marL="0">
              <a:buNone/>
            </a:pPr>
            <a:r>
              <a:rPr lang="ar-SA" altLang="en-US" sz="1800" dirty="0">
                <a:solidFill>
                  <a:srgbClr val="C6D2E6"/>
                </a:solidFill>
                <a:latin typeface="Amiri" pitchFamily="2" charset="-78"/>
                <a:ea typeface="Amiri" pitchFamily="2" charset="-78"/>
                <a:cs typeface="Amiri" pitchFamily="2" charset="-78"/>
              </a:rPr>
              <a:t>سَأَزُورُ</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سَوْفَ نَحْجِزُ</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D5-L07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Hollow travel verbs, fixed prepositions, then the future.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past / future / evaluation, fix tense slips, then last summer’s trip.</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سَافَرَ إِلَى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visited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travelled to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stayed in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الفُنْدُقُ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hotel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airport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زُرْتُ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returned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booked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visited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 form of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قَالْنَا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قَوَلْنَا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قُلْنَا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تُعَبِّرُ المُوسِيقَى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المَشَاعِرِ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سَافَرَ إِلَى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visited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travelled to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stayed in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الفُنْدُقُ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hotel</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airport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station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زُرْتُ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returned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booked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visited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(D5-L06).</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 form of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قَالْنَا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قَوَلْنَا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قُلْنَا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D5-L04: hollow verbs.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تُعَبِّرُ المُوسِيقَى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المَشَاعِرِ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D5-L06.</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Past first, then the future — and keep each tense in its place.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زُرْتُ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المَدِينَةَ العَامَ المَاضِيَ، وَ</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سَأَعُودُ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إِلَيْهَا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Narrate a trip with travel verbs and their prepositions.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Shorten hollow travel verbs (</a:t>
            </a:r>
            <a:pPr algn="l" indent="0" marL="0">
              <a:buNone/>
            </a:pPr>
            <a:r>
              <a:rPr lang="ar-SA" altLang="en-US" sz="1700" dirty="0">
                <a:solidFill>
                  <a:srgbClr val="1F2A37"/>
                </a:solidFill>
                <a:latin typeface="Amiri" pitchFamily="2" charset="-78"/>
                <a:ea typeface="Amiri" pitchFamily="2" charset="-78"/>
                <a:cs typeface="Amiri" pitchFamily="2" charset="-78"/>
              </a:rPr>
              <a:t>زَارَ</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زُرْتُ</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أَقَامَ</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أَقَمْتُ</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Evaluate with </a:t>
            </a:r>
            <a:pPr algn="l" indent="0" marL="0">
              <a:buNone/>
            </a:pPr>
            <a:r>
              <a:rPr lang="ar-SA" altLang="en-US" sz="1700" dirty="0">
                <a:solidFill>
                  <a:srgbClr val="1F2A37"/>
                </a:solidFill>
                <a:latin typeface="Amiri" pitchFamily="2" charset="-78"/>
                <a:ea typeface="Amiri" pitchFamily="2" charset="-78"/>
                <a:cs typeface="Amiri" pitchFamily="2" charset="-78"/>
              </a:rPr>
              <a:t>كَانَ مِنْ أَجْمَلِ … / رِحْلَةٌ لَا تُنْسَى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Switch to the future with </a:t>
            </a:r>
            <a:pPr algn="l" indent="0" marL="0">
              <a:buNone/>
            </a:pPr>
            <a:r>
              <a:rPr lang="ar-SA" altLang="en-US" sz="1700" dirty="0">
                <a:solidFill>
                  <a:srgbClr val="1F2A37"/>
                </a:solidFill>
                <a:latin typeface="Amiri" pitchFamily="2" charset="-78"/>
                <a:ea typeface="Amiri" pitchFamily="2" charset="-78"/>
                <a:cs typeface="Amiri" pitchFamily="2" charset="-78"/>
              </a:rPr>
              <a:t>سَـ / سَوْفَ</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where I travelled and stayed.</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10 travel words.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زُرْتُ</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ea typeface="Amiri" pitchFamily="2" charset="-78"/>
                <a:cs typeface="Amiri" pitchFamily="2" charset="-78"/>
              </a:rPr>
              <a:t>أَقَمْتُ</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ea typeface="Amiri" pitchFamily="2" charset="-78"/>
                <a:cs typeface="Amiri" pitchFamily="2" charset="-78"/>
              </a:rPr>
              <a:t>عُدْنَا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one future plan with </a:t>
            </a:r>
            <a:pPr algn="l" indent="0" marL="0">
              <a:buNone/>
            </a:pPr>
            <a:r>
              <a:rPr lang="ar-SA" altLang="en-US" sz="1700" b="1" dirty="0">
                <a:solidFill>
                  <a:srgbClr val="C9780A"/>
                </a:solidFill>
                <a:latin typeface="Amiri" pitchFamily="2" charset="-78"/>
                <a:ea typeface="Amiri" pitchFamily="2" charset="-78"/>
                <a:cs typeface="Amiri" pitchFamily="2" charset="-78"/>
              </a:rPr>
              <a:t>سَـ</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evaluate the trip (</a:t>
            </a:r>
            <a:pPr algn="l" indent="0" marL="0">
              <a:buNone/>
            </a:pPr>
            <a:r>
              <a:rPr lang="ar-SA" altLang="en-US" sz="1700" b="1" dirty="0">
                <a:solidFill>
                  <a:srgbClr val="B83227"/>
                </a:solidFill>
                <a:latin typeface="Amiri" pitchFamily="2" charset="-78"/>
                <a:ea typeface="Amiri" pitchFamily="2" charset="-78"/>
                <a:cs typeface="Amiri" pitchFamily="2" charset="-78"/>
              </a:rPr>
              <a:t>كَانَتْ مِنْ أَجْمَلِ</a:t>
            </a:r>
            <a:pPr algn="l" indent="0" marL="0">
              <a:buNone/>
            </a:pPr>
            <a:r>
              <a:rPr lang="en-US" sz="1300" b="1" dirty="0">
                <a:solidFill>
                  <a:srgbClr val="B83227"/>
                </a:solidFill>
                <a:latin typeface="Calibri" pitchFamily="34" charset="0"/>
                <a:cs typeface="Amiri" pitchFamily="2" charset="-78"/>
              </a:rPr>
              <a:t>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switch cleanly between past and future.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Travel verbs in the past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Places and travel items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Evaluating and looking ahead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سَفَرٌ / مُسَافِرٌ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‎سفر / مسافر‎ </a:t>
            </a:r>
            <a:pPr indent="0" marL="0">
              <a:buNone/>
            </a:pPr>
            <a:r>
              <a:rPr lang="en-US" sz="950" b="1" dirty="0">
                <a:solidFill>
                  <a:srgbClr val="2E8B57"/>
                </a:solidFill>
                <a:latin typeface="Calibri" pitchFamily="34" charset="0"/>
                <a:cs typeface="Amiri" pitchFamily="2" charset="-78"/>
              </a:rPr>
              <a:t> safar / musāfir · travel / traveller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زِيَارَةٌ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‎زیارت‎ </a:t>
            </a:r>
            <a:pPr indent="0" marL="0">
              <a:buNone/>
            </a:pPr>
            <a:r>
              <a:rPr lang="en-US" sz="950" b="1" dirty="0">
                <a:solidFill>
                  <a:srgbClr val="2E8B57"/>
                </a:solidFill>
                <a:latin typeface="Calibri" pitchFamily="34" charset="0"/>
                <a:cs typeface="Amiri" pitchFamily="2" charset="-78"/>
              </a:rPr>
              <a:t> ziyārat · Urdu: visit to a holy place · Arabic: any visit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مَحَطَّةٌ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‎اسٹیشن‎ </a:t>
            </a:r>
            <a:pPr indent="0" marL="0">
              <a:buNone/>
            </a:pPr>
            <a:r>
              <a:rPr lang="en-US" sz="950" b="1" dirty="0">
                <a:solidFill>
                  <a:srgbClr val="2E8B57"/>
                </a:solidFill>
                <a:latin typeface="Calibri" pitchFamily="34" charset="0"/>
                <a:cs typeface="Amiri" pitchFamily="2" charset="-78"/>
              </a:rPr>
              <a:t> station · station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رِحْلَةٌ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‎رحلت‎ </a:t>
            </a:r>
            <a:pPr indent="0" marL="0">
              <a:buNone/>
            </a:pPr>
            <a:r>
              <a:rPr lang="en-US" sz="950" b="1" dirty="0">
                <a:solidFill>
                  <a:srgbClr val="2E8B57"/>
                </a:solidFill>
                <a:latin typeface="Calibri" pitchFamily="34" charset="0"/>
                <a:cs typeface="Amiri" pitchFamily="2" charset="-78"/>
              </a:rPr>
              <a:t> riḥlat · Urdu: passing away · Arabic: a trip</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تَذْكِرَةٌ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‎تذکرہ / ٹکٹ‎ </a:t>
            </a:r>
            <a:pPr indent="0" marL="0">
              <a:buNone/>
            </a:pPr>
            <a:r>
              <a:rPr lang="ar-SA" sz="950" b="1" dirty="0">
                <a:solidFill>
                  <a:srgbClr val="2E8B57"/>
                </a:solidFill>
                <a:latin typeface="Calibri" pitchFamily="34" charset="0"/>
                <a:ea typeface="Amiri" pitchFamily="2" charset="-78"/>
                <a:cs typeface="Amiri" pitchFamily="2" charset="-78"/>
              </a:rPr>
              <a:t> tazkira · Urdu تذکرہ: mention · Arabic: a ticket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verbs in the past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سَافَرَ إِلَى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travelled to</a:t>
            </a:r>
            <a:endParaRPr lang="en-US" sz="1350" dirty="0"/>
          </a:p>
          <a:p>
            <a:pPr indent="0" marL="0">
              <a:buNone/>
            </a:pPr>
            <a:r>
              <a:rPr lang="en-US" sz="1100" i="1" dirty="0">
                <a:solidFill>
                  <a:srgbClr val="5A6472"/>
                </a:solidFill>
                <a:latin typeface="Calibri" pitchFamily="34" charset="0"/>
                <a:cs typeface="Amiri" pitchFamily="2" charset="-78"/>
              </a:rPr>
              <a:t>sā-fa-ra i-lā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سَافَرَتْ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سَافَرْتُ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زَارَ / زُرْتُ</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visited / I visited</a:t>
            </a:r>
            <a:endParaRPr lang="en-US" sz="1350" dirty="0"/>
          </a:p>
          <a:p>
            <a:pPr indent="0" marL="0">
              <a:buNone/>
            </a:pPr>
            <a:r>
              <a:rPr lang="en-US" sz="1100" i="1" dirty="0">
                <a:solidFill>
                  <a:srgbClr val="5A6472"/>
                </a:solidFill>
                <a:latin typeface="Calibri" pitchFamily="34" charset="0"/>
                <a:cs typeface="Amiri" pitchFamily="2" charset="-78"/>
              </a:rPr>
              <a:t>zā-ra / zur-tu</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زَارَتْ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زُرْتُ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أَقَامَ فِي / أَقَمْتُ فِي</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stayed in / I stayed in</a:t>
            </a:r>
            <a:endParaRPr lang="en-US" sz="1350" dirty="0"/>
          </a:p>
          <a:p>
            <a:pPr indent="0" marL="0">
              <a:buNone/>
            </a:pPr>
            <a:r>
              <a:rPr lang="en-US" sz="1100" i="1" dirty="0">
                <a:solidFill>
                  <a:srgbClr val="5A6472"/>
                </a:solidFill>
                <a:latin typeface="Calibri" pitchFamily="34" charset="0"/>
                <a:cs typeface="Amiri" pitchFamily="2" charset="-78"/>
              </a:rPr>
              <a:t>a-qā-ma fī / a-qam-tu fī</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أَقَامَتْ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أَقَمْتُ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حَجَزَ</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booked</a:t>
            </a:r>
            <a:endParaRPr lang="en-US" sz="1350" dirty="0"/>
          </a:p>
          <a:p>
            <a:pPr indent="0" marL="0">
              <a:buNone/>
            </a:pPr>
            <a:r>
              <a:rPr lang="en-US" sz="1100" i="1" dirty="0">
                <a:solidFill>
                  <a:srgbClr val="5A6472"/>
                </a:solidFill>
                <a:latin typeface="Calibri" pitchFamily="34" charset="0"/>
                <a:cs typeface="Amiri" pitchFamily="2" charset="-78"/>
              </a:rPr>
              <a:t>ḥa-ja-za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حَجَزَتْ</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حَجَزْتُ</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رَكِبَ</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rode, took (transport)</a:t>
            </a:r>
            <a:endParaRPr lang="en-US" sz="1350" dirty="0"/>
          </a:p>
          <a:p>
            <a:pPr indent="0" marL="0">
              <a:buNone/>
            </a:pPr>
            <a:r>
              <a:rPr lang="en-US" sz="1100" i="1" dirty="0">
                <a:solidFill>
                  <a:srgbClr val="5A6472"/>
                </a:solidFill>
                <a:latin typeface="Calibri" pitchFamily="34" charset="0"/>
                <a:cs typeface="Amiri" pitchFamily="2" charset="-78"/>
              </a:rPr>
              <a:t>ra-ki-ba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رَكِبَتْ</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رَكِبْتُ</a:t>
            </a:r>
            <a:endParaRPr lang="ar-SA" sz="15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verbs in the past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نَزَلَ فِي</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stayed at</a:t>
            </a:r>
            <a:endParaRPr lang="en-US" sz="1350" dirty="0"/>
          </a:p>
          <a:p>
            <a:pPr indent="0" marL="0">
              <a:buNone/>
            </a:pPr>
            <a:r>
              <a:rPr lang="en-US" sz="1100" i="1" dirty="0">
                <a:solidFill>
                  <a:srgbClr val="5A6472"/>
                </a:solidFill>
                <a:latin typeface="Calibri" pitchFamily="34" charset="0"/>
                <a:cs typeface="Amiri" pitchFamily="2" charset="-78"/>
              </a:rPr>
              <a:t>na-za-la fī</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اسْتَمْتَعَ بِـ</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enjoyed</a:t>
            </a:r>
            <a:endParaRPr lang="en-US" sz="1350" dirty="0"/>
          </a:p>
          <a:p>
            <a:pPr indent="0" marL="0">
              <a:buNone/>
            </a:pPr>
            <a:r>
              <a:rPr lang="en-US" sz="1100" i="1" dirty="0">
                <a:solidFill>
                  <a:srgbClr val="5A6472"/>
                </a:solidFill>
                <a:latin typeface="Calibri" pitchFamily="34" charset="0"/>
                <a:cs typeface="Amiri" pitchFamily="2" charset="-78"/>
              </a:rPr>
              <a:t>as-tam-ta-ʿa bi</a:t>
            </a:r>
            <a:endParaRPr lang="en-US" sz="1350" dirty="0"/>
          </a:p>
        </p:txBody>
      </p:sp>
      <p:sp>
        <p:nvSpPr>
          <p:cNvPr id="29" name="Shape 2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1" name="Text 2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اسْتَمْتَعَتْ</a:t>
            </a:r>
            <a:endParaRPr lang="ar-SA" sz="1500" dirty="0"/>
          </a:p>
        </p:txBody>
      </p:sp>
      <p:sp>
        <p:nvSpPr>
          <p:cNvPr id="32" name="Shape 2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4" name="Text 3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اسْتَمْتَعْتُ</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8" name="Shape 3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VIII.</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اكْتَشَفَ</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discovered</a:t>
            </a:r>
            <a:endParaRPr lang="en-US" sz="1350" dirty="0"/>
          </a:p>
          <a:p>
            <a:pPr indent="0" marL="0">
              <a:buNone/>
            </a:pPr>
            <a:r>
              <a:rPr lang="en-US" sz="1100" i="1" dirty="0">
                <a:solidFill>
                  <a:srgbClr val="5A6472"/>
                </a:solidFill>
                <a:latin typeface="Calibri" pitchFamily="34" charset="0"/>
                <a:cs typeface="Amiri" pitchFamily="2" charset="-78"/>
              </a:rPr>
              <a:t>ak-ta-sha-fa</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5" name="Shape 4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تَذَكَّرَ</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remembered</a:t>
            </a:r>
            <a:endParaRPr lang="en-US" sz="1350" dirty="0"/>
          </a:p>
          <a:p>
            <a:pPr indent="0" marL="0">
              <a:buNone/>
            </a:pPr>
            <a:r>
              <a:rPr lang="en-US" sz="1100" i="1" dirty="0">
                <a:solidFill>
                  <a:srgbClr val="5A6472"/>
                </a:solidFill>
                <a:latin typeface="Calibri" pitchFamily="34" charset="0"/>
                <a:cs typeface="Amiri" pitchFamily="2" charset="-78"/>
              </a:rPr>
              <a:t>ta-dhak-ka-ra</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2" name="Shape 49"/>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 / عُدْتُ</a:t>
            </a:r>
            <a:endParaRPr lang="ar-SA" sz="3000" dirty="0"/>
          </a:p>
        </p:txBody>
      </p:sp>
      <p:sp>
        <p:nvSpPr>
          <p:cNvPr id="57" name="Text 5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returned / I returned</a:t>
            </a:r>
            <a:endParaRPr lang="en-US" sz="1350" dirty="0"/>
          </a:p>
          <a:p>
            <a:pPr indent="0" marL="0">
              <a:buNone/>
            </a:pPr>
            <a:r>
              <a:rPr lang="en-US" sz="1100" i="1" dirty="0">
                <a:solidFill>
                  <a:srgbClr val="5A6472"/>
                </a:solidFill>
                <a:latin typeface="Calibri" pitchFamily="34" charset="0"/>
                <a:cs typeface="Amiri" pitchFamily="2" charset="-78"/>
              </a:rPr>
              <a:t>ʿā-da / ʿud-tu</a:t>
            </a:r>
            <a:endParaRPr lang="en-US" sz="1350" dirty="0"/>
          </a:p>
        </p:txBody>
      </p:sp>
      <p:sp>
        <p:nvSpPr>
          <p:cNvPr id="58" name="Shape 5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0" name="Text 5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عَادَتْ</a:t>
            </a:r>
            <a:endParaRPr lang="ar-SA" sz="1500" dirty="0"/>
          </a:p>
        </p:txBody>
      </p:sp>
      <p:sp>
        <p:nvSpPr>
          <p:cNvPr id="61" name="Shape 5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3" name="Text 6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عُدْتُ</a:t>
            </a:r>
            <a:endParaRPr lang="ar-SA" sz="150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and travel items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المَطَارُ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airport</a:t>
            </a:r>
            <a:endParaRPr lang="en-US" sz="1350" dirty="0"/>
          </a:p>
          <a:p>
            <a:pPr indent="0" marL="0">
              <a:buNone/>
            </a:pPr>
            <a:r>
              <a:rPr lang="en-US" sz="1100" i="1" dirty="0">
                <a:solidFill>
                  <a:srgbClr val="5A6472"/>
                </a:solidFill>
                <a:latin typeface="Calibri" pitchFamily="34" charset="0"/>
                <a:cs typeface="Amiri" pitchFamily="2" charset="-78"/>
              </a:rPr>
              <a:t>al-ma-ṭā-ru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الفُنْدُقُ</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hotel</a:t>
            </a:r>
            <a:endParaRPr lang="en-US" sz="1350" dirty="0"/>
          </a:p>
          <a:p>
            <a:pPr indent="0" marL="0">
              <a:buNone/>
            </a:pPr>
            <a:r>
              <a:rPr lang="en-US" sz="1100" i="1" dirty="0">
                <a:solidFill>
                  <a:srgbClr val="5A6472"/>
                </a:solidFill>
                <a:latin typeface="Calibri" pitchFamily="34" charset="0"/>
                <a:cs typeface="Amiri" pitchFamily="2" charset="-78"/>
              </a:rPr>
              <a:t>al-fun-du-qu</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الفَنَادِقُ</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الشَّاطِئُ</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beach</a:t>
            </a:r>
            <a:endParaRPr lang="en-US" sz="1350" dirty="0"/>
          </a:p>
          <a:p>
            <a:pPr indent="0" marL="0">
              <a:buNone/>
            </a:pPr>
            <a:r>
              <a:rPr lang="en-US" sz="1100" i="1" dirty="0">
                <a:solidFill>
                  <a:srgbClr val="5A6472"/>
                </a:solidFill>
                <a:latin typeface="Calibri" pitchFamily="34" charset="0"/>
                <a:cs typeface="Amiri" pitchFamily="2" charset="-78"/>
              </a:rPr>
              <a:t>ash-shā-ṭi-ʾu</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المَعَالِمُ السِّيَاحِيَّةُ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tourist attractions</a:t>
            </a:r>
            <a:endParaRPr lang="en-US" sz="1350" dirty="0"/>
          </a:p>
          <a:p>
            <a:pPr indent="0" marL="0">
              <a:buNone/>
            </a:pPr>
            <a:r>
              <a:rPr lang="en-US" sz="1100" i="1" dirty="0">
                <a:solidFill>
                  <a:srgbClr val="5A6472"/>
                </a:solidFill>
                <a:latin typeface="Calibri" pitchFamily="34" charset="0"/>
                <a:cs typeface="Amiri" pitchFamily="2" charset="-78"/>
              </a:rPr>
              <a:t>al-ma-ʿā-li-mu as-si-yā-ḥiy-ya-tu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broken plural with a feminine adjective.</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0" name="Shape 47"/>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جَوَازُ السَّفَرِ</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passport</a:t>
            </a:r>
            <a:endParaRPr lang="en-US" sz="1350" dirty="0"/>
          </a:p>
          <a:p>
            <a:pPr indent="0" marL="0">
              <a:buNone/>
            </a:pPr>
            <a:r>
              <a:rPr lang="en-US" sz="1100" i="1" dirty="0">
                <a:solidFill>
                  <a:srgbClr val="5A6472"/>
                </a:solidFill>
                <a:latin typeface="Calibri" pitchFamily="34" charset="0"/>
                <a:cs typeface="Amiri" pitchFamily="2" charset="-78"/>
              </a:rPr>
              <a:t>ja-wā-zu as-sa-fa-ri</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and travel items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حَقِيبَةُ السَّفَرِ</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suitcase</a:t>
            </a:r>
            <a:endParaRPr lang="en-US" sz="1350" dirty="0"/>
          </a:p>
          <a:p>
            <a:pPr indent="0" marL="0">
              <a:buNone/>
            </a:pPr>
            <a:r>
              <a:rPr lang="en-US" sz="1100" i="1" dirty="0">
                <a:solidFill>
                  <a:srgbClr val="5A6472"/>
                </a:solidFill>
                <a:latin typeface="Calibri" pitchFamily="34" charset="0"/>
                <a:cs typeface="Amiri" pitchFamily="2" charset="-78"/>
              </a:rPr>
              <a:t>ḥa-qī-ba-tu as-sa-fa-ri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Text 2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تَذْكِرَةٌ</a:t>
            </a:r>
            <a:endParaRPr lang="ar-SA" sz="3000" dirty="0"/>
          </a:p>
        </p:txBody>
      </p:sp>
      <p:sp>
        <p:nvSpPr>
          <p:cNvPr id="26" name="Text 2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ticket</a:t>
            </a:r>
            <a:endParaRPr lang="en-US" sz="1350" dirty="0"/>
          </a:p>
          <a:p>
            <a:pPr indent="0" marL="0">
              <a:buNone/>
            </a:pPr>
            <a:r>
              <a:rPr lang="en-US" sz="1100" i="1" dirty="0">
                <a:solidFill>
                  <a:srgbClr val="5A6472"/>
                </a:solidFill>
                <a:latin typeface="Calibri" pitchFamily="34" charset="0"/>
                <a:cs typeface="Amiri" pitchFamily="2" charset="-78"/>
              </a:rPr>
              <a:t>tadh-ki-ra-tun</a:t>
            </a:r>
            <a:endParaRPr lang="en-US" sz="1350" dirty="0"/>
          </a:p>
        </p:txBody>
      </p:sp>
      <p:sp>
        <p:nvSpPr>
          <p:cNvPr id="27" name="Shape 24"/>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تَذَاكِرُ</a:t>
            </a:r>
            <a:endParaRPr lang="ar-SA" sz="15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3" name="Shape 30"/>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trip</a:t>
            </a:r>
            <a:endParaRPr lang="en-US" sz="1350" dirty="0"/>
          </a:p>
          <a:p>
            <a:pPr indent="0" marL="0">
              <a:buNone/>
            </a:pPr>
            <a:r>
              <a:rPr lang="en-US" sz="1100" i="1" dirty="0">
                <a:solidFill>
                  <a:srgbClr val="5A6472"/>
                </a:solidFill>
                <a:latin typeface="Calibri" pitchFamily="34" charset="0"/>
                <a:cs typeface="Amiri" pitchFamily="2" charset="-78"/>
              </a:rPr>
              <a:t>riḥ-la-tun</a:t>
            </a:r>
            <a:endParaRPr lang="en-US" sz="1350" dirty="0"/>
          </a:p>
        </p:txBody>
      </p:sp>
      <p:sp>
        <p:nvSpPr>
          <p:cNvPr id="39" name="Shape 3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رِحْلَاتٌ</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المَحَطَّةُ</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station</a:t>
            </a:r>
            <a:endParaRPr lang="en-US" sz="1350" dirty="0"/>
          </a:p>
          <a:p>
            <a:pPr indent="0" marL="0">
              <a:buNone/>
            </a:pPr>
            <a:r>
              <a:rPr lang="en-US" sz="1100" i="1" dirty="0">
                <a:solidFill>
                  <a:srgbClr val="5A6472"/>
                </a:solidFill>
                <a:latin typeface="Calibri" pitchFamily="34" charset="0"/>
                <a:cs typeface="Amiri" pitchFamily="2" charset="-78"/>
              </a:rPr>
              <a:t>al-ma-ḥaṭ-ṭa-tu</a:t>
            </a:r>
            <a:endParaRPr lang="en-US" sz="135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القِطَارُ</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train</a:t>
            </a:r>
            <a:endParaRPr lang="en-US" sz="1350" dirty="0"/>
          </a:p>
          <a:p>
            <a:pPr indent="0" marL="0">
              <a:buNone/>
            </a:pPr>
            <a:r>
              <a:rPr lang="en-US" sz="1100" i="1" dirty="0">
                <a:solidFill>
                  <a:srgbClr val="5A6472"/>
                </a:solidFill>
                <a:latin typeface="Calibri" pitchFamily="34" charset="0"/>
                <a:cs typeface="Amiri" pitchFamily="2" charset="-78"/>
              </a:rPr>
              <a:t>al-qi-ṭā-ru</a:t>
            </a:r>
            <a:endParaRPr lang="en-US"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Evaluating and looking ahead (1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 لَا تُنْسَى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unforgettable trip</a:t>
            </a:r>
            <a:endParaRPr lang="en-US" sz="1350" dirty="0"/>
          </a:p>
          <a:p>
            <a:pPr indent="0" marL="0">
              <a:buNone/>
            </a:pPr>
            <a:r>
              <a:rPr lang="en-US" sz="1100" i="1" dirty="0">
                <a:solidFill>
                  <a:srgbClr val="5A6472"/>
                </a:solidFill>
                <a:latin typeface="Calibri" pitchFamily="34" charset="0"/>
                <a:cs typeface="Amiri" pitchFamily="2" charset="-78"/>
              </a:rPr>
              <a:t>riḥ-la-tun lā tun-sā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passive present verb used as a description.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مِنْ أَجْمَلِ</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was one of the most beautiful</a:t>
            </a:r>
            <a:endParaRPr lang="en-US" sz="1350" dirty="0"/>
          </a:p>
          <a:p>
            <a:pPr indent="0" marL="0">
              <a:buNone/>
            </a:pPr>
            <a:r>
              <a:rPr lang="en-US" sz="1100" i="1" dirty="0">
                <a:solidFill>
                  <a:srgbClr val="5A6472"/>
                </a:solidFill>
                <a:latin typeface="Calibri" pitchFamily="34" charset="0"/>
                <a:cs typeface="Amiri" pitchFamily="2" charset="-78"/>
              </a:rPr>
              <a:t>kā-na min aj-ma-li</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مِنْ</a:t>
            </a:r>
            <a:pPr algn="l" indent="0" marL="0">
              <a:buNone/>
            </a:pPr>
            <a:r>
              <a:rPr lang="en-US" sz="1000" i="1" dirty="0">
                <a:solidFill>
                  <a:srgbClr val="8A6D1E"/>
                </a:solidFill>
                <a:latin typeface="Calibri" pitchFamily="34" charset="0"/>
                <a:cs typeface="Amiri" pitchFamily="2" charset="-78"/>
              </a:rPr>
              <a:t> plus a superlative in the genitive.</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المُسْتَقْبَلِ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سَأَزُورُ مَرَّةً أُخْرَى</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visit again</a:t>
            </a:r>
            <a:endParaRPr lang="en-US" sz="1350" dirty="0"/>
          </a:p>
          <a:p>
            <a:pPr indent="0" marL="0">
              <a:buNone/>
            </a:pPr>
            <a:r>
              <a:rPr lang="en-US" sz="1100" i="1" dirty="0">
                <a:solidFill>
                  <a:srgbClr val="5A6472"/>
                </a:solidFill>
                <a:latin typeface="Calibri" pitchFamily="34" charset="0"/>
                <a:cs typeface="Amiri" pitchFamily="2" charset="-78"/>
              </a:rPr>
              <a:t>sa-ʾa-zū-ru mar-ra-tan ukh-rā</a:t>
            </a:r>
            <a:endParaRPr lang="en-US" sz="1350" dirty="0"/>
          </a:p>
        </p:txBody>
      </p:sp>
      <p:sp>
        <p:nvSpPr>
          <p:cNvPr id="41" name="Text 3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سَـ</a:t>
            </a:r>
            <a:pPr algn="l" indent="0" marL="0">
              <a:buNone/>
            </a:pPr>
            <a:r>
              <a:rPr lang="en-US" sz="1000" i="1" dirty="0">
                <a:solidFill>
                  <a:srgbClr val="8A6D1E"/>
                </a:solidFill>
                <a:latin typeface="Calibri" pitchFamily="34" charset="0"/>
                <a:cs typeface="Amiri" pitchFamily="2" charset="-78"/>
              </a:rPr>
              <a:t> attaches to the present verb.</a:t>
            </a:r>
            <a:endParaRPr lang="en-US" sz="10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Evaluating and looking ahead (2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سَوْفَ</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 (emphatic future)</a:t>
            </a:r>
            <a:endParaRPr lang="en-US" sz="1350" dirty="0"/>
          </a:p>
          <a:p>
            <a:pPr indent="0" marL="0">
              <a:buNone/>
            </a:pPr>
            <a:r>
              <a:rPr lang="en-US" sz="1100" i="1" dirty="0">
                <a:solidFill>
                  <a:srgbClr val="5A6472"/>
                </a:solidFill>
                <a:latin typeface="Calibri" pitchFamily="34" charset="0"/>
                <a:cs typeface="Amiri" pitchFamily="2" charset="-78"/>
              </a:rPr>
              <a:t>saw-fa</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separate word before the verb.</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4" name="Text 2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أَتَمَنَّى أَنْ</a:t>
            </a:r>
            <a:endParaRPr lang="ar-SA" sz="3000" dirty="0"/>
          </a:p>
        </p:txBody>
      </p:sp>
      <p:sp>
        <p:nvSpPr>
          <p:cNvPr id="25" name="Text 2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hope to</a:t>
            </a:r>
            <a:endParaRPr lang="en-US" sz="1350" dirty="0"/>
          </a:p>
          <a:p>
            <a:pPr indent="0" marL="0">
              <a:buNone/>
            </a:pPr>
            <a:r>
              <a:rPr lang="en-US" sz="1100" i="1" dirty="0">
                <a:solidFill>
                  <a:srgbClr val="5A6472"/>
                </a:solidFill>
                <a:latin typeface="Calibri" pitchFamily="34" charset="0"/>
                <a:cs typeface="Amiri" pitchFamily="2" charset="-78"/>
              </a:rPr>
              <a:t>a-ta-man-nā an</a:t>
            </a:r>
            <a:endParaRPr lang="en-US" sz="1350" dirty="0"/>
          </a:p>
        </p:txBody>
      </p:sp>
      <p:sp>
        <p:nvSpPr>
          <p:cNvPr id="26" name="Text 23"/>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the subjunctive.</a:t>
            </a:r>
            <a:endParaRPr lang="en-US" sz="100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Shape 27"/>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Fixed with بِـ.</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أَنْصَحُ بِـ</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recommend</a:t>
            </a:r>
            <a:endParaRPr lang="en-US" sz="1350" dirty="0"/>
          </a:p>
          <a:p>
            <a:pPr indent="0" marL="0">
              <a:buNone/>
            </a:pPr>
            <a:r>
              <a:rPr lang="en-US" sz="1100" i="1" dirty="0">
                <a:solidFill>
                  <a:srgbClr val="5A6472"/>
                </a:solidFill>
                <a:latin typeface="Calibri" pitchFamily="34" charset="0"/>
                <a:cs typeface="Amiri" pitchFamily="2" charset="-78"/>
              </a:rPr>
              <a:t>an-ṣa-ḥu bi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تَجْرِبَةٌ رَائِعَةٌ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wonderful experience</a:t>
            </a:r>
            <a:endParaRPr lang="en-US" sz="1350" dirty="0"/>
          </a:p>
          <a:p>
            <a:pPr indent="0" marL="0">
              <a:buNone/>
            </a:pPr>
            <a:r>
              <a:rPr lang="en-US" sz="1100" i="1" dirty="0">
                <a:solidFill>
                  <a:srgbClr val="5A6472"/>
                </a:solidFill>
                <a:latin typeface="Calibri" pitchFamily="34" charset="0"/>
                <a:cs typeface="Amiri" pitchFamily="2" charset="-78"/>
              </a:rPr>
              <a:t>taj-ri-ba-tun rā-ʾi-ʿa-tun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cs typeface="Amiri" pitchFamily="2" charset="-78"/>
              </a:rPr>
              <a:t>GRAMMAR FOCUS · PART 1 · HOLLOW TRAVEL VERBS AND PREPOSITIONS (WEBSITE RULES 1–2)</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did you go, stay and visit?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سَافَرْتَ؟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91947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25420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 we</a:t>
            </a:r>
            <a:endParaRPr lang="en-US" sz="1100" dirty="0"/>
          </a:p>
        </p:txBody>
      </p:sp>
      <p:sp>
        <p:nvSpPr>
          <p:cNvPr id="18" name="Text 15"/>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937760" y="2286000"/>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سَافَرْنَا </a:t>
            </a:r>
            <a:pPr rtl="1" algn="ctr" indent="0" marL="0">
              <a:buNone/>
            </a:pPr>
            <a:r>
              <a:rPr lang="ar-SA" altLang="en-US" sz="1950" b="1" dirty="0">
                <a:solidFill>
                  <a:srgbClr val="0E7C86"/>
                </a:solidFill>
                <a:latin typeface="Amiri" pitchFamily="2" charset="-78"/>
                <a:ea typeface="Amiri" pitchFamily="2" charset="-78"/>
                <a:cs typeface="Amiri" pitchFamily="2" charset="-78"/>
              </a:rPr>
              <a:t>إِلَى</a:t>
            </a:r>
            <a:pPr rtl="1" algn="ctr" indent="0" marL="0">
              <a:buNone/>
            </a:pPr>
            <a:r>
              <a:rPr lang="ar-SA" altLang="en-US" sz="1950" b="1" dirty="0">
                <a:solidFill>
                  <a:srgbClr val="1B3B6F"/>
                </a:solidFill>
                <a:latin typeface="Amiri" pitchFamily="2" charset="-78"/>
                <a:ea typeface="Amiri" pitchFamily="2" charset="-78"/>
                <a:cs typeface="Amiri" pitchFamily="2" charset="-78"/>
              </a:rPr>
              <a:t> مَدِينَةٍ سَاحِلِيَّةٍ.</a:t>
            </a:r>
            <a:endParaRPr lang="ar-SA" sz="1950" dirty="0"/>
          </a:p>
        </p:txBody>
      </p:sp>
      <p:sp>
        <p:nvSpPr>
          <p:cNvPr id="21" name="Text 18"/>
          <p:cNvSpPr txBox="1"/>
          <p:nvPr/>
        </p:nvSpPr>
        <p:spPr>
          <a:xfrm>
            <a:off x="4892040" y="2676997"/>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travelled to a coastal city.</a:t>
            </a:r>
            <a:endParaRPr lang="en-US" sz="950" dirty="0"/>
          </a:p>
        </p:txBody>
      </p:sp>
      <p:sp>
        <p:nvSpPr>
          <p:cNvPr id="22" name="Text 19"/>
          <p:cNvSpPr txBox="1"/>
          <p:nvPr/>
        </p:nvSpPr>
        <p:spPr>
          <a:xfrm>
            <a:off x="256032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سَافَرْتُ · سَافَرْنَا</a:t>
            </a:r>
            <a:endParaRPr lang="ar-SA" sz="2400" dirty="0"/>
          </a:p>
        </p:txBody>
      </p:sp>
      <p:sp>
        <p:nvSpPr>
          <p:cNvPr id="23" name="Text 20"/>
          <p:cNvSpPr txBox="1"/>
          <p:nvPr/>
        </p:nvSpPr>
        <p:spPr>
          <a:xfrm>
            <a:off x="548640" y="2267712"/>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سَافَرَ إِلَى</a:t>
            </a:r>
            <a:endParaRPr lang="ar-SA" sz="24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4937760" y="3023006"/>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زُرْنَا المَعَالِمَ السِّيَاحِيَّةَ.</a:t>
            </a:r>
            <a:endParaRPr lang="ar-SA" sz="1950" dirty="0"/>
          </a:p>
        </p:txBody>
      </p:sp>
      <p:sp>
        <p:nvSpPr>
          <p:cNvPr id="28" name="Text 25"/>
          <p:cNvSpPr txBox="1"/>
          <p:nvPr/>
        </p:nvSpPr>
        <p:spPr>
          <a:xfrm>
            <a:off x="4892040" y="3414004"/>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visited the tourist sights.</a:t>
            </a:r>
            <a:endParaRPr lang="en-US" sz="950" dirty="0"/>
          </a:p>
        </p:txBody>
      </p:sp>
      <p:sp>
        <p:nvSpPr>
          <p:cNvPr id="29" name="Text 26"/>
          <p:cNvSpPr txBox="1"/>
          <p:nvPr/>
        </p:nvSpPr>
        <p:spPr>
          <a:xfrm>
            <a:off x="256032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زُرْتُ</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زُرْنَا</a:t>
            </a:r>
            <a:endParaRPr lang="ar-SA" sz="2400" dirty="0"/>
          </a:p>
        </p:txBody>
      </p:sp>
      <p:sp>
        <p:nvSpPr>
          <p:cNvPr id="30" name="Text 27"/>
          <p:cNvSpPr txBox="1"/>
          <p:nvPr/>
        </p:nvSpPr>
        <p:spPr>
          <a:xfrm>
            <a:off x="548640" y="3004718"/>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زَارَ</a:t>
            </a:r>
            <a:endParaRPr lang="ar-SA" sz="24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4937760" y="3760013"/>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أَقَمْنَا </a:t>
            </a:r>
            <a:pPr rtl="1" algn="ctr" indent="0" marL="0">
              <a:buNone/>
            </a:pPr>
            <a:r>
              <a:rPr lang="ar-SA" altLang="en-US" sz="1950" b="1" dirty="0">
                <a:solidFill>
                  <a:srgbClr val="0E7C86"/>
                </a:solidFill>
                <a:latin typeface="Amiri" pitchFamily="2" charset="-78"/>
                <a:ea typeface="Amiri" pitchFamily="2" charset="-78"/>
                <a:cs typeface="Amiri" pitchFamily="2" charset="-78"/>
              </a:rPr>
              <a:t>فِي</a:t>
            </a:r>
            <a:pPr rtl="1" algn="ctr" indent="0" marL="0">
              <a:buNone/>
            </a:pPr>
            <a:r>
              <a:rPr lang="ar-SA" altLang="en-US" sz="1950" b="1" dirty="0">
                <a:solidFill>
                  <a:srgbClr val="1B3B6F"/>
                </a:solidFill>
                <a:latin typeface="Amiri" pitchFamily="2" charset="-78"/>
                <a:ea typeface="Amiri" pitchFamily="2" charset="-78"/>
                <a:cs typeface="Amiri" pitchFamily="2" charset="-78"/>
              </a:rPr>
              <a:t> فُنْدُقٍ صَغِيرٍ.</a:t>
            </a:r>
            <a:endParaRPr lang="ar-SA" sz="1950" dirty="0"/>
          </a:p>
        </p:txBody>
      </p:sp>
      <p:sp>
        <p:nvSpPr>
          <p:cNvPr id="35" name="Text 32"/>
          <p:cNvSpPr txBox="1"/>
          <p:nvPr/>
        </p:nvSpPr>
        <p:spPr>
          <a:xfrm>
            <a:off x="4892040" y="4151010"/>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stayed in a small hotel.</a:t>
            </a:r>
            <a:endParaRPr lang="en-US" sz="950" dirty="0"/>
          </a:p>
        </p:txBody>
      </p:sp>
      <p:sp>
        <p:nvSpPr>
          <p:cNvPr id="36" name="Text 33"/>
          <p:cNvSpPr txBox="1"/>
          <p:nvPr/>
        </p:nvSpPr>
        <p:spPr>
          <a:xfrm>
            <a:off x="256032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أَقَمْتُ</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أَقَمْنَا</a:t>
            </a:r>
            <a:endParaRPr lang="ar-SA" sz="2400" dirty="0"/>
          </a:p>
        </p:txBody>
      </p:sp>
      <p:sp>
        <p:nvSpPr>
          <p:cNvPr id="37" name="Text 34"/>
          <p:cNvSpPr txBox="1"/>
          <p:nvPr/>
        </p:nvSpPr>
        <p:spPr>
          <a:xfrm>
            <a:off x="548640" y="3741725"/>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أَقَامَ فِي</a:t>
            </a:r>
            <a:endParaRPr lang="ar-SA" sz="24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4937760" y="4497019"/>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عُدْنَا إِلَى البَيْتِ مُتْعَبِينَ.</a:t>
            </a:r>
            <a:endParaRPr lang="ar-SA" sz="1950" dirty="0"/>
          </a:p>
        </p:txBody>
      </p:sp>
      <p:sp>
        <p:nvSpPr>
          <p:cNvPr id="42" name="Text 39"/>
          <p:cNvSpPr txBox="1"/>
          <p:nvPr/>
        </p:nvSpPr>
        <p:spPr>
          <a:xfrm>
            <a:off x="4892040" y="4888017"/>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returned home tired.</a:t>
            </a:r>
            <a:endParaRPr lang="en-US" sz="950" dirty="0"/>
          </a:p>
        </p:txBody>
      </p:sp>
      <p:sp>
        <p:nvSpPr>
          <p:cNvPr id="43" name="Text 40"/>
          <p:cNvSpPr txBox="1"/>
          <p:nvPr/>
        </p:nvSpPr>
        <p:spPr>
          <a:xfrm>
            <a:off x="256032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عُدْتُ</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عُدْنَا</a:t>
            </a:r>
            <a:endParaRPr lang="ar-SA" sz="2400" dirty="0"/>
          </a:p>
        </p:txBody>
      </p:sp>
      <p:sp>
        <p:nvSpPr>
          <p:cNvPr id="44" name="Text 41"/>
          <p:cNvSpPr txBox="1"/>
          <p:nvPr/>
        </p:nvSpPr>
        <p:spPr>
          <a:xfrm>
            <a:off x="548640" y="4478731"/>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عَادَ</a:t>
            </a:r>
            <a:endParaRPr lang="ar-SA" sz="24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4937760" y="5234026"/>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اسْتَمْتَعْتُ </a:t>
            </a:r>
            <a:pPr rtl="1" algn="ctr" indent="0" marL="0">
              <a:buNone/>
            </a:pPr>
            <a:r>
              <a:rPr lang="ar-SA" altLang="en-US" sz="1950" b="1" dirty="0">
                <a:solidFill>
                  <a:srgbClr val="0E7C86"/>
                </a:solidFill>
                <a:latin typeface="Amiri" pitchFamily="2" charset="-78"/>
                <a:ea typeface="Amiri" pitchFamily="2" charset="-78"/>
                <a:cs typeface="Amiri" pitchFamily="2" charset="-78"/>
              </a:rPr>
              <a:t>بِالرِّحْلَةِ</a:t>
            </a:r>
            <a:pPr rtl="1" algn="ctr" indent="0" marL="0">
              <a:buNone/>
            </a:pPr>
            <a:r>
              <a:rPr lang="ar-SA" altLang="en-US" sz="1950" b="1" dirty="0">
                <a:solidFill>
                  <a:srgbClr val="1B3B6F"/>
                </a:solidFill>
                <a:latin typeface="Amiri" pitchFamily="2" charset="-78"/>
                <a:ea typeface="Amiri" pitchFamily="2" charset="-78"/>
                <a:cs typeface="Amiri" pitchFamily="2" charset="-78"/>
              </a:rPr>
              <a:t> كَثِيرًا.</a:t>
            </a:r>
            <a:endParaRPr lang="ar-SA" sz="1950" dirty="0"/>
          </a:p>
        </p:txBody>
      </p:sp>
      <p:sp>
        <p:nvSpPr>
          <p:cNvPr id="47" name="Text 44"/>
          <p:cNvSpPr txBox="1"/>
          <p:nvPr/>
        </p:nvSpPr>
        <p:spPr>
          <a:xfrm>
            <a:off x="4892040" y="5625023"/>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really enjoyed the trip.</a:t>
            </a:r>
            <a:endParaRPr lang="en-US" sz="950" dirty="0"/>
          </a:p>
        </p:txBody>
      </p:sp>
      <p:sp>
        <p:nvSpPr>
          <p:cNvPr id="48" name="Text 45"/>
          <p:cNvSpPr txBox="1"/>
          <p:nvPr/>
        </p:nvSpPr>
        <p:spPr>
          <a:xfrm>
            <a:off x="256032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اسْتَمْتَعْتُ</a:t>
            </a:r>
            <a:endParaRPr lang="ar-SA" sz="2400" dirty="0"/>
          </a:p>
        </p:txBody>
      </p:sp>
      <p:sp>
        <p:nvSpPr>
          <p:cNvPr id="49" name="Text 46"/>
          <p:cNvSpPr txBox="1"/>
          <p:nvPr/>
        </p:nvSpPr>
        <p:spPr>
          <a:xfrm>
            <a:off x="548640" y="5215738"/>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اسْتَمْتَعَ بِـ</a:t>
            </a:r>
            <a:endParaRPr lang="ar-SA" sz="24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Hollow verbs: zāra → zur-tu, aqāma → aqam-tu, ʿāda → ʿud-nā (the long ā shortens, as with qāla → qul-nā).</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JUDGE IT, THEN LOOK AHEAD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was it — and what next?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التَّقْيِيمُ وَالمُسْتَقْبَلُ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6B4C9A"/>
          </a:solidFill>
          <a:ln w="12700">
            <a:solidFill>
              <a:srgbClr val="6B4C9A"/>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EVALUATE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كَانَتْ مِنْ أَجْمَلِ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كَانَتْ مِنْ أَجْمَلِ الرِّحْلَاتِ.</a:t>
            </a:r>
            <a:endParaRPr lang="ar-SA" sz="31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was one of the most beautiful trips.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min + superlative + plural.</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FUTURE · CORE</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سَأَزُورُ</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سَأَزُورُ المَدِينَةَ مَرَّةً أُخْرَى.</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will visit the city again.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 is attached.</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FUTURE · STRETCH</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سَوْفَ · أَتَمَنَّى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سَوْفَ نَحْجِزُ مُبَكِّرًا، وَأَتَمَنَّى أَنْ أَعُودَ.</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will book early, and I hope to return.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 +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sa- goes on a PRESENT verb only.</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سَأَزُورُ المَدِينَةَ غَدًا.</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سَزُرْتُ المَدِينَةَ غَدًا.</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narrative and future plans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سَرْدُ المَاضِي وَخُطَطُ المُسْتَقْبَلِ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Hollow verbs in the past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زَارَ → زُرْتُ · أَقَامَ → أَقَمْتُ · عَادَ → عُدْنَا</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زُرْتُ المَعَالِمَ السِّيَاحِيَّةَ   ·   أَقَمْنَا فِي فُنْدُقٍ صَغِيرٍ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Fixed prepositions on travel verbs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سَافَرَ إِلَى · أَقَامَ فِي · نَزَلَ فِي · اسْتَمْتَعَ بِـ</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سَافَرْنَا إِلَى مَدِينَةٍ سَاحِلِيَّةٍ   ·   اسْتَمْتَعْتُ بِالرِّحْلَةِ كَثِيرًا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Marking the future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سَـ</a:t>
            </a:r>
            <a:pPr algn="l" indent="0" marL="0">
              <a:buNone/>
            </a:pPr>
            <a:r>
              <a:rPr lang="en-US" sz="1050" dirty="0">
                <a:solidFill>
                  <a:srgbClr val="5A6472"/>
                </a:solidFill>
                <a:latin typeface="Calibri" pitchFamily="34" charset="0"/>
                <a:cs typeface="Amiri" pitchFamily="2" charset="-78"/>
              </a:rPr>
              <a:t> + present verb  /  </a:t>
            </a:r>
            <a:pPr algn="l" indent="0" marL="0">
              <a:buNone/>
            </a:pPr>
            <a:r>
              <a:rPr lang="ar-SA" altLang="en-US" sz="1350" dirty="0">
                <a:solidFill>
                  <a:srgbClr val="5A6472"/>
                </a:solidFill>
                <a:latin typeface="Amiri" pitchFamily="2" charset="-78"/>
                <a:ea typeface="Amiri" pitchFamily="2" charset="-78"/>
                <a:cs typeface="Amiri" pitchFamily="2" charset="-78"/>
              </a:rPr>
              <a:t>سَوْفَ</a:t>
            </a:r>
            <a:pPr algn="l" indent="0" marL="0">
              <a:buNone/>
            </a:pPr>
            <a:r>
              <a:rPr lang="en-US" sz="1050" dirty="0">
                <a:solidFill>
                  <a:srgbClr val="5A6472"/>
                </a:solidFill>
                <a:latin typeface="Calibri" pitchFamily="34" charset="0"/>
                <a:cs typeface="Amiri" pitchFamily="2" charset="-78"/>
              </a:rPr>
              <a:t> + present verb</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سَأَزُورُ المَدِينَةَ مَرَّةً أُخْرَى   ·   سَوْفَ نَحْجِزُ مُبَكِّرًا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Evaluating the trip</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كَانَ مِنْ أَجْمَلِ</a:t>
            </a:r>
            <a:pPr algn="l" indent="0" marL="0">
              <a:buNone/>
            </a:pPr>
            <a:r>
              <a:rPr lang="en-US" sz="1050" dirty="0">
                <a:solidFill>
                  <a:srgbClr val="5A6472"/>
                </a:solidFill>
                <a:latin typeface="Calibri" pitchFamily="34" charset="0"/>
                <a:cs typeface="Amiri" pitchFamily="2" charset="-78"/>
              </a:rPr>
              <a:t> + genitive plural</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كَانَتْ مِنْ أَجْمَلِ الرِّحْلَاتِ   ·   كَانَ مِنْ أَفْضَلِ الأَيَّامِ</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زَوَرْتُ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اسْتَمْتَعْتُ ___ الرِّحْلَةِ كَثِيرًا.</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 sentence.</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سَزُرْتُ هٰذِهِ المَدِينَةَ مَرَّةً أُخْرَى.</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سَأَزُورُ هٰذِهِ المَدِينَةَ مَرَّةً أُخْرَى.</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زُرْتُ هٰذِهِ المَدِينَةَ مَرَّةً أُخْرَى.</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keeps both tenses in place.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زُرْتُ المَتْحَفَ العَامَ المَاضِيَ، وَسَأَعُودُ إِلَيْهِ فِي المُسْتَقْبَلِ.</a:t>
            </a:r>
            <a:endParaRPr lang="ar-SA" sz="19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سَأَزُورُ المَتْحَفَ العَامَ المَاضِيَ، وَعُدْتُ إِلَيْهِ فِي المُسْتَقْبَلِ.</a:t>
            </a:r>
            <a:endParaRPr lang="ar-SA" sz="19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زُرْتُ المَتْحَفَ فِي المُسْتَقْبَلِ وَسَأَعُودُ العَامَ المَاضِيَ.</a:t>
            </a:r>
            <a:endParaRPr lang="ar-SA" sz="19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زَوَرْتُ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hollow stem shortens to </a:t>
            </a:r>
            <a:pPr algn="l" indent="0" marL="0">
              <a:buNone/>
            </a:pPr>
            <a:r>
              <a:rPr lang="ar-SA" altLang="en-US" sz="1350" dirty="0">
                <a:solidFill>
                  <a:srgbClr val="8A6D1E"/>
                </a:solidFill>
                <a:latin typeface="Amiri" pitchFamily="2" charset="-78"/>
                <a:ea typeface="Amiri" pitchFamily="2" charset="-78"/>
                <a:cs typeface="Amiri" pitchFamily="2" charset="-78"/>
              </a:rPr>
              <a:t>زُرْـ</a:t>
            </a:r>
            <a:pPr algn="l" indent="0" marL="0">
              <a:buNone/>
            </a:pPr>
            <a:r>
              <a:rPr lang="en-US" sz="1050" i="1" dirty="0">
                <a:solidFill>
                  <a:srgbClr val="8A6D1E"/>
                </a:solidFill>
                <a:latin typeface="Calibri" pitchFamily="34" charset="0"/>
                <a:cs typeface="Amiri" pitchFamily="2" charset="-78"/>
              </a:rPr>
              <a:t> before the suffix.</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اسْتَمْتَعْتُ ___ الرِّحْلَةِ كَثِيرًا.</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اسْتَمْتَعَ</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 sentence.</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سَزُرْتُ هٰذِهِ المَدِينَةَ مَرَّةً أُخْرَى.</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سَأَزُورُ هٰذِهِ المَدِينَةَ مَرَّةً أُخْرَى.</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زُرْتُ هٰذِهِ المَدِينَةَ مَرَّةً أُخْرَى.</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attaches to a present verb, and the object stays accusative.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keeps both tenses in place.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 المَتْحَفَ العَامَ المَاضِيَ، وَسَأَعُودُ إِلَيْهِ فِي المُسْتَقْبَلِ.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سَأَزُورُ المَتْحَفَ العَامَ المَاضِيَ، وَعُدْتُ إِلَيْهِ فِي المُسْتَقْبَلِ.</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 المَتْحَفَ فِي المُسْتَقْبَلِ وَسَأَعُودُ العَامَ المَاضِيَ.</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clause carries the past time phrase and the future clause carries the future one.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tell the story of a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Go</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سَافَرْنَا </a:t>
            </a:r>
            <a:pPr rtl="1" algn="ctr" indent="0" marL="0">
              <a:buNone/>
            </a:pPr>
            <a:r>
              <a:rPr lang="ar-SA" altLang="en-US" sz="2100" b="1" dirty="0">
                <a:solidFill>
                  <a:srgbClr val="0E7C86"/>
                </a:solidFill>
                <a:latin typeface="Amiri" pitchFamily="2" charset="-78"/>
                <a:ea typeface="Amiri" pitchFamily="2" charset="-78"/>
                <a:cs typeface="Amiri" pitchFamily="2" charset="-78"/>
              </a:rPr>
              <a:t>إِلَى</a:t>
            </a:r>
            <a:pPr rtl="1" algn="ctr" indent="0" marL="0">
              <a:buNone/>
            </a:pPr>
            <a:r>
              <a:rPr lang="ar-SA" altLang="en-US" sz="2100" b="1" dirty="0">
                <a:solidFill>
                  <a:srgbClr val="1B3B6F"/>
                </a:solidFill>
                <a:latin typeface="Amiri" pitchFamily="2" charset="-78"/>
                <a:ea typeface="Amiri" pitchFamily="2" charset="-78"/>
                <a:cs typeface="Amiri" pitchFamily="2" charset="-78"/>
              </a:rPr>
              <a:t> مَدِينَةٍ سَاحِلِيَّةٍ</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safara + ilā.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أَقَمْنَا</a:t>
            </a:r>
            <a:pPr rtl="1" algn="ctr" indent="0" marL="0">
              <a:buNone/>
            </a:pPr>
            <a:r>
              <a:rPr lang="ar-SA" altLang="en-US" sz="2800" b="1" dirty="0">
                <a:solidFill>
                  <a:srgbClr val="1B3B6F"/>
                </a:solidFill>
                <a:latin typeface="Amiri" pitchFamily="2" charset="-78"/>
                <a:ea typeface="Amiri" pitchFamily="2" charset="-78"/>
                <a:cs typeface="Amiri" pitchFamily="2" charset="-78"/>
              </a:rPr>
              <a:t> فِي فُنْدُقٍ</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Hollow: aqam-nā.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Judge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كَانَتْ </a:t>
            </a:r>
            <a:pPr rtl="1" algn="ctr" indent="0" marL="0">
              <a:buNone/>
            </a:pPr>
            <a:r>
              <a:rPr lang="ar-SA" altLang="en-US" sz="2400" b="1" dirty="0">
                <a:solidFill>
                  <a:srgbClr val="1D5FBF"/>
                </a:solidFill>
                <a:latin typeface="Amiri" pitchFamily="2" charset="-78"/>
                <a:ea typeface="Amiri" pitchFamily="2" charset="-78"/>
                <a:cs typeface="Amiri" pitchFamily="2" charset="-78"/>
              </a:rPr>
              <a:t>مِنْ أَجْمَلِ</a:t>
            </a:r>
            <a:pPr rtl="1" algn="ctr" indent="0" marL="0">
              <a:buNone/>
            </a:pPr>
            <a:r>
              <a:rPr lang="ar-SA" altLang="en-US" sz="2400" b="1" dirty="0">
                <a:solidFill>
                  <a:srgbClr val="1B3B6F"/>
                </a:solidFill>
                <a:latin typeface="Amiri" pitchFamily="2" charset="-78"/>
                <a:ea typeface="Amiri" pitchFamily="2" charset="-78"/>
                <a:cs typeface="Amiri" pitchFamily="2" charset="-78"/>
              </a:rPr>
              <a:t> الرِّحْلَاتِ</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of the best.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Next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سَأَزُورُ</a:t>
            </a:r>
            <a:pPr rtl="1" algn="ctr" indent="0" marL="0">
              <a:buNone/>
            </a:pPr>
            <a:r>
              <a:rPr lang="ar-SA" altLang="en-US" sz="2800" b="1" dirty="0">
                <a:solidFill>
                  <a:srgbClr val="1B3B6F"/>
                </a:solidFill>
                <a:latin typeface="Amiri" pitchFamily="2" charset="-78"/>
                <a:ea typeface="Amiri" pitchFamily="2" charset="-78"/>
                <a:cs typeface="Amiri" pitchFamily="2" charset="-78"/>
              </a:rPr>
              <a:t> تِلْكَ المَدِينَةَ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Switch to future.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PREPOSITION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 FORM</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EVALUATION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فِي الصَّيْفِ المَاضِي سَافَرْنَا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مَدِينَةٍ سَاحِلِيَّةٍ. حَجَزْنَا التَّذَاكِرَ قَبْلَ شَهْرٍ، ثُمَّ رَكِبْنَا القِطَارَ.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أَقَمْنَا</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فُنْدُقٍ صَغِيرٍ، وَ</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زُرْنَا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المَعَالِمَ السِّيَاحِيَّةَ. كَانَتْ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مِنْ أَجْمَلِ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الرِّحْلَاتِ. فِي المُسْتَقْبَلِ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سَأَزُورُ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تِلْكَ المَدِينَةَ مَرَّةً أُخْرَى.</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Last summer we travelled to a coastal city. We booked the tickets a month before, then took the train. We stayed in a small hotel and visited the tourist sights. It was one of the most beautiful trips. In the future I will visit that city again.</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زُرْتُ المَعَالِمَ السِّيَاحِيَّةَ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visited the tourist sights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زَارَ shortens to زُرْـ and takes a direct object.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أَقَمْنَا فِي فُنْدُقٍ صَغِيرٍ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stayed in a small hotel</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أَقَامَ shortens to أَقَمْـ and is fixed with فِي.</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سَأَزُورُ مَرَّةً أُخْرَى</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visit again</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سَـ attaches directly to the present verb.</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HOLIDAYS AND TRAVEL — PAST AND FUTURE”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did I go?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العُطْلَةِ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beach and sun</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plane and suitcase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hotel and bed</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سَافَرْتُ بِالطَّائِرَةِ.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أَقَمْتُ فِي فُنْدُقٍ.</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قَضَيْتُ العُطْلَةَ عَلَى الشَّاطِئِ.</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العُطْلَةِ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beach and sun</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قَضَيْتُ العُطْلَةَ عَلَى الشَّاطِئِ.</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spent the holiday on the beach.</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plane and suitcase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سَافَرْتُ بِالطَّائِرَةِ.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travelled by plane.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hotel and bed</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أَقَمْتُ فِي فُنْدُقٍ.</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stayed in a hotel.</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حَجَزْنَا التَّذَاكِرَ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أَقَمْنَا فِي فُنْدُقٍ</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المَعَالِمَ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سَأَزُورُ مَرَّةً أُخْرَى</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نَحْجِزُ مُبَكِّرًا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أَتَمَنَّى أَنْ أَعُودَ</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مِنْ أَجْمَلِ الرِّحْلَاتِ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رِحْلَةٌ لَا تُنْسَى</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أَنْصَحُ بِزِيَارَتِهَا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narrative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Future plan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Evaluation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narrative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حَجَزْنَا التَّذَاكِرَ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أَقَمْنَا فِي فُنْدُقٍ</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المَعَالِمَ</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Future plan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سَأَزُورُ مَرَّةً أُخْرَى</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نَحْجِزُ مُبَكِّرًا</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أَتَمَنَّى أَنْ أَعُودَ</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Evaluation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مِنْ أَجْمَلِ الرِّحْلَاتِ</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رِحْلَةٌ لَا تُنْسَى</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أَنْصَحُ بِزِيَارَتِهَا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4,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أَقَامَ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أَقَامْنَا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أَقْوَمْنَا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أَقَمْنَا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booking sentence.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حَجَزْنَا عَلَى التَّذَاكِرِ قَبْلَ شَهْرٍ.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حَجَزْنَا التَّذَاكِرَ قَبْلَ شَهْرٍ.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حَجَزْنَا التَّذَاكِرَ قَبْلَ شَهْرًا.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evaluation.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أَجْمَلَ مِنَ الرِّحْلَاتِ.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مِنْ أَجْمَلِ الرِّحْلَاتِ.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مِنْ جَمِيلِ الرِّحْلَاتِ.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أَتَمَنَّى ___ أَزُورَ الأُرْدُنَّ.</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أَقَامَ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أَقَامْنَا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أَقْوَمْنَا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أَقَمْنَا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أَقَامَ</a:t>
            </a:r>
            <a:pPr algn="l" indent="0" marL="0">
              <a:buNone/>
            </a:pPr>
            <a:r>
              <a:rPr lang="en-US" sz="1050" i="1" dirty="0">
                <a:solidFill>
                  <a:srgbClr val="8A6D1E"/>
                </a:solidFill>
                <a:latin typeface="Calibri" pitchFamily="34" charset="0"/>
                <a:cs typeface="Amiri" pitchFamily="2" charset="-78"/>
              </a:rPr>
              <a:t> is hollow, so the stem becomes </a:t>
            </a:r>
            <a:pPr algn="l" indent="0" marL="0">
              <a:buNone/>
            </a:pPr>
            <a:r>
              <a:rPr lang="ar-SA" altLang="en-US" sz="1350" dirty="0">
                <a:solidFill>
                  <a:srgbClr val="8A6D1E"/>
                </a:solidFill>
                <a:latin typeface="Amiri" pitchFamily="2" charset="-78"/>
                <a:ea typeface="Amiri" pitchFamily="2" charset="-78"/>
                <a:cs typeface="Amiri" pitchFamily="2" charset="-78"/>
              </a:rPr>
              <a:t>أَقَمْـ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booking sentence.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حَجَزْنَا عَلَى التَّذَاكِرِ قَبْلَ شَهْرٍ.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حَجَزْنَا التَّذَاكِرَ قَبْلَ شَهْرٍ.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حَجَزْنَا التَّذَاكِرَ قَبْلَ شَهْرًا.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object is accusative and </a:t>
            </a:r>
            <a:pPr algn="l" indent="0" marL="0">
              <a:buNone/>
            </a:pPr>
            <a:r>
              <a:rPr lang="ar-SA" altLang="en-US" sz="1350" dirty="0">
                <a:solidFill>
                  <a:srgbClr val="8A6D1E"/>
                </a:solidFill>
                <a:latin typeface="Amiri" pitchFamily="2" charset="-78"/>
                <a:ea typeface="Amiri" pitchFamily="2" charset="-78"/>
                <a:cs typeface="Amiri" pitchFamily="2" charset="-78"/>
              </a:rPr>
              <a:t>قَبْلَ</a:t>
            </a:r>
            <a:pPr algn="l" indent="0" marL="0">
              <a:buNone/>
            </a:pPr>
            <a:r>
              <a:rPr lang="en-US" sz="1050" i="1" dirty="0">
                <a:solidFill>
                  <a:srgbClr val="8A6D1E"/>
                </a:solidFill>
                <a:latin typeface="Calibri" pitchFamily="34" charset="0"/>
                <a:cs typeface="Amiri" pitchFamily="2" charset="-78"/>
              </a:rPr>
              <a:t> takes the genitive.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evaluation.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 أَجْمَلَ مِنَ الرِّحْلَاتِ.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مِنْ أَجْمَلِ الرِّحْلَاتِ.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 مِنْ جَمِيلِ الرِّحْلَاتِ.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takes the genitive, and the noun after the superlative is genitive too.</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أَتَمَنَّى ___ أَزُورَ الأُرْدُنَّ.</a:t>
            </a:r>
            <a:endParaRPr lang="ar-SA" sz="150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أَتَمَنَّى</a:t>
            </a:r>
            <a:pPr algn="l" indent="0" marL="0">
              <a:buNone/>
            </a:pPr>
            <a:r>
              <a:rPr lang="en-US" sz="1050" i="1" dirty="0">
                <a:solidFill>
                  <a:srgbClr val="8A6D1E"/>
                </a:solidFill>
                <a:latin typeface="Calibri" pitchFamily="34" charset="0"/>
                <a:cs typeface="Amiri" pitchFamily="2" charset="-78"/>
              </a:rPr>
              <a:t> is followed by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with a subjunctive verb.</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زَارْتُ المَدِينَةَ.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zāra + -tu: shorten!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اسْتَمْتَعْتُ الرِّحْلَةَ.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istamtaʿa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سَزُرْتُ المَدِينَةَ غَدًا.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 + past or present?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زَارْتُ المَدِينَةَ.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زُرْتُ المَدِينَةَ.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hollow verb shortens its middle vowel before a consonant suffix.</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اسْتَمْتَعْتُ الرِّحْلَةَ.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اسْتَمْتَعْتُ بِالرِّحْلَةِ.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اسْتَمْتَعَ</a:t>
            </a:r>
            <a:pPr algn="l" indent="0" marL="0">
              <a:buNone/>
            </a:pPr>
            <a:r>
              <a:rPr lang="en-US" sz="1150" b="1" dirty="0">
                <a:solidFill>
                  <a:srgbClr val="1B3B6F"/>
                </a:solidFill>
                <a:latin typeface="Calibri" pitchFamily="34" charset="0"/>
                <a:cs typeface="Amiri" pitchFamily="2" charset="-78"/>
              </a:rPr>
              <a:t> needs the preposition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سَزُرْتُ المَدِينَةَ غَدًا.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سَأَزُورُ المَدِينَةَ غَدًا.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 attaches to a present verb, never to a past one.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last summer's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they book the tickets?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month before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day before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arrival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they stay?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relatives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city-centre flat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hotel near the beach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discover?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museum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stadium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beautiful old market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went wrong?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suitcase was left at the station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missed the train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hotel was full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plan?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to return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visit again and book early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 by plane instead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Past first … then “fī al-mustaqbal”.</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الصَّيْفِ المَاضِي سَافَرْنَا إِلَى مَدِينَةٍ سَاحِلِيَّةٍ. حَجَزْنَا التَّذَاكِرَ قَبْلَ شَهْرٍ، ثُمَّ رَكِبْنَا القِطَارَ مِنَ المَحَطَّةِ.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summer we travelled to a coastal city. We booked the tickets a month before, then took the train from the station.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أَقَمْنَا فِي فُنْدُقٍ صَغِيرٍ قَرِيبٍ مِنَ الشَّاطِئِ. فِي اليَوْمِ الأَوَّلِ زُرْنَا المَعَالِمَ السِّيَاحِيَّةَ وَاكْتَشَفْنَا سُوقًا قَدِيمًا جَمِيلًا.</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stayed in a small hotel near the beach. On the first day we visited the sights and discovered a beautiful old market.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اسْتَمْتَعْتُ بِالرِّحْلَةِ كَثِيرًا، وَكَانَتْ مِنْ أَجْمَلِ الرِّحْلَاتِ.</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really enjoyed the trip, and it was one of the most beautiful trips.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لِلْأَسَفِ نَسِيتُ حَقِيبَةَ السَّفَرِ فِي المَحَطَّةِ، وَلٰكِنْ لِحُسْنِ الحَظِّ وَجَدْنَاهَا.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Unfortunately I forgot my suitcase at the station, but luckily we found it.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المُسْتَقْبَلِ سَأَزُورُ تِلْكَ المَدِينَةَ مَرَّةً أُخْرَى، وَسَوْفَ نَحْجِزُ مُبَكِّرًا.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future I will visit that city again, and we will book early.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they book the tickets?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month before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day before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arrival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حَجَزْنَا التَّذَاكِرَ قَبْلَ شَهْرٍ.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they stay?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relatives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city-centre flat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small hotel near the beach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أَقَمْنَا فِي فُنْدُقٍ صَغِيرٍ قَرِيبٍ مِنَ الشَّاطِئِ.</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discover?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museum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stadium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beautiful old market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اكْتَشَفْنَا سُوقًا قَدِيمًا جَمِيلًا.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went wrong?</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suitcase was left at the station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missed the train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hotel was full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نَسِيتُ حَقِيبَةَ السَّفَرِ فِي المَحَطَّةِ.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plan?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to return</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visit again and book early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 by plane instead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سَأَزُورُ تِلْكَ المَدِينَةَ مَرَّةً أُخْرَى، وَسَوْفَ نَحْجِزُ مُبَكِّرًا.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Past first … then “fī al-mustaqbal”.</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 holiday, then a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سَافَرْتَ فِي الإِجَازَةِ المَاضِيَةِ؟ وَأَيْنَ أَقَمْتَ؟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زُرْتَ هُنَاكَ؟ وَبِمَاذَا اسْتَمْتَعْتَ؟</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سَتُسَافِرُ فِي المُسْتَقْبَلِ؟ وَلِمَاذَا؟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سَافَرْتُ إِلَى ___ ، وَأَقَمْتُ فِي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زُرْتُ ___ ، وَاسْتَمْتَعْتُ بِـ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فِي المُسْتَقْبَلِ سَأُسَافِرُ إِلَى ___ لِأَنَّ ___ .</a:t>
            </a:r>
            <a:endParaRPr lang="ar-SA" sz="14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أَيْنَ سَافَرْتَ فِي الإِجَازَةِ المَاضِيَةِ؟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did you travel last holiday?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سَافَرْتُ إِلَى مَدِينَةٍ سَاحِلِيَّةٍ، وَأَقَمْتُ فِي فُنْدُقٍ صَغِيرٍ.</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travelled to a coastal city and stayed in a small hotel.</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past sentences about a trip using the travel verbs and their prepositions.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Six past sentences about a trip, each travel verb with its preposition.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70–90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an evaluation and a future sentence with </a:t>
            </a:r>
            <a:pPr algn="l" indent="0" marL="0">
              <a:buNone/>
            </a:pPr>
            <a:r>
              <a:rPr lang="ar-SA" altLang="en-US" sz="1800" b="1" dirty="0">
                <a:solidFill>
                  <a:srgbClr val="1F2A37"/>
                </a:solidFill>
                <a:latin typeface="Amiri" pitchFamily="2" charset="-78"/>
                <a:ea typeface="Amiri" pitchFamily="2" charset="-78"/>
                <a:cs typeface="Amiri" pitchFamily="2" charset="-78"/>
              </a:rPr>
              <a:t>سَـ</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Add an evaluation and one future sentence with سَـ.</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Include a past habit with </a:t>
            </a:r>
            <a:pPr algn="l" indent="0" marL="0">
              <a:buNone/>
            </a:pPr>
            <a:r>
              <a:rPr lang="ar-SA" altLang="en-US" sz="1800" b="1" dirty="0">
                <a:solidFill>
                  <a:srgbClr val="1F2A37"/>
                </a:solidFill>
                <a:latin typeface="Amiri" pitchFamily="2" charset="-78"/>
                <a:ea typeface="Amiri" pitchFamily="2" charset="-78"/>
                <a:cs typeface="Amiri" pitchFamily="2" charset="-78"/>
              </a:rPr>
              <a:t>كَانَ</a:t>
            </a:r>
            <a:pPr algn="l" indent="0" marL="0">
              <a:buNone/>
            </a:pPr>
            <a:r>
              <a:rPr lang="en-US" sz="1400" b="1" dirty="0">
                <a:solidFill>
                  <a:srgbClr val="1F2A37"/>
                </a:solidFill>
                <a:latin typeface="Calibri" pitchFamily="34" charset="0"/>
                <a:cs typeface="Amiri" pitchFamily="2" charset="-78"/>
              </a:rPr>
              <a:t> plus a present verb and keep every hollow stem accurate.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booked · stayed · visited · enjoyed · evaluation · future plan, with a past habit.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اسْتَمْتَعْتُ بِـ ______ كَثِيرًا.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really enjoyed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مِنْ أَجْمَلِ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was one of the most beautiful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أَتَمَنَّى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hope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المَاضِي سَافَرْتُ إِلَى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summer I travelled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حَجَزْنَا ______ قَبْلَ شَهْرٍ.</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booked … a month before.</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أَقَمْنَا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stayed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زُرْتُ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visited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سَافَرْتُ إِلَى  ·  زُرْتُ  ·  أَقَمْتُ فِي  ·  حَجَزْنَا  ·  رَكِبْنَا  ·  اسْتَمْتَعْتُ بِـ  ·  عُدْنَا  ·  كَانَتْ مِنْ أَجْمَلِ  ·  رِحْلَةٌ لَا تُنْسَى  ·  سَأَزُورُ  ·  سَوْفَ  ·  أَتَمَنَّى أَنْ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ninety to one hundred words about a holiday. Narrate what you booked, where you stayed, what you visited and what you enjoyed, then close with a future plan using </a:t>
            </a:r>
            <a:pPr algn="l" indent="0" marL="0">
              <a:buNone/>
            </a:pPr>
            <a:r>
              <a:rPr lang="ar-SA" altLang="en-US" sz="1750" b="1" dirty="0">
                <a:solidFill>
                  <a:srgbClr val="1F2A37"/>
                </a:solidFill>
                <a:latin typeface="Amiri" pitchFamily="2" charset="-78"/>
                <a:ea typeface="Amiri" pitchFamily="2" charset="-78"/>
                <a:cs typeface="Amiri" pitchFamily="2" charset="-78"/>
              </a:rPr>
              <a:t>سَـ</a:t>
            </a:r>
            <a:pPr algn="l" indent="0" marL="0">
              <a:buNone/>
            </a:pPr>
            <a:r>
              <a:rPr lang="en-US" sz="1350" b="1" dirty="0">
                <a:solidFill>
                  <a:srgbClr val="1F2A37"/>
                </a:solidFill>
                <a:latin typeface="Calibri" pitchFamily="34" charset="0"/>
                <a:cs typeface="Amiri" pitchFamily="2" charset="-78"/>
              </a:rPr>
              <a:t> or </a:t>
            </a:r>
            <a:pPr algn="l" indent="0" marL="0">
              <a:buNone/>
            </a:pPr>
            <a:r>
              <a:rPr lang="ar-SA" altLang="en-US" sz="1750" b="1" dirty="0">
                <a:solidFill>
                  <a:srgbClr val="1F2A37"/>
                </a:solidFill>
                <a:latin typeface="Amiri" pitchFamily="2" charset="-78"/>
                <a:ea typeface="Amiri" pitchFamily="2" charset="-78"/>
                <a:cs typeface="Amiri" pitchFamily="2" charset="-78"/>
              </a:rPr>
              <a:t>سَوْفَ</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hollow travel verbs with correctly shortened stems.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Each travel verb with its own preposition: </a:t>
            </a:r>
            <a:pPr algn="l" indent="0" marL="0">
              <a:buNone/>
            </a:pPr>
            <a:r>
              <a:rPr lang="ar-SA" altLang="en-US" sz="1550" dirty="0">
                <a:solidFill>
                  <a:srgbClr val="1F2A37"/>
                </a:solidFill>
                <a:latin typeface="Amiri" pitchFamily="2" charset="-78"/>
                <a:ea typeface="Amiri" pitchFamily="2" charset="-78"/>
                <a:cs typeface="Amiri" pitchFamily="2" charset="-78"/>
              </a:rPr>
              <a:t>إِلَى، فِي،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evaluation using </a:t>
            </a:r>
            <a:pPr algn="l" indent="0" marL="0">
              <a:buNone/>
            </a:pPr>
            <a:r>
              <a:rPr lang="ar-SA" altLang="en-US" sz="1550" dirty="0">
                <a:solidFill>
                  <a:srgbClr val="1F2A37"/>
                </a:solidFill>
                <a:latin typeface="Amiri" pitchFamily="2" charset="-78"/>
                <a:ea typeface="Amiri" pitchFamily="2" charset="-78"/>
                <a:cs typeface="Amiri" pitchFamily="2" charset="-78"/>
              </a:rPr>
              <a:t>كَانَ مِنْ أَجْمَلِ</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رِحْلَةٌ لَا تُنْسَى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clean switch to the future with </a:t>
            </a:r>
            <a:pPr algn="l" indent="0" marL="0">
              <a:buNone/>
            </a:pPr>
            <a:r>
              <a:rPr lang="ar-SA" altLang="en-US" sz="1550" dirty="0">
                <a:solidFill>
                  <a:srgbClr val="1F2A37"/>
                </a:solidFill>
                <a:latin typeface="Amiri" pitchFamily="2" charset="-78"/>
                <a:ea typeface="Amiri" pitchFamily="2" charset="-78"/>
                <a:cs typeface="Amiri" pitchFamily="2" charset="-78"/>
              </a:rPr>
              <a:t>سَـ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سَوْفَ</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كُلِّ صَبَاحٍ كُنَّا نَمْشِي عَلَى الشَّاطِئِ</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every morning we used to walk on the beach</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اكْتَشَفْنَا سُوقًا قَدِيمًا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discovered an old market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 بِزِيَارَتِهَا فِي الرَّبِيعِ</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recommend visiting it in spring</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سَوْفَ أُقِيمُ هُنَاكَ أُسْبُوعَيْنِ</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stay there for two weeks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رِحْلَةً لَا تُنْسَى</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an unforgettable trip</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الصَّيْفِ المَاضِي سَافَرْتُ مَعَ أُسْرَتِي إِلَى مَدِينَةٍ سَاحِلِيَّةٍ جَمِيلَةٍ. حَجَزْنَا التَّذَاكِرَ وَالفُنْدُقَ قَبْلَ شَهْرٍ، ثُمَّ رَكِبْنَا القِطَارَ مِنَ المَحَطَّةِ. أَقَمْنَا فِي فُنْدُقٍ بَسِيطٍ قَرِيبٍ مِنَ الشَّاطِئِ. فِي كُلِّ صَبَاحٍ كُنَّا نَمْشِي عَلَى الشَّاطِئِ، وَفِي المَسَاءِ زُرْنَا المَعَالِمَ السِّيَاحِيَّةَ وَاكْتَشَفْنَا سُوقًا قَدِيمًا. اسْتَمْتَعْتُ بِالرِّحْلَةِ كَثِيرًا، وَكَانَتْ مِنْ أَجْمَلِ الرِّحْلَاتِ. لِلْأَسَفِ نَسِيتُ حَقِيبَتِي فِي القِطَارِ، وَلٰكِنْ لِحُسْنِ الحَظِّ وَجَدْتُهَا. فِي المُسْتَقْبَلِ سَأَعُودُ إِلَى تِلْكَ المَدِينَةِ، وَسَوْفَ أُقِيمُ هُنَاكَ أُسْبُوعَيْنِ.</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summer I travelled with my family to a beautiful coastal city. We booked the tickets and the hotel a month before, then took the train from the station. We stayed in a simple hotel near the beach. Every morning we used to walk on the beach, and in the evening we visited the sights and discovered an old market. I really enjoyed the trip, and it was one of the most beautiful trips. Unfortunately I forgot my bag on the train, but luckily I found it. In the future I will return to that city, and I will stay there for two weeks.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two hollow verbs (أَقَمْنَا · زُرْنَا)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verb + preposition pairs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evaluation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future switch (سَـ / سَوْفَ)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travel verb has its preposition (</a:t>
            </a:r>
            <a:pPr algn="l" indent="0" marL="0">
              <a:buNone/>
            </a:pPr>
            <a:r>
              <a:rPr lang="ar-SA" altLang="en-US" sz="1700" dirty="0">
                <a:solidFill>
                  <a:srgbClr val="1F2A37"/>
                </a:solidFill>
                <a:latin typeface="Amiri" pitchFamily="2" charset="-78"/>
                <a:ea typeface="Amiri" pitchFamily="2" charset="-78"/>
                <a:cs typeface="Amiri" pitchFamily="2" charset="-78"/>
              </a:rPr>
              <a:t>إِلَى</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بِـ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past verbs have the right ending.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hollow verbs are shortened (</a:t>
            </a:r>
            <a:pPr algn="l" indent="0" marL="0">
              <a:buNone/>
            </a:pPr>
            <a:r>
              <a:rPr lang="ar-SA" altLang="en-US" sz="1700" dirty="0">
                <a:solidFill>
                  <a:srgbClr val="1F2A37"/>
                </a:solidFill>
                <a:latin typeface="Amiri" pitchFamily="2" charset="-78"/>
                <a:ea typeface="Amiri" pitchFamily="2" charset="-78"/>
                <a:cs typeface="Amiri" pitchFamily="2" charset="-78"/>
              </a:rPr>
              <a:t>زُرْتُ</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أَقَمْتُ</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an evaluation.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switched cleanly to the future with </a:t>
            </a:r>
            <a:pPr algn="l" indent="0" marL="0">
              <a:buNone/>
            </a:pPr>
            <a:r>
              <a:rPr lang="ar-SA" altLang="en-US" sz="1700" dirty="0">
                <a:solidFill>
                  <a:srgbClr val="1F2A37"/>
                </a:solidFill>
                <a:latin typeface="Amiri" pitchFamily="2" charset="-78"/>
                <a:ea typeface="Amiri" pitchFamily="2" charset="-78"/>
                <a:cs typeface="Amiri" pitchFamily="2" charset="-78"/>
              </a:rPr>
              <a:t>سَـ / سَوْفَ</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أَقَمْنَا فِي فُنْدُقٍ قَرِيبٍ.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أَقَامْنَا فِي فُنْدُقٍ قَرِيبٍ.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أَقَمْنَا فِي فُنْدُقٌ قَرِيبٌ.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اسْتَمْتَعْنَا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الجَوِّ الهَادِئِ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نَحْجِزُ مُبَكِّرًا.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حَجَزْنَا مُبَكِّرًا.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سَنَحْجِزْنَا مُبَكِّرًا.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أَقَمْنَا فِي فُنْدُقٍ قَرِيبٍ.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أَقَامْنَا فِي فُنْدُقٍ قَرِيبٍ.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أَقَمْنَا فِي فُنْدُقٌ قَرِيبٌ.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أَقَامَ</a:t>
            </a:r>
            <a:pPr algn="l" indent="0" marL="0">
              <a:buNone/>
            </a:pPr>
            <a:r>
              <a:rPr lang="en-US" sz="1050" i="1" dirty="0">
                <a:solidFill>
                  <a:srgbClr val="8A6D1E"/>
                </a:solidFill>
                <a:latin typeface="Calibri" pitchFamily="34" charset="0"/>
                <a:cs typeface="Amiri" pitchFamily="2" charset="-78"/>
              </a:rPr>
              <a:t> shortens to </a:t>
            </a:r>
            <a:pPr algn="l" indent="0" marL="0">
              <a:buNone/>
            </a:pPr>
            <a:r>
              <a:rPr lang="ar-SA" altLang="en-US" sz="1350" dirty="0">
                <a:solidFill>
                  <a:srgbClr val="8A6D1E"/>
                </a:solidFill>
                <a:latin typeface="Amiri" pitchFamily="2" charset="-78"/>
                <a:ea typeface="Amiri" pitchFamily="2" charset="-78"/>
                <a:cs typeface="Amiri" pitchFamily="2" charset="-78"/>
              </a:rPr>
              <a:t>أَقَمْـ</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takes the genitive.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اسْتَمْتَعْنَا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الجَوِّ الهَادِئِ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اسْتَمْتَعَ</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سَوْفَ نَحْجِزُ مُبَكِّرًا.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سَوْفَ حَجَزْنَا مُبَكِّرًا.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سَنَحْجِزْنَا مُبَكِّرًا.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سَوْفَ</a:t>
            </a:r>
            <a:pPr algn="l" indent="0" marL="0">
              <a:buNone/>
            </a:pPr>
            <a:r>
              <a:rPr lang="en-US" sz="1050" i="1" dirty="0">
                <a:solidFill>
                  <a:srgbClr val="8A6D1E"/>
                </a:solidFill>
                <a:latin typeface="Calibri" pitchFamily="34" charset="0"/>
                <a:cs typeface="Amiri" pitchFamily="2" charset="-78"/>
              </a:rPr>
              <a:t> precedes a present-tense verb.</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short travel review</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زُرْتُ هٰذِهِ المَدِينَةَ فِي الرَّبِيعِ المَاضِي مَعَ صَدِيقَيْنِ. حَجَزْنَا الفُنْدُقَ عَبْرَ الإِنْتِرْنِتْ، وَنَزَلْنَا فِي غُرْفَةٍ بَسِيطَةٍ وَنَظِيفَةٍ. كَانَ المَطَارُ بَعِيدًا قَلِيلًا، وَلٰكِنَّ القِطَارَ كَانَ سَرِيعًا وَرَخِيصًا. فِي الصَّبَاحِ كُنَّا نَمْشِي إِلَى الشَّاطِئِ، وَفِي المَسَاءِ كُنَّا نَتَنَاوَلُ العَشَاءَ فِي مَطَاعِمَ صَغِيرَةٍ. اكْتَشَفْنَا مَعَالِمَ سِيَاحِيَّةً كَثِيرَةً، وَاسْتَمْتَعْنَا بِالجَوِّ الهَادِئِ. كَانَتْ رِحْلَةً لَا تُنْسَى، وَأَنْصَحُ بِزِيَارَتِهَا فِي الرَّبِيعِ. فِي المُسْتَقْبَلِ سَوْفَ أَعُودُ مَعَ أُسْرَتِي.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الرَّبِيعِ المَاضِي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last spring</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صَدِيقَيْنِ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friends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عَبْرَ الإِنْتِرْنِتْ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online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نَزَلْنَا فِي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stayed in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غُرْفَةٍ بَسِيطَةٍ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simple room</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بَعِيدًا قَلِيلًا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little far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رَخِيصًا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cheap</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كُنَّا نَتَنَاوَلُ</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used to have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الجَوِّ الهَادِئِ</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calm atmosphere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أَنْصَحُ بِـ</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recommend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they book the hotel?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telephone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Online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arrival</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the train?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slow and expensive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cancelled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fast and cheap</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used to do in the mornings?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 to the beach</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 museums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late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recommend?</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Avoiding the city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Visiting in spring</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Travelling by plane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intention?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return with family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move there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to return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they book the hotel?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telephone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Online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arrival</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حَجَزْنَا الفُنْدُقَ عَبْرَ الإِنْتِرْنِتْ.</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the train?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slow and expensive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cancelled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was fast and cheap</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 القِطَارُ سَرِيعًا وَرَخِيصًا.</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used to do in the mornings?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Walk to the beach</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 museums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 late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كُنَّا نَمْشِي إِلَى الشَّاطِئِ</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recommend?</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Avoiding the city</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Visiting in spring</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Travelling by plane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أَنْصَحُ بِزِيَارَتِهَا فِي الرَّبِيعِ.</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intention?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return with family</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move there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 to return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المُسْتَقْبَلِ سَوْفَ أَعُودُ مَعَ أُسْرَتِي.</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Travel Mission — Hollow Verbs, Prepositions and Tense Switch</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عَادَ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عُدْنَا</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عَادْنَا</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عِدْنَا</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سَافَرْنَا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أَقَمْنَا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فُنْدُقٍ صَغِيرٍ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“passport”?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جَوَازُ السَّفَرِ</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حَقِيبَةُ السَّفَرِ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تَذْكِرَةٌ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الأُرْدُنِّ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سَأُسَافِرُ</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أُسَافِرُ أَمْسِ</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زَارْتُ</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hollow stem shortens to </a:t>
            </a:r>
            <a:pPr algn="l" indent="0" marL="0">
              <a:buNone/>
            </a:pPr>
            <a:r>
              <a:rPr lang="ar-SA" altLang="en-US" sz="1350" dirty="0">
                <a:solidFill>
                  <a:srgbClr val="8A6D1E"/>
                </a:solidFill>
                <a:latin typeface="Amiri" pitchFamily="2" charset="-78"/>
                <a:ea typeface="Amiri" pitchFamily="2" charset="-78"/>
                <a:cs typeface="Amiri" pitchFamily="2" charset="-78"/>
              </a:rPr>
              <a:t>زُرْـ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عَادَ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عُدْنَا</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عَادْنَا</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عِدْنَا</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عَادَ</a:t>
            </a:r>
            <a:pPr algn="l" indent="0" marL="0">
              <a:buNone/>
            </a:pPr>
            <a:r>
              <a:rPr lang="en-US" sz="1050" i="1" dirty="0">
                <a:solidFill>
                  <a:srgbClr val="8A6D1E"/>
                </a:solidFill>
                <a:latin typeface="Calibri" pitchFamily="34" charset="0"/>
                <a:cs typeface="Amiri" pitchFamily="2" charset="-78"/>
              </a:rPr>
              <a:t> belongs to the u family, so the stem becomes </a:t>
            </a:r>
            <a:pPr algn="l" indent="0" marL="0">
              <a:buNone/>
            </a:pPr>
            <a:r>
              <a:rPr lang="ar-SA" altLang="en-US" sz="1350" dirty="0">
                <a:solidFill>
                  <a:srgbClr val="8A6D1E"/>
                </a:solidFill>
                <a:latin typeface="Amiri" pitchFamily="2" charset="-78"/>
                <a:ea typeface="Amiri" pitchFamily="2" charset="-78"/>
                <a:cs typeface="Amiri" pitchFamily="2" charset="-78"/>
              </a:rPr>
              <a:t>عُدْـ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سَافَرْنَا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سَافَرَ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أَقَمْنَا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فُنْدُقٍ صَغِيرٍ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أَقَامَ</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“passport”?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جَوَازُ السَّفَرِ</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حَقِيبَةُ السَّفَرِ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تَذْكِرَةٌ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جَوَازُ السَّفَرِ</a:t>
            </a:r>
            <a:pPr algn="l" indent="0" marL="0">
              <a:buNone/>
            </a:pPr>
            <a:r>
              <a:rPr lang="en-US" sz="1050" i="1" dirty="0">
                <a:solidFill>
                  <a:srgbClr val="8A6D1E"/>
                </a:solidFill>
                <a:latin typeface="Calibri" pitchFamily="34" charset="0"/>
                <a:cs typeface="Amiri" pitchFamily="2" charset="-78"/>
              </a:rPr>
              <a:t> is a passport.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الأُرْدُنِّ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سَافَرْتُ</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سَأُسَافِرُ</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أُسَافِرُ أَمْسِ</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future time phrase needs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with a present verb.</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D5-L08 · Reading — Leisure, Sport and Past Experience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سِيرَةٌ ذَاتِيَّةٌ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biography, life story</a:t>
            </a:r>
            <a:pPr indent="0" marL="0">
              <a:buNone/>
            </a:pPr>
            <a:r>
              <a:rPr lang="ar-SA" sz="1000" i="1" dirty="0">
                <a:solidFill>
                  <a:srgbClr val="5A6472"/>
                </a:solidFill>
                <a:latin typeface="Calibri" pitchFamily="34" charset="0"/>
                <a:ea typeface="Amiri" pitchFamily="2" charset="-78"/>
                <a:cs typeface="Amiri" pitchFamily="2" charset="-78"/>
              </a:rPr>
              <a:t>  pl. سِيَرٌ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مُرَاجَعَةٌ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review</a:t>
            </a:r>
            <a:pPr indent="0" marL="0">
              <a:buNone/>
            </a:pPr>
            <a:r>
              <a:rPr lang="ar-SA" sz="1000" i="1" dirty="0">
                <a:solidFill>
                  <a:srgbClr val="5A6472"/>
                </a:solidFill>
                <a:latin typeface="Calibri" pitchFamily="34" charset="0"/>
                <a:ea typeface="Amiri" pitchFamily="2" charset="-78"/>
                <a:cs typeface="Amiri" pitchFamily="2" charset="-78"/>
              </a:rPr>
              <a:t>  pl. مُرَاجَعَاتٌ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تَسَلْسُلُ الأَحْدَاثِ</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order of events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دَلِيلٌ مِنَ النَّصِّ</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evidence from the text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يَسْتَنْتِجُ</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deduces</a:t>
            </a:r>
            <a:pPr indent="0" marL="0">
              <a:buNone/>
            </a:pPr>
            <a:r>
              <a:rPr lang="ar-SA" sz="1000" i="1" dirty="0">
                <a:solidFill>
                  <a:srgbClr val="5A6472"/>
                </a:solidFill>
                <a:latin typeface="Calibri" pitchFamily="34" charset="0"/>
                <a:ea typeface="Amiri" pitchFamily="2" charset="-78"/>
                <a:cs typeface="Amiri" pitchFamily="2" charset="-78"/>
              </a:rPr>
              <a:t>  أَسْتَنْتِجُ I deduce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famous athlete or traveller. Note three things that happened in their life, in order.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أَوَّلًا … ثُمَّ … فِي النِّهَايَةِ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travel words; write six past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70–90-word trip account with an evaluation and one future sentence.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90–100 words, past habit + future switch.</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D5-L08 · Reading — Leisure, Sport and Past Experience Texts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التَّرْفِيهِ وَالرِّيَاضَةِ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zur-tu · aqam-tu · ʿud-nā; safara ilā · aqāma fī · istamtaʿa bi- — then switch cleanly: </a:t>
            </a:r>
            <a:pPr algn="l" indent="0" marL="0">
              <a:buNone/>
            </a:pPr>
            <a:r>
              <a:rPr lang="ar-SA" altLang="en-US" sz="1700" b="1" dirty="0">
                <a:solidFill>
                  <a:srgbClr val="FFFFFF"/>
                </a:solidFill>
                <a:latin typeface="Amiri" pitchFamily="2" charset="-78"/>
                <a:ea typeface="Amiri" pitchFamily="2" charset="-78"/>
                <a:cs typeface="Amiri" pitchFamily="2" charset="-78"/>
              </a:rPr>
              <a:t>سَأَزُورُ مَرَّةً أُخْرَى</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D5-L07 · Holidays and Travel — Past and Future</dc:title>
  <dc:subject>PptxGenJS Presentation</dc:subject>
  <dc:creator>Al Madina Online School · Arabic Department</dc:creator>
  <cp:lastModifiedBy>Al Madina Online School · Arabic Department</cp:lastModifiedBy>
  <cp:revision>1</cp:revision>
  <dcterms:created xsi:type="dcterms:W3CDTF">2026-10-11T06:41:01Z</dcterms:created>
  <dcterms:modified xsi:type="dcterms:W3CDTF">2026-10-11T06:41:01Z</dcterms:modified>
</cp:coreProperties>
</file>