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D5 Hobbies, Sport and Leisure › D5-L07. The website lesson “Holidays and Travel — Past and Future”: vocabulary, grammar rules and quiz, patterns, common mistakes, sorter, listening, reading, speaking prompts and model, writing task and model, differentiation, final check and the lesson mission. Picture match: website visual game “Holidays and Travel — Past and Future”.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travel words + six past sentences with the right preposition (سَافَرْتُ إِلَى · أَقَمْتُ فِي). Develop: hollow verbs (زُرْتُ · أَقَمْتُ · عُدْنَا), an evaluation and ONE future sentence with سَـ. Stretch: the website 90–100-word account with a past habit (كُنَّا نَمْشِي …) and a clean switch to the future.
• Exam skill: “one account, two tenses” — past narrative, then future plan. Examiners reward the switch only when each tense stays where it belongs.
• Builds on D5-L03 / L04 (past endings, hollow verbs), D5-L05 (كَانَ + habit). Travel / Umrah / visiting family abroad all work as topics.
• TEACHER-WRITTEN ITEMS: six quiz distractors that differed only in vowels replaced, and English added to the patterns and speaking model.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home at the end of D5-L06. Question 4 retrieves the D5-L04 hollow-verb rule (زَارَ works the same way); question 5 retrieves D5-L06.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Past first, then the future — and keep each tense in its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سفر، مسافر are shared. CAREFUL: Urdu زیارت often means visiting a shrine; Arabic زِيَارَةٌ is any visit (زُرْتُ صَدِيقِي). Urdu رحلت = death (a polite word), but Arabic رِحْلَةٌ = a trip! Urdu تذکرہ = mention / biography; Arabic تَذْكِرَةٌ = a ticket.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Travel verbs in the past (website vocabulary (1 of 2)). Hear → Say → See → Use. Transliteration is printed for Core students (cover it for Develop/Stretch).
Travel verbs in the past: cards show I / she. HOLLOW verbs keep the long ā for he / she (زَارَ · زَارَتْ) but shorten it for I / we (زُرْتُ · زُرْنَا).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Travel verbs in the past (website vocabulary (2 of 2)). Hear → Say → See → Use. Transliteration is printed for Core students (cover it for Develop/Stretch).
Travel verbs in the past: cards show I / she. HOLLOW verbs keep the long ā for he / she (زَارَ · زَارَتْ) but shorten it for I / we (زُرْتُ · زُرْنَا).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Places and travel items (website vocabulary (1 of 2)). Hear → Say → See → Use. Transliteration is printed for Core students (cover it for Develop/Stretch).
Places and travel items. Plurals on the cards where useful (فَنَادِقُ · تَذَاكِرُ).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Places and travel items (website vocabulary (2 of 2)). Hear → Say → See → Use. Transliteration is printed for Core students (cover it for Develop/Stretch).
Places and travel items. Plurals on the cards where useful (فَنَادِقُ · تَذَاكِرُ).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Evaluating and looking ahead (website vocabulary (1 of 2)). Hear → Say → See → Use. Transliteration is printed for Core students (cover it for Develop/Stretch).
Evaluating and looking ahead: سَـ is attached to the verb, سَوْفَ is a separate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Evaluating and looking ahead (website vocabulary (2 of 2)). Hear → Say → See → Use. Transliteration is printed for Core students (cover it for Develop/Stretch).
Evaluating and looking ahead: سَـ is attached to the verb, سَوْفَ is a separate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“Hollow verbs in the past” (before a consonant suffix the long middle vowel shortens; the bare هُوَ form keeps the long vowel) and “Fixed prepositions on travel verbs” (each verb keeps its own preposition; the noun after it is genitive). Website teaching point: “the same rule you met with قَالَ in Lesson 4.”
Website mistakes: زَارْتُ ✗ → زُرْتُ · اسْتَمْتَعْتُ الرِّحْلَةَ ✗ → بِالرِّحْلَةِ.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“Marking the future” (سَـ attaches directly; سَوْفَ stands separately and is slightly more emphatic) and “Evaluating the trip” (مِنْ + a superlative introduces the group; the noun after it is genitive). Website teaching point: “One account, two tenses.”
Hope to return to Makkah / Madinah is a natural Stretch sentence: أَتَمَنَّى أَنْ أَزُورَ المَدِينَةَ المُنَوَّرَةَ مَرَّةً أُخْرَى.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“Travel verbs bring three challenges at once: hollow stems, fixed prepositions, and a clean switch to the future. Deal with them one at a time.”
• Hollow verbs in the past: Before a consonant suffix the long middle vowel shortens. The bare هُوَ form keeps the long vowel.
• Fixed prepositions on travel verbs: Each verb keeps its own preposition, and the noun after it is genitive.
• Marking the future: سَـ attaches directly to the verb; سَوْفَ stands separately and is slightly more emphatic.
• Evaluating the trip: مِنْ plus a superlative introduces the group the thing belongs to; the noun after the superlative is genitive.
Website common error: Writing زَارْتُ or أَقَامْتُ keeps the long vowel that Arabic drops. If a consonant suffix follows a hollow verb, the middle vowel must shorten.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5, 7.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built from the website listening. Think aloud: “Which preposition does this verb need? Is it hollow? Past or future here?” Students copy and draw a line where the tense switches.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Holidays and Travel — Past and Future”)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switch each to the future: سَأَقْضِي العُطْلَةَ … · سَأُسَافِرُ بِالطَّائِرَةِ · سَأُقِيمُ فِي فُنْدُقٍ. Other website cards: mountains, a new city, tourist 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Holidays and Travel — Past and Future”)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switch each to the future: سَأَقْضِي العُطْلَةَ … · سَأُسَافِرُ بِالطَّائِرَةِ · سَأُقِيمُ فِي فُنْدُقٍ. Other website cards: mountains, a new city, tourist 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build a three-sentence account aloud: one past, one evaluation, one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build a three-sentence account aloud: one past, one evaluation, one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4, 6,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5. Develop / Stretch: all 5 — and note where the speaker switches to the future.
Listen 1: just listen. Listen 2: note answers. Then chat the letters.
Support: after the second listening, show the read-along slide (Arabic + English, line by line) for Core students.
SCRIPT (read aloud):
فِي الصَّيْفِ المَاضِي سَافَرْنَا إِلَى مَدِينَةٍ سَاحِلِيَّةٍ. حَجَزْنَا التَّذَاكِرَ قَبْلَ شَهْرٍ، ثُمَّ رَكِبْنَا القِطَارَ مِنَ المَحَطَّةِ. أَقَمْنَا فِي فُنْدُقٍ صَغِيرٍ قَرِيبٍ مِنَ الشَّاطِئِ. فِي اليَوْمِ الأَوَّلِ زُرْنَا المَعَالِمَ السِّيَاحِيَّةَ وَاكْتَشَفْنَا سُوقًا قَدِيمًا جَمِيلًا. اسْتَمْتَعْتُ بِالرِّحْلَةِ كَثِيرًا، وَكَانَتْ مِنْ أَجْمَلِ الرِّحْلَاتِ. لِلْأَسَفِ نَسِيتُ حَقِيبَةَ السَّفَرِ فِي المَحَطَّةِ، وَلٰكِنْ لِحُسْنِ الحَظِّ وَجَدْنَاهَا. فِي المُسْتَقْبَلِ سَأَزُورُ تِلْكَ المَدِينَةَ مَرَّةً أُخْرَى، وَسَوْفَ نَحْجِزُ مُبَكِّرًا.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وَبِمَاذَا اسْتَمْتَعْتَ هُنَاكَ؟ (And what did you enjoy there?)
B: اسْتَمْتَعْتُ بِالشَّاطِئِ وَالسُّوقِ القَدِيمِ، وَفِي المُسْتَقْبَلِ سَأَزُورُهَا مَرَّةً أُخْرَى. (I enjoyed the beach and the old market, and in the future I will visit it again.)
Website prompts and model (past question → hollow verb + preposition → follow-up with بِـ → evaluation and future switch). To a girl: سَافَرْتِ · أَقَمْتِ · زُرْتِ · اسْتَمْتَعْتِ · سَتُسَافِرِينَ.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six past sentences about a trip using the travel verbs and their prepositions. · Develop — Add an evaluation and a future sentence with سَـ. · Stretch — Include a past habit with كَانَ plus a present verb and keep every hollow stem accurate.
Website writing task (Stretch): Write ninety to one hundred words about a holiday. Narrate what you booked, where you stayed, what you visited and what you enjoyed, then close with a future plan using سَـ or سَوْفَ.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سَافَرْتُ إِلَى · حَجَزْنَا · رَكِبْنَا · أَقَمْنَا فِي · كُنَّا نَمْشِي (habit) · زُرْنَا · اكْتَشَفْنَا · اسْتَمْتَعْتُ بِـ · كَانَتْ مِنْ أَجْمَلِ الرِّحْلَاتِ · سَأَعُودُ · سَوْفَ أُقِيمُ.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(D5-L08 · Reading — Leisure, Sport and Past Experience Texts) will spend class time USING this language, so students prepare it tonight — short, simple, easy to access (school guidance: “Simple, Short, Interesting, Relevant, Easy to access”). The five words come from the website D5-L08 vocabulary (reading text types and strategy).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D5  ·  D5-L07</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D5-L07</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900" b="1" dirty="0">
                <a:solidFill>
                  <a:srgbClr val="FFFFFF"/>
                </a:solidFill>
                <a:latin typeface="Cambria" pitchFamily="34" charset="0"/>
                <a:cs typeface="Amiri" pitchFamily="2" charset="-78"/>
              </a:rPr>
              <a:t>Holidays and Travel — Past and Future</a:t>
            </a:r>
            <a:endParaRPr lang="en-US" sz="29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الإِجَازَاتُ وَالسَّفَرُ — المَاضِي وَالمُسْتَقْبَلُ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Tell the story of a trip — where you went, stayed and what you visited (</a:t>
            </a:r>
            <a:pPr algn="l" indent="0" marL="0">
              <a:buNone/>
            </a:pPr>
            <a:r>
              <a:rPr lang="ar-SA" altLang="en-US" sz="1800" dirty="0">
                <a:solidFill>
                  <a:srgbClr val="C6D2E6"/>
                </a:solidFill>
                <a:latin typeface="Amiri" pitchFamily="2" charset="-78"/>
                <a:cs typeface="Amiri" pitchFamily="2" charset="-78"/>
              </a:rPr>
              <a:t>سَافَرْتُ إِلَى</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cs typeface="Amiri" pitchFamily="2" charset="-78"/>
              </a:rPr>
              <a:t>أَقَمْتُ فِي</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cs typeface="Amiri" pitchFamily="2" charset="-78"/>
              </a:rPr>
              <a:t>زُرْتُ</a:t>
            </a:r>
            <a:pPr algn="l" indent="0" marL="0">
              <a:buNone/>
            </a:pPr>
            <a:r>
              <a:rPr lang="en-US" sz="1400" dirty="0">
                <a:solidFill>
                  <a:srgbClr val="C6D2E6"/>
                </a:solidFill>
                <a:latin typeface="Calibri" pitchFamily="34" charset="0"/>
                <a:cs typeface="Amiri" pitchFamily="2" charset="-78"/>
              </a:rPr>
              <a:t>) — judge it (</a:t>
            </a:r>
            <a:pPr algn="l" indent="0" marL="0">
              <a:buNone/>
            </a:pPr>
            <a:r>
              <a:rPr lang="ar-SA" altLang="en-US" sz="1800" dirty="0">
                <a:solidFill>
                  <a:srgbClr val="C6D2E6"/>
                </a:solidFill>
                <a:latin typeface="Amiri" pitchFamily="2" charset="-78"/>
                <a:cs typeface="Amiri" pitchFamily="2" charset="-78"/>
              </a:rPr>
              <a:t>كَانَتْ مِنْ أَجْمَلِ الرِّحْلَاتِ</a:t>
            </a:r>
            <a:pPr algn="l" indent="0" marL="0">
              <a:buNone/>
            </a:pPr>
            <a:r>
              <a:rPr lang="en-US" sz="1400" dirty="0">
                <a:solidFill>
                  <a:srgbClr val="C6D2E6"/>
                </a:solidFill>
                <a:latin typeface="Calibri" pitchFamily="34" charset="0"/>
                <a:cs typeface="Amiri" pitchFamily="2" charset="-78"/>
              </a:rPr>
              <a:t>) and switch cleanly to the future (</a:t>
            </a:r>
            <a:pPr algn="l" indent="0" marL="0">
              <a:buNone/>
            </a:pPr>
            <a:r>
              <a:rPr lang="ar-SA" altLang="en-US" sz="1800" dirty="0">
                <a:solidFill>
                  <a:srgbClr val="C6D2E6"/>
                </a:solidFill>
                <a:latin typeface="Amiri" pitchFamily="2" charset="-78"/>
                <a:cs typeface="Amiri" pitchFamily="2" charset="-78"/>
              </a:rPr>
              <a:t>سَأَزُورُ</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cs typeface="Amiri" pitchFamily="2" charset="-78"/>
              </a:rPr>
              <a:t>سَوْفَ نَحْجِزُ</a:t>
            </a:r>
            <a:pPr algn="l" indent="0" marL="0">
              <a:buNone/>
            </a:pPr>
            <a:r>
              <a:rPr lang="en-US" sz="1400" dirty="0">
                <a:solidFill>
                  <a:srgbClr val="C6D2E6"/>
                </a:solidFill>
                <a:latin typeface="Calibri" pitchFamily="34" charset="0"/>
                <a:cs typeface="Amiri" pitchFamily="2" charset="-78"/>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D5-L07 · Development D5 · Hobbies, Sport and Leisure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D5 › D5-L07</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D5-L07 · Vocabulary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D5-L07</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D5-L07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D5-L07</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Hollow travel verbs, fixed prepositions, then the future.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past / future / evaluation, fix tense slips, then last summer’s trip.</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D5-L08.</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D5-L07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سَافَرَ إِلَى</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visited</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travelled to</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stayed in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الفُنْدُقُ</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hotel</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airport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station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زُرْتُ</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returned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booked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visited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“we” form of </a:t>
            </a:r>
            <a:pPr algn="l" indent="0" marL="0">
              <a:buNone/>
            </a:pPr>
            <a:r>
              <a:rPr lang="ar-SA" altLang="en-US" sz="1650" b="1" dirty="0">
                <a:solidFill>
                  <a:srgbClr val="1B3B6F"/>
                </a:solidFill>
                <a:latin typeface="Amiri" pitchFamily="2" charset="-78"/>
                <a:cs typeface="Amiri" pitchFamily="2" charset="-78"/>
              </a:rPr>
              <a:t>قَالَ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قَالْنَا</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قَوَلْنَا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قُلْنَا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تُعَبِّرُ المُوسِيقَى</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المَشَاعِرِ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D5-L07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سَافَرَ إِلَى</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visited</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 travelled to</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stayed in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(D5-L06).</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الفُنْدُقُ</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hotel</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airport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station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(D5-L06).</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زُرْتُ</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returned</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booked</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 visited</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(D5-L06).</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“we” form of </a:t>
            </a:r>
            <a:pPr algn="l" indent="0" marL="0">
              <a:buNone/>
            </a:pPr>
            <a:r>
              <a:rPr lang="ar-SA" altLang="en-US" sz="1650" b="1" dirty="0">
                <a:solidFill>
                  <a:srgbClr val="1B3B6F"/>
                </a:solidFill>
                <a:latin typeface="Amiri" pitchFamily="2" charset="-78"/>
                <a:cs typeface="Amiri" pitchFamily="2" charset="-78"/>
              </a:rPr>
              <a:t>قَالَ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قَالْنَا</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قَوَلْنَا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قُلْنَا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D5-L04: hollow verbs.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تُعَبِّرُ المُوسِيقَى</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المَشَاعِرِ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عَنِ</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إِلَى</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D5-L06.</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Past first, then the future — and keep each tense in its place.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0E7C86"/>
                </a:solidFill>
                <a:latin typeface="Amiri" pitchFamily="2" charset="-78"/>
                <a:cs typeface="Amiri" pitchFamily="2" charset="-78"/>
              </a:rPr>
              <a:t>زُرْتُ</a:t>
            </a:r>
            <a:pPr rtl="1" algn="ctr" indent="0" marL="0">
              <a:lnSpc>
                <a:spcPct val="120000"/>
              </a:lnSpc>
              <a:buNone/>
            </a:pPr>
            <a:r>
              <a:rPr lang="ar-SA" altLang="en-US" sz="1950" b="1" dirty="0">
                <a:solidFill>
                  <a:srgbClr val="1B3B6F"/>
                </a:solidFill>
                <a:latin typeface="Amiri" pitchFamily="2" charset="-78"/>
                <a:cs typeface="Amiri" pitchFamily="2" charset="-78"/>
              </a:rPr>
              <a:t> المَدِينَةَ العَامَ المَاضِيَ، وَ</a:t>
            </a:r>
            <a:pPr rtl="1" algn="ctr" indent="0" marL="0">
              <a:lnSpc>
                <a:spcPct val="120000"/>
              </a:lnSpc>
              <a:buNone/>
            </a:pPr>
            <a:r>
              <a:rPr lang="ar-SA" altLang="en-US" sz="1950" b="1" dirty="0">
                <a:solidFill>
                  <a:srgbClr val="D6336C"/>
                </a:solidFill>
                <a:latin typeface="Amiri" pitchFamily="2" charset="-78"/>
                <a:cs typeface="Amiri" pitchFamily="2" charset="-78"/>
              </a:rPr>
              <a:t>سَأَعُودُ</a:t>
            </a:r>
            <a:pPr rtl="1" algn="ctr" indent="0" marL="0">
              <a:lnSpc>
                <a:spcPct val="120000"/>
              </a:lnSpc>
              <a:buNone/>
            </a:pPr>
            <a:r>
              <a:rPr lang="ar-SA" altLang="en-US" sz="1950" b="1" dirty="0">
                <a:solidFill>
                  <a:srgbClr val="1B3B6F"/>
                </a:solidFill>
                <a:latin typeface="Amiri" pitchFamily="2" charset="-78"/>
                <a:cs typeface="Amiri" pitchFamily="2" charset="-78"/>
              </a:rPr>
              <a:t> إِلَيْهَا</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D5-L07 · Vocabulary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D5-L07</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Narrate a trip with travel verbs and their prepositions.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Shorten hollow travel verbs (</a:t>
            </a:r>
            <a:pPr algn="l" indent="0" marL="0">
              <a:buNone/>
            </a:pPr>
            <a:r>
              <a:rPr lang="ar-SA" altLang="en-US" sz="1700" dirty="0">
                <a:solidFill>
                  <a:srgbClr val="1F2A37"/>
                </a:solidFill>
                <a:latin typeface="Amiri" pitchFamily="2" charset="-78"/>
                <a:cs typeface="Amiri" pitchFamily="2" charset="-78"/>
              </a:rPr>
              <a:t>زَارَ</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cs typeface="Amiri" pitchFamily="2" charset="-78"/>
              </a:rPr>
              <a:t>زُرْتُ</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cs typeface="Amiri" pitchFamily="2" charset="-78"/>
              </a:rPr>
              <a:t>أَقَامَ</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cs typeface="Amiri" pitchFamily="2" charset="-78"/>
              </a:rPr>
              <a:t>أَقَمْتُ</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Evaluate with </a:t>
            </a:r>
            <a:pPr algn="l" indent="0" marL="0">
              <a:buNone/>
            </a:pPr>
            <a:r>
              <a:rPr lang="ar-SA" altLang="en-US" sz="1700" dirty="0">
                <a:solidFill>
                  <a:srgbClr val="1F2A37"/>
                </a:solidFill>
                <a:latin typeface="Amiri" pitchFamily="2" charset="-78"/>
                <a:cs typeface="Amiri" pitchFamily="2" charset="-78"/>
              </a:rPr>
              <a:t>كَانَ مِنْ أَجْمَلِ … / رِحْلَةٌ لَا تُنْسَى</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Switch to the future with </a:t>
            </a:r>
            <a:pPr algn="l" indent="0" marL="0">
              <a:buNone/>
            </a:pPr>
            <a:r>
              <a:rPr lang="ar-SA" altLang="en-US" sz="1700" dirty="0">
                <a:solidFill>
                  <a:srgbClr val="1F2A37"/>
                </a:solidFill>
                <a:latin typeface="Amiri" pitchFamily="2" charset="-78"/>
                <a:cs typeface="Amiri" pitchFamily="2" charset="-78"/>
              </a:rPr>
              <a:t>سَـ / سَوْفَ</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where I travelled and stayed.</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use 10 travel words.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a:t>
            </a:r>
            <a:pPr algn="l" indent="0" marL="0">
              <a:buNone/>
            </a:pPr>
            <a:r>
              <a:rPr lang="ar-SA" altLang="en-US" sz="1700" b="1" dirty="0">
                <a:solidFill>
                  <a:srgbClr val="C9780A"/>
                </a:solidFill>
                <a:latin typeface="Amiri" pitchFamily="2" charset="-78"/>
                <a:cs typeface="Amiri" pitchFamily="2" charset="-78"/>
              </a:rPr>
              <a:t>زُرْتُ</a:t>
            </a:r>
            <a:pPr algn="l" indent="0" marL="0">
              <a:buNone/>
            </a:pPr>
            <a:r>
              <a:rPr lang="en-US" sz="1300" b="1" dirty="0">
                <a:solidFill>
                  <a:srgbClr val="C9780A"/>
                </a:solidFill>
                <a:latin typeface="Calibri" pitchFamily="34" charset="0"/>
                <a:cs typeface="Amiri" pitchFamily="2" charset="-78"/>
              </a:rPr>
              <a:t> · </a:t>
            </a:r>
            <a:pPr algn="l" indent="0" marL="0">
              <a:buNone/>
            </a:pPr>
            <a:r>
              <a:rPr lang="ar-SA" altLang="en-US" sz="1700" b="1" dirty="0">
                <a:solidFill>
                  <a:srgbClr val="C9780A"/>
                </a:solidFill>
                <a:latin typeface="Amiri" pitchFamily="2" charset="-78"/>
                <a:cs typeface="Amiri" pitchFamily="2" charset="-78"/>
              </a:rPr>
              <a:t>أَقَمْتُ</a:t>
            </a:r>
            <a:pPr algn="l" indent="0" marL="0">
              <a:buNone/>
            </a:pPr>
            <a:r>
              <a:rPr lang="en-US" sz="1300" b="1" dirty="0">
                <a:solidFill>
                  <a:srgbClr val="C9780A"/>
                </a:solidFill>
                <a:latin typeface="Calibri" pitchFamily="34" charset="0"/>
                <a:cs typeface="Amiri" pitchFamily="2" charset="-78"/>
              </a:rPr>
              <a:t> · </a:t>
            </a:r>
            <a:pPr algn="l" indent="0" marL="0">
              <a:buNone/>
            </a:pPr>
            <a:r>
              <a:rPr lang="ar-SA" altLang="en-US" sz="1700" b="1" dirty="0">
                <a:solidFill>
                  <a:srgbClr val="C9780A"/>
                </a:solidFill>
                <a:latin typeface="Amiri" pitchFamily="2" charset="-78"/>
                <a:cs typeface="Amiri" pitchFamily="2" charset="-78"/>
              </a:rPr>
              <a:t>عُدْنَا</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add one future plan with </a:t>
            </a:r>
            <a:pPr algn="l" indent="0" marL="0">
              <a:buNone/>
            </a:pPr>
            <a:r>
              <a:rPr lang="ar-SA" altLang="en-US" sz="1700" b="1" dirty="0">
                <a:solidFill>
                  <a:srgbClr val="C9780A"/>
                </a:solidFill>
                <a:latin typeface="Amiri" pitchFamily="2" charset="-78"/>
                <a:cs typeface="Amiri" pitchFamily="2" charset="-78"/>
              </a:rPr>
              <a:t>سَـ</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evaluate the trip (</a:t>
            </a:r>
            <a:pPr algn="l" indent="0" marL="0">
              <a:buNone/>
            </a:pPr>
            <a:r>
              <a:rPr lang="ar-SA" altLang="en-US" sz="1700" b="1" dirty="0">
                <a:solidFill>
                  <a:srgbClr val="B83227"/>
                </a:solidFill>
                <a:latin typeface="Amiri" pitchFamily="2" charset="-78"/>
                <a:cs typeface="Amiri" pitchFamily="2" charset="-78"/>
              </a:rPr>
              <a:t>كَانَتْ مِنْ أَجْمَلِ</a:t>
            </a:r>
            <a:pPr algn="l" indent="0" marL="0">
              <a:buNone/>
            </a:pPr>
            <a:r>
              <a:rPr lang="en-US" sz="1300" b="1" dirty="0">
                <a:solidFill>
                  <a:srgbClr val="B83227"/>
                </a:solidFill>
                <a:latin typeface="Calibri" pitchFamily="34" charset="0"/>
                <a:cs typeface="Amiri" pitchFamily="2" charset="-78"/>
              </a:rPr>
              <a:t> …).</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switch cleanly between past and future.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28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Travel verbs in the past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Places and travel items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Evaluating and looking ahead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سَفَرٌ / مُسَافِرٌ</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‎سفر / مسافر‎ </a:t>
            </a:r>
            <a:pPr indent="0" marL="0">
              <a:buNone/>
            </a:pPr>
            <a:r>
              <a:rPr lang="en-US" sz="950" b="1" dirty="0">
                <a:solidFill>
                  <a:srgbClr val="2E8B57"/>
                </a:solidFill>
                <a:latin typeface="Calibri" pitchFamily="34" charset="0"/>
                <a:cs typeface="Amiri" pitchFamily="2" charset="-78"/>
              </a:rPr>
              <a:t> safar / musāfir · travel / traveller</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زِيَارَةٌ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‎زیارت‎ </a:t>
            </a:r>
            <a:pPr indent="0" marL="0">
              <a:buNone/>
            </a:pPr>
            <a:r>
              <a:rPr lang="en-US" sz="950" b="1" dirty="0">
                <a:solidFill>
                  <a:srgbClr val="2E8B57"/>
                </a:solidFill>
                <a:latin typeface="Calibri" pitchFamily="34" charset="0"/>
                <a:cs typeface="Amiri" pitchFamily="2" charset="-78"/>
              </a:rPr>
              <a:t> ziyārat · Urdu: visit to a holy place · Arabic: any visit</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مَحَطَّةٌ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‎اسٹیشن‎ </a:t>
            </a:r>
            <a:pPr indent="0" marL="0">
              <a:buNone/>
            </a:pPr>
            <a:r>
              <a:rPr lang="en-US" sz="950" b="1" dirty="0">
                <a:solidFill>
                  <a:srgbClr val="2E8B57"/>
                </a:solidFill>
                <a:latin typeface="Calibri" pitchFamily="34" charset="0"/>
                <a:cs typeface="Amiri" pitchFamily="2" charset="-78"/>
              </a:rPr>
              <a:t> station · station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رِحْلَةٌ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‎رحلت‎ </a:t>
            </a:r>
            <a:pPr indent="0" marL="0">
              <a:buNone/>
            </a:pPr>
            <a:r>
              <a:rPr lang="en-US" sz="950" b="1" dirty="0">
                <a:solidFill>
                  <a:srgbClr val="2E8B57"/>
                </a:solidFill>
                <a:latin typeface="Calibri" pitchFamily="34" charset="0"/>
                <a:cs typeface="Amiri" pitchFamily="2" charset="-78"/>
              </a:rPr>
              <a:t> riḥlat · Urdu: passing away · Arabic: a trip</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تَذْكِرَةٌ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‎تذکرہ / ٹکٹ‎ </a:t>
            </a:r>
            <a:pPr indent="0" marL="0">
              <a:buNone/>
            </a:pPr>
            <a:r>
              <a:rPr lang="en-US" sz="950" b="1" dirty="0">
                <a:solidFill>
                  <a:srgbClr val="2E8B57"/>
                </a:solidFill>
                <a:latin typeface="Calibri" pitchFamily="34" charset="0"/>
                <a:cs typeface="Amiri" pitchFamily="2" charset="-78"/>
              </a:rPr>
              <a:t> tazkira · Urdu تذکرہ: mention · Arabic: a ticket</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D5-L07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Travel verbs in the past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سَافَرَ إِلَى</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travelled to</a:t>
            </a:r>
            <a:endParaRPr lang="en-US" sz="1350" dirty="0"/>
          </a:p>
          <a:p>
            <a:pPr indent="0" marL="0">
              <a:buNone/>
            </a:pPr>
            <a:r>
              <a:rPr lang="en-US" sz="1100" i="1" dirty="0">
                <a:solidFill>
                  <a:srgbClr val="5A6472"/>
                </a:solidFill>
                <a:latin typeface="Calibri" pitchFamily="34" charset="0"/>
                <a:cs typeface="Amiri" pitchFamily="2" charset="-78"/>
              </a:rPr>
              <a:t>sā-fa-ra i-lā</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سَافَرَتْ</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سَافَرْتُ</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3" name="Shape 30"/>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زَارَ / زُرْتُ</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visited / I visited</a:t>
            </a:r>
            <a:endParaRPr lang="en-US" sz="1350" dirty="0"/>
          </a:p>
          <a:p>
            <a:pPr indent="0" marL="0">
              <a:buNone/>
            </a:pPr>
            <a:r>
              <a:rPr lang="en-US" sz="1100" i="1" dirty="0">
                <a:solidFill>
                  <a:srgbClr val="5A6472"/>
                </a:solidFill>
                <a:latin typeface="Calibri" pitchFamily="34" charset="0"/>
                <a:cs typeface="Amiri" pitchFamily="2" charset="-78"/>
              </a:rPr>
              <a:t>zā-ra / zur-tu</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زَارَتْ</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زُرْتُ</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8" name="Shape 45"/>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أَقَامَ فِي / أَقَمْتُ فِي</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stayed in / I stayed in</a:t>
            </a:r>
            <a:endParaRPr lang="en-US" sz="1350" dirty="0"/>
          </a:p>
          <a:p>
            <a:pPr indent="0" marL="0">
              <a:buNone/>
            </a:pPr>
            <a:r>
              <a:rPr lang="en-US" sz="1100" i="1" dirty="0">
                <a:solidFill>
                  <a:srgbClr val="5A6472"/>
                </a:solidFill>
                <a:latin typeface="Calibri" pitchFamily="34" charset="0"/>
                <a:cs typeface="Amiri" pitchFamily="2" charset="-78"/>
              </a:rPr>
              <a:t>a-qā-ma fī / a-qam-tu fī</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أَقَامَتْ</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أَقَمْتُ</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3" name="Shape 60"/>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حَجَزَ</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booked</a:t>
            </a:r>
            <a:endParaRPr lang="en-US" sz="1350" dirty="0"/>
          </a:p>
          <a:p>
            <a:pPr indent="0" marL="0">
              <a:buNone/>
            </a:pPr>
            <a:r>
              <a:rPr lang="en-US" sz="1100" i="1" dirty="0">
                <a:solidFill>
                  <a:srgbClr val="5A6472"/>
                </a:solidFill>
                <a:latin typeface="Calibri" pitchFamily="34" charset="0"/>
                <a:cs typeface="Amiri" pitchFamily="2" charset="-78"/>
              </a:rPr>
              <a:t>ḥa-ja-za</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حَجَزَتْ</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حَجَزْتُ</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78" name="Shape 75"/>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a:t>
            </a:r>
            <a:endParaRPr lang="en-US" sz="800" dirty="0"/>
          </a:p>
        </p:txBody>
      </p:sp>
      <p:sp>
        <p:nvSpPr>
          <p:cNvPr id="80" name="Text 7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رَكِبَ</a:t>
            </a:r>
            <a:endParaRPr lang="ar-SA" sz="3000" dirty="0"/>
          </a:p>
        </p:txBody>
      </p:sp>
      <p:sp>
        <p:nvSpPr>
          <p:cNvPr id="81" name="Text 7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rode, took (transport)</a:t>
            </a:r>
            <a:endParaRPr lang="en-US" sz="1350" dirty="0"/>
          </a:p>
          <a:p>
            <a:pPr indent="0" marL="0">
              <a:buNone/>
            </a:pPr>
            <a:r>
              <a:rPr lang="en-US" sz="1100" i="1" dirty="0">
                <a:solidFill>
                  <a:srgbClr val="5A6472"/>
                </a:solidFill>
                <a:latin typeface="Calibri" pitchFamily="34" charset="0"/>
                <a:cs typeface="Amiri" pitchFamily="2" charset="-78"/>
              </a:rPr>
              <a:t>ra-ki-ba</a:t>
            </a:r>
            <a:endParaRPr lang="en-US" sz="1350" dirty="0"/>
          </a:p>
        </p:txBody>
      </p:sp>
      <p:sp>
        <p:nvSpPr>
          <p:cNvPr id="82" name="Shape 79"/>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84" name="Text 81"/>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رَكِبَتْ</a:t>
            </a:r>
            <a:endParaRPr lang="ar-SA" sz="1500" dirty="0"/>
          </a:p>
        </p:txBody>
      </p:sp>
      <p:sp>
        <p:nvSpPr>
          <p:cNvPr id="85" name="Shape 82"/>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6" name="Text 83"/>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87" name="Text 84"/>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رَكِبْتُ</a:t>
            </a:r>
            <a:endParaRPr lang="ar-SA" sz="1500" dirty="0"/>
          </a:p>
        </p:txBody>
      </p:sp>
      <p:sp>
        <p:nvSpPr>
          <p:cNvPr id="88" name="Text 8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D5-L07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Travel verbs in the past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نَزَلَ فِي</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stayed at</a:t>
            </a:r>
            <a:endParaRPr lang="en-US" sz="1350" dirty="0"/>
          </a:p>
          <a:p>
            <a:pPr indent="0" marL="0">
              <a:buNone/>
            </a:pPr>
            <a:r>
              <a:rPr lang="en-US" sz="1100" i="1" dirty="0">
                <a:solidFill>
                  <a:srgbClr val="5A6472"/>
                </a:solidFill>
                <a:latin typeface="Calibri" pitchFamily="34" charset="0"/>
                <a:cs typeface="Amiri" pitchFamily="2" charset="-78"/>
              </a:rPr>
              <a:t>na-za-la fī</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3" name="Shape 20"/>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a:t>
            </a:r>
            <a:endParaRPr lang="en-US" sz="8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اسْتَمْتَعَ بِـ</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enjoyed</a:t>
            </a:r>
            <a:endParaRPr lang="en-US" sz="1350" dirty="0"/>
          </a:p>
          <a:p>
            <a:pPr indent="0" marL="0">
              <a:buNone/>
            </a:pPr>
            <a:r>
              <a:rPr lang="en-US" sz="1100" i="1" dirty="0">
                <a:solidFill>
                  <a:srgbClr val="5A6472"/>
                </a:solidFill>
                <a:latin typeface="Calibri" pitchFamily="34" charset="0"/>
                <a:cs typeface="Amiri" pitchFamily="2" charset="-78"/>
              </a:rPr>
              <a:t>as-tam-ta-ʿa bi</a:t>
            </a:r>
            <a:endParaRPr lang="en-US" sz="1350" dirty="0"/>
          </a:p>
        </p:txBody>
      </p:sp>
      <p:sp>
        <p:nvSpPr>
          <p:cNvPr id="29" name="Shape 2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31" name="Text 2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اسْتَمْتَعَتْ</a:t>
            </a:r>
            <a:endParaRPr lang="ar-SA" sz="1500" dirty="0"/>
          </a:p>
        </p:txBody>
      </p:sp>
      <p:sp>
        <p:nvSpPr>
          <p:cNvPr id="32" name="Shape 2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34" name="Text 3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اسْتَمْتَعْتُ</a:t>
            </a:r>
            <a:endParaRPr lang="ar-SA" sz="150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8" name="Shape 35"/>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Form VIII.</a:t>
            </a:r>
            <a:endParaRPr lang="en-US" sz="800" dirty="0"/>
          </a:p>
        </p:txBody>
      </p:sp>
      <p:sp>
        <p:nvSpPr>
          <p:cNvPr id="40" name="Text 3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اكْتَشَفَ</a:t>
            </a:r>
            <a:endParaRPr lang="ar-SA" sz="3000" dirty="0"/>
          </a:p>
        </p:txBody>
      </p:sp>
      <p:sp>
        <p:nvSpPr>
          <p:cNvPr id="41" name="Text 3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discovered</a:t>
            </a:r>
            <a:endParaRPr lang="en-US" sz="1350" dirty="0"/>
          </a:p>
          <a:p>
            <a:pPr indent="0" marL="0">
              <a:buNone/>
            </a:pPr>
            <a:r>
              <a:rPr lang="en-US" sz="1100" i="1" dirty="0">
                <a:solidFill>
                  <a:srgbClr val="5A6472"/>
                </a:solidFill>
                <a:latin typeface="Calibri" pitchFamily="34" charset="0"/>
                <a:cs typeface="Amiri" pitchFamily="2" charset="-78"/>
              </a:rPr>
              <a:t>ak-ta-sha-fa</a:t>
            </a:r>
            <a:endParaRPr lang="en-US" sz="135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5" name="Shape 42"/>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Form V.</a:t>
            </a:r>
            <a:endParaRPr lang="en-US" sz="800" dirty="0"/>
          </a:p>
        </p:txBody>
      </p:sp>
      <p:sp>
        <p:nvSpPr>
          <p:cNvPr id="47" name="Text 4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تَذَكَّرَ</a:t>
            </a:r>
            <a:endParaRPr lang="ar-SA" sz="3000" dirty="0"/>
          </a:p>
        </p:txBody>
      </p:sp>
      <p:sp>
        <p:nvSpPr>
          <p:cNvPr id="48" name="Text 4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remembered</a:t>
            </a:r>
            <a:endParaRPr lang="en-US" sz="1350" dirty="0"/>
          </a:p>
          <a:p>
            <a:pPr indent="0" marL="0">
              <a:buNone/>
            </a:pPr>
            <a:r>
              <a:rPr lang="en-US" sz="1100" i="1" dirty="0">
                <a:solidFill>
                  <a:srgbClr val="5A6472"/>
                </a:solidFill>
                <a:latin typeface="Calibri" pitchFamily="34" charset="0"/>
                <a:cs typeface="Amiri" pitchFamily="2" charset="-78"/>
              </a:rPr>
              <a:t>ta-dhak-ka-ra</a:t>
            </a:r>
            <a:endParaRPr lang="en-US" sz="1350" dirty="0"/>
          </a:p>
        </p:txBody>
      </p:sp>
      <p:sp>
        <p:nvSpPr>
          <p:cNvPr id="49" name="Shape 4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4389120"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52" name="Shape 49"/>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a:t>
            </a:r>
            <a:endParaRPr lang="en-US" sz="800" dirty="0"/>
          </a:p>
        </p:txBody>
      </p:sp>
      <p:sp>
        <p:nvSpPr>
          <p:cNvPr id="54" name="Shape 5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6" name="Text 5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عَادَ / عُدْتُ</a:t>
            </a:r>
            <a:endParaRPr lang="ar-SA" sz="3000" dirty="0"/>
          </a:p>
        </p:txBody>
      </p:sp>
      <p:sp>
        <p:nvSpPr>
          <p:cNvPr id="57" name="Text 5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returned / I returned</a:t>
            </a:r>
            <a:endParaRPr lang="en-US" sz="1350" dirty="0"/>
          </a:p>
          <a:p>
            <a:pPr indent="0" marL="0">
              <a:buNone/>
            </a:pPr>
            <a:r>
              <a:rPr lang="en-US" sz="1100" i="1" dirty="0">
                <a:solidFill>
                  <a:srgbClr val="5A6472"/>
                </a:solidFill>
                <a:latin typeface="Calibri" pitchFamily="34" charset="0"/>
                <a:cs typeface="Amiri" pitchFamily="2" charset="-78"/>
              </a:rPr>
              <a:t>ʿā-da / ʿud-tu</a:t>
            </a:r>
            <a:endParaRPr lang="en-US" sz="1350" dirty="0"/>
          </a:p>
        </p:txBody>
      </p:sp>
      <p:sp>
        <p:nvSpPr>
          <p:cNvPr id="58" name="Shape 55"/>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60" name="Text 57"/>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عَادَتْ</a:t>
            </a:r>
            <a:endParaRPr lang="ar-SA" sz="1500" dirty="0"/>
          </a:p>
        </p:txBody>
      </p:sp>
      <p:sp>
        <p:nvSpPr>
          <p:cNvPr id="61" name="Shape 58"/>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63" name="Text 60"/>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عُدْتُ</a:t>
            </a:r>
            <a:endParaRPr lang="ar-SA" sz="150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D5-L07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Places and travel items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المَطَارُ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airport</a:t>
            </a:r>
            <a:endParaRPr lang="en-US" sz="1350" dirty="0"/>
          </a:p>
          <a:p>
            <a:pPr indent="0" marL="0">
              <a:buNone/>
            </a:pPr>
            <a:r>
              <a:rPr lang="en-US" sz="1100" i="1" dirty="0">
                <a:solidFill>
                  <a:srgbClr val="5A6472"/>
                </a:solidFill>
                <a:latin typeface="Calibri" pitchFamily="34" charset="0"/>
                <a:cs typeface="Amiri" pitchFamily="2" charset="-78"/>
              </a:rPr>
              <a:t>al-ma-ṭā-ru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25" name="Shape 22"/>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الفُنْدُقُ</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hotel</a:t>
            </a:r>
            <a:endParaRPr lang="en-US" sz="1350" dirty="0"/>
          </a:p>
          <a:p>
            <a:pPr indent="0" marL="0">
              <a:buNone/>
            </a:pPr>
            <a:r>
              <a:rPr lang="en-US" sz="1100" i="1" dirty="0">
                <a:solidFill>
                  <a:srgbClr val="5A6472"/>
                </a:solidFill>
                <a:latin typeface="Calibri" pitchFamily="34" charset="0"/>
                <a:cs typeface="Amiri" pitchFamily="2" charset="-78"/>
              </a:rPr>
              <a:t>al-fun-du-qu</a:t>
            </a:r>
            <a:endParaRPr lang="en-US" sz="1350" dirty="0"/>
          </a:p>
        </p:txBody>
      </p:sp>
      <p:sp>
        <p:nvSpPr>
          <p:cNvPr id="31" name="Shape 28"/>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3" name="Text 30"/>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الفَنَادِقُ</a:t>
            </a:r>
            <a:endParaRPr lang="ar-SA" sz="150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37" name="Shape 3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الشَّاطِئُ</a:t>
            </a:r>
            <a:endParaRPr lang="ar-SA" sz="3000" dirty="0"/>
          </a:p>
        </p:txBody>
      </p:sp>
      <p:sp>
        <p:nvSpPr>
          <p:cNvPr id="40" name="Text 37"/>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beach</a:t>
            </a:r>
            <a:endParaRPr lang="en-US" sz="1350" dirty="0"/>
          </a:p>
          <a:p>
            <a:pPr indent="0" marL="0">
              <a:buNone/>
            </a:pPr>
            <a:r>
              <a:rPr lang="en-US" sz="1100" i="1" dirty="0">
                <a:solidFill>
                  <a:srgbClr val="5A6472"/>
                </a:solidFill>
                <a:latin typeface="Calibri" pitchFamily="34" charset="0"/>
                <a:cs typeface="Amiri" pitchFamily="2" charset="-78"/>
              </a:rPr>
              <a:t>ash-shā-ṭi-ʾu</a:t>
            </a:r>
            <a:endParaRPr lang="en-US" sz="135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المَعَالِمُ السِّيَاحِيَّةُ</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tourist attractions</a:t>
            </a:r>
            <a:endParaRPr lang="en-US" sz="1350" dirty="0"/>
          </a:p>
          <a:p>
            <a:pPr indent="0" marL="0">
              <a:buNone/>
            </a:pPr>
            <a:r>
              <a:rPr lang="en-US" sz="1100" i="1" dirty="0">
                <a:solidFill>
                  <a:srgbClr val="5A6472"/>
                </a:solidFill>
                <a:latin typeface="Calibri" pitchFamily="34" charset="0"/>
                <a:cs typeface="Amiri" pitchFamily="2" charset="-78"/>
              </a:rPr>
              <a:t>al-ma-ʿā-li-mu as-si-yā-ḥiy-ya-tu</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 broken plural with a feminine adjective.</a:t>
            </a:r>
            <a:endParaRPr lang="en-US" sz="10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50" name="Shape 47"/>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An iḍāfa.</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جَوَازُ السَّفَرِ</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passport</a:t>
            </a:r>
            <a:endParaRPr lang="en-US" sz="1350" dirty="0"/>
          </a:p>
          <a:p>
            <a:pPr indent="0" marL="0">
              <a:buNone/>
            </a:pPr>
            <a:r>
              <a:rPr lang="en-US" sz="1100" i="1" dirty="0">
                <a:solidFill>
                  <a:srgbClr val="5A6472"/>
                </a:solidFill>
                <a:latin typeface="Calibri" pitchFamily="34" charset="0"/>
                <a:cs typeface="Amiri" pitchFamily="2" charset="-78"/>
              </a:rPr>
              <a:t>ja-wā-zu as-sa-fa-ri</a:t>
            </a:r>
            <a:endParaRPr lang="en-US" sz="135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D5-L07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Places and travel items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حَقِيبَةُ السَّفَرِ</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suitcase</a:t>
            </a:r>
            <a:endParaRPr lang="en-US" sz="1350" dirty="0"/>
          </a:p>
          <a:p>
            <a:pPr indent="0" marL="0">
              <a:buNone/>
            </a:pPr>
            <a:r>
              <a:rPr lang="en-US" sz="1100" i="1" dirty="0">
                <a:solidFill>
                  <a:srgbClr val="5A6472"/>
                </a:solidFill>
                <a:latin typeface="Calibri" pitchFamily="34" charset="0"/>
                <a:cs typeface="Amiri" pitchFamily="2" charset="-78"/>
              </a:rPr>
              <a:t>ḥa-qī-ba-tu as-sa-fa-ri</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3" name="Shape 20"/>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5" name="Text 2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تَذْكِرَةٌ</a:t>
            </a:r>
            <a:endParaRPr lang="ar-SA" sz="3000" dirty="0"/>
          </a:p>
        </p:txBody>
      </p:sp>
      <p:sp>
        <p:nvSpPr>
          <p:cNvPr id="26" name="Text 2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ticket</a:t>
            </a:r>
            <a:endParaRPr lang="en-US" sz="1350" dirty="0"/>
          </a:p>
          <a:p>
            <a:pPr indent="0" marL="0">
              <a:buNone/>
            </a:pPr>
            <a:r>
              <a:rPr lang="en-US" sz="1100" i="1" dirty="0">
                <a:solidFill>
                  <a:srgbClr val="5A6472"/>
                </a:solidFill>
                <a:latin typeface="Calibri" pitchFamily="34" charset="0"/>
                <a:cs typeface="Amiri" pitchFamily="2" charset="-78"/>
              </a:rPr>
              <a:t>tadh-ki-ra-tun</a:t>
            </a:r>
            <a:endParaRPr lang="en-US" sz="1350" dirty="0"/>
          </a:p>
        </p:txBody>
      </p:sp>
      <p:sp>
        <p:nvSpPr>
          <p:cNvPr id="27" name="Shape 24"/>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9" name="Text 26"/>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تَذَاكِرُ</a:t>
            </a:r>
            <a:endParaRPr lang="ar-SA" sz="1500" dirty="0"/>
          </a:p>
        </p:txBody>
      </p:sp>
      <p:sp>
        <p:nvSpPr>
          <p:cNvPr id="30" name="Shape 2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566928"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33" name="Shape 30"/>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5" name="Shape 32"/>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رِحْلَةٌ</a:t>
            </a:r>
            <a:endParaRPr lang="ar-SA" sz="3000" dirty="0"/>
          </a:p>
        </p:txBody>
      </p:sp>
      <p:sp>
        <p:nvSpPr>
          <p:cNvPr id="38" name="Text 35"/>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trip</a:t>
            </a:r>
            <a:endParaRPr lang="en-US" sz="1350" dirty="0"/>
          </a:p>
          <a:p>
            <a:pPr indent="0" marL="0">
              <a:buNone/>
            </a:pPr>
            <a:r>
              <a:rPr lang="en-US" sz="1100" i="1" dirty="0">
                <a:solidFill>
                  <a:srgbClr val="5A6472"/>
                </a:solidFill>
                <a:latin typeface="Calibri" pitchFamily="34" charset="0"/>
                <a:cs typeface="Amiri" pitchFamily="2" charset="-78"/>
              </a:rPr>
              <a:t>riḥ-la-tun</a:t>
            </a:r>
            <a:endParaRPr lang="en-US" sz="1350" dirty="0"/>
          </a:p>
        </p:txBody>
      </p:sp>
      <p:sp>
        <p:nvSpPr>
          <p:cNvPr id="39" name="Shape 36"/>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1" name="Text 38"/>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رِحْلَاتٌ</a:t>
            </a:r>
            <a:endParaRPr lang="ar-SA" sz="150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45" name="Text 4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المَحَطَّةُ</a:t>
            </a:r>
            <a:endParaRPr lang="ar-SA" sz="3000" dirty="0"/>
          </a:p>
        </p:txBody>
      </p:sp>
      <p:sp>
        <p:nvSpPr>
          <p:cNvPr id="46" name="Text 4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station</a:t>
            </a:r>
            <a:endParaRPr lang="en-US" sz="1350" dirty="0"/>
          </a:p>
          <a:p>
            <a:pPr indent="0" marL="0">
              <a:buNone/>
            </a:pPr>
            <a:r>
              <a:rPr lang="en-US" sz="1100" i="1" dirty="0">
                <a:solidFill>
                  <a:srgbClr val="5A6472"/>
                </a:solidFill>
                <a:latin typeface="Calibri" pitchFamily="34" charset="0"/>
                <a:cs typeface="Amiri" pitchFamily="2" charset="-78"/>
              </a:rPr>
              <a:t>al-ma-ḥaṭ-ṭa-tu</a:t>
            </a:r>
            <a:endParaRPr lang="en-US" sz="135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50" name="Text 4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القِطَارُ</a:t>
            </a:r>
            <a:endParaRPr lang="ar-SA" sz="3000" dirty="0"/>
          </a:p>
        </p:txBody>
      </p:sp>
      <p:sp>
        <p:nvSpPr>
          <p:cNvPr id="51" name="Text 4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train</a:t>
            </a:r>
            <a:endParaRPr lang="en-US" sz="1350" dirty="0"/>
          </a:p>
          <a:p>
            <a:pPr indent="0" marL="0">
              <a:buNone/>
            </a:pPr>
            <a:r>
              <a:rPr lang="en-US" sz="1100" i="1" dirty="0">
                <a:solidFill>
                  <a:srgbClr val="5A6472"/>
                </a:solidFill>
                <a:latin typeface="Calibri" pitchFamily="34" charset="0"/>
                <a:cs typeface="Amiri" pitchFamily="2" charset="-78"/>
              </a:rPr>
              <a:t>al-qi-ṭā-ru</a:t>
            </a:r>
            <a:endParaRPr lang="en-US" sz="13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D5-L07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Evaluating and looking ahead (1 of 2)</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رِحْلَةٌ لَا تُنْسَى</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unforgettable trip</a:t>
            </a:r>
            <a:endParaRPr lang="en-US" sz="1350" dirty="0"/>
          </a:p>
          <a:p>
            <a:pPr indent="0" marL="0">
              <a:buNone/>
            </a:pPr>
            <a:r>
              <a:rPr lang="en-US" sz="1100" i="1" dirty="0">
                <a:solidFill>
                  <a:srgbClr val="5A6472"/>
                </a:solidFill>
                <a:latin typeface="Calibri" pitchFamily="34" charset="0"/>
                <a:cs typeface="Amiri" pitchFamily="2" charset="-78"/>
              </a:rPr>
              <a:t>riḥ-la-tun lā tun-sā</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 passive present verb used as a description.</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6" name="Text 2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كَانَ مِنْ أَجْمَلِ</a:t>
            </a:r>
            <a:endParaRPr lang="ar-SA" sz="3000" dirty="0"/>
          </a:p>
        </p:txBody>
      </p:sp>
      <p:sp>
        <p:nvSpPr>
          <p:cNvPr id="27" name="Text 2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was one of the most beautiful</a:t>
            </a:r>
            <a:endParaRPr lang="en-US" sz="1350" dirty="0"/>
          </a:p>
          <a:p>
            <a:pPr indent="0" marL="0">
              <a:buNone/>
            </a:pPr>
            <a:r>
              <a:rPr lang="en-US" sz="1100" i="1" dirty="0">
                <a:solidFill>
                  <a:srgbClr val="5A6472"/>
                </a:solidFill>
                <a:latin typeface="Calibri" pitchFamily="34" charset="0"/>
                <a:cs typeface="Amiri" pitchFamily="2" charset="-78"/>
              </a:rPr>
              <a:t>kā-na min aj-ma-li</a:t>
            </a:r>
            <a:endParaRPr lang="en-US" sz="1350" dirty="0"/>
          </a:p>
        </p:txBody>
      </p:sp>
      <p:sp>
        <p:nvSpPr>
          <p:cNvPr id="28" name="Text 25"/>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cs typeface="Amiri" pitchFamily="2" charset="-78"/>
              </a:rPr>
              <a:t>مِنْ</a:t>
            </a:r>
            <a:pPr algn="l" indent="0" marL="0">
              <a:buNone/>
            </a:pPr>
            <a:r>
              <a:rPr lang="en-US" sz="1000" i="1" dirty="0">
                <a:solidFill>
                  <a:srgbClr val="8A6D1E"/>
                </a:solidFill>
                <a:latin typeface="Calibri" pitchFamily="34" charset="0"/>
                <a:cs typeface="Amiri" pitchFamily="2" charset="-78"/>
              </a:rPr>
              <a:t> plus a superlative in the genitive.</a:t>
            </a:r>
            <a:endParaRPr lang="en-US" sz="100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فِي المُسْتَقْبَلِ</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the future</a:t>
            </a:r>
            <a:endParaRPr lang="en-US" sz="1350" dirty="0"/>
          </a:p>
          <a:p>
            <a:pPr indent="0" marL="0">
              <a:buNone/>
            </a:pPr>
            <a:r>
              <a:rPr lang="en-US" sz="1100" i="1" dirty="0">
                <a:solidFill>
                  <a:srgbClr val="5A6472"/>
                </a:solidFill>
                <a:latin typeface="Calibri" pitchFamily="34" charset="0"/>
                <a:cs typeface="Amiri" pitchFamily="2" charset="-78"/>
              </a:rPr>
              <a:t>fī al-mus-taq-ba-li</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سَأَزُورُ مَرَّةً أُخْرَى</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will visit again</a:t>
            </a:r>
            <a:endParaRPr lang="en-US" sz="1350" dirty="0"/>
          </a:p>
          <a:p>
            <a:pPr indent="0" marL="0">
              <a:buNone/>
            </a:pPr>
            <a:r>
              <a:rPr lang="en-US" sz="1100" i="1" dirty="0">
                <a:solidFill>
                  <a:srgbClr val="5A6472"/>
                </a:solidFill>
                <a:latin typeface="Calibri" pitchFamily="34" charset="0"/>
                <a:cs typeface="Amiri" pitchFamily="2" charset="-78"/>
              </a:rPr>
              <a:t>sa-ʾa-zū-ru mar-ra-tan ukh-rā</a:t>
            </a:r>
            <a:endParaRPr lang="en-US" sz="1350" dirty="0"/>
          </a:p>
        </p:txBody>
      </p:sp>
      <p:sp>
        <p:nvSpPr>
          <p:cNvPr id="41" name="Text 38"/>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cs typeface="Amiri" pitchFamily="2" charset="-78"/>
              </a:rPr>
              <a:t>سَـ</a:t>
            </a:r>
            <a:pPr algn="l" indent="0" marL="0">
              <a:buNone/>
            </a:pPr>
            <a:r>
              <a:rPr lang="en-US" sz="1000" i="1" dirty="0">
                <a:solidFill>
                  <a:srgbClr val="8A6D1E"/>
                </a:solidFill>
                <a:latin typeface="Calibri" pitchFamily="34" charset="0"/>
                <a:cs typeface="Amiri" pitchFamily="2" charset="-78"/>
              </a:rPr>
              <a:t> attaches to the present verb.</a:t>
            </a:r>
            <a:endParaRPr lang="en-US" sz="10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D5-L07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Evaluating and looking ahead (2 of 2)</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سَوْفَ</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will (emphatic future)</a:t>
            </a:r>
            <a:endParaRPr lang="en-US" sz="1350" dirty="0"/>
          </a:p>
          <a:p>
            <a:pPr indent="0" marL="0">
              <a:buNone/>
            </a:pPr>
            <a:r>
              <a:rPr lang="en-US" sz="1100" i="1" dirty="0">
                <a:solidFill>
                  <a:srgbClr val="5A6472"/>
                </a:solidFill>
                <a:latin typeface="Calibri" pitchFamily="34" charset="0"/>
                <a:cs typeface="Amiri" pitchFamily="2" charset="-78"/>
              </a:rPr>
              <a:t>saw-fa</a:t>
            </a:r>
            <a:endParaRPr lang="en-US" sz="1350" dirty="0"/>
          </a:p>
        </p:txBody>
      </p:sp>
      <p:sp>
        <p:nvSpPr>
          <p:cNvPr id="20" name="Text 17"/>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 separate word before the verb.</a:t>
            </a:r>
            <a:endParaRPr lang="en-US" sz="1000" dirty="0"/>
          </a:p>
        </p:txBody>
      </p:sp>
      <p:sp>
        <p:nvSpPr>
          <p:cNvPr id="21" name="Shape 1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9"/>
          <p:cNvSpPr/>
          <p:nvPr/>
        </p:nvSpPr>
        <p:spPr>
          <a:xfrm>
            <a:off x="4389120" y="1920240"/>
            <a:ext cx="310896" cy="310896"/>
          </a:xfrm>
          <a:prstGeom prst="ellipse">
            <a:avLst/>
          </a:prstGeom>
          <a:solidFill>
            <a:srgbClr val="F4F1EA"/>
          </a:solidFill>
          <a:ln w="12700">
            <a:solidFill>
              <a:srgbClr val="F4F1EA"/>
            </a:solidFill>
            <a:prstDash val="solid"/>
          </a:ln>
        </p:spPr>
      </p:sp>
      <p:sp>
        <p:nvSpPr>
          <p:cNvPr id="23" name="Text 2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24" name="Text 21"/>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أَتَمَنَّى أَنْ</a:t>
            </a:r>
            <a:endParaRPr lang="ar-SA" sz="3000" dirty="0"/>
          </a:p>
        </p:txBody>
      </p:sp>
      <p:sp>
        <p:nvSpPr>
          <p:cNvPr id="25" name="Text 22"/>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hope to</a:t>
            </a:r>
            <a:endParaRPr lang="en-US" sz="1350" dirty="0"/>
          </a:p>
          <a:p>
            <a:pPr indent="0" marL="0">
              <a:buNone/>
            </a:pPr>
            <a:r>
              <a:rPr lang="en-US" sz="1100" i="1" dirty="0">
                <a:solidFill>
                  <a:srgbClr val="5A6472"/>
                </a:solidFill>
                <a:latin typeface="Calibri" pitchFamily="34" charset="0"/>
                <a:cs typeface="Amiri" pitchFamily="2" charset="-78"/>
              </a:rPr>
              <a:t>a-ta-man-nā an</a:t>
            </a:r>
            <a:endParaRPr lang="en-US" sz="1350" dirty="0"/>
          </a:p>
        </p:txBody>
      </p:sp>
      <p:sp>
        <p:nvSpPr>
          <p:cNvPr id="26" name="Text 23"/>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cs typeface="Amiri" pitchFamily="2" charset="-78"/>
              </a:rPr>
              <a:t>أَنْ</a:t>
            </a:r>
            <a:pPr algn="l" indent="0" marL="0">
              <a:buNone/>
            </a:pPr>
            <a:r>
              <a:rPr lang="en-US" sz="1000" i="1" dirty="0">
                <a:solidFill>
                  <a:srgbClr val="8A6D1E"/>
                </a:solidFill>
                <a:latin typeface="Calibri" pitchFamily="34" charset="0"/>
                <a:cs typeface="Amiri" pitchFamily="2" charset="-78"/>
              </a:rPr>
              <a:t> takes the subjunctive.</a:t>
            </a:r>
            <a:endParaRPr lang="en-US" sz="100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30" name="Shape 27"/>
          <p:cNvSpPr/>
          <p:nvPr/>
        </p:nvSpPr>
        <p:spPr>
          <a:xfrm>
            <a:off x="960120" y="1938528"/>
            <a:ext cx="1207008"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Fixed with بِـ.</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أَنْصَحُ بِـ</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recommend</a:t>
            </a:r>
            <a:endParaRPr lang="en-US" sz="1350" dirty="0"/>
          </a:p>
          <a:p>
            <a:pPr indent="0" marL="0">
              <a:buNone/>
            </a:pPr>
            <a:r>
              <a:rPr lang="en-US" sz="1100" i="1" dirty="0">
                <a:solidFill>
                  <a:srgbClr val="5A6472"/>
                </a:solidFill>
                <a:latin typeface="Calibri" pitchFamily="34" charset="0"/>
                <a:cs typeface="Amiri" pitchFamily="2" charset="-78"/>
              </a:rPr>
              <a:t>an-ṣa-ḥu bi</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تَجْرِبَةٌ رَائِعَةٌ</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wonderful experience</a:t>
            </a:r>
            <a:endParaRPr lang="en-US" sz="1350" dirty="0"/>
          </a:p>
          <a:p>
            <a:pPr indent="0" marL="0">
              <a:buNone/>
            </a:pPr>
            <a:r>
              <a:rPr lang="en-US" sz="1100" i="1" dirty="0">
                <a:solidFill>
                  <a:srgbClr val="5A6472"/>
                </a:solidFill>
                <a:latin typeface="Calibri" pitchFamily="34" charset="0"/>
                <a:cs typeface="Amiri" pitchFamily="2" charset="-78"/>
              </a:rPr>
              <a:t>taj-ri-ba-tun rā-ʾi-ʿa-tun</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D5-L07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46" b="1" spc="150" kern="0" dirty="0">
                <a:solidFill>
                  <a:srgbClr val="1B3B6F"/>
                </a:solidFill>
                <a:latin typeface="Calibri" pitchFamily="34" charset="0"/>
                <a:cs typeface="Amiri" pitchFamily="2" charset="-78"/>
              </a:rPr>
              <a:t>GRAMMAR FOCUS · PART 1 · HOLLOW TRAVEL VERBS AND PREPOSITIONS (WEBSITE RULES 1–2)</a:t>
            </a:r>
            <a:endParaRPr lang="en-US" sz="84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Where did you go, stay and visit?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أَيْنَ سَافَرْتَ؟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919472" y="1810512"/>
            <a:ext cx="6739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a:t>
            </a:r>
            <a:endParaRPr lang="en-US" sz="1100" dirty="0"/>
          </a:p>
        </p:txBody>
      </p:sp>
      <p:sp>
        <p:nvSpPr>
          <p:cNvPr id="17" name="Text 14"/>
          <p:cNvSpPr txBox="1"/>
          <p:nvPr/>
        </p:nvSpPr>
        <p:spPr>
          <a:xfrm>
            <a:off x="25420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 / we</a:t>
            </a:r>
            <a:endParaRPr lang="en-US" sz="1100" dirty="0"/>
          </a:p>
        </p:txBody>
      </p:sp>
      <p:sp>
        <p:nvSpPr>
          <p:cNvPr id="18" name="Text 15"/>
          <p:cNvSpPr txBox="1"/>
          <p:nvPr/>
        </p:nvSpPr>
        <p:spPr>
          <a:xfrm>
            <a:off x="53035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937760" y="2286000"/>
            <a:ext cx="6702552"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سَافَرْنَا </a:t>
            </a:r>
            <a:pPr rtl="1" algn="ctr" indent="0" marL="0">
              <a:buNone/>
            </a:pPr>
            <a:r>
              <a:rPr lang="ar-SA" altLang="en-US" sz="1950" b="1" dirty="0">
                <a:solidFill>
                  <a:srgbClr val="0E7C86"/>
                </a:solidFill>
                <a:latin typeface="Amiri" pitchFamily="2" charset="-78"/>
                <a:cs typeface="Amiri" pitchFamily="2" charset="-78"/>
              </a:rPr>
              <a:t>إِلَى</a:t>
            </a:r>
            <a:pPr rtl="1" algn="ctr" indent="0" marL="0">
              <a:buNone/>
            </a:pPr>
            <a:r>
              <a:rPr lang="ar-SA" altLang="en-US" sz="1950" b="1" dirty="0">
                <a:solidFill>
                  <a:srgbClr val="1B3B6F"/>
                </a:solidFill>
                <a:latin typeface="Amiri" pitchFamily="2" charset="-78"/>
                <a:cs typeface="Amiri" pitchFamily="2" charset="-78"/>
              </a:rPr>
              <a:t> مَدِينَةٍ سَاحِلِيَّةٍ.</a:t>
            </a:r>
            <a:endParaRPr lang="ar-SA" sz="1950" dirty="0"/>
          </a:p>
        </p:txBody>
      </p:sp>
      <p:sp>
        <p:nvSpPr>
          <p:cNvPr id="21" name="Text 18"/>
          <p:cNvSpPr txBox="1"/>
          <p:nvPr/>
        </p:nvSpPr>
        <p:spPr>
          <a:xfrm>
            <a:off x="4892040" y="2676997"/>
            <a:ext cx="679399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We travelled to a coastal city.</a:t>
            </a:r>
            <a:endParaRPr lang="en-US" sz="950" dirty="0"/>
          </a:p>
        </p:txBody>
      </p:sp>
      <p:sp>
        <p:nvSpPr>
          <p:cNvPr id="22" name="Text 19"/>
          <p:cNvSpPr txBox="1"/>
          <p:nvPr/>
        </p:nvSpPr>
        <p:spPr>
          <a:xfrm>
            <a:off x="2560320" y="2267712"/>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سَافَرْتُ · سَافَرْنَا</a:t>
            </a:r>
            <a:endParaRPr lang="ar-SA" sz="2400" dirty="0"/>
          </a:p>
        </p:txBody>
      </p:sp>
      <p:sp>
        <p:nvSpPr>
          <p:cNvPr id="23" name="Text 20"/>
          <p:cNvSpPr txBox="1"/>
          <p:nvPr/>
        </p:nvSpPr>
        <p:spPr>
          <a:xfrm>
            <a:off x="548640" y="2267712"/>
            <a:ext cx="18288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سَافَرَ إِلَى</a:t>
            </a:r>
            <a:endParaRPr lang="ar-SA" sz="24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6" name="Shape 23"/>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7" name="Text 24"/>
          <p:cNvSpPr txBox="1"/>
          <p:nvPr/>
        </p:nvSpPr>
        <p:spPr>
          <a:xfrm>
            <a:off x="4937760" y="3023006"/>
            <a:ext cx="6702552"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زُرْنَا المَعَالِمَ السِّيَاحِيَّةَ.</a:t>
            </a:r>
            <a:endParaRPr lang="ar-SA" sz="1950" dirty="0"/>
          </a:p>
        </p:txBody>
      </p:sp>
      <p:sp>
        <p:nvSpPr>
          <p:cNvPr id="28" name="Text 25"/>
          <p:cNvSpPr txBox="1"/>
          <p:nvPr/>
        </p:nvSpPr>
        <p:spPr>
          <a:xfrm>
            <a:off x="4892040" y="3414004"/>
            <a:ext cx="679399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We visited the tourist sights.</a:t>
            </a:r>
            <a:endParaRPr lang="en-US" sz="950" dirty="0"/>
          </a:p>
        </p:txBody>
      </p:sp>
      <p:sp>
        <p:nvSpPr>
          <p:cNvPr id="29" name="Text 26"/>
          <p:cNvSpPr txBox="1"/>
          <p:nvPr/>
        </p:nvSpPr>
        <p:spPr>
          <a:xfrm>
            <a:off x="2560320" y="300471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cs typeface="Amiri" pitchFamily="2" charset="-78"/>
              </a:rPr>
              <a:t>زُرْتُ</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D6336C"/>
                </a:solidFill>
                <a:latin typeface="Amiri" pitchFamily="2" charset="-78"/>
                <a:cs typeface="Amiri" pitchFamily="2" charset="-78"/>
              </a:rPr>
              <a:t>زُرْنَا</a:t>
            </a:r>
            <a:endParaRPr lang="ar-SA" sz="2400" dirty="0"/>
          </a:p>
        </p:txBody>
      </p:sp>
      <p:sp>
        <p:nvSpPr>
          <p:cNvPr id="30" name="Text 27"/>
          <p:cNvSpPr txBox="1"/>
          <p:nvPr/>
        </p:nvSpPr>
        <p:spPr>
          <a:xfrm>
            <a:off x="548640" y="3004718"/>
            <a:ext cx="18288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زَارَ</a:t>
            </a:r>
            <a:endParaRPr lang="ar-SA" sz="2400" dirty="0"/>
          </a:p>
        </p:txBody>
      </p:sp>
      <p:sp>
        <p:nvSpPr>
          <p:cNvPr id="31" name="Shape 28"/>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4937760" y="3760013"/>
            <a:ext cx="6702552"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أَقَمْنَا </a:t>
            </a:r>
            <a:pPr rtl="1" algn="ctr" indent="0" marL="0">
              <a:buNone/>
            </a:pPr>
            <a:r>
              <a:rPr lang="ar-SA" altLang="en-US" sz="1950" b="1" dirty="0">
                <a:solidFill>
                  <a:srgbClr val="0E7C86"/>
                </a:solidFill>
                <a:latin typeface="Amiri" pitchFamily="2" charset="-78"/>
                <a:cs typeface="Amiri" pitchFamily="2" charset="-78"/>
              </a:rPr>
              <a:t>فِي</a:t>
            </a:r>
            <a:pPr rtl="1" algn="ctr" indent="0" marL="0">
              <a:buNone/>
            </a:pPr>
            <a:r>
              <a:rPr lang="ar-SA" altLang="en-US" sz="1950" b="1" dirty="0">
                <a:solidFill>
                  <a:srgbClr val="1B3B6F"/>
                </a:solidFill>
                <a:latin typeface="Amiri" pitchFamily="2" charset="-78"/>
                <a:cs typeface="Amiri" pitchFamily="2" charset="-78"/>
              </a:rPr>
              <a:t> فُنْدُقٍ صَغِيرٍ.</a:t>
            </a:r>
            <a:endParaRPr lang="ar-SA" sz="1950" dirty="0"/>
          </a:p>
        </p:txBody>
      </p:sp>
      <p:sp>
        <p:nvSpPr>
          <p:cNvPr id="35" name="Text 32"/>
          <p:cNvSpPr txBox="1"/>
          <p:nvPr/>
        </p:nvSpPr>
        <p:spPr>
          <a:xfrm>
            <a:off x="4892040" y="4151010"/>
            <a:ext cx="679399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We stayed in a small hotel.</a:t>
            </a:r>
            <a:endParaRPr lang="en-US" sz="950" dirty="0"/>
          </a:p>
        </p:txBody>
      </p:sp>
      <p:sp>
        <p:nvSpPr>
          <p:cNvPr id="36" name="Text 33"/>
          <p:cNvSpPr txBox="1"/>
          <p:nvPr/>
        </p:nvSpPr>
        <p:spPr>
          <a:xfrm>
            <a:off x="2560320" y="3741725"/>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cs typeface="Amiri" pitchFamily="2" charset="-78"/>
              </a:rPr>
              <a:t>أَقَمْتُ</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D6336C"/>
                </a:solidFill>
                <a:latin typeface="Amiri" pitchFamily="2" charset="-78"/>
                <a:cs typeface="Amiri" pitchFamily="2" charset="-78"/>
              </a:rPr>
              <a:t>أَقَمْنَا</a:t>
            </a:r>
            <a:endParaRPr lang="ar-SA" sz="2400" dirty="0"/>
          </a:p>
        </p:txBody>
      </p:sp>
      <p:sp>
        <p:nvSpPr>
          <p:cNvPr id="37" name="Text 34"/>
          <p:cNvSpPr txBox="1"/>
          <p:nvPr/>
        </p:nvSpPr>
        <p:spPr>
          <a:xfrm>
            <a:off x="548640" y="3741725"/>
            <a:ext cx="18288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أَقَامَ فِي</a:t>
            </a:r>
            <a:endParaRPr lang="ar-SA" sz="2400" dirty="0"/>
          </a:p>
        </p:txBody>
      </p:sp>
      <p:sp>
        <p:nvSpPr>
          <p:cNvPr id="38" name="Shape 35"/>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0" name="Shape 37"/>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1" name="Text 38"/>
          <p:cNvSpPr txBox="1"/>
          <p:nvPr/>
        </p:nvSpPr>
        <p:spPr>
          <a:xfrm>
            <a:off x="4937760" y="4497019"/>
            <a:ext cx="6702552"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عُدْنَا إِلَى البَيْتِ مُتْعَبِينَ.</a:t>
            </a:r>
            <a:endParaRPr lang="ar-SA" sz="1950" dirty="0"/>
          </a:p>
        </p:txBody>
      </p:sp>
      <p:sp>
        <p:nvSpPr>
          <p:cNvPr id="42" name="Text 39"/>
          <p:cNvSpPr txBox="1"/>
          <p:nvPr/>
        </p:nvSpPr>
        <p:spPr>
          <a:xfrm>
            <a:off x="4892040" y="4888017"/>
            <a:ext cx="679399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We returned home tired.</a:t>
            </a:r>
            <a:endParaRPr lang="en-US" sz="950" dirty="0"/>
          </a:p>
        </p:txBody>
      </p:sp>
      <p:sp>
        <p:nvSpPr>
          <p:cNvPr id="43" name="Text 40"/>
          <p:cNvSpPr txBox="1"/>
          <p:nvPr/>
        </p:nvSpPr>
        <p:spPr>
          <a:xfrm>
            <a:off x="2560320" y="4478731"/>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cs typeface="Amiri" pitchFamily="2" charset="-78"/>
              </a:rPr>
              <a:t>عُدْتُ</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D6336C"/>
                </a:solidFill>
                <a:latin typeface="Amiri" pitchFamily="2" charset="-78"/>
                <a:cs typeface="Amiri" pitchFamily="2" charset="-78"/>
              </a:rPr>
              <a:t>عُدْنَا</a:t>
            </a:r>
            <a:endParaRPr lang="ar-SA" sz="2400" dirty="0"/>
          </a:p>
        </p:txBody>
      </p:sp>
      <p:sp>
        <p:nvSpPr>
          <p:cNvPr id="44" name="Text 41"/>
          <p:cNvSpPr txBox="1"/>
          <p:nvPr/>
        </p:nvSpPr>
        <p:spPr>
          <a:xfrm>
            <a:off x="548640" y="4478731"/>
            <a:ext cx="18288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عَادَ</a:t>
            </a:r>
            <a:endParaRPr lang="ar-SA" sz="2400" dirty="0"/>
          </a:p>
        </p:txBody>
      </p:sp>
      <p:sp>
        <p:nvSpPr>
          <p:cNvPr id="45" name="Shape 4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6" name="Text 43"/>
          <p:cNvSpPr txBox="1"/>
          <p:nvPr/>
        </p:nvSpPr>
        <p:spPr>
          <a:xfrm>
            <a:off x="4937760" y="5234026"/>
            <a:ext cx="6702552"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اسْتَمْتَعْتُ </a:t>
            </a:r>
            <a:pPr rtl="1" algn="ctr" indent="0" marL="0">
              <a:buNone/>
            </a:pPr>
            <a:r>
              <a:rPr lang="ar-SA" altLang="en-US" sz="1950" b="1" dirty="0">
                <a:solidFill>
                  <a:srgbClr val="0E7C86"/>
                </a:solidFill>
                <a:latin typeface="Amiri" pitchFamily="2" charset="-78"/>
                <a:cs typeface="Amiri" pitchFamily="2" charset="-78"/>
              </a:rPr>
              <a:t>بِالرِّحْلَةِ</a:t>
            </a:r>
            <a:pPr rtl="1" algn="ctr" indent="0" marL="0">
              <a:buNone/>
            </a:pPr>
            <a:r>
              <a:rPr lang="ar-SA" altLang="en-US" sz="1950" b="1" dirty="0">
                <a:solidFill>
                  <a:srgbClr val="1B3B6F"/>
                </a:solidFill>
                <a:latin typeface="Amiri" pitchFamily="2" charset="-78"/>
                <a:cs typeface="Amiri" pitchFamily="2" charset="-78"/>
              </a:rPr>
              <a:t> كَثِيرًا.</a:t>
            </a:r>
            <a:endParaRPr lang="ar-SA" sz="1950" dirty="0"/>
          </a:p>
        </p:txBody>
      </p:sp>
      <p:sp>
        <p:nvSpPr>
          <p:cNvPr id="47" name="Text 44"/>
          <p:cNvSpPr txBox="1"/>
          <p:nvPr/>
        </p:nvSpPr>
        <p:spPr>
          <a:xfrm>
            <a:off x="4892040" y="5625023"/>
            <a:ext cx="679399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really enjoyed the trip.</a:t>
            </a:r>
            <a:endParaRPr lang="en-US" sz="950" dirty="0"/>
          </a:p>
        </p:txBody>
      </p:sp>
      <p:sp>
        <p:nvSpPr>
          <p:cNvPr id="48" name="Text 45"/>
          <p:cNvSpPr txBox="1"/>
          <p:nvPr/>
        </p:nvSpPr>
        <p:spPr>
          <a:xfrm>
            <a:off x="2560320" y="521573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اسْتَمْتَعْتُ</a:t>
            </a:r>
            <a:endParaRPr lang="ar-SA" sz="2400" dirty="0"/>
          </a:p>
        </p:txBody>
      </p:sp>
      <p:sp>
        <p:nvSpPr>
          <p:cNvPr id="49" name="Text 46"/>
          <p:cNvSpPr txBox="1"/>
          <p:nvPr/>
        </p:nvSpPr>
        <p:spPr>
          <a:xfrm>
            <a:off x="548640" y="5215738"/>
            <a:ext cx="18288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اسْتَمْتَعَ بِـ</a:t>
            </a:r>
            <a:endParaRPr lang="ar-SA" sz="2400" dirty="0"/>
          </a:p>
        </p:txBody>
      </p:sp>
      <p:sp>
        <p:nvSpPr>
          <p:cNvPr id="50" name="Text 4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Hollow verbs: zāra → zur-tu, aqāma → aqam-tu, ʿāda → ʿud-nā (the long ā shortens, as with qāla → qul-nā).</a:t>
            </a:r>
            <a:endParaRPr lang="en-US" sz="11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D5-L07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JUDGE IT, THEN LOOK AHEAD (WEBSITE RULES 3–4)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was it — and what next?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التَّقْيِيمُ وَالمُسْتَقْبَلُ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D5-L07</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508760" cy="274320"/>
          </a:xfrm>
          <a:prstGeom prst="roundRect">
            <a:avLst>
              <a:gd name="adj" fmla="val 50000"/>
            </a:avLst>
          </a:prstGeom>
          <a:solidFill>
            <a:srgbClr val="6B4C9A"/>
          </a:solidFill>
          <a:ln w="12700">
            <a:solidFill>
              <a:srgbClr val="6B4C9A"/>
            </a:solidFill>
            <a:prstDash val="solid"/>
          </a:ln>
        </p:spPr>
      </p:sp>
      <p:sp>
        <p:nvSpPr>
          <p:cNvPr id="17" name="Text 14"/>
          <p:cNvSpPr txBox="1"/>
          <p:nvPr/>
        </p:nvSpPr>
        <p:spPr>
          <a:xfrm>
            <a:off x="8232648"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EVALUATE · DEVELOP</a:t>
            </a:r>
            <a:endParaRPr lang="en-US" sz="850" dirty="0"/>
          </a:p>
        </p:txBody>
      </p:sp>
      <p:sp>
        <p:nvSpPr>
          <p:cNvPr id="18" name="Text 15"/>
          <p:cNvSpPr txBox="1"/>
          <p:nvPr/>
        </p:nvSpPr>
        <p:spPr>
          <a:xfrm>
            <a:off x="9787128"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كَانَتْ مِنْ أَجْمَلِ …</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2" charset="-78"/>
                <a:cs typeface="Amiri" pitchFamily="2" charset="-78"/>
              </a:rPr>
              <a:t>كَانَتْ مِنْ أَجْمَلِ الرِّحْلَاتِ.</a:t>
            </a:r>
            <a:endParaRPr lang="ar-SA" sz="31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It was one of the most beautiful trips.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min + superlative + plural.</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165860" cy="274320"/>
          </a:xfrm>
          <a:prstGeom prst="roundRect">
            <a:avLst>
              <a:gd name="adj" fmla="val 50000"/>
            </a:avLst>
          </a:prstGeom>
          <a:solidFill>
            <a:srgbClr val="1E6B52"/>
          </a:solidFill>
          <a:ln w="12700">
            <a:solidFill>
              <a:srgbClr val="1E6B52"/>
            </a:solidFill>
            <a:prstDash val="solid"/>
          </a:ln>
        </p:spPr>
      </p:sp>
      <p:sp>
        <p:nvSpPr>
          <p:cNvPr id="25" name="Text 22"/>
          <p:cNvSpPr txBox="1"/>
          <p:nvPr/>
        </p:nvSpPr>
        <p:spPr>
          <a:xfrm>
            <a:off x="4413504"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FUTURE · CORE</a:t>
            </a:r>
            <a:endParaRPr lang="en-US" sz="850" dirty="0"/>
          </a:p>
        </p:txBody>
      </p:sp>
      <p:sp>
        <p:nvSpPr>
          <p:cNvPr id="26" name="Text 23"/>
          <p:cNvSpPr txBox="1"/>
          <p:nvPr/>
        </p:nvSpPr>
        <p:spPr>
          <a:xfrm>
            <a:off x="5625084"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سَأَزُورُ</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850" b="1" dirty="0">
                <a:solidFill>
                  <a:srgbClr val="1B3B6F"/>
                </a:solidFill>
                <a:latin typeface="Amiri" pitchFamily="2" charset="-78"/>
                <a:cs typeface="Amiri" pitchFamily="2" charset="-78"/>
              </a:rPr>
              <a:t>سَأَزُورُ المَدِينَةَ مَرَّةً أُخْرَى.</a:t>
            </a:r>
            <a:endParaRPr lang="ar-SA" sz="28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will visit the city again.</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sa- is attached.</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71600" cy="274320"/>
          </a:xfrm>
          <a:prstGeom prst="roundRect">
            <a:avLst>
              <a:gd name="adj" fmla="val 50000"/>
            </a:avLst>
          </a:prstGeom>
          <a:solidFill>
            <a:srgbClr val="1D5FBF"/>
          </a:solidFill>
          <a:ln w="12700">
            <a:solidFill>
              <a:srgbClr val="1D5FBF"/>
            </a:solidFill>
            <a:prstDash val="solid"/>
          </a:ln>
        </p:spPr>
      </p:sp>
      <p:sp>
        <p:nvSpPr>
          <p:cNvPr id="33" name="Text 30"/>
          <p:cNvSpPr txBox="1"/>
          <p:nvPr/>
        </p:nvSpPr>
        <p:spPr>
          <a:xfrm>
            <a:off x="594360"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FUTURE · STRETCH</a:t>
            </a:r>
            <a:endParaRPr lang="en-US" sz="850" dirty="0"/>
          </a:p>
        </p:txBody>
      </p:sp>
      <p:sp>
        <p:nvSpPr>
          <p:cNvPr id="34" name="Text 31"/>
          <p:cNvSpPr txBox="1"/>
          <p:nvPr/>
        </p:nvSpPr>
        <p:spPr>
          <a:xfrm>
            <a:off x="2011680"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سَوْفَ · أَتَمَنَّى أَنْ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سَوْفَ نَحْجِزُ مُبَكِّرًا، وَأَتَمَنَّى أَنْ أَعُودَ.</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We will book early, and I hope to return.</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an + -a.</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sa- goes on a PRESENT verb only.</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2" charset="-78"/>
                <a:cs typeface="Amiri" pitchFamily="2" charset="-78"/>
              </a:rPr>
              <a:t>سَأَزُورُ المَدِينَةَ غَدًا.</a:t>
            </a:r>
            <a:endParaRPr lang="ar-SA" sz="18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B83227"/>
                </a:solidFill>
                <a:latin typeface="Amiri" pitchFamily="2" charset="-78"/>
                <a:cs typeface="Amiri" pitchFamily="2" charset="-78"/>
              </a:rPr>
              <a:t>سَزُرْتُ المَدِينَةَ غَدًا.</a:t>
            </a:r>
            <a:endParaRPr lang="ar-SA" sz="19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D5-L07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Past narrative and future plans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سَرْدُ المَاضِي وَخُطَطُ المُسْتَقْبَلِ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D5-L07</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Hollow verbs in the past</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زَارَ → زُرْتُ · أَقَامَ → أَقَمْتُ · عَادَ → عُدْنَا</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زُرْتُ المَعَالِمَ السِّيَاحِيَّةَ   ·   أَقَمْنَا فِي فُنْدُقٍ صَغِيرٍ</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Fixed prepositions on travel verbs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سَافَرَ إِلَى · أَقَامَ فِي · نَزَلَ فِي · اسْتَمْتَعَ بِـ</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سَافَرْنَا إِلَى مَدِينَةٍ سَاحِلِيَّةٍ   ·   اسْتَمْتَعْتُ بِالرِّحْلَةِ كَثِيرًا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Marking the future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cs typeface="Amiri" pitchFamily="2" charset="-78"/>
              </a:rPr>
              <a:t>سَـ</a:t>
            </a:r>
            <a:pPr algn="l" indent="0" marL="0">
              <a:buNone/>
            </a:pPr>
            <a:r>
              <a:rPr lang="en-US" sz="1050" dirty="0">
                <a:solidFill>
                  <a:srgbClr val="5A6472"/>
                </a:solidFill>
                <a:latin typeface="Calibri" pitchFamily="34" charset="0"/>
                <a:cs typeface="Amiri" pitchFamily="2" charset="-78"/>
              </a:rPr>
              <a:t> + present verb  /  </a:t>
            </a:r>
            <a:pPr algn="l" indent="0" marL="0">
              <a:buNone/>
            </a:pPr>
            <a:r>
              <a:rPr lang="ar-SA" altLang="en-US" sz="1350" dirty="0">
                <a:solidFill>
                  <a:srgbClr val="5A6472"/>
                </a:solidFill>
                <a:latin typeface="Amiri" pitchFamily="2" charset="-78"/>
                <a:cs typeface="Amiri" pitchFamily="2" charset="-78"/>
              </a:rPr>
              <a:t>سَوْفَ</a:t>
            </a:r>
            <a:pPr algn="l" indent="0" marL="0">
              <a:buNone/>
            </a:pPr>
            <a:r>
              <a:rPr lang="en-US" sz="1050" dirty="0">
                <a:solidFill>
                  <a:srgbClr val="5A6472"/>
                </a:solidFill>
                <a:latin typeface="Calibri" pitchFamily="34" charset="0"/>
                <a:cs typeface="Amiri" pitchFamily="2" charset="-78"/>
              </a:rPr>
              <a:t> + present verb</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سَأَزُورُ المَدِينَةَ مَرَّةً أُخْرَى   ·   سَوْفَ نَحْجِزُ مُبَكِّرًا</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Evaluating the trip</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cs typeface="Amiri" pitchFamily="2" charset="-78"/>
              </a:rPr>
              <a:t>كَانَ مِنْ أَجْمَلِ</a:t>
            </a:r>
            <a:pPr algn="l" indent="0" marL="0">
              <a:buNone/>
            </a:pPr>
            <a:r>
              <a:rPr lang="en-US" sz="1050" dirty="0">
                <a:solidFill>
                  <a:srgbClr val="5A6472"/>
                </a:solidFill>
                <a:latin typeface="Calibri" pitchFamily="34" charset="0"/>
                <a:cs typeface="Amiri" pitchFamily="2" charset="-78"/>
              </a:rPr>
              <a:t> + genitive plural</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كَانَتْ مِنْ أَجْمَلِ الرِّحْلَاتِ   ·   كَانَ مِنْ أَفْضَلِ الأَيَّامِ</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D5-L07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t>
            </a:r>
            <a:pPr algn="l" indent="0" marL="0">
              <a:buNone/>
            </a:pPr>
            <a:r>
              <a:rPr lang="ar-SA" altLang="en-US" sz="1650" b="1" dirty="0">
                <a:solidFill>
                  <a:srgbClr val="1B3B6F"/>
                </a:solidFill>
                <a:latin typeface="Amiri" pitchFamily="2" charset="-78"/>
                <a:cs typeface="Amiri" pitchFamily="2" charset="-78"/>
              </a:rPr>
              <a:t>أَنَا</a:t>
            </a:r>
            <a:pPr algn="l" indent="0" marL="0">
              <a:buNone/>
            </a:pPr>
            <a:r>
              <a:rPr lang="en-US" sz="1250" b="1" dirty="0">
                <a:solidFill>
                  <a:srgbClr val="1B3B6F"/>
                </a:solidFill>
                <a:latin typeface="Calibri" pitchFamily="34" charset="0"/>
                <a:cs typeface="Amiri" pitchFamily="2" charset="-78"/>
              </a:rPr>
              <a:t> past of </a:t>
            </a:r>
            <a:pPr algn="l" indent="0" marL="0">
              <a:buNone/>
            </a:pPr>
            <a:r>
              <a:rPr lang="ar-SA" altLang="en-US" sz="1650" b="1" dirty="0">
                <a:solidFill>
                  <a:srgbClr val="1B3B6F"/>
                </a:solidFill>
                <a:latin typeface="Amiri" pitchFamily="2" charset="-78"/>
                <a:cs typeface="Amiri" pitchFamily="2" charset="-78"/>
              </a:rPr>
              <a:t>زَارَ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زَارْتُ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زَوَرْتُ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زُرْتُ</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اسْتَمْتَعْتُ ___ الرِّحْلَةِ كَثِيرًا.</a:t>
            </a:r>
            <a:endParaRPr lang="ar-SA" sz="15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عَنْ</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future sentence.</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سَزُرْتُ هٰذِهِ المَدِينَةَ مَرَّةً أُخْرَى.</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سَأَزُورُ هٰذِهِ المَدِينَةَ مَرَّةً أُخْرَى.</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سَوْفَ زُرْتُ هٰذِهِ المَدِينَةَ مَرَّةً أُخْرَى.</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sentence that keeps both tenses in place.</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cs typeface="Amiri" pitchFamily="2" charset="-78"/>
              </a:rPr>
              <a:t>زُرْتُ المَتْحَفَ العَامَ المَاضِيَ، وَسَأَعُودُ إِلَيْهِ فِي المُسْتَقْبَلِ.</a:t>
            </a:r>
            <a:endParaRPr lang="ar-SA" sz="19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cs typeface="Amiri" pitchFamily="2" charset="-78"/>
              </a:rPr>
              <a:t>سَأَزُورُ المَتْحَفَ العَامَ المَاضِيَ، وَعُدْتُ إِلَيْهِ فِي المُسْتَقْبَلِ.</a:t>
            </a:r>
            <a:endParaRPr lang="ar-SA" sz="19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cs typeface="Amiri" pitchFamily="2" charset="-78"/>
              </a:rPr>
              <a:t>زُرْتُ المَتْحَفَ فِي المُسْتَقْبَلِ وَسَأَعُودُ العَامَ المَاضِيَ.</a:t>
            </a:r>
            <a:endParaRPr lang="ar-SA" sz="19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D5-L07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t>
            </a:r>
            <a:pPr algn="l" indent="0" marL="0">
              <a:buNone/>
            </a:pPr>
            <a:r>
              <a:rPr lang="ar-SA" altLang="en-US" sz="1650" b="1" dirty="0">
                <a:solidFill>
                  <a:srgbClr val="1B3B6F"/>
                </a:solidFill>
                <a:latin typeface="Amiri" pitchFamily="2" charset="-78"/>
                <a:cs typeface="Amiri" pitchFamily="2" charset="-78"/>
              </a:rPr>
              <a:t>أَنَا</a:t>
            </a:r>
            <a:pPr algn="l" indent="0" marL="0">
              <a:buNone/>
            </a:pPr>
            <a:r>
              <a:rPr lang="en-US" sz="1250" b="1" dirty="0">
                <a:solidFill>
                  <a:srgbClr val="1B3B6F"/>
                </a:solidFill>
                <a:latin typeface="Calibri" pitchFamily="34" charset="0"/>
                <a:cs typeface="Amiri" pitchFamily="2" charset="-78"/>
              </a:rPr>
              <a:t> past of </a:t>
            </a:r>
            <a:pPr algn="l" indent="0" marL="0">
              <a:buNone/>
            </a:pPr>
            <a:r>
              <a:rPr lang="ar-SA" altLang="en-US" sz="1650" b="1" dirty="0">
                <a:solidFill>
                  <a:srgbClr val="1B3B6F"/>
                </a:solidFill>
                <a:latin typeface="Amiri" pitchFamily="2" charset="-78"/>
                <a:cs typeface="Amiri" pitchFamily="2" charset="-78"/>
              </a:rPr>
              <a:t>زَارَ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زَارْتُ</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زَوَرْتُ</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زُرْتُ</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hollow stem shortens to </a:t>
            </a:r>
            <a:pPr algn="l" indent="0" marL="0">
              <a:buNone/>
            </a:pPr>
            <a:r>
              <a:rPr lang="ar-SA" altLang="en-US" sz="1350" dirty="0">
                <a:solidFill>
                  <a:srgbClr val="8A6D1E"/>
                </a:solidFill>
                <a:latin typeface="Amiri" pitchFamily="2" charset="-78"/>
                <a:cs typeface="Amiri" pitchFamily="2" charset="-78"/>
              </a:rPr>
              <a:t>زُرْـ</a:t>
            </a:r>
            <a:pPr algn="l" indent="0" marL="0">
              <a:buNone/>
            </a:pPr>
            <a:r>
              <a:rPr lang="en-US" sz="1050" i="1" dirty="0">
                <a:solidFill>
                  <a:srgbClr val="8A6D1E"/>
                </a:solidFill>
                <a:latin typeface="Calibri" pitchFamily="34" charset="0"/>
                <a:cs typeface="Amiri" pitchFamily="2" charset="-78"/>
              </a:rPr>
              <a:t> before the suffix.</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اسْتَمْتَعْتُ ___ الرِّحْلَةِ كَثِيرًا.</a:t>
            </a:r>
            <a:endParaRPr lang="ar-SA" sz="15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بِـ</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عَنْ</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اسْتَمْتَعَ</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future sentence.</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سَزُرْتُ هٰذِهِ المَدِينَةَ مَرَّةً أُخْرَى.</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سَأَزُورُ هٰذِهِ المَدِينَةَ مَرَّةً أُخْرَى.</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سَوْفَ زُرْتُ هٰذِهِ المَدِينَةَ مَرَّةً أُخْرَى.</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 attaches to a present verb, and the object stays accusative.</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sentence that keeps both tenses in place.</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زُرْتُ المَتْحَفَ العَامَ المَاضِيَ، وَسَأَعُودُ إِلَيْهِ فِي المُسْتَقْبَلِ.</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سَأَزُورُ المَتْحَفَ العَامَ المَاضِيَ، وَعُدْتُ إِلَيْهِ فِي المُسْتَقْبَلِ.</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زُرْتُ المَتْحَفَ فِي المُسْتَقْبَلِ وَسَأَعُودُ العَامَ المَاضِيَ.</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past clause carries the past time phrase and the future clause carries the future one.</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D5-L07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tell the story of a trip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D5-L07</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Go</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سَافَرْنَا </a:t>
            </a:r>
            <a:pPr rtl="1" algn="ctr" indent="0" marL="0">
              <a:buNone/>
            </a:pPr>
            <a:r>
              <a:rPr lang="ar-SA" altLang="en-US" sz="2100" b="1" dirty="0">
                <a:solidFill>
                  <a:srgbClr val="0E7C86"/>
                </a:solidFill>
                <a:latin typeface="Amiri" pitchFamily="2" charset="-78"/>
                <a:cs typeface="Amiri" pitchFamily="2" charset="-78"/>
              </a:rPr>
              <a:t>إِلَى</a:t>
            </a:r>
            <a:pPr rtl="1" algn="ctr" indent="0" marL="0">
              <a:buNone/>
            </a:pPr>
            <a:r>
              <a:rPr lang="ar-SA" altLang="en-US" sz="2100" b="1" dirty="0">
                <a:solidFill>
                  <a:srgbClr val="1B3B6F"/>
                </a:solidFill>
                <a:latin typeface="Amiri" pitchFamily="2" charset="-78"/>
                <a:cs typeface="Amiri" pitchFamily="2" charset="-78"/>
              </a:rPr>
              <a:t> مَدِينَةٍ سَاحِلِيَّةٍ</a:t>
            </a:r>
            <a:endParaRPr lang="ar-SA" sz="21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safara + ilā.</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Stay</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2" charset="-78"/>
                <a:cs typeface="Amiri" pitchFamily="2" charset="-78"/>
              </a:rPr>
              <a:t>أَقَمْنَا</a:t>
            </a:r>
            <a:pPr rtl="1" algn="ctr" indent="0" marL="0">
              <a:buNone/>
            </a:pPr>
            <a:r>
              <a:rPr lang="ar-SA" altLang="en-US" sz="2800" b="1" dirty="0">
                <a:solidFill>
                  <a:srgbClr val="1B3B6F"/>
                </a:solidFill>
                <a:latin typeface="Amiri" pitchFamily="2" charset="-78"/>
                <a:cs typeface="Amiri" pitchFamily="2" charset="-78"/>
              </a:rPr>
              <a:t> فِي فُنْدُقٍ</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Hollow: aqam-nā.</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Judge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كَانَتْ </a:t>
            </a:r>
            <a:pPr rtl="1" algn="ctr" indent="0" marL="0">
              <a:buNone/>
            </a:pPr>
            <a:r>
              <a:rPr lang="ar-SA" altLang="en-US" sz="2400" b="1" dirty="0">
                <a:solidFill>
                  <a:srgbClr val="1D5FBF"/>
                </a:solidFill>
                <a:latin typeface="Amiri" pitchFamily="2" charset="-78"/>
                <a:cs typeface="Amiri" pitchFamily="2" charset="-78"/>
              </a:rPr>
              <a:t>مِنْ أَجْمَلِ</a:t>
            </a:r>
            <a:pPr rtl="1" algn="ctr" indent="0" marL="0">
              <a:buNone/>
            </a:pPr>
            <a:r>
              <a:rPr lang="ar-SA" altLang="en-US" sz="2400" b="1" dirty="0">
                <a:solidFill>
                  <a:srgbClr val="1B3B6F"/>
                </a:solidFill>
                <a:latin typeface="Amiri" pitchFamily="2" charset="-78"/>
                <a:cs typeface="Amiri" pitchFamily="2" charset="-78"/>
              </a:rPr>
              <a:t> الرِّحْلَاتِ</a:t>
            </a:r>
            <a:endParaRPr lang="ar-SA" sz="24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One of the best.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Next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2" charset="-78"/>
                <a:cs typeface="Amiri" pitchFamily="2" charset="-78"/>
              </a:rPr>
              <a:t>سَأَزُورُ</a:t>
            </a:r>
            <a:pPr rtl="1" algn="ctr" indent="0" marL="0">
              <a:buNone/>
            </a:pPr>
            <a:r>
              <a:rPr lang="ar-SA" altLang="en-US" sz="2800" b="1" dirty="0">
                <a:solidFill>
                  <a:srgbClr val="1B3B6F"/>
                </a:solidFill>
                <a:latin typeface="Amiri" pitchFamily="2" charset="-78"/>
                <a:cs typeface="Amiri" pitchFamily="2" charset="-78"/>
              </a:rPr>
              <a:t> تِلْكَ المَدِينَةَ</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Switch to future.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PREPOSITION</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VERB FORM</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EVALUATION</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cs typeface="Amiri" pitchFamily="2" charset="-78"/>
              </a:rPr>
              <a:t>فِي الصَّيْفِ المَاضِي سَافَرْنَا </a:t>
            </a:r>
            <a:pPr rtl="1" algn="r" indent="0" marL="0">
              <a:lnSpc>
                <a:spcPct val="120000"/>
              </a:lnSpc>
              <a:buNone/>
            </a:pPr>
            <a:r>
              <a:rPr lang="ar-SA" altLang="en-US" sz="1400" b="1" dirty="0">
                <a:solidFill>
                  <a:srgbClr val="0E7C86"/>
                </a:solidFill>
                <a:latin typeface="Amiri" pitchFamily="2" charset="-78"/>
                <a:cs typeface="Amiri" pitchFamily="2" charset="-78"/>
              </a:rPr>
              <a:t>إِلَى</a:t>
            </a:r>
            <a:pPr rtl="1" algn="r" indent="0" marL="0">
              <a:lnSpc>
                <a:spcPct val="120000"/>
              </a:lnSpc>
              <a:buNone/>
            </a:pPr>
            <a:r>
              <a:rPr lang="ar-SA" altLang="en-US" sz="1400" b="1" dirty="0">
                <a:solidFill>
                  <a:srgbClr val="1B3B6F"/>
                </a:solidFill>
                <a:latin typeface="Amiri" pitchFamily="2" charset="-78"/>
                <a:cs typeface="Amiri" pitchFamily="2" charset="-78"/>
              </a:rPr>
              <a:t> مَدِينَةٍ سَاحِلِيَّةٍ. حَجَزْنَا التَّذَاكِرَ قَبْلَ شَهْرٍ، ثُمَّ رَكِبْنَا القِطَارَ. </a:t>
            </a:r>
            <a:pPr rtl="1" algn="r" indent="0" marL="0">
              <a:lnSpc>
                <a:spcPct val="120000"/>
              </a:lnSpc>
              <a:buNone/>
            </a:pPr>
            <a:r>
              <a:rPr lang="ar-SA" altLang="en-US" sz="1400" b="1" dirty="0">
                <a:solidFill>
                  <a:srgbClr val="D6336C"/>
                </a:solidFill>
                <a:latin typeface="Amiri" pitchFamily="2" charset="-78"/>
                <a:cs typeface="Amiri" pitchFamily="2" charset="-78"/>
              </a:rPr>
              <a:t>أَقَمْنَا</a:t>
            </a:r>
            <a:pPr rtl="1" algn="r" indent="0" marL="0">
              <a:lnSpc>
                <a:spcPct val="120000"/>
              </a:lnSpc>
              <a:buNone/>
            </a:pPr>
            <a:r>
              <a:rPr lang="ar-SA" altLang="en-US" sz="1400" b="1" dirty="0">
                <a:solidFill>
                  <a:srgbClr val="1B3B6F"/>
                </a:solidFill>
                <a:latin typeface="Amiri" pitchFamily="2" charset="-78"/>
                <a:cs typeface="Amiri" pitchFamily="2" charset="-78"/>
              </a:rPr>
              <a:t> </a:t>
            </a:r>
            <a:pPr rtl="1" algn="r" indent="0" marL="0">
              <a:lnSpc>
                <a:spcPct val="120000"/>
              </a:lnSpc>
              <a:buNone/>
            </a:pPr>
            <a:r>
              <a:rPr lang="ar-SA" altLang="en-US" sz="1400" b="1" dirty="0">
                <a:solidFill>
                  <a:srgbClr val="0E7C86"/>
                </a:solidFill>
                <a:latin typeface="Amiri" pitchFamily="2" charset="-78"/>
                <a:cs typeface="Amiri" pitchFamily="2" charset="-78"/>
              </a:rPr>
              <a:t>فِي</a:t>
            </a:r>
            <a:pPr rtl="1" algn="r" indent="0" marL="0">
              <a:lnSpc>
                <a:spcPct val="120000"/>
              </a:lnSpc>
              <a:buNone/>
            </a:pPr>
            <a:r>
              <a:rPr lang="ar-SA" altLang="en-US" sz="1400" b="1" dirty="0">
                <a:solidFill>
                  <a:srgbClr val="1B3B6F"/>
                </a:solidFill>
                <a:latin typeface="Amiri" pitchFamily="2" charset="-78"/>
                <a:cs typeface="Amiri" pitchFamily="2" charset="-78"/>
              </a:rPr>
              <a:t> فُنْدُقٍ صَغِيرٍ، وَ</a:t>
            </a:r>
            <a:pPr rtl="1" algn="r" indent="0" marL="0">
              <a:lnSpc>
                <a:spcPct val="120000"/>
              </a:lnSpc>
              <a:buNone/>
            </a:pPr>
            <a:r>
              <a:rPr lang="ar-SA" altLang="en-US" sz="1400" b="1" dirty="0">
                <a:solidFill>
                  <a:srgbClr val="D6336C"/>
                </a:solidFill>
                <a:latin typeface="Amiri" pitchFamily="2" charset="-78"/>
                <a:cs typeface="Amiri" pitchFamily="2" charset="-78"/>
              </a:rPr>
              <a:t>زُرْنَا</a:t>
            </a:r>
            <a:pPr rtl="1" algn="r" indent="0" marL="0">
              <a:lnSpc>
                <a:spcPct val="120000"/>
              </a:lnSpc>
              <a:buNone/>
            </a:pPr>
            <a:r>
              <a:rPr lang="ar-SA" altLang="en-US" sz="1400" b="1" dirty="0">
                <a:solidFill>
                  <a:srgbClr val="1B3B6F"/>
                </a:solidFill>
                <a:latin typeface="Amiri" pitchFamily="2" charset="-78"/>
                <a:cs typeface="Amiri" pitchFamily="2" charset="-78"/>
              </a:rPr>
              <a:t> المَعَالِمَ السِّيَاحِيَّةَ. كَانَتْ </a:t>
            </a:r>
            <a:pPr rtl="1" algn="r" indent="0" marL="0">
              <a:lnSpc>
                <a:spcPct val="120000"/>
              </a:lnSpc>
              <a:buNone/>
            </a:pPr>
            <a:r>
              <a:rPr lang="ar-SA" altLang="en-US" sz="1400" b="1" dirty="0">
                <a:solidFill>
                  <a:srgbClr val="1D5FBF"/>
                </a:solidFill>
                <a:latin typeface="Amiri" pitchFamily="2" charset="-78"/>
                <a:cs typeface="Amiri" pitchFamily="2" charset="-78"/>
              </a:rPr>
              <a:t>مِنْ أَجْمَلِ</a:t>
            </a:r>
            <a:pPr rtl="1" algn="r" indent="0" marL="0">
              <a:lnSpc>
                <a:spcPct val="120000"/>
              </a:lnSpc>
              <a:buNone/>
            </a:pPr>
            <a:r>
              <a:rPr lang="ar-SA" altLang="en-US" sz="1400" b="1" dirty="0">
                <a:solidFill>
                  <a:srgbClr val="1B3B6F"/>
                </a:solidFill>
                <a:latin typeface="Amiri" pitchFamily="2" charset="-78"/>
                <a:cs typeface="Amiri" pitchFamily="2" charset="-78"/>
              </a:rPr>
              <a:t> الرِّحْلَاتِ. فِي المُسْتَقْبَلِ </a:t>
            </a:r>
            <a:pPr rtl="1" algn="r" indent="0" marL="0">
              <a:lnSpc>
                <a:spcPct val="120000"/>
              </a:lnSpc>
              <a:buNone/>
            </a:pPr>
            <a:r>
              <a:rPr lang="ar-SA" altLang="en-US" sz="1400" b="1" dirty="0">
                <a:solidFill>
                  <a:srgbClr val="D6336C"/>
                </a:solidFill>
                <a:latin typeface="Amiri" pitchFamily="2" charset="-78"/>
                <a:cs typeface="Amiri" pitchFamily="2" charset="-78"/>
              </a:rPr>
              <a:t>سَأَزُورُ</a:t>
            </a:r>
            <a:pPr rtl="1" algn="r" indent="0" marL="0">
              <a:lnSpc>
                <a:spcPct val="120000"/>
              </a:lnSpc>
              <a:buNone/>
            </a:pPr>
            <a:r>
              <a:rPr lang="ar-SA" altLang="en-US" sz="1400" b="1" dirty="0">
                <a:solidFill>
                  <a:srgbClr val="1B3B6F"/>
                </a:solidFill>
                <a:latin typeface="Amiri" pitchFamily="2" charset="-78"/>
                <a:cs typeface="Amiri" pitchFamily="2" charset="-78"/>
              </a:rPr>
              <a:t> تِلْكَ المَدِينَةَ مَرَّةً أُخْرَى.</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Last summer we travelled to a coastal city. We booked the tickets a month before, then took the train. We stayed in a small hotel and visited the tourist sights. It was one of the most beautiful trips. In the future I will visit that city again.</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D5-L07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D5-L07</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زُرْتُ المَعَالِمَ السِّيَاحِيَّةَ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visited the tourist sights</a:t>
            </a:r>
            <a:endParaRPr lang="en-US" sz="1250" dirty="0"/>
          </a:p>
          <a:p>
            <a:pPr indent="0" marL="0">
              <a:buNone/>
            </a:pPr>
            <a:r>
              <a:rPr lang="en-US" sz="1050" i="1" dirty="0">
                <a:solidFill>
                  <a:srgbClr val="8A6D1E"/>
                </a:solidFill>
                <a:latin typeface="Calibri" pitchFamily="34" charset="0"/>
                <a:cs typeface="Amiri" pitchFamily="2" charset="-78"/>
              </a:rPr>
              <a:t>زَارَ shortens to زُرْـ and takes a direct object.</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أَقَمْنَا فِي فُنْدُقٍ صَغِيرٍ</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we stayed in a small hotel</a:t>
            </a:r>
            <a:endParaRPr lang="en-US" sz="1250" dirty="0"/>
          </a:p>
          <a:p>
            <a:pPr indent="0" marL="0">
              <a:buNone/>
            </a:pPr>
            <a:r>
              <a:rPr lang="en-US" sz="1050" i="1" dirty="0">
                <a:solidFill>
                  <a:srgbClr val="8A6D1E"/>
                </a:solidFill>
                <a:latin typeface="Calibri" pitchFamily="34" charset="0"/>
                <a:cs typeface="Amiri" pitchFamily="2" charset="-78"/>
              </a:rPr>
              <a:t>أَقَامَ shortens to أَقَمْـ and is fixed with فِي.</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سَأَزُورُ مَرَّةً أُخْرَى</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will visit again</a:t>
            </a:r>
            <a:endParaRPr lang="en-US" sz="1250" dirty="0"/>
          </a:p>
          <a:p>
            <a:pPr indent="0" marL="0">
              <a:buNone/>
            </a:pPr>
            <a:r>
              <a:rPr lang="en-US" sz="1050" i="1" dirty="0">
                <a:solidFill>
                  <a:srgbClr val="8A6D1E"/>
                </a:solidFill>
                <a:latin typeface="Calibri" pitchFamily="34" charset="0"/>
                <a:cs typeface="Amiri" pitchFamily="2" charset="-78"/>
              </a:rPr>
              <a:t>سَـ attaches directly to the present verb.</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D5-L07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HOLIDAYS AND TRAVEL — PAST AND FUTURE”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Where did I go?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مَشْهَدُ العُطْلَةِ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D5-L07</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beach and sun</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plane and suitcase</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hotel and bed</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سَافَرْتُ بِالطَّائِرَةِ.</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أَقَمْتُ فِي فُنْدُقٍ.</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قَضَيْتُ العُطْلَةَ عَلَى الشَّاطِئِ.</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D5-L07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مَشْهَدُ العُطْلَةِ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D5-L07</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beach and sun</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قَضَيْتُ العُطْلَةَ عَلَى الشَّاطِئِ.</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spent the holiday on the beach.</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plane and suitcase</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سَافَرْتُ بِالطَّائِرَةِ.</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travelled by plane.</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hotel and bed</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أَقَمْتُ فِي فُنْدُقٍ.</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stayed in a hotel.</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D5-L07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D5-L07</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حَجَزْنَا التَّذَاكِرَ</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أَقَمْنَا فِي فُنْدُقٍ</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زُرْتُ المَعَالِمَ</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سَأَزُورُ مَرَّةً أُخْرَى</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سَوْفَ نَحْجِزُ مُبَكِّرًا</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أَتَمَنَّى أَنْ أَعُودَ</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كَانَتْ مِنْ أَجْمَلِ الرِّحْلَاتِ</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رِحْلَةٌ لَا تُنْسَى</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أَنْصَحُ بِزِيَارَتِهَا</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Past narrative</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Future plan</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Evaluation</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D5-L07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D5-L07</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Past narrative</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حَجَزْنَا التَّذَاكِرَ</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أَقَمْنَا فِي فُنْدُقٍ</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زُرْتُ المَعَالِمَ</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Future plan</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سَأَزُورُ مَرَّةً أُخْرَى</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سَوْفَ نَحْجِزُ مُبَكِّرًا</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أَتَمَنَّى أَنْ أَعُودَ</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Evaluation</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كَانَتْ مِنْ أَجْمَلِ الرِّحْلَاتِ</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رِحْلَةٌ لَا تُنْسَى</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أَنْصَحُ بِزِيَارَتِهَا</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D5-L07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2, 4, 6,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t>
            </a:r>
            <a:pPr algn="l" indent="0" marL="0">
              <a:buNone/>
            </a:pPr>
            <a:r>
              <a:rPr lang="ar-SA" altLang="en-US" sz="1650" b="1" dirty="0">
                <a:solidFill>
                  <a:srgbClr val="1B3B6F"/>
                </a:solidFill>
                <a:latin typeface="Amiri" pitchFamily="2" charset="-78"/>
                <a:cs typeface="Amiri" pitchFamily="2" charset="-78"/>
              </a:rPr>
              <a:t>نَحْنُ</a:t>
            </a:r>
            <a:pPr algn="l" indent="0" marL="0">
              <a:buNone/>
            </a:pPr>
            <a:r>
              <a:rPr lang="en-US" sz="1250" b="1" dirty="0">
                <a:solidFill>
                  <a:srgbClr val="1B3B6F"/>
                </a:solidFill>
                <a:latin typeface="Calibri" pitchFamily="34" charset="0"/>
                <a:cs typeface="Amiri" pitchFamily="2" charset="-78"/>
              </a:rPr>
              <a:t> past of </a:t>
            </a:r>
            <a:pPr algn="l" indent="0" marL="0">
              <a:buNone/>
            </a:pPr>
            <a:r>
              <a:rPr lang="ar-SA" altLang="en-US" sz="1650" b="1" dirty="0">
                <a:solidFill>
                  <a:srgbClr val="1B3B6F"/>
                </a:solidFill>
                <a:latin typeface="Amiri" pitchFamily="2" charset="-78"/>
                <a:cs typeface="Amiri" pitchFamily="2" charset="-78"/>
              </a:rPr>
              <a:t>أَقَامَ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أَقَامْنَا</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أَقْوَمْنَا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أَقَمْنَا</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booking sentence.</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حَجَزْنَا عَلَى التَّذَاكِرِ قَبْلَ شَهْرٍ.</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حَجَزْنَا التَّذَاكِرَ قَبْلَ شَهْرٍ.</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حَجَزْنَا التَّذَاكِرَ قَبْلَ شَهْرًا.</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evaluation.</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كَانَتْ أَجْمَلَ مِنَ الرِّحْلَاتِ.</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كَانَتْ مِنْ أَجْمَلِ الرِّحْلَاتِ.</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كَانَتْ مِنْ جَمِيلِ الرِّحْلَاتِ.</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0" name="Text 57"/>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أَتَمَنَّى ___ أَزُورَ الأُرْدُنَّ.</a:t>
            </a:r>
            <a:endParaRPr lang="ar-SA" sz="150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لِكَيْ</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إِنْ</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D5-L07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t>
            </a:r>
            <a:pPr algn="l" indent="0" marL="0">
              <a:buNone/>
            </a:pPr>
            <a:r>
              <a:rPr lang="ar-SA" altLang="en-US" sz="1650" b="1" dirty="0">
                <a:solidFill>
                  <a:srgbClr val="1B3B6F"/>
                </a:solidFill>
                <a:latin typeface="Amiri" pitchFamily="2" charset="-78"/>
                <a:cs typeface="Amiri" pitchFamily="2" charset="-78"/>
              </a:rPr>
              <a:t>نَحْنُ</a:t>
            </a:r>
            <a:pPr algn="l" indent="0" marL="0">
              <a:buNone/>
            </a:pPr>
            <a:r>
              <a:rPr lang="en-US" sz="1250" b="1" dirty="0">
                <a:solidFill>
                  <a:srgbClr val="1B3B6F"/>
                </a:solidFill>
                <a:latin typeface="Calibri" pitchFamily="34" charset="0"/>
                <a:cs typeface="Amiri" pitchFamily="2" charset="-78"/>
              </a:rPr>
              <a:t> past of </a:t>
            </a:r>
            <a:pPr algn="l" indent="0" marL="0">
              <a:buNone/>
            </a:pPr>
            <a:r>
              <a:rPr lang="ar-SA" altLang="en-US" sz="1650" b="1" dirty="0">
                <a:solidFill>
                  <a:srgbClr val="1B3B6F"/>
                </a:solidFill>
                <a:latin typeface="Amiri" pitchFamily="2" charset="-78"/>
                <a:cs typeface="Amiri" pitchFamily="2" charset="-78"/>
              </a:rPr>
              <a:t>أَقَامَ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أَقَامْنَا</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أَقْوَمْنَا</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أَقَمْنَا</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أَقَامَ</a:t>
            </a:r>
            <a:pPr algn="l" indent="0" marL="0">
              <a:buNone/>
            </a:pPr>
            <a:r>
              <a:rPr lang="en-US" sz="1050" i="1" dirty="0">
                <a:solidFill>
                  <a:srgbClr val="8A6D1E"/>
                </a:solidFill>
                <a:latin typeface="Calibri" pitchFamily="34" charset="0"/>
                <a:cs typeface="Amiri" pitchFamily="2" charset="-78"/>
              </a:rPr>
              <a:t> is hollow, so the stem becomes </a:t>
            </a:r>
            <a:pPr algn="l" indent="0" marL="0">
              <a:buNone/>
            </a:pPr>
            <a:r>
              <a:rPr lang="ar-SA" altLang="en-US" sz="1350" dirty="0">
                <a:solidFill>
                  <a:srgbClr val="8A6D1E"/>
                </a:solidFill>
                <a:latin typeface="Amiri" pitchFamily="2" charset="-78"/>
                <a:cs typeface="Amiri" pitchFamily="2" charset="-78"/>
              </a:rPr>
              <a:t>أَقَمْـ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booking sentence.</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حَجَزْنَا عَلَى التَّذَاكِرِ قَبْلَ شَهْرٍ.</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حَجَزْنَا التَّذَاكِرَ قَبْلَ شَهْرٍ.</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حَجَزْنَا التَّذَاكِرَ قَبْلَ شَهْرًا.</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object is accusative and </a:t>
            </a:r>
            <a:pPr algn="l" indent="0" marL="0">
              <a:buNone/>
            </a:pPr>
            <a:r>
              <a:rPr lang="ar-SA" altLang="en-US" sz="1350" dirty="0">
                <a:solidFill>
                  <a:srgbClr val="8A6D1E"/>
                </a:solidFill>
                <a:latin typeface="Amiri" pitchFamily="2" charset="-78"/>
                <a:cs typeface="Amiri" pitchFamily="2" charset="-78"/>
              </a:rPr>
              <a:t>قَبْلَ</a:t>
            </a:r>
            <a:pPr algn="l" indent="0" marL="0">
              <a:buNone/>
            </a:pPr>
            <a:r>
              <a:rPr lang="en-US" sz="1050" i="1" dirty="0">
                <a:solidFill>
                  <a:srgbClr val="8A6D1E"/>
                </a:solidFill>
                <a:latin typeface="Calibri" pitchFamily="34" charset="0"/>
                <a:cs typeface="Amiri" pitchFamily="2" charset="-78"/>
              </a:rPr>
              <a:t> takes the genitive.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evaluation.</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كَانَتْ أَجْمَلَ مِنَ الرِّحْلَاتِ.</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كَانَتْ مِنْ أَجْمَلِ الرِّحْلَاتِ.</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كَانَتْ مِنْ جَمِيلِ الرِّحْلَاتِ.</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 takes the genitive, and the noun after the superlative is genitive too.</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6" name="Text 63"/>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أَتَمَنَّى ___ أَزُورَ الأُرْدُنَّ.</a:t>
            </a:r>
            <a:endParaRPr lang="ar-SA" sz="150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لِكَيْ</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إِنْ</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أَنْ</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أَتَمَنَّى</a:t>
            </a:r>
            <a:pPr algn="l" indent="0" marL="0">
              <a:buNone/>
            </a:pPr>
            <a:r>
              <a:rPr lang="en-US" sz="1050" i="1" dirty="0">
                <a:solidFill>
                  <a:srgbClr val="8A6D1E"/>
                </a:solidFill>
                <a:latin typeface="Calibri" pitchFamily="34" charset="0"/>
                <a:cs typeface="Amiri" pitchFamily="2" charset="-78"/>
              </a:rPr>
              <a:t> is followed by </a:t>
            </a:r>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with a subjunctive verb.</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D5-L07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زَارْتُ المَدِينَةَ.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zāra + -tu: shorten!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اسْتَمْتَعْتُ الرِّحْلَةَ.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istamtaʿa + which preposition?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سَزُرْتُ المَدِينَةَ غَدًا.</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sa- + past or present?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D5-L07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زَارْتُ المَدِينَةَ.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زُرْتُ المَدِينَةَ.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hollow verb shortens its middle vowel before a consonant suffix.</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اسْتَمْتَعْتُ الرِّحْلَةَ.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اسْتَمْتَعْتُ بِالرِّحْلَةِ.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اسْتَمْتَعَ</a:t>
            </a:r>
            <a:pPr algn="l" indent="0" marL="0">
              <a:buNone/>
            </a:pPr>
            <a:r>
              <a:rPr lang="en-US" sz="1150" b="1" dirty="0">
                <a:solidFill>
                  <a:srgbClr val="1B3B6F"/>
                </a:solidFill>
                <a:latin typeface="Calibri" pitchFamily="34" charset="0"/>
                <a:cs typeface="Amiri" pitchFamily="2" charset="-78"/>
              </a:rPr>
              <a:t> needs the preposition </a:t>
            </a:r>
            <a:pPr algn="l" indent="0" marL="0">
              <a:buNone/>
            </a:pPr>
            <a:r>
              <a:rPr lang="ar-SA" altLang="en-US" sz="1500" b="1" dirty="0">
                <a:solidFill>
                  <a:srgbClr val="1B3B6F"/>
                </a:solidFill>
                <a:latin typeface="Amiri" pitchFamily="2" charset="-78"/>
                <a:cs typeface="Amiri" pitchFamily="2" charset="-78"/>
              </a:rPr>
              <a:t>بِـ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سَزُرْتُ المَدِينَةَ غَدًا.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سَأَزُورُ المَدِينَةَ غَدًا.</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سَـ</a:t>
            </a:r>
            <a:pPr algn="l" indent="0" marL="0">
              <a:buNone/>
            </a:pPr>
            <a:r>
              <a:rPr lang="en-US" sz="1150" b="1" dirty="0">
                <a:solidFill>
                  <a:srgbClr val="1B3B6F"/>
                </a:solidFill>
                <a:latin typeface="Calibri" pitchFamily="34" charset="0"/>
                <a:cs typeface="Amiri" pitchFamily="2" charset="-78"/>
              </a:rPr>
              <a:t> attaches to a present verb, never to a past one.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D5-L07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last summer's trip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did they book the tickets?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month before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day before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arrival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did they stay?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relatives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 city-centre flat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small hotel near the beach</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they discover?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new museum</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sports stadium</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beautiful old market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went wrong?</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suitcase was left at the station</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missed the train</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hotel was full</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future plan?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Never to return</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visit again and book early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travel by plane instead</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5.</a:t>
            </a:r>
            <a:endParaRPr lang="en-US" sz="1250" dirty="0"/>
          </a:p>
          <a:p>
            <a:pPr algn="l" indent="0" marL="0">
              <a:buNone/>
            </a:pPr>
            <a:r>
              <a:rPr lang="en-US" sz="1250" dirty="0">
                <a:solidFill>
                  <a:srgbClr val="1E6B52"/>
                </a:solidFill>
                <a:latin typeface="Calibri" pitchFamily="34" charset="0"/>
                <a:cs typeface="Amiri" pitchFamily="2" charset="-78"/>
              </a:rPr>
              <a:t>Past first … then “fī al-mustaqbal”.</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D5-L07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D5-L07</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فِي الصَّيْفِ المَاضِي سَافَرْنَا إِلَى مَدِينَةٍ سَاحِلِيَّةٍ. حَجَزْنَا التَّذَاكِرَ قَبْلَ شَهْرٍ، ثُمَّ رَكِبْنَا القِطَارَ مِنَ المَحَطَّةِ.</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Last summer we travelled to a coastal city. We booked the tickets a month before, then took the train from the station.</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أَقَمْنَا فِي فُنْدُقٍ صَغِيرٍ قَرِيبٍ مِنَ الشَّاطِئِ. فِي اليَوْمِ الأَوَّلِ زُرْنَا المَعَالِمَ السِّيَاحِيَّةَ وَاكْتَشَفْنَا سُوقًا قَدِيمًا جَمِيلًا.</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 stayed in a small hotel near the beach. On the first day we visited the sights and discovered a beautiful old market.</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اسْتَمْتَعْتُ بِالرِّحْلَةِ كَثِيرًا، وَكَانَتْ مِنْ أَجْمَلِ الرِّحْلَاتِ.</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really enjoyed the trip, and it was one of the most beautiful trips.</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لِلْأَسَفِ نَسِيتُ حَقِيبَةَ السَّفَرِ فِي المَحَطَّةِ، وَلٰكِنْ لِحُسْنِ الحَظِّ وَجَدْنَاهَا.</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Unfortunately I forgot my suitcase at the station, but luckily we found it.</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فِي المُسْتَقْبَلِ سَأَزُورُ تِلْكَ المَدِينَةَ مَرَّةً أُخْرَى، وَسَوْفَ نَحْجِزُ مُبَكِّرًا.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future I will visit that city again, and we will book early.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D5-L07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did they book the tickets?</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month before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day before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 arrival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حَجَزْنَا التَّذَاكِرَ قَبْلَ شَهْرٍ.</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did they stay?</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relatives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a city-centre flat</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small hotel near the beach</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أَقَمْنَا فِي فُنْدُقٍ صَغِيرٍ قَرِيبٍ مِنَ الشَّاطِئِ.</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they discover?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new museum</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sports stadium</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beautiful old market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اكْتَشَفْنَا سُوقًا قَدِيمًا جَمِيلًا.</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went wrong?</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suitcase was left at the station</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missed the train</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hotel was full</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نَسِيتُ حَقِيبَةَ السَّفَرِ فِي المَحَطَّةِ.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future plan?</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Never to return</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visit again and book early</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travel by plane instead</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سَأَزُورُ تِلْكَ المَدِينَةَ مَرَّةً أُخْرَى، وَسَوْفَ نَحْجِزُ مُبَكِّرًا.</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5.</a:t>
            </a:r>
            <a:endParaRPr lang="en-US" sz="1250" dirty="0"/>
          </a:p>
          <a:p>
            <a:pPr algn="l" indent="0" marL="0">
              <a:buNone/>
            </a:pPr>
            <a:r>
              <a:rPr lang="en-US" sz="1250" dirty="0">
                <a:solidFill>
                  <a:srgbClr val="1E6B52"/>
                </a:solidFill>
                <a:latin typeface="Calibri" pitchFamily="34" charset="0"/>
                <a:cs typeface="Amiri" pitchFamily="2" charset="-78"/>
              </a:rPr>
              <a:t>Past first … then “fī al-mustaqbal”.</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D5-L07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a holiday, then a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D5-L07</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أَيْنَ سَافَرْتَ فِي الإِجَازَةِ المَاضِيَةِ؟ وَأَيْنَ أَقَمْتَ؟</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زُرْتَ هُنَاكَ؟ وَبِمَاذَا اسْتَمْتَعْتَ؟</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أَيْنَ سَتُسَافِرُ فِي المُسْتَقْبَلِ؟ وَلِمَاذَا؟</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سَافَرْتُ إِلَى ___ ، وَأَقَمْتُ فِي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زُرْتُ ___ ، وَاسْتَمْتَعْتُ بِـ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cs typeface="Amiri" pitchFamily="2" charset="-78"/>
              </a:rPr>
              <a:t>فِي المُسْتَقْبَلِ سَأُسَافِرُ إِلَى ___ لِأَنَّ ___ .</a:t>
            </a:r>
            <a:endParaRPr lang="ar-SA" sz="14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أَيْنَ سَافَرْتَ فِي الإِجَازَةِ المَاضِيَةِ؟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Where did you travel last holiday?</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سَافَرْتُ إِلَى مَدِينَةٍ سَاحِلِيَّةٍ، وَأَقَمْتُ فِي فُنْدُقٍ صَغِيرٍ.</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 travelled to a coastal city and stayed in a small hotel.</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D5-L07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D5-L07</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six past sentences about a trip using the travel verbs and their prepositions.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Six past sentences about a trip, each travel verb with its preposition.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70–90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an evaluation and a future sentence with </a:t>
            </a:r>
            <a:pPr algn="l" indent="0" marL="0">
              <a:buNone/>
            </a:pPr>
            <a:r>
              <a:rPr lang="ar-SA" altLang="en-US" sz="1800" b="1" dirty="0">
                <a:solidFill>
                  <a:srgbClr val="1F2A37"/>
                </a:solidFill>
                <a:latin typeface="Amiri" pitchFamily="2" charset="-78"/>
                <a:cs typeface="Amiri" pitchFamily="2" charset="-78"/>
              </a:rPr>
              <a:t>سَـ</a:t>
            </a:r>
            <a:pPr algn="l" indent="0" marL="0">
              <a:buNone/>
            </a:pPr>
            <a:r>
              <a:rPr lang="en-US" sz="1400" b="1" dirty="0">
                <a:solidFill>
                  <a:srgbClr val="1F2A37"/>
                </a:solidFill>
                <a:latin typeface="Calibri" pitchFamily="34" charset="0"/>
                <a:cs typeface="Amiri" pitchFamily="2" charset="-78"/>
              </a:rPr>
              <a: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Add an evaluation and one future sentence with سَـ.</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90–100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Include a past habit with </a:t>
            </a:r>
            <a:pPr algn="l" indent="0" marL="0">
              <a:buNone/>
            </a:pPr>
            <a:r>
              <a:rPr lang="ar-SA" altLang="en-US" sz="1800" b="1" dirty="0">
                <a:solidFill>
                  <a:srgbClr val="1F2A37"/>
                </a:solidFill>
                <a:latin typeface="Amiri" pitchFamily="2" charset="-78"/>
                <a:cs typeface="Amiri" pitchFamily="2" charset="-78"/>
              </a:rPr>
              <a:t>كَانَ</a:t>
            </a:r>
            <a:pPr algn="l" indent="0" marL="0">
              <a:buNone/>
            </a:pPr>
            <a:r>
              <a:rPr lang="en-US" sz="1400" b="1" dirty="0">
                <a:solidFill>
                  <a:srgbClr val="1F2A37"/>
                </a:solidFill>
                <a:latin typeface="Calibri" pitchFamily="34" charset="0"/>
                <a:cs typeface="Amiri" pitchFamily="2" charset="-78"/>
              </a:rPr>
              <a:t> plus a present verb and keep every hollow stem accurate.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booked · stayed · visited · enjoyed · evaluation · future plan, with a past habit.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D5-L07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D5-L07</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اسْتَمْتَعْتُ بِـ ______ كَثِيرًا.</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really enjoyed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كَانَتْ مِنْ أَجْمَلِ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was one of the most beautiful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المُسْتَقْبَلِ سَـ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the future I will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أَتَمَنَّى 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hope to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الصَّيْفِ المَاضِي سَافَرْتُ إِلَى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Last summer I travelled to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حَجَزْنَا ______ قَبْلَ شَهْرٍ.</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booked … a month before.</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أَقَمْنَا فِي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stayed in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زُرْتُ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visited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سَافَرْتُ إِلَى  ·  زُرْتُ  ·  أَقَمْتُ فِي  ·  حَجَزْنَا  ·  رَكِبْنَا  ·  اسْتَمْتَعْتُ بِـ  ·  عُدْنَا  ·  كَانَتْ مِنْ أَجْمَلِ  ·  رِحْلَةٌ لَا تُنْسَى  ·  سَأَزُورُ  ·  سَوْفَ  ·  أَتَمَنَّى أَنْ</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D5-L07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D5-L07</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ninety to one hundred words about a holiday. Narrate what you booked, where you stayed, what you visited and what you enjoyed, then close with a future plan using </a:t>
            </a:r>
            <a:pPr algn="l" indent="0" marL="0">
              <a:buNone/>
            </a:pPr>
            <a:r>
              <a:rPr lang="ar-SA" altLang="en-US" sz="1750" b="1" dirty="0">
                <a:solidFill>
                  <a:srgbClr val="1F2A37"/>
                </a:solidFill>
                <a:latin typeface="Amiri" pitchFamily="2" charset="-78"/>
                <a:cs typeface="Amiri" pitchFamily="2" charset="-78"/>
              </a:rPr>
              <a:t>سَـ</a:t>
            </a:r>
            <a:pPr algn="l" indent="0" marL="0">
              <a:buNone/>
            </a:pPr>
            <a:r>
              <a:rPr lang="en-US" sz="1350" b="1" dirty="0">
                <a:solidFill>
                  <a:srgbClr val="1F2A37"/>
                </a:solidFill>
                <a:latin typeface="Calibri" pitchFamily="34" charset="0"/>
                <a:cs typeface="Amiri" pitchFamily="2" charset="-78"/>
              </a:rPr>
              <a:t> or </a:t>
            </a:r>
            <a:pPr algn="l" indent="0" marL="0">
              <a:buNone/>
            </a:pPr>
            <a:r>
              <a:rPr lang="ar-SA" altLang="en-US" sz="1750" b="1" dirty="0">
                <a:solidFill>
                  <a:srgbClr val="1F2A37"/>
                </a:solidFill>
                <a:latin typeface="Amiri" pitchFamily="2" charset="-78"/>
                <a:cs typeface="Amiri" pitchFamily="2" charset="-78"/>
              </a:rPr>
              <a:t>سَوْفَ</a:t>
            </a:r>
            <a:pPr algn="l" indent="0" marL="0">
              <a:buNone/>
            </a:pPr>
            <a:r>
              <a:rPr lang="en-US" sz="1350" b="1" dirty="0">
                <a:solidFill>
                  <a:srgbClr val="1F2A37"/>
                </a:solidFill>
                <a:latin typeface="Calibri" pitchFamily="34" charset="0"/>
                <a:cs typeface="Amiri" pitchFamily="2" charset="-78"/>
              </a:rPr>
              <a: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two hollow travel verbs with correctly shortened stems.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Each travel verb with its own preposition: </a:t>
            </a:r>
            <a:pPr algn="l" indent="0" marL="0">
              <a:buNone/>
            </a:pPr>
            <a:r>
              <a:rPr lang="ar-SA" altLang="en-US" sz="1550" dirty="0">
                <a:solidFill>
                  <a:srgbClr val="1F2A37"/>
                </a:solidFill>
                <a:latin typeface="Amiri" pitchFamily="2" charset="-78"/>
                <a:cs typeface="Amiri" pitchFamily="2" charset="-78"/>
              </a:rPr>
              <a:t>إِلَى، فِي، بِـ</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evaluation using </a:t>
            </a:r>
            <a:pPr algn="l" indent="0" marL="0">
              <a:buNone/>
            </a:pPr>
            <a:r>
              <a:rPr lang="ar-SA" altLang="en-US" sz="1550" dirty="0">
                <a:solidFill>
                  <a:srgbClr val="1F2A37"/>
                </a:solidFill>
                <a:latin typeface="Amiri" pitchFamily="2" charset="-78"/>
                <a:cs typeface="Amiri" pitchFamily="2" charset="-78"/>
              </a:rPr>
              <a:t>كَانَ مِنْ أَجْمَلِ</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cs typeface="Amiri" pitchFamily="2" charset="-78"/>
              </a:rPr>
              <a:t>رِحْلَةٌ لَا تُنْسَى</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clean switch to the future with </a:t>
            </a:r>
            <a:pPr algn="l" indent="0" marL="0">
              <a:buNone/>
            </a:pPr>
            <a:r>
              <a:rPr lang="ar-SA" altLang="en-US" sz="1550" dirty="0">
                <a:solidFill>
                  <a:srgbClr val="1F2A37"/>
                </a:solidFill>
                <a:latin typeface="Amiri" pitchFamily="2" charset="-78"/>
                <a:cs typeface="Amiri" pitchFamily="2" charset="-78"/>
              </a:rPr>
              <a:t>سَـ</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cs typeface="Amiri" pitchFamily="2" charset="-78"/>
              </a:rPr>
              <a:t>سَوْفَ</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كُلِّ صَبَاحٍ كُنَّا نَمْشِي عَلَى الشَّاطِئِ</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every morning we used to walk on the beach</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اكْتَشَفْنَا سُوقًا قَدِيمًا</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discovered an old market</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أَنْصَحُ بِزِيَارَتِهَا فِي الرَّبِيعِ</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recommend visiting it in spring</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سَوْفَ أُقِيمُ هُنَاكَ أُسْبُوعَيْنِ</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will stay there for two weeks</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كَانَتْ رِحْلَةً لَا تُنْسَى</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was an unforgettable trip</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D5-L07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cs typeface="Amiri" pitchFamily="2" charset="-78"/>
              </a:rPr>
              <a:t>فِي الصَّيْفِ المَاضِي سَافَرْتُ مَعَ أُسْرَتِي إِلَى مَدِينَةٍ سَاحِلِيَّةٍ جَمِيلَةٍ. حَجَزْنَا التَّذَاكِرَ وَالفُنْدُقَ قَبْلَ شَهْرٍ، ثُمَّ رَكِبْنَا القِطَارَ مِنَ المَحَطَّةِ. أَقَمْنَا فِي فُنْدُقٍ بَسِيطٍ قَرِيبٍ مِنَ الشَّاطِئِ. فِي كُلِّ صَبَاحٍ كُنَّا نَمْشِي عَلَى الشَّاطِئِ، وَفِي المَسَاءِ زُرْنَا المَعَالِمَ السِّيَاحِيَّةَ وَاكْتَشَفْنَا سُوقًا قَدِيمًا. اسْتَمْتَعْتُ بِالرِّحْلَةِ كَثِيرًا، وَكَانَتْ مِنْ أَجْمَلِ الرِّحْلَاتِ. لِلْأَسَفِ نَسِيتُ حَقِيبَتِي فِي القِطَارِ، وَلٰكِنْ لِحُسْنِ الحَظِّ وَجَدْتُهَا. فِي المُسْتَقْبَلِ سَأَعُودُ إِلَى تِلْكَ المَدِينَةِ، وَسَوْفَ أُقِيمُ هُنَاكَ أُسْبُوعَيْنِ.</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Last summer I travelled with my family to a beautiful coastal city. We booked the tickets and the hotel a month before, then took the train from the station. We stayed in a simple hotel near the beach. Every morning we used to walk on the beach, and in the evening we visited the sights and discovered an old market. I really enjoyed the trip, and it was one of the most beautiful trips. Unfortunately I forgot my bag on the train, but luckily I found it. In the future I will return to that city, and I will stay there for two weeks.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hollow verbs (أَقَمْنَا · زُرْنَا)</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three verb + preposition pairs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an evaluation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future switch (سَـ / سَوْفَ)</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D5-L07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D5-L07</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Each travel verb has its preposition (</a:t>
            </a:r>
            <a:pPr algn="l" indent="0" marL="0">
              <a:buNone/>
            </a:pPr>
            <a:r>
              <a:rPr lang="ar-SA" altLang="en-US" sz="1700" dirty="0">
                <a:solidFill>
                  <a:srgbClr val="1F2A37"/>
                </a:solidFill>
                <a:latin typeface="Amiri" pitchFamily="2" charset="-78"/>
                <a:cs typeface="Amiri" pitchFamily="2" charset="-78"/>
              </a:rPr>
              <a:t>إِلَى</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cs typeface="Amiri" pitchFamily="2" charset="-78"/>
              </a:rPr>
              <a:t>فِي</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cs typeface="Amiri" pitchFamily="2" charset="-78"/>
              </a:rPr>
              <a:t>بِـ</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past verbs have the right ending.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hollow verbs are shortened (</a:t>
            </a:r>
            <a:pPr algn="l" indent="0" marL="0">
              <a:buNone/>
            </a:pPr>
            <a:r>
              <a:rPr lang="ar-SA" altLang="en-US" sz="1700" dirty="0">
                <a:solidFill>
                  <a:srgbClr val="1F2A37"/>
                </a:solidFill>
                <a:latin typeface="Amiri" pitchFamily="2" charset="-78"/>
                <a:cs typeface="Amiri" pitchFamily="2" charset="-78"/>
              </a:rPr>
              <a:t>زُرْتُ</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cs typeface="Amiri" pitchFamily="2" charset="-78"/>
              </a:rPr>
              <a:t>أَقَمْتُ</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an evaluation.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switched cleanly to the future with </a:t>
            </a:r>
            <a:pPr algn="l" indent="0" marL="0">
              <a:buNone/>
            </a:pPr>
            <a:r>
              <a:rPr lang="ar-SA" altLang="en-US" sz="1700" dirty="0">
                <a:solidFill>
                  <a:srgbClr val="1F2A37"/>
                </a:solidFill>
                <a:latin typeface="Amiri" pitchFamily="2" charset="-78"/>
                <a:cs typeface="Amiri" pitchFamily="2" charset="-78"/>
              </a:rPr>
              <a:t>سَـ / سَوْفَ</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46</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D5-L07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past form.</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أَقَمْنَا فِي فُنْدُقٍ قَرِيبٍ.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أَقَامْنَا فِي فُنْدُقٍ قَرِيبٍ.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أَقَمْنَا فِي فُنْدُقٌ قَرِيبٌ.</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اسْتَمْتَعْنَا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الجَوِّ الهَادِئِ</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future.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سَوْفَ نَحْجِزُ مُبَكِّرًا.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سَوْفَ حَجَزْنَا مُبَكِّرًا.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سَنَحْجِزْنَا مُبَكِّرًا.</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46</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D5-L07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past form.</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أَقَمْنَا فِي فُنْدُقٍ قَرِيبٍ.</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أَقَامْنَا فِي فُنْدُقٍ قَرِيبٍ.</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أَقَمْنَا فِي فُنْدُقٌ قَرِيبٌ.</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أَقَامَ</a:t>
            </a:r>
            <a:pPr algn="l" indent="0" marL="0">
              <a:buNone/>
            </a:pPr>
            <a:r>
              <a:rPr lang="en-US" sz="1050" i="1" dirty="0">
                <a:solidFill>
                  <a:srgbClr val="8A6D1E"/>
                </a:solidFill>
                <a:latin typeface="Calibri" pitchFamily="34" charset="0"/>
                <a:cs typeface="Amiri" pitchFamily="2" charset="-78"/>
              </a:rPr>
              <a:t> shortens to </a:t>
            </a:r>
            <a:pPr algn="l" indent="0" marL="0">
              <a:buNone/>
            </a:pPr>
            <a:r>
              <a:rPr lang="ar-SA" altLang="en-US" sz="1350" dirty="0">
                <a:solidFill>
                  <a:srgbClr val="8A6D1E"/>
                </a:solidFill>
                <a:latin typeface="Amiri" pitchFamily="2" charset="-78"/>
                <a:cs typeface="Amiri" pitchFamily="2" charset="-78"/>
              </a:rPr>
              <a:t>أَقَمْـ</a:t>
            </a:r>
            <a:pPr algn="l" indent="0" marL="0">
              <a:buNone/>
            </a:pPr>
            <a:r>
              <a:rPr lang="en-US" sz="1050" i="1" dirty="0">
                <a:solidFill>
                  <a:srgbClr val="8A6D1E"/>
                </a:solidFill>
                <a:latin typeface="Calibri" pitchFamily="34" charset="0"/>
                <a:cs typeface="Amiri" pitchFamily="2" charset="-78"/>
              </a:rPr>
              <a:t> and </a:t>
            </a:r>
            <a:pPr algn="l" indent="0" marL="0">
              <a:buNone/>
            </a:pPr>
            <a:r>
              <a:rPr lang="ar-SA" altLang="en-US" sz="1350" dirty="0">
                <a:solidFill>
                  <a:srgbClr val="8A6D1E"/>
                </a:solidFill>
                <a:latin typeface="Amiri" pitchFamily="2" charset="-78"/>
                <a:cs typeface="Amiri" pitchFamily="2" charset="-78"/>
              </a:rPr>
              <a:t>فِي</a:t>
            </a:r>
            <a:pPr algn="l" indent="0" marL="0">
              <a:buNone/>
            </a:pPr>
            <a:r>
              <a:rPr lang="en-US" sz="1050" i="1" dirty="0">
                <a:solidFill>
                  <a:srgbClr val="8A6D1E"/>
                </a:solidFill>
                <a:latin typeface="Calibri" pitchFamily="34" charset="0"/>
                <a:cs typeface="Amiri" pitchFamily="2" charset="-78"/>
              </a:rPr>
              <a:t> takes the genitive.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اسْتَمْتَعْنَا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الجَوِّ الهَادِئِ</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عَنْ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بِـ</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إِلَى</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اسْتَمْتَعَ</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future.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سَوْفَ نَحْجِزُ مُبَكِّرًا.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سَوْفَ حَجَزْنَا مُبَكِّرًا.</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سَنَحْجِزْنَا مُبَكِّرًا.</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سَوْفَ</a:t>
            </a:r>
            <a:pPr algn="l" indent="0" marL="0">
              <a:buNone/>
            </a:pPr>
            <a:r>
              <a:rPr lang="en-US" sz="1050" i="1" dirty="0">
                <a:solidFill>
                  <a:srgbClr val="8A6D1E"/>
                </a:solidFill>
                <a:latin typeface="Calibri" pitchFamily="34" charset="0"/>
                <a:cs typeface="Amiri" pitchFamily="2" charset="-78"/>
              </a:rPr>
              <a:t> precedes a present-tense verb.</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46</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D5-L07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 short travel review</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D5-L07</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زُرْتُ هٰذِهِ المَدِينَةَ فِي الرَّبِيعِ المَاضِي مَعَ صَدِيقَيْنِ. حَجَزْنَا الفُنْدُقَ عَبْرَ الإِنْتِرْنِتْ، وَنَزَلْنَا فِي غُرْفَةٍ بَسِيطَةٍ وَنَظِيفَةٍ. كَانَ المَطَارُ بَعِيدًا قَلِيلًا، وَلٰكِنَّ القِطَارَ كَانَ سَرِيعًا وَرَخِيصًا. فِي الصَّبَاحِ كُنَّا نَمْشِي إِلَى الشَّاطِئِ، وَفِي المَسَاءِ كُنَّا نَتَنَاوَلُ العَشَاءَ فِي مَطَاعِمَ صَغِيرَةٍ. اكْتَشَفْنَا مَعَالِمَ سِيَاحِيَّةً كَثِيرَةً، وَاسْتَمْتَعْنَا بِالجَوِّ الهَادِئِ. كَانَتْ رِحْلَةً لَا تُنْسَى، وَأَنْصَحُ بِزِيَارَتِهَا فِي الرَّبِيعِ. فِي المُسْتَقْبَلِ سَوْفَ أَعُودُ مَعَ أُسْرَتِي.</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الرَّبِيعِ المَاضِي</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last spring</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صَدِيقَيْنِ</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two friends</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عَبْرَ الإِنْتِرْنِتْ</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online</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نَزَلْنَا فِي</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 stayed in</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غُرْفَةٍ بَسِيطَةٍ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simple room</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بَعِيدًا قَلِيلًا</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little far</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رَخِيصًا</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cheap</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كُنَّا نَتَنَاوَلُ</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 used to have</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الجَوِّ الهَادِئِ</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calm atmosphere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أَنْصَحُ بِـ</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recommend</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46</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D5-L07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did they book the hotel?</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telephone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Online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arrival</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said about the train?</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was slow and expensive</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was cancelled</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was fast and cheap</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they used to do in the mornings?</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Walk to the beach</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Visit museums</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Sleep late</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recommend?</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Avoiding the city</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Visiting in spring</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Travelling by plane</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future intention?</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return with family</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move there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 to return</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46</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D5-L07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did they book the hotel?</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By telephone</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Online</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 arrival</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حَجَزْنَا الفُنْدُقَ عَبْرَ الإِنْتِرْنِتْ.</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said about the train?</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was slow and expensive</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was cancelled</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was fast and cheap</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كَانَ القِطَارُ سَرِيعًا وَرَخِيصًا.</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they used to do in the mornings?</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Walk to the beach</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Visit museums</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Sleep late</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كُنَّا نَمْشِي إِلَى الشَّاطِئِ</a:t>
            </a:r>
            <a:pPr algn="l" indent="0" marL="0">
              <a:buNone/>
            </a:pPr>
            <a:r>
              <a:rPr lang="en-US" sz="1050" i="1" dirty="0">
                <a:solidFill>
                  <a:srgbClr val="8A6D1E"/>
                </a:solidFill>
                <a:latin typeface="Calibri" pitchFamily="34" charset="0"/>
                <a:cs typeface="Amiri" pitchFamily="2" charset="-78"/>
              </a:rPr>
              <a:t> — </a:t>
            </a:r>
            <a:pPr algn="l" indent="0" marL="0">
              <a:buNone/>
            </a:pPr>
            <a:r>
              <a:rPr lang="ar-SA" altLang="en-US" sz="1350" dirty="0">
                <a:solidFill>
                  <a:srgbClr val="8A6D1E"/>
                </a:solidFill>
                <a:latin typeface="Amiri" pitchFamily="2" charset="-78"/>
                <a:cs typeface="Amiri" pitchFamily="2" charset="-78"/>
              </a:rPr>
              <a:t>كَانَ</a:t>
            </a:r>
            <a:pPr algn="l" indent="0" marL="0">
              <a:buNone/>
            </a:pPr>
            <a:r>
              <a:rPr lang="en-US" sz="1050" i="1" dirty="0">
                <a:solidFill>
                  <a:srgbClr val="8A6D1E"/>
                </a:solidFill>
                <a:latin typeface="Calibri" pitchFamily="34" charset="0"/>
                <a:cs typeface="Amiri" pitchFamily="2" charset="-78"/>
              </a:rPr>
              <a:t> plus a present verb.</a:t>
            </a:r>
            <a:endParaRPr lang="en-US" sz="10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recommend?</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Avoiding the city</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Visiting in spring</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Travelling by plane</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أَنْصَحُ بِزِيَارَتِهَا فِي الرَّبِيعِ.</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future intention?</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return with family</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move there</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 to return</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فِي المُسْتَقْبَلِ سَوْفَ أَعُودُ مَعَ أُسْرَتِي.</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46</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D5-L07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Travel Mission — Hollow Verbs, Prepositions and Tense Switch</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Verb form: which is the </a:t>
            </a:r>
            <a:pPr algn="l" indent="0" marL="0">
              <a:buNone/>
            </a:pPr>
            <a:r>
              <a:rPr lang="ar-SA" altLang="en-US" sz="1650" b="1" dirty="0">
                <a:solidFill>
                  <a:srgbClr val="1B3B6F"/>
                </a:solidFill>
                <a:latin typeface="Amiri" pitchFamily="2" charset="-78"/>
                <a:cs typeface="Amiri" pitchFamily="2" charset="-78"/>
              </a:rPr>
              <a:t>أَنَا</a:t>
            </a:r>
            <a:pPr algn="l" indent="0" marL="0">
              <a:buNone/>
            </a:pPr>
            <a:r>
              <a:rPr lang="en-US" sz="1250" b="1" dirty="0">
                <a:solidFill>
                  <a:srgbClr val="1B3B6F"/>
                </a:solidFill>
                <a:latin typeface="Calibri" pitchFamily="34" charset="0"/>
                <a:cs typeface="Amiri" pitchFamily="2" charset="-78"/>
              </a:rPr>
              <a:t> past of </a:t>
            </a:r>
            <a:pPr algn="l" indent="0" marL="0">
              <a:buNone/>
            </a:pPr>
            <a:r>
              <a:rPr lang="ar-SA" altLang="en-US" sz="1650" b="1" dirty="0">
                <a:solidFill>
                  <a:srgbClr val="1B3B6F"/>
                </a:solidFill>
                <a:latin typeface="Amiri" pitchFamily="2" charset="-78"/>
                <a:cs typeface="Amiri" pitchFamily="2" charset="-78"/>
              </a:rPr>
              <a:t>زَارَ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زَارْتُ</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زُرْتُ</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زِرْتُ</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Verb form: which is the </a:t>
            </a:r>
            <a:pPr algn="l" indent="0" marL="0">
              <a:buNone/>
            </a:pPr>
            <a:r>
              <a:rPr lang="ar-SA" altLang="en-US" sz="1650" b="1" dirty="0">
                <a:solidFill>
                  <a:srgbClr val="1B3B6F"/>
                </a:solidFill>
                <a:latin typeface="Amiri" pitchFamily="2" charset="-78"/>
                <a:cs typeface="Amiri" pitchFamily="2" charset="-78"/>
              </a:rPr>
              <a:t>نَحْنُ</a:t>
            </a:r>
            <a:pPr algn="l" indent="0" marL="0">
              <a:buNone/>
            </a:pPr>
            <a:r>
              <a:rPr lang="en-US" sz="1250" b="1" dirty="0">
                <a:solidFill>
                  <a:srgbClr val="1B3B6F"/>
                </a:solidFill>
                <a:latin typeface="Calibri" pitchFamily="34" charset="0"/>
                <a:cs typeface="Amiri" pitchFamily="2" charset="-78"/>
              </a:rPr>
              <a:t> past of </a:t>
            </a:r>
            <a:pPr algn="l" indent="0" marL="0">
              <a:buNone/>
            </a:pPr>
            <a:r>
              <a:rPr lang="ar-SA" altLang="en-US" sz="1650" b="1" dirty="0">
                <a:solidFill>
                  <a:srgbClr val="1B3B6F"/>
                </a:solidFill>
                <a:latin typeface="Amiri" pitchFamily="2" charset="-78"/>
                <a:cs typeface="Amiri" pitchFamily="2" charset="-78"/>
              </a:rPr>
              <a:t>عَادَ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عُدْنَا</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عَادْنَا</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عِدْنَا</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cs typeface="Amiri" pitchFamily="2" charset="-78"/>
              </a:rPr>
              <a:t>سَافَرْنَا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تُونُسَ</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cs typeface="Amiri" pitchFamily="2" charset="-78"/>
              </a:rPr>
              <a:t>أَقَمْنَا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فُنْدُقٍ صَغِيرٍ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عَنْ</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“passport”?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جَوَازُ السَّفَرِ</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حَقِيبَةُ السَّفَرِ</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تَذْكِرَةٌ</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Tense: complete — </a:t>
            </a:r>
            <a:pPr algn="l" indent="0" marL="0">
              <a:buNone/>
            </a:pPr>
            <a:r>
              <a:rPr lang="ar-SA" altLang="en-US" sz="1650" b="1" dirty="0">
                <a:solidFill>
                  <a:srgbClr val="1B3B6F"/>
                </a:solidFill>
                <a:latin typeface="Amiri" pitchFamily="2" charset="-78"/>
                <a:cs typeface="Amiri" pitchFamily="2" charset="-78"/>
              </a:rPr>
              <a:t>فِي المُسْتَقْبَلِ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إِلَى الأُرْدُنِّ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سَافَرْتُ</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سَأُسَافِرُ</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أُسَافِرُ أَمْسِ</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46</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D5-L07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D5-L07</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Verb form: which is the </a:t>
            </a:r>
            <a:pPr algn="l" indent="0" marL="0">
              <a:buNone/>
            </a:pPr>
            <a:r>
              <a:rPr lang="ar-SA" altLang="en-US" sz="1650" b="1" dirty="0">
                <a:solidFill>
                  <a:srgbClr val="1B3B6F"/>
                </a:solidFill>
                <a:latin typeface="Amiri" pitchFamily="2" charset="-78"/>
                <a:cs typeface="Amiri" pitchFamily="2" charset="-78"/>
              </a:rPr>
              <a:t>أَنَا</a:t>
            </a:r>
            <a:pPr algn="l" indent="0" marL="0">
              <a:buNone/>
            </a:pPr>
            <a:r>
              <a:rPr lang="en-US" sz="1250" b="1" dirty="0">
                <a:solidFill>
                  <a:srgbClr val="1B3B6F"/>
                </a:solidFill>
                <a:latin typeface="Calibri" pitchFamily="34" charset="0"/>
                <a:cs typeface="Amiri" pitchFamily="2" charset="-78"/>
              </a:rPr>
              <a:t> past of </a:t>
            </a:r>
            <a:pPr algn="l" indent="0" marL="0">
              <a:buNone/>
            </a:pPr>
            <a:r>
              <a:rPr lang="ar-SA" altLang="en-US" sz="1650" b="1" dirty="0">
                <a:solidFill>
                  <a:srgbClr val="1B3B6F"/>
                </a:solidFill>
                <a:latin typeface="Amiri" pitchFamily="2" charset="-78"/>
                <a:cs typeface="Amiri" pitchFamily="2" charset="-78"/>
              </a:rPr>
              <a:t>زَارَ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زَارْتُ</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زُرْتُ</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زِرْتُ</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hollow stem shortens to </a:t>
            </a:r>
            <a:pPr algn="l" indent="0" marL="0">
              <a:buNone/>
            </a:pPr>
            <a:r>
              <a:rPr lang="ar-SA" altLang="en-US" sz="1350" dirty="0">
                <a:solidFill>
                  <a:srgbClr val="8A6D1E"/>
                </a:solidFill>
                <a:latin typeface="Amiri" pitchFamily="2" charset="-78"/>
                <a:cs typeface="Amiri" pitchFamily="2" charset="-78"/>
              </a:rPr>
              <a:t>زُرْـ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Verb form: which is the </a:t>
            </a:r>
            <a:pPr algn="l" indent="0" marL="0">
              <a:buNone/>
            </a:pPr>
            <a:r>
              <a:rPr lang="ar-SA" altLang="en-US" sz="1650" b="1" dirty="0">
                <a:solidFill>
                  <a:srgbClr val="1B3B6F"/>
                </a:solidFill>
                <a:latin typeface="Amiri" pitchFamily="2" charset="-78"/>
                <a:cs typeface="Amiri" pitchFamily="2" charset="-78"/>
              </a:rPr>
              <a:t>نَحْنُ</a:t>
            </a:r>
            <a:pPr algn="l" indent="0" marL="0">
              <a:buNone/>
            </a:pPr>
            <a:r>
              <a:rPr lang="en-US" sz="1250" b="1" dirty="0">
                <a:solidFill>
                  <a:srgbClr val="1B3B6F"/>
                </a:solidFill>
                <a:latin typeface="Calibri" pitchFamily="34" charset="0"/>
                <a:cs typeface="Amiri" pitchFamily="2" charset="-78"/>
              </a:rPr>
              <a:t> past of </a:t>
            </a:r>
            <a:pPr algn="l" indent="0" marL="0">
              <a:buNone/>
            </a:pPr>
            <a:r>
              <a:rPr lang="ar-SA" altLang="en-US" sz="1650" b="1" dirty="0">
                <a:solidFill>
                  <a:srgbClr val="1B3B6F"/>
                </a:solidFill>
                <a:latin typeface="Amiri" pitchFamily="2" charset="-78"/>
                <a:cs typeface="Amiri" pitchFamily="2" charset="-78"/>
              </a:rPr>
              <a:t>عَادَ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عُدْنَا</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عَادْنَا</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عِدْنَا</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عَادَ</a:t>
            </a:r>
            <a:pPr algn="l" indent="0" marL="0">
              <a:buNone/>
            </a:pPr>
            <a:r>
              <a:rPr lang="en-US" sz="1050" i="1" dirty="0">
                <a:solidFill>
                  <a:srgbClr val="8A6D1E"/>
                </a:solidFill>
                <a:latin typeface="Calibri" pitchFamily="34" charset="0"/>
                <a:cs typeface="Amiri" pitchFamily="2" charset="-78"/>
              </a:rPr>
              <a:t> belongs to the u family, so the stem becomes </a:t>
            </a:r>
            <a:pPr algn="l" indent="0" marL="0">
              <a:buNone/>
            </a:pPr>
            <a:r>
              <a:rPr lang="ar-SA" altLang="en-US" sz="1350" dirty="0">
                <a:solidFill>
                  <a:srgbClr val="8A6D1E"/>
                </a:solidFill>
                <a:latin typeface="Amiri" pitchFamily="2" charset="-78"/>
                <a:cs typeface="Amiri" pitchFamily="2" charset="-78"/>
              </a:rPr>
              <a:t>عُدْـ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cs typeface="Amiri" pitchFamily="2" charset="-78"/>
              </a:rPr>
              <a:t>سَافَرْنَا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تُونُسَ</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بِـ</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إِلَى</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سَافَرَ</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cs typeface="Amiri" pitchFamily="2" charset="-78"/>
              </a:rPr>
              <a:t>أَقَمْنَا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فُنْدُقٍ صَغِيرٍ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إِلَى</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عَنْ</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فِي</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أَقَامَ</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فِي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“passport”?</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جَوَازُ السَّفَرِ</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حَقِيبَةُ السَّفَرِ</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تَذْكِرَةٌ</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جَوَازُ السَّفَرِ</a:t>
            </a:r>
            <a:pPr algn="l" indent="0" marL="0">
              <a:buNone/>
            </a:pPr>
            <a:r>
              <a:rPr lang="en-US" sz="1050" i="1" dirty="0">
                <a:solidFill>
                  <a:srgbClr val="8A6D1E"/>
                </a:solidFill>
                <a:latin typeface="Calibri" pitchFamily="34" charset="0"/>
                <a:cs typeface="Amiri" pitchFamily="2" charset="-78"/>
              </a:rPr>
              <a:t> is a passport.</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Tense: complete — </a:t>
            </a:r>
            <a:pPr algn="l" indent="0" marL="0">
              <a:buNone/>
            </a:pPr>
            <a:r>
              <a:rPr lang="ar-SA" altLang="en-US" sz="1650" b="1" dirty="0">
                <a:solidFill>
                  <a:srgbClr val="1B3B6F"/>
                </a:solidFill>
                <a:latin typeface="Amiri" pitchFamily="2" charset="-78"/>
                <a:cs typeface="Amiri" pitchFamily="2" charset="-78"/>
              </a:rPr>
              <a:t>فِي المُسْتَقْبَلِ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إِلَى الأُرْدُنِّ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سَافَرْتُ</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سَأُسَافِرُ</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أُسَافِرُ أَمْسِ</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future time phrase needs </a:t>
            </a:r>
            <a:pPr algn="l" indent="0" marL="0">
              <a:buNone/>
            </a:pPr>
            <a:r>
              <a:rPr lang="ar-SA" altLang="en-US" sz="1350" dirty="0">
                <a:solidFill>
                  <a:srgbClr val="8A6D1E"/>
                </a:solidFill>
                <a:latin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 with a present verb.</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46</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D5-L07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D5-L08: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D5-L07</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D5-L08 · Reading — Leisure, Sport and Past Experience Texts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سِيرَةٌ ذَاتِيَّةٌ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biography, life story</a:t>
            </a:r>
            <a:pPr indent="0" marL="0">
              <a:buNone/>
            </a:pPr>
            <a:r>
              <a:rPr lang="en-US" sz="1000" i="1" dirty="0">
                <a:solidFill>
                  <a:srgbClr val="5A6472"/>
                </a:solidFill>
                <a:latin typeface="Calibri" pitchFamily="34" charset="0"/>
                <a:cs typeface="Amiri" pitchFamily="2" charset="-78"/>
              </a:rPr>
              <a:t>  pl. سِيَرٌ</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مُرَاجَعَةٌ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review</a:t>
            </a:r>
            <a:pPr indent="0" marL="0">
              <a:buNone/>
            </a:pPr>
            <a:r>
              <a:rPr lang="en-US" sz="1000" i="1" dirty="0">
                <a:solidFill>
                  <a:srgbClr val="5A6472"/>
                </a:solidFill>
                <a:latin typeface="Calibri" pitchFamily="34" charset="0"/>
                <a:cs typeface="Amiri" pitchFamily="2" charset="-78"/>
              </a:rPr>
              <a:t>  pl. مُرَاجَعَاتٌ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تَسَلْسُلُ الأَحْدَاثِ</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order of events</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دَلِيلٌ مِنَ النَّصِّ</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evidence from the text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يَسْتَنْتِجُ</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deduces</a:t>
            </a:r>
            <a:pPr indent="0" marL="0">
              <a:buNone/>
            </a:pPr>
            <a:r>
              <a:rPr lang="en-US" sz="1000" i="1" dirty="0">
                <a:solidFill>
                  <a:srgbClr val="5A6472"/>
                </a:solidFill>
                <a:latin typeface="Calibri" pitchFamily="34" charset="0"/>
                <a:cs typeface="Amiri" pitchFamily="2" charset="-78"/>
              </a:rPr>
              <a:t>  أَسْتَنْتِجُ I deduce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Think of a famous athlete or traveller. Note three things that happened in their life, in order.</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أَوَّلًا … ثُمَّ … فِي النِّهَايَةِ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12 travel words; write six past sentences from the frames.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 70–90-word trip account with an evaluation and one future sentence.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90–100 words, past habit + future switch.</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46</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D5-L07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D5-L08 · Reading — Leisure, Sport and Past Experience Texts</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القِرَاءَةُ — نُصُوصُ التَّرْفِيهِ وَالرِّيَاضَةِ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zur-tu · aqam-tu · ʿud-nā; safara ilā · aqāma fī · istamtaʿa bi- — then switch cleanly: </a:t>
            </a:r>
            <a:pPr algn="l" indent="0" marL="0">
              <a:buNone/>
            </a:pPr>
            <a:r>
              <a:rPr lang="ar-SA" altLang="en-US" sz="1700" b="1" dirty="0">
                <a:solidFill>
                  <a:srgbClr val="FFFFFF"/>
                </a:solidFill>
                <a:latin typeface="Amiri" pitchFamily="2" charset="-78"/>
                <a:cs typeface="Amiri" pitchFamily="2" charset="-78"/>
              </a:rPr>
              <a:t>سَأَزُورُ مَرَّةً أُخْرَى</a:t>
            </a:r>
            <a:pPr algn="l" indent="0" marL="0">
              <a:buNone/>
            </a:pPr>
            <a:r>
              <a:rPr lang="en-US" sz="1300" b="1" dirty="0">
                <a:solidFill>
                  <a:srgbClr val="FFFFFF"/>
                </a:solidFill>
                <a:latin typeface="Calibri" pitchFamily="34" charset="0"/>
                <a:cs typeface="Amiri" pitchFamily="2" charset="-78"/>
              </a:rPr>
              <a: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D5-L07 · Holidays and Travel — Past and Future</dc:title>
  <dc:subject>PptxGenJS Presentation</dc:subject>
  <dc:creator>Al Madina Online School · Arabic Department</dc:creator>
  <cp:lastModifiedBy>Al Madina Online School · Arabic Department</cp:lastModifiedBy>
  <cp:revision>1</cp:revision>
  <dcterms:created xsi:type="dcterms:W3CDTF">2026-10-11T06:41:01Z</dcterms:created>
  <dcterms:modified xsi:type="dcterms:W3CDTF">2026-10-11T06:41:01Z</dcterms:modified>
</cp:coreProperties>
</file>