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D5-L09. The website lesson “Writing — My Leisure Life (Paper 4 Extended Writing)”: vocabulary, grammar rules and quiz, patterns, common mistakes, sorter, listening, reading, speaking prompts and model, writing task and model, differentiation, final check and the lesson mission. Picture match: website visual game “Writing — My Leisure Life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three-paragraph frame — one paragraph per tense with the given time phrase (70–90 words). Develop: 110–130 words with أَمَّا … فَـ and a connector in the past section. Stretch: the website task (130–140 words) with a كَانَ habit, a contrast and a justified opinion — then the 90-second self-mark.
• Website key message: Range = moving between tenses accurately, NOT adding long words. Writing everything in the present loses Range AND Accuracy.
• This is the D5 writing showcase: it pulls together L01 (hobbies), L02 (sport), L03–L05 (past, كَانَ), L07 (future).
• TEACHER-WRITTEN ITEMS: two near-identical quiz distractors replaced (the key case-ending errors are kept on purpose), English added to the patterns and speaking model; the website visual game repeats D5-L01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D5-L08. Questions 4–5 retrieve D5-L08 (time marker decides tense) and D5-L05 (كَانَ + present = habit).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Range = past + present + future, each with its own time phrase — not long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مسودہ، خاتمہ، صراحت are shared. CAREFUL: Urdu زمانہ = an age / the times; in Arabic grammar زَمَنٌ (pl. أَزْمِنَةٌ) = a tense — تَنَوُّعُ الأَزْمِنَةِ = using different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Talking about writing (website vocabulary (1 of 2)). Hear → Say → See → Use. Transliteration is printed for Core students (cover it for Develop/Stretch).
Talking about writing: the words of the marking criteria (range, accuracy, linking, word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Talking about writing (website vocabulary (2 of 2)). Hear → Say → See → Use. Transliteration is printed for Core students (cover it for Develop/Stretch).
Talking about writing: the words of the marking criteria (range, accuracy, linking, word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Structuring the response (website vocabulary (1 of 2)). Hear → Say → See → Use. Transliteration is printed for Core students (cover it for Develop/Stretch).
Structuring the response: one time phrase per paragraph — they tell the reader (and the examiner) which tense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Structuring the response (website vocabulary (2 of 2)). Hear → Say → See → Use. Transliteration is printed for Core students (cover it for Develop/Stretch).
Structuring the response: one time phrase per paragraph — they tell the reader (and the examiner) which tense to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Opinion and evaluation (website vocabulary (1 of 2)). Hear → Say → See → Use. Transliteration is printed for Core students (cover it for Develop/Stretch).
Opinion and evaluation: أَعْتَقِدُ أَنَّ + noun in -a; أَنْوِي / أَتَمَنَّى أَنْ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Opinion and evaluation (website vocabulary (2 of 2)). Hear → Say → See → Use. Transliteration is printed for Core students (cover it for Develop/Stretch).
Opinion and evaluation: أَعْتَقِدُ أَنَّ + noun in -a; أَنْوِي / أَتَمَنَّى أَنْ + verb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“Signal each tense with a time phrase” and the website listening (a student explains her plan: past paragraph → present paragraph → future paragraph → opinion → count the words and check every suffix). Website teaching point: “Range means moving between tenses, not adding long words.”
Website mistake: فِي الطُّفُولَةِ أَلْعَبُ ✗ → لَعِبْتُ.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“Contrast with أَمَّا … فَـ” (the فَـ is obligatory), “Opinion with أَعْتَقِدُ أَنَّ” (أَنَّ makes the following noun accusative, unlike أَنْ which takes a subjunctive verb) and “Intention with أَنْوِي أَنْ”. Website mistake: أَعْتَقِدُ أَنَّ الرِّيَاضَةُ ✗ → الرِّيَاضَةَ.
These two small words (أَنَّ / أَنْ) look alike: anna + NOUN, an +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structure carries the marks: past experience, present habit, future plan, each signalled by its own time phrase and its own verb form.”
• Signal each tense with a time phrase: The time phrase tells the reader which tense to expect, and the verb must then match it.
• Contrast with أَمَّا … فَـ: This pair introduces a contrasting topic. The فَـ is obligatory on the second part.
• Opinion with أَعْتَقِدُ أَنَّ: أَنَّ makes the following noun accusative, unlike أَنْ which takes a subjunctive verb.
• Intention with أَنْوِي أَنْ: أَنْ takes the subjunctive, so the final ḍamma becomes a fatḥa.
Website common error: Writing the whole response in the present tense is the most common way to lose Range and Accuracy marks at once. If your text describes something that already happened, the verbs must be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plan → draft → check cycle. The copy box is the skeleton of the website model (one sentence per tense). The full 130-word website model is on the Write / model slides. Then model the 90-second self-mark: circle every verb, check its ending against the time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one sentence from each column together to make a mini three-tense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put one sentence from each column together to make a mini three-tense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then copy her plan as your own plan.
Listen 1: just listen. Listen 2: note answers. Then chat the letters.
Support: after the second listening, show the read-along slide (Arabic + English, line by line) for Core students.
SCRIPT (read aloud):
قَبْلَ أَنْ أَكْتُبَ، رَسَمْتُ خُطَّةً بَسِيطَةً. فِي الفِقْرَةِ الأُولَى كَتَبْتُ عَنِ المَاضِي: فِي الطُّفُولَةِ لَعِبْتُ كُرَةَ السَّلَّةِ، وَكَانَ أَبِي يُشَجِّعُنِي كُلَّ أُسْبُوعٍ. وَفِي الفِقْرَةِ الثَّانِيَةِ كَتَبْتُ عَنِ الحَاضِرِ: أَمَّا الآنَ فَأُمَارِسُ السِّبَاحَةَ مَرَّتَيْنِ فِي الأُسْبُوعِ. وَفِي الفِقْرَةِ الثَّالِثَةِ كَتَبْتُ عَنِ المُسْتَقْبَلِ: سَأَشْتَرِكُ فِي بُطُولَةٍ، وَأَنْوِي أَنْ أَتَعَلَّمَ رِيَاضَةً جَدِيدَةً. وَفِي الخِتَامِ أَضَفْتُ رَأْيِي: أَعْتَقِدُ أَنَّ الرِّيَاضَةَ مُفِيدَةٌ لِلصِّحَّةِ. ثُمَّ عَدَدْتُ الكَلِمَاتِ وَرَاجَعْتُ كُلَّ لَاحِقَةٍ.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تَنْتَقِلُ إِلَى الحَاضِرِ؟ (And how will you move to the present?)
B: أَسْتَعْمِلُ أَمَّا الآنَ فَـ، ثُمَّ أَذْكُرُ خُطَّتِي بِـ سَوْفَ، وَأَخْتِمُ بِرَأْيِي. (I use “as for now”, then I state my plan with “sawfa”, and I end with my opinion.)
Website prompts and model: talk the plan through BEFORE writing. Pairs: 60 seconds each; the partner ticks past / present / future heard. To a girl: سَتَكْتُبِينَ · سَتَنْتَقِلِينَ · خُطَّتُكِ · رَأْيُكِ.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three-paragraph frame and write one section per tense with the given time phrases. · Develop — Link the sections with أَمَّا … فَـ and add a narrative connector to the past section. · Stretch — Add a كَانَ habit, a contrast with مِنْ نَاحِيَةٍ أُخْرَى and a justified closing opinion within the word limit.
Website writing task (Stretch): Write 130 to 140 words on وَقْتُ فَرَاغِي — المَاضِي وَالحَاضِرُ وَالمُسْتَقْبَلُ. Narrate a past experience, describe your present habit, state a future plan and close with an opinion.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 130 words). Evidence: كُنْتُ أَلْعَبُ · كَانَ أَبِي يُشَجِّعُنِي · اشْتَرَكْتُ · تَدَرَّبْتُ · أُصِبْتُ · تَوَقَّفْتُ · عُدْتُ · أَمَّا الآنَ فَأُمَارِسُ · أُفَضِّلُ … عَلَى · سَأَشْتَرِكُ · سَوْفَ أَتَعَلَّمُ · أَعْتَقِدُ أَنَّ وَقْتَ الفَرَاغِ مُهِمٌّ.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(D5-L10 · Listening — Sport, Leisure and Past Events) will spend class time USING this language, so students prepare it tonight — short, simple, easy to access (school guidance: “Simple, Short, Interesting, Relevant, Easy to access”). The five words come from the website D5-L10 vocabulary (listening strategy and tense markers).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My Leisure Life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الكِتَابَةُ — حَيَاتِي التَّرْفِيهِيَّةُ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write and check a 130–140-word text on </a:t>
            </a:r>
            <a:pPr algn="l" indent="0" marL="0">
              <a:buNone/>
            </a:pPr>
            <a:r>
              <a:rPr lang="ar-SA" altLang="en-US" sz="1800" dirty="0">
                <a:solidFill>
                  <a:srgbClr val="C6D2E6"/>
                </a:solidFill>
                <a:latin typeface="Amiri" pitchFamily="2" charset="-78"/>
                <a:cs typeface="Amiri" pitchFamily="2" charset="-78"/>
              </a:rPr>
              <a:t>وَقْتُ فَرَاغِي</a:t>
            </a:r>
            <a:pPr algn="l" indent="0" marL="0">
              <a:buNone/>
            </a:pPr>
            <a:r>
              <a:rPr lang="en-US" sz="1400" dirty="0">
                <a:solidFill>
                  <a:srgbClr val="C6D2E6"/>
                </a:solidFill>
                <a:latin typeface="Calibri" pitchFamily="34" charset="0"/>
                <a:cs typeface="Amiri" pitchFamily="2" charset="-78"/>
              </a:rPr>
              <a:t> in three time zones — past (</a:t>
            </a:r>
            <a:pPr algn="l" indent="0" marL="0">
              <a:buNone/>
            </a:pPr>
            <a:r>
              <a:rPr lang="ar-SA" altLang="en-US" sz="1800" dirty="0">
                <a:solidFill>
                  <a:srgbClr val="C6D2E6"/>
                </a:solidFill>
                <a:latin typeface="Amiri" pitchFamily="2" charset="-78"/>
                <a:cs typeface="Amiri" pitchFamily="2" charset="-78"/>
              </a:rPr>
              <a:t>فِي الطُّفُولَةِ لَعِبْتُ</a:t>
            </a:r>
            <a:pPr algn="l" indent="0" marL="0">
              <a:buNone/>
            </a:pPr>
            <a:r>
              <a:rPr lang="en-US" sz="1400" dirty="0">
                <a:solidFill>
                  <a:srgbClr val="C6D2E6"/>
                </a:solidFill>
                <a:latin typeface="Calibri" pitchFamily="34" charset="0"/>
                <a:cs typeface="Amiri" pitchFamily="2" charset="-78"/>
              </a:rPr>
              <a:t>), present (</a:t>
            </a:r>
            <a:pPr algn="l" indent="0" marL="0">
              <a:buNone/>
            </a:pPr>
            <a:r>
              <a:rPr lang="ar-SA" altLang="en-US" sz="1800" dirty="0">
                <a:solidFill>
                  <a:srgbClr val="C6D2E6"/>
                </a:solidFill>
                <a:latin typeface="Amiri" pitchFamily="2" charset="-78"/>
                <a:cs typeface="Amiri" pitchFamily="2" charset="-78"/>
              </a:rPr>
              <a:t>أَمَّا الآنَ فَأُمَارِسُ</a:t>
            </a:r>
            <a:pPr algn="l" indent="0" marL="0">
              <a:buNone/>
            </a:pPr>
            <a:r>
              <a:rPr lang="en-US" sz="1400" dirty="0">
                <a:solidFill>
                  <a:srgbClr val="C6D2E6"/>
                </a:solidFill>
                <a:latin typeface="Calibri" pitchFamily="34" charset="0"/>
                <a:cs typeface="Amiri" pitchFamily="2" charset="-78"/>
              </a:rPr>
              <a:t>), future (</a:t>
            </a:r>
            <a:pPr algn="l" indent="0" marL="0">
              <a:buNone/>
            </a:pPr>
            <a:r>
              <a:rPr lang="ar-SA" altLang="en-US" sz="1800" dirty="0">
                <a:solidFill>
                  <a:srgbClr val="C6D2E6"/>
                </a:solidFill>
                <a:latin typeface="Amiri" pitchFamily="2" charset="-78"/>
                <a:cs typeface="Amiri" pitchFamily="2" charset="-78"/>
              </a:rPr>
              <a:t>سَأَشْتَرِكُ</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أَنْوِي أَنْ</a:t>
            </a:r>
            <a:pPr algn="l" indent="0" marL="0">
              <a:buNone/>
            </a:pPr>
            <a:r>
              <a:rPr lang="en-US" sz="1400" dirty="0">
                <a:solidFill>
                  <a:srgbClr val="C6D2E6"/>
                </a:solidFill>
                <a:latin typeface="Calibri" pitchFamily="34" charset="0"/>
                <a:cs typeface="Amiri" pitchFamily="2" charset="-78"/>
              </a:rPr>
              <a:t>) — ending with an opinion (</a:t>
            </a:r>
            <a:pPr algn="l" indent="0" marL="0">
              <a:buNone/>
            </a:pPr>
            <a:r>
              <a:rPr lang="ar-SA" altLang="en-US" sz="1800" dirty="0">
                <a:solidFill>
                  <a:srgbClr val="C6D2E6"/>
                </a:solidFill>
                <a:latin typeface="Amiri" pitchFamily="2" charset="-78"/>
                <a:cs typeface="Amiri" pitchFamily="2" charset="-78"/>
              </a:rPr>
              <a:t>أَعْتَقِدُ أَنَّ</a:t>
            </a:r>
            <a:pPr algn="l" indent="0" marL="0">
              <a:buNone/>
            </a:pPr>
            <a:r>
              <a:rPr lang="en-US" sz="1400" dirty="0">
                <a:solidFill>
                  <a:srgbClr val="C6D2E6"/>
                </a:solidFill>
                <a:latin typeface="Calibri" pitchFamily="34" charset="0"/>
                <a:cs typeface="Amiri" pitchFamily="2" charset="-78"/>
              </a:rPr>
              <a:t> …).</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D5-L09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time zones, one contrast, one opinion, one check.</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sentences into past / present / future, fix tense slips, then hear a student’s plan.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conclusion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draft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word count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intend to</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believe that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hope that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تَنَوُّعُ الأَزْمِنَةِ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linking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tense variety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فِي العَامِ المَاضِي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إِلَى نَادٍ جَدِيدٍ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أَنْتَقِلُ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سَأَنْتَقِلُ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انْتَقَلْتُ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أَبِي يُشَجِّعُنِي.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أَبِي شَجَّعَنِي.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يَكُونُ أَبِي يُشَجِّعُنِي.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المُسَوَّدَةُ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conclusion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draft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word count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intend to</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believe that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hope that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تَنَوُّعُ الأَزْمِنَةِ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accuracy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linking</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tense variety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فِي العَامِ المَاضِي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إِلَى نَادٍ جَدِيدٍ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أَنْتَقِلُ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سَأَنْتَقِلُ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انْتَقَلْتُ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D5-L08: time marker → tense.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أَبِي يُشَجِّعُنِي.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أَبِي شَجَّعَنِي.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يَكُونُ أَبِي يُشَجِّعُنِي.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D5-L05: kāna + present.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Range = past + present + future, each with its own time phrase — not long words.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فِي الطُّفُولَةِ</a:t>
            </a:r>
            <a:pPr rtl="1" algn="ctr" indent="0" marL="0">
              <a:lnSpc>
                <a:spcPct val="120000"/>
              </a:lnSpc>
              <a:buNone/>
            </a:pPr>
            <a:r>
              <a:rPr lang="ar-SA" altLang="en-US" sz="1950" b="1" dirty="0">
                <a:solidFill>
                  <a:srgbClr val="1B3B6F"/>
                </a:solidFill>
                <a:latin typeface="Amiri" pitchFamily="2" charset="-78"/>
                <a:cs typeface="Amiri" pitchFamily="2" charset="-78"/>
              </a:rPr>
              <a:t> لَعِبْتُ · </a:t>
            </a:r>
            <a:pPr rtl="1" algn="ctr" indent="0" marL="0">
              <a:lnSpc>
                <a:spcPct val="120000"/>
              </a:lnSpc>
              <a:buNone/>
            </a:pPr>
            <a:r>
              <a:rPr lang="ar-SA" altLang="en-US" sz="1950" b="1" dirty="0">
                <a:solidFill>
                  <a:srgbClr val="D6336C"/>
                </a:solidFill>
                <a:latin typeface="Amiri" pitchFamily="2" charset="-78"/>
                <a:cs typeface="Amiri" pitchFamily="2" charset="-78"/>
              </a:rPr>
              <a:t>أَمَّا الآنَ</a:t>
            </a:r>
            <a:pPr rtl="1" algn="ctr" indent="0" marL="0">
              <a:lnSpc>
                <a:spcPct val="120000"/>
              </a:lnSpc>
              <a:buNone/>
            </a:pPr>
            <a:r>
              <a:rPr lang="ar-SA" altLang="en-US" sz="1950" b="1" dirty="0">
                <a:solidFill>
                  <a:srgbClr val="1B3B6F"/>
                </a:solidFill>
                <a:latin typeface="Amiri" pitchFamily="2" charset="-78"/>
                <a:cs typeface="Amiri" pitchFamily="2" charset="-78"/>
              </a:rPr>
              <a:t> فَأُمَارِسُ · </a:t>
            </a:r>
            <a:pPr rtl="1" algn="ctr" indent="0" marL="0">
              <a:lnSpc>
                <a:spcPct val="120000"/>
              </a:lnSpc>
              <a:buNone/>
            </a:pPr>
            <a:r>
              <a:rPr lang="ar-SA" altLang="en-US" sz="1950" b="1" dirty="0">
                <a:solidFill>
                  <a:srgbClr val="1D5FBF"/>
                </a:solidFill>
                <a:latin typeface="Amiri" pitchFamily="2" charset="-78"/>
                <a:cs typeface="Amiri" pitchFamily="2" charset="-78"/>
              </a:rPr>
              <a:t>فِي المُسْتَقْبَلِ</a:t>
            </a:r>
            <a:pPr rtl="1" algn="ctr" indent="0" marL="0">
              <a:lnSpc>
                <a:spcPct val="120000"/>
              </a:lnSpc>
              <a:buNone/>
            </a:pPr>
            <a:r>
              <a:rPr lang="ar-SA" altLang="en-US" sz="1950" b="1" dirty="0">
                <a:solidFill>
                  <a:srgbClr val="1B3B6F"/>
                </a:solidFill>
                <a:latin typeface="Amiri" pitchFamily="2" charset="-78"/>
                <a:cs typeface="Amiri" pitchFamily="2" charset="-78"/>
              </a:rPr>
              <a:t> سَأَشْتَرِكُ</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three-paragraph text: past · present · future.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Signal each tense with a time phrase and match the verb.</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with </a:t>
            </a:r>
            <a:pPr algn="l" indent="0" marL="0">
              <a:buNone/>
            </a:pPr>
            <a:r>
              <a:rPr lang="ar-SA" altLang="en-US" sz="1700" dirty="0">
                <a:solidFill>
                  <a:srgbClr val="1F2A37"/>
                </a:solidFill>
                <a:latin typeface="Amiri" pitchFamily="2" charset="-78"/>
                <a:cs typeface="Amiri" pitchFamily="2" charset="-78"/>
              </a:rPr>
              <a:t>أَمَّا … فَـ</a:t>
            </a:r>
            <a:pPr algn="l" indent="0" marL="0">
              <a:buNone/>
            </a:pPr>
            <a:r>
              <a:rPr lang="en-US" sz="1300" dirty="0">
                <a:solidFill>
                  <a:srgbClr val="1F2A37"/>
                </a:solidFill>
                <a:latin typeface="Calibri" pitchFamily="34" charset="0"/>
                <a:cs typeface="Amiri" pitchFamily="2" charset="-78"/>
              </a:rPr>
              <a:t> and give an opinion with </a:t>
            </a:r>
            <a:pPr algn="l" indent="0" marL="0">
              <a:buNone/>
            </a:pPr>
            <a:r>
              <a:rPr lang="ar-SA" altLang="en-US" sz="1700" dirty="0">
                <a:solidFill>
                  <a:srgbClr val="1F2A37"/>
                </a:solidFill>
                <a:latin typeface="Amiri" pitchFamily="2" charset="-78"/>
                <a:cs typeface="Amiri" pitchFamily="2" charset="-78"/>
              </a:rPr>
              <a:t>أَعْتَقِدُ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Check my own draft for suffixes, collocations and word count.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one paragraph per tense with frames.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My verbs match my time phrases.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with </a:t>
            </a:r>
            <a:pPr algn="l" indent="0" marL="0">
              <a:buNone/>
            </a:pPr>
            <a:r>
              <a:rPr lang="ar-SA" altLang="en-US" sz="1700" b="1" dirty="0">
                <a:solidFill>
                  <a:srgbClr val="C9780A"/>
                </a:solidFill>
                <a:latin typeface="Amiri" pitchFamily="2" charset="-78"/>
                <a:cs typeface="Amiri" pitchFamily="2" charset="-78"/>
              </a:rPr>
              <a:t>أَمَّا … فَـ</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connector and an opinion.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130–140 words with a </a:t>
            </a:r>
            <a:pPr algn="l" indent="0" marL="0">
              <a:buNone/>
            </a:pPr>
            <a:r>
              <a:rPr lang="ar-SA" altLang="en-US" sz="1700" b="1" dirty="0">
                <a:solidFill>
                  <a:srgbClr val="B83227"/>
                </a:solidFill>
                <a:latin typeface="Amiri" pitchFamily="2" charset="-78"/>
                <a:cs typeface="Amiri" pitchFamily="2" charset="-78"/>
              </a:rPr>
              <a:t>كَانَ</a:t>
            </a:r>
            <a:pPr algn="l" indent="0" marL="0">
              <a:buNone/>
            </a:pPr>
            <a:r>
              <a:rPr lang="en-US" sz="1300" b="1" dirty="0">
                <a:solidFill>
                  <a:srgbClr val="B83227"/>
                </a:solidFill>
                <a:latin typeface="Calibri" pitchFamily="34" charset="0"/>
                <a:cs typeface="Amiri" pitchFamily="2" charset="-78"/>
              </a:rPr>
              <a:t> habit.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self-mark my draft against the checklist.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Talking about writing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Structuring the response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Opinion and evaluation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مُسَوَّدَةٌ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‎مسودہ‎ </a:t>
            </a:r>
            <a:pPr indent="0" marL="0">
              <a:buNone/>
            </a:pPr>
            <a:r>
              <a:rPr lang="en-US" sz="950" b="1" dirty="0">
                <a:solidFill>
                  <a:srgbClr val="2E8B57"/>
                </a:solidFill>
                <a:latin typeface="Calibri" pitchFamily="34" charset="0"/>
                <a:cs typeface="Amiri" pitchFamily="2" charset="-78"/>
              </a:rPr>
              <a:t> musawwada · a draft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خَاتِمَةٌ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‎خاتمہ‎ </a:t>
            </a:r>
            <a:pPr indent="0" marL="0">
              <a:buNone/>
            </a:pPr>
            <a:r>
              <a:rPr lang="en-US" sz="950" b="1" dirty="0">
                <a:solidFill>
                  <a:srgbClr val="2E8B57"/>
                </a:solidFill>
                <a:latin typeface="Calibri" pitchFamily="34" charset="0"/>
                <a:cs typeface="Amiri" pitchFamily="2" charset="-78"/>
              </a:rPr>
              <a:t> khātima · conclusion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مُقَدِّمَةٌ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‎مقدمہ‎ </a:t>
            </a:r>
            <a:pPr indent="0" marL="0">
              <a:buNone/>
            </a:pPr>
            <a:r>
              <a:rPr lang="en-US" sz="950" b="1" dirty="0">
                <a:solidFill>
                  <a:srgbClr val="2E8B57"/>
                </a:solidFill>
                <a:latin typeface="Calibri" pitchFamily="34" charset="0"/>
                <a:cs typeface="Amiri" pitchFamily="2" charset="-78"/>
              </a:rPr>
              <a:t> muqaddama · introduction (Urdu also: a court case)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زَمَنٌ / أَزْمِنَةٌ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‎زمانہ‎ </a:t>
            </a:r>
            <a:pPr indent="0" marL="0">
              <a:buNone/>
            </a:pPr>
            <a:r>
              <a:rPr lang="en-US" sz="950" b="1" dirty="0">
                <a:solidFill>
                  <a:srgbClr val="2E8B57"/>
                </a:solidFill>
                <a:latin typeface="Calibri" pitchFamily="34" charset="0"/>
                <a:cs typeface="Amiri" pitchFamily="2" charset="-78"/>
              </a:rPr>
              <a:t> zamāna · Urdu: an era · Arabic grammar: a tense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بِصَرَاحَةٍ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‎صراحت سے‎ </a:t>
            </a:r>
            <a:pPr indent="0" marL="0">
              <a:buNone/>
            </a:pPr>
            <a:r>
              <a:rPr lang="en-US" sz="950" b="1" dirty="0">
                <a:solidFill>
                  <a:srgbClr val="2E8B57"/>
                </a:solidFill>
                <a:latin typeface="Calibri" pitchFamily="34" charset="0"/>
                <a:cs typeface="Amiri" pitchFamily="2" charset="-78"/>
              </a:rPr>
              <a:t> ṣarāḥat se · frankly, clearly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writing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تَنَوُّعُ الأَزْمِنَةِ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tense variety</a:t>
            </a:r>
            <a:endParaRPr lang="en-US" sz="1350" dirty="0"/>
          </a:p>
          <a:p>
            <a:pPr indent="0" marL="0">
              <a:buNone/>
            </a:pPr>
            <a:r>
              <a:rPr lang="en-US" sz="1100" i="1" dirty="0">
                <a:solidFill>
                  <a:srgbClr val="5A6472"/>
                </a:solidFill>
                <a:latin typeface="Calibri" pitchFamily="34" charset="0"/>
                <a:cs typeface="Amiri" pitchFamily="2" charset="-78"/>
              </a:rPr>
              <a:t>ta-naw-wu-ʿu al-az-mi-na-ti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فِقْرَةٌ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fiq-ra-tun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مُقَدِّمَةٌ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introduction</a:t>
            </a:r>
            <a:endParaRPr lang="en-US" sz="1350" dirty="0"/>
          </a:p>
          <a:p>
            <a:pPr indent="0" marL="0">
              <a:buNone/>
            </a:pPr>
            <a:r>
              <a:rPr lang="en-US" sz="1100" i="1" dirty="0">
                <a:solidFill>
                  <a:srgbClr val="5A6472"/>
                </a:solidFill>
                <a:latin typeface="Calibri" pitchFamily="34" charset="0"/>
                <a:cs typeface="Amiri" pitchFamily="2" charset="-78"/>
              </a:rPr>
              <a:t>mu-qad-di-ma-tun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خَاتِمَةٌ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conclusion</a:t>
            </a:r>
            <a:endParaRPr lang="en-US" sz="1350" dirty="0"/>
          </a:p>
          <a:p>
            <a:pPr indent="0" marL="0">
              <a:buNone/>
            </a:pPr>
            <a:r>
              <a:rPr lang="en-US" sz="1100" i="1" dirty="0">
                <a:solidFill>
                  <a:srgbClr val="5A6472"/>
                </a:solidFill>
                <a:latin typeface="Calibri" pitchFamily="34" charset="0"/>
                <a:cs typeface="Amiri" pitchFamily="2" charset="-78"/>
              </a:rPr>
              <a:t>khā-ti-ma-tun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writing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الرَّبْطُ</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linking, cohesion</a:t>
            </a:r>
            <a:endParaRPr lang="en-US" sz="1350" dirty="0"/>
          </a:p>
          <a:p>
            <a:pPr indent="0" marL="0">
              <a:buNone/>
            </a:pPr>
            <a:r>
              <a:rPr lang="en-US" sz="1100" i="1" dirty="0">
                <a:solidFill>
                  <a:srgbClr val="5A6472"/>
                </a:solidFill>
                <a:latin typeface="Calibri" pitchFamily="34" charset="0"/>
                <a:cs typeface="Amiri" pitchFamily="2" charset="-78"/>
              </a:rPr>
              <a:t>ar-rab-ṭu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عَدَدُ الكَلِمَاتِ</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word count</a:t>
            </a:r>
            <a:endParaRPr lang="en-US" sz="1350" dirty="0"/>
          </a:p>
          <a:p>
            <a:pPr indent="0" marL="0">
              <a:buNone/>
            </a:pPr>
            <a:r>
              <a:rPr lang="en-US" sz="1100" i="1" dirty="0">
                <a:solidFill>
                  <a:srgbClr val="5A6472"/>
                </a:solidFill>
                <a:latin typeface="Calibri" pitchFamily="34" charset="0"/>
                <a:cs typeface="Amiri" pitchFamily="2" charset="-78"/>
              </a:rPr>
              <a:t>ʿa-da-du al-ka-li-mā-ti</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المُسَوَّدَةُ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draft</a:t>
            </a:r>
            <a:endParaRPr lang="en-US" sz="1350" dirty="0"/>
          </a:p>
          <a:p>
            <a:pPr indent="0" marL="0">
              <a:buNone/>
            </a:pPr>
            <a:r>
              <a:rPr lang="en-US" sz="1100" i="1" dirty="0">
                <a:solidFill>
                  <a:srgbClr val="5A6472"/>
                </a:solidFill>
                <a:latin typeface="Calibri" pitchFamily="34" charset="0"/>
                <a:cs typeface="Amiri" pitchFamily="2" charset="-78"/>
              </a:rPr>
              <a:t>al-mu-saw-wa-da-tu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Structuring the response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المَاضِي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past</a:t>
            </a:r>
            <a:endParaRPr lang="en-US" sz="1350" dirty="0"/>
          </a:p>
          <a:p>
            <a:pPr indent="0" marL="0">
              <a:buNone/>
            </a:pPr>
            <a:r>
              <a:rPr lang="en-US" sz="1100" i="1" dirty="0">
                <a:solidFill>
                  <a:srgbClr val="5A6472"/>
                </a:solidFill>
                <a:latin typeface="Calibri" pitchFamily="34" charset="0"/>
                <a:cs typeface="Amiri" pitchFamily="2" charset="-78"/>
              </a:rPr>
              <a:t>fī al-mā-ḍī</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الطُّفُولَةِ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childhood</a:t>
            </a:r>
            <a:endParaRPr lang="en-US" sz="1350" dirty="0"/>
          </a:p>
          <a:p>
            <a:pPr indent="0" marL="0">
              <a:buNone/>
            </a:pPr>
            <a:r>
              <a:rPr lang="en-US" sz="1100" i="1" dirty="0">
                <a:solidFill>
                  <a:srgbClr val="5A6472"/>
                </a:solidFill>
                <a:latin typeface="Calibri" pitchFamily="34" charset="0"/>
                <a:cs typeface="Amiri" pitchFamily="2" charset="-78"/>
              </a:rPr>
              <a:t>fī aṭ-ṭu-fū-la-ti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أَمَّا الآنَ فَـ</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now,</a:t>
            </a:r>
            <a:endParaRPr lang="en-US" sz="1350" dirty="0"/>
          </a:p>
          <a:p>
            <a:pPr indent="0" marL="0">
              <a:buNone/>
            </a:pPr>
            <a:r>
              <a:rPr lang="en-US" sz="1100" i="1" dirty="0">
                <a:solidFill>
                  <a:srgbClr val="5A6472"/>
                </a:solidFill>
                <a:latin typeface="Calibri" pitchFamily="34" charset="0"/>
                <a:cs typeface="Amiri" pitchFamily="2" charset="-78"/>
              </a:rPr>
              <a:t>am-mā al-ʾā-na fa</a:t>
            </a:r>
            <a:endParaRPr lang="en-US" sz="1350" dirty="0"/>
          </a:p>
        </p:txBody>
      </p:sp>
      <p:sp>
        <p:nvSpPr>
          <p:cNvPr id="34" name="Text 3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أَمَّا … فَـ</a:t>
            </a:r>
            <a:pPr algn="l" indent="0" marL="0">
              <a:buNone/>
            </a:pPr>
            <a:r>
              <a:rPr lang="en-US" sz="1000" i="1" dirty="0">
                <a:solidFill>
                  <a:srgbClr val="8A6D1E"/>
                </a:solidFill>
                <a:latin typeface="Calibri" pitchFamily="34" charset="0"/>
                <a:cs typeface="Amiri" pitchFamily="2" charset="-78"/>
              </a:rPr>
              <a:t> marks a contrast.</a:t>
            </a:r>
            <a:endParaRPr lang="en-US" sz="100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8" name="Text 3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الوَقْتِ الحَاضِرِ</a:t>
            </a:r>
            <a:endParaRPr lang="ar-SA" sz="3000" dirty="0"/>
          </a:p>
        </p:txBody>
      </p:sp>
      <p:sp>
        <p:nvSpPr>
          <p:cNvPr id="39" name="Text 3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present</a:t>
            </a:r>
            <a:endParaRPr lang="en-US" sz="1350" dirty="0"/>
          </a:p>
          <a:p>
            <a:pPr indent="0" marL="0">
              <a:buNone/>
            </a:pPr>
            <a:r>
              <a:rPr lang="en-US" sz="1100" i="1" dirty="0">
                <a:solidFill>
                  <a:srgbClr val="5A6472"/>
                </a:solidFill>
                <a:latin typeface="Calibri" pitchFamily="34" charset="0"/>
                <a:cs typeface="Amiri" pitchFamily="2" charset="-78"/>
              </a:rPr>
              <a:t>fī al-waq-ti al-ḥā-ḍi-ri</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Structuring the response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المُسْتَقْبَلِ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future</a:t>
            </a:r>
            <a:endParaRPr lang="en-US" sz="1350" dirty="0"/>
          </a:p>
          <a:p>
            <a:pPr indent="0" marL="0">
              <a:buNone/>
            </a:pPr>
            <a:r>
              <a:rPr lang="en-US" sz="1100" i="1" dirty="0">
                <a:solidFill>
                  <a:srgbClr val="5A6472"/>
                </a:solidFill>
                <a:latin typeface="Calibri" pitchFamily="34" charset="0"/>
                <a:cs typeface="Amiri" pitchFamily="2" charset="-78"/>
              </a:rPr>
              <a:t>fī al-mus-taq-ba-li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بِالإِضَافَةِ إِلَى 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 to that</a:t>
            </a:r>
            <a:endParaRPr lang="en-US" sz="1350" dirty="0"/>
          </a:p>
          <a:p>
            <a:pPr indent="0" marL="0">
              <a:buNone/>
            </a:pPr>
            <a:r>
              <a:rPr lang="en-US" sz="1100" i="1" dirty="0">
                <a:solidFill>
                  <a:srgbClr val="5A6472"/>
                </a:solidFill>
                <a:latin typeface="Calibri" pitchFamily="34" charset="0"/>
                <a:cs typeface="Amiri" pitchFamily="2" charset="-78"/>
              </a:rPr>
              <a:t>bil-ʾi-ḍā-fa-ti i-lā 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نَاحِيَةٍ أُخْرَى</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nā-ḥi-ya-tin ukh-rā</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وَفِي الخِتَامِ</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in conclusion</a:t>
            </a:r>
            <a:endParaRPr lang="en-US" sz="1350" dirty="0"/>
          </a:p>
          <a:p>
            <a:pPr indent="0" marL="0">
              <a:buNone/>
            </a:pPr>
            <a:r>
              <a:rPr lang="en-US" sz="1100" i="1" dirty="0">
                <a:solidFill>
                  <a:srgbClr val="5A6472"/>
                </a:solidFill>
                <a:latin typeface="Calibri" pitchFamily="34" charset="0"/>
                <a:cs typeface="Amiri" pitchFamily="2" charset="-78"/>
              </a:rPr>
              <a:t>wa-fī al-khi-tā-mi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and evaluation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أَعْتَقِدُ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believe that</a:t>
            </a:r>
            <a:endParaRPr lang="en-US" sz="1350" dirty="0"/>
          </a:p>
          <a:p>
            <a:pPr indent="0" marL="0">
              <a:buNone/>
            </a:pPr>
            <a:r>
              <a:rPr lang="en-US" sz="1100" i="1" dirty="0">
                <a:solidFill>
                  <a:srgbClr val="5A6472"/>
                </a:solidFill>
                <a:latin typeface="Calibri" pitchFamily="34" charset="0"/>
                <a:cs typeface="Amiri" pitchFamily="2" charset="-78"/>
              </a:rPr>
              <a:t>aʿ-ta-qi-du an-na</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an accusative subject.</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المُفِيدِ أَنْ</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useful to</a:t>
            </a:r>
            <a:endParaRPr lang="en-US" sz="1350" dirty="0"/>
          </a:p>
          <a:p>
            <a:pPr indent="0" marL="0">
              <a:buNone/>
            </a:pPr>
            <a:r>
              <a:rPr lang="en-US" sz="1100" i="1" dirty="0">
                <a:solidFill>
                  <a:srgbClr val="5A6472"/>
                </a:solidFill>
                <a:latin typeface="Calibri" pitchFamily="34" charset="0"/>
                <a:cs typeface="Amiri" pitchFamily="2" charset="-78"/>
              </a:rPr>
              <a:t>mi-na al-mu-fī-di an</a:t>
            </a:r>
            <a:endParaRPr lang="en-US" sz="1350" dirty="0"/>
          </a:p>
        </p:txBody>
      </p:sp>
      <p:sp>
        <p:nvSpPr>
          <p:cNvPr id="35" name="Text 32"/>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أَنْ</a:t>
            </a:r>
            <a:pPr algn="l" indent="0" marL="0">
              <a:buNone/>
            </a:pPr>
            <a:r>
              <a:rPr lang="en-US" sz="1000" i="1" dirty="0">
                <a:solidFill>
                  <a:srgbClr val="8A6D1E"/>
                </a:solidFill>
                <a:latin typeface="Calibri" pitchFamily="34" charset="0"/>
                <a:cs typeface="Amiri" pitchFamily="2" charset="-78"/>
              </a:rPr>
              <a:t> takes the subjunctive.</a:t>
            </a:r>
            <a:endParaRPr lang="en-US" sz="100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أَهَمُّ شَيْءٍ</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most important thing</a:t>
            </a:r>
            <a:endParaRPr lang="en-US" sz="1350" dirty="0"/>
          </a:p>
          <a:p>
            <a:pPr indent="0" marL="0">
              <a:buNone/>
            </a:pPr>
            <a:r>
              <a:rPr lang="en-US" sz="1100" i="1" dirty="0">
                <a:solidFill>
                  <a:srgbClr val="5A6472"/>
                </a:solidFill>
                <a:latin typeface="Calibri" pitchFamily="34" charset="0"/>
                <a:cs typeface="Amiri" pitchFamily="2" charset="-78"/>
              </a:rPr>
              <a:t>a-ham-mu shay-ʾin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Opinion and evaluation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تَجْرِبَةٌ لَا تُنْسَى</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unforgettable experience</a:t>
            </a:r>
            <a:endParaRPr lang="en-US" sz="1350" dirty="0"/>
          </a:p>
          <a:p>
            <a:pPr indent="0" marL="0">
              <a:buNone/>
            </a:pPr>
            <a:r>
              <a:rPr lang="en-US" sz="1100" i="1" dirty="0">
                <a:solidFill>
                  <a:srgbClr val="5A6472"/>
                </a:solidFill>
                <a:latin typeface="Calibri" pitchFamily="34" charset="0"/>
                <a:cs typeface="Amiri" pitchFamily="2" charset="-78"/>
              </a:rPr>
              <a:t>taj-ri-ba-tun lā tun-sā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أَتَمَنَّى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hope to</a:t>
            </a:r>
            <a:endParaRPr lang="en-US" sz="1350" dirty="0"/>
          </a:p>
          <a:p>
            <a:pPr indent="0" marL="0">
              <a:buNone/>
            </a:pPr>
            <a:r>
              <a:rPr lang="en-US" sz="1100" i="1" dirty="0">
                <a:solidFill>
                  <a:srgbClr val="5A6472"/>
                </a:solidFill>
                <a:latin typeface="Calibri" pitchFamily="34" charset="0"/>
                <a:cs typeface="Amiri" pitchFamily="2" charset="-78"/>
              </a:rPr>
              <a:t>a-ta-man-nā 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أَنْوِي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بِصَرَاحَةٍ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frankly</a:t>
            </a:r>
            <a:endParaRPr lang="en-US" sz="1350" dirty="0"/>
          </a:p>
          <a:p>
            <a:pPr indent="0" marL="0">
              <a:buNone/>
            </a:pPr>
            <a:r>
              <a:rPr lang="en-US" sz="1100" i="1" dirty="0">
                <a:solidFill>
                  <a:srgbClr val="5A6472"/>
                </a:solidFill>
                <a:latin typeface="Calibri" pitchFamily="34" charset="0"/>
                <a:cs typeface="Amiri" pitchFamily="2" charset="-78"/>
              </a:rPr>
              <a:t>bi-ṣa-rā-ḥa-tin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THE THREE-TENSE PLAN (WEBSITE RULE 1 + LISTENING)</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paragraphs, three tenses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ثَلَاثُ فِقَرٍ، ثَلَاثَةُ 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form</a:t>
            </a:r>
            <a:endParaRPr lang="en-US" sz="1100" dirty="0"/>
          </a:p>
        </p:txBody>
      </p:sp>
      <p:sp>
        <p:nvSpPr>
          <p:cNvPr id="17" name="Text 14"/>
          <p:cNvSpPr txBox="1"/>
          <p:nvPr/>
        </p:nvSpPr>
        <p:spPr>
          <a:xfrm>
            <a:off x="27249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Paragraph</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kāna + present</a:t>
            </a:r>
            <a:endParaRPr lang="en-US" sz="1100" dirty="0"/>
          </a:p>
        </p:txBody>
      </p:sp>
      <p:sp>
        <p:nvSpPr>
          <p:cNvPr id="21" name="Text 18"/>
          <p:cNvSpPr txBox="1"/>
          <p:nvPr/>
        </p:nvSpPr>
        <p:spPr>
          <a:xfrm>
            <a:off x="2743200" y="2286000"/>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فِي الطُّفُولَةِ</a:t>
            </a:r>
            <a:pPr rtl="1" algn="ctr" indent="0" marL="0">
              <a:buNone/>
            </a:pPr>
            <a:r>
              <a:rPr lang="ar-SA" altLang="en-US" sz="1950" b="1" dirty="0">
                <a:solidFill>
                  <a:srgbClr val="1B3B6F"/>
                </a:solidFill>
                <a:latin typeface="Amiri" pitchFamily="2" charset="-78"/>
                <a:cs typeface="Amiri" pitchFamily="2" charset="-78"/>
              </a:rPr>
              <a:t> لَعِبْتُ كُرَةَ السَّلَّةِ، وَكَانَ أَبِي يُشَجِّعُنِي.</a:t>
            </a:r>
            <a:endParaRPr lang="ar-SA" sz="1950" dirty="0"/>
          </a:p>
        </p:txBody>
      </p:sp>
      <p:sp>
        <p:nvSpPr>
          <p:cNvPr id="22" name="Text 19"/>
          <p:cNvSpPr txBox="1"/>
          <p:nvPr/>
        </p:nvSpPr>
        <p:spPr>
          <a:xfrm>
            <a:off x="2697480" y="267699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childhood I played basketball, and my father used to encourage me.</a:t>
            </a:r>
            <a:endParaRPr lang="en-US" sz="950" dirty="0"/>
          </a:p>
        </p:txBody>
      </p:sp>
      <p:sp>
        <p:nvSpPr>
          <p:cNvPr id="23" name="Text 20"/>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past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a:t>
            </a:r>
            <a:endParaRPr lang="en-US" sz="1100" dirty="0"/>
          </a:p>
        </p:txBody>
      </p:sp>
      <p:sp>
        <p:nvSpPr>
          <p:cNvPr id="28" name="Text 25"/>
          <p:cNvSpPr txBox="1"/>
          <p:nvPr/>
        </p:nvSpPr>
        <p:spPr>
          <a:xfrm>
            <a:off x="2743200" y="302300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cs typeface="Amiri" pitchFamily="2" charset="-78"/>
              </a:rPr>
              <a:t>أَمَّا الآنَ</a:t>
            </a:r>
            <a:pPr rtl="1" algn="ctr" indent="0" marL="0">
              <a:buNone/>
            </a:pPr>
            <a:r>
              <a:rPr lang="ar-SA" altLang="en-US" sz="1950" b="1" dirty="0">
                <a:solidFill>
                  <a:srgbClr val="1B3B6F"/>
                </a:solidFill>
                <a:latin typeface="Amiri" pitchFamily="2" charset="-78"/>
                <a:cs typeface="Amiri" pitchFamily="2" charset="-78"/>
              </a:rPr>
              <a:t> فَأُمَارِسُ السِّبَاحَةَ مَرَّتَيْنِ فِي الأُسْبُوعِ.</a:t>
            </a:r>
            <a:endParaRPr lang="ar-SA" sz="1950" dirty="0"/>
          </a:p>
        </p:txBody>
      </p:sp>
      <p:sp>
        <p:nvSpPr>
          <p:cNvPr id="29" name="Text 26"/>
          <p:cNvSpPr txBox="1"/>
          <p:nvPr/>
        </p:nvSpPr>
        <p:spPr>
          <a:xfrm>
            <a:off x="2697480" y="3414004"/>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 for now, I swim twice a week.</a:t>
            </a:r>
            <a:endParaRPr lang="en-US" sz="950" dirty="0"/>
          </a:p>
        </p:txBody>
      </p:sp>
      <p:sp>
        <p:nvSpPr>
          <p:cNvPr id="30" name="Text 27"/>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present</a:t>
            </a:r>
            <a:endParaRPr lang="en-US" sz="11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a:t>
            </a:r>
            <a:endParaRPr lang="en-US" sz="1100" dirty="0"/>
          </a:p>
        </p:txBody>
      </p:sp>
      <p:sp>
        <p:nvSpPr>
          <p:cNvPr id="35" name="Text 32"/>
          <p:cNvSpPr txBox="1"/>
          <p:nvPr/>
        </p:nvSpPr>
        <p:spPr>
          <a:xfrm>
            <a:off x="2743200" y="3760013"/>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فِي المُسْتَقْبَلِ</a:t>
            </a:r>
            <a:pPr rtl="1" algn="ctr" indent="0" marL="0">
              <a:buNone/>
            </a:pPr>
            <a:r>
              <a:rPr lang="ar-SA" altLang="en-US" sz="1950" b="1" dirty="0">
                <a:solidFill>
                  <a:srgbClr val="1B3B6F"/>
                </a:solidFill>
                <a:latin typeface="Amiri" pitchFamily="2" charset="-78"/>
                <a:cs typeface="Amiri" pitchFamily="2" charset="-78"/>
              </a:rPr>
              <a:t> سَأَشْتَرِكُ فِي بُطُولَةٍ.</a:t>
            </a:r>
            <a:endParaRPr lang="ar-SA" sz="1950" dirty="0"/>
          </a:p>
        </p:txBody>
      </p:sp>
      <p:sp>
        <p:nvSpPr>
          <p:cNvPr id="36" name="Text 33"/>
          <p:cNvSpPr txBox="1"/>
          <p:nvPr/>
        </p:nvSpPr>
        <p:spPr>
          <a:xfrm>
            <a:off x="2697480" y="4151010"/>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future I will take part in a championship.</a:t>
            </a:r>
            <a:endParaRPr lang="en-US" sz="950" dirty="0"/>
          </a:p>
        </p:txBody>
      </p:sp>
      <p:sp>
        <p:nvSpPr>
          <p:cNvPr id="37" name="Text 34"/>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future</a:t>
            </a:r>
            <a:endParaRPr lang="en-US" sz="11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42" name="Text 39"/>
          <p:cNvSpPr txBox="1"/>
          <p:nvPr/>
        </p:nvSpPr>
        <p:spPr>
          <a:xfrm>
            <a:off x="2743200" y="4497019"/>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أَنْوِي أَنْ أَتَعَلَّمَ رِيَاضَةً جَدِيدَةً.</a:t>
            </a:r>
            <a:endParaRPr lang="ar-SA" sz="1950" dirty="0"/>
          </a:p>
        </p:txBody>
      </p:sp>
      <p:sp>
        <p:nvSpPr>
          <p:cNvPr id="43" name="Text 40"/>
          <p:cNvSpPr txBox="1"/>
          <p:nvPr/>
        </p:nvSpPr>
        <p:spPr>
          <a:xfrm>
            <a:off x="2697480" y="4888017"/>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intend to learn a new sport.</a:t>
            </a:r>
            <a:endParaRPr lang="en-US" sz="950" dirty="0"/>
          </a:p>
        </p:txBody>
      </p:sp>
      <p:sp>
        <p:nvSpPr>
          <p:cNvPr id="44" name="Text 41"/>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intention</a:t>
            </a:r>
            <a:endParaRPr lang="en-US" sz="11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 + -a</a:t>
            </a:r>
            <a:endParaRPr lang="en-US" sz="1100" dirty="0"/>
          </a:p>
        </p:txBody>
      </p:sp>
      <p:sp>
        <p:nvSpPr>
          <p:cNvPr id="47" name="Text 44"/>
          <p:cNvSpPr txBox="1"/>
          <p:nvPr/>
        </p:nvSpPr>
        <p:spPr>
          <a:xfrm>
            <a:off x="2743200" y="5234026"/>
            <a:ext cx="640080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وَفِي الخِتَامِ، أَعْتَقِدُ أَنَّ الرِّيَاضَةَ مُفِيدَةٌ لِلصِّحَّةِ.</a:t>
            </a:r>
            <a:endParaRPr lang="ar-SA" sz="1950" dirty="0"/>
          </a:p>
        </p:txBody>
      </p:sp>
      <p:sp>
        <p:nvSpPr>
          <p:cNvPr id="48" name="Text 45"/>
          <p:cNvSpPr txBox="1"/>
          <p:nvPr/>
        </p:nvSpPr>
        <p:spPr>
          <a:xfrm>
            <a:off x="2697480" y="5625023"/>
            <a:ext cx="64922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conclusion, I believe sport is good for health.</a:t>
            </a:r>
            <a:endParaRPr lang="en-US" sz="950" dirty="0"/>
          </a:p>
        </p:txBody>
      </p:sp>
      <p:sp>
        <p:nvSpPr>
          <p:cNvPr id="49" name="Text 46"/>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conclusion</a:t>
            </a:r>
            <a:endParaRPr lang="en-US" sz="11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time phrase tells the reader which tense to expect — then the verb must match it.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CONTRAST, OPINION, INTENTION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small words, many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أَمَّا · أَنَّ ·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أَمَّا … فَـ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أَمَّا أَخِي فَيُفَضِّلُ المُوسِيقَى.</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for my brother, he prefers music.</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drop the fa-.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OPINION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أَعْتَقِدُ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أَعْتَقِدُ أَنَّ المُوسِيقَى تُرِيحُ النَّفْسَ.</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believe music relaxes the soul.</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noun in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INTENTION · STRETCH</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أَنْوِي أَنْ · أَتَمَنَّى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أَنْوِي أَنْ أَتَعَلَّمَ العَزْفَ.</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intend to learn to play.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verb in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fa- answering ammā cannot be dropped.</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cs typeface="Amiri" pitchFamily="2" charset="-78"/>
              </a:rPr>
              <a:t>أَمَّا الآنَ فَأُمَارِسُ</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cs typeface="Amiri" pitchFamily="2" charset="-78"/>
              </a:rPr>
              <a:t>أَمَّا الآنَ أُمَارِسُ</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Building a three-tense leisure text</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بِنَاءُ نَصٍّ تَرْفِيهِيٍّ بِثَلَاثَةِ أَزْمِنَةٍ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Signal each tense with a time phrase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فِي الطُّفُولَةِ</a:t>
            </a:r>
            <a:pPr algn="l" indent="0" marL="0">
              <a:buNone/>
            </a:pPr>
            <a:r>
              <a:rPr lang="en-US" sz="1050" dirty="0">
                <a:solidFill>
                  <a:srgbClr val="5A6472"/>
                </a:solidFill>
                <a:latin typeface="Calibri" pitchFamily="34" charset="0"/>
                <a:cs typeface="Amiri" pitchFamily="2" charset="-78"/>
              </a:rPr>
              <a:t> + past · </a:t>
            </a:r>
            <a:pPr algn="l" indent="0" marL="0">
              <a:buNone/>
            </a:pPr>
            <a:r>
              <a:rPr lang="ar-SA" altLang="en-US" sz="1350" dirty="0">
                <a:solidFill>
                  <a:srgbClr val="5A6472"/>
                </a:solidFill>
                <a:latin typeface="Amiri" pitchFamily="2" charset="-78"/>
                <a:cs typeface="Amiri" pitchFamily="2" charset="-78"/>
              </a:rPr>
              <a:t>الآنَ</a:t>
            </a:r>
            <a:pPr algn="l" indent="0" marL="0">
              <a:buNone/>
            </a:pPr>
            <a:r>
              <a:rPr lang="en-US" sz="1050" dirty="0">
                <a:solidFill>
                  <a:srgbClr val="5A6472"/>
                </a:solidFill>
                <a:latin typeface="Calibri" pitchFamily="34" charset="0"/>
                <a:cs typeface="Amiri" pitchFamily="2" charset="-78"/>
              </a:rPr>
              <a:t> + present · </a:t>
            </a:r>
            <a:pPr algn="l" indent="0" marL="0">
              <a:buNone/>
            </a:pPr>
            <a:r>
              <a:rPr lang="ar-SA" altLang="en-US" sz="1350" dirty="0">
                <a:solidFill>
                  <a:srgbClr val="5A6472"/>
                </a:solidFill>
                <a:latin typeface="Amiri" pitchFamily="2" charset="-78"/>
                <a:cs typeface="Amiri" pitchFamily="2" charset="-78"/>
              </a:rPr>
              <a:t>فِي المُسْتَقْبَلِ</a:t>
            </a:r>
            <a:pPr algn="l" indent="0" marL="0">
              <a:buNone/>
            </a:pPr>
            <a:r>
              <a:rPr lang="en-US" sz="1050" dirty="0">
                <a:solidFill>
                  <a:srgbClr val="5A6472"/>
                </a:solidFill>
                <a:latin typeface="Calibri" pitchFamily="34" charset="0"/>
                <a:cs typeface="Amiri" pitchFamily="2" charset="-78"/>
              </a:rPr>
              <a:t> + future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فِي الطُّفُولَةِ لَعِبْتُ كُرَةَ السَّلَّةِ   ·   فِي المُسْتَقْبَلِ سَأَشْتَرِكُ فِي بُطُولَةٍ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Contrast with </a:t>
            </a:r>
            <a:pPr algn="l" indent="0" marL="0">
              <a:buNone/>
            </a:pPr>
            <a:r>
              <a:rPr lang="ar-SA" altLang="en-US" sz="1650" b="1" dirty="0">
                <a:solidFill>
                  <a:srgbClr val="1B3B6F"/>
                </a:solidFill>
                <a:latin typeface="Amiri" pitchFamily="2" charset="-78"/>
                <a:cs typeface="Amiri" pitchFamily="2" charset="-78"/>
              </a:rPr>
              <a:t>أَمَّا … فَـ</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أَمَّا</a:t>
            </a:r>
            <a:pPr algn="l" indent="0" marL="0">
              <a:buNone/>
            </a:pPr>
            <a:r>
              <a:rPr lang="en-US" sz="1050" dirty="0">
                <a:solidFill>
                  <a:srgbClr val="5A6472"/>
                </a:solidFill>
                <a:latin typeface="Calibri" pitchFamily="34" charset="0"/>
                <a:cs typeface="Amiri" pitchFamily="2" charset="-78"/>
              </a:rPr>
              <a:t> + noun + </a:t>
            </a:r>
            <a:pPr algn="l" indent="0" marL="0">
              <a:buNone/>
            </a:pPr>
            <a:r>
              <a:rPr lang="ar-SA" altLang="en-US" sz="1350" dirty="0">
                <a:solidFill>
                  <a:srgbClr val="5A6472"/>
                </a:solidFill>
                <a:latin typeface="Amiri" pitchFamily="2" charset="-78"/>
                <a:cs typeface="Amiri" pitchFamily="2" charset="-78"/>
              </a:rPr>
              <a:t>فَـ</a:t>
            </a:r>
            <a:pPr algn="l" indent="0" marL="0">
              <a:buNone/>
            </a:pPr>
            <a:r>
              <a:rPr lang="en-US" sz="1050" dirty="0">
                <a:solidFill>
                  <a:srgbClr val="5A6472"/>
                </a:solidFill>
                <a:latin typeface="Calibri" pitchFamily="34" charset="0"/>
                <a:cs typeface="Amiri" pitchFamily="2" charset="-78"/>
              </a:rPr>
              <a:t> + predicate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أَمَّا الآنَ فَأُمَارِسُ السِّبَاحَةَ   ·   أَمَّا أَخِي فَيُفَضِّلُ المُوسِيقَى</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Opinion with </a:t>
            </a:r>
            <a:pPr algn="l" indent="0" marL="0">
              <a:buNone/>
            </a:pPr>
            <a:r>
              <a:rPr lang="ar-SA" altLang="en-US" sz="1650" b="1" dirty="0">
                <a:solidFill>
                  <a:srgbClr val="1B3B6F"/>
                </a:solidFill>
                <a:latin typeface="Amiri" pitchFamily="2" charset="-78"/>
                <a:cs typeface="Amiri" pitchFamily="2" charset="-78"/>
              </a:rPr>
              <a:t>أَعْتَقِدُ أَنَّ</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أَعْتَقِدُ أَنَّ</a:t>
            </a:r>
            <a:pPr algn="l" indent="0" marL="0">
              <a:buNone/>
            </a:pPr>
            <a:r>
              <a:rPr lang="en-US" sz="1050" dirty="0">
                <a:solidFill>
                  <a:srgbClr val="5A6472"/>
                </a:solidFill>
                <a:latin typeface="Calibri" pitchFamily="34" charset="0"/>
                <a:cs typeface="Amiri" pitchFamily="2" charset="-78"/>
              </a:rPr>
              <a:t> + accusative noun + predicate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أَعْتَقِدُ أَنَّ الرِّيَاضَةَ مُفِيدَةٌ   ·   أَعْتَقِدُ أَنَّ المُوسِيقَى تُرِيحُ النَّفْسَ</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Intention with </a:t>
            </a:r>
            <a:pPr algn="l" indent="0" marL="0">
              <a:buNone/>
            </a:pPr>
            <a:r>
              <a:rPr lang="ar-SA" altLang="en-US" sz="1650" b="1" dirty="0">
                <a:solidFill>
                  <a:srgbClr val="1B3B6F"/>
                </a:solidFill>
                <a:latin typeface="Amiri" pitchFamily="2" charset="-78"/>
                <a:cs typeface="Amiri" pitchFamily="2" charset="-78"/>
              </a:rPr>
              <a:t>أَنْوِي أَنْ</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أَنْوِي أَنْ</a:t>
            </a:r>
            <a:pPr algn="l" indent="0" marL="0">
              <a:buNone/>
            </a:pPr>
            <a:r>
              <a:rPr lang="en-US" sz="1050" dirty="0">
                <a:solidFill>
                  <a:srgbClr val="5A6472"/>
                </a:solidFill>
                <a:latin typeface="Calibri" pitchFamily="34" charset="0"/>
                <a:cs typeface="Amiri" pitchFamily="2" charset="-78"/>
              </a:rPr>
              <a:t> + subjunctive verb</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أَنْوِي أَنْ أَتَعَلَّمَ العَزْفَ   ·   أَتَمَنَّى أَنْ أَزُورَ تُونُسَ</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past-tense opening.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الطُّفُولَةِ أَلْعَبُ كُرَةَ السَّلَّةِ.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الطُّفُولَةِ سَأَلْعَبُ كُرَةَ السَّلَّةِ.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الطُّفُولَةِ لَعِبْتُ كُرَةَ السَّلَّةِ.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فَأُمَارِسُ السِّبَاحَةَ.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أُمَارِسُ السِّبَاحَةَ.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فَمَارَسْتُ السِّبَاحَةَ.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plan.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المُسْتَقْبَلِ اشْتَرَكْتُ فِي بُطُولَةٍ.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المُسْتَقْبَلِ سَأَشْتَرِكُ فِي بُطُولَةٍ.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المُسْتَقْبَلِ سَاشْتَرَكْتُ فِي بُطُولَةٍ.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أَنْوِي أَنْ ___ العَزْفَ عَلَى العُودِ.</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أَتَعَلَّمَ</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أَتَعَلَّمُ</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تَعَلَّمْتُ</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past-tense opening.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الطُّفُولَةِ أَلْعَبُ كُرَةَ السَّلَّةِ.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الطُّفُولَةِ سَأَلْعَبُ كُرَةَ السَّلَّةِ.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الطُّفُولَةِ لَعِبْتُ كُرَةَ السَّلَّةِ.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childhood time phrase requires the past tense.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 الآنَ فَأُمَارِسُ السِّبَاحَةَ.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 الآنَ أُمَارِسُ السِّبَاحَةَ.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 الآنَ فَمَارَسْتُ السِّبَاحَةَ.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on the second part, and </a:t>
            </a:r>
            <a:pPr algn="l" indent="0" marL="0">
              <a:buNone/>
            </a:pPr>
            <a:r>
              <a:rPr lang="ar-SA" altLang="en-US" sz="1350" dirty="0">
                <a:solidFill>
                  <a:srgbClr val="8A6D1E"/>
                </a:solidFill>
                <a:latin typeface="Amiri" pitchFamily="2" charset="-78"/>
                <a:cs typeface="Amiri" pitchFamily="2" charset="-78"/>
              </a:rPr>
              <a:t>الآنَ</a:t>
            </a:r>
            <a:pPr algn="l" indent="0" marL="0">
              <a:buNone/>
            </a:pPr>
            <a:r>
              <a:rPr lang="en-US" sz="1050" i="1" dirty="0">
                <a:solidFill>
                  <a:srgbClr val="8A6D1E"/>
                </a:solidFill>
                <a:latin typeface="Calibri" pitchFamily="34" charset="0"/>
                <a:cs typeface="Amiri" pitchFamily="2" charset="-78"/>
              </a:rPr>
              <a:t> requires the present.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future plan.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المُسْتَقْبَلِ اشْتَرَكْتُ فِي بُطُولَةٍ.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المُسْتَقْبَلِ سَأَشْتَرِكُ فِي بُطُولَةٍ.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المُسْتَقْبَلِ سَاشْتَرَكْتُ فِي بُطُولَةٍ.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attaches to a present verb.</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أَنْوِي أَنْ ___ العَزْفَ عَلَى العُودِ.</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أَتَعَلَّمَ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أَتَعَلَّمُ</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تَعَلَّمْتُ</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the subjunctive, ending in a fatḥa.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draft and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cs typeface="Amiri" pitchFamily="2" charset="-78"/>
              </a:rPr>
              <a:t>المَاضِي · الحَاضِرُ · المُسْتَقْبَلُ</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boxes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0E7C86"/>
                </a:solidFill>
                <a:latin typeface="Amiri" pitchFamily="2" charset="-78"/>
                <a:cs typeface="Amiri" pitchFamily="2" charset="-78"/>
              </a:rPr>
              <a:t>فِي الطُّفُولَةِ</a:t>
            </a:r>
            <a:pPr rtl="1" algn="ctr" indent="0" marL="0">
              <a:buNone/>
            </a:pPr>
            <a:r>
              <a:rPr lang="ar-SA" altLang="en-US" sz="2550" b="1" dirty="0">
                <a:solidFill>
                  <a:srgbClr val="1B3B6F"/>
                </a:solidFill>
                <a:latin typeface="Amiri" pitchFamily="2" charset="-78"/>
                <a:cs typeface="Amiri" pitchFamily="2" charset="-78"/>
              </a:rPr>
              <a:t> كُنْتُ أَلْعَبُ</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Time phrase + past.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Switch</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أَمَّا الآنَ</a:t>
            </a:r>
            <a:pPr rtl="1" algn="ctr" indent="0" marL="0">
              <a:buNone/>
            </a:pPr>
            <a:r>
              <a:rPr lang="ar-SA" altLang="en-US" sz="2800" b="1" dirty="0">
                <a:solidFill>
                  <a:srgbClr val="1B3B6F"/>
                </a:solidFill>
                <a:latin typeface="Amiri" pitchFamily="2" charset="-78"/>
                <a:cs typeface="Amiri" pitchFamily="2" charset="-78"/>
              </a:rPr>
              <a:t> فَأُمَارِسُ</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Don’t drop fa-.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Check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اللَّوَاحِقُ · عَدَدُ الكَلِمَاتِ</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90 seconds.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فِي الطُّفُولَةِ</a:t>
            </a:r>
            <a:pPr rtl="1" algn="r" indent="0" marL="0">
              <a:lnSpc>
                <a:spcPct val="120000"/>
              </a:lnSpc>
              <a:buNone/>
            </a:pPr>
            <a:r>
              <a:rPr lang="ar-SA" altLang="en-US" sz="1400" b="1" dirty="0">
                <a:solidFill>
                  <a:srgbClr val="1B3B6F"/>
                </a:solidFill>
                <a:latin typeface="Amiri" pitchFamily="2" charset="-78"/>
                <a:cs typeface="Amiri" pitchFamily="2" charset="-78"/>
              </a:rPr>
              <a:t> كُنْتُ أَلْعَبُ كُرَةَ القَدَمِ كُلَّ مَسَاءٍ مَعَ أَصْدِقَائِي، وَكَانَ أَبِي يُشَجِّعُنِي دَائِمًا. </a:t>
            </a:r>
            <a:pPr rtl="1" algn="r" indent="0" marL="0">
              <a:lnSpc>
                <a:spcPct val="120000"/>
              </a:lnSpc>
              <a:buNone/>
            </a:pPr>
            <a:r>
              <a:rPr lang="ar-SA" altLang="en-US" sz="1400" b="1" dirty="0">
                <a:solidFill>
                  <a:srgbClr val="D6336C"/>
                </a:solidFill>
                <a:latin typeface="Amiri" pitchFamily="2" charset="-78"/>
                <a:cs typeface="Amiri" pitchFamily="2" charset="-78"/>
              </a:rPr>
              <a:t>أَمَّا الآنَ</a:t>
            </a:r>
            <a:pPr rtl="1" algn="r" indent="0" marL="0">
              <a:lnSpc>
                <a:spcPct val="120000"/>
              </a:lnSpc>
              <a:buNone/>
            </a:pPr>
            <a:r>
              <a:rPr lang="ar-SA" altLang="en-US" sz="1400" b="1" dirty="0">
                <a:solidFill>
                  <a:srgbClr val="1B3B6F"/>
                </a:solidFill>
                <a:latin typeface="Amiri" pitchFamily="2" charset="-78"/>
                <a:cs typeface="Amiri" pitchFamily="2" charset="-78"/>
              </a:rPr>
              <a:t> فَأُمَارِسُ السِّبَاحَةَ مَرَّتَيْنِ فِي الأُسْبُوعِ، وَأَسْتَمْتِعُ بِهَا كَثِيرًا. </a:t>
            </a:r>
            <a:pPr rtl="1" algn="r" indent="0" marL="0">
              <a:lnSpc>
                <a:spcPct val="120000"/>
              </a:lnSpc>
              <a:buNone/>
            </a:pPr>
            <a:r>
              <a:rPr lang="ar-SA" altLang="en-US" sz="1400" b="1" dirty="0">
                <a:solidFill>
                  <a:srgbClr val="1D5FBF"/>
                </a:solidFill>
                <a:latin typeface="Amiri" pitchFamily="2" charset="-78"/>
                <a:cs typeface="Amiri" pitchFamily="2" charset="-78"/>
              </a:rPr>
              <a:t>وَفِي المُسْتَقْبَلِ</a:t>
            </a:r>
            <a:pPr rtl="1" algn="r" indent="0" marL="0">
              <a:lnSpc>
                <a:spcPct val="120000"/>
              </a:lnSpc>
              <a:buNone/>
            </a:pPr>
            <a:r>
              <a:rPr lang="ar-SA" altLang="en-US" sz="1400" b="1" dirty="0">
                <a:solidFill>
                  <a:srgbClr val="1B3B6F"/>
                </a:solidFill>
                <a:latin typeface="Amiri" pitchFamily="2" charset="-78"/>
                <a:cs typeface="Amiri" pitchFamily="2" charset="-78"/>
              </a:rPr>
              <a:t> سَأَشْتَرِكُ فِي بُطُولَةٍ مَدْرَسِيَّةٍ.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childhood I used to play football every evening with my friends, and my father always encouraged me. As for now, I swim twice a week and enjoy it a lot. In the future I will take part in a school championship.</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الطُّفُولَةِ لَعِبْتُ</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childhood I played</a:t>
            </a:r>
            <a:endParaRPr lang="en-US" sz="1250" dirty="0"/>
          </a:p>
          <a:p>
            <a:pPr indent="0" marL="0">
              <a:buNone/>
            </a:pPr>
            <a:r>
              <a:rPr lang="en-US" sz="1050" i="1" dirty="0">
                <a:solidFill>
                  <a:srgbClr val="8A6D1E"/>
                </a:solidFill>
                <a:latin typeface="Calibri" pitchFamily="34" charset="0"/>
                <a:cs typeface="Amiri" pitchFamily="2" charset="-78"/>
              </a:rPr>
              <a:t>The time phrase fixes the tense of the verb.</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أَمَّا الآنَ فَأُمَارِسُ</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now, I practise</a:t>
            </a:r>
            <a:endParaRPr lang="en-US" sz="1250" dirty="0"/>
          </a:p>
          <a:p>
            <a:pPr indent="0" marL="0">
              <a:buNone/>
            </a:pPr>
            <a:r>
              <a:rPr lang="en-US" sz="1050" i="1" dirty="0">
                <a:solidFill>
                  <a:srgbClr val="8A6D1E"/>
                </a:solidFill>
                <a:latin typeface="Calibri" pitchFamily="34" charset="0"/>
                <a:cs typeface="Amiri" pitchFamily="2" charset="-78"/>
              </a:rPr>
              <a:t>أَمَّا always needs فَـ on the second part.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أَعْتَقِدُ أَنَّ الرِّيَاضَةَ مُفِيدَةٌ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believe that sport is useful</a:t>
            </a:r>
            <a:endParaRPr lang="en-US" sz="1250" dirty="0"/>
          </a:p>
          <a:p>
            <a:pPr indent="0" marL="0">
              <a:buNone/>
            </a:pPr>
            <a:r>
              <a:rPr lang="en-US" sz="1050" i="1" dirty="0">
                <a:solidFill>
                  <a:srgbClr val="8A6D1E"/>
                </a:solidFill>
                <a:latin typeface="Calibri" pitchFamily="34" charset="0"/>
                <a:cs typeface="Amiri" pitchFamily="2" charset="-78"/>
              </a:rPr>
              <a:t>أَنَّ makes the following noun accusative.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الطُّفُولَةِ لَعِبْتُ</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 أَبِي يُشَجِّعُنِي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فَجْأَةً تَغَيَّرَ كُلُّ شَيْءٍ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 الآنَ فَأُمَارِسُ</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أُفَضِّلُ الرِّيَاضَةَ الجَمَاعِيَّةَ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أَسْتَمْتِعُ بِالتَّدْرِيبِ</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سَأَشْتَرِكُ فِي بُطُولَةٍ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أَتَعَلَّمُ العَزْفَ</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أَنْوِي أَنْ أَزُورَ نَادِيًا جَدِيدًا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section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section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section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 section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الطُّفُولَةِ لَعِبْتُ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كَانَ أَبِي يُشَجِّعُنِي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فَجْأَةً تَغَيَّرَ كُلُّ شَيْءٍ</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section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أَمَّا الآنَ فَأُمَارِسُ</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أُفَضِّلُ الرِّيَاضَةَ الجَمَاعِيَّةَ</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أَسْتَمْتِعُ بِالتَّدْرِيبِ</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section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سَأَشْتَرِكُ فِي بُطُولَةٍ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أَتَعَلَّمُ العَزْفَ</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أَنْوِي أَنْ أَزُورَ نَادِيًا جَدِيدًا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أَعْتَقِدُ أَنَّ ___ مُفِيدَةٌ.</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الرِّيَاضَةُ</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الرِّيَاضَةِ</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الرِّيَاضَةَ</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the widest tense range?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لَعِبْتُ فِي الطُّفُولَةِ وَلَعِبْتُ كَثِيرًا وَلَعِبْتُ مَعَ أَصْدِقَائِي.</a:t>
            </a:r>
            <a:endParaRPr lang="ar-SA" sz="17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لَعِبْتُ فِي الطُّفُولَةِ، وَأُمَارِسُ الآنَ السِّبَاحَةَ، وَسَأَشْتَرِكُ فِي بُطُولَةٍ.</a:t>
            </a:r>
            <a:endParaRPr lang="ar-SA" sz="17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cs typeface="Amiri" pitchFamily="2" charset="-78"/>
              </a:rPr>
              <a:t>أُمَارِسُ السِّبَاحَةَ وَأُمَارِسُ اليُوغَا وَأُمَارِسُ الجَرْيَ.</a:t>
            </a:r>
            <a:endParaRPr lang="ar-SA" sz="17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conclusion.</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وَفِي الخِتَامِ، أَعْتَقِدُ أَنَّ الهِوَايَاتُ مُهِمَّةٌ لِلصِّحَّةِ.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وَفِي الخِتَامِ، أَعْتَقِدُ أَنَّ الهِوَايَاتِ مُهِمَّةٌ لِلصِّحَّةِ.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وَفِي الخِتَامِ، أَعْتَقِدُ الهِوَايَاتِ مُهِمَّةٌ.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the Accuracy criterion?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is exactly 140 words.</a:t>
            </a:r>
            <a:endParaRPr lang="en-US" sz="12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text mentions three hobbies.</a:t>
            </a:r>
            <a:endParaRPr lang="en-US" sz="12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past verb carries the right suffix.</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أَعْتَقِدُ أَنَّ ___ مُفِيدَةٌ.</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الرِّيَاضَةُ</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الرِّيَاضَةِ</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الرِّيَاضَةَ</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shows the widest tense range?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لَعِبْتُ فِي الطُّفُولَةِ وَلَعِبْتُ كَثِيرًا وَلَعِبْتُ مَعَ أَصْدِقَائِي.</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لَعِبْتُ فِي الطُّفُولَةِ، وَأُمَارِسُ الآنَ السِّبَاحَةَ، وَسَأَشْتَرِكُ فِي بُطُولَةٍ.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أُمَارِسُ السِّبَاحَةَ وَأُمَارِسُ اليُوغَا وَأُمَارِسُ الجَرْيَ.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is rewarded for moving between tenses, not for repeating one.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conclusion.</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وَفِي الخِتَامِ، أَعْتَقِدُ أَنَّ الهِوَايَاتُ مُهِمَّةٌ لِلصِّحَّةِ.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وَفِي الخِتَامِ، أَعْتَقِدُ أَنَّ الهِوَايَاتِ مُهِمَّةٌ لِلصِّحَّةِ.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وَفِي الخِتَامِ، أَعْتَقِدُ الهِوَايَاتِ مُهِمَّةٌ.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subject; </a:t>
            </a:r>
            <a:pPr algn="l" indent="0" marL="0">
              <a:buNone/>
            </a:pPr>
            <a:r>
              <a:rPr lang="ar-SA" altLang="en-US" sz="1350" dirty="0">
                <a:solidFill>
                  <a:srgbClr val="8A6D1E"/>
                </a:solidFill>
                <a:latin typeface="Amiri" pitchFamily="2" charset="-78"/>
                <a:cs typeface="Amiri" pitchFamily="2" charset="-78"/>
              </a:rPr>
              <a:t>الهِوَايَاتِ</a:t>
            </a:r>
            <a:pPr algn="l" indent="0" marL="0">
              <a:buNone/>
            </a:pPr>
            <a:r>
              <a:rPr lang="en-US" sz="1050" i="1" dirty="0">
                <a:solidFill>
                  <a:srgbClr val="8A6D1E"/>
                </a:solidFill>
                <a:latin typeface="Calibri" pitchFamily="34" charset="0"/>
                <a:cs typeface="Amiri" pitchFamily="2" charset="-78"/>
              </a:rPr>
              <a:t> is a sound feminine plural, whose accusative ends in kasra.</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check belongs to the Accuracy criterion?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is exactly 140 words.</a:t>
            </a:r>
            <a:endParaRPr lang="en-US" sz="125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text mentions three hobbies.</a:t>
            </a:r>
            <a:endParaRPr lang="en-US" sz="125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Every past verb carries the right suffix.</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Accuracy is about correct forms; word count and content belong to the other criteria.</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الطُّفُولَةِ أَلْعَبُ كُرَةَ القَدَمِ.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Childhood →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أَمَّا الآنَ أُمَارِسُ السِّبَاحَةَ.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ammā … needs which letter?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أَعْتَقِدُ أَنَّ الرِّيَاضَةُ مُفِيدَةٌ.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anna + noun: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الطُّفُولَةِ أَلْعَبُ كُرَةَ القَدَمِ.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الطُّفُولَةِ لَعِبْتُ كُرَةَ القَدَمِ.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time phrase requires a past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أَمَّا الآنَ أُمَارِسُ السِّبَاحَةَ.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أَمَّا الآنَ فَأُمَارِسُ السِّبَاحَةَ.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t>
            </a:r>
            <a:pPr algn="l" indent="0" marL="0">
              <a:buNone/>
            </a:pPr>
            <a:r>
              <a:rPr lang="ar-SA" altLang="en-US" sz="1500" b="1" dirty="0">
                <a:solidFill>
                  <a:srgbClr val="1B3B6F"/>
                </a:solidFill>
                <a:latin typeface="Amiri" pitchFamily="2" charset="-78"/>
                <a:cs typeface="Amiri" pitchFamily="2" charset="-78"/>
              </a:rPr>
              <a:t>فَـ</a:t>
            </a:r>
            <a:pPr algn="l" indent="0" marL="0">
              <a:buNone/>
            </a:pPr>
            <a:r>
              <a:rPr lang="en-US" sz="1150" b="1" dirty="0">
                <a:solidFill>
                  <a:srgbClr val="1B3B6F"/>
                </a:solidFill>
                <a:latin typeface="Calibri" pitchFamily="34" charset="0"/>
                <a:cs typeface="Amiri" pitchFamily="2" charset="-78"/>
              </a:rPr>
              <a:t> that answers </a:t>
            </a:r>
            <a:pPr algn="l" indent="0" marL="0">
              <a:buNone/>
            </a:pPr>
            <a:r>
              <a:rPr lang="ar-SA" altLang="en-US" sz="1500" b="1" dirty="0">
                <a:solidFill>
                  <a:srgbClr val="1B3B6F"/>
                </a:solidFill>
                <a:latin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cannot be dropped.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أَعْتَقِدُ أَنَّ الرِّيَاضَةُ مُفِيدَةٌ.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أَعْتَقِدُ أَنَّ الرِّيَاضَةَ مُفِيدَةٌ.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is accusative.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Listening: a student explains her plan for the writing task</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she do before writing?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Drew up a simple plan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a model answer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Asked her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first paragraph?</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present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opinion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past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now?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basketball weekly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Trains daily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Swims twice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intend to do?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a new sport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 training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Change schools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were her final two checks?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Spelling and handwriting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Word count and every suffix</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Title and signature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Three paragraphs: past · present · future.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قَبْلَ أَنْ أَكْتُبَ، رَسَمْتُ خُطَّةً بَسِيطَةً.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I wrote, I drew up a simple plan.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فِي الفِقْرَةِ الأُولَى كَتَبْتُ عَنِ المَاضِي: فِي الطُّفُولَةِ لَعِبْتُ كُرَةَ السَّلَّةِ، وَكَانَ أَبِي يُشَجِّعُنِي كُلَّ أُسْبُوعٍ.</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paragraph I wrote about the past: in childhood I played basketball, and my father encouraged me every week.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وَفِي الفِقْرَةِ الثَّانِيَةِ كَتَبْتُ عَنِ الحَاضِرِ: أَمَّا الآنَ فَأُمَارِسُ السِّبَاحَةَ مَرَّتَيْنِ فِي الأُسْبُوعِ.</a:t>
            </a:r>
            <a:endParaRPr lang="ar-SA" sz="17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second paragraph I wrote about the present: as for now, I swim twice a week.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وَفِي الفِقْرَةِ الثَّالِثَةِ كَتَبْتُ عَنِ المُسْتَقْبَلِ: سَأَشْتَرِكُ فِي بُطُولَةٍ، وَأَنْوِي أَنْ أَتَعَلَّمَ رِيَاضَةً جَدِيدَةً.</a:t>
            </a:r>
            <a:endParaRPr lang="ar-SA" sz="16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third paragraph I wrote about the future: I will take part in a championship, and I intend to learn a new sport.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وَفِي الخِتَامِ أَضَفْتُ رَأْيِي: أَعْتَقِدُ أَنَّ الرِّيَاضَةَ مُفِيدَةٌ لِلصِّحَّةِ. ثُمَّ عَدَدْتُ الكَلِمَاتِ وَرَاجَعْتُ كُلَّ لَاحِقَةٍ.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conclusion I added my opinion: I believe sport is good for health. Then I counted the words and checked every suffix.</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she do before writing?</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Drew up a simple plan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a model answer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Asked her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قَبْلَ أَنْ أَكْتُبَ، رَسَمْتُ خُطَّةً بَسِيطَةً.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 the first paragraph?</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present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opinion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past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الفِقْرَةِ الأُولَى كَتَبْتُ عَنِ المَاضِي.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do now?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basketball weekly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Trains daily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Swims twice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الآنَ فَأُمَارِسُ السِّبَاحَةَ مَرَّتَيْنِ فِي الأُسْبُوعِ.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intend to do?</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Learn a new sport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 training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Change schools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أَنْوِي أَنْ أَتَعَلَّمَ رِيَاضَةً جَدِيدَةً.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were her final two checks?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Spelling and handwriting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Word count and every suffix</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Title and signature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ثُمَّ عَدَدْتُ الكَلِمَاتِ وَرَاجَعْتُ كُلَّ لَاحِقَةٍ.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Three paragraphs: past · present · future.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Speaking: talk your plan through before you write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سَتَكْتُبُ فِي الفِقْرَةِ الأُولَى عَنِ المَاضِي؟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سَتَنْتَقِلُ مِنَ المَاضِي إِلَى الحَاضِرِ؟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خُطَّتُكَ لِلْمُسْتَقْبَلِ؟ وَمَا رَأْيُكَ فِي الخِتَامِ؟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الطُّفُولَةِ ___ ، وَكَانَ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أَمَّا الآنَ فَـ ___ مَرَّتَيْنِ فِي الأُسْبُوعِ.</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فِي المُسْتَقْبَلِ سَـ ___ ، وَأَعْتَقِدُ أَنَّ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سَتَكْتُبُ فِي الفِقْرَةِ الأُولَى؟</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will you write in the first paragraph?</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سَأَكْتُبُ عَنِ المَاضِي: فِي الطُّفُولَةِ لَعِبْتُ كُرَةَ السَّلَّةِ، وَكَانَ أَبِي يُشَجِّعُنِي.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will write about the past: in childhood I played basketball, and my father used to encourage me.</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70–90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three-paragraph frame and write one section per tense with the given time phrases.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paragraph per tense with the given time phrases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110–130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Link the sections with </a:t>
            </a:r>
            <a:pPr algn="l" indent="0" marL="0">
              <a:buNone/>
            </a:pPr>
            <a:r>
              <a:rPr lang="ar-SA" altLang="en-US" sz="1800" b="1" dirty="0">
                <a:solidFill>
                  <a:srgbClr val="1F2A37"/>
                </a:solidFill>
                <a:latin typeface="Amiri" pitchFamily="2" charset="-78"/>
                <a:cs typeface="Amiri" pitchFamily="2" charset="-78"/>
              </a:rPr>
              <a:t>أَمَّا … فَـ</a:t>
            </a:r>
            <a:pPr algn="l" indent="0" marL="0">
              <a:buNone/>
            </a:pPr>
            <a:r>
              <a:rPr lang="en-US" sz="1400" b="1" dirty="0">
                <a:solidFill>
                  <a:srgbClr val="1F2A37"/>
                </a:solidFill>
                <a:latin typeface="Calibri" pitchFamily="34" charset="0"/>
                <a:cs typeface="Amiri" pitchFamily="2" charset="-78"/>
              </a:rPr>
              <a:t> and add a narrative connector to the past section.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Link with أَمَّا … فَـ, a past connector and an opinion.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a:t>
            </a:r>
            <a:pPr algn="l" indent="0" marL="0">
              <a:buNone/>
            </a:pPr>
            <a:r>
              <a:rPr lang="ar-SA" altLang="en-US" sz="1800" b="1" dirty="0">
                <a:solidFill>
                  <a:srgbClr val="1F2A37"/>
                </a:solidFill>
                <a:latin typeface="Amiri" pitchFamily="2" charset="-78"/>
                <a:cs typeface="Amiri" pitchFamily="2" charset="-78"/>
              </a:rPr>
              <a:t>كَانَ</a:t>
            </a:r>
            <a:pPr algn="l" indent="0" marL="0">
              <a:buNone/>
            </a:pPr>
            <a:r>
              <a:rPr lang="en-US" sz="1400" b="1" dirty="0">
                <a:solidFill>
                  <a:srgbClr val="1F2A37"/>
                </a:solidFill>
                <a:latin typeface="Calibri" pitchFamily="34" charset="0"/>
                <a:cs typeface="Amiri" pitchFamily="2" charset="-78"/>
              </a:rPr>
              <a:t> habit, a contrast with </a:t>
            </a:r>
            <a:pPr algn="l" indent="0" marL="0">
              <a:buNone/>
            </a:pPr>
            <a:r>
              <a:rPr lang="ar-SA" altLang="en-US" sz="1800" b="1" dirty="0">
                <a:solidFill>
                  <a:srgbClr val="1F2A37"/>
                </a:solidFill>
                <a:latin typeface="Amiri" pitchFamily="2" charset="-78"/>
                <a:cs typeface="Amiri" pitchFamily="2" charset="-78"/>
              </a:rPr>
              <a:t>مِنْ نَاحِيَةٍ أُخْرَى</a:t>
            </a:r>
            <a:pPr algn="l" indent="0" marL="0">
              <a:buNone/>
            </a:pPr>
            <a:r>
              <a:rPr lang="en-US" sz="1400" b="1" dirty="0">
                <a:solidFill>
                  <a:srgbClr val="1F2A37"/>
                </a:solidFill>
                <a:latin typeface="Calibri" pitchFamily="34" charset="0"/>
                <a:cs typeface="Amiri" pitchFamily="2" charset="-78"/>
              </a:rPr>
              <a:t> and a justified closing opinion within the word limit.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6+ past verbs, 2 future verbs, كَانَ + habit, a contrast and a justified opinion.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فَجْأَةً ______ ، وَلِلْأَسَفِ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Suddenly … / Unfortunately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______ عَلَى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أَنْوِي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intend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وَفِي الخِتَامِ، أَعْتَقِدُ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conclusion, I believe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الطُّفُولَةِ كُنْتُ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childhood I used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العَامِ المَاضِي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I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الآنَ فَـ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now, I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 سَـ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فِي الطُّفُولَةِ  ·  كُنْتُ  ·  كَانَ … يُشَجِّعُنِي  ·  فِي العَامِ المَاضِي  ·  فَجْأَةً  ·  أَمَّا الآنَ فَـ  ·  مَرَّتَيْنِ فِي الأُسْبُوعِ  ·  فِي المُسْتَقْبَلِ  ·  سَأَشْتَرِكُ  ·  أَنْوِي أَنْ  ·  أَعْتَقِدُ أَنَّ  ·  وَفِي الخِتَامِ</a:t>
            </a:r>
            <a:endParaRPr lang="ar-SA" sz="14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130 to 140 words on </a:t>
            </a:r>
            <a:pPr algn="l" indent="0" marL="0">
              <a:buNone/>
            </a:pPr>
            <a:r>
              <a:rPr lang="ar-SA" altLang="en-US" sz="1750" b="1" dirty="0">
                <a:solidFill>
                  <a:srgbClr val="1F2A37"/>
                </a:solidFill>
                <a:latin typeface="Amiri" pitchFamily="2" charset="-78"/>
                <a:cs typeface="Amiri" pitchFamily="2" charset="-78"/>
              </a:rPr>
              <a:t>وَقْتُ فَرَاغِي</a:t>
            </a:r>
            <a:pPr algn="l" indent="0" marL="0">
              <a:buNone/>
            </a:pPr>
            <a:r>
              <a:rPr lang="en-US" sz="1350" b="1" dirty="0">
                <a:solidFill>
                  <a:srgbClr val="1F2A37"/>
                </a:solidFill>
                <a:latin typeface="Calibri" pitchFamily="34" charset="0"/>
                <a:cs typeface="Amiri" pitchFamily="2" charset="-78"/>
              </a:rPr>
              <a:t> — </a:t>
            </a:r>
            <a:pPr algn="l" indent="0" marL="0">
              <a:buNone/>
            </a:pPr>
            <a:r>
              <a:rPr lang="ar-SA" altLang="en-US" sz="1750" b="1" dirty="0">
                <a:solidFill>
                  <a:srgbClr val="1F2A37"/>
                </a:solidFill>
                <a:latin typeface="Amiri" pitchFamily="2" charset="-78"/>
                <a:cs typeface="Amiri" pitchFamily="2" charset="-78"/>
              </a:rPr>
              <a:t>المَاضِي وَالحَاضِرُ وَالمُسْتَقْبَلُ</a:t>
            </a:r>
            <a:pPr algn="l" indent="0" marL="0">
              <a:buNone/>
            </a:pPr>
            <a:r>
              <a:rPr lang="en-US" sz="1350" b="1" dirty="0">
                <a:solidFill>
                  <a:srgbClr val="1F2A37"/>
                </a:solidFill>
                <a:latin typeface="Calibri" pitchFamily="34" charset="0"/>
                <a:cs typeface="Amiri" pitchFamily="2" charset="-78"/>
              </a:rPr>
              <a:t>. Narrate a past experience, describe your present habit, state a future plan and close with an opinion.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six past verbs, each with the correct suffix.</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future verbs with </a:t>
            </a:r>
            <a:pPr algn="l" indent="0" marL="0">
              <a:buNone/>
            </a:pPr>
            <a:r>
              <a:rPr lang="ar-SA" altLang="en-US" sz="1550" dirty="0">
                <a:solidFill>
                  <a:srgbClr val="1F2A37"/>
                </a:solidFill>
                <a:latin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narrative connector and one </a:t>
            </a:r>
            <a:pPr algn="l" indent="0" marL="0">
              <a:buNone/>
            </a:pPr>
            <a:r>
              <a:rPr lang="ar-SA" altLang="en-US" sz="1550" dirty="0">
                <a:solidFill>
                  <a:srgbClr val="1F2A37"/>
                </a:solidFill>
                <a:latin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description.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closing opinion using </a:t>
            </a:r>
            <a:pPr algn="l" indent="0" marL="0">
              <a:buNone/>
            </a:pPr>
            <a:r>
              <a:rPr lang="ar-SA" altLang="en-US" sz="1550" dirty="0">
                <a:solidFill>
                  <a:srgbClr val="1F2A37"/>
                </a:solidFill>
                <a:latin typeface="Amiri" pitchFamily="2" charset="-78"/>
                <a:cs typeface="Amiri" pitchFamily="2" charset="-78"/>
              </a:rPr>
              <a:t>أَعْتَقِدُ أَنَّ</a:t>
            </a:r>
            <a:pPr algn="l" indent="0" marL="0">
              <a:buNone/>
            </a:pPr>
            <a:r>
              <a:rPr lang="en-US" sz="1200" dirty="0">
                <a:solidFill>
                  <a:srgbClr val="1F2A37"/>
                </a:solidFill>
                <a:latin typeface="Calibri" pitchFamily="34" charset="0"/>
                <a:cs typeface="Amiri" pitchFamily="2" charset="-78"/>
              </a:rPr>
              <a:t> with an accusative noun.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أَبِي يُشَجِّعُنِي دَائِمًا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father always used to encourage me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أُصِبْتُ فِي رُكْبَتِي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injured my knee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عُدْتُ أَقْوَى</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came back stronger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أُفَضِّلُ الرِّيَاضَةَ الجَمَاعِيَّةَ عَلَى الفَرْدِيَّةِ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team sport to individual sport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مُهِمٌّ لِلصِّحَّةِ وَلِلسَّعَادَةِ مَعًا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important for both health and happiness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فِي الطُّفُولَةِ كُنْتُ أَلْعَبُ كُرَةَ القَدَمِ كُلَّ مَسَاءٍ مَعَ أَصْدِقَائِي، وَكَانَ أَبِي يُشَجِّعُنِي دَائِمًا. وَفِي العَامِ المَاضِي اشْتَرَكْتُ فِي نَادٍ قَرِيبٍ، وَتَدَرَّبْتُ ثَلَاثَ مَرَّاتٍ فِي الأُسْبُوعِ. فَجْأَةً أُصِبْتُ فِي رُكْبَتِي، وَلِلْأَسَفِ تَوَقَّفْتُ شَهْرَيْنِ، وَلٰكِنْ لِحُسْنِ الحَظِّ عُدْتُ أَقْوَى. أَمَّا الآنَ فَأُمَارِسُ السِّبَاحَةَ مَرَّتَيْنِ فِي الأُسْبُوعِ، وَأَسْتَمْتِعُ بِهَا كَثِيرًا لِأَنَّهَا تُرِيحُنِي بَعْدَ الدِّرَاسَةِ. وَأُفَضِّلُ الرِّيَاضَةَ الجَمَاعِيَّةَ عَلَى الفَرْدِيَّةِ. وَفِي المُسْتَقْبَلِ سَأَشْتَرِكُ فِي بُطُولَةٍ مَدْرَسِيَّةٍ، وَسَوْفَ أَتَعَلَّمُ العَزْفَ عَلَى العُودِ أَيْضًا. وَفِي الخِتَامِ، أَعْتَقِدُ أَنَّ وَقْتَ الفَرَاغِ مُهِمٌّ لِلصِّحَّةِ وَلِلسَّعَادَةِ مَعًا.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childhood I used to play football every evening with my friends, and my father always encouraged me. Last year I joined a nearby club and trained three times a week. Suddenly I injured my knee, and unfortunately I stopped for two months, but luckily I came back stronger. As for now, I swim twice a week and enjoy it a lot because it relaxes me after studying. I prefer team sport to individual sport. In the future I will take part in a school championship, and I will also learn to play the oud. In conclusion, I believe free time is important for both health and happiness.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six past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كَانَ habit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الآنَ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future verbs + an opinion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paragraph has a time phrase and matching verbs.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past verb has the right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t>
            </a:r>
            <a:pPr algn="l" indent="0" marL="0">
              <a:buNone/>
            </a:pPr>
            <a:r>
              <a:rPr lang="ar-SA" altLang="en-US" sz="1700" dirty="0">
                <a:solidFill>
                  <a:srgbClr val="1F2A37"/>
                </a:solidFill>
                <a:latin typeface="Amiri" pitchFamily="2" charset="-78"/>
                <a:cs typeface="Amiri" pitchFamily="2" charset="-78"/>
              </a:rPr>
              <a:t>أَمَّا</a:t>
            </a:r>
            <a:pPr algn="l" indent="0" marL="0">
              <a:buNone/>
            </a:pPr>
            <a:r>
              <a:rPr lang="en-US" sz="1300" dirty="0">
                <a:solidFill>
                  <a:srgbClr val="1F2A37"/>
                </a:solidFill>
                <a:latin typeface="Calibri" pitchFamily="34" charset="0"/>
                <a:cs typeface="Amiri" pitchFamily="2" charset="-78"/>
              </a:rPr>
              <a:t> has its </a:t>
            </a:r>
            <a:pPr algn="l" indent="0" marL="0">
              <a:buNone/>
            </a:pPr>
            <a:r>
              <a:rPr lang="ar-SA" altLang="en-US" sz="1700" dirty="0">
                <a:solidFill>
                  <a:srgbClr val="1F2A37"/>
                </a:solidFill>
                <a:latin typeface="Amiri" pitchFamily="2" charset="-78"/>
                <a:cs typeface="Amiri" pitchFamily="2" charset="-78"/>
              </a:rPr>
              <a:t>فَـ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cs typeface="Amiri" pitchFamily="2" charset="-78"/>
              </a:rPr>
              <a:t>أَنَّ</a:t>
            </a:r>
            <a:pPr algn="l" indent="0" marL="0">
              <a:buNone/>
            </a:pPr>
            <a:r>
              <a:rPr lang="en-US" sz="1300" dirty="0">
                <a:solidFill>
                  <a:srgbClr val="1F2A37"/>
                </a:solidFill>
                <a:latin typeface="Calibri" pitchFamily="34" charset="0"/>
                <a:cs typeface="Amiri" pitchFamily="2" charset="-78"/>
              </a:rPr>
              <a:t> my noun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counted my words (130–140) and checked every collocation.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transition.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فَأُفَضِّلُ السِّبَاحَةَ.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أُفَضِّلُ السِّبَاحَةَ.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فَفَضَّلْتُ السِّبَاحَةَ.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أَعْتَقِدُ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مُمْتِعَةٌ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الهِوَايَةُ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الهِوَايَةَ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الهِوَايَةِ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نَادِيًا جَدِيدًا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أَزُورَ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أَزُورُ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transition.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أَمَّا الآنَ فَأُفَضِّلُ السِّبَاحَةَ.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أَمَّا الآنَ أُفَضِّلُ السِّبَاحَةَ.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أَمَّا الآنَ فَفَضَّلْتُ السِّبَاحَةَ.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needs </a:t>
            </a:r>
            <a:pPr algn="l" indent="0" marL="0">
              <a:buNone/>
            </a:pPr>
            <a:r>
              <a:rPr lang="ar-SA" altLang="en-US" sz="1350" dirty="0">
                <a:solidFill>
                  <a:srgbClr val="8A6D1E"/>
                </a:solidFill>
                <a:latin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cs typeface="Amiri" pitchFamily="2" charset="-78"/>
              </a:rPr>
              <a:t>الآنَ</a:t>
            </a:r>
            <a:pPr algn="l" indent="0" marL="0">
              <a:buNone/>
            </a:pPr>
            <a:r>
              <a:rPr lang="en-US" sz="1050" i="1" dirty="0">
                <a:solidFill>
                  <a:srgbClr val="8A6D1E"/>
                </a:solidFill>
                <a:latin typeface="Calibri" pitchFamily="34" charset="0"/>
                <a:cs typeface="Amiri" pitchFamily="2" charset="-78"/>
              </a:rPr>
              <a:t> needs the present tense.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أَعْتَقِدُ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مُمْتِعَةٌ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الهِوَايَةُ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الهِوَايَةَ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الهِوَايَةِ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makes the following noun accusative.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أَنْوِي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نَادِيًا جَدِيدًا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أَزُورَ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أَزُورُ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زُرْتُ</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the subjunctive.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model leisure text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cs typeface="Amiri" pitchFamily="2" charset="-78"/>
              </a:rPr>
              <a:t>فِي الطُّفُولَةِ كُنْتُ أَلْعَبُ كُرَةَ القَدَمِ فِي الشَّارِعِ مَعَ أَصْدِقَائِي كُلَّ مَسَاءٍ. وَفِي العَامِ المَاضِي اشْتَرَكْتُ فِي نَادٍ صَغِيرٍ، وَتَدَرَّبْتُ ثَلَاثَ مَرَّاتٍ فِي الأُسْبُوعِ. فَجْأَةً أُصِبْتُ فِي رُكْبَتِي، وَلِلْأَسَفِ تَوَقَّفْتُ شَهْرَيْنِ. وَلٰكِنْ لِحُسْنِ الحَظِّ عُدْتُ بَعْدَ ذٰلِكَ أَقْوَى. أَمَّا الآنَ فَأُمَارِسُ السِّبَاحَةَ مَرَّتَيْنِ فِي الأُسْبُوعِ، وَأَسْتَمْتِعُ بِهَا أَكْثَرَ مِنَ الجَرْيِ. وَفِي المُسْتَقْبَلِ سَأَشْتَرِكُ فِي بُطُولَةٍ مَدْرَسِيَّةٍ، وَأَنْوِي أَنْ أَتَعَلَّمَ العَزْفَ عَلَى العُودِ أَيْضًا. وَفِي الخِتَامِ، أَعْتَقِدُ أَنَّ وَقْتَ الفَرَاغِ مُهِمٌّ لِلصِّحَّةِ وَلِلسَّعَادَةِ مَعًا.</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الشَّارِعِ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the street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اشْتَرَكْتُ فِي نَادٍ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joined a club</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تَدَرَّبْتُ</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trained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أُصِبْتُ فِي رُكْبَتِي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injured my knee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تَوَقَّفْتُ شَهْرَيْنِ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stopped for two months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عُدْتُ أَقْوَى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came back stronger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أَكْثَرَ مِنَ الجَرْيِ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more than running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بُطُولَةٍ مَدْرَسِيَّةٍ</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school championship</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العَزْفَ عَلَى العُودِ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playing the oud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لِلسَّعَادَةِ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happiness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do in childhood?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Swam at a club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Played football in the street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Played the oud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Stopped all sport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Moved to another city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Joined a small club and trained three times a week</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stop for two months?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knee injury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house move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now?</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Plays football daily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Swims twice a week</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Runs every morning</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opinion?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time matters for health and happiness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 is only for the young</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 is better than sport</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do in childhood?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Swam at a club</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Played football in the street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Played the oud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كُنْتُ أَلْعَبُ كُرَةَ القَدَمِ فِي الشَّارِعِ.</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Stopped all sport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Moved to another city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Joined a small club and trained three times a week</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اشْتَرَكْتُ فِي نَادٍ صَغِيرٍ، وَتَدَرَّبْتُ ثَلَاثَ مَرَّاتٍ فِي الأُسْبُوعِ.</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stop for two months?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knee injury</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Exams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house move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فَجْأَةً أُصِبْتُ فِي رُكْبَتِي، وَلِلْأَسَفِ تَوَقَّفْتُ شَهْرَيْنِ.</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do now?</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Plays football daily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Swims twice a week</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Runs every morning</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أَمَّا الآنَ فَأُمَارِسُ السِّبَاحَةَ مَرَّتَيْنِ فِي الأُسْبُوعِ.</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closing opinion?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Free time matters for health and happiness</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 is only for the young</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Music is better than sport</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أَعْتَقِدُ أَنَّ وَقْتَ الفَرَاغِ مُهِمٌّ لِلصِّحَّةِ وَلِلسَّعَادَةِ مَعًا.</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Writing Mission — Tense Range and Accuracy</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cs typeface="Amiri" pitchFamily="2" charset="-78"/>
              </a:rPr>
              <a:t>فِي الطُّفُولَةِ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كُرَةَ السَّلَّةِ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أَلْعَبُ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لَعِبْتُ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سَأَلْعَبُ</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cs typeface="Amiri" pitchFamily="2" charset="-78"/>
              </a:rPr>
              <a:t>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بُطُولَةٍ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سَأَشْتَرِكُ</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اشْتَرَكْتُ</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أَشْتَرِكُ أَمْسِ</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Cohesion: which pair is complete?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 وَ</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 لِأَنَّ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 فَـ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أَعْتَقِدُ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مُفِيدَةٌ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الرِّيَاضَةَ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Mood: complete — </a:t>
            </a:r>
            <a:pPr algn="l" indent="0" marL="0">
              <a:buNone/>
            </a:pPr>
            <a:r>
              <a:rPr lang="ar-SA" altLang="en-US" sz="1650" b="1" dirty="0">
                <a:solidFill>
                  <a:srgbClr val="1B3B6F"/>
                </a:solidFill>
                <a:latin typeface="Amiri" pitchFamily="2" charset="-78"/>
                <a:cs typeface="Amiri" pitchFamily="2" charset="-78"/>
              </a:rPr>
              <a:t>أَتَمَنَّى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أَزُورَ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أَزُورُ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“in conclusion”?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البِدَايَةِ</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وَفِي الخِتَامِ</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بِالإِضَافَةِ إِلَى ذٰلِكَ</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cs typeface="Amiri" pitchFamily="2" charset="-78"/>
              </a:rPr>
              <a:t>فِي الطُّفُولَةِ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كُرَةَ السَّلَّةِ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أَلْعَبُ</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لَعِبْتُ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سَأَلْعَبُ</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childhood time phrase requires the past.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cs typeface="Amiri" pitchFamily="2" charset="-78"/>
              </a:rPr>
              <a:t>فِي المُسْتَقْبَلِ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فِي بُطُولَةٍ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سَأَشْتَرِكُ</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اشْتَرَكْتُ</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أَشْتَرِكُ أَمْسِ</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time phrase requires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Cohesion: which pair is complete?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 … وَ</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 … لِأَنَّ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 … فَـ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is always answered by </a:t>
            </a:r>
            <a:pPr algn="l" indent="0" marL="0">
              <a:buNone/>
            </a:pPr>
            <a:r>
              <a:rPr lang="ar-SA" altLang="en-US" sz="1350" dirty="0">
                <a:solidFill>
                  <a:srgbClr val="8A6D1E"/>
                </a:solidFill>
                <a:latin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أَعْتَقِدُ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مُفِيدَةٌ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الرِّيَاضَةُ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الرِّيَاضَةِ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الرِّيَاضَةَ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subject.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Mood: complete — </a:t>
            </a:r>
            <a:pPr algn="l" indent="0" marL="0">
              <a:buNone/>
            </a:pPr>
            <a:r>
              <a:rPr lang="ar-SA" altLang="en-US" sz="1650" b="1" dirty="0">
                <a:solidFill>
                  <a:srgbClr val="1B3B6F"/>
                </a:solidFill>
                <a:latin typeface="Amiri" pitchFamily="2" charset="-78"/>
                <a:cs typeface="Amiri" pitchFamily="2" charset="-78"/>
              </a:rPr>
              <a:t>أَتَمَنَّى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تُونُسَ</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أَزُورَ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أَزُورُ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زُرْتُ</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requires the subjunctive.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“in conclusion”?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البِدَايَةِ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وَفِي الخِتَامِ</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بِالإِضَافَةِ إِلَى ذٰلِكَ</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وَفِي الخِتَامِ</a:t>
            </a:r>
            <a:pPr algn="l" indent="0" marL="0">
              <a:buNone/>
            </a:pPr>
            <a:r>
              <a:rPr lang="en-US" sz="1050" i="1" dirty="0">
                <a:solidFill>
                  <a:srgbClr val="8A6D1E"/>
                </a:solidFill>
                <a:latin typeface="Calibri" pitchFamily="34" charset="0"/>
                <a:cs typeface="Amiri" pitchFamily="2" charset="-78"/>
              </a:rPr>
              <a:t> closes the response.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D5-L09 · Extended Writing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D5-L10 · Listening — Sport, Leisure and Past Events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الكَلَامُ السَّرِيعُ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fast speech</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المُلْهِيَاتُ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distractors</a:t>
            </a:r>
            <a:pPr indent="0" marL="0">
              <a:buNone/>
            </a:pPr>
            <a:r>
              <a:rPr lang="en-US" sz="1000" i="1" dirty="0">
                <a:solidFill>
                  <a:srgbClr val="5A6472"/>
                </a:solidFill>
                <a:latin typeface="Calibri" pitchFamily="34" charset="0"/>
                <a:cs typeface="Amiri" pitchFamily="2" charset="-78"/>
              </a:rPr>
              <a:t>  sing. مُلْهِيَةٌ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عَادَةً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usually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غَدًا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tomorrow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الأُسْبُوعَ القَادِمَ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next week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Finish your final draft. Then: which is harder for you in listening — numbers, names or tenses?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أَصْعَبُ شَيْءٍ فِي الاسْتِمَاعِ هُوَ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70–90-word version from the frames; learn the five listening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Final 110–130-word version with </a:t>
            </a:r>
            <a:pPr algn="l" indent="0" marL="0">
              <a:buNone/>
            </a:pPr>
            <a:r>
              <a:rPr lang="ar-SA" altLang="en-US" sz="1550" dirty="0">
                <a:solidFill>
                  <a:srgbClr val="1F2A37"/>
                </a:solidFill>
                <a:latin typeface="Amiri" pitchFamily="2" charset="-78"/>
                <a:cs typeface="Amiri" pitchFamily="2" charset="-78"/>
              </a:rPr>
              <a:t>أَمَّا … فَـ</a:t>
            </a:r>
            <a:pPr algn="l" indent="0" marL="0">
              <a:buNone/>
            </a:pPr>
            <a:r>
              <a:rPr lang="en-US" sz="1200" dirty="0">
                <a:solidFill>
                  <a:srgbClr val="1F2A37"/>
                </a:solidFill>
                <a:latin typeface="Calibri" pitchFamily="34" charset="0"/>
                <a:cs typeface="Amiri" pitchFamily="2" charset="-78"/>
              </a:rPr>
              <a:t> and an opinion.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final 130–140 words, self-marked against the checklist.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D5-L10 · Listening — Sport, Leisure and Past Events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الاِسْتِمَاعُ — الرِّيَاضَةُ وَالتَّرْفِيهُ</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past · present · future — one time phrase each — </a:t>
            </a:r>
            <a:pPr algn="l" indent="0" marL="0">
              <a:buNone/>
            </a:pPr>
            <a:r>
              <a:rPr lang="ar-SA" altLang="en-US" sz="1700" b="1" dirty="0">
                <a:solidFill>
                  <a:srgbClr val="FFFFFF"/>
                </a:solidFill>
                <a:latin typeface="Amiri" pitchFamily="2" charset="-78"/>
                <a:cs typeface="Amiri" pitchFamily="2" charset="-78"/>
              </a:rPr>
              <a:t>أَمَّا</a:t>
            </a:r>
            <a:pPr algn="l" indent="0" marL="0">
              <a:buNone/>
            </a:pPr>
            <a:r>
              <a:rPr lang="en-US" sz="1300" b="1" dirty="0">
                <a:solidFill>
                  <a:srgbClr val="FFFFFF"/>
                </a:solidFill>
                <a:latin typeface="Calibri" pitchFamily="34" charset="0"/>
                <a:cs typeface="Amiri" pitchFamily="2" charset="-78"/>
              </a:rPr>
              <a:t> needs </a:t>
            </a:r>
            <a:pPr algn="l" indent="0" marL="0">
              <a:buNone/>
            </a:pPr>
            <a:r>
              <a:rPr lang="ar-SA" altLang="en-US" sz="1700" b="1" dirty="0">
                <a:solidFill>
                  <a:srgbClr val="FFFFFF"/>
                </a:solidFill>
                <a:latin typeface="Amiri" pitchFamily="2" charset="-78"/>
                <a:cs typeface="Amiri" pitchFamily="2" charset="-78"/>
              </a:rPr>
              <a:t>فَـ</a:t>
            </a:r>
            <a:pPr algn="l" indent="0" marL="0">
              <a:buNone/>
            </a:pPr>
            <a:r>
              <a:rPr lang="en-US" sz="1300" b="1" dirty="0">
                <a:solidFill>
                  <a:srgbClr val="FFFFFF"/>
                </a:solidFill>
                <a:latin typeface="Calibri" pitchFamily="34" charset="0"/>
                <a:cs typeface="Amiri" pitchFamily="2" charset="-78"/>
              </a:rPr>
              <a:t> — then check every ending before you hand 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D5-L09 · Writing — My Leisure Life (Extended Writing)</dc:title>
  <dc:subject>PptxGenJS Presentation</dc:subject>
  <dc:creator>Al Madina Online School · Arabic Department</dc:creator>
  <cp:lastModifiedBy>Al Madina Online School · Arabic Department</cp:lastModifiedBy>
  <cp:revision>1</cp:revision>
  <dcterms:created xsi:type="dcterms:W3CDTF">2026-10-11T06:41:03Z</dcterms:created>
  <dcterms:modified xsi:type="dcterms:W3CDTF">2026-10-11T06:41:03Z</dcterms:modified>
</cp:coreProperties>
</file>