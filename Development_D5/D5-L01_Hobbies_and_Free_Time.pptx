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D5-L01. The website lesson “Hobbies and Free Time — Vocabulary and Present Habits”: vocabulary, grammar rules and quiz, patterns, common mistakes, sorter, listening, reading, speaking prompts and model, writing task and model, differentiation, final check and the lesson mission. Picture match: website visual game “Hobbies and Free Time — Vocabulary and Present Habits”.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(D5 · Hobbies, Sport and Leisure). Core: 12 hobbies with their verb + one frequency phrase (أَلْعَبُ كُرَةَ القَدَمِ مَرَّةً فِي الأُسْبُوعِ). Develop: all four verb families + the dual مَرَّتَيْنِ + أُفَضِّلُ … عَلَى. Stretch: all three preference structures, a reason with لِأَنَّ and a contrast (أَمَّا … فَـ).
• The key idea: learn the WHOLE collocation (verb + preposition + noun), never the verb alone — English “play” is three different Arabic verbs.
• Grammar links: the dual (F3), numbers 3–10 + genitive plural (F2 / F4), لِأَنَّ + pronoun (D1).
• TEACHER-WRITTEN ITEMS: three quiz distractors replaced (they differed only in vowel endings) and English added to the model sentences.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D4-L12. Questions 4–5 retrieve the dual and numbers 3–10 + plural, needed for frequency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English “play” is THREE Arabic verbs: learn the verb, its preposition and its noun as one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موسیقی، شطرنج، فراغت are shared. CAREFUL: Urdu ریاضت = spiritual discipline / practice; Arabic رِيَاضَةٌ = sport (and also mathematics in رِيَاضِيَّاتٌ). Urdu تصویر = a picture; Arabic تَصْوِيرٌ = photography (a picture is صُورَةٌ).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Hobbies and activities (website vocabulary (1 of 4)). Hear → Say → See → Use. Transliteration is printed for Core students (cover it for Develop/Stretch).
Hobbies and activities. Cards show “he” on the front and I / she where it helps. Many hobbies are verbal nouns (السِّبَاحَةُ swimming · الرَّسْمُ drawing): learn the noun AND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Hobbies and activities (website vocabulary (2 of 4)). Hear → Say → See → Use. Transliteration is printed for Core students (cover it for Develop/Stretch).
Hobbies and activities. Cards show “he” on the front and I / she where it helps. Many hobbies are verbal nouns (السِّبَاحَةُ swimming · الرَّسْمُ drawing): learn the noun AND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Hobbies and activities (website vocabulary (3 of 4)). Hear → Say → See → Use. Transliteration is printed for Core students (cover it for Develop/Stretch).
Hobbies and activities. Cards show “he” on the front and I / she where it helps. Many hobbies are verbal nouns (السِّبَاحَةُ swimming · الرَّسْمُ drawing): learn the noun AND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Hobbies and activities (website vocabulary (4 of 4)). Hear → Say → See → Use. Transliteration is printed for Core students (cover it for Develop/Stretch).
Hobbies and activities. Cards show “he” on the front and I / she where it helps. Many hobbies are verbal nouns (السِّبَاحَةُ swimming · الرَّسْمُ drawing): learn the noun AND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often (website vocabulary). Hear → Say → See → Use. Transliteration is printed for Core students (cover it for Develop/Stretch).
How often: مَرَّةً (once) is accusative · مَرَّتَيْنِ (twice) is the dual · ثَلَاثَ مَرَّاتٍ (three times) — 3–10 + genitive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Saying what you prefer (website vocabulary). Hear → Say → See → Use. Transliteration is printed for Core students (cover it for Develop/Stretch).
Saying what you prefer: the thing you like LESS comes after عَلَى (أُفَضِّلُ الرَّسْمَ عَلَى التَّصْوِيرِ = I prefer drawing to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“يَلْعَبُ with ball games”, “يُمَارِسُ with an activity noun” and “يَعْزِفُ عَلَى with an instrument” (the Cambridge list also records العَزْفُ بِـ — recognise both). Website teaching point: “Learn the whole collocation, not the single verb.”
Website mistakes: أَلْعَبُ السِّبَاحَةَ ✗ → أُمَارِسُ السِّبَاحَةَ · أَعْزِفُ البِيَانُو ✗ → أَعْزِفُ عَلَى البِيَانُو.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“Frequency after a number” (مَرَّةً is adverbial and accusative; مَرَّتَيْنِ is the dual; from three to ten the counted noun becomes a genitive plural) and the website preference structures (vocabulary group 3).
Agreement in card 3: تَسَلُّقٌ is masculine, so لِأَنَّهُ … مُمْتِعٌ; for السِّبَاحَةُ: لِأَنَّهَا مُمْتِعَةٌ (website quiz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“Three systems carry this lesson: choosing the right verb for the activity, saying how often, and ranking two activities against each other. Study each in context and compare an accurate sentence with a plausible but wrong one.”
• يَلْعَبُ with ball games: يَلْعَبُ is used for games played with a ball or a board. The noun that follows is the direct object and therefore accusative.
• يُمَارِسُ with an activity noun: يُمَارِسُ suits a sustained activity or discipline rather than a game. The activity noun that follows is accusative.
• يَعْزِفُ عَلَى with an instrument: The preposition عَلَى is fixed with يَعْزِفُ, and the instrument after it is genitive. The Cambridge list also records the verbal noun form العَزْفُ بِـ, so recognise both.
• Frequency after a number: مَرَّةً is adverbial and accusative. مَرَّتَيْنِ is the dual. From three to ten the counted noun becomes a genitive plural: ثَلَاثَ مَرَّاتٍ.
Website common error: Do not choose a sentence only because it contains the right hobby word. Check that the verb matches the kind of activity, that the preposition is the fixed one, and that the ending on the noun follows from its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with the website writing model: “Ball game? Activity? Instrument? Which verb? Which ending?” Then the first half of the website model in the copy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Hobbies and Free Time — Vocabulary and Present Habits”)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sentence with a verb + frequency: أَقْرَأُ مَرَّةً فِي الأُسْبُوعِ · أَرْسُمُ يَوْمِيًّا · أُمَارِسُ السِّبَاحَةَ مَرَّتَيْنِ فِي الأُسْبُوعِ. Other website cards: أَلْعَبُ أَلْعَابَ الفِيدْيُو · أَسْتَمِعُ إِلَى المُوسِيقَى · أُحِبُّ المَشْيَ فِي الحَدِيقَةِ.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Hobbies and Free Time — Vocabulary and Present Habits”)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sentence with a verb + frequency: أَقْرَأُ مَرَّةً فِي الأُسْبُوعِ · أَرْسُمُ يَوْمِيًّا · أُمَارِسُ السِّبَاحَةَ مَرَّتَيْنِ فِي الأُسْبُوعِ. Other website cards: أَلْعَبُ أَلْعَابَ الفِيدْيُو · أَسْتَمِعُ إِلَى المُوسِيقَى · أُحِبُّ المَشْيَ فِي الحَدِيقَةِ.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make one sentence for each column with a frequency: أَلْعَبُ الشِّطْرَنْجَ مَرَّةً فِي الأُسْبُوعِ.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make one sentence for each column with a frequency: أَلْعَبُ الشِّطْرَنْجَ مَرَّةً فِي الأُسْبُوعِ.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5 — then say one preference for each person.
Listen 1: just listen. Listen 2: note answers. Then chat the letters.
Support: after the second listening, show the read-along slide (Arabic + English, line by line) for Core students.
SCRIPT (read aloud):
أَنَا سَلْمَى، وَأُمَارِسُ السِّبَاحَةَ مَرَّتَيْنِ فِي الأُسْبُوعِ لِأَنَّهَا تُرِيحُنِي بَعْدَ الدِّرَاسَةِ. وَفِي وَقْتِ فَرَاغِي أَقْرَأُ الرِّوَايَاتِ. أَمَّا أَخِي يُوسُفُ فَيَعْزِفُ عَلَى العُودِ يَوْمِيًّا، وَيَقُولُ إِنَّهُ يُفَضِّلُ المُوسِيقَى عَلَى الرِّيَاضَةِ. وَصَدِيقَتِي لَيْلَى تَلْعَبُ كُرَةَ السَّلَّةِ ثَلَاثَ مَرَّاتٍ فِي الشَّهْرِ فَقَطْ، لٰكِنَّهَا تَهْوَى التَّصْوِيرَ الفُوتُوغْرَافِيَّ حَقًّا.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تُفَضِّلِينَهَا عَلَى القِرَاءَةِ؟ (Follow-up)
B: نَعَمْ، أُفَضِّلُ السِّبَاحَةَ عَلَى القِرَاءَةِ لِأَنَّهَا تُرِيحُنِي بَعْدَ الدِّرَاسَةِ. (Preference with a reason)
Website prompts and model (a four-line exchange: question → activity + frequency → follow-up → preference + reason). Website task: “my hobby in thirty seconds”. To a girl: هِوَايَتُكِ · تُمَارِسِينَهَا · تُفَضِّلِينَ.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Use the vocabulary vault and the sentence frames to produce six accurate sentences with one collocation and one frequency phrase each. · Develop — Link your sentences into a paragraph, adding a preference structure and a reason with لِأَنَّ. · Stretch — Compare two hobbies in one sentence, qualify your view with مَعَ ذٰلِكَ or أَمَّا … فَـ, and keep every case ending accurate.
Website writing task (Stretch): Write eight sentences about your hobbies. Use five different collocation verbs, four different frequency expressions and all three preference structures. Give a reason with لِأَنَّ for your favourite hobby.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أُمَارِسُ السِّبَاحَةَ · أَلْعَبُ كُرَةَ السَّلَّةِ · أَعْزِفُ عَلَى العُودِ · مَرَّتَيْنِ / مَرَّةً فِي الأُسْبُوعِ · يَوْمِيًّا · أُفَضِّلُ … عَلَى · أَسْتَمْتِعُ بِـ … أَكْثَرَ مِنْ · أَهْوَاهُ حَقًّا لِأَنَّهُ … (الرَّسْمُ is masculine).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(D5-L02 · Sport — Vocabulary, Famous Athletes and Cultural Context) will spend class time USING this language, so students prepare it tonight — short, simple, easy to access (school guidance: “Simple, Short, Interesting, Relevant, Easy to access”). The five words come from the website D5-L02 vocabulary (sport: matches and results).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Hobbies and Free Time — Vocabulary and Present Habits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الهِوَايَاتُ وَوَقْتُ الفَرَاغِ</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hobbies with the RIGHT verb (</a:t>
            </a:r>
            <a:pPr algn="l" indent="0" marL="0">
              <a:buNone/>
            </a:pPr>
            <a:r>
              <a:rPr lang="ar-SA" altLang="en-US" sz="1800" dirty="0">
                <a:solidFill>
                  <a:srgbClr val="C6D2E6"/>
                </a:solidFill>
                <a:latin typeface="Amiri" pitchFamily="2" charset="-78"/>
                <a:ea typeface="Amiri" pitchFamily="2" charset="-78"/>
                <a:cs typeface="Amiri" pitchFamily="2" charset="-78"/>
              </a:rPr>
              <a:t>يَلْعَبُ</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يُمَارِسُ</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يَعْزِفُ عَلَى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يَسْتَمِعُ إِلَى</a:t>
            </a:r>
            <a:pPr algn="l" indent="0" marL="0">
              <a:buNone/>
            </a:pPr>
            <a:r>
              <a:rPr lang="en-US" sz="1400" dirty="0">
                <a:solidFill>
                  <a:srgbClr val="C6D2E6"/>
                </a:solidFill>
                <a:latin typeface="Calibri" pitchFamily="34" charset="0"/>
                <a:cs typeface="Amiri" pitchFamily="2" charset="-78"/>
              </a:rPr>
              <a:t>), say how often (</a:t>
            </a:r>
            <a:pPr algn="l" indent="0" marL="0">
              <a:buNone/>
            </a:pPr>
            <a:r>
              <a:rPr lang="ar-SA" altLang="en-US" sz="1800" dirty="0">
                <a:solidFill>
                  <a:srgbClr val="C6D2E6"/>
                </a:solidFill>
                <a:latin typeface="Amiri" pitchFamily="2" charset="-78"/>
                <a:ea typeface="Amiri" pitchFamily="2" charset="-78"/>
                <a:cs typeface="Amiri" pitchFamily="2" charset="-78"/>
              </a:rPr>
              <a:t>مَرَّةً</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مَرَّتَيْنِ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ثَلَاثَ مَرَّاتٍ</a:t>
            </a:r>
            <a:pPr algn="l" indent="0" marL="0">
              <a:buNone/>
            </a:pPr>
            <a:r>
              <a:rPr lang="en-US" sz="1400" dirty="0">
                <a:solidFill>
                  <a:srgbClr val="C6D2E6"/>
                </a:solidFill>
                <a:latin typeface="Calibri" pitchFamily="34" charset="0"/>
                <a:cs typeface="Amiri" pitchFamily="2" charset="-78"/>
              </a:rPr>
              <a:t>) and say what you prefer and why.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D5-L01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verb families, frequency and three ways to prefer.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hobbies by verb, fix collocation slips, then three students’ free time.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هِوَايَةٌ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time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hobby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مَرَّتَيْنِ فِي الأُسْبُوعِ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يَعْزِفُ عَلَى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practises sport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listens to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plays (an instrument)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dual of </a:t>
            </a:r>
            <a:pPr algn="l" indent="0" marL="0">
              <a:buNone/>
            </a:pPr>
            <a:r>
              <a:rPr lang="ar-SA" altLang="en-US" sz="1650" b="1" dirty="0">
                <a:solidFill>
                  <a:srgbClr val="1B3B6F"/>
                </a:solidFill>
                <a:latin typeface="Amiri" pitchFamily="2" charset="-78"/>
                <a:ea typeface="Amiri" pitchFamily="2" charset="-78"/>
                <a:cs typeface="Amiri" pitchFamily="2" charset="-78"/>
              </a:rPr>
              <a:t>يَوْمٌ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أَيَّامٌ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يَوْمَانِ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ثَلَاثَةُ</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أَيَّامٍ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يَوْمَانِ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هِوَايَةٌ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free time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hobby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مَرَّتَيْنِ فِي الأُسْبُوعِ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week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يَعْزِفُ عَلَى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practises sport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listens to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plays (an instrument)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(D4-L12).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dual of </a:t>
            </a:r>
            <a:pPr algn="l" indent="0" marL="0">
              <a:buNone/>
            </a:pPr>
            <a:r>
              <a:rPr lang="ar-SA" altLang="en-US" sz="1650" b="1" dirty="0">
                <a:solidFill>
                  <a:srgbClr val="1B3B6F"/>
                </a:solidFill>
                <a:latin typeface="Amiri" pitchFamily="2" charset="-78"/>
                <a:ea typeface="Amiri" pitchFamily="2" charset="-78"/>
                <a:cs typeface="Amiri" pitchFamily="2" charset="-78"/>
              </a:rPr>
              <a:t>يَوْمٌ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أَيَّامٌ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يَوْمِيٌّ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يَوْمَانِ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F3: the dual.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ثَلَاثَةُ</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أَيَّامٍ</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يَوْمَانِ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Numbers 3–10 + genitive plural.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English “play” is THREE Arabic verbs: learn the verb, its preposition and its noun as one unit.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أَلْعَبُ</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كُرَةَ القَدَمِ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أُمَارِسُ</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السِّبَاحَةَ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أَعْزِفُ عَلَى</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العُودِ</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at least 18 hobbies with the correct verb collocation.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how often with </a:t>
            </a:r>
            <a:pPr algn="l" indent="0" marL="0">
              <a:buNone/>
            </a:pPr>
            <a:r>
              <a:rPr lang="ar-SA" altLang="en-US" sz="1700" dirty="0">
                <a:solidFill>
                  <a:srgbClr val="1F2A37"/>
                </a:solidFill>
                <a:latin typeface="Amiri" pitchFamily="2" charset="-78"/>
                <a:ea typeface="Amiri" pitchFamily="2" charset="-78"/>
                <a:cs typeface="Amiri" pitchFamily="2" charset="-78"/>
              </a:rPr>
              <a:t>مَرَّةً / مَرَّتَيْنِ / ثَلَاثَ مَرَّاتٍ</a:t>
            </a:r>
            <a:pPr algn="l" indent="0" marL="0">
              <a:buNone/>
            </a:pPr>
            <a:r>
              <a:rPr lang="en-US" sz="1300" dirty="0">
                <a:solidFill>
                  <a:srgbClr val="1F2A37"/>
                </a:solidFill>
                <a:latin typeface="Calibri" pitchFamily="34" charset="0"/>
                <a:cs typeface="Amiri" pitchFamily="2" charset="-78"/>
              </a:rPr>
              <a:t> + a period.</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preference with </a:t>
            </a:r>
            <a:pPr algn="l" indent="0" marL="0">
              <a:buNone/>
            </a:pPr>
            <a:r>
              <a:rPr lang="ar-SA" altLang="en-US" sz="1700" dirty="0">
                <a:solidFill>
                  <a:srgbClr val="1F2A37"/>
                </a:solidFill>
                <a:latin typeface="Amiri" pitchFamily="2" charset="-78"/>
                <a:ea typeface="Amiri" pitchFamily="2" charset="-78"/>
                <a:cs typeface="Amiri" pitchFamily="2" charset="-78"/>
              </a:rPr>
              <a:t>أُفَضِّلُ … عَلَى</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أَسْتَمْتِعُ بِـ</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أَهْوَى … حَقًّا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 reason with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where the pronoun matches its noun.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12 hobbies with the right verb.</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how often I do one.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all four verb families and the dual.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I prefer with </a:t>
            </a:r>
            <a:pPr algn="l" indent="0" marL="0">
              <a:buNone/>
            </a:pPr>
            <a:r>
              <a:rPr lang="ar-SA" altLang="en-US" sz="1700" b="1" dirty="0">
                <a:solidFill>
                  <a:srgbClr val="C9780A"/>
                </a:solidFill>
                <a:latin typeface="Amiri" pitchFamily="2" charset="-78"/>
                <a:ea typeface="Amiri" pitchFamily="2" charset="-78"/>
                <a:cs typeface="Amiri" pitchFamily="2" charset="-78"/>
              </a:rPr>
              <a:t>أُفَضِّلُ … عَلَى</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all three preference structures.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reason and a contrast.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Hobbies and activities · 20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How often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Saying what you prefer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فَرَاغٌ</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‎فراغت‎ </a:t>
            </a:r>
            <a:pPr indent="0" marL="0">
              <a:buNone/>
            </a:pPr>
            <a:r>
              <a:rPr lang="en-US" sz="950" b="1" dirty="0">
                <a:solidFill>
                  <a:srgbClr val="2E8B57"/>
                </a:solidFill>
                <a:latin typeface="Calibri" pitchFamily="34" charset="0"/>
                <a:cs typeface="Amiri" pitchFamily="2" charset="-78"/>
              </a:rPr>
              <a:t> farāghat · leisure, free time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رِيَاضَةٌ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‎ریاضت‎ </a:t>
            </a:r>
            <a:pPr indent="0" marL="0">
              <a:buNone/>
            </a:pPr>
            <a:r>
              <a:rPr lang="en-US" sz="950" b="1" dirty="0">
                <a:solidFill>
                  <a:srgbClr val="2E8B57"/>
                </a:solidFill>
                <a:latin typeface="Calibri" pitchFamily="34" charset="0"/>
                <a:cs typeface="Amiri" pitchFamily="2" charset="-78"/>
              </a:rPr>
              <a:t> riyāzat · Urdu: discipline, practice · Arabic: sport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مُوسِيقَى</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‎موسیقی‎ </a:t>
            </a:r>
            <a:pPr indent="0" marL="0">
              <a:buNone/>
            </a:pPr>
            <a:r>
              <a:rPr lang="en-US" sz="950" b="1" dirty="0">
                <a:solidFill>
                  <a:srgbClr val="2E8B57"/>
                </a:solidFill>
                <a:latin typeface="Calibri" pitchFamily="34" charset="0"/>
                <a:cs typeface="Amiri" pitchFamily="2" charset="-78"/>
              </a:rPr>
              <a:t> mausīqī · music</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شِطْرَنْجٌ</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‎شطرنج‎ </a:t>
            </a:r>
            <a:pPr indent="0" marL="0">
              <a:buNone/>
            </a:pPr>
            <a:r>
              <a:rPr lang="en-US" sz="950" b="1" dirty="0">
                <a:solidFill>
                  <a:srgbClr val="2E8B57"/>
                </a:solidFill>
                <a:latin typeface="Calibri" pitchFamily="34" charset="0"/>
                <a:cs typeface="Amiri" pitchFamily="2" charset="-78"/>
              </a:rPr>
              <a:t> shatranj · chess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تَصْوِيرٌ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‎تصویر‎ </a:t>
            </a:r>
            <a:pPr indent="0" marL="0">
              <a:buNone/>
            </a:pPr>
            <a:r>
              <a:rPr lang="en-US" sz="950" b="1" dirty="0">
                <a:solidFill>
                  <a:srgbClr val="2E8B57"/>
                </a:solidFill>
                <a:latin typeface="Calibri" pitchFamily="34" charset="0"/>
                <a:cs typeface="Amiri" pitchFamily="2" charset="-78"/>
              </a:rPr>
              <a:t> taṣvīr · Urdu: a picture · Arabic: photography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and activities (1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هِوَايَةٌ / هِوَايَاتٌ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hobby / hobbies</a:t>
            </a:r>
            <a:endParaRPr lang="en-US" sz="1350" dirty="0"/>
          </a:p>
          <a:p>
            <a:pPr indent="0" marL="0">
              <a:buNone/>
            </a:pPr>
            <a:r>
              <a:rPr lang="en-US" sz="1100" i="1" dirty="0">
                <a:solidFill>
                  <a:srgbClr val="5A6472"/>
                </a:solidFill>
                <a:latin typeface="Calibri" pitchFamily="34" charset="0"/>
                <a:cs typeface="Amiri" pitchFamily="2" charset="-78"/>
              </a:rPr>
              <a:t>hi-wā-ya-tun / hi-wā-yā-tun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Feminine; the plural is sound feminine.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وَقْتُ الفَرَاغِ</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 time</a:t>
            </a:r>
            <a:endParaRPr lang="en-US" sz="1350" dirty="0"/>
          </a:p>
          <a:p>
            <a:pPr indent="0" marL="0">
              <a:buNone/>
            </a:pPr>
            <a:r>
              <a:rPr lang="en-US" sz="1100" i="1" dirty="0">
                <a:solidFill>
                  <a:srgbClr val="5A6472"/>
                </a:solidFill>
                <a:latin typeface="Calibri" pitchFamily="34" charset="0"/>
                <a:cs typeface="Amiri" pitchFamily="2" charset="-78"/>
              </a:rPr>
              <a:t>waq-tu al-fa-rā-ghi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An iḍāfa: no tanwīn on </a:t>
            </a:r>
            <a:pPr algn="l" indent="0" marL="0">
              <a:buNone/>
            </a:pPr>
            <a:r>
              <a:rPr lang="ar-SA" altLang="en-US" sz="1300" dirty="0">
                <a:solidFill>
                  <a:srgbClr val="8A6D1E"/>
                </a:solidFill>
                <a:latin typeface="Amiri" pitchFamily="2" charset="-78"/>
                <a:ea typeface="Amiri" pitchFamily="2" charset="-78"/>
                <a:cs typeface="Amiri" pitchFamily="2" charset="-78"/>
              </a:rPr>
              <a:t>وَقْتُ</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يُمَارِسُ الرِّيَاضَةَ</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practises sport</a:t>
            </a:r>
            <a:endParaRPr lang="en-US" sz="1350" dirty="0"/>
          </a:p>
          <a:p>
            <a:pPr indent="0" marL="0">
              <a:buNone/>
            </a:pPr>
            <a:r>
              <a:rPr lang="en-US" sz="1100" i="1" dirty="0">
                <a:solidFill>
                  <a:srgbClr val="5A6472"/>
                </a:solidFill>
                <a:latin typeface="Calibri" pitchFamily="34" charset="0"/>
                <a:cs typeface="Amiri" pitchFamily="2" charset="-78"/>
              </a:rPr>
              <a:t>yu-mā-ri-su ar-ri-yā-ḍa-ta</a:t>
            </a:r>
            <a:endParaRPr lang="en-US" sz="1350" dirty="0"/>
          </a:p>
        </p:txBody>
      </p:sp>
      <p:sp>
        <p:nvSpPr>
          <p:cNvPr id="40" name="Shape 3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2" name="Text 3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تُمَارِسُ</a:t>
            </a:r>
            <a:endParaRPr lang="ar-SA" sz="1500" dirty="0"/>
          </a:p>
        </p:txBody>
      </p:sp>
      <p:sp>
        <p:nvSpPr>
          <p:cNvPr id="43" name="Shape 4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5" name="Text 4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أُمَارِسُ</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يَلْعَبُ كُرَةَ القَدَمِ</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football</a:t>
            </a:r>
            <a:endParaRPr lang="en-US" sz="1350" dirty="0"/>
          </a:p>
          <a:p>
            <a:pPr indent="0" marL="0">
              <a:buNone/>
            </a:pPr>
            <a:r>
              <a:rPr lang="en-US" sz="1100" i="1" dirty="0">
                <a:solidFill>
                  <a:srgbClr val="5A6472"/>
                </a:solidFill>
                <a:latin typeface="Calibri" pitchFamily="34" charset="0"/>
                <a:cs typeface="Amiri" pitchFamily="2" charset="-78"/>
              </a:rPr>
              <a:t>yal-ʿa-bu ku-ra-ta al-qa-da-mi</a:t>
            </a:r>
            <a:endParaRPr lang="en-US" sz="1350" dirty="0"/>
          </a:p>
        </p:txBody>
      </p:sp>
      <p:sp>
        <p:nvSpPr>
          <p:cNvPr id="55" name="Shape 5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7" name="Text 5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تَلْعَبُ</a:t>
            </a:r>
            <a:endParaRPr lang="ar-SA" sz="1500" dirty="0"/>
          </a:p>
        </p:txBody>
      </p:sp>
      <p:sp>
        <p:nvSpPr>
          <p:cNvPr id="58" name="Shape 5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0" name="Text 5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أَلْعَبُ</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يَلْعَبُ كُرَةَ السَّلَّةِ</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basketball</a:t>
            </a:r>
            <a:endParaRPr lang="en-US" sz="1350" dirty="0"/>
          </a:p>
          <a:p>
            <a:pPr indent="0" marL="0">
              <a:buNone/>
            </a:pPr>
            <a:r>
              <a:rPr lang="en-US" sz="1100" i="1" dirty="0">
                <a:solidFill>
                  <a:srgbClr val="5A6472"/>
                </a:solidFill>
                <a:latin typeface="Calibri" pitchFamily="34" charset="0"/>
                <a:cs typeface="Amiri" pitchFamily="2" charset="-78"/>
              </a:rPr>
              <a:t>yal-ʿa-bu ku-ra-ta as-sal-la-ti</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and activities (2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السِّبَاحَةُ / يَسْبَحُ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swimming / swims</a:t>
            </a:r>
            <a:endParaRPr lang="en-US" sz="1350" dirty="0"/>
          </a:p>
          <a:p>
            <a:pPr indent="0" marL="0">
              <a:buNone/>
            </a:pPr>
            <a:r>
              <a:rPr lang="en-US" sz="1100" i="1" dirty="0">
                <a:solidFill>
                  <a:srgbClr val="5A6472"/>
                </a:solidFill>
                <a:latin typeface="Calibri" pitchFamily="34" charset="0"/>
                <a:cs typeface="Amiri" pitchFamily="2" charset="-78"/>
              </a:rPr>
              <a:t>as-si-bā-ḥa-tu / yas-ba-ḥu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syllabus lists the verbal noun </a:t>
            </a:r>
            <a:pPr algn="l" indent="0" marL="0">
              <a:buNone/>
            </a:pPr>
            <a:r>
              <a:rPr lang="ar-SA" altLang="en-US" sz="1300" dirty="0">
                <a:solidFill>
                  <a:srgbClr val="8A6D1E"/>
                </a:solidFill>
                <a:latin typeface="Amiri" pitchFamily="2" charset="-78"/>
                <a:ea typeface="Amiri" pitchFamily="2" charset="-78"/>
                <a:cs typeface="Amiri" pitchFamily="2" charset="-78"/>
              </a:rPr>
              <a:t>السِّبَاحَةُ</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الرَّسْمُ / يَرْسُمُ</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drawing / draws</a:t>
            </a:r>
            <a:endParaRPr lang="en-US" sz="1350" dirty="0"/>
          </a:p>
          <a:p>
            <a:pPr indent="0" marL="0">
              <a:buNone/>
            </a:pPr>
            <a:r>
              <a:rPr lang="en-US" sz="1100" i="1" dirty="0">
                <a:solidFill>
                  <a:srgbClr val="5A6472"/>
                </a:solidFill>
                <a:latin typeface="Calibri" pitchFamily="34" charset="0"/>
                <a:cs typeface="Amiri" pitchFamily="2" charset="-78"/>
              </a:rPr>
              <a:t>ar-ras-mu / yar-su-mu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syllabus lists the verbal noun </a:t>
            </a:r>
            <a:pPr algn="l" indent="0" marL="0">
              <a:buNone/>
            </a:pPr>
            <a:r>
              <a:rPr lang="ar-SA" altLang="en-US" sz="1300" dirty="0">
                <a:solidFill>
                  <a:srgbClr val="8A6D1E"/>
                </a:solidFill>
                <a:latin typeface="Amiri" pitchFamily="2" charset="-78"/>
                <a:ea typeface="Amiri" pitchFamily="2" charset="-78"/>
                <a:cs typeface="Amiri" pitchFamily="2" charset="-78"/>
              </a:rPr>
              <a:t>الرَّسْمُ</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يَعْزِفُ عَلَى البِيَانُو</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the piano</a:t>
            </a:r>
            <a:endParaRPr lang="en-US" sz="1350" dirty="0"/>
          </a:p>
          <a:p>
            <a:pPr indent="0" marL="0">
              <a:buNone/>
            </a:pPr>
            <a:r>
              <a:rPr lang="en-US" sz="1100" i="1" dirty="0">
                <a:solidFill>
                  <a:srgbClr val="5A6472"/>
                </a:solidFill>
                <a:latin typeface="Calibri" pitchFamily="34" charset="0"/>
                <a:cs typeface="Amiri" pitchFamily="2" charset="-78"/>
              </a:rPr>
              <a:t>yaʿ-zi-fu ʿa-lā al-bi-yā-nū</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عَلَى</a:t>
            </a:r>
            <a:pPr algn="l" indent="0" marL="0">
              <a:buNone/>
            </a:pPr>
            <a:r>
              <a:rPr lang="en-US" sz="1000" i="1" dirty="0">
                <a:solidFill>
                  <a:srgbClr val="8A6D1E"/>
                </a:solidFill>
                <a:latin typeface="Calibri" pitchFamily="34" charset="0"/>
                <a:cs typeface="Amiri" pitchFamily="2" charset="-78"/>
              </a:rPr>
              <a:t> is followed by the genitive.</a:t>
            </a:r>
            <a:endParaRPr lang="en-US" sz="10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Shape 3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يَعْزِفُ عَلَى العُودِ</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the oud</a:t>
            </a:r>
            <a:endParaRPr lang="en-US" sz="1350" dirty="0"/>
          </a:p>
          <a:p>
            <a:pPr indent="0" marL="0">
              <a:buNone/>
            </a:pPr>
            <a:r>
              <a:rPr lang="en-US" sz="1100" i="1" dirty="0">
                <a:solidFill>
                  <a:srgbClr val="5A6472"/>
                </a:solidFill>
                <a:latin typeface="Calibri" pitchFamily="34" charset="0"/>
                <a:cs typeface="Amiri" pitchFamily="2" charset="-78"/>
              </a:rPr>
              <a:t>yaʿ-zi-fu ʿa-lā al-ʿū-di</a:t>
            </a:r>
            <a:endParaRPr lang="en-US" sz="1350" dirty="0"/>
          </a:p>
        </p:txBody>
      </p:sp>
      <p:sp>
        <p:nvSpPr>
          <p:cNvPr id="46" name="Shape 4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تَعْزِفُ</a:t>
            </a:r>
            <a:endParaRPr lang="ar-SA" sz="1500" dirty="0"/>
          </a:p>
        </p:txBody>
      </p:sp>
      <p:sp>
        <p:nvSpPr>
          <p:cNvPr id="49" name="Shape 4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1" name="Text 48"/>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أَعْزِفُ</a:t>
            </a:r>
            <a:endParaRPr lang="ar-SA" sz="150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5" name="Shape 5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القِرَاءَةُ / يَقْرَأُ</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reading / reads</a:t>
            </a:r>
            <a:endParaRPr lang="en-US" sz="1350" dirty="0"/>
          </a:p>
          <a:p>
            <a:pPr indent="0" marL="0">
              <a:buNone/>
            </a:pPr>
            <a:r>
              <a:rPr lang="en-US" sz="1100" i="1" dirty="0">
                <a:solidFill>
                  <a:srgbClr val="5A6472"/>
                </a:solidFill>
                <a:latin typeface="Calibri" pitchFamily="34" charset="0"/>
                <a:cs typeface="Amiri" pitchFamily="2" charset="-78"/>
              </a:rPr>
              <a:t>al-qi-rā-ʾa-tu / yaq-ra-ʾu</a:t>
            </a:r>
            <a:endParaRPr lang="en-US" sz="13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and activities (3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التَّصْوِيرُ الفُوتُوغْرَافِيُّ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photography</a:t>
            </a:r>
            <a:endParaRPr lang="en-US" sz="1350" dirty="0"/>
          </a:p>
          <a:p>
            <a:pPr indent="0" marL="0">
              <a:buNone/>
            </a:pPr>
            <a:r>
              <a:rPr lang="en-US" sz="1100" i="1" dirty="0">
                <a:solidFill>
                  <a:srgbClr val="5A6472"/>
                </a:solidFill>
                <a:latin typeface="Calibri" pitchFamily="34" charset="0"/>
                <a:cs typeface="Amiri" pitchFamily="2" charset="-78"/>
              </a:rPr>
              <a:t>at-taṣ-wī-ru al-fū-tūgh-rā-fiy-yu</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adjective agrees with the masculine noun.</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4" name="Shape 21"/>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5" name="Text 22"/>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6" name="Text 2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يَطْبُخُ</a:t>
            </a:r>
            <a:endParaRPr lang="ar-SA" sz="3000" dirty="0"/>
          </a:p>
        </p:txBody>
      </p:sp>
      <p:sp>
        <p:nvSpPr>
          <p:cNvPr id="27" name="Text 2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cooks</a:t>
            </a:r>
            <a:endParaRPr lang="en-US" sz="1350" dirty="0"/>
          </a:p>
          <a:p>
            <a:pPr indent="0" marL="0">
              <a:buNone/>
            </a:pPr>
            <a:r>
              <a:rPr lang="en-US" sz="1100" i="1" dirty="0">
                <a:solidFill>
                  <a:srgbClr val="5A6472"/>
                </a:solidFill>
                <a:latin typeface="Calibri" pitchFamily="34" charset="0"/>
                <a:cs typeface="Amiri" pitchFamily="2" charset="-78"/>
              </a:rPr>
              <a:t>yaṭ-bu-khu</a:t>
            </a:r>
            <a:endParaRPr lang="en-US" sz="1350" dirty="0"/>
          </a:p>
        </p:txBody>
      </p:sp>
      <p:sp>
        <p:nvSpPr>
          <p:cNvPr id="28" name="Shape 25"/>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0" name="Text 27"/>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تَطْبُخُ</a:t>
            </a:r>
            <a:endParaRPr lang="ar-SA" sz="1500" dirty="0"/>
          </a:p>
        </p:txBody>
      </p:sp>
      <p:sp>
        <p:nvSpPr>
          <p:cNvPr id="31" name="Shape 28"/>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3" name="Text 30"/>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أَطْبُخُ</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يُشَاهِدُ الأَفْلَامَ</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watches films</a:t>
            </a:r>
            <a:endParaRPr lang="en-US" sz="1350" dirty="0"/>
          </a:p>
          <a:p>
            <a:pPr indent="0" marL="0">
              <a:buNone/>
            </a:pPr>
            <a:r>
              <a:rPr lang="en-US" sz="1100" i="1" dirty="0">
                <a:solidFill>
                  <a:srgbClr val="5A6472"/>
                </a:solidFill>
                <a:latin typeface="Calibri" pitchFamily="34" charset="0"/>
                <a:cs typeface="Amiri" pitchFamily="2" charset="-78"/>
              </a:rPr>
              <a:t>yu-shā-hi-du al-af-lā-ma</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2" name="Shape 3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يَسْتَمِعُ إِلَى المُوسِيقَى</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listens to music</a:t>
            </a:r>
            <a:endParaRPr lang="en-US" sz="1350" dirty="0"/>
          </a:p>
          <a:p>
            <a:pPr indent="0" marL="0">
              <a:buNone/>
            </a:pPr>
            <a:r>
              <a:rPr lang="en-US" sz="1100" i="1" dirty="0">
                <a:solidFill>
                  <a:srgbClr val="5A6472"/>
                </a:solidFill>
                <a:latin typeface="Calibri" pitchFamily="34" charset="0"/>
                <a:cs typeface="Amiri" pitchFamily="2" charset="-78"/>
              </a:rPr>
              <a:t>yas-ta-mi-ʿu i-lā al-mū-sī-qā</a:t>
            </a:r>
            <a:endParaRPr lang="en-US" sz="1350" dirty="0"/>
          </a:p>
        </p:txBody>
      </p:sp>
      <p:sp>
        <p:nvSpPr>
          <p:cNvPr id="48" name="Shape 4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0" name="Text 47"/>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تَسْتَمِعُ</a:t>
            </a:r>
            <a:endParaRPr lang="ar-SA" sz="1500" dirty="0"/>
          </a:p>
        </p:txBody>
      </p:sp>
      <p:sp>
        <p:nvSpPr>
          <p:cNvPr id="51" name="Shape 4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3" name="Text 5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أَسْتَمِعُ</a:t>
            </a:r>
            <a:endParaRPr lang="ar-SA" sz="15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تَسَلُّقُ الجِبَالِ</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mountain climbing</a:t>
            </a:r>
            <a:endParaRPr lang="en-US" sz="1350" dirty="0"/>
          </a:p>
          <a:p>
            <a:pPr indent="0" marL="0">
              <a:buNone/>
            </a:pPr>
            <a:r>
              <a:rPr lang="en-US" sz="1100" i="1" dirty="0">
                <a:solidFill>
                  <a:srgbClr val="5A6472"/>
                </a:solidFill>
                <a:latin typeface="Calibri" pitchFamily="34" charset="0"/>
                <a:cs typeface="Amiri" pitchFamily="2" charset="-78"/>
              </a:rPr>
              <a:t>ta-sal-lu-qu al-ji-bā-li</a:t>
            </a:r>
            <a:endParaRPr lang="en-US" sz="1350" dirty="0"/>
          </a:p>
        </p:txBody>
      </p:sp>
      <p:sp>
        <p:nvSpPr>
          <p:cNvPr id="59" name="Text 5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An iḍāfa: </a:t>
            </a:r>
            <a:pPr algn="l" indent="0" marL="0">
              <a:buNone/>
            </a:pPr>
            <a:r>
              <a:rPr lang="ar-SA" altLang="en-US" sz="1300" dirty="0">
                <a:solidFill>
                  <a:srgbClr val="8A6D1E"/>
                </a:solidFill>
                <a:latin typeface="Amiri" pitchFamily="2" charset="-78"/>
                <a:ea typeface="Amiri" pitchFamily="2" charset="-78"/>
                <a:cs typeface="Amiri" pitchFamily="2" charset="-78"/>
              </a:rPr>
              <a:t>الجِبَالِ</a:t>
            </a:r>
            <a:pPr algn="l" indent="0" marL="0">
              <a:buNone/>
            </a:pPr>
            <a:r>
              <a:rPr lang="en-US" sz="1000" i="1" dirty="0">
                <a:solidFill>
                  <a:srgbClr val="8A6D1E"/>
                </a:solidFill>
                <a:latin typeface="Calibri" pitchFamily="34" charset="0"/>
                <a:cs typeface="Amiri" pitchFamily="2" charset="-78"/>
              </a:rPr>
              <a:t> is genitive.</a:t>
            </a:r>
            <a:endParaRPr lang="en-US" sz="10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and activities (4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يَتَطَوَّعُ</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volunteers</a:t>
            </a:r>
            <a:endParaRPr lang="en-US" sz="1350" dirty="0"/>
          </a:p>
          <a:p>
            <a:pPr indent="0" marL="0">
              <a:buNone/>
            </a:pPr>
            <a:r>
              <a:rPr lang="en-US" sz="1100" i="1" dirty="0">
                <a:solidFill>
                  <a:srgbClr val="5A6472"/>
                </a:solidFill>
                <a:latin typeface="Calibri" pitchFamily="34" charset="0"/>
                <a:cs typeface="Amiri" pitchFamily="2" charset="-78"/>
              </a:rPr>
              <a:t>ya-ta-ṭaw-wa-ʿu</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تَتَطَوَّعُ</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أَتَطَوَّعُ</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الغِنَاءُ</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singing</a:t>
            </a:r>
            <a:endParaRPr lang="en-US" sz="1350" dirty="0"/>
          </a:p>
          <a:p>
            <a:pPr indent="0" marL="0">
              <a:buNone/>
            </a:pPr>
            <a:r>
              <a:rPr lang="en-US" sz="1100" i="1" dirty="0">
                <a:solidFill>
                  <a:srgbClr val="5A6472"/>
                </a:solidFill>
                <a:latin typeface="Calibri" pitchFamily="34" charset="0"/>
                <a:cs typeface="Amiri" pitchFamily="2" charset="-78"/>
              </a:rPr>
              <a:t>al-ghi-nā-ʾu</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رُكُوبُ الدَّرَّاجَةِ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cycling</a:t>
            </a:r>
            <a:endParaRPr lang="en-US" sz="1350" dirty="0"/>
          </a:p>
          <a:p>
            <a:pPr indent="0" marL="0">
              <a:buNone/>
            </a:pPr>
            <a:r>
              <a:rPr lang="en-US" sz="1100" i="1" dirty="0">
                <a:solidFill>
                  <a:srgbClr val="5A6472"/>
                </a:solidFill>
                <a:latin typeface="Calibri" pitchFamily="34" charset="0"/>
                <a:cs typeface="Amiri" pitchFamily="2" charset="-78"/>
              </a:rPr>
              <a:t>ru-kū-bu ad-dar-rā-ja-ti</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رِيَاضَةُ اليُوغَا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yoga</a:t>
            </a:r>
            <a:endParaRPr lang="en-US" sz="1350" dirty="0"/>
          </a:p>
          <a:p>
            <a:pPr indent="0" marL="0">
              <a:buNone/>
            </a:pPr>
            <a:r>
              <a:rPr lang="en-US" sz="1100" i="1" dirty="0">
                <a:solidFill>
                  <a:srgbClr val="5A6472"/>
                </a:solidFill>
                <a:latin typeface="Calibri" pitchFamily="34" charset="0"/>
                <a:cs typeface="Amiri" pitchFamily="2" charset="-78"/>
              </a:rPr>
              <a:t>ri-yā-ḍa-tu al-yū-ghā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الشِّطْرَنْجُ</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chess</a:t>
            </a:r>
            <a:endParaRPr lang="en-US" sz="1350" dirty="0"/>
          </a:p>
          <a:p>
            <a:pPr indent="0" marL="0">
              <a:buNone/>
            </a:pPr>
            <a:r>
              <a:rPr lang="en-US" sz="1100" i="1" dirty="0">
                <a:solidFill>
                  <a:srgbClr val="5A6472"/>
                </a:solidFill>
                <a:latin typeface="Calibri" pitchFamily="34" charset="0"/>
                <a:cs typeface="Amiri" pitchFamily="2" charset="-78"/>
              </a:rPr>
              <a:t>ash-shiṭ-ran-ju</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فِي الأُسْبُوعِ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a week</a:t>
            </a:r>
            <a:endParaRPr lang="en-US" sz="1350" dirty="0"/>
          </a:p>
          <a:p>
            <a:pPr indent="0" marL="0">
              <a:buNone/>
            </a:pPr>
            <a:r>
              <a:rPr lang="en-US" sz="1100" i="1" dirty="0">
                <a:solidFill>
                  <a:srgbClr val="5A6472"/>
                </a:solidFill>
                <a:latin typeface="Calibri" pitchFamily="34" charset="0"/>
                <a:cs typeface="Amiri" pitchFamily="2" charset="-78"/>
              </a:rPr>
              <a:t>mar-ra-tan fī al-us-bū-ʿi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مَرَّةً</a:t>
            </a:r>
            <a:pPr algn="l" indent="0" marL="0">
              <a:buNone/>
            </a:pPr>
            <a:r>
              <a:rPr lang="en-US" sz="1000" i="1" dirty="0">
                <a:solidFill>
                  <a:srgbClr val="8A6D1E"/>
                </a:solidFill>
                <a:latin typeface="Calibri" pitchFamily="34" charset="0"/>
                <a:cs typeface="Amiri" pitchFamily="2" charset="-78"/>
              </a:rPr>
              <a:t> is adverbial, so it is accusative.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مَرَّتَيْنِ فِي الأُسْبُوعِ</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twice a week</a:t>
            </a:r>
            <a:endParaRPr lang="en-US" sz="1350" dirty="0"/>
          </a:p>
          <a:p>
            <a:pPr indent="0" marL="0">
              <a:buNone/>
            </a:pPr>
            <a:r>
              <a:rPr lang="en-US" sz="1100" i="1" dirty="0">
                <a:solidFill>
                  <a:srgbClr val="5A6472"/>
                </a:solidFill>
                <a:latin typeface="Calibri" pitchFamily="34" charset="0"/>
                <a:cs typeface="Amiri" pitchFamily="2" charset="-78"/>
              </a:rPr>
              <a:t>mar-ra-tay-ni fī al-us-bū-ʿi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مَرَّتَيْنِ</a:t>
            </a:r>
            <a:pPr algn="l" indent="0" marL="0">
              <a:buNone/>
            </a:pPr>
            <a:r>
              <a:rPr lang="en-US" sz="1000" i="1" dirty="0">
                <a:solidFill>
                  <a:srgbClr val="8A6D1E"/>
                </a:solidFill>
                <a:latin typeface="Calibri" pitchFamily="34" charset="0"/>
                <a:cs typeface="Amiri" pitchFamily="2" charset="-78"/>
              </a:rPr>
              <a:t> is the dual — revise the dual from F3.</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ثَلَاثَ مَرَّاتٍ فِي الشَّهْرِ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three times a month</a:t>
            </a:r>
            <a:endParaRPr lang="en-US" sz="1350" dirty="0"/>
          </a:p>
          <a:p>
            <a:pPr indent="0" marL="0">
              <a:buNone/>
            </a:pPr>
            <a:r>
              <a:rPr lang="en-US" sz="1100" i="1" dirty="0">
                <a:solidFill>
                  <a:srgbClr val="5A6472"/>
                </a:solidFill>
                <a:latin typeface="Calibri" pitchFamily="34" charset="0"/>
                <a:cs typeface="Amiri" pitchFamily="2" charset="-78"/>
              </a:rPr>
              <a:t>tha-lā-tha mar-rā-tin fī ash-shah-ri</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Numbers 3–10 take a genitive plural: </a:t>
            </a:r>
            <a:pPr algn="l" indent="0" marL="0">
              <a:buNone/>
            </a:pPr>
            <a:r>
              <a:rPr lang="ar-SA" altLang="en-US" sz="1300" dirty="0">
                <a:solidFill>
                  <a:srgbClr val="8A6D1E"/>
                </a:solidFill>
                <a:latin typeface="Amiri" pitchFamily="2" charset="-78"/>
                <a:ea typeface="Amiri" pitchFamily="2" charset="-78"/>
                <a:cs typeface="Amiri" pitchFamily="2" charset="-78"/>
              </a:rPr>
              <a:t>مَرَّاتٍ</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يَوْمِيًّا</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daily</a:t>
            </a:r>
            <a:endParaRPr lang="en-US" sz="1350" dirty="0"/>
          </a:p>
          <a:p>
            <a:pPr indent="0" marL="0">
              <a:buNone/>
            </a:pPr>
            <a:r>
              <a:rPr lang="en-US" sz="1100" i="1" dirty="0">
                <a:solidFill>
                  <a:srgbClr val="5A6472"/>
                </a:solidFill>
                <a:latin typeface="Calibri" pitchFamily="34" charset="0"/>
                <a:cs typeface="Amiri" pitchFamily="2" charset="-78"/>
              </a:rPr>
              <a:t>yaw-miy-yan</a:t>
            </a:r>
            <a:endParaRPr lang="en-US" sz="135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نَادِرًا</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rarely</a:t>
            </a:r>
            <a:endParaRPr lang="en-US" sz="1350" dirty="0"/>
          </a:p>
          <a:p>
            <a:pPr indent="0" marL="0">
              <a:buNone/>
            </a:pPr>
            <a:r>
              <a:rPr lang="en-US" sz="1100" i="1" dirty="0">
                <a:solidFill>
                  <a:srgbClr val="5A6472"/>
                </a:solidFill>
                <a:latin typeface="Calibri" pitchFamily="34" charset="0"/>
                <a:cs typeface="Amiri" pitchFamily="2" charset="-78"/>
              </a:rPr>
              <a:t>nā-di-ran</a:t>
            </a:r>
            <a:endParaRPr lang="en-US" sz="1350" dirty="0"/>
          </a:p>
        </p:txBody>
      </p:sp>
      <p:sp>
        <p:nvSpPr>
          <p:cNvPr id="47" name="Shape 4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50" name="Text 4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وَقْتِ فَرَاغِي</a:t>
            </a:r>
            <a:endParaRPr lang="ar-SA" sz="3000" dirty="0"/>
          </a:p>
        </p:txBody>
      </p:sp>
      <p:sp>
        <p:nvSpPr>
          <p:cNvPr id="51" name="Text 4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free time</a:t>
            </a:r>
            <a:endParaRPr lang="en-US" sz="1350" dirty="0"/>
          </a:p>
          <a:p>
            <a:pPr indent="0" marL="0">
              <a:buNone/>
            </a:pPr>
            <a:r>
              <a:rPr lang="en-US" sz="1100" i="1" dirty="0">
                <a:solidFill>
                  <a:srgbClr val="5A6472"/>
                </a:solidFill>
                <a:latin typeface="Calibri" pitchFamily="34" charset="0"/>
                <a:cs typeface="Amiri" pitchFamily="2" charset="-78"/>
              </a:rPr>
              <a:t>fī waq-ti fa-rā-ghī</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Saying what you prefer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 عَلَى …</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 … to …</a:t>
            </a:r>
            <a:endParaRPr lang="en-US" sz="1350" dirty="0"/>
          </a:p>
          <a:p>
            <a:pPr indent="0" marL="0">
              <a:buNone/>
            </a:pPr>
            <a:r>
              <a:rPr lang="en-US" sz="1100" i="1" dirty="0">
                <a:solidFill>
                  <a:srgbClr val="5A6472"/>
                </a:solidFill>
                <a:latin typeface="Calibri" pitchFamily="34" charset="0"/>
                <a:cs typeface="Amiri" pitchFamily="2" charset="-78"/>
              </a:rPr>
              <a:t>u-faḍ-ḍi-lu … ʿa-lā …</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thing preferred less follows </a:t>
            </a:r>
            <a:pPr algn="l" indent="0" marL="0">
              <a:buNone/>
            </a:pPr>
            <a:r>
              <a:rPr lang="ar-SA" altLang="en-US" sz="1300" dirty="0">
                <a:solidFill>
                  <a:srgbClr val="8A6D1E"/>
                </a:solidFill>
                <a:latin typeface="Amiri" pitchFamily="2" charset="-78"/>
                <a:ea typeface="Amiri" pitchFamily="2" charset="-78"/>
                <a:cs typeface="Amiri" pitchFamily="2" charset="-78"/>
              </a:rPr>
              <a:t>عَلَى</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أَسْتَمْتِعُ بِـ …</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enjoy …</a:t>
            </a:r>
            <a:endParaRPr lang="en-US" sz="1350" dirty="0"/>
          </a:p>
          <a:p>
            <a:pPr indent="0" marL="0">
              <a:buNone/>
            </a:pPr>
            <a:r>
              <a:rPr lang="en-US" sz="1100" i="1" dirty="0">
                <a:solidFill>
                  <a:srgbClr val="5A6472"/>
                </a:solidFill>
                <a:latin typeface="Calibri" pitchFamily="34" charset="0"/>
                <a:cs typeface="Amiri" pitchFamily="2" charset="-78"/>
              </a:rPr>
              <a:t>as-tam-ti-ʿu bi …</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بِـ</a:t>
            </a:r>
            <a:pPr algn="l" indent="0" marL="0">
              <a:buNone/>
            </a:pPr>
            <a:r>
              <a:rPr lang="en-US" sz="1000" i="1" dirty="0">
                <a:solidFill>
                  <a:srgbClr val="8A6D1E"/>
                </a:solidFill>
                <a:latin typeface="Calibri" pitchFamily="34" charset="0"/>
                <a:cs typeface="Amiri" pitchFamily="2" charset="-78"/>
              </a:rPr>
              <a:t> is followed by the genitive.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أَهْوَى … حَقًّا</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truly passionate about …</a:t>
            </a:r>
            <a:endParaRPr lang="en-US" sz="1350" dirty="0"/>
          </a:p>
          <a:p>
            <a:pPr indent="0" marL="0">
              <a:buNone/>
            </a:pPr>
            <a:r>
              <a:rPr lang="en-US" sz="1100" i="1" dirty="0">
                <a:solidFill>
                  <a:srgbClr val="5A6472"/>
                </a:solidFill>
                <a:latin typeface="Calibri" pitchFamily="34" charset="0"/>
                <a:cs typeface="Amiri" pitchFamily="2" charset="-78"/>
              </a:rPr>
              <a:t>ah-wā … ḥaq-qan</a:t>
            </a:r>
            <a:endParaRPr lang="en-US" sz="1350" dirty="0"/>
          </a:p>
        </p:txBody>
      </p:sp>
      <p:sp>
        <p:nvSpPr>
          <p:cNvPr id="34" name="Text 3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word ḥaqqan adds emphasis.</a:t>
            </a:r>
            <a:endParaRPr lang="en-US" sz="100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مِنْ</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than</a:t>
            </a:r>
            <a:endParaRPr lang="en-US" sz="1350" dirty="0"/>
          </a:p>
          <a:p>
            <a:pPr indent="0" marL="0">
              <a:buNone/>
            </a:pPr>
            <a:r>
              <a:rPr lang="en-US" sz="1100" i="1" dirty="0">
                <a:solidFill>
                  <a:srgbClr val="5A6472"/>
                </a:solidFill>
                <a:latin typeface="Calibri" pitchFamily="34" charset="0"/>
                <a:cs typeface="Amiri" pitchFamily="2" charset="-78"/>
              </a:rPr>
              <a:t>ak-tha-ra min</a:t>
            </a:r>
            <a:endParaRPr lang="en-US" sz="1350" dirty="0"/>
          </a:p>
        </p:txBody>
      </p:sp>
      <p:sp>
        <p:nvSpPr>
          <p:cNvPr id="40" name="Shape 3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389120"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43" name="Text 4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44" name="Text 4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45" name="Text 42"/>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950" i="1" dirty="0">
                <a:solidFill>
                  <a:srgbClr val="8A6D1E"/>
                </a:solidFill>
                <a:latin typeface="Calibri" pitchFamily="34" charset="0"/>
                <a:cs typeface="Amiri" pitchFamily="2" charset="-78"/>
              </a:rPr>
              <a:t>Followed by a noun or attached pronoun in the accusative.</a:t>
            </a:r>
            <a:endParaRPr lang="en-US" sz="9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49" name="Shape 46"/>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1" name="Text 4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مُمْتِعٌ / مُمْتِعَةٌ</a:t>
            </a:r>
            <a:endParaRPr lang="ar-SA" sz="3000" dirty="0"/>
          </a:p>
        </p:txBody>
      </p:sp>
      <p:sp>
        <p:nvSpPr>
          <p:cNvPr id="52" name="Text 4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mum-ti-ʿun / mum-ti-ʿa-tun</a:t>
            </a:r>
            <a:endParaRPr lang="en-US" sz="1350" dirty="0"/>
          </a:p>
        </p:txBody>
      </p:sp>
      <p:sp>
        <p:nvSpPr>
          <p:cNvPr id="53" name="Shape 50"/>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مُمْتِعُونَ / مُمْتِعَاتٌ</a:t>
            </a:r>
            <a:endParaRPr lang="ar-SA" sz="15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FOUR VERB FAMILIES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Which verb goes with which hobby?</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المُنَاسِبُ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Used for</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preposition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ball and board games</a:t>
            </a:r>
            <a:endParaRPr lang="en-US" sz="11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أَلْعَبُ كُرَةَ القَدَمِ · تَلْعَبُ الشِّطْرَنْجَ</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play football · she plays chess</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يَلْعَبُ</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 a sport</a:t>
            </a:r>
            <a:endParaRPr lang="en-US" sz="11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أُمَارِسُ السِّبَاحَةَ · تُمَارِسُ رِيَاضَةَ اليُوغَا</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practise swimming · she does yoga</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يُمَارِسُ</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instrument</a:t>
            </a:r>
            <a:endParaRPr lang="en-US" sz="11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أَعْزِفُ عَلَى العُودِ · تَعْزِفُ عَلَى البِيَانُو</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play the oud · she plays the piano</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يَعْزِفُ عَلَى</a:t>
            </a:r>
            <a:endParaRPr lang="ar-SA" sz="22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music</a:t>
            </a:r>
            <a:endParaRPr lang="en-US" sz="1100" dirty="0"/>
          </a:p>
        </p:txBody>
      </p:sp>
      <p:sp>
        <p:nvSpPr>
          <p:cNvPr id="42" name="Text 39"/>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أَسْتَمِعُ إِلَى المُوسِيقَى</a:t>
            </a:r>
            <a:endParaRPr lang="ar-SA" sz="1950" dirty="0"/>
          </a:p>
        </p:txBody>
      </p:sp>
      <p:sp>
        <p:nvSpPr>
          <p:cNvPr id="43" name="Text 40"/>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listen to music</a:t>
            </a:r>
            <a:endParaRPr lang="en-US" sz="950" dirty="0"/>
          </a:p>
        </p:txBody>
      </p:sp>
      <p:sp>
        <p:nvSpPr>
          <p:cNvPr id="44" name="Text 41"/>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يَسْتَمِعُ إِلَى</a:t>
            </a:r>
            <a:endParaRPr lang="ar-SA" sz="2200" dirty="0"/>
          </a:p>
        </p:txBody>
      </p:sp>
      <p:sp>
        <p:nvSpPr>
          <p:cNvPr id="45" name="Shape 42"/>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8" name="Text 45"/>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films, matches</a:t>
            </a:r>
            <a:endParaRPr lang="en-US" sz="1100" dirty="0"/>
          </a:p>
        </p:txBody>
      </p:sp>
      <p:sp>
        <p:nvSpPr>
          <p:cNvPr id="49" name="Text 46"/>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أُشَاهِدُ الأَفْلَامَ</a:t>
            </a:r>
            <a:endParaRPr lang="ar-SA" sz="1950" dirty="0"/>
          </a:p>
        </p:txBody>
      </p:sp>
      <p:sp>
        <p:nvSpPr>
          <p:cNvPr id="50" name="Text 47"/>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watch films</a:t>
            </a:r>
            <a:endParaRPr lang="en-US" sz="950" dirty="0"/>
          </a:p>
        </p:txBody>
      </p:sp>
      <p:sp>
        <p:nvSpPr>
          <p:cNvPr id="51" name="Text 48"/>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يُشَاهِدُ</a:t>
            </a:r>
            <a:endParaRPr lang="ar-SA" sz="2200" dirty="0"/>
          </a:p>
        </p:txBody>
      </p:sp>
      <p:sp>
        <p:nvSpPr>
          <p:cNvPr id="52" name="Text 4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يَلْعَبُ / يُمَارِسُ</a:t>
            </a:r>
            <a:pPr algn="l" indent="0" marL="0">
              <a:buNone/>
            </a:pPr>
            <a:r>
              <a:rPr lang="en-US" sz="1150" b="1" dirty="0">
                <a:solidFill>
                  <a:srgbClr val="1B3B6F"/>
                </a:solidFill>
                <a:latin typeface="Calibri" pitchFamily="34" charset="0"/>
                <a:cs typeface="Amiri" pitchFamily="2" charset="-78"/>
              </a:rPr>
              <a:t> the hobby ends in -a (</a:t>
            </a:r>
            <a:pPr algn="l" indent="0" marL="0">
              <a:buNone/>
            </a:pPr>
            <a:r>
              <a:rPr lang="ar-SA" altLang="en-US" sz="1500" b="1" dirty="0">
                <a:solidFill>
                  <a:srgbClr val="1B3B6F"/>
                </a:solidFill>
                <a:latin typeface="Amiri" pitchFamily="2" charset="-78"/>
                <a:ea typeface="Amiri" pitchFamily="2" charset="-78"/>
                <a:cs typeface="Amiri" pitchFamily="2" charset="-78"/>
              </a:rPr>
              <a:t>كُرَةَ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السِّبَاحَةَ</a:t>
            </a:r>
            <a:pPr algn="l" indent="0" marL="0">
              <a:buNone/>
            </a:pPr>
            <a:r>
              <a:rPr lang="en-US" sz="1150" b="1" dirty="0">
                <a:solidFill>
                  <a:srgbClr val="1B3B6F"/>
                </a:solidFill>
                <a:latin typeface="Calibri" pitchFamily="34" charset="0"/>
                <a:cs typeface="Amiri" pitchFamily="2" charset="-78"/>
              </a:rPr>
              <a:t>); after </a:t>
            </a:r>
            <a:pPr algn="l" indent="0" marL="0">
              <a:buNone/>
            </a:pPr>
            <a:r>
              <a:rPr lang="ar-SA" altLang="en-US" sz="1500" b="1" dirty="0">
                <a:solidFill>
                  <a:srgbClr val="1B3B6F"/>
                </a:solidFill>
                <a:latin typeface="Amiri" pitchFamily="2" charset="-78"/>
                <a:ea typeface="Amiri" pitchFamily="2" charset="-78"/>
                <a:cs typeface="Amiri" pitchFamily="2" charset="-78"/>
              </a:rPr>
              <a:t>عَلَى / إِلَى</a:t>
            </a:r>
            <a:pPr algn="l" indent="0" marL="0">
              <a:buNone/>
            </a:pPr>
            <a:r>
              <a:rPr lang="en-US" sz="1150" b="1" dirty="0">
                <a:solidFill>
                  <a:srgbClr val="1B3B6F"/>
                </a:solidFill>
                <a:latin typeface="Calibri" pitchFamily="34" charset="0"/>
                <a:cs typeface="Amiri" pitchFamily="2" charset="-78"/>
              </a:rPr>
              <a:t> it ends in -i (</a:t>
            </a:r>
            <a:pPr algn="l" indent="0" marL="0">
              <a:buNone/>
            </a:pPr>
            <a:r>
              <a:rPr lang="ar-SA" altLang="en-US" sz="1500" b="1" dirty="0">
                <a:solidFill>
                  <a:srgbClr val="1B3B6F"/>
                </a:solidFill>
                <a:latin typeface="Amiri" pitchFamily="2" charset="-78"/>
                <a:ea typeface="Amiri" pitchFamily="2" charset="-78"/>
                <a:cs typeface="Amiri" pitchFamily="2" charset="-78"/>
              </a:rPr>
              <a:t>العُودِ</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المُوسِيقَى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FREQUENCY AND PREFERENCE (WEBSITE RULE 4 + VOCABULARY)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 What do you prefer?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التَّكْرَارُ وَالتَّفْضِيلُ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FREQUENCY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مَرَّةً · مَرَّتَيْنِ · ثَلَاثَ مَرَّاتٍ</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أَسْبَحُ مَرَّتَيْنِ فِي الأُسْبُوعِ.</a:t>
            </a:r>
            <a:endParaRPr lang="ar-SA" sz="30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swim twice a week.</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Dual = twice.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PREFER · DEVELOP</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أُفَضِّلُ … عَلَى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أُفَضِّلُ الرَّسْمَ عَلَى التَّصْوِيرِ.</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prefer drawing to photography.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Less liked after ʿalā.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ENJOY / LOVE · STRETCH</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400" b="1" dirty="0">
                <a:solidFill>
                  <a:srgbClr val="8A6D1E"/>
                </a:solidFill>
                <a:latin typeface="Amiri" pitchFamily="2" charset="-78"/>
                <a:ea typeface="Amiri" pitchFamily="2" charset="-78"/>
                <a:cs typeface="Amiri" pitchFamily="2" charset="-78"/>
              </a:rPr>
              <a:t>أَسْتَمْتِعُ بِـ · أَهْوَى … حَقًّا</a:t>
            </a:r>
            <a:endParaRPr lang="ar-SA" sz="14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أَهْوَى تَسَلُّقَ الجِبَالِ حَقًّا لِأَنَّهُ مُمْتِعٌ.</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truly love mountain climbing because it is fun.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Reason + agreement.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3–10 take a genitive plural.</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ثَلَاثَ مَرَّاتٍ فِي الشَّهْرِ</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ثَلَاثَ مَرَّةٍ فِي الشَّهْرِ</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Collocation, frequency and preference</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ea typeface="Amiri" pitchFamily="2" charset="-78"/>
                <a:cs typeface="Amiri" pitchFamily="2" charset="-78"/>
              </a:rPr>
              <a:t>التَّلَازُمُ اللَّفْظِيُّ وَالتَّكْرَارُ وَالتَّفْضِيلُ</a:t>
            </a:r>
            <a:endParaRPr lang="ar-SA" sz="26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
            </a:r>
            <a:pPr algn="l" indent="0" marL="0">
              <a:buNone/>
            </a:pPr>
            <a:r>
              <a:rPr lang="ar-SA" altLang="en-US" sz="1650" b="1" dirty="0">
                <a:solidFill>
                  <a:srgbClr val="1B3B6F"/>
                </a:solidFill>
                <a:latin typeface="Amiri" pitchFamily="2" charset="-78"/>
                <a:ea typeface="Amiri" pitchFamily="2" charset="-78"/>
                <a:cs typeface="Amiri" pitchFamily="2" charset="-78"/>
              </a:rPr>
              <a:t>يَلْعَبُ</a:t>
            </a:r>
            <a:pPr algn="l" indent="0" marL="0">
              <a:buNone/>
            </a:pPr>
            <a:r>
              <a:rPr lang="en-US" sz="1250" b="1" dirty="0">
                <a:solidFill>
                  <a:srgbClr val="1B3B6F"/>
                </a:solidFill>
                <a:latin typeface="Calibri" pitchFamily="34" charset="0"/>
                <a:cs typeface="Amiri" pitchFamily="2" charset="-78"/>
              </a:rPr>
              <a:t> with ball games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يَلْعَبُ</a:t>
            </a:r>
            <a:pPr algn="l" indent="0" marL="0">
              <a:buNone/>
            </a:pPr>
            <a:r>
              <a:rPr lang="en-US" sz="1050" dirty="0">
                <a:solidFill>
                  <a:srgbClr val="5A6472"/>
                </a:solidFill>
                <a:latin typeface="Calibri" pitchFamily="34" charset="0"/>
                <a:cs typeface="Amiri" pitchFamily="2" charset="-78"/>
              </a:rPr>
              <a:t> + accusative ball-game noun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يَلْعَبُ كُرَةَ القَدَمِ   ·   تَلْعَبُ كُرَةَ السَّلَّةِ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t>
            </a:r>
            <a:pPr algn="l" indent="0" marL="0">
              <a:buNone/>
            </a:pPr>
            <a:r>
              <a:rPr lang="ar-SA" altLang="en-US" sz="1650" b="1" dirty="0">
                <a:solidFill>
                  <a:srgbClr val="1B3B6F"/>
                </a:solidFill>
                <a:latin typeface="Amiri" pitchFamily="2" charset="-78"/>
                <a:ea typeface="Amiri" pitchFamily="2" charset="-78"/>
                <a:cs typeface="Amiri" pitchFamily="2" charset="-78"/>
              </a:rPr>
              <a:t>يُمَارِسُ</a:t>
            </a:r>
            <a:pPr algn="l" indent="0" marL="0">
              <a:buNone/>
            </a:pPr>
            <a:r>
              <a:rPr lang="en-US" sz="1250" b="1" dirty="0">
                <a:solidFill>
                  <a:srgbClr val="1B3B6F"/>
                </a:solidFill>
                <a:latin typeface="Calibri" pitchFamily="34" charset="0"/>
                <a:cs typeface="Amiri" pitchFamily="2" charset="-78"/>
              </a:rPr>
              <a:t> with an activity noun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يُمَارِسُ</a:t>
            </a:r>
            <a:pPr algn="l" indent="0" marL="0">
              <a:buNone/>
            </a:pPr>
            <a:r>
              <a:rPr lang="en-US" sz="1050" dirty="0">
                <a:solidFill>
                  <a:srgbClr val="5A6472"/>
                </a:solidFill>
                <a:latin typeface="Calibri" pitchFamily="34" charset="0"/>
                <a:cs typeface="Amiri" pitchFamily="2" charset="-78"/>
              </a:rPr>
              <a:t> + accusative activity noun</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يُمَارِسُ السِّبَاحَةَ   ·   تُمَارِسُ رِيَاضَةَ اليُوغَا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t>
            </a:r>
            <a:pPr algn="l" indent="0" marL="0">
              <a:buNone/>
            </a:pPr>
            <a:r>
              <a:rPr lang="ar-SA" altLang="en-US" sz="1650" b="1" dirty="0">
                <a:solidFill>
                  <a:srgbClr val="1B3B6F"/>
                </a:solidFill>
                <a:latin typeface="Amiri" pitchFamily="2" charset="-78"/>
                <a:ea typeface="Amiri" pitchFamily="2" charset="-78"/>
                <a:cs typeface="Amiri" pitchFamily="2" charset="-78"/>
              </a:rPr>
              <a:t>يَعْزِفُ عَلَى</a:t>
            </a:r>
            <a:pPr algn="l" indent="0" marL="0">
              <a:buNone/>
            </a:pPr>
            <a:r>
              <a:rPr lang="en-US" sz="1250" b="1" dirty="0">
                <a:solidFill>
                  <a:srgbClr val="1B3B6F"/>
                </a:solidFill>
                <a:latin typeface="Calibri" pitchFamily="34" charset="0"/>
                <a:cs typeface="Amiri" pitchFamily="2" charset="-78"/>
              </a:rPr>
              <a:t> with an instrument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يَعْزِفُ عَلَى</a:t>
            </a:r>
            <a:pPr algn="l" indent="0" marL="0">
              <a:buNone/>
            </a:pPr>
            <a:r>
              <a:rPr lang="en-US" sz="1050" dirty="0">
                <a:solidFill>
                  <a:srgbClr val="5A6472"/>
                </a:solidFill>
                <a:latin typeface="Calibri" pitchFamily="34" charset="0"/>
                <a:cs typeface="Amiri" pitchFamily="2" charset="-78"/>
              </a:rPr>
              <a:t> + genitive instrument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يَعْزِفُ عَلَى العُودِ   ·   تَعْزِفُ عَلَى البِيَانُو</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Frequency after a number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مَرَّةً / مَرَّتَيْنِ / ثَلَاثَ مَرَّاتٍ</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dirty="0">
                <a:solidFill>
                  <a:srgbClr val="5A6472"/>
                </a:solidFill>
                <a:latin typeface="Calibri" pitchFamily="34" charset="0"/>
                <a:cs typeface="Amiri" pitchFamily="2" charset="-78"/>
              </a:rPr>
              <a:t> + period</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مَرَّتَيْنِ فِي الأُسْبُوعِ   ·   ثَلَاثَ مَرَّاتٍ فِي الشَّهْرِ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football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أُمَارِسُ كُرَةَ القَدَمِ مَرَّتَانِ فِي الأُسْبُوعِ.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أَعْزِفُ كُرَةَ القَدَمِ مَرَّتَيْنِ فِي الأُسْبُوعِ.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أَلْعَبُ كُرَةَ القَدَمِ مَرَّتَيْنِ فِي الأُسْبُوعِ.</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instrument sentence.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تَعْزِفُ عَلَى العُودِ كُلَّ مَسَاءٍ.</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تَعْزِفُ العُودَ كُلَّ مَسَاءٍ.</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تَعْزِفُ إِلَى العُودِ كُلَّ مَسَاءٍ.</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أَسْتَمِعُ ___ المُوسِيقَى العَرَبِيَّةِ.</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frequency phrase is accurate?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مَرَّاتٍ فِي الشَّهْرِ</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ثَلَاثَةَ مَرَّاتٍ فِي الشَّهْرِ</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مَرَّةٍ فِي الشَّهْرِ</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football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أُمَارِسُ كُرَةَ القَدَمِ مَرَّتَانِ فِي الأُسْبُوعِ.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أَعْزِفُ كُرَةَ القَدَمِ مَرَّتَيْنِ فِي الأُسْبُوعِ.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أَلْعَبُ كُرَةَ القَدَمِ مَرَّتَيْنِ فِي الأُسْبُوعِ.</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Ball games take </a:t>
            </a:r>
            <a:pPr algn="l" indent="0" marL="0">
              <a:buNone/>
            </a:pPr>
            <a:r>
              <a:rPr lang="ar-SA" altLang="en-US" sz="1350" dirty="0">
                <a:solidFill>
                  <a:srgbClr val="8A6D1E"/>
                </a:solidFill>
                <a:latin typeface="Amiri" pitchFamily="2" charset="-78"/>
                <a:ea typeface="Amiri" pitchFamily="2" charset="-78"/>
                <a:cs typeface="Amiri" pitchFamily="2" charset="-78"/>
              </a:rPr>
              <a:t>يَلْعَبُ</a:t>
            </a:r>
            <a:pPr algn="l" indent="0" marL="0">
              <a:buNone/>
            </a:pPr>
            <a:r>
              <a:rPr lang="en-US" sz="1050" i="1" dirty="0">
                <a:solidFill>
                  <a:srgbClr val="8A6D1E"/>
                </a:solidFill>
                <a:latin typeface="Calibri" pitchFamily="34" charset="0"/>
                <a:cs typeface="Amiri" pitchFamily="2" charset="-78"/>
              </a:rPr>
              <a:t>, and the dual after a preposition-free adverbial is </a:t>
            </a:r>
            <a:pPr algn="l" indent="0" marL="0">
              <a:buNone/>
            </a:pPr>
            <a:r>
              <a:rPr lang="ar-SA" altLang="en-US" sz="1350" dirty="0">
                <a:solidFill>
                  <a:srgbClr val="8A6D1E"/>
                </a:solidFill>
                <a:latin typeface="Amiri" pitchFamily="2" charset="-78"/>
                <a:ea typeface="Amiri" pitchFamily="2" charset="-78"/>
                <a:cs typeface="Amiri" pitchFamily="2" charset="-78"/>
              </a:rPr>
              <a:t>مَرَّتَيْنِ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instrument sentence.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تَعْزِفُ عَلَى العُودِ كُلَّ مَسَاءٍ.</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تَعْزِفُ العُودَ كُلَّ مَسَاءٍ.</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تَعْزِفُ إِلَى العُودِ كُلَّ مَسَاءٍ.</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يَعْزِفُ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and the instrument after it is genitive.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أَسْتَمِعُ ___ المُوسِيقَى العَرَبِيَّةِ.</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يَسْتَمِعُ</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frequency phrase is accurate?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ثَلَاثَ مَرَّاتٍ فِي الشَّهْرِ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ثَلَاثَةَ مَرَّاتٍ فِي الشَّهْرِ</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 مَرَّةٍ فِي الشَّهْرِ</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مَرَّة</a:t>
            </a:r>
            <a:pPr algn="l" indent="0" marL="0">
              <a:buNone/>
            </a:pPr>
            <a:r>
              <a:rPr lang="en-US" sz="1050" i="1" dirty="0">
                <a:solidFill>
                  <a:srgbClr val="8A6D1E"/>
                </a:solidFill>
                <a:latin typeface="Calibri" pitchFamily="34" charset="0"/>
                <a:cs typeface="Amiri" pitchFamily="2" charset="-78"/>
              </a:rPr>
              <a:t> is feminine, so the number drops the tāʾ, and 3–10 take the genitive plural </a:t>
            </a:r>
            <a:pPr algn="l" indent="0" marL="0">
              <a:buNone/>
            </a:pPr>
            <a:r>
              <a:rPr lang="ar-SA" altLang="en-US" sz="1350" dirty="0">
                <a:solidFill>
                  <a:srgbClr val="8A6D1E"/>
                </a:solidFill>
                <a:latin typeface="Amiri" pitchFamily="2" charset="-78"/>
                <a:ea typeface="Amiri" pitchFamily="2" charset="-78"/>
                <a:cs typeface="Amiri" pitchFamily="2" charset="-78"/>
              </a:rPr>
              <a:t>مَرَّاتٍ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talk about my free time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Hobby + 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أَعْزِفُ عَلَى</a:t>
            </a:r>
            <a:pPr rtl="1" algn="ctr" indent="0" marL="0">
              <a:buNone/>
            </a:pPr>
            <a:r>
              <a:rPr lang="ar-SA" altLang="en-US" sz="2800" b="1" dirty="0">
                <a:solidFill>
                  <a:srgbClr val="1B3B6F"/>
                </a:solidFill>
                <a:latin typeface="Amiri" pitchFamily="2" charset="-78"/>
                <a:ea typeface="Amiri" pitchFamily="2" charset="-78"/>
                <a:cs typeface="Amiri" pitchFamily="2" charset="-78"/>
              </a:rPr>
              <a:t> العُودِ</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Instrument: ʿalā.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often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يَوْمِيًّا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Every day.</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Prefer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D5FBF"/>
                </a:solidFill>
                <a:latin typeface="Amiri" pitchFamily="2" charset="-78"/>
                <a:ea typeface="Amiri" pitchFamily="2" charset="-78"/>
                <a:cs typeface="Amiri" pitchFamily="2" charset="-78"/>
              </a:rPr>
              <a:t>أُفَضِّلُ</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المُوسِيقَى </a:t>
            </a:r>
            <a:pPr rtl="1" algn="ctr" indent="0" marL="0">
              <a:lnSpc>
                <a:spcPct val="120000"/>
              </a:lnSpc>
              <a:buNone/>
            </a:pPr>
            <a:r>
              <a:rPr lang="ar-SA" altLang="en-US" sz="1900" b="1" dirty="0">
                <a:solidFill>
                  <a:srgbClr val="1D5FBF"/>
                </a:solidFill>
                <a:latin typeface="Amiri" pitchFamily="2" charset="-78"/>
                <a:ea typeface="Amiri" pitchFamily="2" charset="-78"/>
                <a:cs typeface="Amiri" pitchFamily="2" charset="-78"/>
              </a:rPr>
              <a:t>عَلَى</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الرِّيَاضَةِ</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Less liked after ʿalā.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لِأَنَّهَا تُرِيحُنِي</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Music is feminine: -hā.</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COLLOCATION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FREQUENCY</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PREFERENCE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وَقْتِ فَرَاغِي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أُمَارِسُ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السِّبَاحَةَ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مَرَّتَيْنِ فِي الأُسْبُوعِ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أَلْعَبُ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كُرَةَ السَّلَّةِ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مَرَّةً فِي الأُسْبُوعِ</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أَعْزِفُ عَلَى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العُودِ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يَوْمِيًّا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لِأَنَّ المُوسِيقَى تُرِيحُنِي.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أُفَضِّلُ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الأَنْشِطَةَ الهَادِئَةَ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الأَلْعَابِ السَّرِيعَةِ.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my free time I go swimming twice a week, and I play basketball once a week. I play the oud every day because music relaxes me. I prefer quiet activities to fast games.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يَلْعَبُ كُرَةَ القَدَمِ</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plays football</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Ball game after يَلْعَبُ, and the object is accusative.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يَعْزِفُ عَلَى العُودِ</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plays the oud</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عَلَى is fixed with يَعْزِفُ, and the instrument is genitive.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مَرَّتَيْنِ فِي الأُسْبُوعِ</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twice a week</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مَرَّتَيْنِ is the dual of مَرَّةٌ, not a plural.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HOBBIES AND FREE TIME — VOCABULARY AND PRESENT HABITS”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What is my hobby? Match the picture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وَقْتُ الفَرَاغِ</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book</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paint and brush</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34" name="Shape 27"/>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swimmer</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الرَّسْمَ.</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السِّبَاحَةَ.</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القِرَاءَةَ فِي وَقْتِ الفَرَاغِ.</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وَقْتُ الفَرَاغِ</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book</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القِرَاءَةَ فِي وَقْتِ الفَرَاغِ.</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reading in my free time.</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paint and brush</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الرَّسْمَ.</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drawing.</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44" name="Shape 37"/>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swimmer</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السِّبَاحَةَ.</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swimming.</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كُرَةَ القَدَمِ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كُرَةَ السَّلَّةِ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الشِّطْرَنْجَ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السِّبَاحَةَ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رِيَاضَةَ اليُوغَا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تَسَلُّقَ الجِبَالِ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العُودِ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البِيَانُو</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الكَمَانِ</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يَلْعَبُ</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يُمَارِسُ</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يَعْزِفُ عَلَى</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1 · يَلْعَبُ</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كُرَةَ القَدَمِ</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كُرَةَ السَّلَّةِ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الشِّطْرَنْجَ</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2 · يُمَارِسُ</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السِّبَاحَةَ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رِيَاضَةَ اليُوغَا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تَسَلُّقَ الجِبَالِ</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يَعْزِفُ عَلَى</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العُودِ</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البِيَانُو</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الكَمَانِ</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swimming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أَلْعَبُ السِّبَاحَةَ ثَلَاثَ مَرَّاتٍ فِي الأُسْبُوعِ.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أَعْزِفُ عَلَى السِّبَاحَةِ ثَلَاثَ مَرَّاتٍ فِي الأُسْبُوعِ.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أُمَارِسُ السِّبَاحَةَ ثَلَاثَ مَرَّاتٍ فِي الأُسْبُوعِ.</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preference sentence.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الرَّسْمَ مِنَ التَّصْوِيرِ.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الرَّسْمَ عَلَى التَّصْوِيرِ.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الرَّسْمَ إِلَى التَّصْوِيرِ.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enjoyment 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أَسْتَمْتِعُ القِرَاءَةَ أَكْثَرَ مِنَ الغِنَاءِ.</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أَسْتَمْتِعُ بِالقِرَاءَةِ أَكْثَرَ مِنَ الغِنَاءِ.</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أَسْتَمْتِعُ عَلَى القِرَاءَةِ أَكْثَرَ مِنَ الغِنَاءِ.</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adds a reason accurately.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أَهْوَى تَسَلُّقَ الجِبَالِ حَقًّا لِأَنَّهَا مُمْتِعٌ.</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أَهْوَى تَسَلُّقُ الجِبَالِ حَقًّا لِأَنَّهُ مُمْتِعَةٌ.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أَهْوَى تَسَلُّقَ الجِبَالِ حَقًّا لِأَنَّهُ مُمْتِعٌ.</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swimming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أَلْعَبُ السِّبَاحَةَ ثَلَاثَ مَرَّاتٍ فِي الأُسْبُوعِ.</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أَعْزِفُ عَلَى السِّبَاحَةِ ثَلَاثَ مَرَّاتٍ فِي الأُسْبُوعِ.</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أُمَارِسُ السِّبَاحَةَ ثَلَاثَ مَرَّاتٍ فِي الأُسْبُوعِ.</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السِّبَاحَة</a:t>
            </a:r>
            <a:pPr algn="l" indent="0" marL="0">
              <a:buNone/>
            </a:pPr>
            <a:r>
              <a:rPr lang="en-US" sz="1050" i="1" dirty="0">
                <a:solidFill>
                  <a:srgbClr val="8A6D1E"/>
                </a:solidFill>
                <a:latin typeface="Calibri" pitchFamily="34" charset="0"/>
                <a:cs typeface="Amiri" pitchFamily="2" charset="-78"/>
              </a:rPr>
              <a:t> is an activity noun, so it takes </a:t>
            </a:r>
            <a:pPr algn="l" indent="0" marL="0">
              <a:buNone/>
            </a:pPr>
            <a:r>
              <a:rPr lang="ar-SA" altLang="en-US" sz="1350" dirty="0">
                <a:solidFill>
                  <a:srgbClr val="8A6D1E"/>
                </a:solidFill>
                <a:latin typeface="Amiri" pitchFamily="2" charset="-78"/>
                <a:ea typeface="Amiri" pitchFamily="2" charset="-78"/>
                <a:cs typeface="Amiri" pitchFamily="2" charset="-78"/>
              </a:rPr>
              <a:t>يُمَارِسُ</a:t>
            </a:r>
            <a:pPr algn="l" indent="0" marL="0">
              <a:buNone/>
            </a:pPr>
            <a:r>
              <a:rPr lang="en-US" sz="1050" i="1" dirty="0">
                <a:solidFill>
                  <a:srgbClr val="8A6D1E"/>
                </a:solidFill>
                <a:latin typeface="Calibri" pitchFamily="34" charset="0"/>
                <a:cs typeface="Amiri" pitchFamily="2" charset="-78"/>
              </a:rPr>
              <a:t>, and as the object it is accusative.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preference sentence.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الرَّسْمَ مِنَ التَّصْوِيرِ.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أُفَضِّلُ الرَّسْمَ عَلَى التَّصْوِيرِ.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الرَّسْمَ إِلَى التَّصْوِيرِ.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 takes an accusative object, and the less-preferred thing follows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in the genitive.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enjoyment 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أَسْتَمْتِعُ القِرَاءَةَ أَكْثَرَ مِنَ الغِنَاءِ.</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أَسْتَمْتِعُ بِالقِرَاءَةِ أَكْثَرَ مِنَ الغِنَاءِ.</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أَسْتَمْتِعُ عَلَى القِرَاءَةِ أَكْثَرَ مِنَ الغِنَاءِ.</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أَسْتَمْتِعُ</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and a noun after a preposition is genitive.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adds a reason accurately.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أَهْوَى تَسَلُّقَ الجِبَالِ حَقًّا لِأَنَّهَا مُمْتِعٌ.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أَهْوَى تَسَلُّقُ الجِبَالِ حَقًّا لِأَنَّهُ مُمْتِعَةٌ.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أَهْوَى تَسَلُّقَ الجِبَالِ حَقًّا لِأَنَّهُ مُمْتِعٌ.</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تَسَلُّق</a:t>
            </a:r>
            <a:pPr algn="l" indent="0" marL="0">
              <a:buNone/>
            </a:pPr>
            <a:r>
              <a:rPr lang="en-US" sz="1050" i="1" dirty="0">
                <a:solidFill>
                  <a:srgbClr val="8A6D1E"/>
                </a:solidFill>
                <a:latin typeface="Calibri" pitchFamily="34" charset="0"/>
                <a:cs typeface="Amiri" pitchFamily="2" charset="-78"/>
              </a:rPr>
              <a:t> is masculine and is the object of </a:t>
            </a:r>
            <a:pPr algn="l" indent="0" marL="0">
              <a:buNone/>
            </a:pPr>
            <a:r>
              <a:rPr lang="ar-SA" altLang="en-US" sz="1350" dirty="0">
                <a:solidFill>
                  <a:srgbClr val="8A6D1E"/>
                </a:solidFill>
                <a:latin typeface="Amiri" pitchFamily="2" charset="-78"/>
                <a:ea typeface="Amiri" pitchFamily="2" charset="-78"/>
                <a:cs typeface="Amiri" pitchFamily="2" charset="-78"/>
              </a:rPr>
              <a:t>أَهْوَى</a:t>
            </a:r>
            <a:pPr algn="l" indent="0" marL="0">
              <a:buNone/>
            </a:pPr>
            <a:r>
              <a:rPr lang="en-US" sz="1050" i="1" dirty="0">
                <a:solidFill>
                  <a:srgbClr val="8A6D1E"/>
                </a:solidFill>
                <a:latin typeface="Calibri" pitchFamily="34" charset="0"/>
                <a:cs typeface="Amiri" pitchFamily="2" charset="-78"/>
              </a:rPr>
              <a:t>, so the pronoun and adjective are both masculine.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أَلْعَبُ السِّبَاحَةَ.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Ball game or activity?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أَعْزِفُ البِيَانُو.</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 after yaʿzifu?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ثَلَاثَ مَرَّةٍ فِي الشَّهْرِ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3–10: singular or plural?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أَلْعَبُ السِّبَاحَةَ.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أُمَارِسُ السِّبَاحَةَ.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السِّبَاحَة</a:t>
            </a:r>
            <a:pPr algn="l" indent="0" marL="0">
              <a:buNone/>
            </a:pPr>
            <a:r>
              <a:rPr lang="en-US" sz="1150" b="1" dirty="0">
                <a:solidFill>
                  <a:srgbClr val="1B3B6F"/>
                </a:solidFill>
                <a:latin typeface="Calibri" pitchFamily="34" charset="0"/>
                <a:cs typeface="Amiri" pitchFamily="2" charset="-78"/>
              </a:rPr>
              <a:t> is an activity, not a ball game, so it takes </a:t>
            </a:r>
            <a:pPr algn="l" indent="0" marL="0">
              <a:buNone/>
            </a:pPr>
            <a:r>
              <a:rPr lang="ar-SA" altLang="en-US" sz="1500" b="1" dirty="0">
                <a:solidFill>
                  <a:srgbClr val="1B3B6F"/>
                </a:solidFill>
                <a:latin typeface="Amiri" pitchFamily="2" charset="-78"/>
                <a:ea typeface="Amiri" pitchFamily="2" charset="-78"/>
                <a:cs typeface="Amiri" pitchFamily="2" charset="-78"/>
              </a:rPr>
              <a:t>يُمَارِسُ</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أَعْزِفُ البِيَانُو.</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أَعْزِفُ عَلَى البِيَانُو.</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يَعْزِفُ</a:t>
            </a:r>
            <a:pPr algn="l" indent="0" marL="0">
              <a:buNone/>
            </a:pPr>
            <a:r>
              <a:rPr lang="en-US" sz="1150" b="1" dirty="0">
                <a:solidFill>
                  <a:srgbClr val="1B3B6F"/>
                </a:solidFill>
                <a:latin typeface="Calibri" pitchFamily="34" charset="0"/>
                <a:cs typeface="Amiri" pitchFamily="2" charset="-78"/>
              </a:rPr>
              <a:t> needs the preposition </a:t>
            </a:r>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 before the instrument.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ثَلَاثَ مَرَّةٍ فِي الشَّهْرِ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ثَلَاثَ مَرَّاتٍ فِي الشَّهْرِ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Numbers from three to ten are followed by a genitive plural.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Listening: three students describe their free time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Salmā swim?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month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Salmā swim?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school requires it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relaxes her after study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Yūsuf do daily?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Takes photographs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the oud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Yūsuf prefer?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 to sport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 to music</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to music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Laylā truly passionate about?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Basketball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Photography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novels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buNone/>
            </a:pPr>
            <a:r>
              <a:rPr lang="en-US" sz="1250" dirty="0">
                <a:solidFill>
                  <a:srgbClr val="1E6B52"/>
                </a:solidFill>
                <a:latin typeface="Calibri" pitchFamily="34" charset="0"/>
                <a:cs typeface="Amiri" pitchFamily="2" charset="-78"/>
              </a:rPr>
              <a:t>Three people: Salma · Yusuf · Layla.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سَلْمَى، وَأُمَارِسُ السِّبَاحَةَ مَرَّتَيْنِ فِي الأُسْبُوعِ</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Salma, and I swim twice a week</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لِأَنَّهَا تُرِيحُنِي بَعْدَ الدِّرَاسَةِ. وَفِي وَقْتِ فَرَاغِي أَقْرَأُ الرِّوَايَاتِ.</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it relaxes me after studying. In my free time I read novels.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أَخِي يُوسُفُ فَيَعْزِفُ عَلَى العُودِ يَوْمِيًّا،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my brother Yusuf, he plays the oud every day,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وَيَقُولُ إِنَّهُ يُفَضِّلُ المُوسِيقَى عَلَى الرِّيَاضَةِ.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he says he prefers music to sport.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وَصَدِيقَتِي لَيْلَى تَلْعَبُ كُرَةَ السَّلَّةِ ثَلَاثَ مَرَّاتٍ فِي الشَّهْرِ فَقَطْ، لٰكِنَّهَا تَهْوَى التَّصْوِيرَ الفُوتُوغْرَافِيَّ حَقًّا.</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friend Layla plays basketball only three times a month, but she truly loves photography.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Salmā swim?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times a month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مَرَّتَيْنِ فِي الأُسْبُوعِ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Salmā swim?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cheap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school requires it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relaxes her after study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gives the reason </a:t>
            </a:r>
            <a:pPr algn="l" indent="0" marL="0">
              <a:buNone/>
            </a:pPr>
            <a:r>
              <a:rPr lang="ar-SA" altLang="en-US" sz="1350" dirty="0">
                <a:solidFill>
                  <a:srgbClr val="8A6D1E"/>
                </a:solidFill>
                <a:latin typeface="Amiri" pitchFamily="2" charset="-78"/>
                <a:ea typeface="Amiri" pitchFamily="2" charset="-78"/>
                <a:cs typeface="Amiri" pitchFamily="2" charset="-78"/>
              </a:rPr>
              <a:t>لِأَنَّهَا تُرِيحُنِي بَعْدَ الدِّرَاسَةِ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Yūsuf do daily?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Swims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Takes photographs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Plays the oud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script says </a:t>
            </a:r>
            <a:pPr algn="l" indent="0" marL="0">
              <a:buNone/>
            </a:pPr>
            <a:r>
              <a:rPr lang="ar-SA" altLang="en-US" sz="1350" dirty="0">
                <a:solidFill>
                  <a:srgbClr val="8A6D1E"/>
                </a:solidFill>
                <a:latin typeface="Amiri" pitchFamily="2" charset="-78"/>
                <a:ea typeface="Amiri" pitchFamily="2" charset="-78"/>
                <a:cs typeface="Amiri" pitchFamily="2" charset="-78"/>
              </a:rPr>
              <a:t>يَعْزِفُ عَلَى العُودِ يَوْمِيًّا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Yūsuf prefer?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Music to sport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 to music</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to music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يُفَضِّلُ المُوسِيقَى عَلَى الرِّيَاضَةِ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Laylā truly passionate about?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Basketball</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Photography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novels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plays basketball only occasionally but </a:t>
            </a:r>
            <a:pPr algn="l" indent="0" marL="0">
              <a:buNone/>
            </a:pPr>
            <a:r>
              <a:rPr lang="ar-SA" altLang="en-US" sz="1350" dirty="0">
                <a:solidFill>
                  <a:srgbClr val="8A6D1E"/>
                </a:solidFill>
                <a:latin typeface="Amiri" pitchFamily="2" charset="-78"/>
                <a:ea typeface="Amiri" pitchFamily="2" charset="-78"/>
                <a:cs typeface="Amiri" pitchFamily="2" charset="-78"/>
              </a:rPr>
              <a:t>تَهْوَى التَّصْوِيرَ الفُوتُوغْرَافِيَّ حَقًّا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buNone/>
            </a:pPr>
            <a:r>
              <a:rPr lang="en-US" sz="1250" dirty="0">
                <a:solidFill>
                  <a:srgbClr val="1E6B52"/>
                </a:solidFill>
                <a:latin typeface="Calibri" pitchFamily="34" charset="0"/>
                <a:cs typeface="Amiri" pitchFamily="2" charset="-78"/>
              </a:rPr>
              <a:t>Three people: Salma · Yusuf · Layla.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my hobby in thirty seconds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هِوَايَتُكَ المُفَضَّلَةُ؟ وَكَمْ مَرَّةً تُمَارِسُهَا فِي الأُسْبُوعِ؟</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تُفَضِّلُ الرِّيَاضَةَ عَلَى المُوسِيقَى؟ 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فِي وَقْتِ فَرَاغِكَ مَعَ أَصْدِقَائِكَ؟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2" charset="-78"/>
                <a:ea typeface="Amiri" pitchFamily="2" charset="-78"/>
                <a:cs typeface="Amiri" pitchFamily="2" charset="-78"/>
              </a:rPr>
              <a:t>هِوَايَتِي المُفَضَّلَةُ ___ ، وَأُمَارِسُهَا ___ .</a:t>
            </a:r>
            <a:endParaRPr lang="ar-SA" sz="15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أُفَضِّلُ ___ عَلَى ___ لِأَنَّ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مَعَ أَصْدِقَائِي ___ ، أَمَّا وَحْدِي فَـ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هِوَايَتُكِ المُفَضَّلَةُ؟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favourite hobby?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أُمَارِسُ السِّبَاحَةَ مَرَّتَيْنِ فِي الأُسْبُوعِ، وَأَسْتَمْتِعُ بِهَا كَثِيرًا.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go swimming twice a week, and I enjoy it a lot.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vault and the sentence frames to produce six accurate sentences with one collocation and one frequency phrase each.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Six hobbies, each with the right verb and one frequency phrase.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Link your sentences into a paragraph, adding a preference structure and a reason with </a:t>
            </a:r>
            <a:pPr algn="l" indent="0" marL="0">
              <a:buNone/>
            </a:pPr>
            <a:r>
              <a:rPr lang="ar-SA" altLang="en-US" sz="1800" b="1" dirty="0">
                <a:solidFill>
                  <a:srgbClr val="1F2A37"/>
                </a:solidFill>
                <a:latin typeface="Amiri" pitchFamily="2" charset="-78"/>
                <a:ea typeface="Amiri" pitchFamily="2" charset="-78"/>
                <a:cs typeface="Amiri" pitchFamily="2" charset="-78"/>
              </a:rPr>
              <a:t>لِأَنَّ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 paragraph with four verb families, the dual and أُفَضِّلُ … عَلَى + لِأَنَّ.</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hobbies in one sentence, qualify your view with </a:t>
            </a:r>
            <a:pPr algn="l" indent="0" marL="0">
              <a:buNone/>
            </a:pPr>
            <a:r>
              <a:rPr lang="ar-SA" altLang="en-US" sz="1800" b="1" dirty="0">
                <a:solidFill>
                  <a:srgbClr val="1F2A37"/>
                </a:solidFill>
                <a:latin typeface="Amiri" pitchFamily="2" charset="-78"/>
                <a:ea typeface="Amiri" pitchFamily="2" charset="-78"/>
                <a:cs typeface="Amiri" pitchFamily="2" charset="-78"/>
              </a:rPr>
              <a:t>مَعَ ذٰلِكَ</a:t>
            </a:r>
            <a:pPr algn="l" indent="0" marL="0">
              <a:buNone/>
            </a:pPr>
            <a:r>
              <a:rPr lang="en-US" sz="1400" b="1" dirty="0">
                <a:solidFill>
                  <a:srgbClr val="1F2A37"/>
                </a:solidFill>
                <a:latin typeface="Calibri" pitchFamily="34" charset="0"/>
                <a:cs typeface="Amiri" pitchFamily="2" charset="-78"/>
              </a:rPr>
              <a:t> or </a:t>
            </a:r>
            <a:pPr algn="l" indent="0" marL="0">
              <a:buNone/>
            </a:pPr>
            <a:r>
              <a:rPr lang="ar-SA" altLang="en-US" sz="1800" b="1" dirty="0">
                <a:solidFill>
                  <a:srgbClr val="1F2A37"/>
                </a:solidFill>
                <a:latin typeface="Amiri" pitchFamily="2" charset="-78"/>
                <a:ea typeface="Amiri" pitchFamily="2" charset="-78"/>
                <a:cs typeface="Amiri" pitchFamily="2" charset="-78"/>
              </a:rPr>
              <a:t>أَمَّا … فَـ</a:t>
            </a:r>
            <a:pPr algn="l" indent="0" marL="0">
              <a:buNone/>
            </a:pPr>
            <a:r>
              <a:rPr lang="en-US" sz="1400" b="1" dirty="0">
                <a:solidFill>
                  <a:srgbClr val="1F2A37"/>
                </a:solidFill>
                <a:latin typeface="Calibri" pitchFamily="34" charset="0"/>
                <a:cs typeface="Amiri" pitchFamily="2" charset="-78"/>
              </a:rPr>
              <a:t>, and keep every case ending accurate.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five verbs, four frequencies, all three preference structures and a reason.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عَلَى ______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to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أَسْتَمْتِعُ بِـ ______ أَكْثَرَ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enjoy … more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أَهْوَى ______ حَقًّا.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truly love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هِوَايَتِي المُفَضَّلَةُ فَهِيَ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my favourite hobby, it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فِي وَقْتِ فَرَاغِي أَلْعَبُ ______ مَرَّةً فِي الأُسْبُوعِ.</a:t>
            </a:r>
            <a:endParaRPr lang="ar-SA" sz="16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free time I play … once a week.</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أُمَارِسُ ______ مَرَّتَيْنِ فِي الأُسْبُوعِ.</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practise … twice a week.</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أَعْزِفُ عَلَى ______ يَوْمِيًّا.</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play (instrument) … every day.</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أَسْتَمِعُ إِلَى ______ فِي المَسَاءِ.</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listen to … in the evening.</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أَلْعَبُ  ·  أُمَارِسُ  ·  أَعْزِفُ عَلَى  ·  أَسْتَمِعُ إِلَى  ·  أُشَاهِدُ  ·  مَرَّةً  ·  مَرَّتَيْنِ  ·  ثَلَاثَ مَرَّاتٍ  ·  يَوْمِيًّا  ·  نَادِرًا  ·  أُفَضِّلُ … عَلَى  ·  لِأَنَّ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 sentences about your hobbies. Use five different collocation verbs, four different frequency expressions and all three preference structures. Give a reason with </a:t>
            </a:r>
            <a:pPr algn="l" indent="0" marL="0">
              <a:buNone/>
            </a:pPr>
            <a:r>
              <a:rPr lang="ar-SA" altLang="en-US" sz="1750" b="1" dirty="0">
                <a:solidFill>
                  <a:srgbClr val="1F2A37"/>
                </a:solidFill>
                <a:latin typeface="Amiri" pitchFamily="2" charset="-78"/>
                <a:ea typeface="Amiri" pitchFamily="2" charset="-78"/>
                <a:cs typeface="Amiri" pitchFamily="2" charset="-78"/>
              </a:rPr>
              <a:t>لِأَنَّ</a:t>
            </a:r>
            <a:pPr algn="l" indent="0" marL="0">
              <a:buNone/>
            </a:pPr>
            <a:r>
              <a:rPr lang="en-US" sz="1350" b="1" dirty="0">
                <a:solidFill>
                  <a:srgbClr val="1F2A37"/>
                </a:solidFill>
                <a:latin typeface="Calibri" pitchFamily="34" charset="0"/>
                <a:cs typeface="Amiri" pitchFamily="2" charset="-78"/>
              </a:rPr>
              <a:t> for your favourite hobby.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different collocation verbs, each with the noun ending it requires.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different frequency expressions, including the dual </a:t>
            </a:r>
            <a:pPr algn="l" indent="0" marL="0">
              <a:buNone/>
            </a:pPr>
            <a:r>
              <a:rPr lang="ar-SA" altLang="en-US" sz="1550" dirty="0">
                <a:solidFill>
                  <a:srgbClr val="1F2A37"/>
                </a:solidFill>
                <a:latin typeface="Amiri" pitchFamily="2" charset="-78"/>
                <a:ea typeface="Amiri" pitchFamily="2" charset="-78"/>
                <a:cs typeface="Amiri" pitchFamily="2" charset="-78"/>
              </a:rPr>
              <a:t>مَرَّتَيْنِ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three preference structures: </a:t>
            </a:r>
            <a:pPr algn="l" indent="0" marL="0">
              <a:buNone/>
            </a:pPr>
            <a:r>
              <a:rPr lang="ar-SA" altLang="en-US" sz="1550" dirty="0">
                <a:solidFill>
                  <a:srgbClr val="1F2A37"/>
                </a:solidFill>
                <a:latin typeface="Amiri" pitchFamily="2" charset="-78"/>
                <a:ea typeface="Amiri" pitchFamily="2" charset="-78"/>
                <a:cs typeface="Amiri" pitchFamily="2" charset="-78"/>
              </a:rPr>
              <a:t>أُفَضِّلُ … عَلَى، أَسْتَمْتِعُ بِـ، أَهْوَى … حَقًّا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where the pronoun matches its noun in gender.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أُفَضِّلُ الأَنْشِطَةَ الهَادِئَةَ عَلَى الأَلْعَابِ السَّرِيعَةِ</a:t>
            </a:r>
            <a:endParaRPr lang="ar-SA" sz="15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quiet activities to fast games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أَسْتَمْتِعُ بِالقِرَاءَةِ أَكْثَرَ مِنْ مُشَاهَدَةِ الأَفْلَامِ</a:t>
            </a:r>
            <a:endParaRPr lang="ar-SA" sz="16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enjoy reading more than watching films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أَهْوَاهُ حَقًّا لِأَنَّهُ يَجْعَلُنِي سَعِيدًا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truly love it because it makes me happy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تُرِيحُنِي بَعْدَ الدِّرَاسَةِ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relaxes me after studying</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وَمَعَ ذٰلِكَ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yet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وَقْتِ فَرَاغِي أُمَارِسُ السِّبَاحَةَ مَرَّتَيْنِ فِي الأُسْبُوعِ، وَأَلْعَبُ كُرَةَ السَّلَّةِ مَرَّةً فِي الأُسْبُوعِ. وَأَعْزِفُ عَلَى العُودِ يَوْمِيًّا لِأَنَّ المُوسِيقَى تُرِيحُنِي. أُفَضِّلُ الأَنْشِطَةَ الهَادِئَةَ عَلَى الأَلْعَابِ السَّرِيعَةِ، وَأَسْتَمْتِعُ بِالقِرَاءَةِ أَكْثَرَ مِنْ مُشَاهَدَةِ الأَفْلَامِ. أَمَّا هِوَايَتِي المُفَضَّلَةُ فَهِيَ الرَّسْمُ، وَأَهْوَاهُ حَقًّا لِأَنَّهُ يَجْعَلُنِي سَعِيدًا.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free time I go swimming twice a week, and I play basketball once a week. I play the oud every day because music relaxes me. I prefer quiet activities to fast games, and I enjoy reading more than watching films. As for my favourite hobby, it is drawing, and I truly love it because it makes me happy.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different collocation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frequency phrases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preference structures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reason with لِأَنَّ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hobby has the right verb.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how often (</a:t>
            </a:r>
            <a:pPr algn="l" indent="0" marL="0">
              <a:buNone/>
            </a:pPr>
            <a:r>
              <a:rPr lang="ar-SA" altLang="en-US" sz="1700" dirty="0">
                <a:solidFill>
                  <a:srgbClr val="1F2A37"/>
                </a:solidFill>
                <a:latin typeface="Amiri" pitchFamily="2" charset="-78"/>
                <a:ea typeface="Amiri" pitchFamily="2" charset="-78"/>
                <a:cs typeface="Amiri" pitchFamily="2" charset="-78"/>
              </a:rPr>
              <a:t>مَرَّةً / مَرَّتَيْنِ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عَلَى</a:t>
            </a:r>
            <a:pPr algn="l" indent="0" marL="0">
              <a:buNone/>
            </a:pPr>
            <a:r>
              <a:rPr lang="en-US" sz="1300" dirty="0">
                <a:solidFill>
                  <a:srgbClr val="1F2A37"/>
                </a:solidFill>
                <a:latin typeface="Calibri" pitchFamily="34" charset="0"/>
                <a:cs typeface="Amiri" pitchFamily="2" charset="-78"/>
              </a:rPr>
              <a:t> after </a:t>
            </a:r>
            <a:pPr algn="l" indent="0" marL="0">
              <a:buNone/>
            </a:pPr>
            <a:r>
              <a:rPr lang="ar-SA" altLang="en-US" sz="1700" dirty="0">
                <a:solidFill>
                  <a:srgbClr val="1F2A37"/>
                </a:solidFill>
                <a:latin typeface="Amiri" pitchFamily="2" charset="-78"/>
                <a:ea typeface="Amiri" pitchFamily="2" charset="-78"/>
                <a:cs typeface="Amiri" pitchFamily="2" charset="-78"/>
              </a:rPr>
              <a:t>أَعْزِفُ</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إِلَى</a:t>
            </a:r>
            <a:pPr algn="l" indent="0" marL="0">
              <a:buNone/>
            </a:pPr>
            <a:r>
              <a:rPr lang="en-US" sz="1300" dirty="0">
                <a:solidFill>
                  <a:srgbClr val="1F2A37"/>
                </a:solidFill>
                <a:latin typeface="Calibri" pitchFamily="34" charset="0"/>
                <a:cs typeface="Amiri" pitchFamily="2" charset="-78"/>
              </a:rPr>
              <a:t> after </a:t>
            </a:r>
            <a:pPr algn="l" indent="0" marL="0">
              <a:buNone/>
            </a:pPr>
            <a:r>
              <a:rPr lang="ar-SA" altLang="en-US" sz="1700" dirty="0">
                <a:solidFill>
                  <a:srgbClr val="1F2A37"/>
                </a:solidFill>
                <a:latin typeface="Amiri" pitchFamily="2" charset="-78"/>
                <a:ea typeface="Amiri" pitchFamily="2" charset="-78"/>
                <a:cs typeface="Amiri" pitchFamily="2" charset="-78"/>
              </a:rPr>
              <a:t>أَسْتَمِعُ</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أُفَضِّلُ … عَلَى</a:t>
            </a:r>
            <a:pPr algn="l" indent="0" marL="0">
              <a:buNone/>
            </a:pPr>
            <a:r>
              <a:rPr lang="en-US" sz="1300" dirty="0">
                <a:solidFill>
                  <a:srgbClr val="1F2A37"/>
                </a:solidFill>
                <a:latin typeface="Calibri" pitchFamily="34" charset="0"/>
                <a:cs typeface="Amiri" pitchFamily="2" charset="-78"/>
              </a:rPr>
              <a:t> with a reason.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all three preference structures.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collocation.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يُمَارِسُ تَسَلُّقَ الجِبَالِ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يَلْعَبُ تَسَلُّقَ الجِبَالِ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يَعْزِفُ تَسَلُّقَ الجِبَالِ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frequency phrase.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مَرَّتَانِ فِي الشَّهْرِ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 فِي الشَّهْرِ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 فِي الشَّهْرِ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preposition: </a:t>
            </a:r>
            <a:pPr algn="l" indent="0" marL="0">
              <a:buNone/>
            </a:pPr>
            <a:r>
              <a:rPr lang="ar-SA" altLang="en-US" sz="1650" b="1" dirty="0">
                <a:solidFill>
                  <a:srgbClr val="1B3B6F"/>
                </a:solidFill>
                <a:latin typeface="Amiri" pitchFamily="2" charset="-78"/>
                <a:ea typeface="Amiri" pitchFamily="2" charset="-78"/>
                <a:cs typeface="Amiri" pitchFamily="2" charset="-78"/>
              </a:rPr>
              <a:t>أَسْتَمِعُ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المُوسِيقَى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collocation.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يُمَارِسُ تَسَلُّقَ الجِبَالِ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يَلْعَبُ تَسَلُّقَ الجِبَالِ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يَعْزِفُ تَسَلُّقَ الجِبَالِ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Mountain climbing is a sustained activity, so it takes </a:t>
            </a:r>
            <a:pPr algn="l" indent="0" marL="0">
              <a:buNone/>
            </a:pPr>
            <a:r>
              <a:rPr lang="ar-SA" altLang="en-US" sz="1350" dirty="0">
                <a:solidFill>
                  <a:srgbClr val="8A6D1E"/>
                </a:solidFill>
                <a:latin typeface="Amiri" pitchFamily="2" charset="-78"/>
                <a:ea typeface="Amiri" pitchFamily="2" charset="-78"/>
                <a:cs typeface="Amiri" pitchFamily="2" charset="-78"/>
              </a:rPr>
              <a:t>يُمَارِسُ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frequency phrase.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مَرَّتَانِ فِي الشَّهْرِ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مَرَّتَيْنِ فِي الشَّهْرِ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مَرَّتَيْنَ فِي الشَّهْرِ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 in an adverbial accusative is </a:t>
            </a:r>
            <a:pPr algn="l" indent="0" marL="0">
              <a:buNone/>
            </a:pPr>
            <a:r>
              <a:rPr lang="ar-SA" altLang="en-US" sz="1350" dirty="0">
                <a:solidFill>
                  <a:srgbClr val="8A6D1E"/>
                </a:solidFill>
                <a:latin typeface="Amiri" pitchFamily="2" charset="-78"/>
                <a:ea typeface="Amiri" pitchFamily="2" charset="-78"/>
                <a:cs typeface="Amiri" pitchFamily="2" charset="-78"/>
              </a:rPr>
              <a:t>مَرَّتَيْنِ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preposition: </a:t>
            </a:r>
            <a:pPr algn="l" indent="0" marL="0">
              <a:buNone/>
            </a:pPr>
            <a:r>
              <a:rPr lang="ar-SA" altLang="en-US" sz="1650" b="1" dirty="0">
                <a:solidFill>
                  <a:srgbClr val="1B3B6F"/>
                </a:solidFill>
                <a:latin typeface="Amiri" pitchFamily="2" charset="-78"/>
                <a:ea typeface="Amiri" pitchFamily="2" charset="-78"/>
                <a:cs typeface="Amiri" pitchFamily="2" charset="-78"/>
              </a:rPr>
              <a:t>أَسْتَمِعُ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المُوسِيقَى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يَسْتَمِعُ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free-time profile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وَقْتِ فَرَاغِي أُمَارِسُ رِيَاضَةَ اليُوغَا مَرَّةً فِي الأُسْبُوعِ، وَأَرْكَبُ الدَّرَّاجَةَ مَعَ أَصْدِقَائِي فِي نِهَايَةِ الأُسْبُوعِ. وَأَنَا أُفَضِّلُ الأَنْشِطَةَ الهَادِئَةَ عَلَى الأَلْعَابِ السَّرِيعَةِ، لِأَنَّنِي أَسْتَمْتِعُ بِالقِرَاءَةِ وَالرَّسْمِ أَكْثَرَ مِنَ المُبَارَيَاتِ. وَمَعَ ذٰلِكَ أُشَاهِدُ مُبَارَاةَ كُرَةِ القَدَمِ أَحْيَانًا مَعَ أَبِي، وَنَتَنَاقَشُ فِيهَا طَوِيلًا. أَمَّا هِوَايَتِي المُفَضَّلَةُ فَهِيَ الغِنَاءُ، وَأَهْوَاهُ حَقًّا لِأَنَّهُ يَجْعَلُنِي سَعِيدَةً.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رِيَاضَةَ اليُوغَا</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yoga</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أَرْكَبُ الدَّرَّاجَةَ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ride a bike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نِهَايَةِ الأُسْبُوعِ</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weekend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الأَنْشِطَةَ الهَادِئَةَ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quiet activities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الأَلْعَابِ السَّرِيعَةِ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fast games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المُبَارَيَاتِ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matches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أَحْيَانًا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sometimes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نَتَنَاقَشُ</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discuss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الغِنَاءُ</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singing</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يَجْعَلُنِي سَعِيدَةً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makes me happy (f.)</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writer do yoga?</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prefer?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 games to quiet activities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Team sport to reading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activities to fast games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do with her father?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Watches a football match</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Cycles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Sings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her favourite hobby?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Yoga</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Singing</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Drawing</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love it?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makes her happy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free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friends do it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writer do yoga?</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Twice a week</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Once a week</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مَرَّةً فِي الأُسْبُوعِ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prefer?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Fast games to quiet activities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Team sport to reading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Quiet activities to fast games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أُفَضِّلُ الأَنْشِطَةَ الهَادِئَةَ عَلَى الأَلْعَابِ السَّرِيعَةِ.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do with her father?</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Watches a football match</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Cycles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Sings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أُشَاهِدُ مُبَارَاةَ كُرَةِ القَدَمِ أَحْيَانًا مَعَ أَبِي.</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her favourite hobby?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Yoga</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Singing</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Drawing</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هِوَايَتِي المُفَضَّلَةُ فَهِيَ الغِنَاءُ.</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love it?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makes her happy</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free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friends do it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 يَجْعَلُنِي سَعِيدَةً.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Free-Time Mission — Collocation, Frequency and Preference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football collocation accurately?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أُمَارِسُ كُرَةَ القَدَمِ فِي المَلْعَبِ.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أَلْعَبُ كُرَةَ القَدَمِ فِي المَلْعَبِ.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أَعْزِفُ عَلَى كُرَةِ القَدَمِ.</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instrument collocation accurately?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تَعْزِفُ عَلَى الكَمَانِ بِمَهَارَةٍ.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تَعْزِفُ الكَمَانَ بِمَهَارَةٍ.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تُمَارِسُ عَلَى الكَمَانِ بِمَهَارَةٍ.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frequency phrase is accurate for “twice a week”?</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مَرَّتَانِ فِي الأُسْبُوعِ</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 فِي الأُسْبُوعُ</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 فِي الأُسْبُوعِ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ranks two hobbies accurately?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الغِنَاءَ مِنَ الرَّسْمِ.</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الغِنَاءُ عَلَى الرَّسْمَ.</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الغِنَاءَ عَلَى الرَّسْمِ.</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t>
            </a:r>
            <a:pPr algn="l" indent="0" marL="0">
              <a:buNone/>
            </a:pPr>
            <a:r>
              <a:rPr lang="ar-SA" altLang="en-US" sz="1650" b="1" dirty="0">
                <a:solidFill>
                  <a:srgbClr val="1B3B6F"/>
                </a:solidFill>
                <a:latin typeface="Amiri" pitchFamily="2" charset="-78"/>
                <a:ea typeface="Amiri" pitchFamily="2" charset="-78"/>
                <a:cs typeface="Amiri" pitchFamily="2" charset="-78"/>
              </a:rPr>
              <a:t>أَسْتَمْتِعُ</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أَسْتَمْتِعُ بِرُكُوبِ الدَّرَّاجَةِ.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أَسْتَمْتِعُ رُكُوبَ الدَّرَّاجَةِ.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أَسْتَمْتِعُ عَلَى رُكُوبِ الدَّرَّاجَةِ.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gives an activity, a frequency and a reason?</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أُمَارِسُ اليُوغَا لِأَنَّهَا.</a:t>
            </a:r>
            <a:endParaRPr lang="ar-SA" sz="140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أُمَارِسُ اليُوغَا مَرَّةً فِي الأُسْبُوعِ لِأَنَّهَا تُرِيحُنِي.</a:t>
            </a:r>
            <a:endParaRPr lang="ar-SA" sz="140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اليُوغَا مَرَّةً أُمَارِسُ.</a:t>
            </a:r>
            <a:endParaRPr lang="ar-SA" sz="1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football collocation accurately?</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أُمَارِسُ كُرَةَ القَدَمِ فِي المَلْعَبِ.</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أَلْعَبُ كُرَةَ القَدَمِ فِي المَلْعَبِ.</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أَعْزِفُ عَلَى كُرَةِ القَدَمِ.</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Ball games take </a:t>
            </a:r>
            <a:pPr algn="l" indent="0" marL="0">
              <a:buNone/>
            </a:pPr>
            <a:r>
              <a:rPr lang="ar-SA" altLang="en-US" sz="1350" dirty="0">
                <a:solidFill>
                  <a:srgbClr val="8A6D1E"/>
                </a:solidFill>
                <a:latin typeface="Amiri" pitchFamily="2" charset="-78"/>
                <a:ea typeface="Amiri" pitchFamily="2" charset="-78"/>
                <a:cs typeface="Amiri" pitchFamily="2" charset="-78"/>
              </a:rPr>
              <a:t>يَلْعَبُ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instrument collocation accurately?</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تَعْزِفُ عَلَى الكَمَانِ بِمَهَارَةٍ.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تَعْزِفُ الكَمَانَ بِمَهَارَةٍ.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تُمَارِسُ عَلَى الكَمَانِ بِمَهَارَةٍ.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يَعْزِفُ</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and the instrument is genitive.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frequency phrase is accurate for “twice a week”?</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مَرَّتَانِ فِي الأُسْبُوعِ</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مَرَّتَيْنِ فِي الأُسْبُوعُ</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مَرَّتَيْنِ فِي الأُسْبُوعِ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 is </a:t>
            </a:r>
            <a:pPr algn="l" indent="0" marL="0">
              <a:buNone/>
            </a:pPr>
            <a:r>
              <a:rPr lang="ar-SA" altLang="en-US" sz="1350" dirty="0">
                <a:solidFill>
                  <a:srgbClr val="8A6D1E"/>
                </a:solidFill>
                <a:latin typeface="Amiri" pitchFamily="2" charset="-78"/>
                <a:ea typeface="Amiri" pitchFamily="2" charset="-78"/>
                <a:cs typeface="Amiri" pitchFamily="2" charset="-78"/>
              </a:rPr>
              <a:t>مَرَّتَيْنِ</a:t>
            </a:r>
            <a:pPr algn="l" indent="0" marL="0">
              <a:buNone/>
            </a:pPr>
            <a:r>
              <a:rPr lang="en-US" sz="1050" i="1" dirty="0">
                <a:solidFill>
                  <a:srgbClr val="8A6D1E"/>
                </a:solidFill>
                <a:latin typeface="Calibri" pitchFamily="34" charset="0"/>
                <a:cs typeface="Amiri" pitchFamily="2" charset="-78"/>
              </a:rPr>
              <a:t> and the noun after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is genitive.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ranks two hobbies accurately?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الغِنَاءَ مِنَ الرَّسْمِ.</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الغِنَاءُ عَلَى الرَّسْمَ.</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أُفَضِّلُ الغِنَاءَ عَلَى الرَّسْمِ.</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أُفَضِّلُ</a:t>
            </a:r>
            <a:pPr algn="l" indent="0" marL="0">
              <a:buNone/>
            </a:pPr>
            <a:r>
              <a:rPr lang="en-US" sz="1050" i="1" dirty="0">
                <a:solidFill>
                  <a:srgbClr val="8A6D1E"/>
                </a:solidFill>
                <a:latin typeface="Calibri" pitchFamily="34" charset="0"/>
                <a:cs typeface="Amiri" pitchFamily="2" charset="-78"/>
              </a:rPr>
              <a:t> takes an accusative object and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with the genitive.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t>
            </a:r>
            <a:pPr algn="l" indent="0" marL="0">
              <a:buNone/>
            </a:pPr>
            <a:r>
              <a:rPr lang="ar-SA" altLang="en-US" sz="1650" b="1" dirty="0">
                <a:solidFill>
                  <a:srgbClr val="1B3B6F"/>
                </a:solidFill>
                <a:latin typeface="Amiri" pitchFamily="2" charset="-78"/>
                <a:ea typeface="Amiri" pitchFamily="2" charset="-78"/>
                <a:cs typeface="Amiri" pitchFamily="2" charset="-78"/>
              </a:rPr>
              <a:t>أَسْتَمْتِعُ</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أَسْتَمْتِعُ بِرُكُوبِ الدَّرَّاجَةِ.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أَسْتَمْتِعُ رُكُوبَ الدَّرَّاجَةِ.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أَسْتَمْتِعُ عَلَى رُكُوبِ الدَّرَّاجَةِ.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أَسْتَمْتِعُ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gives an activity, a frequency and a reason?</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أُمَارِسُ اليُوغَا لِأَنَّهَا.</a:t>
            </a:r>
            <a:endParaRPr lang="ar-SA" sz="14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أُمَارِسُ اليُوغَا مَرَّةً فِي الأُسْبُوعِ لِأَنَّهَا تُرِيحُنِي.</a:t>
            </a:r>
            <a:endParaRPr lang="ar-SA" sz="14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اليُوغَا مَرَّةً أُمَارِسُ.</a:t>
            </a:r>
            <a:endParaRPr lang="ar-SA" sz="14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accurate answer names the activity, states how often and gives a reason.</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D5-L02 · Sport — Vocabulary, Famous Athletes and Cultural Context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فَرِيقٌ</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team</a:t>
            </a:r>
            <a:pPr indent="0" marL="0">
              <a:buNone/>
            </a:pPr>
            <a:r>
              <a:rPr lang="ar-SA" sz="1000" i="1" dirty="0">
                <a:solidFill>
                  <a:srgbClr val="5A6472"/>
                </a:solidFill>
                <a:latin typeface="Calibri" pitchFamily="34" charset="0"/>
                <a:ea typeface="Amiri" pitchFamily="2" charset="-78"/>
                <a:cs typeface="Amiri" pitchFamily="2" charset="-78"/>
              </a:rPr>
              <a:t>  pl. فِرَقٌ</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مُبَارَاةٌ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match</a:t>
            </a:r>
            <a:pPr indent="0" marL="0">
              <a:buNone/>
            </a:pPr>
            <a:r>
              <a:rPr lang="ar-SA" sz="1000" i="1" dirty="0">
                <a:solidFill>
                  <a:srgbClr val="5A6472"/>
                </a:solidFill>
                <a:latin typeface="Calibri" pitchFamily="34" charset="0"/>
                <a:ea typeface="Amiri" pitchFamily="2" charset="-78"/>
                <a:cs typeface="Amiri" pitchFamily="2" charset="-78"/>
              </a:rPr>
              <a:t>  pl. مُبَارَيَاتٌ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بُطُولَةٌ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championship</a:t>
            </a:r>
            <a:pPr indent="0" marL="0">
              <a:buNone/>
            </a:pPr>
            <a:r>
              <a:rPr lang="ar-SA" sz="1000" i="1" dirty="0">
                <a:solidFill>
                  <a:srgbClr val="5A6472"/>
                </a:solidFill>
                <a:latin typeface="Calibri" pitchFamily="34" charset="0"/>
                <a:ea typeface="Amiri" pitchFamily="2" charset="-78"/>
                <a:cs typeface="Amiri" pitchFamily="2" charset="-78"/>
              </a:rPr>
              <a:t>  pl. بُطُولَاتٌ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فَازَ بِـ</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won (a prize)</a:t>
            </a:r>
            <a:pPr indent="0" marL="0">
              <a:buNone/>
            </a:pPr>
            <a:r>
              <a:rPr lang="ar-SA" sz="1000" i="1" dirty="0">
                <a:solidFill>
                  <a:srgbClr val="5A6472"/>
                </a:solidFill>
                <a:latin typeface="Calibri" pitchFamily="34" charset="0"/>
                <a:ea typeface="Amiri" pitchFamily="2" charset="-78"/>
                <a:cs typeface="Amiri" pitchFamily="2" charset="-78"/>
              </a:rPr>
              <a:t>  فَازَتْ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لَاعِبٌ / لَاعِبَةٌ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player (m / f)</a:t>
            </a:r>
            <a:pPr indent="0" marL="0">
              <a:buNone/>
            </a:pPr>
            <a:r>
              <a:rPr lang="ar-SA" sz="1000" i="1" dirty="0">
                <a:solidFill>
                  <a:srgbClr val="5A6472"/>
                </a:solidFill>
                <a:latin typeface="Calibri" pitchFamily="34" charset="0"/>
                <a:ea typeface="Amiri" pitchFamily="2" charset="-78"/>
                <a:cs typeface="Amiri" pitchFamily="2" charset="-78"/>
              </a:rPr>
              <a:t>  pl. لَاعِبُونَ</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sport do you like to watch or play, and who is your favourite player?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أُحِبُّ … وَلَاعِبِي المُفَضَّلُ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12 core hobbies with their verbs; write six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An 8-sentence paragraph with four verb families and </a:t>
            </a:r>
            <a:pPr algn="l" indent="0" marL="0">
              <a:buNone/>
            </a:pPr>
            <a:r>
              <a:rPr lang="ar-SA" altLang="en-US" sz="1550" dirty="0">
                <a:solidFill>
                  <a:srgbClr val="1F2A37"/>
                </a:solidFill>
                <a:latin typeface="Amiri" pitchFamily="2" charset="-78"/>
                <a:ea typeface="Amiri" pitchFamily="2" charset="-78"/>
                <a:cs typeface="Amiri" pitchFamily="2" charset="-78"/>
              </a:rPr>
              <a:t>أُفَضِّلُ … عَلَى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 sentences, all three preference structures and a reason.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D5-L02 · Sport — Vocabulary, Famous Athletes and Cultural Context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الرِّيَاضَةُ وَالرِّيَاضِيُّونَ المَشْهُورُونَ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whole collocation — </a:t>
            </a:r>
            <a:pPr algn="l" indent="0" marL="0">
              <a:buNone/>
            </a:pPr>
            <a:r>
              <a:rPr lang="ar-SA" altLang="en-US" sz="1700" b="1" dirty="0">
                <a:solidFill>
                  <a:srgbClr val="FFFFFF"/>
                </a:solidFill>
                <a:latin typeface="Amiri" pitchFamily="2" charset="-78"/>
                <a:ea typeface="Amiri" pitchFamily="2" charset="-78"/>
                <a:cs typeface="Amiri" pitchFamily="2" charset="-78"/>
              </a:rPr>
              <a:t>أَلْعَبُ</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أُمَارِسُ</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أَعْزِفُ عَلَى</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أَسْتَمِعُ إِلَى</a:t>
            </a:r>
            <a:pPr algn="l" indent="0" marL="0">
              <a:buNone/>
            </a:pPr>
            <a:r>
              <a:rPr lang="en-US" sz="1300" b="1" dirty="0">
                <a:solidFill>
                  <a:srgbClr val="FFFFFF"/>
                </a:solidFill>
                <a:latin typeface="Calibri" pitchFamily="34" charset="0"/>
                <a:cs typeface="Amiri" pitchFamily="2" charset="-78"/>
              </a:rPr>
              <a:t> — then add how often and what you prefer.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D5-L01 · Hobbies and Free Time — Vocabulary and Present Habits</dc:title>
  <dc:subject>PptxGenJS Presentation</dc:subject>
  <dc:creator>Al Madina Online School · Arabic Department</dc:creator>
  <cp:lastModifiedBy>Al Madina Online School · Arabic Department</cp:lastModifiedBy>
  <cp:revision>1</cp:revision>
  <dcterms:created xsi:type="dcterms:W3CDTF">2026-10-11T06:40:57Z</dcterms:created>
  <dcterms:modified xsi:type="dcterms:W3CDTF">2026-10-11T06:40:57Z</dcterms:modified>
</cp:coreProperties>
</file>