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D5 Hobbies, Sport and Leisure › D5-L01. The website lesson “Hobbies and Free Time — Vocabulary and Present Habits”: vocabulary, grammar rules and quiz, patterns, common mistakes, sorter, listening, reading, speaking prompts and model, writing task and model, differentiation, final check and the lesson mission. Picture match: website visual game “Hobbies and Free Time — Vocabulary and Present Habits”.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NEW UNIT (D5 · Hobbies, Sport and Leisure). Core: 12 hobbies with their verb + one frequency phrase (أَلْعَبُ كُرَةَ القَدَمِ مَرَّةً فِي الأُسْبُوعِ). Develop: all four verb families + the dual مَرَّتَيْنِ + أُفَضِّلُ … عَلَى. Stretch: all three preference structures, a reason with لِأَنَّ and a contrast (أَمَّا … فَـ).
• The key idea: learn the WHOLE collocation (verb + preposition + noun), never the verb alone — English “play” is three different Arabic verbs.
• Grammar links: the dual (F3), numbers 3–10 + genitive plural (F2 / F4), لِأَنَّ + pronoun (D1).
• TEACHER-WRITTEN ITEMS: three quiz distractors replaced (they differed only in vowel endings) and English added to the model sentences.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home at the end of D4-L12. Questions 4–5 retrieve the dual and numbers 3–10 + plural, needed for frequency today.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English “play” is THREE Arabic verbs: learn the verb, its preposition and its noun as one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موسیقی، شطرنج، فراغت are shared. CAREFUL: Urdu ریاضت = spiritual discipline / practice; Arabic رِيَاضَةٌ = sport (and also mathematics in رِيَاضِيَّاتٌ). Urdu تصویر = a picture; Arabic تَصْوِيرٌ = photography (a picture is صُورَةٌ).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Hobbies and activities (website vocabulary (1 of 4)). Hear → Say → See → Use. Transliteration is printed for Core students (cover it for Develop/Stretch).
Hobbies and activities. Cards show “he” on the front and I / she where it helps. Many hobbies are verbal nouns (السِّبَاحَةُ swimming · الرَّسْمُ drawing): learn the noun AND the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Hobbies and activities (website vocabulary (2 of 4)). Hear → Say → See → Use. Transliteration is printed for Core students (cover it for Develop/Stretch).
Hobbies and activities. Cards show “he” on the front and I / she where it helps. Many hobbies are verbal nouns (السِّبَاحَةُ swimming · الرَّسْمُ drawing): learn the noun AND the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Hobbies and activities (website vocabulary (3 of 4)). Hear → Say → See → Use. Transliteration is printed for Core students (cover it for Develop/Stretch).
Hobbies and activities. Cards show “he” on the front and I / she where it helps. Many hobbies are verbal nouns (السِّبَاحَةُ swimming · الرَّسْمُ drawing): learn the noun AND the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Hobbies and activities (website vocabulary (4 of 4)). Hear → Say → See → Use. Transliteration is printed for Core students (cover it for Develop/Stretch).
Hobbies and activities. Cards show “he” on the front and I / she where it helps. Many hobbies are verbal nouns (السِّبَاحَةُ swimming · الرَّسْمُ drawing): learn the noun AND the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often (website vocabulary). Hear → Say → See → Use. Transliteration is printed for Core students (cover it for Develop/Stretch).
How often: مَرَّةً (once) is accusative · مَرَّتَيْنِ (twice) is the dual · ثَلَاثَ مَرَّاتٍ (three times) — 3–10 + genitive plural.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Saying what you prefer (website vocabulary). Hear → Say → See → Use. Transliteration is printed for Core students (cover it for Develop/Stretch).
Saying what you prefer: the thing you like LESS comes after عَلَى (أُفَضِّلُ الرَّسْمَ عَلَى التَّصْوِيرِ = I prefer drawing to photography).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“يَلْعَبُ with ball games”, “يُمَارِسُ with an activity noun” and “يَعْزِفُ عَلَى with an instrument” (the Cambridge list also records العَزْفُ بِـ — recognise both). Website teaching point: “Learn the whole collocation, not the single verb.”
Website mistakes: أَلْعَبُ السِّبَاحَةَ ✗ → أُمَارِسُ السِّبَاحَةَ · أَعْزِفُ البِيَانُو ✗ → أَعْزِفُ عَلَى البِيَانُو.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 “Frequency after a number” (مَرَّةً is adverbial and accusative; مَرَّتَيْنِ is the dual; from three to ten the counted noun becomes a genitive plural) and the website preference structures (vocabulary group 3).
Agreement in card 3: تَسَلُّقٌ is masculine, so لِأَنَّهُ … مُمْتِعٌ; for السِّبَاحَةُ: لِأَنَّهَا مُمْتِعَةٌ (website quiz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“Three systems carry this lesson: choosing the right verb for the activity, saying how often, and ranking two activities against each other. Study each in context and compare an accurate sentence with a plausible but wrong one.”
• يَلْعَبُ with ball games: يَلْعَبُ is used for games played with a ball or a board. The noun that follows is the direct object and therefore accusative.
• يُمَارِسُ with an activity noun: يُمَارِسُ suits a sustained activity or discipline rather than a game. The activity noun that follows is accusative.
• يَعْزِفُ عَلَى with an instrument: The preposition عَلَى is fixed with يَعْزِفُ, and the instrument after it is genitive. The Cambridge list also records the verbal noun form العَزْفُ بِـ, so recognise both.
• Frequency after a number: مَرَّةً is adverbial and accusative. مَرَّتَيْنِ is the dual. From three to ten the counted noun becomes a genitive plural: ثَلَاثَ مَرَّاتٍ.
Website common error: Do not choose a sentence only because it contains the right hobby word. Check that the verb matches the kind of activity, that the preposition is the fixed one, and that the ending on the noun follows from its role.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with the website writing model: “Ball game? Activity? Instrument? Which verb? Which ending?” Then the first half of the website model in the copy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Hobbies and Free Time — Vocabulary and Present Habits”)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upgrade each sentence with a verb + frequency: أَقْرَأُ مَرَّةً فِي الأُسْبُوعِ · أَرْسُمُ يَوْمِيًّا · أُمَارِسُ السِّبَاحَةَ مَرَّتَيْنِ فِي الأُسْبُوعِ. Other website cards: أَلْعَبُ أَلْعَابَ الفِيدْيُو · أَسْتَمِعُ إِلَى المُوسِيقَى · أُحِبُّ المَشْيَ فِي الحَدِيقَةِ.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Hobbies and Free Time — Vocabulary and Present Habits”)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upgrade each sentence with a verb + frequency: أَقْرَأُ مَرَّةً فِي الأُسْبُوعِ · أَرْسُمُ يَوْمِيًّا · أُمَارِسُ السِّبَاحَةَ مَرَّتَيْنِ فِي الأُسْبُوعِ. Other website cards: أَلْعَبُ أَلْعَابَ الفِيدْيُو · أَسْتَمِعُ إِلَى المُوسِيقَى · أُحِبُّ المَشْيَ فِي الحَدِيقَةِ.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make one sentence for each column with a frequency: أَلْعَبُ الشِّطْرَنْجَ مَرَّةً فِي الأُسْبُوعِ.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make one sentence for each column with a frequency: أَلْعَبُ الشِّطْرَنْجَ مَرَّةً فِي الأُسْبُوعِ.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3 and 5. Develop / Stretch: all 5 — then say one preference for each person.
Listen 1: just listen. Listen 2: note answers. Then chat the letters.
Support: after the second listening, show the read-along slide (Arabic + English, line by line) for Core students.
SCRIPT (read aloud):
أَنَا سَلْمَى، وَأُمَارِسُ السِّبَاحَةَ مَرَّتَيْنِ فِي الأُسْبُوعِ لِأَنَّهَا تُرِيحُنِي بَعْدَ الدِّرَاسَةِ. وَفِي وَقْتِ فَرَاغِي أَقْرَأُ الرِّوَايَاتِ. أَمَّا أَخِي يُوسُفُ فَيَعْزِفُ عَلَى العُودِ يَوْمِيًّا، وَيَقُولُ إِنَّهُ يُفَضِّلُ المُوسِيقَى عَلَى الرِّيَاضَةِ. وَصَدِيقَتِي لَيْلَى تَلْعَبُ كُرَةَ السَّلَّةِ ثَلَاثَ مَرَّاتٍ فِي الشَّهْرِ فَقَطْ، لٰكِنَّهَا تَهْوَى التَّصْوِيرَ الفُوتُوغْرَافِيَّ حَقًّا.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وَهَلْ تُفَضِّلِينَهَا عَلَى القِرَاءَةِ؟ (Follow-up)
B: نَعَمْ، أُفَضِّلُ السِّبَاحَةَ عَلَى القِرَاءَةِ لِأَنَّهَا تُرِيحُنِي بَعْدَ الدِّرَاسَةِ. (Preference with a reason)
Website prompts and model (a four-line exchange: question → activity + frequency → follow-up → preference + reason). Website task: “my hobby in thirty seconds”. To a girl: هِوَايَتُكِ · تُمَارِسِينَهَا · تُفَضِّلِينَ.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Use the vocabulary vault and the sentence frames to produce six accurate sentences with one collocation and one frequency phrase each. · Develop — Link your sentences into a paragraph, adding a preference structure and a reason with لِأَنَّ. · Stretch — Compare two hobbies in one sentence, qualify your view with مَعَ ذٰلِكَ or أَمَّا … فَـ, and keep every case ending accurate.
Website writing task (Stretch): Write eight sentences about your hobbies. Use five different collocation verbs, four different frequency expressions and all three preference structures. Give a reason with لِأَنَّ for your favourite hobby.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أُمَارِسُ السِّبَاحَةَ · أَلْعَبُ كُرَةَ السَّلَّةِ · أَعْزِفُ عَلَى العُودِ · مَرَّتَيْنِ / مَرَّةً فِي الأُسْبُوعِ · يَوْمِيًّا · أُفَضِّلُ … عَلَى · أَسْتَمْتِعُ بِـ … أَكْثَرَ مِنْ · أَهْوَاهُ حَقًّا لِأَنَّهُ … (الرَّسْمُ is masculine).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(D5-L02 · Sport — Vocabulary, Famous Athletes and Cultural Context) will spend class time USING this language, so students prepare it tonight — short, simple, easy to access (school guidance: “Simple, Short, Interesting, Relevant, Easy to access”). The five words come from the website D5-L02 vocabulary (sport: matches and results).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D5  ·  D5-L01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D5-L01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Hobbies and Free Time — Vocabulary and Present Habits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الهِوَايَاتُ وَوَقْتُ الفَرَاغِ</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Name hobbies with the RIGHT verb (</a:t>
            </a:r>
            <a:pPr algn="l" indent="0" marL="0">
              <a:buNone/>
            </a:pPr>
            <a:r>
              <a:rPr lang="ar-SA" altLang="en-US" sz="1800" dirty="0">
                <a:solidFill>
                  <a:srgbClr val="C6D2E6"/>
                </a:solidFill>
                <a:latin typeface="Amiri" pitchFamily="2" charset="-78"/>
                <a:ea typeface="Amiri" pitchFamily="2" charset="-78"/>
                <a:cs typeface="Amiri" pitchFamily="2" charset="-78"/>
              </a:rPr>
              <a:t>يَلْعَبُ</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يُمَارِسُ</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يَعْزِفُ عَلَى</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يَسْتَمِعُ إِلَى</a:t>
            </a:r>
            <a:pPr algn="l" indent="0" marL="0">
              <a:buNone/>
            </a:pPr>
            <a:r>
              <a:rPr lang="en-US" sz="1400" dirty="0">
                <a:solidFill>
                  <a:srgbClr val="C6D2E6"/>
                </a:solidFill>
                <a:latin typeface="Calibri" pitchFamily="34" charset="0"/>
                <a:cs typeface="Amiri" pitchFamily="2" charset="-78"/>
              </a:rPr>
              <a:t>), say how often (</a:t>
            </a:r>
            <a:pPr algn="l" indent="0" marL="0">
              <a:buNone/>
            </a:pPr>
            <a:r>
              <a:rPr lang="ar-SA" altLang="en-US" sz="1800" dirty="0">
                <a:solidFill>
                  <a:srgbClr val="C6D2E6"/>
                </a:solidFill>
                <a:latin typeface="Amiri" pitchFamily="2" charset="-78"/>
                <a:ea typeface="Amiri" pitchFamily="2" charset="-78"/>
                <a:cs typeface="Amiri" pitchFamily="2" charset="-78"/>
              </a:rPr>
              <a:t>مَرَّةً</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مَرَّتَيْنِ</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ثَلَاثَ مَرَّاتٍ</a:t>
            </a:r>
            <a:pPr algn="l" indent="0" marL="0">
              <a:buNone/>
            </a:pPr>
            <a:r>
              <a:rPr lang="en-US" sz="1400" dirty="0">
                <a:solidFill>
                  <a:srgbClr val="C6D2E6"/>
                </a:solidFill>
                <a:latin typeface="Calibri" pitchFamily="34" charset="0"/>
                <a:cs typeface="Amiri" pitchFamily="2" charset="-78"/>
              </a:rPr>
              <a:t>) and say what you prefer and why.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D5-L01 · Development D5 · Hobbies, Sport and Leisure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D5 › D5-L01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Four verb families, frequency and three ways to prefer.</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hobbies by verb, fix collocation slips, then three students’ free time.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D5-L02.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هِوَايَةٌ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free time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hobby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sport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مَرَّتَيْنِ فِي الأُسْبُوعِ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twice a week</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once a week</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day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يَعْزِفُ عَلَى</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practises sport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listens to</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plays (an instrument)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dual of </a:t>
            </a:r>
            <a:pPr algn="l" indent="0" marL="0">
              <a:buNone/>
            </a:pPr>
            <a:r>
              <a:rPr lang="ar-SA" altLang="en-US" sz="1650" b="1" dirty="0">
                <a:solidFill>
                  <a:srgbClr val="1B3B6F"/>
                </a:solidFill>
                <a:latin typeface="Amiri" pitchFamily="2" charset="-78"/>
                <a:ea typeface="Amiri" pitchFamily="2" charset="-78"/>
                <a:cs typeface="Amiri" pitchFamily="2" charset="-78"/>
              </a:rPr>
              <a:t>يَوْمٌ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أَيَّامٌ</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يَوْمِيٌّ</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يَوْمَانِ</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ثَلَاثَةُ</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أَيَّامٍ</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يَوْمٌ</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يَوْمَانِ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هِوَايَةٌ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free time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hobby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sport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(D4-L12).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مَرَّتَيْنِ فِي الأُسْبُوعِ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twice a week</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once a week</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day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(D4-L12).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يَعْزِفُ عَلَى</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practises sport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listens to</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plays (an instrument)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(D4-L12).</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dual of </a:t>
            </a:r>
            <a:pPr algn="l" indent="0" marL="0">
              <a:buNone/>
            </a:pPr>
            <a:r>
              <a:rPr lang="ar-SA" altLang="en-US" sz="1650" b="1" dirty="0">
                <a:solidFill>
                  <a:srgbClr val="1B3B6F"/>
                </a:solidFill>
                <a:latin typeface="Amiri" pitchFamily="2" charset="-78"/>
                <a:ea typeface="Amiri" pitchFamily="2" charset="-78"/>
                <a:cs typeface="Amiri" pitchFamily="2" charset="-78"/>
              </a:rPr>
              <a:t>يَوْمٌ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أَيَّامٌ</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يَوْمِيٌّ</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يَوْمَانِ</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F3: the dual.</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ثَلَاثَةُ</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أَيَّامٍ</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يَوْمٌ</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يَوْمَانِ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Numbers 3–10 + genitive plural.</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English “play” is THREE Arabic verbs: learn the verb, its preposition and its noun as one unit.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أَلْعَبُ</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كُرَةَ القَدَمِ ·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أُمَارِسُ</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السِّبَاحَةَ ·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أَعْزِفُ عَلَى</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العُودِ</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at least 18 hobbies with the correct verb collocation.</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Say how often with </a:t>
            </a:r>
            <a:pPr algn="l" indent="0" marL="0">
              <a:buNone/>
            </a:pPr>
            <a:r>
              <a:rPr lang="ar-SA" altLang="en-US" sz="1700" dirty="0">
                <a:solidFill>
                  <a:srgbClr val="1F2A37"/>
                </a:solidFill>
                <a:latin typeface="Amiri" pitchFamily="2" charset="-78"/>
                <a:ea typeface="Amiri" pitchFamily="2" charset="-78"/>
                <a:cs typeface="Amiri" pitchFamily="2" charset="-78"/>
              </a:rPr>
              <a:t>مَرَّةً / مَرَّتَيْنِ / ثَلَاثَ مَرَّاتٍ</a:t>
            </a:r>
            <a:pPr algn="l" indent="0" marL="0">
              <a:buNone/>
            </a:pPr>
            <a:r>
              <a:rPr lang="en-US" sz="1300" dirty="0">
                <a:solidFill>
                  <a:srgbClr val="1F2A37"/>
                </a:solidFill>
                <a:latin typeface="Calibri" pitchFamily="34" charset="0"/>
                <a:cs typeface="Amiri" pitchFamily="2" charset="-78"/>
              </a:rPr>
              <a:t> + a period.</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Express preference with </a:t>
            </a:r>
            <a:pPr algn="l" indent="0" marL="0">
              <a:buNone/>
            </a:pPr>
            <a:r>
              <a:rPr lang="ar-SA" altLang="en-US" sz="1700" dirty="0">
                <a:solidFill>
                  <a:srgbClr val="1F2A37"/>
                </a:solidFill>
                <a:latin typeface="Amiri" pitchFamily="2" charset="-78"/>
                <a:ea typeface="Amiri" pitchFamily="2" charset="-78"/>
                <a:cs typeface="Amiri" pitchFamily="2" charset="-78"/>
              </a:rPr>
              <a:t>أُفَضِّلُ … عَلَى</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ea typeface="Amiri" pitchFamily="2" charset="-78"/>
                <a:cs typeface="Amiri" pitchFamily="2" charset="-78"/>
              </a:rPr>
              <a:t>أَسْتَمْتِعُ بِـ</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ea typeface="Amiri" pitchFamily="2" charset="-78"/>
                <a:cs typeface="Amiri" pitchFamily="2" charset="-78"/>
              </a:rPr>
              <a:t>أَهْوَى … حَقًّا</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Give a reason with </a:t>
            </a:r>
            <a:pPr algn="l" indent="0" marL="0">
              <a:buNone/>
            </a:pPr>
            <a:r>
              <a:rPr lang="ar-SA" altLang="en-US" sz="1700" dirty="0">
                <a:solidFill>
                  <a:srgbClr val="1F2A37"/>
                </a:solidFill>
                <a:latin typeface="Amiri" pitchFamily="2" charset="-78"/>
                <a:ea typeface="Amiri" pitchFamily="2" charset="-78"/>
                <a:cs typeface="Amiri" pitchFamily="2" charset="-78"/>
              </a:rPr>
              <a:t>لِأَنَّ</a:t>
            </a:r>
            <a:pPr algn="l" indent="0" marL="0">
              <a:buNone/>
            </a:pPr>
            <a:r>
              <a:rPr lang="en-US" sz="1300" dirty="0">
                <a:solidFill>
                  <a:srgbClr val="1F2A37"/>
                </a:solidFill>
                <a:latin typeface="Calibri" pitchFamily="34" charset="0"/>
                <a:cs typeface="Amiri" pitchFamily="2" charset="-78"/>
              </a:rPr>
              <a:t> where the pronoun matches its noun.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12 hobbies with the right verb.</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how often I do one.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all four verb families and the dual.</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what I prefer with </a:t>
            </a:r>
            <a:pPr algn="l" indent="0" marL="0">
              <a:buNone/>
            </a:pPr>
            <a:r>
              <a:rPr lang="ar-SA" altLang="en-US" sz="1700" b="1" dirty="0">
                <a:solidFill>
                  <a:srgbClr val="C9780A"/>
                </a:solidFill>
                <a:latin typeface="Amiri" pitchFamily="2" charset="-78"/>
                <a:ea typeface="Amiri" pitchFamily="2" charset="-78"/>
                <a:cs typeface="Amiri" pitchFamily="2" charset="-78"/>
              </a:rPr>
              <a:t>أُفَضِّلُ … عَلَى</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use all three preference structures.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give a reason and a contrast.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32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Hobbies and activities · 20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How often · 6</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Saying what you prefer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فَرَاغٌ</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‎فراغت‎ </a:t>
            </a:r>
            <a:pPr indent="0" marL="0">
              <a:buNone/>
            </a:pPr>
            <a:r>
              <a:rPr lang="en-US" sz="950" b="1" dirty="0">
                <a:solidFill>
                  <a:srgbClr val="2E8B57"/>
                </a:solidFill>
                <a:latin typeface="Calibri" pitchFamily="34" charset="0"/>
                <a:cs typeface="Amiri" pitchFamily="2" charset="-78"/>
              </a:rPr>
              <a:t> farāghat · leisure, free time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رِيَاضَةٌ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‎ریاضت‎ </a:t>
            </a:r>
            <a:pPr indent="0" marL="0">
              <a:buNone/>
            </a:pPr>
            <a:r>
              <a:rPr lang="en-US" sz="950" b="1" dirty="0">
                <a:solidFill>
                  <a:srgbClr val="2E8B57"/>
                </a:solidFill>
                <a:latin typeface="Calibri" pitchFamily="34" charset="0"/>
                <a:cs typeface="Amiri" pitchFamily="2" charset="-78"/>
              </a:rPr>
              <a:t> riyāzat · Urdu: discipline, practice · Arabic: sport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مُوسِيقَى</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‎موسیقی‎ </a:t>
            </a:r>
            <a:pPr indent="0" marL="0">
              <a:buNone/>
            </a:pPr>
            <a:r>
              <a:rPr lang="en-US" sz="950" b="1" dirty="0">
                <a:solidFill>
                  <a:srgbClr val="2E8B57"/>
                </a:solidFill>
                <a:latin typeface="Calibri" pitchFamily="34" charset="0"/>
                <a:cs typeface="Amiri" pitchFamily="2" charset="-78"/>
              </a:rPr>
              <a:t> mausīqī · music</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شِطْرَنْجٌ</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‎شطرنج‎ </a:t>
            </a:r>
            <a:pPr indent="0" marL="0">
              <a:buNone/>
            </a:pPr>
            <a:r>
              <a:rPr lang="en-US" sz="950" b="1" dirty="0">
                <a:solidFill>
                  <a:srgbClr val="2E8B57"/>
                </a:solidFill>
                <a:latin typeface="Calibri" pitchFamily="34" charset="0"/>
                <a:cs typeface="Amiri" pitchFamily="2" charset="-78"/>
              </a:rPr>
              <a:t> shatranj · chess</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تَصْوِيرٌ</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‎تصویر‎ </a:t>
            </a:r>
            <a:pPr indent="0" marL="0">
              <a:buNone/>
            </a:pPr>
            <a:r>
              <a:rPr lang="en-US" sz="950" b="1" dirty="0">
                <a:solidFill>
                  <a:srgbClr val="2E8B57"/>
                </a:solidFill>
                <a:latin typeface="Calibri" pitchFamily="34" charset="0"/>
                <a:cs typeface="Amiri" pitchFamily="2" charset="-78"/>
              </a:rPr>
              <a:t> taṣvīr · Urdu: a picture · Arabic: photography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Hobbies and activities (1 of 4)</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هِوَايَةٌ / هِوَايَاتٌ</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hobby / hobbies</a:t>
            </a:r>
            <a:endParaRPr lang="en-US" sz="1350" dirty="0"/>
          </a:p>
          <a:p>
            <a:pPr indent="0" marL="0">
              <a:buNone/>
            </a:pPr>
            <a:r>
              <a:rPr lang="en-US" sz="1100" i="1" dirty="0">
                <a:solidFill>
                  <a:srgbClr val="5A6472"/>
                </a:solidFill>
                <a:latin typeface="Calibri" pitchFamily="34" charset="0"/>
                <a:cs typeface="Amiri" pitchFamily="2" charset="-78"/>
              </a:rPr>
              <a:t>hi-wā-ya-tun / hi-wā-yā-tun</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Feminine; the plural is sound feminine.</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وَقْتُ الفَرَاغِ</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free time</a:t>
            </a:r>
            <a:endParaRPr lang="en-US" sz="1350" dirty="0"/>
          </a:p>
          <a:p>
            <a:pPr indent="0" marL="0">
              <a:buNone/>
            </a:pPr>
            <a:r>
              <a:rPr lang="en-US" sz="1100" i="1" dirty="0">
                <a:solidFill>
                  <a:srgbClr val="5A6472"/>
                </a:solidFill>
                <a:latin typeface="Calibri" pitchFamily="34" charset="0"/>
                <a:cs typeface="Amiri" pitchFamily="2" charset="-78"/>
              </a:rPr>
              <a:t>waq-tu al-fa-rā-ghi</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An iḍāfa: no tanwīn on </a:t>
            </a:r>
            <a:pPr algn="l" indent="0" marL="0">
              <a:buNone/>
            </a:pPr>
            <a:r>
              <a:rPr lang="ar-SA" altLang="en-US" sz="1300" dirty="0">
                <a:solidFill>
                  <a:srgbClr val="8A6D1E"/>
                </a:solidFill>
                <a:latin typeface="Amiri" pitchFamily="2" charset="-78"/>
                <a:ea typeface="Amiri" pitchFamily="2" charset="-78"/>
                <a:cs typeface="Amiri" pitchFamily="2" charset="-78"/>
              </a:rPr>
              <a:t>وَقْتُ</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a:t>
            </a:r>
            <a:endParaRPr lang="en-US" sz="800" dirty="0"/>
          </a:p>
        </p:txBody>
      </p:sp>
      <p:sp>
        <p:nvSpPr>
          <p:cNvPr id="36" name="Shape 3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8" name="Text 3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يُمَارِسُ الرِّيَاضَةَ</a:t>
            </a:r>
            <a:endParaRPr lang="ar-SA" sz="3000" dirty="0"/>
          </a:p>
        </p:txBody>
      </p:sp>
      <p:sp>
        <p:nvSpPr>
          <p:cNvPr id="39" name="Text 3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practises sport</a:t>
            </a:r>
            <a:endParaRPr lang="en-US" sz="1350" dirty="0"/>
          </a:p>
          <a:p>
            <a:pPr indent="0" marL="0">
              <a:buNone/>
            </a:pPr>
            <a:r>
              <a:rPr lang="en-US" sz="1100" i="1" dirty="0">
                <a:solidFill>
                  <a:srgbClr val="5A6472"/>
                </a:solidFill>
                <a:latin typeface="Calibri" pitchFamily="34" charset="0"/>
                <a:cs typeface="Amiri" pitchFamily="2" charset="-78"/>
              </a:rPr>
              <a:t>yu-mā-ri-su ar-ri-yā-ḍa-ta</a:t>
            </a:r>
            <a:endParaRPr lang="en-US" sz="1350" dirty="0"/>
          </a:p>
        </p:txBody>
      </p:sp>
      <p:sp>
        <p:nvSpPr>
          <p:cNvPr id="40" name="Shape 37"/>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2" name="Text 39"/>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تُمَارِسُ</a:t>
            </a:r>
            <a:endParaRPr lang="ar-SA" sz="1500" dirty="0"/>
          </a:p>
        </p:txBody>
      </p:sp>
      <p:sp>
        <p:nvSpPr>
          <p:cNvPr id="43" name="Shape 40"/>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5" name="Text 42"/>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أُمَارِسُ</a:t>
            </a:r>
            <a:endParaRPr lang="ar-SA" sz="1500" dirty="0"/>
          </a:p>
        </p:txBody>
      </p:sp>
      <p:sp>
        <p:nvSpPr>
          <p:cNvPr id="46" name="Shape 4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11312"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9" name="Shape 46"/>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0" name="Text 47"/>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a:t>
            </a:r>
            <a:endParaRPr lang="en-US" sz="800" dirty="0"/>
          </a:p>
        </p:txBody>
      </p:sp>
      <p:sp>
        <p:nvSpPr>
          <p:cNvPr id="51" name="Shape 4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3" name="Text 5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يَلْعَبُ كُرَةَ القَدَمِ</a:t>
            </a:r>
            <a:endParaRPr lang="ar-SA" sz="3000" dirty="0"/>
          </a:p>
        </p:txBody>
      </p:sp>
      <p:sp>
        <p:nvSpPr>
          <p:cNvPr id="54" name="Text 5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plays football</a:t>
            </a:r>
            <a:endParaRPr lang="en-US" sz="1350" dirty="0"/>
          </a:p>
          <a:p>
            <a:pPr indent="0" marL="0">
              <a:buNone/>
            </a:pPr>
            <a:r>
              <a:rPr lang="en-US" sz="1100" i="1" dirty="0">
                <a:solidFill>
                  <a:srgbClr val="5A6472"/>
                </a:solidFill>
                <a:latin typeface="Calibri" pitchFamily="34" charset="0"/>
                <a:cs typeface="Amiri" pitchFamily="2" charset="-78"/>
              </a:rPr>
              <a:t>yal-ʿa-bu ku-ra-ta al-qa-da-mi</a:t>
            </a:r>
            <a:endParaRPr lang="en-US" sz="1350" dirty="0"/>
          </a:p>
        </p:txBody>
      </p:sp>
      <p:sp>
        <p:nvSpPr>
          <p:cNvPr id="55" name="Shape 52"/>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7" name="Text 54"/>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تَلْعَبُ</a:t>
            </a:r>
            <a:endParaRPr lang="ar-SA" sz="1500" dirty="0"/>
          </a:p>
        </p:txBody>
      </p:sp>
      <p:sp>
        <p:nvSpPr>
          <p:cNvPr id="58" name="Shape 55"/>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60" name="Text 57"/>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أَلْعَبُ</a:t>
            </a:r>
            <a:endParaRPr lang="ar-SA" sz="1500" dirty="0"/>
          </a:p>
        </p:txBody>
      </p:sp>
      <p:sp>
        <p:nvSpPr>
          <p:cNvPr id="61" name="Shape 5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389120"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4" name="Text 6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يَلْعَبُ كُرَةَ السَّلَّةِ</a:t>
            </a:r>
            <a:endParaRPr lang="ar-SA" sz="3000" dirty="0"/>
          </a:p>
        </p:txBody>
      </p:sp>
      <p:sp>
        <p:nvSpPr>
          <p:cNvPr id="65" name="Text 6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plays basketball</a:t>
            </a:r>
            <a:endParaRPr lang="en-US" sz="1350" dirty="0"/>
          </a:p>
          <a:p>
            <a:pPr indent="0" marL="0">
              <a:buNone/>
            </a:pPr>
            <a:r>
              <a:rPr lang="en-US" sz="1100" i="1" dirty="0">
                <a:solidFill>
                  <a:srgbClr val="5A6472"/>
                </a:solidFill>
                <a:latin typeface="Calibri" pitchFamily="34" charset="0"/>
                <a:cs typeface="Amiri" pitchFamily="2" charset="-78"/>
              </a:rPr>
              <a:t>yal-ʿa-bu ku-ra-ta as-sal-la-ti</a:t>
            </a:r>
            <a:endParaRPr lang="en-US" sz="13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Hobbies and activities (2 of 4)</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السِّبَاحَةُ / يَسْبَحُ</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swimming / swims</a:t>
            </a:r>
            <a:endParaRPr lang="en-US" sz="1350" dirty="0"/>
          </a:p>
          <a:p>
            <a:pPr indent="0" marL="0">
              <a:buNone/>
            </a:pPr>
            <a:r>
              <a:rPr lang="en-US" sz="1100" i="1" dirty="0">
                <a:solidFill>
                  <a:srgbClr val="5A6472"/>
                </a:solidFill>
                <a:latin typeface="Calibri" pitchFamily="34" charset="0"/>
                <a:cs typeface="Amiri" pitchFamily="2" charset="-78"/>
              </a:rPr>
              <a:t>as-si-bā-ḥa-tu / yas-ba-ḥu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syllabus lists the verbal noun </a:t>
            </a:r>
            <a:pPr algn="l" indent="0" marL="0">
              <a:buNone/>
            </a:pPr>
            <a:r>
              <a:rPr lang="ar-SA" altLang="en-US" sz="1300" dirty="0">
                <a:solidFill>
                  <a:srgbClr val="8A6D1E"/>
                </a:solidFill>
                <a:latin typeface="Amiri" pitchFamily="2" charset="-78"/>
                <a:ea typeface="Amiri" pitchFamily="2" charset="-78"/>
                <a:cs typeface="Amiri" pitchFamily="2" charset="-78"/>
              </a:rPr>
              <a:t>السِّبَاحَةُ</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الرَّسْمُ / يَرْسُمُ</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drawing / draws</a:t>
            </a:r>
            <a:endParaRPr lang="en-US" sz="1350" dirty="0"/>
          </a:p>
          <a:p>
            <a:pPr indent="0" marL="0">
              <a:buNone/>
            </a:pPr>
            <a:r>
              <a:rPr lang="en-US" sz="1100" i="1" dirty="0">
                <a:solidFill>
                  <a:srgbClr val="5A6472"/>
                </a:solidFill>
                <a:latin typeface="Calibri" pitchFamily="34" charset="0"/>
                <a:cs typeface="Amiri" pitchFamily="2" charset="-78"/>
              </a:rPr>
              <a:t>ar-ras-mu / yar-su-mu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syllabus lists the verbal noun </a:t>
            </a:r>
            <a:pPr algn="l" indent="0" marL="0">
              <a:buNone/>
            </a:pPr>
            <a:r>
              <a:rPr lang="ar-SA" altLang="en-US" sz="1300" dirty="0">
                <a:solidFill>
                  <a:srgbClr val="8A6D1E"/>
                </a:solidFill>
                <a:latin typeface="Amiri" pitchFamily="2" charset="-78"/>
                <a:ea typeface="Amiri" pitchFamily="2" charset="-78"/>
                <a:cs typeface="Amiri" pitchFamily="2" charset="-78"/>
              </a:rPr>
              <a:t>الرَّسْمُ</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يَعْزِفُ عَلَى البِيَانُو</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plays the piano</a:t>
            </a:r>
            <a:endParaRPr lang="en-US" sz="1350" dirty="0"/>
          </a:p>
          <a:p>
            <a:pPr indent="0" marL="0">
              <a:buNone/>
            </a:pPr>
            <a:r>
              <a:rPr lang="en-US" sz="1100" i="1" dirty="0">
                <a:solidFill>
                  <a:srgbClr val="5A6472"/>
                </a:solidFill>
                <a:latin typeface="Calibri" pitchFamily="34" charset="0"/>
                <a:cs typeface="Amiri" pitchFamily="2" charset="-78"/>
              </a:rPr>
              <a:t>yaʿ-zi-fu ʿa-lā al-bi-yā-nū</a:t>
            </a:r>
            <a:endParaRPr lang="en-US" sz="1350" dirty="0"/>
          </a:p>
        </p:txBody>
      </p:sp>
      <p:sp>
        <p:nvSpPr>
          <p:cNvPr id="36" name="Text 33"/>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عَلَى</a:t>
            </a:r>
            <a:pPr algn="l" indent="0" marL="0">
              <a:buNone/>
            </a:pPr>
            <a:r>
              <a:rPr lang="en-US" sz="1000" i="1" dirty="0">
                <a:solidFill>
                  <a:srgbClr val="8A6D1E"/>
                </a:solidFill>
                <a:latin typeface="Calibri" pitchFamily="34" charset="0"/>
                <a:cs typeface="Amiri" pitchFamily="2" charset="-78"/>
              </a:rPr>
              <a:t> is followed by the genitive.</a:t>
            </a:r>
            <a:endParaRPr lang="en-US" sz="100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0" name="Shape 37"/>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a:t>
            </a:r>
            <a:endParaRPr lang="en-US" sz="8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يَعْزِفُ عَلَى العُودِ</a:t>
            </a:r>
            <a:endParaRPr lang="ar-SA" sz="3000" dirty="0"/>
          </a:p>
        </p:txBody>
      </p:sp>
      <p:sp>
        <p:nvSpPr>
          <p:cNvPr id="45" name="Text 4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plays the oud</a:t>
            </a:r>
            <a:endParaRPr lang="en-US" sz="1350" dirty="0"/>
          </a:p>
          <a:p>
            <a:pPr indent="0" marL="0">
              <a:buNone/>
            </a:pPr>
            <a:r>
              <a:rPr lang="en-US" sz="1100" i="1" dirty="0">
                <a:solidFill>
                  <a:srgbClr val="5A6472"/>
                </a:solidFill>
                <a:latin typeface="Calibri" pitchFamily="34" charset="0"/>
                <a:cs typeface="Amiri" pitchFamily="2" charset="-78"/>
              </a:rPr>
              <a:t>yaʿ-zi-fu ʿa-lā al-ʿū-di</a:t>
            </a:r>
            <a:endParaRPr lang="en-US" sz="1350" dirty="0"/>
          </a:p>
        </p:txBody>
      </p:sp>
      <p:sp>
        <p:nvSpPr>
          <p:cNvPr id="46" name="Shape 43"/>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8" name="Text 45"/>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تَعْزِفُ</a:t>
            </a:r>
            <a:endParaRPr lang="ar-SA" sz="1500" dirty="0"/>
          </a:p>
        </p:txBody>
      </p:sp>
      <p:sp>
        <p:nvSpPr>
          <p:cNvPr id="49" name="Shape 46"/>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1" name="Text 48"/>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أَعْزِفُ</a:t>
            </a:r>
            <a:endParaRPr lang="ar-SA" sz="1500" dirty="0"/>
          </a:p>
        </p:txBody>
      </p:sp>
      <p:sp>
        <p:nvSpPr>
          <p:cNvPr id="52" name="Shape 4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4389120"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55" name="Shape 52"/>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7" name="Text 54"/>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القِرَاءَةُ / يَقْرَأُ</a:t>
            </a:r>
            <a:endParaRPr lang="ar-SA" sz="3000" dirty="0"/>
          </a:p>
        </p:txBody>
      </p:sp>
      <p:sp>
        <p:nvSpPr>
          <p:cNvPr id="58" name="Text 55"/>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reading / reads</a:t>
            </a:r>
            <a:endParaRPr lang="en-US" sz="1350" dirty="0"/>
          </a:p>
          <a:p>
            <a:pPr indent="0" marL="0">
              <a:buNone/>
            </a:pPr>
            <a:r>
              <a:rPr lang="en-US" sz="1100" i="1" dirty="0">
                <a:solidFill>
                  <a:srgbClr val="5A6472"/>
                </a:solidFill>
                <a:latin typeface="Calibri" pitchFamily="34" charset="0"/>
                <a:cs typeface="Amiri" pitchFamily="2" charset="-78"/>
              </a:rPr>
              <a:t>al-qi-rā-ʾa-tu / yaq-ra-ʾu</a:t>
            </a:r>
            <a:endParaRPr lang="en-US" sz="13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Hobbies and activities (3 of 4)</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التَّصْوِيرُ الفُوتُوغْرَافِيُّ</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photography</a:t>
            </a:r>
            <a:endParaRPr lang="en-US" sz="1350" dirty="0"/>
          </a:p>
          <a:p>
            <a:pPr indent="0" marL="0">
              <a:buNone/>
            </a:pPr>
            <a:r>
              <a:rPr lang="en-US" sz="1100" i="1" dirty="0">
                <a:solidFill>
                  <a:srgbClr val="5A6472"/>
                </a:solidFill>
                <a:latin typeface="Calibri" pitchFamily="34" charset="0"/>
                <a:cs typeface="Amiri" pitchFamily="2" charset="-78"/>
              </a:rPr>
              <a:t>at-taṣ-wī-ru al-fū-tūgh-rā-fiy-yu</a:t>
            </a:r>
            <a:endParaRPr lang="en-US" sz="1350" dirty="0"/>
          </a:p>
        </p:txBody>
      </p:sp>
      <p:sp>
        <p:nvSpPr>
          <p:cNvPr id="20" name="Text 17"/>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adjective agrees with the masculine noun.</a:t>
            </a:r>
            <a:endParaRPr lang="en-US" sz="1000" dirty="0"/>
          </a:p>
        </p:txBody>
      </p:sp>
      <p:sp>
        <p:nvSpPr>
          <p:cNvPr id="21" name="Shape 1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9"/>
          <p:cNvSpPr/>
          <p:nvPr/>
        </p:nvSpPr>
        <p:spPr>
          <a:xfrm>
            <a:off x="4389120" y="1920240"/>
            <a:ext cx="310896" cy="310896"/>
          </a:xfrm>
          <a:prstGeom prst="ellipse">
            <a:avLst/>
          </a:prstGeom>
          <a:solidFill>
            <a:srgbClr val="F4F1EA"/>
          </a:solidFill>
          <a:ln w="12700">
            <a:solidFill>
              <a:srgbClr val="F4F1EA"/>
            </a:solidFill>
            <a:prstDash val="solid"/>
          </a:ln>
        </p:spPr>
      </p:sp>
      <p:sp>
        <p:nvSpPr>
          <p:cNvPr id="23" name="Text 2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24" name="Shape 21"/>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5" name="Text 22"/>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a:t>
            </a:r>
            <a:endParaRPr lang="en-US" sz="800" dirty="0"/>
          </a:p>
        </p:txBody>
      </p:sp>
      <p:sp>
        <p:nvSpPr>
          <p:cNvPr id="26" name="Text 23"/>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يَطْبُخُ</a:t>
            </a:r>
            <a:endParaRPr lang="ar-SA" sz="3000" dirty="0"/>
          </a:p>
        </p:txBody>
      </p:sp>
      <p:sp>
        <p:nvSpPr>
          <p:cNvPr id="27" name="Text 24"/>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cooks</a:t>
            </a:r>
            <a:endParaRPr lang="en-US" sz="1350" dirty="0"/>
          </a:p>
          <a:p>
            <a:pPr indent="0" marL="0">
              <a:buNone/>
            </a:pPr>
            <a:r>
              <a:rPr lang="en-US" sz="1100" i="1" dirty="0">
                <a:solidFill>
                  <a:srgbClr val="5A6472"/>
                </a:solidFill>
                <a:latin typeface="Calibri" pitchFamily="34" charset="0"/>
                <a:cs typeface="Amiri" pitchFamily="2" charset="-78"/>
              </a:rPr>
              <a:t>yaṭ-bu-khu</a:t>
            </a:r>
            <a:endParaRPr lang="en-US" sz="1350" dirty="0"/>
          </a:p>
        </p:txBody>
      </p:sp>
      <p:sp>
        <p:nvSpPr>
          <p:cNvPr id="28" name="Shape 25"/>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29" name="Text 26"/>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30" name="Text 27"/>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تَطْبُخُ</a:t>
            </a:r>
            <a:endParaRPr lang="ar-SA" sz="1500" dirty="0"/>
          </a:p>
        </p:txBody>
      </p:sp>
      <p:sp>
        <p:nvSpPr>
          <p:cNvPr id="31" name="Shape 28"/>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33" name="Text 30"/>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أَطْبُخُ</a:t>
            </a:r>
            <a:endParaRPr lang="ar-SA" sz="15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يُشَاهِدُ الأَفْلَامَ</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watches films</a:t>
            </a:r>
            <a:endParaRPr lang="en-US" sz="1350" dirty="0"/>
          </a:p>
          <a:p>
            <a:pPr indent="0" marL="0">
              <a:buNone/>
            </a:pPr>
            <a:r>
              <a:rPr lang="en-US" sz="1100" i="1" dirty="0">
                <a:solidFill>
                  <a:srgbClr val="5A6472"/>
                </a:solidFill>
                <a:latin typeface="Calibri" pitchFamily="34" charset="0"/>
                <a:cs typeface="Amiri" pitchFamily="2" charset="-78"/>
              </a:rPr>
              <a:t>yu-shā-hi-du al-af-lā-ma</a:t>
            </a:r>
            <a:endParaRPr lang="en-US" sz="135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42" name="Shape 39"/>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a:t>
            </a:r>
            <a:endParaRPr lang="en-US" sz="800" dirty="0"/>
          </a:p>
        </p:txBody>
      </p:sp>
      <p:sp>
        <p:nvSpPr>
          <p:cNvPr id="44" name="Shape 4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يَسْتَمِعُ إِلَى المُوسِيقَى</a:t>
            </a:r>
            <a:endParaRPr lang="ar-SA" sz="3000" dirty="0"/>
          </a:p>
        </p:txBody>
      </p:sp>
      <p:sp>
        <p:nvSpPr>
          <p:cNvPr id="47" name="Text 4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listens to music</a:t>
            </a:r>
            <a:endParaRPr lang="en-US" sz="1350" dirty="0"/>
          </a:p>
          <a:p>
            <a:pPr indent="0" marL="0">
              <a:buNone/>
            </a:pPr>
            <a:r>
              <a:rPr lang="en-US" sz="1100" i="1" dirty="0">
                <a:solidFill>
                  <a:srgbClr val="5A6472"/>
                </a:solidFill>
                <a:latin typeface="Calibri" pitchFamily="34" charset="0"/>
                <a:cs typeface="Amiri" pitchFamily="2" charset="-78"/>
              </a:rPr>
              <a:t>yas-ta-mi-ʿu i-lā al-mū-sī-qā</a:t>
            </a:r>
            <a:endParaRPr lang="en-US" sz="1350" dirty="0"/>
          </a:p>
        </p:txBody>
      </p:sp>
      <p:sp>
        <p:nvSpPr>
          <p:cNvPr id="48" name="Shape 45"/>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0" name="Text 47"/>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تَسْتَمِعُ</a:t>
            </a:r>
            <a:endParaRPr lang="ar-SA" sz="1500" dirty="0"/>
          </a:p>
        </p:txBody>
      </p:sp>
      <p:sp>
        <p:nvSpPr>
          <p:cNvPr id="51" name="Shape 48"/>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3" name="Text 50"/>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أَسْتَمِعُ</a:t>
            </a:r>
            <a:endParaRPr lang="ar-SA" sz="1500" dirty="0"/>
          </a:p>
        </p:txBody>
      </p:sp>
      <p:sp>
        <p:nvSpPr>
          <p:cNvPr id="54" name="Shape 5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4389120"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57" name="Text 54"/>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تَسَلُّقُ الجِبَالِ</a:t>
            </a:r>
            <a:endParaRPr lang="ar-SA" sz="3000" dirty="0"/>
          </a:p>
        </p:txBody>
      </p:sp>
      <p:sp>
        <p:nvSpPr>
          <p:cNvPr id="58" name="Text 55"/>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mountain climbing</a:t>
            </a:r>
            <a:endParaRPr lang="en-US" sz="1350" dirty="0"/>
          </a:p>
          <a:p>
            <a:pPr indent="0" marL="0">
              <a:buNone/>
            </a:pPr>
            <a:r>
              <a:rPr lang="en-US" sz="1100" i="1" dirty="0">
                <a:solidFill>
                  <a:srgbClr val="5A6472"/>
                </a:solidFill>
                <a:latin typeface="Calibri" pitchFamily="34" charset="0"/>
                <a:cs typeface="Amiri" pitchFamily="2" charset="-78"/>
              </a:rPr>
              <a:t>ta-sal-lu-qu al-ji-bā-li</a:t>
            </a:r>
            <a:endParaRPr lang="en-US" sz="1350" dirty="0"/>
          </a:p>
        </p:txBody>
      </p:sp>
      <p:sp>
        <p:nvSpPr>
          <p:cNvPr id="59" name="Text 56"/>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An iḍāfa: </a:t>
            </a:r>
            <a:pPr algn="l" indent="0" marL="0">
              <a:buNone/>
            </a:pPr>
            <a:r>
              <a:rPr lang="ar-SA" altLang="en-US" sz="1300" dirty="0">
                <a:solidFill>
                  <a:srgbClr val="8A6D1E"/>
                </a:solidFill>
                <a:latin typeface="Amiri" pitchFamily="2" charset="-78"/>
                <a:ea typeface="Amiri" pitchFamily="2" charset="-78"/>
                <a:cs typeface="Amiri" pitchFamily="2" charset="-78"/>
              </a:rPr>
              <a:t>الجِبَالِ</a:t>
            </a:r>
            <a:pPr algn="l" indent="0" marL="0">
              <a:buNone/>
            </a:pPr>
            <a:r>
              <a:rPr lang="en-US" sz="1000" i="1" dirty="0">
                <a:solidFill>
                  <a:srgbClr val="8A6D1E"/>
                </a:solidFill>
                <a:latin typeface="Calibri" pitchFamily="34" charset="0"/>
                <a:cs typeface="Amiri" pitchFamily="2" charset="-78"/>
              </a:rPr>
              <a:t> is genitive.</a:t>
            </a:r>
            <a:endParaRPr lang="en-US" sz="100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Hobbies and activities (4 of 4)</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يَتَطَوَّعُ</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volunteers</a:t>
            </a:r>
            <a:endParaRPr lang="en-US" sz="1350" dirty="0"/>
          </a:p>
          <a:p>
            <a:pPr indent="0" marL="0">
              <a:buNone/>
            </a:pPr>
            <a:r>
              <a:rPr lang="en-US" sz="1100" i="1" dirty="0">
                <a:solidFill>
                  <a:srgbClr val="5A6472"/>
                </a:solidFill>
                <a:latin typeface="Calibri" pitchFamily="34" charset="0"/>
                <a:cs typeface="Amiri" pitchFamily="2" charset="-78"/>
              </a:rPr>
              <a:t>ya-ta-ṭaw-wa-ʿu</a:t>
            </a:r>
            <a:endParaRPr lang="en-US" sz="1350" dirty="0"/>
          </a:p>
        </p:txBody>
      </p:sp>
      <p:sp>
        <p:nvSpPr>
          <p:cNvPr id="22" name="Shape 19"/>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4" name="Text 21"/>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تَتَطَوَّعُ</a:t>
            </a:r>
            <a:endParaRPr lang="ar-SA" sz="1500" dirty="0"/>
          </a:p>
        </p:txBody>
      </p:sp>
      <p:sp>
        <p:nvSpPr>
          <p:cNvPr id="25" name="Shape 22"/>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7" name="Text 24"/>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أَتَطَوَّعُ</a:t>
            </a:r>
            <a:endParaRPr lang="ar-SA" sz="1500" dirty="0"/>
          </a:p>
        </p:txBody>
      </p:sp>
      <p:sp>
        <p:nvSpPr>
          <p:cNvPr id="28" name="Shape 25"/>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389120"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الغِنَاءُ</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singing</a:t>
            </a:r>
            <a:endParaRPr lang="en-US" sz="1350" dirty="0"/>
          </a:p>
          <a:p>
            <a:pPr indent="0" marL="0">
              <a:buNone/>
            </a:pPr>
            <a:r>
              <a:rPr lang="en-US" sz="1100" i="1" dirty="0">
                <a:solidFill>
                  <a:srgbClr val="5A6472"/>
                </a:solidFill>
                <a:latin typeface="Calibri" pitchFamily="34" charset="0"/>
                <a:cs typeface="Amiri" pitchFamily="2" charset="-78"/>
              </a:rPr>
              <a:t>al-ghi-nā-ʾu</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رُكُوبُ الدَّرَّاجَةِ</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cycling</a:t>
            </a:r>
            <a:endParaRPr lang="en-US" sz="1350" dirty="0"/>
          </a:p>
          <a:p>
            <a:pPr indent="0" marL="0">
              <a:buNone/>
            </a:pPr>
            <a:r>
              <a:rPr lang="en-US" sz="1100" i="1" dirty="0">
                <a:solidFill>
                  <a:srgbClr val="5A6472"/>
                </a:solidFill>
                <a:latin typeface="Calibri" pitchFamily="34" charset="0"/>
                <a:cs typeface="Amiri" pitchFamily="2" charset="-78"/>
              </a:rPr>
              <a:t>ru-kū-bu ad-dar-rā-ja-ti</a:t>
            </a:r>
            <a:endParaRPr lang="en-US" sz="1350" dirty="0"/>
          </a:p>
        </p:txBody>
      </p:sp>
      <p:sp>
        <p:nvSpPr>
          <p:cNvPr id="38" name="Shape 3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11312" y="4261104"/>
            <a:ext cx="310896" cy="310896"/>
          </a:xfrm>
          <a:prstGeom prst="ellipse">
            <a:avLst/>
          </a:prstGeom>
          <a:solidFill>
            <a:srgbClr val="F4F1EA"/>
          </a:solidFill>
          <a:ln w="12700">
            <a:solidFill>
              <a:srgbClr val="F4F1EA"/>
            </a:solidFill>
            <a:prstDash val="solid"/>
          </a:ln>
        </p:spPr>
      </p:sp>
      <p:sp>
        <p:nvSpPr>
          <p:cNvPr id="40" name="Text 3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رِيَاضَةُ اليُوغَا</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yoga</a:t>
            </a:r>
            <a:endParaRPr lang="en-US" sz="1350" dirty="0"/>
          </a:p>
          <a:p>
            <a:pPr indent="0" marL="0">
              <a:buNone/>
            </a:pPr>
            <a:r>
              <a:rPr lang="en-US" sz="1100" i="1" dirty="0">
                <a:solidFill>
                  <a:srgbClr val="5A6472"/>
                </a:solidFill>
                <a:latin typeface="Calibri" pitchFamily="34" charset="0"/>
                <a:cs typeface="Amiri" pitchFamily="2" charset="-78"/>
              </a:rPr>
              <a:t>ri-yā-ḍa-tu al-yū-ghā</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الشِّطْرَنْجُ</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chess</a:t>
            </a:r>
            <a:endParaRPr lang="en-US" sz="1350" dirty="0"/>
          </a:p>
          <a:p>
            <a:pPr indent="0" marL="0">
              <a:buNone/>
            </a:pPr>
            <a:r>
              <a:rPr lang="en-US" sz="1100" i="1" dirty="0">
                <a:solidFill>
                  <a:srgbClr val="5A6472"/>
                </a:solidFill>
                <a:latin typeface="Calibri" pitchFamily="34" charset="0"/>
                <a:cs typeface="Amiri" pitchFamily="2" charset="-78"/>
              </a:rPr>
              <a:t>ash-shiṭ-ran-ju</a:t>
            </a:r>
            <a:endParaRPr lang="en-US" sz="13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often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مَرَّةً فِي الأُسْبُوعِ</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once a week</a:t>
            </a:r>
            <a:endParaRPr lang="en-US" sz="1350" dirty="0"/>
          </a:p>
          <a:p>
            <a:pPr indent="0" marL="0">
              <a:buNone/>
            </a:pPr>
            <a:r>
              <a:rPr lang="en-US" sz="1100" i="1" dirty="0">
                <a:solidFill>
                  <a:srgbClr val="5A6472"/>
                </a:solidFill>
                <a:latin typeface="Calibri" pitchFamily="34" charset="0"/>
                <a:cs typeface="Amiri" pitchFamily="2" charset="-78"/>
              </a:rPr>
              <a:t>mar-ra-tan fī al-us-bū-ʿi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مَرَّةً</a:t>
            </a:r>
            <a:pPr algn="l" indent="0" marL="0">
              <a:buNone/>
            </a:pPr>
            <a:r>
              <a:rPr lang="en-US" sz="1000" i="1" dirty="0">
                <a:solidFill>
                  <a:srgbClr val="8A6D1E"/>
                </a:solidFill>
                <a:latin typeface="Calibri" pitchFamily="34" charset="0"/>
                <a:cs typeface="Amiri" pitchFamily="2" charset="-78"/>
              </a:rPr>
              <a:t> is adverbial, so it is accusative.</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مَرَّتَيْنِ فِي الأُسْبُوعِ</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twice a week</a:t>
            </a:r>
            <a:endParaRPr lang="en-US" sz="1350" dirty="0"/>
          </a:p>
          <a:p>
            <a:pPr indent="0" marL="0">
              <a:buNone/>
            </a:pPr>
            <a:r>
              <a:rPr lang="en-US" sz="1100" i="1" dirty="0">
                <a:solidFill>
                  <a:srgbClr val="5A6472"/>
                </a:solidFill>
                <a:latin typeface="Calibri" pitchFamily="34" charset="0"/>
                <a:cs typeface="Amiri" pitchFamily="2" charset="-78"/>
              </a:rPr>
              <a:t>mar-ra-tay-ni fī al-us-bū-ʿi</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مَرَّتَيْنِ</a:t>
            </a:r>
            <a:pPr algn="l" indent="0" marL="0">
              <a:buNone/>
            </a:pPr>
            <a:r>
              <a:rPr lang="en-US" sz="1000" i="1" dirty="0">
                <a:solidFill>
                  <a:srgbClr val="8A6D1E"/>
                </a:solidFill>
                <a:latin typeface="Calibri" pitchFamily="34" charset="0"/>
                <a:cs typeface="Amiri" pitchFamily="2" charset="-78"/>
              </a:rPr>
              <a:t> is the dual — revise the dual from F3.</a:t>
            </a:r>
            <a:endParaRPr lang="en-US" sz="10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ثَلَاثَ مَرَّاتٍ فِي الشَّهْرِ</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three times a month</a:t>
            </a:r>
            <a:endParaRPr lang="en-US" sz="1350" dirty="0"/>
          </a:p>
          <a:p>
            <a:pPr indent="0" marL="0">
              <a:buNone/>
            </a:pPr>
            <a:r>
              <a:rPr lang="en-US" sz="1100" i="1" dirty="0">
                <a:solidFill>
                  <a:srgbClr val="5A6472"/>
                </a:solidFill>
                <a:latin typeface="Calibri" pitchFamily="34" charset="0"/>
                <a:cs typeface="Amiri" pitchFamily="2" charset="-78"/>
              </a:rPr>
              <a:t>tha-lā-tha mar-rā-tin fī ash-shah-ri</a:t>
            </a:r>
            <a:endParaRPr lang="en-US" sz="1350" dirty="0"/>
          </a:p>
        </p:txBody>
      </p:sp>
      <p:sp>
        <p:nvSpPr>
          <p:cNvPr id="36" name="Text 33"/>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Numbers 3–10 take a genitive plural: </a:t>
            </a:r>
            <a:pPr algn="l" indent="0" marL="0">
              <a:buNone/>
            </a:pPr>
            <a:r>
              <a:rPr lang="ar-SA" altLang="en-US" sz="1300" dirty="0">
                <a:solidFill>
                  <a:srgbClr val="8A6D1E"/>
                </a:solidFill>
                <a:latin typeface="Amiri" pitchFamily="2" charset="-78"/>
                <a:ea typeface="Amiri" pitchFamily="2" charset="-78"/>
                <a:cs typeface="Amiri" pitchFamily="2" charset="-78"/>
              </a:rPr>
              <a:t>مَرَّاتٍ</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0" name="Text 3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يَوْمِيًّا</a:t>
            </a:r>
            <a:endParaRPr lang="ar-SA" sz="3000" dirty="0"/>
          </a:p>
        </p:txBody>
      </p:sp>
      <p:sp>
        <p:nvSpPr>
          <p:cNvPr id="41" name="Text 3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daily</a:t>
            </a:r>
            <a:endParaRPr lang="en-US" sz="1350" dirty="0"/>
          </a:p>
          <a:p>
            <a:pPr indent="0" marL="0">
              <a:buNone/>
            </a:pPr>
            <a:r>
              <a:rPr lang="en-US" sz="1100" i="1" dirty="0">
                <a:solidFill>
                  <a:srgbClr val="5A6472"/>
                </a:solidFill>
                <a:latin typeface="Calibri" pitchFamily="34" charset="0"/>
                <a:cs typeface="Amiri" pitchFamily="2" charset="-78"/>
              </a:rPr>
              <a:t>yaw-miy-yan</a:t>
            </a:r>
            <a:endParaRPr lang="en-US" sz="1350" dirty="0"/>
          </a:p>
        </p:txBody>
      </p:sp>
      <p:sp>
        <p:nvSpPr>
          <p:cNvPr id="42" name="Shape 3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389120"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45" name="Text 42"/>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نَادِرًا</a:t>
            </a:r>
            <a:endParaRPr lang="ar-SA" sz="3000" dirty="0"/>
          </a:p>
        </p:txBody>
      </p:sp>
      <p:sp>
        <p:nvSpPr>
          <p:cNvPr id="46" name="Text 43"/>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rarely</a:t>
            </a:r>
            <a:endParaRPr lang="en-US" sz="1350" dirty="0"/>
          </a:p>
          <a:p>
            <a:pPr indent="0" marL="0">
              <a:buNone/>
            </a:pPr>
            <a:r>
              <a:rPr lang="en-US" sz="1100" i="1" dirty="0">
                <a:solidFill>
                  <a:srgbClr val="5A6472"/>
                </a:solidFill>
                <a:latin typeface="Calibri" pitchFamily="34" charset="0"/>
                <a:cs typeface="Amiri" pitchFamily="2" charset="-78"/>
              </a:rPr>
              <a:t>nā-di-ran</a:t>
            </a:r>
            <a:endParaRPr lang="en-US" sz="1350" dirty="0"/>
          </a:p>
        </p:txBody>
      </p:sp>
      <p:sp>
        <p:nvSpPr>
          <p:cNvPr id="47" name="Shape 4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50" name="Text 4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وَقْتِ فَرَاغِي</a:t>
            </a:r>
            <a:endParaRPr lang="ar-SA" sz="3000" dirty="0"/>
          </a:p>
        </p:txBody>
      </p:sp>
      <p:sp>
        <p:nvSpPr>
          <p:cNvPr id="51" name="Text 4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my free time</a:t>
            </a:r>
            <a:endParaRPr lang="en-US" sz="1350" dirty="0"/>
          </a:p>
          <a:p>
            <a:pPr indent="0" marL="0">
              <a:buNone/>
            </a:pPr>
            <a:r>
              <a:rPr lang="en-US" sz="1100" i="1" dirty="0">
                <a:solidFill>
                  <a:srgbClr val="5A6472"/>
                </a:solidFill>
                <a:latin typeface="Calibri" pitchFamily="34" charset="0"/>
                <a:cs typeface="Amiri" pitchFamily="2" charset="-78"/>
              </a:rPr>
              <a:t>fī waq-ti fa-rā-ghī</a:t>
            </a:r>
            <a:endParaRPr lang="en-US" sz="13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Saying what you prefer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أُفَضِّلُ … عَلَى …</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prefer … to …</a:t>
            </a:r>
            <a:endParaRPr lang="en-US" sz="1350" dirty="0"/>
          </a:p>
          <a:p>
            <a:pPr indent="0" marL="0">
              <a:buNone/>
            </a:pPr>
            <a:r>
              <a:rPr lang="en-US" sz="1100" i="1" dirty="0">
                <a:solidFill>
                  <a:srgbClr val="5A6472"/>
                </a:solidFill>
                <a:latin typeface="Calibri" pitchFamily="34" charset="0"/>
                <a:cs typeface="Amiri" pitchFamily="2" charset="-78"/>
              </a:rPr>
              <a:t>u-faḍ-ḍi-lu … ʿa-lā …</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thing preferred less follows </a:t>
            </a:r>
            <a:pPr algn="l" indent="0" marL="0">
              <a:buNone/>
            </a:pPr>
            <a:r>
              <a:rPr lang="ar-SA" altLang="en-US" sz="1300" dirty="0">
                <a:solidFill>
                  <a:srgbClr val="8A6D1E"/>
                </a:solidFill>
                <a:latin typeface="Amiri" pitchFamily="2" charset="-78"/>
                <a:ea typeface="Amiri" pitchFamily="2" charset="-78"/>
                <a:cs typeface="Amiri" pitchFamily="2" charset="-78"/>
              </a:rPr>
              <a:t>عَلَى</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أَسْتَمْتِعُ بِـ …</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enjoy …</a:t>
            </a:r>
            <a:endParaRPr lang="en-US" sz="1350" dirty="0"/>
          </a:p>
          <a:p>
            <a:pPr indent="0" marL="0">
              <a:buNone/>
            </a:pPr>
            <a:r>
              <a:rPr lang="en-US" sz="1100" i="1" dirty="0">
                <a:solidFill>
                  <a:srgbClr val="5A6472"/>
                </a:solidFill>
                <a:latin typeface="Calibri" pitchFamily="34" charset="0"/>
                <a:cs typeface="Amiri" pitchFamily="2" charset="-78"/>
              </a:rPr>
              <a:t>as-tam-ti-ʿu bi …</a:t>
            </a:r>
            <a:endParaRPr lang="en-US" sz="1350" dirty="0"/>
          </a:p>
        </p:txBody>
      </p:sp>
      <p:sp>
        <p:nvSpPr>
          <p:cNvPr id="28" name="Text 25"/>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بِـ</a:t>
            </a:r>
            <a:pPr algn="l" indent="0" marL="0">
              <a:buNone/>
            </a:pPr>
            <a:r>
              <a:rPr lang="en-US" sz="1000" i="1" dirty="0">
                <a:solidFill>
                  <a:srgbClr val="8A6D1E"/>
                </a:solidFill>
                <a:latin typeface="Calibri" pitchFamily="34" charset="0"/>
                <a:cs typeface="Amiri" pitchFamily="2" charset="-78"/>
              </a:rPr>
              <a:t> is followed by the genitive.</a:t>
            </a:r>
            <a:endParaRPr lang="en-US" sz="100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أَهْوَى … حَقًّا</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am truly passionate about …</a:t>
            </a:r>
            <a:endParaRPr lang="en-US" sz="1350" dirty="0"/>
          </a:p>
          <a:p>
            <a:pPr indent="0" marL="0">
              <a:buNone/>
            </a:pPr>
            <a:r>
              <a:rPr lang="en-US" sz="1100" i="1" dirty="0">
                <a:solidFill>
                  <a:srgbClr val="5A6472"/>
                </a:solidFill>
                <a:latin typeface="Calibri" pitchFamily="34" charset="0"/>
                <a:cs typeface="Amiri" pitchFamily="2" charset="-78"/>
              </a:rPr>
              <a:t>ah-wā … ḥaq-qan</a:t>
            </a:r>
            <a:endParaRPr lang="en-US" sz="1350" dirty="0"/>
          </a:p>
        </p:txBody>
      </p:sp>
      <p:sp>
        <p:nvSpPr>
          <p:cNvPr id="34" name="Text 31"/>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word ḥaqqan adds emphasis.</a:t>
            </a:r>
            <a:endParaRPr lang="en-US" sz="1000" dirty="0"/>
          </a:p>
        </p:txBody>
      </p:sp>
      <p:sp>
        <p:nvSpPr>
          <p:cNvPr id="35" name="Shape 3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8211312"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30</a:t>
            </a:r>
            <a:endParaRPr lang="en-US" sz="1000" dirty="0"/>
          </a:p>
        </p:txBody>
      </p:sp>
      <p:sp>
        <p:nvSpPr>
          <p:cNvPr id="38" name="Text 3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أَكْثَرَ مِنْ</a:t>
            </a:r>
            <a:endParaRPr lang="ar-SA" sz="3000" dirty="0"/>
          </a:p>
        </p:txBody>
      </p:sp>
      <p:sp>
        <p:nvSpPr>
          <p:cNvPr id="39" name="Text 3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more than</a:t>
            </a:r>
            <a:endParaRPr lang="en-US" sz="1350" dirty="0"/>
          </a:p>
          <a:p>
            <a:pPr indent="0" marL="0">
              <a:buNone/>
            </a:pPr>
            <a:r>
              <a:rPr lang="en-US" sz="1100" i="1" dirty="0">
                <a:solidFill>
                  <a:srgbClr val="5A6472"/>
                </a:solidFill>
                <a:latin typeface="Calibri" pitchFamily="34" charset="0"/>
                <a:cs typeface="Amiri" pitchFamily="2" charset="-78"/>
              </a:rPr>
              <a:t>ak-tha-ra min</a:t>
            </a:r>
            <a:endParaRPr lang="en-US" sz="1350" dirty="0"/>
          </a:p>
        </p:txBody>
      </p:sp>
      <p:sp>
        <p:nvSpPr>
          <p:cNvPr id="40" name="Shape 3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389120"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31</a:t>
            </a:r>
            <a:endParaRPr lang="en-US" sz="1000" dirty="0"/>
          </a:p>
        </p:txBody>
      </p:sp>
      <p:sp>
        <p:nvSpPr>
          <p:cNvPr id="43" name="Text 40"/>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لِأَنَّ</a:t>
            </a:r>
            <a:endParaRPr lang="ar-SA" sz="3000" dirty="0"/>
          </a:p>
        </p:txBody>
      </p:sp>
      <p:sp>
        <p:nvSpPr>
          <p:cNvPr id="44" name="Text 41"/>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because</a:t>
            </a:r>
            <a:endParaRPr lang="en-US" sz="1350" dirty="0"/>
          </a:p>
          <a:p>
            <a:pPr indent="0" marL="0">
              <a:buNone/>
            </a:pPr>
            <a:r>
              <a:rPr lang="en-US" sz="1100" i="1" dirty="0">
                <a:solidFill>
                  <a:srgbClr val="5A6472"/>
                </a:solidFill>
                <a:latin typeface="Calibri" pitchFamily="34" charset="0"/>
                <a:cs typeface="Amiri" pitchFamily="2" charset="-78"/>
              </a:rPr>
              <a:t>li-ʾan-na</a:t>
            </a:r>
            <a:endParaRPr lang="en-US" sz="1350" dirty="0"/>
          </a:p>
        </p:txBody>
      </p:sp>
      <p:sp>
        <p:nvSpPr>
          <p:cNvPr id="45" name="Text 42"/>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950" i="1" dirty="0">
                <a:solidFill>
                  <a:srgbClr val="8A6D1E"/>
                </a:solidFill>
                <a:latin typeface="Calibri" pitchFamily="34" charset="0"/>
                <a:cs typeface="Amiri" pitchFamily="2" charset="-78"/>
              </a:rPr>
              <a:t>Followed by a noun or attached pronoun in the accusative.</a:t>
            </a:r>
            <a:endParaRPr lang="en-US" sz="950" dirty="0"/>
          </a:p>
        </p:txBody>
      </p:sp>
      <p:sp>
        <p:nvSpPr>
          <p:cNvPr id="46" name="Shape 4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66928"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32</a:t>
            </a:r>
            <a:endParaRPr lang="en-US" sz="1000" dirty="0"/>
          </a:p>
        </p:txBody>
      </p:sp>
      <p:sp>
        <p:nvSpPr>
          <p:cNvPr id="49" name="Shape 46"/>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50" name="Text 47"/>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1" name="Text 48"/>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مُمْتِعٌ / مُمْتِعَةٌ</a:t>
            </a:r>
            <a:endParaRPr lang="ar-SA" sz="3000" dirty="0"/>
          </a:p>
        </p:txBody>
      </p:sp>
      <p:sp>
        <p:nvSpPr>
          <p:cNvPr id="52" name="Text 49"/>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enjoyable</a:t>
            </a:r>
            <a:endParaRPr lang="en-US" sz="1350" dirty="0"/>
          </a:p>
          <a:p>
            <a:pPr indent="0" marL="0">
              <a:buNone/>
            </a:pPr>
            <a:r>
              <a:rPr lang="en-US" sz="1100" i="1" dirty="0">
                <a:solidFill>
                  <a:srgbClr val="5A6472"/>
                </a:solidFill>
                <a:latin typeface="Calibri" pitchFamily="34" charset="0"/>
                <a:cs typeface="Amiri" pitchFamily="2" charset="-78"/>
              </a:rPr>
              <a:t>mum-ti-ʿun / mum-ti-ʿa-tun</a:t>
            </a:r>
            <a:endParaRPr lang="en-US" sz="1350" dirty="0"/>
          </a:p>
        </p:txBody>
      </p:sp>
      <p:sp>
        <p:nvSpPr>
          <p:cNvPr id="53" name="Shape 50"/>
          <p:cNvSpPr/>
          <p:nvPr/>
        </p:nvSpPr>
        <p:spPr>
          <a:xfrm>
            <a:off x="594360" y="5779008"/>
            <a:ext cx="3364992"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649224"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5" name="Text 52"/>
          <p:cNvSpPr txBox="1"/>
          <p:nvPr/>
        </p:nvSpPr>
        <p:spPr>
          <a:xfrm>
            <a:off x="640080"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مُمْتِعُونَ / مُمْتِعَاتٌ</a:t>
            </a:r>
            <a:endParaRPr lang="ar-SA" sz="150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FOUR VERB FAMILIES (WEBSITE RULES 1–3)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Which verb goes with which hobby?</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الفِعْلُ المُنَاسِبُ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Used for</a:t>
            </a:r>
            <a:endParaRPr lang="en-US" sz="1100" dirty="0"/>
          </a:p>
        </p:txBody>
      </p:sp>
      <p:sp>
        <p:nvSpPr>
          <p:cNvPr id="17" name="Text 14"/>
          <p:cNvSpPr txBox="1"/>
          <p:nvPr/>
        </p:nvSpPr>
        <p:spPr>
          <a:xfrm>
            <a:off x="32735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 + preposition</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ball and board games</a:t>
            </a:r>
            <a:endParaRPr lang="en-US" sz="1100" dirty="0"/>
          </a:p>
        </p:txBody>
      </p:sp>
      <p:sp>
        <p:nvSpPr>
          <p:cNvPr id="21" name="Text 18"/>
          <p:cNvSpPr txBox="1"/>
          <p:nvPr/>
        </p:nvSpPr>
        <p:spPr>
          <a:xfrm>
            <a:off x="3291840" y="2286000"/>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أَلْعَبُ كُرَةَ القَدَمِ · تَلْعَبُ الشِّطْرَنْجَ</a:t>
            </a:r>
            <a:endParaRPr lang="ar-SA" sz="1950" dirty="0"/>
          </a:p>
        </p:txBody>
      </p:sp>
      <p:sp>
        <p:nvSpPr>
          <p:cNvPr id="22" name="Text 19"/>
          <p:cNvSpPr txBox="1"/>
          <p:nvPr/>
        </p:nvSpPr>
        <p:spPr>
          <a:xfrm>
            <a:off x="3246120" y="2676997"/>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play football · she plays chess</a:t>
            </a:r>
            <a:endParaRPr lang="en-US" sz="950" dirty="0"/>
          </a:p>
        </p:txBody>
      </p:sp>
      <p:sp>
        <p:nvSpPr>
          <p:cNvPr id="23" name="Text 20"/>
          <p:cNvSpPr txBox="1"/>
          <p:nvPr/>
        </p:nvSpPr>
        <p:spPr>
          <a:xfrm>
            <a:off x="548640" y="2267712"/>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يَلْعَبُ</a:t>
            </a:r>
            <a:endParaRPr lang="ar-SA" sz="22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activity, a sport</a:t>
            </a:r>
            <a:endParaRPr lang="en-US" sz="1100" dirty="0"/>
          </a:p>
        </p:txBody>
      </p:sp>
      <p:sp>
        <p:nvSpPr>
          <p:cNvPr id="28" name="Text 25"/>
          <p:cNvSpPr txBox="1"/>
          <p:nvPr/>
        </p:nvSpPr>
        <p:spPr>
          <a:xfrm>
            <a:off x="3291840" y="3023006"/>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أُمَارِسُ السِّبَاحَةَ · تُمَارِسُ رِيَاضَةَ اليُوغَا</a:t>
            </a:r>
            <a:endParaRPr lang="ar-SA" sz="1950" dirty="0"/>
          </a:p>
        </p:txBody>
      </p:sp>
      <p:sp>
        <p:nvSpPr>
          <p:cNvPr id="29" name="Text 26"/>
          <p:cNvSpPr txBox="1"/>
          <p:nvPr/>
        </p:nvSpPr>
        <p:spPr>
          <a:xfrm>
            <a:off x="3246120" y="3414004"/>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practise swimming · she does yoga</a:t>
            </a:r>
            <a:endParaRPr lang="en-US" sz="950" dirty="0"/>
          </a:p>
        </p:txBody>
      </p:sp>
      <p:sp>
        <p:nvSpPr>
          <p:cNvPr id="30" name="Text 27"/>
          <p:cNvSpPr txBox="1"/>
          <p:nvPr/>
        </p:nvSpPr>
        <p:spPr>
          <a:xfrm>
            <a:off x="548640" y="300471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يُمَارِسُ</a:t>
            </a:r>
            <a:endParaRPr lang="ar-SA" sz="22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instrument</a:t>
            </a:r>
            <a:endParaRPr lang="en-US" sz="1100" dirty="0"/>
          </a:p>
        </p:txBody>
      </p:sp>
      <p:sp>
        <p:nvSpPr>
          <p:cNvPr id="35" name="Text 32"/>
          <p:cNvSpPr txBox="1"/>
          <p:nvPr/>
        </p:nvSpPr>
        <p:spPr>
          <a:xfrm>
            <a:off x="3291840" y="3760013"/>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أَعْزِفُ عَلَى العُودِ · تَعْزِفُ عَلَى البِيَانُو</a:t>
            </a:r>
            <a:endParaRPr lang="ar-SA" sz="1950" dirty="0"/>
          </a:p>
        </p:txBody>
      </p:sp>
      <p:sp>
        <p:nvSpPr>
          <p:cNvPr id="36" name="Text 33"/>
          <p:cNvSpPr txBox="1"/>
          <p:nvPr/>
        </p:nvSpPr>
        <p:spPr>
          <a:xfrm>
            <a:off x="3246120" y="4151010"/>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play the oud · she plays the piano</a:t>
            </a:r>
            <a:endParaRPr lang="en-US" sz="950" dirty="0"/>
          </a:p>
        </p:txBody>
      </p:sp>
      <p:sp>
        <p:nvSpPr>
          <p:cNvPr id="37" name="Text 34"/>
          <p:cNvSpPr txBox="1"/>
          <p:nvPr/>
        </p:nvSpPr>
        <p:spPr>
          <a:xfrm>
            <a:off x="548640" y="3741725"/>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يَعْزِفُ عَلَى</a:t>
            </a:r>
            <a:endParaRPr lang="ar-SA" sz="2200" dirty="0"/>
          </a:p>
        </p:txBody>
      </p:sp>
      <p:sp>
        <p:nvSpPr>
          <p:cNvPr id="38" name="Shape 35"/>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0" name="Shape 37"/>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1" name="Text 38"/>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sound, music</a:t>
            </a:r>
            <a:endParaRPr lang="en-US" sz="1100" dirty="0"/>
          </a:p>
        </p:txBody>
      </p:sp>
      <p:sp>
        <p:nvSpPr>
          <p:cNvPr id="42" name="Text 39"/>
          <p:cNvSpPr txBox="1"/>
          <p:nvPr/>
        </p:nvSpPr>
        <p:spPr>
          <a:xfrm>
            <a:off x="3291840" y="4497019"/>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أَسْتَمِعُ إِلَى المُوسِيقَى</a:t>
            </a:r>
            <a:endParaRPr lang="ar-SA" sz="1950" dirty="0"/>
          </a:p>
        </p:txBody>
      </p:sp>
      <p:sp>
        <p:nvSpPr>
          <p:cNvPr id="43" name="Text 40"/>
          <p:cNvSpPr txBox="1"/>
          <p:nvPr/>
        </p:nvSpPr>
        <p:spPr>
          <a:xfrm>
            <a:off x="3246120" y="4888017"/>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listen to music</a:t>
            </a:r>
            <a:endParaRPr lang="en-US" sz="950" dirty="0"/>
          </a:p>
        </p:txBody>
      </p:sp>
      <p:sp>
        <p:nvSpPr>
          <p:cNvPr id="44" name="Text 41"/>
          <p:cNvSpPr txBox="1"/>
          <p:nvPr/>
        </p:nvSpPr>
        <p:spPr>
          <a:xfrm>
            <a:off x="548640" y="4478731"/>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يَسْتَمِعُ إِلَى</a:t>
            </a:r>
            <a:endParaRPr lang="ar-SA" sz="2200" dirty="0"/>
          </a:p>
        </p:txBody>
      </p:sp>
      <p:sp>
        <p:nvSpPr>
          <p:cNvPr id="45" name="Shape 42"/>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7" name="Shape 44"/>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8" name="Text 45"/>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films, matches</a:t>
            </a:r>
            <a:endParaRPr lang="en-US" sz="1100" dirty="0"/>
          </a:p>
        </p:txBody>
      </p:sp>
      <p:sp>
        <p:nvSpPr>
          <p:cNvPr id="49" name="Text 46"/>
          <p:cNvSpPr txBox="1"/>
          <p:nvPr/>
        </p:nvSpPr>
        <p:spPr>
          <a:xfrm>
            <a:off x="3291840" y="5234026"/>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أُشَاهِدُ الأَفْلَامَ</a:t>
            </a:r>
            <a:endParaRPr lang="ar-SA" sz="1950" dirty="0"/>
          </a:p>
        </p:txBody>
      </p:sp>
      <p:sp>
        <p:nvSpPr>
          <p:cNvPr id="50" name="Text 47"/>
          <p:cNvSpPr txBox="1"/>
          <p:nvPr/>
        </p:nvSpPr>
        <p:spPr>
          <a:xfrm>
            <a:off x="3246120" y="5625023"/>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watch films</a:t>
            </a:r>
            <a:endParaRPr lang="en-US" sz="950" dirty="0"/>
          </a:p>
        </p:txBody>
      </p:sp>
      <p:sp>
        <p:nvSpPr>
          <p:cNvPr id="51" name="Text 48"/>
          <p:cNvSpPr txBox="1"/>
          <p:nvPr/>
        </p:nvSpPr>
        <p:spPr>
          <a:xfrm>
            <a:off x="548640" y="521573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يُشَاهِدُ</a:t>
            </a:r>
            <a:endParaRPr lang="ar-SA" sz="2200" dirty="0"/>
          </a:p>
        </p:txBody>
      </p:sp>
      <p:sp>
        <p:nvSpPr>
          <p:cNvPr id="52" name="Text 4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a:t>
            </a:r>
            <a:pPr algn="l" indent="0" marL="0">
              <a:buNone/>
            </a:pPr>
            <a:r>
              <a:rPr lang="ar-SA" altLang="en-US" sz="1500" b="1" dirty="0">
                <a:solidFill>
                  <a:srgbClr val="1B3B6F"/>
                </a:solidFill>
                <a:latin typeface="Amiri" pitchFamily="2" charset="-78"/>
                <a:ea typeface="Amiri" pitchFamily="2" charset="-78"/>
                <a:cs typeface="Amiri" pitchFamily="2" charset="-78"/>
              </a:rPr>
              <a:t>يَلْعَبُ / يُمَارِسُ</a:t>
            </a:r>
            <a:pPr algn="l" indent="0" marL="0">
              <a:buNone/>
            </a:pPr>
            <a:r>
              <a:rPr lang="en-US" sz="1150" b="1" dirty="0">
                <a:solidFill>
                  <a:srgbClr val="1B3B6F"/>
                </a:solidFill>
                <a:latin typeface="Calibri" pitchFamily="34" charset="0"/>
                <a:cs typeface="Amiri" pitchFamily="2" charset="-78"/>
              </a:rPr>
              <a:t> the hobby ends in -a (</a:t>
            </a:r>
            <a:pPr algn="l" indent="0" marL="0">
              <a:buNone/>
            </a:pPr>
            <a:r>
              <a:rPr lang="ar-SA" altLang="en-US" sz="1500" b="1" dirty="0">
                <a:solidFill>
                  <a:srgbClr val="1B3B6F"/>
                </a:solidFill>
                <a:latin typeface="Amiri" pitchFamily="2" charset="-78"/>
                <a:ea typeface="Amiri" pitchFamily="2" charset="-78"/>
                <a:cs typeface="Amiri" pitchFamily="2" charset="-78"/>
              </a:rPr>
              <a:t>كُرَةَ</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ea typeface="Amiri" pitchFamily="2" charset="-78"/>
                <a:cs typeface="Amiri" pitchFamily="2" charset="-78"/>
              </a:rPr>
              <a:t>السِّبَاحَةَ</a:t>
            </a:r>
            <a:pPr algn="l" indent="0" marL="0">
              <a:buNone/>
            </a:pPr>
            <a:r>
              <a:rPr lang="en-US" sz="1150" b="1" dirty="0">
                <a:solidFill>
                  <a:srgbClr val="1B3B6F"/>
                </a:solidFill>
                <a:latin typeface="Calibri" pitchFamily="34" charset="0"/>
                <a:cs typeface="Amiri" pitchFamily="2" charset="-78"/>
              </a:rPr>
              <a:t>); after </a:t>
            </a:r>
            <a:pPr algn="l" indent="0" marL="0">
              <a:buNone/>
            </a:pPr>
            <a:r>
              <a:rPr lang="ar-SA" altLang="en-US" sz="1500" b="1" dirty="0">
                <a:solidFill>
                  <a:srgbClr val="1B3B6F"/>
                </a:solidFill>
                <a:latin typeface="Amiri" pitchFamily="2" charset="-78"/>
                <a:ea typeface="Amiri" pitchFamily="2" charset="-78"/>
                <a:cs typeface="Amiri" pitchFamily="2" charset="-78"/>
              </a:rPr>
              <a:t>عَلَى / إِلَى</a:t>
            </a:r>
            <a:pPr algn="l" indent="0" marL="0">
              <a:buNone/>
            </a:pPr>
            <a:r>
              <a:rPr lang="en-US" sz="1150" b="1" dirty="0">
                <a:solidFill>
                  <a:srgbClr val="1B3B6F"/>
                </a:solidFill>
                <a:latin typeface="Calibri" pitchFamily="34" charset="0"/>
                <a:cs typeface="Amiri" pitchFamily="2" charset="-78"/>
              </a:rPr>
              <a:t> it ends in -i (</a:t>
            </a:r>
            <a:pPr algn="l" indent="0" marL="0">
              <a:buNone/>
            </a:pPr>
            <a:r>
              <a:rPr lang="ar-SA" altLang="en-US" sz="1500" b="1" dirty="0">
                <a:solidFill>
                  <a:srgbClr val="1B3B6F"/>
                </a:solidFill>
                <a:latin typeface="Amiri" pitchFamily="2" charset="-78"/>
                <a:ea typeface="Amiri" pitchFamily="2" charset="-78"/>
                <a:cs typeface="Amiri" pitchFamily="2" charset="-78"/>
              </a:rPr>
              <a:t>العُودِ</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ea typeface="Amiri" pitchFamily="2" charset="-78"/>
                <a:cs typeface="Amiri" pitchFamily="2" charset="-78"/>
              </a:rPr>
              <a:t>المُوسِيقَى</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FREQUENCY AND PREFERENCE (WEBSITE RULE 4 + VOCABULARY)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often? What do you prefer?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التَّكْرَارُ وَالتَّفْضِيلُ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7160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FREQUENCY · CORE</a:t>
            </a:r>
            <a:endParaRPr lang="en-US" sz="850" dirty="0"/>
          </a:p>
        </p:txBody>
      </p:sp>
      <p:sp>
        <p:nvSpPr>
          <p:cNvPr id="18" name="Text 15"/>
          <p:cNvSpPr txBox="1"/>
          <p:nvPr/>
        </p:nvSpPr>
        <p:spPr>
          <a:xfrm>
            <a:off x="9649968"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مَرَّةً · مَرَّتَيْنِ · ثَلَاثَ مَرَّاتٍ</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ea typeface="Amiri" pitchFamily="2" charset="-78"/>
                <a:cs typeface="Amiri" pitchFamily="2" charset="-78"/>
              </a:rPr>
              <a:t>أَسْبَحُ مَرَّتَيْنِ فِي الأُسْبُوعِ.</a:t>
            </a:r>
            <a:endParaRPr lang="ar-SA" sz="30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swim twice a week.</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Dual = twice.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7160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PREFER · DEVELOP</a:t>
            </a:r>
            <a:endParaRPr lang="en-US" sz="850" dirty="0"/>
          </a:p>
        </p:txBody>
      </p:sp>
      <p:sp>
        <p:nvSpPr>
          <p:cNvPr id="26" name="Text 23"/>
          <p:cNvSpPr txBox="1"/>
          <p:nvPr/>
        </p:nvSpPr>
        <p:spPr>
          <a:xfrm>
            <a:off x="5830824"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أُفَضِّلُ … عَلَى …</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2" charset="-78"/>
                <a:ea typeface="Amiri" pitchFamily="2" charset="-78"/>
                <a:cs typeface="Amiri" pitchFamily="2" charset="-78"/>
              </a:rPr>
              <a:t>أُفَضِّلُ الرَّسْمَ عَلَى التَّصْوِيرِ.</a:t>
            </a:r>
            <a:endParaRPr lang="ar-SA" sz="28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prefer drawing to photography.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Less liked after ʿalā.</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7830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7830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ENJOY / LOVE · STRETCH</a:t>
            </a:r>
            <a:endParaRPr lang="en-US" sz="850" dirty="0"/>
          </a:p>
        </p:txBody>
      </p:sp>
      <p:sp>
        <p:nvSpPr>
          <p:cNvPr id="34" name="Text 31"/>
          <p:cNvSpPr txBox="1"/>
          <p:nvPr/>
        </p:nvSpPr>
        <p:spPr>
          <a:xfrm>
            <a:off x="2423160" y="1874520"/>
            <a:ext cx="1533144" cy="365760"/>
          </a:xfrm>
          <a:prstGeom prst="rect">
            <a:avLst/>
          </a:prstGeom>
          <a:noFill/>
          <a:ln/>
        </p:spPr>
        <p:txBody>
          <a:bodyPr wrap="square" lIns="0" tIns="0" rIns="0" bIns="0" rtlCol="0" anchor="ctr"/>
          <a:lstStyle/>
          <a:p>
            <a:pPr rtl="1" algn="r" indent="0" marL="0">
              <a:buNone/>
            </a:pPr>
            <a:r>
              <a:rPr lang="ar-SA" altLang="en-US" sz="1400" b="1" dirty="0">
                <a:solidFill>
                  <a:srgbClr val="8A6D1E"/>
                </a:solidFill>
                <a:latin typeface="Amiri" pitchFamily="2" charset="-78"/>
                <a:ea typeface="Amiri" pitchFamily="2" charset="-78"/>
                <a:cs typeface="Amiri" pitchFamily="2" charset="-78"/>
              </a:rPr>
              <a:t>أَسْتَمْتِعُ بِـ · أَهْوَى … حَقًّا</a:t>
            </a:r>
            <a:endParaRPr lang="ar-SA" sz="14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أَهْوَى تَسَلُّقَ الجِبَالِ حَقًّا لِأَنَّهُ مُمْتِعٌ.</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truly love mountain climbing because it is fun.</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Reason + agreement.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3–10 take a genitive plural.</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ثَلَاثَ مَرَّاتٍ فِي الشَّهْرِ</a:t>
            </a:r>
            <a:endParaRPr lang="ar-SA" sz="18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B83227"/>
                </a:solidFill>
                <a:latin typeface="Amiri" pitchFamily="2" charset="-78"/>
                <a:ea typeface="Amiri" pitchFamily="2" charset="-78"/>
                <a:cs typeface="Amiri" pitchFamily="2" charset="-78"/>
              </a:rPr>
              <a:t>ثَلَاثَ مَرَّةٍ فِي الشَّهْرِ</a:t>
            </a:r>
            <a:endParaRPr lang="ar-SA" sz="19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Collocation, frequency and preference</a:t>
            </a:r>
            <a:endParaRPr lang="en-US" sz="24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00" b="1" dirty="0">
                <a:solidFill>
                  <a:srgbClr val="8A6D1E"/>
                </a:solidFill>
                <a:latin typeface="Amiri" pitchFamily="2" charset="-78"/>
                <a:ea typeface="Amiri" pitchFamily="2" charset="-78"/>
                <a:cs typeface="Amiri" pitchFamily="2" charset="-78"/>
              </a:rPr>
              <a:t>التَّلَازُمُ اللَّفْظِيُّ وَالتَّكْرَارُ وَالتَّفْضِيلُ</a:t>
            </a:r>
            <a:endParaRPr lang="ar-SA" sz="26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a:t>
            </a:r>
            <a:pPr algn="l" indent="0" marL="0">
              <a:buNone/>
            </a:pPr>
            <a:r>
              <a:rPr lang="ar-SA" altLang="en-US" sz="1650" b="1" dirty="0">
                <a:solidFill>
                  <a:srgbClr val="1B3B6F"/>
                </a:solidFill>
                <a:latin typeface="Amiri" pitchFamily="2" charset="-78"/>
                <a:ea typeface="Amiri" pitchFamily="2" charset="-78"/>
                <a:cs typeface="Amiri" pitchFamily="2" charset="-78"/>
              </a:rPr>
              <a:t>يَلْعَبُ</a:t>
            </a:r>
            <a:pPr algn="l" indent="0" marL="0">
              <a:buNone/>
            </a:pPr>
            <a:r>
              <a:rPr lang="en-US" sz="1250" b="1" dirty="0">
                <a:solidFill>
                  <a:srgbClr val="1B3B6F"/>
                </a:solidFill>
                <a:latin typeface="Calibri" pitchFamily="34" charset="0"/>
                <a:cs typeface="Amiri" pitchFamily="2" charset="-78"/>
              </a:rPr>
              <a:t> with ball games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يَلْعَبُ</a:t>
            </a:r>
            <a:pPr algn="l" indent="0" marL="0">
              <a:buNone/>
            </a:pPr>
            <a:r>
              <a:rPr lang="en-US" sz="1050" dirty="0">
                <a:solidFill>
                  <a:srgbClr val="5A6472"/>
                </a:solidFill>
                <a:latin typeface="Calibri" pitchFamily="34" charset="0"/>
                <a:cs typeface="Amiri" pitchFamily="2" charset="-78"/>
              </a:rPr>
              <a:t> + accusative ball-game noun</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يَلْعَبُ كُرَةَ القَدَمِ   ·   تَلْعَبُ كُرَةَ السَّلَّةِ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a:t>
            </a:r>
            <a:pPr algn="l" indent="0" marL="0">
              <a:buNone/>
            </a:pPr>
            <a:r>
              <a:rPr lang="ar-SA" altLang="en-US" sz="1650" b="1" dirty="0">
                <a:solidFill>
                  <a:srgbClr val="1B3B6F"/>
                </a:solidFill>
                <a:latin typeface="Amiri" pitchFamily="2" charset="-78"/>
                <a:ea typeface="Amiri" pitchFamily="2" charset="-78"/>
                <a:cs typeface="Amiri" pitchFamily="2" charset="-78"/>
              </a:rPr>
              <a:t>يُمَارِسُ</a:t>
            </a:r>
            <a:pPr algn="l" indent="0" marL="0">
              <a:buNone/>
            </a:pPr>
            <a:r>
              <a:rPr lang="en-US" sz="1250" b="1" dirty="0">
                <a:solidFill>
                  <a:srgbClr val="1B3B6F"/>
                </a:solidFill>
                <a:latin typeface="Calibri" pitchFamily="34" charset="0"/>
                <a:cs typeface="Amiri" pitchFamily="2" charset="-78"/>
              </a:rPr>
              <a:t> with an activity noun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يُمَارِسُ</a:t>
            </a:r>
            <a:pPr algn="l" indent="0" marL="0">
              <a:buNone/>
            </a:pPr>
            <a:r>
              <a:rPr lang="en-US" sz="1050" dirty="0">
                <a:solidFill>
                  <a:srgbClr val="5A6472"/>
                </a:solidFill>
                <a:latin typeface="Calibri" pitchFamily="34" charset="0"/>
                <a:cs typeface="Amiri" pitchFamily="2" charset="-78"/>
              </a:rPr>
              <a:t> + accusative activity noun</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يُمَارِسُ السِّبَاحَةَ   ·   تُمَارِسُ رِيَاضَةَ اليُوغَا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a:t>
            </a:r>
            <a:pPr algn="l" indent="0" marL="0">
              <a:buNone/>
            </a:pPr>
            <a:r>
              <a:rPr lang="ar-SA" altLang="en-US" sz="1650" b="1" dirty="0">
                <a:solidFill>
                  <a:srgbClr val="1B3B6F"/>
                </a:solidFill>
                <a:latin typeface="Amiri" pitchFamily="2" charset="-78"/>
                <a:ea typeface="Amiri" pitchFamily="2" charset="-78"/>
                <a:cs typeface="Amiri" pitchFamily="2" charset="-78"/>
              </a:rPr>
              <a:t>يَعْزِفُ عَلَى</a:t>
            </a:r>
            <a:pPr algn="l" indent="0" marL="0">
              <a:buNone/>
            </a:pPr>
            <a:r>
              <a:rPr lang="en-US" sz="1250" b="1" dirty="0">
                <a:solidFill>
                  <a:srgbClr val="1B3B6F"/>
                </a:solidFill>
                <a:latin typeface="Calibri" pitchFamily="34" charset="0"/>
                <a:cs typeface="Amiri" pitchFamily="2" charset="-78"/>
              </a:rPr>
              <a:t> with an instrument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يَعْزِفُ عَلَى</a:t>
            </a:r>
            <a:pPr algn="l" indent="0" marL="0">
              <a:buNone/>
            </a:pPr>
            <a:r>
              <a:rPr lang="en-US" sz="1050" dirty="0">
                <a:solidFill>
                  <a:srgbClr val="5A6472"/>
                </a:solidFill>
                <a:latin typeface="Calibri" pitchFamily="34" charset="0"/>
                <a:cs typeface="Amiri" pitchFamily="2" charset="-78"/>
              </a:rPr>
              <a:t> + genitive instrument</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يَعْزِفُ عَلَى العُودِ   ·   تَعْزِفُ عَلَى البِيَانُو</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Frequency after a number</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مَرَّةً / مَرَّتَيْنِ / ثَلَاثَ مَرَّاتٍ</a:t>
            </a:r>
            <a:pPr algn="l" indent="0" marL="0">
              <a:buNone/>
            </a:pPr>
            <a:r>
              <a:rPr lang="en-US" sz="1050" dirty="0">
                <a:solidFill>
                  <a:srgbClr val="5A6472"/>
                </a:solidFill>
                <a:latin typeface="Calibri" pitchFamily="34" charset="0"/>
                <a:cs typeface="Amiri" pitchFamily="2" charset="-78"/>
              </a:rPr>
              <a:t> + </a:t>
            </a:r>
            <a:pPr algn="l" indent="0" marL="0">
              <a:buNone/>
            </a:pPr>
            <a:r>
              <a:rPr lang="ar-SA" altLang="en-US" sz="1350" dirty="0">
                <a:solidFill>
                  <a:srgbClr val="5A6472"/>
                </a:solidFill>
                <a:latin typeface="Amiri" pitchFamily="2" charset="-78"/>
                <a:ea typeface="Amiri" pitchFamily="2" charset="-78"/>
                <a:cs typeface="Amiri" pitchFamily="2" charset="-78"/>
              </a:rPr>
              <a:t>فِي</a:t>
            </a:r>
            <a:pPr algn="l" indent="0" marL="0">
              <a:buNone/>
            </a:pPr>
            <a:r>
              <a:rPr lang="en-US" sz="1050" dirty="0">
                <a:solidFill>
                  <a:srgbClr val="5A6472"/>
                </a:solidFill>
                <a:latin typeface="Calibri" pitchFamily="34" charset="0"/>
                <a:cs typeface="Amiri" pitchFamily="2" charset="-78"/>
              </a:rPr>
              <a:t> + period</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مَرَّتَيْنِ فِي الأُسْبُوعِ   ·   ثَلَاثَ مَرَّاتٍ فِي الشَّهْرِ</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football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أُمَارِسُ كُرَةَ القَدَمِ مَرَّتَانِ فِي الأُسْبُوعِ.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أَعْزِفُ كُرَةَ القَدَمِ مَرَّتَيْنِ فِي الأُسْبُوعِ.</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أَلْعَبُ كُرَةَ القَدَمِ مَرَّتَيْنِ فِي الأُسْبُوعِ.</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instrument sentence.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تَعْزِفُ عَلَى العُودِ كُلَّ مَسَاءٍ.</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تَعْزِفُ العُودَ كُلَّ مَسَاءٍ.</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تَعْزِفُ إِلَى العُودِ كُلَّ مَسَاءٍ.</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أَسْتَمِعُ ___ المُوسِيقَى العَرَبِيَّةِ.</a:t>
            </a:r>
            <a:endParaRPr lang="ar-SA" sz="15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frequency phrase is accurate?</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ثَلَاثَ مَرَّاتٍ فِي الشَّهْرِ</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ثَلَاثَةَ مَرَّاتٍ فِي الشَّهْرِ</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ثَلَاثَ مَرَّةٍ فِي الشَّهْرِ</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football sentence.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أُمَارِسُ كُرَةَ القَدَمِ مَرَّتَانِ فِي الأُسْبُوعِ.</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أَعْزِفُ كُرَةَ القَدَمِ مَرَّتَيْنِ فِي الأُسْبُوعِ.</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أَلْعَبُ كُرَةَ القَدَمِ مَرَّتَيْنِ فِي الأُسْبُوعِ.</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Ball games take </a:t>
            </a:r>
            <a:pPr algn="l" indent="0" marL="0">
              <a:buNone/>
            </a:pPr>
            <a:r>
              <a:rPr lang="ar-SA" altLang="en-US" sz="1350" dirty="0">
                <a:solidFill>
                  <a:srgbClr val="8A6D1E"/>
                </a:solidFill>
                <a:latin typeface="Amiri" pitchFamily="2" charset="-78"/>
                <a:ea typeface="Amiri" pitchFamily="2" charset="-78"/>
                <a:cs typeface="Amiri" pitchFamily="2" charset="-78"/>
              </a:rPr>
              <a:t>يَلْعَبُ</a:t>
            </a:r>
            <a:pPr algn="l" indent="0" marL="0">
              <a:buNone/>
            </a:pPr>
            <a:r>
              <a:rPr lang="en-US" sz="1050" i="1" dirty="0">
                <a:solidFill>
                  <a:srgbClr val="8A6D1E"/>
                </a:solidFill>
                <a:latin typeface="Calibri" pitchFamily="34" charset="0"/>
                <a:cs typeface="Amiri" pitchFamily="2" charset="-78"/>
              </a:rPr>
              <a:t>, and the dual after a preposition-free adverbial is </a:t>
            </a:r>
            <a:pPr algn="l" indent="0" marL="0">
              <a:buNone/>
            </a:pPr>
            <a:r>
              <a:rPr lang="ar-SA" altLang="en-US" sz="1350" dirty="0">
                <a:solidFill>
                  <a:srgbClr val="8A6D1E"/>
                </a:solidFill>
                <a:latin typeface="Amiri" pitchFamily="2" charset="-78"/>
                <a:ea typeface="Amiri" pitchFamily="2" charset="-78"/>
                <a:cs typeface="Amiri" pitchFamily="2" charset="-78"/>
              </a:rPr>
              <a:t>مَرَّتَيْنِ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instrument sentence.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تَعْزِفُ عَلَى العُودِ كُلَّ مَسَاءٍ.</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تَعْزِفُ العُودَ كُلَّ مَسَاءٍ.</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تَعْزِفُ إِلَى العُودِ كُلَّ مَسَاءٍ.</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يَعْزِفُ</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 and the instrument after it is genitive.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أَسْتَمِعُ ___ المُوسِيقَى العَرَبِيَّةِ.</a:t>
            </a:r>
            <a:endParaRPr lang="ar-SA" sz="15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إِلَى</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يَسْتَمِعُ</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frequency phrase is accurate?</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ثَلَاثَ مَرَّاتٍ فِي الشَّهْرِ</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ثَلَاثَةَ مَرَّاتٍ فِي الشَّهْرِ</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ثَلَاثَ مَرَّةٍ فِي الشَّهْرِ</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مَرَّة</a:t>
            </a:r>
            <a:pPr algn="l" indent="0" marL="0">
              <a:buNone/>
            </a:pPr>
            <a:r>
              <a:rPr lang="en-US" sz="1050" i="1" dirty="0">
                <a:solidFill>
                  <a:srgbClr val="8A6D1E"/>
                </a:solidFill>
                <a:latin typeface="Calibri" pitchFamily="34" charset="0"/>
                <a:cs typeface="Amiri" pitchFamily="2" charset="-78"/>
              </a:rPr>
              <a:t> is feminine, so the number drops the tāʾ, and 3–10 take the genitive plural </a:t>
            </a:r>
            <a:pPr algn="l" indent="0" marL="0">
              <a:buNone/>
            </a:pPr>
            <a:r>
              <a:rPr lang="ar-SA" altLang="en-US" sz="1350" dirty="0">
                <a:solidFill>
                  <a:srgbClr val="8A6D1E"/>
                </a:solidFill>
                <a:latin typeface="Amiri" pitchFamily="2" charset="-78"/>
                <a:ea typeface="Amiri" pitchFamily="2" charset="-78"/>
                <a:cs typeface="Amiri" pitchFamily="2" charset="-78"/>
              </a:rPr>
              <a:t>مَرَّاتٍ</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Watch me talk about my free time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Hobby + verb</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2" charset="-78"/>
                <a:ea typeface="Amiri" pitchFamily="2" charset="-78"/>
                <a:cs typeface="Amiri" pitchFamily="2" charset="-78"/>
              </a:rPr>
              <a:t>أَعْزِفُ عَلَى</a:t>
            </a:r>
            <a:pPr rtl="1" algn="ctr" indent="0" marL="0">
              <a:buNone/>
            </a:pPr>
            <a:r>
              <a:rPr lang="ar-SA" altLang="en-US" sz="2800" b="1" dirty="0">
                <a:solidFill>
                  <a:srgbClr val="1B3B6F"/>
                </a:solidFill>
                <a:latin typeface="Amiri" pitchFamily="2" charset="-78"/>
                <a:ea typeface="Amiri" pitchFamily="2" charset="-78"/>
                <a:cs typeface="Amiri" pitchFamily="2" charset="-78"/>
              </a:rPr>
              <a:t> العُودِ</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Instrument: ʿalā.</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How often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2" charset="-78"/>
                <a:ea typeface="Amiri" pitchFamily="2" charset="-78"/>
                <a:cs typeface="Amiri" pitchFamily="2" charset="-78"/>
              </a:rPr>
              <a:t>يَوْمِيًّا</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Every day.</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Prefer</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D5FBF"/>
                </a:solidFill>
                <a:latin typeface="Amiri" pitchFamily="2" charset="-78"/>
                <a:ea typeface="Amiri" pitchFamily="2" charset="-78"/>
                <a:cs typeface="Amiri" pitchFamily="2" charset="-78"/>
              </a:rPr>
              <a:t>أُفَضِّلُ</a:t>
            </a:r>
            <a:pPr rtl="1" algn="ctr" indent="0" marL="0">
              <a:lnSpc>
                <a:spcPct val="120000"/>
              </a:lnSpc>
              <a:buNone/>
            </a:pPr>
            <a:r>
              <a:rPr lang="ar-SA" altLang="en-US" sz="1900" b="1" dirty="0">
                <a:solidFill>
                  <a:srgbClr val="1B3B6F"/>
                </a:solidFill>
                <a:latin typeface="Amiri" pitchFamily="2" charset="-78"/>
                <a:ea typeface="Amiri" pitchFamily="2" charset="-78"/>
                <a:cs typeface="Amiri" pitchFamily="2" charset="-78"/>
              </a:rPr>
              <a:t> المُوسِيقَى </a:t>
            </a:r>
            <a:pPr rtl="1" algn="ctr" indent="0" marL="0">
              <a:lnSpc>
                <a:spcPct val="120000"/>
              </a:lnSpc>
              <a:buNone/>
            </a:pPr>
            <a:r>
              <a:rPr lang="ar-SA" altLang="en-US" sz="1900" b="1" dirty="0">
                <a:solidFill>
                  <a:srgbClr val="1D5FBF"/>
                </a:solidFill>
                <a:latin typeface="Amiri" pitchFamily="2" charset="-78"/>
                <a:ea typeface="Amiri" pitchFamily="2" charset="-78"/>
                <a:cs typeface="Amiri" pitchFamily="2" charset="-78"/>
              </a:rPr>
              <a:t>عَلَى</a:t>
            </a:r>
            <a:pPr rtl="1" algn="ctr" indent="0" marL="0">
              <a:lnSpc>
                <a:spcPct val="120000"/>
              </a:lnSpc>
              <a:buNone/>
            </a:pPr>
            <a:r>
              <a:rPr lang="ar-SA" altLang="en-US" sz="1900" b="1" dirty="0">
                <a:solidFill>
                  <a:srgbClr val="1B3B6F"/>
                </a:solidFill>
                <a:latin typeface="Amiri" pitchFamily="2" charset="-78"/>
                <a:ea typeface="Amiri" pitchFamily="2" charset="-78"/>
                <a:cs typeface="Amiri" pitchFamily="2" charset="-78"/>
              </a:rPr>
              <a:t> الرِّيَاضَةِ</a:t>
            </a:r>
            <a:endParaRPr lang="ar-SA" sz="19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Less liked after ʿalā.</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Reason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لِأَنَّهَا تُرِيحُنِي</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Music is feminine: -hā.</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COLLOCATION</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FREQUENCY</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PREFERENCE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فِي وَقْتِ فَرَاغِي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أُمَارِسُ</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السِّبَاحَةَ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مَرَّتَيْنِ فِي الأُسْبُوعِ</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وَ</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أَلْعَبُ</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كُرَةَ السَّلَّةِ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مَرَّةً فِي الأُسْبُوعِ</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وَ</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أَعْزِفُ عَلَى</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العُودِ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يَوْمِيًّا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لِأَنَّ المُوسِيقَى تُرِيحُنِي.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أُفَضِّلُ</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الأَنْشِطَةَ الهَادِئَةَ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عَلَى</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الأَلْعَابِ السَّرِيعَةِ.</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In my free time I go swimming twice a week, and I play basketball once a week. I play the oud every day because music relaxes me. I prefer quiet activities to fast games.</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يَلْعَبُ كُرَةَ القَدَمِ</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 plays football</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Ball game after يَلْعَبُ, and the object is accusative.</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يَعْزِفُ عَلَى العُودِ</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 plays the oud</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عَلَى is fixed with يَعْزِفُ, and the instrument is genitive.</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مَرَّتَيْنِ فِي الأُسْبُوعِ</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twice a week</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مَرَّتَيْنِ is the dual of مَرَّةٌ, not a plural.</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HOBBIES AND FREE TIME — VOCABULARY AND PRESENT HABITS”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What is my hobby? Match the picture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وَقْتُ الفَرَاغِ</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book</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4" name="Shape 20"/>
          <p:cNvSpPr/>
          <p:nvPr/>
        </p:nvSpPr>
        <p:spPr>
          <a:xfrm>
            <a:off x="499262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175504" y="2249424"/>
            <a:ext cx="649224" cy="649224"/>
          </a:xfrm>
          <a:prstGeom prst="rect">
            <a:avLst/>
          </a:prstGeom>
        </p:spPr>
      </p:pic>
      <p:sp>
        <p:nvSpPr>
          <p:cNvPr id="26" name="Shape 21"/>
          <p:cNvSpPr/>
          <p:nvPr/>
        </p:nvSpPr>
        <p:spPr>
          <a:xfrm>
            <a:off x="618134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6364224" y="2249424"/>
            <a:ext cx="649224" cy="649224"/>
          </a:xfrm>
          <a:prstGeom prst="rect">
            <a:avLst/>
          </a:prstGeom>
        </p:spPr>
      </p:pic>
      <p:sp>
        <p:nvSpPr>
          <p:cNvPr id="28" name="Text 22"/>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paint and brush</a:t>
            </a:r>
            <a:endParaRPr lang="en-US" sz="1100" dirty="0"/>
          </a:p>
        </p:txBody>
      </p:sp>
      <p:sp>
        <p:nvSpPr>
          <p:cNvPr id="29" name="Shape 2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4"/>
          <p:cNvSpPr/>
          <p:nvPr/>
        </p:nvSpPr>
        <p:spPr>
          <a:xfrm>
            <a:off x="585216" y="1938528"/>
            <a:ext cx="365760" cy="365760"/>
          </a:xfrm>
          <a:prstGeom prst="ellipse">
            <a:avLst/>
          </a:prstGeom>
          <a:solidFill>
            <a:srgbClr val="1B3B6F"/>
          </a:solidFill>
          <a:ln w="12700">
            <a:solidFill>
              <a:srgbClr val="1B3B6F"/>
            </a:solidFill>
            <a:prstDash val="solid"/>
          </a:ln>
        </p:spPr>
      </p:sp>
      <p:sp>
        <p:nvSpPr>
          <p:cNvPr id="31" name="Text 2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Shape 26"/>
          <p:cNvSpPr/>
          <p:nvPr/>
        </p:nvSpPr>
        <p:spPr>
          <a:xfrm>
            <a:off x="1173480" y="2066544"/>
            <a:ext cx="1014984" cy="1014984"/>
          </a:xfrm>
          <a:prstGeom prst="ellipse">
            <a:avLst/>
          </a:prstGeom>
          <a:solidFill>
            <a:srgbClr val="F4F1EA"/>
          </a:solidFill>
          <a:ln w="12700">
            <a:solidFill>
              <a:srgbClr val="F4F1EA"/>
            </a:solidFill>
            <a:prstDash val="solid"/>
          </a:ln>
        </p:spPr>
      </p:sp>
      <p:pic>
        <p:nvPicPr>
          <p:cNvPr id="33" name="Image 3" descr="preencoded.png">    </p:cNvPr>
          <p:cNvPicPr>
            <a:picLocks noChangeAspect="1"/>
          </p:cNvPicPr>
          <p:nvPr/>
        </p:nvPicPr>
        <p:blipFill>
          <a:blip r:embed="rId4"/>
          <a:stretch>
            <a:fillRect/>
          </a:stretch>
        </p:blipFill>
        <p:spPr>
          <a:xfrm>
            <a:off x="1356360" y="2249424"/>
            <a:ext cx="649224" cy="649224"/>
          </a:xfrm>
          <a:prstGeom prst="rect">
            <a:avLst/>
          </a:prstGeom>
        </p:spPr>
      </p:pic>
      <p:sp>
        <p:nvSpPr>
          <p:cNvPr id="34" name="Shape 27"/>
          <p:cNvSpPr/>
          <p:nvPr/>
        </p:nvSpPr>
        <p:spPr>
          <a:xfrm>
            <a:off x="236220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2545080" y="2249424"/>
            <a:ext cx="649224" cy="649224"/>
          </a:xfrm>
          <a:prstGeom prst="rect">
            <a:avLst/>
          </a:prstGeom>
        </p:spPr>
      </p:pic>
      <p:sp>
        <p:nvSpPr>
          <p:cNvPr id="36" name="Text 28"/>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swimmer</a:t>
            </a:r>
            <a:endParaRPr lang="en-US" sz="1100" dirty="0"/>
          </a:p>
        </p:txBody>
      </p:sp>
      <p:sp>
        <p:nvSpPr>
          <p:cNvPr id="37" name="Shape 29"/>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8" name="Shape 30"/>
          <p:cNvSpPr/>
          <p:nvPr/>
        </p:nvSpPr>
        <p:spPr>
          <a:xfrm>
            <a:off x="11247120" y="3831336"/>
            <a:ext cx="292608" cy="292608"/>
          </a:xfrm>
          <a:prstGeom prst="ellipse">
            <a:avLst/>
          </a:prstGeom>
          <a:solidFill>
            <a:srgbClr val="2F6FB0"/>
          </a:solidFill>
          <a:ln w="12700">
            <a:solidFill>
              <a:srgbClr val="2F6FB0"/>
            </a:solidFill>
            <a:prstDash val="solid"/>
          </a:ln>
        </p:spPr>
      </p:sp>
      <p:sp>
        <p:nvSpPr>
          <p:cNvPr id="39" name="Text 31"/>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0" name="Text 32"/>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أُحِبُّ الرَّسْمَ.</a:t>
            </a:r>
            <a:endParaRPr lang="ar-SA" sz="2000" dirty="0"/>
          </a:p>
        </p:txBody>
      </p:sp>
      <p:sp>
        <p:nvSpPr>
          <p:cNvPr id="41" name="Shape 33"/>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2" name="Shape 34"/>
          <p:cNvSpPr/>
          <p:nvPr/>
        </p:nvSpPr>
        <p:spPr>
          <a:xfrm>
            <a:off x="11247120" y="4398264"/>
            <a:ext cx="292608" cy="292608"/>
          </a:xfrm>
          <a:prstGeom prst="ellipse">
            <a:avLst/>
          </a:prstGeom>
          <a:solidFill>
            <a:srgbClr val="2F6FB0"/>
          </a:solidFill>
          <a:ln w="12700">
            <a:solidFill>
              <a:srgbClr val="2F6FB0"/>
            </a:solidFill>
            <a:prstDash val="solid"/>
          </a:ln>
        </p:spPr>
      </p:sp>
      <p:sp>
        <p:nvSpPr>
          <p:cNvPr id="43" name="Text 35"/>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4" name="Text 36"/>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أُحِبُّ السِّبَاحَةَ.</a:t>
            </a:r>
            <a:endParaRPr lang="ar-SA" sz="2000" dirty="0"/>
          </a:p>
        </p:txBody>
      </p:sp>
      <p:sp>
        <p:nvSpPr>
          <p:cNvPr id="45" name="Shape 37"/>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6" name="Shape 38"/>
          <p:cNvSpPr/>
          <p:nvPr/>
        </p:nvSpPr>
        <p:spPr>
          <a:xfrm>
            <a:off x="11247120" y="4965192"/>
            <a:ext cx="292608" cy="292608"/>
          </a:xfrm>
          <a:prstGeom prst="ellipse">
            <a:avLst/>
          </a:prstGeom>
          <a:solidFill>
            <a:srgbClr val="2F6FB0"/>
          </a:solidFill>
          <a:ln w="12700">
            <a:solidFill>
              <a:srgbClr val="2F6FB0"/>
            </a:solidFill>
            <a:prstDash val="solid"/>
          </a:ln>
        </p:spPr>
      </p:sp>
      <p:sp>
        <p:nvSpPr>
          <p:cNvPr id="47" name="Text 39"/>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8" name="Text 40"/>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أُحِبُّ القِرَاءَةَ فِي وَقْتِ الفَرَاغِ.</a:t>
            </a:r>
            <a:endParaRPr lang="ar-SA" sz="2000" dirty="0"/>
          </a:p>
        </p:txBody>
      </p:sp>
      <p:sp>
        <p:nvSpPr>
          <p:cNvPr id="49" name="Text 41"/>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0" name="Text 42"/>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1"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وَقْتُ الفَرَاغِ</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book</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أُحِبُّ القِرَاءَةَ فِي وَقْتِ الفَرَاغِ.</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like reading in my free time.</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9" name="Shape 25"/>
          <p:cNvSpPr/>
          <p:nvPr/>
        </p:nvSpPr>
        <p:spPr>
          <a:xfrm>
            <a:off x="499262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175504" y="2249424"/>
            <a:ext cx="649224" cy="649224"/>
          </a:xfrm>
          <a:prstGeom prst="rect">
            <a:avLst/>
          </a:prstGeom>
        </p:spPr>
      </p:pic>
      <p:sp>
        <p:nvSpPr>
          <p:cNvPr id="31" name="Shape 26"/>
          <p:cNvSpPr/>
          <p:nvPr/>
        </p:nvSpPr>
        <p:spPr>
          <a:xfrm>
            <a:off x="618134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6364224" y="2249424"/>
            <a:ext cx="649224" cy="649224"/>
          </a:xfrm>
          <a:prstGeom prst="rect">
            <a:avLst/>
          </a:prstGeom>
        </p:spPr>
      </p:pic>
      <p:sp>
        <p:nvSpPr>
          <p:cNvPr id="33" name="Text 27"/>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paint and brush</a:t>
            </a:r>
            <a:endParaRPr lang="en-US" sz="1100" dirty="0"/>
          </a:p>
        </p:txBody>
      </p:sp>
      <p:sp>
        <p:nvSpPr>
          <p:cNvPr id="34" name="Shape 28"/>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5" name="Shape 29"/>
          <p:cNvSpPr/>
          <p:nvPr/>
        </p:nvSpPr>
        <p:spPr>
          <a:xfrm>
            <a:off x="7437120" y="3785616"/>
            <a:ext cx="329184" cy="329184"/>
          </a:xfrm>
          <a:prstGeom prst="ellipse">
            <a:avLst/>
          </a:prstGeom>
          <a:solidFill>
            <a:srgbClr val="2E8B57"/>
          </a:solidFill>
          <a:ln w="12700">
            <a:solidFill>
              <a:srgbClr val="2E8B57"/>
            </a:solidFill>
            <a:prstDash val="solid"/>
          </a:ln>
        </p:spPr>
      </p:sp>
      <p:sp>
        <p:nvSpPr>
          <p:cNvPr id="36" name="Text 30"/>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7" name="Text 31"/>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أُحِبُّ الرَّسْمَ.</a:t>
            </a:r>
            <a:endParaRPr lang="ar-SA" sz="2200" dirty="0"/>
          </a:p>
        </p:txBody>
      </p:sp>
      <p:sp>
        <p:nvSpPr>
          <p:cNvPr id="38" name="Text 32"/>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like drawing.</a:t>
            </a:r>
            <a:endParaRPr lang="en-US" sz="1200" dirty="0"/>
          </a:p>
        </p:txBody>
      </p:sp>
      <p:sp>
        <p:nvSpPr>
          <p:cNvPr id="39" name="Shape 3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4"/>
          <p:cNvSpPr/>
          <p:nvPr/>
        </p:nvSpPr>
        <p:spPr>
          <a:xfrm>
            <a:off x="585216" y="1938528"/>
            <a:ext cx="365760" cy="365760"/>
          </a:xfrm>
          <a:prstGeom prst="ellipse">
            <a:avLst/>
          </a:prstGeom>
          <a:solidFill>
            <a:srgbClr val="1B3B6F"/>
          </a:solidFill>
          <a:ln w="12700">
            <a:solidFill>
              <a:srgbClr val="1B3B6F"/>
            </a:solidFill>
            <a:prstDash val="solid"/>
          </a:ln>
        </p:spPr>
      </p:sp>
      <p:sp>
        <p:nvSpPr>
          <p:cNvPr id="41" name="Text 3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2" name="Shape 36"/>
          <p:cNvSpPr/>
          <p:nvPr/>
        </p:nvSpPr>
        <p:spPr>
          <a:xfrm>
            <a:off x="1173480" y="2066544"/>
            <a:ext cx="1014984" cy="1014984"/>
          </a:xfrm>
          <a:prstGeom prst="ellipse">
            <a:avLst/>
          </a:prstGeom>
          <a:solidFill>
            <a:srgbClr val="F4F1EA"/>
          </a:solidFill>
          <a:ln w="12700">
            <a:solidFill>
              <a:srgbClr val="F4F1EA"/>
            </a:solidFill>
            <a:prstDash val="solid"/>
          </a:ln>
        </p:spPr>
      </p:sp>
      <p:pic>
        <p:nvPicPr>
          <p:cNvPr id="43" name="Image 3" descr="preencoded.png">    </p:cNvPr>
          <p:cNvPicPr>
            <a:picLocks noChangeAspect="1"/>
          </p:cNvPicPr>
          <p:nvPr/>
        </p:nvPicPr>
        <p:blipFill>
          <a:blip r:embed="rId4"/>
          <a:stretch>
            <a:fillRect/>
          </a:stretch>
        </p:blipFill>
        <p:spPr>
          <a:xfrm>
            <a:off x="1356360" y="2249424"/>
            <a:ext cx="649224" cy="649224"/>
          </a:xfrm>
          <a:prstGeom prst="rect">
            <a:avLst/>
          </a:prstGeom>
        </p:spPr>
      </p:pic>
      <p:sp>
        <p:nvSpPr>
          <p:cNvPr id="44" name="Shape 37"/>
          <p:cNvSpPr/>
          <p:nvPr/>
        </p:nvSpPr>
        <p:spPr>
          <a:xfrm>
            <a:off x="236220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2545080" y="2249424"/>
            <a:ext cx="649224" cy="649224"/>
          </a:xfrm>
          <a:prstGeom prst="rect">
            <a:avLst/>
          </a:prstGeom>
        </p:spPr>
      </p:pic>
      <p:sp>
        <p:nvSpPr>
          <p:cNvPr id="46" name="Text 38"/>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swimmer</a:t>
            </a:r>
            <a:endParaRPr lang="en-US" sz="1100" dirty="0"/>
          </a:p>
        </p:txBody>
      </p:sp>
      <p:sp>
        <p:nvSpPr>
          <p:cNvPr id="47" name="Shape 39"/>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8" name="Shape 40"/>
          <p:cNvSpPr/>
          <p:nvPr/>
        </p:nvSpPr>
        <p:spPr>
          <a:xfrm>
            <a:off x="3617976" y="3785616"/>
            <a:ext cx="329184" cy="329184"/>
          </a:xfrm>
          <a:prstGeom prst="ellipse">
            <a:avLst/>
          </a:prstGeom>
          <a:solidFill>
            <a:srgbClr val="2E8B57"/>
          </a:solidFill>
          <a:ln w="12700">
            <a:solidFill>
              <a:srgbClr val="2E8B57"/>
            </a:solidFill>
            <a:prstDash val="solid"/>
          </a:ln>
        </p:spPr>
      </p:sp>
      <p:sp>
        <p:nvSpPr>
          <p:cNvPr id="49" name="Text 41"/>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0" name="Text 42"/>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أُحِبُّ السِّبَاحَةَ.</a:t>
            </a:r>
            <a:endParaRPr lang="ar-SA" sz="2200" dirty="0"/>
          </a:p>
        </p:txBody>
      </p:sp>
      <p:sp>
        <p:nvSpPr>
          <p:cNvPr id="51" name="Text 43"/>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like swimming.</a:t>
            </a:r>
            <a:endParaRPr lang="en-US" sz="1200" dirty="0"/>
          </a:p>
        </p:txBody>
      </p:sp>
      <p:sp>
        <p:nvSpPr>
          <p:cNvPr id="52"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كُرَةَ القَدَمِ</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كُرَةَ السَّلَّةِ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الشِّطْرَنْجَ</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السِّبَاحَةَ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رِيَاضَةَ اليُوغَا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تَسَلُّقَ الجِبَالِ</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العُودِ</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البِيَانُو</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الكَمَانِ</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يَلْعَبُ</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يُمَارِسُ</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3 · يَعْزِفُ عَلَى</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يَلْعَبُ</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كُرَةَ القَدَمِ</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كُرَةَ السَّلَّةِ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الشِّطْرَنْجَ</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يُمَارِسُ</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السِّبَاحَةَ</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رِيَاضَةَ اليُوغَا</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تَسَلُّقَ الجِبَالِ</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3 · يَعْزِفُ عَلَى</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العُودِ</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البِيَانُو</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الكَمَانِ</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2,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swimming sentence.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أَلْعَبُ السِّبَاحَةَ ثَلَاثَ مَرَّاتٍ فِي الأُسْبُوعِ.</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أَعْزِفُ عَلَى السِّبَاحَةِ ثَلَاثَ مَرَّاتٍ فِي الأُسْبُوعِ.</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أُمَارِسُ السِّبَاحَةَ ثَلَاثَ مَرَّاتٍ فِي الأُسْبُوعِ.</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preference sentence.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أُفَضِّلُ الرَّسْمَ مِنَ التَّصْوِيرِ.</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أُفَضِّلُ الرَّسْمَ عَلَى التَّصْوِيرِ.</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أُفَضِّلُ الرَّسْمَ إِلَى التَّصْوِيرِ.</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enjoyment sentence.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أَسْتَمْتِعُ القِرَاءَةَ أَكْثَرَ مِنَ الغِنَاءِ.</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أَسْتَمْتِعُ بِالقِرَاءَةِ أَكْثَرَ مِنَ الغِنَاءِ.</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أَسْتَمْتِعُ عَلَى القِرَاءَةِ أَكْثَرَ مِنَ الغِنَاءِ.</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that adds a reason accurately.</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أَهْوَى تَسَلُّقَ الجِبَالِ حَقًّا لِأَنَّهَا مُمْتِعٌ.</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أَهْوَى تَسَلُّقُ الجِبَالِ حَقًّا لِأَنَّهُ مُمْتِعَةٌ.</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أَهْوَى تَسَلُّقَ الجِبَالِ حَقًّا لِأَنَّهُ مُمْتِعٌ.</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swimming sentence.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أَلْعَبُ السِّبَاحَةَ ثَلَاثَ مَرَّاتٍ فِي الأُسْبُوعِ.</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أَعْزِفُ عَلَى السِّبَاحَةِ ثَلَاثَ مَرَّاتٍ فِي الأُسْبُوعِ.</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أُمَارِسُ السِّبَاحَةَ ثَلَاثَ مَرَّاتٍ فِي الأُسْبُوعِ.</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السِّبَاحَة</a:t>
            </a:r>
            <a:pPr algn="l" indent="0" marL="0">
              <a:buNone/>
            </a:pPr>
            <a:r>
              <a:rPr lang="en-US" sz="1050" i="1" dirty="0">
                <a:solidFill>
                  <a:srgbClr val="8A6D1E"/>
                </a:solidFill>
                <a:latin typeface="Calibri" pitchFamily="34" charset="0"/>
                <a:cs typeface="Amiri" pitchFamily="2" charset="-78"/>
              </a:rPr>
              <a:t> is an activity noun, so it takes </a:t>
            </a:r>
            <a:pPr algn="l" indent="0" marL="0">
              <a:buNone/>
            </a:pPr>
            <a:r>
              <a:rPr lang="ar-SA" altLang="en-US" sz="1350" dirty="0">
                <a:solidFill>
                  <a:srgbClr val="8A6D1E"/>
                </a:solidFill>
                <a:latin typeface="Amiri" pitchFamily="2" charset="-78"/>
                <a:ea typeface="Amiri" pitchFamily="2" charset="-78"/>
                <a:cs typeface="Amiri" pitchFamily="2" charset="-78"/>
              </a:rPr>
              <a:t>يُمَارِسُ</a:t>
            </a:r>
            <a:pPr algn="l" indent="0" marL="0">
              <a:buNone/>
            </a:pPr>
            <a:r>
              <a:rPr lang="en-US" sz="1050" i="1" dirty="0">
                <a:solidFill>
                  <a:srgbClr val="8A6D1E"/>
                </a:solidFill>
                <a:latin typeface="Calibri" pitchFamily="34" charset="0"/>
                <a:cs typeface="Amiri" pitchFamily="2" charset="-78"/>
              </a:rPr>
              <a:t>, and as the object it is accusative.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preference sentence.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أُفَضِّلُ الرَّسْمَ مِنَ التَّصْوِيرِ.</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أُفَضِّلُ الرَّسْمَ عَلَى التَّصْوِيرِ.</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أُفَضِّلُ الرَّسْمَ إِلَى التَّصْوِيرِ.</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أُفَضِّلُ</a:t>
            </a:r>
            <a:pPr algn="l" indent="0" marL="0">
              <a:buNone/>
            </a:pPr>
            <a:r>
              <a:rPr lang="en-US" sz="1050" i="1" dirty="0">
                <a:solidFill>
                  <a:srgbClr val="8A6D1E"/>
                </a:solidFill>
                <a:latin typeface="Calibri" pitchFamily="34" charset="0"/>
                <a:cs typeface="Amiri" pitchFamily="2" charset="-78"/>
              </a:rPr>
              <a:t> takes an accusative object, and the less-preferred thing follows </a:t>
            </a:r>
            <a:pPr algn="l" indent="0" marL="0">
              <a:buNone/>
            </a:pPr>
            <a:r>
              <a:rPr lang="ar-SA" altLang="en-US" sz="1350" dirty="0">
                <a:solidFill>
                  <a:srgbClr val="8A6D1E"/>
                </a:solidFill>
                <a:latin typeface="Amiri" pitchFamily="2" charset="-78"/>
                <a:ea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 in the genitive.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enjoyment sentence.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أَسْتَمْتِعُ القِرَاءَةَ أَكْثَرَ مِنَ الغِنَاءِ.</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أَسْتَمْتِعُ بِالقِرَاءَةِ أَكْثَرَ مِنَ الغِنَاءِ.</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أَسْتَمْتِعُ عَلَى القِرَاءَةِ أَكْثَرَ مِنَ الغِنَاءِ.</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أَسْتَمْتِعُ</a:t>
            </a:r>
            <a:pPr algn="l" indent="0" marL="0">
              <a:buNone/>
            </a:pPr>
            <a:r>
              <a:rPr lang="en-US" sz="1050" i="1" dirty="0">
                <a:solidFill>
                  <a:srgbClr val="8A6D1E"/>
                </a:solidFill>
                <a:latin typeface="Calibri" pitchFamily="34" charset="0"/>
                <a:cs typeface="Amiri" pitchFamily="2" charset="-78"/>
              </a:rPr>
              <a:t> requires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 and a noun after a preposition is genitive.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that adds a reason accurately.</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أَهْوَى تَسَلُّقَ الجِبَالِ حَقًّا لِأَنَّهَا مُمْتِعٌ.</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أَهْوَى تَسَلُّقُ الجِبَالِ حَقًّا لِأَنَّهُ مُمْتِعَةٌ.</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أَهْوَى تَسَلُّقَ الجِبَالِ حَقًّا لِأَنَّهُ مُمْتِعٌ.</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تَسَلُّق</a:t>
            </a:r>
            <a:pPr algn="l" indent="0" marL="0">
              <a:buNone/>
            </a:pPr>
            <a:r>
              <a:rPr lang="en-US" sz="1050" i="1" dirty="0">
                <a:solidFill>
                  <a:srgbClr val="8A6D1E"/>
                </a:solidFill>
                <a:latin typeface="Calibri" pitchFamily="34" charset="0"/>
                <a:cs typeface="Amiri" pitchFamily="2" charset="-78"/>
              </a:rPr>
              <a:t> is masculine and is the object of </a:t>
            </a:r>
            <a:pPr algn="l" indent="0" marL="0">
              <a:buNone/>
            </a:pPr>
            <a:r>
              <a:rPr lang="ar-SA" altLang="en-US" sz="1350" dirty="0">
                <a:solidFill>
                  <a:srgbClr val="8A6D1E"/>
                </a:solidFill>
                <a:latin typeface="Amiri" pitchFamily="2" charset="-78"/>
                <a:ea typeface="Amiri" pitchFamily="2" charset="-78"/>
                <a:cs typeface="Amiri" pitchFamily="2" charset="-78"/>
              </a:rPr>
              <a:t>أَهْوَى</a:t>
            </a:r>
            <a:pPr algn="l" indent="0" marL="0">
              <a:buNone/>
            </a:pPr>
            <a:r>
              <a:rPr lang="en-US" sz="1050" i="1" dirty="0">
                <a:solidFill>
                  <a:srgbClr val="8A6D1E"/>
                </a:solidFill>
                <a:latin typeface="Calibri" pitchFamily="34" charset="0"/>
                <a:cs typeface="Amiri" pitchFamily="2" charset="-78"/>
              </a:rPr>
              <a:t>, so the pronoun and adjective are both masculine.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أَلْعَبُ السِّبَاحَةَ.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Ball game or activity?</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أَعْزِفُ البِيَانُو.</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preposition after yaʿzifu?</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ثَلَاثَ مَرَّةٍ فِي الشَّهْرِ</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3–10: singular or plural?</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أَلْعَبُ السِّبَاحَةَ.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أُمَارِسُ السِّبَاحَةَ.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السِّبَاحَة</a:t>
            </a:r>
            <a:pPr algn="l" indent="0" marL="0">
              <a:buNone/>
            </a:pPr>
            <a:r>
              <a:rPr lang="en-US" sz="1150" b="1" dirty="0">
                <a:solidFill>
                  <a:srgbClr val="1B3B6F"/>
                </a:solidFill>
                <a:latin typeface="Calibri" pitchFamily="34" charset="0"/>
                <a:cs typeface="Amiri" pitchFamily="2" charset="-78"/>
              </a:rPr>
              <a:t> is an activity, not a ball game, so it takes </a:t>
            </a:r>
            <a:pPr algn="l" indent="0" marL="0">
              <a:buNone/>
            </a:pPr>
            <a:r>
              <a:rPr lang="ar-SA" altLang="en-US" sz="1500" b="1" dirty="0">
                <a:solidFill>
                  <a:srgbClr val="1B3B6F"/>
                </a:solidFill>
                <a:latin typeface="Amiri" pitchFamily="2" charset="-78"/>
                <a:ea typeface="Amiri" pitchFamily="2" charset="-78"/>
                <a:cs typeface="Amiri" pitchFamily="2" charset="-78"/>
              </a:rPr>
              <a:t>يُمَارِسُ</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أَعْزِفُ البِيَانُو.</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أَعْزِفُ عَلَى البِيَانُو.</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يَعْزِفُ</a:t>
            </a:r>
            <a:pPr algn="l" indent="0" marL="0">
              <a:buNone/>
            </a:pPr>
            <a:r>
              <a:rPr lang="en-US" sz="1150" b="1" dirty="0">
                <a:solidFill>
                  <a:srgbClr val="1B3B6F"/>
                </a:solidFill>
                <a:latin typeface="Calibri" pitchFamily="34" charset="0"/>
                <a:cs typeface="Amiri" pitchFamily="2" charset="-78"/>
              </a:rPr>
              <a:t> needs the preposition </a:t>
            </a:r>
            <a:pPr algn="l" indent="0" marL="0">
              <a:buNone/>
            </a:pPr>
            <a:r>
              <a:rPr lang="ar-SA" altLang="en-US" sz="1500" b="1" dirty="0">
                <a:solidFill>
                  <a:srgbClr val="1B3B6F"/>
                </a:solidFill>
                <a:latin typeface="Amiri" pitchFamily="2" charset="-78"/>
                <a:ea typeface="Amiri" pitchFamily="2" charset="-78"/>
                <a:cs typeface="Amiri" pitchFamily="2" charset="-78"/>
              </a:rPr>
              <a:t>عَلَى</a:t>
            </a:r>
            <a:pPr algn="l" indent="0" marL="0">
              <a:buNone/>
            </a:pPr>
            <a:r>
              <a:rPr lang="en-US" sz="1150" b="1" dirty="0">
                <a:solidFill>
                  <a:srgbClr val="1B3B6F"/>
                </a:solidFill>
                <a:latin typeface="Calibri" pitchFamily="34" charset="0"/>
                <a:cs typeface="Amiri" pitchFamily="2" charset="-78"/>
              </a:rPr>
              <a:t> before the instrument.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ثَلَاثَ مَرَّةٍ فِي الشَّهْرِ</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ثَلَاثَ مَرَّاتٍ فِي الشَّهْرِ</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Numbers from three to ten are followed by a genitive plural.</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Listening: three students describe their free time</a:t>
            </a:r>
            <a:endParaRPr lang="en-US" sz="18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does Salmā swim?</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Twice a week</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Daily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 times a month</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Salmā swim?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cheap</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school requires it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relaxes her after study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Yūsuf do daily?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Swims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Takes photographs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Plays the oud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Yūsuf prefer?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Music to sport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Sport to music</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Reading to music</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Laylā truly passionate about?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Basketball</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Photography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Reading novels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3 and 5.</a:t>
            </a:r>
            <a:endParaRPr lang="en-US" sz="1250" dirty="0"/>
          </a:p>
          <a:p>
            <a:pPr algn="l" indent="0" marL="0">
              <a:buNone/>
            </a:pPr>
            <a:r>
              <a:rPr lang="en-US" sz="1250" dirty="0">
                <a:solidFill>
                  <a:srgbClr val="1E6B52"/>
                </a:solidFill>
                <a:latin typeface="Calibri" pitchFamily="34" charset="0"/>
                <a:cs typeface="Amiri" pitchFamily="2" charset="-78"/>
              </a:rPr>
              <a:t>Three people: Salma · Yusuf · Layla.</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أَنَا سَلْمَى، وَأُمَارِسُ السِّبَاحَةَ مَرَّتَيْنِ فِي الأُسْبُوعِ</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am Salma, and I swim twice a week</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لِأَنَّهَا تُرِيحُنِي بَعْدَ الدِّرَاسَةِ. وَفِي وَقْتِ فَرَاغِي أَقْرَأُ الرِّوَايَاتِ.</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because it relaxes me after studying. In my free time I read novels.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أَمَّا أَخِي يُوسُفُ فَيَعْزِفُ عَلَى العُودِ يَوْمِيًّا،</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for my brother Yusuf, he plays the oud every day,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وَيَقُولُ إِنَّهُ يُفَضِّلُ المُوسِيقَى عَلَى الرِّيَاضَةِ.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he says he prefers music to sport.</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وَصَدِيقَتِي لَيْلَى تَلْعَبُ كُرَةَ السَّلَّةِ ثَلَاثَ مَرَّاتٍ فِي الشَّهْرِ فَقَطْ، لٰكِنَّهَا تَهْوَى التَّصْوِيرَ الفُوتُوغْرَافِيَّ حَقًّا.</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friend Layla plays basketball only three times a month, but she truly loves photography.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does Salmā swim?</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Twice a week</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Daily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 times a month</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ea typeface="Amiri" pitchFamily="2" charset="-78"/>
                <a:cs typeface="Amiri" pitchFamily="2" charset="-78"/>
              </a:rPr>
              <a:t>مَرَّتَيْنِ فِي الأُسْبُوعِ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Salmā swim?</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cheap</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school requires it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relaxes her after study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gives the reason </a:t>
            </a:r>
            <a:pPr algn="l" indent="0" marL="0">
              <a:buNone/>
            </a:pPr>
            <a:r>
              <a:rPr lang="ar-SA" altLang="en-US" sz="1350" dirty="0">
                <a:solidFill>
                  <a:srgbClr val="8A6D1E"/>
                </a:solidFill>
                <a:latin typeface="Amiri" pitchFamily="2" charset="-78"/>
                <a:ea typeface="Amiri" pitchFamily="2" charset="-78"/>
                <a:cs typeface="Amiri" pitchFamily="2" charset="-78"/>
              </a:rPr>
              <a:t>لِأَنَّهَا تُرِيحُنِي بَعْدَ الدِّرَاسَةِ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Yūsuf do daily?</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Swims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Takes photographs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Plays the oud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script says </a:t>
            </a:r>
            <a:pPr algn="l" indent="0" marL="0">
              <a:buNone/>
            </a:pPr>
            <a:r>
              <a:rPr lang="ar-SA" altLang="en-US" sz="1350" dirty="0">
                <a:solidFill>
                  <a:srgbClr val="8A6D1E"/>
                </a:solidFill>
                <a:latin typeface="Amiri" pitchFamily="2" charset="-78"/>
                <a:ea typeface="Amiri" pitchFamily="2" charset="-78"/>
                <a:cs typeface="Amiri" pitchFamily="2" charset="-78"/>
              </a:rPr>
              <a:t>يَعْزِفُ عَلَى العُودِ يَوْمِيًّا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Yūsuf prefer?</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Music to sport</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Sport to music</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Reading to music</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says </a:t>
            </a:r>
            <a:pPr algn="l" indent="0" marL="0">
              <a:buNone/>
            </a:pPr>
            <a:r>
              <a:rPr lang="ar-SA" altLang="en-US" sz="1350" dirty="0">
                <a:solidFill>
                  <a:srgbClr val="8A6D1E"/>
                </a:solidFill>
                <a:latin typeface="Amiri" pitchFamily="2" charset="-78"/>
                <a:ea typeface="Amiri" pitchFamily="2" charset="-78"/>
                <a:cs typeface="Amiri" pitchFamily="2" charset="-78"/>
              </a:rPr>
              <a:t>يُفَضِّلُ المُوسِيقَى عَلَى الرِّيَاضَةِ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Laylā truly passionate about?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Basketball</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Photography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Reading novels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plays basketball only occasionally but </a:t>
            </a:r>
            <a:pPr algn="l" indent="0" marL="0">
              <a:buNone/>
            </a:pPr>
            <a:r>
              <a:rPr lang="ar-SA" altLang="en-US" sz="1350" dirty="0">
                <a:solidFill>
                  <a:srgbClr val="8A6D1E"/>
                </a:solidFill>
                <a:latin typeface="Amiri" pitchFamily="2" charset="-78"/>
                <a:ea typeface="Amiri" pitchFamily="2" charset="-78"/>
                <a:cs typeface="Amiri" pitchFamily="2" charset="-78"/>
              </a:rPr>
              <a:t>تَهْوَى التَّصْوِيرَ الفُوتُوغْرَافِيَّ حَقًّا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3 and 5.</a:t>
            </a:r>
            <a:endParaRPr lang="en-US" sz="1250" dirty="0"/>
          </a:p>
          <a:p>
            <a:pPr algn="l" indent="0" marL="0">
              <a:buNone/>
            </a:pPr>
            <a:r>
              <a:rPr lang="en-US" sz="1250" dirty="0">
                <a:solidFill>
                  <a:srgbClr val="1E6B52"/>
                </a:solidFill>
                <a:latin typeface="Calibri" pitchFamily="34" charset="0"/>
                <a:cs typeface="Amiri" pitchFamily="2" charset="-78"/>
              </a:rPr>
              <a:t>Three people: Salma · Yusuf · Layla.</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Speaking: my hobby in thirty seconds</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هِوَايَتُكَ المُفَضَّلَةُ؟ وَكَمْ مَرَّةً تُمَارِسُهَا فِي الأُسْبُوعِ؟</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تُفَضِّلُ الرِّيَاضَةَ عَلَى المُوسِيقَى؟ لِمَاذَا؟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تَفْعَلُ فِي وَقْتِ فَرَاغِكَ مَعَ أَصْدِقَائِكَ؟</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D5FBF"/>
                </a:solidFill>
                <a:latin typeface="Amiri" pitchFamily="2" charset="-78"/>
                <a:ea typeface="Amiri" pitchFamily="2" charset="-78"/>
                <a:cs typeface="Amiri" pitchFamily="2" charset="-78"/>
              </a:rPr>
              <a:t>هِوَايَتِي المُفَضَّلَةُ ___ ، وَأُمَارِسُهَا ___ .</a:t>
            </a:r>
            <a:endParaRPr lang="ar-SA" sz="15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أُفَضِّلُ ___ عَلَى ___ لِأَنَّ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مَعَ أَصْدِقَائِي ___ ، أَمَّا وَحْدِي فَـ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هِوَايَتُكِ المُفَضَّلَةُ؟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your favourite hobby?</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أُمَارِسُ السِّبَاحَةَ مَرَّتَيْنِ فِي الأُسْبُوعِ، وَأَسْتَمْتِعُ بِهَا كَثِيرًا.</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go swimming twice a week, and I enjoy it a lot.</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the vocabulary vault and the sentence frames to produce six accurate sentences with one collocation and one frequency phrase each.</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Six hobbies, each with the right verb and one frequency phrase.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Link your sentences into a paragraph, adding a preference structure and a reason with </a:t>
            </a:r>
            <a:pPr algn="l" indent="0" marL="0">
              <a:buNone/>
            </a:pPr>
            <a:r>
              <a:rPr lang="ar-SA" altLang="en-US" sz="1800" b="1" dirty="0">
                <a:solidFill>
                  <a:srgbClr val="1F2A37"/>
                </a:solidFill>
                <a:latin typeface="Amiri" pitchFamily="2" charset="-78"/>
                <a:ea typeface="Amiri" pitchFamily="2" charset="-78"/>
                <a:cs typeface="Amiri" pitchFamily="2" charset="-78"/>
              </a:rPr>
              <a:t>لِأَنَّ</a:t>
            </a:r>
            <a:pPr algn="l" indent="0" marL="0">
              <a:buNone/>
            </a:pPr>
            <a:r>
              <a:rPr lang="en-US" sz="1400" b="1" dirty="0">
                <a:solidFill>
                  <a:srgbClr val="1F2A37"/>
                </a:solidFill>
                <a:latin typeface="Calibri" pitchFamily="34" charset="0"/>
                <a:cs typeface="Amiri" pitchFamily="2" charset="-78"/>
              </a:rPr>
              <a: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A paragraph with four verb families, the dual and أُفَضِّلُ … عَلَى + لِأَنَّ.</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Compare two hobbies in one sentence, qualify your view with </a:t>
            </a:r>
            <a:pPr algn="l" indent="0" marL="0">
              <a:buNone/>
            </a:pPr>
            <a:r>
              <a:rPr lang="ar-SA" altLang="en-US" sz="1800" b="1" dirty="0">
                <a:solidFill>
                  <a:srgbClr val="1F2A37"/>
                </a:solidFill>
                <a:latin typeface="Amiri" pitchFamily="2" charset="-78"/>
                <a:ea typeface="Amiri" pitchFamily="2" charset="-78"/>
                <a:cs typeface="Amiri" pitchFamily="2" charset="-78"/>
              </a:rPr>
              <a:t>مَعَ ذٰلِكَ</a:t>
            </a:r>
            <a:pPr algn="l" indent="0" marL="0">
              <a:buNone/>
            </a:pPr>
            <a:r>
              <a:rPr lang="en-US" sz="1400" b="1" dirty="0">
                <a:solidFill>
                  <a:srgbClr val="1F2A37"/>
                </a:solidFill>
                <a:latin typeface="Calibri" pitchFamily="34" charset="0"/>
                <a:cs typeface="Amiri" pitchFamily="2" charset="-78"/>
              </a:rPr>
              <a:t> or </a:t>
            </a:r>
            <a:pPr algn="l" indent="0" marL="0">
              <a:buNone/>
            </a:pPr>
            <a:r>
              <a:rPr lang="ar-SA" altLang="en-US" sz="1800" b="1" dirty="0">
                <a:solidFill>
                  <a:srgbClr val="1F2A37"/>
                </a:solidFill>
                <a:latin typeface="Amiri" pitchFamily="2" charset="-78"/>
                <a:ea typeface="Amiri" pitchFamily="2" charset="-78"/>
                <a:cs typeface="Amiri" pitchFamily="2" charset="-78"/>
              </a:rPr>
              <a:t>أَمَّا … فَـ</a:t>
            </a:r>
            <a:pPr algn="l" indent="0" marL="0">
              <a:buNone/>
            </a:pPr>
            <a:r>
              <a:rPr lang="en-US" sz="1400" b="1" dirty="0">
                <a:solidFill>
                  <a:srgbClr val="1F2A37"/>
                </a:solidFill>
                <a:latin typeface="Calibri" pitchFamily="34" charset="0"/>
                <a:cs typeface="Amiri" pitchFamily="2" charset="-78"/>
              </a:rPr>
              <a:t>, and keep every case ending accurate.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five verbs, four frequencies, all three preference structures and a reason.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أُفَضِّلُ ______ عَلَى ______ لِأَنَّ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prefer … to … because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أَسْتَمْتِعُ بِـ ______ أَكْثَرَ مِنْ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enjoy … more than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أَهْوَى ______ حَقًّا.</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truly love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أَمَّا هِوَايَتِي المُفَضَّلَةُ فَهِيَ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As for my favourite hobby, it is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2" charset="-78"/>
                <a:ea typeface="Amiri" pitchFamily="2" charset="-78"/>
                <a:cs typeface="Amiri" pitchFamily="2" charset="-78"/>
              </a:rPr>
              <a:t>فِي وَقْتِ فَرَاغِي أَلْعَبُ ______ مَرَّةً فِي الأُسْبُوعِ.</a:t>
            </a:r>
            <a:endParaRPr lang="ar-SA" sz="165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free time I play … once a week.</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أُمَارِسُ ______ مَرَّتَيْنِ فِي الأُسْبُوعِ.</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practise … twice a week.</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أَعْزِفُ عَلَى ______ يَوْمِيًّا.</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play (instrument) … every day.</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أَسْتَمِعُ إِلَى ______ فِي المَسَاءِ.</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listen to … in the evening.</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أَلْعَبُ  ·  أُمَارِسُ  ·  أَعْزِفُ عَلَى  ·  أَسْتَمِعُ إِلَى  ·  أُشَاهِدُ  ·  مَرَّةً  ·  مَرَّتَيْنِ  ·  ثَلَاثَ مَرَّاتٍ  ·  يَوْمِيًّا  ·  نَادِرًا  ·  أُفَضِّلُ … عَلَى  ·  لِأَنَّ</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eight sentences about your hobbies. Use five different collocation verbs, four different frequency expressions and all three preference structures. Give a reason with </a:t>
            </a:r>
            <a:pPr algn="l" indent="0" marL="0">
              <a:buNone/>
            </a:pPr>
            <a:r>
              <a:rPr lang="ar-SA" altLang="en-US" sz="1750" b="1" dirty="0">
                <a:solidFill>
                  <a:srgbClr val="1F2A37"/>
                </a:solidFill>
                <a:latin typeface="Amiri" pitchFamily="2" charset="-78"/>
                <a:ea typeface="Amiri" pitchFamily="2" charset="-78"/>
                <a:cs typeface="Amiri" pitchFamily="2" charset="-78"/>
              </a:rPr>
              <a:t>لِأَنَّ</a:t>
            </a:r>
            <a:pPr algn="l" indent="0" marL="0">
              <a:buNone/>
            </a:pPr>
            <a:r>
              <a:rPr lang="en-US" sz="1350" b="1" dirty="0">
                <a:solidFill>
                  <a:srgbClr val="1F2A37"/>
                </a:solidFill>
                <a:latin typeface="Calibri" pitchFamily="34" charset="0"/>
                <a:cs typeface="Amiri" pitchFamily="2" charset="-78"/>
              </a:rPr>
              <a:t> for your favourite hobby.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Five different collocation verbs, each with the noun ending it requires.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Four different frequency expressions, including the dual </a:t>
            </a:r>
            <a:pPr algn="l" indent="0" marL="0">
              <a:buNone/>
            </a:pPr>
            <a:r>
              <a:rPr lang="ar-SA" altLang="en-US" sz="1550" dirty="0">
                <a:solidFill>
                  <a:srgbClr val="1F2A37"/>
                </a:solidFill>
                <a:latin typeface="Amiri" pitchFamily="2" charset="-78"/>
                <a:ea typeface="Amiri" pitchFamily="2" charset="-78"/>
                <a:cs typeface="Amiri" pitchFamily="2" charset="-78"/>
              </a:rPr>
              <a:t>مَرَّتَيْنِ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three preference structures: </a:t>
            </a:r>
            <a:pPr algn="l" indent="0" marL="0">
              <a:buNone/>
            </a:pPr>
            <a:r>
              <a:rPr lang="ar-SA" altLang="en-US" sz="1550" dirty="0">
                <a:solidFill>
                  <a:srgbClr val="1F2A37"/>
                </a:solidFill>
                <a:latin typeface="Amiri" pitchFamily="2" charset="-78"/>
                <a:ea typeface="Amiri" pitchFamily="2" charset="-78"/>
                <a:cs typeface="Amiri" pitchFamily="2" charset="-78"/>
              </a:rPr>
              <a:t>أُفَضِّلُ … عَلَى، أَسْتَمْتِعُ بِـ، أَهْوَى … حَقًّا</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reason with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where the pronoun matches its noun in gender.</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أُفَضِّلُ الأَنْشِطَةَ الهَادِئَةَ عَلَى الأَلْعَابِ السَّرِيعَةِ</a:t>
            </a:r>
            <a:endParaRPr lang="ar-SA" sz="155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prefer quiet activities to fast games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أَسْتَمْتِعُ بِالقِرَاءَةِ أَكْثَرَ مِنْ مُشَاهَدَةِ الأَفْلَامِ</a:t>
            </a:r>
            <a:endParaRPr lang="ar-SA" sz="16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enjoy reading more than watching films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أَهْوَاهُ حَقًّا لِأَنَّهُ يَجْعَلُنِي سَعِيدًا</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truly love it because it makes me happy</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تُرِيحُنِي بَعْدَ الدِّرَاسَةِ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relaxes me after studying</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وَمَعَ ذٰلِكَ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yet …</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وَقْتِ فَرَاغِي أُمَارِسُ السِّبَاحَةَ مَرَّتَيْنِ فِي الأُسْبُوعِ، وَأَلْعَبُ كُرَةَ السَّلَّةِ مَرَّةً فِي الأُسْبُوعِ. وَأَعْزِفُ عَلَى العُودِ يَوْمِيًّا لِأَنَّ المُوسِيقَى تُرِيحُنِي. أُفَضِّلُ الأَنْشِطَةَ الهَادِئَةَ عَلَى الأَلْعَابِ السَّرِيعَةِ، وَأَسْتَمْتِعُ بِالقِرَاءَةِ أَكْثَرَ مِنْ مُشَاهَدَةِ الأَفْلَامِ. أَمَّا هِوَايَتِي المُفَضَّلَةُ فَهِيَ الرَّسْمُ، وَأَهْوَاهُ حَقًّا لِأَنَّهُ يَجْعَلُنِي سَعِيدًا.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In my free time I go swimming twice a week, and I play basketball once a week. I play the oud every day because music relaxes me. I prefer quiet activities to fast games, and I enjoy reading more than watching films. As for my favourite hobby, it is drawing, and I truly love it because it makes me happy.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three different collocation verbs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three frequency phrases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preference structures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a reason with لِأَنَّ</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Each hobby has the right verb.</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said how often (</a:t>
            </a:r>
            <a:pPr algn="l" indent="0" marL="0">
              <a:buNone/>
            </a:pPr>
            <a:r>
              <a:rPr lang="ar-SA" altLang="en-US" sz="1700" dirty="0">
                <a:solidFill>
                  <a:srgbClr val="1F2A37"/>
                </a:solidFill>
                <a:latin typeface="Amiri" pitchFamily="2" charset="-78"/>
                <a:ea typeface="Amiri" pitchFamily="2" charset="-78"/>
                <a:cs typeface="Amiri" pitchFamily="2" charset="-78"/>
              </a:rPr>
              <a:t>مَرَّةً / مَرَّتَيْنِ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t>
            </a:r>
            <a:pPr algn="l" indent="0" marL="0">
              <a:buNone/>
            </a:pPr>
            <a:r>
              <a:rPr lang="ar-SA" altLang="en-US" sz="1700" dirty="0">
                <a:solidFill>
                  <a:srgbClr val="1F2A37"/>
                </a:solidFill>
                <a:latin typeface="Amiri" pitchFamily="2" charset="-78"/>
                <a:ea typeface="Amiri" pitchFamily="2" charset="-78"/>
                <a:cs typeface="Amiri" pitchFamily="2" charset="-78"/>
              </a:rPr>
              <a:t>عَلَى</a:t>
            </a:r>
            <a:pPr algn="l" indent="0" marL="0">
              <a:buNone/>
            </a:pPr>
            <a:r>
              <a:rPr lang="en-US" sz="1300" dirty="0">
                <a:solidFill>
                  <a:srgbClr val="1F2A37"/>
                </a:solidFill>
                <a:latin typeface="Calibri" pitchFamily="34" charset="0"/>
                <a:cs typeface="Amiri" pitchFamily="2" charset="-78"/>
              </a:rPr>
              <a:t> after </a:t>
            </a:r>
            <a:pPr algn="l" indent="0" marL="0">
              <a:buNone/>
            </a:pPr>
            <a:r>
              <a:rPr lang="ar-SA" altLang="en-US" sz="1700" dirty="0">
                <a:solidFill>
                  <a:srgbClr val="1F2A37"/>
                </a:solidFill>
                <a:latin typeface="Amiri" pitchFamily="2" charset="-78"/>
                <a:ea typeface="Amiri" pitchFamily="2" charset="-78"/>
                <a:cs typeface="Amiri" pitchFamily="2" charset="-78"/>
              </a:rPr>
              <a:t>أَعْزِفُ</a:t>
            </a:r>
            <a:pPr algn="l" indent="0" marL="0">
              <a:buNone/>
            </a:pPr>
            <a:r>
              <a:rPr lang="en-US" sz="1300" dirty="0">
                <a:solidFill>
                  <a:srgbClr val="1F2A37"/>
                </a:solidFill>
                <a:latin typeface="Calibri" pitchFamily="34" charset="0"/>
                <a:cs typeface="Amiri" pitchFamily="2" charset="-78"/>
              </a:rPr>
              <a:t> and </a:t>
            </a:r>
            <a:pPr algn="l" indent="0" marL="0">
              <a:buNone/>
            </a:pPr>
            <a:r>
              <a:rPr lang="ar-SA" altLang="en-US" sz="1700" dirty="0">
                <a:solidFill>
                  <a:srgbClr val="1F2A37"/>
                </a:solidFill>
                <a:latin typeface="Amiri" pitchFamily="2" charset="-78"/>
                <a:ea typeface="Amiri" pitchFamily="2" charset="-78"/>
                <a:cs typeface="Amiri" pitchFamily="2" charset="-78"/>
              </a:rPr>
              <a:t>إِلَى</a:t>
            </a:r>
            <a:pPr algn="l" indent="0" marL="0">
              <a:buNone/>
            </a:pPr>
            <a:r>
              <a:rPr lang="en-US" sz="1300" dirty="0">
                <a:solidFill>
                  <a:srgbClr val="1F2A37"/>
                </a:solidFill>
                <a:latin typeface="Calibri" pitchFamily="34" charset="0"/>
                <a:cs typeface="Amiri" pitchFamily="2" charset="-78"/>
              </a:rPr>
              <a:t> after </a:t>
            </a:r>
            <a:pPr algn="l" indent="0" marL="0">
              <a:buNone/>
            </a:pPr>
            <a:r>
              <a:rPr lang="ar-SA" altLang="en-US" sz="1700" dirty="0">
                <a:solidFill>
                  <a:srgbClr val="1F2A37"/>
                </a:solidFill>
                <a:latin typeface="Amiri" pitchFamily="2" charset="-78"/>
                <a:ea typeface="Amiri" pitchFamily="2" charset="-78"/>
                <a:cs typeface="Amiri" pitchFamily="2" charset="-78"/>
              </a:rPr>
              <a:t>أَسْتَمِعُ</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t>
            </a:r>
            <a:pPr algn="l" indent="0" marL="0">
              <a:buNone/>
            </a:pPr>
            <a:r>
              <a:rPr lang="ar-SA" altLang="en-US" sz="1700" dirty="0">
                <a:solidFill>
                  <a:srgbClr val="1F2A37"/>
                </a:solidFill>
                <a:latin typeface="Amiri" pitchFamily="2" charset="-78"/>
                <a:ea typeface="Amiri" pitchFamily="2" charset="-78"/>
                <a:cs typeface="Amiri" pitchFamily="2" charset="-78"/>
              </a:rPr>
              <a:t>أُفَضِّلُ … عَلَى</a:t>
            </a:r>
            <a:pPr algn="l" indent="0" marL="0">
              <a:buNone/>
            </a:pPr>
            <a:r>
              <a:rPr lang="en-US" sz="1300" dirty="0">
                <a:solidFill>
                  <a:srgbClr val="1F2A37"/>
                </a:solidFill>
                <a:latin typeface="Calibri" pitchFamily="34" charset="0"/>
                <a:cs typeface="Amiri" pitchFamily="2" charset="-78"/>
              </a:rPr>
              <a:t> with a reason.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all three preference structures.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collocation.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يُمَارِسُ تَسَلُّقَ الجِبَالِ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يَلْعَبُ تَسَلُّقَ الجِبَالِ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يَعْزِفُ تَسَلُّقَ الجِبَالِ</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frequency phrase.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مَرَّتَانِ فِي الشَّهْرِ</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مَرَّتَيْنِ فِي الشَّهْرِ</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مَرَّتَيْنَ فِي الشَّهْرِ</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preposition: </a:t>
            </a:r>
            <a:pPr algn="l" indent="0" marL="0">
              <a:buNone/>
            </a:pPr>
            <a:r>
              <a:rPr lang="ar-SA" altLang="en-US" sz="1650" b="1" dirty="0">
                <a:solidFill>
                  <a:srgbClr val="1B3B6F"/>
                </a:solidFill>
                <a:latin typeface="Amiri" pitchFamily="2" charset="-78"/>
                <a:ea typeface="Amiri" pitchFamily="2" charset="-78"/>
                <a:cs typeface="Amiri" pitchFamily="2" charset="-78"/>
              </a:rPr>
              <a:t>أَسْتَمِعُ</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المُوسِيقَى</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collocation.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يُمَارِسُ تَسَلُّقَ الجِبَالِ</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يَلْعَبُ تَسَلُّقَ الجِبَالِ</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يَعْزِفُ تَسَلُّقَ الجِبَالِ</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Mountain climbing is a sustained activity, so it takes </a:t>
            </a:r>
            <a:pPr algn="l" indent="0" marL="0">
              <a:buNone/>
            </a:pPr>
            <a:r>
              <a:rPr lang="ar-SA" altLang="en-US" sz="1350" dirty="0">
                <a:solidFill>
                  <a:srgbClr val="8A6D1E"/>
                </a:solidFill>
                <a:latin typeface="Amiri" pitchFamily="2" charset="-78"/>
                <a:ea typeface="Amiri" pitchFamily="2" charset="-78"/>
                <a:cs typeface="Amiri" pitchFamily="2" charset="-78"/>
              </a:rPr>
              <a:t>يُمَارِسُ</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frequency phrase.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مَرَّتَانِ فِي الشَّهْرِ</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مَرَّتَيْنِ فِي الشَّهْرِ</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مَرَّتَيْنَ فِي الشَّهْرِ</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dual in an adverbial accusative is </a:t>
            </a:r>
            <a:pPr algn="l" indent="0" marL="0">
              <a:buNone/>
            </a:pPr>
            <a:r>
              <a:rPr lang="ar-SA" altLang="en-US" sz="1350" dirty="0">
                <a:solidFill>
                  <a:srgbClr val="8A6D1E"/>
                </a:solidFill>
                <a:latin typeface="Amiri" pitchFamily="2" charset="-78"/>
                <a:ea typeface="Amiri" pitchFamily="2" charset="-78"/>
                <a:cs typeface="Amiri" pitchFamily="2" charset="-78"/>
              </a:rPr>
              <a:t>مَرَّتَيْنِ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preposition: </a:t>
            </a:r>
            <a:pPr algn="l" indent="0" marL="0">
              <a:buNone/>
            </a:pPr>
            <a:r>
              <a:rPr lang="ar-SA" altLang="en-US" sz="1650" b="1" dirty="0">
                <a:solidFill>
                  <a:srgbClr val="1B3B6F"/>
                </a:solidFill>
                <a:latin typeface="Amiri" pitchFamily="2" charset="-78"/>
                <a:ea typeface="Amiri" pitchFamily="2" charset="-78"/>
                <a:cs typeface="Amiri" pitchFamily="2" charset="-78"/>
              </a:rPr>
              <a:t>أَسْتَمِعُ</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المُوسِيقَى</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إِلَى</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بِـ</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عَلَى</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يَسْتَمِعُ</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 free-time profile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وَقْتِ فَرَاغِي أُمَارِسُ رِيَاضَةَ اليُوغَا مَرَّةً فِي الأُسْبُوعِ، وَأَرْكَبُ الدَّرَّاجَةَ مَعَ أَصْدِقَائِي فِي نِهَايَةِ الأُسْبُوعِ. وَأَنَا أُفَضِّلُ الأَنْشِطَةَ الهَادِئَةَ عَلَى الأَلْعَابِ السَّرِيعَةِ، لِأَنَّنِي أَسْتَمْتِعُ بِالقِرَاءَةِ وَالرَّسْمِ أَكْثَرَ مِنَ المُبَارَيَاتِ. وَمَعَ ذٰلِكَ أُشَاهِدُ مُبَارَاةَ كُرَةِ القَدَمِ أَحْيَانًا مَعَ أَبِي، وَنَتَنَاقَشُ فِيهَا طَوِيلًا. أَمَّا هِوَايَتِي المُفَضَّلَةُ فَهِيَ الغِنَاءُ، وَأَهْوَاهُ حَقًّا لِأَنَّهُ يَجْعَلُنِي سَعِيدَةً.</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رِيَاضَةَ اليُوغَا</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yoga</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أَرْكَبُ الدَّرَّاجَةَ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ride a bike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نِهَايَةِ الأُسْبُوعِ</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weekend</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الأَنْشِطَةَ الهَادِئَةَ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quiet activities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الأَلْعَابِ السَّرِيعَةِ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fast games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المُبَارَيَاتِ</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matches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أَحْيَانًا</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sometimes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نَتَنَاقَشُ</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discuss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الغِنَاءُ</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singing</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يَجْعَلُنِي سَعِيدَةً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makes me happy (f.)</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does the writer do yoga?</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Twice a week</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Once a week</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Daily</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prefer?</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Fast games to quiet activities</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Team sport to reading</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Quiet activities to fast games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do with her father?</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Watches a football match</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Cycles</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Sings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her favourite hobby?</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Yoga</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Singing</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Drawing</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she love it?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makes her happy</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free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friends do it</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does the writer do yoga?</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Twice a week</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Once a week</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Daily</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text says </a:t>
            </a:r>
            <a:pPr algn="l" indent="0" marL="0">
              <a:buNone/>
            </a:pPr>
            <a:r>
              <a:rPr lang="ar-SA" altLang="en-US" sz="1350" dirty="0">
                <a:solidFill>
                  <a:srgbClr val="8A6D1E"/>
                </a:solidFill>
                <a:latin typeface="Amiri" pitchFamily="2" charset="-78"/>
                <a:ea typeface="Amiri" pitchFamily="2" charset="-78"/>
                <a:cs typeface="Amiri" pitchFamily="2" charset="-78"/>
              </a:rPr>
              <a:t>مَرَّةً فِي الأُسْبُوعِ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prefer?</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Fast games to quiet activities</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Team sport to reading</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Quiet activities to fast games</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أُفَضِّلُ الأَنْشِطَةَ الهَادِئَةَ عَلَى الأَلْعَابِ السَّرِيعَةِ.</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do with her father?</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Watches a football match</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Cycles</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Sings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أُشَاهِدُ مُبَارَاةَ كُرَةِ القَدَمِ أَحْيَانًا مَعَ أَبِي.</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her favourite hobby?</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Yoga</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Singing</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Drawing</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هِوَايَتِي المُفَضَّلَةُ فَهِيَ الغِنَاءُ.</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she love it?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makes her happy</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free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friends do it</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لِأَنَّهُ يَجْعَلُنِي سَعِيدَةً.</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Free-Time Mission — Collocation, Frequency and Preference</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uses the football collocation accurately?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أُمَارِسُ كُرَةَ القَدَمِ فِي المَلْعَبِ.</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أَلْعَبُ كُرَةَ القَدَمِ فِي المَلْعَبِ.</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أَعْزِفُ عَلَى كُرَةِ القَدَمِ.</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uses the instrument collocation accurately?</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تَعْزِفُ عَلَى الكَمَانِ بِمَهَارَةٍ.</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تَعْزِفُ الكَمَانَ بِمَهَارَةٍ.</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تُمَارِسُ عَلَى الكَمَانِ بِمَهَارَةٍ.</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frequency phrase is accurate for “twice a week”?</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مَرَّتَانِ فِي الأُسْبُوعِ</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مَرَّتَيْنِ فِي الأُسْبُوعُ</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مَرَّتَيْنِ فِي الأُسْبُوعِ</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ranks two hobbies accurately?</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أُفَضِّلُ الغِنَاءَ مِنَ الرَّسْمِ.</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أُفَضِّلُ الغِنَاءُ عَلَى الرَّسْمَ.</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أُفَضِّلُ الغِنَاءَ عَلَى الرَّسْمِ.</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uses </a:t>
            </a:r>
            <a:pPr algn="l" indent="0" marL="0">
              <a:buNone/>
            </a:pPr>
            <a:r>
              <a:rPr lang="ar-SA" altLang="en-US" sz="1650" b="1" dirty="0">
                <a:solidFill>
                  <a:srgbClr val="1B3B6F"/>
                </a:solidFill>
                <a:latin typeface="Amiri" pitchFamily="2" charset="-78"/>
                <a:ea typeface="Amiri" pitchFamily="2" charset="-78"/>
                <a:cs typeface="Amiri" pitchFamily="2" charset="-78"/>
              </a:rPr>
              <a:t>أَسْتَمْتِعُ</a:t>
            </a:r>
            <a:pPr algn="l" indent="0" marL="0">
              <a:buNone/>
            </a:pPr>
            <a:r>
              <a:rPr lang="en-US" sz="1250" b="1" dirty="0">
                <a:solidFill>
                  <a:srgbClr val="1B3B6F"/>
                </a:solidFill>
                <a:latin typeface="Calibri" pitchFamily="34" charset="0"/>
                <a:cs typeface="Amiri" pitchFamily="2" charset="-78"/>
              </a:rPr>
              <a:t> accurately?</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أَسْتَمْتِعُ بِرُكُوبِ الدَّرَّاجَةِ.</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أَسْتَمْتِعُ رُكُوبَ الدَّرَّاجَةِ.</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أَسْتَمْتِعُ عَلَى رُكُوبِ الدَّرَّاجَةِ.</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gives an activity, a frequency and a reason?</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2" charset="-78"/>
                <a:ea typeface="Amiri" pitchFamily="2" charset="-78"/>
                <a:cs typeface="Amiri" pitchFamily="2" charset="-78"/>
              </a:rPr>
              <a:t>أُمَارِسُ اليُوغَا لِأَنَّهَا.</a:t>
            </a:r>
            <a:endParaRPr lang="ar-SA" sz="140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2" charset="-78"/>
                <a:ea typeface="Amiri" pitchFamily="2" charset="-78"/>
                <a:cs typeface="Amiri" pitchFamily="2" charset="-78"/>
              </a:rPr>
              <a:t>أُمَارِسُ اليُوغَا مَرَّةً فِي الأُسْبُوعِ لِأَنَّهَا تُرِيحُنِي.</a:t>
            </a:r>
            <a:endParaRPr lang="ar-SA" sz="140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2" charset="-78"/>
                <a:ea typeface="Amiri" pitchFamily="2" charset="-78"/>
                <a:cs typeface="Amiri" pitchFamily="2" charset="-78"/>
              </a:rPr>
              <a:t>اليُوغَا مَرَّةً أُمَارِسُ.</a:t>
            </a:r>
            <a:endParaRPr lang="ar-SA" sz="14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uses the football collocation accurately?</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أُمَارِسُ كُرَةَ القَدَمِ فِي المَلْعَبِ.</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أَلْعَبُ كُرَةَ القَدَمِ فِي المَلْعَبِ.</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أَعْزِفُ عَلَى كُرَةِ القَدَمِ.</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Ball games take </a:t>
            </a:r>
            <a:pPr algn="l" indent="0" marL="0">
              <a:buNone/>
            </a:pPr>
            <a:r>
              <a:rPr lang="ar-SA" altLang="en-US" sz="1350" dirty="0">
                <a:solidFill>
                  <a:srgbClr val="8A6D1E"/>
                </a:solidFill>
                <a:latin typeface="Amiri" pitchFamily="2" charset="-78"/>
                <a:ea typeface="Amiri" pitchFamily="2" charset="-78"/>
                <a:cs typeface="Amiri" pitchFamily="2" charset="-78"/>
              </a:rPr>
              <a:t>يَلْعَبُ</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uses the instrument collocation accurately?</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تَعْزِفُ عَلَى الكَمَانِ بِمَهَارَةٍ.</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تَعْزِفُ الكَمَانَ بِمَهَارَةٍ.</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تُمَارِسُ عَلَى الكَمَانِ بِمَهَارَةٍ.</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يَعْزِفُ</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 and the instrument is genitive.</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frequency phrase is accurate for “twice a week”?</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مَرَّتَانِ فِي الأُسْبُوعِ</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مَرَّتَيْنِ فِي الأُسْبُوعُ</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مَرَّتَيْنِ فِي الأُسْبُوعِ</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dual is </a:t>
            </a:r>
            <a:pPr algn="l" indent="0" marL="0">
              <a:buNone/>
            </a:pPr>
            <a:r>
              <a:rPr lang="ar-SA" altLang="en-US" sz="1350" dirty="0">
                <a:solidFill>
                  <a:srgbClr val="8A6D1E"/>
                </a:solidFill>
                <a:latin typeface="Amiri" pitchFamily="2" charset="-78"/>
                <a:ea typeface="Amiri" pitchFamily="2" charset="-78"/>
                <a:cs typeface="Amiri" pitchFamily="2" charset="-78"/>
              </a:rPr>
              <a:t>مَرَّتَيْنِ</a:t>
            </a:r>
            <a:pPr algn="l" indent="0" marL="0">
              <a:buNone/>
            </a:pPr>
            <a:r>
              <a:rPr lang="en-US" sz="1050" i="1" dirty="0">
                <a:solidFill>
                  <a:srgbClr val="8A6D1E"/>
                </a:solidFill>
                <a:latin typeface="Calibri" pitchFamily="34" charset="0"/>
                <a:cs typeface="Amiri" pitchFamily="2" charset="-78"/>
              </a:rPr>
              <a:t> and the noun after </a:t>
            </a:r>
            <a:pPr algn="l" indent="0" marL="0">
              <a:buNone/>
            </a:pPr>
            <a:r>
              <a:rPr lang="ar-SA" altLang="en-US" sz="1350" dirty="0">
                <a:solidFill>
                  <a:srgbClr val="8A6D1E"/>
                </a:solidFill>
                <a:latin typeface="Amiri" pitchFamily="2" charset="-78"/>
                <a:ea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 is genitive.</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ranks two hobbies accurately?</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أُفَضِّلُ الغِنَاءَ مِنَ الرَّسْمِ.</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أُفَضِّلُ الغِنَاءُ عَلَى الرَّسْمَ.</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أُفَضِّلُ الغِنَاءَ عَلَى الرَّسْمِ.</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أُفَضِّلُ</a:t>
            </a:r>
            <a:pPr algn="l" indent="0" marL="0">
              <a:buNone/>
            </a:pPr>
            <a:r>
              <a:rPr lang="en-US" sz="1050" i="1" dirty="0">
                <a:solidFill>
                  <a:srgbClr val="8A6D1E"/>
                </a:solidFill>
                <a:latin typeface="Calibri" pitchFamily="34" charset="0"/>
                <a:cs typeface="Amiri" pitchFamily="2" charset="-78"/>
              </a:rPr>
              <a:t> takes an accusative object and </a:t>
            </a:r>
            <a:pPr algn="l" indent="0" marL="0">
              <a:buNone/>
            </a:pPr>
            <a:r>
              <a:rPr lang="ar-SA" altLang="en-US" sz="1350" dirty="0">
                <a:solidFill>
                  <a:srgbClr val="8A6D1E"/>
                </a:solidFill>
                <a:latin typeface="Amiri" pitchFamily="2" charset="-78"/>
                <a:ea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 with the genitive.</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uses </a:t>
            </a:r>
            <a:pPr algn="l" indent="0" marL="0">
              <a:buNone/>
            </a:pPr>
            <a:r>
              <a:rPr lang="ar-SA" altLang="en-US" sz="1650" b="1" dirty="0">
                <a:solidFill>
                  <a:srgbClr val="1B3B6F"/>
                </a:solidFill>
                <a:latin typeface="Amiri" pitchFamily="2" charset="-78"/>
                <a:ea typeface="Amiri" pitchFamily="2" charset="-78"/>
                <a:cs typeface="Amiri" pitchFamily="2" charset="-78"/>
              </a:rPr>
              <a:t>أَسْتَمْتِعُ</a:t>
            </a:r>
            <a:pPr algn="l" indent="0" marL="0">
              <a:buNone/>
            </a:pPr>
            <a:r>
              <a:rPr lang="en-US" sz="1250" b="1" dirty="0">
                <a:solidFill>
                  <a:srgbClr val="1B3B6F"/>
                </a:solidFill>
                <a:latin typeface="Calibri" pitchFamily="34" charset="0"/>
                <a:cs typeface="Amiri" pitchFamily="2" charset="-78"/>
              </a:rPr>
              <a:t> accurately?</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أَسْتَمْتِعُ بِرُكُوبِ الدَّرَّاجَةِ.</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أَسْتَمْتِعُ رُكُوبَ الدَّرَّاجَةِ.</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أَسْتَمْتِعُ عَلَى رُكُوبِ الدَّرَّاجَةِ.</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أَسْتَمْتِعُ</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gives an activity, a frequency and a reason?</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400" dirty="0">
                <a:solidFill>
                  <a:srgbClr val="9AA1AB"/>
                </a:solidFill>
                <a:latin typeface="Amiri" pitchFamily="2" charset="-78"/>
                <a:ea typeface="Amiri" pitchFamily="2" charset="-78"/>
                <a:cs typeface="Amiri" pitchFamily="2" charset="-78"/>
              </a:rPr>
              <a:t>أُمَارِسُ اليُوغَا لِأَنَّهَا.</a:t>
            </a:r>
            <a:endParaRPr lang="ar-SA" sz="14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أُمَارِسُ اليُوغَا مَرَّةً فِي الأُسْبُوعِ لِأَنَّهَا تُرِيحُنِي.</a:t>
            </a:r>
            <a:endParaRPr lang="ar-SA" sz="14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400" dirty="0">
                <a:solidFill>
                  <a:srgbClr val="9AA1AB"/>
                </a:solidFill>
                <a:latin typeface="Amiri" pitchFamily="2" charset="-78"/>
                <a:ea typeface="Amiri" pitchFamily="2" charset="-78"/>
                <a:cs typeface="Amiri" pitchFamily="2" charset="-78"/>
              </a:rPr>
              <a:t>اليُوغَا مَرَّةً أُمَارِسُ.</a:t>
            </a:r>
            <a:endParaRPr lang="ar-SA" sz="14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accurate answer names the activity, states how often and gives a reason.</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D5-L01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D5-L02: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D5-L02 · Sport — Vocabulary, Famous Athletes and Cultural Context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فَرِيقٌ</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team</a:t>
            </a:r>
            <a:pPr indent="0" marL="0">
              <a:buNone/>
            </a:pPr>
            <a:r>
              <a:rPr lang="ar-SA" sz="1000" i="1" dirty="0">
                <a:solidFill>
                  <a:srgbClr val="5A6472"/>
                </a:solidFill>
                <a:latin typeface="Calibri" pitchFamily="34" charset="0"/>
                <a:ea typeface="Amiri" pitchFamily="2" charset="-78"/>
                <a:cs typeface="Amiri" pitchFamily="2" charset="-78"/>
              </a:rPr>
              <a:t>  pl. فِرَقٌ</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مُبَارَاةٌ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match</a:t>
            </a:r>
            <a:pPr indent="0" marL="0">
              <a:buNone/>
            </a:pPr>
            <a:r>
              <a:rPr lang="ar-SA" sz="1000" i="1" dirty="0">
                <a:solidFill>
                  <a:srgbClr val="5A6472"/>
                </a:solidFill>
                <a:latin typeface="Calibri" pitchFamily="34" charset="0"/>
                <a:ea typeface="Amiri" pitchFamily="2" charset="-78"/>
                <a:cs typeface="Amiri" pitchFamily="2" charset="-78"/>
              </a:rPr>
              <a:t>  pl. مُبَارَيَاتٌ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بُطُولَةٌ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championship</a:t>
            </a:r>
            <a:pPr indent="0" marL="0">
              <a:buNone/>
            </a:pPr>
            <a:r>
              <a:rPr lang="ar-SA" sz="1000" i="1" dirty="0">
                <a:solidFill>
                  <a:srgbClr val="5A6472"/>
                </a:solidFill>
                <a:latin typeface="Calibri" pitchFamily="34" charset="0"/>
                <a:ea typeface="Amiri" pitchFamily="2" charset="-78"/>
                <a:cs typeface="Amiri" pitchFamily="2" charset="-78"/>
              </a:rPr>
              <a:t>  pl. بُطُولَاتٌ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فَازَ بِـ</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won (a prize)</a:t>
            </a:r>
            <a:pPr indent="0" marL="0">
              <a:buNone/>
            </a:pPr>
            <a:r>
              <a:rPr lang="ar-SA" sz="1000" i="1" dirty="0">
                <a:solidFill>
                  <a:srgbClr val="5A6472"/>
                </a:solidFill>
                <a:latin typeface="Calibri" pitchFamily="34" charset="0"/>
                <a:ea typeface="Amiri" pitchFamily="2" charset="-78"/>
                <a:cs typeface="Amiri" pitchFamily="2" charset="-78"/>
              </a:rPr>
              <a:t>  فَازَتْ she</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لَاعِبٌ / لَاعِبَةٌ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player (m / f)</a:t>
            </a:r>
            <a:pPr indent="0" marL="0">
              <a:buNone/>
            </a:pPr>
            <a:r>
              <a:rPr lang="ar-SA" sz="1000" i="1" dirty="0">
                <a:solidFill>
                  <a:srgbClr val="5A6472"/>
                </a:solidFill>
                <a:latin typeface="Calibri" pitchFamily="34" charset="0"/>
                <a:ea typeface="Amiri" pitchFamily="2" charset="-78"/>
                <a:cs typeface="Amiri" pitchFamily="2" charset="-78"/>
              </a:rPr>
              <a:t>  pl. لَاعِبُونَ</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Which sport do you like to watch or play, and who is your favourite player?</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أُحِبُّ … وَلَاعِبِي المُفَضَّلُ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the 12 core hobbies with their verbs; write six sentences from the frames.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An 8-sentence paragraph with four verb families and </a:t>
            </a:r>
            <a:pPr algn="l" indent="0" marL="0">
              <a:buNone/>
            </a:pPr>
            <a:r>
              <a:rPr lang="ar-SA" altLang="en-US" sz="1550" dirty="0">
                <a:solidFill>
                  <a:srgbClr val="1F2A37"/>
                </a:solidFill>
                <a:latin typeface="Amiri" pitchFamily="2" charset="-78"/>
                <a:ea typeface="Amiri" pitchFamily="2" charset="-78"/>
                <a:cs typeface="Amiri" pitchFamily="2" charset="-78"/>
              </a:rPr>
              <a:t>أُفَضِّلُ … عَلَى</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8+ sentences, all three preference structures and a reason.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D5-L01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D5-L02 · Sport — Vocabulary, Famous Athletes and Cultural Context</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الرِّيَاضَةُ وَالرِّيَاضِيُّونَ المَشْهُورُونَ</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learn the whole collocation — </a:t>
            </a:r>
            <a:pPr algn="l" indent="0" marL="0">
              <a:buNone/>
            </a:pPr>
            <a:r>
              <a:rPr lang="ar-SA" altLang="en-US" sz="1700" b="1" dirty="0">
                <a:solidFill>
                  <a:srgbClr val="FFFFFF"/>
                </a:solidFill>
                <a:latin typeface="Amiri" pitchFamily="2" charset="-78"/>
                <a:ea typeface="Amiri" pitchFamily="2" charset="-78"/>
                <a:cs typeface="Amiri" pitchFamily="2" charset="-78"/>
              </a:rPr>
              <a:t>أَلْعَبُ</a:t>
            </a:r>
            <a:pPr algn="l" indent="0" marL="0">
              <a:buNone/>
            </a:pPr>
            <a:r>
              <a:rPr lang="en-US" sz="1300" b="1" dirty="0">
                <a:solidFill>
                  <a:srgbClr val="FFFFFF"/>
                </a:solidFill>
                <a:latin typeface="Calibri" pitchFamily="34" charset="0"/>
                <a:cs typeface="Amiri" pitchFamily="2" charset="-78"/>
              </a:rPr>
              <a:t> · </a:t>
            </a:r>
            <a:pPr algn="l" indent="0" marL="0">
              <a:buNone/>
            </a:pPr>
            <a:r>
              <a:rPr lang="ar-SA" altLang="en-US" sz="1700" b="1" dirty="0">
                <a:solidFill>
                  <a:srgbClr val="FFFFFF"/>
                </a:solidFill>
                <a:latin typeface="Amiri" pitchFamily="2" charset="-78"/>
                <a:ea typeface="Amiri" pitchFamily="2" charset="-78"/>
                <a:cs typeface="Amiri" pitchFamily="2" charset="-78"/>
              </a:rPr>
              <a:t>أُمَارِسُ</a:t>
            </a:r>
            <a:pPr algn="l" indent="0" marL="0">
              <a:buNone/>
            </a:pPr>
            <a:r>
              <a:rPr lang="en-US" sz="1300" b="1" dirty="0">
                <a:solidFill>
                  <a:srgbClr val="FFFFFF"/>
                </a:solidFill>
                <a:latin typeface="Calibri" pitchFamily="34" charset="0"/>
                <a:cs typeface="Amiri" pitchFamily="2" charset="-78"/>
              </a:rPr>
              <a:t> · </a:t>
            </a:r>
            <a:pPr algn="l" indent="0" marL="0">
              <a:buNone/>
            </a:pPr>
            <a:r>
              <a:rPr lang="ar-SA" altLang="en-US" sz="1700" b="1" dirty="0">
                <a:solidFill>
                  <a:srgbClr val="FFFFFF"/>
                </a:solidFill>
                <a:latin typeface="Amiri" pitchFamily="2" charset="-78"/>
                <a:ea typeface="Amiri" pitchFamily="2" charset="-78"/>
                <a:cs typeface="Amiri" pitchFamily="2" charset="-78"/>
              </a:rPr>
              <a:t>أَعْزِفُ عَلَى</a:t>
            </a:r>
            <a:pPr algn="l" indent="0" marL="0">
              <a:buNone/>
            </a:pPr>
            <a:r>
              <a:rPr lang="en-US" sz="1300" b="1" dirty="0">
                <a:solidFill>
                  <a:srgbClr val="FFFFFF"/>
                </a:solidFill>
                <a:latin typeface="Calibri" pitchFamily="34" charset="0"/>
                <a:cs typeface="Amiri" pitchFamily="2" charset="-78"/>
              </a:rPr>
              <a:t> · </a:t>
            </a:r>
            <a:pPr algn="l" indent="0" marL="0">
              <a:buNone/>
            </a:pPr>
            <a:r>
              <a:rPr lang="ar-SA" altLang="en-US" sz="1700" b="1" dirty="0">
                <a:solidFill>
                  <a:srgbClr val="FFFFFF"/>
                </a:solidFill>
                <a:latin typeface="Amiri" pitchFamily="2" charset="-78"/>
                <a:ea typeface="Amiri" pitchFamily="2" charset="-78"/>
                <a:cs typeface="Amiri" pitchFamily="2" charset="-78"/>
              </a:rPr>
              <a:t>أَسْتَمِعُ إِلَى</a:t>
            </a:r>
            <a:pPr algn="l" indent="0" marL="0">
              <a:buNone/>
            </a:pPr>
            <a:r>
              <a:rPr lang="en-US" sz="1300" b="1" dirty="0">
                <a:solidFill>
                  <a:srgbClr val="FFFFFF"/>
                </a:solidFill>
                <a:latin typeface="Calibri" pitchFamily="34" charset="0"/>
                <a:cs typeface="Amiri" pitchFamily="2" charset="-78"/>
              </a:rPr>
              <a:t> — then add how often and what you prefer.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D5-L01 · Hobbies and Free Time — Vocabulary and Present Habits</dc:title>
  <dc:subject>PptxGenJS Presentation</dc:subject>
  <dc:creator>Al Madina Online School · Arabic Department</dc:creator>
  <cp:lastModifiedBy>Al Madina Online School · Arabic Department</cp:lastModifiedBy>
  <cp:revision>1</cp:revision>
  <dcterms:created xsi:type="dcterms:W3CDTF">2026-10-11T06:40:57Z</dcterms:created>
  <dcterms:modified xsi:type="dcterms:W3CDTF">2026-10-11T06:40:57Z</dcterms:modified>
</cp:coreProperties>
</file>