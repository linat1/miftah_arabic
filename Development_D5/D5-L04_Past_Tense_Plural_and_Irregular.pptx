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D5-L04. The website lesson “Past Tense — Plural Forms and Irregular Verbs”: vocabulary, grammar rules and quiz, patterns, common mistakes, sorter, listening, reading, speaking prompts and model, writing task and model, differentiation, final check and the lesson mission. Picture match: website visual game “Past Tense — Plural Forms and Irregular Verbs”.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the نَحْنُ form of six regular verbs (ذَهَبْنَا · لَعِبْنَا · شَاهَدْنَا) and the هُمْ form (ذَهَبُوا). Develop: أَنْتُمْ in questions + the hollow verbs قُلْنَا · نِمْنَا · جِئْنَا. Stretch: weak-final verbs (مَشَيْنَا · رَأَيْنَا · اشْتَرَيْنَا · مَشَوْا) and a narrative with two connectors.
• The key idea: the ENDINGS never change; irregular verbs change the STEM first (website: “identify the family, adjust the stem, then attach the ending”).
• Builds directly on D5-L03 (singular endings). D5-L05 adds narrative connectors and كَانَ.
• TEACHER-WRITTEN ITEMS: two quiz distractors replaced (they differed only in vowels), English added to the patterns and speaking model; the website visual game repeats D5-L03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1–3 test three of the five words prepared at home at the end of D5-L03. Questions 4–5 retrieve the D5-L03 singular endings (هِيَ · أَنْتِ).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Same endings for every verb — irregular verbs just change their stem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شاذ و نادر (rare) and جمع (plural) are the same grammar words. افسوس is Persian, but Arabic أَسَفٌ (regret) is the root of لِلْأَسَفِ. CAREFUL: Urdu حظ (ḥaẓ) = enjoyment; Arabic حَظٌّ = luck.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Plural past forms (website vocabulary (1 of 2)). Hear → Say → See → Use. Transliteration is printed for Core students (cover it for Develop/Stretch).
Plural past forms: we -nā · you all -tum · they -ū (the final alif in ـُوا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Plural past forms (website vocabulary (2 of 2)). Hear → Say → See → Use. Transliteration is printed for Core students (cover it for Develop/Stretch).
Plural past forms: we -nā · you all -tum · they -ū (the final alif in ـُوا is silent).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Irregular past verbs (website vocabulary (1 of 2)). Hear → Say → See → Use. Transliteration is printed for Core students (cover it for Develop/Stretch).
Irregular past verbs: the card shows “he” → “we”. Hollow verbs shorten the middle (قَالَ → قُلْنَا); weak-final verbs change alif to yāʾ (مَشَى → مَشَيْنَا).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Irregular past verbs (website vocabulary (2 of 2)). Hear → Say → See → Use. Transliteration is printed for Core students (cover it for Develop/Stretch).
Irregular past verbs: the card shows “he” → “we”. Hollow verbs shorten the middle (قَالَ → قُلْنَا); weak-final verbs change alif to yāʾ (مَشَى → مَشَيْنَا).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narrative language (website vocabulary (1 of 2)). Hear → Say → See → Use. Transliteration is printed for Core students (cover it for Develop/Stretch).
Group narrative language: connectors for the story (فَجْأَةً · لِحُسْنِ الحَظِّ · لِلْأَسَفِ) and group verbs from other forms (قَرَّرْنَا · أَحْضَرْنَا · اجْتَمَعْنَا).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Group narrative language (website vocabulary (2 of 2)). Hear → Say → See → Use. Transliteration is printed for Core students (cover it for Develop/Stretch).
Group narrative language: connectors for the story (فَجْأَةً · لِحُسْنِ الحَظِّ · لِلْأَسَفِ) and group verbs from other forms (قَرَّرْنَا · أَحْضَرْنَا · اجْتَمَعْنَا).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 “The three plural suffixes” (the نَحْنُ and أَنْتُمْ suffixes begin with a consonant; the هُمْ suffix is a long ū written with a silent alif). Website teaching point: “ـنَا turns your story into our story.”
Drill: teacher says a person, students chorus (نَحْنُ → لَعِبْنَا · هُمْ → لَعِبُوا). Website mistake: هُمْ لَعِبْنَا ✗ → هُمْ لَعِبُوا.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“Hollow verbs” (the long middle vowel shortens before a consonant suffix: u for قَالَ, i for نَامَ), “Weak-final verbs” (alif maqṣūra → yāʾ before a consonant suffix) and “هُمْ with a weak-final verb” (the final vowel letter drops and the verb takes ـَوْا).
Website mistakes: قَالْنَا ✗ → قُلْنَا · مَشَانَا ✗ → مَشَيْنَا. Core: قُلْنَا and مَشَيْنَا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new suffixes complete the past-tense system. Then three families of irregular verb change their stem before those suffixes. Identify the family first, adjust the stem, then attach the ending.”
• The three plural suffixes: The نَحْنُ and أَنْتُمْ suffixes begin with a consonant; the هُمْ suffix is a long ū written with a silent alif.
• Hollow verbs: A verb whose middle letter is a long vowel shortens that vowel before a consonant suffix. The short vowel matches the verb's own family: u for قَالَ, i for نَامَ.
• Weak-final verbs: A verb ending in alif maqṣūra replaces it with yāʾ before a consonant suffix.
• هُمْ with a weak-final verb: With هُمْ a regular verb takes ـُوا. A weak-final verb loses its final vowel letter and takes ـَوْا instead.
Website common error: Do not attach a plural suffix to an unchanged irregular stem. Adjust the stem first — قَالَ becomes قُلْـ and مَشَى becomes مَشَيْـ — and only then add the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5.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from the website listening (a group trip): “Who? We. Regular or irregular? Which family? Fix the stem, then -nā.” Students copy the box and underline the two weak-final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give the “he” form of every verb aloud: قُلْنَا → قَالَ · مَشَيْنَا → مَشَى.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give the “he” form of every verb aloud: قُلْنَا → قَالَ · مَشَيْنَا → مَشَى.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4,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4. Develop / Stretch: all 5 — then list the irregular verbs you heard (مَشَيْنَا · رَأَيْنَا · غَنَّيْنَا · نِمْنَا · قُلْنَا).
Listen 1: just listen. Listen 2: note answers. Then chat the letters.
Support: after the second listening, show the read-along slide (Arabic + English, line by line) for Core students.
SCRIPT (read aloud):
فِي الإِجَازَةِ المَاضِيَةِ قَرَّرْنَا أَنْ نَذْهَبَ إِلَى الجَبَلِ. اجْتَمَعْنَا صَبَاحًا وَأَحْضَرْنَا الطَّعَامَ وَالمَاءَ، ثُمَّ مَشَيْنَا سَاعَتَيْنِ حَتَّى وَصَلْنَا إِلَى القِمَّةِ. وَهُنَاكَ رَأَيْنَا مَنْظَرًا رَائِعًا، وَغَنَّيْنَا مَعًا وَضَحِكْنَا كَثِيرًا. فَجْأَةً بَدَأَ المَطَرُ، وَلِحُسْنِ الحَظِّ أَحْضَرْنَا مَعَاطِفَ. وَفِي المَسَاءِ نِمْنَا مُبَكِّرِينَ لِأَنَّنَا تَعِبْنَا، وَقُلْنَا إِنَّنَا أَمْضَيْنَا وَقْتًا مُمْتِعًا حَقًّا.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وَمَاذَا رَأَيْتُمْ هُنَاكَ؟ (And what did you see there?)
B: رَأَيْنَا مَنْظَرًا رَائِعًا، وَغَنَّيْنَا مَعًا، وَقُلْنَا إِنَّنَا سَنَعُودُ. (We saw a wonderful view, sang together, and said that we would come back.)
Website prompts and model (a أَنْتُمْ question answered with نَحْنُ verbs). Pairs: A asks with ـتُمْ, B answers with ـنَا — then swap. Listen for one irregular verb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Extend the conjugation table to the three plural persons, then write five نَحْنُ sentences. · Develop — Write a linked narrative that also uses a هُمْ verb and one irregular verb. · Stretch — Include a hollow verb, a weak-final verb and two connectors in a narrative that keeps every stem and ending accurate.
Website writing task (Stretch): Write a narrative about something you did with others. Use at least six نَحْنُ verbs, two irregular verbs and two narrative connectors from فَجْأَةً، لِحُسْنِ الحَظِّ، لِلْأَسَفِ.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اجْتَمَعْنَا · قَرَّرْنَا · اشْتَرَيْنَا · جِئْنَا · مَشَيْنَا · رَأَيْنَا · أَحْضَرْنَا · غَنَّيْنَا · نِمْنَا · قُلْنَا · أَمْضَيْنَا; connectors فَجْأَةً · لِحُسْنِ الحَظِّ. Stretch: add one هُمْ verb (e.g. أَصْدِقَاؤُنَا لَعِبُوا …) to complete the website checklist.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(D5-L05 · Storytelling — Narrative Connectors and كَانَ Description) will spend class time USING this language, so students prepare it tonight — short, simple, easy to access (school guidance: “Simple, Short, Interesting, Relevant, Easy to access”). The five words come from the website D5-L05 vocabulary (narrative connectors and كَانَ).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Past Tense — Plural Forms and Irregular Verbs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الفِعْلُ المَاضِي — الجَمْعُ وَالأَفْعَالُ الشَّاذَّةُ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Tell a group story: we / you all / they did (</a:t>
            </a:r>
            <a:pPr algn="l" indent="0" marL="0">
              <a:buNone/>
            </a:pPr>
            <a:r>
              <a:rPr lang="ar-SA" altLang="en-US" sz="1800" dirty="0">
                <a:solidFill>
                  <a:srgbClr val="C6D2E6"/>
                </a:solidFill>
                <a:latin typeface="Amiri" pitchFamily="2" charset="-78"/>
                <a:ea typeface="Amiri" pitchFamily="2" charset="-78"/>
                <a:cs typeface="Amiri" pitchFamily="2" charset="-78"/>
              </a:rPr>
              <a:t>لَعِبْنَا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لَعِبْتُمْ</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لَعِبُوا</a:t>
            </a:r>
            <a:pPr algn="l" indent="0" marL="0">
              <a:buNone/>
            </a:pPr>
            <a:r>
              <a:rPr lang="en-US" sz="1400" dirty="0">
                <a:solidFill>
                  <a:srgbClr val="C6D2E6"/>
                </a:solidFill>
                <a:latin typeface="Calibri" pitchFamily="34" charset="0"/>
                <a:cs typeface="Amiri" pitchFamily="2" charset="-78"/>
              </a:rPr>
              <a:t>) — and fix the stem of irregular verbs first (</a:t>
            </a:r>
            <a:pPr algn="l" indent="0" marL="0">
              <a:buNone/>
            </a:pPr>
            <a:r>
              <a:rPr lang="ar-SA" altLang="en-US" sz="1800" dirty="0">
                <a:solidFill>
                  <a:srgbClr val="C6D2E6"/>
                </a:solidFill>
                <a:latin typeface="Amiri" pitchFamily="2" charset="-78"/>
                <a:ea typeface="Amiri" pitchFamily="2" charset="-78"/>
                <a:cs typeface="Amiri" pitchFamily="2" charset="-78"/>
              </a:rPr>
              <a:t>قَالَ</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قُلْنَا</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مَشَى</a:t>
            </a:r>
            <a:pPr algn="l" indent="0" marL="0">
              <a:buNone/>
            </a:pPr>
            <a:r>
              <a:rPr lang="en-US" sz="1400" dirty="0">
                <a:solidFill>
                  <a:srgbClr val="C6D2E6"/>
                </a:solidFill>
                <a:latin typeface="Calibri" pitchFamily="34" charset="0"/>
                <a:cs typeface="Amiri" pitchFamily="2" charset="-78"/>
              </a:rPr>
              <a:t> → </a:t>
            </a:r>
            <a:pPr algn="l" indent="0" marL="0">
              <a:buNone/>
            </a:pPr>
            <a:r>
              <a:rPr lang="ar-SA" altLang="en-US" sz="1800" dirty="0">
                <a:solidFill>
                  <a:srgbClr val="C6D2E6"/>
                </a:solidFill>
                <a:latin typeface="Amiri" pitchFamily="2" charset="-78"/>
                <a:ea typeface="Amiri" pitchFamily="2" charset="-78"/>
                <a:cs typeface="Amiri" pitchFamily="2" charset="-78"/>
              </a:rPr>
              <a:t>مَشَيْنَا</a:t>
            </a:r>
            <a:pPr algn="l" indent="0" marL="0">
              <a:buNone/>
            </a:pPr>
            <a:r>
              <a:rPr lang="en-US" sz="1400" dirty="0">
                <a:solidFill>
                  <a:srgbClr val="C6D2E6"/>
                </a:solidFill>
                <a:latin typeface="Calibri" pitchFamily="34" charset="0"/>
                <a:cs typeface="Amiri" pitchFamily="2" charset="-78"/>
              </a:rPr>
              <a:t>) before adding the ending.</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D5-L04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Three plural endings, then two irregular families.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verbs by family, fix stem slips, then a group trip.</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ذَهَبْنَا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went</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went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together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alone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again</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رَأَيْنَا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said</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slept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saw</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سَلْمَى لَوْحَةً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رَسَمْنَا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رَسَمُوا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رَسَمَتْ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“Did you (f.) watch the match?”</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شَاهَدْتِ المُبَارَاةَ؟</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شَاهَدْنَا المُبَارَاةَ؟</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شَاهَدُوا المُبَارَاةَ؟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ذَهَبْنَا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went</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 went</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went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مَعًا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together</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alone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again</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رَأَيْنَا</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said</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 slept</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 saw</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(D5-L03).</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سَلْمَى لَوْحَةً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رَسَمْنَا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رَسَمُوا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رَسَمَتْ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D5-L03: she →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“Did you (f.) watch the match?”</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شَاهَدْتِ المُبَارَاةَ؟</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شَاهَدْنَا المُبَارَاةَ؟</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شَاهَدُوا المُبَارَاةَ؟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D5-L03: you (f.) → -ti.</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Same endings for every verb — irregular verbs just change their stem first.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لَعِبْنَا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0E7C86"/>
                </a:solidFill>
                <a:latin typeface="Amiri" pitchFamily="2" charset="-78"/>
                <a:ea typeface="Amiri" pitchFamily="2" charset="-78"/>
                <a:cs typeface="Amiri" pitchFamily="2" charset="-78"/>
              </a:rPr>
              <a:t>قُلْنَا</a:t>
            </a:r>
            <a:pPr rtl="1" algn="ctr" indent="0" marL="0">
              <a:buNone/>
            </a:pPr>
            <a:r>
              <a:rPr lang="ar-SA" altLang="en-US" sz="2400" b="1" dirty="0">
                <a:solidFill>
                  <a:srgbClr val="1B3B6F"/>
                </a:solidFill>
                <a:latin typeface="Amiri" pitchFamily="2" charset="-78"/>
                <a:cs typeface="Amiri" pitchFamily="2" charset="-78"/>
              </a:rPr>
              <a:t> · </a:t>
            </a:r>
            <a:pPr rtl="1" algn="ctr" indent="0" marL="0">
              <a:buNone/>
            </a:pPr>
            <a:r>
              <a:rPr lang="ar-SA" altLang="en-US" sz="2400" b="1" dirty="0">
                <a:solidFill>
                  <a:srgbClr val="1D5FBF"/>
                </a:solidFill>
                <a:latin typeface="Amiri" pitchFamily="2" charset="-78"/>
                <a:ea typeface="Amiri" pitchFamily="2" charset="-78"/>
                <a:cs typeface="Amiri" pitchFamily="2" charset="-78"/>
              </a:rPr>
              <a:t>مَشَيْنَا</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past tense for </a:t>
            </a:r>
            <a:pPr algn="l" indent="0" marL="0">
              <a:buNone/>
            </a:pPr>
            <a:r>
              <a:rPr lang="ar-SA" altLang="en-US" sz="1700" dirty="0">
                <a:solidFill>
                  <a:srgbClr val="1F2A37"/>
                </a:solidFill>
                <a:latin typeface="Amiri" pitchFamily="2" charset="-78"/>
                <a:ea typeface="Amiri" pitchFamily="2" charset="-78"/>
                <a:cs typeface="Amiri" pitchFamily="2" charset="-78"/>
              </a:rPr>
              <a:t>نَحْنُ</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أَنْتُمْ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هُمْ</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Shorten the stem of hollow verbs (</a:t>
            </a:r>
            <a:pPr algn="l" indent="0" marL="0">
              <a:buNone/>
            </a:pPr>
            <a:r>
              <a:rPr lang="ar-SA" altLang="en-US" sz="1700" dirty="0">
                <a:solidFill>
                  <a:srgbClr val="1F2A37"/>
                </a:solidFill>
                <a:latin typeface="Amiri" pitchFamily="2" charset="-78"/>
                <a:ea typeface="Amiri" pitchFamily="2" charset="-78"/>
                <a:cs typeface="Amiri" pitchFamily="2" charset="-78"/>
              </a:rPr>
              <a:t>قَالَ</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قُلْنَا</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نَامَ</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نِمْنَا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Change the final alif of weak verbs to yāʾ (</a:t>
            </a:r>
            <a:pPr algn="l" indent="0" marL="0">
              <a:buNone/>
            </a:pPr>
            <a:r>
              <a:rPr lang="ar-SA" altLang="en-US" sz="1700" dirty="0">
                <a:solidFill>
                  <a:srgbClr val="1F2A37"/>
                </a:solidFill>
                <a:latin typeface="Amiri" pitchFamily="2" charset="-78"/>
                <a:ea typeface="Amiri" pitchFamily="2" charset="-78"/>
                <a:cs typeface="Amiri" pitchFamily="2" charset="-78"/>
              </a:rPr>
              <a:t>مَشَى</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مَشَيْنَا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group story with connectors (</a:t>
            </a:r>
            <a:pPr algn="l" indent="0" marL="0">
              <a:buNone/>
            </a:pPr>
            <a:r>
              <a:rPr lang="ar-SA" altLang="en-US" sz="1700" dirty="0">
                <a:solidFill>
                  <a:srgbClr val="1F2A37"/>
                </a:solidFill>
                <a:latin typeface="Amiri" pitchFamily="2" charset="-78"/>
                <a:ea typeface="Amiri" pitchFamily="2" charset="-78"/>
                <a:cs typeface="Amiri" pitchFamily="2" charset="-78"/>
              </a:rPr>
              <a:t>فَجْأَةً</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لِحُسْنِ الحَظِّ</a:t>
            </a:r>
            <a:pPr algn="l" indent="0" marL="0">
              <a:buNone/>
            </a:pPr>
            <a:r>
              <a:rPr lang="en-US" sz="1300" dirty="0">
                <a:solidFill>
                  <a:srgbClr val="1F2A37"/>
                </a:solidFill>
                <a:latin typeface="Calibri" pitchFamily="34" charset="0"/>
                <a:cs typeface="Amiri" pitchFamily="2" charset="-78"/>
              </a:rPr>
              <a:t> · </a:t>
            </a:r>
            <a:pPr algn="l" indent="0" marL="0">
              <a:buNone/>
            </a:pPr>
            <a:r>
              <a:rPr lang="ar-SA" altLang="en-US" sz="1700" dirty="0">
                <a:solidFill>
                  <a:srgbClr val="1F2A37"/>
                </a:solidFill>
                <a:latin typeface="Amiri" pitchFamily="2" charset="-78"/>
                <a:ea typeface="Amiri" pitchFamily="2" charset="-78"/>
                <a:cs typeface="Amiri" pitchFamily="2" charset="-78"/>
              </a:rPr>
              <a:t>لِلْأَسَفِ</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we did (</a:t>
            </a:r>
            <a:pPr algn="l" indent="0" marL="0">
              <a:buNone/>
            </a:pPr>
            <a:r>
              <a:rPr lang="ar-SA" altLang="en-US" sz="1700" b="1" dirty="0">
                <a:solidFill>
                  <a:srgbClr val="2E8B57"/>
                </a:solidFill>
                <a:latin typeface="Amiri" pitchFamily="2" charset="-78"/>
                <a:ea typeface="Amiri" pitchFamily="2" charset="-78"/>
                <a:cs typeface="Amiri" pitchFamily="2" charset="-78"/>
              </a:rPr>
              <a:t>لَعِبْنَا</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they did (</a:t>
            </a:r>
            <a:pPr algn="l" indent="0" marL="0">
              <a:buNone/>
            </a:pPr>
            <a:r>
              <a:rPr lang="ar-SA" altLang="en-US" sz="1700" b="1" dirty="0">
                <a:solidFill>
                  <a:srgbClr val="2E8B57"/>
                </a:solidFill>
                <a:latin typeface="Amiri" pitchFamily="2" charset="-78"/>
                <a:ea typeface="Amiri" pitchFamily="2" charset="-78"/>
                <a:cs typeface="Amiri" pitchFamily="2" charset="-78"/>
              </a:rPr>
              <a:t>لَعِبُوا</a:t>
            </a:r>
            <a:pPr algn="l" indent="0" marL="0">
              <a:buNone/>
            </a:pPr>
            <a:r>
              <a:rPr lang="en-US" sz="1300" b="1" dirty="0">
                <a:solidFill>
                  <a:srgbClr val="2E8B57"/>
                </a:solidFill>
                <a:latin typeface="Calibri" pitchFamily="34" charset="0"/>
                <a:cs typeface="Amiri" pitchFamily="2" charset="-78"/>
              </a:rPr>
              <a:t>).</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“you all” questions (</a:t>
            </a:r>
            <a:pPr algn="l" indent="0" marL="0">
              <a:buNone/>
            </a:pPr>
            <a:r>
              <a:rPr lang="ar-SA" altLang="en-US" sz="1700" b="1" dirty="0">
                <a:solidFill>
                  <a:srgbClr val="C9780A"/>
                </a:solidFill>
                <a:latin typeface="Amiri" pitchFamily="2" charset="-78"/>
                <a:ea typeface="Amiri" pitchFamily="2" charset="-78"/>
                <a:cs typeface="Amiri" pitchFamily="2" charset="-78"/>
              </a:rPr>
              <a:t>لَعِبْتُمْ؟</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a:t>
            </a:r>
            <a:pPr algn="l" indent="0" marL="0">
              <a:buNone/>
            </a:pPr>
            <a:r>
              <a:rPr lang="ar-SA" altLang="en-US" sz="1700" b="1" dirty="0">
                <a:solidFill>
                  <a:srgbClr val="C9780A"/>
                </a:solidFill>
                <a:latin typeface="Amiri" pitchFamily="2" charset="-78"/>
                <a:ea typeface="Amiri" pitchFamily="2" charset="-78"/>
                <a:cs typeface="Amiri" pitchFamily="2" charset="-78"/>
              </a:rPr>
              <a:t>قُلْنَا</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نِمْنَا</a:t>
            </a:r>
            <a:pPr algn="l" indent="0" marL="0">
              <a:buNone/>
            </a:pPr>
            <a:r>
              <a:rPr lang="en-US" sz="1300" b="1" dirty="0">
                <a:solidFill>
                  <a:srgbClr val="C9780A"/>
                </a:solidFill>
                <a:latin typeface="Calibri" pitchFamily="34" charset="0"/>
                <a:cs typeface="Amiri" pitchFamily="2" charset="-78"/>
              </a:rPr>
              <a:t> · </a:t>
            </a:r>
            <a:pPr algn="l" indent="0" marL="0">
              <a:buNone/>
            </a:pPr>
            <a:r>
              <a:rPr lang="ar-SA" altLang="en-US" sz="1700" b="1" dirty="0">
                <a:solidFill>
                  <a:srgbClr val="C9780A"/>
                </a:solidFill>
                <a:latin typeface="Amiri" pitchFamily="2" charset="-78"/>
                <a:ea typeface="Amiri" pitchFamily="2" charset="-78"/>
                <a:cs typeface="Amiri" pitchFamily="2" charset="-78"/>
              </a:rPr>
              <a:t>جِئْنَا</a:t>
            </a:r>
            <a:pPr algn="l" indent="0" marL="0">
              <a:buNone/>
            </a:pPr>
            <a:r>
              <a:rPr lang="en-US" sz="1300" b="1" dirty="0">
                <a:solidFill>
                  <a:srgbClr val="C9780A"/>
                </a:solidFill>
                <a:latin typeface="Calibri" pitchFamily="34" charset="0"/>
                <a:cs typeface="Amiri" pitchFamily="2" charset="-78"/>
              </a:rPr>
              <a:t>.</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weak-final verbs (</a:t>
            </a:r>
            <a:pPr algn="l" indent="0" marL="0">
              <a:buNone/>
            </a:pPr>
            <a:r>
              <a:rPr lang="ar-SA" altLang="en-US" sz="1700" b="1" dirty="0">
                <a:solidFill>
                  <a:srgbClr val="B83227"/>
                </a:solidFill>
                <a:latin typeface="Amiri" pitchFamily="2" charset="-78"/>
                <a:ea typeface="Amiri" pitchFamily="2" charset="-78"/>
                <a:cs typeface="Amiri" pitchFamily="2" charset="-78"/>
              </a:rPr>
              <a:t>مَشَيْنَا</a:t>
            </a:r>
            <a:pPr algn="l" indent="0" marL="0">
              <a:buNone/>
            </a:pPr>
            <a:r>
              <a:rPr lang="en-US" sz="1300" b="1" dirty="0">
                <a:solidFill>
                  <a:srgbClr val="B83227"/>
                </a:solidFill>
                <a:latin typeface="Calibri" pitchFamily="34" charset="0"/>
                <a:cs typeface="Amiri" pitchFamily="2" charset="-78"/>
              </a:rPr>
              <a:t> · </a:t>
            </a:r>
            <a:pPr algn="l" indent="0" marL="0">
              <a:buNone/>
            </a:pPr>
            <a:r>
              <a:rPr lang="ar-SA" altLang="en-US" sz="1700" b="1" dirty="0">
                <a:solidFill>
                  <a:srgbClr val="B83227"/>
                </a:solidFill>
                <a:latin typeface="Amiri" pitchFamily="2" charset="-78"/>
                <a:ea typeface="Amiri" pitchFamily="2" charset="-78"/>
                <a:cs typeface="Amiri" pitchFamily="2" charset="-78"/>
              </a:rPr>
              <a:t>مَشَوْا</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tell a group story with connectors.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Plural past forms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Irregular past verbs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Group narrative language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شَاذٌّ</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‎شاذ‎ </a:t>
            </a:r>
            <a:pPr indent="0" marL="0">
              <a:buNone/>
            </a:pPr>
            <a:r>
              <a:rPr lang="en-US" sz="950" b="1" dirty="0">
                <a:solidFill>
                  <a:srgbClr val="2E8B57"/>
                </a:solidFill>
                <a:latin typeface="Calibri" pitchFamily="34" charset="0"/>
                <a:cs typeface="Amiri" pitchFamily="2" charset="-78"/>
              </a:rPr>
              <a:t> shāz · irregular, rare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جَمْعٌ</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‎جمع‎ </a:t>
            </a:r>
            <a:pPr indent="0" marL="0">
              <a:buNone/>
            </a:pPr>
            <a:r>
              <a:rPr lang="en-US" sz="950" b="1" dirty="0">
                <a:solidFill>
                  <a:srgbClr val="2E8B57"/>
                </a:solidFill>
                <a:latin typeface="Calibri" pitchFamily="34" charset="0"/>
                <a:cs typeface="Amiri" pitchFamily="2" charset="-78"/>
              </a:rPr>
              <a:t> jamaʿ · plural (Urdu also: add up)</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لِلْأَسَفِ</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‎افسوس‎ </a:t>
            </a:r>
            <a:pPr indent="0" marL="0">
              <a:buNone/>
            </a:pPr>
            <a:r>
              <a:rPr lang="en-US" sz="950" b="1" dirty="0">
                <a:solidFill>
                  <a:srgbClr val="2E8B57"/>
                </a:solidFill>
                <a:latin typeface="Calibri" pitchFamily="34" charset="0"/>
                <a:cs typeface="Amiri" pitchFamily="2" charset="-78"/>
              </a:rPr>
              <a:t> afsos · unfortunately (related root)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فَجْأَةً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‎اچانک / یکایک‎ </a:t>
            </a:r>
            <a:pPr indent="0" marL="0">
              <a:buNone/>
            </a:pPr>
            <a:r>
              <a:rPr lang="en-US" sz="950" b="1" dirty="0">
                <a:solidFill>
                  <a:srgbClr val="2E8B57"/>
                </a:solidFill>
                <a:latin typeface="Calibri" pitchFamily="34" charset="0"/>
                <a:cs typeface="Amiri" pitchFamily="2" charset="-78"/>
              </a:rPr>
              <a:t> achānak · suddenly</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حُسْنُ الحَظِّ</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‎خوش قسمتی / حظ‎ </a:t>
            </a:r>
            <a:pPr indent="0" marL="0">
              <a:buNone/>
            </a:pPr>
            <a:r>
              <a:rPr lang="ar-SA" sz="950" b="1" dirty="0">
                <a:solidFill>
                  <a:srgbClr val="2E8B57"/>
                </a:solidFill>
                <a:latin typeface="Calibri" pitchFamily="34" charset="0"/>
                <a:ea typeface="Amiri" pitchFamily="2" charset="-78"/>
                <a:cs typeface="Amiri" pitchFamily="2" charset="-78"/>
              </a:rPr>
              <a:t> ḥaẓ · good luck (Urdu حظ = pleasure)</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Plural past forms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did</a:t>
            </a:r>
            <a:endParaRPr lang="en-US" sz="1350" dirty="0"/>
          </a:p>
          <a:p>
            <a:pPr indent="0" marL="0">
              <a:buNone/>
            </a:pPr>
            <a:r>
              <a:rPr lang="en-US" sz="1100" i="1" dirty="0">
                <a:solidFill>
                  <a:srgbClr val="5A6472"/>
                </a:solidFill>
                <a:latin typeface="Calibri" pitchFamily="34" charset="0"/>
                <a:cs typeface="Amiri" pitchFamily="2" charset="-78"/>
              </a:rPr>
              <a:t>fa-ʿal-nā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نَحْنُ</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ـنَا</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فَعَلْتُمْ</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you all did</a:t>
            </a:r>
            <a:endParaRPr lang="en-US" sz="1350" dirty="0"/>
          </a:p>
          <a:p>
            <a:pPr indent="0" marL="0">
              <a:buNone/>
            </a:pPr>
            <a:r>
              <a:rPr lang="en-US" sz="1100" i="1" dirty="0">
                <a:solidFill>
                  <a:srgbClr val="5A6472"/>
                </a:solidFill>
                <a:latin typeface="Calibri" pitchFamily="34" charset="0"/>
                <a:cs typeface="Amiri" pitchFamily="2" charset="-78"/>
              </a:rPr>
              <a:t>fa-ʿal-tum</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أَنْتُمْ</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ـتُمْ</a:t>
            </a:r>
            <a:pPr algn="l" indent="0" marL="0">
              <a:buNone/>
            </a:pPr>
            <a:r>
              <a:rPr lang="en-US" sz="1000" i="1" dirty="0">
                <a:solidFill>
                  <a:srgbClr val="8A6D1E"/>
                </a:solidFill>
                <a:latin typeface="Calibri" pitchFamily="34" charset="0"/>
                <a:cs typeface="Amiri" pitchFamily="2" charset="-78"/>
              </a:rPr>
              <a:t>.</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فَعَلُوا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did</a:t>
            </a:r>
            <a:endParaRPr lang="en-US" sz="1350" dirty="0"/>
          </a:p>
          <a:p>
            <a:pPr indent="0" marL="0">
              <a:buNone/>
            </a:pPr>
            <a:r>
              <a:rPr lang="en-US" sz="1100" i="1" dirty="0">
                <a:solidFill>
                  <a:srgbClr val="5A6472"/>
                </a:solidFill>
                <a:latin typeface="Calibri" pitchFamily="34" charset="0"/>
                <a:cs typeface="Amiri" pitchFamily="2" charset="-78"/>
              </a:rPr>
              <a:t>fa-ʿa-lū</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a:t>
            </a:r>
            <a:pPr algn="l" indent="0" marL="0">
              <a:buNone/>
            </a:pPr>
            <a:r>
              <a:rPr lang="ar-SA" altLang="en-US" sz="1300" dirty="0">
                <a:solidFill>
                  <a:srgbClr val="8A6D1E"/>
                </a:solidFill>
                <a:latin typeface="Amiri" pitchFamily="2" charset="-78"/>
                <a:ea typeface="Amiri" pitchFamily="2" charset="-78"/>
                <a:cs typeface="Amiri" pitchFamily="2" charset="-78"/>
              </a:rPr>
              <a:t>هُمْ</a:t>
            </a:r>
            <a:pPr algn="l" indent="0" marL="0">
              <a:buNone/>
            </a:pPr>
            <a:r>
              <a:rPr lang="en-US" sz="1000" i="1" dirty="0">
                <a:solidFill>
                  <a:srgbClr val="8A6D1E"/>
                </a:solidFill>
                <a:latin typeface="Calibri" pitchFamily="34" charset="0"/>
                <a:cs typeface="Amiri" pitchFamily="2" charset="-78"/>
              </a:rPr>
              <a:t> suffix is </a:t>
            </a:r>
            <a:pPr algn="l" indent="0" marL="0">
              <a:buNone/>
            </a:pPr>
            <a:r>
              <a:rPr lang="ar-SA" altLang="en-US" sz="1300" dirty="0">
                <a:solidFill>
                  <a:srgbClr val="8A6D1E"/>
                </a:solidFill>
                <a:latin typeface="Amiri" pitchFamily="2" charset="-78"/>
                <a:ea typeface="Amiri" pitchFamily="2" charset="-78"/>
                <a:cs typeface="Amiri" pitchFamily="2" charset="-78"/>
              </a:rPr>
              <a:t>ـُوا</a:t>
            </a:r>
            <a:pPr algn="l" indent="0" marL="0">
              <a:buNone/>
            </a:pPr>
            <a:r>
              <a:rPr lang="en-US" sz="1000" i="1" dirty="0">
                <a:solidFill>
                  <a:srgbClr val="8A6D1E"/>
                </a:solidFill>
                <a:latin typeface="Calibri" pitchFamily="34" charset="0"/>
                <a:cs typeface="Amiri" pitchFamily="2" charset="-78"/>
              </a:rPr>
              <a:t>; the alif is silent.</a:t>
            </a:r>
            <a:endParaRPr lang="en-US" sz="10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ذَهَبْنَا</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went</a:t>
            </a:r>
            <a:endParaRPr lang="en-US" sz="1350" dirty="0"/>
          </a:p>
          <a:p>
            <a:pPr indent="0" marL="0">
              <a:buNone/>
            </a:pPr>
            <a:r>
              <a:rPr lang="en-US" sz="1100" i="1" dirty="0">
                <a:solidFill>
                  <a:srgbClr val="5A6472"/>
                </a:solidFill>
                <a:latin typeface="Calibri" pitchFamily="34" charset="0"/>
                <a:cs typeface="Amiri" pitchFamily="2" charset="-78"/>
              </a:rPr>
              <a:t>dha-hab-nā</a:t>
            </a:r>
            <a:endParaRPr lang="en-US" sz="13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Plural past forms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لَعِبْنَا</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played</a:t>
            </a:r>
            <a:endParaRPr lang="en-US" sz="1350" dirty="0"/>
          </a:p>
          <a:p>
            <a:pPr indent="0" marL="0">
              <a:buNone/>
            </a:pPr>
            <a:r>
              <a:rPr lang="en-US" sz="1100" i="1" dirty="0">
                <a:solidFill>
                  <a:srgbClr val="5A6472"/>
                </a:solidFill>
                <a:latin typeface="Calibri" pitchFamily="34" charset="0"/>
                <a:cs typeface="Amiri" pitchFamily="2" charset="-78"/>
              </a:rPr>
              <a:t>la-ʿib-nā</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لَعِبُوا</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they played</a:t>
            </a:r>
            <a:endParaRPr lang="en-US" sz="1350" dirty="0"/>
          </a:p>
          <a:p>
            <a:pPr indent="0" marL="0">
              <a:buNone/>
            </a:pPr>
            <a:r>
              <a:rPr lang="en-US" sz="1100" i="1" dirty="0">
                <a:solidFill>
                  <a:srgbClr val="5A6472"/>
                </a:solidFill>
                <a:latin typeface="Calibri" pitchFamily="34" charset="0"/>
                <a:cs typeface="Amiri" pitchFamily="2" charset="-78"/>
              </a:rPr>
              <a:t>la-ʿi-bū</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شَاهَدْنَا</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watched</a:t>
            </a:r>
            <a:endParaRPr lang="en-US" sz="1350" dirty="0"/>
          </a:p>
          <a:p>
            <a:pPr indent="0" marL="0">
              <a:buNone/>
            </a:pPr>
            <a:r>
              <a:rPr lang="en-US" sz="1100" i="1" dirty="0">
                <a:solidFill>
                  <a:srgbClr val="5A6472"/>
                </a:solidFill>
                <a:latin typeface="Calibri" pitchFamily="34" charset="0"/>
                <a:cs typeface="Amiri" pitchFamily="2" charset="-78"/>
              </a:rPr>
              <a:t>shā-had-nā</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وَصَلْنَا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arrived</a:t>
            </a:r>
            <a:endParaRPr lang="en-US" sz="1350" dirty="0"/>
          </a:p>
          <a:p>
            <a:pPr indent="0" marL="0">
              <a:buNone/>
            </a:pPr>
            <a:r>
              <a:rPr lang="en-US" sz="1100" i="1" dirty="0">
                <a:solidFill>
                  <a:srgbClr val="5A6472"/>
                </a:solidFill>
                <a:latin typeface="Calibri" pitchFamily="34" charset="0"/>
                <a:cs typeface="Amiri" pitchFamily="2" charset="-78"/>
              </a:rPr>
              <a:t>wa-ṣal-nā</a:t>
            </a:r>
            <a:endParaRPr lang="en-US" sz="13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Irregular past verbs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قَالَ ← قُلْنَا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said → we said</a:t>
            </a:r>
            <a:endParaRPr lang="en-US" sz="1350" dirty="0"/>
          </a:p>
          <a:p>
            <a:pPr indent="0" marL="0">
              <a:buNone/>
            </a:pPr>
            <a:r>
              <a:rPr lang="en-US" sz="1100" i="1" dirty="0">
                <a:solidFill>
                  <a:srgbClr val="5A6472"/>
                </a:solidFill>
                <a:latin typeface="Calibri" pitchFamily="34" charset="0"/>
                <a:cs typeface="Amiri" pitchFamily="2" charset="-78"/>
              </a:rPr>
              <a:t>qā-la ← qul-nā</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900" i="1" dirty="0">
                <a:solidFill>
                  <a:srgbClr val="8A6D1E"/>
                </a:solidFill>
                <a:latin typeface="Calibri" pitchFamily="34" charset="0"/>
                <a:cs typeface="Amiri" pitchFamily="2" charset="-78"/>
              </a:rPr>
              <a:t>Hollow: the long ā shortens to u before a consonant suffix.</a:t>
            </a:r>
            <a:endParaRPr lang="en-US" sz="9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نَامَ ← نِمْنَا</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slept → we slept</a:t>
            </a:r>
            <a:endParaRPr lang="en-US" sz="1350" dirty="0"/>
          </a:p>
          <a:p>
            <a:pPr indent="0" marL="0">
              <a:buNone/>
            </a:pPr>
            <a:r>
              <a:rPr lang="en-US" sz="1100" i="1" dirty="0">
                <a:solidFill>
                  <a:srgbClr val="5A6472"/>
                </a:solidFill>
                <a:latin typeface="Calibri" pitchFamily="34" charset="0"/>
                <a:cs typeface="Amiri" pitchFamily="2" charset="-78"/>
              </a:rPr>
              <a:t>nā-ma ← nim-nā</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Hollow with a kasra base vowel.</a:t>
            </a:r>
            <a:endParaRPr lang="en-US" sz="10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4" name="Shape 31"/>
          <p:cNvSpPr/>
          <p:nvPr/>
        </p:nvSpPr>
        <p:spPr>
          <a:xfrm>
            <a:off x="960120" y="1938528"/>
            <a:ext cx="1393546" cy="256032"/>
          </a:xfrm>
          <a:prstGeom prst="roundRect">
            <a:avLst>
              <a:gd name="adj" fmla="val 50000"/>
            </a:avLst>
          </a:prstGeom>
          <a:solidFill>
            <a:srgbClr val="EFE7D2"/>
          </a:solidFill>
          <a:ln w="12700">
            <a:solidFill>
              <a:srgbClr val="EFE7D2"/>
            </a:solidFill>
            <a:prstDash val="solid"/>
          </a:ln>
        </p:spPr>
      </p:sp>
      <p:sp>
        <p:nvSpPr>
          <p:cNvPr id="35" name="Text 32"/>
          <p:cNvSpPr txBox="1"/>
          <p:nvPr/>
        </p:nvSpPr>
        <p:spPr>
          <a:xfrm>
            <a:off x="960120" y="1938528"/>
            <a:ext cx="1393546"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Hollow with hamza.</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جَاءَ ← جِئْنَا</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came → we came</a:t>
            </a:r>
            <a:endParaRPr lang="en-US" sz="1350" dirty="0"/>
          </a:p>
          <a:p>
            <a:pPr indent="0" marL="0">
              <a:buNone/>
            </a:pPr>
            <a:r>
              <a:rPr lang="en-US" sz="1100" i="1" dirty="0">
                <a:solidFill>
                  <a:srgbClr val="5A6472"/>
                </a:solidFill>
                <a:latin typeface="Calibri" pitchFamily="34" charset="0"/>
                <a:cs typeface="Amiri" pitchFamily="2" charset="-78"/>
              </a:rPr>
              <a:t>jā-ʾa ← jiʾ-nā</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1" name="Shape 38"/>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3" name="Text 40"/>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رَأَى ← رَأَيْنَا</a:t>
            </a:r>
            <a:endParaRPr lang="ar-SA" sz="3000" dirty="0"/>
          </a:p>
        </p:txBody>
      </p:sp>
      <p:sp>
        <p:nvSpPr>
          <p:cNvPr id="44" name="Text 41"/>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saw → we saw</a:t>
            </a:r>
            <a:endParaRPr lang="en-US" sz="1350" dirty="0"/>
          </a:p>
          <a:p>
            <a:pPr indent="0" marL="0">
              <a:buNone/>
            </a:pPr>
            <a:r>
              <a:rPr lang="en-US" sz="1100" i="1" dirty="0">
                <a:solidFill>
                  <a:srgbClr val="5A6472"/>
                </a:solidFill>
                <a:latin typeface="Calibri" pitchFamily="34" charset="0"/>
                <a:cs typeface="Amiri" pitchFamily="2" charset="-78"/>
              </a:rPr>
              <a:t>ra-ʾā ← ra-ʾay-nā</a:t>
            </a:r>
            <a:endParaRPr lang="en-US" sz="1350" dirty="0"/>
          </a:p>
        </p:txBody>
      </p:sp>
      <p:sp>
        <p:nvSpPr>
          <p:cNvPr id="45" name="Text 42"/>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Weak-final: the alif maqṣūra becomes yāʾ.</a:t>
            </a:r>
            <a:endParaRPr lang="en-US" sz="10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Irregular past verbs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958291"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Weak-final.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مَشَى ← مَشَيْنَا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walked → we walked</a:t>
            </a:r>
            <a:endParaRPr lang="en-US" sz="1350" dirty="0"/>
          </a:p>
          <a:p>
            <a:pPr indent="0" marL="0">
              <a:buNone/>
            </a:pPr>
            <a:r>
              <a:rPr lang="en-US" sz="1100" i="1" dirty="0">
                <a:solidFill>
                  <a:srgbClr val="5A6472"/>
                </a:solidFill>
                <a:latin typeface="Calibri" pitchFamily="34" charset="0"/>
                <a:cs typeface="Amiri" pitchFamily="2" charset="-78"/>
              </a:rPr>
              <a:t>ma-shā ← ma-shay-nā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4782312" y="1938528"/>
            <a:ext cx="1642262" cy="256032"/>
          </a:xfrm>
          <a:prstGeom prst="roundRect">
            <a:avLst>
              <a:gd name="adj" fmla="val 50000"/>
            </a:avLst>
          </a:prstGeom>
          <a:solidFill>
            <a:srgbClr val="EFE7D2"/>
          </a:solidFill>
          <a:ln w="12700">
            <a:solidFill>
              <a:srgbClr val="EFE7D2"/>
            </a:solidFill>
            <a:prstDash val="solid"/>
          </a:ln>
        </p:spPr>
      </p:sp>
      <p:sp>
        <p:nvSpPr>
          <p:cNvPr id="28" name="Text 25"/>
          <p:cNvSpPr txBox="1"/>
          <p:nvPr/>
        </p:nvSpPr>
        <p:spPr>
          <a:xfrm>
            <a:off x="4782312"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 weak-final.</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اشْتَرَى ← اشْتَرَيْنَا</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bought → we bought</a:t>
            </a:r>
            <a:endParaRPr lang="en-US" sz="1350" dirty="0"/>
          </a:p>
          <a:p>
            <a:pPr indent="0" marL="0">
              <a:buNone/>
            </a:pPr>
            <a:r>
              <a:rPr lang="en-US" sz="1100" i="1" dirty="0">
                <a:solidFill>
                  <a:srgbClr val="5A6472"/>
                </a:solidFill>
                <a:latin typeface="Calibri" pitchFamily="34" charset="0"/>
                <a:cs typeface="Amiri" pitchFamily="2" charset="-78"/>
              </a:rPr>
              <a:t>ash-ta-rā ← ash-ta-ray-nā</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غَنَّى ← غَنَّيْنَا</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sang → we sang</a:t>
            </a:r>
            <a:endParaRPr lang="en-US" sz="1350" dirty="0"/>
          </a:p>
          <a:p>
            <a:pPr indent="0" marL="0">
              <a:buNone/>
            </a:pPr>
            <a:r>
              <a:rPr lang="en-US" sz="1100" i="1" dirty="0">
                <a:solidFill>
                  <a:srgbClr val="5A6472"/>
                </a:solidFill>
                <a:latin typeface="Calibri" pitchFamily="34" charset="0"/>
                <a:cs typeface="Amiri" pitchFamily="2" charset="-78"/>
              </a:rPr>
              <a:t>ghan-nā ← ghan-nay-nā</a:t>
            </a:r>
            <a:endParaRPr lang="en-US" sz="1350" dirty="0"/>
          </a:p>
        </p:txBody>
      </p:sp>
      <p:sp>
        <p:nvSpPr>
          <p:cNvPr id="36" name="Text 33"/>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Form II with a doubled middle letter and a weak final.</a:t>
            </a:r>
            <a:endParaRPr lang="en-US" sz="100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40" name="Text 37"/>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أَمْضَى ← أَمْضَيْنَا</a:t>
            </a:r>
            <a:endParaRPr lang="ar-SA" sz="3000" dirty="0"/>
          </a:p>
        </p:txBody>
      </p:sp>
      <p:sp>
        <p:nvSpPr>
          <p:cNvPr id="41" name="Text 38"/>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spent (time) → we spent</a:t>
            </a:r>
            <a:endParaRPr lang="en-US" sz="1350" dirty="0"/>
          </a:p>
          <a:p>
            <a:pPr indent="0" marL="0">
              <a:buNone/>
            </a:pPr>
            <a:r>
              <a:rPr lang="en-US" sz="1100" i="1" dirty="0">
                <a:solidFill>
                  <a:srgbClr val="5A6472"/>
                </a:solidFill>
                <a:latin typeface="Calibri" pitchFamily="34" charset="0"/>
                <a:cs typeface="Amiri" pitchFamily="2" charset="-78"/>
              </a:rPr>
              <a:t>am-ḍā ← am-ḍay-nā</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Group narrative language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Shape 15"/>
          <p:cNvSpPr/>
          <p:nvPr/>
        </p:nvSpPr>
        <p:spPr>
          <a:xfrm>
            <a:off x="8604504" y="1938528"/>
            <a:ext cx="158008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Adverbial accusative.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مَعًا</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together</a:t>
            </a:r>
            <a:endParaRPr lang="en-US" sz="1350" dirty="0"/>
          </a:p>
          <a:p>
            <a:pPr indent="0" marL="0">
              <a:buNone/>
            </a:pPr>
            <a:r>
              <a:rPr lang="en-US" sz="1100" i="1" dirty="0">
                <a:solidFill>
                  <a:srgbClr val="5A6472"/>
                </a:solidFill>
                <a:latin typeface="Calibri" pitchFamily="34" charset="0"/>
                <a:cs typeface="Amiri" pitchFamily="2" charset="-78"/>
              </a:rPr>
              <a:t>ma-ʿan</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أَمْضَيْنَا وَقْتًا مُمْتِعًا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spent an enjoyable time</a:t>
            </a:r>
            <a:endParaRPr lang="en-US" sz="1350" dirty="0"/>
          </a:p>
          <a:p>
            <a:pPr indent="0" marL="0">
              <a:buNone/>
            </a:pPr>
            <a:r>
              <a:rPr lang="en-US" sz="1100" i="1" dirty="0">
                <a:solidFill>
                  <a:srgbClr val="5A6472"/>
                </a:solidFill>
                <a:latin typeface="Calibri" pitchFamily="34" charset="0"/>
                <a:cs typeface="Amiri" pitchFamily="2" charset="-78"/>
              </a:rPr>
              <a:t>am-ḍay-nā waq-tan mum-ti-ʿan</a:t>
            </a:r>
            <a:endParaRPr lang="en-US" sz="1350" dirty="0"/>
          </a:p>
        </p:txBody>
      </p:sp>
      <p:sp>
        <p:nvSpPr>
          <p:cNvPr id="29" name="Text 26"/>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Both noun and adjective are accusative.</a:t>
            </a:r>
            <a:endParaRPr lang="en-US" sz="1000" dirty="0"/>
          </a:p>
        </p:txBody>
      </p:sp>
      <p:sp>
        <p:nvSpPr>
          <p:cNvPr id="30" name="Shape 27"/>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566928"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3" name="Shape 30"/>
          <p:cNvSpPr/>
          <p:nvPr/>
        </p:nvSpPr>
        <p:spPr>
          <a:xfrm>
            <a:off x="960120" y="1938528"/>
            <a:ext cx="771754"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960120" y="1938528"/>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II.</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قَرَّرْنَا</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decided</a:t>
            </a:r>
            <a:endParaRPr lang="en-US" sz="1350" dirty="0"/>
          </a:p>
          <a:p>
            <a:pPr indent="0" marL="0">
              <a:buNone/>
            </a:pPr>
            <a:r>
              <a:rPr lang="en-US" sz="1100" i="1" dirty="0">
                <a:solidFill>
                  <a:srgbClr val="5A6472"/>
                </a:solidFill>
                <a:latin typeface="Calibri" pitchFamily="34" charset="0"/>
                <a:cs typeface="Amiri" pitchFamily="2" charset="-78"/>
              </a:rPr>
              <a:t>qar-rar-nā</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Shape 37"/>
          <p:cNvSpPr/>
          <p:nvPr/>
        </p:nvSpPr>
        <p:spPr>
          <a:xfrm>
            <a:off x="8604504" y="4279392"/>
            <a:ext cx="771754"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8604504"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IV.</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أَحْضَرْنَا</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brought</a:t>
            </a:r>
            <a:endParaRPr lang="en-US" sz="1350" dirty="0"/>
          </a:p>
          <a:p>
            <a:pPr indent="0" marL="0">
              <a:buNone/>
            </a:pPr>
            <a:r>
              <a:rPr lang="en-US" sz="1100" i="1" dirty="0">
                <a:solidFill>
                  <a:srgbClr val="5A6472"/>
                </a:solidFill>
                <a:latin typeface="Calibri" pitchFamily="34" charset="0"/>
                <a:cs typeface="Amiri" pitchFamily="2" charset="-78"/>
              </a:rPr>
              <a:t>aḥ-ḍar-nā</a:t>
            </a:r>
            <a:endParaRPr lang="en-US" sz="13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Group narrative language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VIII.</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اجْتَمَعْنَا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 gathered</a:t>
            </a:r>
            <a:endParaRPr lang="en-US" sz="1350" dirty="0"/>
          </a:p>
          <a:p>
            <a:pPr indent="0" marL="0">
              <a:buNone/>
            </a:pPr>
            <a:r>
              <a:rPr lang="en-US" sz="1100" i="1" dirty="0">
                <a:solidFill>
                  <a:srgbClr val="5A6472"/>
                </a:solidFill>
                <a:latin typeface="Calibri" pitchFamily="34" charset="0"/>
                <a:cs typeface="Amiri" pitchFamily="2" charset="-78"/>
              </a:rPr>
              <a:t>aj-ta-maʿ-nā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5" name="Shape 22"/>
          <p:cNvSpPr/>
          <p:nvPr/>
        </p:nvSpPr>
        <p:spPr>
          <a:xfrm>
            <a:off x="4782312" y="1938528"/>
            <a:ext cx="1642262"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64226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 narrative connector.</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فَجْأَةً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suddenly</a:t>
            </a:r>
            <a:endParaRPr lang="en-US" sz="1350" dirty="0"/>
          </a:p>
          <a:p>
            <a:pPr indent="0" marL="0">
              <a:buNone/>
            </a:pPr>
            <a:r>
              <a:rPr lang="en-US" sz="1100" i="1" dirty="0">
                <a:solidFill>
                  <a:srgbClr val="5A6472"/>
                </a:solidFill>
                <a:latin typeface="Calibri" pitchFamily="34" charset="0"/>
                <a:cs typeface="Amiri" pitchFamily="2" charset="-78"/>
              </a:rPr>
              <a:t>faj-ʾa-tan</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لِحُسْنِ الحَظِّ</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fortunately</a:t>
            </a:r>
            <a:endParaRPr lang="en-US" sz="1350" dirty="0"/>
          </a:p>
          <a:p>
            <a:pPr indent="0" marL="0">
              <a:buNone/>
            </a:pPr>
            <a:r>
              <a:rPr lang="en-US" sz="1100" i="1" dirty="0">
                <a:solidFill>
                  <a:srgbClr val="5A6472"/>
                </a:solidFill>
                <a:latin typeface="Calibri" pitchFamily="34" charset="0"/>
                <a:cs typeface="Amiri" pitchFamily="2" charset="-78"/>
              </a:rPr>
              <a:t>li-ḥus-ni al-ḥaẓ-ẓi</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لِلْأَسَفِ</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unfortunately</a:t>
            </a:r>
            <a:endParaRPr lang="en-US" sz="1350" dirty="0"/>
          </a:p>
          <a:p>
            <a:pPr indent="0" marL="0">
              <a:buNone/>
            </a:pPr>
            <a:r>
              <a:rPr lang="en-US" sz="1100" i="1" dirty="0">
                <a:solidFill>
                  <a:srgbClr val="5A6472"/>
                </a:solidFill>
                <a:latin typeface="Calibri" pitchFamily="34" charset="0"/>
                <a:cs typeface="Amiri" pitchFamily="2" charset="-78"/>
              </a:rPr>
              <a:t>lil-ʾa-sa-fi</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THREE PLURAL ENDINGS (WEBSITE RULE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We, you all, they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نَحْنُ · أَنْتُمْ · هُمْ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674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Ending</a:t>
            </a:r>
            <a:endParaRPr lang="en-US" sz="1100" dirty="0"/>
          </a:p>
        </p:txBody>
      </p:sp>
      <p:sp>
        <p:nvSpPr>
          <p:cNvPr id="17" name="Text 14"/>
          <p:cNvSpPr txBox="1"/>
          <p:nvPr/>
        </p:nvSpPr>
        <p:spPr>
          <a:xfrm>
            <a:off x="720547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شَاهَدَ</a:t>
            </a:r>
            <a:pPr algn="ctr" indent="0" marL="0">
              <a:buNone/>
            </a:pPr>
            <a:r>
              <a:rPr lang="en-US" sz="1100" b="1" dirty="0">
                <a:solidFill>
                  <a:srgbClr val="FFFFFF"/>
                </a:solidFill>
                <a:latin typeface="Calibri" pitchFamily="34" charset="0"/>
                <a:cs typeface="Amiri" pitchFamily="2" charset="-78"/>
              </a:rPr>
              <a:t> (watched)</a:t>
            </a:r>
            <a:endParaRPr lang="en-US" sz="1100" dirty="0"/>
          </a:p>
        </p:txBody>
      </p:sp>
      <p:sp>
        <p:nvSpPr>
          <p:cNvPr id="18" name="Text 15"/>
          <p:cNvSpPr txBox="1"/>
          <p:nvPr/>
        </p:nvSpPr>
        <p:spPr>
          <a:xfrm>
            <a:off x="473659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لَعِبَ</a:t>
            </a:r>
            <a:pPr algn="ctr" indent="0" marL="0">
              <a:buNone/>
            </a:pPr>
            <a:r>
              <a:rPr lang="en-US" sz="1100" b="1" dirty="0">
                <a:solidFill>
                  <a:srgbClr val="FFFFFF"/>
                </a:solidFill>
                <a:latin typeface="Calibri" pitchFamily="34" charset="0"/>
                <a:cs typeface="Amiri" pitchFamily="2" charset="-78"/>
              </a:rPr>
              <a:t> (played)</a:t>
            </a:r>
            <a:endParaRPr lang="en-US" sz="1100" dirty="0"/>
          </a:p>
        </p:txBody>
      </p:sp>
      <p:sp>
        <p:nvSpPr>
          <p:cNvPr id="19" name="Text 16"/>
          <p:cNvSpPr txBox="1"/>
          <p:nvPr/>
        </p:nvSpPr>
        <p:spPr>
          <a:xfrm>
            <a:off x="2267712" y="1810512"/>
            <a:ext cx="2322576"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2" charset="-78"/>
                <a:ea typeface="Amiri" pitchFamily="2" charset="-78"/>
                <a:cs typeface="Amiri" pitchFamily="2" charset="-78"/>
              </a:rPr>
              <a:t>ذَهَبَ</a:t>
            </a:r>
            <a:pPr algn="ctr" indent="0" marL="0">
              <a:buNone/>
            </a:pPr>
            <a:r>
              <a:rPr lang="en-US" sz="1100" b="1" dirty="0">
                <a:solidFill>
                  <a:srgbClr val="FFFFFF"/>
                </a:solidFill>
                <a:latin typeface="Calibri" pitchFamily="34" charset="0"/>
                <a:cs typeface="Amiri" pitchFamily="2" charset="-78"/>
              </a:rPr>
              <a:t> (went)</a:t>
            </a:r>
            <a:endParaRPr lang="en-US" sz="1100" dirty="0"/>
          </a:p>
        </p:txBody>
      </p:sp>
      <p:sp>
        <p:nvSpPr>
          <p:cNvPr id="20" name="Text 17"/>
          <p:cNvSpPr txBox="1"/>
          <p:nvPr/>
        </p:nvSpPr>
        <p:spPr>
          <a:xfrm>
            <a:off x="530352" y="1810512"/>
            <a:ext cx="1591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Person</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10928" y="2267712"/>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 -nā</a:t>
            </a:r>
            <a:endParaRPr lang="en-US" sz="1100" dirty="0"/>
          </a:p>
        </p:txBody>
      </p:sp>
      <p:sp>
        <p:nvSpPr>
          <p:cNvPr id="23" name="Text 20"/>
          <p:cNvSpPr txBox="1"/>
          <p:nvPr/>
        </p:nvSpPr>
        <p:spPr>
          <a:xfrm>
            <a:off x="722376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شَاهَدْنَا</a:t>
            </a:r>
            <a:endParaRPr lang="ar-SA" sz="2600" dirty="0"/>
          </a:p>
        </p:txBody>
      </p:sp>
      <p:sp>
        <p:nvSpPr>
          <p:cNvPr id="24" name="Text 21"/>
          <p:cNvSpPr txBox="1"/>
          <p:nvPr/>
        </p:nvSpPr>
        <p:spPr>
          <a:xfrm>
            <a:off x="475488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لَعِبْنَا</a:t>
            </a:r>
            <a:endParaRPr lang="ar-SA" sz="2600" dirty="0"/>
          </a:p>
        </p:txBody>
      </p:sp>
      <p:sp>
        <p:nvSpPr>
          <p:cNvPr id="25" name="Text 22"/>
          <p:cNvSpPr txBox="1"/>
          <p:nvPr/>
        </p:nvSpPr>
        <p:spPr>
          <a:xfrm>
            <a:off x="2286000" y="2267712"/>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D6336C"/>
                </a:solidFill>
                <a:latin typeface="Amiri" pitchFamily="2" charset="-78"/>
                <a:ea typeface="Amiri" pitchFamily="2" charset="-78"/>
                <a:cs typeface="Amiri" pitchFamily="2" charset="-78"/>
              </a:rPr>
              <a:t>ذَهَبْنَا</a:t>
            </a:r>
            <a:endParaRPr lang="ar-SA" sz="2600" dirty="0"/>
          </a:p>
        </p:txBody>
      </p:sp>
      <p:sp>
        <p:nvSpPr>
          <p:cNvPr id="26" name="Text 23"/>
          <p:cNvSpPr txBox="1"/>
          <p:nvPr/>
        </p:nvSpPr>
        <p:spPr>
          <a:xfrm>
            <a:off x="548640" y="2267712"/>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نَحْنُ</a:t>
            </a:r>
            <a:endParaRPr lang="ar-SA" sz="22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10928" y="300471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all: -tum</a:t>
            </a:r>
            <a:endParaRPr lang="en-US" sz="1100" dirty="0"/>
          </a:p>
        </p:txBody>
      </p:sp>
      <p:sp>
        <p:nvSpPr>
          <p:cNvPr id="31" name="Text 28"/>
          <p:cNvSpPr txBox="1"/>
          <p:nvPr/>
        </p:nvSpPr>
        <p:spPr>
          <a:xfrm>
            <a:off x="722376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شَاهَدْتُمْ</a:t>
            </a:r>
            <a:endParaRPr lang="ar-SA" sz="2600" dirty="0"/>
          </a:p>
        </p:txBody>
      </p:sp>
      <p:sp>
        <p:nvSpPr>
          <p:cNvPr id="32" name="Text 29"/>
          <p:cNvSpPr txBox="1"/>
          <p:nvPr/>
        </p:nvSpPr>
        <p:spPr>
          <a:xfrm>
            <a:off x="475488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لَعِبْتُمْ</a:t>
            </a:r>
            <a:endParaRPr lang="ar-SA" sz="2600" dirty="0"/>
          </a:p>
        </p:txBody>
      </p:sp>
      <p:sp>
        <p:nvSpPr>
          <p:cNvPr id="33" name="Text 30"/>
          <p:cNvSpPr txBox="1"/>
          <p:nvPr/>
        </p:nvSpPr>
        <p:spPr>
          <a:xfrm>
            <a:off x="2286000" y="300471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ذَهَبْتُمْ</a:t>
            </a:r>
            <a:endParaRPr lang="ar-SA" sz="2600" dirty="0"/>
          </a:p>
        </p:txBody>
      </p:sp>
      <p:sp>
        <p:nvSpPr>
          <p:cNvPr id="34" name="Text 31"/>
          <p:cNvSpPr txBox="1"/>
          <p:nvPr/>
        </p:nvSpPr>
        <p:spPr>
          <a:xfrm>
            <a:off x="548640" y="3004718"/>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أَنْتُمْ</a:t>
            </a:r>
            <a:endParaRPr lang="ar-SA" sz="2200" dirty="0"/>
          </a:p>
        </p:txBody>
      </p:sp>
      <p:sp>
        <p:nvSpPr>
          <p:cNvPr id="35" name="Shape 32"/>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9710928" y="3741725"/>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-ū (silent alif)</a:t>
            </a:r>
            <a:endParaRPr lang="en-US" sz="1100" dirty="0"/>
          </a:p>
        </p:txBody>
      </p:sp>
      <p:sp>
        <p:nvSpPr>
          <p:cNvPr id="37" name="Text 34"/>
          <p:cNvSpPr txBox="1"/>
          <p:nvPr/>
        </p:nvSpPr>
        <p:spPr>
          <a:xfrm>
            <a:off x="722376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شَاهَدُوا</a:t>
            </a:r>
            <a:endParaRPr lang="ar-SA" sz="2600" dirty="0"/>
          </a:p>
        </p:txBody>
      </p:sp>
      <p:sp>
        <p:nvSpPr>
          <p:cNvPr id="38" name="Text 35"/>
          <p:cNvSpPr txBox="1"/>
          <p:nvPr/>
        </p:nvSpPr>
        <p:spPr>
          <a:xfrm>
            <a:off x="475488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لَعِبُوا</a:t>
            </a:r>
            <a:endParaRPr lang="ar-SA" sz="2600" dirty="0"/>
          </a:p>
        </p:txBody>
      </p:sp>
      <p:sp>
        <p:nvSpPr>
          <p:cNvPr id="39" name="Text 36"/>
          <p:cNvSpPr txBox="1"/>
          <p:nvPr/>
        </p:nvSpPr>
        <p:spPr>
          <a:xfrm>
            <a:off x="2286000" y="3741725"/>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ذَهَبُوا</a:t>
            </a:r>
            <a:endParaRPr lang="ar-SA" sz="2600" dirty="0"/>
          </a:p>
        </p:txBody>
      </p:sp>
      <p:sp>
        <p:nvSpPr>
          <p:cNvPr id="40" name="Text 37"/>
          <p:cNvSpPr txBox="1"/>
          <p:nvPr/>
        </p:nvSpPr>
        <p:spPr>
          <a:xfrm>
            <a:off x="548640" y="3741725"/>
            <a:ext cx="1554480" cy="682142"/>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هُمْ</a:t>
            </a:r>
            <a:endParaRPr lang="ar-SA" sz="2200" dirty="0"/>
          </a:p>
        </p:txBody>
      </p:sp>
      <p:sp>
        <p:nvSpPr>
          <p:cNvPr id="41" name="Shape 38"/>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4" name="Text 41"/>
          <p:cNvSpPr txBox="1"/>
          <p:nvPr/>
        </p:nvSpPr>
        <p:spPr>
          <a:xfrm>
            <a:off x="9710928" y="4478731"/>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-tu</a:t>
            </a:r>
            <a:endParaRPr lang="en-US" sz="1100" dirty="0"/>
          </a:p>
        </p:txBody>
      </p:sp>
      <p:sp>
        <p:nvSpPr>
          <p:cNvPr id="45" name="Text 42"/>
          <p:cNvSpPr txBox="1"/>
          <p:nvPr/>
        </p:nvSpPr>
        <p:spPr>
          <a:xfrm>
            <a:off x="722376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شَاهَدْتُ</a:t>
            </a:r>
            <a:endParaRPr lang="ar-SA" sz="2600" dirty="0"/>
          </a:p>
        </p:txBody>
      </p:sp>
      <p:sp>
        <p:nvSpPr>
          <p:cNvPr id="46" name="Text 43"/>
          <p:cNvSpPr txBox="1"/>
          <p:nvPr/>
        </p:nvSpPr>
        <p:spPr>
          <a:xfrm>
            <a:off x="475488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47" name="Text 44"/>
          <p:cNvSpPr txBox="1"/>
          <p:nvPr/>
        </p:nvSpPr>
        <p:spPr>
          <a:xfrm>
            <a:off x="2286000" y="4478731"/>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ذَهَبْتُ</a:t>
            </a:r>
            <a:endParaRPr lang="ar-SA" sz="2600" dirty="0"/>
          </a:p>
        </p:txBody>
      </p:sp>
      <p:sp>
        <p:nvSpPr>
          <p:cNvPr id="48" name="Text 45"/>
          <p:cNvSpPr txBox="1"/>
          <p:nvPr/>
        </p:nvSpPr>
        <p:spPr>
          <a:xfrm>
            <a:off x="566928" y="4478731"/>
            <a:ext cx="15544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أَنَا</a:t>
            </a:r>
            <a:pPr algn="l" indent="0" marL="0">
              <a:buNone/>
            </a:pPr>
            <a:r>
              <a:rPr lang="en-US" sz="1100" dirty="0">
                <a:solidFill>
                  <a:srgbClr val="5A6472"/>
                </a:solidFill>
                <a:latin typeface="Calibri" pitchFamily="34" charset="0"/>
                <a:cs typeface="Amiri" pitchFamily="2" charset="-78"/>
              </a:rPr>
              <a:t> (D5-L03)</a:t>
            </a:r>
            <a:endParaRPr lang="en-US" sz="1100" dirty="0"/>
          </a:p>
        </p:txBody>
      </p:sp>
      <p:sp>
        <p:nvSpPr>
          <p:cNvPr id="49" name="Shape 46"/>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0" name="Text 47"/>
          <p:cNvSpPr txBox="1"/>
          <p:nvPr/>
        </p:nvSpPr>
        <p:spPr>
          <a:xfrm>
            <a:off x="9710928" y="5215738"/>
            <a:ext cx="19476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-at</a:t>
            </a:r>
            <a:endParaRPr lang="en-US" sz="1100" dirty="0"/>
          </a:p>
        </p:txBody>
      </p:sp>
      <p:sp>
        <p:nvSpPr>
          <p:cNvPr id="51" name="Text 48"/>
          <p:cNvSpPr txBox="1"/>
          <p:nvPr/>
        </p:nvSpPr>
        <p:spPr>
          <a:xfrm>
            <a:off x="722376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شَاهَدَتْ</a:t>
            </a:r>
            <a:endParaRPr lang="ar-SA" sz="2600" dirty="0"/>
          </a:p>
        </p:txBody>
      </p:sp>
      <p:sp>
        <p:nvSpPr>
          <p:cNvPr id="52" name="Text 49"/>
          <p:cNvSpPr txBox="1"/>
          <p:nvPr/>
        </p:nvSpPr>
        <p:spPr>
          <a:xfrm>
            <a:off x="475488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لَعِبَتْ</a:t>
            </a:r>
            <a:endParaRPr lang="ar-SA" sz="2600" dirty="0"/>
          </a:p>
        </p:txBody>
      </p:sp>
      <p:sp>
        <p:nvSpPr>
          <p:cNvPr id="53" name="Text 50"/>
          <p:cNvSpPr txBox="1"/>
          <p:nvPr/>
        </p:nvSpPr>
        <p:spPr>
          <a:xfrm>
            <a:off x="2286000" y="5215738"/>
            <a:ext cx="22860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ذَهَبَتْ</a:t>
            </a:r>
            <a:endParaRPr lang="ar-SA" sz="2600" dirty="0"/>
          </a:p>
        </p:txBody>
      </p:sp>
      <p:sp>
        <p:nvSpPr>
          <p:cNvPr id="54" name="Text 51"/>
          <p:cNvSpPr txBox="1"/>
          <p:nvPr/>
        </p:nvSpPr>
        <p:spPr>
          <a:xfrm>
            <a:off x="566928" y="5215738"/>
            <a:ext cx="15544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هِيَ</a:t>
            </a:r>
            <a:pPr algn="l" indent="0" marL="0">
              <a:buNone/>
            </a:pPr>
            <a:r>
              <a:rPr lang="en-US" sz="1100" dirty="0">
                <a:solidFill>
                  <a:srgbClr val="5A6472"/>
                </a:solidFill>
                <a:latin typeface="Calibri" pitchFamily="34" charset="0"/>
                <a:cs typeface="Amiri" pitchFamily="2" charset="-78"/>
              </a:rPr>
              <a:t> (D5-L03)</a:t>
            </a:r>
            <a:endParaRPr lang="en-US" sz="110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They + a group: </a:t>
            </a:r>
            <a:pPr algn="l" indent="0" marL="0">
              <a:buNone/>
            </a:pPr>
            <a:r>
              <a:rPr lang="ar-SA" altLang="en-US" sz="1500" b="1" dirty="0">
                <a:solidFill>
                  <a:srgbClr val="1B3B6F"/>
                </a:solidFill>
                <a:latin typeface="Amiri" pitchFamily="2" charset="-78"/>
                <a:ea typeface="Amiri" pitchFamily="2" charset="-78"/>
                <a:cs typeface="Amiri" pitchFamily="2" charset="-78"/>
              </a:rPr>
              <a:t>لَعِبُوا</a:t>
            </a:r>
            <a:pPr algn="l" indent="0" marL="0">
              <a:buNone/>
            </a:pPr>
            <a:r>
              <a:rPr lang="en-US" sz="1150" b="1" dirty="0">
                <a:solidFill>
                  <a:srgbClr val="1B3B6F"/>
                </a:solidFill>
                <a:latin typeface="Calibri" pitchFamily="34" charset="0"/>
                <a:cs typeface="Amiri" pitchFamily="2" charset="-78"/>
              </a:rPr>
              <a:t> (the alif is written but not pronounced).</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60" b="1" spc="150" kern="0" dirty="0">
                <a:solidFill>
                  <a:srgbClr val="1B3B6F"/>
                </a:solidFill>
                <a:latin typeface="Calibri" pitchFamily="34" charset="0"/>
                <a:cs typeface="Amiri" pitchFamily="2" charset="-78"/>
              </a:rPr>
              <a:t>GRAMMAR FOCUS · PART 2 · IRREGULAR STEMS (WEBSITE RULES 2–4) · DEVELOP / STRETCH</a:t>
            </a:r>
            <a:endParaRPr lang="en-US" sz="86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 the stem, then add the ending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الأَفْعَالُ الشَّاذَّةُ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6931152" y="1810512"/>
            <a:ext cx="47274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7" name="Text 14"/>
          <p:cNvSpPr txBox="1"/>
          <p:nvPr/>
        </p:nvSpPr>
        <p:spPr>
          <a:xfrm>
            <a:off x="473659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a:t>
            </a:r>
            <a:endParaRPr lang="en-US" sz="1100" dirty="0"/>
          </a:p>
        </p:txBody>
      </p:sp>
      <p:sp>
        <p:nvSpPr>
          <p:cNvPr id="18" name="Text 15"/>
          <p:cNvSpPr txBox="1"/>
          <p:nvPr/>
        </p:nvSpPr>
        <p:spPr>
          <a:xfrm>
            <a:off x="2724912" y="1810512"/>
            <a:ext cx="1865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a:t>
            </a:r>
            <a:endParaRPr lang="en-US" sz="1100" dirty="0"/>
          </a:p>
        </p:txBody>
      </p:sp>
      <p:sp>
        <p:nvSpPr>
          <p:cNvPr id="19" name="Text 16"/>
          <p:cNvSpPr txBox="1"/>
          <p:nvPr/>
        </p:nvSpPr>
        <p:spPr>
          <a:xfrm>
            <a:off x="530352" y="1810512"/>
            <a:ext cx="20482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Family</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6949440" y="2286000"/>
            <a:ext cx="469087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قُلْنَا الحَقِيقَةَ.</a:t>
            </a:r>
            <a:endParaRPr lang="ar-SA" sz="1950" dirty="0"/>
          </a:p>
        </p:txBody>
      </p:sp>
      <p:sp>
        <p:nvSpPr>
          <p:cNvPr id="22" name="Text 19"/>
          <p:cNvSpPr txBox="1"/>
          <p:nvPr/>
        </p:nvSpPr>
        <p:spPr>
          <a:xfrm>
            <a:off x="6903720" y="2676997"/>
            <a:ext cx="47823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told the truth.</a:t>
            </a:r>
            <a:endParaRPr lang="en-US" sz="950" dirty="0"/>
          </a:p>
        </p:txBody>
      </p:sp>
      <p:sp>
        <p:nvSpPr>
          <p:cNvPr id="23" name="Text 20"/>
          <p:cNvSpPr txBox="1"/>
          <p:nvPr/>
        </p:nvSpPr>
        <p:spPr>
          <a:xfrm>
            <a:off x="4754880" y="2267712"/>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قُلْنَا</a:t>
            </a:r>
            <a:endParaRPr lang="ar-SA" sz="2600" dirty="0"/>
          </a:p>
        </p:txBody>
      </p:sp>
      <p:sp>
        <p:nvSpPr>
          <p:cNvPr id="24" name="Text 21"/>
          <p:cNvSpPr txBox="1"/>
          <p:nvPr/>
        </p:nvSpPr>
        <p:spPr>
          <a:xfrm>
            <a:off x="2743200" y="2267712"/>
            <a:ext cx="18288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قَالَ</a:t>
            </a:r>
            <a:endParaRPr lang="ar-SA" sz="2600" dirty="0"/>
          </a:p>
        </p:txBody>
      </p:sp>
      <p:sp>
        <p:nvSpPr>
          <p:cNvPr id="25" name="Text 22"/>
          <p:cNvSpPr txBox="1"/>
          <p:nvPr/>
        </p:nvSpPr>
        <p:spPr>
          <a:xfrm>
            <a:off x="566928" y="2267712"/>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(u)</a:t>
            </a:r>
            <a:endParaRPr lang="en-US" sz="1100" dirty="0"/>
          </a:p>
        </p:txBody>
      </p:sp>
      <p:sp>
        <p:nvSpPr>
          <p:cNvPr id="26" name="Shape 23"/>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8" name="Shape 25"/>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9" name="Text 26"/>
          <p:cNvSpPr txBox="1"/>
          <p:nvPr/>
        </p:nvSpPr>
        <p:spPr>
          <a:xfrm>
            <a:off x="6949440" y="3023006"/>
            <a:ext cx="469087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نِمْنَا مُبَكِّرِينَ.</a:t>
            </a:r>
            <a:endParaRPr lang="ar-SA" sz="1950" dirty="0"/>
          </a:p>
        </p:txBody>
      </p:sp>
      <p:sp>
        <p:nvSpPr>
          <p:cNvPr id="30" name="Text 27"/>
          <p:cNvSpPr txBox="1"/>
          <p:nvPr/>
        </p:nvSpPr>
        <p:spPr>
          <a:xfrm>
            <a:off x="6903720" y="3414004"/>
            <a:ext cx="47823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slept early.</a:t>
            </a:r>
            <a:endParaRPr lang="en-US" sz="950" dirty="0"/>
          </a:p>
        </p:txBody>
      </p:sp>
      <p:sp>
        <p:nvSpPr>
          <p:cNvPr id="31" name="Text 28"/>
          <p:cNvSpPr txBox="1"/>
          <p:nvPr/>
        </p:nvSpPr>
        <p:spPr>
          <a:xfrm>
            <a:off x="4754880" y="300471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نِمْنَا</a:t>
            </a:r>
            <a:endParaRPr lang="ar-SA" sz="2600" dirty="0"/>
          </a:p>
        </p:txBody>
      </p:sp>
      <p:sp>
        <p:nvSpPr>
          <p:cNvPr id="32" name="Text 29"/>
          <p:cNvSpPr txBox="1"/>
          <p:nvPr/>
        </p:nvSpPr>
        <p:spPr>
          <a:xfrm>
            <a:off x="2743200" y="3004718"/>
            <a:ext cx="18288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نَامَ</a:t>
            </a:r>
            <a:endParaRPr lang="ar-SA" sz="2600" dirty="0"/>
          </a:p>
        </p:txBody>
      </p:sp>
      <p:sp>
        <p:nvSpPr>
          <p:cNvPr id="33" name="Text 30"/>
          <p:cNvSpPr txBox="1"/>
          <p:nvPr/>
        </p:nvSpPr>
        <p:spPr>
          <a:xfrm>
            <a:off x="566928" y="300471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(i)</a:t>
            </a:r>
            <a:endParaRPr lang="en-US" sz="110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6949440" y="3760013"/>
            <a:ext cx="469087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جِئْنَا إِلَى المَحَطَّةِ.</a:t>
            </a:r>
            <a:endParaRPr lang="ar-SA" sz="1950" dirty="0"/>
          </a:p>
        </p:txBody>
      </p:sp>
      <p:sp>
        <p:nvSpPr>
          <p:cNvPr id="36" name="Text 33"/>
          <p:cNvSpPr txBox="1"/>
          <p:nvPr/>
        </p:nvSpPr>
        <p:spPr>
          <a:xfrm>
            <a:off x="6903720" y="4151010"/>
            <a:ext cx="47823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came to the station.</a:t>
            </a:r>
            <a:endParaRPr lang="en-US" sz="950" dirty="0"/>
          </a:p>
        </p:txBody>
      </p:sp>
      <p:sp>
        <p:nvSpPr>
          <p:cNvPr id="37" name="Text 34"/>
          <p:cNvSpPr txBox="1"/>
          <p:nvPr/>
        </p:nvSpPr>
        <p:spPr>
          <a:xfrm>
            <a:off x="4754880" y="3741725"/>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0E7C86"/>
                </a:solidFill>
                <a:latin typeface="Amiri" pitchFamily="2" charset="-78"/>
                <a:ea typeface="Amiri" pitchFamily="2" charset="-78"/>
                <a:cs typeface="Amiri" pitchFamily="2" charset="-78"/>
              </a:rPr>
              <a:t>جِئْنَا</a:t>
            </a:r>
            <a:endParaRPr lang="ar-SA" sz="2600" dirty="0"/>
          </a:p>
        </p:txBody>
      </p:sp>
      <p:sp>
        <p:nvSpPr>
          <p:cNvPr id="38" name="Text 35"/>
          <p:cNvSpPr txBox="1"/>
          <p:nvPr/>
        </p:nvSpPr>
        <p:spPr>
          <a:xfrm>
            <a:off x="2743200" y="3741725"/>
            <a:ext cx="18288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جَاءَ</a:t>
            </a:r>
            <a:endParaRPr lang="ar-SA" sz="2600" dirty="0"/>
          </a:p>
        </p:txBody>
      </p:sp>
      <p:sp>
        <p:nvSpPr>
          <p:cNvPr id="39" name="Text 36"/>
          <p:cNvSpPr txBox="1"/>
          <p:nvPr/>
        </p:nvSpPr>
        <p:spPr>
          <a:xfrm>
            <a:off x="566928" y="3741725"/>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hollow + hamza</a:t>
            </a:r>
            <a:endParaRPr lang="en-US" sz="1100" dirty="0"/>
          </a:p>
        </p:txBody>
      </p:sp>
      <p:sp>
        <p:nvSpPr>
          <p:cNvPr id="40" name="Shape 37"/>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1" name="Text 38"/>
          <p:cNvSpPr txBox="1"/>
          <p:nvPr/>
        </p:nvSpPr>
        <p:spPr>
          <a:xfrm>
            <a:off x="6949440" y="4497019"/>
            <a:ext cx="469087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مَشَيْنَا عَلَى الشَّاطِئِ.</a:t>
            </a:r>
            <a:endParaRPr lang="ar-SA" sz="1950" dirty="0"/>
          </a:p>
        </p:txBody>
      </p:sp>
      <p:sp>
        <p:nvSpPr>
          <p:cNvPr id="42" name="Text 39"/>
          <p:cNvSpPr txBox="1"/>
          <p:nvPr/>
        </p:nvSpPr>
        <p:spPr>
          <a:xfrm>
            <a:off x="6903720" y="4888017"/>
            <a:ext cx="47823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walked on the beach.</a:t>
            </a:r>
            <a:endParaRPr lang="en-US" sz="950" dirty="0"/>
          </a:p>
        </p:txBody>
      </p:sp>
      <p:sp>
        <p:nvSpPr>
          <p:cNvPr id="43" name="Text 40"/>
          <p:cNvSpPr txBox="1"/>
          <p:nvPr/>
        </p:nvSpPr>
        <p:spPr>
          <a:xfrm>
            <a:off x="4754880" y="4478731"/>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مَشَيْنَا</a:t>
            </a:r>
            <a:endParaRPr lang="ar-SA" sz="2600" dirty="0"/>
          </a:p>
        </p:txBody>
      </p:sp>
      <p:sp>
        <p:nvSpPr>
          <p:cNvPr id="44" name="Text 41"/>
          <p:cNvSpPr txBox="1"/>
          <p:nvPr/>
        </p:nvSpPr>
        <p:spPr>
          <a:xfrm>
            <a:off x="2743200" y="4478731"/>
            <a:ext cx="18288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مَشَى</a:t>
            </a:r>
            <a:endParaRPr lang="ar-SA" sz="2600" dirty="0"/>
          </a:p>
        </p:txBody>
      </p:sp>
      <p:sp>
        <p:nvSpPr>
          <p:cNvPr id="45" name="Text 42"/>
          <p:cNvSpPr txBox="1"/>
          <p:nvPr/>
        </p:nvSpPr>
        <p:spPr>
          <a:xfrm>
            <a:off x="566928" y="4478731"/>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weak-final</a:t>
            </a:r>
            <a:endParaRPr lang="en-US" sz="1100" dirty="0"/>
          </a:p>
        </p:txBody>
      </p:sp>
      <p:sp>
        <p:nvSpPr>
          <p:cNvPr id="46" name="Shape 43"/>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9" name="Text 46"/>
          <p:cNvSpPr txBox="1"/>
          <p:nvPr/>
        </p:nvSpPr>
        <p:spPr>
          <a:xfrm>
            <a:off x="6949440" y="5234026"/>
            <a:ext cx="4690872" cy="422928"/>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رَأَيْنَا مَنْظَرًا جَمِيلًا.</a:t>
            </a:r>
            <a:endParaRPr lang="ar-SA" sz="1950" dirty="0"/>
          </a:p>
        </p:txBody>
      </p:sp>
      <p:sp>
        <p:nvSpPr>
          <p:cNvPr id="50" name="Text 47"/>
          <p:cNvSpPr txBox="1"/>
          <p:nvPr/>
        </p:nvSpPr>
        <p:spPr>
          <a:xfrm>
            <a:off x="6903720" y="5625023"/>
            <a:ext cx="4782312" cy="259214"/>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saw a beautiful view.</a:t>
            </a:r>
            <a:endParaRPr lang="en-US" sz="950" dirty="0"/>
          </a:p>
        </p:txBody>
      </p:sp>
      <p:sp>
        <p:nvSpPr>
          <p:cNvPr id="51" name="Text 48"/>
          <p:cNvSpPr txBox="1"/>
          <p:nvPr/>
        </p:nvSpPr>
        <p:spPr>
          <a:xfrm>
            <a:off x="4754880" y="5215738"/>
            <a:ext cx="2011680" cy="682142"/>
          </a:xfrm>
          <a:prstGeom prst="rect">
            <a:avLst/>
          </a:prstGeom>
          <a:noFill/>
          <a:ln/>
        </p:spPr>
        <p:txBody>
          <a:bodyPr wrap="square" lIns="0" tIns="0" rIns="0" bIns="0" rtlCol="0" anchor="ctr"/>
          <a:lstStyle/>
          <a:p>
            <a:pPr rtl="1" algn="ctr" indent="0" marL="0">
              <a:buNone/>
            </a:pPr>
            <a:r>
              <a:rPr lang="ar-SA" altLang="en-US" sz="2600" b="1" dirty="0">
                <a:solidFill>
                  <a:srgbClr val="1D5FBF"/>
                </a:solidFill>
                <a:latin typeface="Amiri" pitchFamily="2" charset="-78"/>
                <a:ea typeface="Amiri" pitchFamily="2" charset="-78"/>
                <a:cs typeface="Amiri" pitchFamily="2" charset="-78"/>
              </a:rPr>
              <a:t>رَأَيْنَا</a:t>
            </a:r>
            <a:endParaRPr lang="ar-SA" sz="2600" dirty="0"/>
          </a:p>
        </p:txBody>
      </p:sp>
      <p:sp>
        <p:nvSpPr>
          <p:cNvPr id="52" name="Text 49"/>
          <p:cNvSpPr txBox="1"/>
          <p:nvPr/>
        </p:nvSpPr>
        <p:spPr>
          <a:xfrm>
            <a:off x="2743200" y="5215738"/>
            <a:ext cx="18288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رَأَى</a:t>
            </a:r>
            <a:endParaRPr lang="ar-SA" sz="2600" dirty="0"/>
          </a:p>
        </p:txBody>
      </p:sp>
      <p:sp>
        <p:nvSpPr>
          <p:cNvPr id="53" name="Text 50"/>
          <p:cNvSpPr txBox="1"/>
          <p:nvPr/>
        </p:nvSpPr>
        <p:spPr>
          <a:xfrm>
            <a:off x="566928" y="5215738"/>
            <a:ext cx="20116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weak-final</a:t>
            </a:r>
            <a:endParaRPr lang="en-US" sz="1100" dirty="0"/>
          </a:p>
        </p:txBody>
      </p:sp>
      <p:sp>
        <p:nvSpPr>
          <p:cNvPr id="54" name="Text 5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They + weak-final: mashā becomes mashaw (they walked) — but a regular verb takes -ū: laʿibū (they played).</a:t>
            </a:r>
            <a:endParaRPr lang="en-US" sz="115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Plural suffixes and irregular stems</a:t>
            </a:r>
            <a:endParaRPr lang="en-US" sz="26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لَوَاحِقُ الجَمْعِ وَالجُذُورُ الشَّاذَّةُ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The three plural suffixes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نَحْنُ → ـنَا · أَنْتُمْ → ـتُمْ · هُمْ → ـُوا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لَعِبْنَا مَعًا   ·   لَعِبُوا فِي المَلْعَبِ</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Hollow verbs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قَالَ → قُلْنَا · نَامَ → نِمْنَا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قُلْنَا الحَقِيقَةَ   ·   نِمْنَا مُبَكِّرًا</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Weak-final verbs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مَشَى → مَشَيْنَا · رَأَى → رَأَيْنَا</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مَشَيْنَا عَلَى الشَّاطِئِ   ·   رَأَيْنَا مَنْظَرًا جَمِيلًا</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with a weak-final verb</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مَشَى → مَشَوْا · لَعِبَ → لَعِبُوا</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لَعِبُوا مَعًا   ·   مَشَوْا إِلَى البَيْتِ</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لَعِبُوا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لَعِبْتُمْ</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لَعِبْنَا</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ذَهَبُوا</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ذَهَبْنَا</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ذَهَبْتُمْ</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قَالْنَا</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قَوَلْنَا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مَشَى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مَشَيْنَا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مَشَانَا</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مَشَوْنَا</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لَعِبَ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لَعِبُوا</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لَعِبْتُمْ</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لَعِبْنَا</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نَحْنُ</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ea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ذَهَبَ</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ذَهَبُوا</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ذَهَبْنَا</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ذَهَبْتُمْ</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هُمْ</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 with a silent alif.</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قَالْنَا</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قُلْنَا</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قَوَلْنَا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hollow verb shortens its middle vowel before a consonant suffix.</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مَشَى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مَشَيْنَا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مَشَانَا</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مَشَوْنَا</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weak-final verb replaces the alif maqṣūra with yāʾ.</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tell a group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Regular</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اجْتَمَعْنَا</a:t>
            </a:r>
            <a:pPr rtl="1" algn="ctr" indent="0" marL="0">
              <a:buNone/>
            </a:pPr>
            <a:r>
              <a:rPr lang="ar-SA" altLang="en-US" sz="2800" b="1" dirty="0">
                <a:solidFill>
                  <a:srgbClr val="1B3B6F"/>
                </a:solidFill>
                <a:latin typeface="Amiri" pitchFamily="2" charset="-78"/>
                <a:ea typeface="Amiri" pitchFamily="2" charset="-78"/>
                <a:cs typeface="Amiri" pitchFamily="2" charset="-78"/>
              </a:rPr>
              <a:t> صَبَاحًا</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We: -nā.</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Weak-final</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ثُمَّ </a:t>
            </a:r>
            <a:pPr rtl="1" algn="ctr" indent="0" marL="0">
              <a:buNone/>
            </a:pPr>
            <a:r>
              <a:rPr lang="ar-SA" altLang="en-US" sz="2800" b="1" dirty="0">
                <a:solidFill>
                  <a:srgbClr val="1D5FBF"/>
                </a:solidFill>
                <a:latin typeface="Amiri" pitchFamily="2" charset="-78"/>
                <a:ea typeface="Amiri" pitchFamily="2" charset="-78"/>
                <a:cs typeface="Amiri" pitchFamily="2" charset="-78"/>
              </a:rPr>
              <a:t>مَشَيْنَا</a:t>
            </a:r>
            <a:pPr rtl="1" algn="ctr" indent="0" marL="0">
              <a:buNone/>
            </a:pPr>
            <a:r>
              <a:rPr lang="ar-SA" altLang="en-US" sz="2800" b="1" dirty="0">
                <a:solidFill>
                  <a:srgbClr val="1B3B6F"/>
                </a:solidFill>
                <a:latin typeface="Amiri" pitchFamily="2" charset="-78"/>
                <a:ea typeface="Amiri" pitchFamily="2" charset="-78"/>
                <a:cs typeface="Amiri" pitchFamily="2" charset="-78"/>
              </a:rPr>
              <a:t> سَاعَتَيْنِ</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Alif → yāʾ.</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Connector</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0E7C86"/>
                </a:solidFill>
                <a:latin typeface="Amiri" pitchFamily="2" charset="-78"/>
                <a:ea typeface="Amiri" pitchFamily="2" charset="-78"/>
                <a:cs typeface="Amiri" pitchFamily="2" charset="-78"/>
              </a:rPr>
              <a:t>فَجْأَةً</a:t>
            </a:r>
            <a:pPr rtl="1" algn="ctr" indent="0" marL="0">
              <a:buNone/>
            </a:pPr>
            <a:r>
              <a:rPr lang="ar-SA" altLang="en-US" sz="2800" b="1" dirty="0">
                <a:solidFill>
                  <a:srgbClr val="1B3B6F"/>
                </a:solidFill>
                <a:latin typeface="Amiri" pitchFamily="2" charset="-78"/>
                <a:ea typeface="Amiri" pitchFamily="2" charset="-78"/>
                <a:cs typeface="Amiri" pitchFamily="2" charset="-78"/>
              </a:rPr>
              <a:t> بَدَأَ المَطَرُ</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turning point.</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Hollow</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D6336C"/>
                </a:solidFill>
                <a:latin typeface="Amiri" pitchFamily="2" charset="-78"/>
                <a:ea typeface="Amiri" pitchFamily="2" charset="-78"/>
                <a:cs typeface="Amiri" pitchFamily="2" charset="-78"/>
              </a:rPr>
              <a:t>قُلْنَا</a:t>
            </a:r>
            <a:pPr rtl="1" algn="ctr" indent="0" marL="0">
              <a:buNone/>
            </a:pPr>
            <a:r>
              <a:rPr lang="ar-SA" altLang="en-US" sz="2800" b="1" dirty="0">
                <a:solidFill>
                  <a:srgbClr val="1B3B6F"/>
                </a:solidFill>
                <a:latin typeface="Amiri" pitchFamily="2" charset="-78"/>
                <a:ea typeface="Amiri" pitchFamily="2" charset="-78"/>
                <a:cs typeface="Amiri" pitchFamily="2" charset="-78"/>
              </a:rPr>
              <a:t> إِنَّنَا تَعِبْنَا</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qāla → qul-.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D6336C"/>
          </a:solidFill>
          <a:ln w="12700">
            <a:solidFill>
              <a:srgbClr val="D6336C"/>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WE</a:t>
            </a:r>
            <a:endParaRPr lang="en-US" sz="800" dirty="0"/>
          </a:p>
        </p:txBody>
      </p:sp>
      <p:sp>
        <p:nvSpPr>
          <p:cNvPr id="47" name="Shape 43"/>
          <p:cNvSpPr/>
          <p:nvPr/>
        </p:nvSpPr>
        <p:spPr>
          <a:xfrm>
            <a:off x="9528048" y="4736592"/>
            <a:ext cx="914400" cy="237744"/>
          </a:xfrm>
          <a:prstGeom prst="roundRect">
            <a:avLst>
              <a:gd name="adj" fmla="val 50000"/>
            </a:avLst>
          </a:prstGeom>
          <a:solidFill>
            <a:srgbClr val="1D5FBF"/>
          </a:solidFill>
          <a:ln w="12700">
            <a:solidFill>
              <a:srgbClr val="1D5FBF"/>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WEAK-FINAL</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CONNECTOR</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فِي الإِجَازَةِ المَاضِيَةِ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قَرَّرْنَا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أَنْ نَذْهَبَ إِلَى الجَبَلِ.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اجْتَمَعْنَا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صَبَاحًا، ثُمَّ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مَشَيْنَا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سَاعَتَيْنِ حَتَّى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وَصَلْنَا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إِلَى القِمَّةِ. وَهُنَاكَ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رَأَيْنَا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مَنْظَرًا رَائِعًا.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فَجْأَةً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بَدَأَ المَطَرُ، وَ</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لِحُسْنِ الحَظِّ</a:t>
            </a:r>
            <a:pPr rtl="1" algn="r" indent="0" marL="0">
              <a:lnSpc>
                <a:spcPct val="120000"/>
              </a:lnSpc>
              <a:buNone/>
            </a:pPr>
            <a:r>
              <a:rPr lang="ar-SA" altLang="en-US" sz="1400" b="1" dirty="0">
                <a:solidFill>
                  <a:srgbClr val="1B3B6F"/>
                </a:solidFill>
                <a:latin typeface="Amiri" pitchFamily="2" charset="-78"/>
                <a:cs typeface="Amiri" pitchFamily="2" charset="-78"/>
              </a:rPr>
              <a:t> </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أَحْضَرْنَا</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مَعَاطِفَ.</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Last holiday we decided to go to the mountain. We met in the morning, then walked for two hours until we reached the summit. There we saw a wonderful view. Suddenly it started to rain, and luckily we had brought coats.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لَعِبْنَا مَعًا</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played together</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ـنَا marks a shared action; مَعًا is an adverbial accusative.</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قُلْنَا الحَقِيقَةَ</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told the truth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long ā of قَالَ shortens to u before the consonant suffix.</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رَأَيْنَا مَنْظَرًا جَمِيلًا</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saw a beautiful view</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The alif maqṣūra of رَأَى becomes yāʾ before ـنَا.</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لَعِبْنَا</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ذَهَبُوا</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شَاهَدْتُمْ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قُلْنَا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نِمْنَا</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جِئْنَا</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مَشَيْنَا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رَأَيْنَا</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اشْتَرَيْنَا</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Regular plural</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Weak-final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Regular plural</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لَعِبْنَا</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ذَهَبُوا</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شَاهَدْتُمْ</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Hollow</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قُلْنَا</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نِمْنَا</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جِئْنَا</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Weak-final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مَشَيْنَا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رَأَيْنَا</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اشْتَرَيْنَا</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4,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نَامَ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نَوَمْنَا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نَامْنَا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نِمْنَا</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اشْتَرَى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اشْتَرَانَا</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اشْتَرَيْنَا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اشْتَرَوْنَا</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أَنْتُمْ</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شَاهَدَ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شَاهَدْنَا</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شَاهَدْتُمْ</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شَاهَدُوا</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group sentence.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أَمْضَوْنَا وَقْتًا مُمْتِعًا مَعًا.</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أَمْضَينَا وَقْتًا مُمْتِعَةً مَعًا.</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أَمْضَيْنَا وَقْتًا مُمْتِعًا مَعًا.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نَامَ</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نَوَمْنَا</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نَامْنَا</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نِمْنَا</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نَامَ</a:t>
            </a:r>
            <a:pPr algn="l" indent="0" marL="0">
              <a:buNone/>
            </a:pPr>
            <a:r>
              <a:rPr lang="en-US" sz="1050" i="1" dirty="0">
                <a:solidFill>
                  <a:srgbClr val="8A6D1E"/>
                </a:solidFill>
                <a:latin typeface="Calibri" pitchFamily="34" charset="0"/>
                <a:cs typeface="Amiri" pitchFamily="2" charset="-78"/>
              </a:rPr>
              <a:t> takes a kasra when its middle vowel shortens.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اشْتَرَى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اشْتَرَانَا</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اشْتَرَيْنَا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اشْتَرَوْنَا</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same weak-final rule applies to Form VIII.</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أَنْتُمْ</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شَاهَدَ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شَاهَدْنَا</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شَاهَدْتُمْ</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شَاهَدُوا</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أَنْتُمْ</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ea typeface="Amiri" pitchFamily="2" charset="-78"/>
                <a:cs typeface="Amiri" pitchFamily="2" charset="-78"/>
              </a:rPr>
              <a:t>ـتُمْ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group sentence.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أَمْضَوْنَا وَقْتًا مُمْتِعًا مَعًا.</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أَمْضَينَا وَقْتًا مُمْتِعَةً مَعًا.</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أَمْضَيْنَا وَقْتًا مُمْتِعًا مَعًا.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وَقْتًا</a:t>
            </a:r>
            <a:pPr algn="l" indent="0" marL="0">
              <a:buNone/>
            </a:pPr>
            <a:r>
              <a:rPr lang="en-US" sz="1050" i="1" dirty="0">
                <a:solidFill>
                  <a:srgbClr val="8A6D1E"/>
                </a:solidFill>
                <a:latin typeface="Calibri" pitchFamily="34" charset="0"/>
                <a:cs typeface="Amiri" pitchFamily="2" charset="-78"/>
              </a:rPr>
              <a:t> is the accusative object and its adjective agrees as masculine accusative.</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قَالْنَا الحَقِيقَةَ.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qāla + -nā: shorten the stem!</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مَشَانَا عَلَى الشَّاطِئِ.</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mashā + -nā: alif → yāʾ</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هُمْ لَعِبْنَا فِي المَلْعَبِ.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They: -nā or -ū?</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قَالْنَا الحَقِيقَةَ.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قُلْنَا الحَقِيقَةَ.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hollow verb must shorten its middle vowel before a consonant suffix.</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مَشَانَا عَلَى الشَّاطِئِ.</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مَشَيْنَا عَلَى الشَّاطِئِ.</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final alif maqṣūra becomes yāʾ before </a:t>
            </a:r>
            <a:pPr algn="l" indent="0" marL="0">
              <a:buNone/>
            </a:pPr>
            <a:r>
              <a:rPr lang="ar-SA" altLang="en-US" sz="1500" b="1" dirty="0">
                <a:solidFill>
                  <a:srgbClr val="1B3B6F"/>
                </a:solidFill>
                <a:latin typeface="Amiri" pitchFamily="2" charset="-78"/>
                <a:ea typeface="Amiri" pitchFamily="2" charset="-78"/>
                <a:cs typeface="Amiri" pitchFamily="2" charset="-78"/>
              </a:rPr>
              <a:t>ـنَا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هُمْ لَعِبْنَا فِي المَلْعَبِ.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هُمْ لَعِبُوا فِي المَلْعَبِ.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هُمْ</a:t>
            </a:r>
            <a:pPr algn="l" indent="0" marL="0">
              <a:buNone/>
            </a:pPr>
            <a:r>
              <a:rPr lang="en-US" sz="1150" b="1" dirty="0">
                <a:solidFill>
                  <a:srgbClr val="1B3B6F"/>
                </a:solidFill>
                <a:latin typeface="Calibri" pitchFamily="34" charset="0"/>
                <a:cs typeface="Amiri" pitchFamily="2" charset="-78"/>
              </a:rPr>
              <a:t> takes </a:t>
            </a:r>
            <a:pPr algn="l" indent="0" marL="0">
              <a:buNone/>
            </a:pPr>
            <a:r>
              <a:rPr lang="ar-SA" altLang="en-US" sz="1500" b="1" dirty="0">
                <a:solidFill>
                  <a:srgbClr val="1B3B6F"/>
                </a:solidFill>
                <a:latin typeface="Amiri" pitchFamily="2" charset="-78"/>
                <a:ea typeface="Amiri" pitchFamily="2" charset="-78"/>
                <a:cs typeface="Amiri" pitchFamily="2" charset="-78"/>
              </a:rPr>
              <a:t>ـُوا</a:t>
            </a:r>
            <a:pPr algn="l" indent="0" marL="0">
              <a:buNone/>
            </a:pPr>
            <a:r>
              <a:rPr lang="en-US" sz="1150" b="1" dirty="0">
                <a:solidFill>
                  <a:srgbClr val="1B3B6F"/>
                </a:solidFill>
                <a:latin typeface="Calibri" pitchFamily="34" charset="0"/>
                <a:cs typeface="Amiri" pitchFamily="2" charset="-78"/>
              </a:rPr>
              <a:t>, not the </a:t>
            </a:r>
            <a:pPr algn="l" indent="0" marL="0">
              <a:buNone/>
            </a:pPr>
            <a:r>
              <a:rPr lang="ar-SA" altLang="en-US" sz="1500" b="1" dirty="0">
                <a:solidFill>
                  <a:srgbClr val="1B3B6F"/>
                </a:solidFill>
                <a:latin typeface="Amiri" pitchFamily="2" charset="-78"/>
                <a:ea typeface="Amiri" pitchFamily="2" charset="-78"/>
                <a:cs typeface="Amiri" pitchFamily="2" charset="-78"/>
              </a:rPr>
              <a:t>نَحْنُ</a:t>
            </a:r>
            <a:pPr algn="l" indent="0" marL="0">
              <a:buNone/>
            </a:pPr>
            <a:r>
              <a:rPr lang="en-US" sz="1150" b="1" dirty="0">
                <a:solidFill>
                  <a:srgbClr val="1B3B6F"/>
                </a:solidFill>
                <a:latin typeface="Calibri" pitchFamily="34" charset="0"/>
                <a:cs typeface="Amiri" pitchFamily="2" charset="-78"/>
              </a:rPr>
              <a:t> suffix.</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 group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group decide to do?</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to the mountain</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Go to the beach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 at home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did they walk?</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hour</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day</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Two hours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do at the summit?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Slept immediately</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Went straight back</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Sang together and laughed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started raining</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lost the path</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Someone fell</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they sleep early?</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was cold</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were tired</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had to leave early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Count the “we” verbs you hear.</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الإِجَازَةِ المَاضِيَةِ قَرَّرْنَا أَنْ نَذْهَبَ إِلَى الجَبَلِ.</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Last holiday we decided to go to the mountain.</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1B3B6F"/>
                </a:solidFill>
                <a:latin typeface="Amiri" pitchFamily="2" charset="-78"/>
                <a:ea typeface="Amiri" pitchFamily="2" charset="-78"/>
                <a:cs typeface="Amiri" pitchFamily="2" charset="-78"/>
              </a:rPr>
              <a:t>اجْتَمَعْنَا صَبَاحًا وَأَحْضَرْنَا الطَّعَامَ وَالمَاءَ، ثُمَّ مَشَيْنَا سَاعَتَيْنِ حَتَّى وَصَلْنَا إِلَى القِمَّةِ.</a:t>
            </a:r>
            <a:endParaRPr lang="ar-SA" sz="18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 met in the morning and brought food and water, then walked for two hours until we reached the summit.</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وَهُنَاكَ رَأَيْنَا مَنْظَرًا رَائِعًا، وَغَنَّيْنَا مَعًا وَضَحِكْنَا كَثِيرًا.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There we saw a wonderful view, and we sang together and laughed a lot.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فَجْأَةً بَدَأَ المَطَرُ، وَلِحُسْنِ الحَظِّ أَحْضَرْنَا مَعَاطِفَ.</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Suddenly it began to rain, and luckily we had brought coats.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وَفِي المَسَاءِ نِمْنَا مُبَكِّرِينَ لِأَنَّنَا تَعِبْنَا، وَقُلْنَا إِنَّنَا أَمْضَيْنَا وَقْتًا مُمْتِعًا حَقًّا.</a:t>
            </a:r>
            <a:endParaRPr lang="ar-SA" sz="19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evening we slept early because we were tired, and we said we had spent a truly enjoyable time.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group decide to do?</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Go to the mountain</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Go to the beach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 at home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قَرَّرْنَا أَنْ نَذْهَبَ إِلَى الجَبَلِ.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long did they walk?</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hour</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day</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Two hours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مَشَيْنَا سَاعَتَيْنِ حَتَّى وَصَلْنَا إِلَى القِمَّةِ.</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do at the summit?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Slept immediately</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Went straight back</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Sang together and laughed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غَنَّيْنَا مَعًا وَضَحِكْنَا كَثِيرًا.</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suddenly?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started raining</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lost the path</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Someone fell</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فَجْأَةً بَدَأَ المَطَرُ.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did they sleep early?</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was cold</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were tired</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had to leave early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نِمْنَا مُبَكِّرِينَ لِأَنَّنَا تَعِبْنَا.</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4.</a:t>
            </a:r>
            <a:endParaRPr lang="en-US" sz="1250" dirty="0"/>
          </a:p>
          <a:p>
            <a:pPr algn="l" indent="0" marL="0">
              <a:buNone/>
            </a:pPr>
            <a:r>
              <a:rPr lang="en-US" sz="1250" dirty="0">
                <a:solidFill>
                  <a:srgbClr val="1E6B52"/>
                </a:solidFill>
                <a:latin typeface="Calibri" pitchFamily="34" charset="0"/>
                <a:cs typeface="Amiri" pitchFamily="2" charset="-78"/>
              </a:rPr>
              <a:t>Count the “we” verbs you hear.</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a shared memory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أَيْنَ ذَهَبْتُمْ؟ وَمَاذَا فَعَلْتُمْ هُنَاكَ؟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رَأَيْتُمْ؟ وَهَلْ أَعْجَبَكُمُ المَكَانُ؟</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أَمْضَيْتُمْ وَقْتًا مُمْتِعًا؟ 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ذَهَبْنَا إِلَى ___ ، وَ ___ نَا هُنَاكَ.</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رَأَيْنَا ___ ، وَمَشَيْنَا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050" b="1" dirty="0">
                <a:solidFill>
                  <a:srgbClr val="1F2A37"/>
                </a:solidFill>
                <a:latin typeface="Amiri" pitchFamily="2" charset="-78"/>
                <a:ea typeface="Amiri" pitchFamily="2" charset="-78"/>
                <a:cs typeface="Amiri" pitchFamily="2" charset="-78"/>
              </a:rPr>
              <a:t>نَعَمْ، أَمْضَيْنَا وَقْتًا مُمْتِعًا لِأَنَّنَا ___ ، وَلٰكِنْ لِلْأَسَفِ ___ .</a:t>
            </a:r>
            <a:endParaRPr lang="ar-SA" sz="10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أَيْنَ ذَهَبْتُمْ فِي الإِجَازَةِ؟</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Where did you (all) go in the holiday?</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ذَهَبْنَا إِلَى الجَبَلِ، وَمَشَيْنَا سَاعَتَيْنِ حَتَّى وَصَلْنَا إِلَى القِمَّةِ.</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We went to the mountain, and walked for two hours until we reached the summit.</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Extend the conjugation table to the three plural persons, then write five </a:t>
            </a:r>
            <a:pPr algn="l" indent="0" marL="0">
              <a:buNone/>
            </a:pPr>
            <a:r>
              <a:rPr lang="ar-SA" altLang="en-US" sz="1800" b="1" dirty="0">
                <a:solidFill>
                  <a:srgbClr val="1F2A37"/>
                </a:solidFill>
                <a:latin typeface="Amiri" pitchFamily="2" charset="-78"/>
                <a:ea typeface="Amiri" pitchFamily="2" charset="-78"/>
                <a:cs typeface="Amiri" pitchFamily="2" charset="-78"/>
              </a:rPr>
              <a:t>نَحْنُ</a:t>
            </a:r>
            <a:pPr algn="l" indent="0" marL="0">
              <a:buNone/>
            </a:pPr>
            <a:r>
              <a:rPr lang="en-US" sz="1400" b="1" dirty="0">
                <a:solidFill>
                  <a:srgbClr val="1F2A37"/>
                </a:solidFill>
                <a:latin typeface="Calibri" pitchFamily="34" charset="0"/>
                <a:cs typeface="Amiri" pitchFamily="2" charset="-78"/>
              </a:rPr>
              <a:t> sentences.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Five نَحْنُ sentences about a day out, each with a different verb.</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Write a linked narrative that also uses a </a:t>
            </a:r>
            <a:pPr algn="l" indent="0" marL="0">
              <a:buNone/>
            </a:pPr>
            <a:r>
              <a:rPr lang="ar-SA" altLang="en-US" sz="1800" b="1" dirty="0">
                <a:solidFill>
                  <a:srgbClr val="1F2A37"/>
                </a:solidFill>
                <a:latin typeface="Amiri" pitchFamily="2" charset="-78"/>
                <a:ea typeface="Amiri" pitchFamily="2" charset="-78"/>
                <a:cs typeface="Amiri" pitchFamily="2" charset="-78"/>
              </a:rPr>
              <a:t>هُمْ</a:t>
            </a:r>
            <a:pPr algn="l" indent="0" marL="0">
              <a:buNone/>
            </a:pPr>
            <a:r>
              <a:rPr lang="en-US" sz="1400" b="1" dirty="0">
                <a:solidFill>
                  <a:srgbClr val="1F2A37"/>
                </a:solidFill>
                <a:latin typeface="Calibri" pitchFamily="34" charset="0"/>
                <a:cs typeface="Amiri" pitchFamily="2" charset="-78"/>
              </a:rPr>
              <a:t> verb and one irregular verb.</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 linked story with نَحْنُ verbs, one هُمْ verb and one irregular verb.</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Include a hollow verb, a weak-final verb and two connectors in a narrative that keeps every stem and ending accurate.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Website task: 6+ نَحْنُ verbs, 2 irregular verbs, 2 connectors and a هُمْ verb.</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مَشَيْنَا إِلَى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walked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وَهُنَاكَ رَأَيْنَا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There we saw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فَجْأَةً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Suddenly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قُلْنَا إِنَّنَا أَمْضَيْنَا وَقْتًا مُمْتِعًا.</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said that we had spent an enjoyable time.</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الإِجَازَةِ المَاضِيَةِ ذَهَبْنَا إِلَى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holiday we went to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لَعِبْنَا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played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شَاهَدْنَا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We watched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أَصْدِقَائِي سَبَحُوا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swam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ذَهَبْنَا  ·  لَعِبْنَا  ·  وَصَلْنَا  ·  اجْتَمَعْنَا  ·  قُلْنَا  ·  نِمْنَا  ·  جِئْنَا  ·  مَشَيْنَا  ·  رَأَيْنَا  ·  اشْتَرَيْنَا  ·  فَجْأَةً  ·  لِحُسْنِ الحَظِّ</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narrative about something you did with others. Use at least six </a:t>
            </a:r>
            <a:pPr algn="l" indent="0" marL="0">
              <a:buNone/>
            </a:pPr>
            <a:r>
              <a:rPr lang="ar-SA" altLang="en-US" sz="1750" b="1" dirty="0">
                <a:solidFill>
                  <a:srgbClr val="1F2A37"/>
                </a:solidFill>
                <a:latin typeface="Amiri" pitchFamily="2" charset="-78"/>
                <a:ea typeface="Amiri" pitchFamily="2" charset="-78"/>
                <a:cs typeface="Amiri" pitchFamily="2" charset="-78"/>
              </a:rPr>
              <a:t>نَحْنُ</a:t>
            </a:r>
            <a:pPr algn="l" indent="0" marL="0">
              <a:buNone/>
            </a:pPr>
            <a:r>
              <a:rPr lang="en-US" sz="1350" b="1" dirty="0">
                <a:solidFill>
                  <a:srgbClr val="1F2A37"/>
                </a:solidFill>
                <a:latin typeface="Calibri" pitchFamily="34" charset="0"/>
                <a:cs typeface="Amiri" pitchFamily="2" charset="-78"/>
              </a:rPr>
              <a:t> verbs, two irregular verbs and two narrative connectors from </a:t>
            </a:r>
            <a:pPr algn="l" indent="0" marL="0">
              <a:buNone/>
            </a:pPr>
            <a:r>
              <a:rPr lang="ar-SA" altLang="en-US" sz="1750" b="1" dirty="0">
                <a:solidFill>
                  <a:srgbClr val="1F2A37"/>
                </a:solidFill>
                <a:latin typeface="Amiri" pitchFamily="2" charset="-78"/>
                <a:ea typeface="Amiri" pitchFamily="2" charset="-78"/>
                <a:cs typeface="Amiri" pitchFamily="2" charset="-78"/>
              </a:rPr>
              <a:t>فَجْأَةً، لِحُسْنِ الحَظِّ، لِلْأَسَفِ</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verb is past tense with the correct plural suffix.</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irregular verbs with a correctly adjusted stem.</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narrative connectors placed naturally in the story.</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t>
            </a:r>
            <a:pPr algn="l" indent="0" marL="0">
              <a:buNone/>
            </a:pPr>
            <a:r>
              <a:rPr lang="ar-SA" altLang="en-US" sz="1550" dirty="0">
                <a:solidFill>
                  <a:srgbClr val="1F2A37"/>
                </a:solidFill>
                <a:latin typeface="Amiri" pitchFamily="2" charset="-78"/>
                <a:ea typeface="Amiri" pitchFamily="2" charset="-78"/>
                <a:cs typeface="Amiri" pitchFamily="2" charset="-78"/>
              </a:rPr>
              <a:t>هُمْ</a:t>
            </a:r>
            <a:pPr algn="l" indent="0" marL="0">
              <a:buNone/>
            </a:pPr>
            <a:r>
              <a:rPr lang="en-US" sz="1200" dirty="0">
                <a:solidFill>
                  <a:srgbClr val="1F2A37"/>
                </a:solidFill>
                <a:latin typeface="Calibri" pitchFamily="34" charset="0"/>
                <a:cs typeface="Amiri" pitchFamily="2" charset="-78"/>
              </a:rPr>
              <a:t> verb with the </a:t>
            </a:r>
            <a:pPr algn="l" indent="0" marL="0">
              <a:buNone/>
            </a:pPr>
            <a:r>
              <a:rPr lang="ar-SA" altLang="en-US" sz="1550" dirty="0">
                <a:solidFill>
                  <a:srgbClr val="1F2A37"/>
                </a:solidFill>
                <a:latin typeface="Amiri" pitchFamily="2" charset="-78"/>
                <a:ea typeface="Amiri" pitchFamily="2" charset="-78"/>
                <a:cs typeface="Amiri" pitchFamily="2" charset="-78"/>
              </a:rPr>
              <a:t>ـُوا</a:t>
            </a:r>
            <a:pPr algn="l" indent="0" marL="0">
              <a:buNone/>
            </a:pPr>
            <a:r>
              <a:rPr lang="en-US" sz="1200" dirty="0">
                <a:solidFill>
                  <a:srgbClr val="1F2A37"/>
                </a:solidFill>
                <a:latin typeface="Calibri" pitchFamily="34" charset="0"/>
                <a:cs typeface="Amiri" pitchFamily="2" charset="-78"/>
              </a:rPr>
              <a:t> ending for a second group.</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قَرَّرْنَا أَنْ نُنَظِّمَ رِحْلَةً قَصِيرَةً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decided to organise a short trip</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اشْتَرَيْنَا التَّذَاكِرَ قَبْلَ أُسْبُوعٍ</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bought the tickets a week before</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رَأَيْنَا حِرَفًا تَقْلِيدِيَّةً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saw traditional crafts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لِلْأَسَفِ نَسِينَا الكَامِيرَا</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unfortunately we forgot the camera</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نِمْنَا مُبَكِّرِينَ لِأَنَّنَا تَعِبْنَا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slept early because we were tired</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اجْتَمَعْنَا مَعَ أَصْدِقَائِنَا وَقَرَّرْنَا أَنْ نُنَظِّمَ رِحْلَةً قَصِيرَةً. اشْتَرَيْنَا التَّذَاكِرَ قَبْلَ أُسْبُوعٍ، ثُمَّ جِئْنَا إِلَى المَحَطَّةِ مُبَكِّرِينَ. مَشَيْنَا فِي السُّوقِ القَدِيمِ وَرَأَيْنَا حِرَفًا تَقْلِيدِيَّةً جَمِيلَةً. فَجْأَةً بَدَأَ المَطَرُ، وَلِحُسْنِ الحَظِّ أَحْضَرْنَا مَعَاطِفَ. وَفِي المَسَاءِ غَنَّيْنَا مَعًا وَنِمْنَا مُبَكِّرِينَ لِأَنَّنَا تَعِبْنَا، وَقُلْنَا إِنَّنَا أَمْضَيْنَا وَقْتًا مُمْتِعًا.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we got together with our friends and decided to organise a short trip. We bought the tickets a week before, then came to the station early. We walked in the old market and saw beautiful traditional crafts. Suddenly it began to rain, and luckily we had brought coats. In the evening we sang together and slept early because we were tired, and we said we had spent an enjoyable time.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six نَحْنُ verbs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hollow verb (جِئْنَا · نِمْنَا · قُلْنَا)</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a weak-final verb (اشْتَرَيْنَا · مَشَيْنَا · رَأَيْنَا)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connectors</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“we” verbs end in -nā.</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“they” verbs end in -ū (</a:t>
            </a:r>
            <a:pPr algn="l" indent="0" marL="0">
              <a:buNone/>
            </a:pPr>
            <a:r>
              <a:rPr lang="ar-SA" altLang="en-US" sz="1700" dirty="0">
                <a:solidFill>
                  <a:srgbClr val="1F2A37"/>
                </a:solidFill>
                <a:latin typeface="Amiri" pitchFamily="2" charset="-78"/>
                <a:ea typeface="Amiri" pitchFamily="2" charset="-78"/>
                <a:cs typeface="Amiri" pitchFamily="2" charset="-78"/>
              </a:rPr>
              <a:t>ـُوا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fixed the stem of a hollow verb (</a:t>
            </a:r>
            <a:pPr algn="l" indent="0" marL="0">
              <a:buNone/>
            </a:pPr>
            <a:r>
              <a:rPr lang="ar-SA" altLang="en-US" sz="1700" dirty="0">
                <a:solidFill>
                  <a:srgbClr val="1F2A37"/>
                </a:solidFill>
                <a:latin typeface="Amiri" pitchFamily="2" charset="-78"/>
                <a:ea typeface="Amiri" pitchFamily="2" charset="-78"/>
                <a:cs typeface="Amiri" pitchFamily="2" charset="-78"/>
              </a:rPr>
              <a:t>قُلْنَا</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a:t>
            </a:r>
            <a:pPr algn="l" indent="0" marL="0">
              <a:buNone/>
            </a:pPr>
            <a:r>
              <a:rPr lang="ar-SA" altLang="en-US" sz="1700" dirty="0">
                <a:solidFill>
                  <a:srgbClr val="1F2A37"/>
                </a:solidFill>
                <a:latin typeface="Amiri" pitchFamily="2" charset="-78"/>
                <a:ea typeface="Amiri" pitchFamily="2" charset="-78"/>
                <a:cs typeface="Amiri" pitchFamily="2" charset="-78"/>
              </a:rPr>
              <a:t>أَنْتُمْ</a:t>
            </a:r>
            <a:pPr algn="l" indent="0" marL="0">
              <a:buNone/>
            </a:pPr>
            <a:r>
              <a:rPr lang="en-US" sz="1300" dirty="0">
                <a:solidFill>
                  <a:srgbClr val="1F2A37"/>
                </a:solidFill>
                <a:latin typeface="Calibri" pitchFamily="34" charset="0"/>
                <a:cs typeface="Amiri" pitchFamily="2" charset="-78"/>
              </a:rPr>
              <a:t> question.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weak-final verb and two connectors.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شَاهَدُوا</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شَاهَدْنَا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شَاهَدْتُمْ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جَاءَ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جَاءْنَا</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جِئْنَا</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جِينَا</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غَنَّى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غَنَّيْنَا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غَنَّانَا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غَنَّوْنَا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شَاهَدُوا</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شَاهَدْنَا</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شَاهَدْتُمْ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t>
            </a:r>
            <a:pPr algn="l" indent="0" marL="0">
              <a:buNone/>
            </a:pPr>
            <a:r>
              <a:rPr lang="ar-SA" altLang="en-US" sz="1350" dirty="0">
                <a:solidFill>
                  <a:srgbClr val="8A6D1E"/>
                </a:solidFill>
                <a:latin typeface="Amiri" pitchFamily="2" charset="-78"/>
                <a:ea typeface="Amiri" pitchFamily="2" charset="-78"/>
                <a:cs typeface="Amiri" pitchFamily="2" charset="-78"/>
              </a:rPr>
              <a:t>هُمْ</a:t>
            </a:r>
            <a:pPr algn="l" indent="0" marL="0">
              <a:buNone/>
            </a:pPr>
            <a:r>
              <a:rPr lang="en-US" sz="1050" i="1" dirty="0">
                <a:solidFill>
                  <a:srgbClr val="8A6D1E"/>
                </a:solidFill>
                <a:latin typeface="Calibri" pitchFamily="34" charset="0"/>
                <a:cs typeface="Amiri" pitchFamily="2" charset="-78"/>
              </a:rPr>
              <a:t> suffix is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جَاءَ</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جَاءْنَا</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جِئْنَا</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جِينَا</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hollow verb with hamza becomes </a:t>
            </a:r>
            <a:pPr algn="l" indent="0" marL="0">
              <a:buNone/>
            </a:pPr>
            <a:r>
              <a:rPr lang="ar-SA" altLang="en-US" sz="1350" dirty="0">
                <a:solidFill>
                  <a:srgbClr val="8A6D1E"/>
                </a:solidFill>
                <a:latin typeface="Amiri" pitchFamily="2" charset="-78"/>
                <a:ea typeface="Amiri" pitchFamily="2" charset="-78"/>
                <a:cs typeface="Amiri" pitchFamily="2" charset="-78"/>
              </a:rPr>
              <a:t>جِئْـ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غَنَّى</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غَنَّيْنَا</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غَنَّانَا</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غَنَّوْنَا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weak final becomes yāʾ before </a:t>
            </a:r>
            <a:pPr algn="l" indent="0" marL="0">
              <a:buNone/>
            </a:pPr>
            <a:r>
              <a:rPr lang="ar-SA" altLang="en-US" sz="1350" dirty="0">
                <a:solidFill>
                  <a:srgbClr val="8A6D1E"/>
                </a:solidFill>
                <a:latin typeface="Amiri" pitchFamily="2" charset="-78"/>
                <a:ea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shared memory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الصَّيْفِ المَاضِي اجْتَمَعْنَا نَحْنُ الأَصْدِقَاءَ وَقَرَّرْنَا أَنْ نُنَظِّمَ رِحْلَةً قَصِيرَةً. اشْتَرَيْنَا التَّذَاكِرَ قَبْلَ أُسْبُوعٍ، ثُمَّ جِئْنَا إِلَى المَحَطَّةِ مُبَكِّرِينَ. وَصَلْنَا ظُهْرًا، وَمَشَيْنَا فِي السُّوقِ القَدِيمِ حَيْثُ رَأَيْنَا حِرَفًا تَقْلِيدِيَّةً جَمِيلَةً. أَمَّا أَصْدِقَاؤُنَا الآخَرُونَ فَقَدْ لَعِبُوا كُرَةَ الطَّائِرَةِ عَلَى الشَّاطِئِ وَسَبَحُوا طَوِيلًا. لِلْأَسَفِ نَسِينَا الكَامِيرَا فِي الفُنْدُقِ، وَلٰكِنَّنَا أَمْضَيْنَا وَقْتًا مُمْتِعًا وَقُلْنَا إِنَّنَا سَنَعُودُ فِي العَامِ القَادِمِ.</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اجْتَمَعْنَا</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got together</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نَحْنُ الأَصْدِقَاءَ</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friends</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نُنَظِّمَ رِحْلَةً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organise a trip</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التَّذَاكِرَ</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tickets</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ظُهْرًا</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at noon</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حِرَفًا تَقْلِيدِيَّةً</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traditional crafts</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أَصْدِقَاؤُنَا الآخَرُونَ</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our other friends</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نَسِينَا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forgot</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الفُنْدُقِ</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hotel</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سَنَعُودُ</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will return</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buy the tickets?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 the day</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week before</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month before</a:t>
            </a:r>
            <a:endParaRPr lang="en-US" sz="12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see in the old market?</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football match</a:t>
            </a:r>
            <a:endParaRPr lang="en-US" sz="12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music festival</a:t>
            </a:r>
            <a:endParaRPr lang="en-US" sz="12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Beautiful traditional crafts</a:t>
            </a:r>
            <a:endParaRPr lang="en-US" sz="12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other friends do?</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Played volleyball and swam</a:t>
            </a:r>
            <a:endParaRPr lang="en-US" sz="12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Walked in the market</a:t>
            </a:r>
            <a:endParaRPr lang="en-US" sz="12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Stayed at the station</a:t>
            </a:r>
            <a:endParaRPr lang="en-US" sz="12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missed the train</a:t>
            </a:r>
            <a:endParaRPr lang="en-US" sz="12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forgot the camera at the hotel</a:t>
            </a:r>
            <a:endParaRPr lang="en-US" sz="12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rained all day</a:t>
            </a:r>
            <a:endParaRPr lang="en-US" sz="12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say at the end?</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return next year</a:t>
            </a:r>
            <a:endParaRPr lang="en-US" sz="125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would never return</a:t>
            </a:r>
            <a:endParaRPr lang="en-US" sz="125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wanted to stay longer</a:t>
            </a:r>
            <a:endParaRPr lang="en-US" sz="1250" dirty="0"/>
          </a:p>
        </p:txBody>
      </p:sp>
      <p:sp>
        <p:nvSpPr>
          <p:cNvPr id="82" name="Shape 7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3" name="Text 8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4" name="Text 8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When did they buy the tickets?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 the day</a:t>
            </a:r>
            <a:endParaRPr lang="en-US" sz="1250" dirty="0"/>
          </a:p>
        </p:txBody>
      </p:sp>
      <p:sp>
        <p:nvSpPr>
          <p:cNvPr id="24"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week before</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month before</a:t>
            </a:r>
            <a:endParaRPr lang="en-US" sz="1250" dirty="0"/>
          </a:p>
        </p:txBody>
      </p:sp>
      <p:sp>
        <p:nvSpPr>
          <p:cNvPr id="31" name="Text 28"/>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اشْتَرَيْنَا التَّذَاكِرَ قَبْلَ أُسْبُوعٍ.</a:t>
            </a:r>
            <a:endParaRPr lang="ar-SA" sz="1350" dirty="0"/>
          </a:p>
        </p:txBody>
      </p:sp>
      <p:sp>
        <p:nvSpPr>
          <p:cNvPr id="32"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see in the old market?</a:t>
            </a:r>
            <a:endParaRPr lang="en-US" sz="125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football match</a:t>
            </a:r>
            <a:endParaRPr lang="en-US" sz="125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music festival</a:t>
            </a:r>
            <a:endParaRPr lang="en-US" sz="125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Beautiful traditional crafts</a:t>
            </a:r>
            <a:endParaRPr lang="en-US" sz="125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رَأَيْنَا حِرَفًا تَقْلِيدِيَّةً جَمِيلَةً.</a:t>
            </a:r>
            <a:endParaRPr lang="ar-SA" sz="13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 other friends do?</a:t>
            </a:r>
            <a:endParaRPr lang="en-US" sz="1250" dirty="0"/>
          </a:p>
        </p:txBody>
      </p:sp>
      <p:sp>
        <p:nvSpPr>
          <p:cNvPr id="51" name="Shape 48"/>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8278368"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Played volleyball and swam</a:t>
            </a:r>
            <a:endParaRPr lang="en-US" sz="1250" dirty="0"/>
          </a:p>
        </p:txBody>
      </p:sp>
      <p:sp>
        <p:nvSpPr>
          <p:cNvPr id="55" name="Shape 52"/>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Walked in the market</a:t>
            </a:r>
            <a:endParaRPr lang="en-US" sz="1250" dirty="0"/>
          </a:p>
        </p:txBody>
      </p:sp>
      <p:sp>
        <p:nvSpPr>
          <p:cNvPr id="58" name="Shape 55"/>
          <p:cNvSpPr/>
          <p:nvPr/>
        </p:nvSpPr>
        <p:spPr>
          <a:xfrm>
            <a:off x="8278368"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Stayed at the station</a:t>
            </a:r>
            <a:endParaRPr lang="en-US" sz="1250" dirty="0"/>
          </a:p>
        </p:txBody>
      </p:sp>
      <p:sp>
        <p:nvSpPr>
          <p:cNvPr id="61" name="Text 58"/>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لَعِبُوا كُرَةَ الطَّائِرَةِ عَلَى الشَّاطِئِ وَسَبَحُوا طَوِيلًا.</a:t>
            </a:r>
            <a:endParaRPr lang="ar-SA" sz="1350" dirty="0"/>
          </a:p>
        </p:txBody>
      </p:sp>
      <p:sp>
        <p:nvSpPr>
          <p:cNvPr id="62"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went wrong?</a:t>
            </a:r>
            <a:endParaRPr lang="en-US" sz="1250" dirty="0"/>
          </a:p>
        </p:txBody>
      </p:sp>
      <p:sp>
        <p:nvSpPr>
          <p:cNvPr id="66"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missed the train</a:t>
            </a:r>
            <a:endParaRPr lang="en-US" sz="1250" dirty="0"/>
          </a:p>
        </p:txBody>
      </p:sp>
      <p:sp>
        <p:nvSpPr>
          <p:cNvPr id="69" name="Shape 66"/>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640080" y="5202936"/>
            <a:ext cx="256032" cy="256032"/>
          </a:xfrm>
          <a:prstGeom prst="ellipse">
            <a:avLst/>
          </a:prstGeom>
          <a:solidFill>
            <a:srgbClr val="2E8B57"/>
          </a:solidFill>
          <a:ln w="12700">
            <a:solidFill>
              <a:srgbClr val="2E8B57"/>
            </a:solidFill>
            <a:prstDash val="solid"/>
          </a:ln>
        </p:spPr>
      </p:sp>
      <p:sp>
        <p:nvSpPr>
          <p:cNvPr id="71" name="Text 68"/>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forgot the camera at the hotel</a:t>
            </a:r>
            <a:endParaRPr lang="en-US" sz="1250" dirty="0"/>
          </a:p>
        </p:txBody>
      </p:sp>
      <p:sp>
        <p:nvSpPr>
          <p:cNvPr id="73" name="Shape 70"/>
          <p:cNvSpPr/>
          <p:nvPr/>
        </p:nvSpPr>
        <p:spPr>
          <a:xfrm>
            <a:off x="640080"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rained all day</a:t>
            </a:r>
            <a:endParaRPr lang="en-US" sz="1250" dirty="0"/>
          </a:p>
        </p:txBody>
      </p:sp>
      <p:sp>
        <p:nvSpPr>
          <p:cNvPr id="76" name="Text 73"/>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لِلْأَسَفِ نَسِينَا الكَامِيرَا فِي الفُنْدُقِ.</a:t>
            </a:r>
            <a:endParaRPr lang="ar-SA" sz="1350" dirty="0"/>
          </a:p>
        </p:txBody>
      </p:sp>
      <p:sp>
        <p:nvSpPr>
          <p:cNvPr id="77"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did they say at the end?</a:t>
            </a:r>
            <a:endParaRPr lang="en-US" sz="1250" dirty="0"/>
          </a:p>
        </p:txBody>
      </p:sp>
      <p:sp>
        <p:nvSpPr>
          <p:cNvPr id="81"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would return next year</a:t>
            </a:r>
            <a:endParaRPr lang="en-US" sz="1250" dirty="0"/>
          </a:p>
        </p:txBody>
      </p:sp>
      <p:sp>
        <p:nvSpPr>
          <p:cNvPr id="85"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would never return</a:t>
            </a:r>
            <a:endParaRPr lang="en-US" sz="1250" dirty="0"/>
          </a:p>
        </p:txBody>
      </p:sp>
      <p:sp>
        <p:nvSpPr>
          <p:cNvPr id="88"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wanted to stay longer</a:t>
            </a:r>
            <a:endParaRPr lang="en-US" sz="1250" dirty="0"/>
          </a:p>
        </p:txBody>
      </p:sp>
      <p:sp>
        <p:nvSpPr>
          <p:cNvPr id="91" name="Text 88"/>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قُلْنَا إِنَّنَا سَنَعُودُ فِي العَامِ القَادِمِ.</a:t>
            </a:r>
            <a:endParaRPr lang="ar-SA" sz="1350" dirty="0"/>
          </a:p>
        </p:txBody>
      </p:sp>
      <p:sp>
        <p:nvSpPr>
          <p:cNvPr id="92" name="Shape 89"/>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3" name="Text 90"/>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4" name="Text 91"/>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Group Narrative Mission — Plural and Irregular Past</a:t>
            </a:r>
            <a:endParaRPr lang="en-US" sz="18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قَالْنَا</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قِلْنَا</a:t>
            </a:r>
            <a:endParaRPr lang="ar-SA" sz="2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 is accurate?</a:t>
            </a:r>
            <a:endParaRPr lang="en-US" sz="125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لَعِبُوا فِي المَلْعَبِ.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لَعِبْنَا فِي المَلْعَبِ لِلْفَرِيقِ هُمْ.</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لَعِبْتُمْ فِي المَلْعَبِ هُمْ.</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weak-final form is accurate?</a:t>
            </a:r>
            <a:endParaRPr lang="en-US" sz="1250" dirty="0"/>
          </a:p>
        </p:txBody>
      </p:sp>
      <p:sp>
        <p:nvSpPr>
          <p:cNvPr id="47" name="Shape 44"/>
          <p:cNvSpPr/>
          <p:nvPr/>
        </p:nvSpPr>
        <p:spPr>
          <a:xfrm>
            <a:off x="8278368"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اشْتَرَانَا الهَدَايَا.</a:t>
            </a:r>
            <a:endParaRPr lang="ar-SA" sz="2050" dirty="0"/>
          </a:p>
        </p:txBody>
      </p:sp>
      <p:sp>
        <p:nvSpPr>
          <p:cNvPr id="50" name="Shape 47"/>
          <p:cNvSpPr/>
          <p:nvPr/>
        </p:nvSpPr>
        <p:spPr>
          <a:xfrm>
            <a:off x="8278368"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اشْتَرَوْنَا الهَدَايَا.</a:t>
            </a:r>
            <a:endParaRPr lang="ar-SA" sz="2050" dirty="0"/>
          </a:p>
        </p:txBody>
      </p:sp>
      <p:sp>
        <p:nvSpPr>
          <p:cNvPr id="53" name="Shape 50"/>
          <p:cNvSpPr/>
          <p:nvPr/>
        </p:nvSpPr>
        <p:spPr>
          <a:xfrm>
            <a:off x="8278368"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اشْتَرَيْنَا الهَدَايَا.</a:t>
            </a:r>
            <a:endParaRPr lang="ar-SA" sz="2050" dirty="0"/>
          </a:p>
        </p:txBody>
      </p:sp>
      <p:sp>
        <p:nvSpPr>
          <p:cNvPr id="56" name="Shape 53"/>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585216"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أَنْتُمْ</a:t>
            </a:r>
            <a:pPr algn="l" indent="0" marL="0">
              <a:buNone/>
            </a:pPr>
            <a:r>
              <a:rPr lang="en-US" sz="1250" b="1" dirty="0">
                <a:solidFill>
                  <a:srgbClr val="1B3B6F"/>
                </a:solidFill>
                <a:latin typeface="Calibri" pitchFamily="34" charset="0"/>
                <a:cs typeface="Amiri" pitchFamily="2" charset="-78"/>
              </a:rPr>
              <a:t> question is accurate?</a:t>
            </a:r>
            <a:endParaRPr lang="en-US" sz="1250" dirty="0"/>
          </a:p>
        </p:txBody>
      </p:sp>
      <p:sp>
        <p:nvSpPr>
          <p:cNvPr id="60" name="Shape 57"/>
          <p:cNvSpPr/>
          <p:nvPr/>
        </p:nvSpPr>
        <p:spPr>
          <a:xfrm>
            <a:off x="640080"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وَصَلْنَا مُبَكِّرِينَ؟</a:t>
            </a:r>
            <a:endParaRPr lang="ar-SA" sz="2050" dirty="0"/>
          </a:p>
        </p:txBody>
      </p:sp>
      <p:sp>
        <p:nvSpPr>
          <p:cNvPr id="63" name="Shape 60"/>
          <p:cNvSpPr/>
          <p:nvPr/>
        </p:nvSpPr>
        <p:spPr>
          <a:xfrm>
            <a:off x="640080"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وَصَلُوا مُبَكِّرِينَ يَا أَصْدِقَاءُ؟</a:t>
            </a:r>
            <a:endParaRPr lang="ar-SA" sz="2050" dirty="0"/>
          </a:p>
        </p:txBody>
      </p:sp>
      <p:sp>
        <p:nvSpPr>
          <p:cNvPr id="66" name="Shape 63"/>
          <p:cNvSpPr/>
          <p:nvPr/>
        </p:nvSpPr>
        <p:spPr>
          <a:xfrm>
            <a:off x="640080"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وَصَلْتُمْ مُبَكِّرِينَ؟</a:t>
            </a:r>
            <a:endParaRPr lang="ar-SA" sz="2050" dirty="0"/>
          </a:p>
        </p:txBody>
      </p:sp>
      <p:sp>
        <p:nvSpPr>
          <p:cNvPr id="69" name="Shape 6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404360"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connector accurately?</a:t>
            </a:r>
            <a:endParaRPr lang="en-US" sz="1250" dirty="0"/>
          </a:p>
        </p:txBody>
      </p:sp>
      <p:sp>
        <p:nvSpPr>
          <p:cNvPr id="73" name="Shape 70"/>
          <p:cNvSpPr/>
          <p:nvPr/>
        </p:nvSpPr>
        <p:spPr>
          <a:xfrm>
            <a:off x="4459224"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فَجْأَةً بَدَأَ المَطَرُ وَعُدْنَا إِلَى الفُنْدُقِ.</a:t>
            </a:r>
            <a:endParaRPr lang="ar-SA" sz="1800" dirty="0"/>
          </a:p>
        </p:txBody>
      </p:sp>
      <p:sp>
        <p:nvSpPr>
          <p:cNvPr id="76" name="Shape 73"/>
          <p:cNvSpPr/>
          <p:nvPr/>
        </p:nvSpPr>
        <p:spPr>
          <a:xfrm>
            <a:off x="4459224"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فَجْأَةً نَبْدَأُ المَطَرُ وَعُدْنَا.</a:t>
            </a:r>
            <a:endParaRPr lang="ar-SA" sz="1800" dirty="0"/>
          </a:p>
        </p:txBody>
      </p:sp>
      <p:sp>
        <p:nvSpPr>
          <p:cNvPr id="79" name="Shape 76"/>
          <p:cNvSpPr/>
          <p:nvPr/>
        </p:nvSpPr>
        <p:spPr>
          <a:xfrm>
            <a:off x="4459224"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بَدَأَ المَطَرُ فَجْأَةً نَعُودُ الفُنْدُقَ.</a:t>
            </a:r>
            <a:endParaRPr lang="ar-SA" sz="1800" dirty="0"/>
          </a:p>
        </p:txBody>
      </p:sp>
      <p:sp>
        <p:nvSpPr>
          <p:cNvPr id="82" name="Shape 7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822350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every ending accurate?</a:t>
            </a:r>
            <a:endParaRPr lang="en-US" sz="1250" dirty="0"/>
          </a:p>
        </p:txBody>
      </p:sp>
      <p:sp>
        <p:nvSpPr>
          <p:cNvPr id="86" name="Shape 83"/>
          <p:cNvSpPr/>
          <p:nvPr/>
        </p:nvSpPr>
        <p:spPr>
          <a:xfrm>
            <a:off x="827836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أَمْضَيْنَا وَقْتٌ مُمْتِعٌ مَعَ أَصْدِقَائِنَا.</a:t>
            </a:r>
            <a:endParaRPr lang="ar-SA" sz="1950" dirty="0"/>
          </a:p>
        </p:txBody>
      </p:sp>
      <p:sp>
        <p:nvSpPr>
          <p:cNvPr id="89" name="Shape 86"/>
          <p:cNvSpPr/>
          <p:nvPr/>
        </p:nvSpPr>
        <p:spPr>
          <a:xfrm>
            <a:off x="827836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أَمْضَيْنَا وَقْتًا مُمْتِعًا مَعَ أَصْدِقَائِنَا.</a:t>
            </a:r>
            <a:endParaRPr lang="ar-SA" sz="1950" dirty="0"/>
          </a:p>
        </p:txBody>
      </p:sp>
      <p:sp>
        <p:nvSpPr>
          <p:cNvPr id="92" name="Shape 89"/>
          <p:cNvSpPr/>
          <p:nvPr/>
        </p:nvSpPr>
        <p:spPr>
          <a:xfrm>
            <a:off x="827836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1950" dirty="0">
                <a:solidFill>
                  <a:srgbClr val="1F2A37"/>
                </a:solidFill>
                <a:latin typeface="Amiri" pitchFamily="2" charset="-78"/>
                <a:ea typeface="Amiri" pitchFamily="2" charset="-78"/>
                <a:cs typeface="Amiri" pitchFamily="2" charset="-78"/>
              </a:rPr>
              <a:t>أَمْضَيْنَا وَقْتًا مُمْتِعَةً مَعَ أَصْدِقَائِنَا.</a:t>
            </a:r>
            <a:endParaRPr lang="ar-SA" sz="1950" dirty="0"/>
          </a:p>
        </p:txBody>
      </p:sp>
      <p:sp>
        <p:nvSpPr>
          <p:cNvPr id="95" name="Text 9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نَحْنُ</a:t>
            </a:r>
            <a:pPr algn="l" indent="0" marL="0">
              <a:buNone/>
            </a:pPr>
            <a:r>
              <a:rPr lang="en-US" sz="1250" b="1" dirty="0">
                <a:solidFill>
                  <a:srgbClr val="1B3B6F"/>
                </a:solidFill>
                <a:latin typeface="Calibri" pitchFamily="34" charset="0"/>
                <a:cs typeface="Amiri" pitchFamily="2" charset="-78"/>
              </a:rPr>
              <a:t> form of </a:t>
            </a:r>
            <a:pPr algn="l" indent="0" marL="0">
              <a:buNone/>
            </a:pPr>
            <a:r>
              <a:rPr lang="ar-SA" altLang="en-US" sz="1650" b="1" dirty="0">
                <a:solidFill>
                  <a:srgbClr val="1B3B6F"/>
                </a:solidFill>
                <a:latin typeface="Amiri" pitchFamily="2" charset="-78"/>
                <a:ea typeface="Amiri" pitchFamily="2" charset="-78"/>
                <a:cs typeface="Amiri" pitchFamily="2" charset="-78"/>
              </a:rPr>
              <a:t>قَالَ</a:t>
            </a:r>
            <a:pPr algn="l" indent="0" marL="0">
              <a:buNone/>
            </a:pPr>
            <a:r>
              <a:rPr lang="en-US" sz="1250" b="1" dirty="0">
                <a:solidFill>
                  <a:srgbClr val="1B3B6F"/>
                </a:solidFill>
                <a:latin typeface="Calibri" pitchFamily="34" charset="0"/>
                <a:cs typeface="Amiri" pitchFamily="2" charset="-78"/>
              </a:rPr>
              <a:t> is accurate?</a:t>
            </a:r>
            <a:endParaRPr lang="en-US" sz="1250" dirty="0"/>
          </a:p>
        </p:txBody>
      </p:sp>
      <p:sp>
        <p:nvSpPr>
          <p:cNvPr id="20"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2" name="Text 20"/>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قَالْنَا</a:t>
            </a:r>
            <a:endParaRPr lang="ar-SA" sz="1700" dirty="0"/>
          </a:p>
        </p:txBody>
      </p:sp>
      <p:sp>
        <p:nvSpPr>
          <p:cNvPr id="23" name="Shape 21"/>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6" name="Text 24"/>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قُلْنَا</a:t>
            </a:r>
            <a:endParaRPr lang="ar-SA" sz="1700" dirty="0"/>
          </a:p>
        </p:txBody>
      </p:sp>
      <p:sp>
        <p:nvSpPr>
          <p:cNvPr id="27"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7"/>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قِلْنَا</a:t>
            </a:r>
            <a:endParaRPr lang="ar-SA" sz="1700" dirty="0"/>
          </a:p>
        </p:txBody>
      </p:sp>
      <p:sp>
        <p:nvSpPr>
          <p:cNvPr id="30" name="Text 28"/>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قَالَ</a:t>
            </a:r>
            <a:pPr algn="l" indent="0" marL="0">
              <a:buNone/>
            </a:pPr>
            <a:r>
              <a:rPr lang="en-US" sz="1050" i="1" dirty="0">
                <a:solidFill>
                  <a:srgbClr val="8A6D1E"/>
                </a:solidFill>
                <a:latin typeface="Calibri" pitchFamily="34" charset="0"/>
                <a:cs typeface="Amiri" pitchFamily="2" charset="-78"/>
              </a:rPr>
              <a:t> shortens to </a:t>
            </a:r>
            <a:pPr algn="l" indent="0" marL="0">
              <a:buNone/>
            </a:pPr>
            <a:r>
              <a:rPr lang="ar-SA" altLang="en-US" sz="1350" dirty="0">
                <a:solidFill>
                  <a:srgbClr val="8A6D1E"/>
                </a:solidFill>
                <a:latin typeface="Amiri" pitchFamily="2" charset="-78"/>
                <a:ea typeface="Amiri" pitchFamily="2" charset="-78"/>
                <a:cs typeface="Amiri" pitchFamily="2" charset="-78"/>
              </a:rPr>
              <a:t>قُلْـ</a:t>
            </a:r>
            <a:pPr algn="l" indent="0" marL="0">
              <a:buNone/>
            </a:pPr>
            <a:r>
              <a:rPr lang="en-US" sz="1050" i="1" dirty="0">
                <a:solidFill>
                  <a:srgbClr val="8A6D1E"/>
                </a:solidFill>
                <a:latin typeface="Calibri" pitchFamily="34" charset="0"/>
                <a:cs typeface="Amiri" pitchFamily="2" charset="-78"/>
              </a:rPr>
              <a:t> before a consonant suffix.</a:t>
            </a:r>
            <a:endParaRPr lang="en-US" sz="1050" dirty="0"/>
          </a:p>
        </p:txBody>
      </p:sp>
      <p:sp>
        <p:nvSpPr>
          <p:cNvPr id="31" name="Shape 29"/>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30"/>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1"/>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2"/>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هُمْ</a:t>
            </a:r>
            <a:pPr algn="l" indent="0" marL="0">
              <a:buNone/>
            </a:pPr>
            <a:r>
              <a:rPr lang="en-US" sz="1250" b="1" dirty="0">
                <a:solidFill>
                  <a:srgbClr val="1B3B6F"/>
                </a:solidFill>
                <a:latin typeface="Calibri" pitchFamily="34" charset="0"/>
                <a:cs typeface="Amiri" pitchFamily="2" charset="-78"/>
              </a:rPr>
              <a:t> form is accurate?</a:t>
            </a:r>
            <a:endParaRPr lang="en-US" sz="1250" dirty="0"/>
          </a:p>
        </p:txBody>
      </p:sp>
      <p:sp>
        <p:nvSpPr>
          <p:cNvPr id="35" name="Shape 33"/>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6" name="Shape 34"/>
          <p:cNvSpPr/>
          <p:nvPr/>
        </p:nvSpPr>
        <p:spPr>
          <a:xfrm>
            <a:off x="4459224" y="2490216"/>
            <a:ext cx="256032" cy="256032"/>
          </a:xfrm>
          <a:prstGeom prst="ellipse">
            <a:avLst/>
          </a:prstGeom>
          <a:solidFill>
            <a:srgbClr val="2E8B57"/>
          </a:solidFill>
          <a:ln w="12700">
            <a:solidFill>
              <a:srgbClr val="2E8B57"/>
            </a:solidFill>
            <a:prstDash val="solid"/>
          </a:ln>
        </p:spPr>
      </p:sp>
      <p:sp>
        <p:nvSpPr>
          <p:cNvPr id="37" name="Text 35"/>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6"/>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لَعِبُوا فِي المَلْعَبِ.</a:t>
            </a:r>
            <a:endParaRPr lang="ar-SA" sz="1700" dirty="0"/>
          </a:p>
        </p:txBody>
      </p:sp>
      <p:sp>
        <p:nvSpPr>
          <p:cNvPr id="39" name="Shape 37"/>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8"/>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9"/>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لَعِبْنَا فِي المَلْعَبِ لِلْفَرِيقِ هُمْ.</a:t>
            </a:r>
            <a:endParaRPr lang="ar-SA" sz="1700" dirty="0"/>
          </a:p>
        </p:txBody>
      </p:sp>
      <p:sp>
        <p:nvSpPr>
          <p:cNvPr id="42" name="Shape 40"/>
          <p:cNvSpPr/>
          <p:nvPr/>
        </p:nvSpPr>
        <p:spPr>
          <a:xfrm>
            <a:off x="4459224" y="3233928"/>
            <a:ext cx="256032" cy="256032"/>
          </a:xfrm>
          <a:prstGeom prst="ellipse">
            <a:avLst/>
          </a:prstGeom>
          <a:solidFill>
            <a:srgbClr val="C9CED6"/>
          </a:solidFill>
          <a:ln w="12700">
            <a:solidFill>
              <a:srgbClr val="C9CED6"/>
            </a:solidFill>
            <a:prstDash val="solid"/>
          </a:ln>
        </p:spPr>
      </p:sp>
      <p:sp>
        <p:nvSpPr>
          <p:cNvPr id="43"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لَعِبْتُمْ فِي المَلْعَبِ هُمْ.</a:t>
            </a:r>
            <a:endParaRPr lang="ar-SA" sz="1700" dirty="0"/>
          </a:p>
        </p:txBody>
      </p:sp>
      <p:sp>
        <p:nvSpPr>
          <p:cNvPr id="45"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هُمْ</a:t>
            </a:r>
            <a:pPr algn="l" indent="0" marL="0">
              <a:buNone/>
            </a:pPr>
            <a:r>
              <a:rPr lang="en-US" sz="1050" i="1" dirty="0">
                <a:solidFill>
                  <a:srgbClr val="8A6D1E"/>
                </a:solidFill>
                <a:latin typeface="Calibri" pitchFamily="34" charset="0"/>
                <a:cs typeface="Amiri" pitchFamily="2" charset="-78"/>
              </a:rPr>
              <a:t> takes the </a:t>
            </a:r>
            <a:pPr algn="l" indent="0" marL="0">
              <a:buNone/>
            </a:pPr>
            <a:r>
              <a:rPr lang="ar-SA" altLang="en-US" sz="1350" dirty="0">
                <a:solidFill>
                  <a:srgbClr val="8A6D1E"/>
                </a:solidFill>
                <a:latin typeface="Amiri" pitchFamily="2" charset="-78"/>
                <a:ea typeface="Amiri" pitchFamily="2" charset="-78"/>
                <a:cs typeface="Amiri" pitchFamily="2" charset="-78"/>
              </a:rPr>
              <a:t>ـُوا</a:t>
            </a:r>
            <a:pPr algn="l" indent="0" marL="0">
              <a:buNone/>
            </a:pPr>
            <a:r>
              <a:rPr lang="en-US" sz="1050" i="1" dirty="0">
                <a:solidFill>
                  <a:srgbClr val="8A6D1E"/>
                </a:solidFill>
                <a:latin typeface="Calibri" pitchFamily="34" charset="0"/>
                <a:cs typeface="Amiri" pitchFamily="2" charset="-78"/>
              </a:rPr>
              <a:t> ending.</a:t>
            </a:r>
            <a:endParaRPr lang="en-US" sz="1050" dirty="0"/>
          </a:p>
        </p:txBody>
      </p:sp>
      <p:sp>
        <p:nvSpPr>
          <p:cNvPr id="46"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8"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7"/>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weak-final form is accurate?</a:t>
            </a:r>
            <a:endParaRPr lang="en-US" sz="1250" dirty="0"/>
          </a:p>
        </p:txBody>
      </p:sp>
      <p:sp>
        <p:nvSpPr>
          <p:cNvPr id="50" name="Shape 48"/>
          <p:cNvSpPr/>
          <p:nvPr/>
        </p:nvSpPr>
        <p:spPr>
          <a:xfrm>
            <a:off x="8278368" y="2490216"/>
            <a:ext cx="256032" cy="256032"/>
          </a:xfrm>
          <a:prstGeom prst="ellipse">
            <a:avLst/>
          </a:prstGeom>
          <a:solidFill>
            <a:srgbClr val="C9CED6"/>
          </a:solidFill>
          <a:ln w="12700">
            <a:solidFill>
              <a:srgbClr val="C9CED6"/>
            </a:solidFill>
            <a:prstDash val="solid"/>
          </a:ln>
        </p:spPr>
      </p:sp>
      <p:sp>
        <p:nvSpPr>
          <p:cNvPr id="51" name="Text 49"/>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50"/>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اشْتَرَانَا الهَدَايَا.</a:t>
            </a:r>
            <a:endParaRPr lang="ar-SA" sz="1700" dirty="0"/>
          </a:p>
        </p:txBody>
      </p:sp>
      <p:sp>
        <p:nvSpPr>
          <p:cNvPr id="53" name="Shape 51"/>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2"/>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3"/>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اشْتَرَوْنَا الهَدَايَا.</a:t>
            </a:r>
            <a:endParaRPr lang="ar-SA" sz="1700" dirty="0"/>
          </a:p>
        </p:txBody>
      </p:sp>
      <p:sp>
        <p:nvSpPr>
          <p:cNvPr id="56" name="Shape 54"/>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7" name="Shape 55"/>
          <p:cNvSpPr/>
          <p:nvPr/>
        </p:nvSpPr>
        <p:spPr>
          <a:xfrm>
            <a:off x="8278368" y="3233928"/>
            <a:ext cx="256032" cy="256032"/>
          </a:xfrm>
          <a:prstGeom prst="ellipse">
            <a:avLst/>
          </a:prstGeom>
          <a:solidFill>
            <a:srgbClr val="2E8B57"/>
          </a:solidFill>
          <a:ln w="12700">
            <a:solidFill>
              <a:srgbClr val="2E8B57"/>
            </a:solidFill>
            <a:prstDash val="solid"/>
          </a:ln>
        </p:spPr>
      </p:sp>
      <p:sp>
        <p:nvSpPr>
          <p:cNvPr id="58" name="Text 56"/>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9" name="Text 57"/>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اشْتَرَيْنَا الهَدَايَا.</a:t>
            </a:r>
            <a:endParaRPr lang="ar-SA" sz="1700" dirty="0"/>
          </a:p>
        </p:txBody>
      </p:sp>
      <p:sp>
        <p:nvSpPr>
          <p:cNvPr id="60" name="Text 58"/>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alif maqṣūra becomes yāʾ before </a:t>
            </a:r>
            <a:pPr algn="l" indent="0" marL="0">
              <a:buNone/>
            </a:pPr>
            <a:r>
              <a:rPr lang="ar-SA" altLang="en-US" sz="1350" dirty="0">
                <a:solidFill>
                  <a:srgbClr val="8A6D1E"/>
                </a:solidFill>
                <a:latin typeface="Amiri" pitchFamily="2" charset="-78"/>
                <a:ea typeface="Amiri" pitchFamily="2" charset="-78"/>
                <a:cs typeface="Amiri" pitchFamily="2" charset="-78"/>
              </a:rPr>
              <a:t>ـنَا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1" name="Shape 59"/>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60"/>
          <p:cNvSpPr/>
          <p:nvPr/>
        </p:nvSpPr>
        <p:spPr>
          <a:xfrm>
            <a:off x="585216" y="4288536"/>
            <a:ext cx="310896" cy="310896"/>
          </a:xfrm>
          <a:prstGeom prst="ellipse">
            <a:avLst/>
          </a:prstGeom>
          <a:solidFill>
            <a:srgbClr val="1B3B6F"/>
          </a:solidFill>
          <a:ln w="12700">
            <a:solidFill>
              <a:srgbClr val="1B3B6F"/>
            </a:solidFill>
            <a:prstDash val="solid"/>
          </a:ln>
        </p:spPr>
      </p:sp>
      <p:sp>
        <p:nvSpPr>
          <p:cNvPr id="63" name="Text 6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2"/>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t>
            </a:r>
            <a:pPr algn="l" indent="0" marL="0">
              <a:buNone/>
            </a:pPr>
            <a:r>
              <a:rPr lang="ar-SA" altLang="en-US" sz="1650" b="1" dirty="0">
                <a:solidFill>
                  <a:srgbClr val="1B3B6F"/>
                </a:solidFill>
                <a:latin typeface="Amiri" pitchFamily="2" charset="-78"/>
                <a:ea typeface="Amiri" pitchFamily="2" charset="-78"/>
                <a:cs typeface="Amiri" pitchFamily="2" charset="-78"/>
              </a:rPr>
              <a:t>أَنْتُمْ</a:t>
            </a:r>
            <a:pPr algn="l" indent="0" marL="0">
              <a:buNone/>
            </a:pPr>
            <a:r>
              <a:rPr lang="en-US" sz="1250" b="1" dirty="0">
                <a:solidFill>
                  <a:srgbClr val="1B3B6F"/>
                </a:solidFill>
                <a:latin typeface="Calibri" pitchFamily="34" charset="0"/>
                <a:cs typeface="Amiri" pitchFamily="2" charset="-78"/>
              </a:rPr>
              <a:t> question is accurate?</a:t>
            </a:r>
            <a:endParaRPr lang="en-US" sz="1250" dirty="0"/>
          </a:p>
        </p:txBody>
      </p:sp>
      <p:sp>
        <p:nvSpPr>
          <p:cNvPr id="65" name="Shape 63"/>
          <p:cNvSpPr/>
          <p:nvPr/>
        </p:nvSpPr>
        <p:spPr>
          <a:xfrm>
            <a:off x="640080" y="4831080"/>
            <a:ext cx="256032" cy="256032"/>
          </a:xfrm>
          <a:prstGeom prst="ellipse">
            <a:avLst/>
          </a:prstGeom>
          <a:solidFill>
            <a:srgbClr val="C9CED6"/>
          </a:solidFill>
          <a:ln w="12700">
            <a:solidFill>
              <a:srgbClr val="C9CED6"/>
            </a:solidFill>
            <a:prstDash val="solid"/>
          </a:ln>
        </p:spPr>
      </p:sp>
      <p:sp>
        <p:nvSpPr>
          <p:cNvPr id="66" name="Text 64"/>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7" name="Text 65"/>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وَصَلْنَا مُبَكِّرِينَ؟</a:t>
            </a:r>
            <a:endParaRPr lang="ar-SA" sz="1700" dirty="0"/>
          </a:p>
        </p:txBody>
      </p:sp>
      <p:sp>
        <p:nvSpPr>
          <p:cNvPr id="68" name="Shape 66"/>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7"/>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8"/>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وَصَلُوا مُبَكِّرِينَ يَا أَصْدِقَاءُ؟</a:t>
            </a:r>
            <a:endParaRPr lang="ar-SA" sz="1700" dirty="0"/>
          </a:p>
        </p:txBody>
      </p:sp>
      <p:sp>
        <p:nvSpPr>
          <p:cNvPr id="71" name="Shape 69"/>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2" name="Shape 70"/>
          <p:cNvSpPr/>
          <p:nvPr/>
        </p:nvSpPr>
        <p:spPr>
          <a:xfrm>
            <a:off x="640080" y="5574792"/>
            <a:ext cx="256032" cy="256032"/>
          </a:xfrm>
          <a:prstGeom prst="ellipse">
            <a:avLst/>
          </a:prstGeom>
          <a:solidFill>
            <a:srgbClr val="2E8B57"/>
          </a:solidFill>
          <a:ln w="12700">
            <a:solidFill>
              <a:srgbClr val="2E8B57"/>
            </a:solidFill>
            <a:prstDash val="solid"/>
          </a:ln>
        </p:spPr>
      </p:sp>
      <p:sp>
        <p:nvSpPr>
          <p:cNvPr id="73" name="Text 71"/>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4" name="Text 72"/>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وَصَلْتُمْ مُبَكِّرِينَ؟</a:t>
            </a:r>
            <a:endParaRPr lang="ar-SA" sz="1700" dirty="0"/>
          </a:p>
        </p:txBody>
      </p:sp>
      <p:sp>
        <p:nvSpPr>
          <p:cNvPr id="75" name="Text 73"/>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Addressing a group uses </a:t>
            </a:r>
            <a:pPr algn="l" indent="0" marL="0">
              <a:buNone/>
            </a:pPr>
            <a:r>
              <a:rPr lang="ar-SA" altLang="en-US" sz="1350" dirty="0">
                <a:solidFill>
                  <a:srgbClr val="8A6D1E"/>
                </a:solidFill>
                <a:latin typeface="Amiri" pitchFamily="2" charset="-78"/>
                <a:ea typeface="Amiri" pitchFamily="2" charset="-78"/>
                <a:cs typeface="Amiri" pitchFamily="2" charset="-78"/>
              </a:rPr>
              <a:t>ـتُمْ</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Shape 7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7" name="Shape 75"/>
          <p:cNvSpPr/>
          <p:nvPr/>
        </p:nvSpPr>
        <p:spPr>
          <a:xfrm>
            <a:off x="4404360" y="4288536"/>
            <a:ext cx="310896" cy="310896"/>
          </a:xfrm>
          <a:prstGeom prst="ellipse">
            <a:avLst/>
          </a:prstGeom>
          <a:solidFill>
            <a:srgbClr val="1B3B6F"/>
          </a:solidFill>
          <a:ln w="12700">
            <a:solidFill>
              <a:srgbClr val="1B3B6F"/>
            </a:solidFill>
            <a:prstDash val="solid"/>
          </a:ln>
        </p:spPr>
      </p:sp>
      <p:sp>
        <p:nvSpPr>
          <p:cNvPr id="78" name="Text 7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9" name="Text 7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a connector accurately?</a:t>
            </a:r>
            <a:endParaRPr lang="en-US" sz="1250" dirty="0"/>
          </a:p>
        </p:txBody>
      </p:sp>
      <p:sp>
        <p:nvSpPr>
          <p:cNvPr id="80" name="Shape 78"/>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1" name="Shape 79"/>
          <p:cNvSpPr/>
          <p:nvPr/>
        </p:nvSpPr>
        <p:spPr>
          <a:xfrm>
            <a:off x="4459224" y="4831080"/>
            <a:ext cx="256032" cy="256032"/>
          </a:xfrm>
          <a:prstGeom prst="ellipse">
            <a:avLst/>
          </a:prstGeom>
          <a:solidFill>
            <a:srgbClr val="2E8B57"/>
          </a:solidFill>
          <a:ln w="12700">
            <a:solidFill>
              <a:srgbClr val="2E8B57"/>
            </a:solidFill>
            <a:prstDash val="solid"/>
          </a:ln>
        </p:spPr>
      </p:sp>
      <p:sp>
        <p:nvSpPr>
          <p:cNvPr id="82" name="Text 80"/>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3" name="Text 81"/>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فَجْأَةً بَدَأَ المَطَرُ وَعُدْنَا إِلَى الفُنْدُقِ.</a:t>
            </a:r>
            <a:endParaRPr lang="ar-SA" sz="1700" dirty="0"/>
          </a:p>
        </p:txBody>
      </p:sp>
      <p:sp>
        <p:nvSpPr>
          <p:cNvPr id="84" name="Shape 82"/>
          <p:cNvSpPr/>
          <p:nvPr/>
        </p:nvSpPr>
        <p:spPr>
          <a:xfrm>
            <a:off x="4459224" y="5202936"/>
            <a:ext cx="256032" cy="256032"/>
          </a:xfrm>
          <a:prstGeom prst="ellipse">
            <a:avLst/>
          </a:prstGeom>
          <a:solidFill>
            <a:srgbClr val="C9CED6"/>
          </a:solidFill>
          <a:ln w="12700">
            <a:solidFill>
              <a:srgbClr val="C9CED6"/>
            </a:solidFill>
            <a:prstDash val="solid"/>
          </a:ln>
        </p:spPr>
      </p:sp>
      <p:sp>
        <p:nvSpPr>
          <p:cNvPr id="85" name="Text 83"/>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6" name="Text 84"/>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فَجْأَةً نَبْدَأُ المَطَرُ وَعُدْنَا.</a:t>
            </a:r>
            <a:endParaRPr lang="ar-SA" sz="1700" dirty="0"/>
          </a:p>
        </p:txBody>
      </p:sp>
      <p:sp>
        <p:nvSpPr>
          <p:cNvPr id="87" name="Shape 85"/>
          <p:cNvSpPr/>
          <p:nvPr/>
        </p:nvSpPr>
        <p:spPr>
          <a:xfrm>
            <a:off x="4459224" y="5574792"/>
            <a:ext cx="256032" cy="256032"/>
          </a:xfrm>
          <a:prstGeom prst="ellipse">
            <a:avLst/>
          </a:prstGeom>
          <a:solidFill>
            <a:srgbClr val="C9CED6"/>
          </a:solidFill>
          <a:ln w="12700">
            <a:solidFill>
              <a:srgbClr val="C9CED6"/>
            </a:solidFill>
            <a:prstDash val="solid"/>
          </a:ln>
        </p:spPr>
      </p:sp>
      <p:sp>
        <p:nvSpPr>
          <p:cNvPr id="88" name="Text 86"/>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9" name="Text 87"/>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بَدَأَ المَطَرُ فَجْأَةً نَعُودُ الفُنْدُقَ.</a:t>
            </a:r>
            <a:endParaRPr lang="ar-SA" sz="1700" dirty="0"/>
          </a:p>
        </p:txBody>
      </p:sp>
      <p:sp>
        <p:nvSpPr>
          <p:cNvPr id="90" name="Text 88"/>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connector opens the clause and both verbs stay in the past.</a:t>
            </a:r>
            <a:endParaRPr lang="en-US" sz="1050" dirty="0"/>
          </a:p>
        </p:txBody>
      </p:sp>
      <p:sp>
        <p:nvSpPr>
          <p:cNvPr id="91" name="Shape 89"/>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2" name="Shape 90"/>
          <p:cNvSpPr/>
          <p:nvPr/>
        </p:nvSpPr>
        <p:spPr>
          <a:xfrm>
            <a:off x="8223504" y="4288536"/>
            <a:ext cx="310896" cy="310896"/>
          </a:xfrm>
          <a:prstGeom prst="ellipse">
            <a:avLst/>
          </a:prstGeom>
          <a:solidFill>
            <a:srgbClr val="1B3B6F"/>
          </a:solidFill>
          <a:ln w="12700">
            <a:solidFill>
              <a:srgbClr val="1B3B6F"/>
            </a:solidFill>
            <a:prstDash val="solid"/>
          </a:ln>
        </p:spPr>
      </p:sp>
      <p:sp>
        <p:nvSpPr>
          <p:cNvPr id="93" name="Text 91"/>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4" name="Text 92"/>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keeps every ending accurate?</a:t>
            </a:r>
            <a:endParaRPr lang="en-US" sz="1250" dirty="0"/>
          </a:p>
        </p:txBody>
      </p:sp>
      <p:sp>
        <p:nvSpPr>
          <p:cNvPr id="95" name="Shape 93"/>
          <p:cNvSpPr/>
          <p:nvPr/>
        </p:nvSpPr>
        <p:spPr>
          <a:xfrm>
            <a:off x="8278368" y="4831080"/>
            <a:ext cx="256032" cy="256032"/>
          </a:xfrm>
          <a:prstGeom prst="ellipse">
            <a:avLst/>
          </a:prstGeom>
          <a:solidFill>
            <a:srgbClr val="C9CED6"/>
          </a:solidFill>
          <a:ln w="12700">
            <a:solidFill>
              <a:srgbClr val="C9CED6"/>
            </a:solidFill>
            <a:prstDash val="solid"/>
          </a:ln>
        </p:spPr>
      </p:sp>
      <p:sp>
        <p:nvSpPr>
          <p:cNvPr id="96" name="Text 94"/>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7" name="Text 95"/>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أَمْضَيْنَا وَقْتٌ مُمْتِعٌ مَعَ أَصْدِقَائِنَا.</a:t>
            </a:r>
            <a:endParaRPr lang="ar-SA" sz="1700" dirty="0"/>
          </a:p>
        </p:txBody>
      </p:sp>
      <p:sp>
        <p:nvSpPr>
          <p:cNvPr id="98" name="Shape 96"/>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99" name="Shape 97"/>
          <p:cNvSpPr/>
          <p:nvPr/>
        </p:nvSpPr>
        <p:spPr>
          <a:xfrm>
            <a:off x="8278368" y="5202936"/>
            <a:ext cx="256032" cy="256032"/>
          </a:xfrm>
          <a:prstGeom prst="ellipse">
            <a:avLst/>
          </a:prstGeom>
          <a:solidFill>
            <a:srgbClr val="2E8B57"/>
          </a:solidFill>
          <a:ln w="12700">
            <a:solidFill>
              <a:srgbClr val="2E8B57"/>
            </a:solidFill>
            <a:prstDash val="solid"/>
          </a:ln>
        </p:spPr>
      </p:sp>
      <p:sp>
        <p:nvSpPr>
          <p:cNvPr id="100" name="Text 98"/>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1" name="Text 99"/>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أَمْضَيْنَا وَقْتًا مُمْتِعًا مَعَ أَصْدِقَائِنَا.</a:t>
            </a:r>
            <a:endParaRPr lang="ar-SA" sz="1700" dirty="0"/>
          </a:p>
        </p:txBody>
      </p:sp>
      <p:sp>
        <p:nvSpPr>
          <p:cNvPr id="102" name="Shape 100"/>
          <p:cNvSpPr/>
          <p:nvPr/>
        </p:nvSpPr>
        <p:spPr>
          <a:xfrm>
            <a:off x="8278368" y="5574792"/>
            <a:ext cx="256032" cy="256032"/>
          </a:xfrm>
          <a:prstGeom prst="ellipse">
            <a:avLst/>
          </a:prstGeom>
          <a:solidFill>
            <a:srgbClr val="C9CED6"/>
          </a:solidFill>
          <a:ln w="12700">
            <a:solidFill>
              <a:srgbClr val="C9CED6"/>
            </a:solidFill>
            <a:prstDash val="solid"/>
          </a:ln>
        </p:spPr>
      </p:sp>
      <p:sp>
        <p:nvSpPr>
          <p:cNvPr id="103" name="Text 101"/>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4" name="Text 102"/>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أَمْضَيْنَا وَقْتًا مُمْتِعَةً مَعَ أَصْدِقَائِنَا.</a:t>
            </a:r>
            <a:endParaRPr lang="ar-SA" sz="1700" dirty="0"/>
          </a:p>
        </p:txBody>
      </p:sp>
      <p:sp>
        <p:nvSpPr>
          <p:cNvPr id="105" name="Text 103"/>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object and its adjective are both masculine accusative.</a:t>
            </a:r>
            <a:endParaRPr lang="en-US" sz="1050" dirty="0"/>
          </a:p>
        </p:txBody>
      </p:sp>
      <p:sp>
        <p:nvSpPr>
          <p:cNvPr id="106" name="Text 10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D5-L04 · Grammar</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D5-L05: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ar-SA" sz="1000" dirty="0">
                <a:solidFill>
                  <a:srgbClr val="5A6472"/>
                </a:solidFill>
                <a:latin typeface="Calibri" pitchFamily="34" charset="0"/>
                <a:ea typeface="Amiri" pitchFamily="2" charset="-78"/>
                <a:cs typeface="Amiri" pitchFamily="2" charset="-78"/>
              </a:rPr>
              <a:t>for D5-L05 · Storytelling — Narrative Connectors and كَانَ Description</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البِدَايَةِ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at the beginning</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تِلْكَ اللَّحْظَةِ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at that moment</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النِّهَايَةِ</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end</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كَانَ / كَانَتْ</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he / she was</a:t>
            </a:r>
            <a:pPr indent="0" marL="0">
              <a:buNone/>
            </a:pPr>
            <a:r>
              <a:rPr lang="ar-SA" sz="1000" i="1" dirty="0">
                <a:solidFill>
                  <a:srgbClr val="5A6472"/>
                </a:solidFill>
                <a:latin typeface="Calibri" pitchFamily="34" charset="0"/>
                <a:ea typeface="Amiri" pitchFamily="2" charset="-78"/>
                <a:cs typeface="Amiri" pitchFamily="2" charset="-78"/>
              </a:rPr>
              <a:t>  كُنْتُ I was</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ذِكْرَى</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memory</a:t>
            </a:r>
            <a:pPr indent="0" marL="0">
              <a:buNone/>
            </a:pPr>
            <a:r>
              <a:rPr lang="ar-SA" sz="1000" i="1" dirty="0">
                <a:solidFill>
                  <a:srgbClr val="5A6472"/>
                </a:solidFill>
                <a:latin typeface="Calibri" pitchFamily="34" charset="0"/>
                <a:ea typeface="Amiri" pitchFamily="2" charset="-78"/>
                <a:cs typeface="Amiri" pitchFamily="2" charset="-78"/>
              </a:rPr>
              <a:t>  pl. ذِكْرَيَاتٌ</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Think of a day you will never forget. Where were you, and what happened?</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كُنْتُ فِي … وَفَجْأَةً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three plural endings with </a:t>
            </a:r>
            <a:pPr algn="l" indent="0" marL="0">
              <a:buNone/>
            </a:pPr>
            <a:r>
              <a:rPr lang="ar-SA" altLang="en-US" sz="1550" dirty="0">
                <a:solidFill>
                  <a:srgbClr val="1F2A37"/>
                </a:solidFill>
                <a:latin typeface="Amiri" pitchFamily="2" charset="-78"/>
                <a:ea typeface="Amiri" pitchFamily="2" charset="-78"/>
                <a:cs typeface="Amiri" pitchFamily="2" charset="-78"/>
              </a:rPr>
              <a:t>ذَهَبَ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لَعِبَ</a:t>
            </a:r>
            <a:pPr algn="l" indent="0" marL="0">
              <a:buNone/>
            </a:pPr>
            <a:r>
              <a:rPr lang="en-US" sz="1200" dirty="0">
                <a:solidFill>
                  <a:srgbClr val="1F2A37"/>
                </a:solidFill>
                <a:latin typeface="Calibri" pitchFamily="34" charset="0"/>
                <a:cs typeface="Amiri" pitchFamily="2" charset="-78"/>
              </a:rPr>
              <a:t>; write five </a:t>
            </a:r>
            <a:pPr algn="l" indent="0" marL="0">
              <a:buNone/>
            </a:pPr>
            <a:r>
              <a:rPr lang="ar-SA" altLang="en-US" sz="1550" dirty="0">
                <a:solidFill>
                  <a:srgbClr val="1F2A37"/>
                </a:solidFill>
                <a:latin typeface="Amiri" pitchFamily="2" charset="-78"/>
                <a:ea typeface="Amiri" pitchFamily="2" charset="-78"/>
                <a:cs typeface="Amiri" pitchFamily="2" charset="-78"/>
              </a:rPr>
              <a:t>نَحْنُ</a:t>
            </a:r>
            <a:pPr algn="l" indent="0" marL="0">
              <a:buNone/>
            </a:pPr>
            <a:r>
              <a:rPr lang="en-US" sz="1200" dirty="0">
                <a:solidFill>
                  <a:srgbClr val="1F2A37"/>
                </a:solidFill>
                <a:latin typeface="Calibri" pitchFamily="34" charset="0"/>
                <a:cs typeface="Amiri" pitchFamily="2" charset="-78"/>
              </a:rPr>
              <a:t> sentences.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An 80–100-word group story with one </a:t>
            </a:r>
            <a:pPr algn="l" indent="0" marL="0">
              <a:buNone/>
            </a:pPr>
            <a:r>
              <a:rPr lang="ar-SA" altLang="en-US" sz="1550" dirty="0">
                <a:solidFill>
                  <a:srgbClr val="1F2A37"/>
                </a:solidFill>
                <a:latin typeface="Amiri" pitchFamily="2" charset="-78"/>
                <a:ea typeface="Amiri" pitchFamily="2" charset="-78"/>
                <a:cs typeface="Amiri" pitchFamily="2" charset="-78"/>
              </a:rPr>
              <a:t>هُمْ</a:t>
            </a:r>
            <a:pPr algn="l" indent="0" marL="0">
              <a:buNone/>
            </a:pPr>
            <a:r>
              <a:rPr lang="en-US" sz="1200" dirty="0">
                <a:solidFill>
                  <a:srgbClr val="1F2A37"/>
                </a:solidFill>
                <a:latin typeface="Calibri" pitchFamily="34" charset="0"/>
                <a:cs typeface="Amiri" pitchFamily="2" charset="-78"/>
              </a:rPr>
              <a:t> verb and one irregular verb.</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group narrative with two irregular verbs and two connectors.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D5-L05 · Storytelling — Narrative Connectors and </a:t>
            </a:r>
            <a:pPr algn="l" indent="0" marL="0">
              <a:buNone/>
            </a:pPr>
            <a:r>
              <a:rPr lang="ar-SA" altLang="en-US" sz="2150" b="1" dirty="0">
                <a:solidFill>
                  <a:srgbClr val="FFFFFF"/>
                </a:solidFill>
                <a:latin typeface="Amiri" pitchFamily="2" charset="-78"/>
                <a:ea typeface="Amiri" pitchFamily="2" charset="-78"/>
                <a:cs typeface="Amiri" pitchFamily="2" charset="-78"/>
              </a:rPr>
              <a:t>كَانَ</a:t>
            </a:r>
            <a:pPr algn="l" indent="0" marL="0">
              <a:buNone/>
            </a:pPr>
            <a:r>
              <a:rPr lang="en-US" sz="1650" b="1" dirty="0">
                <a:solidFill>
                  <a:srgbClr val="FFFFFF"/>
                </a:solidFill>
                <a:latin typeface="Cambria" pitchFamily="34" charset="0"/>
                <a:cs typeface="Amiri" pitchFamily="2" charset="-78"/>
              </a:rPr>
              <a:t> Description</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رِوَايَةُ القِصَصِ — رَوَابِطُ السَّرْدِ وَكَانَ</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we -nā · you all -tum · they -ū — and for irregular verbs, fix the stem first: </a:t>
            </a:r>
            <a:pPr algn="l" indent="0" marL="0">
              <a:buNone/>
            </a:pPr>
            <a:r>
              <a:rPr lang="ar-SA" altLang="en-US" sz="1700" b="1" dirty="0">
                <a:solidFill>
                  <a:srgbClr val="FFFFFF"/>
                </a:solidFill>
                <a:latin typeface="Amiri" pitchFamily="2" charset="-78"/>
                <a:ea typeface="Amiri" pitchFamily="2" charset="-78"/>
                <a:cs typeface="Amiri" pitchFamily="2" charset="-78"/>
              </a:rPr>
              <a:t>قُلْنَا</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نِمْنَا</a:t>
            </a:r>
            <a:pPr algn="l" indent="0" marL="0">
              <a:buNone/>
            </a:pPr>
            <a:r>
              <a:rPr lang="en-US" sz="1300" b="1" dirty="0">
                <a:solidFill>
                  <a:srgbClr val="FFFFFF"/>
                </a:solidFill>
                <a:latin typeface="Calibri" pitchFamily="34" charset="0"/>
                <a:cs typeface="Amiri" pitchFamily="2" charset="-78"/>
              </a:rPr>
              <a:t> · </a:t>
            </a:r>
            <a:pPr algn="l" indent="0" marL="0">
              <a:buNone/>
            </a:pPr>
            <a:r>
              <a:rPr lang="ar-SA" altLang="en-US" sz="1700" b="1" dirty="0">
                <a:solidFill>
                  <a:srgbClr val="FFFFFF"/>
                </a:solidFill>
                <a:latin typeface="Amiri" pitchFamily="2" charset="-78"/>
                <a:ea typeface="Amiri" pitchFamily="2" charset="-78"/>
                <a:cs typeface="Amiri" pitchFamily="2" charset="-78"/>
              </a:rPr>
              <a:t>مَشَيْنَا</a:t>
            </a:r>
            <a:pPr algn="l" indent="0" marL="0">
              <a:buNone/>
            </a:pPr>
            <a:r>
              <a:rPr lang="en-US" sz="1300" b="1" dirty="0">
                <a:solidFill>
                  <a:srgbClr val="FFFFFF"/>
                </a:solidFill>
                <a:latin typeface="Calibri" pitchFamily="34" charset="0"/>
                <a:cs typeface="Amiri" pitchFamily="2" charset="-78"/>
              </a:rPr>
              <a: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D5-L04 · Past Tense — Plural Forms and Irregular Verbs</dc:title>
  <dc:subject>PptxGenJS Presentation</dc:subject>
  <dc:creator>Al Madina Online School · Arabic Department</dc:creator>
  <cp:lastModifiedBy>Al Madina Online School · Arabic Department</cp:lastModifiedBy>
  <cp:revision>1</cp:revision>
  <dcterms:created xsi:type="dcterms:W3CDTF">2026-10-11T06:40:59Z</dcterms:created>
  <dcterms:modified xsi:type="dcterms:W3CDTF">2026-10-11T06:40:59Z</dcterms:modified>
</cp:coreProperties>
</file>