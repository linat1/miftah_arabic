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D5-L04. The website lesson “Past Tense — Plural Forms and Irregular Verbs”: vocabulary, grammar rules and quiz, patterns, common mistakes, sorter, listening, reading, speaking prompts and model, writing task and model, differentiation, final check and the lesson mission. Picture match: website visual game “Past Tense — Plural Forms and Irregular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نَحْنُ form of six regular verbs (ذَهَبْنَا · لَعِبْنَا · شَاهَدْنَا) and the هُمْ form (ذَهَبُوا). Develop: أَنْتُمْ in questions + the hollow verbs قُلْنَا · نِمْنَا · جِئْنَا. Stretch: weak-final verbs (مَشَيْنَا · رَأَيْنَا · اشْتَرَيْنَا · مَشَوْا) and a narrative with two connectors.
• The key idea: the ENDINGS never change; irregular verbs change the STEM first (website: “identify the family, adjust the stem, then attach the ending”).
• Builds directly on D5-L03 (singular endings). D5-L05 adds narrative connectors and كَانَ.
• TEACHER-WRITTEN ITEMS: two quiz distractors replaced (they differed only in vowels),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D5-L03. Questions 4–5 retrieve the D5-L03 singular endings (هِيَ · أَنْتِ).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endings for every verb — irregular verbs just change their stem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شاذ و نادر (rare) and جمع (plural) are the same grammar words. افسوس is Persian, but Arabic أَسَفٌ (regret) is the root of لِلْأَسَفِ. CAREFUL: Urdu حظ (ḥaẓ) = enjoyment; Arabic حَظٌّ =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Plural past forms (website vocabulary (1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Plural past forms (website vocabulary (2 of 2)). Hear → Say → See → Use. Transliteration is printed for Core students (cover it for Develop/Stretch).
Plural past forms: we -nā · you all -tum · they -ū (the final alif in ـُوا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Irregular past verbs (website vocabulary (1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Irregular past verbs (website vocabulary (2 of 2)). Hear → Say → See → Use. Transliteration is printed for Core students (cover it for Develop/Stretch).
Irregular past verbs: the card shows “he” → “we”. Hollow verbs shorten the middle (قَالَ → قُلْنَا); weak-final verbs change alif to yāʾ (مَشَى → مَشَيْنَا).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narrative language (website vocabulary (1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narrative language (website vocabulary (2 of 2)). Hear → Say → See → Use. Transliteration is printed for Core students (cover it for Develop/Stretch).
Group narrative language: connectors for the story (فَجْأَةً · لِحُسْنِ الحَظِّ · لِلْأَسَفِ) and group verbs from other forms (قَرَّرْنَا · أَحْضَرْنَا · اجْتَمَعْنَا).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three plural suffixes” (the نَحْنُ and أَنْتُمْ suffixes begin with a consonant; the هُمْ suffix is a long ū written with a silent alif). Website teaching point: “ـنَا turns your story into our story.”
Drill: teacher says a person, students chorus (نَحْنُ → لَعِبْنَا · هُمْ → لَعِبُوا). Website mistake: هُمْ لَعِبْنَا ✗ → هُمْ لَعِبُوا.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“Hollow verbs” (the long middle vowel shortens before a consonant suffix: u for قَالَ, i for نَامَ), “Weak-final verbs” (alif maqṣūra → yāʾ before a consonant suffix) and “هُمْ with a weak-final verb” (the final vowel letter drops and the verb takes ـَوْا).
Website mistakes: قَالْنَا ✗ → قُلْنَا · مَشَانَا ✗ → مَشَيْنَا. Core: قُلْنَا and مَشَيْنَا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new suffixes complete the past-tense system. Then three families of irregular verb change their stem before those suffixes. Identify the family first, adjust the stem, then attach the ending.”
• The three plural suffixes: The نَحْنُ and أَنْتُمْ suffixes begin with a consonant; the هُمْ suffix is a long ū written with a silent alif.
• Hollow verbs: A verb whose middle letter is a long vowel shortens that vowel before a consonant suffix. The short vowel matches the verb's own family: u for قَالَ, i for نَامَ.
• Weak-final verbs: A verb ending in alif maqṣūra replaces it with yāʾ before a consonant suffix.
• هُمْ with a weak-final verb: With هُمْ a regular verb takes ـُوا. A weak-final verb loses its final vowel letter and takes ـَوْا instead.
Website common error: Do not attach a plural suffix to an unchanged irregular stem. Adjust the stem first — قَالَ becomes قُلْـ and مَشَى becomes مَشَيْـ — and only then add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listening (a group trip): “Who? We. Regular or irregular? Which family? Fix the stem, then -nā.” Students copy the box and underline the two weak-final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give the “he” form of every verb aloud: قُلْنَا → قَالَ · مَشَيْنَا → مَشَى.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list the irregular verbs you heard (مَشَيْنَا · رَأَيْنَا · غَنَّيْنَا · نِمْنَا · قُلْنَا).
Listen 1: just listen. Listen 2: note answers. Then chat the letters.
Support: after the second listening, show the read-along slide (Arabic + English, line by line) for Core students.
SCRIPT (read aloud):
فِي الإِجَازَةِ المَاضِيَةِ قَرَّرْنَا أَنْ نَذْهَبَ إِلَى الجَبَلِ. اجْتَمَعْنَا صَبَاحًا وَأَحْضَرْنَا الطَّعَامَ وَالمَاءَ، ثُمَّ مَشَيْنَا سَاعَتَيْنِ حَتَّى وَصَلْنَا إِلَى القِمَّةِ. وَهُنَاكَ رَأَيْنَا مَنْظَرًا رَائِعًا، وَغَنَّيْنَا مَعًا وَضَحِكْنَا كَثِيرًا. فَجْأَةً بَدَأَ المَطَرُ، وَلِحُسْنِ الحَظِّ أَحْضَرْنَا مَعَاطِفَ. وَفِي المَسَاءِ نِمْنَا مُبَكِّرِينَ لِأَنَّنَا تَعِبْنَا، وَقُلْنَا إِنَّنَا أَمْضَيْنَا وَقْتًا مُمْتِعًا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رَأَيْتُمْ هُنَاكَ؟ (And what did you see there?)
B: رَأَيْنَا مَنْظَرًا رَائِعًا، وَغَنَّيْنَا مَعًا، وَقُلْنَا إِنَّنَا سَنَعُودُ. (We saw a wonderful view, sang together, and said that we would come back.)
Website prompts and model (a أَنْتُمْ question answered with نَحْنُ verbs). Pairs: A asks with ـتُمْ, B answers with ـنَا — then swap. Listen for one irregular verb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Extend the conjugation table to the three plural persons, then write five نَحْنُ sentences. · Develop — Write a linked narrative that also uses a هُمْ verb and one irregular verb. · Stretch — Include a hollow verb, a weak-final verb and two connectors in a narrative that keeps every stem and ending accurate.
Website writing task (Stretch): Write a narrative about something you did with others. Use at least six نَحْنُ verbs, two irregular verbs and two narrative connectors from فَجْأَةً، لِحُسْنِ الحَظِّ، لِلْأَسَفِ.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اجْتَمَعْنَا · قَرَّرْنَا · اشْتَرَيْنَا · جِئْنَا · مَشَيْنَا · رَأَيْنَا · أَحْضَرْنَا · غَنَّيْنَا · نِمْنَا · قُلْنَا · أَمْضَيْنَا; connectors فَجْأَةً · لِحُسْنِ الحَظِّ. Stretch: add one هُمْ verb (e.g. أَصْدِقَاؤُنَا لَعِبُوا …) to complete the website checklist.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(D5-L05 · Storytelling — Narrative Connectors and كَانَ Description) will spend class time USING this language, so students prepare it tonight — short, simple, easy to access (school guidance: “Simple, Short, Interesting, Relevant, Easy to access”). The five words come from the website D5-L05 vocabulary (narrative connectors and كَانَ).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Past Tense — Plural Forms and Irregular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الفِعْلُ المَاضِي — الجَمْعُ وَالأَفْعَالُ الشَّاذَّةُ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Tell a group story: we / you all / they did (</a:t>
            </a:r>
            <a:pPr algn="l" indent="0" marL="0">
              <a:buNone/>
            </a:pPr>
            <a:r>
              <a:rPr lang="ar-SA" altLang="en-US" sz="1800" dirty="0">
                <a:solidFill>
                  <a:srgbClr val="C6D2E6"/>
                </a:solidFill>
                <a:latin typeface="Amiri" pitchFamily="34" charset="0"/>
                <a:ea typeface="Amiri" pitchFamily="34" charset="-122"/>
                <a:cs typeface="Amiri" pitchFamily="34" charset="-120"/>
              </a:rPr>
              <a:t>لَعِبْنَا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لَعِبْتُمْ</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لَعِبُوا</a:t>
            </a:r>
            <a:pPr algn="l" indent="0" marL="0">
              <a:buNone/>
            </a:pPr>
            <a:r>
              <a:rPr lang="en-US" sz="1400" dirty="0">
                <a:solidFill>
                  <a:srgbClr val="C6D2E6"/>
                </a:solidFill>
                <a:latin typeface="Calibri" pitchFamily="34" charset="0"/>
                <a:ea typeface="Calibri" pitchFamily="34" charset="-122"/>
                <a:cs typeface="Calibri" pitchFamily="34" charset="-120"/>
              </a:rPr>
              <a:t>) — and fix the stem of irregular verbs first (</a:t>
            </a:r>
            <a:pPr algn="l" indent="0" marL="0">
              <a:buNone/>
            </a:pPr>
            <a:r>
              <a:rPr lang="ar-SA" altLang="en-US" sz="1800" dirty="0">
                <a:solidFill>
                  <a:srgbClr val="C6D2E6"/>
                </a:solidFill>
                <a:latin typeface="Amiri" pitchFamily="34" charset="0"/>
                <a:ea typeface="Amiri" pitchFamily="34" charset="-122"/>
                <a:cs typeface="Amiri" pitchFamily="34" charset="-120"/>
              </a:rPr>
              <a:t>قَالَ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قُلْنَا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مَشَى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مَشَيْنَا</a:t>
            </a:r>
            <a:pPr algn="l" indent="0" marL="0">
              <a:buNone/>
            </a:pPr>
            <a:r>
              <a:rPr lang="en-US" sz="1400" dirty="0">
                <a:solidFill>
                  <a:srgbClr val="C6D2E6"/>
                </a:solidFill>
                <a:latin typeface="Calibri" pitchFamily="34" charset="0"/>
                <a:ea typeface="Calibri" pitchFamily="34" charset="-122"/>
                <a:cs typeface="Calibri" pitchFamily="34" charset="-120"/>
              </a:rPr>
              <a:t>) before adding the ending.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D5-L04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plural endings, then two irregular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family, fix stem slips, then a group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ذَهَبْنَا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went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together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alone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رَأَيْنَا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said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slept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saw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سَلْمَى لَوْحَةً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“Did you (f.) watch the match?”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شَاهَدْتِ المُبَارَاةَ؟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شَاهَدْنَا المُبَارَاةَ؟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شَاهَدُوا المُبَارَاةَ؟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ذَهَبْنَا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went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together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alone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رَأَيْنَا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said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slept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 saw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سَلْمَى لَوْحَةً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رَسَمُوا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D5-L03: she →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“Did you (f.) watch the match?”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شَاهَدْتِ المُبَارَاةَ؟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شَاهَدْنَا المُبَارَاةَ؟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شَاهَدُوا المُبَارَاةَ؟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D5-L03: you (f.) → -ti.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Same endings for every verb — irregular verbs just change their stem first.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لَعِبْنَا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قُلْنَا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1D5FBF"/>
                </a:solidFill>
                <a:latin typeface="Amiri" pitchFamily="34" charset="0"/>
                <a:ea typeface="Amiri" pitchFamily="34" charset="-122"/>
                <a:cs typeface="Amiri" pitchFamily="34" charset="-120"/>
              </a:rPr>
              <a:t>مَشَيْنَا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past tense for </a:t>
            </a:r>
            <a:pPr algn="l" indent="0" marL="0">
              <a:buNone/>
            </a:pPr>
            <a:r>
              <a:rPr lang="ar-SA" altLang="en-US" sz="1700" dirty="0">
                <a:solidFill>
                  <a:srgbClr val="1F2A37"/>
                </a:solidFill>
                <a:latin typeface="Amiri" pitchFamily="34" charset="0"/>
                <a:ea typeface="Amiri" pitchFamily="34" charset="-122"/>
                <a:cs typeface="Amiri" pitchFamily="34" charset="-120"/>
              </a:rPr>
              <a:t>نَحْنُ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أَنْتُمْ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هُمْ</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Shorten the stem of hollow verbs (</a:t>
            </a:r>
            <a:pPr algn="l" indent="0" marL="0">
              <a:buNone/>
            </a:pPr>
            <a:r>
              <a:rPr lang="ar-SA" altLang="en-US" sz="1700" dirty="0">
                <a:solidFill>
                  <a:srgbClr val="1F2A37"/>
                </a:solidFill>
                <a:latin typeface="Amiri" pitchFamily="34" charset="0"/>
                <a:ea typeface="Amiri" pitchFamily="34" charset="-122"/>
                <a:cs typeface="Amiri" pitchFamily="34" charset="-120"/>
              </a:rPr>
              <a:t>قَالَ</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قُلْنَا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نَامَ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نِمْنَا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the final alif of weak verbs to yāʾ (</a:t>
            </a:r>
            <a:pPr algn="l" indent="0" marL="0">
              <a:buNone/>
            </a:pPr>
            <a:r>
              <a:rPr lang="ar-SA" altLang="en-US" sz="1700" dirty="0">
                <a:solidFill>
                  <a:srgbClr val="1F2A37"/>
                </a:solidFill>
                <a:latin typeface="Amiri" pitchFamily="34" charset="0"/>
                <a:ea typeface="Amiri" pitchFamily="34" charset="-122"/>
                <a:cs typeface="Amiri" pitchFamily="34" charset="-120"/>
              </a:rPr>
              <a:t>مَشَى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مَشَيْنَا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group story with connectors (</a:t>
            </a:r>
            <a:pPr algn="l" indent="0" marL="0">
              <a:buNone/>
            </a:pPr>
            <a:r>
              <a:rPr lang="ar-SA" altLang="en-US" sz="1700" dirty="0">
                <a:solidFill>
                  <a:srgbClr val="1F2A37"/>
                </a:solidFill>
                <a:latin typeface="Amiri" pitchFamily="34" charset="0"/>
                <a:ea typeface="Amiri" pitchFamily="34" charset="-122"/>
                <a:cs typeface="Amiri" pitchFamily="34" charset="-120"/>
              </a:rPr>
              <a:t>فَجْأَةً</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لِحُسْنِ الحَظِّ</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لِلْأَسَفِ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we did (</a:t>
            </a:r>
            <a:pPr algn="l" indent="0" marL="0">
              <a:buNone/>
            </a:pPr>
            <a:r>
              <a:rPr lang="ar-SA" altLang="en-US" sz="1700" b="1" dirty="0">
                <a:solidFill>
                  <a:srgbClr val="2E8B57"/>
                </a:solidFill>
                <a:latin typeface="Amiri" pitchFamily="34" charset="0"/>
                <a:ea typeface="Amiri" pitchFamily="34" charset="-122"/>
                <a:cs typeface="Amiri" pitchFamily="34" charset="-120"/>
              </a:rPr>
              <a:t>لَعِبْنَا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they did (</a:t>
            </a:r>
            <a:pPr algn="l" indent="0" marL="0">
              <a:buNone/>
            </a:pPr>
            <a:r>
              <a:rPr lang="ar-SA" altLang="en-US" sz="1700" b="1" dirty="0">
                <a:solidFill>
                  <a:srgbClr val="2E8B57"/>
                </a:solidFill>
                <a:latin typeface="Amiri" pitchFamily="34" charset="0"/>
                <a:ea typeface="Amiri" pitchFamily="34" charset="-122"/>
                <a:cs typeface="Amiri" pitchFamily="34" charset="-120"/>
              </a:rPr>
              <a:t>لَعِبُوا</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“you all” questions (</a:t>
            </a:r>
            <a:pPr algn="l" indent="0" marL="0">
              <a:buNone/>
            </a:pPr>
            <a:r>
              <a:rPr lang="ar-SA" altLang="en-US" sz="1700" b="1" dirty="0">
                <a:solidFill>
                  <a:srgbClr val="C9780A"/>
                </a:solidFill>
                <a:latin typeface="Amiri" pitchFamily="34" charset="0"/>
                <a:ea typeface="Amiri" pitchFamily="34" charset="-122"/>
                <a:cs typeface="Amiri" pitchFamily="34" charset="-120"/>
              </a:rPr>
              <a:t>لَعِبْتُمْ؟</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قُلْنَا</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نِمْنَا</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جِئْنَا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weak-final verbs (</a:t>
            </a:r>
            <a:pPr algn="l" indent="0" marL="0">
              <a:buNone/>
            </a:pPr>
            <a:r>
              <a:rPr lang="ar-SA" altLang="en-US" sz="1700" b="1" dirty="0">
                <a:solidFill>
                  <a:srgbClr val="B83227"/>
                </a:solidFill>
                <a:latin typeface="Amiri" pitchFamily="34" charset="0"/>
                <a:ea typeface="Amiri" pitchFamily="34" charset="-122"/>
                <a:cs typeface="Amiri" pitchFamily="34" charset="-120"/>
              </a:rPr>
              <a:t>مَشَيْنَا</a:t>
            </a:r>
            <a:pPr algn="l" indent="0" marL="0">
              <a:buNone/>
            </a:pPr>
            <a:r>
              <a:rPr lang="en-US" sz="1300" b="1" dirty="0">
                <a:solidFill>
                  <a:srgbClr val="B83227"/>
                </a:solidFill>
                <a:latin typeface="Calibri" pitchFamily="34" charset="0"/>
                <a:ea typeface="Calibri" pitchFamily="34" charset="-122"/>
                <a:cs typeface="Calibri" pitchFamily="34" charset="-120"/>
              </a:rPr>
              <a:t> · </a:t>
            </a:r>
            <a:pPr algn="l" indent="0" marL="0">
              <a:buNone/>
            </a:pPr>
            <a:r>
              <a:rPr lang="ar-SA" altLang="en-US" sz="1700" b="1" dirty="0">
                <a:solidFill>
                  <a:srgbClr val="B83227"/>
                </a:solidFill>
                <a:latin typeface="Amiri" pitchFamily="34" charset="0"/>
                <a:ea typeface="Amiri" pitchFamily="34" charset="-122"/>
                <a:cs typeface="Amiri" pitchFamily="34" charset="-120"/>
              </a:rPr>
              <a:t>مَشَوْا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a group story with connectors.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Plural past forms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Irregular past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Group narrative language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شَاذٌّ</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‎شاذ‎ </a:t>
            </a:r>
            <a:pPr indent="0" marL="0">
              <a:buNone/>
            </a:pPr>
            <a:r>
              <a:rPr lang="en-US" sz="950" b="1" dirty="0">
                <a:solidFill>
                  <a:srgbClr val="2E8B57"/>
                </a:solidFill>
                <a:latin typeface="Calibri" pitchFamily="34" charset="0"/>
                <a:ea typeface="Calibri" pitchFamily="34" charset="-122"/>
                <a:cs typeface="Calibri" pitchFamily="34" charset="-120"/>
              </a:rPr>
              <a:t> shāz · irregular, rare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جَمْعٌ</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‎جمع‎ </a:t>
            </a:r>
            <a:pPr indent="0" marL="0">
              <a:buNone/>
            </a:pPr>
            <a:r>
              <a:rPr lang="en-US" sz="950" b="1" dirty="0">
                <a:solidFill>
                  <a:srgbClr val="2E8B57"/>
                </a:solidFill>
                <a:latin typeface="Calibri" pitchFamily="34" charset="0"/>
                <a:ea typeface="Calibri" pitchFamily="34" charset="-122"/>
                <a:cs typeface="Calibri" pitchFamily="34" charset="-120"/>
              </a:rPr>
              <a:t> jamaʿ · plural (Urdu also: add up)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لِلْأَسَفِ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‎افسوس‎ </a:t>
            </a:r>
            <a:pPr indent="0" marL="0">
              <a:buNone/>
            </a:pPr>
            <a:r>
              <a:rPr lang="en-US" sz="950" b="1" dirty="0">
                <a:solidFill>
                  <a:srgbClr val="2E8B57"/>
                </a:solidFill>
                <a:latin typeface="Calibri" pitchFamily="34" charset="0"/>
                <a:ea typeface="Calibri" pitchFamily="34" charset="-122"/>
                <a:cs typeface="Calibri" pitchFamily="34" charset="-120"/>
              </a:rPr>
              <a:t> afsos · unfortunately (related root)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فَجْأَةً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‎اچانک / یکایک‎ </a:t>
            </a:r>
            <a:pPr indent="0" marL="0">
              <a:buNone/>
            </a:pPr>
            <a:r>
              <a:rPr lang="en-US" sz="950" b="1" dirty="0">
                <a:solidFill>
                  <a:srgbClr val="2E8B57"/>
                </a:solidFill>
                <a:latin typeface="Calibri" pitchFamily="34" charset="0"/>
                <a:ea typeface="Calibri" pitchFamily="34" charset="-122"/>
                <a:cs typeface="Calibri" pitchFamily="34" charset="-120"/>
              </a:rPr>
              <a:t> achānak · suddenly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حُسْنُ الحَظِّ</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‎خوش قسمتی / حظ‎ </a:t>
            </a:r>
            <a:pPr indent="0" marL="0">
              <a:buNone/>
            </a:pPr>
            <a:r>
              <a:rPr lang="en-US" sz="950" b="1" dirty="0">
                <a:solidFill>
                  <a:srgbClr val="2E8B57"/>
                </a:solidFill>
                <a:latin typeface="Calibri" pitchFamily="34" charset="0"/>
                <a:ea typeface="Calibri" pitchFamily="34" charset="-122"/>
                <a:cs typeface="Calibri" pitchFamily="34" charset="-120"/>
              </a:rPr>
              <a:t> ḥaẓ · good luck (Urdu حظ = pleasure)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 past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did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fa-ʿal-nā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t>
            </a:r>
            <a:pPr algn="l" indent="0" marL="0">
              <a:buNone/>
            </a:pPr>
            <a:r>
              <a:rPr lang="ar-SA" altLang="en-US" sz="1300" dirty="0">
                <a:solidFill>
                  <a:srgbClr val="8A6D1E"/>
                </a:solidFill>
                <a:latin typeface="Amiri" pitchFamily="34" charset="0"/>
                <a:ea typeface="Amiri" pitchFamily="34" charset="-122"/>
                <a:cs typeface="Amiri" pitchFamily="34" charset="-120"/>
              </a:rPr>
              <a:t>نَحْنُ</a:t>
            </a:r>
            <a:pPr algn="l" indent="0" marL="0">
              <a:buNone/>
            </a:pPr>
            <a:r>
              <a:rPr lang="en-US" sz="100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00" dirty="0">
                <a:solidFill>
                  <a:srgbClr val="8A6D1E"/>
                </a:solidFill>
                <a:latin typeface="Amiri" pitchFamily="34" charset="0"/>
                <a:ea typeface="Amiri" pitchFamily="34" charset="-122"/>
                <a:cs typeface="Amiri" pitchFamily="34" charset="-120"/>
              </a:rPr>
              <a:t>ـنَا</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فَعَلْتُمْ</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you all did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fa-ʿal-tum</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t>
            </a:r>
            <a:pPr algn="l" indent="0" marL="0">
              <a:buNone/>
            </a:pPr>
            <a:r>
              <a:rPr lang="ar-SA" altLang="en-US" sz="1300" dirty="0">
                <a:solidFill>
                  <a:srgbClr val="8A6D1E"/>
                </a:solidFill>
                <a:latin typeface="Amiri" pitchFamily="34" charset="0"/>
                <a:ea typeface="Amiri" pitchFamily="34" charset="-122"/>
                <a:cs typeface="Amiri" pitchFamily="34" charset="-120"/>
              </a:rPr>
              <a:t>أَنْتُمْ</a:t>
            </a:r>
            <a:pPr algn="l" indent="0" marL="0">
              <a:buNone/>
            </a:pPr>
            <a:r>
              <a:rPr lang="en-US" sz="100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00" dirty="0">
                <a:solidFill>
                  <a:srgbClr val="8A6D1E"/>
                </a:solidFill>
                <a:latin typeface="Amiri" pitchFamily="34" charset="0"/>
                <a:ea typeface="Amiri" pitchFamily="34" charset="-122"/>
                <a:cs typeface="Amiri" pitchFamily="34" charset="-120"/>
              </a:rPr>
              <a:t>ـتُمْ</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فَعَلُوا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they did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fa-ʿa-lū</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t>
            </a:r>
            <a:pPr algn="l" indent="0" marL="0">
              <a:buNone/>
            </a:pPr>
            <a:r>
              <a:rPr lang="ar-SA" altLang="en-US" sz="1300" dirty="0">
                <a:solidFill>
                  <a:srgbClr val="8A6D1E"/>
                </a:solidFill>
                <a:latin typeface="Amiri" pitchFamily="34" charset="0"/>
                <a:ea typeface="Amiri" pitchFamily="34" charset="-122"/>
                <a:cs typeface="Amiri" pitchFamily="34" charset="-120"/>
              </a:rPr>
              <a:t>هُمْ</a:t>
            </a:r>
            <a:pPr algn="l" indent="0" marL="0">
              <a:buNone/>
            </a:pPr>
            <a:r>
              <a:rPr lang="en-US" sz="100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00" dirty="0">
                <a:solidFill>
                  <a:srgbClr val="8A6D1E"/>
                </a:solidFill>
                <a:latin typeface="Amiri" pitchFamily="34" charset="0"/>
                <a:ea typeface="Amiri" pitchFamily="34" charset="-122"/>
                <a:cs typeface="Amiri" pitchFamily="34" charset="-120"/>
              </a:rPr>
              <a:t>ـُوا</a:t>
            </a:r>
            <a:pPr algn="l" indent="0" marL="0">
              <a:buNone/>
            </a:pPr>
            <a:r>
              <a:rPr lang="en-US" sz="1000" i="1" dirty="0">
                <a:solidFill>
                  <a:srgbClr val="8A6D1E"/>
                </a:solidFill>
                <a:latin typeface="Calibri" pitchFamily="34" charset="0"/>
                <a:ea typeface="Calibri" pitchFamily="34" charset="-122"/>
                <a:cs typeface="Calibri" pitchFamily="34" charset="-120"/>
              </a:rPr>
              <a:t>; the alif is silent.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ذَهَبْنَا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went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dha-hab-nā</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Plural past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played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la-ʿib-nā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لَعِبُوا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they played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شَاهَدْنَا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watched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shā-had-nā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وَصَلْنَا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arrived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wa-ṣal-nā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Irregular past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قَالَ ← قُلْنَا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said → we said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qā-la ← qul-nā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ea typeface="Calibri" pitchFamily="34" charset="-122"/>
                <a:cs typeface="Calibri" pitchFamily="34" charset="-120"/>
              </a:rPr>
              <a:t>Hollow: the long ā shortens to u before a consonant suffix.</a:t>
            </a:r>
            <a:endParaRPr lang="en-US" sz="9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نَامَ ← نِمْنَا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slept → we slept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nā-ma ← nim-nā</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Hollow with a kasra base vowel.</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4" name="Shape 3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Hollow with hamza.</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جَاءَ ← جِئْنَا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came → we came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jā-ʾa ← jiʾ-nā</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رَأَى ← رَأَيْنَا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saw → we saw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ra-ʾā ← ra-ʾay-nā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Weak-final: the alif maqṣūra becomes yāʾ.</a:t>
            </a:r>
            <a:endParaRPr lang="en-US" sz="10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Irregular past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Weak-final.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مَشَى ← مَشَيْنَا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walked → we walked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ma-shā ← ma-shay-nā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7" name="Shape 24"/>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 weak-final.</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اشْتَرَى ← اشْتَرَيْنَا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bought → we bought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ash-ta-rā ← ash-ta-ray-nā</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غَنَّى ← غَنَّيْنَا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sang → we sang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ghan-nā ← ghan-nay-nā</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with a doubled middle letter and a weak final.</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أَمْضَى ← أَمْضَيْنَا</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spent (time) → we spent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am-ḍā ← am-ḍay-nā</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Group narrative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Adverbial accusative.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أَمْضَيْنَا وَقْتًا مُمْتِعًا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spent an enjoyable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am-ḍay-nā waq-tan mum-ti-ʿan</a:t>
            </a:r>
            <a:endParaRPr lang="en-US" sz="1350" dirty="0"/>
          </a:p>
        </p:txBody>
      </p:sp>
      <p:sp>
        <p:nvSpPr>
          <p:cNvPr id="29" name="Text 2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Both noun and adjective are accusative.</a:t>
            </a:r>
            <a:endParaRPr lang="en-US" sz="10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3" name="Shape 30"/>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II.</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قَرَّرْنَا</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decided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qar-rar-nā</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IV.</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أَحْضَرْنَا</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brought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aḥ-ḍar-nā</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Group narrative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اجْتَمَعْنَا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gathered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aj-ta-maʿ-nā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1642262"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narrative connector.</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فَجْأَةً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suddenly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faj-ʾa-tan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لِحُسْنِ الحَظِّ</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fortunately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li-ḥus-ni al-ḥaẓ-ẓi</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لِلْأَسَفِ</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unfortunately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lil-ʾa-sa-fi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PLURAL ENDINGS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 you all,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نَحْنُ · أَنْتُمْ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شَاهَدَ</a:t>
            </a:r>
            <a:pPr algn="ctr" indent="0" marL="0">
              <a:buNone/>
            </a:pPr>
            <a:r>
              <a:rPr lang="en-US" sz="1100" b="1" dirty="0">
                <a:solidFill>
                  <a:srgbClr val="FFFFFF"/>
                </a:solidFill>
                <a:latin typeface="Calibri" pitchFamily="34" charset="0"/>
                <a:ea typeface="Calibri" pitchFamily="34" charset="-122"/>
                <a:cs typeface="Calibri" pitchFamily="34" charset="-120"/>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لَعِبَ</a:t>
            </a:r>
            <a:pPr algn="ctr" indent="0" marL="0">
              <a:buNone/>
            </a:pPr>
            <a:r>
              <a:rPr lang="en-US" sz="1100" b="1" dirty="0">
                <a:solidFill>
                  <a:srgbClr val="FFFFFF"/>
                </a:solidFill>
                <a:latin typeface="Calibri" pitchFamily="34" charset="0"/>
                <a:ea typeface="Calibri" pitchFamily="34" charset="-122"/>
                <a:cs typeface="Calibri" pitchFamily="34" charset="-120"/>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ذَهَبَ</a:t>
            </a:r>
            <a:pPr algn="ctr" indent="0" marL="0">
              <a:buNone/>
            </a:pPr>
            <a:r>
              <a:rPr lang="en-US" sz="1100" b="1" dirty="0">
                <a:solidFill>
                  <a:srgbClr val="FFFFFF"/>
                </a:solidFill>
                <a:latin typeface="Calibri" pitchFamily="34" charset="0"/>
                <a:ea typeface="Calibri" pitchFamily="34" charset="-122"/>
                <a:cs typeface="Calibri" pitchFamily="34" charset="-120"/>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-nā</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شَاهَدْنَا</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لَعِبْنَا</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ذَهَبْنَا</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نَحْنُ</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all: -tum</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شَاهَدْتُمْ</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لَعِبْتُمْ</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ذَهَبْتُمْ</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أَنْتُمْ</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-ū (silent alif)</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شَاهَدُوا</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لَعِبُوا</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ذَهَبُوا</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a:t>
            </a:r>
            <a:endParaRPr lang="ar-SA" sz="220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-tu</a:t>
            </a:r>
            <a:endParaRPr lang="en-US" sz="1100" dirty="0"/>
          </a:p>
        </p:txBody>
      </p:sp>
      <p:sp>
        <p:nvSpPr>
          <p:cNvPr id="45" name="Text 42"/>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شَاهَدْتُ</a:t>
            </a:r>
            <a:endParaRPr lang="ar-SA" sz="2600" dirty="0"/>
          </a:p>
        </p:txBody>
      </p:sp>
      <p:sp>
        <p:nvSpPr>
          <p:cNvPr id="46" name="Text 43"/>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47" name="Text 44"/>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ذَهَبْتُ</a:t>
            </a:r>
            <a:endParaRPr lang="ar-SA" sz="2600" dirty="0"/>
          </a:p>
        </p:txBody>
      </p:sp>
      <p:sp>
        <p:nvSpPr>
          <p:cNvPr id="48" name="Text 45"/>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أَنَا</a:t>
            </a:r>
            <a:pPr algn="l" indent="0" marL="0">
              <a:buNone/>
            </a:pPr>
            <a:r>
              <a:rPr lang="en-US" sz="1100" dirty="0">
                <a:solidFill>
                  <a:srgbClr val="5A6472"/>
                </a:solidFill>
                <a:latin typeface="Calibri" pitchFamily="34" charset="0"/>
                <a:ea typeface="Calibri" pitchFamily="34" charset="-122"/>
                <a:cs typeface="Calibri" pitchFamily="34" charset="-120"/>
              </a:rPr>
              <a:t> (D5-L03)</a:t>
            </a:r>
            <a:endParaRPr lang="en-US" sz="110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ذَهَبَتْ</a:t>
            </a:r>
            <a:endParaRPr lang="ar-SA" sz="2600" dirty="0"/>
          </a:p>
        </p:txBody>
      </p:sp>
      <p:sp>
        <p:nvSpPr>
          <p:cNvPr id="54" name="Text 51"/>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هِيَ</a:t>
            </a:r>
            <a:pPr algn="l" indent="0" marL="0">
              <a:buNone/>
            </a:pPr>
            <a:r>
              <a:rPr lang="en-US" sz="1100" dirty="0">
                <a:solidFill>
                  <a:srgbClr val="5A6472"/>
                </a:solidFill>
                <a:latin typeface="Calibri" pitchFamily="34" charset="0"/>
                <a:ea typeface="Calibri" pitchFamily="34" charset="-122"/>
                <a:cs typeface="Calibri" pitchFamily="34" charset="-120"/>
              </a:rPr>
              <a:t> (D5-L03)</a:t>
            </a:r>
            <a:endParaRPr lang="en-US" sz="110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They + a group: </a:t>
            </a:r>
            <a:pPr algn="l" indent="0" marL="0">
              <a:buNone/>
            </a:pPr>
            <a:r>
              <a:rPr lang="ar-SA" altLang="en-US" sz="1500" b="1" dirty="0">
                <a:solidFill>
                  <a:srgbClr val="1B3B6F"/>
                </a:solidFill>
                <a:latin typeface="Amiri" pitchFamily="34" charset="0"/>
                <a:ea typeface="Amiri" pitchFamily="34" charset="-122"/>
                <a:cs typeface="Amiri" pitchFamily="34" charset="-120"/>
              </a:rPr>
              <a:t>لَعِبُوا</a:t>
            </a:r>
            <a:pPr algn="l" indent="0" marL="0">
              <a:buNone/>
            </a:pPr>
            <a:r>
              <a:rPr lang="en-US" sz="1150" b="1" dirty="0">
                <a:solidFill>
                  <a:srgbClr val="1B3B6F"/>
                </a:solidFill>
                <a:latin typeface="Calibri" pitchFamily="34" charset="0"/>
                <a:ea typeface="Calibri" pitchFamily="34" charset="-122"/>
                <a:cs typeface="Calibri" pitchFamily="34" charset="-120"/>
              </a:rPr>
              <a:t> (the alif is written but not pronounced).</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2 · IRREGULAR STEMS (WEBSITE RULES 2–4)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 the stem, then add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الشَّاذَّةُ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7365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a:t>
            </a:r>
            <a:endParaRPr lang="en-US" sz="1100" dirty="0"/>
          </a:p>
        </p:txBody>
      </p:sp>
      <p:sp>
        <p:nvSpPr>
          <p:cNvPr id="18" name="Text 15"/>
          <p:cNvSpPr txBox="1"/>
          <p:nvPr/>
        </p:nvSpPr>
        <p:spPr>
          <a:xfrm>
            <a:off x="27249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949440" y="2286000"/>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قُلْنَا الحَقِيقَةَ.</a:t>
            </a:r>
            <a:endParaRPr lang="ar-SA" sz="1950" dirty="0"/>
          </a:p>
        </p:txBody>
      </p:sp>
      <p:sp>
        <p:nvSpPr>
          <p:cNvPr id="22" name="Text 19"/>
          <p:cNvSpPr txBox="1"/>
          <p:nvPr/>
        </p:nvSpPr>
        <p:spPr>
          <a:xfrm>
            <a:off x="6903720" y="267699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told the truth.</a:t>
            </a:r>
            <a:endParaRPr lang="en-US" sz="950" dirty="0"/>
          </a:p>
        </p:txBody>
      </p:sp>
      <p:sp>
        <p:nvSpPr>
          <p:cNvPr id="23" name="Text 20"/>
          <p:cNvSpPr txBox="1"/>
          <p:nvPr/>
        </p:nvSpPr>
        <p:spPr>
          <a:xfrm>
            <a:off x="475488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قُلْنَا</a:t>
            </a:r>
            <a:endParaRPr lang="ar-SA" sz="2600" dirty="0"/>
          </a:p>
        </p:txBody>
      </p:sp>
      <p:sp>
        <p:nvSpPr>
          <p:cNvPr id="24" name="Text 21"/>
          <p:cNvSpPr txBox="1"/>
          <p:nvPr/>
        </p:nvSpPr>
        <p:spPr>
          <a:xfrm>
            <a:off x="2743200" y="2267712"/>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قَالَ</a:t>
            </a:r>
            <a:endParaRPr lang="ar-SA" sz="2600" dirty="0"/>
          </a:p>
        </p:txBody>
      </p:sp>
      <p:sp>
        <p:nvSpPr>
          <p:cNvPr id="25" name="Text 22"/>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(u)</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9" name="Text 26"/>
          <p:cNvSpPr txBox="1"/>
          <p:nvPr/>
        </p:nvSpPr>
        <p:spPr>
          <a:xfrm>
            <a:off x="6949440" y="302300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نِمْنَا مُبَكِّرِينَ.</a:t>
            </a:r>
            <a:endParaRPr lang="ar-SA" sz="1950" dirty="0"/>
          </a:p>
        </p:txBody>
      </p:sp>
      <p:sp>
        <p:nvSpPr>
          <p:cNvPr id="30" name="Text 27"/>
          <p:cNvSpPr txBox="1"/>
          <p:nvPr/>
        </p:nvSpPr>
        <p:spPr>
          <a:xfrm>
            <a:off x="6903720" y="3414004"/>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slept early.</a:t>
            </a:r>
            <a:endParaRPr lang="en-US" sz="950" dirty="0"/>
          </a:p>
        </p:txBody>
      </p:sp>
      <p:sp>
        <p:nvSpPr>
          <p:cNvPr id="31" name="Text 28"/>
          <p:cNvSpPr txBox="1"/>
          <p:nvPr/>
        </p:nvSpPr>
        <p:spPr>
          <a:xfrm>
            <a:off x="475488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نِمْنَا</a:t>
            </a:r>
            <a:endParaRPr lang="ar-SA" sz="2600" dirty="0"/>
          </a:p>
        </p:txBody>
      </p:sp>
      <p:sp>
        <p:nvSpPr>
          <p:cNvPr id="32" name="Text 29"/>
          <p:cNvSpPr txBox="1"/>
          <p:nvPr/>
        </p:nvSpPr>
        <p:spPr>
          <a:xfrm>
            <a:off x="2743200" y="300471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نَامَ</a:t>
            </a:r>
            <a:endParaRPr lang="ar-SA" sz="2600" dirty="0"/>
          </a:p>
        </p:txBody>
      </p:sp>
      <p:sp>
        <p:nvSpPr>
          <p:cNvPr id="33" name="Text 30"/>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(i)</a:t>
            </a:r>
            <a:endParaRPr lang="en-US" sz="110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949440" y="3760013"/>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جِئْنَا إِلَى المَحَطَّةِ.</a:t>
            </a:r>
            <a:endParaRPr lang="ar-SA" sz="1950" dirty="0"/>
          </a:p>
        </p:txBody>
      </p:sp>
      <p:sp>
        <p:nvSpPr>
          <p:cNvPr id="36" name="Text 33"/>
          <p:cNvSpPr txBox="1"/>
          <p:nvPr/>
        </p:nvSpPr>
        <p:spPr>
          <a:xfrm>
            <a:off x="6903720" y="4151010"/>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came to the station.</a:t>
            </a:r>
            <a:endParaRPr lang="en-US" sz="950" dirty="0"/>
          </a:p>
        </p:txBody>
      </p:sp>
      <p:sp>
        <p:nvSpPr>
          <p:cNvPr id="37" name="Text 34"/>
          <p:cNvSpPr txBox="1"/>
          <p:nvPr/>
        </p:nvSpPr>
        <p:spPr>
          <a:xfrm>
            <a:off x="4754880"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جِئْنَا</a:t>
            </a:r>
            <a:endParaRPr lang="ar-SA" sz="2600" dirty="0"/>
          </a:p>
        </p:txBody>
      </p:sp>
      <p:sp>
        <p:nvSpPr>
          <p:cNvPr id="38" name="Text 35"/>
          <p:cNvSpPr txBox="1"/>
          <p:nvPr/>
        </p:nvSpPr>
        <p:spPr>
          <a:xfrm>
            <a:off x="2743200" y="3741725"/>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جَاءَ</a:t>
            </a:r>
            <a:endParaRPr lang="ar-SA" sz="2600" dirty="0"/>
          </a:p>
        </p:txBody>
      </p:sp>
      <p:sp>
        <p:nvSpPr>
          <p:cNvPr id="39" name="Text 36"/>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 hamza</a:t>
            </a:r>
            <a:endParaRPr lang="en-US" sz="110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6949440" y="4497019"/>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مَشَيْنَا عَلَى الشَّاطِئِ.</a:t>
            </a:r>
            <a:endParaRPr lang="ar-SA" sz="1950" dirty="0"/>
          </a:p>
        </p:txBody>
      </p:sp>
      <p:sp>
        <p:nvSpPr>
          <p:cNvPr id="42" name="Text 39"/>
          <p:cNvSpPr txBox="1"/>
          <p:nvPr/>
        </p:nvSpPr>
        <p:spPr>
          <a:xfrm>
            <a:off x="6903720" y="4888017"/>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walked on the beach.</a:t>
            </a:r>
            <a:endParaRPr lang="en-US" sz="950" dirty="0"/>
          </a:p>
        </p:txBody>
      </p:sp>
      <p:sp>
        <p:nvSpPr>
          <p:cNvPr id="43" name="Text 40"/>
          <p:cNvSpPr txBox="1"/>
          <p:nvPr/>
        </p:nvSpPr>
        <p:spPr>
          <a:xfrm>
            <a:off x="475488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مَشَيْنَا</a:t>
            </a:r>
            <a:endParaRPr lang="ar-SA" sz="2600" dirty="0"/>
          </a:p>
        </p:txBody>
      </p:sp>
      <p:sp>
        <p:nvSpPr>
          <p:cNvPr id="44" name="Text 41"/>
          <p:cNvSpPr txBox="1"/>
          <p:nvPr/>
        </p:nvSpPr>
        <p:spPr>
          <a:xfrm>
            <a:off x="2743200" y="4478731"/>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مَشَى</a:t>
            </a:r>
            <a:endParaRPr lang="ar-SA" sz="2600" dirty="0"/>
          </a:p>
        </p:txBody>
      </p:sp>
      <p:sp>
        <p:nvSpPr>
          <p:cNvPr id="45" name="Text 42"/>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weak-final</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6949440" y="5234026"/>
            <a:ext cx="469087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رَأَيْنَا مَنْظَرًا جَمِيلًا.</a:t>
            </a:r>
            <a:endParaRPr lang="ar-SA" sz="1950" dirty="0"/>
          </a:p>
        </p:txBody>
      </p:sp>
      <p:sp>
        <p:nvSpPr>
          <p:cNvPr id="50" name="Text 47"/>
          <p:cNvSpPr txBox="1"/>
          <p:nvPr/>
        </p:nvSpPr>
        <p:spPr>
          <a:xfrm>
            <a:off x="6903720" y="5625023"/>
            <a:ext cx="47823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saw a beautiful view.</a:t>
            </a:r>
            <a:endParaRPr lang="en-US" sz="950" dirty="0"/>
          </a:p>
        </p:txBody>
      </p:sp>
      <p:sp>
        <p:nvSpPr>
          <p:cNvPr id="51" name="Text 48"/>
          <p:cNvSpPr txBox="1"/>
          <p:nvPr/>
        </p:nvSpPr>
        <p:spPr>
          <a:xfrm>
            <a:off x="475488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رَأَيْنَا</a:t>
            </a:r>
            <a:endParaRPr lang="ar-SA" sz="2600" dirty="0"/>
          </a:p>
        </p:txBody>
      </p:sp>
      <p:sp>
        <p:nvSpPr>
          <p:cNvPr id="52" name="Text 49"/>
          <p:cNvSpPr txBox="1"/>
          <p:nvPr/>
        </p:nvSpPr>
        <p:spPr>
          <a:xfrm>
            <a:off x="2743200" y="5215738"/>
            <a:ext cx="18288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رَأَى</a:t>
            </a:r>
            <a:endParaRPr lang="ar-SA" sz="2600" dirty="0"/>
          </a:p>
        </p:txBody>
      </p:sp>
      <p:sp>
        <p:nvSpPr>
          <p:cNvPr id="53" name="Text 50"/>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weak-final</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They + weak-final: mashā becomes mashaw (they walked) — but a regular verb takes -ū: laʿibū (they played).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Plural suffixes and irregular stems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لَوَاحِقُ الجَمْعِ وَالجُذُورُ الشَّاذَّةُ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three plural suffixes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نَحْنُ → ـنَا · أَنْتُمْ → ـتُمْ · هُمْ → ـُوا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لَعِبْنَا مَعًا   ·   لَعِبُوا فِي المَلْعَبِ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Hollow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قَالَ → قُلْنَا · نَامَ → نِمْنَا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قُلْنَا الحَقِيقَةَ   ·   نِمْنَا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Weak-final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مَشَى → مَشَيْنَا · رَأَى → رَأَيْنَا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مَشَيْنَا عَلَى الشَّاطِئِ   ·   رَأَيْنَا مَنْظَرًا جَمِيلًا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with a weak-final verb</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مَشَى → مَشَوْا · لَعِبَ → لَعِبُوا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لَعِبُوا مَعًا   ·   مَشَوْا إِلَى البَيْتِ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لَعِبْنَا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ذَهَبُوا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قَوَلْنَا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مَشَى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مَشَانَا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مَشَوْنَا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لَعِبُوا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لَعِبْنَا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ذَهَبُوا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هُمْ</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 with a silent alif.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قَوَلْنَا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its middle vowel before a consonant suffix.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مَشَى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مَشَيْنَا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مَشَانَا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مَشَوْنَا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weak-final verb replaces the alif maqṣūra with yāʾ.</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a group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اجْتَمَعْنَا</a:t>
            </a:r>
            <a:pPr rtl="1" algn="ctr" indent="0" marL="0">
              <a:buNone/>
            </a:pPr>
            <a:r>
              <a:rPr lang="ar-SA" altLang="en-US" sz="2800" b="1" dirty="0">
                <a:solidFill>
                  <a:srgbClr val="1B3B6F"/>
                </a:solidFill>
                <a:latin typeface="Amiri" pitchFamily="34" charset="0"/>
                <a:ea typeface="Amiri" pitchFamily="34" charset="-122"/>
                <a:cs typeface="Amiri" pitchFamily="34" charset="-120"/>
              </a:rPr>
              <a:t> صَبَاحًا</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We: -nā.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Weak-final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ثُمَّ </a:t>
            </a:r>
            <a:pPr rtl="1" algn="ctr" indent="0" marL="0">
              <a:buNone/>
            </a:pPr>
            <a:r>
              <a:rPr lang="ar-SA" altLang="en-US" sz="2800" b="1" dirty="0">
                <a:solidFill>
                  <a:srgbClr val="1D5FBF"/>
                </a:solidFill>
                <a:latin typeface="Amiri" pitchFamily="34" charset="0"/>
                <a:ea typeface="Amiri" pitchFamily="34" charset="-122"/>
                <a:cs typeface="Amiri" pitchFamily="34" charset="-120"/>
              </a:rPr>
              <a:t>مَشَيْنَا</a:t>
            </a:r>
            <a:pPr rtl="1" algn="ctr" indent="0" marL="0">
              <a:buNone/>
            </a:pPr>
            <a:r>
              <a:rPr lang="ar-SA" altLang="en-US" sz="2800" b="1" dirty="0">
                <a:solidFill>
                  <a:srgbClr val="1B3B6F"/>
                </a:solidFill>
                <a:latin typeface="Amiri" pitchFamily="34" charset="0"/>
                <a:ea typeface="Amiri" pitchFamily="34" charset="-122"/>
                <a:cs typeface="Amiri" pitchFamily="34" charset="-120"/>
              </a:rPr>
              <a:t> سَاعَتَيْنِ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Alif → yāʾ.</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Connector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فَجْأَةً</a:t>
            </a:r>
            <a:pPr rtl="1" algn="ctr" indent="0" marL="0">
              <a:buNone/>
            </a:pPr>
            <a:r>
              <a:rPr lang="ar-SA" altLang="en-US" sz="2800" b="1" dirty="0">
                <a:solidFill>
                  <a:srgbClr val="1B3B6F"/>
                </a:solidFill>
                <a:latin typeface="Amiri" pitchFamily="34" charset="0"/>
                <a:ea typeface="Amiri" pitchFamily="34" charset="-122"/>
                <a:cs typeface="Amiri" pitchFamily="34" charset="-120"/>
              </a:rPr>
              <a:t> بَدَأَ المَطَرُ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turning point.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Hollow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قُلْنَا</a:t>
            </a:r>
            <a:pPr rtl="1" algn="ctr" indent="0" marL="0">
              <a:buNone/>
            </a:pPr>
            <a:r>
              <a:rPr lang="ar-SA" altLang="en-US" sz="2800" b="1" dirty="0">
                <a:solidFill>
                  <a:srgbClr val="1B3B6F"/>
                </a:solidFill>
                <a:latin typeface="Amiri" pitchFamily="34" charset="0"/>
                <a:ea typeface="Amiri" pitchFamily="34" charset="-122"/>
                <a:cs typeface="Amiri" pitchFamily="34" charset="-120"/>
              </a:rPr>
              <a:t> إِنَّنَا تَعِبْنَا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qāla → qul-.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WEAK-FINAL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الإِجَازَةِ المَاضِيَةِ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قَرَّرْنَا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نَذْهَبَ إِلَى الجَبَلِ.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اجْتَمَعْنَا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صَبَاحًا، ثُمَّ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مَشَيْنَا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سَاعَتَيْنِ حَتَّى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وَصَلْنَا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القِمَّةِ. وَهُنَاكَ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رَأَيْنَا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مَنْظَرًا رَائِعًا.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فَجْأَةً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بَدَأَ المَطَرُ، وَ</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لِحُسْنِ الحَظِّ</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أَحْضَرْنَا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مَعَاطِفَ.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Last holiday we decided to go to the mountain. We met in the morning, then walked for two hours until we reached the summit. There we saw a wonderful view. Suddenly it started to rain, and luckily we had brought coats.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لَعِبْنَا مَعًا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played together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ـنَا marks a shared action; مَعًا is an adverbial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قُلْنَا الحَقِيقَةَ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told the truth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long ā of قَالَ shortens to u before the consonant suffix.</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رَأَيْنَا مَنْظَرًا جَمِيلًا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saw a beautiful view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alif maqṣūra of رَأَى becomes yāʾ before ـنَا.</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لَعِبْنَا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نِمْنَا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جِئْنَا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رَأَيْنَا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اشْتَرَيْنَا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Regular plural</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Weak-final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Regular plural</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لَعِبْنَا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ذَهَبُوا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Hollow</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قُلْنَا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نِمْنَا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جِئْنَا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Weak-final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مَشَيْنَا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رَأَيْنَا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اشْتَرَيْنَا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نَامَ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اشْتَرَى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اشْتَرَانَا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اشْتَرَوْنَا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أَنْتُمْ</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شَاهَدَ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group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أَمْضَوْنَا وَقْتًا مُمْتِعًا مَعًا.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أَمْضَينَا وَقْتًا مُمْتِعَةً مَعًا.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أَمْضَيْنَا وَقْتًا مُمْتِعًا مَعًا.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نَامَ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نَامَ</a:t>
            </a:r>
            <a:pPr algn="l" indent="0" marL="0">
              <a:buNone/>
            </a:pPr>
            <a:r>
              <a:rPr lang="en-US" sz="1050" i="1" dirty="0">
                <a:solidFill>
                  <a:srgbClr val="8A6D1E"/>
                </a:solidFill>
                <a:latin typeface="Calibri" pitchFamily="34" charset="0"/>
                <a:ea typeface="Calibri" pitchFamily="34" charset="-122"/>
                <a:cs typeface="Calibri" pitchFamily="34" charset="-120"/>
              </a:rPr>
              <a:t> takes a kasra when its middle vowel shortens.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اشْتَرَى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اشْتَرَانَا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اشْتَرَيْنَا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اشْتَرَوْنَا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same weak-final rule applies to Form VIII.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أَنْتُمْ</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شَاهَدَ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شَاهَدْتُمْ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أَنْتُمْ</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ـتُمْ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group sentence.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أَمْضَوْنَا وَقْتًا مُمْتِعًا مَعًا.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أَمْضَينَا وَقْتًا مُمْتِعَةً مَعًا.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أَمْضَيْنَا وَقْتًا مُمْتِعًا مَعًا.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وَقْتًا</a:t>
            </a:r>
            <a:pPr algn="l" indent="0" marL="0">
              <a:buNone/>
            </a:pPr>
            <a:r>
              <a:rPr lang="en-US" sz="1050" i="1" dirty="0">
                <a:solidFill>
                  <a:srgbClr val="8A6D1E"/>
                </a:solidFill>
                <a:latin typeface="Calibri" pitchFamily="34" charset="0"/>
                <a:ea typeface="Calibri" pitchFamily="34" charset="-122"/>
                <a:cs typeface="Calibri" pitchFamily="34" charset="-120"/>
              </a:rPr>
              <a:t> is the accusative object and its adjective agrees as masculine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قَالْنَا الحَقِيقَةَ.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-nā: shorten the stem!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مَشَانَا عَلَى الشَّاطِئِ.</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mashā + -nā: alif → yāʾ</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هُمْ لَعِبْنَا فِي المَلْعَبِ.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They: -nā or -ū?</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قَالْنَا الحَقِيقَةَ.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قُلْنَا الحَقِيقَةَ.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hollow verb must shorten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مَشَانَا عَلَى الشَّاطِئِ.</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مَشَيْنَا عَلَى الشَّاطِئِ.</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final alif maqṣūra becomes yāʾ before </a:t>
            </a:r>
            <a:pPr algn="l" indent="0" marL="0">
              <a:buNone/>
            </a:pPr>
            <a:r>
              <a:rPr lang="ar-SA" altLang="en-US" sz="1500" b="1" dirty="0">
                <a:solidFill>
                  <a:srgbClr val="1B3B6F"/>
                </a:solidFill>
                <a:latin typeface="Amiri" pitchFamily="34" charset="0"/>
                <a:ea typeface="Amiri" pitchFamily="34" charset="-122"/>
                <a:cs typeface="Amiri" pitchFamily="34" charset="-120"/>
              </a:rPr>
              <a:t>ـنَا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هُمْ لَعِبْنَا فِي المَلْعَبِ.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هُمْ لَعِبُوا فِي المَلْعَبِ.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هُمْ</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ـُوا</a:t>
            </a:r>
            <a:pPr algn="l" indent="0" marL="0">
              <a:buNone/>
            </a:pPr>
            <a:r>
              <a:rPr lang="en-US" sz="1150" b="1" dirty="0">
                <a:solidFill>
                  <a:srgbClr val="1B3B6F"/>
                </a:solidFill>
                <a:latin typeface="Calibri" pitchFamily="34" charset="0"/>
                <a:ea typeface="Calibri" pitchFamily="34" charset="-122"/>
                <a:cs typeface="Calibri" pitchFamily="34" charset="-120"/>
              </a:rPr>
              <a:t>, not the </a:t>
            </a:r>
            <a:pPr algn="l" indent="0" marL="0">
              <a:buNone/>
            </a:pPr>
            <a:r>
              <a:rPr lang="ar-SA" altLang="en-US" sz="1500" b="1" dirty="0">
                <a:solidFill>
                  <a:srgbClr val="1B3B6F"/>
                </a:solidFill>
                <a:latin typeface="Amiri" pitchFamily="34" charset="0"/>
                <a:ea typeface="Amiri" pitchFamily="34" charset="-122"/>
                <a:cs typeface="Amiri" pitchFamily="34" charset="-120"/>
              </a:rPr>
              <a:t>نَحْنُ</a:t>
            </a:r>
            <a:pPr algn="l" indent="0" marL="0">
              <a:buNone/>
            </a:pPr>
            <a:r>
              <a:rPr lang="en-US" sz="1150" b="1" dirty="0">
                <a:solidFill>
                  <a:srgbClr val="1B3B6F"/>
                </a:solidFill>
                <a:latin typeface="Calibri" pitchFamily="34" charset="0"/>
                <a:ea typeface="Calibri" pitchFamily="34" charset="-122"/>
                <a:cs typeface="Calibri" pitchFamily="34" charset="-120"/>
              </a:rPr>
              <a:t>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group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group decide to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the mountain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 to the beach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at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did they walk?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do at the summit?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Slept immediately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Went straight back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Sang together and laughed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started raining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lost the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Someone fell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they sleep early?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cold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tired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had to leave early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Count the “we” verbs you hear.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الإِجَازَةِ المَاضِيَةِ قَرَّرْنَا أَنْ نَذْهَبَ إِلَى الجَبَلِ.</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holiday we decided to go to the mountain.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اجْتَمَعْنَا صَبَاحًا وَأَحْضَرْنَا الطَّعَامَ وَالمَاءَ، ثُمَّ مَشَيْنَا سَاعَتَيْنِ حَتَّى وَصَلْنَا إِلَى القِمَّةِ.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met in the morning and brought food and water, then walked for two hours until we reached the summit.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وَهُنَاكَ رَأَيْنَا مَنْظَرًا رَائِعًا، وَغَنَّيْنَا مَعًا وَضَحِكْنَا كَثِيرًا.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we saw a wonderful view, and we sang together and laughed a 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فَجْأَةً بَدَأَ المَطَرُ، وَلِحُسْنِ الحَظِّ أَحْضَرْنَا مَعَاطِفَ.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Suddenly it began to rain, and luckily we had brought coats.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وَفِي المَسَاءِ نِمْنَا مُبَكِّرِينَ لِأَنَّنَا تَعِبْنَا، وَقُلْنَا إِنَّنَا أَمْضَيْنَا وَقْتًا مُمْتِعًا حَقًّا.</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we slept early because we were tired, and we said we had spent a truly enjoyable time.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group decide to do?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Go to the mountain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 to the beach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at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قَرَّرْنَا أَنْ نَذْهَبَ إِلَى الجَبَلِ.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did they walk?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hours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مَشَيْنَا سَاعَتَيْنِ حَتَّى وَصَلْنَا إِلَى القِمَّةِ.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do at the summit?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Slept immediately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Went straight back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Sang together and laughed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غَنَّيْنَا مَعًا وَضَحِكْنَا كَثِيرًا.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started raining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lost the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Someone fell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فَجْأَةً بَدَأَ المَطَرُ.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 they sleep early?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cold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tired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had to leave early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نِمْنَا مُبَكِّرِينَ لِأَنَّنَا تَعِبْنَا.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Count the “we” verbs you hear.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shared memory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ذَهَبْتُمْ؟ وَمَاذَا فَعَلْتُمْ هُنَاكَ؟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رَأَيْتُمْ؟ وَهَلْ أَعْجَبَكُمُ المَكَانُ؟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أَمْضَيْتُمْ وَقْتًا مُمْتِعًا؟ 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ذَهَبْنَا إِلَى ___ ، وَ ___ نَا هُنَاكَ.</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رَأَيْنَا ___ ، وَمَشَيْنَا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نَعَمْ، أَمْضَيْنَا وَقْتًا مُمْتِعًا لِأَنَّنَا ___ ، وَلٰكِنْ لِلْأَسَفِ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ذَهَبْتُمْ فِي الإِجَازَةِ؟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did you (all) go in the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ذَهَبْنَا إِلَى الجَبَلِ، وَمَشَيْنَا سَاعَتَيْنِ حَتَّى وَصَلْنَا إِلَى القِمَّةِ.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We went to the mountain, and walked for two hours until we reached the summit.</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Extend the conjugation table to the three plural persons, then write five </a:t>
            </a:r>
            <a:pPr algn="l" indent="0" marL="0">
              <a:buNone/>
            </a:pPr>
            <a:r>
              <a:rPr lang="ar-SA" altLang="en-US" sz="1800" b="1" dirty="0">
                <a:solidFill>
                  <a:srgbClr val="1F2A37"/>
                </a:solidFill>
                <a:latin typeface="Amiri" pitchFamily="34" charset="0"/>
                <a:ea typeface="Amiri" pitchFamily="34" charset="-122"/>
                <a:cs typeface="Amiri" pitchFamily="34" charset="-120"/>
              </a:rPr>
              <a:t>نَحْنُ</a:t>
            </a:r>
            <a:pPr algn="l" indent="0" marL="0">
              <a:buNone/>
            </a:pPr>
            <a:r>
              <a:rPr lang="en-US" sz="1400" b="1" dirty="0">
                <a:solidFill>
                  <a:srgbClr val="1F2A37"/>
                </a:solidFill>
                <a:latin typeface="Calibri" pitchFamily="34" charset="0"/>
                <a:ea typeface="Calibri" pitchFamily="34" charset="-122"/>
                <a:cs typeface="Calibri" pitchFamily="34" charset="-120"/>
              </a:rPr>
              <a:t>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نَحْنُ sentences about a day out, each with a different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linked narrative that also uses a </a:t>
            </a:r>
            <a:pPr algn="l" indent="0" marL="0">
              <a:buNone/>
            </a:pPr>
            <a:r>
              <a:rPr lang="ar-SA" altLang="en-US" sz="1800" b="1" dirty="0">
                <a:solidFill>
                  <a:srgbClr val="1F2A37"/>
                </a:solidFill>
                <a:latin typeface="Amiri" pitchFamily="34" charset="0"/>
                <a:ea typeface="Amiri" pitchFamily="34" charset="-122"/>
                <a:cs typeface="Amiri" pitchFamily="34" charset="-120"/>
              </a:rPr>
              <a:t>هُمْ</a:t>
            </a:r>
            <a:pPr algn="l" indent="0" marL="0">
              <a:buNone/>
            </a:pPr>
            <a:r>
              <a:rPr lang="en-US" sz="1400" b="1" dirty="0">
                <a:solidFill>
                  <a:srgbClr val="1F2A37"/>
                </a:solidFill>
                <a:latin typeface="Calibri" pitchFamily="34" charset="0"/>
                <a:ea typeface="Calibri" pitchFamily="34" charset="-122"/>
                <a:cs typeface="Calibri" pitchFamily="34" charset="-120"/>
              </a:rPr>
              <a:t> verb and one irregular verb.</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linked story with نَحْنُ verbs, one هُمْ verb and one irregular verb.</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Include a hollow verb, a weak-final verb and two connectors in a narrative that keeps every stem and ending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6+ نَحْنُ verbs, 2 irregular verbs, 2 connectors and a هُمْ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مَشَيْنَا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walked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وَهُنَاكَ رَأَيْنَا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we saw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فَجْأَةً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Suddenly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قُلْنَا إِنَّنَا أَمْضَيْنَا وَقْتًا مُمْتِعًا.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said that we had spent an enjoyable time.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الإِجَازَةِ المَاضِيَةِ ذَهَبْنَا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holiday we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لَعِبْنَا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شَاهَدْنَا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watched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سَبَحُوا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swam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ذَهَبْنَا  ·  لَعِبْنَا  ·  وَصَلْنَا  ·  اجْتَمَعْنَا  ·  قُلْنَا  ·  نِمْنَا  ·  جِئْنَا  ·  مَشَيْنَا  ·  رَأَيْنَا  ·  اشْتَرَيْنَا  ·  فَجْأَةً  ·  لِحُسْنِ الحَظِّ</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narrative about something you did with others. Use at least six </a:t>
            </a:r>
            <a:pPr algn="l" indent="0" marL="0">
              <a:buNone/>
            </a:pPr>
            <a:r>
              <a:rPr lang="ar-SA" altLang="en-US" sz="1750" b="1" dirty="0">
                <a:solidFill>
                  <a:srgbClr val="1F2A37"/>
                </a:solidFill>
                <a:latin typeface="Amiri" pitchFamily="34" charset="0"/>
                <a:ea typeface="Amiri" pitchFamily="34" charset="-122"/>
                <a:cs typeface="Amiri" pitchFamily="34" charset="-120"/>
              </a:rPr>
              <a:t>نَحْنُ</a:t>
            </a:r>
            <a:pPr algn="l" indent="0" marL="0">
              <a:buNone/>
            </a:pPr>
            <a:r>
              <a:rPr lang="en-US" sz="1350" b="1" dirty="0">
                <a:solidFill>
                  <a:srgbClr val="1F2A37"/>
                </a:solidFill>
                <a:latin typeface="Calibri" pitchFamily="34" charset="0"/>
                <a:ea typeface="Calibri" pitchFamily="34" charset="-122"/>
                <a:cs typeface="Calibri" pitchFamily="34" charset="-120"/>
              </a:rPr>
              <a:t> verbs, two irregular verbs and two narrative connectors from </a:t>
            </a:r>
            <a:pPr algn="l" indent="0" marL="0">
              <a:buNone/>
            </a:pPr>
            <a:r>
              <a:rPr lang="ar-SA" altLang="en-US" sz="1750" b="1" dirty="0">
                <a:solidFill>
                  <a:srgbClr val="1F2A37"/>
                </a:solidFill>
                <a:latin typeface="Amiri" pitchFamily="34" charset="0"/>
                <a:ea typeface="Amiri" pitchFamily="34" charset="-122"/>
                <a:cs typeface="Amiri" pitchFamily="34" charset="-120"/>
              </a:rPr>
              <a:t>فَجْأَةً، لِحُسْنِ الحَظِّ، لِلْأَسَفِ</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verb is past tense with the correct plural suffix.</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irregular verbs with a correctly adjusted stem.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narrative connectors placed naturally in the story.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هُمْ</a:t>
            </a:r>
            <a:pPr algn="l" indent="0" marL="0">
              <a:buNone/>
            </a:pPr>
            <a:r>
              <a:rPr lang="en-US" sz="1200" dirty="0">
                <a:solidFill>
                  <a:srgbClr val="1F2A37"/>
                </a:solidFill>
                <a:latin typeface="Calibri" pitchFamily="34" charset="0"/>
                <a:ea typeface="Calibri" pitchFamily="34" charset="-122"/>
                <a:cs typeface="Calibri" pitchFamily="34" charset="-120"/>
              </a:rPr>
              <a:t> verb with the </a:t>
            </a:r>
            <a:pPr algn="l" indent="0" marL="0">
              <a:buNone/>
            </a:pPr>
            <a:r>
              <a:rPr lang="ar-SA" altLang="en-US" sz="1550" dirty="0">
                <a:solidFill>
                  <a:srgbClr val="1F2A37"/>
                </a:solidFill>
                <a:latin typeface="Amiri" pitchFamily="34" charset="0"/>
                <a:ea typeface="Amiri" pitchFamily="34" charset="-122"/>
                <a:cs typeface="Amiri" pitchFamily="34" charset="-120"/>
              </a:rPr>
              <a:t>ـُوا</a:t>
            </a:r>
            <a:pPr algn="l" indent="0" marL="0">
              <a:buNone/>
            </a:pPr>
            <a:r>
              <a:rPr lang="en-US" sz="1200" dirty="0">
                <a:solidFill>
                  <a:srgbClr val="1F2A37"/>
                </a:solidFill>
                <a:latin typeface="Calibri" pitchFamily="34" charset="0"/>
                <a:ea typeface="Calibri" pitchFamily="34" charset="-122"/>
                <a:cs typeface="Calibri" pitchFamily="34" charset="-120"/>
              </a:rPr>
              <a:t> ending for a second group.</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قَرَّرْنَا أَنْ نُنَظِّمَ رِحْلَةً قَصِيرَةً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decided to organise a short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اشْتَرَيْنَا التَّذَاكِرَ قَبْلَ 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bought the tickets a week before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رَأَيْنَا حِرَفًا تَقْلِيدِيَّةً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saw traditional crafts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لِلْأَسَفِ نَسِينَا الكَامِيرَا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unfortunately we forgot the camera</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نِمْنَا مُبَكِّرِينَ لِأَنَّنَا تَعِبْنَا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slept early because we were tired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الصَّيْفِ المَاضِي اجْتَمَعْنَا مَعَ أَصْدِقَائِنَا وَقَرَّرْنَا أَنْ نُنَظِّمَ رِحْلَةً قَصِيرَةً. اشْتَرَيْنَا التَّذَاكِرَ قَبْلَ أُسْبُوعٍ، ثُمَّ جِئْنَا إِلَى المَحَطَّةِ مُبَكِّرِينَ. مَشَيْنَا فِي السُّوقِ القَدِيمِ وَرَأَيْنَا حِرَفًا تَقْلِيدِيَّةً جَمِيلَةً. فَجْأَةً بَدَأَ المَطَرُ، وَلِحُسْنِ الحَظِّ أَحْضَرْنَا مَعَاطِفَ. وَفِي المَسَاءِ غَنَّيْنَا مَعًا وَنِمْنَا مُبَكِّرِينَ لِأَنَّنَا تَعِبْنَا، وَقُلْنَا إِنَّنَا أَمْضَيْنَا وَقْتًا مُمْتِعًا.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summer we got together with our friends and decided to organise a short trip. We bought the tickets a week before, then came to the station early. We walked in the old market and saw beautiful traditional crafts. Suddenly it began to rain, and luckily we had brought coats. In the evening we sang together and slept early because we were tired, and we said we had spent an enjoyable time.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six نَحْنُ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hollow verb (جِئْنَا · نِمْنَا · قُلْنَا)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weak-final verb (اشْتَرَيْنَا · مَشَيْنَا · رَأَيْنَا)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 verbs end in -nā.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“they” verbs end in -ū (</a:t>
            </a:r>
            <a:pPr algn="l" indent="0" marL="0">
              <a:buNone/>
            </a:pPr>
            <a:r>
              <a:rPr lang="ar-SA" altLang="en-US" sz="1700" dirty="0">
                <a:solidFill>
                  <a:srgbClr val="1F2A37"/>
                </a:solidFill>
                <a:latin typeface="Amiri" pitchFamily="34" charset="0"/>
                <a:ea typeface="Amiri" pitchFamily="34" charset="-122"/>
                <a:cs typeface="Amiri" pitchFamily="34" charset="-120"/>
              </a:rPr>
              <a:t>ـُوا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fixed the stem of a hollow verb (</a:t>
            </a:r>
            <a:pPr algn="l" indent="0" marL="0">
              <a:buNone/>
            </a:pPr>
            <a:r>
              <a:rPr lang="ar-SA" altLang="en-US" sz="1700" dirty="0">
                <a:solidFill>
                  <a:srgbClr val="1F2A37"/>
                </a:solidFill>
                <a:latin typeface="Amiri" pitchFamily="34" charset="0"/>
                <a:ea typeface="Amiri" pitchFamily="34" charset="-122"/>
                <a:cs typeface="Amiri" pitchFamily="34" charset="-120"/>
              </a:rPr>
              <a:t>قُلْنَا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a:t>
            </a:r>
            <a:pPr algn="l" indent="0" marL="0">
              <a:buNone/>
            </a:pPr>
            <a:r>
              <a:rPr lang="ar-SA" altLang="en-US" sz="1700" dirty="0">
                <a:solidFill>
                  <a:srgbClr val="1F2A37"/>
                </a:solidFill>
                <a:latin typeface="Amiri" pitchFamily="34" charset="0"/>
                <a:ea typeface="Amiri" pitchFamily="34" charset="-122"/>
                <a:cs typeface="Amiri" pitchFamily="34" charset="-120"/>
              </a:rPr>
              <a:t>أَنْتُمْ</a:t>
            </a:r>
            <a:pPr algn="l" indent="0" marL="0">
              <a:buNone/>
            </a:pPr>
            <a:r>
              <a:rPr lang="en-US" sz="1300" dirty="0">
                <a:solidFill>
                  <a:srgbClr val="1F2A37"/>
                </a:solidFill>
                <a:latin typeface="Calibri" pitchFamily="34" charset="0"/>
                <a:ea typeface="Calibri" pitchFamily="34" charset="-122"/>
                <a:cs typeface="Calibri" pitchFamily="34" charset="-120"/>
              </a:rPr>
              <a:t>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weak-final verb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شَاهَدْنَا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جَاءَ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جَاءْنَا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جِئْنَا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جِينَا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غَنَّى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غَنَّيْنَا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غَنَّانَا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غَنَّوْنَا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شَاهَدُوا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شَاهَدْنَا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شَاهَدْتُمْ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هُمْ</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جَاءَ</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جَاءْنَا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جِئْنَا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جِينَا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with hamza becomes </a:t>
            </a:r>
            <a:pPr algn="l" indent="0" marL="0">
              <a:buNone/>
            </a:pPr>
            <a:r>
              <a:rPr lang="ar-SA" altLang="en-US" sz="1350" dirty="0">
                <a:solidFill>
                  <a:srgbClr val="8A6D1E"/>
                </a:solidFill>
                <a:latin typeface="Amiri" pitchFamily="34" charset="0"/>
                <a:ea typeface="Amiri" pitchFamily="34" charset="-122"/>
                <a:cs typeface="Amiri" pitchFamily="34" charset="-120"/>
              </a:rPr>
              <a:t>جِئْـ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غَنَّى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غَنَّيْنَا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غَنَّانَا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غَنَّوْنَا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weak final becomes yāʾ before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shared memory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الصَّيْفِ المَاضِي اجْتَمَعْنَا نَحْنُ الأَصْدِقَاءَ وَقَرَّرْنَا أَنْ نُنَظِّمَ رِحْلَةً قَصِيرَةً. اشْتَرَيْنَا التَّذَاكِرَ قَبْلَ أُسْبُوعٍ، ثُمَّ جِئْنَا إِلَى المَحَطَّةِ مُبَكِّرِينَ. وَصَلْنَا ظُهْرًا، وَمَشَيْنَا فِي السُّوقِ القَدِيمِ حَيْثُ رَأَيْنَا حِرَفًا تَقْلِيدِيَّةً جَمِيلَةً. أَمَّا أَصْدِقَاؤُنَا الآخَرُونَ فَقَدْ لَعِبُوا كُرَةَ الطَّائِرَةِ عَلَى الشَّاطِئِ وَسَبَحُوا طَوِيلًا. لِلْأَسَفِ نَسِينَا الكَامِيرَا فِي الفُنْدُقِ، وَلٰكِنَّنَا أَمْضَيْنَا وَقْتًا مُمْتِعًا وَقُلْنَا إِنَّنَا سَنَعُودُ فِي العَامِ القَادِمِ.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اجْتَمَعْنَا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got together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نَحْنُ الأَصْدِقَاءَ</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نُنَظِّمَ رِحْلَةً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organise a trip</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التَّذَاكِرَ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tickets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ظُهْرًا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noon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حِرَفًا تَقْلِيدِيَّةً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traditional crafts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أَصْدِقَاؤُنَا الآخَرُونَ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our other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forgot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الفُنْدُقِ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hotel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سَنَعُودُ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will return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buy the tickets?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week before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month before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see in the old market?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football match</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music festival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Beautiful traditional crafts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other friends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Played volleyball and swam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Walked in the market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Stayed at the station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missed the train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forgot the camera at the hotel</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rained all day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say at the end?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return next year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never return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wanted to stay longer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buy the tickets?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week before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month before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اشْتَرَيْنَا التَّذَاكِرَ قَبْلَ أُسْبُوعٍ.</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see in the old market?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football match</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music festival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Beautiful traditional crafts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رَأَيْنَا حِرَفًا تَقْلِيدِيَّةً جَمِيلَةً.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other friends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Played volleyball and swam</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Walked in the market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Stayed at the station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لَعِبُوا كُرَةَ الطَّائِرَةِ عَلَى الشَّاطِئِ وَسَبَحُوا طَوِيلًا.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missed the train</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forgot the camera at the hotel</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rained all day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لِلْأَسَفِ نَسِينَا الكَامِيرَا فِي الفُنْدُقِ.</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say at the end?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would return next year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would never return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wanted to stay longer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قُلْنَا إِنَّنَا سَنَعُودُ فِي العَامِ القَادِمِ.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Group Narrative Mission — Plural and Irregular Past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لَعِبُوا فِي المَلْعَبِ.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لَعِبْنَا فِي المَلْعَبِ لِلْفَرِيقِ هُمْ.</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لَعِبْتُمْ فِي المَلْعَبِ هُمْ.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weak-final form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اشْتَرَانَا الهَدَايَا.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اشْتَرَوْنَا الهَدَايَا.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اشْتَرَيْنَا الهَدَايَا.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أَنْتُمْ</a:t>
            </a:r>
            <a:pPr algn="l" indent="0" marL="0">
              <a:buNone/>
            </a:pPr>
            <a:r>
              <a:rPr lang="en-US" sz="1250" b="1" dirty="0">
                <a:solidFill>
                  <a:srgbClr val="1B3B6F"/>
                </a:solidFill>
                <a:latin typeface="Calibri" pitchFamily="34" charset="0"/>
                <a:ea typeface="Calibri" pitchFamily="34" charset="-122"/>
                <a:cs typeface="Calibri" pitchFamily="34" charset="-120"/>
              </a:rPr>
              <a:t> question is accurate?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وَصَلْنَا مُبَكِّرِينَ؟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وَصَلُوا مُبَكِّرِينَ يَا أَصْدِقَاءُ؟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وَصَلْتُمْ مُبَكِّرِينَ؟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connector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فَجْأَةً بَدَأَ المَطَرُ وَعُدْنَا إِلَى الفُنْدُقِ.</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فَجْأَةً نَبْدَأُ المَطَرُ وَعُدْنَا.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بَدَأَ المَطَرُ فَجْأَةً نَعُودُ الفُنْدُقَ.</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every ending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أَمْضَيْنَا وَقْتٌ مُمْتِعٌ مَعَ أَصْدِقَائِنَا.</a:t>
            </a:r>
            <a:endParaRPr lang="ar-SA" sz="19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أَمْضَيْنَا وَقْتًا مُمْتِعًا مَعَ أَصْدِقَائِنَا.</a:t>
            </a:r>
            <a:endParaRPr lang="ar-SA" sz="19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أَمْضَيْنَا وَقْتًا مُمْتِعَةً مَعَ أَصْدِقَائِنَا.</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is accurate?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قَالْنَا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قُلْنَا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قِلْنَا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قُلْـ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هُمْ</a:t>
            </a:r>
            <a:pPr algn="l" indent="0" marL="0">
              <a:buNone/>
            </a:pPr>
            <a:r>
              <a:rPr lang="en-US" sz="1250" b="1" dirty="0">
                <a:solidFill>
                  <a:srgbClr val="1B3B6F"/>
                </a:solidFill>
                <a:latin typeface="Calibri" pitchFamily="34" charset="0"/>
                <a:ea typeface="Calibri" pitchFamily="34" charset="-122"/>
                <a:cs typeface="Calibri" pitchFamily="34" charset="-120"/>
              </a:rPr>
              <a:t> form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لَعِبُوا فِي المَلْعَبِ.</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لَعِبْنَا فِي المَلْعَبِ لِلْفَرِيقِ هُمْ.</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لَعِبْتُمْ فِي المَلْعَبِ هُمْ.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هُمْ</a:t>
            </a:r>
            <a:pPr algn="l" indent="0" marL="0">
              <a:buNone/>
            </a:pPr>
            <a:r>
              <a:rPr lang="en-US" sz="1050" i="1" dirty="0">
                <a:solidFill>
                  <a:srgbClr val="8A6D1E"/>
                </a:solidFill>
                <a:latin typeface="Calibri" pitchFamily="34" charset="0"/>
                <a:ea typeface="Calibri" pitchFamily="34" charset="-122"/>
                <a:cs typeface="Calibri" pitchFamily="34" charset="-120"/>
              </a:rPr>
              <a:t> takes the </a:t>
            </a:r>
            <a:pPr algn="l" indent="0" marL="0">
              <a:buNone/>
            </a:pPr>
            <a:r>
              <a:rPr lang="ar-SA" altLang="en-US" sz="1350" dirty="0">
                <a:solidFill>
                  <a:srgbClr val="8A6D1E"/>
                </a:solidFill>
                <a:latin typeface="Amiri" pitchFamily="34" charset="0"/>
                <a:ea typeface="Amiri" pitchFamily="34" charset="-122"/>
                <a:cs typeface="Amiri" pitchFamily="34" charset="-120"/>
              </a:rPr>
              <a:t>ـُوا</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weak-final form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اشْتَرَانَا الهَدَايَا.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اشْتَرَوْنَا الهَدَايَا.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اشْتَرَيْنَا الهَدَايَا.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alif maqṣūra becomes yāʾ before </a:t>
            </a:r>
            <a:pPr algn="l" indent="0" marL="0">
              <a:buNone/>
            </a:pPr>
            <a:r>
              <a:rPr lang="ar-SA" altLang="en-US" sz="1350" dirty="0">
                <a:solidFill>
                  <a:srgbClr val="8A6D1E"/>
                </a:solidFill>
                <a:latin typeface="Amiri" pitchFamily="34" charset="0"/>
                <a:ea typeface="Amiri" pitchFamily="34" charset="-122"/>
                <a:cs typeface="Amiri" pitchFamily="34" charset="-120"/>
              </a:rPr>
              <a:t>ـنَا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t>
            </a:r>
            <a:pPr algn="l" indent="0" marL="0">
              <a:buNone/>
            </a:pPr>
            <a:r>
              <a:rPr lang="ar-SA" altLang="en-US" sz="1650" b="1" dirty="0">
                <a:solidFill>
                  <a:srgbClr val="1B3B6F"/>
                </a:solidFill>
                <a:latin typeface="Amiri" pitchFamily="34" charset="0"/>
                <a:ea typeface="Amiri" pitchFamily="34" charset="-122"/>
                <a:cs typeface="Amiri" pitchFamily="34" charset="-120"/>
              </a:rPr>
              <a:t>أَنْتُمْ</a:t>
            </a:r>
            <a:pPr algn="l" indent="0" marL="0">
              <a:buNone/>
            </a:pPr>
            <a:r>
              <a:rPr lang="en-US" sz="1250" b="1" dirty="0">
                <a:solidFill>
                  <a:srgbClr val="1B3B6F"/>
                </a:solidFill>
                <a:latin typeface="Calibri" pitchFamily="34" charset="0"/>
                <a:ea typeface="Calibri" pitchFamily="34" charset="-122"/>
                <a:cs typeface="Calibri" pitchFamily="34" charset="-120"/>
              </a:rPr>
              <a:t> question is accurate?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وَصَلْنَا مُبَكِّرِينَ؟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وَصَلُوا مُبَكِّرِينَ يَا أَصْدِقَاءُ؟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وَصَلْتُمْ مُبَكِّرِينَ؟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Addressing a group uses </a:t>
            </a:r>
            <a:pPr algn="l" indent="0" marL="0">
              <a:buNone/>
            </a:pPr>
            <a:r>
              <a:rPr lang="ar-SA" altLang="en-US" sz="1350" dirty="0">
                <a:solidFill>
                  <a:srgbClr val="8A6D1E"/>
                </a:solidFill>
                <a:latin typeface="Amiri" pitchFamily="34" charset="0"/>
                <a:ea typeface="Amiri" pitchFamily="34" charset="-122"/>
                <a:cs typeface="Amiri" pitchFamily="34" charset="-120"/>
              </a:rPr>
              <a:t>ـتُمْ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 connector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فَجْأَةً بَدَأَ المَطَرُ وَعُدْنَا إِلَى الفُنْدُقِ.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فَجْأَةً نَبْدَأُ المَطَرُ وَعُدْنَا.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بَدَأَ المَطَرُ فَجْأَةً نَعُودُ الفُنْدُقَ.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connector opens the clause and both verbs stay in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every ending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أَمْضَيْنَا وَقْتٌ مُمْتِعٌ مَعَ أَصْدِقَائِنَا.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أَمْضَيْنَا وَقْتًا مُمْتِعًا مَعَ أَصْدِقَائِنَا.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أَمْضَيْنَا وَقْتًا مُمْتِعَةً مَعَ أَصْدِقَائِنَا.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and its adjective are both masculine accusative.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D5-L04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D5-L05 · Storytelling — Narrative Connectors and كَانَ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البِدَايَةِ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at the beginning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تِلْكَ اللَّحْظَةِ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at that moment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النِّهَايَةِ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the end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كَانَ / كَانَتْ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 she was</a:t>
            </a:r>
            <a:pPr indent="0" marL="0">
              <a:buNone/>
            </a:pPr>
            <a:r>
              <a:rPr lang="en-US" sz="1000" i="1" dirty="0">
                <a:solidFill>
                  <a:srgbClr val="5A6472"/>
                </a:solidFill>
                <a:latin typeface="Calibri" pitchFamily="34" charset="0"/>
                <a:ea typeface="Calibri" pitchFamily="34" charset="-122"/>
                <a:cs typeface="Calibri" pitchFamily="34" charset="-120"/>
              </a:rPr>
              <a:t>  كُنْتُ I was</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ذِكْرَى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memory</a:t>
            </a:r>
            <a:pPr indent="0" marL="0">
              <a:buNone/>
            </a:pPr>
            <a:r>
              <a:rPr lang="en-US" sz="1000" i="1" dirty="0">
                <a:solidFill>
                  <a:srgbClr val="5A6472"/>
                </a:solidFill>
                <a:latin typeface="Calibri" pitchFamily="34" charset="0"/>
                <a:ea typeface="Calibri" pitchFamily="34" charset="-122"/>
                <a:cs typeface="Calibri" pitchFamily="34" charset="-120"/>
              </a:rPr>
              <a:t>  pl. ذِكْرَيَاتٌ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day you will never forget. Where were you, and what happened?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كُنْتُ فِي … وَفَجْأَةً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three plural endings with </a:t>
            </a:r>
            <a:pPr algn="l" indent="0" marL="0">
              <a:buNone/>
            </a:pPr>
            <a:r>
              <a:rPr lang="ar-SA" altLang="en-US" sz="1550" dirty="0">
                <a:solidFill>
                  <a:srgbClr val="1F2A37"/>
                </a:solidFill>
                <a:latin typeface="Amiri" pitchFamily="34" charset="0"/>
                <a:ea typeface="Amiri" pitchFamily="34" charset="-122"/>
                <a:cs typeface="Amiri" pitchFamily="34" charset="-120"/>
              </a:rPr>
              <a:t>ذَهَبَ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لَعِبَ</a:t>
            </a:r>
            <a:pPr algn="l" indent="0" marL="0">
              <a:buNone/>
            </a:pPr>
            <a:r>
              <a:rPr lang="en-US" sz="1200" dirty="0">
                <a:solidFill>
                  <a:srgbClr val="1F2A37"/>
                </a:solidFill>
                <a:latin typeface="Calibri" pitchFamily="34" charset="0"/>
                <a:ea typeface="Calibri" pitchFamily="34" charset="-122"/>
                <a:cs typeface="Calibri" pitchFamily="34" charset="-120"/>
              </a:rPr>
              <a:t>; write five </a:t>
            </a:r>
            <a:pPr algn="l" indent="0" marL="0">
              <a:buNone/>
            </a:pPr>
            <a:r>
              <a:rPr lang="ar-SA" altLang="en-US" sz="1550" dirty="0">
                <a:solidFill>
                  <a:srgbClr val="1F2A37"/>
                </a:solidFill>
                <a:latin typeface="Amiri" pitchFamily="34" charset="0"/>
                <a:ea typeface="Amiri" pitchFamily="34" charset="-122"/>
                <a:cs typeface="Amiri" pitchFamily="34" charset="-120"/>
              </a:rPr>
              <a:t>نَحْنُ</a:t>
            </a:r>
            <a:pPr algn="l" indent="0" marL="0">
              <a:buNone/>
            </a:pPr>
            <a:r>
              <a:rPr lang="en-US" sz="1200" dirty="0">
                <a:solidFill>
                  <a:srgbClr val="1F2A37"/>
                </a:solidFill>
                <a:latin typeface="Calibri" pitchFamily="34" charset="0"/>
                <a:ea typeface="Calibri" pitchFamily="34" charset="-122"/>
                <a:cs typeface="Calibri" pitchFamily="34" charset="-120"/>
              </a:rPr>
              <a:t>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 80–100-word group story with one </a:t>
            </a:r>
            <a:pPr algn="l" indent="0" marL="0">
              <a:buNone/>
            </a:pPr>
            <a:r>
              <a:rPr lang="ar-SA" altLang="en-US" sz="1550" dirty="0">
                <a:solidFill>
                  <a:srgbClr val="1F2A37"/>
                </a:solidFill>
                <a:latin typeface="Amiri" pitchFamily="34" charset="0"/>
                <a:ea typeface="Amiri" pitchFamily="34" charset="-122"/>
                <a:cs typeface="Amiri" pitchFamily="34" charset="-120"/>
              </a:rPr>
              <a:t>هُمْ</a:t>
            </a:r>
            <a:pPr algn="l" indent="0" marL="0">
              <a:buNone/>
            </a:pPr>
            <a:r>
              <a:rPr lang="en-US" sz="1200" dirty="0">
                <a:solidFill>
                  <a:srgbClr val="1F2A37"/>
                </a:solidFill>
                <a:latin typeface="Calibri" pitchFamily="34" charset="0"/>
                <a:ea typeface="Calibri" pitchFamily="34" charset="-122"/>
                <a:cs typeface="Calibri" pitchFamily="34" charset="-120"/>
              </a:rPr>
              <a:t> verb and one irregular verb.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group narrative with two irregular verbs and two connectors.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D5-L05 · Storytelling — Narrative Connectors and </a:t>
            </a:r>
            <a:pPr algn="l" indent="0" marL="0">
              <a:buNone/>
            </a:pPr>
            <a:r>
              <a:rPr lang="ar-SA" altLang="en-US" sz="2150" b="1" dirty="0">
                <a:solidFill>
                  <a:srgbClr val="FFFFFF"/>
                </a:solidFill>
                <a:latin typeface="Amiri" pitchFamily="34" charset="0"/>
                <a:ea typeface="Amiri" pitchFamily="34" charset="-122"/>
                <a:cs typeface="Amiri" pitchFamily="34" charset="-120"/>
              </a:rPr>
              <a:t>كَانَ</a:t>
            </a:r>
            <a:pPr algn="l" indent="0" marL="0">
              <a:buNone/>
            </a:pPr>
            <a:r>
              <a:rPr lang="en-US" sz="1650" b="1" dirty="0">
                <a:solidFill>
                  <a:srgbClr val="FFFFFF"/>
                </a:solidFill>
                <a:latin typeface="Cambria" pitchFamily="34" charset="0"/>
                <a:ea typeface="Cambria" pitchFamily="34" charset="-122"/>
                <a:cs typeface="Cambria" pitchFamily="34" charset="-120"/>
              </a:rPr>
              <a:t> Description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رِوَايَةُ القِصَصِ — رَوَابِطُ السَّرْدِ وَكَانَ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we -nā · you all -tum · they -ū — and for irregular verbs, fix the stem first: </a:t>
            </a:r>
            <a:pPr algn="l" indent="0" marL="0">
              <a:buNone/>
            </a:pPr>
            <a:r>
              <a:rPr lang="ar-SA" altLang="en-US" sz="1700" b="1" dirty="0">
                <a:solidFill>
                  <a:srgbClr val="FFFFFF"/>
                </a:solidFill>
                <a:latin typeface="Amiri" pitchFamily="34" charset="0"/>
                <a:ea typeface="Amiri" pitchFamily="34" charset="-122"/>
                <a:cs typeface="Amiri" pitchFamily="34" charset="-120"/>
              </a:rPr>
              <a:t>قُلْنَا</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نِمْنَا</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مَشَيْنَا</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D5-L04 · Past Tense — Plural Forms and Irregular Verbs</dc:title>
  <dc:subject>PptxGenJS Presentation</dc:subject>
  <dc:creator>Al Madina Online School · Arabic Department</dc:creator>
  <cp:lastModifiedBy>Al Madina Online School · Arabic Department</cp:lastModifiedBy>
  <cp:revision>1</cp:revision>
  <dcterms:created xsi:type="dcterms:W3CDTF">2026-10-03T06:14:10Z</dcterms:created>
  <dcterms:modified xsi:type="dcterms:W3CDTF">2026-10-03T06:14:10Z</dcterms:modified>
</cp:coreProperties>
</file>