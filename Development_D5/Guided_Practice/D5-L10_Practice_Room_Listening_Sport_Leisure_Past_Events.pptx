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D5-L10 (Listening — Sport, Leisure and Past Events) — new practice tasks built on the lesson’s own word bank and grammar (hear the TENSE: past = an ending (tadarrabtu) · present = a prefix (atadarrabu) · future = sa- / sawfa (sa-atadarrabu) · used to = kāna + present (kuntu atadarrabu); time markers (ams · ʿādatan · kulla yawmin · ghadan · al-usbūʿa al-qādim); distractors that keep the words but change the time).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player to a female reporter: كُنْتِ تَلْعَبِينَ · صِغَرِكِ. The reporter must ask one question in each tense: past · present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 Sport, Leisure and Past Events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أَسْمَعُ الزَّمَنَ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listening-and-speaking practice in pairs: one reads short sport and leisure monologues aloud, the other names the tense of each action and catches distractors that change the time. Then they do a role-play card as a radio sports reporter, give a one-minute talk mixing tenses, and build, fix and write a monologue with tense traps.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D5-L10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Hearing the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التَّعَرُّفُ عَلَى الأَفْعَالِ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recognising the verbs</a:t>
            </a:r>
            <a:endParaRPr lang="en-US" sz="1350" dirty="0"/>
          </a:p>
          <a:p>
            <a:pPr indent="0" marL="0">
              <a:buNone/>
            </a:pPr>
            <a:r>
              <a:rPr lang="en-US" sz="1100" i="1" dirty="0">
                <a:solidFill>
                  <a:srgbClr val="5A6472"/>
                </a:solidFill>
                <a:latin typeface="Calibri" pitchFamily="34" charset="0"/>
                <a:cs typeface="Amiri" pitchFamily="2" charset="-78"/>
              </a:rPr>
              <a:t>at-ta-ʿar-ru-fu ʿa-lā al-af-ʿā-li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اللَّاحِقَةُ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suffix</a:t>
            </a:r>
            <a:endParaRPr lang="en-US" sz="1350" dirty="0"/>
          </a:p>
          <a:p>
            <a:pPr indent="0" marL="0">
              <a:buNone/>
            </a:pPr>
            <a:r>
              <a:rPr lang="en-US" sz="1100" i="1" dirty="0">
                <a:solidFill>
                  <a:srgbClr val="5A6472"/>
                </a:solidFill>
                <a:latin typeface="Calibri" pitchFamily="34" charset="0"/>
                <a:cs typeface="Amiri" pitchFamily="2" charset="-78"/>
              </a:rPr>
              <a:t>all-lā-ḥi-qa-tu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الكَلَامُ السَّرِيعُ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 speech</a:t>
            </a:r>
            <a:endParaRPr lang="en-US" sz="1350" dirty="0"/>
          </a:p>
          <a:p>
            <a:pPr indent="0" marL="0">
              <a:buNone/>
            </a:pPr>
            <a:r>
              <a:rPr lang="en-US" sz="1100" i="1" dirty="0">
                <a:solidFill>
                  <a:srgbClr val="5A6472"/>
                </a:solidFill>
                <a:latin typeface="Calibri" pitchFamily="34" charset="0"/>
                <a:cs typeface="Amiri" pitchFamily="2" charset="-78"/>
              </a:rPr>
              <a:t>al-ka-lā-mu as-sa-rī-ʿu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المُلْهِيَاتُ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distractors</a:t>
            </a:r>
            <a:endParaRPr lang="en-US" sz="1350" dirty="0"/>
          </a:p>
          <a:p>
            <a:pPr indent="0" marL="0">
              <a:buNone/>
            </a:pPr>
            <a:r>
              <a:rPr lang="en-US" sz="1100" i="1" dirty="0">
                <a:solidFill>
                  <a:srgbClr val="5A6472"/>
                </a:solidFill>
                <a:latin typeface="Calibri" pitchFamily="34" charset="0"/>
                <a:cs typeface="Amiri" pitchFamily="2" charset="-78"/>
              </a:rPr>
              <a:t>al-mul-hi-yā-tu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4782312" y="4279392"/>
            <a:ext cx="108265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past.</a:t>
            </a:r>
            <a:endParaRPr lang="en-US" sz="8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أَمْسِ</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yesterday</a:t>
            </a:r>
            <a:endParaRPr lang="en-US" sz="1350" dirty="0"/>
          </a:p>
          <a:p>
            <a:pPr indent="0" marL="0">
              <a:buNone/>
            </a:pPr>
            <a:r>
              <a:rPr lang="en-US" sz="1100" i="1" dirty="0">
                <a:solidFill>
                  <a:srgbClr val="5A6472"/>
                </a:solidFill>
                <a:latin typeface="Calibri" pitchFamily="34" charset="0"/>
                <a:cs typeface="Amiri" pitchFamily="2" charset="-78"/>
              </a:rPr>
              <a:t>am-si</a:t>
            </a:r>
            <a:endParaRPr lang="en-US" sz="1350" dirty="0"/>
          </a:p>
        </p:txBody>
      </p:sp>
      <p:sp>
        <p:nvSpPr>
          <p:cNvPr id="52" name="Shape 4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566928"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5" name="Shape 52"/>
          <p:cNvSpPr/>
          <p:nvPr/>
        </p:nvSpPr>
        <p:spPr>
          <a:xfrm>
            <a:off x="960120" y="4279392"/>
            <a:ext cx="1642262"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960120" y="4279392"/>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present habit.</a:t>
            </a:r>
            <a:endParaRPr lang="en-US" sz="800" dirty="0"/>
          </a:p>
        </p:txBody>
      </p:sp>
      <p:sp>
        <p:nvSpPr>
          <p:cNvPr id="57" name="Shape 5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60" name="Text 5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 markers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64226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present habit.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 يَوْمٍ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day</a:t>
            </a:r>
            <a:endParaRPr lang="en-US" sz="1350" dirty="0"/>
          </a:p>
          <a:p>
            <a:pPr indent="0" marL="0">
              <a:buNone/>
            </a:pPr>
            <a:r>
              <a:rPr lang="en-US" sz="1100" i="1" dirty="0">
                <a:solidFill>
                  <a:srgbClr val="5A6472"/>
                </a:solidFill>
                <a:latin typeface="Calibri" pitchFamily="34" charset="0"/>
                <a:cs typeface="Amiri" pitchFamily="2" charset="-78"/>
              </a:rPr>
              <a:t>kul-la yaw-min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غَدًا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tomorrow</a:t>
            </a:r>
            <a:endParaRPr lang="en-US" sz="1350" dirty="0"/>
          </a:p>
          <a:p>
            <a:pPr indent="0" marL="0">
              <a:buNone/>
            </a:pPr>
            <a:r>
              <a:rPr lang="en-US" sz="1100" i="1" dirty="0">
                <a:solidFill>
                  <a:srgbClr val="5A6472"/>
                </a:solidFill>
                <a:latin typeface="Calibri" pitchFamily="34" charset="0"/>
                <a:cs typeface="Amiri" pitchFamily="2" charset="-78"/>
              </a:rPr>
              <a:t>gha-dan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الأُسْبُوعَ القَادِمَ</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week</a:t>
            </a:r>
            <a:endParaRPr lang="en-US" sz="1350" dirty="0"/>
          </a:p>
          <a:p>
            <a:pPr indent="0" marL="0">
              <a:buNone/>
            </a:pPr>
            <a:r>
              <a:rPr lang="en-US" sz="1100" i="1" dirty="0">
                <a:solidFill>
                  <a:srgbClr val="5A6472"/>
                </a:solidFill>
                <a:latin typeface="Calibri" pitchFamily="34" charset="0"/>
                <a:cs typeface="Amiri" pitchFamily="2" charset="-78"/>
              </a:rPr>
              <a:t>al-us-bū-ʿa al-qā-di-ma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1393546"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39354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Form III with فِي.</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شَارَكَ فِي</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took part in</a:t>
            </a:r>
            <a:endParaRPr lang="en-US" sz="1350" dirty="0"/>
          </a:p>
          <a:p>
            <a:pPr indent="0" marL="0">
              <a:buNone/>
            </a:pPr>
            <a:r>
              <a:rPr lang="en-US" sz="1100" i="1" dirty="0">
                <a:solidFill>
                  <a:srgbClr val="5A6472"/>
                </a:solidFill>
                <a:latin typeface="Calibri" pitchFamily="34" charset="0"/>
                <a:cs typeface="Amiri" pitchFamily="2" charset="-78"/>
              </a:rPr>
              <a:t>shā-ra-ka fī</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 بِـ</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a:t>
            </a:r>
            <a:endParaRPr lang="en-US" sz="1350" dirty="0"/>
          </a:p>
          <a:p>
            <a:pPr indent="0" marL="0">
              <a:buNone/>
            </a:pPr>
            <a:r>
              <a:rPr lang="en-US" sz="1100" i="1" dirty="0">
                <a:solidFill>
                  <a:srgbClr val="5A6472"/>
                </a:solidFill>
                <a:latin typeface="Calibri" pitchFamily="34" charset="0"/>
                <a:cs typeface="Amiri" pitchFamily="2" charset="-78"/>
              </a:rPr>
              <a:t>fā-za bi</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حَضَرَ</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attended</a:t>
            </a:r>
            <a:endParaRPr lang="en-US" sz="1350" dirty="0"/>
          </a:p>
          <a:p>
            <a:pPr indent="0" marL="0">
              <a:buNone/>
            </a:pPr>
            <a:r>
              <a:rPr lang="en-US" sz="1100" i="1" dirty="0">
                <a:solidFill>
                  <a:srgbClr val="5A6472"/>
                </a:solidFill>
                <a:latin typeface="Calibri" pitchFamily="34" charset="0"/>
                <a:cs typeface="Amiri" pitchFamily="2" charset="-78"/>
              </a:rPr>
              <a:t>ḥa-ḍa-ra</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present or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مَاضٍ أَمْ حَاضِرٌ أَمْ 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trained yesterday at the pool.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تَدَرَّبْتُ أَمْسِ فِي المَسْبَحِ.</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“tadarrabtu” — the ending “-tu” = past.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«تَدَرَّبْتُ» — النِّهَايَةُ «تُ» = المَاضِي.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usually train in the morning.</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عَادَةً أَتَدَرَّبُ فِي الصَّبَاحِ.</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“atadarrabu” — the prefix “a-” = present, and “usually” confirms it.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«أَتَدَرَّبُ» — البِدَايَةُ «أَ» = الحَاضِرُ، وَ«عَادَةً» تُؤَكِّدُ ذٰلِكَ.</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tomorrow I will train with the team. And I used to train alone in the past.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وَغَدًا سَأَتَدَرَّبُ مَعَ الفَرِيقِ. وَكُنْتُ أَتَدَرَّبُ وَحْدِي فِي المَاضِي.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future; “kuntu atadarrabu” = a habit in the past.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 = المُسْتَقْبَلُ؛ «كُنْتُ أَتَدَرَّبُ» = كَانَتْ عَادَةً فِي المَاضِي.</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says any verb in any tense; B names the tense in two seconds.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Catch the tense — the Leader reads, the Speaker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الدَّلِيلُ: «سَأُشَارِكُ»</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الشَّهْرَ القَادِمَ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 took part in a race, and I’ll take part in another next month.” — When is the second race?</a:t>
            </a:r>
            <a:endParaRPr lang="en-US" sz="105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شَارَكْتُ فِي سِبَاقٍ، وَسَأُشَارِكُ فِي سِبَاقٍ آخَرَ الشَّهْرَ القَادِمَ. — مَتَى السِّبَاقُ الثَّانِي؟</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التِّنِسُ</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المَاضِي</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الغُولْفَ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used to play tennis; now I play golf.” — What now?</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كُنْتُ أَلْعَبُ التِّنِسَ، وَالآنَ أَلْعَبُ الغُولْفَ. — مَاذَا يَلْعَبُ الآنَ؟</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النِّهَائِيَّ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watched the match yesterday; we will watch the final tomorrow.” — Tomorrow?</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شَاهَدْنَا المُبَارَاةَ أَمْسِ، وَسَنُشَاهِدُ النِّهَائِيَّ غَدًا. — مَاذَا سَيُشَاهِدُونَ غَدًا؟</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المُتَكَلِّمُ سَبَحَ مَرَّةً</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الأَخُ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 swims every day; I swam once.” — Who swims daily?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أَخِي يَسْبَحُ كُلَّ يَوْمٍ، أَمَّا أَنَا فَسَبَحْتُ مَرَّةً وَاحِدَةً. — مَنْ يَسْبَحُ يَوْمِيًّا؟</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words: </a:t>
            </a:r>
            <a:pPr algn="l" indent="0" marL="0">
              <a:buNone/>
            </a:pPr>
            <a:r>
              <a:rPr lang="ar-SA" altLang="en-US" sz="1450" dirty="0">
                <a:solidFill>
                  <a:srgbClr val="5A6472"/>
                </a:solidFill>
                <a:latin typeface="Amiri" pitchFamily="2" charset="-78"/>
                <a:ea typeface="Amiri" pitchFamily="2" charset="-78"/>
                <a:cs typeface="Amiri" pitchFamily="2" charset="-78"/>
              </a:rPr>
              <a:t>لَمْ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بَلْ</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السِّينِمَا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didn’t go to the club yesterday, but to the cinema.” — Where?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لَمْ أَذْهَبْ إِلَى النَّادِي أَمْسِ، بَلْ ذَهَبْتُ إِلَى السِّينِمَا. — أَيْنَ ذَهَبَ؟</a:t>
            </a:r>
            <a:endParaRPr lang="ar-SA" sz="13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Role-play card — the radio sports reporter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مُرَاسِلٌ رِيَاضِيٌّ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كَيْفَ … ؟ (مَاضٍ)</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past (how?).</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فُزْنَا أَمْسِ بِالمُبَارَاةِ!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كَمْ مَرَّةً تَتَدَرَّبُونَ عَادَةً؟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present routine.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تَدَرَّبْنَا كَثِيرًا الأُسْبُوعَ المَاضِيَ.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future.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أَرْبَعَ مَرَّاتٍ فِي الأُسْبُوعِ.</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“used to”.</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وَأَنْتَ، هَلْ كُنْتَ تَلْعَبُ الكُرَةَ فِي صِغَرِكَ؟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reporter interviewing a player · Leader = a young player.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One minute: my sport story in three tenses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رِيَاضَتِي فِي ثَلَاثَةِ 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550" b="1" dirty="0">
                <a:solidFill>
                  <a:srgbClr val="1B3B6F"/>
                </a:solidFill>
                <a:latin typeface="Calibri" pitchFamily="34" charset="0"/>
                <a:cs typeface="Amiri" pitchFamily="2" charset="-78"/>
              </a:rPr>
              <a:t>⏱  Speak for one minute — your partner labels every verb</a:t>
            </a:r>
            <a:endParaRPr lang="en-US" sz="15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a sport or hobby: what you used to do, what you did last week, what you do now, and what you will do. Your partner writes P / N / F / U (past · now · future · used to) for each verb.</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verbs in each of past, present and future.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كُنْتُ</a:t>
            </a:r>
            <a:pPr algn="l" indent="0" marL="0">
              <a:buNone/>
            </a:pPr>
            <a:r>
              <a:rPr lang="en-US" sz="1150" dirty="0">
                <a:solidFill>
                  <a:srgbClr val="1F2A37"/>
                </a:solidFill>
                <a:latin typeface="Calibri" pitchFamily="34" charset="0"/>
                <a:cs typeface="Amiri" pitchFamily="2" charset="-78"/>
              </a:rPr>
              <a:t> + present (used to).</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trap (</a:t>
            </a:r>
            <a:pPr algn="l" indent="0" marL="0">
              <a:buNone/>
            </a:pPr>
            <a:r>
              <a:rPr lang="ar-SA" altLang="en-US" sz="1500" dirty="0">
                <a:solidFill>
                  <a:srgbClr val="1F2A37"/>
                </a:solidFill>
                <a:latin typeface="Amiri" pitchFamily="2" charset="-78"/>
                <a:ea typeface="Amiri" pitchFamily="2" charset="-78"/>
                <a:cs typeface="Amiri" pitchFamily="2" charset="-78"/>
              </a:rPr>
              <a:t>لَمْ … بَلْ</a:t>
            </a:r>
            <a:pPr algn="l" indent="0" marL="0">
              <a:buNone/>
            </a:pPr>
            <a:r>
              <a:rPr lang="en-US" sz="1150" dirty="0">
                <a:solidFill>
                  <a:srgbClr val="1F2A37"/>
                </a:solidFill>
                <a:latin typeface="Calibri" pitchFamily="34" charset="0"/>
                <a:cs typeface="Amiri" pitchFamily="2" charset="-78"/>
              </a:rPr>
              <a:t> …) and another person’s routine.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used to swim, but now I run.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كُنْتُ أَسْبَحُ،</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سَبَحْتُ،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وَلٰكِنَّنِي الآنَ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وَلٰكِنَّنِي أَمْسِ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أَرْكُضُ.</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رَكَضْتُ.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Next week we will take part in a race.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القَادِمَ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سَنُشَارِكُ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شَارَكْنَا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سِبَاقٍ.</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سِبَاقٌ.</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trained yesterday.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تَدَرَّبَتْ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تَتَدَرَّبُ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النَّادِي.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النَّادِي غَدًا.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used to swim, but now I run.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Used to =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 + present; now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كُنْتُ أَسْبَحُ، وَلٰكِنَّنِي الآنَ أَرْكُضُ.</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Next week we will take part in a race.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 future (sa-).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الأُسْبُوعَ القَادِمَ سَنُشَارِكُ فِي سِبَاقٍ.</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trained yesterday.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ending -at + </a:t>
            </a:r>
            <a:pPr algn="l" indent="0" marL="0">
              <a:buNone/>
            </a:pPr>
            <a:r>
              <a:rPr lang="ar-SA" altLang="en-US" sz="1350" dirty="0">
                <a:solidFill>
                  <a:srgbClr val="5A6472"/>
                </a:solidFill>
                <a:latin typeface="Amiri" pitchFamily="2" charset="-78"/>
                <a:ea typeface="Amiri" pitchFamily="2" charset="-78"/>
                <a:cs typeface="Amiri" pitchFamily="2" charset="-78"/>
              </a:rPr>
              <a:t>أَمْسِ</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تَدَرَّبَتْ أَمْسِ فِي النَّادِي.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«كُنْتُ أَلْعَبُ التِّنِسَ» ← يَلْعَبُ التِّنِسَ الآنَ.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كُنْتُ</a:t>
            </a:r>
            <a:pPr algn="l" indent="0" marL="0">
              <a:buNone/>
            </a:pPr>
            <a:r>
              <a:rPr lang="en-US" sz="1300" i="1" dirty="0">
                <a:solidFill>
                  <a:srgbClr val="5A6472"/>
                </a:solidFill>
                <a:latin typeface="Calibri" pitchFamily="34" charset="0"/>
                <a:cs typeface="Amiri" pitchFamily="2" charset="-78"/>
              </a:rPr>
              <a:t> + present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«سَأُسَافِرُ» ← سَافَرَ.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prefix sa- means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لَعِبْتُ، وَغَدًا سَأَلْعَبُ» ← سَيَلْعَبُ أَمْسِ.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Match the time word to its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«كُنْتُ أَلْعَبُ التِّنِسَ» ← يَلْعَبُ التِّنِسَ الآنَ.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يَلْعَبُ التِّنِسَ فِي المَاضِي.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 + present = used to (past habit).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«سَأُسَافِرُ» ← سَافَرَ.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سَيُسَافِرُ (فِي المُسْتَقْبَلِ).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 = future.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«أَمْسِ لَعِبْتُ، وَغَدًا سَأَلْعَبُ» ← سَيَلْعَبُ أَمْسِ.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لَعِبَ أَمْسِ، وَسَيَلْعَبُ غَدًا.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Each time marker goes with its own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______ أَمْسِ، بَلْ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didn’t … yesterday,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أَسْئِلَةٌ: ١) مَاذَا كَانَ يَفْعَلُ؟ ٢) مَاذَا يَفْعَلُ الآنَ؟ ٣) مَاذَا سَيَفْعَلُ؟</a:t>
            </a:r>
            <a:endParaRPr lang="ar-SA" sz="11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Questions: 1) What did he use to do? 2) Now? 3) Will?</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كُنْتُ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a child I used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الأُسْبُوعَ المَاضِيَ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I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عَادَةً ______ ، أَمَّا أَخِي / أُخْتِي فَ______ .</a:t>
            </a:r>
            <a:endParaRPr lang="ar-SA" sz="17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I …; as for my brother / sister,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سَوْفَ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 will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أَمْسِ · الأُسْبُوعَ المَاضِيَ  ·  عَادَةً · كُلَّ يَوْمٍ  ·  غَدًا · الأُسْبُوعَ القَادِمَ  ·  كُنْتُ أَتَدَرَّبُ  ·  تَدَرَّبْتُ · أَتَدَرَّبُ  ·  سَأَتَدَرَّبُ  ·  شَارَكَ فِي  ·  لَمْ … بَلْ …</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monologue with tense traps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حَدِيثٌ فِيهِ فِخَاخُ 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monologue (about 60–80 words) about sport or hobbies for a listening test. Include: • at least two verbs in each tense (past · present · future) • one “used to” (</a:t>
            </a:r>
            <a:pPr algn="l" indent="0" marL="0">
              <a:buNone/>
            </a:pPr>
            <a:r>
              <a:rPr lang="ar-SA" altLang="en-US" sz="1450" b="1" dirty="0">
                <a:solidFill>
                  <a:srgbClr val="1F2A37"/>
                </a:solidFill>
                <a:latin typeface="Amiri" pitchFamily="2" charset="-78"/>
                <a:ea typeface="Amiri" pitchFamily="2" charset="-78"/>
                <a:cs typeface="Amiri" pitchFamily="2" charset="-78"/>
              </a:rPr>
              <a:t>كُنْتُ</a:t>
            </a:r>
            <a:pPr algn="l" indent="0" marL="0">
              <a:buNone/>
            </a:pPr>
            <a:r>
              <a:rPr lang="en-US" sz="1100" b="1" dirty="0">
                <a:solidFill>
                  <a:srgbClr val="1F2A37"/>
                </a:solidFill>
                <a:latin typeface="Calibri" pitchFamily="34" charset="0"/>
                <a:cs typeface="Amiri" pitchFamily="2" charset="-78"/>
              </a:rPr>
              <a:t> + present) • one trap with </a:t>
            </a:r>
            <a:pPr algn="l" indent="0" marL="0">
              <a:buNone/>
            </a:pPr>
            <a:r>
              <a:rPr lang="ar-SA" altLang="en-US" sz="1450" b="1" dirty="0">
                <a:solidFill>
                  <a:srgbClr val="1F2A37"/>
                </a:solidFill>
                <a:latin typeface="Amiri" pitchFamily="2" charset="-78"/>
                <a:ea typeface="Amiri" pitchFamily="2" charset="-78"/>
                <a:cs typeface="Amiri" pitchFamily="2" charset="-78"/>
              </a:rPr>
              <a:t>لَمْ … بَلْ</a:t>
            </a:r>
            <a:pPr algn="l" indent="0" marL="0">
              <a:buNone/>
            </a:pPr>
            <a:r>
              <a:rPr lang="en-US" sz="1100" b="1" dirty="0">
                <a:solidFill>
                  <a:srgbClr val="1F2A37"/>
                </a:solidFill>
                <a:latin typeface="Calibri" pitchFamily="34" charset="0"/>
                <a:cs typeface="Amiri" pitchFamily="2" charset="-78"/>
              </a:rPr>
              <a:t> … • another person’s routine. Then write three questions and read it to your partner.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أَلْعَبُ … فِي الطُّفُولَةِ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play … as a child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 · الأُسْبُوعَ المَاضِيَ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 · last week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 · كُلَّ يَوْمٍ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usually … · every day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سَأَرْكُضُ … · الأُسْبُوعَ القَادِمَ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tomorrow I will run … · next week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tense of each verb from its ending or prefix?</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“used to” and distractors that change the time?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مَبْرُوكٌ! كَيْفَ فُزْتُمْ؟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Congratulations! How did you win?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فُزْنَا أَمْسِ بِالمُبَارَاةِ!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وَكَمْ مَرَّةً تَتَدَرَّبُونَ عَادَةً؟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how often do you usually train?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تَدَرَّبْنَا كَثِيرًا الأُسْبُوعَ المَاضِيَ.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وَمَاذَا سَتَفْعَلُونَ قَبْلَ النِّهَائِيِّ؟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what will you do before the final?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أَرْبَعَ مَرَّاتٍ فِي الأُسْبُوعِ.</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كُنْتُ أَلْعَبُ كُلَّ يَوْمٍ، وَلٰكِنَّنِي الآنَ أُفَضِّلُ أَنْ أَكْتُبَ عَنِ الرِّيَاضَةِ!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used to play every day, but now I prefer writing about sport!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وَأَنْتَ، هَلْ كُنْتَ تَلْعَبُ الكُرَةَ فِي صِغَرِكَ؟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الطُّفُولَةِ كُنْتُ أَلْعَبُ كُرَةَ القَدَمِ فِي الشَّارِعِ. الأُسْبُوعَ المَاضِيَ شَارَكْتُ فِي أَوَّلِ سِبَاقِ جَرْيٍ، وَفُزْتُ بِالمَرْكَزِ الثَّالِثِ! عَادَةً أَرْكُضُ ثَلَاثَ مَرَّاتٍ فِي الأُسْبُوعِ، أَمَّا أُخْتِي فَتَسْبَحُ كُلَّ يَوْمٍ. لَمْ أَتَدَرَّبْ أَمْسِ، بَلِ اسْتَرَحْتُ. غَدًا سَأَرْكُضُ عَشَرَةَ كِيلُومِتْرَاتٍ مَعَ النَّادِي.</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أَسْئِلَةٌ: ١) مَاذَا كَانَ يَلْعَبُ فِي الطُّفُولَةِ؟ ٢) مَنْ تَسْبَحُ كُلَّ يَوْمٍ؟ ٣) مَاذَا فَعَلَ أَمْسِ؟</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“As a child I used to play football in the street. Last week I took part in my first running race, and came third! I usually run three times a week; as for my sister, she swims every day. I didn’t train yesterday, but rested. Tomorrow I will run ten kilometres with the club. Questions: 1) What did he use to play as a child? 2) Who swims every day? 3) What did he do yesterday?”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أَلْعَبُ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شَارَكْتُ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أَتَدَرَّبْ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غَدًا سَأَرْكُضُ</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D5-L11 · D5 Consolidation — Past Tense Mastery and Speaking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إِتْقَانُ الفِعْلِ المَاضِي وَإِعْدَادُ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D5-L10 · Practice Room — Listening — Sport, Leisure and Past Events</dc:title>
  <dc:subject>PptxGenJS Presentation</dc:subject>
  <dc:creator>Al Madina Online School · Arabic Department</dc:creator>
  <cp:lastModifiedBy>Al Madina Online School · Arabic Department</cp:lastModifiedBy>
  <cp:revision>1</cp:revision>
  <dcterms:created xsi:type="dcterms:W3CDTF">2026-10-25T18:43:29Z</dcterms:created>
  <dcterms:modified xsi:type="dcterms:W3CDTF">2026-10-25T18:43:29Z</dcterms:modified>
</cp:coreProperties>
</file>