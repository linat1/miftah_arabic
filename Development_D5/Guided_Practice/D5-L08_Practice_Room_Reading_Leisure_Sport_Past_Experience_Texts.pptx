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D5-L08 (Reading — Leisure, Sport and Past Experience Texts) — new practice tasks built on the lesson’s own word bank and grammar (verb endings reveal the text type (fāza / fāzat = a biography in the third person · ḥajaztu / aqamnā = a personal review); sequence markers (fī al-bidāya · baʿda dhālika · thumma · akhīran); the nearest time marker decides the tense; proving every answer from the Arabic (al-dalīlu fī …)).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D5-L08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leader to a girl: تَنْصَحِينَ. Every answer = statement + al-dalīlu … (quote or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(57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D5  ·  D5-L08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D5-L08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Reading — Leisure, Sport and Past Experience Texts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أَقْرَأُ نُصُوصَ المَاضِي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00" dirty="0">
                <a:solidFill>
                  <a:srgbClr val="C6D2E6"/>
                </a:solidFill>
                <a:latin typeface="Calibri" pitchFamily="34" charset="0"/>
                <a:cs typeface="Amiri" pitchFamily="2" charset="-78"/>
              </a:rPr>
              <a:t>Students run their own reading-and-speaking practice with past-tense texts: read short texts aloud, say what type of text each is from the verb endings, put events in order, choose the tense from the nearest time marker, and prove every answer. They do a role-play card at a book club, give a one-minute summary, then build, fix and write a short biography.</a:t>
            </a:r>
            <a:endParaRPr lang="en-US" sz="11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D5-L08 · Development D5 · Hobbies, Sport and Leisure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D5 › D5-L08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types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سِيرَةٌ ذَاتِيَّةٌ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biography, life story</a:t>
            </a:r>
            <a:endParaRPr lang="en-US" sz="1350" dirty="0"/>
          </a:p>
          <a:p>
            <a:pPr indent="0" marL="0">
              <a:buNone/>
            </a:pPr>
            <a:r>
              <a:rPr lang="en-US" sz="1100" i="1" dirty="0">
                <a:solidFill>
                  <a:srgbClr val="5A6472"/>
                </a:solidFill>
                <a:latin typeface="Calibri" pitchFamily="34" charset="0"/>
                <a:cs typeface="Amiri" pitchFamily="2" charset="-78"/>
              </a:rPr>
              <a:t>sī-ra-tun dhā-tiy-ya-tun</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Feminine; both words agree.</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4782312" y="1938528"/>
            <a:ext cx="1517904" cy="256032"/>
          </a:xfrm>
          <a:prstGeom prst="roundRect">
            <a:avLst>
              <a:gd name="adj" fmla="val 50000"/>
            </a:avLst>
          </a:prstGeom>
          <a:solidFill>
            <a:srgbClr val="EFE7D2"/>
          </a:solidFill>
          <a:ln w="12700">
            <a:solidFill>
              <a:srgbClr val="EFE7D2"/>
            </a:solidFill>
            <a:prstDash val="solid"/>
          </a:ln>
        </p:spPr>
      </p:sp>
      <p:sp>
        <p:nvSpPr>
          <p:cNvPr id="27" name="Text 24"/>
          <p:cNvSpPr txBox="1"/>
          <p:nvPr/>
        </p:nvSpPr>
        <p:spPr>
          <a:xfrm>
            <a:off x="4782312" y="1938528"/>
            <a:ext cx="1517904"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Plural مُرَاجَعَاتٌ.</a:t>
            </a:r>
            <a:endParaRPr lang="en-US" sz="800" dirty="0"/>
          </a:p>
        </p:txBody>
      </p:sp>
      <p:sp>
        <p:nvSpPr>
          <p:cNvPr id="28" name="Shape 2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0" name="Text 2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مُرَاجَعَةٌ</a:t>
            </a:r>
            <a:endParaRPr lang="ar-SA" sz="3000" dirty="0"/>
          </a:p>
        </p:txBody>
      </p:sp>
      <p:sp>
        <p:nvSpPr>
          <p:cNvPr id="31" name="Text 2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review</a:t>
            </a:r>
            <a:endParaRPr lang="en-US" sz="1350" dirty="0"/>
          </a:p>
          <a:p>
            <a:pPr indent="0" marL="0">
              <a:buNone/>
            </a:pPr>
            <a:r>
              <a:rPr lang="en-US" sz="1100" i="1" dirty="0">
                <a:solidFill>
                  <a:srgbClr val="5A6472"/>
                </a:solidFill>
                <a:latin typeface="Calibri" pitchFamily="34" charset="0"/>
                <a:cs typeface="Amiri" pitchFamily="2" charset="-78"/>
              </a:rPr>
              <a:t>mu-rā-ja-ʿa-tun</a:t>
            </a:r>
            <a:endParaRPr lang="en-US" sz="135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5" name="Shape 32"/>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تَقْرِيرٌ</a:t>
            </a:r>
            <a:endParaRPr lang="ar-SA" sz="3000" dirty="0"/>
          </a:p>
        </p:txBody>
      </p:sp>
      <p:sp>
        <p:nvSpPr>
          <p:cNvPr id="38" name="Text 35"/>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report</a:t>
            </a:r>
            <a:endParaRPr lang="en-US" sz="1350" dirty="0"/>
          </a:p>
          <a:p>
            <a:pPr indent="0" marL="0">
              <a:buNone/>
            </a:pPr>
            <a:r>
              <a:rPr lang="en-US" sz="1100" i="1" dirty="0">
                <a:solidFill>
                  <a:srgbClr val="5A6472"/>
                </a:solidFill>
                <a:latin typeface="Calibri" pitchFamily="34" charset="0"/>
                <a:cs typeface="Amiri" pitchFamily="2" charset="-78"/>
              </a:rPr>
              <a:t>taq-rī-run</a:t>
            </a:r>
            <a:endParaRPr lang="en-US" sz="1350" dirty="0"/>
          </a:p>
        </p:txBody>
      </p:sp>
      <p:sp>
        <p:nvSpPr>
          <p:cNvPr id="39" name="Text 36"/>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Plural </a:t>
            </a:r>
            <a:pPr algn="l" indent="0" marL="0">
              <a:buNone/>
            </a:pPr>
            <a:r>
              <a:rPr lang="ar-SA" altLang="en-US" sz="1300" dirty="0">
                <a:solidFill>
                  <a:srgbClr val="8A6D1E"/>
                </a:solidFill>
                <a:latin typeface="Amiri" pitchFamily="2" charset="-78"/>
                <a:ea typeface="Amiri" pitchFamily="2" charset="-78"/>
                <a:cs typeface="Amiri" pitchFamily="2" charset="-78"/>
              </a:rPr>
              <a:t>تَقَارِيرُ</a:t>
            </a:r>
            <a:pPr algn="l" indent="0" marL="0">
              <a:buNone/>
            </a:pPr>
            <a:r>
              <a:rPr lang="en-US" sz="1000" i="1" dirty="0">
                <a:solidFill>
                  <a:srgbClr val="8A6D1E"/>
                </a:solidFill>
                <a:latin typeface="Calibri" pitchFamily="34" charset="0"/>
                <a:cs typeface="Amiri" pitchFamily="2" charset="-78"/>
              </a:rPr>
              <a:t>, a diptote.</a:t>
            </a:r>
            <a:endParaRPr lang="en-US" sz="1000" dirty="0"/>
          </a:p>
        </p:txBody>
      </p:sp>
      <p:sp>
        <p:nvSpPr>
          <p:cNvPr id="40" name="Shape 3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8211312"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3" name="Shape 40"/>
          <p:cNvSpPr/>
          <p:nvPr/>
        </p:nvSpPr>
        <p:spPr>
          <a:xfrm>
            <a:off x="8604504" y="4279392"/>
            <a:ext cx="1207008"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8604504" y="4279392"/>
            <a:ext cx="1207008"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Plural نُصُوصٌ.</a:t>
            </a:r>
            <a:endParaRPr lang="en-US" sz="800" dirty="0"/>
          </a:p>
        </p:txBody>
      </p:sp>
      <p:sp>
        <p:nvSpPr>
          <p:cNvPr id="45" name="Shape 4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نَصٌّ</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text</a:t>
            </a:r>
            <a:endParaRPr lang="en-US" sz="1350" dirty="0"/>
          </a:p>
          <a:p>
            <a:pPr indent="0" marL="0">
              <a:buNone/>
            </a:pPr>
            <a:r>
              <a:rPr lang="en-US" sz="1100" i="1" dirty="0">
                <a:solidFill>
                  <a:srgbClr val="5A6472"/>
                </a:solidFill>
                <a:latin typeface="Calibri" pitchFamily="34" charset="0"/>
                <a:cs typeface="Amiri" pitchFamily="2" charset="-78"/>
              </a:rPr>
              <a:t>naṣ-ṣun</a:t>
            </a:r>
            <a:endParaRPr lang="en-US" sz="1350" dirty="0"/>
          </a:p>
        </p:txBody>
      </p:sp>
      <p:sp>
        <p:nvSpPr>
          <p:cNvPr id="49" name="Shape 4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4389120"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2" name="Shape 49"/>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An iḍāfa.</a:t>
            </a:r>
            <a:endParaRPr lang="en-US" sz="800" dirty="0"/>
          </a:p>
        </p:txBody>
      </p:sp>
      <p:sp>
        <p:nvSpPr>
          <p:cNvPr id="54" name="Shape 5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تَسَلْسُلُ الأَحْدَاثِ</a:t>
            </a:r>
            <a:endParaRPr lang="ar-SA" sz="3000" dirty="0"/>
          </a:p>
        </p:txBody>
      </p:sp>
      <p:sp>
        <p:nvSpPr>
          <p:cNvPr id="57" name="Text 5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sequence of events</a:t>
            </a:r>
            <a:endParaRPr lang="en-US" sz="1350" dirty="0"/>
          </a:p>
          <a:p>
            <a:pPr indent="0" marL="0">
              <a:buNone/>
            </a:pPr>
            <a:r>
              <a:rPr lang="en-US" sz="1100" i="1" dirty="0">
                <a:solidFill>
                  <a:srgbClr val="5A6472"/>
                </a:solidFill>
                <a:latin typeface="Calibri" pitchFamily="34" charset="0"/>
                <a:cs typeface="Amiri" pitchFamily="2" charset="-78"/>
              </a:rPr>
              <a:t>ta-sal-su-lu al-aḥ-dā-thi</a:t>
            </a:r>
            <a:endParaRPr lang="en-US" sz="1350" dirty="0"/>
          </a:p>
        </p:txBody>
      </p:sp>
      <p:sp>
        <p:nvSpPr>
          <p:cNvPr id="58" name="Shape 5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566928"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1" name="Shape 58"/>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دَلِيلٌ مِنَ النَّصِّ</a:t>
            </a:r>
            <a:endParaRPr lang="ar-SA" sz="3000" dirty="0"/>
          </a:p>
        </p:txBody>
      </p:sp>
      <p:sp>
        <p:nvSpPr>
          <p:cNvPr id="64" name="Text 6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evidence from the text</a:t>
            </a:r>
            <a:endParaRPr lang="en-US" sz="1350" dirty="0"/>
          </a:p>
          <a:p>
            <a:pPr indent="0" marL="0">
              <a:buNone/>
            </a:pPr>
            <a:r>
              <a:rPr lang="en-US" sz="1100" i="1" dirty="0">
                <a:solidFill>
                  <a:srgbClr val="5A6472"/>
                </a:solidFill>
                <a:latin typeface="Calibri" pitchFamily="34" charset="0"/>
                <a:cs typeface="Amiri" pitchFamily="2" charset="-78"/>
              </a:rPr>
              <a:t>da-lī-lun mi-na an-naṣ-ṣi</a:t>
            </a:r>
            <a:endParaRPr lang="en-US" sz="13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for evidence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1331366"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331366"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Fixed with إِلَى.</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يُشِيرُ إِلَى</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refers to</a:t>
            </a:r>
            <a:endParaRPr lang="en-US" sz="1350" dirty="0"/>
          </a:p>
          <a:p>
            <a:pPr indent="0" marL="0">
              <a:buNone/>
            </a:pPr>
            <a:r>
              <a:rPr lang="en-US" sz="1100" i="1" dirty="0">
                <a:solidFill>
                  <a:srgbClr val="5A6472"/>
                </a:solidFill>
                <a:latin typeface="Calibri" pitchFamily="34" charset="0"/>
                <a:cs typeface="Amiri" pitchFamily="2" charset="-78"/>
              </a:rPr>
              <a:t>yu-shī-ru i-lā</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الفِكْرَةُ الرَّئِيسِيَّةُ</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main idea</a:t>
            </a:r>
            <a:endParaRPr lang="en-US" sz="1350" dirty="0"/>
          </a:p>
          <a:p>
            <a:pPr indent="0" marL="0">
              <a:buNone/>
            </a:pPr>
            <a:r>
              <a:rPr lang="en-US" sz="1100" i="1" dirty="0">
                <a:solidFill>
                  <a:srgbClr val="5A6472"/>
                </a:solidFill>
                <a:latin typeface="Calibri" pitchFamily="34" charset="0"/>
                <a:cs typeface="Amiri" pitchFamily="2" charset="-78"/>
              </a:rPr>
              <a:t>al-fik-ra-tu ar-ra-ʾī-siy-ya-tu</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العَامِ المَاضِي</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last year</a:t>
            </a:r>
            <a:endParaRPr lang="en-US" sz="1350" dirty="0"/>
          </a:p>
          <a:p>
            <a:pPr indent="0" marL="0">
              <a:buNone/>
            </a:pPr>
            <a:r>
              <a:rPr lang="en-US" sz="1100" i="1" dirty="0">
                <a:solidFill>
                  <a:srgbClr val="5A6472"/>
                </a:solidFill>
                <a:latin typeface="Calibri" pitchFamily="34" charset="0"/>
                <a:cs typeface="Amiri" pitchFamily="2" charset="-78"/>
              </a:rPr>
              <a:t>fī al-ʿā-mi al-mā-ḍī</a:t>
            </a:r>
            <a:endParaRPr lang="en-US" sz="1350" dirty="0"/>
          </a:p>
        </p:txBody>
      </p:sp>
      <p:sp>
        <p:nvSpPr>
          <p:cNvPr id="38" name="Shape 3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11312" y="4261104"/>
            <a:ext cx="310896" cy="310896"/>
          </a:xfrm>
          <a:prstGeom prst="ellipse">
            <a:avLst/>
          </a:prstGeom>
          <a:solidFill>
            <a:srgbClr val="F4F1EA"/>
          </a:solidFill>
          <a:ln w="12700">
            <a:solidFill>
              <a:srgbClr val="F4F1EA"/>
            </a:solidFill>
            <a:prstDash val="solid"/>
          </a:ln>
        </p:spPr>
      </p:sp>
      <p:sp>
        <p:nvSpPr>
          <p:cNvPr id="40" name="Text 3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1" name="Shape 3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3" name="Text 4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مُنْذُ سَنَوَاتٍ</a:t>
            </a:r>
            <a:endParaRPr lang="ar-SA" sz="3000" dirty="0"/>
          </a:p>
        </p:txBody>
      </p:sp>
      <p:sp>
        <p:nvSpPr>
          <p:cNvPr id="44" name="Text 4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years ago</a:t>
            </a:r>
            <a:endParaRPr lang="en-US" sz="1350" dirty="0"/>
          </a:p>
          <a:p>
            <a:pPr indent="0" marL="0">
              <a:buNone/>
            </a:pPr>
            <a:r>
              <a:rPr lang="en-US" sz="1100" i="1" dirty="0">
                <a:solidFill>
                  <a:srgbClr val="5A6472"/>
                </a:solidFill>
                <a:latin typeface="Calibri" pitchFamily="34" charset="0"/>
                <a:cs typeface="Amiri" pitchFamily="2" charset="-78"/>
              </a:rPr>
              <a:t>mun-dhu sa-na-wā-tin</a:t>
            </a:r>
            <a:endParaRPr lang="en-US" sz="1350" dirty="0"/>
          </a:p>
        </p:txBody>
      </p:sp>
      <p:sp>
        <p:nvSpPr>
          <p:cNvPr id="45" name="Text 42"/>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مُنْذُ</a:t>
            </a:r>
            <a:pPr algn="l" indent="0" marL="0">
              <a:buNone/>
            </a:pPr>
            <a:r>
              <a:rPr lang="en-US" sz="1000" i="1" dirty="0">
                <a:solidFill>
                  <a:srgbClr val="8A6D1E"/>
                </a:solidFill>
                <a:latin typeface="Calibri" pitchFamily="34" charset="0"/>
                <a:cs typeface="Amiri" pitchFamily="2" charset="-78"/>
              </a:rPr>
              <a:t> takes the genitive.</a:t>
            </a:r>
            <a:endParaRPr lang="en-US" sz="1000" dirty="0"/>
          </a:p>
        </p:txBody>
      </p:sp>
      <p:sp>
        <p:nvSpPr>
          <p:cNvPr id="46" name="Shape 43"/>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4389120"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9" name="Shape 46"/>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1" name="Text 48"/>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بَعْدَ ذٰلِكَ</a:t>
            </a:r>
            <a:endParaRPr lang="ar-SA" sz="3000" dirty="0"/>
          </a:p>
        </p:txBody>
      </p:sp>
      <p:sp>
        <p:nvSpPr>
          <p:cNvPr id="52" name="Text 49"/>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after that</a:t>
            </a:r>
            <a:endParaRPr lang="en-US" sz="1350" dirty="0"/>
          </a:p>
          <a:p>
            <a:pPr indent="0" marL="0">
              <a:buNone/>
            </a:pPr>
            <a:r>
              <a:rPr lang="en-US" sz="1100" i="1" dirty="0">
                <a:solidFill>
                  <a:srgbClr val="5A6472"/>
                </a:solidFill>
                <a:latin typeface="Calibri" pitchFamily="34" charset="0"/>
                <a:cs typeface="Amiri" pitchFamily="2" charset="-78"/>
              </a:rPr>
              <a:t>baʿ-da dhā-li-ka</a:t>
            </a:r>
            <a:endParaRPr lang="en-US" sz="1350" dirty="0"/>
          </a:p>
        </p:txBody>
      </p:sp>
      <p:sp>
        <p:nvSpPr>
          <p:cNvPr id="53" name="Shape 5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566928"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6" name="Shape 53"/>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النِّهَايَةِ</a:t>
            </a:r>
            <a:endParaRPr lang="ar-SA" sz="3000" dirty="0"/>
          </a:p>
        </p:txBody>
      </p:sp>
      <p:sp>
        <p:nvSpPr>
          <p:cNvPr id="59" name="Text 56"/>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the end</a:t>
            </a:r>
            <a:endParaRPr lang="en-US" sz="1350" dirty="0"/>
          </a:p>
          <a:p>
            <a:pPr indent="0" marL="0">
              <a:buNone/>
            </a:pPr>
            <a:r>
              <a:rPr lang="en-US" sz="1100" i="1" dirty="0">
                <a:solidFill>
                  <a:srgbClr val="5A6472"/>
                </a:solidFill>
                <a:latin typeface="Calibri" pitchFamily="34" charset="0"/>
                <a:cs typeface="Amiri" pitchFamily="2" charset="-78"/>
              </a:rPr>
              <a:t>fī an-ni-hā-ya-ti</a:t>
            </a:r>
            <a:endParaRPr lang="en-US" sz="135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kind of text is this?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 نَوْعُ هٰذَا النَّصِّ؟</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 was born in Cairo, and won her first medal at fifteen.”</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«وُلِدَتْ فِي القَاهِرَةِ، وَفَازَتْ بِأَوَّلِ مِيدَالْيَةٍ وَهِيَ فِي الخَامِسَةَ عَشْرَةَ.»</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fāzat = she. This is a biography of a sportswoman.</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فَازَتْ = هِيَ. هٰذِهِ سِيرَةٌ ذَاتِيَّةٌ عَنْ رِيَاضِيَّةٍ.</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booked the hotel online, and stayed three nights.”</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«حَجَزْنَا الفُنْدُقَ عَلَى الإِنْتَرْنِت، وَأَقَمْنَا فِيهِ ثَلَاثَ لَيَالٍ.»</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ḥajaznā and aqamnā = we. This is a personal review.</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حَجَزْنَا وَأَقَمْنَا = نَحْنُ. هٰذِهِ مُرَاجَعَةٌ شَخْصِيَّةٌ.</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first he trained alone, then joined a team, and finally became captain.”</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«فِي البِدَايَةِ تَدَرَّبَ وَحْدَهُ، ثُمَّ انْضَمَّ إِلَى فَرِيقٍ، وَأَخِيرًا أَصْبَحَ قَائِدًا.»</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sequence: alone → team → captain. The evidence: “at first · then · finally”.</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التَّسَلْسُلُ: وَحْدَهُ ← فَرِيقٌ ← قَائِدٌ. الدَّلِيلُ: «فِي البِدَايَةِ · ثُمَّ · أَخِيرًا».</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A reads one sentence from any text; B names the person, the type and the evidence.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Text detective — type, order, tense, proof</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التَّاءُ فِي «سَافَرْتُ»</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المُتَكَلِّمُ نَفْسُهُ؛ الدَّلِيلُ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travelled to Jeddah and enjoyed the sea.” — Who is speaking?</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«سَافَرْتُ إِلَى جِدَّةَ، وَاسْتَمْتَعْتُ بِالبَحْرِ.» — مَنْ يَتَكَلَّمُ؟</a:t>
            </a:r>
            <a:endParaRPr lang="ar-SA" sz="145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الدَّلِيلُ: «سَيَلْعَبُ»</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غَدًا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“Yesterday my brother played; tomorrow he will play again.” — When again?</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«أَمْسِ لَعِبَ أَخِي، وَغَدًا سَيَلْعَبُ مَرَّةً أُخْرَى.» — مَتَى سَيَلْعَبُ مَرَّةً أُخْرَى؟</a:t>
            </a:r>
            <a:endParaRPr lang="ar-SA" sz="13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56648" y="3741725"/>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Trap: «</a:t>
            </a:r>
            <a:pPr algn="l" indent="0" marL="0">
              <a:buNone/>
            </a:pPr>
            <a:r>
              <a:rPr lang="ar-SA" altLang="en-US" sz="1450" dirty="0">
                <a:solidFill>
                  <a:srgbClr val="5A6472"/>
                </a:solidFill>
                <a:latin typeface="Amiri" pitchFamily="2" charset="-78"/>
                <a:ea typeface="Amiri" pitchFamily="2" charset="-78"/>
                <a:cs typeface="Amiri" pitchFamily="2" charset="-78"/>
              </a:rPr>
              <a:t>بَعْدَ ذٰلِكَ</a:t>
            </a:r>
            <a:pPr algn="l" indent="0" marL="0">
              <a:buNone/>
            </a:pPr>
            <a:r>
              <a:rPr lang="en-US" sz="1100" dirty="0">
                <a:solidFill>
                  <a:srgbClr val="5A6472"/>
                </a:solidFill>
                <a:latin typeface="Calibri" pitchFamily="34" charset="0"/>
                <a:cs typeface="Amiri" pitchFamily="2" charset="-78"/>
              </a:rPr>
              <a:t>» </a:t>
            </a:r>
            <a:pPr algn="l" indent="0" marL="0">
              <a:buNone/>
            </a:pPr>
            <a:r>
              <a:rPr lang="ar-SA" altLang="en-US" sz="1450" dirty="0">
                <a:solidFill>
                  <a:srgbClr val="5A6472"/>
                </a:solidFill>
                <a:latin typeface="Amiri" pitchFamily="2" charset="-78"/>
                <a:ea typeface="Amiri" pitchFamily="2" charset="-78"/>
                <a:cs typeface="Amiri" pitchFamily="2" charset="-78"/>
              </a:rPr>
              <a:t>جَاءَ أَوَّلًا فِي النَّصِّ</a:t>
            </a:r>
            <a:endParaRPr lang="en-US" sz="11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أَكَلُوا أَوَّلًا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 that they visited the museum, and before that they ate.” — What first?</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«بَعْدَ ذٰلِكَ زَارُوا المَتْحَفَ، وَقَبْلَ ذٰلِكَ أَكَلُوا.» — مَاذَا فَعَلُوا أَوَّلًا؟</a:t>
            </a:r>
            <a:endParaRPr lang="ar-SA" sz="13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الدَّلِيلُ: «مُمْتَازًا»</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رَأْيُهُ إِيجَابِيٌّ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trip was long, but the hotel was excellent.” — View of the hotel?</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«كَانَتِ الرِّحْلَةُ طَوِيلَةً، وَلٰكِنَّ الفُنْدُقَ كَانَ مُمْتَازًا.» — مَا رَأْيُ الكَاتِبِ فِي الفُنْدُقِ؟</a:t>
            </a:r>
            <a:endParaRPr lang="ar-SA" sz="13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وَكَيْفَ نَجَحَ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تَتَحَدَّثُ عَنْ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main idea of an athlete’s biography?</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الفِكْرَةُ الرَّئِيسِيَّةُ فِي سِيرَةِ رِيَاضِيٍّ؟</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Role-play card — the book club: a sports biography</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نَادِي الكِتَابِ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الكِتَابُ ← سِيرَةٌ ذَاتِيَّةٌ عَنْ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Person + type.</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عَنْ مَنْ يَتَحَدَّثُ الكِتَابُ؟</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البِدَايَةُ ← فِي البِدَايَةِ … ثُمَّ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Early events in order.</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حَدَثَ فِي بِدَايَةِ حَيَاتِهِ؟</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Achievement + evidence.</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 أَهَمُّ إِنْجَازٍ؟</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Recommend + reason.</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تَنْصَحُ بِهٰذَا الكِتَابِ؟</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a reader who finished the book · Leader = the club leader.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One minute: summarise a story or biography</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أُلَخِّصُ قِصَّةً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Summarise for one minute a story, film or biography you know: who, what happened in order, and the main idea.</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Who + three events in the past.</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sequence markers (</a:t>
            </a:r>
            <a:pPr algn="l" indent="0" marL="0">
              <a:buNone/>
            </a:pPr>
            <a:r>
              <a:rPr lang="ar-SA" altLang="en-US" sz="1500" dirty="0">
                <a:solidFill>
                  <a:srgbClr val="1F2A37"/>
                </a:solidFill>
                <a:latin typeface="Amiri" pitchFamily="2" charset="-78"/>
                <a:ea typeface="Amiri" pitchFamily="2" charset="-78"/>
                <a:cs typeface="Amiri" pitchFamily="2" charset="-78"/>
              </a:rPr>
              <a:t>فِي البِدَايَةِ</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ثُمَّ</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بَعْدَ ذٰلِكَ</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أَخِيرًا</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the main idea (</a:t>
            </a:r>
            <a:pPr algn="l" indent="0" marL="0">
              <a:buNone/>
            </a:pPr>
            <a:r>
              <a:rPr lang="ar-SA" altLang="en-US" sz="1500" dirty="0">
                <a:solidFill>
                  <a:srgbClr val="1F2A37"/>
                </a:solidFill>
                <a:latin typeface="Amiri" pitchFamily="2" charset="-78"/>
                <a:ea typeface="Amiri" pitchFamily="2" charset="-78"/>
                <a:cs typeface="Amiri" pitchFamily="2" charset="-78"/>
              </a:rPr>
              <a:t>الفِكْرَةُ الرَّئِيسِيَّةُ</a:t>
            </a:r>
            <a:pPr algn="l" indent="0" marL="0">
              <a:buNone/>
            </a:pPr>
            <a:r>
              <a:rPr lang="en-US" sz="1150" dirty="0">
                <a:solidFill>
                  <a:srgbClr val="1F2A37"/>
                </a:solidFill>
                <a:latin typeface="Calibri" pitchFamily="34" charset="0"/>
                <a:cs typeface="Amiri" pitchFamily="2" charset="-78"/>
              </a:rPr>
              <a:t> …) and a recommendation.</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At first she trained alone.</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البِدَايَةِ</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النِّهَايَةِ</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تَدَرَّبَتْ</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تَدَرَّبْتُ</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وَحْدَهَا.</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وَحْدَهُ.</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evidence is in the second line.</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الدَّلِيلُ</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الدَّلِيلَ</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السَّطْرِ</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السَّطْرُ</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الثَّانِي.</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الثَّانِيَةِ.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text refers to a famous trip.</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يُشِيرُ</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تُشِيرُ</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النَّصُّ</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النَّصَّ</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رِحْلَةٍ مَشْهُورَةٍ.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 رِحْلَةٍ مَشْهُورَةٍ.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At first she trained alone.</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 -at; her → -hā.</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فِي البِدَايَةِ تَدَرَّبَتْ وَحْدَهَا.</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evidence is in the second line.</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سَطْرٌ</a:t>
            </a:r>
            <a:pPr algn="l" indent="0" marL="0">
              <a:buNone/>
            </a:pPr>
            <a:r>
              <a:rPr lang="en-US" sz="1050" i="1" dirty="0">
                <a:solidFill>
                  <a:srgbClr val="5A6472"/>
                </a:solidFill>
                <a:latin typeface="Calibri" pitchFamily="34" charset="0"/>
                <a:cs typeface="Amiri" pitchFamily="2" charset="-78"/>
              </a:rPr>
              <a:t> (m.) → </a:t>
            </a:r>
            <a:pPr algn="l" indent="0" marL="0">
              <a:buNone/>
            </a:pPr>
            <a:r>
              <a:rPr lang="ar-SA" altLang="en-US" sz="1350" dirty="0">
                <a:solidFill>
                  <a:srgbClr val="5A6472"/>
                </a:solidFill>
                <a:latin typeface="Amiri" pitchFamily="2" charset="-78"/>
                <a:ea typeface="Amiri" pitchFamily="2" charset="-78"/>
                <a:cs typeface="Amiri" pitchFamily="2" charset="-78"/>
              </a:rPr>
              <a:t>الثَّانِي</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الدَّلِيلُ فِي السَّطْرِ الثَّانِي.</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text refers to a famous trip.</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نَصٌّ</a:t>
            </a:r>
            <a:pPr algn="l" indent="0" marL="0">
              <a:buNone/>
            </a:pPr>
            <a:r>
              <a:rPr lang="en-US" sz="1050" i="1" dirty="0">
                <a:solidFill>
                  <a:srgbClr val="5A6472"/>
                </a:solidFill>
                <a:latin typeface="Calibri" pitchFamily="34" charset="0"/>
                <a:cs typeface="Amiri" pitchFamily="2" charset="-78"/>
              </a:rPr>
              <a:t> (m.) → </a:t>
            </a:r>
            <a:pPr algn="l" indent="0" marL="0">
              <a:buNone/>
            </a:pPr>
            <a:r>
              <a:rPr lang="ar-SA" altLang="en-US" sz="1350" dirty="0">
                <a:solidFill>
                  <a:srgbClr val="5A6472"/>
                </a:solidFill>
                <a:latin typeface="Amiri" pitchFamily="2" charset="-78"/>
                <a:ea typeface="Amiri" pitchFamily="2" charset="-78"/>
                <a:cs typeface="Amiri" pitchFamily="2" charset="-78"/>
              </a:rPr>
              <a:t>يُشِيرُ إِلَى</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يُشِيرُ النَّصُّ إِلَى رِحْلَةٍ مَشْهُورَةٍ.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«فَازَتْ بِالكَأْسِ» ← هٰذِهِ مُرَاجَعَةٌ شَخْصِيَّةٌ.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at the ending.</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«بَعْدَ ذٰلِكَ سَبَحْنَا، وَقَبْلَ ذٰلِكَ أَكَلْنَا» ← سَبَحُوا أَوَّلًا.</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Follow the markers, not the order of the words.</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الكَاتِبُ أَحَبَّ الفُنْدُقَ.</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Prove it!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«فَازَتْ بِالكَأْسِ» ← هٰذِهِ مُرَاجَعَةٌ شَخْصِيَّةٌ.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هٰذِهِ سِيرَةٌ ذَاتِيَّةٌ عَنْهَا.</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فَازَتْ</a:t>
            </a:r>
            <a:pPr algn="l" indent="0" marL="0">
              <a:buNone/>
            </a:pPr>
            <a:r>
              <a:rPr lang="en-US" sz="1150" b="1" dirty="0">
                <a:solidFill>
                  <a:srgbClr val="1B3B6F"/>
                </a:solidFill>
                <a:latin typeface="Calibri" pitchFamily="34" charset="0"/>
                <a:cs typeface="Amiri" pitchFamily="2" charset="-78"/>
              </a:rPr>
              <a:t> = she → a text about someone else.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«بَعْدَ ذٰلِكَ سَبَحْنَا، وَقَبْلَ ذٰلِكَ أَكَلْنَا» ← سَبَحُوا أَوَّلًا.</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أَكَلُوا أَوَّلًا، ثُمَّ سَبَحُوا.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قَبْلَ ذٰلِكَ</a:t>
            </a:r>
            <a:pPr algn="l" indent="0" marL="0">
              <a:buNone/>
            </a:pPr>
            <a:r>
              <a:rPr lang="en-US" sz="1150" b="1" dirty="0">
                <a:solidFill>
                  <a:srgbClr val="1B3B6F"/>
                </a:solidFill>
                <a:latin typeface="Calibri" pitchFamily="34" charset="0"/>
                <a:cs typeface="Amiri" pitchFamily="2" charset="-78"/>
              </a:rPr>
              <a:t> = earlier.</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الكَاتِبُ أَحَبَّ الفُنْدُقَ.</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الكَاتِبُ أَحَبَّ الفُنْدُقَ؛ الدَّلِيلُ أَنَّهُ قَالَ «كَانَ مُمْتَازًا».</a:t>
            </a:r>
            <a:endParaRPr lang="ar-SA" sz="21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Every answer needs evidence from the text.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أَهَمُّ إِنْجَازٍ لَهُ / لَهَا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His / her greatest achievement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الفِكْرَةُ الرَّئِيسِيَّةُ فِي حَيَاتِهِ / حَيَاتِهَا أَنَّ ______ .</a:t>
            </a:r>
            <a:endParaRPr lang="ar-SA" sz="14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main idea of his / her life is that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وُلِدَ / وُلِدَتْ ______ فِي ______ عَامَ ______ .</a:t>
            </a:r>
            <a:endParaRPr lang="ar-SA" sz="165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was born in … in (year)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البِدَايَةِ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At first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ثُمَّ ______ ، وَبَعْدَ ذٰلِكَ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Then …, and after that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أَخِيرًا أَصْبَحَ / أَصْبَحَتْ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Finally he / she became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سِيرَةٌ ذَاتِيَّةٌ  ·  مُرَاجَعَةٌ · تَقْرِيرٌ  ·  تَسَلْسُلُ الأَحْدَاثِ  ·  دَلِيلٌ مِنَ النَّصِّ  ·  الفِكْرَةُ الرَّئِيسِيَّةُ  ·  وُلِدَ · وُلِدَتْ  ·  فِي البِدَايَةِ · أَخِيرًا  ·  أَصْبَحَ · أَصْبَحَتْ</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short biography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سِيرَةٌ ذَاتِيَّةٌ قَصِيرَةٌ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short biography (about 60–80 words) of a person you admire (a family member, an athlete, an artist). Write in the third person (-a / -at). Include: • where they were born and grew up • four events in order with sequence markers • one achievement • what they do now • the main idea of their life (in one sentence).</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وُلِدَ / وُلِدَتْ فِي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 she was born in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فِي البِدَايَةِ … ثُمَّ … بَعْدَ ذٰلِكَ … أَخِيرًا …</a:t>
            </a:r>
            <a:endParaRPr lang="ar-SA" sz="175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at first … then … after that … finally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فَازَ / فَازَتْ بِ… · أَصْبَحَ / أَصْبَحَتْ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won … · became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الفِكْرَةُ الرَّئِيسِيَّةُ 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main idea is that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tell the life in order in the third person (-a / -at)?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sequence markers and give the main idea in one sentence?</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هُوَ سِيرَةٌ ذَاتِيَّةٌ عَنْ عَدَّاءٍ مَغْرِبِيٍّ مَشْهُورٍ.</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is a biography of a famous Moroccan runner.</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عَنْ مَنْ يَتَحَدَّثُ الكِتَابُ؟</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البِدَايَةِ كَانَ يَرْكُضُ إِلَى المَدْرَسَةِ كُلَّ يَوْمٍ، ثُمَّ اكْتَشَفَهُ مُدَرِّبٌ.</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At first he used to run to school every day, then a coach discovered him.</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حَدَثَ فِي بِدَايَةِ حَيَاتِهِ؟</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فَازَ بِمِيدَالْيَةٍ ذَهَبِيَّةٍ؛ الدَّلِيلُ فِي الفَصْلِ الأَخِيرِ.</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 won a gold medal — the evidence is in the last chapter.</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وَمَا أَهَمُّ إِنْجَازٍ؟</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لِأَنَّهُ يُبَيِّنُ أَنَّ الصَّبْرَ يُؤَدِّي إِلَى النَّجَاحِ.</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because it shows that patience leads to success.</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تَنْصَحُ بِهٰذَا الكِتَابِ؟</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وُلِدَتْ خَالَتِي فَاطِمَةُ فِي قَرْيَةٍ صَغِيرَةٍ فِي بَاكِسْتَانَ عَامَ ١٩٨٥. فِي البِدَايَةِ دَرَسَتْ فِي مَدْرَسَةِ القَرْيَةِ، وَكَانَتْ تَمْشِي سَاعَةً كُلَّ يَوْمٍ. ثُمَّ انْتَقَلَتْ مَعَ عَائِلَتِهَا إِلَى بِرْمِنْغْهَامَ، وَتَعَلَّمَتِ الإِنْجِلِيزِيَّةَ بِسُرْعَةٍ. بَعْدَ ذٰلِكَ دَرَسَتِ الصَّيْدَلَةَ فِي الجَامِعَةِ. أَهَمُّ إِنْجَازٍ لَهَا أَنَّهَا فَتَحَتْ صَيْدَلِيَّتَهَا الخَاصَّةَ. أَخِيرًا أَصْبَحَتْ مُدِيرَةً لِثَلَاثِ صَيْدَلِيَّاتٍ. الفِكْرَةُ الرَّئِيسِيَّةُ فِي حَيَاتِهَا أَنَّ العَمَلَ الجَادَّ يُغَيِّرُ المُسْتَقْبَلَ.</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aunt Fatima was born in a small village in Pakistan in 1985. At first she studied at the village school, and used to walk an hour every day. Then she moved with her family to Birmingham, and learned English quickly. After that she studied pharmacy at university. Her greatest achievement is that she opened her own pharmacy. Finally she became the manager of three pharmacies. The main idea of her life is that hard work changes the future.”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وُلِدَتْ</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 البِدَايَةِ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بَعْدَ ذٰلِكَ</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أَخِيرًا أَصْبَحَتْ</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D5-L08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cs typeface="Amiri" pitchFamily="2" charset="-78"/>
              </a:rPr>
              <a:t>D5-L09 · Writing — My Leisure Life (Extended Writing)</a:t>
            </a:r>
            <a:endParaRPr lang="en-US" sz="1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الكِتَابَةُ — حَيَاتِي التَّرْفِيهِيَّةُ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D5-L08 · Practice Room — Reading — Leisure, Sport and Past Experience Texts</dc:title>
  <dc:subject>PptxGenJS Presentation</dc:subject>
  <dc:creator>Al Madina Online School · Arabic Department</dc:creator>
  <cp:lastModifiedBy>Al Madina Online School · Arabic Department</cp:lastModifiedBy>
  <cp:revision>1</cp:revision>
  <dcterms:created xsi:type="dcterms:W3CDTF">2026-10-25T18:41:43Z</dcterms:created>
  <dcterms:modified xsi:type="dcterms:W3CDTF">2026-10-25T18:41:43Z</dcterms:modified>
</cp:coreProperties>
</file>