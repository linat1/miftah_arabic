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D5-L12 (Review and Unit Assessment: Hobbies, Sport and Leisure) — new practice tasks built on the lesson’s own word bank and grammar (D5 review: hobby verbs + prepositions (yaʿzifu ʿalā · yastamiʿu ilā); results (fāza bi- / ʿalā); past singular and plural endings (-tu · -ta · -ti · -a · -at · -nā · -tum · -ū); irregular stems (zurtu · mashaynā · nimnā · qālū); kāna + -an and kuntu + present; arts verbs (yuʿabbiru ʿan · yuʾaththiru fī); travel past → future).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فَعَلْتِ · تَتَذَكَّرِينَ · سَتَأْتِينَ · صَدِيقَتُنَا … تَلْعَبُ. This card mixes every D5 structure; the Coach ticks each one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Review and Unit Assessment: Hobbies, Sport and Leisure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review of the whole D5 unit: recall twelve key D5 expressions, act a mixed dialogue, answer mixed exam-style cards, do a full role-play card, give a one-minute talk, then build, fix and write an exam-style email — and set one target for D6.</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D5-L12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D5</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D5 key language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أَعْزِفُ عَلَى العُودِ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play the oud</a:t>
            </a:r>
            <a:endParaRPr lang="en-US" sz="1350" dirty="0"/>
          </a:p>
          <a:p>
            <a:pPr indent="0" marL="0">
              <a:buNone/>
            </a:pPr>
            <a:r>
              <a:rPr lang="en-US" sz="1100" i="1" dirty="0">
                <a:solidFill>
                  <a:srgbClr val="5A6472"/>
                </a:solidFill>
                <a:latin typeface="Calibri" pitchFamily="34" charset="0"/>
                <a:cs typeface="Amiri" pitchFamily="2" charset="-78"/>
              </a:rPr>
              <a:t>aʿ-zi-fu ʿa-lā al-ʿū-di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أَسْتَمِعُ إِلَى المُوسِيقَى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listen to music</a:t>
            </a:r>
            <a:endParaRPr lang="en-US" sz="1350" dirty="0"/>
          </a:p>
          <a:p>
            <a:pPr indent="0" marL="0">
              <a:buNone/>
            </a:pPr>
            <a:r>
              <a:rPr lang="en-US" sz="1100" i="1" dirty="0">
                <a:solidFill>
                  <a:srgbClr val="5A6472"/>
                </a:solidFill>
                <a:latin typeface="Calibri" pitchFamily="34" charset="0"/>
                <a:cs typeface="Amiri" pitchFamily="2" charset="-78"/>
              </a:rPr>
              <a:t>as-ta-mi-ʿu i-lā al-mū-sī-qā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فَازَ عَلَى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beat (a team)</a:t>
            </a:r>
            <a:endParaRPr lang="en-US" sz="1350" dirty="0"/>
          </a:p>
          <a:p>
            <a:pPr indent="0" marL="0">
              <a:buNone/>
            </a:pPr>
            <a:r>
              <a:rPr lang="en-US" sz="1100" i="1" dirty="0">
                <a:solidFill>
                  <a:srgbClr val="5A6472"/>
                </a:solidFill>
                <a:latin typeface="Calibri" pitchFamily="34" charset="0"/>
                <a:cs typeface="Amiri" pitchFamily="2" charset="-78"/>
              </a:rPr>
              <a:t>fā-za ʿa-lā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فَازَتْ بِالكَأْسِ</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won the cup</a:t>
            </a:r>
            <a:endParaRPr lang="en-US" sz="1350" dirty="0"/>
          </a:p>
          <a:p>
            <a:pPr indent="0" marL="0">
              <a:buNone/>
            </a:pPr>
            <a:r>
              <a:rPr lang="en-US" sz="1100" i="1" dirty="0">
                <a:solidFill>
                  <a:srgbClr val="5A6472"/>
                </a:solidFill>
                <a:latin typeface="Calibri" pitchFamily="34" charset="0"/>
                <a:cs typeface="Amiri" pitchFamily="2" charset="-78"/>
              </a:rPr>
              <a:t>fā-zat bil-kaʾ-si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ذَهَبْتُ · ذَهَبَتْ</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went · she went</a:t>
            </a:r>
            <a:endParaRPr lang="en-US" sz="1350" dirty="0"/>
          </a:p>
          <a:p>
            <a:pPr indent="0" marL="0">
              <a:buNone/>
            </a:pPr>
            <a:r>
              <a:rPr lang="en-US" sz="1100" i="1" dirty="0">
                <a:solidFill>
                  <a:srgbClr val="5A6472"/>
                </a:solidFill>
                <a:latin typeface="Calibri" pitchFamily="34" charset="0"/>
                <a:cs typeface="Amiri" pitchFamily="2" charset="-78"/>
              </a:rPr>
              <a:t>dha-hab-tu · dha-ha-bat</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لَعِبْنَا · لَعِبُوا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played · they played</a:t>
            </a:r>
            <a:endParaRPr lang="en-US" sz="1350" dirty="0"/>
          </a:p>
          <a:p>
            <a:pPr indent="0" marL="0">
              <a:buNone/>
            </a:pPr>
            <a:r>
              <a:rPr lang="en-US" sz="1100" i="1" dirty="0">
                <a:solidFill>
                  <a:srgbClr val="5A6472"/>
                </a:solidFill>
                <a:latin typeface="Calibri" pitchFamily="34" charset="0"/>
                <a:cs typeface="Amiri" pitchFamily="2" charset="-78"/>
              </a:rPr>
              <a:t>la-ʿib-nā · la-ʿi-bū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D5 key language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زُرْنَا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visited</a:t>
            </a:r>
            <a:endParaRPr lang="en-US" sz="1350" dirty="0"/>
          </a:p>
          <a:p>
            <a:pPr indent="0" marL="0">
              <a:buNone/>
            </a:pPr>
            <a:r>
              <a:rPr lang="en-US" sz="1100" i="1" dirty="0">
                <a:solidFill>
                  <a:srgbClr val="5A6472"/>
                </a:solidFill>
                <a:latin typeface="Calibri" pitchFamily="34" charset="0"/>
                <a:cs typeface="Amiri" pitchFamily="2" charset="-78"/>
              </a:rPr>
              <a:t>zur-nā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الطَّقْسُ جَمِيلًا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weather was lovely</a:t>
            </a:r>
            <a:endParaRPr lang="en-US" sz="1350" dirty="0"/>
          </a:p>
          <a:p>
            <a:pPr indent="0" marL="0">
              <a:buNone/>
            </a:pPr>
            <a:r>
              <a:rPr lang="en-US" sz="1100" i="1" dirty="0">
                <a:solidFill>
                  <a:srgbClr val="5A6472"/>
                </a:solidFill>
                <a:latin typeface="Calibri" pitchFamily="34" charset="0"/>
                <a:cs typeface="Amiri" pitchFamily="2" charset="-78"/>
              </a:rPr>
              <a:t>kā-na aṭ-ṭaq-su ja-mī-lan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كُنْتُ أَلْعَبُ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used to play</a:t>
            </a:r>
            <a:endParaRPr lang="en-US" sz="1350" dirty="0"/>
          </a:p>
          <a:p>
            <a:pPr indent="0" marL="0">
              <a:buNone/>
            </a:pPr>
            <a:r>
              <a:rPr lang="en-US" sz="1100" i="1" dirty="0">
                <a:solidFill>
                  <a:srgbClr val="5A6472"/>
                </a:solidFill>
                <a:latin typeface="Calibri" pitchFamily="34" charset="0"/>
                <a:cs typeface="Amiri" pitchFamily="2" charset="-78"/>
              </a:rPr>
              <a:t>kun-tu al-ʿa-bu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فَجْأَةً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suddenly</a:t>
            </a:r>
            <a:endParaRPr lang="en-US" sz="1350" dirty="0"/>
          </a:p>
          <a:p>
            <a:pPr indent="0" marL="0">
              <a:buNone/>
            </a:pPr>
            <a:r>
              <a:rPr lang="en-US" sz="1100" i="1" dirty="0">
                <a:solidFill>
                  <a:srgbClr val="5A6472"/>
                </a:solidFill>
                <a:latin typeface="Calibri" pitchFamily="34" charset="0"/>
                <a:cs typeface="Amiri" pitchFamily="2" charset="-78"/>
              </a:rPr>
              <a:t>faj-ʾa-tan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سَأُسَافِرُ</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travel</a:t>
            </a:r>
            <a:endParaRPr lang="en-US" sz="1350" dirty="0"/>
          </a:p>
          <a:p>
            <a:pPr indent="0" marL="0">
              <a:buNone/>
            </a:pPr>
            <a:r>
              <a:rPr lang="en-US" sz="1100" i="1" dirty="0">
                <a:solidFill>
                  <a:srgbClr val="5A6472"/>
                </a:solidFill>
                <a:latin typeface="Calibri" pitchFamily="34" charset="0"/>
                <a:cs typeface="Amiri" pitchFamily="2" charset="-78"/>
              </a:rPr>
              <a:t>sa-ʾu-sā-fi-ru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Everything from D5 in one conversation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 الوَحْدَةِ فِي حِوَارٍ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your hobbies?</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هِوَايَاتُكَ؟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play the oud and basketball. As a child I used to swim a lot.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أَعْزِفُ عَلَى العُودِ، وَأَلْعَبُ كُرَةَ السَّلَّةِ. فِي الطُّفُولَةِ كُنْتُ أَسْبَحُ كَثِيرًا.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did you all do in the holiday?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فَعَلْتُمْ فِي العُطْلَةِ؟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travelled to Tunisia and visited the old city. The weather was very hot!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سَافَرْنَا إِلَى تُونِسَ، وَزُرْنَا المَدِينَةَ القَدِيمَةَ. كَانَ الطَّقْسُ حَارًّا جِدًّا!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Did anything funny happen?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حَدَثَ شَيْءٌ مُضْحِكٌ؟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Suddenly a cat took my fish off the plate! And next summer we will travel to Egypt.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نَعَمْ! فَجْأَةً أَخَذَ قِطٌّ سَمَكَتِي مِنَ الصَّحْنِ! وَالصَّيْفَ القَادِمَ سَنُسَافِرُ إِلَى مِصْرَ.</a:t>
            </a:r>
            <a:endParaRPr lang="ar-SA" sz="19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Round 2: swap letters. Round 3: answer with YOUR life — then ask your partner the same three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Mixed exam cards — one from each part of D5</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مَرَّتَيْنِ فِي الأُسْبُوعِ</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أَلْعَبُ … / أَعْزِفُ عَلَى … / أَسْتَمِعُ إِلَى …</a:t>
            </a:r>
            <a:endParaRPr lang="ar-SA" sz="15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in your free time?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فِي وَقْتِ فَرَاغِكَ؟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أُعْجَبُ بِ… لِأَنَّهُ / لِأَنَّهَا فَازَ / فَازَتْ بِ…</a:t>
            </a:r>
            <a:endParaRPr lang="ar-SA" sz="145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athlete do you admire? What did they do?</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الرِّيَاضِيُّ الَّذِي تُعْجَبُ بِهِ؟ مَاذَا فَعَلَ؟</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مَا زِلْتُ أَتَذَكَّرُ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فِي … وَكَانَ … وَفَجْأَةً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a lovely memory.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احْكِ عَنْ ذِكْرَى جَمِيلَةٍ.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يُعْجِبُنِي … لِأَنَّهُ يُعَبِّرُ عَنْ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Arabic art do you like?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الفَنُّ العَرَبِيُّ الَّذِي يُعْجِبُكَ؟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سَافَرْتُ إِلَى … وَسَأُسَافِرُ إِلَى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spend your holiday? And the next?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قَضَيْتَ إِجَازَتَكَ؟ وَأَيْنَ سَتَقْضِي القَادِمَةَ؟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Role-play card — the summer camp reunion</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لِقَاءُ أَصْدِقَاءِ المُخَيَّمِ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المَاضِي ← … ثُمَّ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past actions.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مَاذَا فَعَلْتَ بَعْدَ المُخَيَّمِ؟</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نَحْنُ ← مَشَيْنَا … وَنِمْنَا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 irregular verbs.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تَتَذَكَّرُ يَوْمَ الرِّحْلَةِ إِلَى الجَبَلِ؟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يَفْعَلُ صَدِيقُنَا عُمَرُ الآنَ؟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reason.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سَتَأْتِي إِلَى المُخَيَّمِ هٰذَا الصَّيْفَ؟</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a friend from last year’s camp.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D5 showcase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أَعْرِضُ مَا تَعَلَّمْتُ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hobbies, a memory and a trip. The Coach ticks: hobby verb + preposition · </a:t>
            </a:r>
            <a:pPr algn="l" indent="0" marL="0">
              <a:buNone/>
            </a:pPr>
            <a:r>
              <a:rPr lang="ar-SA" altLang="en-US" sz="1750" dirty="0">
                <a:solidFill>
                  <a:srgbClr val="1F2A37"/>
                </a:solidFill>
                <a:latin typeface="Amiri" pitchFamily="2" charset="-78"/>
                <a:ea typeface="Amiri" pitchFamily="2" charset="-78"/>
                <a:cs typeface="Amiri" pitchFamily="2" charset="-78"/>
              </a:rPr>
              <a:t>فَازَ</a:t>
            </a:r>
            <a:pPr algn="l" indent="0" marL="0">
              <a:buNone/>
            </a:pPr>
            <a:r>
              <a:rPr lang="en-US" sz="1350" dirty="0">
                <a:solidFill>
                  <a:srgbClr val="1F2A37"/>
                </a:solidFill>
                <a:latin typeface="Calibri" pitchFamily="34" charset="0"/>
                <a:cs typeface="Amiri" pitchFamily="2" charset="-78"/>
              </a:rPr>
              <a:t> · -tu · -at · -nā · -ū · irregular stem · </a:t>
            </a:r>
            <a:pPr algn="l" indent="0" marL="0">
              <a:buNone/>
            </a:pPr>
            <a:r>
              <a:rPr lang="ar-SA" altLang="en-US" sz="1750" dirty="0">
                <a:solidFill>
                  <a:srgbClr val="1F2A37"/>
                </a:solidFill>
                <a:latin typeface="Amiri" pitchFamily="2" charset="-78"/>
                <a:ea typeface="Amiri" pitchFamily="2" charset="-78"/>
                <a:cs typeface="Amiri" pitchFamily="2" charset="-78"/>
              </a:rPr>
              <a:t>كَانَ</a:t>
            </a:r>
            <a:pPr algn="l" indent="0" marL="0">
              <a:buNone/>
            </a:pPr>
            <a:r>
              <a:rPr lang="en-US" sz="1350" dirty="0">
                <a:solidFill>
                  <a:srgbClr val="1F2A37"/>
                </a:solidFill>
                <a:latin typeface="Calibri" pitchFamily="34" charset="0"/>
                <a:cs typeface="Amiri" pitchFamily="2" charset="-78"/>
              </a:rPr>
              <a:t> + -an · </a:t>
            </a:r>
            <a:pPr algn="l" indent="0" marL="0">
              <a:buNone/>
            </a:pPr>
            <a:r>
              <a:rPr lang="ar-SA" altLang="en-US" sz="1750" dirty="0">
                <a:solidFill>
                  <a:srgbClr val="1F2A37"/>
                </a:solidFill>
                <a:latin typeface="Amiri" pitchFamily="2" charset="-78"/>
                <a:ea typeface="Amiri" pitchFamily="2" charset="-78"/>
                <a:cs typeface="Amiri" pitchFamily="2" charset="-78"/>
              </a:rPr>
              <a:t>كُنْتُ</a:t>
            </a:r>
            <a:pPr algn="l" indent="0" marL="0">
              <a:buNone/>
            </a:pPr>
            <a:r>
              <a:rPr lang="en-US" sz="1350" dirty="0">
                <a:solidFill>
                  <a:srgbClr val="1F2A37"/>
                </a:solidFill>
                <a:latin typeface="Calibri" pitchFamily="34" charset="0"/>
                <a:cs typeface="Amiri" pitchFamily="2" charset="-78"/>
              </a:rPr>
              <a:t> + present · future.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structures from the list.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Seven structures with no stem errors.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ten, with a story shape (</a:t>
            </a:r>
            <a:pPr algn="l" indent="0" marL="0">
              <a:buNone/>
            </a:pPr>
            <a:r>
              <a:rPr lang="ar-SA" altLang="en-US" sz="1500" dirty="0">
                <a:solidFill>
                  <a:srgbClr val="1F2A37"/>
                </a:solidFill>
                <a:latin typeface="Amiri" pitchFamily="2" charset="-78"/>
                <a:ea typeface="Amiri" pitchFamily="2" charset="-78"/>
                <a:cs typeface="Amiri" pitchFamily="2" charset="-78"/>
              </a:rPr>
              <a:t>فَجْأَةً … فِي النِّهَايَةِ</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listens to music and plays the piano.</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تَسْتَمِعُ أُخْتِي إِلَى المُوسِيقَى</a:t>
            </a:r>
            <a:endParaRPr lang="ar-SA" sz="17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يَسْتَمِعُ أُخْتِي المُوسِيقَى</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وَتَعْزِفُ</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وَتَلْعَبُ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البِيَانُو.</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البِيَانُو.</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They visited the museum and said it was wonderful.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زَارُوا المَتْحَفَ</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زُرْنَا المَتْحَفَ</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وَقَالُوا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وَقُلْنَا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إِنَّهُ رَائِعٌ.</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 رَائِعًا.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weather was cold, and we were playing outside.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الطَّقْسُ بَارِدًا،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الطَّقْسُ بَارِدٌ،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وَكُنَّا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وَكُنْتُمْ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نَلْعَبُ فِي الخَارِجِ.</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لَعِبْنَا فِي الخَارِجِ.</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listens to music and plays the piano.</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ta-; </a:t>
            </a:r>
            <a:pPr algn="l" indent="0" marL="0">
              <a:buNone/>
            </a:pPr>
            <a:r>
              <a:rPr lang="ar-SA" altLang="en-US" sz="1350" dirty="0">
                <a:solidFill>
                  <a:srgbClr val="5A6472"/>
                </a:solidFill>
                <a:latin typeface="Amiri" pitchFamily="2" charset="-78"/>
                <a:ea typeface="Amiri" pitchFamily="2" charset="-78"/>
                <a:cs typeface="Amiri" pitchFamily="2" charset="-78"/>
              </a:rPr>
              <a:t>يَسْتَمِعُ إِلَى</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يَعْزِفُ عَلَى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تَسْتَمِعُ أُخْتِي إِلَى المُوسِيقَى وَتَعْزِفُ عَلَى البِيَانُو.</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They visited the museum and said it was wonderful.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 -ū (hollow verbs keep ā: </a:t>
            </a:r>
            <a:pPr algn="l" indent="0" marL="0">
              <a:buNone/>
            </a:pPr>
            <a:r>
              <a:rPr lang="ar-SA" altLang="en-US" sz="1350" dirty="0">
                <a:solidFill>
                  <a:srgbClr val="5A6472"/>
                </a:solidFill>
                <a:latin typeface="Amiri" pitchFamily="2" charset="-78"/>
                <a:ea typeface="Amiri" pitchFamily="2" charset="-78"/>
                <a:cs typeface="Amiri" pitchFamily="2" charset="-78"/>
              </a:rPr>
              <a:t>زَارُوا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قَالُوا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زَارُوا المَتْحَفَ وَقَالُوا إِنَّهُ رَائِعٌ.</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weather was cold, and we were playing outside.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 + -an; was …-ing = </a:t>
            </a:r>
            <a:pPr algn="l" indent="0" marL="0">
              <a:buNone/>
            </a:pPr>
            <a:r>
              <a:rPr lang="ar-SA" altLang="en-US" sz="1350" dirty="0">
                <a:solidFill>
                  <a:srgbClr val="5A6472"/>
                </a:solidFill>
                <a:latin typeface="Amiri" pitchFamily="2" charset="-78"/>
                <a:ea typeface="Amiri" pitchFamily="2" charset="-78"/>
                <a:cs typeface="Amiri" pitchFamily="2" charset="-78"/>
              </a:rPr>
              <a:t>كُنَّا</a:t>
            </a:r>
            <a:pPr algn="l" indent="0" marL="0">
              <a:buNone/>
            </a:pPr>
            <a:r>
              <a:rPr lang="en-US" sz="1050" i="1" dirty="0">
                <a:solidFill>
                  <a:srgbClr val="5A6472"/>
                </a:solidFill>
                <a:latin typeface="Calibri" pitchFamily="34" charset="0"/>
                <a:cs typeface="Amiri" pitchFamily="2" charset="-78"/>
              </a:rPr>
              <a:t> + present.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كَانَ الطَّقْسُ بَارِدًا، وَكُنَّا نَلْعَبُ فِي الخَارِجِ.</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لَعِبَ التِّنِسَ وَفَازَ عَلَى الكَأْسِ.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زَارْنَا المَدِينَةَ وَنَامْنَا فِي فُنْدُقٍ.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stem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الجَوُّ جَمِيلٌ وَكُنْتُ لَعِبْتُ فِي الحَدِيقَةِ.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لَعِبَ التِّنِسَ وَفَازَ عَلَى الكَأْسِ.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لَعِبَتِ التِّنِسَ وَفَازَتْ بِالكَأْسِ.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-at; win a title = </a:t>
            </a:r>
            <a:pPr algn="l" indent="0" marL="0">
              <a:buNone/>
            </a:pPr>
            <a:r>
              <a:rPr lang="ar-SA" altLang="en-US" sz="1500" b="1" dirty="0">
                <a:solidFill>
                  <a:srgbClr val="1B3B6F"/>
                </a:solidFill>
                <a:latin typeface="Amiri" pitchFamily="2" charset="-78"/>
                <a:ea typeface="Amiri" pitchFamily="2" charset="-78"/>
                <a:cs typeface="Amiri" pitchFamily="2" charset="-78"/>
              </a:rPr>
              <a:t>فَازَ 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زَارْنَا المَدِينَةَ وَنَامْنَا فِي فُنْدُقٍ.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زُرْنَا المَدِينَةَ وَنِمْنَا فِي فُنْدُقٍ.</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Hollow verbs shorten before -nā.</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كَانَ الجَوُّ جَمِيلٌ وَكُنْتُ لَعِبْتُ فِي الحَدِيقَةِ.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 الجَوُّ جَمِيلًا، وَكُنْتُ أَلْعَبُ فِي الحَدِيقَةِ.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-an; </a:t>
            </a:r>
            <a:pPr algn="l" indent="0" marL="0">
              <a:buNone/>
            </a:pPr>
            <a:r>
              <a:rPr lang="ar-SA" altLang="en-US" sz="1500" b="1" dirty="0">
                <a:solidFill>
                  <a:srgbClr val="1B3B6F"/>
                </a:solidFill>
                <a:latin typeface="Amiri" pitchFamily="2" charset="-78"/>
                <a:ea typeface="Amiri" pitchFamily="2" charset="-78"/>
                <a:cs typeface="Amiri" pitchFamily="2" charset="-78"/>
              </a:rPr>
              <a:t>كُنْتُ</a:t>
            </a:r>
            <a:pPr algn="l" indent="0" marL="0">
              <a:buNone/>
            </a:pPr>
            <a:r>
              <a:rPr lang="en-US" sz="1150" b="1" dirty="0">
                <a:solidFill>
                  <a:srgbClr val="1B3B6F"/>
                </a:solidFill>
                <a:latin typeface="Calibri" pitchFamily="34" charset="0"/>
                <a:cs typeface="Amiri" pitchFamily="2" charset="-78"/>
              </a:rPr>
              <a:t> + present.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الطَّقْسُ ______ ، وَفَجْأَةً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weather was …, and suddenly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أَصْدِقَائِي فَ______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friends, they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وَقْتِ فَرَاغِي ______ ______ فِي الأُسْبُوعِ.</a:t>
            </a:r>
            <a:endParaRPr lang="ar-SA" sz="17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free time I … … a week.</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الطُّفُولَةِ كُنْتُ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a child I used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فِي ______ سَافَرْنَا إِلَى ______ ، وَزُرْنَا ______ .</a:t>
            </a:r>
            <a:endParaRPr lang="ar-SA" sz="15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 we travelled to …, and visited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 سَوْفَ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holiday I will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أَلْعَبُ · أُمَارِسُ  ·  أَعْزِفُ عَلَى · أَسْتَمِعُ إِلَى  ·  كُنْتُ أَلْعَبُ  ·  سَافَرْنَا · زُرْنَا  ·  لَعِبُوا · قَالُوا  ·  كَانَ الطَّقْسُ …  ·  فَجْأَةً · فِي النِّهَايَةِ  ·  سَأُسَافِرُ · سَوْفَ نَزُورُ</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Exam-style email: my free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ea typeface="Amiri" pitchFamily="2" charset="-78"/>
                <a:cs typeface="Amiri" pitchFamily="2" charset="-78"/>
              </a:rPr>
              <a:t>رِسَالَةٌ بِأُسْلُوبِ الامْتِحَانِ: وَقْتُ فَرَاغِي</a:t>
            </a:r>
            <a:endParaRPr lang="ar-SA" sz="26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email (about 70–90 words) to an Arabic-speaking friend. Answer ALL four bullets: • your hobbies now and how often • a hobby you used to do as a child • a memorable trip or event (what you and others did) • your plans for next holiday.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أَلْعَبُ … · أَعْزِفُ عَلَى … · مَرَّتَيْنِ فِي الأُسْبُوعِ</a:t>
            </a:r>
            <a:endParaRPr lang="ar-SA" sz="16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play … · I play (instrument) … · twice a week</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الطُّفُولَةِ كُنْتُ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a child I used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سَافَرْنَا … · زُرْنَا … · كَانَ الطَّقْسُ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travelled … · we visited … · the weather was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 سَأُسَافِرُ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holiday I will travel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in the right tense?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plural endings, irregular stems and </a:t>
            </a:r>
            <a:pPr algn="l" indent="0" marL="0">
              <a:buNone/>
            </a:pPr>
            <a:r>
              <a:rPr lang="ar-SA" altLang="en-US" sz="1450" dirty="0">
                <a:solidFill>
                  <a:srgbClr val="5A6472"/>
                </a:solidFill>
                <a:latin typeface="Amiri" pitchFamily="2" charset="-78"/>
                <a:ea typeface="Amiri" pitchFamily="2" charset="-78"/>
                <a:cs typeface="Amiri" pitchFamily="2" charset="-78"/>
              </a:rPr>
              <a:t>كُنْتُ</a:t>
            </a:r>
            <a:pPr algn="l" indent="0" marL="0">
              <a:buNone/>
            </a:pPr>
            <a:r>
              <a:rPr lang="en-US" sz="1100" dirty="0">
                <a:solidFill>
                  <a:srgbClr val="5A6472"/>
                </a:solidFill>
                <a:latin typeface="Calibri" pitchFamily="34" charset="0"/>
                <a:cs typeface="Amiri" pitchFamily="2" charset="-78"/>
              </a:rPr>
              <a:t> + present accurately?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رَجَعْتُ إِلَى البَيْتِ، ثُمَّ اشْتَرَكْتُ فِي نَادِي الشِّطْرَنْجِ.</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went home, then joined the chess club.</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مَاذَا فَعَلْتَ بَعْدَ المُخَيَّمِ؟</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طَبْعًا! مَشَيْنَا خَمْسَ سَاعَاتٍ، وَنِمْنَا تَحْتَ النُّجُومِ.</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Of course! We walked five hours and slept under the stars.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تَتَذَكَّرُ يَوْمَ الرِّحْلَةِ إِلَى الجَبَلِ؟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يَلْعَبُ كُرَةَ القَدَمِ فِي فَرِيقِ المَدِينَةِ، وَفَازُوا عَلَى فَرِيقٍ قَوِيٍّ أَمْسِ.</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plays football for the city team, and they beat a strong team yesterday.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يَفْعَلُ صَدِيقُنَا عُمَرُ الآنَ؟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لِلْأَسَفِ لَا، لِأَنَّنَا سَنُسَافِرُ إِلَى بَاكِسْتَانَ لِزِيَارَةِ جَدَّتِي.</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Unfortunately not, because we will travel to Pakistan to visit my grandmother.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سَتَأْتِي إِلَى المُخَيَّمِ هٰذَا الصَّيْفَ؟</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050" dirty="0">
                <a:solidFill>
                  <a:srgbClr val="1F2A37"/>
                </a:solidFill>
                <a:latin typeface="Amiri" pitchFamily="2" charset="-78"/>
                <a:ea typeface="Amiri" pitchFamily="2" charset="-78"/>
                <a:cs typeface="Amiri" pitchFamily="2" charset="-78"/>
              </a:rPr>
              <a:t>مَرْحَبًا يَا يُوسُفُ،</a:t>
            </a:r>
            <a:endParaRPr lang="ar-SA" sz="2050" dirty="0"/>
          </a:p>
          <a:p>
            <a:pPr rtl="1" algn="r" indent="0" marL="0">
              <a:lnSpc>
                <a:spcPct val="120000"/>
              </a:lnSpc>
              <a:buNone/>
            </a:pPr>
            <a:r>
              <a:rPr lang="ar-SA" altLang="en-US" sz="2050" dirty="0">
                <a:solidFill>
                  <a:srgbClr val="1F2A37"/>
                </a:solidFill>
                <a:latin typeface="Amiri" pitchFamily="2" charset="-78"/>
                <a:ea typeface="Amiri" pitchFamily="2" charset="-78"/>
                <a:cs typeface="Amiri" pitchFamily="2" charset="-78"/>
              </a:rPr>
              <a:t>فِي وَقْتِ فَرَاغِي أَلْعَبُ كُرَةَ الطَّائِرَةِ ثَلَاثَ مَرَّاتٍ فِي الأُسْبُوعِ، وَأَسْتَمِعُ إِلَى المُوسِيقَى العَرَبِيَّةِ. فِي الطُّفُولَةِ كُنْتُ أَعْزِفُ عَلَى البِيَانُو، وَلٰكِنَّنِي تَوَقَّفْتُ. فِي الصَّيْفِ المَاضِي سَافَرْنَا إِلَى الأُرْدُنِّ، وَزُرْنَا البَتْرَاءَ وَنِمْنَا فِي الصَّحْرَاءِ. كَانَ الطَّقْسُ حَارًّا، وَفَجْأَةً هَبَّتْ عَاصِفَةٌ رَمْلِيَّةٌ! أَمَّا أَبْنَاءُ عَمِّي فَرَكِبُوا الجِمَالَ وَضَحِكُوا كَثِيرًا. فِي الإِجَازَةِ القَادِمَةِ سَأُسَافِرُ إِلَى إِسْبَانْيَا لِأَزُورَ قَصْرَ الحَمْرَاءِ.</a:t>
            </a:r>
            <a:endParaRPr lang="ar-SA" sz="2050" dirty="0"/>
          </a:p>
          <a:p>
            <a:pPr rtl="1" algn="r" indent="0" marL="0">
              <a:lnSpc>
                <a:spcPct val="120000"/>
              </a:lnSpc>
              <a:buNone/>
            </a:pPr>
            <a:r>
              <a:rPr lang="ar-SA" altLang="en-US" sz="2050" dirty="0">
                <a:solidFill>
                  <a:srgbClr val="1F2A37"/>
                </a:solidFill>
                <a:latin typeface="Amiri" pitchFamily="2" charset="-78"/>
                <a:ea typeface="Amiri" pitchFamily="2" charset="-78"/>
                <a:cs typeface="Amiri" pitchFamily="2" charset="-78"/>
              </a:rPr>
              <a:t>صَدِيقُكَ، آدَمُ</a:t>
            </a:r>
            <a:endParaRPr lang="ar-SA" sz="20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Yusuf, in my free time I play volleyball three times a week, and I listen to Arabic music. As a child I used to play the piano, but I stopped. Last summer we travelled to Jordan, visited Petra and slept in the desert. The weather was hot, and suddenly a sandstorm blew up! As for my cousins, they rode camels and laughed a lot. Next holiday I will travel to Spain to visit the Alhambra. Your friend,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أَعْزِفُ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وَزُرْنَا البَتْرَاءَ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فَرَكِبُوا الجِمَالَ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سَأُسَافِرُ إِلَى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D5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Before you leave: write ONE target for D6 in your book, e.g. “I will fix the stem first: </a:t>
            </a:r>
            <a:pPr algn="l" indent="0" marL="0">
              <a:buNone/>
            </a:pPr>
            <a:r>
              <a:rPr lang="ar-SA" altLang="en-US" sz="1700" b="1" dirty="0">
                <a:solidFill>
                  <a:srgbClr val="FFFFFF"/>
                </a:solidFill>
                <a:latin typeface="Amiri" pitchFamily="2" charset="-78"/>
                <a:ea typeface="Amiri" pitchFamily="2" charset="-78"/>
                <a:cs typeface="Amiri" pitchFamily="2" charset="-78"/>
              </a:rPr>
              <a:t>زُرْنَا</a:t>
            </a:r>
            <a:pPr algn="l" indent="0" marL="0">
              <a:buNone/>
            </a:pPr>
            <a:r>
              <a:rPr lang="en-US" sz="1300" b="1" dirty="0">
                <a:solidFill>
                  <a:srgbClr val="FFFFFF"/>
                </a:solidFill>
                <a:latin typeface="Calibri" pitchFamily="34" charset="0"/>
                <a:cs typeface="Amiri" pitchFamily="2" charset="-78"/>
              </a:rPr>
              <a:t>, not </a:t>
            </a:r>
            <a:pPr algn="l" indent="0" marL="0">
              <a:buNone/>
            </a:pPr>
            <a:r>
              <a:rPr lang="ar-SA" altLang="en-US" sz="1700" b="1" dirty="0">
                <a:solidFill>
                  <a:srgbClr val="FFFFFF"/>
                </a:solidFill>
                <a:latin typeface="Amiri" pitchFamily="2" charset="-78"/>
                <a:ea typeface="Amiri" pitchFamily="2" charset="-78"/>
                <a:cs typeface="Amiri" pitchFamily="2" charset="-78"/>
              </a:rPr>
              <a:t>زَارْنَا</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D5-L12 · Practice Room — Review and Unit Assessment: Hobbies, Sport and Leisure</dc:title>
  <dc:subject>PptxGenJS Presentation</dc:subject>
  <dc:creator>Al Madina Online School · Arabic Department</dc:creator>
  <cp:lastModifiedBy>Al Madina Online School · Arabic Department</cp:lastModifiedBy>
  <cp:revision>1</cp:revision>
  <dcterms:created xsi:type="dcterms:W3CDTF">2026-10-25T18:45:16Z</dcterms:created>
  <dcterms:modified xsi:type="dcterms:W3CDTF">2026-10-25T18:45:16Z</dcterms:modified>
</cp:coreProperties>
</file>