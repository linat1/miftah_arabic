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D5-L03 (The Past Tense — Form I Regular Singular Verbs) — new practice tasks built on the lesson’s own word bank and grammar (one root, five endings: dhahabtu (I) · dhahabta (you m.) · dhahabti (you f.) · dhahaba (he) · dhahabat (she); opening with a past time expression (ams · al-usbūʿa al-māḍiya · mundhu usbūʿin · fī al-ʿuṭlati al-māḍiya); negative past with lam + jussive (lam adhhab)).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receptionist to a girl: فَقَدْتِ · فَعَلْتِ · صَدِيقَتُكِ. Check the ending: -tu (I) · -ta (you m.) · -ti (you f.) · -a (he) · -at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The Past Tense — Form I Regular Singular Verbs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الفِعْلُ المَاضِي — المُفْرَدُ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speaking and writing practice with the past tense: say the past verbs and time phrases, act a “what did you do?” dialogue, answer question cards, do a role-play card reporting a lost-and-found day, give a one-minute past-weekend talk, then build, fix and write a diary entry about last weekend.</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D5-L03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المَاضِي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past-tense verb</a:t>
            </a:r>
            <a:endParaRPr lang="en-US" sz="1350" dirty="0"/>
          </a:p>
          <a:p>
            <a:pPr indent="0" marL="0">
              <a:buNone/>
            </a:pPr>
            <a:r>
              <a:rPr lang="en-US" sz="1100" i="1" dirty="0">
                <a:solidFill>
                  <a:srgbClr val="5A6472"/>
                </a:solidFill>
                <a:latin typeface="Calibri" pitchFamily="34" charset="0"/>
                <a:cs typeface="Amiri" pitchFamily="2" charset="-78"/>
              </a:rPr>
              <a:t>al-fiʿ-lu al-mā-ḍī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ذَهَبَ</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went</a:t>
            </a:r>
            <a:endParaRPr lang="en-US" sz="1350" dirty="0"/>
          </a:p>
          <a:p>
            <a:pPr indent="0" marL="0">
              <a:buNone/>
            </a:pPr>
            <a:r>
              <a:rPr lang="en-US" sz="1100" i="1" dirty="0">
                <a:solidFill>
                  <a:srgbClr val="5A6472"/>
                </a:solidFill>
                <a:latin typeface="Calibri" pitchFamily="34" charset="0"/>
                <a:cs typeface="Amiri" pitchFamily="2" charset="-78"/>
              </a:rPr>
              <a:t>dha-ha-ba</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ذَهَبَتْ</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6" name="Text 3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ذَهَبْتُ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لَعِبَ</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played</a:t>
            </a:r>
            <a:endParaRPr lang="en-US" sz="1350" dirty="0"/>
          </a:p>
          <a:p>
            <a:pPr indent="0" marL="0">
              <a:buNone/>
            </a:pPr>
            <a:r>
              <a:rPr lang="en-US" sz="1100" i="1" dirty="0">
                <a:solidFill>
                  <a:srgbClr val="5A6472"/>
                </a:solidFill>
                <a:latin typeface="Calibri" pitchFamily="34" charset="0"/>
                <a:cs typeface="Amiri" pitchFamily="2" charset="-78"/>
              </a:rPr>
              <a:t>la-ʿi-ba</a:t>
            </a:r>
            <a:endParaRPr lang="en-US" sz="1350" dirty="0"/>
          </a:p>
        </p:txBody>
      </p:sp>
      <p:sp>
        <p:nvSpPr>
          <p:cNvPr id="46" name="Shape 4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لَعِبَتْ</a:t>
            </a:r>
            <a:endParaRPr lang="ar-SA" sz="1500" dirty="0"/>
          </a:p>
        </p:txBody>
      </p:sp>
      <p:sp>
        <p:nvSpPr>
          <p:cNvPr id="49" name="Shape 4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1" name="Text 4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لَعِبْتُ</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5" name="Shape 5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7" name="Shape 5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شَاهَدَ</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watched</a:t>
            </a:r>
            <a:endParaRPr lang="en-US" sz="1350" dirty="0"/>
          </a:p>
          <a:p>
            <a:pPr indent="0" marL="0">
              <a:buNone/>
            </a:pPr>
            <a:r>
              <a:rPr lang="en-US" sz="1100" i="1" dirty="0">
                <a:solidFill>
                  <a:srgbClr val="5A6472"/>
                </a:solidFill>
                <a:latin typeface="Calibri" pitchFamily="34" charset="0"/>
                <a:cs typeface="Amiri" pitchFamily="2" charset="-78"/>
              </a:rPr>
              <a:t>shā-ha-da</a:t>
            </a:r>
            <a:endParaRPr lang="en-US" sz="1350" dirty="0"/>
          </a:p>
        </p:txBody>
      </p:sp>
      <p:sp>
        <p:nvSpPr>
          <p:cNvPr id="61" name="Shape 5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3" name="Text 6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شَاهَدَتْ</a:t>
            </a:r>
            <a:endParaRPr lang="ar-SA" sz="1500" dirty="0"/>
          </a:p>
        </p:txBody>
      </p:sp>
      <p:sp>
        <p:nvSpPr>
          <p:cNvPr id="64" name="Shape 6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6" name="Text 6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شَاهَدْتُ</a:t>
            </a:r>
            <a:endParaRPr lang="ar-SA" sz="150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0" name="Shape 67"/>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72" name="Shape 6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أَكَلَ</a:t>
            </a:r>
            <a:endParaRPr lang="ar-SA" sz="3000" dirty="0"/>
          </a:p>
        </p:txBody>
      </p:sp>
      <p:sp>
        <p:nvSpPr>
          <p:cNvPr id="75" name="Text 7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ate</a:t>
            </a:r>
            <a:endParaRPr lang="en-US" sz="1350" dirty="0"/>
          </a:p>
          <a:p>
            <a:pPr indent="0" marL="0">
              <a:buNone/>
            </a:pPr>
            <a:r>
              <a:rPr lang="en-US" sz="1100" i="1" dirty="0">
                <a:solidFill>
                  <a:srgbClr val="5A6472"/>
                </a:solidFill>
                <a:latin typeface="Calibri" pitchFamily="34" charset="0"/>
                <a:cs typeface="Amiri" pitchFamily="2" charset="-78"/>
              </a:rPr>
              <a:t>a-ka-la</a:t>
            </a:r>
            <a:endParaRPr lang="en-US" sz="1350" dirty="0"/>
          </a:p>
        </p:txBody>
      </p:sp>
      <p:sp>
        <p:nvSpPr>
          <p:cNvPr id="76" name="Shape 7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8" name="Text 75"/>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أَكَلَتْ</a:t>
            </a:r>
            <a:endParaRPr lang="ar-SA" sz="1500" dirty="0"/>
          </a:p>
        </p:txBody>
      </p:sp>
      <p:sp>
        <p:nvSpPr>
          <p:cNvPr id="79" name="Shape 7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81" name="Text 78"/>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أَكَلْتُ</a:t>
            </a:r>
            <a:endParaRPr lang="ar-SA" sz="1500" dirty="0"/>
          </a:p>
        </p:txBody>
      </p:sp>
      <p:sp>
        <p:nvSpPr>
          <p:cNvPr id="82" name="Shape 7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566928" y="4261104"/>
            <a:ext cx="310896" cy="310896"/>
          </a:xfrm>
          <a:prstGeom prst="ellipse">
            <a:avLst/>
          </a:prstGeom>
          <a:solidFill>
            <a:srgbClr val="F4F1EA"/>
          </a:solidFill>
          <a:ln w="12700">
            <a:solidFill>
              <a:srgbClr val="F4F1EA"/>
            </a:solidFill>
            <a:prstDash val="solid"/>
          </a:ln>
        </p:spPr>
      </p:sp>
      <p:sp>
        <p:nvSpPr>
          <p:cNvPr id="84" name="Text 8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5" name="Shape 82"/>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6" name="Text 83"/>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87" name="Shape 8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8" name="Text 8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9" name="Text 8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كَتَبَ</a:t>
            </a:r>
            <a:endParaRPr lang="ar-SA" sz="3000" dirty="0"/>
          </a:p>
        </p:txBody>
      </p:sp>
      <p:sp>
        <p:nvSpPr>
          <p:cNvPr id="90" name="Text 8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wrote</a:t>
            </a:r>
            <a:endParaRPr lang="en-US" sz="1350" dirty="0"/>
          </a:p>
          <a:p>
            <a:pPr indent="0" marL="0">
              <a:buNone/>
            </a:pPr>
            <a:r>
              <a:rPr lang="en-US" sz="1100" i="1" dirty="0">
                <a:solidFill>
                  <a:srgbClr val="5A6472"/>
                </a:solidFill>
                <a:latin typeface="Calibri" pitchFamily="34" charset="0"/>
                <a:cs typeface="Amiri" pitchFamily="2" charset="-78"/>
              </a:rPr>
              <a:t>ka-ta-ba</a:t>
            </a:r>
            <a:endParaRPr lang="en-US" sz="1350" dirty="0"/>
          </a:p>
        </p:txBody>
      </p:sp>
      <p:sp>
        <p:nvSpPr>
          <p:cNvPr id="91" name="Shape 88"/>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93" name="Text 90"/>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كَتَبَتْ</a:t>
            </a:r>
            <a:endParaRPr lang="ar-SA" sz="1500" dirty="0"/>
          </a:p>
        </p:txBody>
      </p:sp>
      <p:sp>
        <p:nvSpPr>
          <p:cNvPr id="94" name="Shape 91"/>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96" name="Text 93"/>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كَتَبْتُ</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time expressions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قَرَأَ</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read</a:t>
            </a:r>
            <a:endParaRPr lang="en-US" sz="1350" dirty="0"/>
          </a:p>
          <a:p>
            <a:pPr indent="0" marL="0">
              <a:buNone/>
            </a:pPr>
            <a:r>
              <a:rPr lang="en-US" sz="1100" i="1" dirty="0">
                <a:solidFill>
                  <a:srgbClr val="5A6472"/>
                </a:solidFill>
                <a:latin typeface="Calibri" pitchFamily="34" charset="0"/>
                <a:cs typeface="Amiri" pitchFamily="2" charset="-78"/>
              </a:rPr>
              <a:t>qa-ra-ʾa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قَرَأَتْ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قَرَأْتُ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drew</a:t>
            </a:r>
            <a:endParaRPr lang="en-US" sz="1350" dirty="0"/>
          </a:p>
          <a:p>
            <a:pPr indent="0" marL="0">
              <a:buNone/>
            </a:pPr>
            <a:r>
              <a:rPr lang="en-US" sz="1100" i="1" dirty="0">
                <a:solidFill>
                  <a:srgbClr val="5A6472"/>
                </a:solidFill>
                <a:latin typeface="Calibri" pitchFamily="34" charset="0"/>
                <a:cs typeface="Amiri" pitchFamily="2" charset="-78"/>
              </a:rPr>
              <a:t>ra-sa-ma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رَسَمَتْ</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خَرَجَ</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went out</a:t>
            </a:r>
            <a:endParaRPr lang="en-US" sz="1350" dirty="0"/>
          </a:p>
          <a:p>
            <a:pPr indent="0" marL="0">
              <a:buNone/>
            </a:pPr>
            <a:r>
              <a:rPr lang="en-US" sz="1100" i="1" dirty="0">
                <a:solidFill>
                  <a:srgbClr val="5A6472"/>
                </a:solidFill>
                <a:latin typeface="Calibri" pitchFamily="34" charset="0"/>
                <a:cs typeface="Amiri" pitchFamily="2" charset="-78"/>
              </a:rPr>
              <a:t>kha-ra-ja</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خَرَجَتْ</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خَرَجْتُ</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أَمْسِ</a:t>
            </a:r>
            <a:endParaRPr lang="ar-SA" sz="3000" dirty="0"/>
          </a:p>
        </p:txBody>
      </p:sp>
      <p:sp>
        <p:nvSpPr>
          <p:cNvPr id="66" name="Text 6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yesterday</a:t>
            </a:r>
            <a:endParaRPr lang="en-US" sz="1350" dirty="0"/>
          </a:p>
          <a:p>
            <a:pPr indent="0" marL="0">
              <a:buNone/>
            </a:pPr>
            <a:r>
              <a:rPr lang="en-US" sz="1100" i="1" dirty="0">
                <a:solidFill>
                  <a:srgbClr val="5A6472"/>
                </a:solidFill>
                <a:latin typeface="Calibri" pitchFamily="34" charset="0"/>
                <a:cs typeface="Amiri" pitchFamily="2" charset="-78"/>
              </a:rPr>
              <a:t>am-si</a:t>
            </a:r>
            <a:endParaRPr lang="en-US" sz="1350" dirty="0"/>
          </a:p>
        </p:txBody>
      </p:sp>
      <p:sp>
        <p:nvSpPr>
          <p:cNvPr id="67" name="Text 64"/>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Indeclinable, always ends in kasra.</a:t>
            </a:r>
            <a:endParaRPr lang="en-US" sz="1000" dirty="0"/>
          </a:p>
        </p:txBody>
      </p:sp>
      <p:sp>
        <p:nvSpPr>
          <p:cNvPr id="68" name="Shape 6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389120"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1" name="Shape 6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الأُسْبُوعَ المَاضِيَ</a:t>
            </a:r>
            <a:endParaRPr lang="ar-SA" sz="3000" dirty="0"/>
          </a:p>
        </p:txBody>
      </p:sp>
      <p:sp>
        <p:nvSpPr>
          <p:cNvPr id="74" name="Text 7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last week</a:t>
            </a:r>
            <a:endParaRPr lang="en-US" sz="1350" dirty="0"/>
          </a:p>
          <a:p>
            <a:pPr indent="0" marL="0">
              <a:buNone/>
            </a:pPr>
            <a:r>
              <a:rPr lang="en-US" sz="1100" i="1" dirty="0">
                <a:solidFill>
                  <a:srgbClr val="5A6472"/>
                </a:solidFill>
                <a:latin typeface="Calibri" pitchFamily="34" charset="0"/>
                <a:cs typeface="Amiri" pitchFamily="2" charset="-78"/>
              </a:rPr>
              <a:t>al-us-bū-ʿa al-mā-ḍi-ya</a:t>
            </a:r>
            <a:endParaRPr lang="en-US" sz="1350" dirty="0"/>
          </a:p>
        </p:txBody>
      </p:sp>
      <p:sp>
        <p:nvSpPr>
          <p:cNvPr id="75" name="Text 72"/>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Adverbial, so it is accusative.</a:t>
            </a:r>
            <a:endParaRPr lang="en-US" sz="1000" dirty="0"/>
          </a:p>
        </p:txBody>
      </p:sp>
      <p:sp>
        <p:nvSpPr>
          <p:cNvPr id="76" name="Shape 7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566928" y="4261104"/>
            <a:ext cx="310896" cy="310896"/>
          </a:xfrm>
          <a:prstGeom prst="ellipse">
            <a:avLst/>
          </a:prstGeom>
          <a:solidFill>
            <a:srgbClr val="F4F1EA"/>
          </a:solidFill>
          <a:ln w="12700">
            <a:solidFill>
              <a:srgbClr val="F4F1EA"/>
            </a:solidFill>
            <a:prstDash val="solid"/>
          </a:ln>
        </p:spPr>
      </p:sp>
      <p:sp>
        <p:nvSpPr>
          <p:cNvPr id="78" name="Text 7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9" name="Shape 7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0" name="Text 7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1" name="Text 7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مُنْذُ أُسْبُوعٍ</a:t>
            </a:r>
            <a:endParaRPr lang="ar-SA" sz="3000" dirty="0"/>
          </a:p>
        </p:txBody>
      </p:sp>
      <p:sp>
        <p:nvSpPr>
          <p:cNvPr id="82" name="Text 7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week ago</a:t>
            </a:r>
            <a:endParaRPr lang="en-US" sz="1350" dirty="0"/>
          </a:p>
          <a:p>
            <a:pPr indent="0" marL="0">
              <a:buNone/>
            </a:pPr>
            <a:r>
              <a:rPr lang="en-US" sz="1100" i="1" dirty="0">
                <a:solidFill>
                  <a:srgbClr val="5A6472"/>
                </a:solidFill>
                <a:latin typeface="Calibri" pitchFamily="34" charset="0"/>
                <a:cs typeface="Amiri" pitchFamily="2" charset="-78"/>
              </a:rPr>
              <a:t>mun-dhu us-bū-ʿin</a:t>
            </a:r>
            <a:endParaRPr lang="en-US" sz="1350" dirty="0"/>
          </a:p>
        </p:txBody>
      </p:sp>
      <p:sp>
        <p:nvSpPr>
          <p:cNvPr id="83" name="Text 80"/>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مُنْذُ</a:t>
            </a:r>
            <a:pPr algn="l" indent="0" marL="0">
              <a:buNone/>
            </a:pPr>
            <a:r>
              <a:rPr lang="en-US" sz="1000" i="1" dirty="0">
                <a:solidFill>
                  <a:srgbClr val="8A6D1E"/>
                </a:solidFill>
                <a:latin typeface="Calibri" pitchFamily="34" charset="0"/>
                <a:cs typeface="Amiri" pitchFamily="2" charset="-78"/>
              </a:rPr>
              <a:t> takes the genitive.</a:t>
            </a:r>
            <a:endParaRPr lang="en-US" sz="10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did you do yesterday?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فَعَلْتَ أَمْسِ؟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do yesterday?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فَعَلْتَ أَمْسِ؟</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went to the library and read a book about space.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ذَهَبْتُ إِلَى المَكْتَبَةِ، وَقَرَأْتُ كِتَابًا عَنِ الفَضَاءِ.</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sister?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وَأُخْتُكَ؟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painted a lovely picture, then went out with her friend.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رَسَمَتْ لَوْحَةً جَمِيلَةً، ثُمَّ خَرَجَتْ مَعَ صَدِيقَتِهَا.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brother?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وَأَخُوكَ؟</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played football and didn’t write his homework! And you (f.), what did you do?</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لَعِبَ كُرَةَ القَدَمِ، وَلَمْ يَكْتُبْ وَاجِبَهُ! وَأَنْتِ، مَاذَا فَعَلْتِ؟</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tell YOUR yesterday — then ask your partner with the right “you” (</a:t>
            </a:r>
            <a:pPr algn="l" indent="0" marL="0">
              <a:buNone/>
            </a:pPr>
            <a:r>
              <a:rPr lang="ar-SA" altLang="en-US" sz="1500" b="1" dirty="0">
                <a:solidFill>
                  <a:srgbClr val="1B3B6F"/>
                </a:solidFill>
                <a:latin typeface="Amiri" pitchFamily="2" charset="-78"/>
                <a:ea typeface="Amiri" pitchFamily="2" charset="-78"/>
                <a:cs typeface="Amiri" pitchFamily="2" charset="-78"/>
              </a:rPr>
              <a:t>فَعَلْتَ / فَعَلْتِ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أَمْسِ … ← ذَهَبْتُ / لَعِبْتُ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do yesterday after school?</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أَمْسِ بَعْدَ المَدْرَسَةِ؟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وَشَرِبْتُ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أَكَلْتُ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 eat for dinner?</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أَكَلْتَ عَلَى العَشَاءِ؟</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56648" y="3741725"/>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صَدِيقِي … ← شَاهَدَ / خَرَجَ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your friend do at the weekend?</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 صَدِيقُكَ فِي نِهَايَةِ الأُسْبُوعِ؟</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أُمِّي … ← طَبَخَتْ / زَارَتْ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 your mother do last week?</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أُمُّكَ الأُسْبُوعَ المَاضِيَ؟</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لِأَنَّنِي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 أَ… ← لَمْ أَكْتُبْ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didn’t you do yesterday?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لَمْ تَفْعَلْهُ أَمْسِ؟</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Role-play card — a lost bag at school</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حَقِيبَةٌ ضَائِعَةٌ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فَقَدْتُهَا … فِي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 where.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فَقَدْتَ الحَقِيبَةَ؟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بَعْدَ ذٰلِكَ ← بَحَثْتُ … ثُمَّ سَأَلْتُ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past actions.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بَعْدَ ذٰلِكَ؟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 negative.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رَأَتْهَا صَدِيقَتُكَ؟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React in the past.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وَجَدَهَا عَامِلُ النَّظَافَةِ هٰذَا الصَّبَاحَ!</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who lost a bag · Leader = the school receptionist.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last weekend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نِهَايَةُ الأُسْبُوعِ المَاضِيَةُ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last weekend: what you did, what one male and one female person did, and one thing you didn’t do.</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verbs with -tu (I).</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he (-a) and she (-at) and a time expression.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لَمْ</a:t>
            </a:r>
            <a:pPr algn="l" indent="0" marL="0">
              <a:buNone/>
            </a:pPr>
            <a:r>
              <a:rPr lang="en-US" sz="1150" dirty="0">
                <a:solidFill>
                  <a:srgbClr val="1F2A37"/>
                </a:solidFill>
                <a:latin typeface="Calibri" pitchFamily="34" charset="0"/>
                <a:cs typeface="Amiri" pitchFamily="2" charset="-78"/>
              </a:rPr>
              <a:t> + jussive and a question to your partner (</a:t>
            </a:r>
            <a:pPr algn="l" indent="0" marL="0">
              <a:buNone/>
            </a:pPr>
            <a:r>
              <a:rPr lang="ar-SA" altLang="en-US" sz="1500" dirty="0">
                <a:solidFill>
                  <a:srgbClr val="1F2A37"/>
                </a:solidFill>
                <a:latin typeface="Amiri" pitchFamily="2" charset="-78"/>
                <a:ea typeface="Amiri" pitchFamily="2" charset="-78"/>
                <a:cs typeface="Amiri" pitchFamily="2" charset="-78"/>
              </a:rPr>
              <a:t>فَعَلْتَ / فَعَلْتِ</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Last week she wrote a story.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المَاضِيَ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الأُسْبُوعُ المَاضِي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كَتَبَتْ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كَتَبْتُ</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قِصَّةً.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قِصَّةٌ.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Did you (f.) watch the film?</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مَاذَا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شَاهَدْتِ</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شَاهَدْتَ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الفِيلْمَ؟</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الفِيلْمُ؟</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didn’t go out yesterday.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لَمْ</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أَخْرُجْ</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خَرَجْتُ</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Last week she wrote a story.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object → </a:t>
            </a:r>
            <a:pPr algn="l" indent="0" marL="0">
              <a:buNone/>
            </a:pPr>
            <a:r>
              <a:rPr lang="ar-SA" altLang="en-US" sz="1350" dirty="0">
                <a:solidFill>
                  <a:srgbClr val="5A6472"/>
                </a:solidFill>
                <a:latin typeface="Amiri" pitchFamily="2" charset="-78"/>
                <a:ea typeface="Amiri" pitchFamily="2" charset="-78"/>
                <a:cs typeface="Amiri" pitchFamily="2" charset="-78"/>
              </a:rPr>
              <a:t>قِصَّةً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الأُسْبُوعَ المَاضِيَ كَتَبَتْ قِصَّةً.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Did you (f.) watch the film?</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(f.) → -ti.</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شَاهَدْتِ الفِيلْمَ؟</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didn’t go out yesterday.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Negative past = </a:t>
            </a:r>
            <a:pPr algn="l" indent="0" marL="0">
              <a:buNone/>
            </a:pPr>
            <a:r>
              <a:rPr lang="ar-SA" altLang="en-US" sz="1350" dirty="0">
                <a:solidFill>
                  <a:srgbClr val="5A6472"/>
                </a:solidFill>
                <a:latin typeface="Amiri" pitchFamily="2" charset="-78"/>
                <a:ea typeface="Amiri" pitchFamily="2" charset="-78"/>
                <a:cs typeface="Amiri" pitchFamily="2" charset="-78"/>
              </a:rPr>
              <a:t>لَمْ</a:t>
            </a:r>
            <a:pPr algn="l" indent="0" marL="0">
              <a:buNone/>
            </a:pPr>
            <a:r>
              <a:rPr lang="en-US" sz="1050" i="1" dirty="0">
                <a:solidFill>
                  <a:srgbClr val="5A6472"/>
                </a:solidFill>
                <a:latin typeface="Calibri" pitchFamily="34" charset="0"/>
                <a:cs typeface="Amiri" pitchFamily="2" charset="-78"/>
              </a:rPr>
              <a:t> + jussive (present stem).</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لَمْ أَخْرُجْ أَمْسِ.</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أَذْهَبُ إِلَى السُّوقِ.</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Time word!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لَعِبَ التِّنِسَ.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She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لَمْ ذَهَبْتُ إِلَى الحَفْلَةِ.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لَمْ</a:t>
            </a:r>
            <a:pPr algn="l" indent="0" marL="0">
              <a:buNone/>
            </a:pPr>
            <a:r>
              <a:rPr lang="en-US" sz="1300" i="1" dirty="0">
                <a:solidFill>
                  <a:srgbClr val="5A6472"/>
                </a:solidFill>
                <a:latin typeface="Calibri" pitchFamily="34" charset="0"/>
                <a:cs typeface="Amiri" pitchFamily="2" charset="-78"/>
              </a:rPr>
              <a:t> takes the present stem.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أَذْهَبُ إِلَى السُّوقِ.</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ذَهَبْتُ إِلَى السُّوقِ.</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أَمْسِ</a:t>
            </a:r>
            <a:pPr algn="l" indent="0" marL="0">
              <a:buNone/>
            </a:pPr>
            <a:r>
              <a:rPr lang="en-US" sz="1150" b="1" dirty="0">
                <a:solidFill>
                  <a:srgbClr val="1B3B6F"/>
                </a:solidFill>
                <a:latin typeface="Calibri" pitchFamily="34" charset="0"/>
                <a:cs typeface="Amiri" pitchFamily="2" charset="-78"/>
              </a:rPr>
              <a:t> → past.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لَعِبَ التِّنِسَ.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لَعِبَتِ التِّنِسَ.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-at (</a:t>
            </a:r>
            <a:pPr algn="l" indent="0" marL="0">
              <a:buNone/>
            </a:pPr>
            <a:r>
              <a:rPr lang="ar-SA" altLang="en-US" sz="1500" b="1" dirty="0">
                <a:solidFill>
                  <a:srgbClr val="1B3B6F"/>
                </a:solidFill>
                <a:latin typeface="Amiri" pitchFamily="2" charset="-78"/>
                <a:ea typeface="Amiri" pitchFamily="2" charset="-78"/>
                <a:cs typeface="Amiri" pitchFamily="2" charset="-78"/>
              </a:rPr>
              <a:t>لَعِبَتِ</a:t>
            </a:r>
            <a:pPr algn="l" indent="0" marL="0">
              <a:buNone/>
            </a:pPr>
            <a:r>
              <a:rPr lang="en-US" sz="1150" b="1" dirty="0">
                <a:solidFill>
                  <a:srgbClr val="1B3B6F"/>
                </a:solidFill>
                <a:latin typeface="Calibri" pitchFamily="34" charset="0"/>
                <a:cs typeface="Amiri" pitchFamily="2" charset="-78"/>
              </a:rPr>
              <a:t> before 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لَمْ ذَهَبْتُ إِلَى الحَفْلَةِ.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لَمْ أَذْهَبْ إِلَى الحَفْلَةِ.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لَمْ</a:t>
            </a:r>
            <a:pPr algn="l" indent="0" marL="0">
              <a:buNone/>
            </a:pPr>
            <a:r>
              <a:rPr lang="en-US" sz="1150" b="1" dirty="0">
                <a:solidFill>
                  <a:srgbClr val="1B3B6F"/>
                </a:solidFill>
                <a:latin typeface="Calibri" pitchFamily="34" charset="0"/>
                <a:cs typeface="Amiri" pitchFamily="2" charset="-78"/>
              </a:rPr>
              <a:t> + jussive.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الأَحَدِ ______ ، وَبَعْدَ ذٰلِكَ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Sunday …, and after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كَانَتْ نِهَايَةُ أُسْبُوعٍ ______ ، لِأَنَّ ______ .</a:t>
            </a:r>
            <a:endParaRPr lang="ar-SA" sz="17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was a … weekend,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السَّبْتِ ______ إِلَى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Saturday I … to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______ وَ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 ______ ، وَأُخْتِي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 and my sister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didn’t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ذَهَبْتُ · خَرَجْتُ  ·  لَعِبْتُ · شَاهَدْتُ  ·  أَكَلْتُ · شَرِبْتُ  ·  كَتَبْتُ · قَرَأْتُ  ·  رَسَمَ · رَسَمَتْ  ·  أَمْسِ · يَوْمَ السَّبْتِ  ·  الأُسْبُوعَ المَاضِيَ  ·  لَمْ أَذْهَبْ</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diary entry: last weekend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مُذَكِّرَاتِي: نِهَايَةُ الأُسْبُوعِ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 diary entry (about 60–80 words) about last weekend. Include: • two time expressions (</a:t>
            </a:r>
            <a:pPr algn="l" indent="0" marL="0">
              <a:buNone/>
            </a:pPr>
            <a:r>
              <a:rPr lang="ar-SA" altLang="en-US" sz="1550" b="1" dirty="0">
                <a:solidFill>
                  <a:srgbClr val="1F2A37"/>
                </a:solidFill>
                <a:latin typeface="Amiri" pitchFamily="2" charset="-78"/>
                <a:ea typeface="Amiri" pitchFamily="2" charset="-78"/>
                <a:cs typeface="Amiri" pitchFamily="2" charset="-78"/>
              </a:rPr>
              <a:t>أَمْسِ / يَوْمَ السَّبْتِ / فِي المَسَاءِ</a:t>
            </a:r>
            <a:pPr algn="l" indent="0" marL="0">
              <a:buNone/>
            </a:pPr>
            <a:r>
              <a:rPr lang="en-US" sz="1200" b="1" dirty="0">
                <a:solidFill>
                  <a:srgbClr val="1F2A37"/>
                </a:solidFill>
                <a:latin typeface="Calibri" pitchFamily="34" charset="0"/>
                <a:cs typeface="Amiri" pitchFamily="2" charset="-78"/>
              </a:rPr>
              <a:t> …) • at least five verbs with -tu (I) • one thing a male person did (-a) and one a female person did (-at) • one negative with </a:t>
            </a:r>
            <a:pPr algn="l" indent="0" marL="0">
              <a:buNone/>
            </a:pPr>
            <a:r>
              <a:rPr lang="ar-SA" altLang="en-US" sz="1550" b="1" dirty="0">
                <a:solidFill>
                  <a:srgbClr val="1F2A37"/>
                </a:solidFill>
                <a:latin typeface="Amiri" pitchFamily="2" charset="-78"/>
                <a:ea typeface="Amiri" pitchFamily="2" charset="-78"/>
                <a:cs typeface="Amiri" pitchFamily="2" charset="-78"/>
              </a:rPr>
              <a:t>لَمْ</a:t>
            </a:r>
            <a:pPr algn="l" indent="0" marL="0">
              <a:buNone/>
            </a:pPr>
            <a:r>
              <a:rPr lang="en-US" sz="1200" b="1" dirty="0">
                <a:solidFill>
                  <a:srgbClr val="1F2A37"/>
                </a:solidFill>
                <a:latin typeface="Calibri" pitchFamily="34" charset="0"/>
                <a:cs typeface="Amiri" pitchFamily="2" charset="-78"/>
              </a:rPr>
              <a:t> • how you felt.</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يَوْمَ السَّبْتِ ذَهَبْتُ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Saturday I went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ثُمَّ … · بَعْدَ ذٰلِكَ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then … · after that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أَخِي لَعِبَ … · أُخْتِي رَسَمَتْ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brother played … · my sister drew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أَ…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didn’t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past with -tu for yourself after a past time word?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switch correctly between -tu · -a · -at and use </a:t>
            </a:r>
            <a:pPr algn="l" indent="0" marL="0">
              <a:buNone/>
            </a:pPr>
            <a:r>
              <a:rPr lang="ar-SA" altLang="en-US" sz="1450" dirty="0">
                <a:solidFill>
                  <a:srgbClr val="5A6472"/>
                </a:solidFill>
                <a:latin typeface="Amiri" pitchFamily="2" charset="-78"/>
                <a:ea typeface="Amiri" pitchFamily="2" charset="-78"/>
                <a:cs typeface="Amiri" pitchFamily="2" charset="-78"/>
              </a:rPr>
              <a:t>لَمْ</a:t>
            </a:r>
            <a:pPr algn="l" indent="0" marL="0">
              <a:buNone/>
            </a:pPr>
            <a:r>
              <a:rPr lang="en-US" sz="1100" dirty="0">
                <a:solidFill>
                  <a:srgbClr val="5A6472"/>
                </a:solidFill>
                <a:latin typeface="Calibri" pitchFamily="34" charset="0"/>
                <a:cs typeface="Amiri" pitchFamily="2" charset="-78"/>
              </a:rPr>
              <a:t> + jussive?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فَقَدْتُهَا أَمْسِ بَعْدَ الظُّهْرِ فِي المَلْعَبِ.</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lost it yesterday afternoon in the playground.</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فَقَدْتَ الحَقِيبَةَ؟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بَحَثْتُ عَنْهَا فِي كُلِّ مَكَانٍ، ثُمَّ سَأَلْتُ المُدَرِّبَ.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looked for it everywhere, then asked the coach.</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بَعْدَ ذٰلِكَ؟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لَمْ تَرَهَا، وَلٰكِنَّهَا سَاعَدَتْنِي فِي البَحْثِ.</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she didn’t see it, but she helped me look.</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رَأَتْهَا صَدِيقَتُكَ؟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الحَمْدُ لِلّٰهِ! شُكْرًا جَزِيلًا؛ أَيْنَ وَجَدَهَا؟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 God! Thank you so much — where did he find it?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وَجَدَهَا عَامِلُ النَّظَافَةِ هٰذَا الصَّبَاحَ!</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يَوْمَ السَّبْتِ اسْتَيْقَظْتُ مُتَأَخِّرًا، ثُمَّ ذَهَبْتُ إِلَى النَّادِي وَلَعِبْتُ كُرَةَ السَّلَّةِ مَعَ أَصْدِقَائِي. فِي المَسَاءِ شَاهَدْتُ فِيلْمًا مُضْحِكًا مَعَ عَائِلَتِي، وَأَكَلْنَا البِيتْزَا. يَوْمَ الأَحَدِ زَارَتْنَا جَدَّتِي، وَطَبَخَتْ لَنَا المَقْلُوبَةَ. أَخِي الصَّغِيرُ رَسَمَ صُورَةً لَهَا، فَفَرِحَتْ كَثِيرًا. بَعْدَ ذٰلِكَ كَتَبْتُ وَاجِبَ العُلُومِ، وَلٰكِنَّنِي لَمْ أُرَاجِعْ لِامْتِحَانِ الرِّيَاضِيَّاتِ، لِأَنَّنِي كُنْتُ مُتْعَبًا. كَانَتْ نِهَايَةُ أُسْبُوعٍ مُمْتِعَةً جِدًّا، وَلٰكِنَّهَا قَصِيرَةٌ كَالعَادَةِ!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 Saturday I woke up late, then went to the club and played basketball with my friends. In the evening I watched a funny film with my family, and we ate pizza. On Sunday my grandmother visited us and cooked maqluba for us. My little brother drew a picture for her, and she was very happy. After that I wrote my science homework, but I didn’t revise for the maths test, because I was tired. It was a really fun weekend — but short, as usual!”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ذَهَبْتُ إِلَى النَّادِي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وَطَبَخَتْ لَنَا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أَخِي الصَّغِيرُ رَسَمَ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أُرَاجِعْ</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D5-L04 · Past Tense — Plural Forms and Irregular Verbs</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الفِعْلُ المَاضِي — الجَمْعُ وَالأَفْعَالُ الشَّاذَّةُ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D5-L03 · Practice Room — The Past Tense — Form I Regular Singular Verbs</dc:title>
  <dc:subject>PptxGenJS Presentation</dc:subject>
  <dc:creator>Al Madina Online School · Arabic Department</dc:creator>
  <cp:lastModifiedBy>Al Madina Online School · Arabic Department</cp:lastModifiedBy>
  <cp:revision>1</cp:revision>
  <dcterms:created xsi:type="dcterms:W3CDTF">2026-10-25T18:38:14Z</dcterms:created>
  <dcterms:modified xsi:type="dcterms:W3CDTF">2026-10-25T18:38:14Z</dcterms:modified>
</cp:coreProperties>
</file>