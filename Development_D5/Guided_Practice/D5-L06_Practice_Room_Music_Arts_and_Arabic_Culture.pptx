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D5-L06 (Music, Arts and Arabic Culture) — new practice tasks built on the lesson’s own word bank and grammar (what art does: yuʿabbiru ʿan · yuʾaththiru fī · yulhimu; describing arts (al-khaṭṭu al-ʿarabiyyu · al-zakhrafa · al-ʿūd · al-nāy); fair cultural description: fī baʿḍi al-buldān · aḥyānan · laysa dāʾiman · yakhtalifu min baladin ilā ākhar; past experience (zurtu maʿriḍan · ḥaḍartu ḥaflatan)).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D5-L06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visitor to a girl: تَعْزِفِينَ. yuʿabbiru ʿan · yuʾaththiru fī · yulhimu + object; avoid generalising (laysa dāʾiman · fī baʿḍi al-buldān).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(59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D5  ·  D5-L06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D5-L06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Music, Arts and Arabic Culture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المُوسِيقَى وَالفُنُونُ</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00" dirty="0">
                <a:solidFill>
                  <a:srgbClr val="C6D2E6"/>
                </a:solidFill>
                <a:latin typeface="Calibri" pitchFamily="34" charset="0"/>
                <a:cs typeface="Amiri" pitchFamily="2" charset="-78"/>
              </a:rPr>
              <a:t>Students run their own speaking and writing practice about Arabic arts: say the arts words, act a short dialogue at an exhibition, answer question cards, do a role-play card as a museum guide, give a one-minute talk about an art form, then build, fix and write a review of an exhibition or concert.</a:t>
            </a:r>
            <a:endParaRPr lang="en-US" sz="13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D5-L06 · Development D5 · Hobbies, Sport and Leisure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D5 › D5-L06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Instruments and arts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العُودُ</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oud</a:t>
            </a:r>
            <a:endParaRPr lang="en-US" sz="1350" dirty="0"/>
          </a:p>
          <a:p>
            <a:pPr indent="0" marL="0">
              <a:buNone/>
            </a:pPr>
            <a:r>
              <a:rPr lang="en-US" sz="1100" i="1" dirty="0">
                <a:solidFill>
                  <a:srgbClr val="5A6472"/>
                </a:solidFill>
                <a:latin typeface="Calibri" pitchFamily="34" charset="0"/>
                <a:cs typeface="Amiri" pitchFamily="2" charset="-78"/>
              </a:rPr>
              <a:t>al-ʿū-du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 short-necked lute, central to Arabic music.</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27" name="Text 24"/>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 frame drum.</a:t>
            </a:r>
            <a:endParaRPr lang="en-US" sz="800" dirty="0"/>
          </a:p>
        </p:txBody>
      </p:sp>
      <p:sp>
        <p:nvSpPr>
          <p:cNvPr id="28" name="Shape 2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0" name="Text 2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الدُّفُّ</a:t>
            </a:r>
            <a:endParaRPr lang="ar-SA" sz="3000" dirty="0"/>
          </a:p>
        </p:txBody>
      </p:sp>
      <p:sp>
        <p:nvSpPr>
          <p:cNvPr id="31" name="Text 2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duff</a:t>
            </a:r>
            <a:endParaRPr lang="en-US" sz="1350" dirty="0"/>
          </a:p>
          <a:p>
            <a:pPr indent="0" marL="0">
              <a:buNone/>
            </a:pPr>
            <a:r>
              <a:rPr lang="en-US" sz="1100" i="1" dirty="0">
                <a:solidFill>
                  <a:srgbClr val="5A6472"/>
                </a:solidFill>
                <a:latin typeface="Calibri" pitchFamily="34" charset="0"/>
                <a:cs typeface="Amiri" pitchFamily="2" charset="-78"/>
              </a:rPr>
              <a:t>ad-duf-fu</a:t>
            </a:r>
            <a:endParaRPr lang="en-US" sz="135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5" name="Shape 32"/>
          <p:cNvSpPr/>
          <p:nvPr/>
        </p:nvSpPr>
        <p:spPr>
          <a:xfrm>
            <a:off x="960120" y="1938528"/>
            <a:ext cx="1082650"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960120"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 reed flute.</a:t>
            </a:r>
            <a:endParaRPr lang="en-US" sz="800" dirty="0"/>
          </a:p>
        </p:txBody>
      </p:sp>
      <p:sp>
        <p:nvSpPr>
          <p:cNvPr id="37" name="Shape 3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النَّايُ</a:t>
            </a:r>
            <a:endParaRPr lang="ar-SA" sz="3000" dirty="0"/>
          </a:p>
        </p:txBody>
      </p:sp>
      <p:sp>
        <p:nvSpPr>
          <p:cNvPr id="40" name="Text 37"/>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nay</a:t>
            </a:r>
            <a:endParaRPr lang="en-US" sz="1350" dirty="0"/>
          </a:p>
          <a:p>
            <a:pPr indent="0" marL="0">
              <a:buNone/>
            </a:pPr>
            <a:r>
              <a:rPr lang="en-US" sz="1100" i="1" dirty="0">
                <a:solidFill>
                  <a:srgbClr val="5A6472"/>
                </a:solidFill>
                <a:latin typeface="Calibri" pitchFamily="34" charset="0"/>
                <a:cs typeface="Amiri" pitchFamily="2" charset="-78"/>
              </a:rPr>
              <a:t>an-nā-yu</a:t>
            </a:r>
            <a:endParaRPr lang="en-US" sz="135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4" name="Shape 41"/>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5" name="Text 42"/>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6" name="Shape 4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فِرْقَةٌ</a:t>
            </a:r>
            <a:endParaRPr lang="ar-SA" sz="3000" dirty="0"/>
          </a:p>
        </p:txBody>
      </p:sp>
      <p:sp>
        <p:nvSpPr>
          <p:cNvPr id="49" name="Text 4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ensemble, group</a:t>
            </a:r>
            <a:endParaRPr lang="en-US" sz="1350" dirty="0"/>
          </a:p>
          <a:p>
            <a:pPr indent="0" marL="0">
              <a:buNone/>
            </a:pPr>
            <a:r>
              <a:rPr lang="en-US" sz="1100" i="1" dirty="0">
                <a:solidFill>
                  <a:srgbClr val="5A6472"/>
                </a:solidFill>
                <a:latin typeface="Calibri" pitchFamily="34" charset="0"/>
                <a:cs typeface="Amiri" pitchFamily="2" charset="-78"/>
              </a:rPr>
              <a:t>fir-qa-tun</a:t>
            </a:r>
            <a:endParaRPr lang="en-US" sz="1350" dirty="0"/>
          </a:p>
        </p:txBody>
      </p:sp>
      <p:sp>
        <p:nvSpPr>
          <p:cNvPr id="50" name="Shape 4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2" name="Text 49"/>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فِرَقٌ</a:t>
            </a:r>
            <a:endParaRPr lang="ar-SA" sz="1500" dirty="0"/>
          </a:p>
        </p:txBody>
      </p:sp>
      <p:sp>
        <p:nvSpPr>
          <p:cNvPr id="53" name="Shape 5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4389120"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6" name="Shape 5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حَفْلَةٌ مُوسِيقِيَّةٌ</a:t>
            </a:r>
            <a:endParaRPr lang="ar-SA" sz="3000" dirty="0"/>
          </a:p>
        </p:txBody>
      </p:sp>
      <p:sp>
        <p:nvSpPr>
          <p:cNvPr id="59" name="Text 5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concert</a:t>
            </a:r>
            <a:endParaRPr lang="en-US" sz="1350" dirty="0"/>
          </a:p>
          <a:p>
            <a:pPr indent="0" marL="0">
              <a:buNone/>
            </a:pPr>
            <a:r>
              <a:rPr lang="en-US" sz="1100" i="1" dirty="0">
                <a:solidFill>
                  <a:srgbClr val="5A6472"/>
                </a:solidFill>
                <a:latin typeface="Calibri" pitchFamily="34" charset="0"/>
                <a:cs typeface="Amiri" pitchFamily="2" charset="-78"/>
              </a:rPr>
              <a:t>ḥaf-la-tun mū-sī-qiy-ya-tun</a:t>
            </a:r>
            <a:endParaRPr lang="en-US" sz="1350" dirty="0"/>
          </a:p>
        </p:txBody>
      </p:sp>
      <p:sp>
        <p:nvSpPr>
          <p:cNvPr id="60" name="Text 57"/>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adjective agrees as feminine.</a:t>
            </a:r>
            <a:endParaRPr lang="en-US" sz="1000" dirty="0"/>
          </a:p>
        </p:txBody>
      </p:sp>
      <p:sp>
        <p:nvSpPr>
          <p:cNvPr id="61" name="Shape 5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66928"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4" name="Shape 61"/>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5" name="Text 62"/>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6" name="Text 63"/>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الخَطُّ العَرَبِيُّ</a:t>
            </a:r>
            <a:endParaRPr lang="ar-SA" sz="3000" dirty="0"/>
          </a:p>
        </p:txBody>
      </p:sp>
      <p:sp>
        <p:nvSpPr>
          <p:cNvPr id="67" name="Text 64"/>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Arabic calligraphy</a:t>
            </a:r>
            <a:endParaRPr lang="en-US" sz="1350" dirty="0"/>
          </a:p>
          <a:p>
            <a:pPr indent="0" marL="0">
              <a:buNone/>
            </a:pPr>
            <a:r>
              <a:rPr lang="en-US" sz="1100" i="1" dirty="0">
                <a:solidFill>
                  <a:srgbClr val="5A6472"/>
                </a:solidFill>
                <a:latin typeface="Calibri" pitchFamily="34" charset="0"/>
                <a:cs typeface="Amiri" pitchFamily="2" charset="-78"/>
              </a:rPr>
              <a:t>al-khaṭ-ṭu al-ʿa-ra-biy-yu</a:t>
            </a:r>
            <a:endParaRPr lang="en-US" sz="13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art does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Feminine.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زَخْرَفَةٌ</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ornamentation, arabesque</a:t>
            </a:r>
            <a:endParaRPr lang="en-US" sz="1350" dirty="0"/>
          </a:p>
          <a:p>
            <a:pPr indent="0" marL="0">
              <a:buNone/>
            </a:pPr>
            <a:r>
              <a:rPr lang="en-US" sz="1100" i="1" dirty="0">
                <a:solidFill>
                  <a:srgbClr val="5A6472"/>
                </a:solidFill>
                <a:latin typeface="Calibri" pitchFamily="34" charset="0"/>
                <a:cs typeface="Amiri" pitchFamily="2" charset="-78"/>
              </a:rPr>
              <a:t>zakh-ra-fa-tun</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7" name="Shape 24"/>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مَعْرِضٌ</a:t>
            </a:r>
            <a:endParaRPr lang="ar-SA" sz="3000" dirty="0"/>
          </a:p>
        </p:txBody>
      </p:sp>
      <p:sp>
        <p:nvSpPr>
          <p:cNvPr id="32" name="Text 29"/>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exhibition</a:t>
            </a:r>
            <a:endParaRPr lang="en-US" sz="1350" dirty="0"/>
          </a:p>
          <a:p>
            <a:pPr indent="0" marL="0">
              <a:buNone/>
            </a:pPr>
            <a:r>
              <a:rPr lang="en-US" sz="1100" i="1" dirty="0">
                <a:solidFill>
                  <a:srgbClr val="5A6472"/>
                </a:solidFill>
                <a:latin typeface="Calibri" pitchFamily="34" charset="0"/>
                <a:cs typeface="Amiri" pitchFamily="2" charset="-78"/>
              </a:rPr>
              <a:t>maʿ-ri-ḍun</a:t>
            </a:r>
            <a:endParaRPr lang="en-US" sz="1350" dirty="0"/>
          </a:p>
        </p:txBody>
      </p:sp>
      <p:sp>
        <p:nvSpPr>
          <p:cNvPr id="33" name="Shape 30"/>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4" name="Text 31"/>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5" name="Text 32"/>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مَعَارِضُ</a:t>
            </a:r>
            <a:endParaRPr lang="ar-SA" sz="1500" dirty="0"/>
          </a:p>
        </p:txBody>
      </p:sp>
      <p:sp>
        <p:nvSpPr>
          <p:cNvPr id="36" name="Shape 33"/>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566928" y="1920240"/>
            <a:ext cx="310896" cy="310896"/>
          </a:xfrm>
          <a:prstGeom prst="ellipse">
            <a:avLst/>
          </a:prstGeom>
          <a:solidFill>
            <a:srgbClr val="F4F1EA"/>
          </a:solidFill>
          <a:ln w="12700">
            <a:solidFill>
              <a:srgbClr val="F4F1EA"/>
            </a:solidFill>
            <a:prstDash val="solid"/>
          </a:ln>
        </p:spPr>
      </p:sp>
      <p:sp>
        <p:nvSpPr>
          <p:cNvPr id="38" name="Text 35"/>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9" name="Shape 36"/>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Masculine.</a:t>
            </a:r>
            <a:endParaRPr lang="en-US" sz="800" dirty="0"/>
          </a:p>
        </p:txBody>
      </p:sp>
      <p:sp>
        <p:nvSpPr>
          <p:cNvPr id="41" name="Shape 38"/>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تُرَاثٌ مُوسِيقِيٌّ</a:t>
            </a:r>
            <a:endParaRPr lang="ar-SA" sz="3000" dirty="0"/>
          </a:p>
        </p:txBody>
      </p:sp>
      <p:sp>
        <p:nvSpPr>
          <p:cNvPr id="44" name="Text 41"/>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musical heritage</a:t>
            </a:r>
            <a:endParaRPr lang="en-US" sz="1350" dirty="0"/>
          </a:p>
          <a:p>
            <a:pPr indent="0" marL="0">
              <a:buNone/>
            </a:pPr>
            <a:r>
              <a:rPr lang="en-US" sz="1100" i="1" dirty="0">
                <a:solidFill>
                  <a:srgbClr val="5A6472"/>
                </a:solidFill>
                <a:latin typeface="Calibri" pitchFamily="34" charset="0"/>
                <a:cs typeface="Amiri" pitchFamily="2" charset="-78"/>
              </a:rPr>
              <a:t>tu-rā-thun mū-sī-qiy-yun</a:t>
            </a:r>
            <a:endParaRPr lang="en-US" sz="135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8" name="Shape 4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فَنَّانٌ / فَنَّانَةٌ</a:t>
            </a:r>
            <a:endParaRPr lang="ar-SA" sz="3000" dirty="0"/>
          </a:p>
        </p:txBody>
      </p:sp>
      <p:sp>
        <p:nvSpPr>
          <p:cNvPr id="53" name="Text 5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artist (m. / f.)</a:t>
            </a:r>
            <a:endParaRPr lang="en-US" sz="1350" dirty="0"/>
          </a:p>
          <a:p>
            <a:pPr indent="0" marL="0">
              <a:buNone/>
            </a:pPr>
            <a:r>
              <a:rPr lang="en-US" sz="1100" i="1" dirty="0">
                <a:solidFill>
                  <a:srgbClr val="5A6472"/>
                </a:solidFill>
                <a:latin typeface="Calibri" pitchFamily="34" charset="0"/>
                <a:cs typeface="Amiri" pitchFamily="2" charset="-78"/>
              </a:rPr>
              <a:t>fan-nā-nun / fan-nā-na-tun</a:t>
            </a:r>
            <a:endParaRPr lang="en-US" sz="1350" dirty="0"/>
          </a:p>
        </p:txBody>
      </p:sp>
      <p:sp>
        <p:nvSpPr>
          <p:cNvPr id="54" name="Shape 51"/>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6" name="Text 53"/>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فَنَّانُونَ / فَنَّانَاتٌ</a:t>
            </a:r>
            <a:endParaRPr lang="ar-SA" sz="1500" dirty="0"/>
          </a:p>
        </p:txBody>
      </p:sp>
      <p:sp>
        <p:nvSpPr>
          <p:cNvPr id="57" name="Shape 54"/>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9" name="Text 56"/>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فَنَّانَةٌ</a:t>
            </a:r>
            <a:endParaRPr lang="ar-SA" sz="1500" dirty="0"/>
          </a:p>
        </p:txBody>
      </p:sp>
      <p:sp>
        <p:nvSpPr>
          <p:cNvPr id="60" name="Shape 5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4389120"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3" name="Shape 60"/>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she · past</a:t>
            </a:r>
            <a:endParaRPr lang="en-US" sz="800" dirty="0"/>
          </a:p>
        </p:txBody>
      </p:sp>
      <p:sp>
        <p:nvSpPr>
          <p:cNvPr id="65" name="Shape 62"/>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يُعَبِّرُ عَنْ</a:t>
            </a:r>
            <a:endParaRPr lang="ar-SA" sz="3000" dirty="0"/>
          </a:p>
        </p:txBody>
      </p:sp>
      <p:sp>
        <p:nvSpPr>
          <p:cNvPr id="68" name="Text 65"/>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expresses</a:t>
            </a:r>
            <a:endParaRPr lang="en-US" sz="1350" dirty="0"/>
          </a:p>
          <a:p>
            <a:pPr indent="0" marL="0">
              <a:buNone/>
            </a:pPr>
            <a:r>
              <a:rPr lang="en-US" sz="1100" i="1" dirty="0">
                <a:solidFill>
                  <a:srgbClr val="5A6472"/>
                </a:solidFill>
                <a:latin typeface="Calibri" pitchFamily="34" charset="0"/>
                <a:cs typeface="Amiri" pitchFamily="2" charset="-78"/>
              </a:rPr>
              <a:t>yu-ʿab-bi-ru ʿan</a:t>
            </a:r>
            <a:endParaRPr lang="en-US" sz="1350" dirty="0"/>
          </a:p>
        </p:txBody>
      </p:sp>
      <p:sp>
        <p:nvSpPr>
          <p:cNvPr id="69" name="Shape 66"/>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71" name="Text 68"/>
          <p:cNvSpPr txBox="1"/>
          <p:nvPr/>
        </p:nvSpPr>
        <p:spPr>
          <a:xfrm>
            <a:off x="6190488"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عَبَّرَ</a:t>
            </a:r>
            <a:endParaRPr lang="ar-SA" sz="1350" dirty="0"/>
          </a:p>
        </p:txBody>
      </p:sp>
      <p:sp>
        <p:nvSpPr>
          <p:cNvPr id="72" name="Shape 69"/>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74" name="Text 71"/>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تُعَبِّرُ</a:t>
            </a:r>
            <a:endParaRPr lang="ar-SA" sz="1500" dirty="0"/>
          </a:p>
        </p:txBody>
      </p:sp>
      <p:sp>
        <p:nvSpPr>
          <p:cNvPr id="75" name="Shape 7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66928"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78" name="Shape 75"/>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she · past</a:t>
            </a:r>
            <a:endParaRPr lang="en-US" sz="800" dirty="0"/>
          </a:p>
        </p:txBody>
      </p:sp>
      <p:sp>
        <p:nvSpPr>
          <p:cNvPr id="80" name="Shape 7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يُؤَثِّرُ فِي</a:t>
            </a:r>
            <a:endParaRPr lang="ar-SA" sz="3000" dirty="0"/>
          </a:p>
        </p:txBody>
      </p:sp>
      <p:sp>
        <p:nvSpPr>
          <p:cNvPr id="83" name="Text 8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influences</a:t>
            </a:r>
            <a:endParaRPr lang="en-US" sz="1350" dirty="0"/>
          </a:p>
          <a:p>
            <a:pPr indent="0" marL="0">
              <a:buNone/>
            </a:pPr>
            <a:r>
              <a:rPr lang="en-US" sz="1100" i="1" dirty="0">
                <a:solidFill>
                  <a:srgbClr val="5A6472"/>
                </a:solidFill>
                <a:latin typeface="Calibri" pitchFamily="34" charset="0"/>
                <a:cs typeface="Amiri" pitchFamily="2" charset="-78"/>
              </a:rPr>
              <a:t>yu-ʾath-thi-ru fī</a:t>
            </a:r>
            <a:endParaRPr lang="en-US" sz="1350" dirty="0"/>
          </a:p>
        </p:txBody>
      </p:sp>
      <p:sp>
        <p:nvSpPr>
          <p:cNvPr id="84" name="Shape 81"/>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86" name="Text 83"/>
          <p:cNvSpPr txBox="1"/>
          <p:nvPr/>
        </p:nvSpPr>
        <p:spPr>
          <a:xfrm>
            <a:off x="2368296"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أَثَّرَ</a:t>
            </a:r>
            <a:endParaRPr lang="ar-SA" sz="1350" dirty="0"/>
          </a:p>
        </p:txBody>
      </p:sp>
      <p:sp>
        <p:nvSpPr>
          <p:cNvPr id="87" name="Shape 84"/>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89" name="Text 86"/>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تُؤَثِّرُ</a:t>
            </a:r>
            <a:endParaRPr lang="ar-SA" sz="150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At the calligraphy exhibition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مَعْرِضِ الخَطِّ العَرَبِيِّ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think of this painting?</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 رَأْيُكِ فِي هٰذِهِ اللَّوْحَةِ؟</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Wonderful! Arabic calligraphy expresses beauty and spirit.</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رَائِعَةٌ! الخَطُّ العَرَبِيُّ يُعَبِّرُ عَنِ الجَمَالِ وَالرُّوحِ.</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this arabesque?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وَهٰذِهِ الزَّخْرَفَةُ؟</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inspires me a lot. I love the geometric shapes.</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تُلْهِمُنِي كَثِيرًا. أُحِبُّ الأَشْكَالَ الهَنْدَسِيَّةَ.</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all Arabs learn calligraphy?</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يَتَعَلَّمُ كُلُّ العَرَبِ الخَطَّ؟</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Not always — it varies from country to country, and only in some schools.</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لَيْسَ دَائِمًا؛ يَخْتَلِفُ ذٰلِكَ مِنْ بَلَدٍ إِلَى آخَرَ، وَفِي بَعْضِ المَدَارِسِ فَقَطْ.</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talk about MUSIC (the oud or the nay) the same way.</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لِأَنَّهَا تُعَبِّرُ عَنْ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 أَحْيَانًا / لَا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listen to Arabic music?</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تَسْتَمِعُ إِلَى المُوسِيقَى العَرَبِيَّةِ؟</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56648" y="3004718"/>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يُلْهِمُنِي … لِأَنَّ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art inspires you?</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الفَنُّ الَّذِي يُلْهِمُكَ؟</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وَكَانَ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زُرْتُ / حَضَرْتُ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Have you visited an exhibition or attended a concert?</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زُرْتَ مَعْرِضًا أَوْ حَضَرْتَ حَفْلَةً مُوسِيقِيَّةً؟</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56648" y="4478731"/>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يُؤَثِّرُ الفَنُّ فِي … لِأَنَّهُ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does art influence people?</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يُؤَثِّرُ الفَنُّ فِي النَّاسِ؟</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وَلٰكِنْ لَيْسَ دَائِمًا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رَأْيِي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Are traditional arts important today?</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الفُنُونُ التَّقْلِيدِيَّةُ مُهِمَّةٌ اليَوْمَ؟</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Role-play card — a young museum guide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مُرْشِدٌ فِي المَتْحَفِ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الآلَةُ ← هٰذَا … ، وَهُوَ آلَةٌ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 describe.</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هٰذِهِ الآلَةُ؟</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التَّعْبِيرُ ← يُعَبِّرُ عَنْ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it expresses.</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وَمَاذَا يُعَبِّرُ صَوْتُهُ؟</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fair answer.</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يَعْزِفُ عَلَيْهِ كُلُّ النَّاسِ فِي البِلَادِ العَرَبِيَّةِ؟</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Personal answer in the past.</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تَعْزِفُ أَنْتَ؟</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a young volunteer guide · Leader = a visitor.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an Arabic art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فَنٌّ عَرَبِيٌّ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Choose one art (calligraphy, arabesque, the oud, the nay, the duff). Talk for one minute: what it is, what it expresses, your experience of it, and a fair cultural comment.</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What it is + </a:t>
            </a:r>
            <a:pPr algn="l" indent="0" marL="0">
              <a:buNone/>
            </a:pPr>
            <a:r>
              <a:rPr lang="ar-SA" altLang="en-US" sz="1500" dirty="0">
                <a:solidFill>
                  <a:srgbClr val="1F2A37"/>
                </a:solidFill>
                <a:latin typeface="Amiri" pitchFamily="2" charset="-78"/>
                <a:ea typeface="Amiri" pitchFamily="2" charset="-78"/>
                <a:cs typeface="Amiri" pitchFamily="2" charset="-78"/>
              </a:rPr>
              <a:t>يُعَبِّرُ عَنْ</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يُؤَثِّرُ فِي / يُلْهِمُ</a:t>
            </a:r>
            <a:pPr algn="l" indent="0" marL="0">
              <a:buNone/>
            </a:pPr>
            <a:r>
              <a:rPr lang="en-US" sz="1150" dirty="0">
                <a:solidFill>
                  <a:srgbClr val="1F2A37"/>
                </a:solidFill>
                <a:latin typeface="Calibri" pitchFamily="34" charset="0"/>
                <a:cs typeface="Amiri" pitchFamily="2" charset="-78"/>
              </a:rPr>
              <a:t> and a past experience (</a:t>
            </a:r>
            <a:pPr algn="l" indent="0" marL="0">
              <a:buNone/>
            </a:pPr>
            <a:r>
              <a:rPr lang="ar-SA" altLang="en-US" sz="1500" dirty="0">
                <a:solidFill>
                  <a:srgbClr val="1F2A37"/>
                </a:solidFill>
                <a:latin typeface="Amiri" pitchFamily="2" charset="-78"/>
                <a:ea typeface="Amiri" pitchFamily="2" charset="-78"/>
                <a:cs typeface="Amiri" pitchFamily="2" charset="-78"/>
              </a:rPr>
              <a:t>زُرْتُ / حَضَرْتُ</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fair generalisation (</a:t>
            </a:r>
            <a:pPr algn="l" indent="0" marL="0">
              <a:buNone/>
            </a:pPr>
            <a:r>
              <a:rPr lang="ar-SA" altLang="en-US" sz="1500" dirty="0">
                <a:solidFill>
                  <a:srgbClr val="1F2A37"/>
                </a:solidFill>
                <a:latin typeface="Amiri" pitchFamily="2" charset="-78"/>
                <a:ea typeface="Amiri" pitchFamily="2" charset="-78"/>
                <a:cs typeface="Amiri" pitchFamily="2" charset="-78"/>
              </a:rPr>
              <a:t>فِي بَعْضِ البُلْدَانِ</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لَيْسَ دَائِمًا</a:t>
            </a:r>
            <a:pPr algn="l" indent="0" marL="0">
              <a:buNone/>
            </a:pPr>
            <a:r>
              <a:rPr lang="en-US" sz="1150" dirty="0">
                <a:solidFill>
                  <a:srgbClr val="1F2A37"/>
                </a:solidFill>
                <a:latin typeface="Calibri" pitchFamily="34" charset="0"/>
                <a:cs typeface="Amiri" pitchFamily="2" charset="-78"/>
              </a:rPr>
              <a:t>) and your opinion.</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Music expresses feelings.</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تُعَبِّرُ</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يُعَبِّرُ</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المُوسِيقَى</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المُوسِيقِيُّ</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 المَشَاعِرِ.</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المَشَاعِرَ.</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Calligraphy inspires young artists.</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يُلْهِمُ</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تُلْهِمُ</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الخَطُّ العَرَبِيُّ</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الخَطَّ العَرَبِيَّ</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الفَنَّانِينَ الشَّبَابَ.</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الفَنَّانُونَ الشَّبَابُ.</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Last year I attended a concert.</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العَامِ المَاضِي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العَامُ المَاضِي</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حَضَرْتُ</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أَحْضُرُ</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حَفْلَةً مُوسِيقِيَّةً.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حَفْلَةٌ مُوسِيقِيَّةٌ.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Music expresses feelings.</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Music = </a:t>
            </a:r>
            <a:pPr algn="l" indent="0" marL="0">
              <a:buNone/>
            </a:pPr>
            <a:r>
              <a:rPr lang="ar-SA" altLang="en-US" sz="1350" dirty="0">
                <a:solidFill>
                  <a:srgbClr val="5A6472"/>
                </a:solidFill>
                <a:latin typeface="Amiri" pitchFamily="2" charset="-78"/>
                <a:ea typeface="Amiri" pitchFamily="2" charset="-78"/>
                <a:cs typeface="Amiri" pitchFamily="2" charset="-78"/>
              </a:rPr>
              <a:t>المُوسِيقَى</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تُعَبِّرُ عَنْ</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المُوسِيقِيُّ</a:t>
            </a:r>
            <a:pPr algn="l" indent="0" marL="0">
              <a:buNone/>
            </a:pPr>
            <a:r>
              <a:rPr lang="en-US" sz="1050" i="1" dirty="0">
                <a:solidFill>
                  <a:srgbClr val="5A6472"/>
                </a:solidFill>
                <a:latin typeface="Calibri" pitchFamily="34" charset="0"/>
                <a:cs typeface="Amiri" pitchFamily="2" charset="-78"/>
              </a:rPr>
              <a:t> = the musician).</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تُعَبِّرُ المُوسِيقَى عَنِ المَشَاعِرِ.</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Calligraphy inspires young artists.</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Subject </a:t>
            </a:r>
            <a:pPr algn="l" indent="0" marL="0">
              <a:buNone/>
            </a:pPr>
            <a:r>
              <a:rPr lang="ar-SA" altLang="en-US" sz="1350" dirty="0">
                <a:solidFill>
                  <a:srgbClr val="5A6472"/>
                </a:solidFill>
                <a:latin typeface="Amiri" pitchFamily="2" charset="-78"/>
                <a:ea typeface="Amiri" pitchFamily="2" charset="-78"/>
                <a:cs typeface="Amiri" pitchFamily="2" charset="-78"/>
              </a:rPr>
              <a:t>خَطٌّ</a:t>
            </a:r>
            <a:pPr algn="l" indent="0" marL="0">
              <a:buNone/>
            </a:pPr>
            <a:r>
              <a:rPr lang="en-US" sz="1050" i="1" dirty="0">
                <a:solidFill>
                  <a:srgbClr val="5A6472"/>
                </a:solidFill>
                <a:latin typeface="Calibri" pitchFamily="34" charset="0"/>
                <a:cs typeface="Amiri" pitchFamily="2" charset="-78"/>
              </a:rPr>
              <a:t> (m.); object in the accusative (-īna).</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يُلْهِمُ الخَطُّ العَرَبِيُّ الفَنَّانِينَ الشَّبَابَ.</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Last year I attended a concert.</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Past time → past verb; object -an.</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فِي العَامِ المَاضِي حَضَرْتُ حَفْلَةً مُوسِيقِيَّةً.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الفَنُّ يُؤَثِّرُ النَّاسَ.</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Missing preposition.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كُلُّ العَرَبِ يَعْزِفُونَ عَلَى العُودِ.</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Too general!</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تُعَبِّرُ اللَّوْحَةُ الحُزْنَ.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Missing preposition.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الفَنُّ يُؤَثِّرُ النَّاسَ.</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الفَنُّ يُؤَثِّرُ فِي النَّاسِ.</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rtl="1" algn="r" indent="0" marL="0">
              <a:buNone/>
            </a:pPr>
            <a:r>
              <a:rPr lang="ar-SA" altLang="en-US" sz="1450" dirty="0">
                <a:solidFill>
                  <a:srgbClr val="1B3B6F"/>
                </a:solidFill>
                <a:latin typeface="Amiri" pitchFamily="2" charset="-78"/>
                <a:ea typeface="Amiri" pitchFamily="2" charset="-78"/>
                <a:cs typeface="Amiri" pitchFamily="2" charset="-78"/>
              </a:rPr>
              <a:t>يُؤَثِّرُ فِي …</a:t>
            </a:r>
            <a:endParaRPr lang="ar-SA" sz="14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كُلُّ العَرَبِ يَعْزِفُونَ عَلَى العُودِ.</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بَعْضُ العَرَبِ يَعْزِفُونَ عَلَى العُودِ.</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Describe cultures fairly: </a:t>
            </a:r>
            <a:pPr algn="l" indent="0" marL="0">
              <a:buNone/>
            </a:pPr>
            <a:r>
              <a:rPr lang="ar-SA" altLang="en-US" sz="1500" b="1" dirty="0">
                <a:solidFill>
                  <a:srgbClr val="1B3B6F"/>
                </a:solidFill>
                <a:latin typeface="Amiri" pitchFamily="2" charset="-78"/>
                <a:ea typeface="Amiri" pitchFamily="2" charset="-78"/>
                <a:cs typeface="Amiri" pitchFamily="2" charset="-78"/>
              </a:rPr>
              <a:t>بَعْضُ / أَحْيَانًا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تُعَبِّرُ اللَّوْحَةُ الحُزْنَ.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تُعَبِّرُ اللَّوْحَةُ عَنِ الحُزْنِ.</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rtl="1" algn="r" indent="0" marL="0">
              <a:buNone/>
            </a:pPr>
            <a:r>
              <a:rPr lang="ar-SA" altLang="en-US" sz="1450" dirty="0">
                <a:solidFill>
                  <a:srgbClr val="1B3B6F"/>
                </a:solidFill>
                <a:latin typeface="Amiri" pitchFamily="2" charset="-78"/>
                <a:ea typeface="Amiri" pitchFamily="2" charset="-78"/>
                <a:cs typeface="Amiri" pitchFamily="2" charset="-78"/>
              </a:rPr>
              <a:t>يُعَبِّرُ عَنْ …</a:t>
            </a:r>
            <a:endParaRPr lang="ar-SA" sz="14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أَثَّرَ فِيَّ ______ ، لِأَنَّ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moved me, because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فِي بَعْضِ البُلْدَانِ ______ ، وَلٰكِنْ لَيْسَ دَائِمًا.</a:t>
            </a:r>
            <a:endParaRPr lang="ar-SA" sz="17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some countries …, but not always.</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فِي ______ زُرْتُ / حَضَرْتُ ______ فِي ______ .</a:t>
            </a:r>
            <a:endParaRPr lang="ar-SA" sz="17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 I visited / attended … in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رَأَيْتُ / سَمِعْتُ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saw / heard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تُعَبِّرُ / يُعَبِّرُ عَنْ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expresses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تَقْيِيمِي ______ مِنْ خَمْسَةٍ.</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rating is … out of five.</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العُودُ · النَّايُ · الدُّفُّ  ·  الخَطُّ العَرَبِيُّ  ·  زَخْرَفَةٌ  ·  مَعْرِضٌ · حَفْلَةٌ مُوسِيقِيَّةٌ  ·  فَنَّانٌ · فَنَّانَةٌ  ·  يُعَبِّرُ عَنْ  ·  يُؤَثِّرُ فِي · يُلْهِمُ  ·  فِي بَعْضِ البُلْدَانِ</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review: an exhibition or concert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تَقْيِيمُ مَعْرِضٍ أَوْ حَفْلَةٍ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review (about 60–80 words) of an exhibition or concert you attended (real or imagined). Include: • where and when (past) • what you saw or heard (two arts words) • what it expressed (</a:t>
            </a:r>
            <a:pPr algn="l" indent="0" marL="0">
              <a:buNone/>
            </a:pPr>
            <a:r>
              <a:rPr lang="ar-SA" altLang="en-US" sz="1450" b="1" dirty="0">
                <a:solidFill>
                  <a:srgbClr val="1F2A37"/>
                </a:solidFill>
                <a:latin typeface="Amiri" pitchFamily="2" charset="-78"/>
                <a:ea typeface="Amiri" pitchFamily="2" charset="-78"/>
                <a:cs typeface="Amiri" pitchFamily="2" charset="-78"/>
              </a:rPr>
              <a:t>يُعَبِّرُ عَنْ</a:t>
            </a:r>
            <a:pPr algn="l" indent="0" marL="0">
              <a:buNone/>
            </a:pPr>
            <a:r>
              <a:rPr lang="en-US" sz="1100" b="1" dirty="0">
                <a:solidFill>
                  <a:srgbClr val="1F2A37"/>
                </a:solidFill>
                <a:latin typeface="Calibri" pitchFamily="34" charset="0"/>
                <a:cs typeface="Amiri" pitchFamily="2" charset="-78"/>
              </a:rPr>
              <a:t> …) and how it affected you (</a:t>
            </a:r>
            <a:pPr algn="l" indent="0" marL="0">
              <a:buNone/>
            </a:pPr>
            <a:r>
              <a:rPr lang="ar-SA" altLang="en-US" sz="1450" b="1" dirty="0">
                <a:solidFill>
                  <a:srgbClr val="1F2A37"/>
                </a:solidFill>
                <a:latin typeface="Amiri" pitchFamily="2" charset="-78"/>
                <a:ea typeface="Amiri" pitchFamily="2" charset="-78"/>
                <a:cs typeface="Amiri" pitchFamily="2" charset="-78"/>
              </a:rPr>
              <a:t>أَثَّرَ فِيَّ / أَلْهَمَنِي</a:t>
            </a:r>
            <a:pPr algn="l" indent="0" marL="0">
              <a:buNone/>
            </a:pPr>
            <a:r>
              <a:rPr lang="en-US" sz="1100" b="1" dirty="0">
                <a:solidFill>
                  <a:srgbClr val="1F2A37"/>
                </a:solidFill>
                <a:latin typeface="Calibri" pitchFamily="34" charset="0"/>
                <a:cs typeface="Amiri" pitchFamily="2" charset="-78"/>
              </a:rPr>
              <a:t>) • one fair cultural comment • a rating.</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زُرْتُ مَعْرِضًا … · حَضَرْتُ حَفْلَةً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visited an exhibition … · I attended a concert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تُعَبِّرُ عَنْ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expresses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أَثَّرَ فِيَّ … · أَلْهَمَنِي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moved me … · it inspired me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بَعْضِ البُلْدَانِ … · لَيْسَ دَائِمًا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some countries … · not always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يُعَبِّرُ عَنْ / يُؤَثِّرُ فِي</a:t>
            </a:r>
            <a:pPr algn="l" indent="0" marL="0">
              <a:buNone/>
            </a:pPr>
            <a:r>
              <a:rPr lang="en-US" sz="1100" dirty="0">
                <a:solidFill>
                  <a:srgbClr val="5A6472"/>
                </a:solidFill>
                <a:latin typeface="Calibri" pitchFamily="34" charset="0"/>
                <a:cs typeface="Amiri" pitchFamily="2" charset="-78"/>
              </a:rPr>
              <a:t> with the right prepositions?</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a past experience and make a fair, not general, cultural comment?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هٰذَا العُودُ، وَهُوَ آلَةٌ وَتَرِيَّةٌ قَدِيمَةٌ جِدًّا.</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This is the oud — a very old string instrument.</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هٰذِهِ الآلَةُ؟</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يُعَبِّرُ عَنِ الحُزْنِ وَالفَرَحِ، وَيُؤَثِّرُ فِي القَلْبِ.</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expresses sadness and joy, and moves the heart.</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وَمَاذَا يُعَبِّرُ صَوْتُهُ؟</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لَيْسَ دَائِمًا؛ هُوَ مَشْهُورٌ فِي بَعْضِ البُلْدَانِ أَكْثَرَ مِنْ غَيْرِهَا.</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Not always — it is more popular in some countries than others.</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يَعْزِفُ عَلَيْهِ كُلُّ النَّاسِ فِي البِلَادِ العَرَبِيَّةِ؟</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تَعَلَّمْتُ قَلِيلًا الصَّيْفَ المَاضِيَ مَعَ جَدِّي، وَمَا زِلْتُ أَتَدَرَّبُ.</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learned a little last summer with my grandfather, and I’m still practising.</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تَعْزِفُ أَنْتَ؟</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الشَّهْرِ المَاضِي حَضَرْتُ حَفْلَةً مُوسِيقِيَّةً فِي مَرْكَزِ الثَّقَافَةِ العَرَبِيَّةِ فِي لَنْدَنَ. عَزَفَتْ فِرْقَةٌ مِنْ تُونِسَ عَلَى العُودِ وَالنَّايِ وَالدُّفِّ. كَانَتِ المُوسِيقَى تُعَبِّرُ عَنِ الحَنِينِ إِلَى الوَطَنِ، وَأَثَّرَتْ فِيَّ كَثِيرًا، لِأَنَّهَا ذَكَّرَتْنِي بِجَدَّتِي. فِي الاسْتِرَاحَةِ رَأَيْتُ مَعْرِضًا صَغِيرًا لِلْخَطِّ العَرَبِيِّ، وَأَلْهَمَنِي أَنْ أَتَعَلَّمَهُ. هٰذِهِ المُوسِيقَى مَشْهُورَةٌ فِي بَعْضِ البُلْدَانِ أَكْثَرَ مِنْ غَيْرِهَا، وَلٰكِنَّهَا جَمِيلَةٌ لِلْجَمِيعِ. تَقْيِيمِي خَمْسَةٌ مِنْ خَمْسَةٍ!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“Last month I attended a concert at the Arab Cultural Centre in London. A band from Tunisia played the oud, the nay and the duff. The music expressed longing for home, and it moved me a lot, because it reminded me of my grandmother. In the interval I saw a small calligraphy exhibition, and it inspired me to learn it. This music is more popular in some countries than others, but it is beautiful for everyone. My rating: five out of five!”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حَضَرْتُ حَفْلَةً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تُعَبِّرُ عَنِ الحَنِينِ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وَأَثَّرَتْ فِيَّ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بَعْضِ البُلْدَانِ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D5-L06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D5-L06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00" b="1" dirty="0">
                <a:solidFill>
                  <a:srgbClr val="FFFFFF"/>
                </a:solidFill>
                <a:latin typeface="Cambria" pitchFamily="34" charset="0"/>
                <a:cs typeface="Amiri" pitchFamily="2" charset="-78"/>
              </a:rPr>
              <a:t>D5-L07 · Holidays and Travel — Past and Future</a:t>
            </a:r>
            <a:endParaRPr lang="en-US" sz="21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الإِجَازَاتُ وَالسَّفَرُ — المَاضِي وَالمُسْتَقْبَلُ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D5-L06 · Practice Room — Music, Arts and Arabic Culture</dc:title>
  <dc:subject>PptxGenJS Presentation</dc:subject>
  <dc:creator>Al Madina Online School · Arabic Department</dc:creator>
  <cp:lastModifiedBy>Al Madina Online School · Arabic Department</cp:lastModifiedBy>
  <cp:revision>1</cp:revision>
  <dcterms:created xsi:type="dcterms:W3CDTF">2026-10-25T18:40:00Z</dcterms:created>
  <dcterms:modified xsi:type="dcterms:W3CDTF">2026-10-25T18:40:00Z</dcterms:modified>
</cp:coreProperties>
</file>