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D5-L07 (Holidays and Travel — Past and Future) — new practice tasks built on the lesson’s own word bank and grammar (the trip in the past: sāfartu ilā · aqamtu fī · zurtu · ḥajaztu · istamtaʿtu bi- · ʿudtu; judging it: kānat min ajmali al-riḥlāt; switching cleanly to the future: sa-azūru · sawfa naḥjizu · anwī an …; time markers decide the tense (al-ṣayfa al-māḍiya ↔ al-ṣayfa al-qādima)).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agent to a girl: تُرِيدِينَ · زُرْتِهَا · تُفَضِّلِينَ. Past for what happened (zurtu), future for the plan (sa-usāfiru); the time marker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Holidays and Travel — Past and Future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الإِجَازَاتُ وَالسَّفَرُ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holidays: say the travel verbs, act a past-and-future holiday dialogue, answer question cards, do a role-play card at a travel agency, give a one-minute “last holiday, next holiday” talk, then build, fix and write a holiday email in two tenses.</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D5-L07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سَافَرَ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travelled to</a:t>
            </a:r>
            <a:endParaRPr lang="en-US" sz="1350" dirty="0"/>
          </a:p>
          <a:p>
            <a:pPr indent="0" marL="0">
              <a:buNone/>
            </a:pPr>
            <a:r>
              <a:rPr lang="en-US" sz="1100" i="1" dirty="0">
                <a:solidFill>
                  <a:srgbClr val="5A6472"/>
                </a:solidFill>
                <a:latin typeface="Calibri" pitchFamily="34" charset="0"/>
                <a:cs typeface="Amiri" pitchFamily="2" charset="-78"/>
              </a:rPr>
              <a:t>sā-fa-ra i-lā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زَارَ / زُرْتُ</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visited / I visited</a:t>
            </a:r>
            <a:endParaRPr lang="en-US" sz="1350" dirty="0"/>
          </a:p>
          <a:p>
            <a:pPr indent="0" marL="0">
              <a:buNone/>
            </a:pPr>
            <a:r>
              <a:rPr lang="en-US" sz="1100" i="1" dirty="0">
                <a:solidFill>
                  <a:srgbClr val="5A6472"/>
                </a:solidFill>
                <a:latin typeface="Calibri" pitchFamily="34" charset="0"/>
                <a:cs typeface="Amiri" pitchFamily="2" charset="-78"/>
              </a:rPr>
              <a:t>zā-ra / zur-tu</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زَارَتْ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زُرْتُ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أَقَامَ فِي / أَقَمْتُ فِي</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stayed in / I stayed in</a:t>
            </a:r>
            <a:endParaRPr lang="en-US" sz="1350" dirty="0"/>
          </a:p>
          <a:p>
            <a:pPr indent="0" marL="0">
              <a:buNone/>
            </a:pPr>
            <a:r>
              <a:rPr lang="en-US" sz="1100" i="1" dirty="0">
                <a:solidFill>
                  <a:srgbClr val="5A6472"/>
                </a:solidFill>
                <a:latin typeface="Calibri" pitchFamily="34" charset="0"/>
                <a:cs typeface="Amiri" pitchFamily="2" charset="-78"/>
              </a:rPr>
              <a:t>a-qā-ma fī / a-qam-tu fī</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أَقَامَتْ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أَقَمْتُ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حَجَزَ</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booked</a:t>
            </a:r>
            <a:endParaRPr lang="en-US" sz="1350" dirty="0"/>
          </a:p>
          <a:p>
            <a:pPr indent="0" marL="0">
              <a:buNone/>
            </a:pPr>
            <a:r>
              <a:rPr lang="en-US" sz="1100" i="1" dirty="0">
                <a:solidFill>
                  <a:srgbClr val="5A6472"/>
                </a:solidFill>
                <a:latin typeface="Calibri" pitchFamily="34" charset="0"/>
                <a:cs typeface="Amiri" pitchFamily="2" charset="-78"/>
              </a:rPr>
              <a:t>ḥa-ja-za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حَجَزَتْ</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حَجَزْتُ</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اسْتَمْتَعَ بِـ</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enjoyed</a:t>
            </a:r>
            <a:endParaRPr lang="en-US" sz="1350" dirty="0"/>
          </a:p>
          <a:p>
            <a:pPr indent="0" marL="0">
              <a:buNone/>
            </a:pPr>
            <a:r>
              <a:rPr lang="en-US" sz="1100" i="1" dirty="0">
                <a:solidFill>
                  <a:srgbClr val="5A6472"/>
                </a:solidFill>
                <a:latin typeface="Calibri" pitchFamily="34" charset="0"/>
                <a:cs typeface="Amiri" pitchFamily="2" charset="-78"/>
              </a:rPr>
              <a:t>as-tam-ta-ʿa bi</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اسْتَمْتَعَتْ</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 / عُدْتُ</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returned / I returned</a:t>
            </a:r>
            <a:endParaRPr lang="en-US" sz="1350" dirty="0"/>
          </a:p>
          <a:p>
            <a:pPr indent="0" marL="0">
              <a:buNone/>
            </a:pPr>
            <a:r>
              <a:rPr lang="en-US" sz="1100" i="1" dirty="0">
                <a:solidFill>
                  <a:srgbClr val="5A6472"/>
                </a:solidFill>
                <a:latin typeface="Calibri" pitchFamily="34" charset="0"/>
                <a:cs typeface="Amiri" pitchFamily="2" charset="-78"/>
              </a:rPr>
              <a:t>ʿā-da / ʿud-tu</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عَادَتْ</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عُدْتُ</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and judgements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airport</a:t>
            </a:r>
            <a:endParaRPr lang="en-US" sz="1350" dirty="0"/>
          </a:p>
          <a:p>
            <a:pPr indent="0" marL="0">
              <a:buNone/>
            </a:pPr>
            <a:r>
              <a:rPr lang="en-US" sz="1100" i="1" dirty="0">
                <a:solidFill>
                  <a:srgbClr val="5A6472"/>
                </a:solidFill>
                <a:latin typeface="Calibri" pitchFamily="34" charset="0"/>
                <a:cs typeface="Amiri" pitchFamily="2" charset="-78"/>
              </a:rPr>
              <a:t>al-ma-ṭā-ru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الفُنْدُقُ</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hotel</a:t>
            </a:r>
            <a:endParaRPr lang="en-US" sz="1350" dirty="0"/>
          </a:p>
          <a:p>
            <a:pPr indent="0" marL="0">
              <a:buNone/>
            </a:pPr>
            <a:r>
              <a:rPr lang="en-US" sz="1100" i="1" dirty="0">
                <a:solidFill>
                  <a:srgbClr val="5A6472"/>
                </a:solidFill>
                <a:latin typeface="Calibri" pitchFamily="34" charset="0"/>
                <a:cs typeface="Amiri" pitchFamily="2" charset="-78"/>
              </a:rPr>
              <a:t>al-fun-du-qu</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الفَنَادِقُ</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الشَّاطِئُ</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beach</a:t>
            </a:r>
            <a:endParaRPr lang="en-US" sz="1350" dirty="0"/>
          </a:p>
          <a:p>
            <a:pPr indent="0" marL="0">
              <a:buNone/>
            </a:pPr>
            <a:r>
              <a:rPr lang="en-US" sz="1100" i="1" dirty="0">
                <a:solidFill>
                  <a:srgbClr val="5A6472"/>
                </a:solidFill>
                <a:latin typeface="Calibri" pitchFamily="34" charset="0"/>
                <a:cs typeface="Amiri" pitchFamily="2" charset="-78"/>
              </a:rPr>
              <a:t>ash-shā-ṭi-ʾu</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trip</a:t>
            </a:r>
            <a:endParaRPr lang="en-US" sz="1350" dirty="0"/>
          </a:p>
          <a:p>
            <a:pPr indent="0" marL="0">
              <a:buNone/>
            </a:pPr>
            <a:r>
              <a:rPr lang="en-US" sz="1100" i="1" dirty="0">
                <a:solidFill>
                  <a:srgbClr val="5A6472"/>
                </a:solidFill>
                <a:latin typeface="Calibri" pitchFamily="34" charset="0"/>
                <a:cs typeface="Amiri" pitchFamily="2" charset="-78"/>
              </a:rPr>
              <a:t>riḥ-la-tun</a:t>
            </a:r>
            <a:endParaRPr lang="en-US" sz="1350" dirty="0"/>
          </a:p>
        </p:txBody>
      </p:sp>
      <p:sp>
        <p:nvSpPr>
          <p:cNvPr id="50" name="Shape 4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رِحْلَاتٌ</a:t>
            </a:r>
            <a:endParaRPr lang="ar-SA" sz="150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 لَا تُنْسَى</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trip</a:t>
            </a:r>
            <a:endParaRPr lang="en-US" sz="1350" dirty="0"/>
          </a:p>
          <a:p>
            <a:pPr indent="0" marL="0">
              <a:buNone/>
            </a:pPr>
            <a:r>
              <a:rPr lang="en-US" sz="1100" i="1" dirty="0">
                <a:solidFill>
                  <a:srgbClr val="5A6472"/>
                </a:solidFill>
                <a:latin typeface="Calibri" pitchFamily="34" charset="0"/>
                <a:cs typeface="Amiri" pitchFamily="2" charset="-78"/>
              </a:rPr>
              <a:t>riḥ-la-tun lā tun-sā</a:t>
            </a:r>
            <a:endParaRPr lang="en-US" sz="1350" dirty="0"/>
          </a:p>
        </p:txBody>
      </p:sp>
      <p:sp>
        <p:nvSpPr>
          <p:cNvPr id="60" name="Text 57"/>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present verb used as a description.</a:t>
            </a:r>
            <a:endParaRPr lang="en-US" sz="100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سَأَزُورُ مَرَّةً أُخْرَى</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visit again</a:t>
            </a:r>
            <a:endParaRPr lang="en-US" sz="1350" dirty="0"/>
          </a:p>
          <a:p>
            <a:pPr indent="0" marL="0">
              <a:buNone/>
            </a:pPr>
            <a:r>
              <a:rPr lang="en-US" sz="1100" i="1" dirty="0">
                <a:solidFill>
                  <a:srgbClr val="5A6472"/>
                </a:solidFill>
                <a:latin typeface="Calibri" pitchFamily="34" charset="0"/>
                <a:cs typeface="Amiri" pitchFamily="2" charset="-78"/>
              </a:rPr>
              <a:t>sa-ʾa-zū-ru mar-ra-tan ukh-rā</a:t>
            </a:r>
            <a:endParaRPr lang="en-US" sz="1350" dirty="0"/>
          </a:p>
        </p:txBody>
      </p:sp>
      <p:sp>
        <p:nvSpPr>
          <p:cNvPr id="68" name="Text 65"/>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سَـ</a:t>
            </a:r>
            <a:pPr algn="l" indent="0" marL="0">
              <a:buNone/>
            </a:pPr>
            <a:r>
              <a:rPr lang="en-US" sz="1000" i="1" dirty="0">
                <a:solidFill>
                  <a:srgbClr val="8A6D1E"/>
                </a:solidFill>
                <a:latin typeface="Calibri" pitchFamily="34" charset="0"/>
                <a:cs typeface="Amiri" pitchFamily="2" charset="-78"/>
              </a:rPr>
              <a:t> attaches to the present verb.</a:t>
            </a:r>
            <a:endParaRPr lang="en-US" sz="10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Last summer and next summer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الصَّيْفُ المَاضِي وَالصَّيْفُ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spend last summer’s holiday?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قَضَيْتَ إِجَازَةَ الصَّيْفِ المَاضِي؟</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travelled to Morocco with my family, and we stayed in a hotel near the sea.</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سَافَرْتُ إِلَى المَغْرِبِ مَعَ عَائِلَتِي، وَأَقَمْنَا فِي فُنْدُقٍ قُرْبَ البَحْرِ.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did you visit?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زُرْتُمْ؟</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visited Marrakesh and enjoyed the markets. It was one of the best trips!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زُرْنَا مَرَّاكُشَ وَاسْتَمْتَعْنَا بِالأَسْوَاقِ. كَانَتْ مِنْ أَجْمَلِ الرِّحْلَاتِ!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next summer?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وَالصَّيْفَ القَادِمَ؟</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visit my grandmother in Jordan, and we will book the tickets soon.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سَأَزُورُ جَدَّتِي فِي الأُرْدُنِّ، وَسَوْفَ نَحْجِزُ التَّذَاكِرَ قَرِيبًا.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YOUR last holiday and your next — the time word decides the tense!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سَافَرْتُ إِلَى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travel on your last holiday?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سَافَرْتَ فِي آخِرِ إِجَازَةٍ؟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وَكَانَ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أَقَمْنَا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stay?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أَقَمْتُمْ؟</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اسْتَمْتَعْتُ بِ…</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enjoy most?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اسْتَمْتَعْتَ أَكْثَرَ؟</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فِي النِّهَايَةِ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 لَا،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Did a problem happen on the trip?</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حَدَثَتْ مُشْكِلَةٌ فِي الرِّحْلَةِ؟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سَأُسَافِرُ إِلَى … / أَنْوِي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will you go next holiday?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سَتَذْهَبُ فِي الإِجَازَةِ القَادِمَةِ؟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at the travel agency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وَكَالَةِ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سَأُسَافِرُ إِلَى …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 when (future).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أَيْنَ تُرِيدُ أَنْ تُسَافِرَ؟</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المَاضِي ← نَعَمْ، زُرْتُهَا … / لَا، لَمْ أَزُرْهَا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experience.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زُرْتَهَا مِنْ قَبْلُ؟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Preference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نَوْعٍ مِنَ الفَنَادِقِ تُفَضِّلُ؟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Change the plan.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لِلْأَسَفِ، الرِّحْلَاتُ فِي الرَّبِيعِ مَحْجُوزَةٌ!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customer · Leader = the travel agent.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One minute: last holiday, next holiday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إِجَازَتِي المَاضِيَةُ وَالقَادِمَةُ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your last holiday (where, stayed, visited, enjoyed, judgement) then your next holiday plan.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past verbs + two future verbs.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judgement (</a:t>
            </a:r>
            <a:pPr algn="l" indent="0" marL="0">
              <a:buNone/>
            </a:pPr>
            <a:r>
              <a:rPr lang="ar-SA" altLang="en-US" sz="1500" dirty="0">
                <a:solidFill>
                  <a:srgbClr val="1F2A37"/>
                </a:solidFill>
                <a:latin typeface="Amiri" pitchFamily="2" charset="-78"/>
                <a:ea typeface="Amiri" pitchFamily="2" charset="-78"/>
                <a:cs typeface="Amiri" pitchFamily="2" charset="-78"/>
              </a:rPr>
              <a:t>كَانَتْ مِنْ أَجْمَلِ</a:t>
            </a:r>
            <a:pPr algn="l" indent="0" marL="0">
              <a:buNone/>
            </a:pPr>
            <a:r>
              <a:rPr lang="en-US" sz="1150" dirty="0">
                <a:solidFill>
                  <a:srgbClr val="1F2A37"/>
                </a:solidFill>
                <a:latin typeface="Calibri" pitchFamily="34" charset="0"/>
                <a:cs typeface="Amiri" pitchFamily="2" charset="-78"/>
              </a:rPr>
              <a:t> …) and a reason for the next trip.</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problem in the past and a condition for the future (</a:t>
            </a:r>
            <a:pPr algn="l" indent="0" marL="0">
              <a:buNone/>
            </a:pPr>
            <a:r>
              <a:rPr lang="ar-SA" altLang="en-US" sz="1500" dirty="0">
                <a:solidFill>
                  <a:srgbClr val="1F2A37"/>
                </a:solidFill>
                <a:latin typeface="Amiri" pitchFamily="2" charset="-78"/>
                <a:ea typeface="Amiri" pitchFamily="2" charset="-78"/>
                <a:cs typeface="Amiri" pitchFamily="2" charset="-78"/>
              </a:rPr>
              <a:t>إِذَا … فَسَوْفَ</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stayed in a hotel near the beach.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أَقَمْنَا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أَقَامْنَا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فُنْدُقٍ</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فُنْدُقٌ</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الشَّاطِئِ.</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الشَّاطِئِ.</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was one of the most beautiful trips.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أَجْمَلِ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أَجْمَلُ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الرِّحْلَاتِ.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الرِّحْلَاتُ.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Next summer I will visit Egypt.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الصَّيْفَ القَادِمَ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الصَّيْفَ المَاضِيَ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سَأَزُورُ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زُرْتُ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stayed in a hotel near the beach.</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أَقَامَ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أَقَمْنَا</a:t>
            </a:r>
            <a:pPr algn="l" indent="0" marL="0">
              <a:buNone/>
            </a:pPr>
            <a:r>
              <a:rPr lang="en-US" sz="1050" i="1" dirty="0">
                <a:solidFill>
                  <a:srgbClr val="5A6472"/>
                </a:solidFill>
                <a:latin typeface="Calibri" pitchFamily="34" charset="0"/>
                <a:cs typeface="Amiri" pitchFamily="2" charset="-78"/>
              </a:rPr>
              <a:t> (short vowel before -nā).</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أَقَمْنَا فِي فُنْدُقٍ قُرْبَ الشَّاطِئِ.</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was one of the most beautiful trips.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رِحْلَةٌ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كَانَتْ</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كَانَتْ مِنْ أَجْمَلِ الرِّحْلَاتِ.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Next summer I will visit Egypt.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Future time → future 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الصَّيْفَ القَادِمَ سَأَزُورُ مِصْرَ.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الصَّيْفَ المَاضِيَ سَأُسَافِرُ إِلَى تُونِسَ.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Time word vs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اسْتَمْتَعْتُ الرِّحْلَةَ كَثِيرًا.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زَارْتُ المَتْحَفَ.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Hollow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الصَّيْفَ المَاضِيَ سَأُسَافِرُ إِلَى تُونِسَ.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الصَّيْفَ المَاضِيَ سَافَرْتُ إِلَى تُونِسَ.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time → past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اسْتَمْتَعْتُ الرِّحْلَةَ كَثِيرًا.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اسْتَمْتَعْتُ بِالرِّحْلَةِ كَثِيرًا.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اسْتَمْتَعَ 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زَارْتُ المَتْحَفَ.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زُرْتُ المَتْحَفَ.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زَارَ → زُرْتُ.</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اسْتَمْتَعْتُ بِ______ ، وَلٰكِنَّ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enjoyed …,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سَوْفَ نَحْجِزُ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will book … so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سَافَرْتُ إِلَى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summer I travelled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أَقَمْنَا فِي ______ ، وَزُرْنَا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stayed in …, and visited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______ مِنْ أَجْمَلِ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was one of the best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الإِجَازَةِ القَادِمَةِ سَأُسَافِرُ إِلَى ______ .</a:t>
            </a:r>
            <a:endParaRPr lang="ar-SA" sz="17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holiday I will travel to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سَافَرْتُ إِلَى  ·  زُرْتُ · زُرْنَا  ·  أَقَمْتُ · أَقَمْنَا فِي  ·  حَجَزْنَا  ·  اسْتَمْتَعْتُ بِ…  ·  عُدْنَا  ·  المَطَارُ · الفُنْدُقُ · الشَّاطِئُ  ·  سَأَزُورُ · سَوْفَ نَحْجِزُ</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holiday email in two tenses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إِجَازَتَيْنِ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an email (about 60–80 words) to a friend. Part 1 (past): where you went, where you stayed, what you visited, what you enjoyed, and a judgement. Part 2 (future): your next holiday — where, with whom and why. Use time markers to switch tenses cleanly.</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سَافَرْتُ إِلَى … · أَقَمْنَا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travelled to … · we stayed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زُرْنَا … · اسْتَمْتَعْتُ 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visited … · I enjoyed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one of the best trips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سَأَ…</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holiday I will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the trip in the past and the plan in the future?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hollow verbs correctly (</a:t>
            </a:r>
            <a:pPr algn="l" indent="0" marL="0">
              <a:buNone/>
            </a:pPr>
            <a:r>
              <a:rPr lang="ar-SA" altLang="en-US" sz="1450" dirty="0">
                <a:solidFill>
                  <a:srgbClr val="5A6472"/>
                </a:solidFill>
                <a:latin typeface="Amiri" pitchFamily="2" charset="-78"/>
                <a:ea typeface="Amiri" pitchFamily="2" charset="-78"/>
                <a:cs typeface="Amiri" pitchFamily="2" charset="-78"/>
              </a:rPr>
              <a:t>زُرْتُ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أَقَمْنَا</a:t>
            </a:r>
            <a:pPr algn="l" indent="0" marL="0">
              <a:buNone/>
            </a:pPr>
            <a:r>
              <a:rPr lang="en-US" sz="1100" dirty="0">
                <a:solidFill>
                  <a:srgbClr val="5A6472"/>
                </a:solidFill>
                <a:latin typeface="Calibri" pitchFamily="34" charset="0"/>
                <a:cs typeface="Amiri" pitchFamily="2" charset="-78"/>
              </a:rPr>
              <a:t>) and a judgement with </a:t>
            </a:r>
            <a:pPr algn="l" indent="0" marL="0">
              <a:buNone/>
            </a:pPr>
            <a:r>
              <a:rPr lang="ar-SA" altLang="en-US" sz="1450" dirty="0">
                <a:solidFill>
                  <a:srgbClr val="5A6472"/>
                </a:solidFill>
                <a:latin typeface="Amiri" pitchFamily="2" charset="-78"/>
                <a:ea typeface="Amiri" pitchFamily="2" charset="-78"/>
                <a:cs typeface="Amiri" pitchFamily="2" charset="-78"/>
              </a:rPr>
              <a:t>مِنْ أَجْمَلِ</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سَأُسَافِرُ إِلَى إِسْطَنْبُولَ فِي إِجَازَةِ الرَّبِيعِ.</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travel to Istanbul in the spring holiday.</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أَيْنَ تُرِيدُ أَنْ تُسَافِرَ؟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زُرْتُهَا قَبْلَ سَنَتَيْنِ، وَاسْتَمْتَعْتُ بِالمَسَاجِدِ القَدِيمَةِ.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visited two years ago, and I enjoyed the old mosques.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زُرْتَهَا مِنْ قَبْلُ؟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فُنْدُقًا صَغِيرًا فِي وَسَطِ المَدِينَةِ، لِكَيْ أَمْشِيَ إِلَى كُلِّ مَكَانٍ.</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a small hotel in the centre, so I can walk everywhere.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نَوْعٍ مِنَ الفَنَادِقِ تُفَضِّلُ؟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بَأْسَ؛ إِذَنْ سَأَحْجِزُ لِلصَّيْفِ بَدَلًا مِنَ الرَّبِيعِ.</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problem — then I will book for the summer instead of the spring.</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لِلْأَسَفِ، الرِّحْلَاتُ فِي الرَّبِيعِ مَحْجُوزَةٌ!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مَرْحَبًا يَا لَيْلَى،</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الصَّيْفِ المَاضِي سَافَرْتُ إِلَى مَالِيزْيَا مَعَ عَائِلَتِي. أَقَمْنَا فِي فُنْدُقٍ جَمِيلٍ قُرْبَ الشَّاطِئِ، وَزُرْنَا المَسْجِدَ الوَطَنِيَّ وَالغَابَاتِ الاسْتِوَائِيَّةَ. اسْتَمْتَعْتُ بِالطَّعَامِ كَثِيرًا، وَلٰكِنَّ الجَوَّ كَانَ رَطْبًا جِدًّا. كَانَتْ مِنْ أَجْمَلِ الرِّحْلَاتِ فِي حَيَاتِي! فِي الإِجَازَةِ القَادِمَةِ سَأُسَافِرُ إِلَى المَدِينَةِ المُنَوَّرَةِ مَعَ أَبِي، وَسَوْفَ نَحْجِزُ الفُنْدُقَ مُبَكِّرًا لِكَيْ يَكُونَ قَرِيبًا مِنَ المَسْجِدِ.</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إِلَى اللِّقَاءِ، سَارَةُ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Layla, last summer I travelled to Malaysia with my family. We stayed in a lovely hotel near the beach, and visited the National Mosque and the rainforests. I enjoyed the food a lot, but the weather was very humid. It was one of the best trips of my life! Next holiday I will travel to Madinah with my father, and we will book the hotel early so it is close to the mosque. See you, Sara.”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سَافَرْتُ إِلَى مَالِيزْيَا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أَقَمْنَا فِي فُنْدُقٍ</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مِنْ أَجْمَلِ الرِّحْلَاتِ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سَأُسَافِرُ إِلَى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D5-L08 · Reading — Leisure, Sport and Past Experience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التَّرْفِيهِ وَالرِّيَاضَةِ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D5-L07 · Practice Room — Holidays and Travel — Past and Future</dc:title>
  <dc:subject>PptxGenJS Presentation</dc:subject>
  <dc:creator>Al Madina Online School · Arabic Department</dc:creator>
  <cp:lastModifiedBy>Al Madina Online School · Arabic Department</cp:lastModifiedBy>
  <cp:revision>1</cp:revision>
  <dcterms:created xsi:type="dcterms:W3CDTF">2026-10-25T18:41:44Z</dcterms:created>
  <dcterms:modified xsi:type="dcterms:W3CDTF">2026-10-25T18:41:44Z</dcterms:modified>
</cp:coreProperties>
</file>