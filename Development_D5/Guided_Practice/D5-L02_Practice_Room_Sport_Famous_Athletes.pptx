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D5-L02 (Sport — Vocabulary, Famous Athletes and Cultural Context) — new practice tasks built on the lesson’s own word bank and grammar (results in the past: fāza bi- (a title) · fāza ʿalā (an opponent) · khasira · taʿādala maʿa; rules: yajibu ʿalā al-lāʿibi an … · mamnūʿun an … · lā yajūzu; admiring an athlete: uʿjabu bi- … li-annahu / li-annahā …; scores (bi-natījati ithnayni li-wāḥid)).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D5-L02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to a girl: تُعْجَبِينَ · مُبَارَاتُكُنَّ · قَائِدَةِ فَرِيقِنَا لِأَنَّهَا تُشَجِّعُنَا. fāza ʿalā + team · fāza bi- + title · mamnūʿun an +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(59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D5  ·  D5-L02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D5-L02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Sport — Vocabulary, Famous Athletes and Cultural Context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الرِّيَاضَةُ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00" dirty="0">
                <a:solidFill>
                  <a:srgbClr val="C6D2E6"/>
                </a:solidFill>
                <a:latin typeface="Calibri" pitchFamily="34" charset="0"/>
                <a:cs typeface="Amiri" pitchFamily="2" charset="-78"/>
              </a:rPr>
              <a:t>Students run their own speaking and writing practice about sport: say the sport words, act a match-report dialogue, answer question cards, do a role-play card explaining a sport to a visitor, give a one-minute talk about an athlete they admire, then build, fix and write a short profile of a famous athlete.</a:t>
            </a:r>
            <a:endParaRPr lang="en-US" sz="12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D5-L02 · Development D5 · Hobbies, Sport and Leisure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D5 › D5-L02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Sports and results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كُرَةُ القَدَمِ</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football</a:t>
            </a:r>
            <a:endParaRPr lang="en-US" sz="1350" dirty="0"/>
          </a:p>
          <a:p>
            <a:pPr indent="0" marL="0">
              <a:buNone/>
            </a:pPr>
            <a:r>
              <a:rPr lang="en-US" sz="1100" i="1" dirty="0">
                <a:solidFill>
                  <a:srgbClr val="5A6472"/>
                </a:solidFill>
                <a:latin typeface="Calibri" pitchFamily="34" charset="0"/>
                <a:cs typeface="Amiri" pitchFamily="2" charset="-78"/>
              </a:rPr>
              <a:t>ku-ra-tu al-qa-da-mi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كُرَةُ السَّلَّةِ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basketball</a:t>
            </a:r>
            <a:endParaRPr lang="en-US" sz="1350" dirty="0"/>
          </a:p>
          <a:p>
            <a:pPr indent="0" marL="0">
              <a:buNone/>
            </a:pPr>
            <a:r>
              <a:rPr lang="en-US" sz="1100" i="1" dirty="0">
                <a:solidFill>
                  <a:srgbClr val="5A6472"/>
                </a:solidFill>
                <a:latin typeface="Calibri" pitchFamily="34" charset="0"/>
                <a:cs typeface="Amiri" pitchFamily="2" charset="-78"/>
              </a:rPr>
              <a:t>ku-ra-tu as-sal-la-ti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السِّبَاحَةُ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swimming</a:t>
            </a:r>
            <a:endParaRPr lang="en-US" sz="1350" dirty="0"/>
          </a:p>
          <a:p>
            <a:pPr indent="0" marL="0">
              <a:buNone/>
            </a:pPr>
            <a:r>
              <a:rPr lang="en-US" sz="1100" i="1" dirty="0">
                <a:solidFill>
                  <a:srgbClr val="5A6472"/>
                </a:solidFill>
                <a:latin typeface="Calibri" pitchFamily="34" charset="0"/>
                <a:cs typeface="Amiri" pitchFamily="2" charset="-78"/>
              </a:rPr>
              <a:t>as-si-bā-ḥa-tu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التِّنِسُ</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tennis</a:t>
            </a:r>
            <a:endParaRPr lang="en-US" sz="1350" dirty="0"/>
          </a:p>
          <a:p>
            <a:pPr indent="0" marL="0">
              <a:buNone/>
            </a:pPr>
            <a:r>
              <a:rPr lang="en-US" sz="1100" i="1" dirty="0">
                <a:solidFill>
                  <a:srgbClr val="5A6472"/>
                </a:solidFill>
                <a:latin typeface="Calibri" pitchFamily="34" charset="0"/>
                <a:cs typeface="Amiri" pitchFamily="2" charset="-78"/>
              </a:rPr>
              <a:t>at-ti-ni-su</a:t>
            </a:r>
            <a:endParaRPr lang="en-US" sz="1350" dirty="0"/>
          </a:p>
        </p:txBody>
      </p:sp>
      <p:sp>
        <p:nvSpPr>
          <p:cNvPr id="43" name="Text 40"/>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Also listed as </a:t>
            </a:r>
            <a:pPr algn="l" indent="0" marL="0">
              <a:buNone/>
            </a:pPr>
            <a:r>
              <a:rPr lang="ar-SA" altLang="en-US" sz="1300" dirty="0">
                <a:solidFill>
                  <a:srgbClr val="8A6D1E"/>
                </a:solidFill>
                <a:latin typeface="Amiri" pitchFamily="2" charset="-78"/>
                <a:ea typeface="Amiri" pitchFamily="2" charset="-78"/>
                <a:cs typeface="Amiri" pitchFamily="2" charset="-78"/>
              </a:rPr>
              <a:t>كُرَةُ المِضْرَبِ</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44" name="Shape 4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389120"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7" name="Shape 44"/>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9" name="Shape 4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فَرِيقٌ</a:t>
            </a:r>
            <a:endParaRPr lang="ar-SA" sz="3000" dirty="0"/>
          </a:p>
        </p:txBody>
      </p:sp>
      <p:sp>
        <p:nvSpPr>
          <p:cNvPr id="52" name="Text 49"/>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team</a:t>
            </a:r>
            <a:endParaRPr lang="en-US" sz="1350" dirty="0"/>
          </a:p>
          <a:p>
            <a:pPr indent="0" marL="0">
              <a:buNone/>
            </a:pPr>
            <a:r>
              <a:rPr lang="en-US" sz="1100" i="1" dirty="0">
                <a:solidFill>
                  <a:srgbClr val="5A6472"/>
                </a:solidFill>
                <a:latin typeface="Calibri" pitchFamily="34" charset="0"/>
                <a:cs typeface="Amiri" pitchFamily="2" charset="-78"/>
              </a:rPr>
              <a:t>fa-rī-qun</a:t>
            </a:r>
            <a:endParaRPr lang="en-US" sz="1350" dirty="0"/>
          </a:p>
        </p:txBody>
      </p:sp>
      <p:sp>
        <p:nvSpPr>
          <p:cNvPr id="53" name="Shape 50"/>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5" name="Text 52"/>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فِرَقٌ</a:t>
            </a:r>
            <a:endParaRPr lang="ar-SA" sz="1500" dirty="0"/>
          </a:p>
        </p:txBody>
      </p:sp>
      <p:sp>
        <p:nvSpPr>
          <p:cNvPr id="56" name="Shape 5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66928"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9" name="Shape 56"/>
          <p:cNvSpPr/>
          <p:nvPr/>
        </p:nvSpPr>
        <p:spPr>
          <a:xfrm>
            <a:off x="960120" y="4279392"/>
            <a:ext cx="1517904" cy="256032"/>
          </a:xfrm>
          <a:prstGeom prst="roundRect">
            <a:avLst>
              <a:gd name="adj" fmla="val 50000"/>
            </a:avLst>
          </a:prstGeom>
          <a:solidFill>
            <a:srgbClr val="EFE7D2"/>
          </a:solidFill>
          <a:ln w="12700">
            <a:solidFill>
              <a:srgbClr val="EFE7D2"/>
            </a:solidFill>
            <a:prstDash val="solid"/>
          </a:ln>
        </p:spPr>
      </p:sp>
      <p:sp>
        <p:nvSpPr>
          <p:cNvPr id="60" name="Text 57"/>
          <p:cNvSpPr txBox="1"/>
          <p:nvPr/>
        </p:nvSpPr>
        <p:spPr>
          <a:xfrm>
            <a:off x="960120" y="4279392"/>
            <a:ext cx="1517904"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Plural مُبَارَيَاتٌ.</a:t>
            </a:r>
            <a:endParaRPr lang="en-US" sz="800" dirty="0"/>
          </a:p>
        </p:txBody>
      </p:sp>
      <p:sp>
        <p:nvSpPr>
          <p:cNvPr id="61" name="Shape 58"/>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مُبَارَاةٌ</a:t>
            </a:r>
            <a:endParaRPr lang="ar-SA" sz="3000" dirty="0"/>
          </a:p>
        </p:txBody>
      </p:sp>
      <p:sp>
        <p:nvSpPr>
          <p:cNvPr id="64" name="Text 6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match</a:t>
            </a:r>
            <a:endParaRPr lang="en-US" sz="1350" dirty="0"/>
          </a:p>
          <a:p>
            <a:pPr indent="0" marL="0">
              <a:buNone/>
            </a:pPr>
            <a:r>
              <a:rPr lang="en-US" sz="1100" i="1" dirty="0">
                <a:solidFill>
                  <a:srgbClr val="5A6472"/>
                </a:solidFill>
                <a:latin typeface="Calibri" pitchFamily="34" charset="0"/>
                <a:cs typeface="Amiri" pitchFamily="2" charset="-78"/>
              </a:rPr>
              <a:t>mu-bā-rā-tun</a:t>
            </a:r>
            <a:endParaRPr lang="en-US" sz="13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Rules and athletes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فَازَ بِـ</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won (a prize or title)</a:t>
            </a:r>
            <a:endParaRPr lang="en-US" sz="1350" dirty="0"/>
          </a:p>
          <a:p>
            <a:pPr indent="0" marL="0">
              <a:buNone/>
            </a:pPr>
            <a:r>
              <a:rPr lang="en-US" sz="1100" i="1" dirty="0">
                <a:solidFill>
                  <a:srgbClr val="5A6472"/>
                </a:solidFill>
                <a:latin typeface="Calibri" pitchFamily="34" charset="0"/>
                <a:cs typeface="Amiri" pitchFamily="2" charset="-78"/>
              </a:rPr>
              <a:t>fā-za bi</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بِـ</a:t>
            </a:r>
            <a:pPr algn="l" indent="0" marL="0">
              <a:buNone/>
            </a:pPr>
            <a:r>
              <a:rPr lang="en-US" sz="1000" i="1" dirty="0">
                <a:solidFill>
                  <a:srgbClr val="8A6D1E"/>
                </a:solidFill>
                <a:latin typeface="Calibri" pitchFamily="34" charset="0"/>
                <a:cs typeface="Amiri" pitchFamily="2" charset="-78"/>
              </a:rPr>
              <a:t> introduces what was won.</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فَازَ عَلَى</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won against</a:t>
            </a:r>
            <a:endParaRPr lang="en-US" sz="1350" dirty="0"/>
          </a:p>
          <a:p>
            <a:pPr indent="0" marL="0">
              <a:buNone/>
            </a:pPr>
            <a:r>
              <a:rPr lang="en-US" sz="1100" i="1" dirty="0">
                <a:solidFill>
                  <a:srgbClr val="5A6472"/>
                </a:solidFill>
                <a:latin typeface="Calibri" pitchFamily="34" charset="0"/>
                <a:cs typeface="Amiri" pitchFamily="2" charset="-78"/>
              </a:rPr>
              <a:t>fā-za ʿa-lā</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عَلَى</a:t>
            </a:r>
            <a:pPr algn="l" indent="0" marL="0">
              <a:buNone/>
            </a:pPr>
            <a:r>
              <a:rPr lang="en-US" sz="1000" i="1" dirty="0">
                <a:solidFill>
                  <a:srgbClr val="8A6D1E"/>
                </a:solidFill>
                <a:latin typeface="Calibri" pitchFamily="34" charset="0"/>
                <a:cs typeface="Amiri" pitchFamily="2" charset="-78"/>
              </a:rPr>
              <a:t> introduces the opponent.</a:t>
            </a:r>
            <a:endParaRPr lang="en-US" sz="10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4" name="Shape 31"/>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a:t>
            </a:r>
            <a:endParaRPr lang="en-US" sz="800" dirty="0"/>
          </a:p>
        </p:txBody>
      </p:sp>
      <p:sp>
        <p:nvSpPr>
          <p:cNvPr id="36" name="Shape 3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خَسِرَ</a:t>
            </a:r>
            <a:endParaRPr lang="ar-SA" sz="3000" dirty="0"/>
          </a:p>
        </p:txBody>
      </p:sp>
      <p:sp>
        <p:nvSpPr>
          <p:cNvPr id="39" name="Text 3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lost</a:t>
            </a:r>
            <a:endParaRPr lang="en-US" sz="1350" dirty="0"/>
          </a:p>
          <a:p>
            <a:pPr indent="0" marL="0">
              <a:buNone/>
            </a:pPr>
            <a:r>
              <a:rPr lang="en-US" sz="1100" i="1" dirty="0">
                <a:solidFill>
                  <a:srgbClr val="5A6472"/>
                </a:solidFill>
                <a:latin typeface="Calibri" pitchFamily="34" charset="0"/>
                <a:cs typeface="Amiri" pitchFamily="2" charset="-78"/>
              </a:rPr>
              <a:t>kha-si-ra</a:t>
            </a:r>
            <a:endParaRPr lang="en-US" sz="1350" dirty="0"/>
          </a:p>
        </p:txBody>
      </p:sp>
      <p:sp>
        <p:nvSpPr>
          <p:cNvPr id="40" name="Shape 37"/>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2" name="Text 39"/>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خَسِرَتْ</a:t>
            </a:r>
            <a:endParaRPr lang="ar-SA" sz="1500" dirty="0"/>
          </a:p>
        </p:txBody>
      </p:sp>
      <p:sp>
        <p:nvSpPr>
          <p:cNvPr id="43" name="Shape 4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11312"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6" name="Shape 43"/>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8" name="Shape 45"/>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لَاعِبٌ / لَاعِبُونَ</a:t>
            </a:r>
            <a:endParaRPr lang="ar-SA" sz="3000" dirty="0"/>
          </a:p>
        </p:txBody>
      </p:sp>
      <p:sp>
        <p:nvSpPr>
          <p:cNvPr id="51" name="Text 4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player / players</a:t>
            </a:r>
            <a:endParaRPr lang="en-US" sz="1350" dirty="0"/>
          </a:p>
          <a:p>
            <a:pPr indent="0" marL="0">
              <a:buNone/>
            </a:pPr>
            <a:r>
              <a:rPr lang="en-US" sz="1100" i="1" dirty="0">
                <a:solidFill>
                  <a:srgbClr val="5A6472"/>
                </a:solidFill>
                <a:latin typeface="Calibri" pitchFamily="34" charset="0"/>
                <a:cs typeface="Amiri" pitchFamily="2" charset="-78"/>
              </a:rPr>
              <a:t>lā-ʿi-bun / lā-ʿi-bū-na</a:t>
            </a:r>
            <a:endParaRPr lang="en-US" sz="1350" dirty="0"/>
          </a:p>
        </p:txBody>
      </p:sp>
      <p:sp>
        <p:nvSpPr>
          <p:cNvPr id="52" name="Shape 49"/>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4" name="Text 51"/>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لَاعِبُونَ / لَاعِبَاتٌ</a:t>
            </a:r>
            <a:endParaRPr lang="ar-SA" sz="1500" dirty="0"/>
          </a:p>
        </p:txBody>
      </p:sp>
      <p:sp>
        <p:nvSpPr>
          <p:cNvPr id="55" name="Shape 52"/>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7" name="Text 54"/>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لَاعِبَةٌ</a:t>
            </a:r>
            <a:endParaRPr lang="ar-SA" sz="1500" dirty="0"/>
          </a:p>
        </p:txBody>
      </p:sp>
      <p:sp>
        <p:nvSpPr>
          <p:cNvPr id="58" name="Shape 5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4389120"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1" name="Shape 58"/>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يُعْجِبُنِي</a:t>
            </a:r>
            <a:endParaRPr lang="ar-SA" sz="3000" dirty="0"/>
          </a:p>
        </p:txBody>
      </p:sp>
      <p:sp>
        <p:nvSpPr>
          <p:cNvPr id="64" name="Text 6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admire it (lit. it pleases me)</a:t>
            </a:r>
            <a:endParaRPr lang="en-US" sz="1350" dirty="0"/>
          </a:p>
          <a:p>
            <a:pPr indent="0" marL="0">
              <a:buNone/>
            </a:pPr>
            <a:r>
              <a:rPr lang="en-US" sz="1100" i="1" dirty="0">
                <a:solidFill>
                  <a:srgbClr val="5A6472"/>
                </a:solidFill>
                <a:latin typeface="Calibri" pitchFamily="34" charset="0"/>
                <a:cs typeface="Amiri" pitchFamily="2" charset="-78"/>
              </a:rPr>
              <a:t>yuʿ-ji-bu-nī</a:t>
            </a:r>
            <a:endParaRPr lang="en-US" sz="1350" dirty="0"/>
          </a:p>
        </p:txBody>
      </p:sp>
      <p:sp>
        <p:nvSpPr>
          <p:cNvPr id="65" name="Text 62"/>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thing admired is the subject.</a:t>
            </a:r>
            <a:endParaRPr lang="en-US" sz="1000" dirty="0"/>
          </a:p>
        </p:txBody>
      </p:sp>
      <p:sp>
        <p:nvSpPr>
          <p:cNvPr id="66" name="Shape 6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566928"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9" name="Shape 66"/>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70" name="Text 67"/>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1" name="Shape 68"/>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2" name="Text 69"/>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3" name="Text 70"/>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مَشْهُورٌ</a:t>
            </a:r>
            <a:endParaRPr lang="ar-SA" sz="3000" dirty="0"/>
          </a:p>
        </p:txBody>
      </p:sp>
      <p:sp>
        <p:nvSpPr>
          <p:cNvPr id="74" name="Text 71"/>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famous</a:t>
            </a:r>
            <a:endParaRPr lang="en-US" sz="1350" dirty="0"/>
          </a:p>
          <a:p>
            <a:pPr indent="0" marL="0">
              <a:buNone/>
            </a:pPr>
            <a:r>
              <a:rPr lang="en-US" sz="1100" i="1" dirty="0">
                <a:solidFill>
                  <a:srgbClr val="5A6472"/>
                </a:solidFill>
                <a:latin typeface="Calibri" pitchFamily="34" charset="0"/>
                <a:cs typeface="Amiri" pitchFamily="2" charset="-78"/>
              </a:rPr>
              <a:t>mash-hū-run</a:t>
            </a:r>
            <a:endParaRPr lang="en-US" sz="1350" dirty="0"/>
          </a:p>
        </p:txBody>
      </p:sp>
      <p:sp>
        <p:nvSpPr>
          <p:cNvPr id="75" name="Shape 72"/>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7" name="Text 74"/>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مَشْهُورُونَ</a:t>
            </a:r>
            <a:endParaRPr lang="ar-SA" sz="1500" dirty="0"/>
          </a:p>
        </p:txBody>
      </p:sp>
      <p:sp>
        <p:nvSpPr>
          <p:cNvPr id="78" name="Shape 75"/>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0" name="Text 77"/>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مَشْهُورَةٌ</a:t>
            </a:r>
            <a:endParaRPr lang="ar-SA" sz="1500" dirty="0"/>
          </a:p>
        </p:txBody>
      </p:sp>
      <p:sp>
        <p:nvSpPr>
          <p:cNvPr id="81" name="Text 7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Did you watch the match?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هَلْ شَاهَدْتَ المُبَارَاةَ؟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Did you watch the match yesterday?</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شَاهَدْتَ المُبَارَاةَ أَمْسِ؟</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Our team beat the city team three–one.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نَعَمْ! فَازَ فَرِيقُنَا عَلَى فَرِيقِ المَدِينَةِ بِنَتِيجَةِ ثَلَاثَةٍ لِوَاحِدٍ.</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Great! And did they win the cup?</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رَائِعٌ! وَهَلْ فَازَ بِالكَأْسِ؟</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Not yet — the final is next week.</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لَيْسَ بَعْدُ؛ النِّهَائِيُّ الأُسْبُوعَ القَادِمَ.</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the best player, in your opinion?</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مَنْ أَفْضَلُ لَاعِبٍ فِي رَأْيِكَ؟</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admire the goalkeeper, because he is calm and brave.</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أُعْجَبُ بِحَارِسِ المَرْمَى، لِأَنَّهُ هَادِئٌ وَشُجَاعٌ.</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report a REAL match you watched — win, lose or draw?</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أَلْعَبُهَا / أُشَاهِدُهَا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رِيَاضَتِي المُفَضَّلَةُ … لِأَنَّهَا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favourite sport?</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رِيَاضَتُكَ المُفَضَّلَةُ؟</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فَازَ / فَازَتْ بِ…</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أُعْجَبُ بِ… لِأَنَّهُ / لِأَنَّهَا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athlete do you admire?</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الرِّيَاضِيُّ الَّذِي تُعْجَبُ بِهِ؟</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بِنَتِيجَةِ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فَازَ … عَلَى … / تَعَادَلَ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happened in the last match you watched?</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حَدَثَ فِي آخِرِ مُبَارَاةٍ شَاهَدْتَهَا؟</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وَمَمْنُوعٌ أَنْ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يَجِبُ عَلَى اللَّاعِبِ أَنْ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are the rules of your sport?</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قَوَاعِدُ رِيَاضَتِكَ؟</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وَتُعَلِّمُ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لِأَنَّهَا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sport important for young people?</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الرِّيَاضَةُ مُهِمَّةٌ لِلشَّبَابِ؟</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 explaining a sport to a visitor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أَشْرَحُ رِيَاضَةً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الرِّيَاضَةُ ← هٰذِهِ … ، وَفِي كُلِّ فَرِيقٍ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 team size.</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هٰذِهِ الرِّيَاضَةُ؟</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القَوَاعِدُ ← يَجِبُ عَلَى اللَّاعِبِ أَنْ … وَمَمْنُوعٌ أَنْ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rules.</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القَوَاعِدُ؟</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past result.</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وَكَيْفَ كَانَتْ مُبَارَاتُكُمُ الأَخِيرَةُ؟</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Admire + reason.</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تُعْجَبُ بِهِ مِنَ اللَّاعِبِينَ؟</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team member · Leader = a visiting student from abroad.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an athlete I admire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رِيَاضِيٌّ أُعْجَبُ بِهِ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about an athlete: who, which sport, what they won, and why you admire them.</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Who + sport + </a:t>
            </a:r>
            <a:pPr algn="l" indent="0" marL="0">
              <a:buNone/>
            </a:pPr>
            <a:r>
              <a:rPr lang="ar-SA" altLang="en-US" sz="1500" dirty="0">
                <a:solidFill>
                  <a:srgbClr val="1F2A37"/>
                </a:solidFill>
                <a:latin typeface="Amiri" pitchFamily="2" charset="-78"/>
                <a:ea typeface="Amiri" pitchFamily="2" charset="-78"/>
                <a:cs typeface="Amiri" pitchFamily="2" charset="-78"/>
              </a:rPr>
              <a:t>أُعْجَبُ بِ… لِأَنَّ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two results (</a:t>
            </a:r>
            <a:pPr algn="l" indent="0" marL="0">
              <a:buNone/>
            </a:pPr>
            <a:r>
              <a:rPr lang="ar-SA" altLang="en-US" sz="1500" dirty="0">
                <a:solidFill>
                  <a:srgbClr val="1F2A37"/>
                </a:solidFill>
                <a:latin typeface="Amiri" pitchFamily="2" charset="-78"/>
                <a:ea typeface="Amiri" pitchFamily="2" charset="-78"/>
                <a:cs typeface="Amiri" pitchFamily="2" charset="-78"/>
              </a:rPr>
              <a:t>فَازَ بِ… / فَازَ عَلَى</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comparison with another athlete and what you learn from them.</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Egypt won the championship.</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فَازَتْ</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فَازَ</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مِصْرُ</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مِصْرَ</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بِالبُطُولَةِ.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البُطُولَةِ.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Our team beat their team.</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فَازَ فَرِيقُنَا</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فَازَتْ فَرِيقُنَا</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فَرِيقِهِمْ.</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فَرِيقُهُمْ.</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It is forbidden to touch the ball with your hand.</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مَمْنُوعٌ</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مَمْنُوعًا</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تَلْمِسَ الكُرَةَ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تَلْمِسُ الكُرَةَ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بِيَدِكَ.</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بِيَدُكَ.</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Egypt won the championship.</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Win a title = </a:t>
            </a:r>
            <a:pPr algn="l" indent="0" marL="0">
              <a:buNone/>
            </a:pPr>
            <a:r>
              <a:rPr lang="ar-SA" altLang="en-US" sz="1350" dirty="0">
                <a:solidFill>
                  <a:srgbClr val="5A6472"/>
                </a:solidFill>
                <a:latin typeface="Amiri" pitchFamily="2" charset="-78"/>
                <a:ea typeface="Amiri" pitchFamily="2" charset="-78"/>
                <a:cs typeface="Amiri" pitchFamily="2" charset="-78"/>
              </a:rPr>
              <a:t>فَازَ بِ</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مِصْرُ</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فَازَتْ</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فَازَتْ مِصْرُ بِالبُطُولَةِ.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Our team beat their team.</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Beat a team = </a:t>
            </a:r>
            <a:pPr algn="l" indent="0" marL="0">
              <a:buNone/>
            </a:pPr>
            <a:r>
              <a:rPr lang="ar-SA" altLang="en-US" sz="1350" dirty="0">
                <a:solidFill>
                  <a:srgbClr val="5A6472"/>
                </a:solidFill>
                <a:latin typeface="Amiri" pitchFamily="2" charset="-78"/>
                <a:ea typeface="Amiri" pitchFamily="2" charset="-78"/>
                <a:cs typeface="Amiri" pitchFamily="2" charset="-78"/>
              </a:rPr>
              <a:t>فَازَ عَلَى</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فَازَ فَرِيقُنَا عَلَى فَرِيقِهِمْ.</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It is forbidden to touch the ball with your hand.</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مَمْنُوعٌ أَنْ</a:t>
            </a:r>
            <a:pPr algn="l" indent="0" marL="0">
              <a:buNone/>
            </a:pPr>
            <a:r>
              <a:rPr lang="en-US" sz="1050" i="1" dirty="0">
                <a:solidFill>
                  <a:srgbClr val="5A6472"/>
                </a:solidFill>
                <a:latin typeface="Calibri" pitchFamily="34" charset="0"/>
                <a:cs typeface="Amiri" pitchFamily="2" charset="-78"/>
              </a:rPr>
              <a:t> + -a; </a:t>
            </a:r>
            <a:pPr algn="l" indent="0" marL="0">
              <a:buNone/>
            </a:pPr>
            <a:r>
              <a:rPr lang="ar-SA" altLang="en-US" sz="1350" dirty="0">
                <a:solidFill>
                  <a:srgbClr val="5A6472"/>
                </a:solidFill>
                <a:latin typeface="Amiri" pitchFamily="2" charset="-78"/>
                <a:ea typeface="Amiri" pitchFamily="2" charset="-78"/>
                <a:cs typeface="Amiri" pitchFamily="2" charset="-78"/>
              </a:rPr>
              <a:t>بِ</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مَمْنُوعٌ أَنْ تَلْمِسَ الكُرَةَ بِيَدِكَ.</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فَازَ الفَرِيقُ بِالفَرِيقِ الآخَرِ.</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Win a title or beat a team?</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أُعْجَبُ مُحَمَّدَ صَلَاحٍ.</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Missing preposition.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خَسِرَتْ الفَرِيقُ المُبَارَاةَ.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فَرِيقٌ</a:t>
            </a:r>
            <a:pPr algn="l" indent="0" marL="0">
              <a:buNone/>
            </a:pPr>
            <a:r>
              <a:rPr lang="en-US" sz="1300" i="1" dirty="0">
                <a:solidFill>
                  <a:srgbClr val="5A6472"/>
                </a:solidFill>
                <a:latin typeface="Calibri" pitchFamily="34" charset="0"/>
                <a:cs typeface="Amiri" pitchFamily="2" charset="-78"/>
              </a:rPr>
              <a:t> is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فَازَ الفَرِيقُ بِالفَرِيقِ الآخَرِ.</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فَازَ الفَرِيقُ عَلَى الفَرِيقِ الآخَرِ.</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Beat → </a:t>
            </a:r>
            <a:pPr algn="l" indent="0" marL="0">
              <a:buNone/>
            </a:pPr>
            <a:r>
              <a:rPr lang="ar-SA" altLang="en-US" sz="1500" b="1" dirty="0">
                <a:solidFill>
                  <a:srgbClr val="1B3B6F"/>
                </a:solidFill>
                <a:latin typeface="Amiri" pitchFamily="2" charset="-78"/>
                <a:ea typeface="Amiri" pitchFamily="2" charset="-78"/>
                <a:cs typeface="Amiri" pitchFamily="2" charset="-78"/>
              </a:rPr>
              <a:t>فَازَ عَلَى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أُعْجَبُ مُحَمَّدَ صَلَاحٍ.</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أُعْجَبُ بِمُحَمَّدِ صَلَاحٍ.</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أُعْجَبُ بِ</a:t>
            </a:r>
            <a:pPr algn="l" indent="0" marL="0">
              <a:buNone/>
            </a:pPr>
            <a:r>
              <a:rPr lang="en-US" sz="1150" b="1" dirty="0">
                <a:solidFill>
                  <a:srgbClr val="1B3B6F"/>
                </a:solidFill>
                <a:latin typeface="Calibri" pitchFamily="34" charset="0"/>
                <a:cs typeface="Amiri" pitchFamily="2" charset="-78"/>
              </a:rPr>
              <a:t> + genitive.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خَسِرَتْ الفَرِيقُ المُبَارَاةَ.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خَسِرَ الفَرِيقُ المُبَارَاةَ.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Masculine subject → </a:t>
            </a:r>
            <a:pPr algn="l" indent="0" marL="0">
              <a:buNone/>
            </a:pPr>
            <a:r>
              <a:rPr lang="ar-SA" altLang="en-US" sz="1500" b="1" dirty="0">
                <a:solidFill>
                  <a:srgbClr val="1B3B6F"/>
                </a:solidFill>
                <a:latin typeface="Amiri" pitchFamily="2" charset="-78"/>
                <a:ea typeface="Amiri" pitchFamily="2" charset="-78"/>
                <a:cs typeface="Amiri" pitchFamily="2" charset="-78"/>
              </a:rPr>
              <a:t>خَسِرَ</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ea typeface="Amiri" pitchFamily="2" charset="-78"/>
                <a:cs typeface="Amiri" pitchFamily="2" charset="-78"/>
              </a:rPr>
              <a:t>فِي ______ فَازَ / فَازَتْ عَلَى ______ بِنَتِيجَةِ ______ .</a:t>
            </a:r>
            <a:endParaRPr lang="ar-SA" sz="14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 he / she beat … with a score of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يَتَعَلَّمُ الشَّبَابُ مِنْهُ / مِنْهَا 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Young people learn from him / her that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______ لَاعِبٌ / لَاعِبَةٌ ______ مَشْهُورٌ / مَشْهُورَةٌ مِنْ ______ .</a:t>
            </a:r>
            <a:endParaRPr lang="ar-SA" sz="125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a famous … player from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فَازَ / فَازَتْ بِ______ فِي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won … in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فِي هٰذِهِ الرِّيَاضَةِ يَجِبُ عَلَى اللَّاعِبِ أَنْ ______ .</a:t>
            </a:r>
            <a:endParaRPr lang="ar-SA" sz="16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this sport the player must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أُعْجَبُ بِهِ / بِهَا لِأَنَّهُ / لِأَنَّهَا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admire him / her because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فَرِيقٌ · مُبَارَاةٌ  ·  لَاعِبٌ · لَاعِبَةٌ  ·  فَازَ بِ…  ·  فَازَ عَلَى  ·  خَسِرَ · تَعَادَلَ  ·  بِنَتِيجَةِ …  ·  مَمْنُوعٌ أَنْ  ·  أُعْجَبُ بِ…</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profile of a famous athlete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رِيَاضِيٌّ مَشْهُورٌ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Write a profile (about 60–80 words) of a famous athlete (male or female) for a sports blog. Include: • who they are and their sport • two results (</a:t>
            </a:r>
            <a:pPr algn="l" indent="0" marL="0">
              <a:buNone/>
            </a:pPr>
            <a:r>
              <a:rPr lang="ar-SA" altLang="en-US" sz="1500" b="1" dirty="0">
                <a:solidFill>
                  <a:srgbClr val="1F2A37"/>
                </a:solidFill>
                <a:latin typeface="Amiri" pitchFamily="2" charset="-78"/>
                <a:ea typeface="Amiri" pitchFamily="2" charset="-78"/>
                <a:cs typeface="Amiri" pitchFamily="2" charset="-78"/>
              </a:rPr>
              <a:t>فَازَ بِ… / فَازَ عَلَى</a:t>
            </a:r>
            <a:pPr algn="l" indent="0" marL="0">
              <a:buNone/>
            </a:pPr>
            <a:r>
              <a:rPr lang="en-US" sz="1150" b="1" dirty="0">
                <a:solidFill>
                  <a:srgbClr val="1F2A37"/>
                </a:solidFill>
                <a:latin typeface="Calibri" pitchFamily="34" charset="0"/>
                <a:cs typeface="Amiri" pitchFamily="2" charset="-78"/>
              </a:rPr>
              <a:t> …) • one rule of their sport • why you admire them (</a:t>
            </a:r>
            <a:pPr algn="l" indent="0" marL="0">
              <a:buNone/>
            </a:pPr>
            <a:r>
              <a:rPr lang="ar-SA" altLang="en-US" sz="1500" b="1" dirty="0">
                <a:solidFill>
                  <a:srgbClr val="1F2A37"/>
                </a:solidFill>
                <a:latin typeface="Amiri" pitchFamily="2" charset="-78"/>
                <a:ea typeface="Amiri" pitchFamily="2" charset="-78"/>
                <a:cs typeface="Amiri" pitchFamily="2" charset="-78"/>
              </a:rPr>
              <a:t>أُعْجَبُ بِ… لِأَنَّ</a:t>
            </a:r>
            <a:pPr algn="l" indent="0" marL="0">
              <a:buNone/>
            </a:pPr>
            <a:r>
              <a:rPr lang="en-US" sz="1150" b="1" dirty="0">
                <a:solidFill>
                  <a:srgbClr val="1F2A37"/>
                </a:solidFill>
                <a:latin typeface="Calibri" pitchFamily="34" charset="0"/>
                <a:cs typeface="Amiri" pitchFamily="2" charset="-78"/>
              </a:rPr>
              <a:t> …) • what young people can learn from them.</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لَاعِبٌ / لَاعِبَةٌ مَشْهُورٌ / مَشْهُورَةٌ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is a famous player</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فَازَ / فَازَتْ بِ… · فَازَ / فَازَتْ عَلَى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won … · beat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عَلَى اللَّاعِبِ 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player must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أُعْجَبُ بِهِ / بِهَا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admire him / her because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 results with </a:t>
            </a:r>
            <a:pPr algn="l" indent="0" marL="0">
              <a:buNone/>
            </a:pPr>
            <a:r>
              <a:rPr lang="ar-SA" altLang="en-US" sz="1450" dirty="0">
                <a:solidFill>
                  <a:srgbClr val="5A6472"/>
                </a:solidFill>
                <a:latin typeface="Amiri" pitchFamily="2" charset="-78"/>
                <a:ea typeface="Amiri" pitchFamily="2" charset="-78"/>
                <a:cs typeface="Amiri" pitchFamily="2" charset="-78"/>
              </a:rPr>
              <a:t>فَازَ بِ… / فَازَ عَلَى</a:t>
            </a:r>
            <a:pPr algn="l" indent="0" marL="0">
              <a:buNone/>
            </a:pPr>
            <a:r>
              <a:rPr lang="en-US" sz="1100" dirty="0">
                <a:solidFill>
                  <a:srgbClr val="5A6472"/>
                </a:solidFill>
                <a:latin typeface="Calibri" pitchFamily="34" charset="0"/>
                <a:cs typeface="Amiri" pitchFamily="2" charset="-78"/>
              </a:rPr>
              <a:t> … correctly?</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state a rule with </a:t>
            </a:r>
            <a:pPr algn="l" indent="0" marL="0">
              <a:buNone/>
            </a:pPr>
            <a:r>
              <a:rPr lang="ar-SA" altLang="en-US" sz="1450" dirty="0">
                <a:solidFill>
                  <a:srgbClr val="5A6472"/>
                </a:solidFill>
                <a:latin typeface="Amiri" pitchFamily="2" charset="-78"/>
                <a:ea typeface="Amiri" pitchFamily="2" charset="-78"/>
                <a:cs typeface="Amiri" pitchFamily="2" charset="-78"/>
              </a:rPr>
              <a:t>أَنْ</a:t>
            </a:r>
            <a:pPr algn="l" indent="0" marL="0">
              <a:buNone/>
            </a:pPr>
            <a:r>
              <a:rPr lang="en-US" sz="1100" dirty="0">
                <a:solidFill>
                  <a:srgbClr val="5A6472"/>
                </a:solidFill>
                <a:latin typeface="Calibri" pitchFamily="34" charset="0"/>
                <a:cs typeface="Amiri" pitchFamily="2" charset="-78"/>
              </a:rPr>
              <a:t> + -a and explain why you admire the athlete?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هٰذِهِ كُرَةُ السَّلَّةِ، وَفِي كُلِّ فَرِيقٍ خَمْسَةُ لَاعِبِينَ.</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This is basketball, and each team has five players.</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هٰذِهِ الرِّيَاضَةُ؟</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يَجِبُ عَلَى اللَّاعِبِ أَنْ يَنُطَّ الكُرَةَ، وَمَمْنُوعٌ أَنْ يَمْشِيَ بِهَا.</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player must bounce the ball, and it is forbidden to walk with it.</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القَوَاعِدُ؟</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فُزْنَا عَلَى مَدْرَسَةِ النُّورِ بِنَتِيجَةِ خَمْسِينَ لِأَرْبَعِينَ!</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beat Al-Nour School fifty to forty!</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وَكَيْفَ كَانَتْ مُبَارَاتُكُمُ الأَخِيرَةُ؟</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أُعْجَبُ بِقَائِدِ فَرِيقِنَا، لِأَنَّهُ يُشَجِّعُنَا دَائِمًا حَتَّى عِنْدَمَا نَخْسَرُ.</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admire our captain, because he always encourages us, even when we lose.</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تُعْجَبُ بِهِ مِنَ اللَّاعِبِينَ؟</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رُقَيَّةُ لَاعِبَةُ تِنِسٍ مَشْهُورَةٌ مِنْ مِصْرَ. بَدَأَتْ تَلْعَبُ وَهِيَ فِي السَّادِسَةِ مِنْ عُمُرِهَا. فِي العَامِ المَاضِي فَازَتْ بِبُطُولَةٍ أَفْرِيقِيَّةٍ كَبِيرَةٍ، وَفَازَتْ عَلَى بَطَلَةِ العَالَمِ فِي مُبَارَاةٍ صَعْبَةٍ. فِي التِّنِسِ يَجِبُ عَلَى اللَّاعِبِ أَنْ يُرْسِلَ الكُرَةَ فَوْقَ الشَّبَكَةِ، وَمَمْنُوعٌ أَنْ يَلْمِسَهَا بِيَدِهِ. أُعْجَبُ بِهَا كَثِيرًا، لِأَنَّهَا تَتَدَرَّبُ كُلَّ يَوْمٍ وَلَا تَسْتَسْلِمُ أَبَدًا. يَتَعَلَّمُ الشَّبَابُ مِنْهَا أَنَّ النَّجَاحَ يَحْتَاجُ إِلَى الصَّبْرِ.</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“Ruqayya is a famous tennis player from Egypt. She started playing when she was six. Last year she won a big African championship, and she beat the world champion in a hard match. In tennis the player must send the ball over the net, and it is forbidden to touch it with the hand. I admire her a lot, because she trains every day and never gives up. Young people learn from her that success needs patience.”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فَازَتْ بِبُطُولَةٍ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وَفَازَتْ عَلَى</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وَمَمْنُوعٌ أَنْ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أُعْجَبُ بِهَا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D5-L02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D5-L02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50" b="1" dirty="0">
                <a:solidFill>
                  <a:srgbClr val="FFFFFF"/>
                </a:solidFill>
                <a:latin typeface="Cambria" pitchFamily="34" charset="0"/>
                <a:cs typeface="Amiri" pitchFamily="2" charset="-78"/>
              </a:rPr>
              <a:t>D5-L03 · The Past Tense — Form I Regular Singular Verbs</a:t>
            </a:r>
            <a:endParaRPr lang="en-US" sz="17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الفِعْلُ المَاضِي — المُفْرَدُ</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D5-L02 · Practice Room — Sport — Vocabulary, Famous Athletes and Cultural Context</dc:title>
  <dc:subject>PptxGenJS Presentation</dc:subject>
  <dc:creator>Al Madina Online School · Arabic Department</dc:creator>
  <cp:lastModifiedBy>Al Madina Online School · Arabic Department</cp:lastModifiedBy>
  <cp:revision>1</cp:revision>
  <dcterms:created xsi:type="dcterms:W3CDTF">2026-10-25T18:36:41Z</dcterms:created>
  <dcterms:modified xsi:type="dcterms:W3CDTF">2026-10-25T18:36:41Z</dcterms:modified>
</cp:coreProperties>
</file>