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D5-L04 (Past Tense — Plural Forms and Irregular Verbs) — new practice tasks built on the lesson’s own word bank and grammar (plural past endings: -nā (we: laʿibnā) · -tum (you all: laʿibtum) · -ū (they: laʿibū); hollow verbs shorten before a consonant ending (qāla → qulnā · nāma → nimnā · zāra → zurnā); weak verbs (mashā → mashaynā · raʾā → raʾaynā); fix the stem, then add the ending).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FADED SUPPORT: tasks 1–2 show the plan (question word → first words); students write their own plan for 3–4. Everyone is Speaker once. To a girl the Leader says: no changes needed (we / they forms). Hollow verbs: zāra → zurnā · qāla → qālū (they keep the long ā). Weak: mashā → mashaynā.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Past Tense — Plural Forms and Irregular Verbs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المَاضِي — الجَمْعُ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and writing practice telling group stories in the past: say the plural and irregular forms, act a trip-story dialogue, answer question cards, do a role-play card reporting a class trip to the head teacher, give a one-minute group story, then build, fix and write a class-trip report.</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D5-L04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 · you all · they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فَعَلْنَا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did</a:t>
            </a:r>
            <a:endParaRPr lang="en-US" sz="1350" dirty="0"/>
          </a:p>
          <a:p>
            <a:pPr indent="0" marL="0">
              <a:buNone/>
            </a:pPr>
            <a:r>
              <a:rPr lang="en-US" sz="1100" i="1" dirty="0">
                <a:solidFill>
                  <a:srgbClr val="5A6472"/>
                </a:solidFill>
                <a:latin typeface="Calibri" pitchFamily="34" charset="0"/>
                <a:cs typeface="Amiri" pitchFamily="2" charset="-78"/>
              </a:rPr>
              <a:t>fa-ʿal-nā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t>
            </a:r>
            <a:pPr algn="l" indent="0" marL="0">
              <a:buNone/>
            </a:pPr>
            <a:r>
              <a:rPr lang="ar-SA" altLang="en-US" sz="1300" dirty="0">
                <a:solidFill>
                  <a:srgbClr val="8A6D1E"/>
                </a:solidFill>
                <a:latin typeface="Amiri" pitchFamily="2" charset="-78"/>
                <a:ea typeface="Amiri" pitchFamily="2" charset="-78"/>
                <a:cs typeface="Amiri" pitchFamily="2" charset="-78"/>
              </a:rPr>
              <a:t>نَحْنُ</a:t>
            </a:r>
            <a:pPr algn="l" indent="0" marL="0">
              <a:buNone/>
            </a:pPr>
            <a:r>
              <a:rPr lang="en-US" sz="1000" i="1" dirty="0">
                <a:solidFill>
                  <a:srgbClr val="8A6D1E"/>
                </a:solidFill>
                <a:latin typeface="Calibri" pitchFamily="34" charset="0"/>
                <a:cs typeface="Amiri" pitchFamily="2" charset="-78"/>
              </a:rPr>
              <a:t> suffix is </a:t>
            </a:r>
            <a:pPr algn="l" indent="0" marL="0">
              <a:buNone/>
            </a:pPr>
            <a:r>
              <a:rPr lang="ar-SA" altLang="en-US" sz="1300" dirty="0">
                <a:solidFill>
                  <a:srgbClr val="8A6D1E"/>
                </a:solidFill>
                <a:latin typeface="Amiri" pitchFamily="2" charset="-78"/>
                <a:ea typeface="Amiri" pitchFamily="2" charset="-78"/>
                <a:cs typeface="Amiri" pitchFamily="2" charset="-78"/>
              </a:rPr>
              <a:t>ـنَا</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فَعَلْتُمْ</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all did</a:t>
            </a:r>
            <a:endParaRPr lang="en-US" sz="1350" dirty="0"/>
          </a:p>
          <a:p>
            <a:pPr indent="0" marL="0">
              <a:buNone/>
            </a:pPr>
            <a:r>
              <a:rPr lang="en-US" sz="1100" i="1" dirty="0">
                <a:solidFill>
                  <a:srgbClr val="5A6472"/>
                </a:solidFill>
                <a:latin typeface="Calibri" pitchFamily="34" charset="0"/>
                <a:cs typeface="Amiri" pitchFamily="2" charset="-78"/>
              </a:rPr>
              <a:t>fa-ʿal-tum</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t>
            </a:r>
            <a:pPr algn="l" indent="0" marL="0">
              <a:buNone/>
            </a:pPr>
            <a:r>
              <a:rPr lang="ar-SA" altLang="en-US" sz="1300" dirty="0">
                <a:solidFill>
                  <a:srgbClr val="8A6D1E"/>
                </a:solidFill>
                <a:latin typeface="Amiri" pitchFamily="2" charset="-78"/>
                <a:ea typeface="Amiri" pitchFamily="2" charset="-78"/>
                <a:cs typeface="Amiri" pitchFamily="2" charset="-78"/>
              </a:rPr>
              <a:t>أَنْتُمْ</a:t>
            </a:r>
            <a:pPr algn="l" indent="0" marL="0">
              <a:buNone/>
            </a:pPr>
            <a:r>
              <a:rPr lang="en-US" sz="1000" i="1" dirty="0">
                <a:solidFill>
                  <a:srgbClr val="8A6D1E"/>
                </a:solidFill>
                <a:latin typeface="Calibri" pitchFamily="34" charset="0"/>
                <a:cs typeface="Amiri" pitchFamily="2" charset="-78"/>
              </a:rPr>
              <a:t> suffix is </a:t>
            </a:r>
            <a:pPr algn="l" indent="0" marL="0">
              <a:buNone/>
            </a:pPr>
            <a:r>
              <a:rPr lang="ar-SA" altLang="en-US" sz="1300" dirty="0">
                <a:solidFill>
                  <a:srgbClr val="8A6D1E"/>
                </a:solidFill>
                <a:latin typeface="Amiri" pitchFamily="2" charset="-78"/>
                <a:ea typeface="Amiri" pitchFamily="2" charset="-78"/>
                <a:cs typeface="Amiri" pitchFamily="2" charset="-78"/>
              </a:rPr>
              <a:t>ـتُمْ</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فَعَلُوا</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they did</a:t>
            </a:r>
            <a:endParaRPr lang="en-US" sz="1350" dirty="0"/>
          </a:p>
          <a:p>
            <a:pPr indent="0" marL="0">
              <a:buNone/>
            </a:pPr>
            <a:r>
              <a:rPr lang="en-US" sz="1100" i="1" dirty="0">
                <a:solidFill>
                  <a:srgbClr val="5A6472"/>
                </a:solidFill>
                <a:latin typeface="Calibri" pitchFamily="34" charset="0"/>
                <a:cs typeface="Amiri" pitchFamily="2" charset="-78"/>
              </a:rPr>
              <a:t>fa-ʿa-lū</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t>
            </a:r>
            <a:pPr algn="l" indent="0" marL="0">
              <a:buNone/>
            </a:pPr>
            <a:r>
              <a:rPr lang="ar-SA" altLang="en-US" sz="1300" dirty="0">
                <a:solidFill>
                  <a:srgbClr val="8A6D1E"/>
                </a:solidFill>
                <a:latin typeface="Amiri" pitchFamily="2" charset="-78"/>
                <a:ea typeface="Amiri" pitchFamily="2" charset="-78"/>
                <a:cs typeface="Amiri" pitchFamily="2" charset="-78"/>
              </a:rPr>
              <a:t>هُمْ</a:t>
            </a:r>
            <a:pPr algn="l" indent="0" marL="0">
              <a:buNone/>
            </a:pPr>
            <a:r>
              <a:rPr lang="en-US" sz="1000" i="1" dirty="0">
                <a:solidFill>
                  <a:srgbClr val="8A6D1E"/>
                </a:solidFill>
                <a:latin typeface="Calibri" pitchFamily="34" charset="0"/>
                <a:cs typeface="Amiri" pitchFamily="2" charset="-78"/>
              </a:rPr>
              <a:t> suffix is </a:t>
            </a:r>
            <a:pPr algn="l" indent="0" marL="0">
              <a:buNone/>
            </a:pPr>
            <a:r>
              <a:rPr lang="ar-SA" altLang="en-US" sz="1300" dirty="0">
                <a:solidFill>
                  <a:srgbClr val="8A6D1E"/>
                </a:solidFill>
                <a:latin typeface="Amiri" pitchFamily="2" charset="-78"/>
                <a:ea typeface="Amiri" pitchFamily="2" charset="-78"/>
                <a:cs typeface="Amiri" pitchFamily="2" charset="-78"/>
              </a:rPr>
              <a:t>ـُوا</a:t>
            </a:r>
            <a:pPr algn="l" indent="0" marL="0">
              <a:buNone/>
            </a:pPr>
            <a:r>
              <a:rPr lang="en-US" sz="1000" i="1" dirty="0">
                <a:solidFill>
                  <a:srgbClr val="8A6D1E"/>
                </a:solidFill>
                <a:latin typeface="Calibri" pitchFamily="34" charset="0"/>
                <a:cs typeface="Amiri" pitchFamily="2" charset="-78"/>
              </a:rPr>
              <a:t>; the alif is silent.</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ذَهَبْنَا</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went</a:t>
            </a:r>
            <a:endParaRPr lang="en-US" sz="1350" dirty="0"/>
          </a:p>
          <a:p>
            <a:pPr indent="0" marL="0">
              <a:buNone/>
            </a:pPr>
            <a:r>
              <a:rPr lang="en-US" sz="1100" i="1" dirty="0">
                <a:solidFill>
                  <a:srgbClr val="5A6472"/>
                </a:solidFill>
                <a:latin typeface="Calibri" pitchFamily="34" charset="0"/>
                <a:cs typeface="Amiri" pitchFamily="2" charset="-78"/>
              </a:rPr>
              <a:t>dha-hab-nā</a:t>
            </a:r>
            <a:endParaRPr lang="en-US" sz="135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9" name="Shape 4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لَعِبُوا</a:t>
            </a:r>
            <a:endParaRPr lang="ar-SA" sz="3000" dirty="0"/>
          </a:p>
        </p:txBody>
      </p:sp>
      <p:sp>
        <p:nvSpPr>
          <p:cNvPr id="52" name="Text 4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they played</a:t>
            </a:r>
            <a:endParaRPr lang="en-US" sz="1350" dirty="0"/>
          </a:p>
          <a:p>
            <a:pPr indent="0" marL="0">
              <a:buNone/>
            </a:pPr>
            <a:r>
              <a:rPr lang="en-US" sz="1100" i="1" dirty="0">
                <a:solidFill>
                  <a:srgbClr val="5A6472"/>
                </a:solidFill>
                <a:latin typeface="Calibri" pitchFamily="34" charset="0"/>
                <a:cs typeface="Amiri" pitchFamily="2" charset="-78"/>
              </a:rPr>
              <a:t>la-ʿi-bū</a:t>
            </a:r>
            <a:endParaRPr lang="en-US" sz="1350" dirty="0"/>
          </a:p>
        </p:txBody>
      </p:sp>
      <p:sp>
        <p:nvSpPr>
          <p:cNvPr id="53" name="Shape 5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566928"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6" name="Shape 5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قَالَ ← قُلْنَا</a:t>
            </a:r>
            <a:endParaRPr lang="ar-SA" sz="3000" dirty="0"/>
          </a:p>
        </p:txBody>
      </p:sp>
      <p:sp>
        <p:nvSpPr>
          <p:cNvPr id="59" name="Text 5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said → we said</a:t>
            </a:r>
            <a:endParaRPr lang="en-US" sz="1350" dirty="0"/>
          </a:p>
          <a:p>
            <a:pPr indent="0" marL="0">
              <a:buNone/>
            </a:pPr>
            <a:r>
              <a:rPr lang="en-US" sz="1100" i="1" dirty="0">
                <a:solidFill>
                  <a:srgbClr val="5A6472"/>
                </a:solidFill>
                <a:latin typeface="Calibri" pitchFamily="34" charset="0"/>
                <a:cs typeface="Amiri" pitchFamily="2" charset="-78"/>
              </a:rPr>
              <a:t>qā-la ← qul-nā</a:t>
            </a:r>
            <a:endParaRPr lang="en-US" sz="1350" dirty="0"/>
          </a:p>
        </p:txBody>
      </p:sp>
      <p:sp>
        <p:nvSpPr>
          <p:cNvPr id="60" name="Text 5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Hollow: the long ā shortens to u before a consonant suffix.</a:t>
            </a:r>
            <a:endParaRPr lang="en-US" sz="9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Irregular stems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نَامَ ← نِمْنَا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slept → we slept</a:t>
            </a:r>
            <a:endParaRPr lang="en-US" sz="1350" dirty="0"/>
          </a:p>
          <a:p>
            <a:pPr indent="0" marL="0">
              <a:buNone/>
            </a:pPr>
            <a:r>
              <a:rPr lang="en-US" sz="1100" i="1" dirty="0">
                <a:solidFill>
                  <a:srgbClr val="5A6472"/>
                </a:solidFill>
                <a:latin typeface="Calibri" pitchFamily="34" charset="0"/>
                <a:cs typeface="Amiri" pitchFamily="2" charset="-78"/>
              </a:rPr>
              <a:t>nā-ma ← nim-nā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Hollow with a kasra base vowel.</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رَأَى ← رَأَيْنَا</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saw → we saw</a:t>
            </a:r>
            <a:endParaRPr lang="en-US" sz="1350" dirty="0"/>
          </a:p>
          <a:p>
            <a:pPr indent="0" marL="0">
              <a:buNone/>
            </a:pPr>
            <a:r>
              <a:rPr lang="en-US" sz="1100" i="1" dirty="0">
                <a:solidFill>
                  <a:srgbClr val="5A6472"/>
                </a:solidFill>
                <a:latin typeface="Calibri" pitchFamily="34" charset="0"/>
                <a:cs typeface="Amiri" pitchFamily="2" charset="-78"/>
              </a:rPr>
              <a:t>ra-ʾā ← ra-ʾay-nā</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Weak-final: the alif maqṣūra becomes yāʾ.</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4" name="Shape 31"/>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Weak-final.</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مَشَى ← مَشَيْنَا</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walked → we walked</a:t>
            </a:r>
            <a:endParaRPr lang="en-US" sz="1350" dirty="0"/>
          </a:p>
          <a:p>
            <a:pPr indent="0" marL="0">
              <a:buNone/>
            </a:pPr>
            <a:r>
              <a:rPr lang="en-US" sz="1100" i="1" dirty="0">
                <a:solidFill>
                  <a:srgbClr val="5A6472"/>
                </a:solidFill>
                <a:latin typeface="Calibri" pitchFamily="34" charset="0"/>
                <a:cs typeface="Amiri" pitchFamily="2" charset="-78"/>
              </a:rPr>
              <a:t>ma-shā ← ma-shay-nā</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3" name="Shape 40"/>
          <p:cNvSpPr/>
          <p:nvPr/>
        </p:nvSpPr>
        <p:spPr>
          <a:xfrm>
            <a:off x="8604504" y="4279392"/>
            <a:ext cx="1580083"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Adverbial accusative.</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مَعًا</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together</a:t>
            </a:r>
            <a:endParaRPr lang="en-US" sz="1350" dirty="0"/>
          </a:p>
          <a:p>
            <a:pPr indent="0" marL="0">
              <a:buNone/>
            </a:pPr>
            <a:r>
              <a:rPr lang="en-US" sz="1100" i="1" dirty="0">
                <a:solidFill>
                  <a:srgbClr val="5A6472"/>
                </a:solidFill>
                <a:latin typeface="Calibri" pitchFamily="34" charset="0"/>
                <a:cs typeface="Amiri" pitchFamily="2" charset="-78"/>
              </a:rPr>
              <a:t>ma-ʿan</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2" name="Shape 49"/>
          <p:cNvSpPr/>
          <p:nvPr/>
        </p:nvSpPr>
        <p:spPr>
          <a:xfrm>
            <a:off x="4782312" y="4279392"/>
            <a:ext cx="164226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narrative connector.</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فَجْأَةً</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suddenly</a:t>
            </a:r>
            <a:endParaRPr lang="en-US" sz="1350" dirty="0"/>
          </a:p>
          <a:p>
            <a:pPr indent="0" marL="0">
              <a:buNone/>
            </a:pPr>
            <a:r>
              <a:rPr lang="en-US" sz="1100" i="1" dirty="0">
                <a:solidFill>
                  <a:srgbClr val="5A6472"/>
                </a:solidFill>
                <a:latin typeface="Calibri" pitchFamily="34" charset="0"/>
                <a:cs typeface="Amiri" pitchFamily="2" charset="-78"/>
              </a:rPr>
              <a:t>faj-ʾa-tan</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1" name="Shape 5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لِحُسْنِ الحَظِّ</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fortunately</a:t>
            </a:r>
            <a:endParaRPr lang="en-US" sz="1350" dirty="0"/>
          </a:p>
          <a:p>
            <a:pPr indent="0" marL="0">
              <a:buNone/>
            </a:pPr>
            <a:r>
              <a:rPr lang="en-US" sz="1100" i="1" dirty="0">
                <a:solidFill>
                  <a:srgbClr val="5A6472"/>
                </a:solidFill>
                <a:latin typeface="Calibri" pitchFamily="34" charset="0"/>
                <a:cs typeface="Amiri" pitchFamily="2" charset="-78"/>
              </a:rPr>
              <a:t>li-ḥus-ni al-ḥaẓ-ẓi</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did you all do on the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فَعَلْتُمْ فِي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all do on the school trip?</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فَعَلْتُمْ فِي رِحْلَةِ المَدْرَسَةِ؟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went to the mountain and walked for two hours.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ذَهَبْنَا إِلَى الجَبَلِ، وَمَشَيْنَا سَاعَتَيْنِ.</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did you see?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رَأَيْتُمْ؟</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saw a wonderful waterfall, and visited an old village.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رَأَيْنَا شَلَّالًا رَائِعًا، وَزُرْنَا قَرْيَةً قَدِيمَةً.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teachers?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وَالمُعَلِّمُونَ؟</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said it was the best trip! And at night we slept in tents.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قَالُوا إِنَّهَا أَفْضَلُ رِحْلَةٍ! وَفِي اللَّيْلِ نِمْنَا فِي الخِيَامِ.</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tell about a REAL group outing — every verb must be “we” or “they”.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سَافَرْنَا … / زُرْنَا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all do on your last family holiday?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فَعَلْتُمْ فِي آخِرِ عُطْلَةٍ عَائِلِيَّةٍ؟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لَعِبُوا … / ذَهَبُوا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your friends do at the weekend?</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 أَصْدِقَاؤُكَ فِي نِهَايَةِ الأُسْبُوعِ؟</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نِمْنَا فِي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all sleep on the trip?</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نِمْتُمْ فِي الرِّحْلَةِ؟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قَالُوا إِنَّ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the teachers say about the exam?</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قَالَ المُعَلِّمُونَ عَنِ الامْتِحَانِ؟</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وَتَعَلَّمْنَا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رَأَيْنَا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all see in the museum?</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رَأَيْتُمُوهُ فِي المَتْحَفِ؟</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reporting the class trip to the head teacher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عَنِ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ذَهَبْنَا إِلَى … بِ…</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 how (we).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ذَهَبْتُمْ؟</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فَعَلْنَا ← زُرْنَا … وَرَأَيْنَا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actions (we).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فَعَلْتُمْ هُنَاكَ؟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 quote.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أَحَبَّ الطُّلَّابُ الرِّحْلَةَ؟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problem in the past.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حَدَثَتْ أَيُّ مُشْكِلَةٍ؟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class representative · Leader = the head teacher.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a group story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قِصَّةٌ جَمَاعِيَّةٌ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Tell a group story for one minute (a trip, a party, a match): what “we” did, what “they” did, and what someone said.</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“we” verbs (-nā).</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three “they” verbs (-ū) and one “you all” question (-tum).</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three irregular verbs (</a:t>
            </a:r>
            <a:pPr algn="l" indent="0" marL="0">
              <a:buNone/>
            </a:pPr>
            <a:r>
              <a:rPr lang="ar-SA" altLang="en-US" sz="1500" dirty="0">
                <a:solidFill>
                  <a:srgbClr val="1F2A37"/>
                </a:solidFill>
                <a:latin typeface="Amiri" pitchFamily="2" charset="-78"/>
                <a:ea typeface="Amiri" pitchFamily="2" charset="-78"/>
                <a:cs typeface="Amiri" pitchFamily="2" charset="-78"/>
              </a:rPr>
              <a:t>زُرْنَا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نِمْنَا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قَالُوا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مَشَيْنَا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visited our grandmother.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زُرْنَا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زَارْنَا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جَدَّتَنَا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جَدَّتُنَا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They said that the film was long.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قَالُوا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قُلْنَا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إِنَّ الفِيلْمَ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الفِيلْمُ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 طَوِيلًا.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 طَوِيلٌ.</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Did you all walk to school?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كَيْفَ</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مَشَيْتُمْ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مَشَوْا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المَدْرَسَةِ؟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المَدْرَسَةُ؟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visited our grandmother.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Hollow verb: </a:t>
            </a:r>
            <a:pPr algn="l" indent="0" marL="0">
              <a:buNone/>
            </a:pPr>
            <a:r>
              <a:rPr lang="ar-SA" altLang="en-US" sz="1350" dirty="0">
                <a:solidFill>
                  <a:srgbClr val="5A6472"/>
                </a:solidFill>
                <a:latin typeface="Amiri" pitchFamily="2" charset="-78"/>
                <a:ea typeface="Amiri" pitchFamily="2" charset="-78"/>
                <a:cs typeface="Amiri" pitchFamily="2" charset="-78"/>
              </a:rPr>
              <a:t>زَارَ</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زُرْنَا</a:t>
            </a:r>
            <a:pPr algn="l" indent="0" marL="0">
              <a:buNone/>
            </a:pPr>
            <a:r>
              <a:rPr lang="en-US" sz="1050" i="1" dirty="0">
                <a:solidFill>
                  <a:srgbClr val="5A6472"/>
                </a:solidFill>
                <a:latin typeface="Calibri" pitchFamily="34" charset="0"/>
                <a:cs typeface="Amiri" pitchFamily="2" charset="-78"/>
              </a:rPr>
              <a:t> (short vowel before -nā).</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زُرْنَا جَدَّتَنَا يَوْمَ الجُمُعَةِ.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They said that the film was long.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They → </a:t>
            </a:r>
            <a:pPr algn="l" indent="0" marL="0">
              <a:buNone/>
            </a:pPr>
            <a:r>
              <a:rPr lang="ar-SA" altLang="en-US" sz="1350" dirty="0">
                <a:solidFill>
                  <a:srgbClr val="5A6472"/>
                </a:solidFill>
                <a:latin typeface="Amiri" pitchFamily="2" charset="-78"/>
                <a:ea typeface="Amiri" pitchFamily="2" charset="-78"/>
                <a:cs typeface="Amiri" pitchFamily="2" charset="-78"/>
              </a:rPr>
              <a:t>قَالُوا</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قَالَ</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إِنَّ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كَانَ</a:t>
            </a:r>
            <a:pPr algn="l" indent="0" marL="0">
              <a:buNone/>
            </a:pPr>
            <a:r>
              <a:rPr lang="en-US" sz="1050" i="1" dirty="0">
                <a:solidFill>
                  <a:srgbClr val="5A6472"/>
                </a:solidFill>
                <a:latin typeface="Calibri" pitchFamily="34" charset="0"/>
                <a:cs typeface="Amiri" pitchFamily="2" charset="-78"/>
              </a:rPr>
              <a:t> + -an.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قَالُوا إِنَّ الفِيلْمَ كَانَ طَوِيلًا.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Did you all walk to school?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all → -tum: </a:t>
            </a:r>
            <a:pPr algn="l" indent="0" marL="0">
              <a:buNone/>
            </a:pPr>
            <a:r>
              <a:rPr lang="ar-SA" altLang="en-US" sz="1350" dirty="0">
                <a:solidFill>
                  <a:srgbClr val="5A6472"/>
                </a:solidFill>
                <a:latin typeface="Amiri" pitchFamily="2" charset="-78"/>
                <a:ea typeface="Amiri" pitchFamily="2" charset="-78"/>
                <a:cs typeface="Amiri" pitchFamily="2" charset="-78"/>
              </a:rPr>
              <a:t>مَشَيْتُمْ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مَشَيْتُمْ إِلَى المَدْرَسَةِ؟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قَالْنَا لِلْمُعَلِّمِ «شُكْرًا».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Hollow verb + -nā.</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أَصْدِقَائِي لَعِبْنَا كُرَةَ القَدَمِ.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played?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مَشَانَا عَلَى الشَّاطِئِ.</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Weak verb stem.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قَالْنَا لِلْمُعَلِّمِ «شُكْرًا».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قُلْنَا لِلْمُعَلِّمِ «شُكْرًا».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قَالَ → قُلْنَا.</a:t>
            </a:r>
            <a:endParaRPr lang="ar-SA" sz="14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أَصْدِقَائِي لَعِبْنَا كُرَةَ القَدَمِ.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أَصْدِقَائِي لَعِبُوا كُرَةَ القَدَمِ.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They → -ū.</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مَشَانَا عَلَى الشَّاطِئِ.</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مَشَيْنَا عَلَى الشَّاطِئِ.</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مَشَى → مَشَيْنَا.</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الغَدَاءِ مَشَيْنَا ______ ،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lunch we walked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الطُّلَّابُ 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students said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______ ذَهَبْنَا إِلَى ______ بِ______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 we went to … by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زُرْنَا ______ ، ثُمَّ رَأَيْنَا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we visited …, then we saw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المُعَلِّمُونَ ______ وَ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teachers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كَانَتِ الرِّحْلَةُ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the trip was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ذَهَبْنَا · خَرَجْنَا  ·  زُرْنَا · رَأَيْنَا  ·  مَشَيْنَا · نِمْنَا  ·  قُلْنَا · قَالُوا  ·  لَعِبُوا · أَكَلُوا  ·  فَعَلْتُمْ؟  ·  مَعًا · فَجْأَةً  ·  قَالُوا إِنَّ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class-trip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عَنْ رِحْلَةِ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report (about 60–80 words) for the school newsletter about a class trip. Include: • where, when and how you went (we) • four “we” actions, two of them irregular (</a:t>
            </a:r>
            <a:pPr algn="l" indent="0" marL="0">
              <a:buNone/>
            </a:pPr>
            <a:r>
              <a:rPr lang="ar-SA" altLang="en-US" sz="1450" b="1" dirty="0">
                <a:solidFill>
                  <a:srgbClr val="1F2A37"/>
                </a:solidFill>
                <a:latin typeface="Amiri" pitchFamily="2" charset="-78"/>
                <a:ea typeface="Amiri" pitchFamily="2" charset="-78"/>
                <a:cs typeface="Amiri" pitchFamily="2" charset="-78"/>
              </a:rPr>
              <a:t>زُرْنَا</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رَأَيْنَا</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مَشَيْنَا</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نِمْنَا</a:t>
            </a:r>
            <a:pPr algn="l" indent="0" marL="0">
              <a:buNone/>
            </a:pPr>
            <a:r>
              <a:rPr lang="en-US" sz="1100" b="1" dirty="0">
                <a:solidFill>
                  <a:srgbClr val="1F2A37"/>
                </a:solidFill>
                <a:latin typeface="Calibri" pitchFamily="34" charset="0"/>
                <a:cs typeface="Amiri" pitchFamily="2" charset="-78"/>
              </a:rPr>
              <a:t>) • two “they” actions (the teachers / the guide) • something someone said (</a:t>
            </a:r>
            <a:pPr algn="l" indent="0" marL="0">
              <a:buNone/>
            </a:pPr>
            <a:r>
              <a:rPr lang="ar-SA" altLang="en-US" sz="1450" b="1" dirty="0">
                <a:solidFill>
                  <a:srgbClr val="1F2A37"/>
                </a:solidFill>
                <a:latin typeface="Amiri" pitchFamily="2" charset="-78"/>
                <a:ea typeface="Amiri" pitchFamily="2" charset="-78"/>
                <a:cs typeface="Amiri" pitchFamily="2" charset="-78"/>
              </a:rPr>
              <a:t>قَالُوا إِنَّ</a:t>
            </a:r>
            <a:pPr algn="l" indent="0" marL="0">
              <a:buNone/>
            </a:pPr>
            <a:r>
              <a:rPr lang="en-US" sz="1100" b="1" dirty="0">
                <a:solidFill>
                  <a:srgbClr val="1F2A37"/>
                </a:solidFill>
                <a:latin typeface="Calibri" pitchFamily="34" charset="0"/>
                <a:cs typeface="Amiri" pitchFamily="2" charset="-78"/>
              </a:rPr>
              <a:t> …) • your opinion.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ذَهَبْنَا إِلَى … بِ…</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went to … by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زُرْنَا … · رَأَيْنَا … · مَشَيْنَا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visited … · we saw … · we walked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شَرَحَ المُرْشِدُ … · سَاعَدَنَا المُعَلِّمُونَ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guide explained … · the teachers helped us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قَالُوا إِنَّ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said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-nā for “we” in every group action?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fix irregular stems first (</a:t>
            </a:r>
            <a:pPr algn="l" indent="0" marL="0">
              <a:buNone/>
            </a:pPr>
            <a:r>
              <a:rPr lang="ar-SA" altLang="en-US" sz="1450" dirty="0">
                <a:solidFill>
                  <a:srgbClr val="5A6472"/>
                </a:solidFill>
                <a:latin typeface="Amiri" pitchFamily="2" charset="-78"/>
                <a:ea typeface="Amiri" pitchFamily="2" charset="-78"/>
                <a:cs typeface="Amiri" pitchFamily="2" charset="-78"/>
              </a:rPr>
              <a:t>زُرْنَا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مَشَيْنَا</a:t>
            </a:r>
            <a:pPr algn="l" indent="0" marL="0">
              <a:buNone/>
            </a:pPr>
            <a:r>
              <a:rPr lang="en-US" sz="1100" dirty="0">
                <a:solidFill>
                  <a:srgbClr val="5A6472"/>
                </a:solidFill>
                <a:latin typeface="Calibri" pitchFamily="34" charset="0"/>
                <a:cs typeface="Amiri" pitchFamily="2" charset="-78"/>
              </a:rPr>
              <a:t>) and use -ū for “they”?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ذَهَبْنَا إِلَى المَتْحَفِ الوَطَنِيِّ بِالحَافِلَةِ.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went to the National Museum by bus.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ذَهَبْتُمْ؟</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زُرْنَا قَاعَةَ الفَرَاعِنَةِ، وَرَأَيْنَا مُومْيَاءَ حَقِيقِيَّةً.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visited the Pharaohs’ hall, and saw a real mummy.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فَعَلْتُمْ هُنَاكَ؟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أَحَبُّوهَا كَثِيرًا، وَقَالُوا إِنَّهَا مُفِيدَةٌ جِدًّا.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they loved it, and said it was very useful.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أَحَبَّ الطُّلَّابُ الرِّحْلَةَ؟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تَأَخَّرَتِ الحَافِلَةُ، فَمَشَيْنَا إِلَى المَقْهَى وَانْتَظَرْنَا نِصْفَ سَاعَةٍ.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bus was late, so we walked to the café and waited half an hour.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حَدَثَتْ أَيُّ مُشْكِلَةٍ؟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يَوْمَ الخَمِيسِ ذَهَبْنَا إِلَى مَدِينَةِ يُورْك بِالقِطَارِ. أَوَّلًا زُرْنَا المَتْحَفَ الإِسْلَامِيَّ، وَرَأَيْنَا مَخْطُوطَاتٍ قَدِيمَةً جِدًّا. شَرَحَ المُرْشِدُ تَارِيخَ الخَطِّ العَرَبِيِّ، وَسَاعَدَنَا المُعَلِّمُونَ فِي الأَسْئِلَةِ. بَعْدَ الغَدَاءِ مَشَيْنَا عَلَى سُورِ المَدِينَةِ، وَالْتَقَطْنَا صُوَرًا كَثِيرَةً. فَجْأَةً سَقَطَ المَطَرُ، فَرَكَضْنَا إِلَى المَقْهَى! قَالَ الطُّلَّابُ إِنَّهَا أَجْمَلُ رِحْلَةٍ هٰذِهِ السَّنَةَ. فِي رَأْيِي كَانَتِ الرِّحْلَةُ مُمْتِعَةً وَمُفِيدَةً، لِأَنَّنَا تَعَلَّمْنَا كَثِيرًا عَنْ تَارِيخِنَا.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 Thursday we went to York by train. First we visited the Islamic museum, and saw very old manuscripts. The guide explained the history of Arabic calligraphy, and the teachers helped us with the questions. After lunch we walked on the city wall and took lots of photos. Suddenly it rained, so we ran to the café! The students said it was the best trip this year. In my opinion the trip was fun and useful, because we learned a lot about our history.”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زُرْنَا المَتْحَفَ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وَرَأَيْنَا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مَشَيْنَا عَلَى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قَالَ الطُّلَّابُ إِنَّهَا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D5-L05 · Storytelling — Narrative Connectors and </a:t>
            </a:r>
            <a:pPr algn="l" indent="0" marL="0">
              <a:buNone/>
            </a:pPr>
            <a:r>
              <a:rPr lang="ar-SA" altLang="en-US" sz="2150" b="1" dirty="0">
                <a:solidFill>
                  <a:srgbClr val="FFFFFF"/>
                </a:solidFill>
                <a:latin typeface="Amiri" pitchFamily="2" charset="-78"/>
                <a:ea typeface="Amiri" pitchFamily="2" charset="-78"/>
                <a:cs typeface="Amiri" pitchFamily="2" charset="-78"/>
              </a:rPr>
              <a:t>كَانَ</a:t>
            </a:r>
            <a:pPr algn="l" indent="0" marL="0">
              <a:buNone/>
            </a:pPr>
            <a:r>
              <a:rPr lang="en-US" sz="1650" b="1" dirty="0">
                <a:solidFill>
                  <a:srgbClr val="FFFFFF"/>
                </a:solidFill>
                <a:latin typeface="Cambria" pitchFamily="34" charset="0"/>
                <a:cs typeface="Amiri" pitchFamily="2" charset="-78"/>
              </a:rPr>
              <a:t> Description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رِوَايَةُ القِصَصِ — رَوَابِطُ السَّرْدِ وَكَانَ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D5-L04 · Practice Room — Past Tense — Plural Forms and Irregular Verbs</dc:title>
  <dc:subject>PptxGenJS Presentation</dc:subject>
  <dc:creator>Al Madina Online School · Arabic Department</dc:creator>
  <cp:lastModifiedBy>Al Madina Online School · Arabic Department</cp:lastModifiedBy>
  <cp:revision>1</cp:revision>
  <dcterms:created xsi:type="dcterms:W3CDTF">2026-10-25T18:38:14Z</dcterms:created>
  <dcterms:modified xsi:type="dcterms:W3CDTF">2026-10-25T18:38:14Z</dcterms:modified>
</cp:coreProperties>
</file>